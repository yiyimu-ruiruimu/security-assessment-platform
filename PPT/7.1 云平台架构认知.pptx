
<file path=[Content_Types].xml><?xml version="1.0" encoding="utf-8"?>
<Types xmlns="http://schemas.openxmlformats.org/package/2006/content-types">
  <Default Extension="wmf" ContentType="image/x-wmf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notesSlides/notesSlide23.xml" ContentType="application/vnd.openxmlformats-officedocument.presentationml.notes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26" Type="http://schemas.openxmlformats.org/officeDocument/2006/relationships/notesMaster" Target="notesMasters/notesMaster1.xml" /><Relationship Id="rId25" Type="http://schemas.openxmlformats.org/officeDocument/2006/relationships/slide" Target="slides/slide25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8" Type="http://schemas.openxmlformats.org/officeDocument/2006/relationships/slide" Target="slides/slide8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9" Type="http://schemas.openxmlformats.org/officeDocument/2006/relationships/slide" Target="slides/slide9.xml" /><Relationship Id="rId24" Type="http://schemas.openxmlformats.org/officeDocument/2006/relationships/slide" Target="slides/slide24.xml" 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<Relationships xmlns="http://schemas.openxmlformats.org/package/2006/relationships"><Relationship Id="rId0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2.xml.rels><?xml version="1.0" encoding="UTF-8" standalone="yes"?><Relationships xmlns="http://schemas.openxmlformats.org/package/2006/relationships"><Relationship Id="rId0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<Relationships xmlns="http://schemas.openxmlformats.org/package/2006/relationships"><Relationship Id="rId0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<Relationships xmlns="http://schemas.openxmlformats.org/package/2006/relationships"><Relationship Id="rId0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<Relationships xmlns="http://schemas.openxmlformats.org/package/2006/relationships"><Relationship Id="rId0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<Relationships xmlns="http://schemas.openxmlformats.org/package/2006/relationships"><Relationship Id="rId0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<Relationships xmlns="http://schemas.openxmlformats.org/package/2006/relationships"><Relationship Id="rId0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23.xml.rels><?xml version="1.0" encoding="UTF-8" standalone="yes"?><Relationships xmlns="http://schemas.openxmlformats.org/package/2006/relationships"><Relationship Id="rId0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altLang="zh-CN"/>
              <a:t xml:space="preserve"># </a:t>
            </a:r>
            <a:r>
              <a:rPr lang="zh-CN" altLang="en-US"/>
              <a:t>问题</a:t>
            </a:r>
            <a:r>
              <a:rPr lang="en-US" altLang="zh-CN"/>
              <a:t xml:space="preserve"> 1</a:t>
            </a:r>
            <a:r>
              <a:rPr lang="zh-CN" altLang="en-US"/>
              <a:t>：这家公司把数据放在云上，数据泄露谁的责任？</a:t>
            </a:r>
            <a:endParaRPr lang="zh-CN" altLang="en-US"/>
          </a:p>
          <a:p>
            <a:pPr/>
            <a:endParaRPr lang="en-US" altLang="zh-CN"/>
          </a:p>
          <a:p>
            <a:pPr/>
            <a:r>
              <a:rPr lang="en-US" altLang="zh-CN"/>
              <a:t>**</a:t>
            </a:r>
            <a:r>
              <a:rPr lang="zh-CN" altLang="en-US"/>
              <a:t>责任主体：该互联网公司（云租户）承担主要责任。</a:t>
            </a:r>
            <a:r>
              <a:rPr lang="en-US" altLang="zh-CN"/>
              <a:t>**</a:t>
            </a:r>
            <a:endParaRPr lang="en-US" altLang="zh-CN"/>
          </a:p>
          <a:p>
            <a:pPr/>
            <a:r>
              <a:rPr lang="zh-CN" altLang="en-US"/>
              <a:t>公有云采用</a:t>
            </a:r>
            <a:r>
              <a:rPr lang="en-US" altLang="zh-CN"/>
              <a:t>**</a:t>
            </a:r>
            <a:r>
              <a:rPr lang="zh-CN" altLang="en-US"/>
              <a:t>安全责任共担模型</a:t>
            </a:r>
            <a:r>
              <a:rPr lang="en-US" altLang="zh-CN"/>
              <a:t>**</a:t>
            </a:r>
            <a:r>
              <a:rPr lang="zh-CN" altLang="en-US"/>
              <a:t>：</a:t>
            </a:r>
            <a:endParaRPr lang="zh-CN" altLang="en-US"/>
          </a:p>
          <a:p>
            <a:pPr/>
            <a:endParaRPr lang="en-US" altLang="zh-CN"/>
          </a:p>
          <a:p>
            <a:pPr/>
            <a:r>
              <a:rPr lang="en-US" altLang="zh-CN"/>
              <a:t xml:space="preserve">- </a:t>
            </a:r>
            <a:r>
              <a:rPr lang="zh-CN" altLang="en-US"/>
              <a:t>云服务商：负责云基础设施底层安全（机房、物理服务器、网络硬件、虚拟化平台等）；</a:t>
            </a:r>
            <a:endParaRPr lang="zh-CN" altLang="en-US"/>
          </a:p>
          <a:p>
            <a:pPr/>
            <a:r>
              <a:rPr lang="en-US" altLang="zh-CN"/>
              <a:t xml:space="preserve">- </a:t>
            </a:r>
            <a:r>
              <a:rPr lang="zh-CN" altLang="en-US"/>
              <a:t>云租户（这家互联网公司）：负责自己业务侧的安全，包括云资源权限配置、业务应用、数据本身、账号访问控制。</a:t>
            </a:r>
            <a:endParaRPr lang="zh-CN" altLang="en-US"/>
          </a:p>
          <a:p>
            <a:pPr/>
            <a:endParaRPr lang="en-US" altLang="zh-CN"/>
          </a:p>
          <a:p>
            <a:pPr/>
            <a:r>
              <a:rPr lang="zh-CN" altLang="en-US"/>
              <a:t>本次泄露原因是</a:t>
            </a:r>
            <a:r>
              <a:rPr lang="en-US" altLang="zh-CN"/>
              <a:t>**</a:t>
            </a:r>
            <a:r>
              <a:rPr lang="zh-CN" altLang="en-US"/>
              <a:t>公司自己错误把存储权限配置成公开</a:t>
            </a:r>
            <a:r>
              <a:rPr lang="en-US" altLang="zh-CN"/>
              <a:t>**</a:t>
            </a:r>
            <a:r>
              <a:rPr lang="zh-CN" altLang="en-US"/>
              <a:t>，属于租户侧的配置失误，因此由该互联网公司承担主要法律与安全责任。</a:t>
            </a:r>
            <a:endParaRPr lang="zh-CN" altLang="en-US"/>
          </a:p>
          <a:p>
            <a:pPr/>
            <a:endParaRPr lang="en-US" altLang="zh-CN"/>
          </a:p>
          <a:p>
            <a:pPr/>
            <a:r>
              <a:rPr lang="en-US" altLang="zh-CN"/>
              <a:t xml:space="preserve"># </a:t>
            </a:r>
            <a:r>
              <a:rPr lang="zh-CN" altLang="en-US"/>
              <a:t>问题</a:t>
            </a:r>
            <a:r>
              <a:rPr lang="en-US" altLang="zh-CN"/>
              <a:t xml:space="preserve"> 2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云安全</a:t>
            </a:r>
            <a:r>
              <a:rPr lang="en-US" altLang="zh-CN"/>
              <a:t xml:space="preserve">” </a:t>
            </a:r>
            <a:r>
              <a:rPr lang="zh-CN" altLang="en-US"/>
              <a:t>等于</a:t>
            </a:r>
            <a:r>
              <a:rPr lang="en-US" altLang="zh-CN"/>
              <a:t xml:space="preserve"> “</a:t>
            </a:r>
            <a:r>
              <a:rPr lang="zh-CN" altLang="en-US"/>
              <a:t>云服务商的安全</a:t>
            </a:r>
            <a:r>
              <a:rPr lang="en-US" altLang="zh-CN"/>
              <a:t xml:space="preserve">” </a:t>
            </a:r>
            <a:r>
              <a:rPr lang="zh-CN" altLang="en-US"/>
              <a:t>吗？</a:t>
            </a:r>
            <a:endParaRPr lang="zh-CN" altLang="en-US"/>
          </a:p>
          <a:p>
            <a:pPr/>
            <a:endParaRPr lang="en-US" altLang="zh-CN"/>
          </a:p>
          <a:p>
            <a:pPr/>
            <a:r>
              <a:rPr lang="en-US" altLang="zh-CN"/>
              <a:t>**</a:t>
            </a:r>
            <a:r>
              <a:rPr lang="zh-CN" altLang="en-US"/>
              <a:t>不等于。</a:t>
            </a:r>
            <a:r>
              <a:rPr lang="en-US" altLang="zh-CN"/>
              <a:t>**</a:t>
            </a:r>
            <a:endParaRPr lang="en-US" altLang="zh-CN"/>
          </a:p>
          <a:p>
            <a:pPr/>
            <a:endParaRPr lang="en-US" altLang="zh-CN"/>
          </a:p>
          <a:p>
            <a:pPr/>
            <a:r>
              <a:rPr lang="en-US" altLang="zh-CN"/>
              <a:t xml:space="preserve">1. </a:t>
            </a:r>
            <a:r>
              <a:rPr lang="zh-CN" altLang="en-US"/>
              <a:t>云安全是</a:t>
            </a:r>
            <a:r>
              <a:rPr lang="en-US" altLang="zh-CN"/>
              <a:t>**</a:t>
            </a:r>
            <a:r>
              <a:rPr lang="zh-CN" altLang="en-US"/>
              <a:t>双方共同承担</a:t>
            </a:r>
            <a:r>
              <a:rPr lang="en-US" altLang="zh-CN"/>
              <a:t>**</a:t>
            </a:r>
            <a:r>
              <a:rPr lang="zh-CN" altLang="en-US"/>
              <a:t>的安全模型，不是云服务商全包所有安全。</a:t>
            </a:r>
            <a:endParaRPr lang="zh-CN" altLang="en-US"/>
          </a:p>
          <a:p>
            <a:pPr/>
            <a:r>
              <a:rPr lang="en-US" altLang="zh-CN"/>
              <a:t xml:space="preserve">2. </a:t>
            </a:r>
            <a:r>
              <a:rPr lang="zh-CN" altLang="en-US"/>
              <a:t>云服务商只保障云底层基础设施安全；</a:t>
            </a:r>
            <a:r>
              <a:rPr lang="en-US" altLang="zh-CN"/>
              <a:t>**</a:t>
            </a:r>
            <a:r>
              <a:rPr lang="zh-CN" altLang="en-US"/>
              <a:t>租户要对自己上云的业务、数据、权限配置负责</a:t>
            </a:r>
            <a:r>
              <a:rPr lang="en-US" altLang="zh-CN"/>
              <a:t>**</a:t>
            </a:r>
            <a:r>
              <a:rPr lang="zh-CN" altLang="en-US"/>
              <a:t>。</a:t>
            </a:r>
            <a:endParaRPr lang="zh-CN" altLang="en-US"/>
          </a:p>
          <a:p>
            <a:pPr/>
            <a:r>
              <a:rPr lang="en-US" altLang="zh-CN"/>
              <a:t xml:space="preserve">3. </a:t>
            </a:r>
            <a:r>
              <a:rPr lang="zh-CN" altLang="en-US"/>
              <a:t>很多企业容易产生误区：认为数据放到云上，安全就全部交给云厂商。实际上云服务商无法替租户管理业务权限、应用代码、用户数据。</a:t>
            </a:r>
            <a:endParaRPr lang="zh-CN" altLang="en-US"/>
          </a:p>
          <a:p>
            <a:pPr/>
            <a:endParaRPr lang="en-US" altLang="zh-CN"/>
          </a:p>
          <a:p>
            <a:pPr/>
            <a:r>
              <a:rPr lang="zh-CN" altLang="en-US"/>
              <a:t>简单一句话总结：</a:t>
            </a:r>
            <a:r>
              <a:rPr lang="en-US" altLang="zh-CN"/>
              <a:t>**</a:t>
            </a:r>
            <a:r>
              <a:rPr lang="zh-CN" altLang="en-US"/>
              <a:t>云服务商管好</a:t>
            </a:r>
            <a:r>
              <a:rPr lang="en-US" altLang="zh-CN"/>
              <a:t xml:space="preserve"> “</a:t>
            </a:r>
            <a:r>
              <a:rPr lang="zh-CN" altLang="en-US"/>
              <a:t>云</a:t>
            </a:r>
            <a:r>
              <a:rPr lang="en-US" altLang="zh-CN"/>
              <a:t>”</a:t>
            </a:r>
            <a:r>
              <a:rPr lang="zh-CN" altLang="en-US"/>
              <a:t>，租户管好</a:t>
            </a:r>
            <a:r>
              <a:rPr lang="en-US" altLang="zh-CN"/>
              <a:t xml:space="preserve"> “</a:t>
            </a:r>
            <a:r>
              <a:rPr lang="zh-CN" altLang="en-US"/>
              <a:t>云上的数据和应用</a:t>
            </a:r>
            <a:r>
              <a:rPr lang="en-US" altLang="zh-CN"/>
              <a:t>”</a:t>
            </a:r>
            <a:r>
              <a:rPr lang="zh-CN" altLang="en-US"/>
              <a:t>。</a:t>
            </a:r>
            <a:r>
              <a:rPr lang="en-US" altLang="zh-CN"/>
              <a:t>**</a:t>
            </a:r>
            <a:endParaRPr lang="en-US" altLang="zh-CN"/>
          </a:p>
        </p:txBody>
      </p:sp>
      <p:sp>
        <p:nvSpPr>
          <p:cNvPr id="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8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altLang="zh-CN"/>
              <a:t>AWS</a:t>
            </a:r>
            <a:r>
              <a:rPr lang="zh-CN" altLang="en-US"/>
              <a:t>（亚马逊云科技）是亚马逊提供的公有云计算服务平台。它提出云安全责任共担模型：云厂商保障底层基础设施安全，客户负责自己云上的数据、权限与应用安全，不能认为上云之后所有安全都由云服务商负责。</a:t>
            </a:r>
            <a:endParaRPr lang="zh-CN" altLang="en-US"/>
          </a:p>
        </p:txBody>
      </p:sp>
      <p:sp>
        <p:nvSpPr>
          <p:cNvPr id="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8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7" Type="http://schemas.openxmlformats.org/officeDocument/2006/relationships/image" Target="media/image6.pn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3.png" /><Relationship Id="rId1" Type="http://schemas.openxmlformats.org/officeDocument/2006/relationships/notesSlide" Target="../notesSlides/notesSlide1.xml" /><Relationship Id="rId2" Type="http://schemas.openxmlformats.org/officeDocument/2006/relationships/image" Target="media/image1.png" /><Relationship Id="rId6" Type="http://schemas.openxmlformats.org/officeDocument/2006/relationships/image" Target="media/image5.png" /><Relationship Id="rId3" Type="http://schemas.openxmlformats.org/officeDocument/2006/relationships/image" Target="media/image2.png" /><Relationship Id="rId5" Type="http://schemas.openxmlformats.org/officeDocument/2006/relationships/image" Target="media/image4.png" /><Relationship Id="rId9" Type="http://schemas.openxmlformats.org/officeDocument/2006/relationships/image" Target="media/image8.png" /><Relationship Id="rId8" Type="http://schemas.openxmlformats.org/officeDocument/2006/relationships/image" Target="media/image7.png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9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1.xml" /><Relationship Id="rId3" Type="http://schemas.openxmlformats.org/officeDocument/2006/relationships/image" Target="media/image60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8.xml" /><Relationship Id="rId11" Type="http://schemas.openxmlformats.org/officeDocument/2006/relationships/image" Target="media/image85.svg" /><Relationship Id="rId10" Type="http://schemas.openxmlformats.org/officeDocument/2006/relationships/image" Target="media/image84.png" /><Relationship Id="rId12" Type="http://schemas.openxmlformats.org/officeDocument/2006/relationships/hyperlink" Target="https://www.bilibili.com/video/BV1w9N26HEiK/" TargetMode="External"/><Relationship Id="rId9" Type="http://schemas.openxmlformats.org/officeDocument/2006/relationships/image" Target="media/image83.png" /><Relationship Id="rId4" Type="http://schemas.openxmlformats.org/officeDocument/2006/relationships/image" Target="media/image11.png" /><Relationship Id="rId2" Type="http://schemas.openxmlformats.org/officeDocument/2006/relationships/image" Target="media/image9.png" /><Relationship Id="rId8" Type="http://schemas.openxmlformats.org/officeDocument/2006/relationships/image" Target="media/image82.svg" /><Relationship Id="rId3" Type="http://schemas.openxmlformats.org/officeDocument/2006/relationships/image" Target="media/image10.png" /><Relationship Id="rId5" Type="http://schemas.openxmlformats.org/officeDocument/2006/relationships/image" Target="media/image79.png" /><Relationship Id="rId6" Type="http://schemas.openxmlformats.org/officeDocument/2006/relationships/image" Target="media/image80.svg" /><Relationship Id="rId7" Type="http://schemas.openxmlformats.org/officeDocument/2006/relationships/image" Target="media/image81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9.png" /><Relationship Id="rId1" Type="http://schemas.openxmlformats.org/officeDocument/2006/relationships/notesSlide" Target="../notesSlides/notesSlide19.xml" /><Relationship Id="rId3" Type="http://schemas.openxmlformats.org/officeDocument/2006/relationships/image" Target="media/image10.png" /><Relationship Id="rId4" Type="http://schemas.openxmlformats.org/officeDocument/2006/relationships/image" Target="media/image11.png" /><Relationship Id="rId5" Type="http://schemas.openxmlformats.org/officeDocument/2006/relationships/image" Target="media/image86.png" /><Relationship Id="rId6" Type="http://schemas.openxmlformats.org/officeDocument/2006/relationships/image" Target="media/image87.png" /></Relationships>
</file>

<file path=ppt/slides/_rels/slide5.xml.rels><?xml version="1.0" encoding="UTF-8" standalone="yes"?><Relationships xmlns="http://schemas.openxmlformats.org/package/2006/relationships"><Relationship Id="rId9" Type="http://schemas.openxmlformats.org/officeDocument/2006/relationships/image" Target="media/image90.svg" /><Relationship Id="rId0" Type="http://schemas.openxmlformats.org/officeDocument/2006/relationships/slideLayout" Target="../slideLayouts/slideLayout1.xml" /><Relationship Id="rId12" Type="http://schemas.openxmlformats.org/officeDocument/2006/relationships/image" Target="media/image93.svg" /><Relationship Id="rId1" Type="http://schemas.openxmlformats.org/officeDocument/2006/relationships/notesSlide" Target="../notesSlides/notesSlide20.xml" /><Relationship Id="rId13" Type="http://schemas.openxmlformats.org/officeDocument/2006/relationships/image" Target="media/image94.svg" /><Relationship Id="rId14" Type="http://schemas.openxmlformats.org/officeDocument/2006/relationships/image" Target="media/image95.svg" /><Relationship Id="rId10" Type="http://schemas.openxmlformats.org/officeDocument/2006/relationships/image" Target="media/image91.png" /><Relationship Id="rId11" Type="http://schemas.openxmlformats.org/officeDocument/2006/relationships/image" Target="media/image92.svg" /><Relationship Id="rId15" Type="http://schemas.openxmlformats.org/officeDocument/2006/relationships/image" Target="media/image96.svg" /><Relationship Id="rId2" Type="http://schemas.openxmlformats.org/officeDocument/2006/relationships/image" Target="media/image9.png" /><Relationship Id="rId3" Type="http://schemas.openxmlformats.org/officeDocument/2006/relationships/image" Target="media/image10.png" /><Relationship Id="rId4" Type="http://schemas.openxmlformats.org/officeDocument/2006/relationships/image" Target="media/image11.png" /><Relationship Id="rId5" Type="http://schemas.openxmlformats.org/officeDocument/2006/relationships/image" Target="media/image88.svg" /><Relationship Id="rId6" Type="http://schemas.openxmlformats.org/officeDocument/2006/relationships/image" Target="media/image42.svg" /><Relationship Id="rId7" Type="http://schemas.openxmlformats.org/officeDocument/2006/relationships/image" Target="media/image33.svg" /><Relationship Id="rId8" Type="http://schemas.openxmlformats.org/officeDocument/2006/relationships/image" Target="media/image89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9.png" /><Relationship Id="rId1" Type="http://schemas.openxmlformats.org/officeDocument/2006/relationships/notesSlide" Target="../notesSlides/notesSlide21.xml" /><Relationship Id="rId4" Type="http://schemas.openxmlformats.org/officeDocument/2006/relationships/image" Target="media/image11.png" /><Relationship Id="rId3" Type="http://schemas.openxmlformats.org/officeDocument/2006/relationships/image" Target="media/image10.png" /><Relationship Id="rId6" Type="http://schemas.openxmlformats.org/officeDocument/2006/relationships/image" Target="media/image98.svg" /><Relationship Id="rId5" Type="http://schemas.openxmlformats.org/officeDocument/2006/relationships/image" Target="media/image97.png" /><Relationship Id="rId7" Type="http://schemas.openxmlformats.org/officeDocument/2006/relationships/image" Target="media/image99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2.xml" /><Relationship Id="rId10" Type="http://schemas.openxmlformats.org/officeDocument/2006/relationships/image" Target="media/image104.svg" /><Relationship Id="rId11" Type="http://schemas.openxmlformats.org/officeDocument/2006/relationships/image" Target="media/image20.svg" /><Relationship Id="rId2" Type="http://schemas.openxmlformats.org/officeDocument/2006/relationships/image" Target="media/image9.png" /><Relationship Id="rId4" Type="http://schemas.openxmlformats.org/officeDocument/2006/relationships/image" Target="media/image11.png" /><Relationship Id="rId3" Type="http://schemas.openxmlformats.org/officeDocument/2006/relationships/image" Target="media/image10.png" /><Relationship Id="rId5" Type="http://schemas.openxmlformats.org/officeDocument/2006/relationships/image" Target="media/image100.svg" /><Relationship Id="rId6" Type="http://schemas.openxmlformats.org/officeDocument/2006/relationships/image" Target="media/image101.svg" /><Relationship Id="rId7" Type="http://schemas.openxmlformats.org/officeDocument/2006/relationships/image" Target="media/image94.svg" /><Relationship Id="rId8" Type="http://schemas.openxmlformats.org/officeDocument/2006/relationships/image" Target="media/image102.png" /><Relationship Id="rId9" Type="http://schemas.openxmlformats.org/officeDocument/2006/relationships/image" Target="media/image103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11.png" /><Relationship Id="rId2" Type="http://schemas.openxmlformats.org/officeDocument/2006/relationships/image" Target="media/image9.png" /><Relationship Id="rId1" Type="http://schemas.openxmlformats.org/officeDocument/2006/relationships/notesSlide" Target="../notesSlides/notesSlide23.xml" /><Relationship Id="rId10" Type="http://schemas.openxmlformats.org/officeDocument/2006/relationships/image" Target="media/image110.png" /><Relationship Id="rId11" Type="http://schemas.openxmlformats.org/officeDocument/2006/relationships/image" Target="media/image111.wmf" /><Relationship Id="rId3" Type="http://schemas.openxmlformats.org/officeDocument/2006/relationships/image" Target="media/image10.png" /><Relationship Id="rId5" Type="http://schemas.openxmlformats.org/officeDocument/2006/relationships/image" Target="media/image105.png" /><Relationship Id="rId6" Type="http://schemas.openxmlformats.org/officeDocument/2006/relationships/image" Target="media/image106.png" /><Relationship Id="rId7" Type="http://schemas.openxmlformats.org/officeDocument/2006/relationships/image" Target="media/image107.png" /><Relationship Id="rId8" Type="http://schemas.openxmlformats.org/officeDocument/2006/relationships/image" Target="media/image108.svg" /><Relationship Id="rId9" Type="http://schemas.openxmlformats.org/officeDocument/2006/relationships/image" Target="media/image109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5" Type="http://schemas.openxmlformats.org/officeDocument/2006/relationships/image" Target="media/image112.png" /><Relationship Id="rId1" Type="http://schemas.openxmlformats.org/officeDocument/2006/relationships/notesSlide" Target="../notesSlides/notesSlide24.xml" /><Relationship Id="rId2" Type="http://schemas.openxmlformats.org/officeDocument/2006/relationships/image" Target="media/image9.png" /><Relationship Id="rId3" Type="http://schemas.openxmlformats.org/officeDocument/2006/relationships/image" Target="media/image10.png" /><Relationship Id="rId10" Type="http://schemas.openxmlformats.org/officeDocument/2006/relationships/image" Target="media/image117.wmf" /><Relationship Id="rId8" Type="http://schemas.openxmlformats.org/officeDocument/2006/relationships/image" Target="media/image115.svg" /><Relationship Id="rId4" Type="http://schemas.openxmlformats.org/officeDocument/2006/relationships/image" Target="media/image11.png" /><Relationship Id="rId6" Type="http://schemas.openxmlformats.org/officeDocument/2006/relationships/image" Target="media/image113.png" /><Relationship Id="rId7" Type="http://schemas.openxmlformats.org/officeDocument/2006/relationships/image" Target="media/image114.svg" /><Relationship Id="rId9" Type="http://schemas.openxmlformats.org/officeDocument/2006/relationships/image" Target="media/image116.svg" /></Relationships>
</file>

<file path=ppt/slides/_rels/slide10.xml.rels><?xml version="1.0" encoding="UTF-8" standalone="yes"?><Relationships xmlns="http://schemas.openxmlformats.org/package/2006/relationships"><Relationship Id="rId7" Type="http://schemas.openxmlformats.org/officeDocument/2006/relationships/image" Target="media/image14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 /><Relationship Id="rId2" Type="http://schemas.openxmlformats.org/officeDocument/2006/relationships/image" Target="media/image9.png" /><Relationship Id="rId4" Type="http://schemas.openxmlformats.org/officeDocument/2006/relationships/image" Target="media/image11.png" /><Relationship Id="rId3" Type="http://schemas.openxmlformats.org/officeDocument/2006/relationships/image" Target="media/image10.png" /><Relationship Id="rId5" Type="http://schemas.openxmlformats.org/officeDocument/2006/relationships/image" Target="media/image12.png" /><Relationship Id="rId6" Type="http://schemas.openxmlformats.org/officeDocument/2006/relationships/image" Target="media/image13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.xml" /><Relationship Id="rId4" Type="http://schemas.openxmlformats.org/officeDocument/2006/relationships/image" Target="media/image11.png" /><Relationship Id="rId2" Type="http://schemas.openxmlformats.org/officeDocument/2006/relationships/image" Target="media/image9.png" /><Relationship Id="rId10" Type="http://schemas.openxmlformats.org/officeDocument/2006/relationships/image" Target="media/image20.svg" /><Relationship Id="rId3" Type="http://schemas.openxmlformats.org/officeDocument/2006/relationships/image" Target="media/image10.png" /><Relationship Id="rId11" Type="http://schemas.openxmlformats.org/officeDocument/2006/relationships/image" Target="media/image21.svg" /><Relationship Id="rId5" Type="http://schemas.openxmlformats.org/officeDocument/2006/relationships/image" Target="media/image15.svg" /><Relationship Id="rId6" Type="http://schemas.openxmlformats.org/officeDocument/2006/relationships/image" Target="media/image16.svg" /><Relationship Id="rId7" Type="http://schemas.openxmlformats.org/officeDocument/2006/relationships/image" Target="media/image17.png" /><Relationship Id="rId8" Type="http://schemas.openxmlformats.org/officeDocument/2006/relationships/image" Target="media/image18.svg" /><Relationship Id="rId9" Type="http://schemas.openxmlformats.org/officeDocument/2006/relationships/image" Target="media/image19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 /><Relationship Id="rId4" Type="http://schemas.openxmlformats.org/officeDocument/2006/relationships/image" Target="media/image11.png" /><Relationship Id="rId2" Type="http://schemas.openxmlformats.org/officeDocument/2006/relationships/image" Target="media/image9.png" /><Relationship Id="rId6" Type="http://schemas.openxmlformats.org/officeDocument/2006/relationships/image" Target="media/image23.svg" /><Relationship Id="rId3" Type="http://schemas.openxmlformats.org/officeDocument/2006/relationships/image" Target="media/image10.png" /><Relationship Id="rId5" Type="http://schemas.openxmlformats.org/officeDocument/2006/relationships/image" Target="media/image22.png" 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image" Target="media/image9.png" /><Relationship Id="rId0" Type="http://schemas.openxmlformats.org/officeDocument/2006/relationships/slideLayout" Target="../slideLayouts/slideLayout1.xml" /><Relationship Id="rId11" Type="http://schemas.openxmlformats.org/officeDocument/2006/relationships/image" Target="media/image30.png" /><Relationship Id="rId10" Type="http://schemas.openxmlformats.org/officeDocument/2006/relationships/image" Target="media/image29.png" /><Relationship Id="rId1" Type="http://schemas.openxmlformats.org/officeDocument/2006/relationships/notesSlide" Target="../notesSlides/notesSlide5.xml" /><Relationship Id="rId3" Type="http://schemas.openxmlformats.org/officeDocument/2006/relationships/image" Target="media/image10.png" /><Relationship Id="rId4" Type="http://schemas.openxmlformats.org/officeDocument/2006/relationships/image" Target="media/image11.png" /><Relationship Id="rId6" Type="http://schemas.openxmlformats.org/officeDocument/2006/relationships/image" Target="media/image25.svg" /><Relationship Id="rId5" Type="http://schemas.openxmlformats.org/officeDocument/2006/relationships/image" Target="media/image24.svg" /><Relationship Id="rId7" Type="http://schemas.openxmlformats.org/officeDocument/2006/relationships/image" Target="media/image26.png" /><Relationship Id="rId8" Type="http://schemas.openxmlformats.org/officeDocument/2006/relationships/image" Target="media/image27.png" /><Relationship Id="rId9" Type="http://schemas.openxmlformats.org/officeDocument/2006/relationships/image" Target="media/image28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1.xml" /><Relationship Id="rId10" Type="http://schemas.openxmlformats.org/officeDocument/2006/relationships/image" Target="media/image36.png" /><Relationship Id="rId14" Type="http://schemas.openxmlformats.org/officeDocument/2006/relationships/image" Target="media/image40.wmf" /><Relationship Id="rId11" Type="http://schemas.openxmlformats.org/officeDocument/2006/relationships/image" Target="media/image37.png" /><Relationship Id="rId12" Type="http://schemas.openxmlformats.org/officeDocument/2006/relationships/image" Target="media/image38.svg" /><Relationship Id="rId2" Type="http://schemas.openxmlformats.org/officeDocument/2006/relationships/image" Target="media/image9.png" /><Relationship Id="rId13" Type="http://schemas.openxmlformats.org/officeDocument/2006/relationships/image" Target="media/image39.svg" /><Relationship Id="rId3" Type="http://schemas.openxmlformats.org/officeDocument/2006/relationships/image" Target="media/image10.png" /><Relationship Id="rId4" Type="http://schemas.openxmlformats.org/officeDocument/2006/relationships/image" Target="media/image11.png" /><Relationship Id="rId5" Type="http://schemas.openxmlformats.org/officeDocument/2006/relationships/image" Target="media/image31.png" /><Relationship Id="rId6" Type="http://schemas.openxmlformats.org/officeDocument/2006/relationships/image" Target="media/image32.svg" /><Relationship Id="rId7" Type="http://schemas.openxmlformats.org/officeDocument/2006/relationships/image" Target="media/image33.svg" /><Relationship Id="rId8" Type="http://schemas.openxmlformats.org/officeDocument/2006/relationships/image" Target="media/image34.svg" /><Relationship Id="rId9" Type="http://schemas.openxmlformats.org/officeDocument/2006/relationships/image" Target="media/image35.png" /></Relationships>
</file>

<file path=ppt/slides/_rels/slide16.xml.rels><?xml version="1.0" encoding="UTF-8" standalone="yes"?><Relationships xmlns="http://schemas.openxmlformats.org/package/2006/relationships"><Relationship Id="rId12" Type="http://schemas.openxmlformats.org/officeDocument/2006/relationships/image" Target="media/image48.wmf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7.xml" /><Relationship Id="rId10" Type="http://schemas.openxmlformats.org/officeDocument/2006/relationships/image" Target="media/image46.svg" /><Relationship Id="rId3" Type="http://schemas.openxmlformats.org/officeDocument/2006/relationships/image" Target="media/image10.png" /><Relationship Id="rId11" Type="http://schemas.openxmlformats.org/officeDocument/2006/relationships/image" Target="media/image47.svg" /><Relationship Id="rId2" Type="http://schemas.openxmlformats.org/officeDocument/2006/relationships/image" Target="media/image9.png" /><Relationship Id="rId4" Type="http://schemas.openxmlformats.org/officeDocument/2006/relationships/image" Target="media/image11.png" /><Relationship Id="rId5" Type="http://schemas.openxmlformats.org/officeDocument/2006/relationships/image" Target="media/image41.png" /><Relationship Id="rId6" Type="http://schemas.openxmlformats.org/officeDocument/2006/relationships/image" Target="media/image42.svg" /><Relationship Id="rId7" Type="http://schemas.openxmlformats.org/officeDocument/2006/relationships/image" Target="media/image43.svg" /><Relationship Id="rId8" Type="http://schemas.openxmlformats.org/officeDocument/2006/relationships/image" Target="media/image44.png" /><Relationship Id="rId9" Type="http://schemas.openxmlformats.org/officeDocument/2006/relationships/image" Target="media/image45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6" Type="http://schemas.openxmlformats.org/officeDocument/2006/relationships/image" Target="media/image15.svg" /><Relationship Id="rId4" Type="http://schemas.openxmlformats.org/officeDocument/2006/relationships/image" Target="media/image11.png" /><Relationship Id="rId1" Type="http://schemas.openxmlformats.org/officeDocument/2006/relationships/notesSlide" Target="../notesSlides/notesSlide8.xml" /><Relationship Id="rId5" Type="http://schemas.openxmlformats.org/officeDocument/2006/relationships/image" Target="media/image49.svg" /><Relationship Id="rId2" Type="http://schemas.openxmlformats.org/officeDocument/2006/relationships/image" Target="media/image9.png" /><Relationship Id="rId3" Type="http://schemas.openxmlformats.org/officeDocument/2006/relationships/image" Target="media/image10.png" /><Relationship Id="rId7" Type="http://schemas.openxmlformats.org/officeDocument/2006/relationships/image" Target="media/image50.svg" /></Relationships>
</file>

<file path=ppt/slides/_rels/slide18.xml.rels><?xml version="1.0" encoding="UTF-8" standalone="yes"?><Relationships xmlns="http://schemas.openxmlformats.org/package/2006/relationships"><Relationship Id="rId10" Type="http://schemas.openxmlformats.org/officeDocument/2006/relationships/image" Target="media/image56.png" /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0.png" /><Relationship Id="rId6" Type="http://schemas.openxmlformats.org/officeDocument/2006/relationships/image" Target="media/image52.png" /><Relationship Id="rId11" Type="http://schemas.openxmlformats.org/officeDocument/2006/relationships/image" Target="media/image57.png" /><Relationship Id="rId12" Type="http://schemas.openxmlformats.org/officeDocument/2006/relationships/image" Target="media/image58.png" /><Relationship Id="rId13" Type="http://schemas.openxmlformats.org/officeDocument/2006/relationships/image" Target="media/image59.wmf" /><Relationship Id="rId2" Type="http://schemas.openxmlformats.org/officeDocument/2006/relationships/image" Target="media/image9.png" /><Relationship Id="rId4" Type="http://schemas.openxmlformats.org/officeDocument/2006/relationships/image" Target="media/image11.png" /><Relationship Id="rId5" Type="http://schemas.openxmlformats.org/officeDocument/2006/relationships/image" Target="media/image51.svg" /><Relationship Id="rId7" Type="http://schemas.openxmlformats.org/officeDocument/2006/relationships/image" Target="media/image53.png" /><Relationship Id="rId8" Type="http://schemas.openxmlformats.org/officeDocument/2006/relationships/image" Target="media/image54.svg" /><Relationship Id="rId9" Type="http://schemas.openxmlformats.org/officeDocument/2006/relationships/image" Target="media/image55.png" /></Relationships>
</file>

<file path=ppt/slides/_rels/slide19.xml.rels><?xml version="1.0" encoding="UTF-8" standalone="yes"?><Relationships xmlns="http://schemas.openxmlformats.org/package/2006/relationships"><Relationship Id="rId4" Type="http://schemas.openxmlformats.org/officeDocument/2006/relationships/image" Target="media/image11.png" /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9.png" /><Relationship Id="rId3" Type="http://schemas.openxmlformats.org/officeDocument/2006/relationships/image" Target="media/image10.pn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9.png" /><Relationship Id="rId1" Type="http://schemas.openxmlformats.org/officeDocument/2006/relationships/notesSlide" Target="../notesSlides/notesSlide12.xml" /><Relationship Id="rId4" Type="http://schemas.openxmlformats.org/officeDocument/2006/relationships/image" Target="media/image11.png" /><Relationship Id="rId3" Type="http://schemas.openxmlformats.org/officeDocument/2006/relationships/image" Target="media/image10.png" /><Relationship Id="rId5" Type="http://schemas.openxmlformats.org/officeDocument/2006/relationships/image" Target="media/image61.png" /><Relationship Id="rId6" Type="http://schemas.openxmlformats.org/officeDocument/2006/relationships/image" Target="media/image62.png" /><Relationship Id="rId7" Type="http://schemas.openxmlformats.org/officeDocument/2006/relationships/image" Target="media/image63.svg" /><Relationship Id="rId8" Type="http://schemas.openxmlformats.org/officeDocument/2006/relationships/image" Target="media/image64.svg" /><Relationship Id="rId9" Type="http://schemas.openxmlformats.org/officeDocument/2006/relationships/image" Target="media/image65.svg" /></Relationships>
</file>

<file path=ppt/slides/_rels/slide21.xml.rels><?xml version="1.0" encoding="UTF-8" standalone="yes"?><Relationships xmlns="http://schemas.openxmlformats.org/package/2006/relationships"><Relationship Id="rId6" Type="http://schemas.openxmlformats.org/officeDocument/2006/relationships/image" Target="media/image67.svg" /><Relationship Id="rId5" Type="http://schemas.openxmlformats.org/officeDocument/2006/relationships/image" Target="media/image66.png" /><Relationship Id="rId2" Type="http://schemas.openxmlformats.org/officeDocument/2006/relationships/image" Target="media/image9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3.xml" /><Relationship Id="rId4" Type="http://schemas.openxmlformats.org/officeDocument/2006/relationships/image" Target="media/image11.png" /><Relationship Id="rId3" Type="http://schemas.openxmlformats.org/officeDocument/2006/relationships/image" Target="media/image10.png" /><Relationship Id="rId7" Type="http://schemas.openxmlformats.org/officeDocument/2006/relationships/image" Target="media/image68.png" /><Relationship Id="rId8" Type="http://schemas.openxmlformats.org/officeDocument/2006/relationships/image" Target="media/image23.svg" /></Relationships>
</file>

<file path=ppt/slides/_rels/slide22.xml.rels><?xml version="1.0" encoding="UTF-8" standalone="yes"?><Relationships xmlns="http://schemas.openxmlformats.org/package/2006/relationships"><Relationship Id="rId7" Type="http://schemas.openxmlformats.org/officeDocument/2006/relationships/image" Target="media/image71.png" /><Relationship Id="rId4" Type="http://schemas.openxmlformats.org/officeDocument/2006/relationships/image" Target="media/image11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4.xml" /><Relationship Id="rId2" Type="http://schemas.openxmlformats.org/officeDocument/2006/relationships/image" Target="media/image9.png" /><Relationship Id="rId3" Type="http://schemas.openxmlformats.org/officeDocument/2006/relationships/image" Target="media/image10.png" /><Relationship Id="rId5" Type="http://schemas.openxmlformats.org/officeDocument/2006/relationships/image" Target="media/image69.png" /><Relationship Id="rId6" Type="http://schemas.openxmlformats.org/officeDocument/2006/relationships/image" Target="media/image70.svg" /><Relationship Id="rId8" Type="http://schemas.openxmlformats.org/officeDocument/2006/relationships/image" Target="media/image72.png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0.png" /><Relationship Id="rId1" Type="http://schemas.openxmlformats.org/officeDocument/2006/relationships/notesSlide" Target="../notesSlides/notesSlide15.xml" /><Relationship Id="rId4" Type="http://schemas.openxmlformats.org/officeDocument/2006/relationships/image" Target="media/image11.png" /><Relationship Id="rId10" Type="http://schemas.openxmlformats.org/officeDocument/2006/relationships/image" Target="media/image23.svg" /><Relationship Id="rId5" Type="http://schemas.openxmlformats.org/officeDocument/2006/relationships/image" Target="media/image73.png" /><Relationship Id="rId2" Type="http://schemas.openxmlformats.org/officeDocument/2006/relationships/image" Target="media/image9.png" /><Relationship Id="rId6" Type="http://schemas.openxmlformats.org/officeDocument/2006/relationships/image" Target="media/image74.svg" /><Relationship Id="rId7" Type="http://schemas.openxmlformats.org/officeDocument/2006/relationships/image" Target="media/image75.svg" /><Relationship Id="rId8" Type="http://schemas.openxmlformats.org/officeDocument/2006/relationships/image" Target="media/image76.svg" /><Relationship Id="rId9" Type="http://schemas.openxmlformats.org/officeDocument/2006/relationships/image" Target="media/image77.png" /></Relationships>
</file>

<file path=ppt/slides/_rels/slide24.xml.rels><?xml version="1.0" encoding="UTF-8" standalone="yes"?><Relationships xmlns="http://schemas.openxmlformats.org/package/2006/relationships"><Relationship Id="rId3" Type="http://schemas.openxmlformats.org/officeDocument/2006/relationships/image" Target="media/image10.png" /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9.png" /><Relationship Id="rId5" Type="http://schemas.openxmlformats.org/officeDocument/2006/relationships/image" Target="media/image78.png" /><Relationship Id="rId4" Type="http://schemas.openxmlformats.org/officeDocument/2006/relationships/image" Target="media/image11.png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7.xml" /><Relationship Id="rId2" Type="http://schemas.openxmlformats.org/officeDocument/2006/relationships/image" Target="media/image9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</a:t>
            </a:r>
            <a:r>
              <a:rPr lang="zh-CN" altLang="en-US" sz="2040" dirty="0">
                <a:solidFill>
                  <a:srgbClr val="000000"/>
                </a:solidFill>
              </a:rPr>
              <a:t>张玉</a:t>
            </a:r>
            <a:endParaRPr lang="zh-CN" altLang="en-US" sz="2040" dirty="0">
              <a:solidFill>
                <a:srgbClr val="000000"/>
              </a:solidFill>
            </a:endParaRPr>
          </a:p>
        </p:txBody>
      </p:sp>
      <p:sp>
        <p:nvSpPr>
          <p:cNvPr id="11" name="Text 1"/>
          <p:cNvSpPr/>
          <p:nvPr/>
        </p:nvSpPr>
        <p:spPr>
          <a:xfrm>
            <a:off x="577068" y="1683313"/>
            <a:ext cx="5490553" cy="18288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dirty="0">
                <a:solidFill>
                  <a:srgbClr val="FFFFFF"/>
                </a:solidFill>
              </a:rPr>
              <a:t>信息安全测评与风险评估</a:t>
            </a:r>
            <a:endParaRPr lang="en-US" sz="600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7.1.1 云平台架构认知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6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307" name="Text 0"/>
          <p:cNvSpPr/>
          <p:nvPr/>
        </p:nvSpPr>
        <p:spPr>
          <a:xfrm>
            <a:off x="4009534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308" name="Text 1"/>
          <p:cNvSpPr/>
          <p:nvPr/>
        </p:nvSpPr>
        <p:spPr>
          <a:xfrm>
            <a:off x="4009534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309" name="Text 2"/>
          <p:cNvSpPr/>
          <p:nvPr/>
        </p:nvSpPr>
        <p:spPr>
          <a:xfrm>
            <a:off x="4009534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310" name="Text 3"/>
          <p:cNvSpPr/>
          <p:nvPr/>
        </p:nvSpPr>
        <p:spPr>
          <a:xfrm>
            <a:off x="4009534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311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312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313" name="Text 6"/>
          <p:cNvSpPr/>
          <p:nvPr/>
        </p:nvSpPr>
        <p:spPr>
          <a:xfrm>
            <a:off x="5277485" y="4631055"/>
            <a:ext cx="6664325" cy="5537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云计算的发展历程</a:t>
            </a:r>
            <a:endParaRPr lang="en-US" sz="3000" dirty="0"/>
          </a:p>
        </p:txBody>
      </p:sp>
      <p:sp>
        <p:nvSpPr>
          <p:cNvPr id="314" name="Text 7"/>
          <p:cNvSpPr/>
          <p:nvPr/>
        </p:nvSpPr>
        <p:spPr>
          <a:xfrm>
            <a:off x="5277485" y="1531620"/>
            <a:ext cx="6664325" cy="6394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案例导入——“一朵云引发的安全思考”</a:t>
            </a:r>
            <a:endParaRPr lang="en-US" sz="3000" dirty="0"/>
          </a:p>
        </p:txBody>
      </p:sp>
      <p:sp>
        <p:nvSpPr>
          <p:cNvPr id="315" name="Text 8"/>
          <p:cNvSpPr/>
          <p:nvPr/>
        </p:nvSpPr>
        <p:spPr>
          <a:xfrm>
            <a:off x="5277485" y="3614420"/>
            <a:ext cx="6664325" cy="5537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什么是云计算？</a:t>
            </a:r>
            <a:endParaRPr lang="en-US" sz="3000" dirty="0"/>
          </a:p>
        </p:txBody>
      </p:sp>
      <p:sp>
        <p:nvSpPr>
          <p:cNvPr id="316" name="Text 9"/>
          <p:cNvSpPr/>
          <p:nvPr/>
        </p:nvSpPr>
        <p:spPr>
          <a:xfrm>
            <a:off x="5277485" y="2597785"/>
            <a:ext cx="6664325" cy="5537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学习目标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4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52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53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54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案例导入——“一朵云引发的安全思考”（10分钟）</a:t>
            </a:r>
            <a:endParaRPr lang="en-US" sz="2760" dirty="0"/>
          </a:p>
        </p:txBody>
      </p:sp>
      <p:pic>
        <p:nvPicPr>
          <p:cNvPr id="455" name="Image 3" descr="https://test.web.static.jianzeppt.com/ppt-temp-img3/eec7efd5ad9535217edc30fa44079cef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480" y="1371600"/>
            <a:ext cx="5836920" cy="2011680"/>
          </a:xfrm>
          <a:prstGeom prst="rect">
            <a:avLst/>
          </a:prstGeom>
        </p:spPr>
      </p:pic>
      <p:pic>
        <p:nvPicPr>
          <p:cNvPr id="45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004560" y="1630680"/>
            <a:ext cx="1219200" cy="441960"/>
          </a:xfrm>
          <a:prstGeom prst="rect">
            <a:avLst/>
          </a:prstGeom>
        </p:spPr>
      </p:pic>
      <p:sp>
        <p:nvSpPr>
          <p:cNvPr id="457" name="Text 1"/>
          <p:cNvSpPr/>
          <p:nvPr/>
        </p:nvSpPr>
        <p:spPr>
          <a:xfrm>
            <a:off x="6187440" y="169164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案例素材</a:t>
            </a:r>
            <a:endParaRPr lang="en-US" sz="1680" dirty="0"/>
          </a:p>
        </p:txBody>
      </p:sp>
      <p:sp>
        <p:nvSpPr>
          <p:cNvPr id="458" name="Text 2"/>
          <p:cNvSpPr/>
          <p:nvPr/>
        </p:nvSpPr>
        <p:spPr>
          <a:xfrm>
            <a:off x="6004560" y="2082800"/>
            <a:ext cx="5327904" cy="16027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2021年，某互联网公司因云平台配置不当，导致存储权限设置为“公开”，</a:t>
            </a:r>
            <a:r>
              <a:rPr lang="en-US" sz="16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超100万用户数据被泄露</a:t>
            </a:r>
            <a:r>
              <a:rPr lang="en-US" sz="16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。事后调查发现：该公司将核心业务系统部署在公有云上，但未正确理解</a:t>
            </a:r>
            <a:r>
              <a:rPr lang="en-US" sz="16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云安全责任共担模型</a:t>
            </a:r>
            <a:r>
              <a:rPr lang="en-US" sz="16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，误以为云服务商会负责所有安全。</a:t>
            </a:r>
            <a:endParaRPr lang="en-US" sz="16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459" name="Image 5" descr="https://test.web.static.jianzeppt.com/ppt-temp-img3/eec7efd5ad9535217edc30fa44079cef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480" y="3627120"/>
            <a:ext cx="5836920" cy="2011680"/>
          </a:xfrm>
          <a:prstGeom prst="rect">
            <a:avLst/>
          </a:prstGeom>
        </p:spPr>
      </p:pic>
      <p:pic>
        <p:nvPicPr>
          <p:cNvPr id="46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004560" y="3886200"/>
            <a:ext cx="1219200" cy="441960"/>
          </a:xfrm>
          <a:prstGeom prst="rect">
            <a:avLst/>
          </a:prstGeom>
        </p:spPr>
      </p:pic>
      <p:sp>
        <p:nvSpPr>
          <p:cNvPr id="461" name="Text 3"/>
          <p:cNvSpPr/>
          <p:nvPr/>
        </p:nvSpPr>
        <p:spPr>
          <a:xfrm>
            <a:off x="6187440" y="394716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问题讨论</a:t>
            </a:r>
            <a:endParaRPr lang="en-US" sz="1680" dirty="0"/>
          </a:p>
        </p:txBody>
      </p:sp>
      <p:pic>
        <p:nvPicPr>
          <p:cNvPr id="46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004560" y="4572000"/>
            <a:ext cx="121920" cy="121920"/>
          </a:xfrm>
          <a:prstGeom prst="rect">
            <a:avLst/>
          </a:prstGeom>
        </p:spPr>
      </p:pic>
      <p:sp>
        <p:nvSpPr>
          <p:cNvPr id="463" name="Text 4"/>
          <p:cNvSpPr/>
          <p:nvPr/>
        </p:nvSpPr>
        <p:spPr>
          <a:xfrm>
            <a:off x="6309360" y="4267200"/>
            <a:ext cx="502310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这家公司把数据放在云上，数据泄露谁的责任？</a:t>
            </a:r>
            <a:endParaRPr lang="en-US" sz="1920" dirty="0"/>
          </a:p>
        </p:txBody>
      </p:sp>
      <p:pic>
        <p:nvPicPr>
          <p:cNvPr id="46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004560" y="5130165"/>
            <a:ext cx="121920" cy="121920"/>
          </a:xfrm>
          <a:prstGeom prst="rect">
            <a:avLst/>
          </a:prstGeom>
        </p:spPr>
      </p:pic>
      <p:sp>
        <p:nvSpPr>
          <p:cNvPr id="465" name="Text 5"/>
          <p:cNvSpPr/>
          <p:nvPr/>
        </p:nvSpPr>
        <p:spPr>
          <a:xfrm>
            <a:off x="6309360" y="4945380"/>
            <a:ext cx="44135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“云安全”等于“云服务商的安全”吗？</a:t>
            </a:r>
            <a:endParaRPr lang="en-US" sz="1920" dirty="0"/>
          </a:p>
        </p:txBody>
      </p:sp>
      <p:pic>
        <p:nvPicPr>
          <p:cNvPr id="46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609600" y="1371600"/>
            <a:ext cx="4785360" cy="4267200"/>
          </a:xfrm>
          <a:prstGeom prst="rect">
            <a:avLst/>
          </a:prstGeom>
          <a:effectLst>
            <a:outerShdw blurRad="-2147483648" dist="1935480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467" name="Image 10" descr="https://test.web.static.jianzeppt.com/ppt-temp-img3/0a6a58c09746ad13de9a0ba79e6548d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1386840"/>
            <a:ext cx="4754880" cy="4236720"/>
          </a:xfrm>
          <a:prstGeom prst="rect">
            <a:avLst/>
          </a:prstGeom>
        </p:spPr>
      </p:pic>
      <p:pic>
        <p:nvPicPr>
          <p:cNvPr id="468" name="Image 12" descr="https://test.web.static.jianzeppt.com/ppt-temp-img3/f8c47c034da8db6b54820c654a5939cd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1889760"/>
            <a:ext cx="243840" cy="243840"/>
          </a:xfrm>
          <a:prstGeom prst="rect">
            <a:avLst/>
          </a:prstGeom>
        </p:spPr>
      </p:pic>
      <p:pic>
        <p:nvPicPr>
          <p:cNvPr id="46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609600" y="5726430"/>
            <a:ext cx="10972800" cy="731520"/>
          </a:xfrm>
          <a:prstGeom prst="rect">
            <a:avLst/>
          </a:prstGeom>
          <a:effectLst>
            <a:outerShdw blurRad="-2147483648" dist="774192000" dir="-1" algn="bl" rotWithShape="0">
              <a:srgbClr val="4576E6">
                <a:alpha val="-2147483646"/>
              </a:srgbClr>
            </a:outerShdw>
          </a:effectLst>
        </p:spPr>
      </p:pic>
      <p:sp>
        <p:nvSpPr>
          <p:cNvPr id="470" name="Text 8"/>
          <p:cNvSpPr/>
          <p:nvPr/>
        </p:nvSpPr>
        <p:spPr>
          <a:xfrm>
            <a:off x="975360" y="5768658"/>
            <a:ext cx="10250424" cy="6153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72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结论：云计算带来灵活性的同时，也带来了责任边界的问题。理解云平台架构，是开展云计算安全测评的第一步。</a:t>
            </a:r>
            <a:endParaRPr lang="en-US" sz="2000" b="1" kern="0" spc="72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471" name="文本框 24"/>
          <p:cNvSpPr txBox="1"/>
          <p:nvPr/>
        </p:nvSpPr>
        <p:spPr>
          <a:xfrm>
            <a:off x="6004560" y="1001712"/>
            <a:ext cx="5080000" cy="583565"/>
          </a:xfrm>
          <a:prstGeom prst="rect">
            <a:avLst/>
          </a:prstGeom>
          <a:solidFill>
            <a:schemeClr val="accent2"/>
          </a:solidFill>
        </p:spPr>
        <p:txBody>
          <a:bodyPr>
            <a:spAutoFit/>
          </a:bodyPr>
          <a:p>
            <a:pPr/>
            <a:r>
              <a:rPr lang="zh-CN" altLang="en-US" sz="1600">
                <a:hlinkClick r:id="rId12"/>
              </a:rPr>
              <a:t>云计算</a:t>
            </a:r>
            <a:r>
              <a:rPr lang="en-US" altLang="zh-CN" sz="1600">
                <a:hlinkClick r:id="rId12"/>
              </a:rPr>
              <a:t>70</a:t>
            </a:r>
            <a:r>
              <a:rPr lang="zh-CN" altLang="en-US" sz="1600">
                <a:hlinkClick r:id="rId12"/>
              </a:rPr>
              <a:t>年发展史：从算力共享到</a:t>
            </a:r>
            <a:r>
              <a:rPr lang="en-US" altLang="zh-CN" sz="1600">
                <a:hlinkClick r:id="rId12"/>
              </a:rPr>
              <a:t>AI</a:t>
            </a:r>
            <a:r>
              <a:rPr lang="zh-CN" altLang="en-US" sz="1600">
                <a:hlinkClick r:id="rId12"/>
              </a:rPr>
              <a:t>时代智算底座</a:t>
            </a:r>
            <a:r>
              <a:rPr lang="en-US" altLang="zh-CN" sz="1600">
                <a:hlinkClick r:id="rId12"/>
              </a:rPr>
              <a:t>_</a:t>
            </a:r>
            <a:r>
              <a:rPr lang="zh-CN" altLang="en-US" sz="1600">
                <a:hlinkClick r:id="rId12"/>
              </a:rPr>
              <a:t>哔哩哔哩</a:t>
            </a:r>
            <a:r>
              <a:rPr lang="en-US" altLang="zh-CN" sz="1600">
                <a:hlinkClick r:id="rId12"/>
              </a:rPr>
              <a:t>_bilibili</a:t>
            </a:r>
            <a:endParaRPr lang="en-US" altLang="zh-CN" sz="1600">
              <a:hlinkClick r:id="rId12"/>
            </a:endParaR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4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74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75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76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  <p:sp>
        <p:nvSpPr>
          <p:cNvPr id="477" name="Text 1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通过本课学习，你将能够：</a:t>
            </a:r>
            <a:endParaRPr lang="en-US" sz="2160" dirty="0"/>
          </a:p>
        </p:txBody>
      </p:sp>
      <p:pic>
        <p:nvPicPr>
          <p:cNvPr id="478" name="Image 3" descr="https://test.web.static.jianzeppt.com/ppt-temp-img3/ac700945b568f0448081a57280b47c0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037715"/>
            <a:ext cx="5364480" cy="2087880"/>
          </a:xfrm>
          <a:prstGeom prst="rect">
            <a:avLst/>
          </a:prstGeom>
        </p:spPr>
      </p:pic>
      <p:pic>
        <p:nvPicPr>
          <p:cNvPr id="479" name="Image 4" descr="https://test.web.static.jianzeppt.com/ppt-temp-img3/6db2f60d7a64932b43a59df9f98a1376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037715"/>
            <a:ext cx="1828800" cy="2087880"/>
          </a:xfrm>
          <a:prstGeom prst="rect">
            <a:avLst/>
          </a:prstGeom>
        </p:spPr>
      </p:pic>
      <p:sp>
        <p:nvSpPr>
          <p:cNvPr id="480" name="Text 2"/>
          <p:cNvSpPr/>
          <p:nvPr/>
        </p:nvSpPr>
        <p:spPr>
          <a:xfrm>
            <a:off x="1280160" y="2693035"/>
            <a:ext cx="49682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01</a:t>
            </a:r>
            <a:endParaRPr lang="en-US" sz="3360" dirty="0"/>
          </a:p>
        </p:txBody>
      </p:sp>
      <p:sp>
        <p:nvSpPr>
          <p:cNvPr id="481" name="Text 3"/>
          <p:cNvSpPr/>
          <p:nvPr/>
        </p:nvSpPr>
        <p:spPr>
          <a:xfrm>
            <a:off x="1249680" y="3180715"/>
            <a:ext cx="5577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理解</a:t>
            </a:r>
            <a:endParaRPr lang="en-US" sz="2160" dirty="0"/>
          </a:p>
        </p:txBody>
      </p:sp>
      <p:sp>
        <p:nvSpPr>
          <p:cNvPr id="482" name="Text 4"/>
          <p:cNvSpPr/>
          <p:nvPr/>
        </p:nvSpPr>
        <p:spPr>
          <a:xfrm>
            <a:off x="2682240" y="2708275"/>
            <a:ext cx="3057144" cy="7567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云计算的基本概念、特征和服务模式</a:t>
            </a:r>
            <a:endParaRPr lang="en-US" sz="2160" dirty="0"/>
          </a:p>
        </p:txBody>
      </p:sp>
      <p:pic>
        <p:nvPicPr>
          <p:cNvPr id="483" name="Image 5" descr="https://test.web.static.jianzeppt.com/ppt-temp-img3/ac700945b568f0448081a57280b47c0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037715"/>
            <a:ext cx="5364480" cy="2087880"/>
          </a:xfrm>
          <a:prstGeom prst="rect">
            <a:avLst/>
          </a:prstGeom>
        </p:spPr>
      </p:pic>
      <p:pic>
        <p:nvPicPr>
          <p:cNvPr id="484" name="Image 6" descr="https://test.web.static.jianzeppt.com/ppt-temp-img3/3f9e158d555e60cc29f7f8d394fd501f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037715"/>
            <a:ext cx="1828800" cy="2087880"/>
          </a:xfrm>
          <a:prstGeom prst="rect">
            <a:avLst/>
          </a:prstGeom>
        </p:spPr>
      </p:pic>
      <p:sp>
        <p:nvSpPr>
          <p:cNvPr id="485" name="Text 5"/>
          <p:cNvSpPr/>
          <p:nvPr/>
        </p:nvSpPr>
        <p:spPr>
          <a:xfrm>
            <a:off x="6888480" y="2693035"/>
            <a:ext cx="64160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02</a:t>
            </a:r>
            <a:endParaRPr lang="en-US" sz="3360" dirty="0"/>
          </a:p>
        </p:txBody>
      </p:sp>
      <p:sp>
        <p:nvSpPr>
          <p:cNvPr id="486" name="Text 6"/>
          <p:cNvSpPr/>
          <p:nvPr/>
        </p:nvSpPr>
        <p:spPr>
          <a:xfrm>
            <a:off x="6858000" y="3180715"/>
            <a:ext cx="5577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掌握</a:t>
            </a:r>
            <a:endParaRPr lang="en-US" sz="2160" dirty="0"/>
          </a:p>
        </p:txBody>
      </p:sp>
      <p:sp>
        <p:nvSpPr>
          <p:cNvPr id="487" name="Text 7"/>
          <p:cNvSpPr/>
          <p:nvPr/>
        </p:nvSpPr>
        <p:spPr>
          <a:xfrm>
            <a:off x="8290560" y="2510155"/>
            <a:ext cx="3057144" cy="11351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三种云服务模式（IaaS、PaaS、SaaS）的核心区别</a:t>
            </a:r>
            <a:endParaRPr lang="en-US" sz="2160" dirty="0"/>
          </a:p>
        </p:txBody>
      </p:sp>
      <p:pic>
        <p:nvPicPr>
          <p:cNvPr id="488" name="Image 7" descr="https://test.web.static.jianzeppt.com/ppt-temp-img3/ac700945b568f0448081a57280b47c0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369435"/>
            <a:ext cx="5364480" cy="2087880"/>
          </a:xfrm>
          <a:prstGeom prst="rect">
            <a:avLst/>
          </a:prstGeom>
        </p:spPr>
      </p:pic>
      <p:pic>
        <p:nvPicPr>
          <p:cNvPr id="489" name="Image 8" descr="https://test.web.static.jianzeppt.com/ppt-temp-img3/a0a11e4edeeb64708ec6746e6f8b8df7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369435"/>
            <a:ext cx="1828800" cy="2087880"/>
          </a:xfrm>
          <a:prstGeom prst="rect">
            <a:avLst/>
          </a:prstGeom>
        </p:spPr>
      </p:pic>
      <p:sp>
        <p:nvSpPr>
          <p:cNvPr id="490" name="Text 8"/>
          <p:cNvSpPr/>
          <p:nvPr/>
        </p:nvSpPr>
        <p:spPr>
          <a:xfrm>
            <a:off x="1280160" y="5024755"/>
            <a:ext cx="62636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03</a:t>
            </a:r>
            <a:endParaRPr lang="en-US" sz="3360" dirty="0"/>
          </a:p>
        </p:txBody>
      </p:sp>
      <p:sp>
        <p:nvSpPr>
          <p:cNvPr id="491" name="Text 9"/>
          <p:cNvSpPr/>
          <p:nvPr/>
        </p:nvSpPr>
        <p:spPr>
          <a:xfrm>
            <a:off x="1249680" y="5512435"/>
            <a:ext cx="5577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理解</a:t>
            </a:r>
            <a:endParaRPr lang="en-US" sz="2160" dirty="0"/>
          </a:p>
        </p:txBody>
      </p:sp>
      <p:sp>
        <p:nvSpPr>
          <p:cNvPr id="492" name="Text 10"/>
          <p:cNvSpPr/>
          <p:nvPr/>
        </p:nvSpPr>
        <p:spPr>
          <a:xfrm>
            <a:off x="2682240" y="5024755"/>
            <a:ext cx="3057144" cy="7567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云安全责任共担模型及其在等保测评中的应用</a:t>
            </a:r>
            <a:endParaRPr lang="en-US" sz="2160" dirty="0"/>
          </a:p>
        </p:txBody>
      </p:sp>
      <p:pic>
        <p:nvPicPr>
          <p:cNvPr id="493" name="Image 9" descr="https://test.web.static.jianzeppt.com/ppt-temp-img3/ac700945b568f0448081a57280b47c0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369435"/>
            <a:ext cx="5364480" cy="2087880"/>
          </a:xfrm>
          <a:prstGeom prst="rect">
            <a:avLst/>
          </a:prstGeom>
        </p:spPr>
      </p:pic>
      <p:pic>
        <p:nvPicPr>
          <p:cNvPr id="494" name="Image 10" descr="https://test.web.static.jianzeppt.com/ppt-temp-img3/8413d5ad01cd6e0672db8e181bf58c8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369435"/>
            <a:ext cx="1828800" cy="2087880"/>
          </a:xfrm>
          <a:prstGeom prst="rect">
            <a:avLst/>
          </a:prstGeom>
        </p:spPr>
      </p:pic>
      <p:sp>
        <p:nvSpPr>
          <p:cNvPr id="495" name="Text 11"/>
          <p:cNvSpPr/>
          <p:nvPr/>
        </p:nvSpPr>
        <p:spPr>
          <a:xfrm>
            <a:off x="6888480" y="5024755"/>
            <a:ext cx="62636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04</a:t>
            </a:r>
            <a:endParaRPr lang="en-US" sz="3360" dirty="0"/>
          </a:p>
        </p:txBody>
      </p:sp>
      <p:sp>
        <p:nvSpPr>
          <p:cNvPr id="496" name="Text 12"/>
          <p:cNvSpPr/>
          <p:nvPr/>
        </p:nvSpPr>
        <p:spPr>
          <a:xfrm>
            <a:off x="6858000" y="5512435"/>
            <a:ext cx="5577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能够</a:t>
            </a:r>
            <a:endParaRPr lang="en-US" sz="2160" dirty="0"/>
          </a:p>
        </p:txBody>
      </p:sp>
      <p:sp>
        <p:nvSpPr>
          <p:cNvPr id="497" name="Text 13"/>
          <p:cNvSpPr/>
          <p:nvPr/>
        </p:nvSpPr>
        <p:spPr>
          <a:xfrm>
            <a:off x="8290560" y="5024755"/>
            <a:ext cx="3057144" cy="7567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识别云计算安全扩展要求在等保中的定位</a:t>
            </a:r>
            <a:endParaRPr lang="en-US" sz="2160" dirty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4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0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501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02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什么是云计算？</a:t>
            </a:r>
            <a:endParaRPr lang="en-US" sz="2760" dirty="0"/>
          </a:p>
        </p:txBody>
      </p:sp>
      <p:pic>
        <p:nvPicPr>
          <p:cNvPr id="50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2804160"/>
            <a:ext cx="10972800" cy="1188720"/>
          </a:xfrm>
          <a:prstGeom prst="rect">
            <a:avLst/>
          </a:prstGeom>
        </p:spPr>
      </p:pic>
      <p:pic>
        <p:nvPicPr>
          <p:cNvPr id="50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53440" y="3154680"/>
            <a:ext cx="487680" cy="487680"/>
          </a:xfrm>
          <a:prstGeom prst="rect">
            <a:avLst/>
          </a:prstGeom>
        </p:spPr>
      </p:pic>
      <p:pic>
        <p:nvPicPr>
          <p:cNvPr id="50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975360" y="3276600"/>
            <a:ext cx="243840" cy="243840"/>
          </a:xfrm>
          <a:prstGeom prst="rect">
            <a:avLst/>
          </a:prstGeom>
        </p:spPr>
      </p:pic>
      <p:sp>
        <p:nvSpPr>
          <p:cNvPr id="506" name="Text 1"/>
          <p:cNvSpPr/>
          <p:nvPr/>
        </p:nvSpPr>
        <p:spPr>
          <a:xfrm>
            <a:off x="1524000" y="3050540"/>
            <a:ext cx="9884664" cy="664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通俗理解：</a:t>
            </a:r>
            <a:r>
              <a:rPr lang="en-US" sz="216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云计算就是把计算能力（服务器、存储、网络、软件）像水</a:t>
            </a:r>
            <a:r>
              <a:rPr lang="zh-CN" altLang="en-US" sz="216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、</a:t>
            </a:r>
            <a:r>
              <a:rPr lang="en-US" sz="216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电一样，按需取用、按量付费。</a:t>
            </a:r>
            <a:endParaRPr lang="en-US" sz="2160" dirty="0"/>
          </a:p>
        </p:txBody>
      </p:sp>
      <p:sp>
        <p:nvSpPr>
          <p:cNvPr id="507" name="Text 2"/>
          <p:cNvSpPr/>
          <p:nvPr/>
        </p:nvSpPr>
        <p:spPr>
          <a:xfrm>
            <a:off x="609600" y="3945890"/>
            <a:ext cx="10981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云计算的五大基本特征：</a:t>
            </a:r>
            <a:endParaRPr lang="en-US" sz="2400" dirty="0"/>
          </a:p>
        </p:txBody>
      </p:sp>
      <p:pic>
        <p:nvPicPr>
          <p:cNvPr id="508" name="Image 6" descr="https://test.web.static.jianzeppt.com/ppt-temp-img3/0d64223b3f89a13faf29922c99e56b33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371600"/>
            <a:ext cx="10972800" cy="1249680"/>
          </a:xfrm>
          <a:prstGeom prst="rect">
            <a:avLst/>
          </a:prstGeom>
        </p:spPr>
      </p:pic>
      <p:sp>
        <p:nvSpPr>
          <p:cNvPr id="509" name="Text 3"/>
          <p:cNvSpPr/>
          <p:nvPr/>
        </p:nvSpPr>
        <p:spPr>
          <a:xfrm>
            <a:off x="868680" y="1691640"/>
            <a:ext cx="1046378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云计算是一种无处不在、便捷且按需地对一个共享的可配置计算资源池进行网络访问的模式，能够通过最少的管理工作实现资源的迅速供给和释放。</a:t>
            </a:r>
            <a:endParaRPr lang="en-US" sz="1800" dirty="0"/>
          </a:p>
        </p:txBody>
      </p:sp>
      <p:pic>
        <p:nvPicPr>
          <p:cNvPr id="51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868680" y="1234440"/>
            <a:ext cx="1219200" cy="381000"/>
          </a:xfrm>
          <a:prstGeom prst="rect">
            <a:avLst/>
          </a:prstGeom>
        </p:spPr>
      </p:pic>
      <p:sp>
        <p:nvSpPr>
          <p:cNvPr id="511" name="Text 4"/>
          <p:cNvSpPr/>
          <p:nvPr/>
        </p:nvSpPr>
        <p:spPr>
          <a:xfrm>
            <a:off x="990600" y="1264920"/>
            <a:ext cx="984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NIST 定义</a:t>
            </a:r>
            <a:endParaRPr lang="en-US" sz="1680" dirty="0"/>
          </a:p>
        </p:txBody>
      </p:sp>
      <p:pic>
        <p:nvPicPr>
          <p:cNvPr id="512" name="Image 8" descr="https://test.web.static.jianzeppt.com/ppt-temp-img3/afda7247fb1e19459edc7d9381b161d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707890"/>
            <a:ext cx="2057400" cy="1432560"/>
          </a:xfrm>
          <a:prstGeom prst="rect">
            <a:avLst/>
          </a:prstGeom>
        </p:spPr>
      </p:pic>
      <p:sp>
        <p:nvSpPr>
          <p:cNvPr id="513" name="Text 5"/>
          <p:cNvSpPr/>
          <p:nvPr/>
        </p:nvSpPr>
        <p:spPr>
          <a:xfrm>
            <a:off x="953262" y="5088890"/>
            <a:ext cx="137922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按需自助服务</a:t>
            </a:r>
            <a:endParaRPr lang="en-US" b="1" dirty="0">
              <a:solidFill>
                <a:srgbClr val="0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514" name="Text 6"/>
          <p:cNvSpPr/>
          <p:nvPr/>
        </p:nvSpPr>
        <p:spPr>
          <a:xfrm>
            <a:off x="807720" y="5439410"/>
            <a:ext cx="1670304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用户无需人工交互，即可自行配置和使用计算资源</a:t>
            </a:r>
            <a:endParaRPr lang="en-US" sz="14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1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1386840" y="4479290"/>
            <a:ext cx="487680" cy="4876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516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1508760" y="4601210"/>
            <a:ext cx="243840" cy="243840"/>
          </a:xfrm>
          <a:prstGeom prst="rect">
            <a:avLst/>
          </a:prstGeom>
        </p:spPr>
      </p:pic>
      <p:pic>
        <p:nvPicPr>
          <p:cNvPr id="517" name="Image 11" descr="https://test.web.static.jianzeppt.com/ppt-temp-img3/afda7247fb1e19459edc7d9381b161d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4640" y="4707890"/>
            <a:ext cx="2057400" cy="1432560"/>
          </a:xfrm>
          <a:prstGeom prst="rect">
            <a:avLst/>
          </a:prstGeom>
        </p:spPr>
      </p:pic>
      <p:sp>
        <p:nvSpPr>
          <p:cNvPr id="518" name="Text 7"/>
          <p:cNvSpPr/>
          <p:nvPr/>
        </p:nvSpPr>
        <p:spPr>
          <a:xfrm>
            <a:off x="3032760" y="5088890"/>
            <a:ext cx="1670304" cy="285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广泛的网络接入</a:t>
            </a:r>
            <a:endParaRPr lang="en-US" sz="1800" dirty="0"/>
          </a:p>
        </p:txBody>
      </p:sp>
      <p:sp>
        <p:nvSpPr>
          <p:cNvPr id="519" name="Text 8"/>
          <p:cNvSpPr/>
          <p:nvPr/>
        </p:nvSpPr>
        <p:spPr>
          <a:xfrm>
            <a:off x="3032760" y="5481955"/>
            <a:ext cx="1670304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可通过各种终端设备（手机、电脑）通过网络访问</a:t>
            </a:r>
            <a:endParaRPr lang="en-US" sz="14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20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3627120" y="4479290"/>
            <a:ext cx="487680" cy="4876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521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2"/>
              </a:ext>
            </a:extLst>
          </a:blip>
          <a:stretch>
            <a:fillRect/>
          </a:stretch>
        </p:blipFill>
        <p:spPr>
          <a:xfrm>
            <a:off x="3749040" y="4601210"/>
            <a:ext cx="243840" cy="243840"/>
          </a:xfrm>
          <a:prstGeom prst="rect">
            <a:avLst/>
          </a:prstGeom>
        </p:spPr>
      </p:pic>
      <p:pic>
        <p:nvPicPr>
          <p:cNvPr id="522" name="Image 14" descr="https://test.web.static.jianzeppt.com/ppt-temp-img3/afda7247fb1e19459edc7d9381b161d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4707890"/>
            <a:ext cx="2057400" cy="1432560"/>
          </a:xfrm>
          <a:prstGeom prst="rect">
            <a:avLst/>
          </a:prstGeom>
        </p:spPr>
      </p:pic>
      <p:sp>
        <p:nvSpPr>
          <p:cNvPr id="523" name="Text 9"/>
          <p:cNvSpPr/>
          <p:nvPr/>
        </p:nvSpPr>
        <p:spPr>
          <a:xfrm>
            <a:off x="5608320" y="5073015"/>
            <a:ext cx="999490" cy="2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资源池化</a:t>
            </a:r>
            <a:endParaRPr lang="en-US" b="1" dirty="0">
              <a:solidFill>
                <a:srgbClr val="0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524" name="Text 10"/>
          <p:cNvSpPr/>
          <p:nvPr/>
        </p:nvSpPr>
        <p:spPr>
          <a:xfrm>
            <a:off x="5273040" y="5423535"/>
            <a:ext cx="1670304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计算资源被汇集起来，动态分配给多个用户</a:t>
            </a:r>
            <a:endParaRPr lang="en-US" sz="16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25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5852160" y="4479290"/>
            <a:ext cx="487680" cy="4876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526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3"/>
              </a:ext>
            </a:extLst>
          </a:blip>
          <a:stretch>
            <a:fillRect/>
          </a:stretch>
        </p:blipFill>
        <p:spPr>
          <a:xfrm>
            <a:off x="5974080" y="4601210"/>
            <a:ext cx="243840" cy="243840"/>
          </a:xfrm>
          <a:prstGeom prst="rect">
            <a:avLst/>
          </a:prstGeom>
        </p:spPr>
      </p:pic>
      <p:pic>
        <p:nvPicPr>
          <p:cNvPr id="527" name="Image 17" descr="https://test.web.static.jianzeppt.com/ppt-temp-img3/afda7247fb1e19459edc7d9381b161d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9960" y="4707890"/>
            <a:ext cx="2057400" cy="1432560"/>
          </a:xfrm>
          <a:prstGeom prst="rect">
            <a:avLst/>
          </a:prstGeom>
        </p:spPr>
      </p:pic>
      <p:sp>
        <p:nvSpPr>
          <p:cNvPr id="528" name="Text 11"/>
          <p:cNvSpPr/>
          <p:nvPr/>
        </p:nvSpPr>
        <p:spPr>
          <a:xfrm>
            <a:off x="7589520" y="5088890"/>
            <a:ext cx="14874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快速弹性伸缩</a:t>
            </a:r>
            <a:endParaRPr lang="en-US" sz="1920" dirty="0"/>
          </a:p>
        </p:txBody>
      </p:sp>
      <p:sp>
        <p:nvSpPr>
          <p:cNvPr id="529" name="Text 12"/>
          <p:cNvSpPr/>
          <p:nvPr/>
        </p:nvSpPr>
        <p:spPr>
          <a:xfrm>
            <a:off x="7498080" y="5500370"/>
            <a:ext cx="1670304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资源可根据需求快速扩展或收缩</a:t>
            </a:r>
            <a:endParaRPr lang="en-US" sz="16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30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077200" y="4479290"/>
            <a:ext cx="487680" cy="4876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531" name="Image 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4"/>
              </a:ext>
            </a:extLst>
          </a:blip>
          <a:stretch>
            <a:fillRect/>
          </a:stretch>
        </p:blipFill>
        <p:spPr>
          <a:xfrm>
            <a:off x="8199120" y="4601210"/>
            <a:ext cx="243840" cy="243840"/>
          </a:xfrm>
          <a:prstGeom prst="rect">
            <a:avLst/>
          </a:prstGeom>
        </p:spPr>
      </p:pic>
      <p:pic>
        <p:nvPicPr>
          <p:cNvPr id="532" name="Image 20" descr="https://test.web.static.jianzeppt.com/ppt-temp-img3/afda7247fb1e19459edc7d9381b161d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0240" y="4707890"/>
            <a:ext cx="2057400" cy="1432560"/>
          </a:xfrm>
          <a:prstGeom prst="rect">
            <a:avLst/>
          </a:prstGeom>
        </p:spPr>
      </p:pic>
      <p:sp>
        <p:nvSpPr>
          <p:cNvPr id="533" name="Text 13"/>
          <p:cNvSpPr/>
          <p:nvPr/>
        </p:nvSpPr>
        <p:spPr>
          <a:xfrm>
            <a:off x="9951720" y="5088890"/>
            <a:ext cx="12435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可计量服务</a:t>
            </a:r>
            <a:endParaRPr lang="en-US" sz="1920" dirty="0"/>
          </a:p>
        </p:txBody>
      </p:sp>
      <p:sp>
        <p:nvSpPr>
          <p:cNvPr id="534" name="Text 14"/>
          <p:cNvSpPr/>
          <p:nvPr/>
        </p:nvSpPr>
        <p:spPr>
          <a:xfrm>
            <a:off x="9738360" y="5500370"/>
            <a:ext cx="1670304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使用量可监控、计量，按使用量付费</a:t>
            </a:r>
            <a:endParaRPr lang="en-US" sz="16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35" name="Image 2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10317480" y="4479290"/>
            <a:ext cx="487680" cy="4876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536" name="Image 2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5"/>
              </a:ext>
            </a:extLst>
          </a:blip>
          <a:stretch>
            <a:fillRect/>
          </a:stretch>
        </p:blipFill>
        <p:spPr>
          <a:xfrm>
            <a:off x="10439400" y="4601210"/>
            <a:ext cx="243840" cy="243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5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9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540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65" y="328295"/>
            <a:ext cx="93980" cy="429895"/>
          </a:xfrm>
          <a:prstGeom prst="rect">
            <a:avLst/>
          </a:prstGeom>
        </p:spPr>
      </p:pic>
      <p:sp>
        <p:nvSpPr>
          <p:cNvPr id="541" name="Text 0"/>
          <p:cNvSpPr/>
          <p:nvPr/>
        </p:nvSpPr>
        <p:spPr>
          <a:xfrm>
            <a:off x="822325" y="309880"/>
            <a:ext cx="8827135" cy="4241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云计算的发展历程</a:t>
            </a:r>
            <a:endParaRPr lang="en-US" sz="2760" dirty="0"/>
          </a:p>
        </p:txBody>
      </p:sp>
      <p:pic>
        <p:nvPicPr>
          <p:cNvPr id="542" name="Image 3" descr="https://test.web.static.jianzeppt.com/ppt-temp-img3/5691c5bf262752a1238b9136f3227160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676400"/>
            <a:ext cx="30480" cy="7635240"/>
          </a:xfrm>
          <a:prstGeom prst="rect">
            <a:avLst/>
          </a:prstGeom>
        </p:spPr>
      </p:pic>
      <p:sp>
        <p:nvSpPr>
          <p:cNvPr id="543" name="Text 1"/>
          <p:cNvSpPr/>
          <p:nvPr/>
        </p:nvSpPr>
        <p:spPr>
          <a:xfrm>
            <a:off x="1653540" y="1342390"/>
            <a:ext cx="15621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1960年代</a:t>
            </a:r>
            <a:endParaRPr lang="en-US" sz="2400" dirty="0"/>
          </a:p>
        </p:txBody>
      </p:sp>
      <p:pic>
        <p:nvPicPr>
          <p:cNvPr id="54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3962400" y="1454150"/>
            <a:ext cx="7146925" cy="1082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545" name="Text 2"/>
          <p:cNvSpPr/>
          <p:nvPr/>
        </p:nvSpPr>
        <p:spPr>
          <a:xfrm>
            <a:off x="4130040" y="1621790"/>
            <a:ext cx="688276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约翰·麦卡锡提出“计算公用事业”理念</a:t>
            </a:r>
            <a:endParaRPr lang="en-US" sz="1920" dirty="0"/>
          </a:p>
        </p:txBody>
      </p:sp>
      <p:sp>
        <p:nvSpPr>
          <p:cNvPr id="546" name="Text 3"/>
          <p:cNvSpPr/>
          <p:nvPr/>
        </p:nvSpPr>
        <p:spPr>
          <a:xfrm>
            <a:off x="4130040" y="2048510"/>
            <a:ext cx="6882765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（云计算思想的起源）</a:t>
            </a:r>
            <a:endParaRPr lang="en-US" sz="1680" dirty="0"/>
          </a:p>
        </p:txBody>
      </p:sp>
      <p:pic>
        <p:nvPicPr>
          <p:cNvPr id="5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3596640" y="1593215"/>
            <a:ext cx="123825" cy="152400"/>
          </a:xfrm>
          <a:prstGeom prst="rect">
            <a:avLst/>
          </a:prstGeom>
          <a:effectLst>
            <a:outerShdw blurRad="1548384000" dist="645160000" dir="-1" algn="bl" rotWithShape="0">
              <a:srgbClr val="4576E6">
                <a:alpha val="-2147483646"/>
              </a:srgbClr>
            </a:outerShdw>
          </a:effectLst>
        </p:spPr>
      </p:pic>
      <p:sp>
        <p:nvSpPr>
          <p:cNvPr id="548" name="Text 4"/>
          <p:cNvSpPr/>
          <p:nvPr/>
        </p:nvSpPr>
        <p:spPr>
          <a:xfrm>
            <a:off x="1889760" y="2673350"/>
            <a:ext cx="1297305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2006年</a:t>
            </a:r>
            <a:endParaRPr lang="en-US" sz="2400" dirty="0"/>
          </a:p>
        </p:txBody>
      </p:sp>
      <p:pic>
        <p:nvPicPr>
          <p:cNvPr id="54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3962400" y="2764790"/>
            <a:ext cx="7146925" cy="1082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550" name="Text 5"/>
          <p:cNvSpPr/>
          <p:nvPr/>
        </p:nvSpPr>
        <p:spPr>
          <a:xfrm>
            <a:off x="4130040" y="2932430"/>
            <a:ext cx="688276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谷歌CEO施密特首次提出“云计算”概念</a:t>
            </a:r>
            <a:endParaRPr lang="en-US" sz="1920" dirty="0"/>
          </a:p>
        </p:txBody>
      </p:sp>
      <p:sp>
        <p:nvSpPr>
          <p:cNvPr id="551" name="Text 6"/>
          <p:cNvSpPr/>
          <p:nvPr/>
        </p:nvSpPr>
        <p:spPr>
          <a:xfrm>
            <a:off x="4130040" y="3359150"/>
            <a:ext cx="6882765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（术语诞生）</a:t>
            </a:r>
            <a:endParaRPr lang="en-US" sz="1680" dirty="0"/>
          </a:p>
        </p:txBody>
      </p:sp>
      <p:pic>
        <p:nvPicPr>
          <p:cNvPr id="55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3596640" y="2903855"/>
            <a:ext cx="123825" cy="152400"/>
          </a:xfrm>
          <a:prstGeom prst="rect">
            <a:avLst/>
          </a:prstGeom>
          <a:effectLst>
            <a:outerShdw blurRad="1548384000" dist="645160000" dir="-1" algn="bl" rotWithShape="0">
              <a:srgbClr val="4576E6">
                <a:alpha val="-2147483646"/>
              </a:srgbClr>
            </a:outerShdw>
          </a:effectLst>
        </p:spPr>
      </p:pic>
      <p:sp>
        <p:nvSpPr>
          <p:cNvPr id="553" name="Text 7"/>
          <p:cNvSpPr/>
          <p:nvPr/>
        </p:nvSpPr>
        <p:spPr>
          <a:xfrm>
            <a:off x="1618615" y="3983990"/>
            <a:ext cx="1597025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2006年</a:t>
            </a:r>
            <a:endParaRPr lang="en-US" sz="2400" dirty="0"/>
          </a:p>
        </p:txBody>
      </p:sp>
      <p:pic>
        <p:nvPicPr>
          <p:cNvPr id="55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3962400" y="4075430"/>
            <a:ext cx="7146925" cy="1082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555" name="Text 8"/>
          <p:cNvSpPr/>
          <p:nvPr/>
        </p:nvSpPr>
        <p:spPr>
          <a:xfrm>
            <a:off x="4130040" y="4243070"/>
            <a:ext cx="688276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亚马逊推出EC2计算云服务</a:t>
            </a:r>
            <a:endParaRPr lang="en-US" sz="1920" dirty="0"/>
          </a:p>
        </p:txBody>
      </p:sp>
      <p:sp>
        <p:nvSpPr>
          <p:cNvPr id="556" name="Text 9"/>
          <p:cNvSpPr/>
          <p:nvPr/>
        </p:nvSpPr>
        <p:spPr>
          <a:xfrm>
            <a:off x="4130040" y="4669790"/>
            <a:ext cx="6882765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（云计算正式进入商用）</a:t>
            </a:r>
            <a:endParaRPr lang="en-US" sz="1680" dirty="0"/>
          </a:p>
        </p:txBody>
      </p:sp>
      <p:pic>
        <p:nvPicPr>
          <p:cNvPr id="55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3596640" y="4214495"/>
            <a:ext cx="123825" cy="152400"/>
          </a:xfrm>
          <a:prstGeom prst="rect">
            <a:avLst/>
          </a:prstGeom>
          <a:effectLst>
            <a:outerShdw blurRad="1548384000" dist="645160000" dir="-1" algn="bl" rotWithShape="0">
              <a:srgbClr val="4576E6">
                <a:alpha val="-2147483646"/>
              </a:srgbClr>
            </a:outerShdw>
          </a:effectLst>
        </p:spPr>
      </p:pic>
      <p:sp>
        <p:nvSpPr>
          <p:cNvPr id="558" name="Text 10"/>
          <p:cNvSpPr/>
          <p:nvPr/>
        </p:nvSpPr>
        <p:spPr>
          <a:xfrm>
            <a:off x="1237615" y="5268595"/>
            <a:ext cx="2226945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2000s-2010s</a:t>
            </a:r>
            <a:endParaRPr lang="en-US" sz="2400" dirty="0"/>
          </a:p>
        </p:txBody>
      </p:sp>
      <p:pic>
        <p:nvPicPr>
          <p:cNvPr id="55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3962400" y="5386070"/>
            <a:ext cx="7146925" cy="1082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560" name="Text 11"/>
          <p:cNvSpPr/>
          <p:nvPr/>
        </p:nvSpPr>
        <p:spPr>
          <a:xfrm>
            <a:off x="4130040" y="5553710"/>
            <a:ext cx="688276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虚拟化技术成熟（VMware、KVM、Xen）</a:t>
            </a:r>
            <a:endParaRPr lang="en-US" sz="1920" dirty="0"/>
          </a:p>
        </p:txBody>
      </p:sp>
      <p:sp>
        <p:nvSpPr>
          <p:cNvPr id="561" name="Text 12"/>
          <p:cNvSpPr/>
          <p:nvPr/>
        </p:nvSpPr>
        <p:spPr>
          <a:xfrm>
            <a:off x="4130040" y="5980430"/>
            <a:ext cx="6882765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（虚拟化时代）</a:t>
            </a:r>
            <a:endParaRPr lang="en-US" sz="1680" dirty="0"/>
          </a:p>
        </p:txBody>
      </p:sp>
      <p:pic>
        <p:nvPicPr>
          <p:cNvPr id="562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3596640" y="5525135"/>
            <a:ext cx="123825" cy="152400"/>
          </a:xfrm>
          <a:prstGeom prst="rect">
            <a:avLst/>
          </a:prstGeom>
          <a:effectLst>
            <a:outerShdw blurRad="1548384000" dist="645160000" dir="-1" algn="bl" rotWithShape="0">
              <a:srgbClr val="4576E6">
                <a:alpha val="-2147483646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5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5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566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67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云计算的三种服务模式（核心知识点）</a:t>
            </a:r>
            <a:endParaRPr lang="en-US" sz="2760" dirty="0"/>
          </a:p>
        </p:txBody>
      </p:sp>
      <p:sp>
        <p:nvSpPr>
          <p:cNvPr id="568" name="Text 1"/>
          <p:cNvSpPr/>
          <p:nvPr/>
        </p:nvSpPr>
        <p:spPr>
          <a:xfrm>
            <a:off x="822960" y="1275080"/>
            <a:ext cx="10768330" cy="626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4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三种模式：IaaS、PaaS、SaaS——记住一句话： IaaS给“地基”，PaaS给“毛坯房”，SaaS给“精装房”。</a:t>
            </a:r>
            <a:endParaRPr lang="en-US" sz="2040" dirty="0"/>
          </a:p>
        </p:txBody>
      </p:sp>
      <p:pic>
        <p:nvPicPr>
          <p:cNvPr id="56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2249805"/>
            <a:ext cx="3505200" cy="4175760"/>
          </a:xfrm>
          <a:prstGeom prst="rect">
            <a:avLst/>
          </a:prstGeom>
        </p:spPr>
      </p:pic>
      <p:pic>
        <p:nvPicPr>
          <p:cNvPr id="57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1935480" y="2615565"/>
            <a:ext cx="853440" cy="853440"/>
          </a:xfrm>
          <a:prstGeom prst="rect">
            <a:avLst/>
          </a:prstGeom>
        </p:spPr>
      </p:pic>
      <p:pic>
        <p:nvPicPr>
          <p:cNvPr id="57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2118360" y="2798445"/>
            <a:ext cx="487680" cy="487680"/>
          </a:xfrm>
          <a:prstGeom prst="rect">
            <a:avLst/>
          </a:prstGeom>
        </p:spPr>
      </p:pic>
      <p:sp>
        <p:nvSpPr>
          <p:cNvPr id="572" name="Text 2"/>
          <p:cNvSpPr/>
          <p:nvPr/>
        </p:nvSpPr>
        <p:spPr>
          <a:xfrm>
            <a:off x="944245" y="3462020"/>
            <a:ext cx="2896870" cy="507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IaaS</a:t>
            </a:r>
            <a:r>
              <a:rPr lang="en-US" sz="1920" dirty="0">
                <a:solidFill>
                  <a:srgbClr val="FFFFFF">
                    <a:alpha val="90000"/>
                  </a:srgbClr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（基础设施即服务）</a:t>
            </a:r>
            <a:endParaRPr lang="en-US" sz="2640" dirty="0"/>
          </a:p>
        </p:txBody>
      </p:sp>
      <p:pic>
        <p:nvPicPr>
          <p:cNvPr id="573" name="Image 6" descr="https://test.web.static.jianzeppt.com/ppt-temp-img3/2a8768491c0365c425e742ae1d5d7586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179570"/>
            <a:ext cx="2895600" cy="15240"/>
          </a:xfrm>
          <a:prstGeom prst="rect">
            <a:avLst/>
          </a:prstGeom>
        </p:spPr>
      </p:pic>
      <p:sp>
        <p:nvSpPr>
          <p:cNvPr id="574" name="Text 3"/>
          <p:cNvSpPr/>
          <p:nvPr/>
        </p:nvSpPr>
        <p:spPr>
          <a:xfrm>
            <a:off x="914400" y="4393565"/>
            <a:ext cx="290474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提供商提供：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计算、存储、网络资源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575" name="Text 4"/>
          <p:cNvSpPr/>
          <p:nvPr/>
        </p:nvSpPr>
        <p:spPr>
          <a:xfrm>
            <a:off x="914400" y="4719320"/>
            <a:ext cx="290474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用户管理：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操作系统、中间件、应用、	数据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576" name="Text 5"/>
          <p:cNvSpPr/>
          <p:nvPr/>
        </p:nvSpPr>
        <p:spPr>
          <a:xfrm>
            <a:off x="914400" y="5155565"/>
            <a:ext cx="290474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典型产品：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AWS EC2、阿里云ECS、OpenStack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77" name="Image 7" descr="https://test.web.static.jianzeppt.com/ppt-temp-img3/ff013c4d1a3b69adf4d0136766b84fc7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556885"/>
            <a:ext cx="2895600" cy="548640"/>
          </a:xfrm>
          <a:prstGeom prst="rect">
            <a:avLst/>
          </a:prstGeom>
        </p:spPr>
      </p:pic>
      <p:sp>
        <p:nvSpPr>
          <p:cNvPr id="578" name="Text 6"/>
          <p:cNvSpPr/>
          <p:nvPr/>
        </p:nvSpPr>
        <p:spPr>
          <a:xfrm>
            <a:off x="1097280" y="5749925"/>
            <a:ext cx="2584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比喻：“租地自己盖楼”</a:t>
            </a:r>
            <a:endParaRPr lang="en-US" sz="1920" dirty="0"/>
          </a:p>
        </p:txBody>
      </p:sp>
      <p:pic>
        <p:nvPicPr>
          <p:cNvPr id="57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343400" y="2249805"/>
            <a:ext cx="3505200" cy="4175760"/>
          </a:xfrm>
          <a:prstGeom prst="rect">
            <a:avLst/>
          </a:prstGeom>
        </p:spPr>
      </p:pic>
      <p:pic>
        <p:nvPicPr>
          <p:cNvPr id="58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5669280" y="2615565"/>
            <a:ext cx="853440" cy="853440"/>
          </a:xfrm>
          <a:prstGeom prst="rect">
            <a:avLst/>
          </a:prstGeom>
        </p:spPr>
      </p:pic>
      <p:pic>
        <p:nvPicPr>
          <p:cNvPr id="58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>
            <a:off x="5852160" y="2798445"/>
            <a:ext cx="487680" cy="487680"/>
          </a:xfrm>
          <a:prstGeom prst="rect">
            <a:avLst/>
          </a:prstGeom>
        </p:spPr>
      </p:pic>
      <p:sp>
        <p:nvSpPr>
          <p:cNvPr id="582" name="Text 7"/>
          <p:cNvSpPr/>
          <p:nvPr/>
        </p:nvSpPr>
        <p:spPr>
          <a:xfrm>
            <a:off x="4867275" y="3462020"/>
            <a:ext cx="2475230" cy="507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PaaS</a:t>
            </a:r>
            <a:r>
              <a:rPr lang="en-US" sz="1920" dirty="0">
                <a:solidFill>
                  <a:srgbClr val="FFFFFF">
                    <a:alpha val="90000"/>
                  </a:srgbClr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（平台即服务）</a:t>
            </a:r>
            <a:endParaRPr lang="en-US" sz="2640" dirty="0"/>
          </a:p>
        </p:txBody>
      </p:sp>
      <p:pic>
        <p:nvPicPr>
          <p:cNvPr id="583" name="Image 11" descr="https://test.web.static.jianzeppt.com/ppt-temp-img3/2a8768491c0365c425e742ae1d5d7586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200" y="4179570"/>
            <a:ext cx="2895600" cy="15240"/>
          </a:xfrm>
          <a:prstGeom prst="rect">
            <a:avLst/>
          </a:prstGeom>
        </p:spPr>
      </p:pic>
      <p:sp>
        <p:nvSpPr>
          <p:cNvPr id="584" name="Text 8"/>
          <p:cNvSpPr/>
          <p:nvPr/>
        </p:nvSpPr>
        <p:spPr>
          <a:xfrm>
            <a:off x="4648200" y="4472940"/>
            <a:ext cx="290474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提供商提供：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操作系统、开发环境、	    数据库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585" name="Text 9"/>
          <p:cNvSpPr/>
          <p:nvPr/>
        </p:nvSpPr>
        <p:spPr>
          <a:xfrm>
            <a:off x="4648200" y="4893310"/>
            <a:ext cx="290474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用户管理：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应用、数据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586" name="Text 10"/>
          <p:cNvSpPr/>
          <p:nvPr/>
        </p:nvSpPr>
        <p:spPr>
          <a:xfrm>
            <a:off x="4648200" y="5267325"/>
            <a:ext cx="290474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典型产品：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Google App Engine、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457200" lvl="1" indent="45720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阿里云PaaS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87" name="Image 12" descr="https://test.web.static.jianzeppt.com/ppt-temp-img3/ff013c4d1a3b69adf4d0136766b84fc7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8200" y="5556885"/>
            <a:ext cx="2895600" cy="548640"/>
          </a:xfrm>
          <a:prstGeom prst="rect">
            <a:avLst/>
          </a:prstGeom>
        </p:spPr>
      </p:pic>
      <p:sp>
        <p:nvSpPr>
          <p:cNvPr id="588" name="Text 11"/>
          <p:cNvSpPr/>
          <p:nvPr/>
        </p:nvSpPr>
        <p:spPr>
          <a:xfrm>
            <a:off x="4831080" y="5781675"/>
            <a:ext cx="2584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比喻：“租房拎包入住”</a:t>
            </a:r>
            <a:endParaRPr lang="en-US" sz="1920" dirty="0"/>
          </a:p>
        </p:txBody>
      </p:sp>
      <p:pic>
        <p:nvPicPr>
          <p:cNvPr id="58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8092440" y="2249805"/>
            <a:ext cx="3505200" cy="4175760"/>
          </a:xfrm>
          <a:prstGeom prst="rect">
            <a:avLst/>
          </a:prstGeom>
        </p:spPr>
      </p:pic>
      <p:pic>
        <p:nvPicPr>
          <p:cNvPr id="590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9403080" y="2615565"/>
            <a:ext cx="853440" cy="853440"/>
          </a:xfrm>
          <a:prstGeom prst="rect">
            <a:avLst/>
          </a:prstGeom>
        </p:spPr>
      </p:pic>
      <p:pic>
        <p:nvPicPr>
          <p:cNvPr id="591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9585960" y="2798445"/>
            <a:ext cx="487680" cy="487680"/>
          </a:xfrm>
          <a:prstGeom prst="rect">
            <a:avLst/>
          </a:prstGeom>
        </p:spPr>
      </p:pic>
      <p:sp>
        <p:nvSpPr>
          <p:cNvPr id="592" name="Text 12"/>
          <p:cNvSpPr/>
          <p:nvPr/>
        </p:nvSpPr>
        <p:spPr>
          <a:xfrm>
            <a:off x="8651240" y="3462020"/>
            <a:ext cx="2414270" cy="507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SaaS</a:t>
            </a:r>
            <a:r>
              <a:rPr lang="en-US" sz="1920" dirty="0">
                <a:solidFill>
                  <a:srgbClr val="FFFFFF">
                    <a:alpha val="90000"/>
                  </a:srgbClr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（软件即服务）</a:t>
            </a:r>
            <a:endParaRPr lang="en-US" sz="2640" dirty="0"/>
          </a:p>
        </p:txBody>
      </p:sp>
      <p:pic>
        <p:nvPicPr>
          <p:cNvPr id="593" name="Image 16" descr="https://test.web.static.jianzeppt.com/ppt-temp-img3/2a8768491c0365c425e742ae1d5d7586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7240" y="4179570"/>
            <a:ext cx="2895600" cy="15240"/>
          </a:xfrm>
          <a:prstGeom prst="rect">
            <a:avLst/>
          </a:prstGeom>
        </p:spPr>
      </p:pic>
      <p:sp>
        <p:nvSpPr>
          <p:cNvPr id="594" name="Text 13"/>
          <p:cNvSpPr/>
          <p:nvPr/>
        </p:nvSpPr>
        <p:spPr>
          <a:xfrm>
            <a:off x="8397240" y="4377690"/>
            <a:ext cx="290474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提供商提供：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完整的应用程序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595" name="Text 14"/>
          <p:cNvSpPr/>
          <p:nvPr/>
        </p:nvSpPr>
        <p:spPr>
          <a:xfrm>
            <a:off x="8397240" y="4719955"/>
            <a:ext cx="290474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用户管理：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用户数据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596" name="Text 15"/>
          <p:cNvSpPr/>
          <p:nvPr/>
        </p:nvSpPr>
        <p:spPr>
          <a:xfrm>
            <a:off x="8397240" y="5093970"/>
            <a:ext cx="290474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典型产品：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钉钉、腾讯会议、企业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457200" lvl="1" indent="45720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邮箱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97" name="Image 17" descr="https://test.web.static.jianzeppt.com/ppt-temp-img3/ff013c4d1a3b69adf4d0136766b84fc7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240" y="5556885"/>
            <a:ext cx="2895600" cy="548640"/>
          </a:xfrm>
          <a:prstGeom prst="rect">
            <a:avLst/>
          </a:prstGeom>
        </p:spPr>
      </p:pic>
      <p:sp>
        <p:nvSpPr>
          <p:cNvPr id="598" name="Text 16"/>
          <p:cNvSpPr/>
          <p:nvPr/>
        </p:nvSpPr>
        <p:spPr>
          <a:xfrm>
            <a:off x="8915400" y="5733415"/>
            <a:ext cx="1853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比喻：“住酒店”</a:t>
            </a:r>
            <a:endParaRPr lang="en-US" sz="1920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5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01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602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603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三种服务模式——控制权与责任对比图</a:t>
            </a:r>
            <a:endParaRPr lang="en-US" sz="2760" dirty="0"/>
          </a:p>
        </p:txBody>
      </p:sp>
      <p:pic>
        <p:nvPicPr>
          <p:cNvPr id="60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71600"/>
            <a:ext cx="4785360" cy="4251960"/>
          </a:xfrm>
          <a:prstGeom prst="rect">
            <a:avLst/>
          </a:prstGeom>
        </p:spPr>
      </p:pic>
      <p:pic>
        <p:nvPicPr>
          <p:cNvPr id="605" name="Image 4" descr="https://test.web.static.jianzeppt.com/ppt-temp-img3/8786e18995dc861b352dd29438173e39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412105"/>
            <a:ext cx="4785360" cy="822960"/>
          </a:xfrm>
          <a:prstGeom prst="rect">
            <a:avLst/>
          </a:prstGeom>
        </p:spPr>
      </p:pic>
      <p:sp>
        <p:nvSpPr>
          <p:cNvPr id="606" name="Text 1"/>
          <p:cNvSpPr/>
          <p:nvPr/>
        </p:nvSpPr>
        <p:spPr>
          <a:xfrm>
            <a:off x="670560" y="5503545"/>
            <a:ext cx="467258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458BE6"/>
                </a:solidFill>
              </a:rPr>
              <a:t>控制权从高到低：IaaS &gt; PaaS &gt; SaaS（用户拥有越多控制权，安全责任越大）</a:t>
            </a:r>
            <a:endParaRPr lang="en-US" sz="1920" dirty="0"/>
          </a:p>
        </p:txBody>
      </p:sp>
      <p:pic>
        <p:nvPicPr>
          <p:cNvPr id="607" name="Image 5" descr="https://test.web.static.jianzeppt.com/ppt-temp-img3/7626b9e214cd858a51057c850d8aaa0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480" y="1371600"/>
            <a:ext cx="5836920" cy="1569720"/>
          </a:xfrm>
          <a:prstGeom prst="rect">
            <a:avLst/>
          </a:prstGeom>
        </p:spPr>
      </p:pic>
      <p:pic>
        <p:nvPicPr>
          <p:cNvPr id="60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6004560" y="1584960"/>
            <a:ext cx="1219200" cy="441960"/>
          </a:xfrm>
          <a:prstGeom prst="rect">
            <a:avLst/>
          </a:prstGeom>
        </p:spPr>
      </p:pic>
      <p:sp>
        <p:nvSpPr>
          <p:cNvPr id="609" name="Text 2"/>
          <p:cNvSpPr/>
          <p:nvPr/>
        </p:nvSpPr>
        <p:spPr>
          <a:xfrm>
            <a:off x="6187440" y="1600835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</a:rPr>
              <a:t>高控制权</a:t>
            </a:r>
            <a:endParaRPr lang="en-US" sz="1680" dirty="0"/>
          </a:p>
        </p:txBody>
      </p:sp>
      <p:sp>
        <p:nvSpPr>
          <p:cNvPr id="610" name="Text 3"/>
          <p:cNvSpPr/>
          <p:nvPr/>
        </p:nvSpPr>
        <p:spPr>
          <a:xfrm>
            <a:off x="7345680" y="1554480"/>
            <a:ext cx="8321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458BE6"/>
                </a:solidFill>
              </a:rPr>
              <a:t>IaaS</a:t>
            </a:r>
            <a:endParaRPr lang="en-US" sz="2640" dirty="0"/>
          </a:p>
        </p:txBody>
      </p:sp>
      <p:sp>
        <p:nvSpPr>
          <p:cNvPr id="611" name="Text 4"/>
          <p:cNvSpPr/>
          <p:nvPr/>
        </p:nvSpPr>
        <p:spPr>
          <a:xfrm>
            <a:off x="6004560" y="2148840"/>
            <a:ext cx="532790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用户管理：</a:t>
            </a:r>
            <a:r>
              <a:rPr lang="en-US" sz="1400" dirty="0">
                <a:solidFill>
                  <a:srgbClr val="000000"/>
                </a:solidFill>
              </a:rPr>
              <a:t>OS、中间件、应用、数据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612" name="Text 5"/>
          <p:cNvSpPr/>
          <p:nvPr/>
        </p:nvSpPr>
        <p:spPr>
          <a:xfrm>
            <a:off x="6004560" y="2453640"/>
            <a:ext cx="532790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云服务商管理：</a:t>
            </a:r>
            <a:r>
              <a:rPr lang="en-US" sz="1400" dirty="0">
                <a:solidFill>
                  <a:srgbClr val="000000"/>
                </a:solidFill>
              </a:rPr>
              <a:t>虚拟化、硬件、网络</a:t>
            </a: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613" name="Image 7" descr="https://test.web.static.jianzeppt.com/ppt-temp-img3/7626b9e214cd858a51057c850d8aaa0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480" y="3185160"/>
            <a:ext cx="5836920" cy="1569720"/>
          </a:xfrm>
          <a:prstGeom prst="rect">
            <a:avLst/>
          </a:prstGeom>
        </p:spPr>
      </p:pic>
      <p:pic>
        <p:nvPicPr>
          <p:cNvPr id="614" name="Image 8" descr="https://test.web.static.jianzeppt.com/ppt-temp-img3/f21d1d19ca0e6c86c546e899f31f95c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4560" y="3398520"/>
            <a:ext cx="1219200" cy="441960"/>
          </a:xfrm>
          <a:prstGeom prst="rect">
            <a:avLst/>
          </a:prstGeom>
        </p:spPr>
      </p:pic>
      <p:sp>
        <p:nvSpPr>
          <p:cNvPr id="615" name="Text 6"/>
          <p:cNvSpPr/>
          <p:nvPr/>
        </p:nvSpPr>
        <p:spPr>
          <a:xfrm>
            <a:off x="6187440" y="342519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0000"/>
                </a:solidFill>
              </a:rPr>
              <a:t>中控制权</a:t>
            </a:r>
            <a:endParaRPr lang="en-US" sz="1680" dirty="0"/>
          </a:p>
        </p:txBody>
      </p:sp>
      <p:sp>
        <p:nvSpPr>
          <p:cNvPr id="616" name="Text 7"/>
          <p:cNvSpPr/>
          <p:nvPr/>
        </p:nvSpPr>
        <p:spPr>
          <a:xfrm>
            <a:off x="7345680" y="3368040"/>
            <a:ext cx="95402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458BE6"/>
                </a:solidFill>
              </a:rPr>
              <a:t>PaaS</a:t>
            </a:r>
            <a:endParaRPr lang="en-US" sz="2640" dirty="0"/>
          </a:p>
        </p:txBody>
      </p:sp>
      <p:sp>
        <p:nvSpPr>
          <p:cNvPr id="617" name="Text 8"/>
          <p:cNvSpPr/>
          <p:nvPr/>
        </p:nvSpPr>
        <p:spPr>
          <a:xfrm>
            <a:off x="6004560" y="3947160"/>
            <a:ext cx="532790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用户管理：</a:t>
            </a:r>
            <a:r>
              <a:rPr lang="en-US" sz="1400" dirty="0">
                <a:solidFill>
                  <a:srgbClr val="000000"/>
                </a:solidFill>
              </a:rPr>
              <a:t>应用、数据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618" name="Text 9"/>
          <p:cNvSpPr/>
          <p:nvPr/>
        </p:nvSpPr>
        <p:spPr>
          <a:xfrm>
            <a:off x="6004560" y="4267200"/>
            <a:ext cx="532790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云服务商管理：</a:t>
            </a:r>
            <a:r>
              <a:rPr lang="en-US" sz="1400" dirty="0">
                <a:solidFill>
                  <a:srgbClr val="000000"/>
                </a:solidFill>
              </a:rPr>
              <a:t>OS、中间件、运行时</a:t>
            </a: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619" name="Image 9" descr="https://test.web.static.jianzeppt.com/ppt-temp-img3/7626b9e214cd858a51057c850d8aaa0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480" y="4983480"/>
            <a:ext cx="5836920" cy="1569720"/>
          </a:xfrm>
          <a:prstGeom prst="rect">
            <a:avLst/>
          </a:prstGeom>
        </p:spPr>
      </p:pic>
      <p:pic>
        <p:nvPicPr>
          <p:cNvPr id="620" name="Image 10" descr="https://test.web.static.jianzeppt.com/ppt-temp-img3/8a403484ed2e10037a353501d960322d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4560" y="5212080"/>
            <a:ext cx="1219200" cy="441960"/>
          </a:xfrm>
          <a:prstGeom prst="rect">
            <a:avLst/>
          </a:prstGeom>
        </p:spPr>
      </p:pic>
      <p:sp>
        <p:nvSpPr>
          <p:cNvPr id="621" name="Text 10"/>
          <p:cNvSpPr/>
          <p:nvPr/>
        </p:nvSpPr>
        <p:spPr>
          <a:xfrm>
            <a:off x="6187440" y="526034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0000"/>
                </a:solidFill>
              </a:rPr>
              <a:t>低控制权</a:t>
            </a:r>
            <a:endParaRPr lang="en-US" sz="1680" dirty="0"/>
          </a:p>
        </p:txBody>
      </p:sp>
      <p:sp>
        <p:nvSpPr>
          <p:cNvPr id="622" name="Text 11"/>
          <p:cNvSpPr/>
          <p:nvPr/>
        </p:nvSpPr>
        <p:spPr>
          <a:xfrm>
            <a:off x="7345680" y="5181600"/>
            <a:ext cx="95402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458BE6"/>
                </a:solidFill>
              </a:rPr>
              <a:t>SaaS</a:t>
            </a:r>
            <a:endParaRPr lang="en-US" sz="2640" dirty="0"/>
          </a:p>
        </p:txBody>
      </p:sp>
      <p:sp>
        <p:nvSpPr>
          <p:cNvPr id="623" name="Text 12"/>
          <p:cNvSpPr/>
          <p:nvPr/>
        </p:nvSpPr>
        <p:spPr>
          <a:xfrm>
            <a:off x="6004560" y="5760720"/>
            <a:ext cx="532790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用户管理：</a:t>
            </a:r>
            <a:r>
              <a:rPr lang="en-US" sz="1400" dirty="0">
                <a:solidFill>
                  <a:srgbClr val="000000"/>
                </a:solidFill>
              </a:rPr>
              <a:t>数据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624" name="Text 13"/>
          <p:cNvSpPr/>
          <p:nvPr/>
        </p:nvSpPr>
        <p:spPr>
          <a:xfrm>
            <a:off x="6004560" y="6065520"/>
            <a:ext cx="532790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云服务商管理：</a:t>
            </a:r>
            <a:r>
              <a:rPr lang="en-US" sz="1400" dirty="0">
                <a:solidFill>
                  <a:srgbClr val="000000"/>
                </a:solidFill>
              </a:rPr>
              <a:t>全部</a:t>
            </a: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625" name="图片 4096"/>
          <p:cNvPicPr/>
          <p:nvPr/>
        </p:nvPicPr>
        <p:blipFill>
          <a:blip r:embed="rId11"/>
          <a:stretch>
            <a:fillRect/>
          </a:stretch>
        </p:blipFill>
        <p:spPr>
          <a:xfrm>
            <a:off x="10493375" y="585470"/>
            <a:ext cx="97155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bg>
      <p:bgPr>
        <a:solidFill>
          <a:srgbClr val="FFFFFF"/>
        </a:solidFill>
        <a:effectLst/>
      </p:bgPr>
    </p:bg>
    <p:spTree>
      <p:nvGrpSpPr>
        <p:cNvPr id="6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28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629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630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云安全责任共担模型——客户与云服务商各管一摊</a:t>
            </a:r>
            <a:endParaRPr lang="en-US" sz="2760" dirty="0"/>
          </a:p>
        </p:txBody>
      </p:sp>
      <p:sp>
        <p:nvSpPr>
          <p:cNvPr id="631" name="Text 1"/>
          <p:cNvSpPr/>
          <p:nvPr/>
        </p:nvSpPr>
        <p:spPr>
          <a:xfrm>
            <a:off x="609600" y="1371600"/>
            <a:ext cx="692023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  <a:sym typeface="+mn-ea"/>
              </a:rPr>
              <a:t>云安全责任共担模型</a:t>
            </a:r>
            <a:r>
              <a:rPr lang="en-US" sz="2160" dirty="0">
                <a:solidFill>
                  <a:srgbClr val="1E1E1E"/>
                </a:solidFill>
                <a:sym typeface="+mn-ea"/>
              </a:rPr>
              <a:t xml:space="preserve"> </a:t>
            </a: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是云计算安全测评的“第一原则”。</a:t>
            </a:r>
            <a:endParaRPr lang="en-US" sz="2160" dirty="0"/>
          </a:p>
        </p:txBody>
      </p:sp>
      <p:pic>
        <p:nvPicPr>
          <p:cNvPr id="632" name="Image 3" descr="https://test.web.static.jianzeppt.com/ppt-temp-img3/797e2f8322c31667c7a20ebd8c3a1929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042795"/>
            <a:ext cx="10972800" cy="3252470"/>
          </a:xfrm>
          <a:prstGeom prst="rect">
            <a:avLst/>
          </a:prstGeom>
        </p:spPr>
      </p:pic>
      <p:pic>
        <p:nvPicPr>
          <p:cNvPr id="633" name="Image 4" descr="https://test.web.static.jianzeppt.com/ppt-temp-img3/622cc9d3e90af1f697ee922010e9ef7b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2042160"/>
            <a:ext cx="10942320" cy="762000"/>
          </a:xfrm>
          <a:prstGeom prst="rect">
            <a:avLst/>
          </a:prstGeom>
        </p:spPr>
      </p:pic>
      <p:sp>
        <p:nvSpPr>
          <p:cNvPr id="634" name="Text 2"/>
          <p:cNvSpPr/>
          <p:nvPr/>
        </p:nvSpPr>
        <p:spPr>
          <a:xfrm>
            <a:off x="868680" y="2164080"/>
            <a:ext cx="20360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责任划分矩阵</a:t>
            </a:r>
            <a:endParaRPr lang="en-US" sz="2640" dirty="0"/>
          </a:p>
        </p:txBody>
      </p:sp>
      <p:pic>
        <p:nvPicPr>
          <p:cNvPr id="6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09600" y="5523230"/>
            <a:ext cx="10972800" cy="689610"/>
          </a:xfrm>
          <a:prstGeom prst="rect">
            <a:avLst/>
          </a:prstGeom>
          <a:effectLst>
            <a:outerShdw blurRad="-2147483648" dist="1935480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6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792480" y="5562600"/>
            <a:ext cx="609600" cy="609600"/>
          </a:xfrm>
          <a:prstGeom prst="rect">
            <a:avLst/>
          </a:prstGeom>
        </p:spPr>
      </p:pic>
      <p:pic>
        <p:nvPicPr>
          <p:cNvPr id="63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914400" y="5684520"/>
            <a:ext cx="365760" cy="365760"/>
          </a:xfrm>
          <a:prstGeom prst="rect">
            <a:avLst/>
          </a:prstGeom>
        </p:spPr>
      </p:pic>
      <p:sp>
        <p:nvSpPr>
          <p:cNvPr id="638" name="Text 3"/>
          <p:cNvSpPr/>
          <p:nvPr/>
        </p:nvSpPr>
        <p:spPr>
          <a:xfrm>
            <a:off x="1584960" y="5671185"/>
            <a:ext cx="9823450" cy="5327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无论哪种模式，</a:t>
            </a:r>
            <a:r>
              <a:rPr lang="en-US" sz="2000" b="1" dirty="0">
                <a:solidFill>
                  <a:srgbClr val="FFC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数据安全永远是客户的责任</a:t>
            </a:r>
            <a:r>
              <a:rPr lang="en-US" sz="2000" b="1" dirty="0">
                <a:solidFill>
                  <a:srgbClr val="3022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 xml:space="preserve">  </a:t>
            </a:r>
            <a:r>
              <a:rPr lang="en-US" sz="20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——云服务商不会替客户保护数据。</a:t>
            </a:r>
            <a:endParaRPr lang="en-US" sz="20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graphicFrame>
        <p:nvGraphicFramePr>
          <p:cNvPr id="639" name="Table 0"/>
          <p:cNvGraphicFramePr>
            <a:graphicFrameLocks noGrp="1"/>
          </p:cNvGraphicFramePr>
          <p:nvPr/>
        </p:nvGraphicFramePr>
        <p:xfrm>
          <a:off x="1170538" y="2804160"/>
          <a:ext cx="9850924" cy="1907076"/>
        </p:xfrm>
        <a:graphic>
          <a:graphicData uri="http://schemas.openxmlformats.org/drawingml/2006/table">
            <a:tbl>
              <a:tblPr/>
              <a:tblGrid>
                <a:gridCol w="1440595">
                  <a:extLst>
                    <a:ext uri="{9D8B030D-6E8A-4147-A177-3AD203B41FA5}">
                      <a16:colId val="1"/>
                    </a:ext>
                  </a:extLst>
                </a:gridCol>
                <a:gridCol w="1344555">
                  <a:extLst>
                    <a:ext uri="{9D8B030D-6E8A-4147-A177-3AD203B41FA5}">
                      <a16:colId val="2"/>
                    </a:ext>
                  </a:extLst>
                </a:gridCol>
                <a:gridCol w="1344555">
                  <a:extLst>
                    <a:ext uri="{9D8B030D-6E8A-4147-A177-3AD203B41FA5}">
                      <a16:colId val="3"/>
                    </a:ext>
                  </a:extLst>
                </a:gridCol>
                <a:gridCol w="1344555">
                  <a:extLst>
                    <a:ext uri="{9D8B030D-6E8A-4147-A177-3AD203B41FA5}">
                      <a16:colId val="4"/>
                    </a:ext>
                  </a:extLst>
                </a:gridCol>
                <a:gridCol w="4376664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317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责任项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IaaS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PaaS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SaaS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核心说明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17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数据安全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客户的数据归客户负责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17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访问控制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谁来访问、怎么访问，客户自己管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17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操作系统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IaaS下客户需自己管理OS安全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17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虚拟化层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多租户隔离由云服务商保证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17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硬件/网络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物理安全是云服务商的责任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pic>
        <p:nvPicPr>
          <p:cNvPr id="640" name="图片 5120"/>
          <p:cNvPicPr/>
          <p:nvPr/>
        </p:nvPicPr>
        <p:blipFill>
          <a:blip r:embed="rId10"/>
          <a:stretch>
            <a:fillRect/>
          </a:stretch>
        </p:blipFill>
        <p:spPr>
          <a:xfrm>
            <a:off x="10436860" y="550545"/>
            <a:ext cx="97155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16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云计算的部署模式</a:t>
            </a:r>
            <a:endParaRPr lang="en-US" sz="2760" dirty="0"/>
          </a:p>
        </p:txBody>
      </p:sp>
      <p:pic>
        <p:nvPicPr>
          <p:cNvPr id="18" name="Image 3" descr="https://test.web.static.jianzeppt.com/ppt-temp-img3/65bb7078b1ef5356e4dc86e86f12503c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71600"/>
            <a:ext cx="5334000" cy="2438400"/>
          </a:xfrm>
          <a:prstGeom prst="rect">
            <a:avLst/>
          </a:prstGeom>
        </p:spPr>
      </p:pic>
      <p:pic>
        <p:nvPicPr>
          <p:cNvPr id="19" name="Image 4" descr="https://test.web.static.jianzeppt.com/ppt-temp-img3/d2840c50a151f82552b2977ec876d544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71600"/>
            <a:ext cx="1508760" cy="487680"/>
          </a:xfrm>
          <a:prstGeom prst="rect">
            <a:avLst/>
          </a:prstGeom>
        </p:spPr>
      </p:pic>
      <p:sp>
        <p:nvSpPr>
          <p:cNvPr id="20" name="Text 1"/>
          <p:cNvSpPr/>
          <p:nvPr/>
        </p:nvSpPr>
        <p:spPr>
          <a:xfrm>
            <a:off x="853440" y="1386840"/>
            <a:ext cx="103022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公有云</a:t>
            </a:r>
            <a:endParaRPr lang="en-US" sz="2640" dirty="0"/>
          </a:p>
        </p:txBody>
      </p:sp>
      <p:sp>
        <p:nvSpPr>
          <p:cNvPr id="21" name="Text 2"/>
          <p:cNvSpPr/>
          <p:nvPr/>
        </p:nvSpPr>
        <p:spPr>
          <a:xfrm>
            <a:off x="853440" y="21031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第三方提供商拥有，公众可通过互联网使用。</a:t>
            </a:r>
            <a:endParaRPr lang="en-US" sz="1800" dirty="0"/>
          </a:p>
        </p:txBody>
      </p:sp>
      <p:sp>
        <p:nvSpPr>
          <p:cNvPr id="22" name="Text 3"/>
          <p:cNvSpPr/>
          <p:nvPr/>
        </p:nvSpPr>
        <p:spPr>
          <a:xfrm>
            <a:off x="853440" y="2697480"/>
            <a:ext cx="4855464" cy="3816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适用场景：中小企业、开发测试。</a:t>
            </a:r>
            <a:endParaRPr lang="en-US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23" name="Text 4"/>
          <p:cNvSpPr/>
          <p:nvPr/>
        </p:nvSpPr>
        <p:spPr>
          <a:xfrm>
            <a:off x="853440" y="306324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安全风险：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数据出境风险、多租户隔离风险。</a:t>
            </a:r>
            <a:endParaRPr lang="en-US" sz="1800" dirty="0"/>
          </a:p>
        </p:txBody>
      </p:sp>
      <p:pic>
        <p:nvPicPr>
          <p:cNvPr id="24" name="Image 5" descr="https://test.web.static.jianzeppt.com/ppt-temp-img3/65bb7078b1ef5356e4dc86e86f12503c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371600"/>
            <a:ext cx="5334000" cy="2438400"/>
          </a:xfrm>
          <a:prstGeom prst="rect">
            <a:avLst/>
          </a:prstGeom>
        </p:spPr>
      </p:pic>
      <p:pic>
        <p:nvPicPr>
          <p:cNvPr id="25" name="Image 6" descr="https://test.web.static.jianzeppt.com/ppt-temp-img3/ba6cf1e145c3863df3d21ee06ca98bf7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371600"/>
            <a:ext cx="1508760" cy="579120"/>
          </a:xfrm>
          <a:prstGeom prst="rect">
            <a:avLst/>
          </a:prstGeom>
        </p:spPr>
      </p:pic>
      <p:sp>
        <p:nvSpPr>
          <p:cNvPr id="26" name="Text 5"/>
          <p:cNvSpPr/>
          <p:nvPr/>
        </p:nvSpPr>
        <p:spPr>
          <a:xfrm>
            <a:off x="6492240" y="1386840"/>
            <a:ext cx="103022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私有云</a:t>
            </a:r>
            <a:endParaRPr lang="en-US" sz="2640" dirty="0"/>
          </a:p>
        </p:txBody>
      </p:sp>
      <p:sp>
        <p:nvSpPr>
          <p:cNvPr id="27" name="Text 6"/>
          <p:cNvSpPr/>
          <p:nvPr/>
        </p:nvSpPr>
        <p:spPr>
          <a:xfrm>
            <a:off x="6492240" y="2194560"/>
            <a:ext cx="485546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为单一组织专有使用，可自建或托管。</a:t>
            </a:r>
            <a:endParaRPr lang="en-US" sz="1800" dirty="0"/>
          </a:p>
        </p:txBody>
      </p:sp>
      <p:sp>
        <p:nvSpPr>
          <p:cNvPr id="28" name="Text 7"/>
          <p:cNvSpPr/>
          <p:nvPr/>
        </p:nvSpPr>
        <p:spPr>
          <a:xfrm>
            <a:off x="6492240" y="26365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适用场景：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政府、金融、大型企业。</a:t>
            </a:r>
            <a:endParaRPr lang="en-US" sz="1800" dirty="0"/>
          </a:p>
        </p:txBody>
      </p:sp>
      <p:sp>
        <p:nvSpPr>
          <p:cNvPr id="29" name="Text 8"/>
          <p:cNvSpPr/>
          <p:nvPr/>
        </p:nvSpPr>
        <p:spPr>
          <a:xfrm>
            <a:off x="6492240" y="30937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安全风险：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成本高，但安全可控。</a:t>
            </a:r>
            <a:endParaRPr lang="en-US" sz="1800" dirty="0"/>
          </a:p>
        </p:txBody>
      </p:sp>
      <p:pic>
        <p:nvPicPr>
          <p:cNvPr id="30" name="Image 7" descr="https://test.web.static.jianzeppt.com/ppt-temp-img3/65bb7078b1ef5356e4dc86e86f12503c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114800"/>
            <a:ext cx="5334000" cy="2438400"/>
          </a:xfrm>
          <a:prstGeom prst="rect">
            <a:avLst/>
          </a:prstGeom>
        </p:spPr>
      </p:pic>
      <p:pic>
        <p:nvPicPr>
          <p:cNvPr id="31" name="Image 8" descr="https://test.web.static.jianzeppt.com/ppt-temp-img3/6fafe8c000d064f3f9db741bc5793db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114800"/>
            <a:ext cx="1508760" cy="579120"/>
          </a:xfrm>
          <a:prstGeom prst="rect">
            <a:avLst/>
          </a:prstGeom>
        </p:spPr>
      </p:pic>
      <p:sp>
        <p:nvSpPr>
          <p:cNvPr id="32" name="Text 9"/>
          <p:cNvSpPr/>
          <p:nvPr/>
        </p:nvSpPr>
        <p:spPr>
          <a:xfrm>
            <a:off x="853440" y="4130040"/>
            <a:ext cx="103022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社区云</a:t>
            </a:r>
            <a:endParaRPr lang="en-US" sz="2640" dirty="0"/>
          </a:p>
        </p:txBody>
      </p:sp>
      <p:sp>
        <p:nvSpPr>
          <p:cNvPr id="33" name="Text 10"/>
          <p:cNvSpPr/>
          <p:nvPr/>
        </p:nvSpPr>
        <p:spPr>
          <a:xfrm>
            <a:off x="853440" y="4937760"/>
            <a:ext cx="485546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由多个有共同关切的组织共享。</a:t>
            </a:r>
            <a:endParaRPr lang="en-US" sz="1800" dirty="0"/>
          </a:p>
        </p:txBody>
      </p:sp>
      <p:sp>
        <p:nvSpPr>
          <p:cNvPr id="34" name="Text 11"/>
          <p:cNvSpPr/>
          <p:nvPr/>
        </p:nvSpPr>
        <p:spPr>
          <a:xfrm>
            <a:off x="853440" y="53797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适用场景：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行业内部（如医疗、教育）。</a:t>
            </a:r>
            <a:endParaRPr lang="en-US" sz="1800" dirty="0"/>
          </a:p>
        </p:txBody>
      </p:sp>
      <p:sp>
        <p:nvSpPr>
          <p:cNvPr id="35" name="Text 12"/>
          <p:cNvSpPr/>
          <p:nvPr/>
        </p:nvSpPr>
        <p:spPr>
          <a:xfrm>
            <a:off x="853440" y="58369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安全风险：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共享安全边界。</a:t>
            </a:r>
            <a:endParaRPr lang="en-US" sz="1800" dirty="0"/>
          </a:p>
        </p:txBody>
      </p:sp>
      <p:pic>
        <p:nvPicPr>
          <p:cNvPr id="36" name="Image 9" descr="https://test.web.static.jianzeppt.com/ppt-temp-img3/65bb7078b1ef5356e4dc86e86f12503c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4114800"/>
            <a:ext cx="5334000" cy="2438400"/>
          </a:xfrm>
          <a:prstGeom prst="rect">
            <a:avLst/>
          </a:prstGeom>
        </p:spPr>
      </p:pic>
      <p:pic>
        <p:nvPicPr>
          <p:cNvPr id="37" name="Image 10" descr="https://test.web.static.jianzeppt.com/ppt-temp-img3/66868e5383f7661613d09c005c6a5f2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4114800"/>
            <a:ext cx="1508760" cy="579120"/>
          </a:xfrm>
          <a:prstGeom prst="rect">
            <a:avLst/>
          </a:prstGeom>
        </p:spPr>
      </p:pic>
      <p:sp>
        <p:nvSpPr>
          <p:cNvPr id="38" name="Text 13"/>
          <p:cNvSpPr/>
          <p:nvPr/>
        </p:nvSpPr>
        <p:spPr>
          <a:xfrm>
            <a:off x="6492240" y="4130040"/>
            <a:ext cx="103022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混合云</a:t>
            </a:r>
            <a:endParaRPr lang="en-US" sz="2640" dirty="0"/>
          </a:p>
        </p:txBody>
      </p:sp>
      <p:sp>
        <p:nvSpPr>
          <p:cNvPr id="39" name="Text 14"/>
          <p:cNvSpPr/>
          <p:nvPr/>
        </p:nvSpPr>
        <p:spPr>
          <a:xfrm>
            <a:off x="6492240" y="4937760"/>
            <a:ext cx="485546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两种以上部署模式的组合。</a:t>
            </a:r>
            <a:endParaRPr lang="en-US" sz="1800" dirty="0"/>
          </a:p>
        </p:txBody>
      </p:sp>
      <p:sp>
        <p:nvSpPr>
          <p:cNvPr id="40" name="Text 15"/>
          <p:cNvSpPr/>
          <p:nvPr/>
        </p:nvSpPr>
        <p:spPr>
          <a:xfrm>
            <a:off x="6492240" y="53797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适用场景：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核心数据本地+弹性业务云端。</a:t>
            </a:r>
            <a:endParaRPr lang="en-US" sz="1800" dirty="0"/>
          </a:p>
        </p:txBody>
      </p:sp>
      <p:sp>
        <p:nvSpPr>
          <p:cNvPr id="41" name="Text 16"/>
          <p:cNvSpPr/>
          <p:nvPr/>
        </p:nvSpPr>
        <p:spPr>
          <a:xfrm>
            <a:off x="6492240" y="58369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安全风险：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边界管控复杂。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5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云计算给等保测评带来了哪些新挑战？</a:t>
            </a:r>
            <a:endParaRPr lang="en-US" sz="2760" dirty="0"/>
          </a:p>
        </p:txBody>
      </p:sp>
      <p:sp>
        <p:nvSpPr>
          <p:cNvPr id="47" name="Text 1"/>
          <p:cNvSpPr/>
          <p:nvPr/>
        </p:nvSpPr>
        <p:spPr>
          <a:xfrm>
            <a:off x="609600" y="1097280"/>
            <a:ext cx="6364224" cy="3886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4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GB/T 22239-2019 扩展要求——云计算安全扩展要求</a:t>
            </a:r>
            <a:endParaRPr lang="en-US" sz="2040" dirty="0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1859280"/>
            <a:ext cx="609600" cy="609600"/>
          </a:xfrm>
          <a:prstGeom prst="rect">
            <a:avLst/>
          </a:prstGeom>
        </p:spPr>
      </p:pic>
      <p:pic>
        <p:nvPicPr>
          <p:cNvPr id="4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731520" y="1981200"/>
            <a:ext cx="365760" cy="365760"/>
          </a:xfrm>
          <a:prstGeom prst="rect">
            <a:avLst/>
          </a:prstGeom>
        </p:spPr>
      </p:pic>
      <p:sp>
        <p:nvSpPr>
          <p:cNvPr id="50" name="Text 2"/>
          <p:cNvSpPr/>
          <p:nvPr/>
        </p:nvSpPr>
        <p:spPr>
          <a:xfrm>
            <a:off x="1463040" y="1722120"/>
            <a:ext cx="538886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边界模糊</a:t>
            </a:r>
            <a:endParaRPr lang="en-US" sz="2400" dirty="0"/>
          </a:p>
        </p:txBody>
      </p:sp>
      <p:sp>
        <p:nvSpPr>
          <p:cNvPr id="51" name="Text 3"/>
          <p:cNvSpPr/>
          <p:nvPr/>
        </p:nvSpPr>
        <p:spPr>
          <a:xfrm>
            <a:off x="1463040" y="2240280"/>
            <a:ext cx="5388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物理边界消失，传统基于物理边界的安全措施失效</a:t>
            </a:r>
            <a:endParaRPr lang="en-US" sz="1920" dirty="0"/>
          </a:p>
        </p:txBody>
      </p:sp>
      <p:pic>
        <p:nvPicPr>
          <p:cNvPr id="52" name="Image 5" descr="https://test.web.static.jianzeppt.com/ppt-temp-img3/3b5c666551f29e0a78fbc95c4fd68e8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654656"/>
            <a:ext cx="10972800" cy="15240"/>
          </a:xfrm>
          <a:prstGeom prst="rect">
            <a:avLst/>
          </a:prstGeom>
        </p:spPr>
      </p:pic>
      <p:pic>
        <p:nvPicPr>
          <p:cNvPr id="5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2834640"/>
            <a:ext cx="609600" cy="609600"/>
          </a:xfrm>
          <a:prstGeom prst="rect">
            <a:avLst/>
          </a:prstGeom>
        </p:spPr>
      </p:pic>
      <p:pic>
        <p:nvPicPr>
          <p:cNvPr id="5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731520" y="2956560"/>
            <a:ext cx="365760" cy="365760"/>
          </a:xfrm>
          <a:prstGeom prst="rect">
            <a:avLst/>
          </a:prstGeom>
        </p:spPr>
      </p:pic>
      <p:sp>
        <p:nvSpPr>
          <p:cNvPr id="55" name="Text 4"/>
          <p:cNvSpPr/>
          <p:nvPr/>
        </p:nvSpPr>
        <p:spPr>
          <a:xfrm>
            <a:off x="1463040" y="2697480"/>
            <a:ext cx="612038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责任边界</a:t>
            </a:r>
            <a:endParaRPr lang="en-US" sz="2400" dirty="0"/>
          </a:p>
        </p:txBody>
      </p:sp>
      <p:sp>
        <p:nvSpPr>
          <p:cNvPr id="56" name="Text 5"/>
          <p:cNvSpPr/>
          <p:nvPr/>
        </p:nvSpPr>
        <p:spPr>
          <a:xfrm>
            <a:off x="1463040" y="3215640"/>
            <a:ext cx="6120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等保要求中哪些是云服务商的责任，哪些是客户的责任？</a:t>
            </a:r>
            <a:endParaRPr lang="en-US" sz="1920" dirty="0"/>
          </a:p>
        </p:txBody>
      </p:sp>
      <p:pic>
        <p:nvPicPr>
          <p:cNvPr id="57" name="Image 8" descr="https://test.web.static.jianzeppt.com/ppt-temp-img3/3b5c666551f29e0a78fbc95c4fd68e8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633064"/>
            <a:ext cx="10972800" cy="15240"/>
          </a:xfrm>
          <a:prstGeom prst="rect">
            <a:avLst/>
          </a:prstGeom>
        </p:spPr>
      </p:pic>
      <p:pic>
        <p:nvPicPr>
          <p:cNvPr id="5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3810000"/>
            <a:ext cx="609600" cy="609600"/>
          </a:xfrm>
          <a:prstGeom prst="rect">
            <a:avLst/>
          </a:prstGeom>
        </p:spPr>
      </p:pic>
      <p:pic>
        <p:nvPicPr>
          <p:cNvPr id="5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731520" y="3931920"/>
            <a:ext cx="365760" cy="365760"/>
          </a:xfrm>
          <a:prstGeom prst="rect">
            <a:avLst/>
          </a:prstGeom>
        </p:spPr>
      </p:pic>
      <p:sp>
        <p:nvSpPr>
          <p:cNvPr id="60" name="Text 6"/>
          <p:cNvSpPr/>
          <p:nvPr/>
        </p:nvSpPr>
        <p:spPr>
          <a:xfrm>
            <a:off x="1463040" y="3672840"/>
            <a:ext cx="733958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数据位置</a:t>
            </a:r>
            <a:endParaRPr lang="en-US" sz="2400" dirty="0"/>
          </a:p>
        </p:txBody>
      </p:sp>
      <p:sp>
        <p:nvSpPr>
          <p:cNvPr id="61" name="Text 7"/>
          <p:cNvSpPr/>
          <p:nvPr/>
        </p:nvSpPr>
        <p:spPr>
          <a:xfrm>
            <a:off x="1463040" y="4191000"/>
            <a:ext cx="7339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数据存储在哪里？是否跨境？是否符合“基础设施位于中国境内”？</a:t>
            </a:r>
            <a:endParaRPr lang="en-US" sz="1920" dirty="0"/>
          </a:p>
        </p:txBody>
      </p:sp>
      <p:pic>
        <p:nvPicPr>
          <p:cNvPr id="62" name="Image 11" descr="https://test.web.static.jianzeppt.com/ppt-temp-img3/3b5c666551f29e0a78fbc95c4fd68e8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611472"/>
            <a:ext cx="10972800" cy="15240"/>
          </a:xfrm>
          <a:prstGeom prst="rect">
            <a:avLst/>
          </a:prstGeom>
        </p:spPr>
      </p:pic>
      <p:pic>
        <p:nvPicPr>
          <p:cNvPr id="6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4785360"/>
            <a:ext cx="609600" cy="609600"/>
          </a:xfrm>
          <a:prstGeom prst="rect">
            <a:avLst/>
          </a:prstGeom>
        </p:spPr>
      </p:pic>
      <p:pic>
        <p:nvPicPr>
          <p:cNvPr id="6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>
            <a:off x="731520" y="4907280"/>
            <a:ext cx="365760" cy="365760"/>
          </a:xfrm>
          <a:prstGeom prst="rect">
            <a:avLst/>
          </a:prstGeom>
        </p:spPr>
      </p:pic>
      <p:sp>
        <p:nvSpPr>
          <p:cNvPr id="65" name="Text 8"/>
          <p:cNvSpPr/>
          <p:nvPr/>
        </p:nvSpPr>
        <p:spPr>
          <a:xfrm>
            <a:off x="1463040" y="4648200"/>
            <a:ext cx="39258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虚拟化安全</a:t>
            </a:r>
            <a:endParaRPr lang="en-US" sz="2400" dirty="0"/>
          </a:p>
        </p:txBody>
      </p:sp>
      <p:sp>
        <p:nvSpPr>
          <p:cNvPr id="66" name="Text 9"/>
          <p:cNvSpPr/>
          <p:nvPr/>
        </p:nvSpPr>
        <p:spPr>
          <a:xfrm>
            <a:off x="1463040" y="5166360"/>
            <a:ext cx="39258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虚拟机之间的攻击、逃逸等新型威胁</a:t>
            </a:r>
            <a:endParaRPr lang="en-US" sz="1920" dirty="0"/>
          </a:p>
        </p:txBody>
      </p:sp>
      <p:pic>
        <p:nvPicPr>
          <p:cNvPr id="67" name="Image 14" descr="https://test.web.static.jianzeppt.com/ppt-temp-img3/3b5c666551f29e0a78fbc95c4fd68e8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590032"/>
            <a:ext cx="10972800" cy="15240"/>
          </a:xfrm>
          <a:prstGeom prst="rect">
            <a:avLst/>
          </a:prstGeom>
        </p:spPr>
      </p:pic>
      <p:pic>
        <p:nvPicPr>
          <p:cNvPr id="68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5760720"/>
            <a:ext cx="609600" cy="609600"/>
          </a:xfrm>
          <a:prstGeom prst="rect">
            <a:avLst/>
          </a:prstGeom>
        </p:spPr>
      </p:pic>
      <p:pic>
        <p:nvPicPr>
          <p:cNvPr id="69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731520" y="5882640"/>
            <a:ext cx="365760" cy="365760"/>
          </a:xfrm>
          <a:prstGeom prst="rect">
            <a:avLst/>
          </a:prstGeom>
        </p:spPr>
      </p:pic>
      <p:sp>
        <p:nvSpPr>
          <p:cNvPr id="70" name="Text 10"/>
          <p:cNvSpPr/>
          <p:nvPr/>
        </p:nvSpPr>
        <p:spPr>
          <a:xfrm>
            <a:off x="1463040" y="5623560"/>
            <a:ext cx="352958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多租户隔离</a:t>
            </a:r>
            <a:endParaRPr lang="en-US" sz="2400" dirty="0"/>
          </a:p>
        </p:txBody>
      </p:sp>
      <p:sp>
        <p:nvSpPr>
          <p:cNvPr id="71" name="Text 11"/>
          <p:cNvSpPr/>
          <p:nvPr/>
        </p:nvSpPr>
        <p:spPr>
          <a:xfrm>
            <a:off x="1463040" y="6062345"/>
            <a:ext cx="3529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不同客户的数据/流量如何隔离？</a:t>
            </a:r>
            <a:endParaRPr lang="en-US" sz="1920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4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75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76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云计算安全扩展要求——在等保标准中的位置</a:t>
            </a:r>
            <a:endParaRPr lang="en-US" sz="2760" dirty="0"/>
          </a:p>
        </p:txBody>
      </p:sp>
      <p:sp>
        <p:nvSpPr>
          <p:cNvPr id="77" name="Text 1"/>
          <p:cNvSpPr/>
          <p:nvPr/>
        </p:nvSpPr>
        <p:spPr>
          <a:xfrm>
            <a:off x="609600" y="1219200"/>
            <a:ext cx="6760464" cy="3886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4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GB/T 22239-2019 安全扩展要求 → 云计算安全扩展要求</a:t>
            </a:r>
            <a:endParaRPr lang="en-US" sz="2040" dirty="0"/>
          </a:p>
        </p:txBody>
      </p:sp>
      <p:sp>
        <p:nvSpPr>
          <p:cNvPr id="78" name="Text 2"/>
          <p:cNvSpPr/>
          <p:nvPr/>
        </p:nvSpPr>
        <p:spPr>
          <a:xfrm>
            <a:off x="609600" y="1828800"/>
            <a:ext cx="10981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云计算安全扩展要求的十个维度：</a:t>
            </a:r>
            <a:endParaRPr lang="en-US" sz="2640" dirty="0"/>
          </a:p>
        </p:txBody>
      </p:sp>
      <p:pic>
        <p:nvPicPr>
          <p:cNvPr id="79" name="Image 3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621280"/>
            <a:ext cx="5242560" cy="731520"/>
          </a:xfrm>
          <a:prstGeom prst="rect">
            <a:avLst/>
          </a:prstGeom>
        </p:spPr>
      </p:pic>
      <p:pic>
        <p:nvPicPr>
          <p:cNvPr id="8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53440" y="2773680"/>
            <a:ext cx="426720" cy="426720"/>
          </a:xfrm>
          <a:prstGeom prst="rect">
            <a:avLst/>
          </a:prstGeom>
        </p:spPr>
      </p:pic>
      <p:sp>
        <p:nvSpPr>
          <p:cNvPr id="81" name="Text 3"/>
          <p:cNvSpPr/>
          <p:nvPr/>
        </p:nvSpPr>
        <p:spPr>
          <a:xfrm>
            <a:off x="990600" y="280416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920" dirty="0"/>
          </a:p>
        </p:txBody>
      </p:sp>
      <p:sp>
        <p:nvSpPr>
          <p:cNvPr id="82" name="Text 4"/>
          <p:cNvSpPr/>
          <p:nvPr/>
        </p:nvSpPr>
        <p:spPr>
          <a:xfrm>
            <a:off x="1463040" y="2804160"/>
            <a:ext cx="4154424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安全物理环境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：基础设施位置（境内）</a:t>
            </a:r>
            <a:endParaRPr lang="en-US" sz="1800" dirty="0"/>
          </a:p>
        </p:txBody>
      </p:sp>
      <p:pic>
        <p:nvPicPr>
          <p:cNvPr id="83" name="Image 5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413760"/>
            <a:ext cx="5242560" cy="731520"/>
          </a:xfrm>
          <a:prstGeom prst="rect">
            <a:avLst/>
          </a:prstGeom>
        </p:spPr>
      </p:pic>
      <p:pic>
        <p:nvPicPr>
          <p:cNvPr id="8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53440" y="3566160"/>
            <a:ext cx="426720" cy="426720"/>
          </a:xfrm>
          <a:prstGeom prst="rect">
            <a:avLst/>
          </a:prstGeom>
        </p:spPr>
      </p:pic>
      <p:sp>
        <p:nvSpPr>
          <p:cNvPr id="85" name="Text 5"/>
          <p:cNvSpPr/>
          <p:nvPr/>
        </p:nvSpPr>
        <p:spPr>
          <a:xfrm>
            <a:off x="990600" y="359664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920" dirty="0"/>
          </a:p>
        </p:txBody>
      </p:sp>
      <p:sp>
        <p:nvSpPr>
          <p:cNvPr id="86" name="Text 6"/>
          <p:cNvSpPr/>
          <p:nvPr/>
        </p:nvSpPr>
        <p:spPr>
          <a:xfrm>
            <a:off x="1463040" y="3596640"/>
            <a:ext cx="4154424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安全通信网络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：网络架构（等级匹配）</a:t>
            </a:r>
            <a:endParaRPr lang="en-US" sz="1800" dirty="0"/>
          </a:p>
        </p:txBody>
      </p:sp>
      <p:pic>
        <p:nvPicPr>
          <p:cNvPr id="87" name="Image 7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221480"/>
            <a:ext cx="5242560" cy="731520"/>
          </a:xfrm>
          <a:prstGeom prst="rect">
            <a:avLst/>
          </a:prstGeom>
        </p:spPr>
      </p:pic>
      <p:pic>
        <p:nvPicPr>
          <p:cNvPr id="8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53440" y="4373880"/>
            <a:ext cx="426720" cy="426720"/>
          </a:xfrm>
          <a:prstGeom prst="rect">
            <a:avLst/>
          </a:prstGeom>
        </p:spPr>
      </p:pic>
      <p:sp>
        <p:nvSpPr>
          <p:cNvPr id="89" name="Text 7"/>
          <p:cNvSpPr/>
          <p:nvPr/>
        </p:nvSpPr>
        <p:spPr>
          <a:xfrm>
            <a:off x="990600" y="440436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920" dirty="0"/>
          </a:p>
        </p:txBody>
      </p:sp>
      <p:sp>
        <p:nvSpPr>
          <p:cNvPr id="90" name="Text 8"/>
          <p:cNvSpPr/>
          <p:nvPr/>
        </p:nvSpPr>
        <p:spPr>
          <a:xfrm>
            <a:off x="1463040" y="4404360"/>
            <a:ext cx="4154424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安全区域边界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：访问控制、入侵防范等</a:t>
            </a:r>
            <a:endParaRPr lang="en-US" sz="1800" dirty="0"/>
          </a:p>
        </p:txBody>
      </p:sp>
      <p:pic>
        <p:nvPicPr>
          <p:cNvPr id="91" name="Image 9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013960"/>
            <a:ext cx="5242560" cy="731520"/>
          </a:xfrm>
          <a:prstGeom prst="rect">
            <a:avLst/>
          </a:prstGeom>
        </p:spPr>
      </p:pic>
      <p:pic>
        <p:nvPicPr>
          <p:cNvPr id="92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53440" y="5166360"/>
            <a:ext cx="426720" cy="426720"/>
          </a:xfrm>
          <a:prstGeom prst="rect">
            <a:avLst/>
          </a:prstGeom>
        </p:spPr>
      </p:pic>
      <p:sp>
        <p:nvSpPr>
          <p:cNvPr id="93" name="Text 9"/>
          <p:cNvSpPr/>
          <p:nvPr/>
        </p:nvSpPr>
        <p:spPr>
          <a:xfrm>
            <a:off x="990600" y="519684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920" dirty="0"/>
          </a:p>
        </p:txBody>
      </p:sp>
      <p:sp>
        <p:nvSpPr>
          <p:cNvPr id="94" name="Text 10"/>
          <p:cNvSpPr/>
          <p:nvPr/>
        </p:nvSpPr>
        <p:spPr>
          <a:xfrm>
            <a:off x="1463040" y="5196840"/>
            <a:ext cx="4154424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安全计算环境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：身份鉴别、数据保护等</a:t>
            </a:r>
            <a:endParaRPr lang="en-US" sz="1800" dirty="0"/>
          </a:p>
        </p:txBody>
      </p:sp>
      <p:pic>
        <p:nvPicPr>
          <p:cNvPr id="95" name="Image 11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821680"/>
            <a:ext cx="5242560" cy="731520"/>
          </a:xfrm>
          <a:prstGeom prst="rect">
            <a:avLst/>
          </a:prstGeom>
        </p:spPr>
      </p:pic>
      <p:pic>
        <p:nvPicPr>
          <p:cNvPr id="96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53440" y="5974080"/>
            <a:ext cx="426720" cy="426720"/>
          </a:xfrm>
          <a:prstGeom prst="rect">
            <a:avLst/>
          </a:prstGeom>
        </p:spPr>
      </p:pic>
      <p:sp>
        <p:nvSpPr>
          <p:cNvPr id="97" name="Text 11"/>
          <p:cNvSpPr/>
          <p:nvPr/>
        </p:nvSpPr>
        <p:spPr>
          <a:xfrm>
            <a:off x="990600" y="600456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920" dirty="0"/>
          </a:p>
        </p:txBody>
      </p:sp>
      <p:sp>
        <p:nvSpPr>
          <p:cNvPr id="98" name="Text 12"/>
          <p:cNvSpPr/>
          <p:nvPr/>
        </p:nvSpPr>
        <p:spPr>
          <a:xfrm>
            <a:off x="1463040" y="6004560"/>
            <a:ext cx="270662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安全管理中心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：集中管控</a:t>
            </a:r>
            <a:endParaRPr lang="en-US" sz="1920" dirty="0"/>
          </a:p>
        </p:txBody>
      </p:sp>
      <p:pic>
        <p:nvPicPr>
          <p:cNvPr id="99" name="Image 13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2621280"/>
            <a:ext cx="5242560" cy="731520"/>
          </a:xfrm>
          <a:prstGeom prst="rect">
            <a:avLst/>
          </a:prstGeom>
        </p:spPr>
      </p:pic>
      <p:pic>
        <p:nvPicPr>
          <p:cNvPr id="100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583680" y="2773680"/>
            <a:ext cx="426720" cy="426720"/>
          </a:xfrm>
          <a:prstGeom prst="rect">
            <a:avLst/>
          </a:prstGeom>
        </p:spPr>
      </p:pic>
      <p:sp>
        <p:nvSpPr>
          <p:cNvPr id="101" name="Text 13"/>
          <p:cNvSpPr/>
          <p:nvPr/>
        </p:nvSpPr>
        <p:spPr>
          <a:xfrm>
            <a:off x="6720840" y="280416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6</a:t>
            </a:r>
            <a:endParaRPr lang="en-US" sz="1920" dirty="0"/>
          </a:p>
        </p:txBody>
      </p:sp>
      <p:sp>
        <p:nvSpPr>
          <p:cNvPr id="102" name="Text 14"/>
          <p:cNvSpPr/>
          <p:nvPr/>
        </p:nvSpPr>
        <p:spPr>
          <a:xfrm>
            <a:off x="7193280" y="2804160"/>
            <a:ext cx="270662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安全管理制度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：责任约定</a:t>
            </a:r>
            <a:endParaRPr lang="en-US" sz="1920" dirty="0"/>
          </a:p>
        </p:txBody>
      </p:sp>
      <p:pic>
        <p:nvPicPr>
          <p:cNvPr id="103" name="Image 15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3413760"/>
            <a:ext cx="5242560" cy="731520"/>
          </a:xfrm>
          <a:prstGeom prst="rect">
            <a:avLst/>
          </a:prstGeom>
        </p:spPr>
      </p:pic>
      <p:pic>
        <p:nvPicPr>
          <p:cNvPr id="104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583680" y="3566160"/>
            <a:ext cx="426720" cy="426720"/>
          </a:xfrm>
          <a:prstGeom prst="rect">
            <a:avLst/>
          </a:prstGeom>
        </p:spPr>
      </p:pic>
      <p:sp>
        <p:nvSpPr>
          <p:cNvPr id="105" name="Text 15"/>
          <p:cNvSpPr/>
          <p:nvPr/>
        </p:nvSpPr>
        <p:spPr>
          <a:xfrm>
            <a:off x="6720840" y="359664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7</a:t>
            </a:r>
            <a:endParaRPr lang="en-US" sz="1920" dirty="0"/>
          </a:p>
        </p:txBody>
      </p:sp>
      <p:sp>
        <p:nvSpPr>
          <p:cNvPr id="106" name="Text 16"/>
          <p:cNvSpPr/>
          <p:nvPr/>
        </p:nvSpPr>
        <p:spPr>
          <a:xfrm>
            <a:off x="7193280" y="3596640"/>
            <a:ext cx="270662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安全管理机构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：权限划分</a:t>
            </a:r>
            <a:endParaRPr lang="en-US" sz="1920" dirty="0"/>
          </a:p>
        </p:txBody>
      </p:sp>
      <p:pic>
        <p:nvPicPr>
          <p:cNvPr id="107" name="Image 17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4221480"/>
            <a:ext cx="5242560" cy="731520"/>
          </a:xfrm>
          <a:prstGeom prst="rect">
            <a:avLst/>
          </a:prstGeom>
        </p:spPr>
      </p:pic>
      <p:pic>
        <p:nvPicPr>
          <p:cNvPr id="108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583680" y="4373880"/>
            <a:ext cx="426720" cy="426720"/>
          </a:xfrm>
          <a:prstGeom prst="rect">
            <a:avLst/>
          </a:prstGeom>
        </p:spPr>
      </p:pic>
      <p:sp>
        <p:nvSpPr>
          <p:cNvPr id="109" name="Text 17"/>
          <p:cNvSpPr/>
          <p:nvPr/>
        </p:nvSpPr>
        <p:spPr>
          <a:xfrm>
            <a:off x="6720840" y="440436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</a:t>
            </a:r>
            <a:endParaRPr lang="en-US" sz="1920" dirty="0"/>
          </a:p>
        </p:txBody>
      </p:sp>
      <p:sp>
        <p:nvSpPr>
          <p:cNvPr id="110" name="Text 18"/>
          <p:cNvSpPr/>
          <p:nvPr/>
        </p:nvSpPr>
        <p:spPr>
          <a:xfrm>
            <a:off x="7193280" y="4404360"/>
            <a:ext cx="270662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安全管理人员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：人员资质</a:t>
            </a:r>
            <a:endParaRPr lang="en-US" sz="1920" dirty="0"/>
          </a:p>
        </p:txBody>
      </p:sp>
      <p:pic>
        <p:nvPicPr>
          <p:cNvPr id="111" name="Image 19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5013960"/>
            <a:ext cx="5242560" cy="731520"/>
          </a:xfrm>
          <a:prstGeom prst="rect">
            <a:avLst/>
          </a:prstGeom>
        </p:spPr>
      </p:pic>
      <p:pic>
        <p:nvPicPr>
          <p:cNvPr id="112" name="Image 2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583680" y="5166360"/>
            <a:ext cx="426720" cy="426720"/>
          </a:xfrm>
          <a:prstGeom prst="rect">
            <a:avLst/>
          </a:prstGeom>
        </p:spPr>
      </p:pic>
      <p:sp>
        <p:nvSpPr>
          <p:cNvPr id="113" name="Text 19"/>
          <p:cNvSpPr/>
          <p:nvPr/>
        </p:nvSpPr>
        <p:spPr>
          <a:xfrm>
            <a:off x="6720840" y="519684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9</a:t>
            </a:r>
            <a:endParaRPr lang="en-US" sz="1920" dirty="0"/>
          </a:p>
        </p:txBody>
      </p:sp>
      <p:sp>
        <p:nvSpPr>
          <p:cNvPr id="114" name="Text 20"/>
          <p:cNvSpPr/>
          <p:nvPr/>
        </p:nvSpPr>
        <p:spPr>
          <a:xfrm>
            <a:off x="7193280" y="5196840"/>
            <a:ext cx="343814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安全建设管理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：服务商与供应链</a:t>
            </a:r>
            <a:endParaRPr lang="en-US" sz="1920" dirty="0"/>
          </a:p>
        </p:txBody>
      </p:sp>
      <p:pic>
        <p:nvPicPr>
          <p:cNvPr id="115" name="Image 21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5821680"/>
            <a:ext cx="5242560" cy="731520"/>
          </a:xfrm>
          <a:prstGeom prst="rect">
            <a:avLst/>
          </a:prstGeom>
        </p:spPr>
      </p:pic>
      <p:pic>
        <p:nvPicPr>
          <p:cNvPr id="116" name="Image 2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583680" y="5974080"/>
            <a:ext cx="426720" cy="426720"/>
          </a:xfrm>
          <a:prstGeom prst="rect">
            <a:avLst/>
          </a:prstGeom>
        </p:spPr>
      </p:pic>
      <p:sp>
        <p:nvSpPr>
          <p:cNvPr id="117" name="Text 21"/>
          <p:cNvSpPr/>
          <p:nvPr/>
        </p:nvSpPr>
        <p:spPr>
          <a:xfrm>
            <a:off x="6659880" y="6004560"/>
            <a:ext cx="2987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10</a:t>
            </a:r>
            <a:endParaRPr lang="en-US" sz="1920" dirty="0"/>
          </a:p>
        </p:txBody>
      </p:sp>
      <p:sp>
        <p:nvSpPr>
          <p:cNvPr id="118" name="Text 22"/>
          <p:cNvSpPr/>
          <p:nvPr/>
        </p:nvSpPr>
        <p:spPr>
          <a:xfrm>
            <a:off x="7193280" y="6004560"/>
            <a:ext cx="295046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安全运维管理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：云环境管理</a:t>
            </a:r>
            <a:endParaRPr lang="en-US" sz="1920" dirty="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1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122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123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重点解读——第一级/第二级 vs 第三级/第四级</a:t>
            </a:r>
            <a:endParaRPr lang="en-US" sz="2760" dirty="0"/>
          </a:p>
        </p:txBody>
      </p:sp>
      <p:sp>
        <p:nvSpPr>
          <p:cNvPr id="124" name="Text 1"/>
          <p:cNvSpPr/>
          <p:nvPr/>
        </p:nvSpPr>
        <p:spPr>
          <a:xfrm>
            <a:off x="609600" y="1371600"/>
            <a:ext cx="10981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不同级别的安全要求差异：</a:t>
            </a:r>
            <a:endParaRPr lang="en-US" sz="2400" dirty="0"/>
          </a:p>
        </p:txBody>
      </p:sp>
      <p:pic>
        <p:nvPicPr>
          <p:cNvPr id="1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2011680"/>
            <a:ext cx="3870960" cy="609600"/>
          </a:xfrm>
          <a:prstGeom prst="rect">
            <a:avLst/>
          </a:prstGeom>
        </p:spPr>
      </p:pic>
      <p:sp>
        <p:nvSpPr>
          <p:cNvPr id="126" name="Text 2"/>
          <p:cNvSpPr/>
          <p:nvPr/>
        </p:nvSpPr>
        <p:spPr>
          <a:xfrm>
            <a:off x="1569720" y="2087880"/>
            <a:ext cx="195986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第一级/第二级</a:t>
            </a:r>
            <a:endParaRPr lang="en-US" sz="2400" dirty="0"/>
          </a:p>
        </p:txBody>
      </p:sp>
      <p:pic>
        <p:nvPicPr>
          <p:cNvPr id="1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949440" y="1916430"/>
            <a:ext cx="4648200" cy="609600"/>
          </a:xfrm>
          <a:prstGeom prst="rect">
            <a:avLst/>
          </a:prstGeom>
        </p:spPr>
      </p:pic>
      <p:sp>
        <p:nvSpPr>
          <p:cNvPr id="128" name="Text 3"/>
          <p:cNvSpPr/>
          <p:nvPr/>
        </p:nvSpPr>
        <p:spPr>
          <a:xfrm>
            <a:off x="8290560" y="1992630"/>
            <a:ext cx="195986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第三级/第四级</a:t>
            </a:r>
            <a:endParaRPr lang="en-US" sz="2400" dirty="0"/>
          </a:p>
        </p:txBody>
      </p:sp>
      <p:pic>
        <p:nvPicPr>
          <p:cNvPr id="129" name="Image 5" descr="https://test.web.static.jianzeppt.com/ppt-temp-img3/0adb8afe1dc41356f72271c794098eb5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804160"/>
            <a:ext cx="3870960" cy="731520"/>
          </a:xfrm>
          <a:prstGeom prst="rect">
            <a:avLst/>
          </a:prstGeom>
        </p:spPr>
      </p:pic>
      <p:sp>
        <p:nvSpPr>
          <p:cNvPr id="130" name="Text 4"/>
          <p:cNvSpPr/>
          <p:nvPr/>
        </p:nvSpPr>
        <p:spPr>
          <a:xfrm>
            <a:off x="792480" y="2987040"/>
            <a:ext cx="246278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基础设施位于中国境内</a:t>
            </a:r>
            <a:endParaRPr lang="en-US" sz="1920" dirty="0"/>
          </a:p>
        </p:txBody>
      </p:sp>
      <p:pic>
        <p:nvPicPr>
          <p:cNvPr id="131" name="Image 6" descr="https://test.web.static.jianzeppt.com/ppt-temp-img3/840981a93b91d4be8dbe0b81c4d272f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941320"/>
            <a:ext cx="1554480" cy="472440"/>
          </a:xfrm>
          <a:prstGeom prst="rect">
            <a:avLst/>
          </a:prstGeom>
        </p:spPr>
      </p:pic>
      <p:sp>
        <p:nvSpPr>
          <p:cNvPr id="132" name="Text 5"/>
          <p:cNvSpPr/>
          <p:nvPr/>
        </p:nvSpPr>
        <p:spPr>
          <a:xfrm>
            <a:off x="5074920" y="3017520"/>
            <a:ext cx="1289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96A94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安全物理环境</a:t>
            </a:r>
            <a:endParaRPr lang="en-US" sz="1680" dirty="0"/>
          </a:p>
        </p:txBody>
      </p:sp>
      <p:pic>
        <p:nvPicPr>
          <p:cNvPr id="133" name="Image 7" descr="https://test.web.static.jianzeppt.com/ppt-temp-img3/a0fac2607fa28088aef9e0219e6c9e8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2708910"/>
            <a:ext cx="4648200" cy="731520"/>
          </a:xfrm>
          <a:prstGeom prst="rect">
            <a:avLst/>
          </a:prstGeom>
        </p:spPr>
      </p:pic>
      <p:sp>
        <p:nvSpPr>
          <p:cNvPr id="134" name="Text 6"/>
          <p:cNvSpPr/>
          <p:nvPr/>
        </p:nvSpPr>
        <p:spPr>
          <a:xfrm>
            <a:off x="7147560" y="2891790"/>
            <a:ext cx="34381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基础设施位于中国境内（同左）</a:t>
            </a:r>
            <a:endParaRPr lang="en-US" sz="1920" dirty="0"/>
          </a:p>
        </p:txBody>
      </p:sp>
      <p:pic>
        <p:nvPicPr>
          <p:cNvPr id="135" name="Image 8" descr="https://test.web.static.jianzeppt.com/ppt-temp-img3/79c861352639efb88418b3af04d91a5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718560"/>
            <a:ext cx="3870960" cy="822960"/>
          </a:xfrm>
          <a:prstGeom prst="rect">
            <a:avLst/>
          </a:prstGeom>
        </p:spPr>
      </p:pic>
      <p:sp>
        <p:nvSpPr>
          <p:cNvPr id="136" name="Text 7"/>
          <p:cNvSpPr/>
          <p:nvPr/>
        </p:nvSpPr>
        <p:spPr>
          <a:xfrm>
            <a:off x="792480" y="3947160"/>
            <a:ext cx="34381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平台不承载高于自身等级的业务</a:t>
            </a:r>
            <a:endParaRPr lang="en-US" sz="1920" dirty="0"/>
          </a:p>
        </p:txBody>
      </p:sp>
      <p:pic>
        <p:nvPicPr>
          <p:cNvPr id="137" name="Image 9" descr="https://test.web.static.jianzeppt.com/ppt-temp-img3/840981a93b91d4be8dbe0b81c4d272f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901440"/>
            <a:ext cx="1554480" cy="472440"/>
          </a:xfrm>
          <a:prstGeom prst="rect">
            <a:avLst/>
          </a:prstGeom>
        </p:spPr>
      </p:pic>
      <p:sp>
        <p:nvSpPr>
          <p:cNvPr id="138" name="Text 8"/>
          <p:cNvSpPr/>
          <p:nvPr/>
        </p:nvSpPr>
        <p:spPr>
          <a:xfrm>
            <a:off x="5074920" y="3977640"/>
            <a:ext cx="1289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96A94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安全通信网络</a:t>
            </a:r>
            <a:endParaRPr lang="en-US" sz="1680" dirty="0"/>
          </a:p>
        </p:txBody>
      </p:sp>
      <p:pic>
        <p:nvPicPr>
          <p:cNvPr id="139" name="Image 10" descr="https://test.web.static.jianzeppt.com/ppt-temp-img3/9615cf0cb70bb037f4a403c4d5b2e70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0" y="3623310"/>
            <a:ext cx="4648200" cy="822960"/>
          </a:xfrm>
          <a:prstGeom prst="rect">
            <a:avLst/>
          </a:prstGeom>
        </p:spPr>
      </p:pic>
      <p:sp>
        <p:nvSpPr>
          <p:cNvPr id="140" name="Text 9"/>
          <p:cNvSpPr/>
          <p:nvPr/>
        </p:nvSpPr>
        <p:spPr>
          <a:xfrm>
            <a:off x="7147560" y="3684270"/>
            <a:ext cx="426110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4D709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新增：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客户可自主设置安全策略、开放接口接入第三方安全产品</a:t>
            </a:r>
            <a:endParaRPr lang="en-US" sz="1920" dirty="0"/>
          </a:p>
        </p:txBody>
      </p:sp>
      <p:pic>
        <p:nvPicPr>
          <p:cNvPr id="141" name="Image 11" descr="https://test.web.static.jianzeppt.com/ppt-temp-img3/79c861352639efb88418b3af04d91a5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724400"/>
            <a:ext cx="3870960" cy="822960"/>
          </a:xfrm>
          <a:prstGeom prst="rect">
            <a:avLst/>
          </a:prstGeom>
        </p:spPr>
      </p:pic>
      <p:sp>
        <p:nvSpPr>
          <p:cNvPr id="142" name="Text 10"/>
          <p:cNvSpPr/>
          <p:nvPr/>
        </p:nvSpPr>
        <p:spPr>
          <a:xfrm>
            <a:off x="792480" y="4953000"/>
            <a:ext cx="3194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虚拟化网络边界部署访问控制</a:t>
            </a:r>
            <a:endParaRPr lang="en-US" sz="1920" dirty="0"/>
          </a:p>
        </p:txBody>
      </p:sp>
      <p:pic>
        <p:nvPicPr>
          <p:cNvPr id="143" name="Image 12" descr="https://test.web.static.jianzeppt.com/ppt-temp-img3/840981a93b91d4be8dbe0b81c4d272f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907280"/>
            <a:ext cx="1554480" cy="472440"/>
          </a:xfrm>
          <a:prstGeom prst="rect">
            <a:avLst/>
          </a:prstGeom>
        </p:spPr>
      </p:pic>
      <p:sp>
        <p:nvSpPr>
          <p:cNvPr id="144" name="Text 11"/>
          <p:cNvSpPr/>
          <p:nvPr/>
        </p:nvSpPr>
        <p:spPr>
          <a:xfrm>
            <a:off x="5074920" y="4983480"/>
            <a:ext cx="1289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96A94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安全区域边界</a:t>
            </a:r>
            <a:endParaRPr lang="en-US" sz="1680" dirty="0"/>
          </a:p>
        </p:txBody>
      </p:sp>
      <p:pic>
        <p:nvPicPr>
          <p:cNvPr id="145" name="Image 13" descr="https://test.web.static.jianzeppt.com/ppt-temp-img3/9615cf0cb70bb037f4a403c4d5b2e70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0" y="4629150"/>
            <a:ext cx="4648200" cy="822960"/>
          </a:xfrm>
          <a:prstGeom prst="rect">
            <a:avLst/>
          </a:prstGeom>
        </p:spPr>
      </p:pic>
      <p:sp>
        <p:nvSpPr>
          <p:cNvPr id="146" name="Text 12"/>
          <p:cNvSpPr/>
          <p:nvPr/>
        </p:nvSpPr>
        <p:spPr>
          <a:xfrm>
            <a:off x="7147560" y="4690110"/>
            <a:ext cx="426110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4D709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新增：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虚拟网络节点攻击检测、异常流量检测、告警</a:t>
            </a:r>
            <a:endParaRPr lang="en-US" sz="1920" dirty="0"/>
          </a:p>
        </p:txBody>
      </p:sp>
      <p:pic>
        <p:nvPicPr>
          <p:cNvPr id="147" name="Image 14" descr="https://test.web.static.jianzeppt.com/ppt-temp-img3/79c861352639efb88418b3af04d91a5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730240"/>
            <a:ext cx="3870960" cy="822960"/>
          </a:xfrm>
          <a:prstGeom prst="rect">
            <a:avLst/>
          </a:prstGeom>
        </p:spPr>
      </p:pic>
      <p:sp>
        <p:nvSpPr>
          <p:cNvPr id="148" name="Text 13"/>
          <p:cNvSpPr/>
          <p:nvPr/>
        </p:nvSpPr>
        <p:spPr>
          <a:xfrm>
            <a:off x="792480" y="5958840"/>
            <a:ext cx="29504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访问控制策略随虚拟机迁移</a:t>
            </a:r>
            <a:endParaRPr lang="en-US" sz="1920" dirty="0"/>
          </a:p>
        </p:txBody>
      </p:sp>
      <p:pic>
        <p:nvPicPr>
          <p:cNvPr id="149" name="Image 15" descr="https://test.web.static.jianzeppt.com/ppt-temp-img3/840981a93b91d4be8dbe0b81c4d272f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5913120"/>
            <a:ext cx="1554480" cy="472440"/>
          </a:xfrm>
          <a:prstGeom prst="rect">
            <a:avLst/>
          </a:prstGeom>
        </p:spPr>
      </p:pic>
      <p:sp>
        <p:nvSpPr>
          <p:cNvPr id="150" name="Text 14"/>
          <p:cNvSpPr/>
          <p:nvPr/>
        </p:nvSpPr>
        <p:spPr>
          <a:xfrm>
            <a:off x="5074920" y="5989320"/>
            <a:ext cx="1289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96A94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安全计算环境</a:t>
            </a:r>
            <a:endParaRPr lang="en-US" sz="1680" dirty="0"/>
          </a:p>
        </p:txBody>
      </p:sp>
      <p:pic>
        <p:nvPicPr>
          <p:cNvPr id="151" name="Image 16" descr="https://test.web.static.jianzeppt.com/ppt-temp-img3/9615cf0cb70bb037f4a403c4d5b2e70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0" y="5634990"/>
            <a:ext cx="4648200" cy="822960"/>
          </a:xfrm>
          <a:prstGeom prst="rect">
            <a:avLst/>
          </a:prstGeom>
        </p:spPr>
      </p:pic>
      <p:sp>
        <p:nvSpPr>
          <p:cNvPr id="152" name="Text 15"/>
          <p:cNvSpPr/>
          <p:nvPr/>
        </p:nvSpPr>
        <p:spPr>
          <a:xfrm>
            <a:off x="7147560" y="5695950"/>
            <a:ext cx="426110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4D709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新增：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双向身份验证、资源隔离失效检测、恶意代码检测</a:t>
            </a:r>
            <a:endParaRPr lang="en-US" sz="1920" dirty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825500" y="533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>
                <a:solidFill>
                  <a:srgbClr val="1E1E1E"/>
                </a:solidFill>
                <a:latin typeface="思源黑体 CN Bold"/>
                <a:ea typeface="思源黑体 CN Bold"/>
              </a:rPr>
              <a:t>上机准备——CloudLab 云计算实验平台</a:t>
            </a:r>
            <a:endParaRPr/>
          </a:p>
        </p:txBody>
      </p:sp>
      <p:sp>
        <p:nvSpPr>
          <p:cNvPr id="155" name=""/>
          <p:cNvSpPr/>
          <p:nvPr/>
        </p:nvSpPr>
        <p:spPr>
          <a:xfrm>
            <a:off x="609600" y="1206500"/>
            <a:ext cx="10972800" cy="66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64B5F6"/>
            </a:solidFill>
            <a:prstDash val="solid"/>
          </a:ln>
        </p:spPr>
        <p:txBody>
          <a:bodyPr/>
          <a:p>
            <a:pPr/>
            <a:r>
              <a:rPr lang="zh-CN" sz="1400">
                <a:solidFill>
                  <a:srgbClr val="0D47A1"/>
                </a:solidFill>
              </a:rPr>
              <a:t>🌐 打开方式：双击 cloudlab-experiment.html（本地页面，无需账号，浏览器直接打开）——这就是本课程配套的 CloudLab 云计算实验平台（模拟环境）。</a:t>
            </a:r>
            <a:endParaRPr/>
          </a:p>
        </p:txBody>
      </p:sp>
      <p:sp>
        <p:nvSpPr>
          <p:cNvPr id="156" name=""/>
          <p:cNvSpPr/>
          <p:nvPr/>
        </p:nvSpPr>
        <p:spPr>
          <a:xfrm>
            <a:off x="609600" y="2057400"/>
            <a:ext cx="10972800" cy="32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📖 六个页面，与本节课知识点一一对应：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　① 平台概览与架构——四层架构图（物理层→虚拟化层→管理平台层→服务层）、资源池、租户信息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　② 云主机管理——虚拟机规格与镜像（观察：有没有虚拟机用的是未加固的默认镜像？）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　③ 网络与安全组——VPC 隔离与安全组规则（警惕 0.0.0.0/0 全放行规则）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　④ 存储与备份——云硬盘备份策略、对象存储桶访问权限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　⑤ 审计与告警——特权操作日志、入侵检测告警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　⑥ 等保核查任务——测评记录表填写与配置风险分析（下节课 7.1.2 的主战场）</a:t>
            </a:r>
            <a:endParaRPr/>
          </a:p>
        </p:txBody>
      </p:sp>
      <p:sp>
        <p:nvSpPr>
          <p:cNvPr id="157" name=""/>
          <p:cNvSpPr/>
          <p:nvPr/>
        </p:nvSpPr>
        <p:spPr>
          <a:xfrm>
            <a:off x="609600" y="5524500"/>
            <a:ext cx="10972800" cy="7874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300"/>
            </a:solidFill>
            <a:prstDash val="solid"/>
          </a:ln>
        </p:spPr>
        <p:txBody>
          <a:bodyPr/>
          <a:p>
            <a:pPr/>
            <a:r>
              <a:rPr lang="zh-CN" sz="1400">
                <a:solidFill>
                  <a:srgbClr val="B26A00"/>
                </a:solidFill>
              </a:rPr>
              <a:t>🕐 现在花 3 分钟自由浏览，带着一个问题看：这朵“云”里，哪些部件是云服务商管的？哪些是租户自己管的？（下节课我们就在这个平台上做安全配置核查）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0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161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162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教师演示——云平台架构图解析（15分钟）</a:t>
            </a:r>
            <a:endParaRPr lang="en-US" sz="2760" dirty="0"/>
          </a:p>
        </p:txBody>
      </p:sp>
      <p:sp>
        <p:nvSpPr>
          <p:cNvPr id="163" name="Text 1"/>
          <p:cNvSpPr/>
          <p:nvPr/>
        </p:nvSpPr>
        <p:spPr>
          <a:xfrm>
            <a:off x="609600" y="4944745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物理层：</a:t>
            </a:r>
            <a:r>
              <a:rPr lang="en-US" sz="1680" dirty="0">
                <a:solidFill>
                  <a:srgbClr val="7275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服务器集群、存储阵列、网络设备</a:t>
            </a:r>
            <a:endParaRPr lang="en-US" sz="1680" dirty="0"/>
          </a:p>
        </p:txBody>
      </p:sp>
      <p:sp>
        <p:nvSpPr>
          <p:cNvPr id="164" name="Text 2"/>
          <p:cNvSpPr/>
          <p:nvPr/>
        </p:nvSpPr>
        <p:spPr>
          <a:xfrm>
            <a:off x="609600" y="5325745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虚拟化层：</a:t>
            </a:r>
            <a:r>
              <a:rPr lang="en-US" sz="1680" dirty="0">
                <a:solidFill>
                  <a:srgbClr val="7275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KVM、Ceph、Neutron</a:t>
            </a:r>
            <a:endParaRPr lang="en-US" sz="1680" dirty="0"/>
          </a:p>
        </p:txBody>
      </p:sp>
      <p:sp>
        <p:nvSpPr>
          <p:cNvPr id="165" name="Text 3"/>
          <p:cNvSpPr/>
          <p:nvPr/>
        </p:nvSpPr>
        <p:spPr>
          <a:xfrm>
            <a:off x="609600" y="5706745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管理平台层：</a:t>
            </a:r>
            <a:r>
              <a:rPr lang="en-US" sz="1680" dirty="0">
                <a:solidFill>
                  <a:srgbClr val="7275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资源池、虚拟机、网络、存储</a:t>
            </a:r>
            <a:endParaRPr lang="en-US" sz="1680" dirty="0"/>
          </a:p>
        </p:txBody>
      </p:sp>
      <p:sp>
        <p:nvSpPr>
          <p:cNvPr id="166" name="Text 4"/>
          <p:cNvSpPr/>
          <p:nvPr/>
        </p:nvSpPr>
        <p:spPr>
          <a:xfrm>
            <a:off x="609600" y="6087745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B0F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服务层：</a:t>
            </a:r>
            <a:r>
              <a:rPr lang="en-US" sz="1680" dirty="0">
                <a:solidFill>
                  <a:srgbClr val="00B0F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IaaS基础服务（虚拟机、云盘、VPC）</a:t>
            </a:r>
            <a:endParaRPr lang="en-US" sz="1680" dirty="0">
              <a:solidFill>
                <a:srgbClr val="00B0F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67" name="Image 3" descr="https://test.web.static.jianzeppt.com/ppt-temp-img3/42d6e64cbb8fe0a24b34e1fd3a76085c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3120" y="4846320"/>
            <a:ext cx="5669280" cy="1561465"/>
          </a:xfrm>
          <a:prstGeom prst="rect">
            <a:avLst/>
          </a:prstGeom>
        </p:spPr>
      </p:pic>
      <p:pic>
        <p:nvPicPr>
          <p:cNvPr id="16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172200" y="5105400"/>
            <a:ext cx="609600" cy="609600"/>
          </a:xfrm>
          <a:prstGeom prst="rect">
            <a:avLst/>
          </a:prstGeom>
        </p:spPr>
      </p:pic>
      <p:pic>
        <p:nvPicPr>
          <p:cNvPr id="16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294120" y="5227320"/>
            <a:ext cx="365760" cy="365760"/>
          </a:xfrm>
          <a:prstGeom prst="rect">
            <a:avLst/>
          </a:prstGeom>
        </p:spPr>
      </p:pic>
      <p:sp>
        <p:nvSpPr>
          <p:cNvPr id="170" name="Text 5"/>
          <p:cNvSpPr/>
          <p:nvPr/>
        </p:nvSpPr>
        <p:spPr>
          <a:xfrm>
            <a:off x="7025640" y="5105400"/>
            <a:ext cx="384962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4D6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重点强调</a:t>
            </a:r>
            <a:endParaRPr lang="en-US" sz="2400" dirty="0"/>
          </a:p>
        </p:txBody>
      </p:sp>
      <p:sp>
        <p:nvSpPr>
          <p:cNvPr id="171" name="Text 6"/>
          <p:cNvSpPr/>
          <p:nvPr/>
        </p:nvSpPr>
        <p:spPr>
          <a:xfrm>
            <a:off x="7025640" y="5532120"/>
            <a:ext cx="3849624" cy="848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这些资源是如何被“</a:t>
            </a:r>
            <a:r>
              <a:rPr lang="en-US" sz="2000" b="1" dirty="0">
                <a:solidFill>
                  <a:srgbClr val="FF4D6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隔离</a:t>
            </a: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”的？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不同租户之间能看到对方吗？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7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609600" y="1371600"/>
            <a:ext cx="4937760" cy="3550920"/>
          </a:xfrm>
          <a:prstGeom prst="rect">
            <a:avLst/>
          </a:prstGeom>
          <a:effectLst>
            <a:outerShdw blurRad="-2147483648" dist="1935480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173" name="Image 7" descr="https://test.web.static.jianzeppt.com/ppt-temp-img3/10d2f49d0a71b49d015c72e1c08fe466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1402080"/>
            <a:ext cx="4876800" cy="3489960"/>
          </a:xfrm>
          <a:prstGeom prst="rect">
            <a:avLst/>
          </a:prstGeom>
        </p:spPr>
      </p:pic>
      <p:pic>
        <p:nvPicPr>
          <p:cNvPr id="174" name="Image 8" descr="https://test.web.static.jianzeppt.com/ppt-temp-img3/2dfed9f308120ade395144f868a42d99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3120" y="1371600"/>
            <a:ext cx="5669280" cy="3230880"/>
          </a:xfrm>
          <a:prstGeom prst="rect">
            <a:avLst/>
          </a:prstGeom>
        </p:spPr>
      </p:pic>
      <p:pic>
        <p:nvPicPr>
          <p:cNvPr id="175" name="Image 9" descr="https://test.web.static.jianzeppt.com/ppt-temp-img3/1d2522fe07c975560e48ef4f63f87d6e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160" y="2087880"/>
            <a:ext cx="365760" cy="365760"/>
          </a:xfrm>
          <a:prstGeom prst="rect">
            <a:avLst/>
          </a:prstGeom>
        </p:spPr>
      </p:pic>
      <p:sp>
        <p:nvSpPr>
          <p:cNvPr id="176" name="Text 7"/>
          <p:cNvSpPr/>
          <p:nvPr/>
        </p:nvSpPr>
        <p:spPr>
          <a:xfrm>
            <a:off x="6355080" y="216408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177" name="Text 8"/>
          <p:cNvSpPr/>
          <p:nvPr/>
        </p:nvSpPr>
        <p:spPr>
          <a:xfrm>
            <a:off x="6781800" y="2042160"/>
            <a:ext cx="6021324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zh-CN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打开 CloudLab「平台概览」页，查看资源池划分</a:t>
            </a: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78" name="Image 10" descr="https://test.web.static.jianzeppt.com/ppt-temp-img3/1d2522fe07c975560e48ef4f63f87d6e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160" y="2560320"/>
            <a:ext cx="365760" cy="365760"/>
          </a:xfrm>
          <a:prstGeom prst="rect">
            <a:avLst/>
          </a:prstGeom>
        </p:spPr>
      </p:pic>
      <p:sp>
        <p:nvSpPr>
          <p:cNvPr id="179" name="Text 9"/>
          <p:cNvSpPr/>
          <p:nvPr/>
        </p:nvSpPr>
        <p:spPr>
          <a:xfrm>
            <a:off x="6355080" y="263652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180" name="Text 10"/>
          <p:cNvSpPr/>
          <p:nvPr/>
        </p:nvSpPr>
        <p:spPr>
          <a:xfrm>
            <a:off x="6781800" y="2514600"/>
            <a:ext cx="4965192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zh-CN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切到「云主机管理」页，理解“租户”概念</a:t>
            </a: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81" name="Image 11" descr="https://test.web.static.jianzeppt.com/ppt-temp-img3/1d2522fe07c975560e48ef4f63f87d6e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160" y="3291840"/>
            <a:ext cx="365760" cy="365760"/>
          </a:xfrm>
          <a:prstGeom prst="rect">
            <a:avLst/>
          </a:prstGeom>
        </p:spPr>
      </p:pic>
      <p:sp>
        <p:nvSpPr>
          <p:cNvPr id="182" name="Text 11"/>
          <p:cNvSpPr/>
          <p:nvPr/>
        </p:nvSpPr>
        <p:spPr>
          <a:xfrm>
            <a:off x="6355080" y="336804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680" dirty="0"/>
          </a:p>
        </p:txBody>
      </p:sp>
      <p:sp>
        <p:nvSpPr>
          <p:cNvPr id="183" name="Text 12"/>
          <p:cNvSpPr/>
          <p:nvPr/>
        </p:nvSpPr>
        <p:spPr>
          <a:xfrm>
            <a:off x="6781800" y="3246120"/>
            <a:ext cx="4841748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zh-CN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切到「网络与安全组」页，理解VPC隔离</a:t>
            </a: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84" name="Image 12" descr="https://test.web.static.jianzeppt.com/ppt-temp-img3/1d2522fe07c975560e48ef4f63f87d6e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160" y="3764280"/>
            <a:ext cx="365760" cy="365760"/>
          </a:xfrm>
          <a:prstGeom prst="rect">
            <a:avLst/>
          </a:prstGeom>
        </p:spPr>
      </p:pic>
      <p:sp>
        <p:nvSpPr>
          <p:cNvPr id="185" name="Text 13"/>
          <p:cNvSpPr/>
          <p:nvPr/>
        </p:nvSpPr>
        <p:spPr>
          <a:xfrm>
            <a:off x="6355080" y="384048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680" dirty="0"/>
          </a:p>
        </p:txBody>
      </p:sp>
      <p:sp>
        <p:nvSpPr>
          <p:cNvPr id="186" name="Text 14"/>
          <p:cNvSpPr/>
          <p:nvPr/>
        </p:nvSpPr>
        <p:spPr>
          <a:xfrm>
            <a:off x="6781800" y="3718560"/>
            <a:ext cx="5362956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zh-CN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切到「存储与备份」页，看云硬盘/对象存储</a:t>
            </a: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8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2"/>
              </a:ext>
            </a:extLst>
          </a:blip>
          <a:stretch>
            <a:fillRect/>
          </a:stretch>
        </p:blipFill>
        <p:spPr>
          <a:xfrm>
            <a:off x="6172200" y="1143000"/>
            <a:ext cx="2499360" cy="4876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188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3"/>
              </a:ext>
            </a:extLst>
          </a:blip>
          <a:stretch>
            <a:fillRect/>
          </a:stretch>
        </p:blipFill>
        <p:spPr>
          <a:xfrm>
            <a:off x="6416040" y="1264920"/>
            <a:ext cx="243840" cy="243840"/>
          </a:xfrm>
          <a:prstGeom prst="rect">
            <a:avLst/>
          </a:prstGeom>
        </p:spPr>
      </p:pic>
      <p:sp>
        <p:nvSpPr>
          <p:cNvPr id="189" name="Text 15"/>
          <p:cNvSpPr/>
          <p:nvPr/>
        </p:nvSpPr>
        <p:spPr>
          <a:xfrm>
            <a:off x="6781800" y="1264920"/>
            <a:ext cx="1655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教师演示步骤</a:t>
            </a:r>
            <a:endParaRPr lang="en-US" sz="2160" dirty="0"/>
          </a:p>
        </p:txBody>
      </p:sp>
      <p:pic>
        <p:nvPicPr>
          <p:cNvPr id="190" name="图片 1024"/>
          <p:cNvPicPr/>
          <p:nvPr/>
        </p:nvPicPr>
        <p:blipFill>
          <a:blip r:embed="rId14"/>
          <a:stretch>
            <a:fillRect/>
          </a:stretch>
        </p:blipFill>
        <p:spPr>
          <a:xfrm>
            <a:off x="10444480" y="1165860"/>
            <a:ext cx="97155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19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19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实践任务1——云平台架构认知（20分钟）</a:t>
            </a:r>
            <a:endParaRPr lang="en-US" sz="2760" dirty="0"/>
          </a:p>
        </p:txBody>
      </p:sp>
      <p:pic>
        <p:nvPicPr>
          <p:cNvPr id="196" name="Image 3" descr="https://test.web.static.jianzeppt.com/ppt-temp-img3/3878e2749e759528f2350f4508f25f0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71600"/>
            <a:ext cx="5364480" cy="2468880"/>
          </a:xfrm>
          <a:prstGeom prst="rect">
            <a:avLst/>
          </a:prstGeom>
        </p:spPr>
      </p:pic>
      <p:pic>
        <p:nvPicPr>
          <p:cNvPr id="19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929640" y="1706880"/>
            <a:ext cx="487680" cy="487680"/>
          </a:xfrm>
          <a:prstGeom prst="rect">
            <a:avLst/>
          </a:prstGeom>
        </p:spPr>
      </p:pic>
      <p:pic>
        <p:nvPicPr>
          <p:cNvPr id="19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021080" y="1798320"/>
            <a:ext cx="304800" cy="304800"/>
          </a:xfrm>
          <a:prstGeom prst="rect">
            <a:avLst/>
          </a:prstGeom>
        </p:spPr>
      </p:pic>
      <p:sp>
        <p:nvSpPr>
          <p:cNvPr id="199" name="Text 1"/>
          <p:cNvSpPr/>
          <p:nvPr/>
        </p:nvSpPr>
        <p:spPr>
          <a:xfrm>
            <a:off x="1600200" y="169164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任务名称</a:t>
            </a:r>
            <a:endParaRPr lang="en-US" sz="2640" dirty="0"/>
          </a:p>
        </p:txBody>
      </p:sp>
      <p:sp>
        <p:nvSpPr>
          <p:cNvPr id="200" name="Text 2"/>
          <p:cNvSpPr/>
          <p:nvPr/>
        </p:nvSpPr>
        <p:spPr>
          <a:xfrm>
            <a:off x="929640" y="2377440"/>
            <a:ext cx="4733544" cy="4388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云平台架构认知与资源查看</a:t>
            </a:r>
            <a:endParaRPr lang="en-US" sz="2160" dirty="0"/>
          </a:p>
        </p:txBody>
      </p:sp>
      <p:pic>
        <p:nvPicPr>
          <p:cNvPr id="201" name="Image 6" descr="https://test.web.static.jianzeppt.com/ppt-temp-img3/3eddcb4508c08c1306c60fa5d5833d19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1371600"/>
            <a:ext cx="5364480" cy="2468880"/>
          </a:xfrm>
          <a:prstGeom prst="rect">
            <a:avLst/>
          </a:prstGeom>
        </p:spPr>
      </p:pic>
      <p:pic>
        <p:nvPicPr>
          <p:cNvPr id="20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537960" y="1706880"/>
            <a:ext cx="487680" cy="487680"/>
          </a:xfrm>
          <a:prstGeom prst="rect">
            <a:avLst/>
          </a:prstGeom>
        </p:spPr>
      </p:pic>
      <p:pic>
        <p:nvPicPr>
          <p:cNvPr id="20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6629400" y="1798320"/>
            <a:ext cx="304800" cy="304800"/>
          </a:xfrm>
          <a:prstGeom prst="rect">
            <a:avLst/>
          </a:prstGeom>
        </p:spPr>
      </p:pic>
      <p:sp>
        <p:nvSpPr>
          <p:cNvPr id="204" name="Text 3"/>
          <p:cNvSpPr/>
          <p:nvPr/>
        </p:nvSpPr>
        <p:spPr>
          <a:xfrm>
            <a:off x="7208520" y="169164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任务场景</a:t>
            </a:r>
            <a:endParaRPr lang="en-US" sz="2640" dirty="0"/>
          </a:p>
        </p:txBody>
      </p:sp>
      <p:sp>
        <p:nvSpPr>
          <p:cNvPr id="205" name="Text 4"/>
          <p:cNvSpPr/>
          <p:nvPr/>
        </p:nvSpPr>
        <p:spPr>
          <a:xfrm>
            <a:off x="6537960" y="2377440"/>
            <a:ext cx="9875520" cy="7800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zh-CN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打开 CloudLab 实验平台（模拟环境），依次浏览左侧各页面，查看云平台的资源组织方式</a:t>
            </a:r>
            <a:endParaRPr lang="en-US" sz="192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endParaRPr lang="en-US" sz="192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206" name="Image 9" descr="https://test.web.static.jianzeppt.com/ppt-temp-img3/3878e2749e759528f2350f4508f25f0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084320"/>
            <a:ext cx="5364480" cy="2468880"/>
          </a:xfrm>
          <a:prstGeom prst="rect">
            <a:avLst/>
          </a:prstGeom>
        </p:spPr>
      </p:pic>
      <p:pic>
        <p:nvPicPr>
          <p:cNvPr id="20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929640" y="4419600"/>
            <a:ext cx="487680" cy="487680"/>
          </a:xfrm>
          <a:prstGeom prst="rect">
            <a:avLst/>
          </a:prstGeom>
        </p:spPr>
      </p:pic>
      <p:pic>
        <p:nvPicPr>
          <p:cNvPr id="208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>
            <a:off x="1021080" y="4511040"/>
            <a:ext cx="304800" cy="304800"/>
          </a:xfrm>
          <a:prstGeom prst="rect">
            <a:avLst/>
          </a:prstGeom>
        </p:spPr>
      </p:pic>
      <p:sp>
        <p:nvSpPr>
          <p:cNvPr id="209" name="Text 5"/>
          <p:cNvSpPr/>
          <p:nvPr/>
        </p:nvSpPr>
        <p:spPr>
          <a:xfrm>
            <a:off x="1600200" y="440436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任务内容</a:t>
            </a:r>
            <a:endParaRPr lang="en-US" sz="2640" dirty="0"/>
          </a:p>
        </p:txBody>
      </p:sp>
      <p:sp>
        <p:nvSpPr>
          <p:cNvPr id="210" name="Text 6"/>
          <p:cNvSpPr/>
          <p:nvPr/>
        </p:nvSpPr>
        <p:spPr>
          <a:xfrm>
            <a:off x="929640" y="5090160"/>
            <a:ext cx="47335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① 查看资源池划分（计算、存储、网络）</a:t>
            </a:r>
            <a:endParaRPr lang="en-US" sz="1920" dirty="0"/>
          </a:p>
        </p:txBody>
      </p:sp>
      <p:sp>
        <p:nvSpPr>
          <p:cNvPr id="211" name="Text 7"/>
          <p:cNvSpPr/>
          <p:nvPr/>
        </p:nvSpPr>
        <p:spPr>
          <a:xfrm>
            <a:off x="929640" y="5516880"/>
            <a:ext cx="47335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② 查看虚拟机列表及规格</a:t>
            </a:r>
            <a:endParaRPr lang="en-US" sz="1920" dirty="0"/>
          </a:p>
        </p:txBody>
      </p:sp>
      <p:sp>
        <p:nvSpPr>
          <p:cNvPr id="212" name="Text 8"/>
          <p:cNvSpPr/>
          <p:nvPr/>
        </p:nvSpPr>
        <p:spPr>
          <a:xfrm>
            <a:off x="929640" y="5943600"/>
            <a:ext cx="47335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③ 查看虚拟网络配置（VPC/子网）</a:t>
            </a:r>
            <a:endParaRPr lang="en-US" sz="1920" dirty="0"/>
          </a:p>
        </p:txBody>
      </p:sp>
      <p:pic>
        <p:nvPicPr>
          <p:cNvPr id="213" name="Image 12" descr="https://test.web.static.jianzeppt.com/ppt-temp-img3/3eddcb4508c08c1306c60fa5d5833d19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4084320"/>
            <a:ext cx="5364480" cy="2249805"/>
          </a:xfrm>
          <a:prstGeom prst="rect">
            <a:avLst/>
          </a:prstGeom>
        </p:spPr>
      </p:pic>
      <p:pic>
        <p:nvPicPr>
          <p:cNvPr id="21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537960" y="4419600"/>
            <a:ext cx="487680" cy="487680"/>
          </a:xfrm>
          <a:prstGeom prst="rect">
            <a:avLst/>
          </a:prstGeom>
        </p:spPr>
      </p:pic>
      <p:pic>
        <p:nvPicPr>
          <p:cNvPr id="215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6629400" y="4511040"/>
            <a:ext cx="304800" cy="304800"/>
          </a:xfrm>
          <a:prstGeom prst="rect">
            <a:avLst/>
          </a:prstGeom>
        </p:spPr>
      </p:pic>
      <p:sp>
        <p:nvSpPr>
          <p:cNvPr id="216" name="Text 9"/>
          <p:cNvSpPr/>
          <p:nvPr/>
        </p:nvSpPr>
        <p:spPr>
          <a:xfrm>
            <a:off x="7208520" y="440436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时间安排</a:t>
            </a:r>
            <a:endParaRPr lang="en-US" sz="2640" dirty="0"/>
          </a:p>
        </p:txBody>
      </p:sp>
      <p:sp>
        <p:nvSpPr>
          <p:cNvPr id="217" name="Text 10"/>
          <p:cNvSpPr/>
          <p:nvPr/>
        </p:nvSpPr>
        <p:spPr>
          <a:xfrm>
            <a:off x="7985760" y="5394960"/>
            <a:ext cx="1837944" cy="4800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20" b="1" kern="0" spc="192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约 20 分钟</a:t>
            </a:r>
            <a:endParaRPr lang="en-US" sz="2520" dirty="0"/>
          </a:p>
        </p:txBody>
      </p:sp>
      <p:pic>
        <p:nvPicPr>
          <p:cNvPr id="218" name="图片 2048"/>
          <p:cNvPicPr/>
          <p:nvPr/>
        </p:nvPicPr>
        <p:blipFill>
          <a:blip r:embed="rId12"/>
          <a:stretch>
            <a:fillRect/>
          </a:stretch>
        </p:blipFill>
        <p:spPr>
          <a:xfrm>
            <a:off x="1797050" y="2806065"/>
            <a:ext cx="971550" cy="666750"/>
          </a:xfrm>
          <a:prstGeom prst="rect">
            <a:avLst/>
          </a:prstGeom>
        </p:spPr>
      </p:pic>
      <p:sp>
        <p:nvSpPr>
          <p:cNvPr id="219" name=""/>
          <p:cNvSpPr/>
          <p:nvPr/>
        </p:nvSpPr>
        <p:spPr>
          <a:xfrm>
            <a:off x="927100" y="6324600"/>
            <a:ext cx="4737100" cy="558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④ 查看安全组策略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⑤ 查看租户信息与资源配额</a:t>
            </a:r>
            <a:endParaRPr/>
          </a:p>
        </p:txBody>
      </p:sp>
      <p:sp>
        <p:nvSpPr>
          <p:cNvPr id="220" name=""/>
          <p:cNvSpPr/>
          <p:nvPr/>
        </p:nvSpPr>
        <p:spPr>
          <a:xfrm>
            <a:off x="6540500" y="5969000"/>
            <a:ext cx="4737100" cy="812800"/>
          </a:xfrm>
          <a:prstGeom prst="rect">
            <a:avLst/>
          </a:prstGeom>
          <a:solidFill>
            <a:srgbClr val="E3F2FD"/>
          </a:solidFill>
          <a:ln w="12700">
            <a:solidFill>
              <a:srgbClr val="64B5F6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1565C0"/>
                </a:solidFill>
              </a:rPr>
              <a:t>CloudLab 页面对照：①⑤→「平台概览」②→「云主机管理」③④→「网络与安全组」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bg>
      <p:bgPr>
        <a:solidFill>
          <a:srgbClr val="FFFFFF"/>
        </a:solidFill>
        <a:effectLst/>
      </p:bgPr>
    </p:bg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22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22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实践任务1——《云平台架构认知记录表》</a:t>
            </a:r>
            <a:endParaRPr lang="en-US" sz="2760" dirty="0"/>
          </a:p>
        </p:txBody>
      </p:sp>
      <p:pic>
        <p:nvPicPr>
          <p:cNvPr id="2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5303520"/>
            <a:ext cx="10972800" cy="118999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2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929640" y="5623560"/>
            <a:ext cx="609600" cy="609600"/>
          </a:xfrm>
          <a:prstGeom prst="rect">
            <a:avLst/>
          </a:prstGeom>
        </p:spPr>
      </p:pic>
      <p:pic>
        <p:nvPicPr>
          <p:cNvPr id="2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082040" y="5775960"/>
            <a:ext cx="304800" cy="304800"/>
          </a:xfrm>
          <a:prstGeom prst="rect">
            <a:avLst/>
          </a:prstGeom>
        </p:spPr>
      </p:pic>
      <p:sp>
        <p:nvSpPr>
          <p:cNvPr id="229" name="Text 1"/>
          <p:cNvSpPr/>
          <p:nvPr/>
        </p:nvSpPr>
        <p:spPr>
          <a:xfrm>
            <a:off x="1783080" y="5715000"/>
            <a:ext cx="9488424" cy="42052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0" spc="80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思考题：你认为云平台最核心的安全机制是什么？</a:t>
            </a:r>
            <a:endParaRPr lang="en-US" sz="2400" dirty="0"/>
          </a:p>
        </p:txBody>
      </p:sp>
      <p:graphicFrame>
        <p:nvGraphicFramePr>
          <p:cNvPr id="230" name="Table 0"/>
          <p:cNvGraphicFramePr>
            <a:graphicFrameLocks noGrp="1"/>
          </p:cNvGraphicFramePr>
          <p:nvPr/>
        </p:nvGraphicFramePr>
        <p:xfrm>
          <a:off x="609600" y="1371600"/>
          <a:ext cx="10972800" cy="362712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val="1"/>
                    </a:ext>
                  </a:extLst>
                </a:gridCol>
                <a:gridCol w="4678680">
                  <a:extLst>
                    <a:ext uri="{9D8B030D-6E8A-4147-A177-3AD203B41FA5}">
                      <a16:colId val="2"/>
                    </a:ext>
                  </a:extLst>
                </a:gridCol>
                <a:gridCol w="387096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04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观察项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记录内容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安全相关说明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资源池划分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（记录CPU/内存/存储总量及分配）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资源隔离是等保要求的基础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虚拟机规格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（记录云主机的vCPU/内存/磁盘配置）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不同级别系统需要不同规格保障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虚拟网络（VPC）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（记录VPC名称、网段、子网划分）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网络隔离是等保8.2.2.1b)的要求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安全组/防火墙规则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（记录已配置的安全组策略）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访问控制是等保8.2.3.1的要求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租户/项目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（记录租户名称及资源配额）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多租户隔离是云安全的基石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231" name=""/>
          <p:cNvSpPr/>
          <p:nvPr/>
        </p:nvSpPr>
        <p:spPr>
          <a:xfrm>
            <a:off x="609600" y="5080000"/>
            <a:ext cx="10972800" cy="558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300"/>
            </a:solidFill>
            <a:prstDash val="solid"/>
          </a:ln>
        </p:spPr>
        <p:txBody>
          <a:bodyPr/>
          <a:p>
            <a:pPr/>
            <a:r>
              <a:rPr lang="zh-CN" sz="1300">
                <a:solidFill>
                  <a:srgbClr val="B26A00"/>
                </a:solidFill>
              </a:rPr>
              <a:t>🧪 上机填写：登录 CloudLab 实验平台（cloudlab-experiment.html），在各页面顶部“观察点”提示下逐项取证，完成本记录表。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2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4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235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236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实践任务2——服务模式辨识（15分钟）</a:t>
            </a:r>
            <a:endParaRPr lang="en-US" sz="2760" dirty="0"/>
          </a:p>
        </p:txBody>
      </p:sp>
      <p:pic>
        <p:nvPicPr>
          <p:cNvPr id="2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1478280"/>
            <a:ext cx="60960" cy="304800"/>
          </a:xfrm>
          <a:prstGeom prst="rect">
            <a:avLst/>
          </a:prstGeom>
        </p:spPr>
      </p:pic>
      <p:sp>
        <p:nvSpPr>
          <p:cNvPr id="238" name="Text 1"/>
          <p:cNvSpPr/>
          <p:nvPr/>
        </p:nvSpPr>
        <p:spPr>
          <a:xfrm>
            <a:off x="792480" y="137160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任务背景</a:t>
            </a:r>
            <a:endParaRPr lang="en-US" sz="2640" dirty="0"/>
          </a:p>
        </p:txBody>
      </p:sp>
      <p:pic>
        <p:nvPicPr>
          <p:cNvPr id="239" name="Image 4" descr="https://test.web.static.jianzeppt.com/ppt-temp-img3/a8b4557057ee37e35b6dd1e1c131efe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057400"/>
            <a:ext cx="5303520" cy="1844040"/>
          </a:xfrm>
          <a:prstGeom prst="rect">
            <a:avLst/>
          </a:prstGeom>
        </p:spPr>
      </p:pic>
      <p:sp>
        <p:nvSpPr>
          <p:cNvPr id="240" name="Text 2"/>
          <p:cNvSpPr/>
          <p:nvPr/>
        </p:nvSpPr>
        <p:spPr>
          <a:xfrm>
            <a:off x="868680" y="2316480"/>
            <a:ext cx="479450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任务名称：</a:t>
            </a:r>
            <a:r>
              <a:rPr lang="en-US" sz="216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辨识三种云服务模式</a:t>
            </a:r>
            <a:endParaRPr lang="en-US" sz="2160" dirty="0"/>
          </a:p>
        </p:txBody>
      </p:sp>
      <p:sp>
        <p:nvSpPr>
          <p:cNvPr id="241" name="Text 3"/>
          <p:cNvSpPr/>
          <p:nvPr/>
        </p:nvSpPr>
        <p:spPr>
          <a:xfrm>
            <a:off x="868680" y="2849880"/>
            <a:ext cx="4794504" cy="792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2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任务场景：</a:t>
            </a:r>
            <a:r>
              <a:rPr lang="en-US" sz="192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教师提供10个常见的云服务/产品名称，学生判断属于IaaS/PaaS/SaaS哪一种</a:t>
            </a:r>
            <a:endParaRPr lang="en-US" sz="1920" dirty="0"/>
          </a:p>
        </p:txBody>
      </p:sp>
      <p:pic>
        <p:nvPicPr>
          <p:cNvPr id="24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4297680"/>
            <a:ext cx="60960" cy="304800"/>
          </a:xfrm>
          <a:prstGeom prst="rect">
            <a:avLst/>
          </a:prstGeom>
        </p:spPr>
      </p:pic>
      <p:sp>
        <p:nvSpPr>
          <p:cNvPr id="243" name="Text 4"/>
          <p:cNvSpPr/>
          <p:nvPr/>
        </p:nvSpPr>
        <p:spPr>
          <a:xfrm>
            <a:off x="792480" y="419100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任务内容</a:t>
            </a:r>
            <a:endParaRPr lang="en-US" sz="2640" dirty="0"/>
          </a:p>
        </p:txBody>
      </p:sp>
      <p:pic>
        <p:nvPicPr>
          <p:cNvPr id="244" name="Image 6" descr="https://test.web.static.jianzeppt.com/ppt-temp-img3/7310d92a415e0ae11d53794bef78ac59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876800"/>
            <a:ext cx="5303520" cy="1676400"/>
          </a:xfrm>
          <a:prstGeom prst="rect">
            <a:avLst/>
          </a:prstGeom>
        </p:spPr>
      </p:pic>
      <p:pic>
        <p:nvPicPr>
          <p:cNvPr id="24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868680" y="4832985"/>
            <a:ext cx="365760" cy="365760"/>
          </a:xfrm>
          <a:prstGeom prst="rect">
            <a:avLst/>
          </a:prstGeom>
        </p:spPr>
      </p:pic>
      <p:sp>
        <p:nvSpPr>
          <p:cNvPr id="246" name="Text 5"/>
          <p:cNvSpPr/>
          <p:nvPr/>
        </p:nvSpPr>
        <p:spPr>
          <a:xfrm>
            <a:off x="929640" y="4863465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6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1386840" y="4802505"/>
            <a:ext cx="203200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逐个判断服务模式</a:t>
            </a:r>
            <a:endParaRPr lang="en-US" sz="2000" dirty="0">
              <a:solidFill>
                <a:srgbClr val="787878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24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868680" y="5213985"/>
            <a:ext cx="365760" cy="365760"/>
          </a:xfrm>
          <a:prstGeom prst="rect">
            <a:avLst/>
          </a:prstGeom>
        </p:spPr>
      </p:pic>
      <p:sp>
        <p:nvSpPr>
          <p:cNvPr id="249" name="Text 7"/>
          <p:cNvSpPr/>
          <p:nvPr/>
        </p:nvSpPr>
        <p:spPr>
          <a:xfrm>
            <a:off x="929640" y="5244465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6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50" name="Text 8"/>
          <p:cNvSpPr/>
          <p:nvPr/>
        </p:nvSpPr>
        <p:spPr>
          <a:xfrm>
            <a:off x="1386840" y="5183505"/>
            <a:ext cx="304800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说明判断理由（关键特征）</a:t>
            </a:r>
            <a:endParaRPr lang="en-US" sz="2000" dirty="0">
              <a:solidFill>
                <a:srgbClr val="787878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25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868680" y="5594985"/>
            <a:ext cx="365760" cy="365760"/>
          </a:xfrm>
          <a:prstGeom prst="rect">
            <a:avLst/>
          </a:prstGeom>
        </p:spPr>
      </p:pic>
      <p:sp>
        <p:nvSpPr>
          <p:cNvPr id="252" name="Text 9"/>
          <p:cNvSpPr/>
          <p:nvPr/>
        </p:nvSpPr>
        <p:spPr>
          <a:xfrm>
            <a:off x="929640" y="5625465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6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53" name="Text 10"/>
          <p:cNvSpPr/>
          <p:nvPr/>
        </p:nvSpPr>
        <p:spPr>
          <a:xfrm>
            <a:off x="1386840" y="5531485"/>
            <a:ext cx="4291330" cy="9061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B0F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讨论：每种模式的安全责任边界有什么不同？</a:t>
            </a:r>
            <a:endParaRPr lang="en-US" sz="2000" dirty="0">
              <a:solidFill>
                <a:srgbClr val="00B0F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254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278880" y="1478280"/>
            <a:ext cx="60960" cy="304800"/>
          </a:xfrm>
          <a:prstGeom prst="rect">
            <a:avLst/>
          </a:prstGeom>
        </p:spPr>
      </p:pic>
      <p:sp>
        <p:nvSpPr>
          <p:cNvPr id="255" name="Text 11"/>
          <p:cNvSpPr/>
          <p:nvPr/>
        </p:nvSpPr>
        <p:spPr>
          <a:xfrm>
            <a:off x="6461760" y="137160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示例清单</a:t>
            </a:r>
            <a:endParaRPr lang="en-US" sz="2640" dirty="0"/>
          </a:p>
        </p:txBody>
      </p:sp>
      <p:pic>
        <p:nvPicPr>
          <p:cNvPr id="256" name="Image 11" descr="https://test.web.static.jianzeppt.com/ppt-temp-img3/190b2547698bd852738f939d1b5c4460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8880" y="2057400"/>
            <a:ext cx="5303520" cy="4495800"/>
          </a:xfrm>
          <a:prstGeom prst="rect">
            <a:avLst/>
          </a:prstGeom>
        </p:spPr>
      </p:pic>
      <p:sp>
        <p:nvSpPr>
          <p:cNvPr id="257" name="Text 12"/>
          <p:cNvSpPr/>
          <p:nvPr/>
        </p:nvSpPr>
        <p:spPr>
          <a:xfrm>
            <a:off x="6537960" y="2225040"/>
            <a:ext cx="29504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① 阿里云ECS（云服务器）</a:t>
            </a:r>
            <a:endParaRPr lang="en-US" sz="1920" dirty="0"/>
          </a:p>
        </p:txBody>
      </p:sp>
      <p:pic>
        <p:nvPicPr>
          <p:cNvPr id="258" name="Image 12" descr="https://test.web.static.jianzeppt.com/ppt-temp-img3/f0c82fc09e6d798975ff64b50dfc1630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61320" y="2194560"/>
            <a:ext cx="777240" cy="426720"/>
          </a:xfrm>
          <a:prstGeom prst="rect">
            <a:avLst/>
          </a:prstGeom>
        </p:spPr>
      </p:pic>
      <p:sp>
        <p:nvSpPr>
          <p:cNvPr id="259" name="Text 13"/>
          <p:cNvSpPr/>
          <p:nvPr/>
        </p:nvSpPr>
        <p:spPr>
          <a:xfrm>
            <a:off x="10683240" y="2225040"/>
            <a:ext cx="5425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IaaS</a:t>
            </a:r>
            <a:endParaRPr lang="en-US" sz="1920" dirty="0"/>
          </a:p>
        </p:txBody>
      </p:sp>
      <p:pic>
        <p:nvPicPr>
          <p:cNvPr id="260" name="Image 13" descr="https://test.web.static.jianzeppt.com/ppt-temp-img3/846a9466286b6df3142467df48beeda2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2615032"/>
            <a:ext cx="4785360" cy="15240"/>
          </a:xfrm>
          <a:prstGeom prst="rect">
            <a:avLst/>
          </a:prstGeom>
        </p:spPr>
      </p:pic>
      <p:sp>
        <p:nvSpPr>
          <p:cNvPr id="261" name="Text 14"/>
          <p:cNvSpPr/>
          <p:nvPr/>
        </p:nvSpPr>
        <p:spPr>
          <a:xfrm>
            <a:off x="6537960" y="2651760"/>
            <a:ext cx="8016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② 钉钉</a:t>
            </a:r>
            <a:endParaRPr lang="en-US" sz="1920" dirty="0"/>
          </a:p>
        </p:txBody>
      </p:sp>
      <p:pic>
        <p:nvPicPr>
          <p:cNvPr id="262" name="Image 14" descr="https://test.web.static.jianzeppt.com/ppt-temp-img3/b14b9aa5acb64f69f4beb0737b407829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5120" y="2621280"/>
            <a:ext cx="838200" cy="426720"/>
          </a:xfrm>
          <a:prstGeom prst="rect">
            <a:avLst/>
          </a:prstGeom>
        </p:spPr>
      </p:pic>
      <p:sp>
        <p:nvSpPr>
          <p:cNvPr id="263" name="Text 15"/>
          <p:cNvSpPr/>
          <p:nvPr/>
        </p:nvSpPr>
        <p:spPr>
          <a:xfrm>
            <a:off x="10607040" y="2651760"/>
            <a:ext cx="6035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SaaS</a:t>
            </a:r>
            <a:endParaRPr lang="en-US" sz="1920" dirty="0"/>
          </a:p>
        </p:txBody>
      </p:sp>
      <p:pic>
        <p:nvPicPr>
          <p:cNvPr id="264" name="Image 15" descr="https://test.web.static.jianzeppt.com/ppt-temp-img3/846a9466286b6df3142467df48beeda2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035656"/>
            <a:ext cx="4785360" cy="15240"/>
          </a:xfrm>
          <a:prstGeom prst="rect">
            <a:avLst/>
          </a:prstGeom>
        </p:spPr>
      </p:pic>
      <p:sp>
        <p:nvSpPr>
          <p:cNvPr id="265" name="Text 16"/>
          <p:cNvSpPr/>
          <p:nvPr/>
        </p:nvSpPr>
        <p:spPr>
          <a:xfrm>
            <a:off x="6537960" y="3063240"/>
            <a:ext cx="2980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③ 华为云RDS（云数据库）</a:t>
            </a:r>
            <a:endParaRPr lang="en-US" sz="1920" dirty="0"/>
          </a:p>
        </p:txBody>
      </p:sp>
      <p:pic>
        <p:nvPicPr>
          <p:cNvPr id="266" name="Image 16" descr="https://test.web.static.jianzeppt.com/ppt-temp-img3/b14b9aa5acb64f69f4beb0737b407829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5120" y="3032760"/>
            <a:ext cx="838200" cy="426720"/>
          </a:xfrm>
          <a:prstGeom prst="rect">
            <a:avLst/>
          </a:prstGeom>
        </p:spPr>
      </p:pic>
      <p:sp>
        <p:nvSpPr>
          <p:cNvPr id="267" name="Text 17"/>
          <p:cNvSpPr/>
          <p:nvPr/>
        </p:nvSpPr>
        <p:spPr>
          <a:xfrm>
            <a:off x="10607040" y="3063240"/>
            <a:ext cx="6035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PaaS</a:t>
            </a:r>
            <a:endParaRPr lang="en-US" sz="1920" dirty="0"/>
          </a:p>
        </p:txBody>
      </p:sp>
      <p:pic>
        <p:nvPicPr>
          <p:cNvPr id="268" name="Image 17" descr="https://test.web.static.jianzeppt.com/ppt-temp-img3/846a9466286b6df3142467df48beeda2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456127"/>
            <a:ext cx="4785360" cy="15240"/>
          </a:xfrm>
          <a:prstGeom prst="rect">
            <a:avLst/>
          </a:prstGeom>
        </p:spPr>
      </p:pic>
      <p:sp>
        <p:nvSpPr>
          <p:cNvPr id="269" name="Text 18"/>
          <p:cNvSpPr/>
          <p:nvPr/>
        </p:nvSpPr>
        <p:spPr>
          <a:xfrm>
            <a:off x="6537960" y="3489960"/>
            <a:ext cx="24932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④ 腾讯云对象存储COS</a:t>
            </a:r>
            <a:endParaRPr lang="en-US" sz="1920" dirty="0"/>
          </a:p>
        </p:txBody>
      </p:sp>
      <p:pic>
        <p:nvPicPr>
          <p:cNvPr id="270" name="Image 18" descr="https://test.web.static.jianzeppt.com/ppt-temp-img3/f0c82fc09e6d798975ff64b50dfc1630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61320" y="3459480"/>
            <a:ext cx="777240" cy="426720"/>
          </a:xfrm>
          <a:prstGeom prst="rect">
            <a:avLst/>
          </a:prstGeom>
        </p:spPr>
      </p:pic>
      <p:sp>
        <p:nvSpPr>
          <p:cNvPr id="271" name="Text 19"/>
          <p:cNvSpPr/>
          <p:nvPr/>
        </p:nvSpPr>
        <p:spPr>
          <a:xfrm>
            <a:off x="10683240" y="3489960"/>
            <a:ext cx="5425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IaaS</a:t>
            </a:r>
            <a:endParaRPr lang="en-US" sz="1920" dirty="0"/>
          </a:p>
        </p:txBody>
      </p:sp>
      <p:pic>
        <p:nvPicPr>
          <p:cNvPr id="272" name="Image 19" descr="https://test.web.static.jianzeppt.com/ppt-temp-img3/846a9466286b6df3142467df48beeda2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876751"/>
            <a:ext cx="4785360" cy="15240"/>
          </a:xfrm>
          <a:prstGeom prst="rect">
            <a:avLst/>
          </a:prstGeom>
        </p:spPr>
      </p:pic>
      <p:sp>
        <p:nvSpPr>
          <p:cNvPr id="273" name="Text 20"/>
          <p:cNvSpPr/>
          <p:nvPr/>
        </p:nvSpPr>
        <p:spPr>
          <a:xfrm>
            <a:off x="6537960" y="3916680"/>
            <a:ext cx="12893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⑤ 企业邮箱</a:t>
            </a:r>
            <a:endParaRPr lang="en-US" sz="1920" dirty="0"/>
          </a:p>
        </p:txBody>
      </p:sp>
      <p:pic>
        <p:nvPicPr>
          <p:cNvPr id="274" name="Image 20" descr="https://test.web.static.jianzeppt.com/ppt-temp-img3/b14b9aa5acb64f69f4beb0737b407829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5120" y="3886200"/>
            <a:ext cx="838200" cy="426720"/>
          </a:xfrm>
          <a:prstGeom prst="rect">
            <a:avLst/>
          </a:prstGeom>
        </p:spPr>
      </p:pic>
      <p:sp>
        <p:nvSpPr>
          <p:cNvPr id="275" name="Text 21"/>
          <p:cNvSpPr/>
          <p:nvPr/>
        </p:nvSpPr>
        <p:spPr>
          <a:xfrm>
            <a:off x="10607040" y="3916680"/>
            <a:ext cx="6035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SaaS</a:t>
            </a:r>
            <a:endParaRPr lang="en-US" sz="1920" dirty="0"/>
          </a:p>
        </p:txBody>
      </p:sp>
      <p:pic>
        <p:nvPicPr>
          <p:cNvPr id="276" name="Image 21" descr="https://test.web.static.jianzeppt.com/ppt-temp-img3/846a9466286b6df3142467df48beeda2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4297223"/>
            <a:ext cx="4785360" cy="15240"/>
          </a:xfrm>
          <a:prstGeom prst="rect">
            <a:avLst/>
          </a:prstGeom>
        </p:spPr>
      </p:pic>
      <p:sp>
        <p:nvSpPr>
          <p:cNvPr id="277" name="Text 22"/>
          <p:cNvSpPr/>
          <p:nvPr/>
        </p:nvSpPr>
        <p:spPr>
          <a:xfrm>
            <a:off x="6537960" y="4328160"/>
            <a:ext cx="2980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⑥ 百度云BCC（云服务器）</a:t>
            </a:r>
            <a:endParaRPr lang="en-US" sz="1920" dirty="0"/>
          </a:p>
        </p:txBody>
      </p:sp>
      <p:pic>
        <p:nvPicPr>
          <p:cNvPr id="278" name="Image 22" descr="https://test.web.static.jianzeppt.com/ppt-temp-img3/f0c82fc09e6d798975ff64b50dfc1630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61320" y="4297680"/>
            <a:ext cx="777240" cy="426720"/>
          </a:xfrm>
          <a:prstGeom prst="rect">
            <a:avLst/>
          </a:prstGeom>
        </p:spPr>
      </p:pic>
      <p:sp>
        <p:nvSpPr>
          <p:cNvPr id="279" name="Text 23"/>
          <p:cNvSpPr/>
          <p:nvPr/>
        </p:nvSpPr>
        <p:spPr>
          <a:xfrm>
            <a:off x="10683240" y="4328160"/>
            <a:ext cx="5425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IaaS</a:t>
            </a:r>
            <a:endParaRPr lang="en-US" sz="1920" dirty="0"/>
          </a:p>
        </p:txBody>
      </p:sp>
      <p:pic>
        <p:nvPicPr>
          <p:cNvPr id="280" name="Image 23" descr="https://test.web.static.jianzeppt.com/ppt-temp-img3/846a9466286b6df3142467df48beeda2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4717694"/>
            <a:ext cx="4785360" cy="15240"/>
          </a:xfrm>
          <a:prstGeom prst="rect">
            <a:avLst/>
          </a:prstGeom>
        </p:spPr>
      </p:pic>
      <p:sp>
        <p:nvSpPr>
          <p:cNvPr id="281" name="Text 24"/>
          <p:cNvSpPr/>
          <p:nvPr/>
        </p:nvSpPr>
        <p:spPr>
          <a:xfrm>
            <a:off x="6537960" y="4754880"/>
            <a:ext cx="24627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⑦ Google App Engine</a:t>
            </a:r>
            <a:endParaRPr lang="en-US" sz="1920" dirty="0"/>
          </a:p>
        </p:txBody>
      </p:sp>
      <p:pic>
        <p:nvPicPr>
          <p:cNvPr id="282" name="Image 24" descr="https://test.web.static.jianzeppt.com/ppt-temp-img3/b14b9aa5acb64f69f4beb0737b407829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5120" y="4724400"/>
            <a:ext cx="838200" cy="426720"/>
          </a:xfrm>
          <a:prstGeom prst="rect">
            <a:avLst/>
          </a:prstGeom>
        </p:spPr>
      </p:pic>
      <p:sp>
        <p:nvSpPr>
          <p:cNvPr id="283" name="Text 25"/>
          <p:cNvSpPr/>
          <p:nvPr/>
        </p:nvSpPr>
        <p:spPr>
          <a:xfrm>
            <a:off x="10607040" y="4754880"/>
            <a:ext cx="6035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PaaS</a:t>
            </a:r>
            <a:endParaRPr lang="en-US" sz="1920" dirty="0"/>
          </a:p>
        </p:txBody>
      </p:sp>
      <p:pic>
        <p:nvPicPr>
          <p:cNvPr id="284" name="Image 25" descr="https://test.web.static.jianzeppt.com/ppt-temp-img3/846a9466286b6df3142467df48beeda2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5138471"/>
            <a:ext cx="4785360" cy="15240"/>
          </a:xfrm>
          <a:prstGeom prst="rect">
            <a:avLst/>
          </a:prstGeom>
        </p:spPr>
      </p:pic>
      <p:sp>
        <p:nvSpPr>
          <p:cNvPr id="285" name="Text 26"/>
          <p:cNvSpPr/>
          <p:nvPr/>
        </p:nvSpPr>
        <p:spPr>
          <a:xfrm>
            <a:off x="6537960" y="5166360"/>
            <a:ext cx="1487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⑧ Salesforce</a:t>
            </a:r>
            <a:endParaRPr lang="en-US" sz="1920" dirty="0"/>
          </a:p>
        </p:txBody>
      </p:sp>
      <p:pic>
        <p:nvPicPr>
          <p:cNvPr id="286" name="Image 26" descr="https://test.web.static.jianzeppt.com/ppt-temp-img3/b14b9aa5acb64f69f4beb0737b407829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5120" y="5135880"/>
            <a:ext cx="838200" cy="426720"/>
          </a:xfrm>
          <a:prstGeom prst="rect">
            <a:avLst/>
          </a:prstGeom>
        </p:spPr>
      </p:pic>
      <p:sp>
        <p:nvSpPr>
          <p:cNvPr id="287" name="Text 27"/>
          <p:cNvSpPr/>
          <p:nvPr/>
        </p:nvSpPr>
        <p:spPr>
          <a:xfrm>
            <a:off x="10607040" y="5166360"/>
            <a:ext cx="6035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SaaS</a:t>
            </a:r>
            <a:endParaRPr lang="en-US" sz="1920" dirty="0"/>
          </a:p>
        </p:txBody>
      </p:sp>
      <p:pic>
        <p:nvPicPr>
          <p:cNvPr id="288" name="Image 27" descr="https://test.web.static.jianzeppt.com/ppt-temp-img3/846a9466286b6df3142467df48beeda2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5559247"/>
            <a:ext cx="4785360" cy="15240"/>
          </a:xfrm>
          <a:prstGeom prst="rect">
            <a:avLst/>
          </a:prstGeom>
        </p:spPr>
      </p:pic>
      <p:sp>
        <p:nvSpPr>
          <p:cNvPr id="289" name="Text 28"/>
          <p:cNvSpPr/>
          <p:nvPr/>
        </p:nvSpPr>
        <p:spPr>
          <a:xfrm>
            <a:off x="6537960" y="5593080"/>
            <a:ext cx="1548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⑨ OpenStack</a:t>
            </a:r>
            <a:endParaRPr lang="en-US" sz="1920" dirty="0"/>
          </a:p>
        </p:txBody>
      </p:sp>
      <p:pic>
        <p:nvPicPr>
          <p:cNvPr id="290" name="Image 28" descr="https://test.web.static.jianzeppt.com/ppt-temp-img3/f0c82fc09e6d798975ff64b50dfc1630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61320" y="5562600"/>
            <a:ext cx="777240" cy="426720"/>
          </a:xfrm>
          <a:prstGeom prst="rect">
            <a:avLst/>
          </a:prstGeom>
        </p:spPr>
      </p:pic>
      <p:sp>
        <p:nvSpPr>
          <p:cNvPr id="291" name="Text 29"/>
          <p:cNvSpPr/>
          <p:nvPr/>
        </p:nvSpPr>
        <p:spPr>
          <a:xfrm>
            <a:off x="10683240" y="5593080"/>
            <a:ext cx="5425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IaaS</a:t>
            </a:r>
            <a:endParaRPr lang="en-US" sz="1920" dirty="0"/>
          </a:p>
        </p:txBody>
      </p:sp>
      <p:pic>
        <p:nvPicPr>
          <p:cNvPr id="292" name="Image 29" descr="https://test.web.static.jianzeppt.com/ppt-temp-img3/846a9466286b6df3142467df48beeda2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5980024"/>
            <a:ext cx="4785360" cy="15240"/>
          </a:xfrm>
          <a:prstGeom prst="rect">
            <a:avLst/>
          </a:prstGeom>
        </p:spPr>
      </p:pic>
      <p:sp>
        <p:nvSpPr>
          <p:cNvPr id="293" name="Text 30"/>
          <p:cNvSpPr/>
          <p:nvPr/>
        </p:nvSpPr>
        <p:spPr>
          <a:xfrm>
            <a:off x="6537960" y="6019800"/>
            <a:ext cx="19751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7878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⑩ 阿里云PolarDB</a:t>
            </a:r>
            <a:endParaRPr lang="en-US" sz="1920" dirty="0"/>
          </a:p>
        </p:txBody>
      </p:sp>
      <p:pic>
        <p:nvPicPr>
          <p:cNvPr id="294" name="Image 30" descr="https://test.web.static.jianzeppt.com/ppt-temp-img3/b14b9aa5acb64f69f4beb0737b407829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5120" y="5989320"/>
            <a:ext cx="838200" cy="426720"/>
          </a:xfrm>
          <a:prstGeom prst="rect">
            <a:avLst/>
          </a:prstGeom>
        </p:spPr>
      </p:pic>
      <p:sp>
        <p:nvSpPr>
          <p:cNvPr id="295" name="Text 31"/>
          <p:cNvSpPr/>
          <p:nvPr/>
        </p:nvSpPr>
        <p:spPr>
          <a:xfrm>
            <a:off x="10607040" y="6019800"/>
            <a:ext cx="6035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PaaS</a:t>
            </a:r>
            <a:endParaRPr lang="en-US" sz="1920" dirty="0"/>
          </a:p>
        </p:txBody>
      </p:sp>
      <p:pic>
        <p:nvPicPr>
          <p:cNvPr id="296" name="图片 3072"/>
          <p:cNvPicPr/>
          <p:nvPr/>
        </p:nvPicPr>
        <p:blipFill>
          <a:blip r:embed="rId13"/>
          <a:stretch>
            <a:fillRect/>
          </a:stretch>
        </p:blipFill>
        <p:spPr>
          <a:xfrm>
            <a:off x="10351770" y="550545"/>
            <a:ext cx="97155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2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9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00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301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责任共担模型——测评视角下的应用</a:t>
            </a:r>
            <a:endParaRPr lang="en-US" sz="2760" dirty="0"/>
          </a:p>
        </p:txBody>
      </p:sp>
      <p:sp>
        <p:nvSpPr>
          <p:cNvPr id="302" name="Text 1"/>
          <p:cNvSpPr/>
          <p:nvPr/>
        </p:nvSpPr>
        <p:spPr>
          <a:xfrm>
            <a:off x="609600" y="1371600"/>
            <a:ext cx="1098194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在等保测评中，首先要明确：哪些要求是云服务商的？哪些是云服务客户的？</a:t>
            </a:r>
            <a:endParaRPr lang="en-US" sz="2160" dirty="0"/>
          </a:p>
        </p:txBody>
      </p:sp>
      <p:graphicFrame>
        <p:nvGraphicFramePr>
          <p:cNvPr id="303" name="Table 0"/>
          <p:cNvGraphicFramePr>
            <a:graphicFrameLocks noGrp="1"/>
          </p:cNvGraphicFramePr>
          <p:nvPr/>
        </p:nvGraphicFramePr>
        <p:xfrm>
          <a:off x="609600" y="1996440"/>
          <a:ext cx="10972800" cy="4498340"/>
        </p:xfrm>
        <a:graphic>
          <a:graphicData uri="http://schemas.openxmlformats.org/drawingml/2006/table">
            <a:tbl>
              <a:tblPr/>
              <a:tblGrid>
                <a:gridCol w="2246630">
                  <a:extLst>
                    <a:ext uri="{9D8B030D-6E8A-4147-A177-3AD203B41FA5}">
                      <a16:colId val="1"/>
                    </a:ext>
                  </a:extLst>
                </a:gridCol>
                <a:gridCol w="2246630">
                  <a:extLst>
                    <a:ext uri="{9D8B030D-6E8A-4147-A177-3AD203B41FA5}">
                      <a16:colId val="2"/>
                    </a:ext>
                  </a:extLst>
                </a:gridCol>
                <a:gridCol w="647954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测评对象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责任方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核心内容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物理机房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基础设施位于中国境内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虚拟化平台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虚拟机之间隔离、资源隔离失效检测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虚拟网络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双方协作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VPC隔离、访问控制策略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客户虚拟机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云服务客户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操作系统安全配置、身份鉴别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客户数据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云服务客户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数据保密性、完整性、备份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客户应用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云服务客户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应用安全功能验证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3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9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20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321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思政融入——云安全关乎国家安全</a:t>
            </a:r>
            <a:endParaRPr lang="en-US" sz="2760" dirty="0"/>
          </a:p>
        </p:txBody>
      </p:sp>
      <p:pic>
        <p:nvPicPr>
          <p:cNvPr id="322" name="Image 3" descr="https://test.web.static.jianzeppt.com/ppt-temp-img3/cc03c4eae545eb67b6a67feeb5d53c7a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410200"/>
            <a:ext cx="10972800" cy="1082675"/>
          </a:xfrm>
          <a:prstGeom prst="rect">
            <a:avLst/>
          </a:prstGeom>
        </p:spPr>
      </p:pic>
      <p:sp>
        <p:nvSpPr>
          <p:cNvPr id="323" name="Text 1"/>
          <p:cNvSpPr/>
          <p:nvPr/>
        </p:nvSpPr>
        <p:spPr>
          <a:xfrm>
            <a:off x="929640" y="5730240"/>
            <a:ext cx="103418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40" b="1" kern="0" spc="88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云上安全，责任共担——边界可以模糊，责任不能模糊。</a:t>
            </a:r>
            <a:endParaRPr lang="en-US" sz="2640" dirty="0"/>
          </a:p>
        </p:txBody>
      </p:sp>
      <p:pic>
        <p:nvPicPr>
          <p:cNvPr id="324" name="Image 4" descr="https://test.web.static.jianzeppt.com/ppt-temp-img3/b8ee3820493af0aee6e5f737cd8404d3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615440"/>
            <a:ext cx="3413760" cy="3429000"/>
          </a:xfrm>
          <a:prstGeom prst="rect">
            <a:avLst/>
          </a:prstGeom>
        </p:spPr>
      </p:pic>
      <p:sp>
        <p:nvSpPr>
          <p:cNvPr id="325" name="Text 2"/>
          <p:cNvSpPr/>
          <p:nvPr/>
        </p:nvSpPr>
        <p:spPr>
          <a:xfrm>
            <a:off x="990600" y="2270760"/>
            <a:ext cx="266090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等保2.0要求“云计算基础设施位于中国境内”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326" name="Text 3"/>
          <p:cNvSpPr/>
          <p:nvPr/>
        </p:nvSpPr>
        <p:spPr>
          <a:xfrm>
            <a:off x="990600" y="3733800"/>
            <a:ext cx="266090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数据不出境，是国家网络空间主权的体现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3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478280" y="1325880"/>
            <a:ext cx="1691640" cy="74676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3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1767840" y="1554480"/>
            <a:ext cx="304800" cy="304800"/>
          </a:xfrm>
          <a:prstGeom prst="rect">
            <a:avLst/>
          </a:prstGeom>
        </p:spPr>
      </p:pic>
      <p:sp>
        <p:nvSpPr>
          <p:cNvPr id="329" name="Text 4"/>
          <p:cNvSpPr/>
          <p:nvPr/>
        </p:nvSpPr>
        <p:spPr>
          <a:xfrm>
            <a:off x="2194560" y="14478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主权</a:t>
            </a:r>
            <a:endParaRPr lang="en-US" sz="2640" dirty="0"/>
          </a:p>
        </p:txBody>
      </p:sp>
      <p:pic>
        <p:nvPicPr>
          <p:cNvPr id="330" name="Image 7" descr="https://test.web.static.jianzeppt.com/ppt-temp-img3/b8ee3820493af0aee6e5f737cd8404d3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1615440"/>
            <a:ext cx="3413760" cy="3429000"/>
          </a:xfrm>
          <a:prstGeom prst="rect">
            <a:avLst/>
          </a:prstGeom>
        </p:spPr>
      </p:pic>
      <p:sp>
        <p:nvSpPr>
          <p:cNvPr id="331" name="Text 5"/>
          <p:cNvSpPr/>
          <p:nvPr/>
        </p:nvSpPr>
        <p:spPr>
          <a:xfrm>
            <a:off x="4770120" y="2270760"/>
            <a:ext cx="266090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数据安全永远是客户的责任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332" name="Text 6"/>
          <p:cNvSpPr/>
          <p:nvPr/>
        </p:nvSpPr>
        <p:spPr>
          <a:xfrm>
            <a:off x="4770120" y="3291840"/>
            <a:ext cx="266090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不能因为“上云”就把安全责任推给服务商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3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257800" y="1325880"/>
            <a:ext cx="1691640" cy="74676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33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5547360" y="1554480"/>
            <a:ext cx="304800" cy="304800"/>
          </a:xfrm>
          <a:prstGeom prst="rect">
            <a:avLst/>
          </a:prstGeom>
        </p:spPr>
      </p:pic>
      <p:sp>
        <p:nvSpPr>
          <p:cNvPr id="335" name="Text 7"/>
          <p:cNvSpPr/>
          <p:nvPr/>
        </p:nvSpPr>
        <p:spPr>
          <a:xfrm>
            <a:off x="5974080" y="14478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责任</a:t>
            </a:r>
            <a:endParaRPr lang="en-US" sz="2640" dirty="0"/>
          </a:p>
        </p:txBody>
      </p:sp>
      <p:pic>
        <p:nvPicPr>
          <p:cNvPr id="336" name="Image 10" descr="https://test.web.static.jianzeppt.com/ppt-temp-img3/b8ee3820493af0aee6e5f737cd8404d3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8640" y="1615440"/>
            <a:ext cx="3413760" cy="3429000"/>
          </a:xfrm>
          <a:prstGeom prst="rect">
            <a:avLst/>
          </a:prstGeom>
        </p:spPr>
      </p:pic>
      <p:sp>
        <p:nvSpPr>
          <p:cNvPr id="337" name="Text 8"/>
          <p:cNvSpPr/>
          <p:nvPr/>
        </p:nvSpPr>
        <p:spPr>
          <a:xfrm>
            <a:off x="8549640" y="2270760"/>
            <a:ext cx="2660904" cy="923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《网络安全法》明确规定国家实行网络安全等级保护制度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8549640" y="3733800"/>
            <a:ext cx="266090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云上系统同样需要等保测评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3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9037320" y="1325880"/>
            <a:ext cx="1691640" cy="74676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340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9326880" y="1554480"/>
            <a:ext cx="304800" cy="304800"/>
          </a:xfrm>
          <a:prstGeom prst="rect">
            <a:avLst/>
          </a:prstGeom>
        </p:spPr>
      </p:pic>
      <p:sp>
        <p:nvSpPr>
          <p:cNvPr id="341" name="Text 10"/>
          <p:cNvSpPr/>
          <p:nvPr/>
        </p:nvSpPr>
        <p:spPr>
          <a:xfrm>
            <a:off x="9753600" y="14478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合规</a:t>
            </a:r>
            <a:endParaRPr lang="en-US" sz="2640" dirty="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3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4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45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346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知识点回顾（5分钟）</a:t>
            </a:r>
            <a:endParaRPr lang="en-US" sz="2760" dirty="0"/>
          </a:p>
        </p:txBody>
      </p:sp>
      <p:pic>
        <p:nvPicPr>
          <p:cNvPr id="347" name="Image 3" descr="https://test.web.static.jianzeppt.com/ppt-temp-img3/5d72b7a95d37b570d96b4200db54a9bf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524000"/>
            <a:ext cx="10972800" cy="4876800"/>
          </a:xfrm>
          <a:prstGeom prst="rect">
            <a:avLst/>
          </a:prstGeom>
        </p:spPr>
      </p:pic>
      <p:pic>
        <p:nvPicPr>
          <p:cNvPr id="34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762000" y="3246120"/>
            <a:ext cx="2133600" cy="1447800"/>
          </a:xfrm>
          <a:prstGeom prst="rect">
            <a:avLst/>
          </a:prstGeom>
          <a:effectLst>
            <a:outerShdw blurRad="-2147483648" dist="1935480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349" name="Text 1"/>
          <p:cNvSpPr/>
          <p:nvPr/>
        </p:nvSpPr>
        <p:spPr>
          <a:xfrm>
            <a:off x="1021080" y="3489960"/>
            <a:ext cx="1624584" cy="9253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云平台</a:t>
            </a: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架构认知</a:t>
            </a:r>
            <a:endParaRPr lang="en-US" sz="2640" dirty="0"/>
          </a:p>
        </p:txBody>
      </p:sp>
      <p:pic>
        <p:nvPicPr>
          <p:cNvPr id="350" name="Image 5" descr="https://test.web.static.jianzeppt.com/ppt-temp-img3/3f6a4da848342ae265e49efa05ed00fc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140" y="1153160"/>
            <a:ext cx="6096000" cy="792480"/>
          </a:xfrm>
          <a:prstGeom prst="rect">
            <a:avLst/>
          </a:prstGeom>
        </p:spPr>
      </p:pic>
      <p:pic>
        <p:nvPicPr>
          <p:cNvPr id="35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5382260" y="1336040"/>
            <a:ext cx="426720" cy="426720"/>
          </a:xfrm>
          <a:prstGeom prst="rect">
            <a:avLst/>
          </a:prstGeom>
        </p:spPr>
      </p:pic>
      <p:sp>
        <p:nvSpPr>
          <p:cNvPr id="352" name="Text 2"/>
          <p:cNvSpPr/>
          <p:nvPr/>
        </p:nvSpPr>
        <p:spPr>
          <a:xfrm>
            <a:off x="5534660" y="13970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353" name="Text 3"/>
          <p:cNvSpPr/>
          <p:nvPr/>
        </p:nvSpPr>
        <p:spPr>
          <a:xfrm>
            <a:off x="5991860" y="1366520"/>
            <a:ext cx="173126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云计算基本概念</a:t>
            </a:r>
            <a:endParaRPr lang="en-US" sz="1920" dirty="0"/>
          </a:p>
        </p:txBody>
      </p:sp>
      <p:sp>
        <p:nvSpPr>
          <p:cNvPr id="354" name="Text 4"/>
          <p:cNvSpPr/>
          <p:nvPr/>
        </p:nvSpPr>
        <p:spPr>
          <a:xfrm>
            <a:off x="7759700" y="1412240"/>
            <a:ext cx="24018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（定义NIST、五大特征）</a:t>
            </a:r>
            <a:endParaRPr lang="en-US" sz="1680" dirty="0"/>
          </a:p>
        </p:txBody>
      </p:sp>
      <p:pic>
        <p:nvPicPr>
          <p:cNvPr id="355" name="Image 7" descr="https://test.web.static.jianzeppt.com/ppt-temp-img3/3f6a4da848342ae265e49efa05ed00fc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140" y="2143760"/>
            <a:ext cx="6096000" cy="792480"/>
          </a:xfrm>
          <a:prstGeom prst="rect">
            <a:avLst/>
          </a:prstGeom>
        </p:spPr>
      </p:pic>
      <p:pic>
        <p:nvPicPr>
          <p:cNvPr id="35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5382260" y="2326640"/>
            <a:ext cx="426720" cy="426720"/>
          </a:xfrm>
          <a:prstGeom prst="rect">
            <a:avLst/>
          </a:prstGeom>
        </p:spPr>
      </p:pic>
      <p:sp>
        <p:nvSpPr>
          <p:cNvPr id="357" name="Text 5"/>
          <p:cNvSpPr/>
          <p:nvPr/>
        </p:nvSpPr>
        <p:spPr>
          <a:xfrm>
            <a:off x="5534660" y="23876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358" name="Text 6"/>
          <p:cNvSpPr/>
          <p:nvPr/>
        </p:nvSpPr>
        <p:spPr>
          <a:xfrm>
            <a:off x="5991860" y="2357120"/>
            <a:ext cx="14874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三种服务模式</a:t>
            </a:r>
            <a:endParaRPr lang="en-US" sz="1920" dirty="0"/>
          </a:p>
        </p:txBody>
      </p:sp>
      <p:sp>
        <p:nvSpPr>
          <p:cNvPr id="359" name="Text 7"/>
          <p:cNvSpPr/>
          <p:nvPr/>
        </p:nvSpPr>
        <p:spPr>
          <a:xfrm>
            <a:off x="7515860" y="2402840"/>
            <a:ext cx="2279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（IaaS、PaaS、SaaS）</a:t>
            </a:r>
            <a:endParaRPr lang="en-US" sz="1680" dirty="0"/>
          </a:p>
        </p:txBody>
      </p:sp>
      <p:pic>
        <p:nvPicPr>
          <p:cNvPr id="360" name="Image 9" descr="https://test.web.static.jianzeppt.com/ppt-temp-img3/3f6a4da848342ae265e49efa05ed00fc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140" y="3134360"/>
            <a:ext cx="6096000" cy="792480"/>
          </a:xfrm>
          <a:prstGeom prst="rect">
            <a:avLst/>
          </a:prstGeom>
        </p:spPr>
      </p:pic>
      <p:pic>
        <p:nvPicPr>
          <p:cNvPr id="36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5382260" y="3317240"/>
            <a:ext cx="426720" cy="426720"/>
          </a:xfrm>
          <a:prstGeom prst="rect">
            <a:avLst/>
          </a:prstGeom>
        </p:spPr>
      </p:pic>
      <p:sp>
        <p:nvSpPr>
          <p:cNvPr id="362" name="Text 8"/>
          <p:cNvSpPr/>
          <p:nvPr/>
        </p:nvSpPr>
        <p:spPr>
          <a:xfrm>
            <a:off x="5534660" y="33782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680" dirty="0"/>
          </a:p>
        </p:txBody>
      </p:sp>
      <p:sp>
        <p:nvSpPr>
          <p:cNvPr id="363" name="Text 9"/>
          <p:cNvSpPr/>
          <p:nvPr/>
        </p:nvSpPr>
        <p:spPr>
          <a:xfrm>
            <a:off x="5991860" y="3347720"/>
            <a:ext cx="99974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部署模式</a:t>
            </a:r>
            <a:endParaRPr lang="en-US" sz="1920" dirty="0"/>
          </a:p>
        </p:txBody>
      </p:sp>
      <p:sp>
        <p:nvSpPr>
          <p:cNvPr id="364" name="Text 10"/>
          <p:cNvSpPr/>
          <p:nvPr/>
        </p:nvSpPr>
        <p:spPr>
          <a:xfrm>
            <a:off x="7028180" y="3393440"/>
            <a:ext cx="3255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（公/私/社区/混合云、等保位置）</a:t>
            </a:r>
            <a:endParaRPr lang="en-US" sz="1680" dirty="0"/>
          </a:p>
        </p:txBody>
      </p:sp>
      <p:pic>
        <p:nvPicPr>
          <p:cNvPr id="365" name="Image 11" descr="https://test.web.static.jianzeppt.com/ppt-temp-img3/3f6a4da848342ae265e49efa05ed00fc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140" y="4124960"/>
            <a:ext cx="6096000" cy="792480"/>
          </a:xfrm>
          <a:prstGeom prst="rect">
            <a:avLst/>
          </a:prstGeom>
        </p:spPr>
      </p:pic>
      <p:pic>
        <p:nvPicPr>
          <p:cNvPr id="366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5382260" y="4307840"/>
            <a:ext cx="426720" cy="426720"/>
          </a:xfrm>
          <a:prstGeom prst="rect">
            <a:avLst/>
          </a:prstGeom>
        </p:spPr>
      </p:pic>
      <p:sp>
        <p:nvSpPr>
          <p:cNvPr id="367" name="Text 11"/>
          <p:cNvSpPr/>
          <p:nvPr/>
        </p:nvSpPr>
        <p:spPr>
          <a:xfrm>
            <a:off x="5534660" y="43688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680" dirty="0"/>
          </a:p>
        </p:txBody>
      </p:sp>
      <p:sp>
        <p:nvSpPr>
          <p:cNvPr id="368" name="Text 12"/>
          <p:cNvSpPr/>
          <p:nvPr/>
        </p:nvSpPr>
        <p:spPr>
          <a:xfrm>
            <a:off x="5991860" y="4338320"/>
            <a:ext cx="14874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安全责任共担</a:t>
            </a:r>
            <a:endParaRPr lang="en-US" sz="1920" dirty="0"/>
          </a:p>
        </p:txBody>
      </p:sp>
      <p:sp>
        <p:nvSpPr>
          <p:cNvPr id="369" name="Text 13"/>
          <p:cNvSpPr/>
          <p:nvPr/>
        </p:nvSpPr>
        <p:spPr>
          <a:xfrm>
            <a:off x="7515860" y="4384040"/>
            <a:ext cx="3209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（云商负责硬件，客户负责数据）</a:t>
            </a:r>
            <a:endParaRPr lang="en-US" sz="1680" dirty="0"/>
          </a:p>
        </p:txBody>
      </p:sp>
      <p:pic>
        <p:nvPicPr>
          <p:cNvPr id="370" name="Image 13" descr="https://test.web.static.jianzeppt.com/ppt-temp-img3/3f6a4da848342ae265e49efa05ed00fc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140" y="5115560"/>
            <a:ext cx="6096000" cy="792480"/>
          </a:xfrm>
          <a:prstGeom prst="rect">
            <a:avLst/>
          </a:prstGeom>
        </p:spPr>
      </p:pic>
      <p:pic>
        <p:nvPicPr>
          <p:cNvPr id="371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5382260" y="5298440"/>
            <a:ext cx="426720" cy="426720"/>
          </a:xfrm>
          <a:prstGeom prst="rect">
            <a:avLst/>
          </a:prstGeom>
        </p:spPr>
      </p:pic>
      <p:sp>
        <p:nvSpPr>
          <p:cNvPr id="372" name="Text 14"/>
          <p:cNvSpPr/>
          <p:nvPr/>
        </p:nvSpPr>
        <p:spPr>
          <a:xfrm>
            <a:off x="5534660" y="53594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680" dirty="0"/>
          </a:p>
        </p:txBody>
      </p:sp>
      <p:sp>
        <p:nvSpPr>
          <p:cNvPr id="373" name="Text 15"/>
          <p:cNvSpPr/>
          <p:nvPr/>
        </p:nvSpPr>
        <p:spPr>
          <a:xfrm>
            <a:off x="5991860" y="5328920"/>
            <a:ext cx="173126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云安全扩展要求</a:t>
            </a:r>
            <a:endParaRPr lang="en-US" sz="1920" dirty="0"/>
          </a:p>
        </p:txBody>
      </p:sp>
      <p:sp>
        <p:nvSpPr>
          <p:cNvPr id="374" name="Text 16"/>
          <p:cNvSpPr/>
          <p:nvPr/>
        </p:nvSpPr>
        <p:spPr>
          <a:xfrm>
            <a:off x="7759700" y="5374640"/>
            <a:ext cx="30876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（等保2.0位置、十个安全维度）</a:t>
            </a:r>
            <a:endParaRPr lang="en-US" sz="1680" dirty="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3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7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78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379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课后作业</a:t>
            </a:r>
            <a:endParaRPr lang="en-US" sz="2760" dirty="0"/>
          </a:p>
        </p:txBody>
      </p:sp>
      <p:pic>
        <p:nvPicPr>
          <p:cNvPr id="380" name="Image 3" descr="https://test.web.static.jianzeppt.com/ppt-temp-img3/8a23ca1a77fad82fc743d9e5e136340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493520"/>
            <a:ext cx="9753600" cy="1005840"/>
          </a:xfrm>
          <a:prstGeom prst="rect">
            <a:avLst/>
          </a:prstGeom>
        </p:spPr>
      </p:pic>
      <p:pic>
        <p:nvPicPr>
          <p:cNvPr id="38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1478280" y="1752600"/>
            <a:ext cx="914400" cy="487680"/>
          </a:xfrm>
          <a:prstGeom prst="rect">
            <a:avLst/>
          </a:prstGeom>
        </p:spPr>
      </p:pic>
      <p:sp>
        <p:nvSpPr>
          <p:cNvPr id="382" name="Text 1"/>
          <p:cNvSpPr/>
          <p:nvPr/>
        </p:nvSpPr>
        <p:spPr>
          <a:xfrm>
            <a:off x="1691640" y="181356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1920" dirty="0"/>
          </a:p>
        </p:txBody>
      </p:sp>
      <p:sp>
        <p:nvSpPr>
          <p:cNvPr id="383" name="Text 2"/>
          <p:cNvSpPr/>
          <p:nvPr/>
        </p:nvSpPr>
        <p:spPr>
          <a:xfrm>
            <a:off x="2636520" y="1783080"/>
            <a:ext cx="11109960" cy="6583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完成《云平台架构认知记录表》（登录 CloudLab 实验平台对照填写），提交至学习通平台</a:t>
            </a: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384" name="Image 5" descr="https://test.web.static.jianzeppt.com/ppt-temp-img3/8a23ca1a77fad82fc743d9e5e136340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2804160"/>
            <a:ext cx="9753600" cy="1005840"/>
          </a:xfrm>
          <a:prstGeom prst="rect">
            <a:avLst/>
          </a:prstGeom>
        </p:spPr>
      </p:pic>
      <p:pic>
        <p:nvPicPr>
          <p:cNvPr id="38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1478280" y="3063240"/>
            <a:ext cx="914400" cy="487680"/>
          </a:xfrm>
          <a:prstGeom prst="rect">
            <a:avLst/>
          </a:prstGeom>
        </p:spPr>
      </p:pic>
      <p:sp>
        <p:nvSpPr>
          <p:cNvPr id="386" name="Text 3"/>
          <p:cNvSpPr/>
          <p:nvPr/>
        </p:nvSpPr>
        <p:spPr>
          <a:xfrm>
            <a:off x="1691640" y="312420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1920" dirty="0"/>
          </a:p>
        </p:txBody>
      </p:sp>
      <p:sp>
        <p:nvSpPr>
          <p:cNvPr id="387" name="Text 4"/>
          <p:cNvSpPr/>
          <p:nvPr/>
        </p:nvSpPr>
        <p:spPr>
          <a:xfrm>
            <a:off x="2636520" y="3093720"/>
            <a:ext cx="808634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完成活动7.1.1在线测试（选择题+判断题，共15题）</a:t>
            </a:r>
            <a:endParaRPr lang="en-US" sz="2160" dirty="0"/>
          </a:p>
        </p:txBody>
      </p:sp>
      <p:pic>
        <p:nvPicPr>
          <p:cNvPr id="388" name="Image 7" descr="https://test.web.static.jianzeppt.com/ppt-temp-img3/8a23ca1a77fad82fc743d9e5e136340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4114800"/>
            <a:ext cx="9753600" cy="1005840"/>
          </a:xfrm>
          <a:prstGeom prst="rect">
            <a:avLst/>
          </a:prstGeom>
        </p:spPr>
      </p:pic>
      <p:pic>
        <p:nvPicPr>
          <p:cNvPr id="389" name="Image 8" descr="https://test.web.static.jianzeppt.com/ppt-temp-img3/3f39504e8a71f123c23a65c69a1ab157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8280" y="4373880"/>
            <a:ext cx="914400" cy="487680"/>
          </a:xfrm>
          <a:prstGeom prst="rect">
            <a:avLst/>
          </a:prstGeom>
        </p:spPr>
      </p:pic>
      <p:sp>
        <p:nvSpPr>
          <p:cNvPr id="390" name="Text 5"/>
          <p:cNvSpPr/>
          <p:nvPr/>
        </p:nvSpPr>
        <p:spPr>
          <a:xfrm>
            <a:off x="1691640" y="443484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选做</a:t>
            </a:r>
            <a:endParaRPr lang="en-US" sz="1920" dirty="0"/>
          </a:p>
        </p:txBody>
      </p:sp>
      <p:sp>
        <p:nvSpPr>
          <p:cNvPr id="391" name="Text 6"/>
          <p:cNvSpPr/>
          <p:nvPr/>
        </p:nvSpPr>
        <p:spPr>
          <a:xfrm>
            <a:off x="2636520" y="4404360"/>
            <a:ext cx="808634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绘制一张云安全责任共担模型示意图</a:t>
            </a:r>
            <a:endParaRPr lang="en-US" sz="2160" dirty="0"/>
          </a:p>
        </p:txBody>
      </p:sp>
      <p:pic>
        <p:nvPicPr>
          <p:cNvPr id="392" name="Image 9" descr="https://test.web.static.jianzeppt.com/ppt-temp-img3/8a23ca1a77fad82fc743d9e5e136340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5425440"/>
            <a:ext cx="9753600" cy="1005840"/>
          </a:xfrm>
          <a:prstGeom prst="rect">
            <a:avLst/>
          </a:prstGeom>
        </p:spPr>
      </p:pic>
      <p:pic>
        <p:nvPicPr>
          <p:cNvPr id="393" name="Image 10" descr="https://test.web.static.jianzeppt.com/ppt-temp-img3/47a334e83a7a0073f9d704ced8b5781c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8280" y="5684520"/>
            <a:ext cx="914400" cy="487680"/>
          </a:xfrm>
          <a:prstGeom prst="rect">
            <a:avLst/>
          </a:prstGeom>
        </p:spPr>
      </p:pic>
      <p:sp>
        <p:nvSpPr>
          <p:cNvPr id="394" name="Text 7"/>
          <p:cNvSpPr/>
          <p:nvPr/>
        </p:nvSpPr>
        <p:spPr>
          <a:xfrm>
            <a:off x="1691640" y="574548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预习</a:t>
            </a:r>
            <a:endParaRPr lang="en-US" sz="1920" dirty="0"/>
          </a:p>
        </p:txBody>
      </p:sp>
      <p:sp>
        <p:nvSpPr>
          <p:cNvPr id="395" name="Text 8"/>
          <p:cNvSpPr/>
          <p:nvPr/>
        </p:nvSpPr>
        <p:spPr>
          <a:xfrm>
            <a:off x="2636520" y="5715000"/>
            <a:ext cx="808634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预习7.1.2“云安全配置核查”相关内容</a:t>
            </a:r>
            <a:endParaRPr lang="en-US" sz="2160" dirty="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3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98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99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00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下节课预告</a:t>
            </a:r>
            <a:endParaRPr lang="en-US" sz="2760" dirty="0"/>
          </a:p>
        </p:txBody>
      </p:sp>
      <p:pic>
        <p:nvPicPr>
          <p:cNvPr id="401" name="Image 3" descr="https://test.web.static.jianzeppt.com/ppt-temp-img3/ea10eb0207a6399262d3426b4aea0135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71600"/>
            <a:ext cx="5303520" cy="5181600"/>
          </a:xfrm>
          <a:prstGeom prst="rect">
            <a:avLst/>
          </a:prstGeom>
        </p:spPr>
      </p:pic>
      <p:sp>
        <p:nvSpPr>
          <p:cNvPr id="402" name="Text 1"/>
          <p:cNvSpPr/>
          <p:nvPr/>
        </p:nvSpPr>
        <p:spPr>
          <a:xfrm>
            <a:off x="990600" y="1752600"/>
            <a:ext cx="32552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7.1.2 云安全配置核查</a:t>
            </a:r>
            <a:endParaRPr lang="en-US" sz="2640" dirty="0"/>
          </a:p>
        </p:txBody>
      </p:sp>
      <p:pic>
        <p:nvPicPr>
          <p:cNvPr id="40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990600" y="2865120"/>
            <a:ext cx="60960" cy="243840"/>
          </a:xfrm>
          <a:prstGeom prst="rect">
            <a:avLst/>
          </a:prstGeom>
        </p:spPr>
      </p:pic>
      <p:sp>
        <p:nvSpPr>
          <p:cNvPr id="404" name="Text 2"/>
          <p:cNvSpPr/>
          <p:nvPr/>
        </p:nvSpPr>
        <p:spPr>
          <a:xfrm>
            <a:off x="1173480" y="2758440"/>
            <a:ext cx="12283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预告内容</a:t>
            </a:r>
            <a:endParaRPr lang="en-US" sz="2400" dirty="0"/>
          </a:p>
        </p:txBody>
      </p:sp>
      <p:pic>
        <p:nvPicPr>
          <p:cNvPr id="40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173480" y="3581400"/>
            <a:ext cx="91440" cy="91440"/>
          </a:xfrm>
          <a:prstGeom prst="rect">
            <a:avLst/>
          </a:prstGeom>
        </p:spPr>
      </p:pic>
      <p:sp>
        <p:nvSpPr>
          <p:cNvPr id="406" name="Text 3"/>
          <p:cNvSpPr/>
          <p:nvPr/>
        </p:nvSpPr>
        <p:spPr>
          <a:xfrm>
            <a:off x="1447800" y="3459480"/>
            <a:ext cx="3575304" cy="4388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云计算安全扩展要求测评指标</a:t>
            </a:r>
            <a:endParaRPr lang="en-US" sz="2160" dirty="0"/>
          </a:p>
        </p:txBody>
      </p:sp>
      <p:pic>
        <p:nvPicPr>
          <p:cNvPr id="40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173480" y="4267200"/>
            <a:ext cx="91440" cy="91440"/>
          </a:xfrm>
          <a:prstGeom prst="rect">
            <a:avLst/>
          </a:prstGeom>
        </p:spPr>
      </p:pic>
      <p:sp>
        <p:nvSpPr>
          <p:cNvPr id="408" name="Text 4"/>
          <p:cNvSpPr/>
          <p:nvPr/>
        </p:nvSpPr>
        <p:spPr>
          <a:xfrm>
            <a:off x="1447800" y="4145280"/>
            <a:ext cx="3026664" cy="4388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云平台安全配置核查方法</a:t>
            </a:r>
            <a:endParaRPr lang="en-US" sz="2160" dirty="0"/>
          </a:p>
        </p:txBody>
      </p:sp>
      <p:pic>
        <p:nvPicPr>
          <p:cNvPr id="40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173480" y="4953000"/>
            <a:ext cx="91440" cy="91440"/>
          </a:xfrm>
          <a:prstGeom prst="rect">
            <a:avLst/>
          </a:prstGeom>
        </p:spPr>
      </p:pic>
      <p:sp>
        <p:nvSpPr>
          <p:cNvPr id="410" name="Text 5"/>
          <p:cNvSpPr/>
          <p:nvPr/>
        </p:nvSpPr>
        <p:spPr>
          <a:xfrm>
            <a:off x="1447800" y="4831080"/>
            <a:ext cx="3849624" cy="4388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《云计算安全测评记录表》填写</a:t>
            </a:r>
            <a:endParaRPr lang="en-US" sz="2160" dirty="0"/>
          </a:p>
        </p:txBody>
      </p:sp>
      <p:pic>
        <p:nvPicPr>
          <p:cNvPr id="411" name="Image 8" descr="https://test.web.static.jianzeppt.com/ppt-temp-img3/ea10eb0207a6399262d3426b4aea0135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880" y="1371600"/>
            <a:ext cx="5303520" cy="5181600"/>
          </a:xfrm>
          <a:prstGeom prst="rect">
            <a:avLst/>
          </a:prstGeom>
        </p:spPr>
      </p:pic>
      <p:pic>
        <p:nvPicPr>
          <p:cNvPr id="41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6659880" y="1920240"/>
            <a:ext cx="426720" cy="426720"/>
          </a:xfrm>
          <a:prstGeom prst="rect">
            <a:avLst/>
          </a:prstGeom>
        </p:spPr>
      </p:pic>
      <p:sp>
        <p:nvSpPr>
          <p:cNvPr id="413" name="Text 6"/>
          <p:cNvSpPr/>
          <p:nvPr/>
        </p:nvSpPr>
        <p:spPr>
          <a:xfrm>
            <a:off x="7269480" y="1874520"/>
            <a:ext cx="13655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课前准备</a:t>
            </a:r>
            <a:endParaRPr lang="en-US" sz="2640" dirty="0"/>
          </a:p>
        </p:txBody>
      </p:sp>
      <p:pic>
        <p:nvPicPr>
          <p:cNvPr id="414" name="Image 10" descr="https://test.web.static.jianzeppt.com/ppt-temp-img3/7684efd47f9bd97ea76d0f54b0aa63fd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2760" y="2941320"/>
            <a:ext cx="4358640" cy="1402080"/>
          </a:xfrm>
          <a:prstGeom prst="rect">
            <a:avLst/>
          </a:prstGeom>
        </p:spPr>
      </p:pic>
      <p:pic>
        <p:nvPicPr>
          <p:cNvPr id="415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>
            <a:off x="7101840" y="3200400"/>
            <a:ext cx="426720" cy="426720"/>
          </a:xfrm>
          <a:prstGeom prst="rect">
            <a:avLst/>
          </a:prstGeom>
        </p:spPr>
      </p:pic>
      <p:sp>
        <p:nvSpPr>
          <p:cNvPr id="416" name="Text 7"/>
          <p:cNvSpPr/>
          <p:nvPr/>
        </p:nvSpPr>
        <p:spPr>
          <a:xfrm>
            <a:off x="7254240" y="32613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417" name="Text 8"/>
          <p:cNvSpPr/>
          <p:nvPr/>
        </p:nvSpPr>
        <p:spPr>
          <a:xfrm>
            <a:off x="7772400" y="3200400"/>
            <a:ext cx="3179064" cy="87772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复习GB/T 22239云计算扩展要求</a:t>
            </a:r>
            <a:endParaRPr lang="en-US" sz="2160" dirty="0"/>
          </a:p>
        </p:txBody>
      </p:sp>
      <p:pic>
        <p:nvPicPr>
          <p:cNvPr id="418" name="Image 12" descr="https://test.web.static.jianzeppt.com/ppt-temp-img3/7684efd47f9bd97ea76d0f54b0aa63fd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2760" y="4648200"/>
            <a:ext cx="4358640" cy="1402080"/>
          </a:xfrm>
          <a:prstGeom prst="rect">
            <a:avLst/>
          </a:prstGeom>
        </p:spPr>
      </p:pic>
      <p:pic>
        <p:nvPicPr>
          <p:cNvPr id="41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>
            <a:off x="7101840" y="4907280"/>
            <a:ext cx="426720" cy="426720"/>
          </a:xfrm>
          <a:prstGeom prst="rect">
            <a:avLst/>
          </a:prstGeom>
        </p:spPr>
      </p:pic>
      <p:sp>
        <p:nvSpPr>
          <p:cNvPr id="420" name="Text 9"/>
          <p:cNvSpPr/>
          <p:nvPr/>
        </p:nvSpPr>
        <p:spPr>
          <a:xfrm>
            <a:off x="7254240" y="496824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421" name="Text 10"/>
          <p:cNvSpPr/>
          <p:nvPr/>
        </p:nvSpPr>
        <p:spPr>
          <a:xfrm>
            <a:off x="7772400" y="4907280"/>
            <a:ext cx="3179064" cy="87772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了解云平台安全组/防火墙配置</a:t>
            </a:r>
            <a:endParaRPr lang="en-US" sz="2160" dirty="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4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24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25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26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课堂小结与答疑</a:t>
            </a:r>
            <a:endParaRPr lang="en-US" sz="2760" dirty="0"/>
          </a:p>
        </p:txBody>
      </p:sp>
      <p:pic>
        <p:nvPicPr>
          <p:cNvPr id="427" name="Image 3" descr="https://test.web.static.jianzeppt.com/ppt-temp-img3/c3eb93c25b8988d216147458402d1fd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60475"/>
            <a:ext cx="3413760" cy="5181600"/>
          </a:xfrm>
          <a:prstGeom prst="rect">
            <a:avLst/>
          </a:prstGeom>
        </p:spPr>
      </p:pic>
      <p:sp>
        <p:nvSpPr>
          <p:cNvPr id="428" name="Text 1"/>
          <p:cNvSpPr/>
          <p:nvPr/>
        </p:nvSpPr>
        <p:spPr>
          <a:xfrm>
            <a:off x="2072640" y="1580515"/>
            <a:ext cx="519684" cy="853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2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6720" dirty="0"/>
          </a:p>
        </p:txBody>
      </p:sp>
      <p:sp>
        <p:nvSpPr>
          <p:cNvPr id="429" name="Text 2"/>
          <p:cNvSpPr/>
          <p:nvPr/>
        </p:nvSpPr>
        <p:spPr>
          <a:xfrm>
            <a:off x="1478280" y="2418715"/>
            <a:ext cx="170078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核心知识点</a:t>
            </a:r>
            <a:endParaRPr lang="en-US" sz="2640" dirty="0"/>
          </a:p>
        </p:txBody>
      </p:sp>
      <p:sp>
        <p:nvSpPr>
          <p:cNvPr id="430" name="Text 3"/>
          <p:cNvSpPr/>
          <p:nvPr/>
        </p:nvSpPr>
        <p:spPr>
          <a:xfrm>
            <a:off x="929640" y="3211195"/>
            <a:ext cx="283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</a:t>
            </a:r>
            <a:endParaRPr lang="en-US" sz="2160" dirty="0"/>
          </a:p>
        </p:txBody>
      </p:sp>
      <p:sp>
        <p:nvSpPr>
          <p:cNvPr id="431" name="Text 4"/>
          <p:cNvSpPr/>
          <p:nvPr/>
        </p:nvSpPr>
        <p:spPr>
          <a:xfrm>
            <a:off x="1325880" y="3241675"/>
            <a:ext cx="2386584" cy="10134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云计算的三种服务模式（IaaS/PaaS/SaaS）</a:t>
            </a:r>
            <a:endParaRPr lang="en-US" sz="1920" dirty="0"/>
          </a:p>
        </p:txBody>
      </p:sp>
      <p:sp>
        <p:nvSpPr>
          <p:cNvPr id="432" name="Text 5"/>
          <p:cNvSpPr/>
          <p:nvPr/>
        </p:nvSpPr>
        <p:spPr>
          <a:xfrm>
            <a:off x="929640" y="4232275"/>
            <a:ext cx="283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</a:t>
            </a:r>
            <a:endParaRPr lang="en-US" sz="2160" dirty="0"/>
          </a:p>
        </p:txBody>
      </p:sp>
      <p:sp>
        <p:nvSpPr>
          <p:cNvPr id="433" name="Text 6"/>
          <p:cNvSpPr/>
          <p:nvPr/>
        </p:nvSpPr>
        <p:spPr>
          <a:xfrm>
            <a:off x="1325880" y="4262755"/>
            <a:ext cx="2386584" cy="10134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安全责任共担模型——数据安全永远是客户的责任</a:t>
            </a:r>
            <a:endParaRPr lang="en-US" sz="1920" dirty="0"/>
          </a:p>
        </p:txBody>
      </p:sp>
      <p:sp>
        <p:nvSpPr>
          <p:cNvPr id="434" name="Text 7"/>
          <p:cNvSpPr/>
          <p:nvPr/>
        </p:nvSpPr>
        <p:spPr>
          <a:xfrm>
            <a:off x="929640" y="5268595"/>
            <a:ext cx="283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③</a:t>
            </a:r>
            <a:endParaRPr lang="en-US" sz="2160" dirty="0"/>
          </a:p>
        </p:txBody>
      </p:sp>
      <p:sp>
        <p:nvSpPr>
          <p:cNvPr id="435" name="Text 8"/>
          <p:cNvSpPr/>
          <p:nvPr/>
        </p:nvSpPr>
        <p:spPr>
          <a:xfrm>
            <a:off x="1325880" y="5299075"/>
            <a:ext cx="2386584" cy="10134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云计算安全扩展要求是等保2.0的重要组成部分</a:t>
            </a:r>
            <a:endParaRPr lang="en-US" sz="1920" dirty="0"/>
          </a:p>
        </p:txBody>
      </p:sp>
      <p:pic>
        <p:nvPicPr>
          <p:cNvPr id="436" name="Image 4" descr="https://test.web.static.jianzeppt.com/ppt-temp-img3/c3eb93c25b8988d216147458402d1fd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260475"/>
            <a:ext cx="3413760" cy="5181600"/>
          </a:xfrm>
          <a:prstGeom prst="rect">
            <a:avLst/>
          </a:prstGeom>
        </p:spPr>
      </p:pic>
      <p:sp>
        <p:nvSpPr>
          <p:cNvPr id="437" name="Text 9"/>
          <p:cNvSpPr/>
          <p:nvPr/>
        </p:nvSpPr>
        <p:spPr>
          <a:xfrm>
            <a:off x="5852160" y="1580515"/>
            <a:ext cx="519684" cy="853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2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6720" dirty="0"/>
          </a:p>
        </p:txBody>
      </p:sp>
      <p:sp>
        <p:nvSpPr>
          <p:cNvPr id="438" name="Text 10"/>
          <p:cNvSpPr/>
          <p:nvPr/>
        </p:nvSpPr>
        <p:spPr>
          <a:xfrm>
            <a:off x="5425440" y="2555875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关键技能</a:t>
            </a:r>
            <a:endParaRPr lang="en-US" sz="2640" dirty="0"/>
          </a:p>
        </p:txBody>
      </p:sp>
      <p:sp>
        <p:nvSpPr>
          <p:cNvPr id="439" name="Text 11"/>
          <p:cNvSpPr/>
          <p:nvPr/>
        </p:nvSpPr>
        <p:spPr>
          <a:xfrm>
            <a:off x="4709160" y="3424555"/>
            <a:ext cx="283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</a:t>
            </a:r>
            <a:endParaRPr lang="en-US" sz="2160" dirty="0"/>
          </a:p>
        </p:txBody>
      </p:sp>
      <p:sp>
        <p:nvSpPr>
          <p:cNvPr id="440" name="Text 12"/>
          <p:cNvSpPr/>
          <p:nvPr/>
        </p:nvSpPr>
        <p:spPr>
          <a:xfrm>
            <a:off x="5105400" y="3455035"/>
            <a:ext cx="19751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能辨识云服务模式</a:t>
            </a:r>
            <a:endParaRPr lang="en-US" sz="1920" dirty="0"/>
          </a:p>
        </p:txBody>
      </p:sp>
      <p:sp>
        <p:nvSpPr>
          <p:cNvPr id="441" name="Text 13"/>
          <p:cNvSpPr/>
          <p:nvPr/>
        </p:nvSpPr>
        <p:spPr>
          <a:xfrm>
            <a:off x="4709160" y="4018915"/>
            <a:ext cx="283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</a:t>
            </a:r>
            <a:endParaRPr lang="en-US" sz="2160" dirty="0"/>
          </a:p>
        </p:txBody>
      </p:sp>
      <p:sp>
        <p:nvSpPr>
          <p:cNvPr id="442" name="Text 14"/>
          <p:cNvSpPr/>
          <p:nvPr/>
        </p:nvSpPr>
        <p:spPr>
          <a:xfrm>
            <a:off x="5105400" y="4049395"/>
            <a:ext cx="19751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能理解云平台架构</a:t>
            </a:r>
            <a:endParaRPr lang="en-US" sz="1920" dirty="0"/>
          </a:p>
        </p:txBody>
      </p:sp>
      <p:pic>
        <p:nvPicPr>
          <p:cNvPr id="443" name="Image 5" descr="https://test.web.static.jianzeppt.com/ppt-temp-img3/c3eb93c25b8988d216147458402d1fd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640" y="1260475"/>
            <a:ext cx="3413760" cy="5181600"/>
          </a:xfrm>
          <a:prstGeom prst="rect">
            <a:avLst/>
          </a:prstGeom>
        </p:spPr>
      </p:pic>
      <p:sp>
        <p:nvSpPr>
          <p:cNvPr id="444" name="Text 15"/>
          <p:cNvSpPr/>
          <p:nvPr/>
        </p:nvSpPr>
        <p:spPr>
          <a:xfrm>
            <a:off x="9631680" y="1580515"/>
            <a:ext cx="519684" cy="853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2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6720" dirty="0"/>
          </a:p>
        </p:txBody>
      </p:sp>
      <p:sp>
        <p:nvSpPr>
          <p:cNvPr id="445" name="Text 16"/>
          <p:cNvSpPr/>
          <p:nvPr/>
        </p:nvSpPr>
        <p:spPr>
          <a:xfrm>
            <a:off x="9204960" y="2555875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职业准则</a:t>
            </a:r>
            <a:endParaRPr lang="en-US" sz="2640" dirty="0"/>
          </a:p>
        </p:txBody>
      </p:sp>
      <p:sp>
        <p:nvSpPr>
          <p:cNvPr id="446" name="Text 17"/>
          <p:cNvSpPr/>
          <p:nvPr/>
        </p:nvSpPr>
        <p:spPr>
          <a:xfrm>
            <a:off x="8488680" y="3668395"/>
            <a:ext cx="2782824" cy="7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云上系统同样需要等保测评</a:t>
            </a:r>
            <a:endParaRPr lang="en-US" sz="2160" dirty="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4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49" name="Text 0"/>
          <p:cNvSpPr/>
          <p:nvPr/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60" dirty="0">
                <a:solidFill>
                  <a:srgbClr val="FFFFFF"/>
                </a:solidFill>
              </a:rPr>
              <a:t>感谢观看</a:t>
            </a:r>
            <a:endParaRPr lang="en-US" sz="63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2026-10-25T13:02:08Z</dcterms:created>
  <dcterms:modified xsi:type="dcterms:W3CDTF">2026-10-25T13:02:08Z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F63397AECB7B4DC89AD9AB4C779224C9_12</vt:lpwstr>
  </property>
</Properties>
</file>