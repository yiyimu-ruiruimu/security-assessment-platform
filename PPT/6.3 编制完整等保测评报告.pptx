
<file path=[Content_Types].xml><?xml version="1.0" encoding="utf-8"?>
<Types xmlns="http://schemas.openxmlformats.org/package/2006/content-types">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2.svg" ContentType="image/svg+xml"/>
  <Override PartName="/ppt/media/image105.svg" ContentType="image/svg+xml"/>
  <Override PartName="/ppt/media/image107.svg" ContentType="image/svg+xml"/>
  <Override PartName="/ppt/media/image109.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0.svg" ContentType="image/svg+xml"/>
  <Override PartName="/ppt/media/image122.svg" ContentType="image/svg+xml"/>
  <Override PartName="/ppt/media/image124.svg" ContentType="image/svg+xml"/>
  <Override PartName="/ppt/media/image127.svg" ContentType="image/svg+xml"/>
  <Override PartName="/ppt/media/image133.svg" ContentType="image/svg+xml"/>
  <Override PartName="/ppt/media/image135.svg" ContentType="image/svg+xml"/>
  <Override PartName="/ppt/media/image140.svg" ContentType="image/svg+xml"/>
  <Override PartName="/ppt/media/image143.svg" ContentType="image/svg+xml"/>
  <Override PartName="/ppt/media/image146.svg" ContentType="image/svg+xml"/>
  <Override PartName="/ppt/media/image148.svg" ContentType="image/svg+xml"/>
  <Override PartName="/ppt/media/image15.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58.svg" ContentType="image/svg+xml"/>
  <Override PartName="/ppt/media/image161.svg" ContentType="image/svg+xml"/>
  <Override PartName="/ppt/media/image164.svg" ContentType="image/svg+xml"/>
  <Override PartName="/ppt/media/image167.svg" ContentType="image/svg+xml"/>
  <Override PartName="/ppt/media/image169.svg" ContentType="image/svg+xml"/>
  <Override PartName="/ppt/media/image17.svg" ContentType="image/svg+xml"/>
  <Override PartName="/ppt/media/image172.svg" ContentType="image/svg+xml"/>
  <Override PartName="/ppt/media/image175.svg" ContentType="image/svg+xml"/>
  <Override PartName="/ppt/media/image178.svg" ContentType="image/svg+xml"/>
  <Override PartName="/ppt/media/image181.svg" ContentType="image/svg+xml"/>
  <Override PartName="/ppt/media/image184.svg" ContentType="image/svg+xml"/>
  <Override PartName="/ppt/media/image186.svg" ContentType="image/svg+xml"/>
  <Override PartName="/ppt/media/image188.svg" ContentType="image/svg+xml"/>
  <Override PartName="/ppt/media/image19.svg" ContentType="image/svg+xml"/>
  <Override PartName="/ppt/media/image190.svg" ContentType="image/svg+xml"/>
  <Override PartName="/ppt/media/image193.svg" ContentType="image/svg+xml"/>
  <Override PartName="/ppt/media/image22.svg" ContentType="image/svg+xml"/>
  <Override PartName="/ppt/media/image24.svg" ContentType="image/svg+xml"/>
  <Override PartName="/ppt/media/image29.svg" ContentType="image/svg+xml"/>
  <Override PartName="/ppt/media/image31.svg" ContentType="image/svg+xml"/>
  <Override PartName="/ppt/media/image33.svg" ContentType="image/svg+xml"/>
  <Override PartName="/ppt/media/image36.svg" ContentType="image/svg+xml"/>
  <Override PartName="/ppt/media/image38.svg" ContentType="image/svg+xml"/>
  <Override PartName="/ppt/media/image40.svg" ContentType="image/svg+xml"/>
  <Override PartName="/ppt/media/image43.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8" Type="http://schemas.openxmlformats.org/officeDocument/2006/relationships/notesSlide" Target="../notesSlides/notesSlide3.xml"/><Relationship Id="rId17" Type="http://schemas.openxmlformats.org/officeDocument/2006/relationships/slideLayout" Target="../slideLayouts/slideLayout1.xml"/><Relationship Id="rId16" Type="http://schemas.openxmlformats.org/officeDocument/2006/relationships/image" Target="../media/image25.png"/><Relationship Id="rId15" Type="http://schemas.openxmlformats.org/officeDocument/2006/relationships/image" Target="../media/image24.svg"/><Relationship Id="rId14" Type="http://schemas.openxmlformats.org/officeDocument/2006/relationships/image" Target="../media/image23.png"/><Relationship Id="rId13" Type="http://schemas.openxmlformats.org/officeDocument/2006/relationships/image" Target="../media/image22.svg"/><Relationship Id="rId12"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image" Target="../media/image19.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image" Target="../media/image33.svg"/><Relationship Id="rId8" Type="http://schemas.openxmlformats.org/officeDocument/2006/relationships/image" Target="../media/image32.png"/><Relationship Id="rId7" Type="http://schemas.openxmlformats.org/officeDocument/2006/relationships/image" Target="../media/image31.sv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12.png"/><Relationship Id="rId2" Type="http://schemas.openxmlformats.org/officeDocument/2006/relationships/image" Target="../media/image11.png"/><Relationship Id="rId18" Type="http://schemas.openxmlformats.org/officeDocument/2006/relationships/notesSlide" Target="../notesSlides/notesSlide5.xml"/><Relationship Id="rId17" Type="http://schemas.openxmlformats.org/officeDocument/2006/relationships/slideLayout" Target="../slideLayouts/slideLayout1.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8.svg"/><Relationship Id="rId13" Type="http://schemas.openxmlformats.org/officeDocument/2006/relationships/image" Target="../media/image37.png"/><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34.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41.wmf"/><Relationship Id="rId4" Type="http://schemas.openxmlformats.org/officeDocument/2006/relationships/package" Target="../embeddings/Document1.docx"/><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7.xml"/><Relationship Id="rId15" Type="http://schemas.openxmlformats.org/officeDocument/2006/relationships/slideLayout" Target="../slideLayouts/slideLayout1.xml"/><Relationship Id="rId14" Type="http://schemas.openxmlformats.org/officeDocument/2006/relationships/image" Target="../media/image52.svg"/><Relationship Id="rId13" Type="http://schemas.openxmlformats.org/officeDocument/2006/relationships/image" Target="../media/image51.png"/><Relationship Id="rId12" Type="http://schemas.openxmlformats.org/officeDocument/2006/relationships/image" Target="../media/image50.svg"/><Relationship Id="rId11" Type="http://schemas.openxmlformats.org/officeDocument/2006/relationships/image" Target="../media/image49.png"/><Relationship Id="rId10" Type="http://schemas.openxmlformats.org/officeDocument/2006/relationships/image" Target="../media/image48.sv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svg"/><Relationship Id="rId7" Type="http://schemas.openxmlformats.org/officeDocument/2006/relationships/image" Target="../media/image56.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notesSlide" Target="../notesSlides/notesSlide8.xml"/><Relationship Id="rId11" Type="http://schemas.openxmlformats.org/officeDocument/2006/relationships/slideLayout" Target="../slideLayouts/slideLayout1.xml"/><Relationship Id="rId10" Type="http://schemas.openxmlformats.org/officeDocument/2006/relationships/image" Target="../media/image59.sv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image" Target="../media/image65.svg"/><Relationship Id="rId8" Type="http://schemas.openxmlformats.org/officeDocument/2006/relationships/image" Target="../media/image64.png"/><Relationship Id="rId7" Type="http://schemas.openxmlformats.org/officeDocument/2006/relationships/image" Target="../media/image63.svg"/><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3" Type="http://schemas.openxmlformats.org/officeDocument/2006/relationships/image" Target="../media/image12.png"/><Relationship Id="rId2" Type="http://schemas.openxmlformats.org/officeDocument/2006/relationships/image" Target="../media/image11.png"/><Relationship Id="rId19" Type="http://schemas.openxmlformats.org/officeDocument/2006/relationships/notesSlide" Target="../notesSlides/notesSlide9.xml"/><Relationship Id="rId18" Type="http://schemas.openxmlformats.org/officeDocument/2006/relationships/slideLayout" Target="../slideLayouts/slideLayout1.xml"/><Relationship Id="rId17" Type="http://schemas.openxmlformats.org/officeDocument/2006/relationships/image" Target="../media/image73.svg"/><Relationship Id="rId16" Type="http://schemas.openxmlformats.org/officeDocument/2006/relationships/image" Target="../media/image72.png"/><Relationship Id="rId15" Type="http://schemas.openxmlformats.org/officeDocument/2006/relationships/image" Target="../media/image71.svg"/><Relationship Id="rId14" Type="http://schemas.openxmlformats.org/officeDocument/2006/relationships/image" Target="../media/image70.png"/><Relationship Id="rId13" Type="http://schemas.openxmlformats.org/officeDocument/2006/relationships/image" Target="../media/image69.svg"/><Relationship Id="rId12" Type="http://schemas.openxmlformats.org/officeDocument/2006/relationships/image" Target="../media/image68.png"/><Relationship Id="rId11" Type="http://schemas.openxmlformats.org/officeDocument/2006/relationships/image" Target="../media/image67.svg"/><Relationship Id="rId10" Type="http://schemas.openxmlformats.org/officeDocument/2006/relationships/image" Target="../media/image66.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8.svg"/><Relationship Id="rId7" Type="http://schemas.openxmlformats.org/officeDocument/2006/relationships/image" Target="../media/image77.png"/><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10.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image" Target="../media/image84.svg"/><Relationship Id="rId8" Type="http://schemas.openxmlformats.org/officeDocument/2006/relationships/image" Target="../media/image83.png"/><Relationship Id="rId7" Type="http://schemas.openxmlformats.org/officeDocument/2006/relationships/image" Target="../media/image82.svg"/><Relationship Id="rId6" Type="http://schemas.openxmlformats.org/officeDocument/2006/relationships/image" Target="../media/image81.png"/><Relationship Id="rId5" Type="http://schemas.openxmlformats.org/officeDocument/2006/relationships/image" Target="../media/image80.svg"/><Relationship Id="rId4" Type="http://schemas.openxmlformats.org/officeDocument/2006/relationships/image" Target="../media/image79.png"/><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1.xml"/><Relationship Id="rId12" Type="http://schemas.openxmlformats.org/officeDocument/2006/relationships/slideLayout" Target="../slideLayouts/slideLayout1.xml"/><Relationship Id="rId11" Type="http://schemas.openxmlformats.org/officeDocument/2006/relationships/image" Target="../media/image86.svg"/><Relationship Id="rId10" Type="http://schemas.openxmlformats.org/officeDocument/2006/relationships/image" Target="../media/image85.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image" Target="../media/image90.svg"/><Relationship Id="rId7" Type="http://schemas.openxmlformats.org/officeDocument/2006/relationships/image" Target="../media/image89.png"/><Relationship Id="rId6" Type="http://schemas.openxmlformats.org/officeDocument/2006/relationships/tags" Target="../tags/tag1.xml"/><Relationship Id="rId5" Type="http://schemas.openxmlformats.org/officeDocument/2006/relationships/image" Target="../media/image88.svg"/><Relationship Id="rId45" Type="http://schemas.openxmlformats.org/officeDocument/2006/relationships/notesSlide" Target="../notesSlides/notesSlide12.xml"/><Relationship Id="rId44" Type="http://schemas.openxmlformats.org/officeDocument/2006/relationships/slideLayout" Target="../slideLayouts/slideLayout1.xml"/><Relationship Id="rId43" Type="http://schemas.openxmlformats.org/officeDocument/2006/relationships/tags" Target="../tags/tag26.xml"/><Relationship Id="rId42" Type="http://schemas.openxmlformats.org/officeDocument/2006/relationships/tags" Target="../tags/tag25.xml"/><Relationship Id="rId41" Type="http://schemas.openxmlformats.org/officeDocument/2006/relationships/tags" Target="../tags/tag24.xml"/><Relationship Id="rId40" Type="http://schemas.openxmlformats.org/officeDocument/2006/relationships/tags" Target="../tags/tag23.xml"/><Relationship Id="rId4" Type="http://schemas.openxmlformats.org/officeDocument/2006/relationships/image" Target="../media/image87.png"/><Relationship Id="rId39" Type="http://schemas.openxmlformats.org/officeDocument/2006/relationships/tags" Target="../tags/tag22.xml"/><Relationship Id="rId38" Type="http://schemas.openxmlformats.org/officeDocument/2006/relationships/image" Target="../media/image100.svg"/><Relationship Id="rId37" Type="http://schemas.openxmlformats.org/officeDocument/2006/relationships/image" Target="../media/image99.png"/><Relationship Id="rId36" Type="http://schemas.openxmlformats.org/officeDocument/2006/relationships/tags" Target="../tags/tag21.xml"/><Relationship Id="rId35" Type="http://schemas.openxmlformats.org/officeDocument/2006/relationships/image" Target="../media/image98.svg"/><Relationship Id="rId34" Type="http://schemas.openxmlformats.org/officeDocument/2006/relationships/image" Target="../media/image97.png"/><Relationship Id="rId33" Type="http://schemas.openxmlformats.org/officeDocument/2006/relationships/tags" Target="../tags/tag20.xml"/><Relationship Id="rId32" Type="http://schemas.openxmlformats.org/officeDocument/2006/relationships/tags" Target="../tags/tag19.xml"/><Relationship Id="rId31" Type="http://schemas.openxmlformats.org/officeDocument/2006/relationships/tags" Target="../tags/tag18.xml"/><Relationship Id="rId30" Type="http://schemas.openxmlformats.org/officeDocument/2006/relationships/tags" Target="../tags/tag17.xml"/><Relationship Id="rId3" Type="http://schemas.openxmlformats.org/officeDocument/2006/relationships/image" Target="../media/image12.png"/><Relationship Id="rId29" Type="http://schemas.openxmlformats.org/officeDocument/2006/relationships/tags" Target="../tags/tag16.xml"/><Relationship Id="rId28" Type="http://schemas.openxmlformats.org/officeDocument/2006/relationships/image" Target="../media/image96.png"/><Relationship Id="rId27" Type="http://schemas.openxmlformats.org/officeDocument/2006/relationships/tags" Target="../tags/tag15.xml"/><Relationship Id="rId26" Type="http://schemas.openxmlformats.org/officeDocument/2006/relationships/tags" Target="../tags/tag14.xml"/><Relationship Id="rId25" Type="http://schemas.openxmlformats.org/officeDocument/2006/relationships/tags" Target="../tags/tag13.xml"/><Relationship Id="rId24" Type="http://schemas.openxmlformats.org/officeDocument/2006/relationships/tags" Target="../tags/tag12.xml"/><Relationship Id="rId23" Type="http://schemas.openxmlformats.org/officeDocument/2006/relationships/tags" Target="../tags/tag11.xml"/><Relationship Id="rId22" Type="http://schemas.openxmlformats.org/officeDocument/2006/relationships/tags" Target="../tags/tag10.xml"/><Relationship Id="rId21" Type="http://schemas.openxmlformats.org/officeDocument/2006/relationships/image" Target="../media/image95.png"/><Relationship Id="rId20" Type="http://schemas.openxmlformats.org/officeDocument/2006/relationships/tags" Target="../tags/tag9.xml"/><Relationship Id="rId2" Type="http://schemas.openxmlformats.org/officeDocument/2006/relationships/image" Target="../media/image11.png"/><Relationship Id="rId19" Type="http://schemas.openxmlformats.org/officeDocument/2006/relationships/tags" Target="../tags/tag8.xml"/><Relationship Id="rId18" Type="http://schemas.openxmlformats.org/officeDocument/2006/relationships/image" Target="../media/image94.png"/><Relationship Id="rId17" Type="http://schemas.openxmlformats.org/officeDocument/2006/relationships/tags" Target="../tags/tag7.xml"/><Relationship Id="rId16" Type="http://schemas.openxmlformats.org/officeDocument/2006/relationships/tags" Target="../tags/tag6.xml"/><Relationship Id="rId15" Type="http://schemas.openxmlformats.org/officeDocument/2006/relationships/tags" Target="../tags/tag5.xml"/><Relationship Id="rId14" Type="http://schemas.openxmlformats.org/officeDocument/2006/relationships/tags" Target="../tags/tag4.xml"/><Relationship Id="rId13" Type="http://schemas.openxmlformats.org/officeDocument/2006/relationships/image" Target="../media/image93.png"/><Relationship Id="rId12" Type="http://schemas.openxmlformats.org/officeDocument/2006/relationships/tags" Target="../tags/tag3.xml"/><Relationship Id="rId11" Type="http://schemas.openxmlformats.org/officeDocument/2006/relationships/image" Target="../media/image92.svg"/><Relationship Id="rId10" Type="http://schemas.openxmlformats.org/officeDocument/2006/relationships/image" Target="../media/image91.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05.svg"/><Relationship Id="rId7" Type="http://schemas.openxmlformats.org/officeDocument/2006/relationships/image" Target="../media/image104.png"/><Relationship Id="rId6" Type="http://schemas.openxmlformats.org/officeDocument/2006/relationships/image" Target="../media/image103.png"/><Relationship Id="rId5" Type="http://schemas.openxmlformats.org/officeDocument/2006/relationships/image" Target="../media/image102.svg"/><Relationship Id="rId4" Type="http://schemas.openxmlformats.org/officeDocument/2006/relationships/image" Target="../media/image101.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notesSlide" Target="../notesSlides/notesSlide13.xml"/><Relationship Id="rId11" Type="http://schemas.openxmlformats.org/officeDocument/2006/relationships/slideLayout" Target="../slideLayouts/slideLayout1.xml"/><Relationship Id="rId10" Type="http://schemas.openxmlformats.org/officeDocument/2006/relationships/image" Target="../media/image107.sv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9" Type="http://schemas.openxmlformats.org/officeDocument/2006/relationships/image" Target="../media/image113.png"/><Relationship Id="rId8" Type="http://schemas.openxmlformats.org/officeDocument/2006/relationships/image" Target="../media/image112.svg"/><Relationship Id="rId7" Type="http://schemas.openxmlformats.org/officeDocument/2006/relationships/image" Target="../media/image111.png"/><Relationship Id="rId6" Type="http://schemas.openxmlformats.org/officeDocument/2006/relationships/image" Target="../media/image110.png"/><Relationship Id="rId5" Type="http://schemas.openxmlformats.org/officeDocument/2006/relationships/image" Target="../media/image109.svg"/><Relationship Id="rId4" Type="http://schemas.openxmlformats.org/officeDocument/2006/relationships/image" Target="../media/image108.png"/><Relationship Id="rId3" Type="http://schemas.openxmlformats.org/officeDocument/2006/relationships/image" Target="../media/image12.png"/><Relationship Id="rId2" Type="http://schemas.openxmlformats.org/officeDocument/2006/relationships/image" Target="../media/image11.png"/><Relationship Id="rId14" Type="http://schemas.openxmlformats.org/officeDocument/2006/relationships/notesSlide" Target="../notesSlides/notesSlide14.xml"/><Relationship Id="rId13" Type="http://schemas.openxmlformats.org/officeDocument/2006/relationships/slideLayout" Target="../slideLayouts/slideLayout1.xml"/><Relationship Id="rId12" Type="http://schemas.openxmlformats.org/officeDocument/2006/relationships/image" Target="../media/image116.svg"/><Relationship Id="rId11" Type="http://schemas.openxmlformats.org/officeDocument/2006/relationships/image" Target="../media/image115.png"/><Relationship Id="rId10" Type="http://schemas.openxmlformats.org/officeDocument/2006/relationships/image" Target="../media/image114.sv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9" Type="http://schemas.openxmlformats.org/officeDocument/2006/relationships/image" Target="../media/image122.svg"/><Relationship Id="rId8" Type="http://schemas.openxmlformats.org/officeDocument/2006/relationships/image" Target="../media/image121.png"/><Relationship Id="rId7" Type="http://schemas.openxmlformats.org/officeDocument/2006/relationships/image" Target="../media/image120.svg"/><Relationship Id="rId6" Type="http://schemas.openxmlformats.org/officeDocument/2006/relationships/image" Target="../media/image119.png"/><Relationship Id="rId5" Type="http://schemas.openxmlformats.org/officeDocument/2006/relationships/image" Target="../media/image118.svg"/><Relationship Id="rId4" Type="http://schemas.openxmlformats.org/officeDocument/2006/relationships/image" Target="../media/image117.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15.xml"/><Relationship Id="rId15" Type="http://schemas.openxmlformats.org/officeDocument/2006/relationships/vmlDrawing" Target="../drawings/vmlDrawing2.vml"/><Relationship Id="rId14" Type="http://schemas.openxmlformats.org/officeDocument/2006/relationships/slideLayout" Target="../slideLayouts/slideLayout1.xml"/><Relationship Id="rId13" Type="http://schemas.openxmlformats.org/officeDocument/2006/relationships/image" Target="../media/image125.wmf"/><Relationship Id="rId12" Type="http://schemas.openxmlformats.org/officeDocument/2006/relationships/package" Target="../embeddings/Document2.docx"/><Relationship Id="rId11" Type="http://schemas.openxmlformats.org/officeDocument/2006/relationships/image" Target="../media/image124.svg"/><Relationship Id="rId10" Type="http://schemas.openxmlformats.org/officeDocument/2006/relationships/image" Target="../media/image123.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9" Type="http://schemas.openxmlformats.org/officeDocument/2006/relationships/image" Target="../media/image129.png"/><Relationship Id="rId8" Type="http://schemas.openxmlformats.org/officeDocument/2006/relationships/image" Target="../media/image105.svg"/><Relationship Id="rId7" Type="http://schemas.openxmlformats.org/officeDocument/2006/relationships/image" Target="../media/image104.png"/><Relationship Id="rId6" Type="http://schemas.openxmlformats.org/officeDocument/2006/relationships/image" Target="../media/image128.png"/><Relationship Id="rId5" Type="http://schemas.openxmlformats.org/officeDocument/2006/relationships/image" Target="../media/image127.svg"/><Relationship Id="rId4" Type="http://schemas.openxmlformats.org/officeDocument/2006/relationships/image" Target="../media/image126.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notesSlide" Target="../notesSlides/notesSlide16.xml"/><Relationship Id="rId11" Type="http://schemas.openxmlformats.org/officeDocument/2006/relationships/slideLayout" Target="../slideLayouts/slideLayout1.xml"/><Relationship Id="rId10" Type="http://schemas.openxmlformats.org/officeDocument/2006/relationships/image" Target="../media/image13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9" Type="http://schemas.openxmlformats.org/officeDocument/2006/relationships/image" Target="../media/image137.wmf"/><Relationship Id="rId8" Type="http://schemas.openxmlformats.org/officeDocument/2006/relationships/package" Target="../embeddings/Document3.docx"/><Relationship Id="rId7" Type="http://schemas.openxmlformats.org/officeDocument/2006/relationships/image" Target="../media/image136.png"/><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133.svg"/><Relationship Id="rId3" Type="http://schemas.openxmlformats.org/officeDocument/2006/relationships/image" Target="../media/image132.png"/><Relationship Id="rId2" Type="http://schemas.openxmlformats.org/officeDocument/2006/relationships/image" Target="../media/image57.svg"/><Relationship Id="rId14" Type="http://schemas.openxmlformats.org/officeDocument/2006/relationships/notesSlide" Target="../notesSlides/notesSlide17.xml"/><Relationship Id="rId13" Type="http://schemas.openxmlformats.org/officeDocument/2006/relationships/vmlDrawing" Target="../drawings/vmlDrawing3.vml"/><Relationship Id="rId12" Type="http://schemas.openxmlformats.org/officeDocument/2006/relationships/slideLayout" Target="../slideLayouts/slideLayout1.xml"/><Relationship Id="rId11" Type="http://schemas.openxmlformats.org/officeDocument/2006/relationships/image" Target="../media/image138.wmf"/><Relationship Id="rId10" Type="http://schemas.openxmlformats.org/officeDocument/2006/relationships/package" Target="../embeddings/Document4.docx"/><Relationship Id="rId1" Type="http://schemas.openxmlformats.org/officeDocument/2006/relationships/image" Target="../media/image131.png"/></Relationships>
</file>

<file path=ppt/slides/_rels/slide18.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143.svg"/><Relationship Id="rId7" Type="http://schemas.openxmlformats.org/officeDocument/2006/relationships/image" Target="../media/image142.png"/><Relationship Id="rId6" Type="http://schemas.openxmlformats.org/officeDocument/2006/relationships/image" Target="../media/image141.png"/><Relationship Id="rId5" Type="http://schemas.openxmlformats.org/officeDocument/2006/relationships/image" Target="../media/image140.svg"/><Relationship Id="rId4" Type="http://schemas.openxmlformats.org/officeDocument/2006/relationships/image" Target="../media/image139.png"/><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8.xml"/><Relationship Id="rId12" Type="http://schemas.openxmlformats.org/officeDocument/2006/relationships/slideLayout" Target="../slideLayouts/slideLayout1.xml"/><Relationship Id="rId11" Type="http://schemas.openxmlformats.org/officeDocument/2006/relationships/image" Target="../media/image144.png"/><Relationship Id="rId10" Type="http://schemas.openxmlformats.org/officeDocument/2006/relationships/image" Target="../media/image105.sv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9" Type="http://schemas.openxmlformats.org/officeDocument/2006/relationships/image" Target="../media/image150.svg"/><Relationship Id="rId8" Type="http://schemas.openxmlformats.org/officeDocument/2006/relationships/image" Target="../media/image149.png"/><Relationship Id="rId7" Type="http://schemas.openxmlformats.org/officeDocument/2006/relationships/image" Target="../media/image148.svg"/><Relationship Id="rId6" Type="http://schemas.openxmlformats.org/officeDocument/2006/relationships/image" Target="../media/image147.png"/><Relationship Id="rId5" Type="http://schemas.openxmlformats.org/officeDocument/2006/relationships/image" Target="../media/image146.svg"/><Relationship Id="rId4" Type="http://schemas.openxmlformats.org/officeDocument/2006/relationships/image" Target="../media/image145.png"/><Relationship Id="rId31" Type="http://schemas.openxmlformats.org/officeDocument/2006/relationships/notesSlide" Target="../notesSlides/notesSlide19.xml"/><Relationship Id="rId30" Type="http://schemas.openxmlformats.org/officeDocument/2006/relationships/slideLayout" Target="../slideLayouts/slideLayout1.xml"/><Relationship Id="rId3" Type="http://schemas.openxmlformats.org/officeDocument/2006/relationships/image" Target="../media/image12.png"/><Relationship Id="rId29" Type="http://schemas.openxmlformats.org/officeDocument/2006/relationships/image" Target="../media/image158.svg"/><Relationship Id="rId28" Type="http://schemas.openxmlformats.org/officeDocument/2006/relationships/image" Target="../media/image157.png"/><Relationship Id="rId27" Type="http://schemas.openxmlformats.org/officeDocument/2006/relationships/tags" Target="../tags/tag38.xml"/><Relationship Id="rId26" Type="http://schemas.openxmlformats.org/officeDocument/2006/relationships/tags" Target="../tags/tag37.xml"/><Relationship Id="rId25" Type="http://schemas.openxmlformats.org/officeDocument/2006/relationships/tags" Target="../tags/tag36.xml"/><Relationship Id="rId24" Type="http://schemas.openxmlformats.org/officeDocument/2006/relationships/image" Target="../media/image156.svg"/><Relationship Id="rId23" Type="http://schemas.openxmlformats.org/officeDocument/2006/relationships/image" Target="../media/image155.png"/><Relationship Id="rId22" Type="http://schemas.openxmlformats.org/officeDocument/2006/relationships/tags" Target="../tags/tag35.xml"/><Relationship Id="rId21" Type="http://schemas.openxmlformats.org/officeDocument/2006/relationships/tags" Target="../tags/tag34.xml"/><Relationship Id="rId20" Type="http://schemas.openxmlformats.org/officeDocument/2006/relationships/tags" Target="../tags/tag33.xml"/><Relationship Id="rId2" Type="http://schemas.openxmlformats.org/officeDocument/2006/relationships/image" Target="../media/image11.png"/><Relationship Id="rId19" Type="http://schemas.openxmlformats.org/officeDocument/2006/relationships/tags" Target="../tags/tag32.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image" Target="../media/image154.svg"/><Relationship Id="rId15" Type="http://schemas.openxmlformats.org/officeDocument/2006/relationships/image" Target="../media/image153.png"/><Relationship Id="rId14" Type="http://schemas.openxmlformats.org/officeDocument/2006/relationships/tags" Target="../tags/tag29.xml"/><Relationship Id="rId13" Type="http://schemas.openxmlformats.org/officeDocument/2006/relationships/image" Target="../media/image152.svg"/><Relationship Id="rId12" Type="http://schemas.openxmlformats.org/officeDocument/2006/relationships/image" Target="../media/image151.png"/><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9" Type="http://schemas.openxmlformats.org/officeDocument/2006/relationships/image" Target="../media/image164.svg"/><Relationship Id="rId8" Type="http://schemas.openxmlformats.org/officeDocument/2006/relationships/image" Target="../media/image163.png"/><Relationship Id="rId7" Type="http://schemas.openxmlformats.org/officeDocument/2006/relationships/image" Target="../media/image162.png"/><Relationship Id="rId6" Type="http://schemas.openxmlformats.org/officeDocument/2006/relationships/image" Target="../media/image161.svg"/><Relationship Id="rId5" Type="http://schemas.openxmlformats.org/officeDocument/2006/relationships/image" Target="../media/image160.png"/><Relationship Id="rId4" Type="http://schemas.openxmlformats.org/officeDocument/2006/relationships/image" Target="../media/image159.png"/><Relationship Id="rId3" Type="http://schemas.openxmlformats.org/officeDocument/2006/relationships/image" Target="../media/image12.png"/><Relationship Id="rId22" Type="http://schemas.openxmlformats.org/officeDocument/2006/relationships/notesSlide" Target="../notesSlides/notesSlide20.xml"/><Relationship Id="rId21" Type="http://schemas.openxmlformats.org/officeDocument/2006/relationships/slideLayout" Target="../slideLayouts/slideLayout1.xml"/><Relationship Id="rId20" Type="http://schemas.openxmlformats.org/officeDocument/2006/relationships/image" Target="../media/image175.svg"/><Relationship Id="rId2" Type="http://schemas.openxmlformats.org/officeDocument/2006/relationships/image" Target="../media/image11.png"/><Relationship Id="rId19" Type="http://schemas.openxmlformats.org/officeDocument/2006/relationships/image" Target="../media/image174.png"/><Relationship Id="rId18" Type="http://schemas.openxmlformats.org/officeDocument/2006/relationships/image" Target="../media/image173.png"/><Relationship Id="rId17" Type="http://schemas.openxmlformats.org/officeDocument/2006/relationships/image" Target="../media/image172.svg"/><Relationship Id="rId16" Type="http://schemas.openxmlformats.org/officeDocument/2006/relationships/image" Target="../media/image171.png"/><Relationship Id="rId15" Type="http://schemas.openxmlformats.org/officeDocument/2006/relationships/image" Target="../media/image170.png"/><Relationship Id="rId14" Type="http://schemas.openxmlformats.org/officeDocument/2006/relationships/image" Target="../media/image169.svg"/><Relationship Id="rId13" Type="http://schemas.openxmlformats.org/officeDocument/2006/relationships/image" Target="../media/image168.png"/><Relationship Id="rId12" Type="http://schemas.openxmlformats.org/officeDocument/2006/relationships/image" Target="../media/image167.svg"/><Relationship Id="rId11" Type="http://schemas.openxmlformats.org/officeDocument/2006/relationships/image" Target="../media/image166.png"/><Relationship Id="rId10" Type="http://schemas.openxmlformats.org/officeDocument/2006/relationships/image" Target="../media/image165.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9" Type="http://schemas.openxmlformats.org/officeDocument/2006/relationships/image" Target="../media/image181.svg"/><Relationship Id="rId8" Type="http://schemas.openxmlformats.org/officeDocument/2006/relationships/image" Target="../media/image180.png"/><Relationship Id="rId7" Type="http://schemas.openxmlformats.org/officeDocument/2006/relationships/image" Target="../media/image179.png"/><Relationship Id="rId6" Type="http://schemas.openxmlformats.org/officeDocument/2006/relationships/image" Target="../media/image178.svg"/><Relationship Id="rId5" Type="http://schemas.openxmlformats.org/officeDocument/2006/relationships/image" Target="../media/image177.png"/><Relationship Id="rId4" Type="http://schemas.openxmlformats.org/officeDocument/2006/relationships/image" Target="../media/image176.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21.xml"/><Relationship Id="rId15" Type="http://schemas.openxmlformats.org/officeDocument/2006/relationships/slideLayout" Target="../slideLayouts/slideLayout1.xml"/><Relationship Id="rId14" Type="http://schemas.openxmlformats.org/officeDocument/2006/relationships/image" Target="../media/image186.svg"/><Relationship Id="rId13" Type="http://schemas.openxmlformats.org/officeDocument/2006/relationships/image" Target="../media/image185.png"/><Relationship Id="rId12" Type="http://schemas.openxmlformats.org/officeDocument/2006/relationships/image" Target="../media/image184.svg"/><Relationship Id="rId11" Type="http://schemas.openxmlformats.org/officeDocument/2006/relationships/image" Target="../media/image183.png"/><Relationship Id="rId10" Type="http://schemas.openxmlformats.org/officeDocument/2006/relationships/image" Target="../media/image182.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93.svg"/><Relationship Id="rId7" Type="http://schemas.openxmlformats.org/officeDocument/2006/relationships/image" Target="../media/image192.png"/><Relationship Id="rId6" Type="http://schemas.openxmlformats.org/officeDocument/2006/relationships/image" Target="../media/image17.svg"/><Relationship Id="rId5" Type="http://schemas.openxmlformats.org/officeDocument/2006/relationships/image" Target="../media/image191.png"/><Relationship Id="rId4" Type="http://schemas.openxmlformats.org/officeDocument/2006/relationships/image" Target="../media/image190.svg"/><Relationship Id="rId3" Type="http://schemas.openxmlformats.org/officeDocument/2006/relationships/image" Target="../media/image189.png"/><Relationship Id="rId2" Type="http://schemas.openxmlformats.org/officeDocument/2006/relationships/image" Target="../media/image188.svg"/><Relationship Id="rId10" Type="http://schemas.openxmlformats.org/officeDocument/2006/relationships/notesSlide" Target="../notesSlides/notesSlide22.xml"/><Relationship Id="rId1" Type="http://schemas.openxmlformats.org/officeDocument/2006/relationships/image" Target="../media/image18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2"/>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3"/>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4"/>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5"/>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6"/>
          <a:stretch>
            <a:fillRect/>
          </a:stretch>
        </p:blipFill>
        <p:spPr>
          <a:xfrm>
            <a:off x="10101383" y="2273111"/>
            <a:ext cx="2105868" cy="4595809"/>
          </a:xfrm>
          <a:prstGeom prst="rect">
            <a:avLst/>
          </a:prstGeom>
        </p:spPr>
      </p:pic>
      <p:pic>
        <p:nvPicPr>
          <p:cNvPr id="8" name="Image 6" descr="https://test.web.static.jianzeppt.com/ppt-temp-img3/785b4c7764742237954fb25c8a197f91.png"/>
          <p:cNvPicPr>
            <a:picLocks noChangeAspect="1"/>
          </p:cNvPicPr>
          <p:nvPr/>
        </p:nvPicPr>
        <p:blipFill>
          <a:blip r:embed="rId7"/>
          <a:stretch>
            <a:fillRect/>
          </a:stretch>
        </p:blipFill>
        <p:spPr>
          <a:xfrm>
            <a:off x="3782024" y="3802120"/>
            <a:ext cx="2104426" cy="3069770"/>
          </a:xfrm>
          <a:prstGeom prst="rect">
            <a:avLst/>
          </a:prstGeom>
        </p:spPr>
      </p:pic>
      <p:pic>
        <p:nvPicPr>
          <p:cNvPr id="9" name="Image 7" descr="https://test.web.static.jianzeppt.com/ppt-temp-img3/d6b73fd749a971aade8e0c5073b66807.png"/>
          <p:cNvPicPr>
            <a:picLocks noChangeAspect="1"/>
          </p:cNvPicPr>
          <p:nvPr/>
        </p:nvPicPr>
        <p:blipFill>
          <a:blip r:embed="rId8"/>
          <a:stretch>
            <a:fillRect/>
          </a:stretch>
        </p:blipFill>
        <p:spPr>
          <a:xfrm>
            <a:off x="9613224" y="2284033"/>
            <a:ext cx="2578776" cy="4584889"/>
          </a:xfrm>
          <a:prstGeom prst="rect">
            <a:avLst/>
          </a:prstGeom>
        </p:spPr>
      </p:pic>
      <p:sp>
        <p:nvSpPr>
          <p:cNvPr id="10" name="Text 0"/>
          <p:cNvSpPr/>
          <p:nvPr/>
        </p:nvSpPr>
        <p:spPr>
          <a:xfrm>
            <a:off x="577080" y="4577763"/>
            <a:ext cx="3321262" cy="544228"/>
          </a:xfrm>
          <a:prstGeom prst="rect">
            <a:avLst/>
          </a:prstGeom>
          <a:noFill/>
        </p:spPr>
        <p:txBody>
          <a:bodyPr wrap="square" lIns="0" tIns="0" rIns="0" bIns="0" rtlCol="0" anchor="ctr"/>
          <a:lstStyle/>
          <a:p>
            <a:pPr marL="0" indent="0" algn="ctr">
              <a:lnSpc>
                <a:spcPct val="120000"/>
              </a:lnSpc>
              <a:buNone/>
            </a:pPr>
            <a:r>
              <a:rPr lang="en-US" sz="2040" dirty="0">
                <a:solidFill>
                  <a:srgbClr val="000000"/>
                </a:solidFill>
              </a:rPr>
              <a:t>授课教师：</a:t>
            </a:r>
            <a:r>
              <a:rPr lang="zh-CN" altLang="en-US" sz="2040" dirty="0">
                <a:solidFill>
                  <a:srgbClr val="000000"/>
                </a:solidFill>
              </a:rPr>
              <a:t>张玉</a:t>
            </a:r>
            <a:endParaRPr lang="zh-CN" altLang="en-US" sz="2040" dirty="0">
              <a:solidFill>
                <a:srgbClr val="000000"/>
              </a:solidFill>
            </a:endParaRPr>
          </a:p>
        </p:txBody>
      </p:sp>
      <p:sp>
        <p:nvSpPr>
          <p:cNvPr id="11" name="Text 1"/>
          <p:cNvSpPr/>
          <p:nvPr/>
        </p:nvSpPr>
        <p:spPr>
          <a:xfrm>
            <a:off x="577068" y="1683313"/>
            <a:ext cx="5490553" cy="1828800"/>
          </a:xfrm>
          <a:prstGeom prst="rect">
            <a:avLst/>
          </a:prstGeom>
          <a:noFill/>
        </p:spPr>
        <p:txBody>
          <a:bodyPr wrap="square" lIns="0" tIns="0" rIns="0" bIns="0" rtlCol="0" anchor="b">
            <a:spAutoFit/>
          </a:bodyPr>
          <a:lstStyle/>
          <a:p>
            <a:pPr marL="0" indent="0" algn="l">
              <a:lnSpc>
                <a:spcPct val="120000"/>
              </a:lnSpc>
              <a:buNone/>
            </a:pPr>
            <a:r>
              <a:rPr lang="en-US" sz="6000" dirty="0">
                <a:solidFill>
                  <a:srgbClr val="FFFFFF"/>
                </a:solidFill>
              </a:rPr>
              <a:t>信息安全测评与风险评估</a:t>
            </a:r>
            <a:endParaRPr lang="en-US" sz="6000" dirty="0"/>
          </a:p>
        </p:txBody>
      </p:sp>
      <p:sp>
        <p:nvSpPr>
          <p:cNvPr id="12" name="Text 2"/>
          <p:cNvSpPr/>
          <p:nvPr/>
        </p:nvSpPr>
        <p:spPr>
          <a:xfrm>
            <a:off x="577068" y="3867726"/>
            <a:ext cx="4339657" cy="259080"/>
          </a:xfrm>
          <a:prstGeom prst="rect">
            <a:avLst/>
          </a:prstGeom>
          <a:noFill/>
        </p:spPr>
        <p:txBody>
          <a:bodyPr wrap="square" lIns="0" tIns="0" rIns="0" bIns="0" rtlCol="0" anchor="t">
            <a:spAutoFit/>
          </a:bodyPr>
          <a:lstStyle/>
          <a:p>
            <a:pPr marL="0" indent="0" algn="l">
              <a:lnSpc>
                <a:spcPct val="120000"/>
              </a:lnSpc>
              <a:buNone/>
            </a:pPr>
            <a:r>
              <a:rPr lang="en-US" sz="1680" dirty="0">
                <a:solidFill>
                  <a:srgbClr val="FFFFFF"/>
                </a:solidFill>
                <a:latin typeface="思源黑体 CN" pitchFamily="34" charset="0"/>
                <a:ea typeface="思源黑体 CN" pitchFamily="34" charset="-122"/>
                <a:cs typeface="思源黑体 CN" pitchFamily="34" charset="-120"/>
              </a:rPr>
              <a:t>6.3 编制完整等保测评报告</a:t>
            </a: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3d7a216c70ecba8f9c09a39add3fad53_6317120.png?x-oss-process=image/resize,w_1440,h_800,m_lfit/format,png"/>
          <p:cNvPicPr>
            <a:picLocks noChangeAspect="1"/>
          </p:cNvPicPr>
          <p:nvPr/>
        </p:nvPicPr>
        <p:blipFill>
          <a:blip r:embed="rId2"/>
          <a:stretch>
            <a:fillRect/>
          </a:stretch>
        </p:blipFill>
        <p:spPr>
          <a:xfrm>
            <a:off x="194345" y="245378"/>
            <a:ext cx="11803310" cy="6367244"/>
          </a:xfrm>
          <a:prstGeom prst="rect">
            <a:avLst/>
          </a:prstGeom>
        </p:spPr>
      </p:pic>
      <p:sp>
        <p:nvSpPr>
          <p:cNvPr id="4" name="Text 0"/>
          <p:cNvSpPr/>
          <p:nvPr/>
        </p:nvSpPr>
        <p:spPr>
          <a:xfrm>
            <a:off x="3206259" y="1359654"/>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01</a:t>
            </a:r>
            <a:endParaRPr lang="en-US" sz="3360" dirty="0"/>
          </a:p>
        </p:txBody>
      </p:sp>
      <p:sp>
        <p:nvSpPr>
          <p:cNvPr id="5" name="Text 1"/>
          <p:cNvSpPr/>
          <p:nvPr/>
        </p:nvSpPr>
        <p:spPr>
          <a:xfrm>
            <a:off x="3206259" y="2376246"/>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02</a:t>
            </a:r>
            <a:endParaRPr lang="en-US" sz="3360" dirty="0"/>
          </a:p>
        </p:txBody>
      </p:sp>
      <p:sp>
        <p:nvSpPr>
          <p:cNvPr id="6" name="Text 2"/>
          <p:cNvSpPr/>
          <p:nvPr/>
        </p:nvSpPr>
        <p:spPr>
          <a:xfrm>
            <a:off x="3206259" y="3392838"/>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03</a:t>
            </a:r>
            <a:endParaRPr lang="en-US" sz="3360" dirty="0"/>
          </a:p>
        </p:txBody>
      </p:sp>
      <p:sp>
        <p:nvSpPr>
          <p:cNvPr id="7" name="Text 3"/>
          <p:cNvSpPr/>
          <p:nvPr/>
        </p:nvSpPr>
        <p:spPr>
          <a:xfrm>
            <a:off x="3206259" y="4409431"/>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04</a:t>
            </a:r>
            <a:endParaRPr lang="en-US" sz="3360" dirty="0"/>
          </a:p>
        </p:txBody>
      </p:sp>
      <p:sp>
        <p:nvSpPr>
          <p:cNvPr id="8" name="Text 4"/>
          <p:cNvSpPr/>
          <p:nvPr/>
        </p:nvSpPr>
        <p:spPr>
          <a:xfrm>
            <a:off x="965498" y="2799393"/>
            <a:ext cx="1769654" cy="731520"/>
          </a:xfrm>
          <a:prstGeom prst="rect">
            <a:avLst/>
          </a:prstGeom>
          <a:noFill/>
        </p:spPr>
        <p:txBody>
          <a:bodyPr wrap="square" lIns="0" tIns="0" rIns="0" bIns="0" rtlCol="0" anchor="b">
            <a:spAutoFit/>
          </a:bodyPr>
          <a:lstStyle/>
          <a:p>
            <a:pPr marL="0" indent="0" algn="l">
              <a:lnSpc>
                <a:spcPct val="120000"/>
              </a:lnSpc>
              <a:buNone/>
            </a:pPr>
            <a:r>
              <a:rPr lang="en-US" sz="4800" dirty="0">
                <a:solidFill>
                  <a:srgbClr val="000000"/>
                </a:solidFill>
              </a:rPr>
              <a:t>目录</a:t>
            </a:r>
            <a:endParaRPr lang="en-US" sz="4800" dirty="0"/>
          </a:p>
        </p:txBody>
      </p:sp>
      <p:sp>
        <p:nvSpPr>
          <p:cNvPr id="9" name="Text 5"/>
          <p:cNvSpPr/>
          <p:nvPr/>
        </p:nvSpPr>
        <p:spPr>
          <a:xfrm>
            <a:off x="953110" y="3733353"/>
            <a:ext cx="3150109" cy="310896"/>
          </a:xfrm>
          <a:prstGeom prst="rect">
            <a:avLst/>
          </a:prstGeom>
          <a:noFill/>
        </p:spPr>
        <p:txBody>
          <a:bodyPr wrap="square" lIns="0" tIns="0" rIns="0" bIns="0" rtlCol="0" anchor="ctr">
            <a:spAutoFit/>
          </a:bodyPr>
          <a:lstStyle/>
          <a:p>
            <a:pPr marL="0" indent="0" algn="l">
              <a:lnSpc>
                <a:spcPct val="120000"/>
              </a:lnSpc>
              <a:buNone/>
            </a:pPr>
            <a:r>
              <a:rPr lang="en-US" sz="2040" dirty="0">
                <a:solidFill>
                  <a:srgbClr val="000000"/>
                </a:solidFill>
              </a:rPr>
              <a:t>CONTENTS</a:t>
            </a:r>
            <a:endParaRPr lang="en-US" sz="2040" dirty="0"/>
          </a:p>
        </p:txBody>
      </p:sp>
      <p:sp>
        <p:nvSpPr>
          <p:cNvPr id="10" name="Text 6"/>
          <p:cNvSpPr/>
          <p:nvPr/>
        </p:nvSpPr>
        <p:spPr>
          <a:xfrm>
            <a:off x="4246880" y="4368165"/>
            <a:ext cx="7542530" cy="55372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等保测评报告的规范格式</a:t>
            </a:r>
            <a:endParaRPr lang="en-US" sz="3000" dirty="0"/>
          </a:p>
        </p:txBody>
      </p:sp>
      <p:sp>
        <p:nvSpPr>
          <p:cNvPr id="11" name="Text 7"/>
          <p:cNvSpPr/>
          <p:nvPr/>
        </p:nvSpPr>
        <p:spPr>
          <a:xfrm>
            <a:off x="4246880" y="1318260"/>
            <a:ext cx="7542530" cy="55372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案例导入——“一份差评报告引发的信任危机”</a:t>
            </a:r>
            <a:endParaRPr lang="en-US" sz="3000" dirty="0"/>
          </a:p>
        </p:txBody>
      </p:sp>
      <p:sp>
        <p:nvSpPr>
          <p:cNvPr id="12" name="Text 8"/>
          <p:cNvSpPr/>
          <p:nvPr/>
        </p:nvSpPr>
        <p:spPr>
          <a:xfrm>
            <a:off x="4246880" y="3351530"/>
            <a:ext cx="7542530" cy="55372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等保测评报告——在测评工作中的定位</a:t>
            </a:r>
            <a:endParaRPr lang="en-US" sz="3000" dirty="0"/>
          </a:p>
        </p:txBody>
      </p:sp>
      <p:sp>
        <p:nvSpPr>
          <p:cNvPr id="13" name="Text 9"/>
          <p:cNvSpPr/>
          <p:nvPr/>
        </p:nvSpPr>
        <p:spPr>
          <a:xfrm>
            <a:off x="4246880" y="2341880"/>
            <a:ext cx="7542530" cy="55372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学习目标</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案例导入——“一份差评报告引发的信任危机”</a:t>
            </a:r>
            <a:endParaRPr lang="en-US" sz="2760" dirty="0"/>
          </a:p>
        </p:txBody>
      </p:sp>
      <p:pic>
        <p:nvPicPr>
          <p:cNvPr id="6" name="Image 3" descr="https://test.web.static.jianzeppt.com/ppt-temp-img3/4f6cfd52803fece77ac275ae1adc4159.png?x-oss-process=image/resize,w_1440,h_800,m_lfit/format,png"/>
          <p:cNvPicPr>
            <a:picLocks noChangeAspect="1"/>
          </p:cNvPicPr>
          <p:nvPr/>
        </p:nvPicPr>
        <p:blipFill>
          <a:blip r:embed="rId4"/>
          <a:stretch>
            <a:fillRect/>
          </a:stretch>
        </p:blipFill>
        <p:spPr>
          <a:xfrm>
            <a:off x="4648200" y="1371600"/>
            <a:ext cx="6934200" cy="609600"/>
          </a:xfrm>
          <a:prstGeom prst="rect">
            <a:avLst/>
          </a:prstGeom>
        </p:spPr>
      </p:pic>
      <p:sp>
        <p:nvSpPr>
          <p:cNvPr id="7" name="Text 1"/>
          <p:cNvSpPr/>
          <p:nvPr/>
        </p:nvSpPr>
        <p:spPr>
          <a:xfrm>
            <a:off x="4846320" y="1508760"/>
            <a:ext cx="654710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333333"/>
                </a:solidFill>
                <a:latin typeface="思源黑体 CN Bold" pitchFamily="34" charset="0"/>
                <a:ea typeface="思源黑体 CN Bold" pitchFamily="34" charset="-122"/>
                <a:cs typeface="思源黑体 CN Bold" pitchFamily="34" charset="-120"/>
              </a:rPr>
              <a:t>思考：一堆记录表，怎么变成专业的测评报告？</a:t>
            </a:r>
            <a:endParaRPr lang="en-US" sz="1800" dirty="0"/>
          </a:p>
        </p:txBody>
      </p:sp>
      <p:sp>
        <p:nvSpPr>
          <p:cNvPr id="8" name="Text 2"/>
          <p:cNvSpPr/>
          <p:nvPr/>
        </p:nvSpPr>
        <p:spPr>
          <a:xfrm>
            <a:off x="4648200" y="2148840"/>
            <a:ext cx="6943344" cy="294323"/>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333333"/>
                </a:solidFill>
                <a:latin typeface="思源黑体 CN Bold" pitchFamily="34" charset="0"/>
                <a:ea typeface="思源黑体 CN Bold" pitchFamily="34" charset="-122"/>
                <a:cs typeface="思源黑体 CN Bold" pitchFamily="34" charset="-120"/>
              </a:rPr>
              <a:t>机构问题：</a:t>
            </a:r>
            <a:r>
              <a:rPr lang="en-US" sz="1680" dirty="0">
                <a:solidFill>
                  <a:srgbClr val="333333"/>
                </a:solidFill>
                <a:latin typeface="思源黑体 CN Regular" pitchFamily="34" charset="0"/>
                <a:ea typeface="思源黑体 CN Regular" pitchFamily="34" charset="-122"/>
                <a:cs typeface="思源黑体 CN Regular" pitchFamily="34" charset="-120"/>
              </a:rPr>
              <a:t>现场认真记录，但提交的报告存在：</a:t>
            </a:r>
            <a:endParaRPr lang="en-US" sz="1680" dirty="0"/>
          </a:p>
        </p:txBody>
      </p:sp>
      <p:pic>
        <p:nvPicPr>
          <p:cNvPr id="9"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48200" y="2575560"/>
            <a:ext cx="3383280" cy="853440"/>
          </a:xfrm>
          <a:prstGeom prst="rect">
            <a:avLst/>
          </a:prstGeom>
        </p:spPr>
      </p:pic>
      <p:pic>
        <p:nvPicPr>
          <p:cNvPr id="10"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5360" y="2849880"/>
            <a:ext cx="91440" cy="91440"/>
          </a:xfrm>
          <a:prstGeom prst="rect">
            <a:avLst/>
          </a:prstGeom>
        </p:spPr>
      </p:pic>
      <p:sp>
        <p:nvSpPr>
          <p:cNvPr id="11" name="Text 3"/>
          <p:cNvSpPr/>
          <p:nvPr/>
        </p:nvSpPr>
        <p:spPr>
          <a:xfrm>
            <a:off x="4968240" y="271272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333333"/>
                </a:solidFill>
                <a:latin typeface="思源黑体 CN Bold" pitchFamily="34" charset="0"/>
                <a:ea typeface="思源黑体 CN Bold" pitchFamily="34" charset="-122"/>
                <a:cs typeface="思源黑体 CN Bold" pitchFamily="34" charset="-120"/>
              </a:rPr>
              <a:t>格式混乱</a:t>
            </a:r>
            <a:endParaRPr lang="en-US" sz="1920" dirty="0"/>
          </a:p>
        </p:txBody>
      </p:sp>
      <p:sp>
        <p:nvSpPr>
          <p:cNvPr id="12" name="Text 4"/>
          <p:cNvSpPr/>
          <p:nvPr/>
        </p:nvSpPr>
        <p:spPr>
          <a:xfrm>
            <a:off x="4785360" y="3108960"/>
            <a:ext cx="3118104" cy="294323"/>
          </a:xfrm>
          <a:prstGeom prst="rect">
            <a:avLst/>
          </a:prstGeom>
          <a:noFill/>
        </p:spPr>
        <p:txBody>
          <a:bodyPr wrap="none" lIns="0" tIns="0" rIns="0" bIns="0" rtlCol="0" anchor="t">
            <a:spAutoFit/>
          </a:bodyPr>
          <a:lstStyle/>
          <a:p>
            <a:pPr marL="0" indent="0" algn="l">
              <a:lnSpc>
                <a:spcPct val="100000"/>
              </a:lnSpc>
              <a:buNone/>
            </a:pPr>
            <a:r>
              <a:rPr lang="en-US" sz="1680" dirty="0">
                <a:solidFill>
                  <a:srgbClr val="666666"/>
                </a:solidFill>
                <a:latin typeface="思源黑体 CN Regular" pitchFamily="34" charset="0"/>
                <a:ea typeface="思源黑体 CN Regular" pitchFamily="34" charset="-122"/>
                <a:cs typeface="思源黑体 CN Regular" pitchFamily="34" charset="-120"/>
              </a:rPr>
              <a:t>缺公章、页码错乱、字体不一</a:t>
            </a:r>
            <a:endParaRPr lang="en-US" sz="1680" dirty="0"/>
          </a:p>
        </p:txBody>
      </p:sp>
      <p:pic>
        <p:nvPicPr>
          <p:cNvPr id="13"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14360" y="2575560"/>
            <a:ext cx="3383280" cy="853440"/>
          </a:xfrm>
          <a:prstGeom prst="rect">
            <a:avLst/>
          </a:prstGeom>
        </p:spPr>
      </p:pic>
      <p:pic>
        <p:nvPicPr>
          <p:cNvPr id="14"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1520" y="2849880"/>
            <a:ext cx="91440" cy="91440"/>
          </a:xfrm>
          <a:prstGeom prst="rect">
            <a:avLst/>
          </a:prstGeom>
        </p:spPr>
      </p:pic>
      <p:sp>
        <p:nvSpPr>
          <p:cNvPr id="15" name="Text 5"/>
          <p:cNvSpPr/>
          <p:nvPr/>
        </p:nvSpPr>
        <p:spPr>
          <a:xfrm>
            <a:off x="8534400" y="271272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333333"/>
                </a:solidFill>
                <a:latin typeface="思源黑体 CN Bold" pitchFamily="34" charset="0"/>
                <a:ea typeface="思源黑体 CN Bold" pitchFamily="34" charset="-122"/>
                <a:cs typeface="思源黑体 CN Bold" pitchFamily="34" charset="-120"/>
              </a:rPr>
              <a:t>结论模糊</a:t>
            </a:r>
            <a:endParaRPr lang="en-US" sz="1920" dirty="0"/>
          </a:p>
        </p:txBody>
      </p:sp>
      <p:sp>
        <p:nvSpPr>
          <p:cNvPr id="16" name="Text 6"/>
          <p:cNvSpPr/>
          <p:nvPr/>
        </p:nvSpPr>
        <p:spPr>
          <a:xfrm>
            <a:off x="8351520" y="3108960"/>
            <a:ext cx="3118104" cy="294323"/>
          </a:xfrm>
          <a:prstGeom prst="rect">
            <a:avLst/>
          </a:prstGeom>
          <a:noFill/>
        </p:spPr>
        <p:txBody>
          <a:bodyPr wrap="none" lIns="0" tIns="0" rIns="0" bIns="0" rtlCol="0" anchor="t">
            <a:spAutoFit/>
          </a:bodyPr>
          <a:lstStyle/>
          <a:p>
            <a:pPr marL="0" indent="0" algn="l">
              <a:lnSpc>
                <a:spcPct val="100000"/>
              </a:lnSpc>
              <a:buNone/>
            </a:pPr>
            <a:r>
              <a:rPr lang="en-US" sz="1680" dirty="0">
                <a:solidFill>
                  <a:srgbClr val="666666"/>
                </a:solidFill>
                <a:latin typeface="思源黑体 CN Regular" pitchFamily="34" charset="0"/>
                <a:ea typeface="思源黑体 CN Regular" pitchFamily="34" charset="-122"/>
                <a:cs typeface="思源黑体 CN Regular" pitchFamily="34" charset="-120"/>
              </a:rPr>
              <a:t>判定依据不足，前后矛盾</a:t>
            </a:r>
            <a:endParaRPr lang="en-US" sz="1680" dirty="0"/>
          </a:p>
        </p:txBody>
      </p:sp>
      <p:pic>
        <p:nvPicPr>
          <p:cNvPr id="17" name="Image 8"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48200" y="3550920"/>
            <a:ext cx="3383280" cy="853440"/>
          </a:xfrm>
          <a:prstGeom prst="rect">
            <a:avLst/>
          </a:prstGeom>
        </p:spPr>
      </p:pic>
      <p:pic>
        <p:nvPicPr>
          <p:cNvPr id="18" name="Image 9"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5360" y="3825240"/>
            <a:ext cx="91440" cy="91440"/>
          </a:xfrm>
          <a:prstGeom prst="rect">
            <a:avLst/>
          </a:prstGeom>
        </p:spPr>
      </p:pic>
      <p:sp>
        <p:nvSpPr>
          <p:cNvPr id="19" name="Text 7"/>
          <p:cNvSpPr/>
          <p:nvPr/>
        </p:nvSpPr>
        <p:spPr>
          <a:xfrm>
            <a:off x="4968240" y="368808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333333"/>
                </a:solidFill>
                <a:latin typeface="思源黑体 CN Bold" pitchFamily="34" charset="0"/>
                <a:ea typeface="思源黑体 CN Bold" pitchFamily="34" charset="-122"/>
                <a:cs typeface="思源黑体 CN Bold" pitchFamily="34" charset="-120"/>
              </a:rPr>
              <a:t>描述笼统</a:t>
            </a:r>
            <a:endParaRPr lang="en-US" sz="1920" dirty="0"/>
          </a:p>
        </p:txBody>
      </p:sp>
      <p:sp>
        <p:nvSpPr>
          <p:cNvPr id="20" name="Text 8"/>
          <p:cNvSpPr/>
          <p:nvPr/>
        </p:nvSpPr>
        <p:spPr>
          <a:xfrm>
            <a:off x="4785360" y="4084320"/>
            <a:ext cx="3118104" cy="294323"/>
          </a:xfrm>
          <a:prstGeom prst="rect">
            <a:avLst/>
          </a:prstGeom>
          <a:noFill/>
        </p:spPr>
        <p:txBody>
          <a:bodyPr wrap="none" lIns="0" tIns="0" rIns="0" bIns="0" rtlCol="0" anchor="t">
            <a:spAutoFit/>
          </a:bodyPr>
          <a:lstStyle/>
          <a:p>
            <a:pPr marL="0" indent="0" algn="l">
              <a:lnSpc>
                <a:spcPct val="100000"/>
              </a:lnSpc>
              <a:buNone/>
            </a:pPr>
            <a:r>
              <a:rPr lang="en-US" sz="1680" dirty="0">
                <a:solidFill>
                  <a:srgbClr val="666666"/>
                </a:solidFill>
                <a:latin typeface="思源黑体 CN Regular" pitchFamily="34" charset="0"/>
                <a:ea typeface="思源黑体 CN Regular" pitchFamily="34" charset="-122"/>
                <a:cs typeface="思源黑体 CN Regular" pitchFamily="34" charset="-120"/>
              </a:rPr>
              <a:t>无具体问题描述和风险分析</a:t>
            </a:r>
            <a:endParaRPr lang="en-US" sz="1680" dirty="0"/>
          </a:p>
        </p:txBody>
      </p:sp>
      <p:pic>
        <p:nvPicPr>
          <p:cNvPr id="21" name="Image 1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14360" y="3550920"/>
            <a:ext cx="3383280" cy="853440"/>
          </a:xfrm>
          <a:prstGeom prst="rect">
            <a:avLst/>
          </a:prstGeom>
        </p:spPr>
      </p:pic>
      <p:pic>
        <p:nvPicPr>
          <p:cNvPr id="22" name="Image 11"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1520" y="3825240"/>
            <a:ext cx="91440" cy="91440"/>
          </a:xfrm>
          <a:prstGeom prst="rect">
            <a:avLst/>
          </a:prstGeom>
        </p:spPr>
      </p:pic>
      <p:sp>
        <p:nvSpPr>
          <p:cNvPr id="23" name="Text 9"/>
          <p:cNvSpPr/>
          <p:nvPr/>
        </p:nvSpPr>
        <p:spPr>
          <a:xfrm>
            <a:off x="8534400" y="368808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333333"/>
                </a:solidFill>
                <a:latin typeface="思源黑体 CN Bold" pitchFamily="34" charset="0"/>
                <a:ea typeface="思源黑体 CN Bold" pitchFamily="34" charset="-122"/>
                <a:cs typeface="思源黑体 CN Bold" pitchFamily="34" charset="-120"/>
              </a:rPr>
              <a:t>建议空洞</a:t>
            </a:r>
            <a:endParaRPr lang="en-US" sz="1920" dirty="0"/>
          </a:p>
        </p:txBody>
      </p:sp>
      <p:sp>
        <p:nvSpPr>
          <p:cNvPr id="24" name="Text 10"/>
          <p:cNvSpPr/>
          <p:nvPr/>
        </p:nvSpPr>
        <p:spPr>
          <a:xfrm>
            <a:off x="8351520" y="4084320"/>
            <a:ext cx="3118104" cy="294323"/>
          </a:xfrm>
          <a:prstGeom prst="rect">
            <a:avLst/>
          </a:prstGeom>
          <a:noFill/>
        </p:spPr>
        <p:txBody>
          <a:bodyPr wrap="none" lIns="0" tIns="0" rIns="0" bIns="0" rtlCol="0" anchor="t">
            <a:spAutoFit/>
          </a:bodyPr>
          <a:lstStyle/>
          <a:p>
            <a:pPr marL="0" indent="0" algn="l">
              <a:lnSpc>
                <a:spcPct val="100000"/>
              </a:lnSpc>
              <a:buNone/>
            </a:pPr>
            <a:r>
              <a:rPr lang="en-US" sz="1680" dirty="0">
                <a:solidFill>
                  <a:srgbClr val="666666"/>
                </a:solidFill>
                <a:latin typeface="思源黑体 CN Regular" pitchFamily="34" charset="0"/>
                <a:ea typeface="思源黑体 CN Regular" pitchFamily="34" charset="-122"/>
                <a:cs typeface="思源黑体 CN Regular" pitchFamily="34" charset="-120"/>
              </a:rPr>
              <a:t>缺乏实操性，如“加强管理”</a:t>
            </a:r>
            <a:endParaRPr lang="en-US" sz="1680" dirty="0"/>
          </a:p>
        </p:txBody>
      </p:sp>
      <p:pic>
        <p:nvPicPr>
          <p:cNvPr id="25" name="Image 12"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48200" y="4572000"/>
            <a:ext cx="6934200" cy="1831340"/>
          </a:xfrm>
          <a:prstGeom prst="rect">
            <a:avLst/>
          </a:prstGeom>
          <a:effectLst>
            <a:outerShdw blurRad="387096000" dist="193548000" dir="-1" algn="bl" rotWithShape="0">
              <a:srgbClr val="000000">
                <a:alpha val="500000000"/>
              </a:srgbClr>
            </a:outerShdw>
          </a:effectLst>
        </p:spPr>
      </p:pic>
      <p:pic>
        <p:nvPicPr>
          <p:cNvPr id="26" name="Image 13" descr="https://test.web.static.jianzeppt.com/ppt-temp-img3/0ee41f1b592e554229e0d03d3008c6fa.png?x-oss-process=image/resize,w_1440,h_800,m_lfit/format,png"/>
          <p:cNvPicPr>
            <a:picLocks noChangeAspect="1"/>
          </p:cNvPicPr>
          <p:nvPr/>
        </p:nvPicPr>
        <p:blipFill>
          <a:blip r:embed="rId11"/>
          <a:stretch>
            <a:fillRect/>
          </a:stretch>
        </p:blipFill>
        <p:spPr>
          <a:xfrm>
            <a:off x="4663440" y="4587240"/>
            <a:ext cx="6903720" cy="487680"/>
          </a:xfrm>
          <a:prstGeom prst="rect">
            <a:avLst/>
          </a:prstGeom>
        </p:spPr>
      </p:pic>
      <p:sp>
        <p:nvSpPr>
          <p:cNvPr id="27" name="Text 11"/>
          <p:cNvSpPr/>
          <p:nvPr/>
        </p:nvSpPr>
        <p:spPr>
          <a:xfrm>
            <a:off x="4846320" y="4663440"/>
            <a:ext cx="6547104" cy="294323"/>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66A9F9"/>
                </a:solidFill>
                <a:latin typeface="思源黑体 CN Bold" pitchFamily="34" charset="0"/>
                <a:ea typeface="思源黑体 CN Bold" pitchFamily="34" charset="-122"/>
                <a:cs typeface="思源黑体 CN Bold" pitchFamily="34" charset="-120"/>
              </a:rPr>
              <a:t>结果：</a:t>
            </a:r>
            <a:r>
              <a:rPr lang="en-US" sz="1680" dirty="0">
                <a:solidFill>
                  <a:srgbClr val="FFFFFF"/>
                </a:solidFill>
                <a:latin typeface="思源黑体 CN Regular" pitchFamily="34" charset="0"/>
                <a:ea typeface="思源黑体 CN Regular" pitchFamily="34" charset="-122"/>
                <a:cs typeface="思源黑体 CN Regular" pitchFamily="34" charset="-120"/>
              </a:rPr>
              <a:t>客户拒付尾款，列入黑名单。</a:t>
            </a:r>
            <a:endParaRPr lang="en-US" sz="1680" dirty="0"/>
          </a:p>
        </p:txBody>
      </p:sp>
      <p:pic>
        <p:nvPicPr>
          <p:cNvPr id="28" name="Image 14"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6320" y="5349240"/>
            <a:ext cx="60960" cy="182880"/>
          </a:xfrm>
          <a:prstGeom prst="rect">
            <a:avLst/>
          </a:prstGeom>
        </p:spPr>
      </p:pic>
      <p:sp>
        <p:nvSpPr>
          <p:cNvPr id="29" name="Text 12"/>
          <p:cNvSpPr/>
          <p:nvPr/>
        </p:nvSpPr>
        <p:spPr>
          <a:xfrm>
            <a:off x="4998720" y="525780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333333"/>
                </a:solidFill>
                <a:latin typeface="思源黑体 CN Bold" pitchFamily="34" charset="0"/>
                <a:ea typeface="思源黑体 CN Bold" pitchFamily="34" charset="-122"/>
                <a:cs typeface="思源黑体 CN Bold" pitchFamily="34" charset="-120"/>
              </a:rPr>
              <a:t>问题讨论</a:t>
            </a:r>
            <a:endParaRPr lang="en-US" sz="1920" dirty="0"/>
          </a:p>
        </p:txBody>
      </p:sp>
      <p:sp>
        <p:nvSpPr>
          <p:cNvPr id="30" name="Text 13"/>
          <p:cNvSpPr/>
          <p:nvPr/>
        </p:nvSpPr>
        <p:spPr>
          <a:xfrm>
            <a:off x="4846320" y="5699760"/>
            <a:ext cx="6547104" cy="594360"/>
          </a:xfrm>
          <a:prstGeom prst="rect">
            <a:avLst/>
          </a:prstGeom>
          <a:noFill/>
        </p:spPr>
        <p:txBody>
          <a:bodyPr wrap="square" lIns="0" tIns="0" rIns="0" bIns="0" rtlCol="0" anchor="t">
            <a:spAutoFit/>
          </a:bodyPr>
          <a:lstStyle/>
          <a:p>
            <a:pPr marL="213360" indent="-213360">
              <a:lnSpc>
                <a:spcPct val="138000"/>
              </a:lnSpc>
              <a:buSzPct val="100000"/>
              <a:buChar char="•"/>
            </a:pPr>
            <a:r>
              <a:rPr lang="en-US" sz="1680" dirty="0">
                <a:solidFill>
                  <a:srgbClr val="666666"/>
                </a:solidFill>
                <a:latin typeface="思源黑体 CN Regular" pitchFamily="34" charset="0"/>
                <a:ea typeface="思源黑体 CN Regular" pitchFamily="34" charset="-122"/>
                <a:cs typeface="思源黑体 CN Regular" pitchFamily="34" charset="-120"/>
              </a:rPr>
              <a:t>这份报告存在哪些问题？好报告应具备什么特征？</a:t>
            </a:r>
            <a:endParaRPr lang="en-US" sz="1680" dirty="0"/>
          </a:p>
          <a:p>
            <a:pPr marL="213360" indent="-213360">
              <a:lnSpc>
                <a:spcPct val="138000"/>
              </a:lnSpc>
              <a:buSzPct val="100000"/>
              <a:buChar char="•"/>
            </a:pPr>
            <a:r>
              <a:rPr lang="en-US" sz="1680" dirty="0">
                <a:solidFill>
                  <a:srgbClr val="666666"/>
                </a:solidFill>
                <a:latin typeface="思源黑体 CN Regular" pitchFamily="34" charset="0"/>
                <a:ea typeface="思源黑体 CN Regular" pitchFamily="34" charset="-122"/>
                <a:cs typeface="思源黑体 CN Regular" pitchFamily="34" charset="-120"/>
              </a:rPr>
              <a:t>报告质量反映了团队什么能力？</a:t>
            </a:r>
            <a:endParaRPr lang="en-US" sz="1680" dirty="0"/>
          </a:p>
        </p:txBody>
      </p:sp>
      <p:pic>
        <p:nvPicPr>
          <p:cNvPr id="31" name="Image 15"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09600" y="1371600"/>
            <a:ext cx="3749040" cy="5039360"/>
          </a:xfrm>
          <a:prstGeom prst="rect">
            <a:avLst/>
          </a:prstGeom>
          <a:effectLst>
            <a:outerShdw blurRad="387096000" dist="193548000" dir="-1" algn="bl" rotWithShape="0">
              <a:srgbClr val="000000">
                <a:alpha val="500000000"/>
              </a:srgbClr>
            </a:outerShdw>
          </a:effectLst>
        </p:spPr>
      </p:pic>
      <p:pic>
        <p:nvPicPr>
          <p:cNvPr id="32" name="Image 16" descr="https://test.web.static.jianzeppt.com/ppt-temp-img3/545f6f625d84ebbc432862888daee2d0.png?x-oss-process=image/resize,w_1440,h_800,m_lfit/format,png"/>
          <p:cNvPicPr>
            <a:picLocks noChangeAspect="1"/>
          </p:cNvPicPr>
          <p:nvPr/>
        </p:nvPicPr>
        <p:blipFill>
          <a:blip r:embed="rId16"/>
          <a:stretch>
            <a:fillRect/>
          </a:stretch>
        </p:blipFill>
        <p:spPr>
          <a:xfrm>
            <a:off x="624840" y="1386840"/>
            <a:ext cx="3718560" cy="50577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学习目标</a:t>
            </a:r>
            <a:endParaRPr lang="en-US" sz="2760" dirty="0"/>
          </a:p>
        </p:txBody>
      </p:sp>
      <p:sp>
        <p:nvSpPr>
          <p:cNvPr id="6" name="Text 1"/>
          <p:cNvSpPr/>
          <p:nvPr/>
        </p:nvSpPr>
        <p:spPr>
          <a:xfrm>
            <a:off x="609600" y="1219200"/>
            <a:ext cx="330098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666666"/>
                </a:solidFill>
                <a:latin typeface="思源黑体 CN Regular" pitchFamily="34" charset="0"/>
                <a:ea typeface="思源黑体 CN Regular" pitchFamily="34" charset="-122"/>
                <a:cs typeface="思源黑体 CN Regular" pitchFamily="34" charset="-120"/>
              </a:rPr>
              <a:t>通过本课学习，你将能够：</a:t>
            </a:r>
            <a:endParaRPr lang="en-US" sz="2160" dirty="0"/>
          </a:p>
        </p:txBody>
      </p:sp>
      <p:pic>
        <p:nvPicPr>
          <p:cNvPr id="7" name="Image 3" descr="https://test.web.static.jianzeppt.com/ppt-temp-img3/cf6791f7bb8dc9fbfe4c32fc1d6b39a6.png?x-oss-process=image/resize,w_1440,h_800,m_lfit/format,png"/>
          <p:cNvPicPr>
            <a:picLocks noChangeAspect="1"/>
          </p:cNvPicPr>
          <p:nvPr/>
        </p:nvPicPr>
        <p:blipFill>
          <a:blip r:embed="rId4"/>
          <a:stretch>
            <a:fillRect/>
          </a:stretch>
        </p:blipFill>
        <p:spPr>
          <a:xfrm>
            <a:off x="609600" y="1828800"/>
            <a:ext cx="10972800" cy="731520"/>
          </a:xfrm>
          <a:prstGeom prst="rect">
            <a:avLst/>
          </a:prstGeom>
        </p:spPr>
      </p:pic>
      <p:pic>
        <p:nvPicPr>
          <p:cNvPr id="8" name="Image 4" descr="https://test.web.static.jianzeppt.com/ppt-temp-img3/69253d6412a165cb0013d91bfdfe07b6.png?x-oss-process=image/resize,w_1440,h_800,m_lfit/format,png"/>
          <p:cNvPicPr>
            <a:picLocks noChangeAspect="1"/>
          </p:cNvPicPr>
          <p:nvPr/>
        </p:nvPicPr>
        <p:blipFill>
          <a:blip r:embed="rId5"/>
          <a:stretch>
            <a:fillRect/>
          </a:stretch>
        </p:blipFill>
        <p:spPr>
          <a:xfrm>
            <a:off x="609600" y="1828800"/>
            <a:ext cx="1219200" cy="731520"/>
          </a:xfrm>
          <a:prstGeom prst="rect">
            <a:avLst/>
          </a:prstGeom>
        </p:spPr>
      </p:pic>
      <p:sp>
        <p:nvSpPr>
          <p:cNvPr id="9" name="Text 2"/>
          <p:cNvSpPr/>
          <p:nvPr/>
        </p:nvSpPr>
        <p:spPr>
          <a:xfrm>
            <a:off x="914400" y="1965960"/>
            <a:ext cx="618744" cy="441960"/>
          </a:xfrm>
          <a:prstGeom prst="rect">
            <a:avLst/>
          </a:prstGeom>
          <a:noFill/>
        </p:spPr>
        <p:txBody>
          <a:bodyPr wrap="none" lIns="0" tIns="0" rIns="0" bIns="0" rtlCol="0" anchor="ctr"/>
          <a:lstStyle/>
          <a:p>
            <a:pPr marL="0" indent="0" algn="ctr">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理解</a:t>
            </a:r>
            <a:endParaRPr lang="en-US" sz="2400" dirty="0"/>
          </a:p>
        </p:txBody>
      </p:sp>
      <p:sp>
        <p:nvSpPr>
          <p:cNvPr id="10" name="Text 3"/>
          <p:cNvSpPr/>
          <p:nvPr/>
        </p:nvSpPr>
        <p:spPr>
          <a:xfrm>
            <a:off x="2133600" y="1996440"/>
            <a:ext cx="915314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等保测评报告的规范格式与编制要求</a:t>
            </a:r>
            <a:endParaRPr lang="en-US" sz="2160" dirty="0"/>
          </a:p>
        </p:txBody>
      </p:sp>
      <p:pic>
        <p:nvPicPr>
          <p:cNvPr id="11" name="Image 5" descr="https://test.web.static.jianzeppt.com/ppt-temp-img3/cf6791f7bb8dc9fbfe4c32fc1d6b39a6.png?x-oss-process=image/resize,w_1440,h_800,m_lfit/format,png"/>
          <p:cNvPicPr>
            <a:picLocks noChangeAspect="1"/>
          </p:cNvPicPr>
          <p:nvPr/>
        </p:nvPicPr>
        <p:blipFill>
          <a:blip r:embed="rId4"/>
          <a:stretch>
            <a:fillRect/>
          </a:stretch>
        </p:blipFill>
        <p:spPr>
          <a:xfrm>
            <a:off x="609600" y="2834640"/>
            <a:ext cx="10972800" cy="731520"/>
          </a:xfrm>
          <a:prstGeom prst="rect">
            <a:avLst/>
          </a:prstGeom>
        </p:spPr>
      </p:pic>
      <p:pic>
        <p:nvPicPr>
          <p:cNvPr id="12" name="Image 6" descr="https://test.web.static.jianzeppt.com/ppt-temp-img3/da129dea9317a9625eccd152fdcacd22.png?x-oss-process=image/resize,w_1440,h_800,m_lfit/format,png"/>
          <p:cNvPicPr>
            <a:picLocks noChangeAspect="1"/>
          </p:cNvPicPr>
          <p:nvPr/>
        </p:nvPicPr>
        <p:blipFill>
          <a:blip r:embed="rId5"/>
          <a:stretch>
            <a:fillRect/>
          </a:stretch>
        </p:blipFill>
        <p:spPr>
          <a:xfrm>
            <a:off x="609600" y="2834640"/>
            <a:ext cx="1219200" cy="731520"/>
          </a:xfrm>
          <a:prstGeom prst="rect">
            <a:avLst/>
          </a:prstGeom>
        </p:spPr>
      </p:pic>
      <p:sp>
        <p:nvSpPr>
          <p:cNvPr id="13" name="Text 4"/>
          <p:cNvSpPr/>
          <p:nvPr/>
        </p:nvSpPr>
        <p:spPr>
          <a:xfrm>
            <a:off x="914400" y="2971800"/>
            <a:ext cx="618744" cy="441960"/>
          </a:xfrm>
          <a:prstGeom prst="rect">
            <a:avLst/>
          </a:prstGeom>
          <a:noFill/>
        </p:spPr>
        <p:txBody>
          <a:bodyPr wrap="none" lIns="0" tIns="0" rIns="0" bIns="0" rtlCol="0" anchor="ctr"/>
          <a:lstStyle/>
          <a:p>
            <a:pPr marL="0" indent="0" algn="ctr">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掌握</a:t>
            </a:r>
            <a:endParaRPr lang="en-US" sz="2400" dirty="0"/>
          </a:p>
        </p:txBody>
      </p:sp>
      <p:sp>
        <p:nvSpPr>
          <p:cNvPr id="14" name="Text 5"/>
          <p:cNvSpPr/>
          <p:nvPr/>
        </p:nvSpPr>
        <p:spPr>
          <a:xfrm>
            <a:off x="2133600" y="2987040"/>
            <a:ext cx="915314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单项测评结论的判定方法（符合/部分符合/不符合/不适用）</a:t>
            </a:r>
            <a:endParaRPr lang="en-US" sz="2160" dirty="0"/>
          </a:p>
        </p:txBody>
      </p:sp>
      <p:pic>
        <p:nvPicPr>
          <p:cNvPr id="15" name="Image 7" descr="https://test.web.static.jianzeppt.com/ppt-temp-img3/cf6791f7bb8dc9fbfe4c32fc1d6b39a6.png?x-oss-process=image/resize,w_1440,h_800,m_lfit/format,png"/>
          <p:cNvPicPr>
            <a:picLocks noChangeAspect="1"/>
          </p:cNvPicPr>
          <p:nvPr/>
        </p:nvPicPr>
        <p:blipFill>
          <a:blip r:embed="rId4"/>
          <a:stretch>
            <a:fillRect/>
          </a:stretch>
        </p:blipFill>
        <p:spPr>
          <a:xfrm>
            <a:off x="609600" y="3825240"/>
            <a:ext cx="10972800" cy="731520"/>
          </a:xfrm>
          <a:prstGeom prst="rect">
            <a:avLst/>
          </a:prstGeom>
        </p:spPr>
      </p:pic>
      <p:pic>
        <p:nvPicPr>
          <p:cNvPr id="16" name="Image 8" descr="https://test.web.static.jianzeppt.com/ppt-temp-img3/0ce4607782e77fbaa2f05b98c4413912.png?x-oss-process=image/resize,w_1440,h_800,m_lfit/format,png"/>
          <p:cNvPicPr>
            <a:picLocks noChangeAspect="1"/>
          </p:cNvPicPr>
          <p:nvPr/>
        </p:nvPicPr>
        <p:blipFill>
          <a:blip r:embed="rId5"/>
          <a:stretch>
            <a:fillRect/>
          </a:stretch>
        </p:blipFill>
        <p:spPr>
          <a:xfrm>
            <a:off x="609600" y="3825240"/>
            <a:ext cx="1219200" cy="731520"/>
          </a:xfrm>
          <a:prstGeom prst="rect">
            <a:avLst/>
          </a:prstGeom>
        </p:spPr>
      </p:pic>
      <p:sp>
        <p:nvSpPr>
          <p:cNvPr id="17" name="Text 6"/>
          <p:cNvSpPr/>
          <p:nvPr/>
        </p:nvSpPr>
        <p:spPr>
          <a:xfrm>
            <a:off x="914400" y="3962400"/>
            <a:ext cx="618744" cy="441960"/>
          </a:xfrm>
          <a:prstGeom prst="rect">
            <a:avLst/>
          </a:prstGeom>
          <a:noFill/>
        </p:spPr>
        <p:txBody>
          <a:bodyPr wrap="none" lIns="0" tIns="0" rIns="0" bIns="0" rtlCol="0" anchor="ctr"/>
          <a:lstStyle/>
          <a:p>
            <a:pPr marL="0" indent="0" algn="ctr">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掌握</a:t>
            </a:r>
            <a:endParaRPr lang="en-US" sz="2400" dirty="0"/>
          </a:p>
        </p:txBody>
      </p:sp>
      <p:sp>
        <p:nvSpPr>
          <p:cNvPr id="18" name="Text 7"/>
          <p:cNvSpPr/>
          <p:nvPr/>
        </p:nvSpPr>
        <p:spPr>
          <a:xfrm>
            <a:off x="2133600" y="3992880"/>
            <a:ext cx="915314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系统整体测评结论的形成方法</a:t>
            </a:r>
            <a:endParaRPr lang="en-US" sz="2160" dirty="0"/>
          </a:p>
        </p:txBody>
      </p:sp>
      <p:pic>
        <p:nvPicPr>
          <p:cNvPr id="19" name="Image 9" descr="https://test.web.static.jianzeppt.com/ppt-temp-img3/cf6791f7bb8dc9fbfe4c32fc1d6b39a6.png?x-oss-process=image/resize,w_1440,h_800,m_lfit/format,png"/>
          <p:cNvPicPr>
            <a:picLocks noChangeAspect="1"/>
          </p:cNvPicPr>
          <p:nvPr/>
        </p:nvPicPr>
        <p:blipFill>
          <a:blip r:embed="rId4"/>
          <a:stretch>
            <a:fillRect/>
          </a:stretch>
        </p:blipFill>
        <p:spPr>
          <a:xfrm>
            <a:off x="609600" y="4831080"/>
            <a:ext cx="10972800" cy="731520"/>
          </a:xfrm>
          <a:prstGeom prst="rect">
            <a:avLst/>
          </a:prstGeom>
        </p:spPr>
      </p:pic>
      <p:pic>
        <p:nvPicPr>
          <p:cNvPr id="20" name="Image 10" descr="https://test.web.static.jianzeppt.com/ppt-temp-img3/84808d4f47a29c3b1be3aa24ffe96f3a.png?x-oss-process=image/resize,w_1440,h_800,m_lfit/format,png"/>
          <p:cNvPicPr>
            <a:picLocks noChangeAspect="1"/>
          </p:cNvPicPr>
          <p:nvPr/>
        </p:nvPicPr>
        <p:blipFill>
          <a:blip r:embed="rId5"/>
          <a:stretch>
            <a:fillRect/>
          </a:stretch>
        </p:blipFill>
        <p:spPr>
          <a:xfrm>
            <a:off x="609600" y="4831080"/>
            <a:ext cx="1219200" cy="731520"/>
          </a:xfrm>
          <a:prstGeom prst="rect">
            <a:avLst/>
          </a:prstGeom>
        </p:spPr>
      </p:pic>
      <p:sp>
        <p:nvSpPr>
          <p:cNvPr id="21" name="Text 8"/>
          <p:cNvSpPr/>
          <p:nvPr/>
        </p:nvSpPr>
        <p:spPr>
          <a:xfrm>
            <a:off x="914400" y="4968240"/>
            <a:ext cx="618744" cy="441960"/>
          </a:xfrm>
          <a:prstGeom prst="rect">
            <a:avLst/>
          </a:prstGeom>
          <a:noFill/>
        </p:spPr>
        <p:txBody>
          <a:bodyPr wrap="none" lIns="0" tIns="0" rIns="0" bIns="0" rtlCol="0" anchor="ctr"/>
          <a:lstStyle/>
          <a:p>
            <a:pPr marL="0" indent="0" algn="ctr">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能够</a:t>
            </a:r>
            <a:endParaRPr lang="en-US" sz="2400" dirty="0"/>
          </a:p>
        </p:txBody>
      </p:sp>
      <p:sp>
        <p:nvSpPr>
          <p:cNvPr id="22" name="Text 9"/>
          <p:cNvSpPr/>
          <p:nvPr/>
        </p:nvSpPr>
        <p:spPr>
          <a:xfrm>
            <a:off x="2133600" y="4983480"/>
            <a:ext cx="915314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撰写具体、可操作的整改建议</a:t>
            </a:r>
            <a:endParaRPr lang="en-US" sz="2160" dirty="0"/>
          </a:p>
        </p:txBody>
      </p:sp>
      <p:pic>
        <p:nvPicPr>
          <p:cNvPr id="23" name="Image 11" descr="https://test.web.static.jianzeppt.com/ppt-temp-img3/cf6791f7bb8dc9fbfe4c32fc1d6b39a6.png?x-oss-process=image/resize,w_1440,h_800,m_lfit/format,png"/>
          <p:cNvPicPr>
            <a:picLocks noChangeAspect="1"/>
          </p:cNvPicPr>
          <p:nvPr/>
        </p:nvPicPr>
        <p:blipFill>
          <a:blip r:embed="rId4"/>
          <a:stretch>
            <a:fillRect/>
          </a:stretch>
        </p:blipFill>
        <p:spPr>
          <a:xfrm>
            <a:off x="609600" y="5821680"/>
            <a:ext cx="10972800" cy="731520"/>
          </a:xfrm>
          <a:prstGeom prst="rect">
            <a:avLst/>
          </a:prstGeom>
        </p:spPr>
      </p:pic>
      <p:pic>
        <p:nvPicPr>
          <p:cNvPr id="24" name="Image 12" descr="https://test.web.static.jianzeppt.com/ppt-temp-img3/f0ce9a0c6aed879ec2ba82370c033f9d.png?x-oss-process=image/resize,w_1440,h_800,m_lfit/format,png"/>
          <p:cNvPicPr>
            <a:picLocks noChangeAspect="1"/>
          </p:cNvPicPr>
          <p:nvPr/>
        </p:nvPicPr>
        <p:blipFill>
          <a:blip r:embed="rId5"/>
          <a:stretch>
            <a:fillRect/>
          </a:stretch>
        </p:blipFill>
        <p:spPr>
          <a:xfrm>
            <a:off x="609600" y="5758180"/>
            <a:ext cx="1219200" cy="731520"/>
          </a:xfrm>
          <a:prstGeom prst="rect">
            <a:avLst/>
          </a:prstGeom>
        </p:spPr>
      </p:pic>
      <p:sp>
        <p:nvSpPr>
          <p:cNvPr id="25" name="Text 10"/>
          <p:cNvSpPr/>
          <p:nvPr/>
        </p:nvSpPr>
        <p:spPr>
          <a:xfrm>
            <a:off x="914400" y="5911215"/>
            <a:ext cx="618744" cy="441960"/>
          </a:xfrm>
          <a:prstGeom prst="rect">
            <a:avLst/>
          </a:prstGeom>
          <a:noFill/>
        </p:spPr>
        <p:txBody>
          <a:bodyPr wrap="none" lIns="0" tIns="0" rIns="0" bIns="0" rtlCol="0" anchor="ctr"/>
          <a:lstStyle/>
          <a:p>
            <a:pPr marL="0" indent="0" algn="ctr">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能够</a:t>
            </a:r>
            <a:endParaRPr lang="en-US" sz="2400" dirty="0"/>
          </a:p>
        </p:txBody>
      </p:sp>
      <p:sp>
        <p:nvSpPr>
          <p:cNvPr id="26" name="Text 11"/>
          <p:cNvSpPr/>
          <p:nvPr/>
        </p:nvSpPr>
        <p:spPr>
          <a:xfrm>
            <a:off x="2133600" y="5989320"/>
            <a:ext cx="915314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独立编制一份完整的等保测评报告</a:t>
            </a:r>
            <a:endParaRPr lang="en-US" sz="21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等保测评报告——在测评工作中的定位</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975360"/>
          </a:xfrm>
          <a:prstGeom prst="rect">
            <a:avLst/>
          </a:prstGeom>
          <a:effectLst>
            <a:outerShdw blurRad="387096000" dist="193548000" dir="-1" algn="bl" rotWithShape="0">
              <a:srgbClr val="000000">
                <a:alpha val="500000000"/>
              </a:srgbClr>
            </a:outerShdw>
          </a:effectLst>
        </p:spPr>
      </p:pic>
      <p:sp>
        <p:nvSpPr>
          <p:cNvPr id="7" name="Text 1"/>
          <p:cNvSpPr/>
          <p:nvPr/>
        </p:nvSpPr>
        <p:spPr>
          <a:xfrm>
            <a:off x="868680" y="1570355"/>
            <a:ext cx="10463784" cy="446961"/>
          </a:xfrm>
          <a:prstGeom prst="rect">
            <a:avLst/>
          </a:prstGeom>
          <a:noFill/>
        </p:spPr>
        <p:txBody>
          <a:bodyPr wrap="square" lIns="0" tIns="0" rIns="0" bIns="0" rtlCol="0" anchor="t">
            <a:spAutoFit/>
          </a:bodyPr>
          <a:lstStyle/>
          <a:p>
            <a:pPr marL="0" indent="0" algn="l">
              <a:lnSpc>
                <a:spcPct val="163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测评报告是测评工作的</a:t>
            </a:r>
            <a:r>
              <a:rPr lang="en-US" sz="2160" b="1" dirty="0">
                <a:solidFill>
                  <a:srgbClr val="000000"/>
                </a:solidFill>
                <a:latin typeface="思源黑体 CN Bold" pitchFamily="34" charset="0"/>
                <a:ea typeface="思源黑体 CN Bold" pitchFamily="34" charset="-122"/>
                <a:cs typeface="思源黑体 CN Bold" pitchFamily="34" charset="-120"/>
              </a:rPr>
              <a:t>“最终产品”</a:t>
            </a:r>
            <a:r>
              <a:rPr lang="en-US" sz="2160" dirty="0">
                <a:solidFill>
                  <a:srgbClr val="555555"/>
                </a:solidFill>
                <a:latin typeface="思源黑体 CN Regular" pitchFamily="34" charset="0"/>
                <a:ea typeface="思源黑体 CN Regular" pitchFamily="34" charset="-122"/>
                <a:cs typeface="思源黑体 CN Regular" pitchFamily="34" charset="-120"/>
              </a:rPr>
              <a:t>，是测评师专业能力的</a:t>
            </a:r>
            <a:r>
              <a:rPr lang="en-US" sz="2160" b="1" dirty="0">
                <a:solidFill>
                  <a:srgbClr val="000000"/>
                </a:solidFill>
                <a:latin typeface="思源黑体 CN Bold" pitchFamily="34" charset="0"/>
                <a:ea typeface="思源黑体 CN Bold" pitchFamily="34" charset="-122"/>
                <a:cs typeface="思源黑体 CN Bold" pitchFamily="34" charset="-120"/>
              </a:rPr>
              <a:t>“最终证明”</a:t>
            </a:r>
            <a:r>
              <a:rPr lang="en-US" sz="2160" dirty="0">
                <a:solidFill>
                  <a:srgbClr val="555555"/>
                </a:solidFill>
                <a:latin typeface="思源黑体 CN Regular" pitchFamily="34" charset="0"/>
                <a:ea typeface="思源黑体 CN Regular" pitchFamily="34" charset="-122"/>
                <a:cs typeface="思源黑体 CN Regular" pitchFamily="34" charset="-120"/>
              </a:rPr>
              <a:t>。</a:t>
            </a:r>
            <a:endParaRPr lang="en-US" sz="2160" dirty="0"/>
          </a:p>
        </p:txBody>
      </p:sp>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 y="2743200"/>
            <a:ext cx="60960" cy="304800"/>
          </a:xfrm>
          <a:prstGeom prst="rect">
            <a:avLst/>
          </a:prstGeom>
        </p:spPr>
      </p:pic>
      <p:sp>
        <p:nvSpPr>
          <p:cNvPr id="9" name="Text 2"/>
          <p:cNvSpPr/>
          <p:nvPr/>
        </p:nvSpPr>
        <p:spPr>
          <a:xfrm>
            <a:off x="822960" y="2636520"/>
            <a:ext cx="3377184" cy="502920"/>
          </a:xfrm>
          <a:prstGeom prst="rect">
            <a:avLst/>
          </a:prstGeom>
          <a:noFill/>
        </p:spPr>
        <p:txBody>
          <a:bodyPr wrap="none" lIns="0" tIns="0" rIns="0" bIns="0" rtlCol="0" anchor="t">
            <a:spAutoFit/>
          </a:bodyPr>
          <a:lstStyle/>
          <a:p>
            <a:pPr marL="0" indent="0" algn="l">
              <a:lnSpc>
                <a:spcPct val="100000"/>
              </a:lnSpc>
              <a:buNone/>
            </a:pPr>
            <a:r>
              <a:rPr lang="en-US" sz="2640" dirty="0">
                <a:solidFill>
                  <a:srgbClr val="333333"/>
                </a:solidFill>
                <a:latin typeface="思源黑体 CN Bold" pitchFamily="34" charset="0"/>
                <a:ea typeface="思源黑体 CN Bold" pitchFamily="34" charset="-122"/>
                <a:cs typeface="思源黑体 CN Bold" pitchFamily="34" charset="-120"/>
              </a:rPr>
              <a:t>测评报告的三重价值：</a:t>
            </a:r>
            <a:endParaRPr lang="en-US" sz="2640" dirty="0"/>
          </a:p>
        </p:txBody>
      </p:sp>
      <p:pic>
        <p:nvPicPr>
          <p:cNvPr id="10"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3147060"/>
            <a:ext cx="10972800" cy="3108960"/>
          </a:xfrm>
          <a:prstGeom prst="rect">
            <a:avLst/>
          </a:prstGeom>
          <a:effectLst>
            <a:outerShdw blurRad="387096000" dist="193548000" dir="-1" algn="bl" rotWithShape="0">
              <a:srgbClr val="000000">
                <a:alpha val="500000000"/>
              </a:srgbClr>
            </a:outerShdw>
          </a:effectLst>
        </p:spPr>
      </p:pic>
      <p:pic>
        <p:nvPicPr>
          <p:cNvPr id="11" name="Image 6" descr="https://test.web.static.jianzeppt.com/ppt-temp-img3/50b9b30360f050ea3c144b2aaa9f3031.png?x-oss-process=image/resize,w_1440,h_800,m_lfit/format,png"/>
          <p:cNvPicPr>
            <a:picLocks noChangeAspect="1"/>
          </p:cNvPicPr>
          <p:nvPr/>
        </p:nvPicPr>
        <p:blipFill>
          <a:blip r:embed="rId10"/>
          <a:stretch>
            <a:fillRect/>
          </a:stretch>
        </p:blipFill>
        <p:spPr>
          <a:xfrm>
            <a:off x="624840" y="3162300"/>
            <a:ext cx="10942320" cy="792480"/>
          </a:xfrm>
          <a:prstGeom prst="rect">
            <a:avLst/>
          </a:prstGeom>
        </p:spPr>
      </p:pic>
      <p:sp>
        <p:nvSpPr>
          <p:cNvPr id="12" name="Text 3"/>
          <p:cNvSpPr/>
          <p:nvPr/>
        </p:nvSpPr>
        <p:spPr>
          <a:xfrm>
            <a:off x="929640" y="334518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维度</a:t>
            </a:r>
            <a:endParaRPr lang="en-US" sz="2160" dirty="0"/>
          </a:p>
        </p:txBody>
      </p:sp>
      <p:pic>
        <p:nvPicPr>
          <p:cNvPr id="13"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4840" y="3950970"/>
            <a:ext cx="2188312" cy="15240"/>
          </a:xfrm>
          <a:prstGeom prst="rect">
            <a:avLst/>
          </a:prstGeom>
        </p:spPr>
      </p:pic>
      <p:sp>
        <p:nvSpPr>
          <p:cNvPr id="14" name="Text 4"/>
          <p:cNvSpPr/>
          <p:nvPr/>
        </p:nvSpPr>
        <p:spPr>
          <a:xfrm>
            <a:off x="3124200" y="334518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价值</a:t>
            </a:r>
            <a:endParaRPr lang="en-US" sz="2160" dirty="0"/>
          </a:p>
        </p:txBody>
      </p:sp>
      <p:pic>
        <p:nvPicPr>
          <p:cNvPr id="15" name="Image 8"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13152" y="3950970"/>
            <a:ext cx="5471160" cy="15240"/>
          </a:xfrm>
          <a:prstGeom prst="rect">
            <a:avLst/>
          </a:prstGeom>
        </p:spPr>
      </p:pic>
      <p:sp>
        <p:nvSpPr>
          <p:cNvPr id="16" name="Text 5"/>
          <p:cNvSpPr/>
          <p:nvPr/>
        </p:nvSpPr>
        <p:spPr>
          <a:xfrm>
            <a:off x="8595360" y="3345180"/>
            <a:ext cx="83210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受益方</a:t>
            </a:r>
            <a:endParaRPr lang="en-US" sz="2160" dirty="0"/>
          </a:p>
        </p:txBody>
      </p:sp>
      <p:pic>
        <p:nvPicPr>
          <p:cNvPr id="17" name="Image 9"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84312" y="3950970"/>
            <a:ext cx="3282848" cy="15240"/>
          </a:xfrm>
          <a:prstGeom prst="rect">
            <a:avLst/>
          </a:prstGeom>
        </p:spPr>
      </p:pic>
      <p:sp>
        <p:nvSpPr>
          <p:cNvPr id="18" name="Text 6"/>
          <p:cNvSpPr/>
          <p:nvPr/>
        </p:nvSpPr>
        <p:spPr>
          <a:xfrm>
            <a:off x="929640" y="4006215"/>
            <a:ext cx="11064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法律价值</a:t>
            </a:r>
            <a:endParaRPr lang="en-US" sz="2160" dirty="0"/>
          </a:p>
        </p:txBody>
      </p:sp>
      <p:pic>
        <p:nvPicPr>
          <p:cNvPr id="19" name="Image 10"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4840" y="4642485"/>
            <a:ext cx="2188312" cy="15240"/>
          </a:xfrm>
          <a:prstGeom prst="rect">
            <a:avLst/>
          </a:prstGeom>
        </p:spPr>
      </p:pic>
      <p:sp>
        <p:nvSpPr>
          <p:cNvPr id="20" name="Text 7"/>
          <p:cNvSpPr/>
          <p:nvPr/>
        </p:nvSpPr>
        <p:spPr>
          <a:xfrm>
            <a:off x="3124200" y="4006215"/>
            <a:ext cx="357530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公安机关监督检查的法定依据</a:t>
            </a:r>
            <a:endParaRPr lang="en-US" sz="2160" dirty="0"/>
          </a:p>
        </p:txBody>
      </p:sp>
      <p:pic>
        <p:nvPicPr>
          <p:cNvPr id="21" name="Image 11"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13152" y="4642485"/>
            <a:ext cx="5471160" cy="15240"/>
          </a:xfrm>
          <a:prstGeom prst="rect">
            <a:avLst/>
          </a:prstGeom>
        </p:spPr>
      </p:pic>
      <p:sp>
        <p:nvSpPr>
          <p:cNvPr id="22" name="Text 8"/>
          <p:cNvSpPr/>
          <p:nvPr/>
        </p:nvSpPr>
        <p:spPr>
          <a:xfrm>
            <a:off x="8595360" y="4006215"/>
            <a:ext cx="247802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监管部门、测评机构</a:t>
            </a:r>
            <a:endParaRPr lang="en-US" sz="2160" dirty="0"/>
          </a:p>
        </p:txBody>
      </p:sp>
      <p:pic>
        <p:nvPicPr>
          <p:cNvPr id="23" name="Image 12"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84312" y="4642485"/>
            <a:ext cx="3282848" cy="15240"/>
          </a:xfrm>
          <a:prstGeom prst="rect">
            <a:avLst/>
          </a:prstGeom>
        </p:spPr>
      </p:pic>
      <p:sp>
        <p:nvSpPr>
          <p:cNvPr id="24" name="Text 9"/>
          <p:cNvSpPr/>
          <p:nvPr/>
        </p:nvSpPr>
        <p:spPr>
          <a:xfrm>
            <a:off x="929640" y="4859655"/>
            <a:ext cx="11064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决策价值</a:t>
            </a:r>
            <a:endParaRPr lang="en-US" sz="2160" dirty="0"/>
          </a:p>
        </p:txBody>
      </p:sp>
      <p:pic>
        <p:nvPicPr>
          <p:cNvPr id="25" name="Image 13"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4840" y="5495925"/>
            <a:ext cx="2188312" cy="15240"/>
          </a:xfrm>
          <a:prstGeom prst="rect">
            <a:avLst/>
          </a:prstGeom>
        </p:spPr>
      </p:pic>
      <p:sp>
        <p:nvSpPr>
          <p:cNvPr id="26" name="Text 10"/>
          <p:cNvSpPr/>
          <p:nvPr/>
        </p:nvSpPr>
        <p:spPr>
          <a:xfrm>
            <a:off x="3124200" y="4859655"/>
            <a:ext cx="467258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帮助客户了解安全现状、做出整改决策</a:t>
            </a:r>
            <a:endParaRPr lang="en-US" sz="2160" dirty="0"/>
          </a:p>
        </p:txBody>
      </p:sp>
      <p:pic>
        <p:nvPicPr>
          <p:cNvPr id="27" name="Image 14"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13152" y="5495925"/>
            <a:ext cx="5471160" cy="15240"/>
          </a:xfrm>
          <a:prstGeom prst="rect">
            <a:avLst/>
          </a:prstGeom>
        </p:spPr>
      </p:pic>
      <p:sp>
        <p:nvSpPr>
          <p:cNvPr id="28" name="Text 11"/>
          <p:cNvSpPr/>
          <p:nvPr/>
        </p:nvSpPr>
        <p:spPr>
          <a:xfrm>
            <a:off x="8595360" y="4859655"/>
            <a:ext cx="138074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客户管理层</a:t>
            </a:r>
            <a:endParaRPr lang="en-US" sz="2160" dirty="0"/>
          </a:p>
        </p:txBody>
      </p:sp>
      <p:pic>
        <p:nvPicPr>
          <p:cNvPr id="29" name="Image 15"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84312" y="5495925"/>
            <a:ext cx="3282848" cy="15240"/>
          </a:xfrm>
          <a:prstGeom prst="rect">
            <a:avLst/>
          </a:prstGeom>
        </p:spPr>
      </p:pic>
      <p:sp>
        <p:nvSpPr>
          <p:cNvPr id="30" name="Text 12"/>
          <p:cNvSpPr/>
          <p:nvPr/>
        </p:nvSpPr>
        <p:spPr>
          <a:xfrm>
            <a:off x="929640" y="5713095"/>
            <a:ext cx="11064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技术价值</a:t>
            </a:r>
            <a:endParaRPr lang="en-US" sz="2160" dirty="0"/>
          </a:p>
        </p:txBody>
      </p:sp>
      <p:sp>
        <p:nvSpPr>
          <p:cNvPr id="31" name="Text 13"/>
          <p:cNvSpPr/>
          <p:nvPr/>
        </p:nvSpPr>
        <p:spPr>
          <a:xfrm>
            <a:off x="3124200" y="5713095"/>
            <a:ext cx="275234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指导客户开展安全整改</a:t>
            </a:r>
            <a:endParaRPr lang="en-US" sz="2160" dirty="0"/>
          </a:p>
        </p:txBody>
      </p:sp>
      <p:sp>
        <p:nvSpPr>
          <p:cNvPr id="32" name="Text 14"/>
          <p:cNvSpPr/>
          <p:nvPr/>
        </p:nvSpPr>
        <p:spPr>
          <a:xfrm>
            <a:off x="8595360" y="5713095"/>
            <a:ext cx="165506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客户技术团队</a:t>
            </a:r>
            <a:endParaRPr lang="en-US" sz="21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等保测评报告的规范格式（15分钟）</a:t>
            </a:r>
            <a:endParaRPr lang="en-US" sz="2760" dirty="0"/>
          </a:p>
        </p:txBody>
      </p:sp>
      <p:sp>
        <p:nvSpPr>
          <p:cNvPr id="6" name="Text 1"/>
          <p:cNvSpPr/>
          <p:nvPr/>
        </p:nvSpPr>
        <p:spPr>
          <a:xfrm>
            <a:off x="609600" y="1144905"/>
            <a:ext cx="1098194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000000"/>
                </a:solidFill>
                <a:latin typeface="思源黑体 CN Bold" pitchFamily="34" charset="0"/>
                <a:ea typeface="思源黑体 CN Bold" pitchFamily="34" charset="-122"/>
                <a:cs typeface="思源黑体 CN Bold" pitchFamily="34" charset="-120"/>
              </a:rPr>
              <a:t>标准报告结构（十要素）：</a:t>
            </a:r>
            <a:endParaRPr lang="en-US" sz="2640" dirty="0"/>
          </a:p>
        </p:txBody>
      </p:sp>
      <p:graphicFrame>
        <p:nvGraphicFramePr>
          <p:cNvPr id="7" name="Table 0"/>
          <p:cNvGraphicFramePr>
            <a:graphicFrameLocks noGrp="1"/>
          </p:cNvGraphicFramePr>
          <p:nvPr/>
        </p:nvGraphicFramePr>
        <p:xfrm>
          <a:off x="609600" y="1812290"/>
          <a:ext cx="10972800" cy="4427855"/>
        </p:xfrm>
        <a:graphic>
          <a:graphicData uri="http://schemas.openxmlformats.org/drawingml/2006/table">
            <a:tbl>
              <a:tblPr/>
              <a:tblGrid>
                <a:gridCol w="732537"/>
                <a:gridCol w="2289179"/>
                <a:gridCol w="7951083"/>
              </a:tblGrid>
              <a:tr h="403167">
                <a:tc>
                  <a:txBody>
                    <a:bodyPr/>
                    <a:lstStyle/>
                    <a:p>
                      <a:pPr marL="0" indent="0" algn="ctr">
                        <a:buNone/>
                      </a:pPr>
                      <a:r>
                        <a:rPr lang="en-US" sz="1400" b="1" dirty="0">
                          <a:solidFill>
                            <a:srgbClr val="000000"/>
                          </a:solidFill>
                        </a:rPr>
                        <a:t>序号</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rPr>
                        <a:t>组成部分</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rPr>
                        <a:t>核心内容</a:t>
                      </a:r>
                      <a:endParaRPr lang="en-US" sz="14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1</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封面</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报告名称、被测系统名称、委托单位、测评机构、报告日期、版本号</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目录</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自动生成、页码准确</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3</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项目概述</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项目背景、测评目的、测评范围、测评依据</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测评对象与方法</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测评对象清单、采用的测评方法（访谈/核查/测试）</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5</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单项测评结论</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逐项判定，含指标编号、名称、结果、问题描述</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6</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系统整体测评结论</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汇总分析、符合性判断、风险趋势</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7</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安全问题汇总</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按风险等级汇总所有问题</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8</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整改建议</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针对每个问题的具体整改措施</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9</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附件</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测评证据索引、记录表附件</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03167">
                <a:tc>
                  <a:txBody>
                    <a:bodyPr/>
                    <a:lstStyle/>
                    <a:p>
                      <a:pPr marL="0" indent="0" algn="ctr">
                        <a:buNone/>
                      </a:pPr>
                      <a:r>
                        <a:rPr lang="en-US" sz="1400" dirty="0">
                          <a:solidFill>
                            <a:srgbClr val="000000"/>
                          </a:solidFill>
                        </a:rPr>
                        <a:t>10</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签章页</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测评人员签名、机构盖章</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8" name="对象 7">
            <a:hlinkClick r:id="" action="ppaction://ole?verb="/>
          </p:cNvPr>
          <p:cNvGraphicFramePr>
            <a:graphicFrameLocks noChangeAspect="1"/>
          </p:cNvGraphicFramePr>
          <p:nvPr/>
        </p:nvGraphicFramePr>
        <p:xfrm>
          <a:off x="10330815" y="1110615"/>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4" imgW="971550" imgH="666750" progId="Word.Document.12">
                  <p:embed/>
                </p:oleObj>
              </mc:Choice>
              <mc:Fallback>
                <p:oleObj name="" showAsIcon="1" r:id="rId4" imgW="971550" imgH="666750" progId="Word.Document.12">
                  <p:embed/>
                  <p:pic>
                    <p:nvPicPr>
                      <p:cNvPr id="0" name="图片 1024"/>
                      <p:cNvPicPr/>
                      <p:nvPr/>
                    </p:nvPicPr>
                    <p:blipFill>
                      <a:blip r:embed="rId5"/>
                      <a:stretch>
                        <a:fillRect/>
                      </a:stretch>
                    </p:blipFill>
                    <p:spPr>
                      <a:xfrm>
                        <a:off x="10330815" y="1110615"/>
                        <a:ext cx="971550" cy="666750"/>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格式规范要点</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8240" y="1092200"/>
            <a:ext cx="9875520" cy="5181600"/>
          </a:xfrm>
          <a:prstGeom prst="rect">
            <a:avLst/>
          </a:prstGeom>
          <a:effectLst>
            <a:outerShdw blurRad="387096000" dist="193548000" dir="-1" algn="bl" rotWithShape="0">
              <a:srgbClr val="000000">
                <a:alpha val="500000000"/>
              </a:srgbClr>
            </a:outerShdw>
          </a:effectLst>
        </p:spPr>
      </p:pic>
      <p:pic>
        <p:nvPicPr>
          <p:cNvPr id="7" name="Image 4" descr="https://test.web.static.jianzeppt.com/ppt-temp-img3/bbccaa5975e370a99eaf32966117c9ed.png?x-oss-process=image/resize,w_1440,h_800,m_lfit/format,png"/>
          <p:cNvPicPr>
            <a:picLocks noChangeAspect="1"/>
          </p:cNvPicPr>
          <p:nvPr/>
        </p:nvPicPr>
        <p:blipFill>
          <a:blip r:embed="rId6"/>
          <a:stretch>
            <a:fillRect/>
          </a:stretch>
        </p:blipFill>
        <p:spPr>
          <a:xfrm>
            <a:off x="1173480" y="1107440"/>
            <a:ext cx="9845040" cy="914400"/>
          </a:xfrm>
          <a:prstGeom prst="rect">
            <a:avLst/>
          </a:prstGeom>
        </p:spPr>
      </p:pic>
      <p:sp>
        <p:nvSpPr>
          <p:cNvPr id="8" name="Text 1"/>
          <p:cNvSpPr/>
          <p:nvPr/>
        </p:nvSpPr>
        <p:spPr>
          <a:xfrm>
            <a:off x="1539240" y="1351280"/>
            <a:ext cx="12588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要素</a:t>
            </a:r>
            <a:endParaRPr lang="en-US" sz="2160" dirty="0"/>
          </a:p>
        </p:txBody>
      </p:sp>
      <p:sp>
        <p:nvSpPr>
          <p:cNvPr id="9" name="Text 2"/>
          <p:cNvSpPr/>
          <p:nvPr/>
        </p:nvSpPr>
        <p:spPr>
          <a:xfrm>
            <a:off x="3505200" y="1351280"/>
            <a:ext cx="371246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规范要求</a:t>
            </a:r>
            <a:endParaRPr lang="en-US" sz="2160" dirty="0"/>
          </a:p>
        </p:txBody>
      </p:sp>
      <p:sp>
        <p:nvSpPr>
          <p:cNvPr id="10" name="Text 3"/>
          <p:cNvSpPr/>
          <p:nvPr/>
        </p:nvSpPr>
        <p:spPr>
          <a:xfrm>
            <a:off x="7940040" y="1351280"/>
            <a:ext cx="273710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常见错误</a:t>
            </a:r>
            <a:endParaRPr lang="en-US" sz="2160" dirty="0"/>
          </a:p>
        </p:txBody>
      </p:sp>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3480" y="2014220"/>
            <a:ext cx="9845040" cy="15240"/>
          </a:xfrm>
          <a:prstGeom prst="rect">
            <a:avLst/>
          </a:prstGeom>
        </p:spPr>
      </p:pic>
      <p:sp>
        <p:nvSpPr>
          <p:cNvPr id="12" name="Text 4"/>
          <p:cNvSpPr/>
          <p:nvPr/>
        </p:nvSpPr>
        <p:spPr>
          <a:xfrm>
            <a:off x="1539240" y="2204720"/>
            <a:ext cx="1258824" cy="746760"/>
          </a:xfrm>
          <a:prstGeom prst="rect">
            <a:avLst/>
          </a:prstGeom>
          <a:noFill/>
        </p:spPr>
        <p:txBody>
          <a:bodyPr wrap="none" lIns="0" tIns="0" rIns="0" bIns="0" rtlCol="0" anchor="ct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字体</a:t>
            </a:r>
            <a:endParaRPr lang="en-US" sz="1920" dirty="0"/>
          </a:p>
        </p:txBody>
      </p:sp>
      <p:sp>
        <p:nvSpPr>
          <p:cNvPr id="13" name="Text 5"/>
          <p:cNvSpPr/>
          <p:nvPr/>
        </p:nvSpPr>
        <p:spPr>
          <a:xfrm>
            <a:off x="3505200" y="2204720"/>
            <a:ext cx="3712464" cy="731520"/>
          </a:xfrm>
          <a:prstGeom prst="rect">
            <a:avLst/>
          </a:prstGeom>
          <a:noFill/>
        </p:spPr>
        <p:txBody>
          <a:bodyPr wrap="square" lIns="0" tIns="0" rIns="0" bIns="0" rtlCol="0" anchor="ctr">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正文宋体/仿宋，标题黑体，统一字号</a:t>
            </a:r>
            <a:endParaRPr lang="en-US" sz="1920" dirty="0"/>
          </a:p>
        </p:txBody>
      </p:sp>
      <p:sp>
        <p:nvSpPr>
          <p:cNvPr id="14" name="Text 6"/>
          <p:cNvSpPr/>
          <p:nvPr/>
        </p:nvSpPr>
        <p:spPr>
          <a:xfrm>
            <a:off x="7940040" y="2204720"/>
            <a:ext cx="1868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268474"/>
                </a:solidFill>
                <a:latin typeface="思源黑体 CN Regular" pitchFamily="34" charset="0"/>
                <a:ea typeface="思源黑体 CN Regular" pitchFamily="34" charset="-122"/>
                <a:cs typeface="思源黑体 CN Regular" pitchFamily="34" charset="-120"/>
              </a:rPr>
              <a:t>多种字体混用 ❌</a:t>
            </a:r>
            <a:endParaRPr lang="en-US" sz="1920" dirty="0"/>
          </a:p>
        </p:txBody>
      </p:sp>
      <p:pic>
        <p:nvPicPr>
          <p:cNvPr id="15"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3480" y="3126740"/>
            <a:ext cx="9845040" cy="15240"/>
          </a:xfrm>
          <a:prstGeom prst="rect">
            <a:avLst/>
          </a:prstGeom>
        </p:spPr>
      </p:pic>
      <p:pic>
        <p:nvPicPr>
          <p:cNvPr id="16"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73480" y="3134360"/>
            <a:ext cx="9845040" cy="746760"/>
          </a:xfrm>
          <a:prstGeom prst="rect">
            <a:avLst/>
          </a:prstGeom>
        </p:spPr>
      </p:pic>
      <p:sp>
        <p:nvSpPr>
          <p:cNvPr id="17" name="Text 7"/>
          <p:cNvSpPr/>
          <p:nvPr/>
        </p:nvSpPr>
        <p:spPr>
          <a:xfrm>
            <a:off x="1539240" y="3317240"/>
            <a:ext cx="1258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页码</a:t>
            </a:r>
            <a:endParaRPr lang="en-US" sz="1920" dirty="0"/>
          </a:p>
        </p:txBody>
      </p:sp>
      <p:sp>
        <p:nvSpPr>
          <p:cNvPr id="18" name="Text 8"/>
          <p:cNvSpPr/>
          <p:nvPr/>
        </p:nvSpPr>
        <p:spPr>
          <a:xfrm>
            <a:off x="3505200" y="3317240"/>
            <a:ext cx="37124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从正文开始编页码，封面不编号</a:t>
            </a:r>
            <a:endParaRPr lang="en-US" sz="1920" dirty="0"/>
          </a:p>
        </p:txBody>
      </p:sp>
      <p:sp>
        <p:nvSpPr>
          <p:cNvPr id="19" name="Text 9"/>
          <p:cNvSpPr/>
          <p:nvPr/>
        </p:nvSpPr>
        <p:spPr>
          <a:xfrm>
            <a:off x="7940040" y="3317240"/>
            <a:ext cx="21122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268474"/>
                </a:solidFill>
                <a:latin typeface="思源黑体 CN Regular" pitchFamily="34" charset="0"/>
                <a:ea typeface="思源黑体 CN Regular" pitchFamily="34" charset="-122"/>
                <a:cs typeface="思源黑体 CN Regular" pitchFamily="34" charset="-120"/>
              </a:rPr>
              <a:t>页码混乱或缺失 ❌</a:t>
            </a:r>
            <a:endParaRPr lang="en-US" sz="1920" dirty="0"/>
          </a:p>
        </p:txBody>
      </p:sp>
      <p:pic>
        <p:nvPicPr>
          <p:cNvPr id="20"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3480" y="3873500"/>
            <a:ext cx="9845040" cy="15240"/>
          </a:xfrm>
          <a:prstGeom prst="rect">
            <a:avLst/>
          </a:prstGeom>
        </p:spPr>
      </p:pic>
      <p:sp>
        <p:nvSpPr>
          <p:cNvPr id="21" name="Text 10"/>
          <p:cNvSpPr/>
          <p:nvPr/>
        </p:nvSpPr>
        <p:spPr>
          <a:xfrm>
            <a:off x="1539240" y="4064000"/>
            <a:ext cx="1258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表格</a:t>
            </a:r>
            <a:endParaRPr lang="en-US" sz="1920" dirty="0"/>
          </a:p>
        </p:txBody>
      </p:sp>
      <p:sp>
        <p:nvSpPr>
          <p:cNvPr id="22" name="Text 11"/>
          <p:cNvSpPr/>
          <p:nvPr/>
        </p:nvSpPr>
        <p:spPr>
          <a:xfrm>
            <a:off x="3505200" y="4064000"/>
            <a:ext cx="37124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统一边框、表头加粗、编号连续</a:t>
            </a:r>
            <a:endParaRPr lang="en-US" sz="1920" dirty="0"/>
          </a:p>
        </p:txBody>
      </p:sp>
      <p:sp>
        <p:nvSpPr>
          <p:cNvPr id="23" name="Text 12"/>
          <p:cNvSpPr/>
          <p:nvPr/>
        </p:nvSpPr>
        <p:spPr>
          <a:xfrm>
            <a:off x="7940040" y="4064000"/>
            <a:ext cx="21122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268474"/>
                </a:solidFill>
                <a:latin typeface="思源黑体 CN Regular" pitchFamily="34" charset="0"/>
                <a:ea typeface="思源黑体 CN Regular" pitchFamily="34" charset="-122"/>
                <a:cs typeface="思源黑体 CN Regular" pitchFamily="34" charset="-120"/>
              </a:rPr>
              <a:t>表格格式不一致 ❌</a:t>
            </a:r>
            <a:endParaRPr lang="en-US" sz="1920" dirty="0"/>
          </a:p>
        </p:txBody>
      </p:sp>
      <p:pic>
        <p:nvPicPr>
          <p:cNvPr id="24" name="Image 9"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3480" y="4620260"/>
            <a:ext cx="9845040" cy="15240"/>
          </a:xfrm>
          <a:prstGeom prst="rect">
            <a:avLst/>
          </a:prstGeom>
        </p:spPr>
      </p:pic>
      <p:pic>
        <p:nvPicPr>
          <p:cNvPr id="25" name="Image 10"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73480" y="4627880"/>
            <a:ext cx="9845040" cy="1112520"/>
          </a:xfrm>
          <a:prstGeom prst="rect">
            <a:avLst/>
          </a:prstGeom>
        </p:spPr>
      </p:pic>
      <p:sp>
        <p:nvSpPr>
          <p:cNvPr id="26" name="Text 13"/>
          <p:cNvSpPr/>
          <p:nvPr/>
        </p:nvSpPr>
        <p:spPr>
          <a:xfrm>
            <a:off x="1539240" y="4810760"/>
            <a:ext cx="1258824" cy="746760"/>
          </a:xfrm>
          <a:prstGeom prst="rect">
            <a:avLst/>
          </a:prstGeom>
          <a:noFill/>
        </p:spPr>
        <p:txBody>
          <a:bodyPr wrap="none" lIns="0" tIns="0" rIns="0" bIns="0" rtlCol="0" anchor="ct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编号</a:t>
            </a:r>
            <a:endParaRPr lang="en-US" sz="1920" dirty="0"/>
          </a:p>
        </p:txBody>
      </p:sp>
      <p:sp>
        <p:nvSpPr>
          <p:cNvPr id="27" name="Text 14"/>
          <p:cNvSpPr/>
          <p:nvPr/>
        </p:nvSpPr>
        <p:spPr>
          <a:xfrm>
            <a:off x="3505200" y="4810760"/>
            <a:ext cx="3712464" cy="731520"/>
          </a:xfrm>
          <a:prstGeom prst="rect">
            <a:avLst/>
          </a:prstGeom>
          <a:noFill/>
        </p:spPr>
        <p:txBody>
          <a:bodyPr wrap="square" lIns="0" tIns="0" rIns="0" bIns="0" rtlCol="0" anchor="ctr">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章节编号层级清晰（1→1.1→1.1.1）</a:t>
            </a:r>
            <a:endParaRPr lang="en-US" sz="1920" dirty="0"/>
          </a:p>
        </p:txBody>
      </p:sp>
      <p:sp>
        <p:nvSpPr>
          <p:cNvPr id="28" name="Text 15"/>
          <p:cNvSpPr/>
          <p:nvPr/>
        </p:nvSpPr>
        <p:spPr>
          <a:xfrm>
            <a:off x="7940040" y="4810760"/>
            <a:ext cx="259994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268474"/>
                </a:solidFill>
                <a:latin typeface="思源黑体 CN Regular" pitchFamily="34" charset="0"/>
                <a:ea typeface="思源黑体 CN Regular" pitchFamily="34" charset="-122"/>
                <a:cs typeface="思源黑体 CN Regular" pitchFamily="34" charset="-120"/>
              </a:rPr>
              <a:t>编号跳跃或层级混乱 ❌</a:t>
            </a:r>
            <a:endParaRPr lang="en-US" sz="1920" dirty="0"/>
          </a:p>
        </p:txBody>
      </p:sp>
      <p:pic>
        <p:nvPicPr>
          <p:cNvPr id="29" name="Image 11"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3480" y="5732780"/>
            <a:ext cx="9845040" cy="15240"/>
          </a:xfrm>
          <a:prstGeom prst="rect">
            <a:avLst/>
          </a:prstGeom>
        </p:spPr>
      </p:pic>
      <p:sp>
        <p:nvSpPr>
          <p:cNvPr id="30" name="Text 16"/>
          <p:cNvSpPr/>
          <p:nvPr/>
        </p:nvSpPr>
        <p:spPr>
          <a:xfrm>
            <a:off x="1539240" y="5923280"/>
            <a:ext cx="1258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引用</a:t>
            </a:r>
            <a:endParaRPr lang="en-US" sz="1920" dirty="0"/>
          </a:p>
        </p:txBody>
      </p:sp>
      <p:sp>
        <p:nvSpPr>
          <p:cNvPr id="31" name="Text 17"/>
          <p:cNvSpPr/>
          <p:nvPr/>
        </p:nvSpPr>
        <p:spPr>
          <a:xfrm>
            <a:off x="3505200" y="5923280"/>
            <a:ext cx="37124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标准条款标注编号（如8.1.2.1 a)）</a:t>
            </a:r>
            <a:endParaRPr lang="en-US" sz="1920" dirty="0"/>
          </a:p>
        </p:txBody>
      </p:sp>
      <p:sp>
        <p:nvSpPr>
          <p:cNvPr id="32" name="Text 18"/>
          <p:cNvSpPr/>
          <p:nvPr/>
        </p:nvSpPr>
        <p:spPr>
          <a:xfrm>
            <a:off x="7940040" y="5923280"/>
            <a:ext cx="23561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268474"/>
                </a:solidFill>
                <a:latin typeface="思源黑体 CN Regular" pitchFamily="34" charset="0"/>
                <a:ea typeface="思源黑体 CN Regular" pitchFamily="34" charset="-122"/>
                <a:cs typeface="思源黑体 CN Regular" pitchFamily="34" charset="-120"/>
              </a:rPr>
              <a:t>只写条款不写编号 ❌</a:t>
            </a:r>
            <a:endParaRPr lang="en-US" sz="1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414020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教师演示——报告模板使用</a:t>
            </a:r>
            <a:endParaRPr lang="en-US" sz="2760" dirty="0"/>
          </a:p>
        </p:txBody>
      </p:sp>
      <p:sp>
        <p:nvSpPr>
          <p:cNvPr id="6" name="Text 1"/>
          <p:cNvSpPr/>
          <p:nvPr/>
        </p:nvSpPr>
        <p:spPr>
          <a:xfrm>
            <a:off x="609600" y="1371600"/>
            <a:ext cx="10981944" cy="502920"/>
          </a:xfrm>
          <a:prstGeom prst="rect">
            <a:avLst/>
          </a:prstGeom>
          <a:noFill/>
        </p:spPr>
        <p:txBody>
          <a:bodyPr wrap="none" lIns="0" tIns="0" rIns="0" bIns="0" rtlCol="0" anchor="t">
            <a:spAutoFit/>
          </a:bodyPr>
          <a:lstStyle/>
          <a:p>
            <a:pPr marL="0" indent="0" algn="l">
              <a:lnSpc>
                <a:spcPct val="100000"/>
              </a:lnSpc>
              <a:buNone/>
            </a:pPr>
            <a:r>
              <a:rPr lang="en-US" sz="2640" b="1" dirty="0">
                <a:solidFill>
                  <a:srgbClr val="514337"/>
                </a:solidFill>
                <a:latin typeface="思源黑体 CN Bold" pitchFamily="34" charset="0"/>
                <a:ea typeface="思源黑体 CN Bold" pitchFamily="34" charset="-122"/>
                <a:cs typeface="思源黑体 CN Bold" pitchFamily="34" charset="-120"/>
              </a:rPr>
              <a:t>演示步骤：</a:t>
            </a:r>
            <a:endParaRPr lang="en-US" sz="2640" dirty="0"/>
          </a:p>
        </p:txBody>
      </p:sp>
      <p:pic>
        <p:nvPicPr>
          <p:cNvPr id="7" name="Image 3" descr="https://test.web.static.jianzeppt.com/ppt-temp-img3/2ab634bc62885fe221ac557cfe4adb6a.png?x-oss-process=image/resize,w_1440,h_800,m_lfit/format,png"/>
          <p:cNvPicPr>
            <a:picLocks noChangeAspect="1"/>
          </p:cNvPicPr>
          <p:nvPr/>
        </p:nvPicPr>
        <p:blipFill>
          <a:blip r:embed="rId4">
            <a:alphaModFix amt="60000"/>
          </a:blip>
          <a:stretch>
            <a:fillRect/>
          </a:stretch>
        </p:blipFill>
        <p:spPr>
          <a:xfrm>
            <a:off x="2917825" y="2558415"/>
            <a:ext cx="709295" cy="491490"/>
          </a:xfrm>
          <a:prstGeom prst="rect">
            <a:avLst/>
          </a:prstGeom>
        </p:spPr>
      </p:pic>
      <p:pic>
        <p:nvPicPr>
          <p:cNvPr id="8"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600" y="2118360"/>
            <a:ext cx="2560320" cy="1371600"/>
          </a:xfrm>
          <a:prstGeom prst="rect">
            <a:avLst/>
          </a:prstGeom>
          <a:effectLst>
            <a:outerShdw blurRad="387096000" dist="193548000" dir="-1" algn="bl" rotWithShape="0">
              <a:srgbClr val="000000">
                <a:alpha val="500000000"/>
              </a:srgbClr>
            </a:outerShdw>
          </a:effectLst>
        </p:spPr>
      </p:pic>
      <p:sp>
        <p:nvSpPr>
          <p:cNvPr id="9" name="Text 2"/>
          <p:cNvSpPr/>
          <p:nvPr/>
        </p:nvSpPr>
        <p:spPr>
          <a:xfrm>
            <a:off x="822960" y="2514600"/>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打开报告模板</a:t>
            </a:r>
            <a:endParaRPr lang="en-US" sz="2160" dirty="0"/>
          </a:p>
        </p:txBody>
      </p:sp>
      <p:sp>
        <p:nvSpPr>
          <p:cNvPr id="10" name="Text 3"/>
          <p:cNvSpPr/>
          <p:nvPr/>
        </p:nvSpPr>
        <p:spPr>
          <a:xfrm>
            <a:off x="822960" y="2926080"/>
            <a:ext cx="2142744" cy="294323"/>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查看完整结构</a:t>
            </a:r>
            <a:endParaRPr lang="en-US" sz="1680" dirty="0"/>
          </a:p>
        </p:txBody>
      </p:sp>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06880" y="1965960"/>
            <a:ext cx="365760" cy="365760"/>
          </a:xfrm>
          <a:prstGeom prst="rect">
            <a:avLst/>
          </a:prstGeom>
        </p:spPr>
      </p:pic>
      <p:sp>
        <p:nvSpPr>
          <p:cNvPr id="12" name="Text 4"/>
          <p:cNvSpPr/>
          <p:nvPr/>
        </p:nvSpPr>
        <p:spPr>
          <a:xfrm>
            <a:off x="1828800" y="2011680"/>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1</a:t>
            </a:r>
            <a:endParaRPr lang="en-US" sz="1440" dirty="0"/>
          </a:p>
        </p:txBody>
      </p:sp>
      <p:pic>
        <p:nvPicPr>
          <p:cNvPr id="14" name="Image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13760" y="2118360"/>
            <a:ext cx="2560320" cy="1371600"/>
          </a:xfrm>
          <a:prstGeom prst="rect">
            <a:avLst/>
          </a:prstGeom>
          <a:effectLst>
            <a:outerShdw blurRad="387096000" dist="193548000" dir="-1" algn="bl" rotWithShape="0">
              <a:srgbClr val="000000">
                <a:alpha val="500000000"/>
              </a:srgbClr>
            </a:outerShdw>
          </a:effectLst>
        </p:spPr>
      </p:pic>
      <p:sp>
        <p:nvSpPr>
          <p:cNvPr id="15" name="Text 5"/>
          <p:cNvSpPr/>
          <p:nvPr/>
        </p:nvSpPr>
        <p:spPr>
          <a:xfrm>
            <a:off x="3627120" y="2514600"/>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填写封面信息</a:t>
            </a:r>
            <a:endParaRPr lang="en-US" sz="2160" dirty="0"/>
          </a:p>
        </p:txBody>
      </p:sp>
      <p:sp>
        <p:nvSpPr>
          <p:cNvPr id="16" name="Text 6"/>
          <p:cNvSpPr/>
          <p:nvPr/>
        </p:nvSpPr>
        <p:spPr>
          <a:xfrm>
            <a:off x="3627120" y="2926080"/>
            <a:ext cx="2142744" cy="294323"/>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项目名称、日期、版本</a:t>
            </a:r>
            <a:endParaRPr lang="en-US" sz="1680" dirty="0"/>
          </a:p>
        </p:txBody>
      </p:sp>
      <p:pic>
        <p:nvPicPr>
          <p:cNvPr id="17" name="Image 8"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1040" y="1965960"/>
            <a:ext cx="365760" cy="365760"/>
          </a:xfrm>
          <a:prstGeom prst="rect">
            <a:avLst/>
          </a:prstGeom>
        </p:spPr>
      </p:pic>
      <p:sp>
        <p:nvSpPr>
          <p:cNvPr id="18" name="Text 7"/>
          <p:cNvSpPr/>
          <p:nvPr/>
        </p:nvSpPr>
        <p:spPr>
          <a:xfrm>
            <a:off x="4632960" y="2011680"/>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2</a:t>
            </a:r>
            <a:endParaRPr lang="en-US" sz="1440" dirty="0"/>
          </a:p>
        </p:txBody>
      </p:sp>
      <p:pic>
        <p:nvPicPr>
          <p:cNvPr id="20" name="Image 10"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17920" y="2118360"/>
            <a:ext cx="2560320" cy="1386840"/>
          </a:xfrm>
          <a:prstGeom prst="rect">
            <a:avLst/>
          </a:prstGeom>
          <a:effectLst>
            <a:outerShdw blurRad="387096000" dist="193548000" dir="-1" algn="bl" rotWithShape="0">
              <a:srgbClr val="000000">
                <a:alpha val="500000000"/>
              </a:srgbClr>
            </a:outerShdw>
          </a:effectLst>
        </p:spPr>
      </p:pic>
      <p:sp>
        <p:nvSpPr>
          <p:cNvPr id="21" name="Text 8"/>
          <p:cNvSpPr/>
          <p:nvPr/>
        </p:nvSpPr>
        <p:spPr>
          <a:xfrm>
            <a:off x="6431280" y="2453640"/>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填充项目概述</a:t>
            </a:r>
            <a:endParaRPr lang="en-US" sz="2160" dirty="0"/>
          </a:p>
        </p:txBody>
      </p:sp>
      <p:sp>
        <p:nvSpPr>
          <p:cNvPr id="22" name="Text 9"/>
          <p:cNvSpPr/>
          <p:nvPr/>
        </p:nvSpPr>
        <p:spPr>
          <a:xfrm>
            <a:off x="6233795" y="2865120"/>
            <a:ext cx="2534285" cy="356235"/>
          </a:xfrm>
          <a:prstGeom prst="rect">
            <a:avLst/>
          </a:prstGeom>
          <a:noFill/>
        </p:spPr>
        <p:txBody>
          <a:bodyPr wrap="square" lIns="0" tIns="0" rIns="0" bIns="0" rtlCol="0" anchor="t">
            <a:spAutoFit/>
          </a:bodyPr>
          <a:lstStyle/>
          <a:p>
            <a:pPr marL="0" indent="0" algn="ctr">
              <a:lnSpc>
                <a:spcPct val="138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从测评方案复制相关内容</a:t>
            </a:r>
            <a:endParaRPr lang="en-US" sz="1680" dirty="0"/>
          </a:p>
        </p:txBody>
      </p:sp>
      <p:pic>
        <p:nvPicPr>
          <p:cNvPr id="23" name="Image 11"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200" y="1965960"/>
            <a:ext cx="365760" cy="365760"/>
          </a:xfrm>
          <a:prstGeom prst="rect">
            <a:avLst/>
          </a:prstGeom>
        </p:spPr>
      </p:pic>
      <p:sp>
        <p:nvSpPr>
          <p:cNvPr id="24" name="Text 10"/>
          <p:cNvSpPr/>
          <p:nvPr/>
        </p:nvSpPr>
        <p:spPr>
          <a:xfrm>
            <a:off x="7437120" y="2011680"/>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3</a:t>
            </a:r>
            <a:endParaRPr lang="en-US" sz="1440" dirty="0"/>
          </a:p>
        </p:txBody>
      </p:sp>
      <p:pic>
        <p:nvPicPr>
          <p:cNvPr id="26" name="Image 1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22080" y="2118360"/>
            <a:ext cx="2560320" cy="1374140"/>
          </a:xfrm>
          <a:prstGeom prst="rect">
            <a:avLst/>
          </a:prstGeom>
          <a:effectLst>
            <a:outerShdw blurRad="387096000" dist="193548000" dir="-1" algn="bl" rotWithShape="0">
              <a:srgbClr val="000000">
                <a:alpha val="500000000"/>
              </a:srgbClr>
            </a:outerShdw>
          </a:effectLst>
        </p:spPr>
      </p:pic>
      <p:sp>
        <p:nvSpPr>
          <p:cNvPr id="27" name="Text 11"/>
          <p:cNvSpPr/>
          <p:nvPr/>
        </p:nvSpPr>
        <p:spPr>
          <a:xfrm>
            <a:off x="9235440" y="2453640"/>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导入测评记录</a:t>
            </a:r>
            <a:endParaRPr lang="en-US" sz="2160" dirty="0"/>
          </a:p>
        </p:txBody>
      </p:sp>
      <p:sp>
        <p:nvSpPr>
          <p:cNvPr id="28" name="Text 12"/>
          <p:cNvSpPr/>
          <p:nvPr/>
        </p:nvSpPr>
        <p:spPr>
          <a:xfrm>
            <a:off x="9235440" y="2817495"/>
            <a:ext cx="2020570" cy="516255"/>
          </a:xfrm>
          <a:prstGeom prst="rect">
            <a:avLst/>
          </a:prstGeom>
          <a:noFill/>
        </p:spPr>
        <p:txBody>
          <a:bodyPr wrap="square" lIns="0" tIns="0" rIns="0" bIns="0" rtlCol="0" anchor="t">
            <a:spAutoFit/>
          </a:bodyPr>
          <a:lstStyle/>
          <a:p>
            <a:pPr marL="0" indent="0" algn="ctr">
              <a:lnSpc>
                <a:spcPct val="100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将前序项目的记录表内容填入</a:t>
            </a:r>
            <a:endParaRPr lang="en-US" sz="1680" dirty="0"/>
          </a:p>
        </p:txBody>
      </p:sp>
      <p:pic>
        <p:nvPicPr>
          <p:cNvPr id="29" name="Image 14"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19360" y="1965960"/>
            <a:ext cx="365760" cy="365760"/>
          </a:xfrm>
          <a:prstGeom prst="rect">
            <a:avLst/>
          </a:prstGeom>
        </p:spPr>
      </p:pic>
      <p:sp>
        <p:nvSpPr>
          <p:cNvPr id="30" name="Text 13"/>
          <p:cNvSpPr/>
          <p:nvPr/>
        </p:nvSpPr>
        <p:spPr>
          <a:xfrm>
            <a:off x="10241280" y="2011680"/>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4</a:t>
            </a:r>
            <a:endParaRPr lang="en-US" sz="1440" dirty="0"/>
          </a:p>
        </p:txBody>
      </p:sp>
      <p:pic>
        <p:nvPicPr>
          <p:cNvPr id="32" name="Image 1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600" y="4590415"/>
            <a:ext cx="2560320" cy="1371600"/>
          </a:xfrm>
          <a:prstGeom prst="rect">
            <a:avLst/>
          </a:prstGeom>
          <a:effectLst>
            <a:outerShdw blurRad="387096000" dist="193548000" dir="-1" algn="bl" rotWithShape="0">
              <a:srgbClr val="000000">
                <a:alpha val="500000000"/>
              </a:srgbClr>
            </a:outerShdw>
          </a:effectLst>
        </p:spPr>
      </p:pic>
      <p:sp>
        <p:nvSpPr>
          <p:cNvPr id="33" name="Text 14"/>
          <p:cNvSpPr/>
          <p:nvPr/>
        </p:nvSpPr>
        <p:spPr>
          <a:xfrm>
            <a:off x="822960" y="4986655"/>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生成单项结论</a:t>
            </a:r>
            <a:endParaRPr lang="en-US" sz="2160" dirty="0"/>
          </a:p>
        </p:txBody>
      </p:sp>
      <p:sp>
        <p:nvSpPr>
          <p:cNvPr id="34" name="Text 15"/>
          <p:cNvSpPr/>
          <p:nvPr/>
        </p:nvSpPr>
        <p:spPr>
          <a:xfrm>
            <a:off x="822960" y="5398135"/>
            <a:ext cx="2142744" cy="294323"/>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逐项判定并填写</a:t>
            </a:r>
            <a:endParaRPr lang="en-US" sz="1680" dirty="0"/>
          </a:p>
        </p:txBody>
      </p:sp>
      <p:pic>
        <p:nvPicPr>
          <p:cNvPr id="35" name="Image 1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06880" y="4438015"/>
            <a:ext cx="365760" cy="365760"/>
          </a:xfrm>
          <a:prstGeom prst="rect">
            <a:avLst/>
          </a:prstGeom>
        </p:spPr>
      </p:pic>
      <p:sp>
        <p:nvSpPr>
          <p:cNvPr id="36" name="Text 16"/>
          <p:cNvSpPr/>
          <p:nvPr/>
        </p:nvSpPr>
        <p:spPr>
          <a:xfrm>
            <a:off x="1828800" y="448373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5</a:t>
            </a:r>
            <a:endParaRPr lang="en-US" sz="1440" dirty="0"/>
          </a:p>
        </p:txBody>
      </p:sp>
      <p:pic>
        <p:nvPicPr>
          <p:cNvPr id="38" name="Image 19"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13760" y="4590415"/>
            <a:ext cx="2560320" cy="1371600"/>
          </a:xfrm>
          <a:prstGeom prst="rect">
            <a:avLst/>
          </a:prstGeom>
          <a:effectLst>
            <a:outerShdw blurRad="387096000" dist="193548000" dir="-1" algn="bl" rotWithShape="0">
              <a:srgbClr val="000000">
                <a:alpha val="500000000"/>
              </a:srgbClr>
            </a:outerShdw>
          </a:effectLst>
        </p:spPr>
      </p:pic>
      <p:sp>
        <p:nvSpPr>
          <p:cNvPr id="39" name="Text 17"/>
          <p:cNvSpPr/>
          <p:nvPr/>
        </p:nvSpPr>
        <p:spPr>
          <a:xfrm>
            <a:off x="3627120" y="4986655"/>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撰写整体结论</a:t>
            </a:r>
            <a:endParaRPr lang="en-US" sz="2160" dirty="0"/>
          </a:p>
        </p:txBody>
      </p:sp>
      <p:sp>
        <p:nvSpPr>
          <p:cNvPr id="40" name="Text 18"/>
          <p:cNvSpPr/>
          <p:nvPr/>
        </p:nvSpPr>
        <p:spPr>
          <a:xfrm>
            <a:off x="3627120" y="5398135"/>
            <a:ext cx="2142744" cy="294323"/>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汇总分析、形成判断</a:t>
            </a:r>
            <a:endParaRPr lang="en-US" sz="1680" dirty="0"/>
          </a:p>
        </p:txBody>
      </p:sp>
      <p:pic>
        <p:nvPicPr>
          <p:cNvPr id="41" name="Image 20"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1040" y="4438015"/>
            <a:ext cx="365760" cy="365760"/>
          </a:xfrm>
          <a:prstGeom prst="rect">
            <a:avLst/>
          </a:prstGeom>
        </p:spPr>
      </p:pic>
      <p:sp>
        <p:nvSpPr>
          <p:cNvPr id="42" name="Text 19"/>
          <p:cNvSpPr/>
          <p:nvPr/>
        </p:nvSpPr>
        <p:spPr>
          <a:xfrm>
            <a:off x="4632960" y="448373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6</a:t>
            </a:r>
            <a:endParaRPr lang="en-US" sz="1440" dirty="0"/>
          </a:p>
        </p:txBody>
      </p:sp>
      <p:pic>
        <p:nvPicPr>
          <p:cNvPr id="44" name="Image 2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7920" y="4590415"/>
            <a:ext cx="2560320" cy="1371600"/>
          </a:xfrm>
          <a:prstGeom prst="rect">
            <a:avLst/>
          </a:prstGeom>
          <a:effectLst>
            <a:outerShdw blurRad="387096000" dist="193548000" dir="-1" algn="bl" rotWithShape="0">
              <a:srgbClr val="000000">
                <a:alpha val="500000000"/>
              </a:srgbClr>
            </a:outerShdw>
          </a:effectLst>
        </p:spPr>
      </p:pic>
      <p:sp>
        <p:nvSpPr>
          <p:cNvPr id="45" name="Text 20"/>
          <p:cNvSpPr/>
          <p:nvPr/>
        </p:nvSpPr>
        <p:spPr>
          <a:xfrm>
            <a:off x="6431280" y="4986655"/>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编写整改建议</a:t>
            </a:r>
            <a:endParaRPr lang="en-US" sz="2160" dirty="0"/>
          </a:p>
        </p:txBody>
      </p:sp>
      <p:sp>
        <p:nvSpPr>
          <p:cNvPr id="46" name="Text 21"/>
          <p:cNvSpPr/>
          <p:nvPr/>
        </p:nvSpPr>
        <p:spPr>
          <a:xfrm>
            <a:off x="6431280" y="5398135"/>
            <a:ext cx="2142744" cy="294323"/>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具体、可操作</a:t>
            </a:r>
            <a:endParaRPr lang="en-US" sz="1680" dirty="0"/>
          </a:p>
        </p:txBody>
      </p:sp>
      <p:pic>
        <p:nvPicPr>
          <p:cNvPr id="47" name="Image 2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200" y="4438015"/>
            <a:ext cx="365760" cy="365760"/>
          </a:xfrm>
          <a:prstGeom prst="rect">
            <a:avLst/>
          </a:prstGeom>
        </p:spPr>
      </p:pic>
      <p:sp>
        <p:nvSpPr>
          <p:cNvPr id="48" name="Text 22"/>
          <p:cNvSpPr/>
          <p:nvPr/>
        </p:nvSpPr>
        <p:spPr>
          <a:xfrm>
            <a:off x="7437120" y="448373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7</a:t>
            </a:r>
            <a:endParaRPr lang="en-US" sz="1440" dirty="0"/>
          </a:p>
        </p:txBody>
      </p:sp>
      <p:pic>
        <p:nvPicPr>
          <p:cNvPr id="49" name="Image 2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22080" y="4590415"/>
            <a:ext cx="2560320" cy="1392555"/>
          </a:xfrm>
          <a:prstGeom prst="rect">
            <a:avLst/>
          </a:prstGeom>
          <a:effectLst>
            <a:outerShdw blurRad="387096000" dist="193548000" dir="-1" algn="bl" rotWithShape="0">
              <a:srgbClr val="000000">
                <a:alpha val="500000000"/>
              </a:srgbClr>
            </a:outerShdw>
          </a:effectLst>
        </p:spPr>
      </p:pic>
      <p:sp>
        <p:nvSpPr>
          <p:cNvPr id="50" name="Text 23"/>
          <p:cNvSpPr/>
          <p:nvPr/>
        </p:nvSpPr>
        <p:spPr>
          <a:xfrm>
            <a:off x="9235440" y="4925695"/>
            <a:ext cx="2142744" cy="342900"/>
          </a:xfrm>
          <a:prstGeom prst="rect">
            <a:avLst/>
          </a:prstGeom>
          <a:noFill/>
        </p:spPr>
        <p:txBody>
          <a:bodyPr wrap="none" lIns="0" tIns="0" rIns="0" bIns="0" rtlCol="0" anchor="t">
            <a:spAutoFit/>
          </a:bodyPr>
          <a:lstStyle/>
          <a:p>
            <a:pPr marL="0" indent="0" algn="ctr">
              <a:lnSpc>
                <a:spcPct val="100000"/>
              </a:lnSpc>
              <a:buNone/>
            </a:pPr>
            <a:r>
              <a:rPr lang="en-US" sz="2160" b="1" dirty="0">
                <a:solidFill>
                  <a:srgbClr val="37291F"/>
                </a:solidFill>
                <a:latin typeface="思源黑体 CN Bold" pitchFamily="34" charset="0"/>
                <a:ea typeface="思源黑体 CN Bold" pitchFamily="34" charset="-122"/>
                <a:cs typeface="思源黑体 CN Bold" pitchFamily="34" charset="-120"/>
              </a:rPr>
              <a:t>生成目录与签章</a:t>
            </a:r>
            <a:endParaRPr lang="en-US" sz="2160" dirty="0"/>
          </a:p>
        </p:txBody>
      </p:sp>
      <p:sp>
        <p:nvSpPr>
          <p:cNvPr id="51" name="Text 24"/>
          <p:cNvSpPr/>
          <p:nvPr/>
        </p:nvSpPr>
        <p:spPr>
          <a:xfrm>
            <a:off x="9060180" y="5337175"/>
            <a:ext cx="2522220" cy="356235"/>
          </a:xfrm>
          <a:prstGeom prst="rect">
            <a:avLst/>
          </a:prstGeom>
          <a:noFill/>
        </p:spPr>
        <p:txBody>
          <a:bodyPr wrap="square" lIns="0" tIns="0" rIns="0" bIns="0" rtlCol="0" anchor="t">
            <a:spAutoFit/>
          </a:bodyPr>
          <a:lstStyle/>
          <a:p>
            <a:pPr marL="0" indent="0" algn="ctr">
              <a:lnSpc>
                <a:spcPct val="138000"/>
              </a:lnSpc>
              <a:buNone/>
            </a:pPr>
            <a:r>
              <a:rPr lang="en-US" sz="1680" dirty="0">
                <a:solidFill>
                  <a:srgbClr val="63554B"/>
                </a:solidFill>
                <a:latin typeface="思源黑体 CN Regular" pitchFamily="34" charset="0"/>
                <a:ea typeface="思源黑体 CN Regular" pitchFamily="34" charset="-122"/>
                <a:cs typeface="思源黑体 CN Regular" pitchFamily="34" charset="-120"/>
              </a:rPr>
              <a:t>自动生成目录、签字盖章</a:t>
            </a:r>
            <a:endParaRPr lang="en-US" sz="1680" dirty="0"/>
          </a:p>
        </p:txBody>
      </p:sp>
      <p:pic>
        <p:nvPicPr>
          <p:cNvPr id="52" name="Image 2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19360" y="4438015"/>
            <a:ext cx="365760" cy="365760"/>
          </a:xfrm>
          <a:prstGeom prst="rect">
            <a:avLst/>
          </a:prstGeom>
        </p:spPr>
      </p:pic>
      <p:sp>
        <p:nvSpPr>
          <p:cNvPr id="53" name="Text 25"/>
          <p:cNvSpPr/>
          <p:nvPr/>
        </p:nvSpPr>
        <p:spPr>
          <a:xfrm>
            <a:off x="10241280" y="448373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8</a:t>
            </a:r>
            <a:endParaRPr lang="en-US" sz="1440" dirty="0"/>
          </a:p>
        </p:txBody>
      </p:sp>
      <p:pic>
        <p:nvPicPr>
          <p:cNvPr id="54" name="Image 3" descr="https://test.web.static.jianzeppt.com/ppt-temp-img3/2ab634bc62885fe221ac557cfe4adb6a.png?x-oss-process=image/resize,w_1440,h_800,m_lfit/format,png"/>
          <p:cNvPicPr>
            <a:picLocks noChangeAspect="1"/>
          </p:cNvPicPr>
          <p:nvPr/>
        </p:nvPicPr>
        <p:blipFill>
          <a:blip r:embed="rId4">
            <a:alphaModFix amt="60000"/>
          </a:blip>
          <a:stretch>
            <a:fillRect/>
          </a:stretch>
        </p:blipFill>
        <p:spPr>
          <a:xfrm>
            <a:off x="8526145" y="2642235"/>
            <a:ext cx="709295" cy="491490"/>
          </a:xfrm>
          <a:prstGeom prst="rect">
            <a:avLst/>
          </a:prstGeom>
        </p:spPr>
      </p:pic>
      <p:pic>
        <p:nvPicPr>
          <p:cNvPr id="55" name="Image 3" descr="https://test.web.static.jianzeppt.com/ppt-temp-img3/2ab634bc62885fe221ac557cfe4adb6a.png?x-oss-process=image/resize,w_1440,h_800,m_lfit/format,png"/>
          <p:cNvPicPr>
            <a:picLocks noChangeAspect="1"/>
          </p:cNvPicPr>
          <p:nvPr/>
        </p:nvPicPr>
        <p:blipFill>
          <a:blip r:embed="rId4">
            <a:alphaModFix amt="60000"/>
          </a:blip>
          <a:stretch>
            <a:fillRect/>
          </a:stretch>
        </p:blipFill>
        <p:spPr>
          <a:xfrm>
            <a:off x="5721985" y="2558415"/>
            <a:ext cx="709295" cy="491490"/>
          </a:xfrm>
          <a:prstGeom prst="rect">
            <a:avLst/>
          </a:prstGeom>
        </p:spPr>
      </p:pic>
      <p:pic>
        <p:nvPicPr>
          <p:cNvPr id="56" name="Image 3" descr="https://test.web.static.jianzeppt.com/ppt-temp-img3/2ab634bc62885fe221ac557cfe4adb6a.png?x-oss-process=image/resize,w_1440,h_800,m_lfit/format,png"/>
          <p:cNvPicPr>
            <a:picLocks noChangeAspect="1"/>
          </p:cNvPicPr>
          <p:nvPr/>
        </p:nvPicPr>
        <p:blipFill>
          <a:blip r:embed="rId4">
            <a:alphaModFix amt="60000"/>
          </a:blip>
          <a:stretch>
            <a:fillRect/>
          </a:stretch>
        </p:blipFill>
        <p:spPr>
          <a:xfrm>
            <a:off x="2965450" y="5041265"/>
            <a:ext cx="709295" cy="491490"/>
          </a:xfrm>
          <a:prstGeom prst="rect">
            <a:avLst/>
          </a:prstGeom>
        </p:spPr>
      </p:pic>
      <p:pic>
        <p:nvPicPr>
          <p:cNvPr id="57" name="Image 3" descr="https://test.web.static.jianzeppt.com/ppt-temp-img3/2ab634bc62885fe221ac557cfe4adb6a.png?x-oss-process=image/resize,w_1440,h_800,m_lfit/format,png"/>
          <p:cNvPicPr>
            <a:picLocks noChangeAspect="1"/>
          </p:cNvPicPr>
          <p:nvPr/>
        </p:nvPicPr>
        <p:blipFill>
          <a:blip r:embed="rId4">
            <a:alphaModFix amt="60000"/>
          </a:blip>
          <a:stretch>
            <a:fillRect/>
          </a:stretch>
        </p:blipFill>
        <p:spPr>
          <a:xfrm>
            <a:off x="5721985" y="5041265"/>
            <a:ext cx="709295" cy="491490"/>
          </a:xfrm>
          <a:prstGeom prst="rect">
            <a:avLst/>
          </a:prstGeom>
        </p:spPr>
      </p:pic>
      <p:pic>
        <p:nvPicPr>
          <p:cNvPr id="58" name="Image 3" descr="https://test.web.static.jianzeppt.com/ppt-temp-img3/2ab634bc62885fe221ac557cfe4adb6a.png?x-oss-process=image/resize,w_1440,h_800,m_lfit/format,png"/>
          <p:cNvPicPr>
            <a:picLocks noChangeAspect="1"/>
          </p:cNvPicPr>
          <p:nvPr/>
        </p:nvPicPr>
        <p:blipFill>
          <a:blip r:embed="rId4">
            <a:alphaModFix amt="60000"/>
          </a:blip>
          <a:stretch>
            <a:fillRect/>
          </a:stretch>
        </p:blipFill>
        <p:spPr>
          <a:xfrm>
            <a:off x="8526145" y="5041265"/>
            <a:ext cx="709295" cy="491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单项测评结论判定（四象限法）</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4739640"/>
            <a:ext cx="10972800" cy="1753235"/>
          </a:xfrm>
          <a:prstGeom prst="rect">
            <a:avLst/>
          </a:prstGeom>
          <a:effectLst>
            <a:outerShdw blurRad="387096000" dist="193548000" dir="-1" algn="bl" rotWithShape="0">
              <a:srgbClr val="000000">
                <a:alpha val="500000000"/>
              </a:srgbClr>
            </a:outerShdw>
          </a:effectLst>
        </p:spPr>
      </p:pic>
      <p:pic>
        <p:nvPicPr>
          <p:cNvPr id="7"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9640" y="5151120"/>
            <a:ext cx="60960" cy="243840"/>
          </a:xfrm>
          <a:prstGeom prst="rect">
            <a:avLst/>
          </a:prstGeom>
        </p:spPr>
      </p:pic>
      <p:sp>
        <p:nvSpPr>
          <p:cNvPr id="8" name="Text 1"/>
          <p:cNvSpPr/>
          <p:nvPr/>
        </p:nvSpPr>
        <p:spPr>
          <a:xfrm>
            <a:off x="1112520" y="5059680"/>
            <a:ext cx="1106424" cy="396240"/>
          </a:xfrm>
          <a:prstGeom prst="rect">
            <a:avLst/>
          </a:prstGeom>
          <a:noFill/>
        </p:spPr>
        <p:txBody>
          <a:bodyPr wrap="none" lIns="0" tIns="0" rIns="0" bIns="0" rtlCol="0" anchor="ct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判定原则</a:t>
            </a:r>
            <a:endParaRPr lang="en-US" sz="2160" dirty="0"/>
          </a:p>
        </p:txBody>
      </p:sp>
      <p:sp>
        <p:nvSpPr>
          <p:cNvPr id="9" name="Text 2"/>
          <p:cNvSpPr/>
          <p:nvPr/>
        </p:nvSpPr>
        <p:spPr>
          <a:xfrm>
            <a:off x="929640" y="5654040"/>
            <a:ext cx="2682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a:t>
            </a:r>
            <a:endParaRPr lang="en-US" sz="1920" dirty="0"/>
          </a:p>
        </p:txBody>
      </p:sp>
      <p:sp>
        <p:nvSpPr>
          <p:cNvPr id="10" name="Text 3"/>
          <p:cNvSpPr/>
          <p:nvPr/>
        </p:nvSpPr>
        <p:spPr>
          <a:xfrm>
            <a:off x="1295400" y="5654040"/>
            <a:ext cx="4520184" cy="365760"/>
          </a:xfrm>
          <a:prstGeom prst="rect">
            <a:avLst/>
          </a:prstGeom>
          <a:noFill/>
        </p:spPr>
        <p:txBody>
          <a:bodyPr wrap="squar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符合</a:t>
            </a:r>
            <a:r>
              <a:rPr lang="en-US" sz="1920" dirty="0">
                <a:solidFill>
                  <a:srgbClr val="514337"/>
                </a:solidFill>
                <a:latin typeface="思源黑体 CN Regular" pitchFamily="34" charset="0"/>
                <a:ea typeface="思源黑体 CN Regular" pitchFamily="34" charset="-122"/>
                <a:cs typeface="思源黑体 CN Regular" pitchFamily="34" charset="-120"/>
              </a:rPr>
              <a:t>≠ “大概可以”——必须有证据支持</a:t>
            </a:r>
            <a:endParaRPr lang="en-US" sz="1920" dirty="0"/>
          </a:p>
        </p:txBody>
      </p:sp>
      <p:sp>
        <p:nvSpPr>
          <p:cNvPr id="11" name="Text 4"/>
          <p:cNvSpPr/>
          <p:nvPr/>
        </p:nvSpPr>
        <p:spPr>
          <a:xfrm>
            <a:off x="6339840" y="5654040"/>
            <a:ext cx="2682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a:t>
            </a:r>
            <a:endParaRPr lang="en-US" sz="1920" dirty="0"/>
          </a:p>
        </p:txBody>
      </p:sp>
      <p:sp>
        <p:nvSpPr>
          <p:cNvPr id="12" name="Text 5"/>
          <p:cNvSpPr/>
          <p:nvPr/>
        </p:nvSpPr>
        <p:spPr>
          <a:xfrm>
            <a:off x="6705600" y="5654040"/>
            <a:ext cx="4744720" cy="442595"/>
          </a:xfrm>
          <a:prstGeom prst="rect">
            <a:avLst/>
          </a:prstGeom>
          <a:noFill/>
        </p:spPr>
        <p:txBody>
          <a:bodyPr wrap="squar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部分符合</a:t>
            </a:r>
            <a:r>
              <a:rPr lang="en-US" sz="1920" dirty="0">
                <a:solidFill>
                  <a:srgbClr val="514337"/>
                </a:solidFill>
                <a:latin typeface="思源黑体 CN Regular" pitchFamily="34" charset="0"/>
                <a:ea typeface="思源黑体 CN Regular" pitchFamily="34" charset="-122"/>
                <a:cs typeface="思源黑体 CN Regular" pitchFamily="34" charset="-120"/>
              </a:rPr>
              <a:t>≠ 回避问题——必须说明具体不足</a:t>
            </a:r>
            <a:endParaRPr lang="en-US" sz="1920" dirty="0"/>
          </a:p>
        </p:txBody>
      </p:sp>
      <p:sp>
        <p:nvSpPr>
          <p:cNvPr id="13" name="Text 6"/>
          <p:cNvSpPr/>
          <p:nvPr/>
        </p:nvSpPr>
        <p:spPr>
          <a:xfrm>
            <a:off x="929640" y="6056630"/>
            <a:ext cx="2682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a:t>
            </a:r>
            <a:endParaRPr lang="en-US" sz="1920" dirty="0"/>
          </a:p>
        </p:txBody>
      </p:sp>
      <p:sp>
        <p:nvSpPr>
          <p:cNvPr id="14" name="Text 7"/>
          <p:cNvSpPr/>
          <p:nvPr/>
        </p:nvSpPr>
        <p:spPr>
          <a:xfrm>
            <a:off x="1295400" y="6040120"/>
            <a:ext cx="4276344" cy="365760"/>
          </a:xfrm>
          <a:prstGeom prst="rect">
            <a:avLst/>
          </a:prstGeom>
          <a:noFill/>
        </p:spPr>
        <p:txBody>
          <a:bodyPr wrap="squar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不符合</a:t>
            </a:r>
            <a:r>
              <a:rPr lang="en-US" sz="1920" dirty="0">
                <a:solidFill>
                  <a:srgbClr val="514337"/>
                </a:solidFill>
                <a:latin typeface="思源黑体 CN Regular" pitchFamily="34" charset="0"/>
                <a:ea typeface="思源黑体 CN Regular" pitchFamily="34" charset="-122"/>
                <a:cs typeface="思源黑体 CN Regular" pitchFamily="34" charset="-120"/>
              </a:rPr>
              <a:t>≠ 否定全部——说明哪些不满足</a:t>
            </a:r>
            <a:endParaRPr lang="en-US" sz="1920" dirty="0"/>
          </a:p>
        </p:txBody>
      </p:sp>
      <p:sp>
        <p:nvSpPr>
          <p:cNvPr id="15" name="Text 8"/>
          <p:cNvSpPr/>
          <p:nvPr/>
        </p:nvSpPr>
        <p:spPr>
          <a:xfrm>
            <a:off x="6339840" y="6007100"/>
            <a:ext cx="2682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a:t>
            </a:r>
            <a:endParaRPr lang="en-US" sz="1920" dirty="0"/>
          </a:p>
        </p:txBody>
      </p:sp>
      <p:sp>
        <p:nvSpPr>
          <p:cNvPr id="16" name="Text 9"/>
          <p:cNvSpPr/>
          <p:nvPr/>
        </p:nvSpPr>
        <p:spPr>
          <a:xfrm>
            <a:off x="6705600" y="6007100"/>
            <a:ext cx="4276344" cy="365760"/>
          </a:xfrm>
          <a:prstGeom prst="rect">
            <a:avLst/>
          </a:prstGeom>
          <a:noFill/>
        </p:spPr>
        <p:txBody>
          <a:bodyPr wrap="square" lIns="0" tIns="0" rIns="0" bIns="0" rtlCol="0" anchor="t">
            <a:spAutoFit/>
          </a:bodyPr>
          <a:lstStyle/>
          <a:p>
            <a:pPr marL="0" indent="0" algn="l">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不适用</a:t>
            </a:r>
            <a:r>
              <a:rPr lang="en-US" sz="1920" dirty="0">
                <a:solidFill>
                  <a:srgbClr val="514337"/>
                </a:solidFill>
                <a:latin typeface="思源黑体 CN Regular" pitchFamily="34" charset="0"/>
                <a:ea typeface="思源黑体 CN Regular" pitchFamily="34" charset="-122"/>
                <a:cs typeface="思源黑体 CN Regular" pitchFamily="34" charset="-120"/>
              </a:rPr>
              <a:t>≠ 随意使用——必须有充分理由</a:t>
            </a:r>
            <a:endParaRPr lang="en-US" sz="1920" dirty="0"/>
          </a:p>
        </p:txBody>
      </p:sp>
      <p:pic>
        <p:nvPicPr>
          <p:cNvPr id="17"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1371600"/>
            <a:ext cx="5364480" cy="1432560"/>
          </a:xfrm>
          <a:prstGeom prst="rect">
            <a:avLst/>
          </a:prstGeom>
          <a:effectLst>
            <a:outerShdw blurRad="387096000" dist="193548000" dir="-1" algn="bl" rotWithShape="0">
              <a:srgbClr val="000000">
                <a:alpha val="500000000"/>
              </a:srgbClr>
            </a:outerShdw>
          </a:effectLst>
        </p:spPr>
      </p:pic>
      <p:sp>
        <p:nvSpPr>
          <p:cNvPr id="18" name="Text 10"/>
          <p:cNvSpPr/>
          <p:nvPr/>
        </p:nvSpPr>
        <p:spPr>
          <a:xfrm>
            <a:off x="914400" y="1539240"/>
            <a:ext cx="6187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符合</a:t>
            </a:r>
            <a:endParaRPr lang="en-US" sz="2400" dirty="0"/>
          </a:p>
        </p:txBody>
      </p:sp>
      <p:pic>
        <p:nvPicPr>
          <p:cNvPr id="19"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45920" y="1584960"/>
            <a:ext cx="670560" cy="381000"/>
          </a:xfrm>
          <a:prstGeom prst="rect">
            <a:avLst/>
          </a:prstGeom>
        </p:spPr>
      </p:pic>
      <p:sp>
        <p:nvSpPr>
          <p:cNvPr id="20" name="Text 11"/>
          <p:cNvSpPr/>
          <p:nvPr/>
        </p:nvSpPr>
        <p:spPr>
          <a:xfrm>
            <a:off x="1767840" y="1615440"/>
            <a:ext cx="4358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80756B"/>
                </a:solidFill>
                <a:latin typeface="思源黑体 CN Regular" pitchFamily="34" charset="0"/>
                <a:ea typeface="思源黑体 CN Regular" pitchFamily="34" charset="-122"/>
                <a:cs typeface="思源黑体 CN Regular" pitchFamily="34" charset="-120"/>
              </a:rPr>
              <a:t>绿色</a:t>
            </a:r>
            <a:endParaRPr lang="en-US" sz="1680" dirty="0"/>
          </a:p>
        </p:txBody>
      </p:sp>
      <p:sp>
        <p:nvSpPr>
          <p:cNvPr id="21" name="Text 12"/>
          <p:cNvSpPr/>
          <p:nvPr/>
        </p:nvSpPr>
        <p:spPr>
          <a:xfrm>
            <a:off x="914400" y="2042160"/>
            <a:ext cx="1625600" cy="245745"/>
          </a:xfrm>
          <a:prstGeom prst="rect">
            <a:avLst/>
          </a:prstGeom>
          <a:noFill/>
        </p:spPr>
        <p:txBody>
          <a:bodyPr wrap="none" lIns="0" tIns="0" rIns="0" bIns="0" rtlCol="0" anchor="t">
            <a:spAutoFit/>
          </a:bodyPr>
          <a:lstStyle/>
          <a:p>
            <a:pPr marL="0" indent="0" algn="l">
              <a:lnSpc>
                <a:spcPct val="100000"/>
              </a:lnSpc>
              <a:buNone/>
            </a:pPr>
            <a:r>
              <a:rPr lang="en-US" sz="1600" dirty="0">
                <a:solidFill>
                  <a:srgbClr val="514337"/>
                </a:solidFill>
                <a:latin typeface="思源黑体 CN Regular" pitchFamily="34" charset="0"/>
                <a:ea typeface="思源黑体 CN Regular" pitchFamily="34" charset="-122"/>
                <a:cs typeface="思源黑体 CN Regular" pitchFamily="34" charset="-120"/>
              </a:rPr>
              <a:t>完全满足标准要求</a:t>
            </a:r>
            <a:endParaRPr lang="en-US" sz="1600" dirty="0">
              <a:solidFill>
                <a:srgbClr val="514337"/>
              </a:solidFill>
              <a:latin typeface="思源黑体 CN Regular" pitchFamily="34" charset="0"/>
              <a:ea typeface="思源黑体 CN Regular" pitchFamily="34" charset="-122"/>
              <a:cs typeface="思源黑体 CN Regular" pitchFamily="34" charset="-120"/>
            </a:endParaRPr>
          </a:p>
        </p:txBody>
      </p:sp>
      <p:sp>
        <p:nvSpPr>
          <p:cNvPr id="22" name="Text 13"/>
          <p:cNvSpPr/>
          <p:nvPr/>
        </p:nvSpPr>
        <p:spPr>
          <a:xfrm>
            <a:off x="914400" y="2346960"/>
            <a:ext cx="1244600" cy="215265"/>
          </a:xfrm>
          <a:prstGeom prst="rect">
            <a:avLst/>
          </a:prstGeom>
          <a:noFill/>
        </p:spPr>
        <p:txBody>
          <a:bodyPr wrap="none" lIns="0" tIns="0" rIns="0" bIns="0" rtlCol="0" anchor="t">
            <a:spAutoFit/>
          </a:bodyPr>
          <a:lstStyle/>
          <a:p>
            <a:pPr marL="0" indent="0" algn="l">
              <a:lnSpc>
                <a:spcPct val="100000"/>
              </a:lnSpc>
              <a:buNone/>
            </a:pPr>
            <a:r>
              <a:rPr lang="en-US" sz="1400" dirty="0">
                <a:solidFill>
                  <a:srgbClr val="80756B"/>
                </a:solidFill>
                <a:latin typeface="思源黑体 CN Regular" pitchFamily="34" charset="0"/>
                <a:ea typeface="思源黑体 CN Regular" pitchFamily="34" charset="-122"/>
                <a:cs typeface="思源黑体 CN Regular" pitchFamily="34" charset="-120"/>
              </a:rPr>
              <a:t>所有子项均满足</a:t>
            </a:r>
            <a:endParaRPr lang="en-US" sz="1400" dirty="0">
              <a:solidFill>
                <a:srgbClr val="80756B"/>
              </a:solidFill>
              <a:latin typeface="思源黑体 CN Regular" pitchFamily="34" charset="0"/>
              <a:ea typeface="思源黑体 CN Regular" pitchFamily="34" charset="-122"/>
              <a:cs typeface="思源黑体 CN Regular" pitchFamily="34" charset="-120"/>
            </a:endParaRPr>
          </a:p>
        </p:txBody>
      </p:sp>
      <p:sp>
        <p:nvSpPr>
          <p:cNvPr id="23" name="Text 14"/>
          <p:cNvSpPr/>
          <p:nvPr/>
        </p:nvSpPr>
        <p:spPr>
          <a:xfrm>
            <a:off x="5486400" y="1493520"/>
            <a:ext cx="512064" cy="486251"/>
          </a:xfrm>
          <a:prstGeom prst="rect">
            <a:avLst/>
          </a:prstGeom>
          <a:noFill/>
        </p:spPr>
        <p:txBody>
          <a:bodyPr wrap="none" lIns="0" tIns="0" rIns="0" bIns="0" rtlCol="0" anchor="t">
            <a:spAutoFit/>
          </a:bodyPr>
          <a:lstStyle/>
          <a:p>
            <a:pPr marL="0" indent="0" algn="l">
              <a:lnSpc>
                <a:spcPct val="100000"/>
              </a:lnSpc>
              <a:buNone/>
            </a:pPr>
            <a:r>
              <a:rPr lang="en-US" sz="2880" dirty="0">
                <a:solidFill>
                  <a:srgbClr val="000000">
                    <a:alpha val="80000"/>
                  </a:srgbClr>
                </a:solidFill>
                <a:latin typeface="思源黑体 CN Regular" pitchFamily="34" charset="0"/>
                <a:ea typeface="思源黑体 CN Regular" pitchFamily="34" charset="-122"/>
                <a:cs typeface="思源黑体 CN Regular" pitchFamily="34" charset="-120"/>
              </a:rPr>
              <a:t>🟢</a:t>
            </a:r>
            <a:endParaRPr lang="en-US" sz="2880" dirty="0"/>
          </a:p>
        </p:txBody>
      </p:sp>
      <p:pic>
        <p:nvPicPr>
          <p:cNvPr id="24" name="Image 7"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0" y="1371600"/>
            <a:ext cx="5364480" cy="1432560"/>
          </a:xfrm>
          <a:prstGeom prst="rect">
            <a:avLst/>
          </a:prstGeom>
          <a:effectLst>
            <a:outerShdw blurRad="387096000" dist="193548000" dir="-1" algn="bl" rotWithShape="0">
              <a:srgbClr val="000000">
                <a:alpha val="500000000"/>
              </a:srgbClr>
            </a:outerShdw>
          </a:effectLst>
        </p:spPr>
      </p:pic>
      <p:sp>
        <p:nvSpPr>
          <p:cNvPr id="25" name="Text 15"/>
          <p:cNvSpPr/>
          <p:nvPr/>
        </p:nvSpPr>
        <p:spPr>
          <a:xfrm>
            <a:off x="6522720" y="1539240"/>
            <a:ext cx="12283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部分符合</a:t>
            </a:r>
            <a:endParaRPr lang="en-US" sz="2400" dirty="0"/>
          </a:p>
        </p:txBody>
      </p:sp>
      <p:pic>
        <p:nvPicPr>
          <p:cNvPr id="26" name="Image 8"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63840" y="1584960"/>
            <a:ext cx="670560" cy="381000"/>
          </a:xfrm>
          <a:prstGeom prst="rect">
            <a:avLst/>
          </a:prstGeom>
        </p:spPr>
      </p:pic>
      <p:sp>
        <p:nvSpPr>
          <p:cNvPr id="27" name="Text 16"/>
          <p:cNvSpPr/>
          <p:nvPr/>
        </p:nvSpPr>
        <p:spPr>
          <a:xfrm>
            <a:off x="7985760" y="1615440"/>
            <a:ext cx="4358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80756B"/>
                </a:solidFill>
                <a:latin typeface="思源黑体 CN Regular" pitchFamily="34" charset="0"/>
                <a:ea typeface="思源黑体 CN Regular" pitchFamily="34" charset="-122"/>
                <a:cs typeface="思源黑体 CN Regular" pitchFamily="34" charset="-120"/>
              </a:rPr>
              <a:t>黄色</a:t>
            </a:r>
            <a:endParaRPr lang="en-US" sz="1680" dirty="0"/>
          </a:p>
        </p:txBody>
      </p:sp>
      <p:sp>
        <p:nvSpPr>
          <p:cNvPr id="28" name="Text 17"/>
          <p:cNvSpPr/>
          <p:nvPr/>
        </p:nvSpPr>
        <p:spPr>
          <a:xfrm>
            <a:off x="6522720" y="2042160"/>
            <a:ext cx="1600200" cy="215265"/>
          </a:xfrm>
          <a:prstGeom prst="rect">
            <a:avLst/>
          </a:prstGeom>
          <a:noFill/>
        </p:spPr>
        <p:txBody>
          <a:bodyPr wrap="none" lIns="0" tIns="0" rIns="0" bIns="0" rtlCol="0" anchor="t">
            <a:spAutoFit/>
          </a:bodyPr>
          <a:lstStyle/>
          <a:p>
            <a:pPr marL="0" indent="0" algn="l">
              <a:lnSpc>
                <a:spcPct val="100000"/>
              </a:lnSpc>
              <a:buNone/>
            </a:pPr>
            <a:r>
              <a:rPr lang="en-US" sz="1400" dirty="0">
                <a:solidFill>
                  <a:srgbClr val="514337"/>
                </a:solidFill>
                <a:latin typeface="思源黑体 CN Regular" pitchFamily="34" charset="0"/>
                <a:ea typeface="思源黑体 CN Regular" pitchFamily="34" charset="-122"/>
                <a:cs typeface="思源黑体 CN Regular" pitchFamily="34" charset="-120"/>
              </a:rPr>
              <a:t>部分满足，存在差距</a:t>
            </a:r>
            <a:endParaRPr lang="en-US" sz="1400" dirty="0">
              <a:solidFill>
                <a:srgbClr val="514337"/>
              </a:solidFill>
              <a:latin typeface="思源黑体 CN Regular" pitchFamily="34" charset="0"/>
              <a:ea typeface="思源黑体 CN Regular" pitchFamily="34" charset="-122"/>
              <a:cs typeface="思源黑体 CN Regular" pitchFamily="34" charset="-120"/>
            </a:endParaRPr>
          </a:p>
        </p:txBody>
      </p:sp>
      <p:sp>
        <p:nvSpPr>
          <p:cNvPr id="29" name="Text 18"/>
          <p:cNvSpPr/>
          <p:nvPr/>
        </p:nvSpPr>
        <p:spPr>
          <a:xfrm>
            <a:off x="6522720" y="2346960"/>
            <a:ext cx="2286000" cy="184150"/>
          </a:xfrm>
          <a:prstGeom prst="rect">
            <a:avLst/>
          </a:prstGeom>
          <a:noFill/>
        </p:spPr>
        <p:txBody>
          <a:bodyPr wrap="none" lIns="0" tIns="0" rIns="0" bIns="0" rtlCol="0" anchor="t">
            <a:spAutoFit/>
          </a:bodyPr>
          <a:lstStyle/>
          <a:p>
            <a:pPr marL="0" indent="0" algn="l">
              <a:lnSpc>
                <a:spcPct val="100000"/>
              </a:lnSpc>
              <a:buNone/>
            </a:pPr>
            <a:r>
              <a:rPr lang="en-US" sz="1200" dirty="0">
                <a:solidFill>
                  <a:srgbClr val="80756B"/>
                </a:solidFill>
                <a:latin typeface="思源黑体 CN Regular" pitchFamily="34" charset="0"/>
                <a:ea typeface="思源黑体 CN Regular" pitchFamily="34" charset="-122"/>
                <a:cs typeface="思源黑体 CN Regular" pitchFamily="34" charset="-120"/>
              </a:rPr>
              <a:t>关键子项满足，非关键子项有不足</a:t>
            </a:r>
            <a:endParaRPr lang="en-US" sz="1200" dirty="0">
              <a:solidFill>
                <a:srgbClr val="80756B"/>
              </a:solidFill>
              <a:latin typeface="思源黑体 CN Regular" pitchFamily="34" charset="0"/>
              <a:ea typeface="思源黑体 CN Regular" pitchFamily="34" charset="-122"/>
              <a:cs typeface="思源黑体 CN Regular" pitchFamily="34" charset="-120"/>
            </a:endParaRPr>
          </a:p>
        </p:txBody>
      </p:sp>
      <p:sp>
        <p:nvSpPr>
          <p:cNvPr id="30" name="Text 19"/>
          <p:cNvSpPr/>
          <p:nvPr/>
        </p:nvSpPr>
        <p:spPr>
          <a:xfrm>
            <a:off x="11094720" y="1493520"/>
            <a:ext cx="512064" cy="486251"/>
          </a:xfrm>
          <a:prstGeom prst="rect">
            <a:avLst/>
          </a:prstGeom>
          <a:noFill/>
        </p:spPr>
        <p:txBody>
          <a:bodyPr wrap="none" lIns="0" tIns="0" rIns="0" bIns="0" rtlCol="0" anchor="t">
            <a:spAutoFit/>
          </a:bodyPr>
          <a:lstStyle/>
          <a:p>
            <a:pPr marL="0" indent="0" algn="l">
              <a:lnSpc>
                <a:spcPct val="100000"/>
              </a:lnSpc>
              <a:buNone/>
            </a:pPr>
            <a:r>
              <a:rPr lang="en-US" sz="2880" dirty="0">
                <a:solidFill>
                  <a:srgbClr val="000000">
                    <a:alpha val="80000"/>
                  </a:srgbClr>
                </a:solidFill>
                <a:latin typeface="思源黑体 CN Regular" pitchFamily="34" charset="0"/>
                <a:ea typeface="思源黑体 CN Regular" pitchFamily="34" charset="-122"/>
                <a:cs typeface="思源黑体 CN Regular" pitchFamily="34" charset="-120"/>
              </a:rPr>
              <a:t>🟡</a:t>
            </a:r>
            <a:endParaRPr lang="en-US" sz="2880" dirty="0"/>
          </a:p>
        </p:txBody>
      </p:sp>
      <p:pic>
        <p:nvPicPr>
          <p:cNvPr id="31" name="Image 9"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09600" y="3048000"/>
            <a:ext cx="5364480" cy="1432560"/>
          </a:xfrm>
          <a:prstGeom prst="rect">
            <a:avLst/>
          </a:prstGeom>
          <a:effectLst>
            <a:outerShdw blurRad="387096000" dist="193548000" dir="-1" algn="bl" rotWithShape="0">
              <a:srgbClr val="000000">
                <a:alpha val="500000000"/>
              </a:srgbClr>
            </a:outerShdw>
          </a:effectLst>
        </p:spPr>
      </p:pic>
      <p:sp>
        <p:nvSpPr>
          <p:cNvPr id="32" name="Text 20"/>
          <p:cNvSpPr/>
          <p:nvPr/>
        </p:nvSpPr>
        <p:spPr>
          <a:xfrm>
            <a:off x="914400" y="3215640"/>
            <a:ext cx="9235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不符合</a:t>
            </a:r>
            <a:endParaRPr lang="en-US" sz="2400" dirty="0"/>
          </a:p>
        </p:txBody>
      </p:sp>
      <p:pic>
        <p:nvPicPr>
          <p:cNvPr id="33" name="Image 10"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950720" y="3261360"/>
            <a:ext cx="670560" cy="381000"/>
          </a:xfrm>
          <a:prstGeom prst="rect">
            <a:avLst/>
          </a:prstGeom>
        </p:spPr>
      </p:pic>
      <p:sp>
        <p:nvSpPr>
          <p:cNvPr id="34" name="Text 21"/>
          <p:cNvSpPr/>
          <p:nvPr/>
        </p:nvSpPr>
        <p:spPr>
          <a:xfrm>
            <a:off x="2072640" y="3291840"/>
            <a:ext cx="4358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80756B"/>
                </a:solidFill>
                <a:latin typeface="思源黑体 CN Regular" pitchFamily="34" charset="0"/>
                <a:ea typeface="思源黑体 CN Regular" pitchFamily="34" charset="-122"/>
                <a:cs typeface="思源黑体 CN Regular" pitchFamily="34" charset="-120"/>
              </a:rPr>
              <a:t>红色</a:t>
            </a:r>
            <a:endParaRPr lang="en-US" sz="1680" dirty="0"/>
          </a:p>
        </p:txBody>
      </p:sp>
      <p:sp>
        <p:nvSpPr>
          <p:cNvPr id="35" name="Text 22"/>
          <p:cNvSpPr/>
          <p:nvPr/>
        </p:nvSpPr>
        <p:spPr>
          <a:xfrm>
            <a:off x="914400" y="3718560"/>
            <a:ext cx="1244600" cy="215265"/>
          </a:xfrm>
          <a:prstGeom prst="rect">
            <a:avLst/>
          </a:prstGeom>
          <a:noFill/>
        </p:spPr>
        <p:txBody>
          <a:bodyPr wrap="none" lIns="0" tIns="0" rIns="0" bIns="0" rtlCol="0" anchor="t">
            <a:spAutoFit/>
          </a:bodyPr>
          <a:lstStyle/>
          <a:p>
            <a:pPr marL="0" indent="0" algn="l">
              <a:lnSpc>
                <a:spcPct val="100000"/>
              </a:lnSpc>
              <a:buNone/>
            </a:pPr>
            <a:r>
              <a:rPr lang="en-US" sz="1400" dirty="0">
                <a:solidFill>
                  <a:srgbClr val="514337"/>
                </a:solidFill>
                <a:latin typeface="思源黑体 CN Regular" pitchFamily="34" charset="0"/>
                <a:ea typeface="思源黑体 CN Regular" pitchFamily="34" charset="-122"/>
                <a:cs typeface="思源黑体 CN Regular" pitchFamily="34" charset="-120"/>
              </a:rPr>
              <a:t>不满足标准要求</a:t>
            </a:r>
            <a:endParaRPr lang="en-US" sz="1400" dirty="0">
              <a:solidFill>
                <a:srgbClr val="514337"/>
              </a:solidFill>
              <a:latin typeface="思源黑体 CN Regular" pitchFamily="34" charset="0"/>
              <a:ea typeface="思源黑体 CN Regular" pitchFamily="34" charset="-122"/>
              <a:cs typeface="思源黑体 CN Regular" pitchFamily="34" charset="-120"/>
            </a:endParaRPr>
          </a:p>
        </p:txBody>
      </p:sp>
      <p:sp>
        <p:nvSpPr>
          <p:cNvPr id="36" name="Text 23"/>
          <p:cNvSpPr/>
          <p:nvPr/>
        </p:nvSpPr>
        <p:spPr>
          <a:xfrm>
            <a:off x="914400" y="4023360"/>
            <a:ext cx="2133600" cy="184150"/>
          </a:xfrm>
          <a:prstGeom prst="rect">
            <a:avLst/>
          </a:prstGeom>
          <a:noFill/>
        </p:spPr>
        <p:txBody>
          <a:bodyPr wrap="none" lIns="0" tIns="0" rIns="0" bIns="0" rtlCol="0" anchor="t">
            <a:spAutoFit/>
          </a:bodyPr>
          <a:lstStyle/>
          <a:p>
            <a:pPr marL="0" indent="0" algn="l">
              <a:lnSpc>
                <a:spcPct val="100000"/>
              </a:lnSpc>
              <a:buNone/>
            </a:pPr>
            <a:r>
              <a:rPr lang="en-US" sz="1200" dirty="0">
                <a:solidFill>
                  <a:srgbClr val="80756B"/>
                </a:solidFill>
                <a:latin typeface="思源黑体 CN Regular" pitchFamily="34" charset="0"/>
                <a:ea typeface="思源黑体 CN Regular" pitchFamily="34" charset="-122"/>
                <a:cs typeface="思源黑体 CN Regular" pitchFamily="34" charset="-120"/>
              </a:rPr>
              <a:t>关键子项不满足或整体差距较大</a:t>
            </a:r>
            <a:endParaRPr lang="en-US" sz="1200" dirty="0">
              <a:solidFill>
                <a:srgbClr val="80756B"/>
              </a:solidFill>
              <a:latin typeface="思源黑体 CN Regular" pitchFamily="34" charset="0"/>
              <a:ea typeface="思源黑体 CN Regular" pitchFamily="34" charset="-122"/>
              <a:cs typeface="思源黑体 CN Regular" pitchFamily="34" charset="-120"/>
            </a:endParaRPr>
          </a:p>
        </p:txBody>
      </p:sp>
      <p:sp>
        <p:nvSpPr>
          <p:cNvPr id="37" name="Text 24"/>
          <p:cNvSpPr/>
          <p:nvPr/>
        </p:nvSpPr>
        <p:spPr>
          <a:xfrm>
            <a:off x="5486400" y="3169920"/>
            <a:ext cx="512064" cy="486251"/>
          </a:xfrm>
          <a:prstGeom prst="rect">
            <a:avLst/>
          </a:prstGeom>
          <a:noFill/>
        </p:spPr>
        <p:txBody>
          <a:bodyPr wrap="none" lIns="0" tIns="0" rIns="0" bIns="0" rtlCol="0" anchor="t">
            <a:spAutoFit/>
          </a:bodyPr>
          <a:lstStyle/>
          <a:p>
            <a:pPr marL="0" indent="0" algn="l">
              <a:lnSpc>
                <a:spcPct val="100000"/>
              </a:lnSpc>
              <a:buNone/>
            </a:pPr>
            <a:r>
              <a:rPr lang="en-US" sz="2880" dirty="0">
                <a:solidFill>
                  <a:srgbClr val="000000">
                    <a:alpha val="80000"/>
                  </a:srgbClr>
                </a:solidFill>
                <a:latin typeface="思源黑体 CN Regular" pitchFamily="34" charset="0"/>
                <a:ea typeface="思源黑体 CN Regular" pitchFamily="34" charset="-122"/>
                <a:cs typeface="思源黑体 CN Regular" pitchFamily="34" charset="-120"/>
              </a:rPr>
              <a:t>🔴</a:t>
            </a:r>
            <a:endParaRPr lang="en-US" sz="2880" dirty="0"/>
          </a:p>
        </p:txBody>
      </p:sp>
      <p:pic>
        <p:nvPicPr>
          <p:cNvPr id="38" name="Image 11"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217920" y="3048000"/>
            <a:ext cx="5364480" cy="1432560"/>
          </a:xfrm>
          <a:prstGeom prst="rect">
            <a:avLst/>
          </a:prstGeom>
          <a:effectLst>
            <a:outerShdw blurRad="387096000" dist="193548000" dir="-1" algn="bl" rotWithShape="0">
              <a:srgbClr val="000000">
                <a:alpha val="500000000"/>
              </a:srgbClr>
            </a:outerShdw>
          </a:effectLst>
        </p:spPr>
      </p:pic>
      <p:sp>
        <p:nvSpPr>
          <p:cNvPr id="39" name="Text 25"/>
          <p:cNvSpPr/>
          <p:nvPr/>
        </p:nvSpPr>
        <p:spPr>
          <a:xfrm>
            <a:off x="6522720" y="3215640"/>
            <a:ext cx="9235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333333"/>
                </a:solidFill>
                <a:latin typeface="思源黑体 CN Bold" pitchFamily="34" charset="0"/>
                <a:ea typeface="思源黑体 CN Bold" pitchFamily="34" charset="-122"/>
                <a:cs typeface="思源黑体 CN Bold" pitchFamily="34" charset="-120"/>
              </a:rPr>
              <a:t>不适用</a:t>
            </a:r>
            <a:endParaRPr lang="en-US" sz="2400" dirty="0"/>
          </a:p>
        </p:txBody>
      </p:sp>
      <p:pic>
        <p:nvPicPr>
          <p:cNvPr id="40" name="Image 12"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59040" y="3261360"/>
            <a:ext cx="670560" cy="381000"/>
          </a:xfrm>
          <a:prstGeom prst="rect">
            <a:avLst/>
          </a:prstGeom>
        </p:spPr>
      </p:pic>
      <p:sp>
        <p:nvSpPr>
          <p:cNvPr id="41" name="Text 26"/>
          <p:cNvSpPr/>
          <p:nvPr/>
        </p:nvSpPr>
        <p:spPr>
          <a:xfrm>
            <a:off x="7680960" y="3291840"/>
            <a:ext cx="4358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80756B"/>
                </a:solidFill>
                <a:latin typeface="思源黑体 CN Regular" pitchFamily="34" charset="0"/>
                <a:ea typeface="思源黑体 CN Regular" pitchFamily="34" charset="-122"/>
                <a:cs typeface="思源黑体 CN Regular" pitchFamily="34" charset="-120"/>
              </a:rPr>
              <a:t>白色</a:t>
            </a:r>
            <a:endParaRPr lang="en-US" sz="1680" dirty="0"/>
          </a:p>
        </p:txBody>
      </p:sp>
      <p:sp>
        <p:nvSpPr>
          <p:cNvPr id="42" name="Text 27"/>
          <p:cNvSpPr/>
          <p:nvPr/>
        </p:nvSpPr>
        <p:spPr>
          <a:xfrm>
            <a:off x="6522720" y="3718560"/>
            <a:ext cx="1244600" cy="215265"/>
          </a:xfrm>
          <a:prstGeom prst="rect">
            <a:avLst/>
          </a:prstGeom>
          <a:noFill/>
        </p:spPr>
        <p:txBody>
          <a:bodyPr wrap="none" lIns="0" tIns="0" rIns="0" bIns="0" rtlCol="0" anchor="t">
            <a:spAutoFit/>
          </a:bodyPr>
          <a:lstStyle/>
          <a:p>
            <a:pPr marL="0" indent="0" algn="l">
              <a:lnSpc>
                <a:spcPct val="100000"/>
              </a:lnSpc>
              <a:buNone/>
            </a:pPr>
            <a:r>
              <a:rPr lang="en-US" sz="1400" dirty="0">
                <a:solidFill>
                  <a:srgbClr val="514337"/>
                </a:solidFill>
                <a:latin typeface="思源黑体 CN Regular" pitchFamily="34" charset="0"/>
                <a:ea typeface="思源黑体 CN Regular" pitchFamily="34" charset="-122"/>
                <a:cs typeface="思源黑体 CN Regular" pitchFamily="34" charset="-120"/>
              </a:rPr>
              <a:t>系统不涉及该项</a:t>
            </a:r>
            <a:endParaRPr lang="en-US" sz="1400" dirty="0">
              <a:solidFill>
                <a:srgbClr val="514337"/>
              </a:solidFill>
              <a:latin typeface="思源黑体 CN Regular" pitchFamily="34" charset="0"/>
              <a:ea typeface="思源黑体 CN Regular" pitchFamily="34" charset="-122"/>
              <a:cs typeface="思源黑体 CN Regular" pitchFamily="34" charset="-120"/>
            </a:endParaRPr>
          </a:p>
        </p:txBody>
      </p:sp>
      <p:sp>
        <p:nvSpPr>
          <p:cNvPr id="43" name="Text 28"/>
          <p:cNvSpPr/>
          <p:nvPr/>
        </p:nvSpPr>
        <p:spPr>
          <a:xfrm>
            <a:off x="6522720" y="4023360"/>
            <a:ext cx="2590800" cy="184150"/>
          </a:xfrm>
          <a:prstGeom prst="rect">
            <a:avLst/>
          </a:prstGeom>
          <a:noFill/>
        </p:spPr>
        <p:txBody>
          <a:bodyPr wrap="none" lIns="0" tIns="0" rIns="0" bIns="0" rtlCol="0" anchor="t">
            <a:spAutoFit/>
          </a:bodyPr>
          <a:lstStyle/>
          <a:p>
            <a:pPr marL="0" indent="0" algn="l">
              <a:lnSpc>
                <a:spcPct val="100000"/>
              </a:lnSpc>
              <a:buNone/>
            </a:pPr>
            <a:r>
              <a:rPr lang="en-US" sz="1200" dirty="0">
                <a:solidFill>
                  <a:srgbClr val="80756B"/>
                </a:solidFill>
                <a:latin typeface="思源黑体 CN Regular" pitchFamily="34" charset="0"/>
                <a:ea typeface="思源黑体 CN Regular" pitchFamily="34" charset="-122"/>
                <a:cs typeface="思源黑体 CN Regular" pitchFamily="34" charset="-120"/>
              </a:rPr>
              <a:t>需说明理由（如“系统无无线网络”）</a:t>
            </a:r>
            <a:endParaRPr lang="en-US" sz="1200" dirty="0">
              <a:solidFill>
                <a:srgbClr val="80756B"/>
              </a:solidFill>
              <a:latin typeface="思源黑体 CN Regular" pitchFamily="34" charset="0"/>
              <a:ea typeface="思源黑体 CN Regular" pitchFamily="34" charset="-122"/>
              <a:cs typeface="思源黑体 CN Regular" pitchFamily="34" charset="-120"/>
            </a:endParaRPr>
          </a:p>
        </p:txBody>
      </p:sp>
      <p:sp>
        <p:nvSpPr>
          <p:cNvPr id="44" name="Text 29"/>
          <p:cNvSpPr/>
          <p:nvPr/>
        </p:nvSpPr>
        <p:spPr>
          <a:xfrm>
            <a:off x="11155680" y="3169920"/>
            <a:ext cx="512064" cy="486251"/>
          </a:xfrm>
          <a:prstGeom prst="rect">
            <a:avLst/>
          </a:prstGeom>
          <a:noFill/>
        </p:spPr>
        <p:txBody>
          <a:bodyPr wrap="none" lIns="0" tIns="0" rIns="0" bIns="0" rtlCol="0" anchor="t">
            <a:spAutoFit/>
          </a:bodyPr>
          <a:lstStyle/>
          <a:p>
            <a:pPr marL="0" indent="0" algn="l">
              <a:lnSpc>
                <a:spcPct val="100000"/>
              </a:lnSpc>
              <a:buNone/>
            </a:pPr>
            <a:r>
              <a:rPr lang="en-US" sz="2880" dirty="0">
                <a:solidFill>
                  <a:srgbClr val="000000">
                    <a:alpha val="80000"/>
                  </a:srgbClr>
                </a:solidFill>
                <a:latin typeface="思源黑体 CN Regular" pitchFamily="34" charset="0"/>
                <a:ea typeface="思源黑体 CN Regular" pitchFamily="34" charset="-122"/>
                <a:cs typeface="思源黑体 CN Regular" pitchFamily="34" charset="-120"/>
              </a:rPr>
              <a:t>⚪</a:t>
            </a:r>
            <a:endParaRPr lang="en-US" sz="28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单项结论判定实例</a:t>
            </a:r>
            <a:endParaRPr lang="en-US" sz="2760" dirty="0"/>
          </a:p>
        </p:txBody>
      </p:sp>
      <p:sp>
        <p:nvSpPr>
          <p:cNvPr id="6" name="Text 1"/>
          <p:cNvSpPr/>
          <p:nvPr/>
        </p:nvSpPr>
        <p:spPr>
          <a:xfrm>
            <a:off x="609600" y="1219200"/>
            <a:ext cx="1098194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示例场景： 某三级系统的主机安全核查——身份鉴别</a:t>
            </a:r>
            <a:endParaRPr lang="en-US" sz="192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828800"/>
            <a:ext cx="10972800" cy="2468880"/>
          </a:xfrm>
          <a:prstGeom prst="rect">
            <a:avLst/>
          </a:prstGeom>
          <a:effectLst>
            <a:outerShdw blurRad="387096000" dist="193548000" dir="-1" algn="bl" rotWithShape="0">
              <a:srgbClr val="000000">
                <a:alpha val="500000000"/>
              </a:srgbClr>
            </a:outerShdw>
          </a:effectLst>
        </p:spPr>
      </p:pic>
      <p:graphicFrame>
        <p:nvGraphicFramePr>
          <p:cNvPr id="11" name="Table 0"/>
          <p:cNvGraphicFramePr>
            <a:graphicFrameLocks noGrp="1"/>
          </p:cNvGraphicFramePr>
          <p:nvPr/>
        </p:nvGraphicFramePr>
        <p:xfrm>
          <a:off x="624840" y="1844040"/>
          <a:ext cx="10942320" cy="2438400"/>
        </p:xfrm>
        <a:graphic>
          <a:graphicData uri="http://schemas.openxmlformats.org/drawingml/2006/table">
            <a:tbl>
              <a:tblPr/>
              <a:tblGrid>
                <a:gridCol w="886389"/>
                <a:gridCol w="4355532"/>
                <a:gridCol w="4431945"/>
                <a:gridCol w="1268453"/>
              </a:tblGrid>
              <a:tr h="487680">
                <a:tc>
                  <a:txBody>
                    <a:bodyPr/>
                    <a:lstStyle/>
                    <a:p>
                      <a:pPr marL="0" indent="0" algn="ctr">
                        <a:buNone/>
                      </a:pPr>
                      <a:r>
                        <a:rPr lang="en-US" sz="1680" b="1" dirty="0">
                          <a:solidFill>
                            <a:srgbClr val="000000"/>
                          </a:solidFill>
                        </a:rPr>
                        <a:t>检查项</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标准要求（8.1.4.1）</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实际情况</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判定</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87680">
                <a:tc>
                  <a:txBody>
                    <a:bodyPr/>
                    <a:lstStyle/>
                    <a:p>
                      <a:pPr marL="0" indent="0" algn="ctr">
                        <a:buNone/>
                      </a:pPr>
                      <a:r>
                        <a:rPr lang="en-US" sz="1680" dirty="0">
                          <a:solidFill>
                            <a:srgbClr val="000000"/>
                          </a:solidFill>
                        </a:rPr>
                        <a:t>a)</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身份标识唯一，口令复杂度并定期更换</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口令长度8位，含大小写+数字，90天更换</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符合</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87680">
                <a:tc>
                  <a:txBody>
                    <a:bodyPr/>
                    <a:lstStyle/>
                    <a:p>
                      <a:pPr marL="0" indent="0" algn="ctr">
                        <a:buNone/>
                      </a:pPr>
                      <a:r>
                        <a:rPr lang="en-US" sz="1680" dirty="0">
                          <a:solidFill>
                            <a:srgbClr val="000000"/>
                          </a:solidFill>
                        </a:rPr>
                        <a:t>b)</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登录失败处理功能，限制非法登录次数</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连续失败5次锁定15分钟</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符合</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87680">
                <a:tc>
                  <a:txBody>
                    <a:bodyPr/>
                    <a:lstStyle/>
                    <a:p>
                      <a:pPr marL="0" indent="0" algn="ctr">
                        <a:buNone/>
                      </a:pPr>
                      <a:r>
                        <a:rPr lang="en-US" sz="1680" dirty="0">
                          <a:solidFill>
                            <a:srgbClr val="000000"/>
                          </a:solidFill>
                        </a:rPr>
                        <a:t>c)</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远程管理防止鉴别信息被窃听</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使用SSH加密管理</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符合</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87680">
                <a:tc>
                  <a:txBody>
                    <a:bodyPr/>
                    <a:lstStyle/>
                    <a:p>
                      <a:pPr marL="0" indent="0" algn="ctr">
                        <a:buNone/>
                      </a:pPr>
                      <a:r>
                        <a:rPr lang="en-US" sz="1680" dirty="0">
                          <a:solidFill>
                            <a:srgbClr val="000000"/>
                          </a:solidFill>
                        </a:rPr>
                        <a:t>d)</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两种以上鉴别技术，其中一种为密码技术</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仅口令一种，无双因素认证</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不符合</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9" name="Image 4" descr="https://test.web.static.jianzeppt.com/ppt-temp-img3/c6a4017cf029557edf072da35775e10d.png?x-oss-process=image/resize,w_1440,h_800,m_lfit/format,png"/>
          <p:cNvPicPr>
            <a:picLocks noChangeAspect="1"/>
          </p:cNvPicPr>
          <p:nvPr/>
        </p:nvPicPr>
        <p:blipFill>
          <a:blip r:embed="rId6"/>
          <a:stretch>
            <a:fillRect/>
          </a:stretch>
        </p:blipFill>
        <p:spPr>
          <a:xfrm>
            <a:off x="609600" y="4602480"/>
            <a:ext cx="10972800" cy="1902460"/>
          </a:xfrm>
          <a:prstGeom prst="rect">
            <a:avLst/>
          </a:prstGeom>
        </p:spPr>
      </p:pic>
      <p:sp>
        <p:nvSpPr>
          <p:cNvPr id="10" name="Text 2"/>
          <p:cNvSpPr/>
          <p:nvPr/>
        </p:nvSpPr>
        <p:spPr>
          <a:xfrm>
            <a:off x="990600" y="4861560"/>
            <a:ext cx="15331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000000"/>
                </a:solidFill>
                <a:latin typeface="思源黑体 CN Bold" pitchFamily="34" charset="0"/>
                <a:ea typeface="思源黑体 CN Bold" pitchFamily="34" charset="-122"/>
                <a:cs typeface="思源黑体 CN Bold" pitchFamily="34" charset="-120"/>
              </a:rPr>
              <a:t>总体判定：</a:t>
            </a:r>
            <a:endParaRPr lang="en-US" sz="2400" dirty="0"/>
          </a:p>
        </p:txBody>
      </p:sp>
      <p:sp>
        <p:nvSpPr>
          <p:cNvPr id="8" name="Text 3"/>
          <p:cNvSpPr/>
          <p:nvPr/>
        </p:nvSpPr>
        <p:spPr>
          <a:xfrm>
            <a:off x="2697480" y="4892040"/>
            <a:ext cx="4249420" cy="497840"/>
          </a:xfrm>
          <a:prstGeom prst="rect">
            <a:avLst/>
          </a:prstGeom>
          <a:noFill/>
        </p:spPr>
        <p:txBody>
          <a:bodyPr wrap="squar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8.1.4.1 身份鉴别 →</a:t>
            </a:r>
            <a:r>
              <a:rPr lang="en-US" sz="2160" b="1" dirty="0">
                <a:solidFill>
                  <a:srgbClr val="237C6D"/>
                </a:solidFill>
                <a:latin typeface="思源黑体 CN Bold" pitchFamily="34" charset="0"/>
                <a:ea typeface="思源黑体 CN Bold" pitchFamily="34" charset="-122"/>
                <a:cs typeface="思源黑体 CN Bold" pitchFamily="34" charset="-120"/>
              </a:rPr>
              <a:t>不符合</a:t>
            </a:r>
            <a:endParaRPr lang="en-US" sz="2160" dirty="0"/>
          </a:p>
        </p:txBody>
      </p:sp>
      <p:sp>
        <p:nvSpPr>
          <p:cNvPr id="12" name="Text 4"/>
          <p:cNvSpPr/>
          <p:nvPr/>
        </p:nvSpPr>
        <p:spPr>
          <a:xfrm>
            <a:off x="990600" y="5776595"/>
            <a:ext cx="124358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666666"/>
                </a:solidFill>
                <a:latin typeface="思源黑体 CN Bold" pitchFamily="34" charset="0"/>
                <a:ea typeface="思源黑体 CN Bold" pitchFamily="34" charset="-122"/>
                <a:cs typeface="思源黑体 CN Bold" pitchFamily="34" charset="-120"/>
              </a:rPr>
              <a:t>判定依据：</a:t>
            </a:r>
            <a:endParaRPr lang="en-US" sz="1920" dirty="0"/>
          </a:p>
        </p:txBody>
      </p:sp>
      <p:sp>
        <p:nvSpPr>
          <p:cNvPr id="13" name="Text 5"/>
          <p:cNvSpPr/>
          <p:nvPr/>
        </p:nvSpPr>
        <p:spPr>
          <a:xfrm>
            <a:off x="2392680" y="5661025"/>
            <a:ext cx="9112885" cy="481330"/>
          </a:xfrm>
          <a:prstGeom prst="rect">
            <a:avLst/>
          </a:prstGeom>
          <a:noFill/>
        </p:spPr>
        <p:txBody>
          <a:bodyPr wrap="square" lIns="0" tIns="0" rIns="0" bIns="0" rtlCol="0" anchor="ctr">
            <a:spAutoFit/>
          </a:bodyPr>
          <a:lstStyle/>
          <a:p>
            <a:pPr marL="0" indent="0" algn="l">
              <a:lnSpc>
                <a:spcPct val="163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关键条款d)不满足——三级系统要求双因素认证，但系统当前仅使用口令单因素认证。</a:t>
            </a:r>
            <a:endParaRPr lang="en-US" sz="1920" dirty="0"/>
          </a:p>
        </p:txBody>
      </p:sp>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40" y="4617720"/>
            <a:ext cx="91440" cy="1920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单项结论判定的常见错误</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5364480" cy="929640"/>
          </a:xfrm>
          <a:prstGeom prst="rect">
            <a:avLst/>
          </a:prstGeom>
        </p:spPr>
      </p:pic>
      <p:sp>
        <p:nvSpPr>
          <p:cNvPr id="7" name="Text 1"/>
          <p:cNvSpPr/>
          <p:nvPr/>
        </p:nvSpPr>
        <p:spPr>
          <a:xfrm>
            <a:off x="2423160" y="1554480"/>
            <a:ext cx="1891284" cy="502920"/>
          </a:xfrm>
          <a:prstGeom prst="rect">
            <a:avLst/>
          </a:prstGeom>
          <a:noFill/>
        </p:spPr>
        <p:txBody>
          <a:bodyPr wrap="none" lIns="0" tIns="0" rIns="0" bIns="0" rtlCol="0" anchor="t">
            <a:spAutoFit/>
          </a:bodyPr>
          <a:lstStyle/>
          <a:p>
            <a:pPr marL="0" indent="0" algn="ctr">
              <a:lnSpc>
                <a:spcPct val="150000"/>
              </a:lnSpc>
              <a:buNone/>
            </a:pPr>
            <a:r>
              <a:rPr lang="en-US" sz="2640" dirty="0">
                <a:solidFill>
                  <a:srgbClr val="1E8273"/>
                </a:solidFill>
                <a:latin typeface="思源黑体 CN Bold" pitchFamily="34" charset="0"/>
                <a:ea typeface="思源黑体 CN Bold" pitchFamily="34" charset="-122"/>
                <a:cs typeface="思源黑体 CN Bold" pitchFamily="34" charset="-120"/>
              </a:rPr>
              <a:t>❌ 错误做法</a:t>
            </a:r>
            <a:endParaRPr lang="en-US" sz="2640" dirty="0"/>
          </a:p>
        </p:txBody>
      </p:sp>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0" y="1371600"/>
            <a:ext cx="5364480" cy="929640"/>
          </a:xfrm>
          <a:prstGeom prst="rect">
            <a:avLst/>
          </a:prstGeom>
        </p:spPr>
      </p:pic>
      <p:sp>
        <p:nvSpPr>
          <p:cNvPr id="9" name="Text 2"/>
          <p:cNvSpPr/>
          <p:nvPr/>
        </p:nvSpPr>
        <p:spPr>
          <a:xfrm>
            <a:off x="8031480" y="1554480"/>
            <a:ext cx="1891284" cy="502920"/>
          </a:xfrm>
          <a:prstGeom prst="rect">
            <a:avLst/>
          </a:prstGeom>
          <a:noFill/>
        </p:spPr>
        <p:txBody>
          <a:bodyPr wrap="none" lIns="0" tIns="0" rIns="0" bIns="0" rtlCol="0" anchor="t">
            <a:spAutoFit/>
          </a:bodyPr>
          <a:lstStyle/>
          <a:p>
            <a:pPr marL="0" indent="0" algn="ctr">
              <a:lnSpc>
                <a:spcPct val="150000"/>
              </a:lnSpc>
              <a:buNone/>
            </a:pPr>
            <a:r>
              <a:rPr lang="en-US" sz="2640" dirty="0">
                <a:solidFill>
                  <a:srgbClr val="9443A0"/>
                </a:solidFill>
                <a:latin typeface="思源黑体 CN Bold" pitchFamily="34" charset="0"/>
                <a:ea typeface="思源黑体 CN Bold" pitchFamily="34" charset="-122"/>
                <a:cs typeface="思源黑体 CN Bold" pitchFamily="34" charset="-120"/>
              </a:rPr>
              <a:t>✅ 正确做法</a:t>
            </a:r>
            <a:endParaRPr lang="en-US" sz="2640" dirty="0"/>
          </a:p>
        </p:txBody>
      </p:sp>
      <p:pic>
        <p:nvPicPr>
          <p:cNvPr id="10"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2667000"/>
            <a:ext cx="5364480" cy="838200"/>
          </a:xfrm>
          <a:prstGeom prst="rect">
            <a:avLst/>
          </a:prstGeom>
          <a:effectLst>
            <a:outerShdw blurRad="387096000" dist="193548000" dir="-1" algn="bl" rotWithShape="0">
              <a:srgbClr val="000000">
                <a:alpha val="500000000"/>
              </a:srgbClr>
            </a:outerShdw>
          </a:effectLst>
        </p:spPr>
      </p:pic>
      <p:sp>
        <p:nvSpPr>
          <p:cNvPr id="11" name="Text 3"/>
          <p:cNvSpPr/>
          <p:nvPr/>
        </p:nvSpPr>
        <p:spPr>
          <a:xfrm>
            <a:off x="899160" y="2616835"/>
            <a:ext cx="4809744" cy="923290"/>
          </a:xfrm>
          <a:prstGeom prst="rect">
            <a:avLst/>
          </a:prstGeom>
          <a:noFill/>
        </p:spPr>
        <p:txBody>
          <a:bodyPr wrap="square" lIns="0" tIns="0" rIns="0" bIns="0" rtlCol="0" anchor="ctr">
            <a:spAutoFit/>
          </a:bodyPr>
          <a:lstStyle/>
          <a:p>
            <a:pPr marL="0" indent="0" algn="ctr">
              <a:lnSpc>
                <a:spcPct val="150000"/>
              </a:lnSpc>
              <a:buNone/>
            </a:pPr>
            <a:r>
              <a:rPr lang="en-US" sz="2000" dirty="0">
                <a:solidFill>
                  <a:srgbClr val="666666"/>
                </a:solidFill>
                <a:latin typeface="思源黑体 CN Regular" pitchFamily="34" charset="0"/>
                <a:ea typeface="思源黑体 CN Regular" pitchFamily="34" charset="-122"/>
                <a:cs typeface="思源黑体 CN Regular" pitchFamily="34" charset="-120"/>
              </a:rPr>
              <a:t>“防火墙配置基本符合要求，建议加强”——模糊</a:t>
            </a:r>
            <a:endParaRPr lang="en-US" sz="2000" dirty="0">
              <a:solidFill>
                <a:srgbClr val="666666"/>
              </a:solidFill>
              <a:latin typeface="思源黑体 CN Regular" pitchFamily="34" charset="0"/>
              <a:ea typeface="思源黑体 CN Regular" pitchFamily="34" charset="-122"/>
              <a:cs typeface="思源黑体 CN Regular" pitchFamily="34" charset="-120"/>
            </a:endParaRPr>
          </a:p>
        </p:txBody>
      </p:sp>
      <p:pic>
        <p:nvPicPr>
          <p:cNvPr id="12"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3688080"/>
            <a:ext cx="5364480" cy="838200"/>
          </a:xfrm>
          <a:prstGeom prst="rect">
            <a:avLst/>
          </a:prstGeom>
          <a:effectLst>
            <a:outerShdw blurRad="387096000" dist="193548000" dir="-1" algn="bl" rotWithShape="0">
              <a:srgbClr val="000000">
                <a:alpha val="500000000"/>
              </a:srgbClr>
            </a:outerShdw>
          </a:effectLst>
        </p:spPr>
      </p:pic>
      <p:sp>
        <p:nvSpPr>
          <p:cNvPr id="13" name="Text 4"/>
          <p:cNvSpPr/>
          <p:nvPr/>
        </p:nvSpPr>
        <p:spPr>
          <a:xfrm>
            <a:off x="1234440" y="3901440"/>
            <a:ext cx="4123944" cy="396240"/>
          </a:xfrm>
          <a:prstGeom prst="rect">
            <a:avLst/>
          </a:prstGeom>
          <a:noFill/>
        </p:spPr>
        <p:txBody>
          <a:bodyPr wrap="none" lIns="0" tIns="0" rIns="0" bIns="0" rtlCol="0" anchor="ctr"/>
          <a:lstStyle/>
          <a:p>
            <a:pPr marL="0" indent="0" algn="ctr">
              <a:lnSpc>
                <a:spcPct val="150000"/>
              </a:lnSpc>
              <a:buNone/>
            </a:pPr>
            <a:r>
              <a:rPr lang="en-US" sz="2160" dirty="0">
                <a:solidFill>
                  <a:srgbClr val="666666"/>
                </a:solidFill>
                <a:latin typeface="思源黑体 CN Regular" pitchFamily="34" charset="0"/>
                <a:ea typeface="思源黑体 CN Regular" pitchFamily="34" charset="-122"/>
                <a:cs typeface="思源黑体 CN Regular" pitchFamily="34" charset="-120"/>
              </a:rPr>
              <a:t>多项子项不满足仍判“部分符合”</a:t>
            </a:r>
            <a:endParaRPr lang="en-US" sz="2160" dirty="0"/>
          </a:p>
        </p:txBody>
      </p:sp>
      <p:pic>
        <p:nvPicPr>
          <p:cNvPr id="14" name="Image 7"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709160"/>
            <a:ext cx="5364480" cy="838200"/>
          </a:xfrm>
          <a:prstGeom prst="rect">
            <a:avLst/>
          </a:prstGeom>
          <a:effectLst>
            <a:outerShdw blurRad="387096000" dist="193548000" dir="-1" algn="bl" rotWithShape="0">
              <a:srgbClr val="000000">
                <a:alpha val="500000000"/>
              </a:srgbClr>
            </a:outerShdw>
          </a:effectLst>
        </p:spPr>
      </p:pic>
      <p:sp>
        <p:nvSpPr>
          <p:cNvPr id="15" name="Text 5"/>
          <p:cNvSpPr/>
          <p:nvPr/>
        </p:nvSpPr>
        <p:spPr>
          <a:xfrm>
            <a:off x="2057400" y="4907280"/>
            <a:ext cx="2478024" cy="396240"/>
          </a:xfrm>
          <a:prstGeom prst="rect">
            <a:avLst/>
          </a:prstGeom>
          <a:noFill/>
        </p:spPr>
        <p:txBody>
          <a:bodyPr wrap="none" lIns="0" tIns="0" rIns="0" bIns="0" rtlCol="0" anchor="ctr"/>
          <a:lstStyle/>
          <a:p>
            <a:pPr marL="0" indent="0" algn="ctr">
              <a:lnSpc>
                <a:spcPct val="150000"/>
              </a:lnSpc>
              <a:buNone/>
            </a:pPr>
            <a:r>
              <a:rPr lang="en-US" sz="2160" dirty="0">
                <a:solidFill>
                  <a:srgbClr val="666666"/>
                </a:solidFill>
                <a:latin typeface="思源黑体 CN Regular" pitchFamily="34" charset="0"/>
                <a:ea typeface="思源黑体 CN Regular" pitchFamily="34" charset="-122"/>
                <a:cs typeface="思源黑体 CN Regular" pitchFamily="34" charset="-120"/>
              </a:rPr>
              <a:t>不适用项不说明理由</a:t>
            </a:r>
            <a:endParaRPr lang="en-US" sz="2160" dirty="0"/>
          </a:p>
        </p:txBody>
      </p:sp>
      <p:pic>
        <p:nvPicPr>
          <p:cNvPr id="16" name="Image 8"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5715000"/>
            <a:ext cx="5364480" cy="770255"/>
          </a:xfrm>
          <a:prstGeom prst="rect">
            <a:avLst/>
          </a:prstGeom>
          <a:effectLst>
            <a:outerShdw blurRad="387096000" dist="193548000" dir="-1" algn="bl" rotWithShape="0">
              <a:srgbClr val="000000">
                <a:alpha val="500000000"/>
              </a:srgbClr>
            </a:outerShdw>
          </a:effectLst>
        </p:spPr>
      </p:pic>
      <p:sp>
        <p:nvSpPr>
          <p:cNvPr id="17" name="Text 6"/>
          <p:cNvSpPr/>
          <p:nvPr/>
        </p:nvSpPr>
        <p:spPr>
          <a:xfrm>
            <a:off x="1508760" y="5928360"/>
            <a:ext cx="3575304" cy="396240"/>
          </a:xfrm>
          <a:prstGeom prst="rect">
            <a:avLst/>
          </a:prstGeom>
          <a:noFill/>
        </p:spPr>
        <p:txBody>
          <a:bodyPr wrap="none" lIns="0" tIns="0" rIns="0" bIns="0" rtlCol="0" anchor="ctr"/>
          <a:lstStyle/>
          <a:p>
            <a:pPr marL="0" indent="0" algn="ctr">
              <a:lnSpc>
                <a:spcPct val="150000"/>
              </a:lnSpc>
              <a:buNone/>
            </a:pPr>
            <a:r>
              <a:rPr lang="en-US" sz="2160" dirty="0">
                <a:solidFill>
                  <a:srgbClr val="666666"/>
                </a:solidFill>
                <a:latin typeface="思源黑体 CN Regular" pitchFamily="34" charset="0"/>
                <a:ea typeface="思源黑体 CN Regular" pitchFamily="34" charset="-122"/>
                <a:cs typeface="思源黑体 CN Regular" pitchFamily="34" charset="-120"/>
              </a:rPr>
              <a:t>凭感觉判定，不引用标准条款</a:t>
            </a:r>
            <a:endParaRPr lang="en-US" sz="2160" dirty="0"/>
          </a:p>
        </p:txBody>
      </p:sp>
      <p:pic>
        <p:nvPicPr>
          <p:cNvPr id="18" name="Image 9"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0" y="2667000"/>
            <a:ext cx="5364480" cy="838200"/>
          </a:xfrm>
          <a:prstGeom prst="rect">
            <a:avLst/>
          </a:prstGeom>
          <a:effectLst>
            <a:outerShdw blurRad="387096000" dist="193548000" dir="-1" algn="bl" rotWithShape="0">
              <a:srgbClr val="000000">
                <a:alpha val="500000000"/>
              </a:srgbClr>
            </a:outerShdw>
          </a:effectLst>
        </p:spPr>
      </p:pic>
      <p:sp>
        <p:nvSpPr>
          <p:cNvPr id="19" name="Text 7"/>
          <p:cNvSpPr/>
          <p:nvPr/>
        </p:nvSpPr>
        <p:spPr>
          <a:xfrm>
            <a:off x="6522720" y="2616835"/>
            <a:ext cx="4779264" cy="923290"/>
          </a:xfrm>
          <a:prstGeom prst="rect">
            <a:avLst/>
          </a:prstGeom>
          <a:noFill/>
        </p:spPr>
        <p:txBody>
          <a:bodyPr wrap="square" lIns="0" tIns="0" rIns="0" bIns="0" rtlCol="0" anchor="ctr">
            <a:spAutoFit/>
          </a:bodyPr>
          <a:lstStyle/>
          <a:p>
            <a:pPr marL="0" indent="0" algn="ctr">
              <a:lnSpc>
                <a:spcPct val="150000"/>
              </a:lnSpc>
              <a:buNone/>
            </a:pPr>
            <a:r>
              <a:rPr lang="en-US" sz="2000" dirty="0">
                <a:solidFill>
                  <a:srgbClr val="333333"/>
                </a:solidFill>
                <a:latin typeface="思源黑体 CN Regular" pitchFamily="34" charset="0"/>
                <a:ea typeface="思源黑体 CN Regular" pitchFamily="34" charset="-122"/>
                <a:cs typeface="思源黑体 CN Regular" pitchFamily="34" charset="-120"/>
              </a:rPr>
              <a:t>“防火墙策略中Rule 10允许任意IP访问22端口，不符合8.1.3.2 c)”——具体</a:t>
            </a:r>
            <a:endParaRPr lang="en-US" sz="2000" dirty="0">
              <a:solidFill>
                <a:srgbClr val="333333"/>
              </a:solidFill>
              <a:latin typeface="思源黑体 CN Regular" pitchFamily="34" charset="0"/>
              <a:ea typeface="思源黑体 CN Regular" pitchFamily="34" charset="-122"/>
              <a:cs typeface="思源黑体 CN Regular" pitchFamily="34" charset="-120"/>
            </a:endParaRPr>
          </a:p>
        </p:txBody>
      </p:sp>
      <p:pic>
        <p:nvPicPr>
          <p:cNvPr id="20" name="Image 10"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0" y="3688080"/>
            <a:ext cx="5364480" cy="838200"/>
          </a:xfrm>
          <a:prstGeom prst="rect">
            <a:avLst/>
          </a:prstGeom>
          <a:effectLst>
            <a:outerShdw blurRad="387096000" dist="193548000" dir="-1" algn="bl" rotWithShape="0">
              <a:srgbClr val="000000">
                <a:alpha val="500000000"/>
              </a:srgbClr>
            </a:outerShdw>
          </a:effectLst>
        </p:spPr>
      </p:pic>
      <p:sp>
        <p:nvSpPr>
          <p:cNvPr id="21" name="Text 8"/>
          <p:cNvSpPr/>
          <p:nvPr/>
        </p:nvSpPr>
        <p:spPr>
          <a:xfrm>
            <a:off x="6979920" y="3901440"/>
            <a:ext cx="3849624" cy="396240"/>
          </a:xfrm>
          <a:prstGeom prst="rect">
            <a:avLst/>
          </a:prstGeom>
          <a:noFill/>
        </p:spPr>
        <p:txBody>
          <a:bodyPr wrap="none" lIns="0" tIns="0" rIns="0" bIns="0" rtlCol="0" anchor="ctr"/>
          <a:lstStyle/>
          <a:p>
            <a:pPr marL="0" indent="0" algn="ctr">
              <a:lnSpc>
                <a:spcPct val="150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关键子项不满足应判“不符合”</a:t>
            </a:r>
            <a:endParaRPr lang="en-US" sz="2160" dirty="0"/>
          </a:p>
        </p:txBody>
      </p:sp>
      <p:pic>
        <p:nvPicPr>
          <p:cNvPr id="22" name="Image 11"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0" y="4709160"/>
            <a:ext cx="5364480" cy="838200"/>
          </a:xfrm>
          <a:prstGeom prst="rect">
            <a:avLst/>
          </a:prstGeom>
          <a:effectLst>
            <a:outerShdw blurRad="387096000" dist="193548000" dir="-1" algn="bl" rotWithShape="0">
              <a:srgbClr val="000000">
                <a:alpha val="500000000"/>
              </a:srgbClr>
            </a:outerShdw>
          </a:effectLst>
        </p:spPr>
      </p:pic>
      <p:sp>
        <p:nvSpPr>
          <p:cNvPr id="23" name="Text 9"/>
          <p:cNvSpPr/>
          <p:nvPr/>
        </p:nvSpPr>
        <p:spPr>
          <a:xfrm>
            <a:off x="6492240" y="4907280"/>
            <a:ext cx="4824984" cy="396240"/>
          </a:xfrm>
          <a:prstGeom prst="rect">
            <a:avLst/>
          </a:prstGeom>
          <a:noFill/>
        </p:spPr>
        <p:txBody>
          <a:bodyPr wrap="none" lIns="0" tIns="0" rIns="0" bIns="0" rtlCol="0" anchor="ctr"/>
          <a:lstStyle/>
          <a:p>
            <a:pPr marL="0" indent="0" algn="ctr">
              <a:lnSpc>
                <a:spcPct val="150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标注“系统无无线网络，不适用”+理由</a:t>
            </a:r>
            <a:endParaRPr lang="en-US" sz="2160" dirty="0"/>
          </a:p>
        </p:txBody>
      </p:sp>
      <p:pic>
        <p:nvPicPr>
          <p:cNvPr id="24" name="Image 12"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0" y="5715000"/>
            <a:ext cx="5364480" cy="755650"/>
          </a:xfrm>
          <a:prstGeom prst="rect">
            <a:avLst/>
          </a:prstGeom>
          <a:effectLst>
            <a:outerShdw blurRad="387096000" dist="193548000" dir="-1" algn="bl" rotWithShape="0">
              <a:srgbClr val="000000">
                <a:alpha val="500000000"/>
              </a:srgbClr>
            </a:outerShdw>
          </a:effectLst>
        </p:spPr>
      </p:pic>
      <p:sp>
        <p:nvSpPr>
          <p:cNvPr id="25" name="Text 10"/>
          <p:cNvSpPr/>
          <p:nvPr/>
        </p:nvSpPr>
        <p:spPr>
          <a:xfrm>
            <a:off x="6522720" y="5928360"/>
            <a:ext cx="4779264" cy="396240"/>
          </a:xfrm>
          <a:prstGeom prst="rect">
            <a:avLst/>
          </a:prstGeom>
          <a:noFill/>
        </p:spPr>
        <p:txBody>
          <a:bodyPr wrap="none" lIns="0" tIns="0" rIns="0" bIns="0" rtlCol="0" anchor="ctr"/>
          <a:lstStyle/>
          <a:p>
            <a:pPr marL="0" indent="0" algn="ctr">
              <a:lnSpc>
                <a:spcPct val="150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每条判定引用GB/T 22239具体条款编号</a:t>
            </a:r>
            <a:endParaRPr lang="en-US" sz="21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385572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系统整体测评结论的形成</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417320"/>
            <a:ext cx="91440" cy="365760"/>
          </a:xfrm>
          <a:prstGeom prst="rect">
            <a:avLst/>
          </a:prstGeom>
        </p:spPr>
      </p:pic>
      <p:sp>
        <p:nvSpPr>
          <p:cNvPr id="7" name="Text 1"/>
          <p:cNvSpPr/>
          <p:nvPr/>
        </p:nvSpPr>
        <p:spPr>
          <a:xfrm>
            <a:off x="883920" y="1371600"/>
            <a:ext cx="5205984" cy="434340"/>
          </a:xfrm>
          <a:prstGeom prst="rect">
            <a:avLst/>
          </a:prstGeom>
          <a:noFill/>
        </p:spPr>
        <p:txBody>
          <a:bodyPr wrap="none" lIns="0" tIns="0" rIns="0" bIns="0" rtlCol="0" anchor="t">
            <a:spAutoFit/>
          </a:bodyPr>
          <a:lstStyle/>
          <a:p>
            <a:pPr marL="0" indent="0" algn="l">
              <a:lnSpc>
                <a:spcPct val="100000"/>
              </a:lnSpc>
              <a:buNone/>
            </a:pPr>
            <a:r>
              <a:rPr lang="en-US" sz="2280" dirty="0">
                <a:solidFill>
                  <a:srgbClr val="333333"/>
                </a:solidFill>
                <a:latin typeface="思源黑体 CN Bold" pitchFamily="34" charset="0"/>
                <a:ea typeface="思源黑体 CN Bold" pitchFamily="34" charset="-122"/>
                <a:cs typeface="思源黑体 CN Bold" pitchFamily="34" charset="-120"/>
              </a:rPr>
              <a:t>整体结论 = 对所有单项结论的汇总分析</a:t>
            </a:r>
            <a:endParaRPr lang="en-US" sz="2280" dirty="0"/>
          </a:p>
        </p:txBody>
      </p:sp>
      <p:sp>
        <p:nvSpPr>
          <p:cNvPr id="8" name="Text 2"/>
          <p:cNvSpPr/>
          <p:nvPr/>
        </p:nvSpPr>
        <p:spPr>
          <a:xfrm>
            <a:off x="609600" y="1965960"/>
            <a:ext cx="10981944" cy="502920"/>
          </a:xfrm>
          <a:prstGeom prst="rect">
            <a:avLst/>
          </a:prstGeom>
          <a:noFill/>
        </p:spPr>
        <p:txBody>
          <a:bodyPr wrap="none" lIns="0" tIns="0" rIns="0" bIns="0" rtlCol="0" anchor="t">
            <a:spAutoFit/>
          </a:bodyPr>
          <a:lstStyle/>
          <a:p>
            <a:pPr marL="0" indent="0" algn="l">
              <a:lnSpc>
                <a:spcPct val="150000"/>
              </a:lnSpc>
              <a:buNone/>
            </a:pPr>
            <a:r>
              <a:rPr lang="en-US" sz="2640" dirty="0">
                <a:solidFill>
                  <a:srgbClr val="333333"/>
                </a:solidFill>
                <a:latin typeface="思源黑体 CN Bold" pitchFamily="34" charset="0"/>
                <a:ea typeface="思源黑体 CN Bold" pitchFamily="34" charset="-122"/>
                <a:cs typeface="思源黑体 CN Bold" pitchFamily="34" charset="-120"/>
              </a:rPr>
              <a:t>形成步骤：</a:t>
            </a:r>
            <a:endParaRPr lang="en-US" sz="2640" dirty="0"/>
          </a:p>
        </p:txBody>
      </p:sp>
      <p:pic>
        <p:nvPicPr>
          <p:cNvPr id="9" name="Image 4" descr="preencoded.png"/>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875280" y="3818255"/>
            <a:ext cx="723265" cy="723265"/>
          </a:xfrm>
          <a:prstGeom prst="rect">
            <a:avLst/>
          </a:prstGeom>
        </p:spPr>
      </p:pic>
      <p:pic>
        <p:nvPicPr>
          <p:cNvPr id="12" name="Image 7" descr="preencoded.png"/>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609600" y="2834640"/>
            <a:ext cx="2026920" cy="3048000"/>
          </a:xfrm>
          <a:prstGeom prst="rect">
            <a:avLst/>
          </a:prstGeom>
          <a:effectLst>
            <a:outerShdw blurRad="387096000" dist="193548000" dir="-1" algn="bl" rotWithShape="0">
              <a:srgbClr val="000000">
                <a:alpha val="500000000"/>
              </a:srgbClr>
            </a:outerShdw>
          </a:effectLst>
        </p:spPr>
      </p:pic>
      <p:pic>
        <p:nvPicPr>
          <p:cNvPr id="13" name="Image 8" descr="https://test.web.static.jianzeppt.com/ppt-temp-img3/ff8a6503bb3d814b341d8d438f8c06f3.png?x-oss-process=image/resize,w_1440,h_800,m_lfit/format,png"/>
          <p:cNvPicPr>
            <a:picLocks noChangeAspect="1"/>
          </p:cNvPicPr>
          <p:nvPr>
            <p:custDataLst>
              <p:tags r:id="rId12"/>
            </p:custDataLst>
          </p:nvPr>
        </p:nvPicPr>
        <p:blipFill>
          <a:blip r:embed="rId13"/>
          <a:stretch>
            <a:fillRect/>
          </a:stretch>
        </p:blipFill>
        <p:spPr>
          <a:xfrm>
            <a:off x="929640" y="3580765"/>
            <a:ext cx="182880" cy="426720"/>
          </a:xfrm>
          <a:prstGeom prst="rect">
            <a:avLst/>
          </a:prstGeom>
        </p:spPr>
      </p:pic>
      <p:sp>
        <p:nvSpPr>
          <p:cNvPr id="14" name="Text 3"/>
          <p:cNvSpPr/>
          <p:nvPr>
            <p:custDataLst>
              <p:tags r:id="rId14"/>
            </p:custDataLst>
          </p:nvPr>
        </p:nvSpPr>
        <p:spPr>
          <a:xfrm>
            <a:off x="944880" y="3611245"/>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1</a:t>
            </a:r>
            <a:endParaRPr lang="en-US" sz="1920" dirty="0"/>
          </a:p>
        </p:txBody>
      </p:sp>
      <p:sp>
        <p:nvSpPr>
          <p:cNvPr id="15" name="Text 4"/>
          <p:cNvSpPr/>
          <p:nvPr>
            <p:custDataLst>
              <p:tags r:id="rId15"/>
            </p:custDataLst>
          </p:nvPr>
        </p:nvSpPr>
        <p:spPr>
          <a:xfrm>
            <a:off x="1219200" y="3472180"/>
            <a:ext cx="1367155" cy="615315"/>
          </a:xfrm>
          <a:prstGeom prst="rect">
            <a:avLst/>
          </a:prstGeom>
          <a:noFill/>
        </p:spPr>
        <p:txBody>
          <a:bodyPr wrap="square" lIns="0" tIns="0" rIns="0" bIns="0" rtlCol="0" anchor="t">
            <a:spAutoFit/>
          </a:bodyPr>
          <a:lstStyle/>
          <a:p>
            <a:pPr marL="0" indent="0" algn="l">
              <a:lnSpc>
                <a:spcPct val="100000"/>
              </a:lnSpc>
              <a:buNone/>
            </a:pPr>
            <a:r>
              <a:rPr lang="en-US" sz="2000" dirty="0">
                <a:solidFill>
                  <a:srgbClr val="333333"/>
                </a:solidFill>
                <a:latin typeface="思源黑体 CN Bold" pitchFamily="34" charset="0"/>
                <a:ea typeface="思源黑体 CN Bold" pitchFamily="34" charset="-122"/>
                <a:cs typeface="思源黑体 CN Bold" pitchFamily="34" charset="-120"/>
              </a:rPr>
              <a:t>统计各等级结论的数量</a:t>
            </a:r>
            <a:endParaRPr lang="en-US" sz="2000" dirty="0">
              <a:solidFill>
                <a:srgbClr val="333333"/>
              </a:solidFill>
              <a:latin typeface="思源黑体 CN Bold" pitchFamily="34" charset="0"/>
              <a:ea typeface="思源黑体 CN Bold" pitchFamily="34" charset="-122"/>
              <a:cs typeface="思源黑体 CN Bold" pitchFamily="34" charset="-120"/>
            </a:endParaRPr>
          </a:p>
        </p:txBody>
      </p:sp>
      <p:sp>
        <p:nvSpPr>
          <p:cNvPr id="16" name="Text 5"/>
          <p:cNvSpPr/>
          <p:nvPr>
            <p:custDataLst>
              <p:tags r:id="rId16"/>
            </p:custDataLst>
          </p:nvPr>
        </p:nvSpPr>
        <p:spPr>
          <a:xfrm>
            <a:off x="1092835" y="4282440"/>
            <a:ext cx="1395984" cy="1261110"/>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63554B"/>
                </a:solidFill>
                <a:latin typeface="思源黑体 CN Regular" pitchFamily="34" charset="0"/>
                <a:ea typeface="思源黑体 CN Regular" pitchFamily="34" charset="-122"/>
                <a:cs typeface="思源黑体 CN Regular" pitchFamily="34" charset="-120"/>
              </a:rPr>
              <a:t>符合X项、部分符合X项、不符合X项、不适用X项</a:t>
            </a:r>
            <a:endParaRPr lang="en-US" sz="1800" dirty="0"/>
          </a:p>
        </p:txBody>
      </p:sp>
      <p:pic>
        <p:nvPicPr>
          <p:cNvPr id="17" name="Image 9" descr="https://test.web.static.jianzeppt.com/ppt-temp-img3/daba2bbcabdf3206109b93b12b1c2069.png?x-oss-process=image/resize,w_1440,h_800,m_lfit/format,png"/>
          <p:cNvPicPr>
            <a:picLocks noChangeAspect="1"/>
          </p:cNvPicPr>
          <p:nvPr>
            <p:custDataLst>
              <p:tags r:id="rId17"/>
            </p:custDataLst>
          </p:nvPr>
        </p:nvPicPr>
        <p:blipFill>
          <a:blip r:embed="rId18"/>
          <a:stretch>
            <a:fillRect/>
          </a:stretch>
        </p:blipFill>
        <p:spPr>
          <a:xfrm>
            <a:off x="624840" y="2849880"/>
            <a:ext cx="1996440" cy="91440"/>
          </a:xfrm>
          <a:prstGeom prst="rect">
            <a:avLst/>
          </a:prstGeom>
        </p:spPr>
      </p:pic>
      <p:pic>
        <p:nvPicPr>
          <p:cNvPr id="18" name="Image 10" descr="preencoded.png"/>
          <p:cNvPicPr>
            <a:picLocks noChangeAspect="1"/>
          </p:cNvPicPr>
          <p:nvPr>
            <p:custDataLst>
              <p:tags r:id="rId19"/>
            </p:custDataLst>
          </p:nvPr>
        </p:nvPicPr>
        <p:blipFill>
          <a:blip r:embed="rId10">
            <a:extLst>
              <a:ext uri="{96DAC541-7B7A-43D3-8B79-37D633B846F1}">
                <asvg:svgBlip xmlns:asvg="http://schemas.microsoft.com/office/drawing/2016/SVG/main" r:embed="rId11"/>
              </a:ext>
            </a:extLst>
          </a:blip>
          <a:stretch>
            <a:fillRect/>
          </a:stretch>
        </p:blipFill>
        <p:spPr>
          <a:xfrm>
            <a:off x="3611880" y="2834640"/>
            <a:ext cx="2026920" cy="3048000"/>
          </a:xfrm>
          <a:prstGeom prst="rect">
            <a:avLst/>
          </a:prstGeom>
          <a:effectLst>
            <a:outerShdw blurRad="387096000" dist="193548000" dir="-1" algn="bl" rotWithShape="0">
              <a:srgbClr val="000000">
                <a:alpha val="500000000"/>
              </a:srgbClr>
            </a:outerShdw>
          </a:effectLst>
        </p:spPr>
      </p:pic>
      <p:pic>
        <p:nvPicPr>
          <p:cNvPr id="19" name="Image 11" descr="https://test.web.static.jianzeppt.com/ppt-temp-img3/2671ba603a675ec3e165e9a8fe2e32b0.png?x-oss-process=image/resize,w_1440,h_800,m_lfit/format,png"/>
          <p:cNvPicPr>
            <a:picLocks noChangeAspect="1"/>
          </p:cNvPicPr>
          <p:nvPr>
            <p:custDataLst>
              <p:tags r:id="rId20"/>
            </p:custDataLst>
          </p:nvPr>
        </p:nvPicPr>
        <p:blipFill>
          <a:blip r:embed="rId21"/>
          <a:stretch>
            <a:fillRect/>
          </a:stretch>
        </p:blipFill>
        <p:spPr>
          <a:xfrm>
            <a:off x="3931920" y="3550920"/>
            <a:ext cx="213360" cy="426720"/>
          </a:xfrm>
          <a:prstGeom prst="rect">
            <a:avLst/>
          </a:prstGeom>
        </p:spPr>
      </p:pic>
      <p:sp>
        <p:nvSpPr>
          <p:cNvPr id="20" name="Text 6"/>
          <p:cNvSpPr/>
          <p:nvPr>
            <p:custDataLst>
              <p:tags r:id="rId22"/>
            </p:custDataLst>
          </p:nvPr>
        </p:nvSpPr>
        <p:spPr>
          <a:xfrm>
            <a:off x="3947160" y="358140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2</a:t>
            </a:r>
            <a:endParaRPr lang="en-US" sz="1920" dirty="0"/>
          </a:p>
        </p:txBody>
      </p:sp>
      <p:sp>
        <p:nvSpPr>
          <p:cNvPr id="21" name="Text 7"/>
          <p:cNvSpPr/>
          <p:nvPr>
            <p:custDataLst>
              <p:tags r:id="rId23"/>
            </p:custDataLst>
          </p:nvPr>
        </p:nvSpPr>
        <p:spPr>
          <a:xfrm>
            <a:off x="4251960" y="3479165"/>
            <a:ext cx="1075944" cy="615315"/>
          </a:xfrm>
          <a:prstGeom prst="rect">
            <a:avLst/>
          </a:prstGeom>
          <a:noFill/>
        </p:spPr>
        <p:txBody>
          <a:bodyPr wrap="square" lIns="0" tIns="0" rIns="0" bIns="0" rtlCol="0" anchor="t">
            <a:spAutoFit/>
          </a:bodyPr>
          <a:lstStyle/>
          <a:p>
            <a:pPr marL="0" indent="0" algn="l">
              <a:lnSpc>
                <a:spcPct val="100000"/>
              </a:lnSpc>
              <a:buNone/>
            </a:pPr>
            <a:r>
              <a:rPr lang="en-US" sz="2000" dirty="0">
                <a:solidFill>
                  <a:srgbClr val="333333"/>
                </a:solidFill>
                <a:latin typeface="思源黑体 CN Bold" pitchFamily="34" charset="0"/>
                <a:ea typeface="思源黑体 CN Bold" pitchFamily="34" charset="-122"/>
                <a:cs typeface="思源黑体 CN Bold" pitchFamily="34" charset="-120"/>
              </a:rPr>
              <a:t>分析不符合项分布</a:t>
            </a:r>
            <a:endParaRPr lang="en-US" sz="2000" dirty="0">
              <a:solidFill>
                <a:srgbClr val="333333"/>
              </a:solidFill>
              <a:latin typeface="思源黑体 CN Bold" pitchFamily="34" charset="0"/>
              <a:ea typeface="思源黑体 CN Bold" pitchFamily="34" charset="-122"/>
              <a:cs typeface="思源黑体 CN Bold" pitchFamily="34" charset="-120"/>
            </a:endParaRPr>
          </a:p>
        </p:txBody>
      </p:sp>
      <p:sp>
        <p:nvSpPr>
          <p:cNvPr id="22" name="Text 8"/>
          <p:cNvSpPr/>
          <p:nvPr>
            <p:custDataLst>
              <p:tags r:id="rId24"/>
            </p:custDataLst>
          </p:nvPr>
        </p:nvSpPr>
        <p:spPr>
          <a:xfrm>
            <a:off x="3931920" y="4331335"/>
            <a:ext cx="139598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63554B"/>
                </a:solidFill>
                <a:latin typeface="思源黑体 CN Regular" pitchFamily="34" charset="0"/>
                <a:ea typeface="思源黑体 CN Regular" pitchFamily="34" charset="-122"/>
                <a:cs typeface="思源黑体 CN Regular" pitchFamily="34" charset="-120"/>
              </a:rPr>
              <a:t>哪些维度问题集中？技术 vs 管理？</a:t>
            </a:r>
            <a:endParaRPr lang="en-US" sz="1800" dirty="0"/>
          </a:p>
        </p:txBody>
      </p:sp>
      <p:pic>
        <p:nvPicPr>
          <p:cNvPr id="23" name="Image 12" descr="https://test.web.static.jianzeppt.com/ppt-temp-img3/2011989214a2a63b0ecb55621f9cfb63.png?x-oss-process=image/resize,w_1440,h_800,m_lfit/format,png"/>
          <p:cNvPicPr>
            <a:picLocks noChangeAspect="1"/>
          </p:cNvPicPr>
          <p:nvPr>
            <p:custDataLst>
              <p:tags r:id="rId25"/>
            </p:custDataLst>
          </p:nvPr>
        </p:nvPicPr>
        <p:blipFill>
          <a:blip r:embed="rId18"/>
          <a:stretch>
            <a:fillRect/>
          </a:stretch>
        </p:blipFill>
        <p:spPr>
          <a:xfrm>
            <a:off x="3627120" y="2849880"/>
            <a:ext cx="1996440" cy="91440"/>
          </a:xfrm>
          <a:prstGeom prst="rect">
            <a:avLst/>
          </a:prstGeom>
        </p:spPr>
      </p:pic>
      <p:pic>
        <p:nvPicPr>
          <p:cNvPr id="24" name="Image 13" descr="preencoded.png"/>
          <p:cNvPicPr>
            <a:picLocks noChangeAspect="1"/>
          </p:cNvPicPr>
          <p:nvPr>
            <p:custDataLst>
              <p:tags r:id="rId26"/>
            </p:custDataLst>
          </p:nvPr>
        </p:nvPicPr>
        <p:blipFill>
          <a:blip r:embed="rId10">
            <a:extLst>
              <a:ext uri="{96DAC541-7B7A-43D3-8B79-37D633B846F1}">
                <asvg:svgBlip xmlns:asvg="http://schemas.microsoft.com/office/drawing/2016/SVG/main" r:embed="rId11"/>
              </a:ext>
            </a:extLst>
          </a:blip>
          <a:stretch>
            <a:fillRect/>
          </a:stretch>
        </p:blipFill>
        <p:spPr>
          <a:xfrm>
            <a:off x="6598920" y="2834640"/>
            <a:ext cx="2026920" cy="3048000"/>
          </a:xfrm>
          <a:prstGeom prst="rect">
            <a:avLst/>
          </a:prstGeom>
          <a:effectLst>
            <a:outerShdw blurRad="387096000" dist="193548000" dir="-1" algn="bl" rotWithShape="0">
              <a:srgbClr val="000000">
                <a:alpha val="500000000"/>
              </a:srgbClr>
            </a:outerShdw>
          </a:effectLst>
        </p:spPr>
      </p:pic>
      <p:pic>
        <p:nvPicPr>
          <p:cNvPr id="25" name="Image 14" descr="https://test.web.static.jianzeppt.com/ppt-temp-img3/f97fb0b8c300f51f59716353552ce31a.png?x-oss-process=image/resize,w_1440,h_800,m_lfit/format,png"/>
          <p:cNvPicPr>
            <a:picLocks noChangeAspect="1"/>
          </p:cNvPicPr>
          <p:nvPr>
            <p:custDataLst>
              <p:tags r:id="rId27"/>
            </p:custDataLst>
          </p:nvPr>
        </p:nvPicPr>
        <p:blipFill>
          <a:blip r:embed="rId28"/>
          <a:stretch>
            <a:fillRect/>
          </a:stretch>
        </p:blipFill>
        <p:spPr>
          <a:xfrm>
            <a:off x="6918960" y="3352800"/>
            <a:ext cx="259080" cy="426720"/>
          </a:xfrm>
          <a:prstGeom prst="rect">
            <a:avLst/>
          </a:prstGeom>
        </p:spPr>
      </p:pic>
      <p:sp>
        <p:nvSpPr>
          <p:cNvPr id="26" name="Text 9"/>
          <p:cNvSpPr/>
          <p:nvPr>
            <p:custDataLst>
              <p:tags r:id="rId29"/>
            </p:custDataLst>
          </p:nvPr>
        </p:nvSpPr>
        <p:spPr>
          <a:xfrm>
            <a:off x="6979920" y="338328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3</a:t>
            </a:r>
            <a:endParaRPr lang="en-US" sz="1920" dirty="0"/>
          </a:p>
        </p:txBody>
      </p:sp>
      <p:sp>
        <p:nvSpPr>
          <p:cNvPr id="27" name="Text 10"/>
          <p:cNvSpPr/>
          <p:nvPr>
            <p:custDataLst>
              <p:tags r:id="rId30"/>
            </p:custDataLst>
          </p:nvPr>
        </p:nvSpPr>
        <p:spPr>
          <a:xfrm>
            <a:off x="7299960" y="3361055"/>
            <a:ext cx="1014984" cy="615315"/>
          </a:xfrm>
          <a:prstGeom prst="rect">
            <a:avLst/>
          </a:prstGeom>
          <a:noFill/>
        </p:spPr>
        <p:txBody>
          <a:bodyPr wrap="square" lIns="0" tIns="0" rIns="0" bIns="0" rtlCol="0" anchor="t">
            <a:spAutoFit/>
          </a:bodyPr>
          <a:lstStyle/>
          <a:p>
            <a:pPr marL="0" indent="0" algn="l">
              <a:lnSpc>
                <a:spcPct val="100000"/>
              </a:lnSpc>
              <a:buNone/>
            </a:pPr>
            <a:r>
              <a:rPr lang="en-US" sz="2000" dirty="0">
                <a:solidFill>
                  <a:srgbClr val="333333"/>
                </a:solidFill>
                <a:latin typeface="思源黑体 CN Bold" pitchFamily="34" charset="0"/>
                <a:ea typeface="思源黑体 CN Bold" pitchFamily="34" charset="-122"/>
                <a:cs typeface="思源黑体 CN Bold" pitchFamily="34" charset="-120"/>
              </a:rPr>
              <a:t>评估风险影响</a:t>
            </a:r>
            <a:endParaRPr lang="en-US" sz="2000" dirty="0">
              <a:solidFill>
                <a:srgbClr val="333333"/>
              </a:solidFill>
              <a:latin typeface="思源黑体 CN Bold" pitchFamily="34" charset="0"/>
              <a:ea typeface="思源黑体 CN Bold" pitchFamily="34" charset="-122"/>
              <a:cs typeface="思源黑体 CN Bold" pitchFamily="34" charset="-120"/>
            </a:endParaRPr>
          </a:p>
        </p:txBody>
      </p:sp>
      <p:sp>
        <p:nvSpPr>
          <p:cNvPr id="28" name="Text 11"/>
          <p:cNvSpPr/>
          <p:nvPr>
            <p:custDataLst>
              <p:tags r:id="rId31"/>
            </p:custDataLst>
          </p:nvPr>
        </p:nvSpPr>
        <p:spPr>
          <a:xfrm>
            <a:off x="6918960" y="4191000"/>
            <a:ext cx="1395984" cy="1261110"/>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63554B"/>
                </a:solidFill>
                <a:latin typeface="思源黑体 CN Regular" pitchFamily="34" charset="0"/>
                <a:ea typeface="思源黑体 CN Regular" pitchFamily="34" charset="-122"/>
                <a:cs typeface="思源黑体 CN Regular" pitchFamily="34" charset="-120"/>
              </a:rPr>
              <a:t>哪些问题影响核心业务？哪些是致命缺陷？</a:t>
            </a:r>
            <a:endParaRPr lang="en-US" sz="1800" dirty="0"/>
          </a:p>
        </p:txBody>
      </p:sp>
      <p:pic>
        <p:nvPicPr>
          <p:cNvPr id="29" name="Image 15" descr="https://test.web.static.jianzeppt.com/ppt-temp-img3/48a2b49b8d68734545df854c23c0f981.png?x-oss-process=image/resize,w_1440,h_800,m_lfit/format,png"/>
          <p:cNvPicPr>
            <a:picLocks noChangeAspect="1"/>
          </p:cNvPicPr>
          <p:nvPr>
            <p:custDataLst>
              <p:tags r:id="rId32"/>
            </p:custDataLst>
          </p:nvPr>
        </p:nvPicPr>
        <p:blipFill>
          <a:blip r:embed="rId18"/>
          <a:stretch>
            <a:fillRect/>
          </a:stretch>
        </p:blipFill>
        <p:spPr>
          <a:xfrm>
            <a:off x="6614160" y="2849880"/>
            <a:ext cx="1996440" cy="91440"/>
          </a:xfrm>
          <a:prstGeom prst="rect">
            <a:avLst/>
          </a:prstGeom>
        </p:spPr>
      </p:pic>
      <p:pic>
        <p:nvPicPr>
          <p:cNvPr id="30" name="Image 16" descr="preencoded.png"/>
          <p:cNvPicPr>
            <a:picLocks noChangeAspect="1"/>
          </p:cNvPicPr>
          <p:nvPr>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9601200" y="2834640"/>
            <a:ext cx="1996440" cy="3048000"/>
          </a:xfrm>
          <a:prstGeom prst="rect">
            <a:avLst/>
          </a:prstGeom>
          <a:effectLst>
            <a:outerShdw blurRad="1161288000" dist="774192000" dir="-1" algn="bl" rotWithShape="0">
              <a:srgbClr val="000000">
                <a:alpha val="1000000000"/>
              </a:srgbClr>
            </a:outerShdw>
          </a:effectLst>
        </p:spPr>
      </p:pic>
      <p:pic>
        <p:nvPicPr>
          <p:cNvPr id="31" name="Image 17" descr="preencoded.png"/>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9906000" y="3337560"/>
            <a:ext cx="259080" cy="426720"/>
          </a:xfrm>
          <a:prstGeom prst="rect">
            <a:avLst/>
          </a:prstGeom>
        </p:spPr>
      </p:pic>
      <p:sp>
        <p:nvSpPr>
          <p:cNvPr id="32" name="Text 12"/>
          <p:cNvSpPr/>
          <p:nvPr>
            <p:custDataLst>
              <p:tags r:id="rId39"/>
            </p:custDataLst>
          </p:nvPr>
        </p:nvSpPr>
        <p:spPr>
          <a:xfrm>
            <a:off x="9951720" y="336804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4</a:t>
            </a:r>
            <a:endParaRPr lang="en-US" sz="1920" dirty="0"/>
          </a:p>
        </p:txBody>
      </p:sp>
      <p:sp>
        <p:nvSpPr>
          <p:cNvPr id="33" name="Text 13"/>
          <p:cNvSpPr/>
          <p:nvPr>
            <p:custDataLst>
              <p:tags r:id="rId40"/>
            </p:custDataLst>
          </p:nvPr>
        </p:nvSpPr>
        <p:spPr>
          <a:xfrm>
            <a:off x="10287000" y="3239770"/>
            <a:ext cx="1014984" cy="615315"/>
          </a:xfrm>
          <a:prstGeom prst="rect">
            <a:avLst/>
          </a:prstGeom>
          <a:noFill/>
        </p:spPr>
        <p:txBody>
          <a:bodyPr wrap="square" lIns="0" tIns="0" rIns="0" bIns="0" rtlCol="0" anchor="t">
            <a:spAutoFit/>
          </a:bodyPr>
          <a:lstStyle/>
          <a:p>
            <a:pPr indent="0" algn="l" fontAlgn="auto">
              <a:lnSpc>
                <a:spcPct val="100000"/>
              </a:lnSpc>
              <a:buNone/>
            </a:pPr>
            <a:r>
              <a:rPr lang="en-US" sz="2000" dirty="0">
                <a:solidFill>
                  <a:srgbClr val="333333"/>
                </a:solidFill>
                <a:latin typeface="思源黑体 CN Bold" pitchFamily="34" charset="0"/>
                <a:ea typeface="思源黑体 CN Bold" pitchFamily="34" charset="-122"/>
                <a:cs typeface="思源黑体 CN Bold" pitchFamily="34" charset="-120"/>
              </a:rPr>
              <a:t>形成整体判断</a:t>
            </a:r>
            <a:endParaRPr lang="en-US" sz="2000" dirty="0">
              <a:solidFill>
                <a:srgbClr val="333333"/>
              </a:solidFill>
              <a:latin typeface="思源黑体 CN Bold" pitchFamily="34" charset="0"/>
              <a:ea typeface="思源黑体 CN Bold" pitchFamily="34" charset="-122"/>
              <a:cs typeface="思源黑体 CN Bold" pitchFamily="34" charset="-120"/>
            </a:endParaRPr>
          </a:p>
        </p:txBody>
      </p:sp>
      <p:sp>
        <p:nvSpPr>
          <p:cNvPr id="34" name="Text 14"/>
          <p:cNvSpPr/>
          <p:nvPr>
            <p:custDataLst>
              <p:tags r:id="rId41"/>
            </p:custDataLst>
          </p:nvPr>
        </p:nvSpPr>
        <p:spPr>
          <a:xfrm>
            <a:off x="9965690" y="4234180"/>
            <a:ext cx="1493520" cy="1146175"/>
          </a:xfrm>
          <a:prstGeom prst="rect">
            <a:avLst/>
          </a:prstGeom>
          <a:noFill/>
        </p:spPr>
        <p:txBody>
          <a:bodyPr wrap="square" lIns="0" tIns="0" rIns="0" bIns="0" rtlCol="0" anchor="t">
            <a:spAutoFit/>
          </a:bodyPr>
          <a:lstStyle/>
          <a:p>
            <a:pPr marL="0" indent="0" algn="l">
              <a:lnSpc>
                <a:spcPct val="138000"/>
              </a:lnSpc>
              <a:buNone/>
            </a:pPr>
            <a:r>
              <a:rPr lang="en-US" b="1" dirty="0">
                <a:solidFill>
                  <a:srgbClr val="333333"/>
                </a:solidFill>
                <a:latin typeface="思源黑体 CN Bold" pitchFamily="34" charset="0"/>
                <a:ea typeface="思源黑体 CN Bold" pitchFamily="34" charset="-122"/>
                <a:cs typeface="思源黑体 CN Bold" pitchFamily="34" charset="-120"/>
              </a:rPr>
              <a:t>符合 / 基本符合 / 不符合</a:t>
            </a:r>
            <a:endParaRPr lang="en-US" b="1" dirty="0">
              <a:solidFill>
                <a:srgbClr val="333333"/>
              </a:solidFill>
              <a:latin typeface="思源黑体 CN Bold" pitchFamily="34" charset="0"/>
              <a:ea typeface="思源黑体 CN Bold" pitchFamily="34" charset="-122"/>
              <a:cs typeface="思源黑体 CN Bold" pitchFamily="34" charset="-120"/>
            </a:endParaRPr>
          </a:p>
        </p:txBody>
      </p:sp>
      <p:pic>
        <p:nvPicPr>
          <p:cNvPr id="35" name="Image 4" descr="preencoded.png"/>
          <p:cNvPicPr>
            <a:picLocks noChangeAspect="1"/>
          </p:cNvPicPr>
          <p:nvPr>
            <p:custDataLst>
              <p:tags r:id="rId42"/>
            </p:custDataLst>
          </p:nvPr>
        </p:nvPicPr>
        <p:blipFill>
          <a:blip r:embed="rId7">
            <a:extLst>
              <a:ext uri="{96DAC541-7B7A-43D3-8B79-37D633B846F1}">
                <asvg:svgBlip xmlns:asvg="http://schemas.microsoft.com/office/drawing/2016/SVG/main" r:embed="rId8"/>
              </a:ext>
            </a:extLst>
          </a:blip>
          <a:stretch>
            <a:fillRect/>
          </a:stretch>
        </p:blipFill>
        <p:spPr>
          <a:xfrm>
            <a:off x="5757545" y="3818255"/>
            <a:ext cx="723265" cy="723265"/>
          </a:xfrm>
          <a:prstGeom prst="rect">
            <a:avLst/>
          </a:prstGeom>
        </p:spPr>
      </p:pic>
      <p:pic>
        <p:nvPicPr>
          <p:cNvPr id="36" name="Image 4" descr="preencoded.png"/>
          <p:cNvPicPr>
            <a:picLocks noChangeAspect="1"/>
          </p:cNvPicPr>
          <p:nvPr>
            <p:custDataLst>
              <p:tags r:id="rId43"/>
            </p:custDataLst>
          </p:nvPr>
        </p:nvPicPr>
        <p:blipFill>
          <a:blip r:embed="rId7">
            <a:extLst>
              <a:ext uri="{96DAC541-7B7A-43D3-8B79-37D633B846F1}">
                <asvg:svgBlip xmlns:asvg="http://schemas.microsoft.com/office/drawing/2016/SVG/main" r:embed="rId8"/>
              </a:ext>
            </a:extLst>
          </a:blip>
          <a:stretch>
            <a:fillRect/>
          </a:stretch>
        </p:blipFill>
        <p:spPr>
          <a:xfrm>
            <a:off x="8625840" y="3833495"/>
            <a:ext cx="723265" cy="7232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系统整体测评结论的判断标准</a:t>
            </a:r>
            <a:endParaRPr lang="en-US" sz="2760" dirty="0"/>
          </a:p>
        </p:txBody>
      </p:sp>
      <p:sp>
        <p:nvSpPr>
          <p:cNvPr id="6" name="Text 1"/>
          <p:cNvSpPr/>
          <p:nvPr/>
        </p:nvSpPr>
        <p:spPr>
          <a:xfrm>
            <a:off x="609600" y="1371600"/>
            <a:ext cx="109819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三级判定标准：</a:t>
            </a:r>
            <a:endParaRPr lang="en-US" sz="216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2026920"/>
            <a:ext cx="10972800" cy="4457700"/>
          </a:xfrm>
          <a:prstGeom prst="rect">
            <a:avLst/>
          </a:prstGeom>
          <a:effectLst>
            <a:outerShdw blurRad="387096000" dist="193548000" dir="-1" algn="bl" rotWithShape="0">
              <a:srgbClr val="000000">
                <a:alpha val="500000000"/>
              </a:srgbClr>
            </a:outerShdw>
          </a:effectLst>
        </p:spPr>
      </p:pic>
      <p:pic>
        <p:nvPicPr>
          <p:cNvPr id="8" name="Image 4" descr="https://test.web.static.jianzeppt.com/ppt-temp-img3/43ee430f7a97eb466c77e7c468d9ef06.png?x-oss-process=image/resize,w_1440,h_800,m_lfit/format,png"/>
          <p:cNvPicPr>
            <a:picLocks noChangeAspect="1"/>
          </p:cNvPicPr>
          <p:nvPr/>
        </p:nvPicPr>
        <p:blipFill>
          <a:blip r:embed="rId6"/>
          <a:stretch>
            <a:fillRect/>
          </a:stretch>
        </p:blipFill>
        <p:spPr>
          <a:xfrm>
            <a:off x="624840" y="2042160"/>
            <a:ext cx="10942320" cy="899160"/>
          </a:xfrm>
          <a:prstGeom prst="rect">
            <a:avLst/>
          </a:prstGeom>
        </p:spPr>
      </p:pic>
      <p:sp>
        <p:nvSpPr>
          <p:cNvPr id="9" name="Text 2"/>
          <p:cNvSpPr/>
          <p:nvPr/>
        </p:nvSpPr>
        <p:spPr>
          <a:xfrm>
            <a:off x="990600" y="2286000"/>
            <a:ext cx="205130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333333"/>
                </a:solidFill>
                <a:latin typeface="思源黑体 CN Bold" pitchFamily="34" charset="0"/>
                <a:ea typeface="思源黑体 CN Bold" pitchFamily="34" charset="-122"/>
                <a:cs typeface="思源黑体 CN Bold" pitchFamily="34" charset="-120"/>
              </a:rPr>
              <a:t>整体结论</a:t>
            </a:r>
            <a:endParaRPr lang="en-US" sz="2160" dirty="0"/>
          </a:p>
        </p:txBody>
      </p:sp>
      <p:sp>
        <p:nvSpPr>
          <p:cNvPr id="10" name="Text 3"/>
          <p:cNvSpPr/>
          <p:nvPr/>
        </p:nvSpPr>
        <p:spPr>
          <a:xfrm>
            <a:off x="3032760" y="2286000"/>
            <a:ext cx="409346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333333"/>
                </a:solidFill>
                <a:latin typeface="思源黑体 CN Bold" pitchFamily="34" charset="0"/>
                <a:ea typeface="思源黑体 CN Bold" pitchFamily="34" charset="-122"/>
                <a:cs typeface="思源黑体 CN Bold" pitchFamily="34" charset="-120"/>
              </a:rPr>
              <a:t>判定标准</a:t>
            </a:r>
            <a:endParaRPr lang="en-US" sz="2160" dirty="0"/>
          </a:p>
        </p:txBody>
      </p:sp>
      <p:sp>
        <p:nvSpPr>
          <p:cNvPr id="11" name="Text 4"/>
          <p:cNvSpPr/>
          <p:nvPr/>
        </p:nvSpPr>
        <p:spPr>
          <a:xfrm>
            <a:off x="7117080" y="2286000"/>
            <a:ext cx="409346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333333"/>
                </a:solidFill>
                <a:latin typeface="思源黑体 CN Bold" pitchFamily="34" charset="0"/>
                <a:ea typeface="思源黑体 CN Bold" pitchFamily="34" charset="-122"/>
                <a:cs typeface="思源黑体 CN Bold" pitchFamily="34" charset="-120"/>
              </a:rPr>
              <a:t>示例</a:t>
            </a:r>
            <a:endParaRPr lang="en-US" sz="2160" dirty="0"/>
          </a:p>
        </p:txBody>
      </p:sp>
      <p:sp>
        <p:nvSpPr>
          <p:cNvPr id="12" name="Text 5"/>
          <p:cNvSpPr/>
          <p:nvPr/>
        </p:nvSpPr>
        <p:spPr>
          <a:xfrm>
            <a:off x="990600" y="2947035"/>
            <a:ext cx="2051304" cy="731520"/>
          </a:xfrm>
          <a:prstGeom prst="rect">
            <a:avLst/>
          </a:prstGeom>
          <a:noFill/>
        </p:spPr>
        <p:txBody>
          <a:bodyPr wrap="none" lIns="0" tIns="0" rIns="0" bIns="0" rtlCol="0" anchor="ctr"/>
          <a:lstStyle/>
          <a:p>
            <a:pPr marL="0" indent="0" algn="l">
              <a:lnSpc>
                <a:spcPct val="100000"/>
              </a:lnSpc>
              <a:buNone/>
            </a:pPr>
            <a:r>
              <a:rPr lang="en-US" sz="2000" dirty="0">
                <a:solidFill>
                  <a:srgbClr val="000000"/>
                </a:solidFill>
                <a:latin typeface="思源黑体 CN Bold" pitchFamily="34" charset="0"/>
                <a:ea typeface="思源黑体 CN Bold" pitchFamily="34" charset="-122"/>
                <a:cs typeface="思源黑体 CN Bold" pitchFamily="34" charset="-120"/>
              </a:rPr>
              <a:t>符合</a:t>
            </a:r>
            <a:endParaRPr lang="en-US" sz="2000" dirty="0">
              <a:solidFill>
                <a:srgbClr val="000000"/>
              </a:solidFill>
              <a:latin typeface="思源黑体 CN Bold" pitchFamily="34" charset="0"/>
              <a:ea typeface="思源黑体 CN Bold" pitchFamily="34" charset="-122"/>
              <a:cs typeface="思源黑体 CN Bold" pitchFamily="34" charset="-120"/>
            </a:endParaRPr>
          </a:p>
        </p:txBody>
      </p:sp>
      <p:sp>
        <p:nvSpPr>
          <p:cNvPr id="13" name="Text 6"/>
          <p:cNvSpPr/>
          <p:nvPr/>
        </p:nvSpPr>
        <p:spPr>
          <a:xfrm>
            <a:off x="3032760" y="2947035"/>
            <a:ext cx="4093464" cy="731520"/>
          </a:xfrm>
          <a:prstGeom prst="rect">
            <a:avLst/>
          </a:prstGeom>
          <a:noFill/>
        </p:spPr>
        <p:txBody>
          <a:bodyPr wrap="none" lIns="0" tIns="0" rIns="0" bIns="0" rtlCol="0" anchor="ctr"/>
          <a:lstStyle/>
          <a:p>
            <a:pPr marL="0" indent="0" algn="l">
              <a:lnSpc>
                <a:spcPct val="100000"/>
              </a:lnSpc>
              <a:buNone/>
            </a:pPr>
            <a:r>
              <a:rPr lang="en-US" sz="2000" dirty="0">
                <a:solidFill>
                  <a:srgbClr val="555555"/>
                </a:solidFill>
                <a:latin typeface="思源黑体 CN Regular" pitchFamily="34" charset="0"/>
                <a:ea typeface="思源黑体 CN Regular" pitchFamily="34" charset="-122"/>
                <a:cs typeface="思源黑体 CN Regular" pitchFamily="34" charset="-120"/>
              </a:rPr>
              <a:t>所有指标均为“符合”</a:t>
            </a:r>
            <a:endParaRPr lang="en-US" sz="2000" dirty="0">
              <a:solidFill>
                <a:srgbClr val="555555"/>
              </a:solidFill>
              <a:latin typeface="思源黑体 CN Regular" pitchFamily="34" charset="0"/>
              <a:ea typeface="思源黑体 CN Regular" pitchFamily="34" charset="-122"/>
              <a:cs typeface="思源黑体 CN Regular" pitchFamily="34" charset="-120"/>
            </a:endParaRPr>
          </a:p>
        </p:txBody>
      </p:sp>
      <p:sp>
        <p:nvSpPr>
          <p:cNvPr id="14" name="Text 7"/>
          <p:cNvSpPr/>
          <p:nvPr/>
        </p:nvSpPr>
        <p:spPr>
          <a:xfrm>
            <a:off x="7212330" y="3049588"/>
            <a:ext cx="4093464" cy="589915"/>
          </a:xfrm>
          <a:prstGeom prst="rect">
            <a:avLst/>
          </a:prstGeom>
          <a:noFill/>
        </p:spPr>
        <p:txBody>
          <a:bodyPr wrap="square" lIns="0" tIns="0" rIns="0" bIns="0" rtlCol="0" anchor="ctr">
            <a:spAutoFit/>
          </a:bodyPr>
          <a:lstStyle/>
          <a:p>
            <a:pPr marL="0" indent="0" algn="l">
              <a:lnSpc>
                <a:spcPct val="100000"/>
              </a:lnSpc>
              <a:buNone/>
            </a:pPr>
            <a:r>
              <a:rPr lang="en-US" sz="1920" dirty="0">
                <a:solidFill>
                  <a:srgbClr val="80756B"/>
                </a:solidFill>
                <a:latin typeface="思源黑体 CN Regular" pitchFamily="34" charset="0"/>
                <a:ea typeface="思源黑体 CN Regular" pitchFamily="34" charset="-122"/>
                <a:cs typeface="思源黑体 CN Regular" pitchFamily="34" charset="-120"/>
              </a:rPr>
              <a:t>极少见，通常出现在已通过测评的系统中</a:t>
            </a:r>
            <a:endParaRPr lang="en-US" sz="1920" dirty="0"/>
          </a:p>
        </p:txBody>
      </p:sp>
      <p:pic>
        <p:nvPicPr>
          <p:cNvPr id="15"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40" y="4175760"/>
            <a:ext cx="10942320" cy="15240"/>
          </a:xfrm>
          <a:prstGeom prst="rect">
            <a:avLst/>
          </a:prstGeom>
        </p:spPr>
      </p:pic>
      <p:pic>
        <p:nvPicPr>
          <p:cNvPr id="16"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4840" y="4175760"/>
            <a:ext cx="10942320" cy="1325880"/>
          </a:xfrm>
          <a:prstGeom prst="rect">
            <a:avLst/>
          </a:prstGeom>
        </p:spPr>
      </p:pic>
      <p:sp>
        <p:nvSpPr>
          <p:cNvPr id="17" name="Text 8"/>
          <p:cNvSpPr/>
          <p:nvPr/>
        </p:nvSpPr>
        <p:spPr>
          <a:xfrm>
            <a:off x="990600" y="4181475"/>
            <a:ext cx="2051304" cy="822960"/>
          </a:xfrm>
          <a:prstGeom prst="rect">
            <a:avLst/>
          </a:prstGeom>
          <a:noFill/>
        </p:spPr>
        <p:txBody>
          <a:bodyPr wrap="none" lIns="0" tIns="0" rIns="0" bIns="0" rtlCol="0" anchor="ctr"/>
          <a:lstStyle/>
          <a:p>
            <a:pPr marL="0" indent="0" algn="l">
              <a:lnSpc>
                <a:spcPct val="100000"/>
              </a:lnSpc>
              <a:buNone/>
            </a:pPr>
            <a:r>
              <a:rPr lang="en-US" sz="2000" dirty="0">
                <a:solidFill>
                  <a:srgbClr val="000000"/>
                </a:solidFill>
                <a:latin typeface="思源黑体 CN Bold" pitchFamily="34" charset="0"/>
                <a:ea typeface="思源黑体 CN Bold" pitchFamily="34" charset="-122"/>
                <a:cs typeface="思源黑体 CN Bold" pitchFamily="34" charset="-120"/>
              </a:rPr>
              <a:t>基本符合</a:t>
            </a:r>
            <a:endParaRPr lang="en-US" sz="2000" dirty="0">
              <a:solidFill>
                <a:srgbClr val="000000"/>
              </a:solidFill>
              <a:latin typeface="思源黑体 CN Bold" pitchFamily="34" charset="0"/>
              <a:ea typeface="思源黑体 CN Bold" pitchFamily="34" charset="-122"/>
              <a:cs typeface="思源黑体 CN Bold" pitchFamily="34" charset="-120"/>
            </a:endParaRPr>
          </a:p>
        </p:txBody>
      </p:sp>
      <p:sp>
        <p:nvSpPr>
          <p:cNvPr id="18" name="Text 9"/>
          <p:cNvSpPr/>
          <p:nvPr/>
        </p:nvSpPr>
        <p:spPr>
          <a:xfrm>
            <a:off x="3032760" y="4285615"/>
            <a:ext cx="3832225" cy="615315"/>
          </a:xfrm>
          <a:prstGeom prst="rect">
            <a:avLst/>
          </a:prstGeom>
          <a:noFill/>
        </p:spPr>
        <p:txBody>
          <a:bodyPr wrap="square" lIns="0" tIns="0" rIns="0" bIns="0" rtlCol="0" anchor="ctr">
            <a:spAutoFit/>
          </a:bodyPr>
          <a:lstStyle/>
          <a:p>
            <a:pPr marL="0" indent="0" algn="l">
              <a:lnSpc>
                <a:spcPct val="100000"/>
              </a:lnSpc>
              <a:buNone/>
            </a:pPr>
            <a:r>
              <a:rPr lang="en-US" sz="2000" dirty="0">
                <a:solidFill>
                  <a:srgbClr val="555555"/>
                </a:solidFill>
                <a:latin typeface="思源黑体 CN Regular" pitchFamily="34" charset="0"/>
                <a:ea typeface="思源黑体 CN Regular" pitchFamily="34" charset="-122"/>
                <a:cs typeface="思源黑体 CN Regular" pitchFamily="34" charset="-120"/>
              </a:rPr>
              <a:t>存在“部分符合”或“不符合”项，但无重大安全隐患</a:t>
            </a:r>
            <a:endParaRPr lang="en-US" sz="2000" dirty="0">
              <a:solidFill>
                <a:srgbClr val="555555"/>
              </a:solidFill>
              <a:latin typeface="思源黑体 CN Regular" pitchFamily="34" charset="0"/>
              <a:ea typeface="思源黑体 CN Regular" pitchFamily="34" charset="-122"/>
              <a:cs typeface="思源黑体 CN Regular" pitchFamily="34" charset="-120"/>
            </a:endParaRPr>
          </a:p>
        </p:txBody>
      </p:sp>
      <p:sp>
        <p:nvSpPr>
          <p:cNvPr id="19" name="Text 10"/>
          <p:cNvSpPr/>
          <p:nvPr/>
        </p:nvSpPr>
        <p:spPr>
          <a:xfrm>
            <a:off x="7212330" y="4284028"/>
            <a:ext cx="4093464" cy="589915"/>
          </a:xfrm>
          <a:prstGeom prst="rect">
            <a:avLst/>
          </a:prstGeom>
          <a:noFill/>
        </p:spPr>
        <p:txBody>
          <a:bodyPr wrap="square" lIns="0" tIns="0" rIns="0" bIns="0" rtlCol="0" anchor="ctr">
            <a:spAutoFit/>
          </a:bodyPr>
          <a:lstStyle/>
          <a:p>
            <a:pPr marL="0" indent="0" algn="l">
              <a:lnSpc>
                <a:spcPct val="100000"/>
              </a:lnSpc>
              <a:buNone/>
            </a:pPr>
            <a:r>
              <a:rPr lang="en-US" sz="1920" dirty="0">
                <a:solidFill>
                  <a:srgbClr val="80756B"/>
                </a:solidFill>
                <a:latin typeface="思源黑体 CN Regular" pitchFamily="34" charset="0"/>
                <a:ea typeface="思源黑体 CN Regular" pitchFamily="34" charset="-122"/>
                <a:cs typeface="思源黑体 CN Regular" pitchFamily="34" charset="-120"/>
              </a:rPr>
              <a:t>大部分指标符合，个别管理类指标有差距</a:t>
            </a:r>
            <a:endParaRPr lang="en-US" sz="1920" dirty="0"/>
          </a:p>
        </p:txBody>
      </p:sp>
      <p:pic>
        <p:nvPicPr>
          <p:cNvPr id="20"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40" y="5501640"/>
            <a:ext cx="10942320" cy="15240"/>
          </a:xfrm>
          <a:prstGeom prst="rect">
            <a:avLst/>
          </a:prstGeom>
        </p:spPr>
      </p:pic>
      <p:sp>
        <p:nvSpPr>
          <p:cNvPr id="21" name="Text 11"/>
          <p:cNvSpPr/>
          <p:nvPr/>
        </p:nvSpPr>
        <p:spPr>
          <a:xfrm>
            <a:off x="990600" y="5507355"/>
            <a:ext cx="2051304" cy="822960"/>
          </a:xfrm>
          <a:prstGeom prst="rect">
            <a:avLst/>
          </a:prstGeom>
          <a:noFill/>
        </p:spPr>
        <p:txBody>
          <a:bodyPr wrap="none" lIns="0" tIns="0" rIns="0" bIns="0" rtlCol="0" anchor="ctr"/>
          <a:lstStyle/>
          <a:p>
            <a:pPr marL="0" indent="0" algn="l">
              <a:lnSpc>
                <a:spcPct val="100000"/>
              </a:lnSpc>
              <a:buNone/>
            </a:pPr>
            <a:r>
              <a:rPr lang="en-US" sz="2000" dirty="0">
                <a:solidFill>
                  <a:srgbClr val="000000"/>
                </a:solidFill>
                <a:latin typeface="思源黑体 CN Bold" pitchFamily="34" charset="0"/>
                <a:ea typeface="思源黑体 CN Bold" pitchFamily="34" charset="-122"/>
                <a:cs typeface="思源黑体 CN Bold" pitchFamily="34" charset="-120"/>
              </a:rPr>
              <a:t>不符合</a:t>
            </a:r>
            <a:endParaRPr lang="en-US" sz="2000" dirty="0">
              <a:solidFill>
                <a:srgbClr val="000000"/>
              </a:solidFill>
              <a:latin typeface="思源黑体 CN Bold" pitchFamily="34" charset="0"/>
              <a:ea typeface="思源黑体 CN Bold" pitchFamily="34" charset="-122"/>
              <a:cs typeface="思源黑体 CN Bold" pitchFamily="34" charset="-120"/>
            </a:endParaRPr>
          </a:p>
        </p:txBody>
      </p:sp>
      <p:sp>
        <p:nvSpPr>
          <p:cNvPr id="22" name="Text 12"/>
          <p:cNvSpPr/>
          <p:nvPr/>
        </p:nvSpPr>
        <p:spPr>
          <a:xfrm>
            <a:off x="3032760" y="5611495"/>
            <a:ext cx="3832225" cy="615315"/>
          </a:xfrm>
          <a:prstGeom prst="rect">
            <a:avLst/>
          </a:prstGeom>
          <a:noFill/>
        </p:spPr>
        <p:txBody>
          <a:bodyPr wrap="square" lIns="0" tIns="0" rIns="0" bIns="0" rtlCol="0" anchor="ctr">
            <a:spAutoFit/>
          </a:bodyPr>
          <a:lstStyle/>
          <a:p>
            <a:pPr marL="0" indent="0" algn="l">
              <a:lnSpc>
                <a:spcPct val="100000"/>
              </a:lnSpc>
              <a:buNone/>
            </a:pPr>
            <a:r>
              <a:rPr lang="en-US" sz="2000" dirty="0">
                <a:solidFill>
                  <a:srgbClr val="555555"/>
                </a:solidFill>
                <a:latin typeface="思源黑体 CN Regular" pitchFamily="34" charset="0"/>
                <a:ea typeface="思源黑体 CN Regular" pitchFamily="34" charset="-122"/>
                <a:cs typeface="思源黑体 CN Regular" pitchFamily="34" charset="-120"/>
              </a:rPr>
              <a:t>存在重大安全隐患（如高危漏洞、核心指标不满足）</a:t>
            </a:r>
            <a:endParaRPr lang="en-US" sz="2000" dirty="0">
              <a:solidFill>
                <a:srgbClr val="555555"/>
              </a:solidFill>
              <a:latin typeface="思源黑体 CN Regular" pitchFamily="34" charset="0"/>
              <a:ea typeface="思源黑体 CN Regular" pitchFamily="34" charset="-122"/>
              <a:cs typeface="思源黑体 CN Regular" pitchFamily="34" charset="-120"/>
            </a:endParaRPr>
          </a:p>
        </p:txBody>
      </p:sp>
      <p:sp>
        <p:nvSpPr>
          <p:cNvPr id="23" name="Text 13"/>
          <p:cNvSpPr/>
          <p:nvPr/>
        </p:nvSpPr>
        <p:spPr>
          <a:xfrm>
            <a:off x="7212330" y="5609908"/>
            <a:ext cx="4093464" cy="589915"/>
          </a:xfrm>
          <a:prstGeom prst="rect">
            <a:avLst/>
          </a:prstGeom>
          <a:noFill/>
        </p:spPr>
        <p:txBody>
          <a:bodyPr wrap="square" lIns="0" tIns="0" rIns="0" bIns="0" rtlCol="0" anchor="ctr">
            <a:spAutoFit/>
          </a:bodyPr>
          <a:lstStyle/>
          <a:p>
            <a:pPr marL="0" indent="0" algn="l">
              <a:lnSpc>
                <a:spcPct val="100000"/>
              </a:lnSpc>
              <a:buNone/>
            </a:pPr>
            <a:r>
              <a:rPr lang="en-US" sz="1920" dirty="0">
                <a:solidFill>
                  <a:srgbClr val="80756B"/>
                </a:solidFill>
                <a:latin typeface="思源黑体 CN Regular" pitchFamily="34" charset="0"/>
                <a:ea typeface="思源黑体 CN Regular" pitchFamily="34" charset="-122"/>
                <a:cs typeface="思源黑体 CN Regular" pitchFamily="34" charset="-120"/>
              </a:rPr>
              <a:t>存在可被利用的高危漏洞、关键设备无冗余、未实现双因素认证</a:t>
            </a:r>
            <a:endParaRPr lang="en-US" sz="1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安全整改建议的撰写方法</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173480"/>
          </a:xfrm>
          <a:prstGeom prst="rect">
            <a:avLst/>
          </a:prstGeom>
          <a:effectLst>
            <a:outerShdw blurRad="387096000" dist="193548000" dir="-1" algn="bl" rotWithShape="0">
              <a:srgbClr val="000000">
                <a:alpha val="500000000"/>
              </a:srgbClr>
            </a:outerShdw>
          </a:effectLst>
        </p:spPr>
      </p:pic>
      <p:pic>
        <p:nvPicPr>
          <p:cNvPr id="7" name="Image 4" descr="https://test.web.static.jianzeppt.com/ppt-temp-img3/9bedbddfaacfb81e0a53ba57e50dae55.png?x-oss-process=image/resize,w_1440,h_800,m_lfit/format,png"/>
          <p:cNvPicPr>
            <a:picLocks noChangeAspect="1"/>
          </p:cNvPicPr>
          <p:nvPr/>
        </p:nvPicPr>
        <p:blipFill>
          <a:blip r:embed="rId6"/>
          <a:stretch>
            <a:fillRect/>
          </a:stretch>
        </p:blipFill>
        <p:spPr>
          <a:xfrm>
            <a:off x="3352800" y="1767840"/>
            <a:ext cx="396240" cy="396240"/>
          </a:xfrm>
          <a:prstGeom prst="rect">
            <a:avLst/>
          </a:prstGeom>
        </p:spPr>
      </p:pic>
      <p:pic>
        <p:nvPicPr>
          <p:cNvPr id="8" name="Image 5" descr="https://test.web.static.jianzeppt.com/ppt-temp-img3/9bedbddfaacfb81e0a53ba57e50dae55.png?x-oss-process=image/resize,w_1440,h_800,m_lfit/format,png"/>
          <p:cNvPicPr>
            <a:picLocks noChangeAspect="1"/>
          </p:cNvPicPr>
          <p:nvPr/>
        </p:nvPicPr>
        <p:blipFill>
          <a:blip r:embed="rId6"/>
          <a:stretch>
            <a:fillRect/>
          </a:stretch>
        </p:blipFill>
        <p:spPr>
          <a:xfrm>
            <a:off x="6035040" y="1767840"/>
            <a:ext cx="396240" cy="396240"/>
          </a:xfrm>
          <a:prstGeom prst="rect">
            <a:avLst/>
          </a:prstGeom>
        </p:spPr>
      </p:pic>
      <p:pic>
        <p:nvPicPr>
          <p:cNvPr id="9" name="Image 6" descr="https://test.web.static.jianzeppt.com/ppt-temp-img3/9bedbddfaacfb81e0a53ba57e50dae55.png?x-oss-process=image/resize,w_1440,h_800,m_lfit/format,png"/>
          <p:cNvPicPr>
            <a:picLocks noChangeAspect="1"/>
          </p:cNvPicPr>
          <p:nvPr/>
        </p:nvPicPr>
        <p:blipFill>
          <a:blip r:embed="rId6"/>
          <a:stretch>
            <a:fillRect/>
          </a:stretch>
        </p:blipFill>
        <p:spPr>
          <a:xfrm>
            <a:off x="8717280" y="1767840"/>
            <a:ext cx="396240" cy="396240"/>
          </a:xfrm>
          <a:prstGeom prst="rect">
            <a:avLst/>
          </a:prstGeom>
        </p:spPr>
      </p:pic>
      <p:pic>
        <p:nvPicPr>
          <p:cNvPr id="10"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9600" y="2910840"/>
            <a:ext cx="10972800" cy="3545205"/>
          </a:xfrm>
          <a:prstGeom prst="rect">
            <a:avLst/>
          </a:prstGeom>
          <a:effectLst>
            <a:outerShdw blurRad="387096000" dist="193548000" dir="-1" algn="bl" rotWithShape="0">
              <a:srgbClr val="000000">
                <a:alpha val="500000000"/>
              </a:srgbClr>
            </a:outerShdw>
          </a:effectLst>
        </p:spPr>
      </p:pic>
      <p:graphicFrame>
        <p:nvGraphicFramePr>
          <p:cNvPr id="15" name="Table 0"/>
          <p:cNvGraphicFramePr>
            <a:graphicFrameLocks noGrp="1"/>
          </p:cNvGraphicFramePr>
          <p:nvPr/>
        </p:nvGraphicFramePr>
        <p:xfrm>
          <a:off x="624840" y="2926080"/>
          <a:ext cx="10942320" cy="3532505"/>
        </p:xfrm>
        <a:graphic>
          <a:graphicData uri="http://schemas.openxmlformats.org/drawingml/2006/table">
            <a:tbl>
              <a:tblPr/>
              <a:tblGrid>
                <a:gridCol w="1388745"/>
                <a:gridCol w="2807970"/>
                <a:gridCol w="6745605"/>
              </a:tblGrid>
              <a:tr h="709930">
                <a:tc>
                  <a:txBody>
                    <a:bodyPr/>
                    <a:lstStyle/>
                    <a:p>
                      <a:pPr marL="0" indent="0" algn="ctr">
                        <a:buNone/>
                      </a:pPr>
                      <a:r>
                        <a:rPr lang="en-US" sz="1680" b="1" dirty="0">
                          <a:solidFill>
                            <a:srgbClr val="000000"/>
                          </a:solidFill>
                        </a:rPr>
                        <a:t>要素</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要求</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示例</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09295">
                <a:tc>
                  <a:txBody>
                    <a:bodyPr/>
                    <a:lstStyle/>
                    <a:p>
                      <a:pPr marL="0" indent="0" algn="ctr">
                        <a:buNone/>
                      </a:pPr>
                      <a:r>
                        <a:rPr lang="en-US" sz="1680" dirty="0">
                          <a:solidFill>
                            <a:srgbClr val="000000"/>
                          </a:solidFill>
                        </a:rPr>
                        <a:t>问题描述</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具体、准确、可验证</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经核查，核心交换机为单台部署，未配置备用设备</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09930">
                <a:tc>
                  <a:txBody>
                    <a:bodyPr/>
                    <a:lstStyle/>
                    <a:p>
                      <a:pPr marL="0" indent="0" algn="ctr">
                        <a:buNone/>
                      </a:pPr>
                      <a:r>
                        <a:rPr lang="en-US" sz="1680" dirty="0">
                          <a:solidFill>
                            <a:srgbClr val="000000"/>
                          </a:solidFill>
                        </a:rPr>
                        <a:t>风险分析</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说明安全影响</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核心交换机单点故障将导致全网业务中断</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09295">
                <a:tc>
                  <a:txBody>
                    <a:bodyPr/>
                    <a:lstStyle/>
                    <a:p>
                      <a:pPr marL="0" indent="0" algn="ctr">
                        <a:buNone/>
                      </a:pPr>
                      <a:r>
                        <a:rPr lang="en-US" sz="1680" dirty="0">
                          <a:solidFill>
                            <a:srgbClr val="000000"/>
                          </a:solidFill>
                        </a:rPr>
                        <a:t>整改建议</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具体、可操作</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建议增配一台核心交换机，实施双机热备</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694055">
                <a:tc>
                  <a:txBody>
                    <a:bodyPr/>
                    <a:lstStyle/>
                    <a:p>
                      <a:pPr marL="0" indent="0" algn="ctr">
                        <a:buNone/>
                      </a:pPr>
                      <a:r>
                        <a:rPr lang="en-US" sz="1680" dirty="0">
                          <a:solidFill>
                            <a:srgbClr val="000000"/>
                          </a:solidFill>
                        </a:rPr>
                        <a:t>优先级</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紧急/高/中/低</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高（3天内完成）</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2"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95400" y="1630680"/>
            <a:ext cx="1828800" cy="655320"/>
          </a:xfrm>
          <a:prstGeom prst="rect">
            <a:avLst/>
          </a:prstGeom>
          <a:effectLst>
            <a:outerShdw blurRad="387096000" dist="193548000" dir="-1" algn="bl" rotWithShape="0">
              <a:srgbClr val="000000">
                <a:alpha val="500000000"/>
              </a:srgbClr>
            </a:outerShdw>
          </a:effectLst>
        </p:spPr>
      </p:pic>
      <p:sp>
        <p:nvSpPr>
          <p:cNvPr id="13" name="Text 1"/>
          <p:cNvSpPr/>
          <p:nvPr/>
        </p:nvSpPr>
        <p:spPr>
          <a:xfrm>
            <a:off x="1661160" y="1752600"/>
            <a:ext cx="11064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问题描述</a:t>
            </a:r>
            <a:endParaRPr lang="en-US" sz="2160" dirty="0"/>
          </a:p>
        </p:txBody>
      </p:sp>
      <p:pic>
        <p:nvPicPr>
          <p:cNvPr id="14" name="Image 9"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77640" y="1630680"/>
            <a:ext cx="1828800" cy="655320"/>
          </a:xfrm>
          <a:prstGeom prst="rect">
            <a:avLst/>
          </a:prstGeom>
          <a:effectLst>
            <a:outerShdw blurRad="387096000" dist="193548000" dir="-1" algn="bl" rotWithShape="0">
              <a:srgbClr val="000000">
                <a:alpha val="500000000"/>
              </a:srgbClr>
            </a:outerShdw>
          </a:effectLst>
        </p:spPr>
      </p:pic>
      <p:sp>
        <p:nvSpPr>
          <p:cNvPr id="11" name="Text 2"/>
          <p:cNvSpPr/>
          <p:nvPr/>
        </p:nvSpPr>
        <p:spPr>
          <a:xfrm>
            <a:off x="4343400" y="1752600"/>
            <a:ext cx="11064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风险分析</a:t>
            </a:r>
            <a:endParaRPr lang="en-US" sz="2160" dirty="0"/>
          </a:p>
        </p:txBody>
      </p:sp>
      <p:pic>
        <p:nvPicPr>
          <p:cNvPr id="16" name="Image 10"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59880" y="1630680"/>
            <a:ext cx="1828800" cy="655320"/>
          </a:xfrm>
          <a:prstGeom prst="rect">
            <a:avLst/>
          </a:prstGeom>
          <a:effectLst>
            <a:outerShdw blurRad="387096000" dist="193548000" dir="-1" algn="bl" rotWithShape="0">
              <a:srgbClr val="000000">
                <a:alpha val="500000000"/>
              </a:srgbClr>
            </a:outerShdw>
          </a:effectLst>
        </p:spPr>
      </p:pic>
      <p:sp>
        <p:nvSpPr>
          <p:cNvPr id="17" name="Text 3"/>
          <p:cNvSpPr/>
          <p:nvPr/>
        </p:nvSpPr>
        <p:spPr>
          <a:xfrm>
            <a:off x="7025640" y="1752600"/>
            <a:ext cx="11064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整改建议</a:t>
            </a:r>
            <a:endParaRPr lang="en-US" sz="2160" dirty="0"/>
          </a:p>
        </p:txBody>
      </p:sp>
      <p:pic>
        <p:nvPicPr>
          <p:cNvPr id="18"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42120" y="1630680"/>
            <a:ext cx="1554480" cy="655320"/>
          </a:xfrm>
          <a:prstGeom prst="rect">
            <a:avLst/>
          </a:prstGeom>
          <a:effectLst>
            <a:outerShdw blurRad="387096000" dist="193548000" dir="-1" algn="bl" rotWithShape="0">
              <a:srgbClr val="000000">
                <a:alpha val="500000000"/>
              </a:srgbClr>
            </a:outerShdw>
          </a:effectLst>
        </p:spPr>
      </p:pic>
      <p:sp>
        <p:nvSpPr>
          <p:cNvPr id="19" name="Text 4"/>
          <p:cNvSpPr/>
          <p:nvPr/>
        </p:nvSpPr>
        <p:spPr>
          <a:xfrm>
            <a:off x="9707880" y="1752600"/>
            <a:ext cx="83210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优先级</a:t>
            </a:r>
            <a:endParaRPr lang="en-US" sz="21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好建议 vs 差建议对比</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3230880" cy="1524000"/>
          </a:xfrm>
          <a:prstGeom prst="rect">
            <a:avLst/>
          </a:prstGeom>
          <a:effectLst>
            <a:outerShdw blurRad="387096000" dist="193548000" dir="-1" algn="bl" rotWithShape="0">
              <a:srgbClr val="000000">
                <a:alpha val="500000000"/>
              </a:srgbClr>
            </a:outerShdw>
          </a:effectLst>
        </p:spPr>
      </p:pic>
      <p:sp>
        <p:nvSpPr>
          <p:cNvPr id="7" name="Text 1"/>
          <p:cNvSpPr/>
          <p:nvPr/>
        </p:nvSpPr>
        <p:spPr>
          <a:xfrm>
            <a:off x="914400" y="1950720"/>
            <a:ext cx="2752344" cy="378381"/>
          </a:xfrm>
          <a:prstGeom prst="rect">
            <a:avLst/>
          </a:prstGeom>
          <a:noFill/>
        </p:spPr>
        <p:txBody>
          <a:bodyPr wrap="none" lIns="0" tIns="0" rIns="0" bIns="0" rtlCol="0" anchor="t">
            <a:spAutoFit/>
          </a:bodyPr>
          <a:lstStyle/>
          <a:p>
            <a:pPr marL="0" indent="0" algn="l">
              <a:lnSpc>
                <a:spcPct val="100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“建议加强密码管理”</a:t>
            </a:r>
            <a:endParaRPr lang="en-US" sz="2160" dirty="0"/>
          </a:p>
        </p:txBody>
      </p:sp>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19400" y="1371600"/>
            <a:ext cx="1021080" cy="396240"/>
          </a:xfrm>
          <a:prstGeom prst="rect">
            <a:avLst/>
          </a:prstGeom>
        </p:spPr>
      </p:pic>
      <p:sp>
        <p:nvSpPr>
          <p:cNvPr id="9" name="Text 2"/>
          <p:cNvSpPr/>
          <p:nvPr/>
        </p:nvSpPr>
        <p:spPr>
          <a:xfrm>
            <a:off x="2941320" y="1432560"/>
            <a:ext cx="8549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FF0000"/>
                </a:solidFill>
                <a:latin typeface="思源黑体 CN Bold" pitchFamily="34" charset="0"/>
                <a:ea typeface="思源黑体 CN Bold" pitchFamily="34" charset="-122"/>
                <a:cs typeface="思源黑体 CN Bold" pitchFamily="34" charset="-120"/>
              </a:rPr>
              <a:t>❌ 差建议</a:t>
            </a:r>
            <a:endParaRPr lang="en-US" sz="1440" b="1" dirty="0">
              <a:solidFill>
                <a:srgbClr val="FF0000"/>
              </a:solidFill>
              <a:latin typeface="思源黑体 CN Bold" pitchFamily="34" charset="0"/>
              <a:ea typeface="思源黑体 CN Bold" pitchFamily="34" charset="-122"/>
              <a:cs typeface="思源黑体 CN Bold" pitchFamily="34" charset="-120"/>
            </a:endParaRPr>
          </a:p>
        </p:txBody>
      </p:sp>
      <p:pic>
        <p:nvPicPr>
          <p:cNvPr id="10"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84320" y="1371600"/>
            <a:ext cx="7513320" cy="1524000"/>
          </a:xfrm>
          <a:prstGeom prst="rect">
            <a:avLst/>
          </a:prstGeom>
          <a:effectLst>
            <a:outerShdw blurRad="387096000" dist="193548000" dir="-1" algn="bl" rotWithShape="0">
              <a:srgbClr val="000000">
                <a:alpha val="500000000"/>
              </a:srgbClr>
            </a:outerShdw>
          </a:effectLst>
        </p:spPr>
      </p:pic>
      <p:sp>
        <p:nvSpPr>
          <p:cNvPr id="11" name="Text 3"/>
          <p:cNvSpPr/>
          <p:nvPr/>
        </p:nvSpPr>
        <p:spPr>
          <a:xfrm>
            <a:off x="4389120" y="1630680"/>
            <a:ext cx="6973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Regular" pitchFamily="34" charset="0"/>
                <a:ea typeface="思源黑体 CN Regular" pitchFamily="34" charset="-122"/>
                <a:cs typeface="思源黑体 CN Regular" pitchFamily="34" charset="-120"/>
              </a:rPr>
              <a:t>“经核查，Windows服务器未启用口令复杂度策略。建议：在组策略中启用‘密码必须符合复杂性要求’，设置最小长度为8位，启用‘强制密码历史’为5个，10个工作日内完成。”</a:t>
            </a:r>
            <a:endParaRPr lang="en-US" sz="1800" dirty="0"/>
          </a:p>
        </p:txBody>
      </p:sp>
      <p:pic>
        <p:nvPicPr>
          <p:cNvPr id="12"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61320" y="1371600"/>
            <a:ext cx="1021080" cy="396240"/>
          </a:xfrm>
          <a:prstGeom prst="rect">
            <a:avLst/>
          </a:prstGeom>
        </p:spPr>
      </p:pic>
      <p:sp>
        <p:nvSpPr>
          <p:cNvPr id="13" name="Text 4"/>
          <p:cNvSpPr/>
          <p:nvPr/>
        </p:nvSpPr>
        <p:spPr>
          <a:xfrm>
            <a:off x="10683240" y="1432560"/>
            <a:ext cx="8549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 好建议</a:t>
            </a:r>
            <a:endParaRPr lang="en-US" sz="1440" dirty="0"/>
          </a:p>
        </p:txBody>
      </p:sp>
      <p:pic>
        <p:nvPicPr>
          <p:cNvPr id="14" name="Image 7"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139440"/>
            <a:ext cx="3230880" cy="1524000"/>
          </a:xfrm>
          <a:prstGeom prst="rect">
            <a:avLst/>
          </a:prstGeom>
          <a:effectLst>
            <a:outerShdw blurRad="387096000" dist="193548000" dir="-1" algn="bl" rotWithShape="0">
              <a:srgbClr val="000000">
                <a:alpha val="500000000"/>
              </a:srgbClr>
            </a:outerShdw>
          </a:effectLst>
        </p:spPr>
      </p:pic>
      <p:sp>
        <p:nvSpPr>
          <p:cNvPr id="15" name="Text 5"/>
          <p:cNvSpPr/>
          <p:nvPr/>
        </p:nvSpPr>
        <p:spPr>
          <a:xfrm>
            <a:off x="914400" y="3718560"/>
            <a:ext cx="2752344" cy="378381"/>
          </a:xfrm>
          <a:prstGeom prst="rect">
            <a:avLst/>
          </a:prstGeom>
          <a:noFill/>
        </p:spPr>
        <p:txBody>
          <a:bodyPr wrap="none" lIns="0" tIns="0" rIns="0" bIns="0" rtlCol="0" anchor="t">
            <a:spAutoFit/>
          </a:bodyPr>
          <a:lstStyle/>
          <a:p>
            <a:pPr marL="0" indent="0" algn="l">
              <a:lnSpc>
                <a:spcPct val="100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“建议及时更新补丁”</a:t>
            </a:r>
            <a:endParaRPr lang="en-US" sz="2160" dirty="0"/>
          </a:p>
        </p:txBody>
      </p:sp>
      <p:pic>
        <p:nvPicPr>
          <p:cNvPr id="16" name="Image 8"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19400" y="3139440"/>
            <a:ext cx="1021080" cy="396240"/>
          </a:xfrm>
          <a:prstGeom prst="rect">
            <a:avLst/>
          </a:prstGeom>
        </p:spPr>
      </p:pic>
      <p:sp>
        <p:nvSpPr>
          <p:cNvPr id="17" name="Text 6"/>
          <p:cNvSpPr/>
          <p:nvPr/>
        </p:nvSpPr>
        <p:spPr>
          <a:xfrm>
            <a:off x="2941320" y="3200400"/>
            <a:ext cx="8549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FF0000"/>
                </a:solidFill>
                <a:latin typeface="思源黑体 CN Bold" pitchFamily="34" charset="0"/>
                <a:ea typeface="思源黑体 CN Bold" pitchFamily="34" charset="-122"/>
                <a:cs typeface="思源黑体 CN Bold" pitchFamily="34" charset="-120"/>
              </a:rPr>
              <a:t>❌ 差建议</a:t>
            </a:r>
            <a:endParaRPr lang="en-US" sz="1440" b="1" dirty="0">
              <a:solidFill>
                <a:srgbClr val="FF0000"/>
              </a:solidFill>
              <a:latin typeface="思源黑体 CN Bold" pitchFamily="34" charset="0"/>
              <a:ea typeface="思源黑体 CN Bold" pitchFamily="34" charset="-122"/>
              <a:cs typeface="思源黑体 CN Bold" pitchFamily="34" charset="-120"/>
            </a:endParaRPr>
          </a:p>
        </p:txBody>
      </p:sp>
      <p:pic>
        <p:nvPicPr>
          <p:cNvPr id="18" name="Image 9"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84320" y="3139440"/>
            <a:ext cx="7513320" cy="1524000"/>
          </a:xfrm>
          <a:prstGeom prst="rect">
            <a:avLst/>
          </a:prstGeom>
          <a:effectLst>
            <a:outerShdw blurRad="387096000" dist="193548000" dir="-1" algn="bl" rotWithShape="0">
              <a:srgbClr val="000000">
                <a:alpha val="500000000"/>
              </a:srgbClr>
            </a:outerShdw>
          </a:effectLst>
        </p:spPr>
      </p:pic>
      <p:sp>
        <p:nvSpPr>
          <p:cNvPr id="19" name="Text 7"/>
          <p:cNvSpPr/>
          <p:nvPr/>
        </p:nvSpPr>
        <p:spPr>
          <a:xfrm>
            <a:off x="4389120" y="3398520"/>
            <a:ext cx="6973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Regular" pitchFamily="34" charset="0"/>
                <a:ea typeface="思源黑体 CN Regular" pitchFamily="34" charset="-122"/>
                <a:cs typeface="思源黑体 CN Regular" pitchFamily="34" charset="-120"/>
              </a:rPr>
              <a:t>“系统存在Apache Struts2远程代码执行漏洞（CVE-2017-5638）。建议：升级Struts2至2.5.22或更高版本；部署WAF拦截恶意请求；7天内完成。”</a:t>
            </a:r>
            <a:endParaRPr lang="en-US" sz="1800" dirty="0"/>
          </a:p>
        </p:txBody>
      </p:sp>
      <p:pic>
        <p:nvPicPr>
          <p:cNvPr id="20" name="Image 10"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61320" y="3139440"/>
            <a:ext cx="1021080" cy="396240"/>
          </a:xfrm>
          <a:prstGeom prst="rect">
            <a:avLst/>
          </a:prstGeom>
        </p:spPr>
      </p:pic>
      <p:sp>
        <p:nvSpPr>
          <p:cNvPr id="21" name="Text 8"/>
          <p:cNvSpPr/>
          <p:nvPr/>
        </p:nvSpPr>
        <p:spPr>
          <a:xfrm>
            <a:off x="10683240" y="3200400"/>
            <a:ext cx="8549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 好建议</a:t>
            </a:r>
            <a:endParaRPr lang="en-US" sz="1440" dirty="0"/>
          </a:p>
        </p:txBody>
      </p:sp>
      <p:pic>
        <p:nvPicPr>
          <p:cNvPr id="22" name="Image 1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4907280"/>
            <a:ext cx="3230880" cy="1524000"/>
          </a:xfrm>
          <a:prstGeom prst="rect">
            <a:avLst/>
          </a:prstGeom>
          <a:effectLst>
            <a:outerShdw blurRad="387096000" dist="193548000" dir="-1" algn="bl" rotWithShape="0">
              <a:srgbClr val="000000">
                <a:alpha val="500000000"/>
              </a:srgbClr>
            </a:outerShdw>
          </a:effectLst>
        </p:spPr>
      </p:pic>
      <p:sp>
        <p:nvSpPr>
          <p:cNvPr id="23" name="Text 9"/>
          <p:cNvSpPr/>
          <p:nvPr/>
        </p:nvSpPr>
        <p:spPr>
          <a:xfrm>
            <a:off x="914400" y="5288280"/>
            <a:ext cx="2691384" cy="756761"/>
          </a:xfrm>
          <a:prstGeom prst="rect">
            <a:avLst/>
          </a:prstGeom>
          <a:noFill/>
        </p:spPr>
        <p:txBody>
          <a:bodyPr wrap="square" lIns="0" tIns="0" rIns="0" bIns="0" rtlCol="0" anchor="t">
            <a:spAutoFit/>
          </a:bodyPr>
          <a:lstStyle/>
          <a:p>
            <a:pPr marL="0" indent="0" algn="l">
              <a:lnSpc>
                <a:spcPct val="138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“建议完善安全管理制度”</a:t>
            </a:r>
            <a:endParaRPr lang="en-US" sz="2160" dirty="0"/>
          </a:p>
        </p:txBody>
      </p:sp>
      <p:pic>
        <p:nvPicPr>
          <p:cNvPr id="24" name="Image 1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19400" y="4907280"/>
            <a:ext cx="1021080" cy="396240"/>
          </a:xfrm>
          <a:prstGeom prst="rect">
            <a:avLst/>
          </a:prstGeom>
        </p:spPr>
      </p:pic>
      <p:sp>
        <p:nvSpPr>
          <p:cNvPr id="25" name="Text 10"/>
          <p:cNvSpPr/>
          <p:nvPr/>
        </p:nvSpPr>
        <p:spPr>
          <a:xfrm>
            <a:off x="2941320" y="4968240"/>
            <a:ext cx="8549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FF0000"/>
                </a:solidFill>
                <a:latin typeface="思源黑体 CN Bold" pitchFamily="34" charset="0"/>
                <a:ea typeface="思源黑体 CN Bold" pitchFamily="34" charset="-122"/>
                <a:cs typeface="思源黑体 CN Bold" pitchFamily="34" charset="-120"/>
              </a:rPr>
              <a:t>❌ 差建议</a:t>
            </a:r>
            <a:endParaRPr lang="en-US" sz="1440" b="1" dirty="0">
              <a:solidFill>
                <a:srgbClr val="FF0000"/>
              </a:solidFill>
              <a:latin typeface="思源黑体 CN Bold" pitchFamily="34" charset="0"/>
              <a:ea typeface="思源黑体 CN Bold" pitchFamily="34" charset="-122"/>
              <a:cs typeface="思源黑体 CN Bold" pitchFamily="34" charset="-120"/>
            </a:endParaRPr>
          </a:p>
        </p:txBody>
      </p:sp>
      <p:pic>
        <p:nvPicPr>
          <p:cNvPr id="26" name="Image 1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84320" y="4907280"/>
            <a:ext cx="7513320" cy="1524000"/>
          </a:xfrm>
          <a:prstGeom prst="rect">
            <a:avLst/>
          </a:prstGeom>
          <a:effectLst>
            <a:outerShdw blurRad="387096000" dist="193548000" dir="-1" algn="bl" rotWithShape="0">
              <a:srgbClr val="000000">
                <a:alpha val="500000000"/>
              </a:srgbClr>
            </a:outerShdw>
          </a:effectLst>
        </p:spPr>
      </p:pic>
      <p:sp>
        <p:nvSpPr>
          <p:cNvPr id="27" name="Text 11"/>
          <p:cNvSpPr/>
          <p:nvPr/>
        </p:nvSpPr>
        <p:spPr>
          <a:xfrm>
            <a:off x="4389120" y="5166360"/>
            <a:ext cx="6973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Regular" pitchFamily="34" charset="0"/>
                <a:ea typeface="思源黑体 CN Regular" pitchFamily="34" charset="-122"/>
                <a:cs typeface="思源黑体 CN Regular" pitchFamily="34" charset="-120"/>
              </a:rPr>
              <a:t>“安全管理制度中缺少《安全事件报告与处置管理制度》。建议：参照GB/T 22239 8.1.10.12要求，制定并发布该制度，明确事件报告流程和处置职责。”</a:t>
            </a:r>
            <a:endParaRPr lang="en-US" sz="1800" dirty="0"/>
          </a:p>
        </p:txBody>
      </p:sp>
      <p:pic>
        <p:nvPicPr>
          <p:cNvPr id="28" name="Image 1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61320" y="4907280"/>
            <a:ext cx="1021080" cy="396240"/>
          </a:xfrm>
          <a:prstGeom prst="rect">
            <a:avLst/>
          </a:prstGeom>
        </p:spPr>
      </p:pic>
      <p:sp>
        <p:nvSpPr>
          <p:cNvPr id="29" name="Text 12"/>
          <p:cNvSpPr/>
          <p:nvPr/>
        </p:nvSpPr>
        <p:spPr>
          <a:xfrm>
            <a:off x="10683240" y="4968240"/>
            <a:ext cx="8549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333333"/>
                </a:solidFill>
                <a:latin typeface="思源黑体 CN Bold" pitchFamily="34" charset="0"/>
                <a:ea typeface="思源黑体 CN Bold" pitchFamily="34" charset="-122"/>
                <a:cs typeface="思源黑体 CN Bold" pitchFamily="34" charset="-120"/>
              </a:rPr>
              <a:t>✅ 好建议</a:t>
            </a:r>
            <a:endParaRPr lang="en-US" sz="1440" dirty="0"/>
          </a:p>
        </p:txBody>
      </p:sp>
      <p:graphicFrame>
        <p:nvGraphicFramePr>
          <p:cNvPr id="30" name="对象 29">
            <a:hlinkClick r:id="" action="ppaction://ole?verb="/>
          </p:cNvPr>
          <p:cNvGraphicFramePr>
            <a:graphicFrameLocks noChangeAspect="1"/>
          </p:cNvGraphicFramePr>
          <p:nvPr/>
        </p:nvGraphicFramePr>
        <p:xfrm>
          <a:off x="4638675" y="445135"/>
          <a:ext cx="971550" cy="666750"/>
        </p:xfrm>
        <a:graphic>
          <a:graphicData uri="http://schemas.openxmlformats.org/presentationml/2006/ole">
            <mc:AlternateContent xmlns:mc="http://schemas.openxmlformats.org/markup-compatibility/2006">
              <mc:Choice xmlns:v="urn:schemas-microsoft-com:vml" Requires="v">
                <p:oleObj spid="_x0000_s3073" name="" showAsIcon="1" r:id="rId12" imgW="971550" imgH="666750" progId="Word.Document.12">
                  <p:embed/>
                </p:oleObj>
              </mc:Choice>
              <mc:Fallback>
                <p:oleObj name="" showAsIcon="1" r:id="rId12" imgW="971550" imgH="666750" progId="Word.Document.12">
                  <p:embed/>
                  <p:pic>
                    <p:nvPicPr>
                      <p:cNvPr id="0" name="图片 3072"/>
                      <p:cNvPicPr/>
                      <p:nvPr/>
                    </p:nvPicPr>
                    <p:blipFill>
                      <a:blip r:embed="rId13"/>
                      <a:stretch>
                        <a:fillRect/>
                      </a:stretch>
                    </p:blipFill>
                    <p:spPr>
                      <a:xfrm>
                        <a:off x="4638675" y="445135"/>
                        <a:ext cx="971550" cy="666750"/>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整改优先级划分原则</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86840"/>
            <a:ext cx="10972800" cy="5078095"/>
          </a:xfrm>
          <a:prstGeom prst="rect">
            <a:avLst/>
          </a:prstGeom>
          <a:effectLst>
            <a:outerShdw blurRad="-2147483648" dist="774192000" dir="-1" algn="bl" rotWithShape="0">
              <a:srgbClr val="000000">
                <a:alpha val="500000000"/>
              </a:srgbClr>
            </a:outerShdw>
          </a:effectLst>
        </p:spPr>
      </p:pic>
      <p:pic>
        <p:nvPicPr>
          <p:cNvPr id="7" name="Image 4" descr="https://test.web.static.jianzeppt.com/ppt-temp-img3/0842377b310e90b3c4e30339727ff372.png?x-oss-process=image/resize,w_1440,h_800,m_lfit/format,png"/>
          <p:cNvPicPr>
            <a:picLocks noChangeAspect="1"/>
          </p:cNvPicPr>
          <p:nvPr/>
        </p:nvPicPr>
        <p:blipFill>
          <a:blip r:embed="rId6"/>
          <a:stretch>
            <a:fillRect/>
          </a:stretch>
        </p:blipFill>
        <p:spPr>
          <a:xfrm>
            <a:off x="624840" y="1402080"/>
            <a:ext cx="10942320" cy="899160"/>
          </a:xfrm>
          <a:prstGeom prst="rect">
            <a:avLst/>
          </a:prstGeom>
        </p:spPr>
      </p:pic>
      <p:sp>
        <p:nvSpPr>
          <p:cNvPr id="8" name="Text 1"/>
          <p:cNvSpPr/>
          <p:nvPr/>
        </p:nvSpPr>
        <p:spPr>
          <a:xfrm>
            <a:off x="990600" y="1645920"/>
            <a:ext cx="92354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优先级</a:t>
            </a:r>
            <a:endParaRPr lang="en-US" sz="2160" dirty="0"/>
          </a:p>
        </p:txBody>
      </p:sp>
      <p:sp>
        <p:nvSpPr>
          <p:cNvPr id="9" name="Text 2"/>
          <p:cNvSpPr/>
          <p:nvPr/>
        </p:nvSpPr>
        <p:spPr>
          <a:xfrm>
            <a:off x="2636520" y="1645920"/>
            <a:ext cx="476402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适用情形</a:t>
            </a:r>
            <a:endParaRPr lang="en-US" sz="2160" dirty="0"/>
          </a:p>
        </p:txBody>
      </p:sp>
      <p:sp>
        <p:nvSpPr>
          <p:cNvPr id="10" name="Text 3"/>
          <p:cNvSpPr/>
          <p:nvPr/>
        </p:nvSpPr>
        <p:spPr>
          <a:xfrm>
            <a:off x="8107680" y="1645920"/>
            <a:ext cx="14721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建议时限</a:t>
            </a:r>
            <a:endParaRPr lang="en-US" sz="2160" dirty="0"/>
          </a:p>
        </p:txBody>
      </p:sp>
      <p:sp>
        <p:nvSpPr>
          <p:cNvPr id="11" name="Text 4"/>
          <p:cNvSpPr/>
          <p:nvPr/>
        </p:nvSpPr>
        <p:spPr>
          <a:xfrm>
            <a:off x="10287000" y="1645920"/>
            <a:ext cx="923544" cy="411480"/>
          </a:xfrm>
          <a:prstGeom prst="rect">
            <a:avLst/>
          </a:prstGeom>
          <a:noFill/>
        </p:spPr>
        <p:txBody>
          <a:bodyPr wrap="none" lIns="0" tIns="0" rIns="0" bIns="0" rtlCol="0" anchor="t">
            <a:spAutoFit/>
          </a:bodyPr>
          <a:lstStyle/>
          <a:p>
            <a:pPr marL="0" indent="0" algn="ctr">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标记</a:t>
            </a:r>
            <a:endParaRPr lang="en-US" sz="2160" dirty="0"/>
          </a:p>
        </p:txBody>
      </p:sp>
      <p:sp>
        <p:nvSpPr>
          <p:cNvPr id="12" name="Text 5"/>
          <p:cNvSpPr/>
          <p:nvPr/>
        </p:nvSpPr>
        <p:spPr>
          <a:xfrm>
            <a:off x="990600" y="2545080"/>
            <a:ext cx="923544" cy="746760"/>
          </a:xfrm>
          <a:prstGeom prst="rect">
            <a:avLst/>
          </a:prstGeom>
          <a:noFill/>
        </p:spPr>
        <p:txBody>
          <a:bodyPr wrap="none" lIns="0" tIns="0" rIns="0" bIns="0" rtlCol="0" anchor="ctr"/>
          <a:lstStyle/>
          <a:p>
            <a:pPr marL="0" indent="0" algn="l">
              <a:lnSpc>
                <a:spcPct val="150000"/>
              </a:lnSpc>
              <a:buNone/>
            </a:pPr>
            <a:r>
              <a:rPr lang="en-US" sz="1920" b="1" dirty="0">
                <a:solidFill>
                  <a:srgbClr val="258978"/>
                </a:solidFill>
                <a:latin typeface="思源黑体 CN Bold" pitchFamily="34" charset="0"/>
                <a:ea typeface="思源黑体 CN Bold" pitchFamily="34" charset="-122"/>
                <a:cs typeface="思源黑体 CN Bold" pitchFamily="34" charset="-120"/>
              </a:rPr>
              <a:t>紧急</a:t>
            </a:r>
            <a:endParaRPr lang="en-US" sz="1920" dirty="0"/>
          </a:p>
        </p:txBody>
      </p:sp>
      <p:sp>
        <p:nvSpPr>
          <p:cNvPr id="13" name="Text 6"/>
          <p:cNvSpPr/>
          <p:nvPr/>
        </p:nvSpPr>
        <p:spPr>
          <a:xfrm>
            <a:off x="2636520" y="2545080"/>
            <a:ext cx="4764024" cy="731520"/>
          </a:xfrm>
          <a:prstGeom prst="rect">
            <a:avLst/>
          </a:prstGeom>
          <a:noFill/>
        </p:spPr>
        <p:txBody>
          <a:bodyPr wrap="square" lIns="0" tIns="0" rIns="0" bIns="0" rtlCol="0" anchor="ctr">
            <a:spAutoFit/>
          </a:bodyP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存在可直接利用的高危漏洞、核心系统无防护</a:t>
            </a:r>
            <a:endParaRPr lang="en-US" sz="1920" dirty="0"/>
          </a:p>
        </p:txBody>
      </p:sp>
      <p:sp>
        <p:nvSpPr>
          <p:cNvPr id="14" name="Text 7"/>
          <p:cNvSpPr/>
          <p:nvPr/>
        </p:nvSpPr>
        <p:spPr>
          <a:xfrm>
            <a:off x="8107680" y="2545080"/>
            <a:ext cx="1472184" cy="746760"/>
          </a:xfrm>
          <a:prstGeom prst="rect">
            <a:avLst/>
          </a:prstGeom>
          <a:noFill/>
        </p:spPr>
        <p:txBody>
          <a:bodyPr wrap="none" lIns="0" tIns="0" rIns="0" bIns="0" rtlCol="0" anchor="ctr"/>
          <a:lstStyle/>
          <a:p>
            <a:pPr marL="0" indent="0" algn="l">
              <a:lnSpc>
                <a:spcPct val="150000"/>
              </a:lnSpc>
              <a:buNone/>
            </a:pPr>
            <a:r>
              <a:rPr lang="en-US" sz="1920" b="1" dirty="0">
                <a:solidFill>
                  <a:srgbClr val="258978"/>
                </a:solidFill>
                <a:latin typeface="思源黑体 CN Bold" pitchFamily="34" charset="0"/>
                <a:ea typeface="思源黑体 CN Bold" pitchFamily="34" charset="-122"/>
                <a:cs typeface="思源黑体 CN Bold" pitchFamily="34" charset="-120"/>
              </a:rPr>
              <a:t>24-48小时</a:t>
            </a:r>
            <a:endParaRPr lang="en-US" sz="1920" dirty="0"/>
          </a:p>
        </p:txBody>
      </p:sp>
      <p:sp>
        <p:nvSpPr>
          <p:cNvPr id="15" name="Text 8"/>
          <p:cNvSpPr/>
          <p:nvPr/>
        </p:nvSpPr>
        <p:spPr>
          <a:xfrm>
            <a:off x="10287000" y="2545080"/>
            <a:ext cx="923544" cy="746760"/>
          </a:xfrm>
          <a:prstGeom prst="rect">
            <a:avLst/>
          </a:prstGeom>
          <a:noFill/>
        </p:spPr>
        <p:txBody>
          <a:bodyPr wrap="none" lIns="0" tIns="0" rIns="0" bIns="0" rtlCol="0" anchor="ctr"/>
          <a:lstStyle/>
          <a:p>
            <a:pPr marL="0" indent="0" algn="ctr">
              <a:lnSpc>
                <a:spcPct val="150000"/>
              </a:lnSpc>
              <a:buNone/>
            </a:pPr>
            <a:r>
              <a:rPr lang="en-US" sz="2640" dirty="0">
                <a:solidFill>
                  <a:srgbClr val="555555"/>
                </a:solidFill>
                <a:latin typeface="思源黑体 CN Regular" pitchFamily="34" charset="0"/>
                <a:ea typeface="思源黑体 CN Regular" pitchFamily="34" charset="-122"/>
                <a:cs typeface="思源黑体 CN Regular" pitchFamily="34" charset="-120"/>
              </a:rPr>
              <a:t>🔴</a:t>
            </a:r>
            <a:endParaRPr lang="en-US" sz="2640" dirty="0"/>
          </a:p>
        </p:txBody>
      </p:sp>
      <p:pic>
        <p:nvPicPr>
          <p:cNvPr id="16"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40" y="3520440"/>
            <a:ext cx="10942320" cy="15240"/>
          </a:xfrm>
          <a:prstGeom prst="rect">
            <a:avLst/>
          </a:prstGeom>
        </p:spPr>
      </p:pic>
      <p:pic>
        <p:nvPicPr>
          <p:cNvPr id="17" name="Image 6" descr="https://test.web.static.jianzeppt.com/ppt-temp-img3/ccc31d0ae7aa014e6bdebf04f2263577.png?x-oss-process=image/resize,w_1440,h_800,m_lfit/format,png"/>
          <p:cNvPicPr>
            <a:picLocks noChangeAspect="1"/>
          </p:cNvPicPr>
          <p:nvPr/>
        </p:nvPicPr>
        <p:blipFill>
          <a:blip r:embed="rId9"/>
          <a:stretch>
            <a:fillRect/>
          </a:stretch>
        </p:blipFill>
        <p:spPr>
          <a:xfrm>
            <a:off x="624840" y="3520440"/>
            <a:ext cx="10942320" cy="1005840"/>
          </a:xfrm>
          <a:prstGeom prst="rect">
            <a:avLst/>
          </a:prstGeom>
        </p:spPr>
      </p:pic>
      <p:sp>
        <p:nvSpPr>
          <p:cNvPr id="18" name="Text 9"/>
          <p:cNvSpPr/>
          <p:nvPr/>
        </p:nvSpPr>
        <p:spPr>
          <a:xfrm>
            <a:off x="990600" y="3764280"/>
            <a:ext cx="923544" cy="518160"/>
          </a:xfrm>
          <a:prstGeom prst="rect">
            <a:avLst/>
          </a:prstGeom>
          <a:noFill/>
        </p:spPr>
        <p:txBody>
          <a:bodyPr wrap="none" lIns="0" tIns="0" rIns="0" bIns="0" rtlCol="0" anchor="ct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高</a:t>
            </a:r>
            <a:endParaRPr lang="en-US" sz="1920" dirty="0"/>
          </a:p>
        </p:txBody>
      </p:sp>
      <p:sp>
        <p:nvSpPr>
          <p:cNvPr id="19" name="Text 10"/>
          <p:cNvSpPr/>
          <p:nvPr/>
        </p:nvSpPr>
        <p:spPr>
          <a:xfrm>
            <a:off x="2636520" y="3764280"/>
            <a:ext cx="4764024" cy="518160"/>
          </a:xfrm>
          <a:prstGeom prst="rect">
            <a:avLst/>
          </a:prstGeom>
          <a:noFill/>
        </p:spPr>
        <p:txBody>
          <a:bodyPr wrap="none" lIns="0" tIns="0" rIns="0" bIns="0" rtlCol="0" anchor="ct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重要配置缺陷、中危漏洞、核心功能缺失</a:t>
            </a:r>
            <a:endParaRPr lang="en-US" sz="1920" dirty="0"/>
          </a:p>
        </p:txBody>
      </p:sp>
      <p:sp>
        <p:nvSpPr>
          <p:cNvPr id="20" name="Text 11"/>
          <p:cNvSpPr/>
          <p:nvPr/>
        </p:nvSpPr>
        <p:spPr>
          <a:xfrm>
            <a:off x="8107680" y="3764280"/>
            <a:ext cx="1472184" cy="518160"/>
          </a:xfrm>
          <a:prstGeom prst="rect">
            <a:avLst/>
          </a:prstGeom>
          <a:noFill/>
        </p:spPr>
        <p:txBody>
          <a:bodyPr wrap="none" lIns="0" tIns="0" rIns="0" bIns="0" rtlCol="0" anchor="ct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3-7天</a:t>
            </a:r>
            <a:endParaRPr lang="en-US" sz="1920" dirty="0"/>
          </a:p>
        </p:txBody>
      </p:sp>
      <p:sp>
        <p:nvSpPr>
          <p:cNvPr id="21" name="Text 12"/>
          <p:cNvSpPr/>
          <p:nvPr/>
        </p:nvSpPr>
        <p:spPr>
          <a:xfrm>
            <a:off x="10287000" y="3764280"/>
            <a:ext cx="923544" cy="502920"/>
          </a:xfrm>
          <a:prstGeom prst="rect">
            <a:avLst/>
          </a:prstGeom>
          <a:noFill/>
        </p:spPr>
        <p:txBody>
          <a:bodyPr wrap="none" lIns="0" tIns="0" rIns="0" bIns="0" rtlCol="0" anchor="t">
            <a:spAutoFit/>
          </a:bodyPr>
          <a:lstStyle/>
          <a:p>
            <a:pPr marL="0" indent="0" algn="ctr">
              <a:lnSpc>
                <a:spcPct val="150000"/>
              </a:lnSpc>
              <a:buNone/>
            </a:pPr>
            <a:r>
              <a:rPr lang="en-US" sz="2640" dirty="0">
                <a:solidFill>
                  <a:srgbClr val="555555"/>
                </a:solidFill>
                <a:latin typeface="思源黑体 CN Regular" pitchFamily="34" charset="0"/>
                <a:ea typeface="思源黑体 CN Regular" pitchFamily="34" charset="-122"/>
                <a:cs typeface="思源黑体 CN Regular" pitchFamily="34" charset="-120"/>
              </a:rPr>
              <a:t>🟠</a:t>
            </a:r>
            <a:endParaRPr lang="en-US" sz="2640" dirty="0"/>
          </a:p>
        </p:txBody>
      </p:sp>
      <p:pic>
        <p:nvPicPr>
          <p:cNvPr id="22"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40" y="4526280"/>
            <a:ext cx="10942320" cy="15240"/>
          </a:xfrm>
          <a:prstGeom prst="rect">
            <a:avLst/>
          </a:prstGeom>
        </p:spPr>
      </p:pic>
      <p:sp>
        <p:nvSpPr>
          <p:cNvPr id="23" name="Text 13"/>
          <p:cNvSpPr/>
          <p:nvPr/>
        </p:nvSpPr>
        <p:spPr>
          <a:xfrm>
            <a:off x="990600" y="4770120"/>
            <a:ext cx="923544" cy="518160"/>
          </a:xfrm>
          <a:prstGeom prst="rect">
            <a:avLst/>
          </a:prstGeom>
          <a:noFill/>
        </p:spPr>
        <p:txBody>
          <a:bodyPr wrap="none" lIns="0" tIns="0" rIns="0" bIns="0" rtlCol="0" anchor="ctr"/>
          <a:lstStyle/>
          <a:p>
            <a:pPr marL="0" indent="0" algn="l">
              <a:lnSpc>
                <a:spcPct val="150000"/>
              </a:lnSpc>
              <a:buNone/>
            </a:pPr>
            <a:r>
              <a:rPr lang="en-US" sz="1920" b="1" dirty="0">
                <a:solidFill>
                  <a:srgbClr val="2E82D6"/>
                </a:solidFill>
                <a:latin typeface="思源黑体 CN Bold" pitchFamily="34" charset="0"/>
                <a:ea typeface="思源黑体 CN Bold" pitchFamily="34" charset="-122"/>
                <a:cs typeface="思源黑体 CN Bold" pitchFamily="34" charset="-120"/>
              </a:rPr>
              <a:t>中</a:t>
            </a:r>
            <a:endParaRPr lang="en-US" sz="1920" dirty="0"/>
          </a:p>
        </p:txBody>
      </p:sp>
      <p:sp>
        <p:nvSpPr>
          <p:cNvPr id="24" name="Text 14"/>
          <p:cNvSpPr/>
          <p:nvPr/>
        </p:nvSpPr>
        <p:spPr>
          <a:xfrm>
            <a:off x="2636520" y="4770120"/>
            <a:ext cx="4764024" cy="518160"/>
          </a:xfrm>
          <a:prstGeom prst="rect">
            <a:avLst/>
          </a:prstGeom>
          <a:noFill/>
        </p:spPr>
        <p:txBody>
          <a:bodyPr wrap="none" lIns="0" tIns="0" rIns="0" bIns="0" rtlCol="0" anchor="ct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一般配置问题、低危漏洞、管理文档缺失</a:t>
            </a:r>
            <a:endParaRPr lang="en-US" sz="1920" dirty="0"/>
          </a:p>
        </p:txBody>
      </p:sp>
      <p:sp>
        <p:nvSpPr>
          <p:cNvPr id="25" name="Text 15"/>
          <p:cNvSpPr/>
          <p:nvPr/>
        </p:nvSpPr>
        <p:spPr>
          <a:xfrm>
            <a:off x="8107680" y="4770120"/>
            <a:ext cx="1472184" cy="518160"/>
          </a:xfrm>
          <a:prstGeom prst="rect">
            <a:avLst/>
          </a:prstGeom>
          <a:noFill/>
        </p:spPr>
        <p:txBody>
          <a:bodyPr wrap="none" lIns="0" tIns="0" rIns="0" bIns="0" rtlCol="0" anchor="ctr"/>
          <a:lstStyle/>
          <a:p>
            <a:pPr marL="0" indent="0" algn="l">
              <a:lnSpc>
                <a:spcPct val="150000"/>
              </a:lnSpc>
              <a:buNone/>
            </a:pPr>
            <a:r>
              <a:rPr lang="en-US" sz="1920" b="1" dirty="0">
                <a:solidFill>
                  <a:srgbClr val="2E82D6"/>
                </a:solidFill>
                <a:latin typeface="思源黑体 CN Bold" pitchFamily="34" charset="0"/>
                <a:ea typeface="思源黑体 CN Bold" pitchFamily="34" charset="-122"/>
                <a:cs typeface="思源黑体 CN Bold" pitchFamily="34" charset="-120"/>
              </a:rPr>
              <a:t>7-30天</a:t>
            </a:r>
            <a:endParaRPr lang="en-US" sz="1920" dirty="0"/>
          </a:p>
        </p:txBody>
      </p:sp>
      <p:sp>
        <p:nvSpPr>
          <p:cNvPr id="26" name="Text 16"/>
          <p:cNvSpPr/>
          <p:nvPr/>
        </p:nvSpPr>
        <p:spPr>
          <a:xfrm>
            <a:off x="10287000" y="4770120"/>
            <a:ext cx="923544" cy="502920"/>
          </a:xfrm>
          <a:prstGeom prst="rect">
            <a:avLst/>
          </a:prstGeom>
          <a:noFill/>
        </p:spPr>
        <p:txBody>
          <a:bodyPr wrap="none" lIns="0" tIns="0" rIns="0" bIns="0" rtlCol="0" anchor="t">
            <a:spAutoFit/>
          </a:bodyPr>
          <a:lstStyle/>
          <a:p>
            <a:pPr marL="0" indent="0" algn="ctr">
              <a:lnSpc>
                <a:spcPct val="150000"/>
              </a:lnSpc>
              <a:buNone/>
            </a:pPr>
            <a:r>
              <a:rPr lang="en-US" sz="2640" dirty="0">
                <a:solidFill>
                  <a:srgbClr val="555555"/>
                </a:solidFill>
                <a:latin typeface="思源黑体 CN Regular" pitchFamily="34" charset="0"/>
                <a:ea typeface="思源黑体 CN Regular" pitchFamily="34" charset="-122"/>
                <a:cs typeface="思源黑体 CN Regular" pitchFamily="34" charset="-120"/>
              </a:rPr>
              <a:t>🟡</a:t>
            </a:r>
            <a:endParaRPr lang="en-US" sz="2640" dirty="0"/>
          </a:p>
        </p:txBody>
      </p:sp>
      <p:pic>
        <p:nvPicPr>
          <p:cNvPr id="27" name="Image 8"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840" y="5532120"/>
            <a:ext cx="10942320" cy="15240"/>
          </a:xfrm>
          <a:prstGeom prst="rect">
            <a:avLst/>
          </a:prstGeom>
        </p:spPr>
      </p:pic>
      <p:pic>
        <p:nvPicPr>
          <p:cNvPr id="28" name="Image 9" descr="https://test.web.static.jianzeppt.com/ppt-temp-img3/0438e92ca1c362a76bfeba3c2e2f45af.png?x-oss-process=image/resize,w_1440,h_800,m_lfit/format,png"/>
          <p:cNvPicPr>
            <a:picLocks noChangeAspect="1"/>
          </p:cNvPicPr>
          <p:nvPr/>
        </p:nvPicPr>
        <p:blipFill>
          <a:blip r:embed="rId10"/>
          <a:stretch>
            <a:fillRect/>
          </a:stretch>
        </p:blipFill>
        <p:spPr>
          <a:xfrm>
            <a:off x="624840" y="5532120"/>
            <a:ext cx="10942320" cy="925195"/>
          </a:xfrm>
          <a:prstGeom prst="rect">
            <a:avLst/>
          </a:prstGeom>
        </p:spPr>
      </p:pic>
      <p:sp>
        <p:nvSpPr>
          <p:cNvPr id="29" name="Text 17"/>
          <p:cNvSpPr/>
          <p:nvPr/>
        </p:nvSpPr>
        <p:spPr>
          <a:xfrm>
            <a:off x="990600" y="5775960"/>
            <a:ext cx="923544" cy="518160"/>
          </a:xfrm>
          <a:prstGeom prst="rect">
            <a:avLst/>
          </a:prstGeom>
          <a:noFill/>
        </p:spPr>
        <p:txBody>
          <a:bodyPr wrap="none" lIns="0" tIns="0" rIns="0" bIns="0" rtlCol="0" anchor="ctr"/>
          <a:lstStyle/>
          <a:p>
            <a:pPr marL="0" indent="0" algn="l">
              <a:lnSpc>
                <a:spcPct val="150000"/>
              </a:lnSpc>
              <a:buNone/>
            </a:pPr>
            <a:r>
              <a:rPr lang="en-US" sz="1920" b="1" dirty="0">
                <a:solidFill>
                  <a:srgbClr val="A13882"/>
                </a:solidFill>
                <a:latin typeface="思源黑体 CN Bold" pitchFamily="34" charset="0"/>
                <a:ea typeface="思源黑体 CN Bold" pitchFamily="34" charset="-122"/>
                <a:cs typeface="思源黑体 CN Bold" pitchFamily="34" charset="-120"/>
              </a:rPr>
              <a:t>低</a:t>
            </a:r>
            <a:endParaRPr lang="en-US" sz="1920" dirty="0"/>
          </a:p>
        </p:txBody>
      </p:sp>
      <p:sp>
        <p:nvSpPr>
          <p:cNvPr id="30" name="Text 18"/>
          <p:cNvSpPr/>
          <p:nvPr/>
        </p:nvSpPr>
        <p:spPr>
          <a:xfrm>
            <a:off x="2636520" y="5775960"/>
            <a:ext cx="4764024" cy="518160"/>
          </a:xfrm>
          <a:prstGeom prst="rect">
            <a:avLst/>
          </a:prstGeom>
          <a:noFill/>
        </p:spPr>
        <p:txBody>
          <a:bodyPr wrap="none" lIns="0" tIns="0" rIns="0" bIns="0" rtlCol="0" anchor="ctr"/>
          <a:lstStyle/>
          <a:p>
            <a:pPr marL="0" indent="0" algn="l">
              <a:lnSpc>
                <a:spcPct val="150000"/>
              </a:lnSpc>
              <a:buNone/>
            </a:pPr>
            <a:r>
              <a:rPr lang="en-US" sz="1920" dirty="0">
                <a:solidFill>
                  <a:srgbClr val="555555"/>
                </a:solidFill>
                <a:latin typeface="思源黑体 CN Regular" pitchFamily="34" charset="0"/>
                <a:ea typeface="思源黑体 CN Regular" pitchFamily="34" charset="-122"/>
                <a:cs typeface="思源黑体 CN Regular" pitchFamily="34" charset="-120"/>
              </a:rPr>
              <a:t>优化建议、非关键项</a:t>
            </a:r>
            <a:endParaRPr lang="en-US" sz="1920" dirty="0"/>
          </a:p>
        </p:txBody>
      </p:sp>
      <p:sp>
        <p:nvSpPr>
          <p:cNvPr id="31" name="Text 19"/>
          <p:cNvSpPr/>
          <p:nvPr/>
        </p:nvSpPr>
        <p:spPr>
          <a:xfrm>
            <a:off x="8107680" y="5775960"/>
            <a:ext cx="1472184" cy="518160"/>
          </a:xfrm>
          <a:prstGeom prst="rect">
            <a:avLst/>
          </a:prstGeom>
          <a:noFill/>
        </p:spPr>
        <p:txBody>
          <a:bodyPr wrap="none" lIns="0" tIns="0" rIns="0" bIns="0" rtlCol="0" anchor="ctr"/>
          <a:lstStyle/>
          <a:p>
            <a:pPr marL="0" indent="0" algn="l">
              <a:lnSpc>
                <a:spcPct val="150000"/>
              </a:lnSpc>
              <a:buNone/>
            </a:pPr>
            <a:r>
              <a:rPr lang="en-US" sz="1920" b="1" dirty="0">
                <a:solidFill>
                  <a:srgbClr val="A13882"/>
                </a:solidFill>
                <a:latin typeface="思源黑体 CN Bold" pitchFamily="34" charset="0"/>
                <a:ea typeface="思源黑体 CN Bold" pitchFamily="34" charset="-122"/>
                <a:cs typeface="思源黑体 CN Bold" pitchFamily="34" charset="-120"/>
              </a:rPr>
              <a:t>30-90天</a:t>
            </a:r>
            <a:endParaRPr lang="en-US" sz="1920" dirty="0"/>
          </a:p>
        </p:txBody>
      </p:sp>
      <p:sp>
        <p:nvSpPr>
          <p:cNvPr id="32" name="Text 20"/>
          <p:cNvSpPr/>
          <p:nvPr/>
        </p:nvSpPr>
        <p:spPr>
          <a:xfrm>
            <a:off x="10287000" y="5775960"/>
            <a:ext cx="923544" cy="502920"/>
          </a:xfrm>
          <a:prstGeom prst="rect">
            <a:avLst/>
          </a:prstGeom>
          <a:noFill/>
        </p:spPr>
        <p:txBody>
          <a:bodyPr wrap="none" lIns="0" tIns="0" rIns="0" bIns="0" rtlCol="0" anchor="t">
            <a:spAutoFit/>
          </a:bodyPr>
          <a:lstStyle/>
          <a:p>
            <a:pPr marL="0" indent="0" algn="ctr">
              <a:lnSpc>
                <a:spcPct val="150000"/>
              </a:lnSpc>
              <a:buNone/>
            </a:pPr>
            <a:r>
              <a:rPr lang="en-US" sz="2640" dirty="0">
                <a:solidFill>
                  <a:srgbClr val="555555"/>
                </a:solidFill>
                <a:latin typeface="思源黑体 CN Regular" pitchFamily="34" charset="0"/>
                <a:ea typeface="思源黑体 CN Regular" pitchFamily="34" charset="-122"/>
                <a:cs typeface="思源黑体 CN Regular" pitchFamily="34" charset="-120"/>
              </a:rPr>
              <a:t>🟢</a:t>
            </a:r>
            <a:endParaRPr lang="en-US" sz="26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609600"/>
            <a:ext cx="10981944" cy="480060"/>
          </a:xfrm>
          <a:prstGeom prst="rect">
            <a:avLst/>
          </a:prstGeom>
          <a:noFill/>
        </p:spPr>
        <p:txBody>
          <a:bodyPr wrap="none" lIns="0" tIns="0" rIns="0" bIns="0" rtlCol="0" anchor="t">
            <a:spAutoFit/>
          </a:bodyPr>
          <a:lstStyle/>
          <a:p>
            <a:pPr marL="0" indent="0" algn="l">
              <a:lnSpc>
                <a:spcPct val="100000"/>
              </a:lnSpc>
              <a:buNone/>
            </a:pPr>
            <a:r>
              <a:rPr lang="en-US" sz="2520" dirty="0">
                <a:solidFill>
                  <a:srgbClr val="000000"/>
                </a:solidFill>
                <a:latin typeface="思源黑体 CN Bold" pitchFamily="34" charset="0"/>
                <a:ea typeface="思源黑体 CN Bold" pitchFamily="34" charset="-122"/>
                <a:cs typeface="思源黑体 CN Bold" pitchFamily="34" charset="-120"/>
              </a:rPr>
              <a:t>实践任务——编制完整等保测评报告（45分钟）</a:t>
            </a:r>
            <a:endParaRPr lang="en-US" sz="252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9600" y="4998720"/>
            <a:ext cx="365760" cy="365760"/>
          </a:xfrm>
          <a:prstGeom prst="rect">
            <a:avLst/>
          </a:prstGeom>
        </p:spPr>
      </p:pic>
      <p:pic>
        <p:nvPicPr>
          <p:cNvPr id="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800" y="5074920"/>
            <a:ext cx="213360" cy="213360"/>
          </a:xfrm>
          <a:prstGeom prst="rect">
            <a:avLst/>
          </a:prstGeom>
        </p:spPr>
      </p:pic>
      <p:sp>
        <p:nvSpPr>
          <p:cNvPr id="5" name="Text 1"/>
          <p:cNvSpPr/>
          <p:nvPr/>
        </p:nvSpPr>
        <p:spPr>
          <a:xfrm>
            <a:off x="1097280" y="4953000"/>
            <a:ext cx="1837944" cy="457200"/>
          </a:xfrm>
          <a:prstGeom prst="rect">
            <a:avLst/>
          </a:prstGeom>
          <a:noFill/>
        </p:spPr>
        <p:txBody>
          <a:bodyPr wrap="none" lIns="0" tIns="0" rIns="0" bIns="0" rtlCol="0" anchor="t">
            <a:spAutoFit/>
          </a:bodyPr>
          <a:lstStyle/>
          <a:p>
            <a:pPr marL="0" indent="0" algn="l">
              <a:lnSpc>
                <a:spcPct val="150000"/>
              </a:lnSpc>
              <a:buNone/>
            </a:pPr>
            <a:r>
              <a:rPr lang="en-US" sz="2400" dirty="0">
                <a:solidFill>
                  <a:srgbClr val="000000"/>
                </a:solidFill>
                <a:latin typeface="思源黑体 CN Bold" pitchFamily="34" charset="0"/>
                <a:ea typeface="思源黑体 CN Bold" pitchFamily="34" charset="-122"/>
                <a:cs typeface="思源黑体 CN Bold" pitchFamily="34" charset="-120"/>
              </a:rPr>
              <a:t>提供的素材：</a:t>
            </a:r>
            <a:endParaRPr lang="en-US" sz="2400" dirty="0"/>
          </a:p>
        </p:txBody>
      </p:sp>
      <p:pic>
        <p:nvPicPr>
          <p:cNvPr id="6"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600" y="5593080"/>
            <a:ext cx="3505200" cy="975360"/>
          </a:xfrm>
          <a:prstGeom prst="rect">
            <a:avLst/>
          </a:prstGeom>
          <a:effectLst>
            <a:outerShdw blurRad="387096000" dist="193548000" dir="-1" algn="bl" rotWithShape="0">
              <a:srgbClr val="000000">
                <a:alpha val="500000000"/>
              </a:srgbClr>
            </a:outerShdw>
          </a:effectLst>
        </p:spPr>
      </p:pic>
      <p:sp>
        <p:nvSpPr>
          <p:cNvPr id="7" name="Text 2"/>
          <p:cNvSpPr/>
          <p:nvPr/>
        </p:nvSpPr>
        <p:spPr>
          <a:xfrm>
            <a:off x="807720" y="5791200"/>
            <a:ext cx="26060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000000"/>
                </a:solidFill>
                <a:latin typeface="思源黑体 CN Bold" pitchFamily="34" charset="0"/>
                <a:ea typeface="思源黑体 CN Bold" pitchFamily="34" charset="-122"/>
                <a:cs typeface="思源黑体 CN Bold" pitchFamily="34" charset="-120"/>
              </a:rPr>
              <a:t>1.</a:t>
            </a:r>
            <a:endParaRPr lang="en-US" sz="2160" dirty="0"/>
          </a:p>
        </p:txBody>
      </p:sp>
      <p:sp>
        <p:nvSpPr>
          <p:cNvPr id="8" name="Text 3"/>
          <p:cNvSpPr/>
          <p:nvPr/>
        </p:nvSpPr>
        <p:spPr>
          <a:xfrm>
            <a:off x="1158240" y="5791200"/>
            <a:ext cx="2813304" cy="304800"/>
          </a:xfrm>
          <a:prstGeom prst="rect">
            <a:avLst/>
          </a:prstGeom>
          <a:noFill/>
        </p:spPr>
        <p:txBody>
          <a:bodyPr wrap="none" lIns="0" tIns="0" rIns="0" bIns="0" rtlCol="0" anchor="t">
            <a:spAutoFit/>
          </a:bodyPr>
          <a:lstStyle/>
          <a:p>
            <a:pPr marL="0" indent="0" algn="l">
              <a:lnSpc>
                <a:spcPct val="125000"/>
              </a:lnSpc>
              <a:buNone/>
            </a:pPr>
            <a:r>
              <a:rPr lang="en-US" sz="1920" dirty="0">
                <a:solidFill>
                  <a:srgbClr val="514337"/>
                </a:solidFill>
                <a:latin typeface="思源黑体 CN Regular" pitchFamily="34" charset="0"/>
                <a:ea typeface="思源黑体 CN Regular" pitchFamily="34" charset="-122"/>
                <a:cs typeface="思源黑体 CN Regular" pitchFamily="34" charset="-120"/>
              </a:rPr>
              <a:t>测评报告模板（Word版）</a:t>
            </a:r>
            <a:endParaRPr lang="en-US" sz="1920" dirty="0"/>
          </a:p>
        </p:txBody>
      </p:sp>
      <p:pic>
        <p:nvPicPr>
          <p:cNvPr id="9"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3400" y="5593080"/>
            <a:ext cx="3505200" cy="975360"/>
          </a:xfrm>
          <a:prstGeom prst="rect">
            <a:avLst/>
          </a:prstGeom>
          <a:effectLst>
            <a:outerShdw blurRad="387096000" dist="193548000" dir="-1" algn="bl" rotWithShape="0">
              <a:srgbClr val="000000">
                <a:alpha val="500000000"/>
              </a:srgbClr>
            </a:outerShdw>
          </a:effectLst>
        </p:spPr>
      </p:pic>
      <p:sp>
        <p:nvSpPr>
          <p:cNvPr id="10" name="Text 4"/>
          <p:cNvSpPr/>
          <p:nvPr/>
        </p:nvSpPr>
        <p:spPr>
          <a:xfrm>
            <a:off x="4541520" y="5791200"/>
            <a:ext cx="26060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000000"/>
                </a:solidFill>
                <a:latin typeface="思源黑体 CN Bold" pitchFamily="34" charset="0"/>
                <a:ea typeface="思源黑体 CN Bold" pitchFamily="34" charset="-122"/>
                <a:cs typeface="思源黑体 CN Bold" pitchFamily="34" charset="-120"/>
              </a:rPr>
              <a:t>2.</a:t>
            </a:r>
            <a:endParaRPr lang="en-US" sz="2160" dirty="0"/>
          </a:p>
        </p:txBody>
      </p:sp>
      <p:sp>
        <p:nvSpPr>
          <p:cNvPr id="11" name="Text 5"/>
          <p:cNvSpPr/>
          <p:nvPr/>
        </p:nvSpPr>
        <p:spPr>
          <a:xfrm>
            <a:off x="4892040" y="5791200"/>
            <a:ext cx="2767584" cy="609600"/>
          </a:xfrm>
          <a:prstGeom prst="rect">
            <a:avLst/>
          </a:prstGeom>
          <a:noFill/>
        </p:spPr>
        <p:txBody>
          <a:bodyPr wrap="square" lIns="0" tIns="0" rIns="0" bIns="0" rtlCol="0" anchor="ctr">
            <a:spAutoFit/>
          </a:bodyPr>
          <a:lstStyle/>
          <a:p>
            <a:pPr marL="0" indent="0" algn="l">
              <a:lnSpc>
                <a:spcPct val="125000"/>
              </a:lnSpc>
              <a:buNone/>
            </a:pPr>
            <a:r>
              <a:rPr lang="en-US" sz="1920" dirty="0">
                <a:solidFill>
                  <a:srgbClr val="514337"/>
                </a:solidFill>
                <a:latin typeface="思源黑体 CN Regular" pitchFamily="34" charset="0"/>
                <a:ea typeface="思源黑体 CN Regular" pitchFamily="34" charset="-122"/>
                <a:cs typeface="思源黑体 CN Regular" pitchFamily="34" charset="-120"/>
              </a:rPr>
              <a:t>前序项目全部测评记录表（模拟数据）</a:t>
            </a:r>
            <a:endParaRPr lang="en-US" sz="1920" dirty="0"/>
          </a:p>
        </p:txBody>
      </p:sp>
      <p:pic>
        <p:nvPicPr>
          <p:cNvPr id="12"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2440" y="5593080"/>
            <a:ext cx="3505200" cy="975360"/>
          </a:xfrm>
          <a:prstGeom prst="rect">
            <a:avLst/>
          </a:prstGeom>
          <a:effectLst>
            <a:outerShdw blurRad="387096000" dist="193548000" dir="-1" algn="bl" rotWithShape="0">
              <a:srgbClr val="000000">
                <a:alpha val="500000000"/>
              </a:srgbClr>
            </a:outerShdw>
          </a:effectLst>
        </p:spPr>
      </p:pic>
      <p:sp>
        <p:nvSpPr>
          <p:cNvPr id="13" name="Text 6"/>
          <p:cNvSpPr/>
          <p:nvPr/>
        </p:nvSpPr>
        <p:spPr>
          <a:xfrm>
            <a:off x="8290560" y="5791200"/>
            <a:ext cx="26060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000000"/>
                </a:solidFill>
                <a:latin typeface="思源黑体 CN Bold" pitchFamily="34" charset="0"/>
                <a:ea typeface="思源黑体 CN Bold" pitchFamily="34" charset="-122"/>
                <a:cs typeface="思源黑体 CN Bold" pitchFamily="34" charset="-120"/>
              </a:rPr>
              <a:t>3.</a:t>
            </a:r>
            <a:endParaRPr lang="en-US" sz="2160" dirty="0"/>
          </a:p>
        </p:txBody>
      </p:sp>
      <p:sp>
        <p:nvSpPr>
          <p:cNvPr id="14" name="Text 7"/>
          <p:cNvSpPr/>
          <p:nvPr/>
        </p:nvSpPr>
        <p:spPr>
          <a:xfrm>
            <a:off x="8641080" y="5791200"/>
            <a:ext cx="2767584" cy="609600"/>
          </a:xfrm>
          <a:prstGeom prst="rect">
            <a:avLst/>
          </a:prstGeom>
          <a:noFill/>
        </p:spPr>
        <p:txBody>
          <a:bodyPr wrap="square" lIns="0" tIns="0" rIns="0" bIns="0" rtlCol="0" anchor="ctr">
            <a:spAutoFit/>
          </a:bodyPr>
          <a:lstStyle/>
          <a:p>
            <a:pPr marL="0" indent="0" algn="l">
              <a:lnSpc>
                <a:spcPct val="125000"/>
              </a:lnSpc>
              <a:buNone/>
            </a:pPr>
            <a:r>
              <a:rPr lang="en-US" sz="1920" dirty="0">
                <a:solidFill>
                  <a:srgbClr val="514337"/>
                </a:solidFill>
                <a:latin typeface="思源黑体 CN Regular" pitchFamily="34" charset="0"/>
                <a:ea typeface="思源黑体 CN Regular" pitchFamily="34" charset="-122"/>
                <a:cs typeface="思源黑体 CN Regular" pitchFamily="34" charset="-120"/>
              </a:rPr>
              <a:t>测评方案（含系统基本信息）</a:t>
            </a:r>
            <a:endParaRPr lang="en-US" sz="1920" dirty="0"/>
          </a:p>
        </p:txBody>
      </p:sp>
      <p:pic>
        <p:nvPicPr>
          <p:cNvPr id="15" name="Image 5" descr="https://test.web.static.jianzeppt.com/ppt-temp-img3/6f8a7dd0e57d0aa9398c29129347de58.png?x-oss-process=image/resize,w_1440,h_800,m_lfit/format,png"/>
          <p:cNvPicPr>
            <a:picLocks noChangeAspect="1"/>
          </p:cNvPicPr>
          <p:nvPr/>
        </p:nvPicPr>
        <p:blipFill>
          <a:blip r:embed="rId7"/>
          <a:stretch>
            <a:fillRect/>
          </a:stretch>
        </p:blipFill>
        <p:spPr>
          <a:xfrm>
            <a:off x="609600" y="4663135"/>
            <a:ext cx="10972800" cy="30480"/>
          </a:xfrm>
          <a:prstGeom prst="rect">
            <a:avLst/>
          </a:prstGeom>
        </p:spPr>
      </p:pic>
      <p:graphicFrame>
        <p:nvGraphicFramePr>
          <p:cNvPr id="18" name="Table 0"/>
          <p:cNvGraphicFramePr>
            <a:graphicFrameLocks noGrp="1"/>
          </p:cNvGraphicFramePr>
          <p:nvPr/>
        </p:nvGraphicFramePr>
        <p:xfrm>
          <a:off x="609600" y="1280160"/>
          <a:ext cx="10972800" cy="2941320"/>
        </p:xfrm>
        <a:graphic>
          <a:graphicData uri="http://schemas.openxmlformats.org/drawingml/2006/table">
            <a:tbl>
              <a:tblPr/>
              <a:tblGrid>
                <a:gridCol w="1187450"/>
                <a:gridCol w="9785350"/>
              </a:tblGrid>
              <a:tr h="735330">
                <a:tc>
                  <a:txBody>
                    <a:bodyPr/>
                    <a:lstStyle/>
                    <a:p>
                      <a:pPr marL="0" indent="0" algn="ctr">
                        <a:buNone/>
                      </a:pPr>
                      <a:r>
                        <a:rPr lang="en-US" sz="1800" b="1" dirty="0">
                          <a:solidFill>
                            <a:srgbClr val="000000"/>
                          </a:solidFill>
                        </a:rPr>
                        <a:t>要素</a:t>
                      </a:r>
                      <a:endParaRPr lang="en-US" sz="18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000000"/>
                          </a:solidFill>
                        </a:rPr>
                        <a:t>内容</a:t>
                      </a:r>
                      <a:endParaRPr lang="en-US" sz="18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35330">
                <a:tc>
                  <a:txBody>
                    <a:bodyPr/>
                    <a:lstStyle/>
                    <a:p>
                      <a:pPr marL="0" indent="0" algn="ctr">
                        <a:buNone/>
                      </a:pPr>
                      <a:r>
                        <a:rPr lang="en-US" sz="1800" dirty="0">
                          <a:solidFill>
                            <a:srgbClr val="000000"/>
                          </a:solidFill>
                        </a:rPr>
                        <a:t>任务名称</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依据前序项目材料编制一份完整的等保测评报告</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35330">
                <a:tc>
                  <a:txBody>
                    <a:bodyPr/>
                    <a:lstStyle/>
                    <a:p>
                      <a:pPr marL="0" indent="0" algn="ctr">
                        <a:buNone/>
                      </a:pPr>
                      <a:r>
                        <a:rPr lang="en-US" sz="1800" dirty="0">
                          <a:solidFill>
                            <a:srgbClr val="000000"/>
                          </a:solidFill>
                        </a:rPr>
                        <a:t>任务场景</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教师提供前序项目的全部测评记录（模拟数据）</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35330">
                <a:tc>
                  <a:txBody>
                    <a:bodyPr/>
                    <a:lstStyle/>
                    <a:p>
                      <a:pPr marL="0" indent="0" algn="ctr">
                        <a:buNone/>
                      </a:pPr>
                      <a:r>
                        <a:rPr lang="en-US" sz="1800" dirty="0">
                          <a:solidFill>
                            <a:srgbClr val="000000"/>
                          </a:solidFill>
                        </a:rPr>
                        <a:t>任务内容</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rPr>
                        <a:t>依据报告模板编制完整报告逐项填写单项测评结论形成系统整体测评结论撰写整改建议自查格式规范</a:t>
                      </a:r>
                      <a:endParaRPr lang="en-US" sz="18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16" name="对象 15">
            <a:hlinkClick r:id="" action="ppaction://ole?verb="/>
          </p:cNvPr>
          <p:cNvGraphicFramePr>
            <a:graphicFrameLocks noChangeAspect="1"/>
          </p:cNvGraphicFramePr>
          <p:nvPr/>
        </p:nvGraphicFramePr>
        <p:xfrm>
          <a:off x="5610225" y="4889500"/>
          <a:ext cx="971550" cy="666750"/>
        </p:xfrm>
        <a:graphic>
          <a:graphicData uri="http://schemas.openxmlformats.org/presentationml/2006/ole">
            <mc:AlternateContent xmlns:mc="http://schemas.openxmlformats.org/markup-compatibility/2006">
              <mc:Choice xmlns:v="urn:schemas-microsoft-com:vml" Requires="v">
                <p:oleObj spid="_x0000_s2049" name="" showAsIcon="1" r:id="rId8" imgW="971550" imgH="666750" progId="Word.Document.12">
                  <p:embed/>
                </p:oleObj>
              </mc:Choice>
              <mc:Fallback>
                <p:oleObj name="" showAsIcon="1" r:id="rId8" imgW="971550" imgH="666750" progId="Word.Document.12">
                  <p:embed/>
                  <p:pic>
                    <p:nvPicPr>
                      <p:cNvPr id="0" name="图片 2048"/>
                      <p:cNvPicPr/>
                      <p:nvPr/>
                    </p:nvPicPr>
                    <p:blipFill>
                      <a:blip r:embed="rId9"/>
                      <a:stretch>
                        <a:fillRect/>
                      </a:stretch>
                    </p:blipFill>
                    <p:spPr>
                      <a:xfrm>
                        <a:off x="5610225" y="4889500"/>
                        <a:ext cx="971550" cy="66675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9359265" y="4909185"/>
          <a:ext cx="971550" cy="666750"/>
        </p:xfrm>
        <a:graphic>
          <a:graphicData uri="http://schemas.openxmlformats.org/presentationml/2006/ole">
            <mc:AlternateContent xmlns:mc="http://schemas.openxmlformats.org/markup-compatibility/2006">
              <mc:Choice xmlns:v="urn:schemas-microsoft-com:vml" Requires="v">
                <p:oleObj spid="_x0000_s2050" name="" showAsIcon="1" r:id="rId10" imgW="971550" imgH="666750" progId="Word.Document.12">
                  <p:embed/>
                </p:oleObj>
              </mc:Choice>
              <mc:Fallback>
                <p:oleObj name="" showAsIcon="1" r:id="rId10" imgW="971550" imgH="666750" progId="Word.Document.12">
                  <p:embed/>
                  <p:pic>
                    <p:nvPicPr>
                      <p:cNvPr id="0" name="图片 2049"/>
                      <p:cNvPicPr/>
                      <p:nvPr/>
                    </p:nvPicPr>
                    <p:blipFill>
                      <a:blip r:embed="rId11"/>
                      <a:stretch>
                        <a:fillRect/>
                      </a:stretch>
                    </p:blipFill>
                    <p:spPr>
                      <a:xfrm>
                        <a:off x="9359265" y="4909185"/>
                        <a:ext cx="971550" cy="666750"/>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实践任务——报告编制自查清单</a:t>
            </a:r>
            <a:endParaRPr lang="en-US" sz="2760" dirty="0"/>
          </a:p>
        </p:txBody>
      </p:sp>
      <p:sp>
        <p:nvSpPr>
          <p:cNvPr id="6" name="Text 1"/>
          <p:cNvSpPr/>
          <p:nvPr/>
        </p:nvSpPr>
        <p:spPr>
          <a:xfrm>
            <a:off x="609600" y="1371600"/>
            <a:ext cx="220370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666666"/>
                </a:solidFill>
                <a:latin typeface="思源黑体 CN Regular" pitchFamily="34" charset="0"/>
                <a:ea typeface="思源黑体 CN Regular" pitchFamily="34" charset="-122"/>
                <a:cs typeface="思源黑体 CN Regular" pitchFamily="34" charset="-120"/>
              </a:rPr>
              <a:t>提交前逐项自查：</a:t>
            </a:r>
            <a:endParaRPr lang="en-US" sz="156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920240"/>
            <a:ext cx="10972800" cy="4533900"/>
          </a:xfrm>
          <a:prstGeom prst="rect">
            <a:avLst/>
          </a:prstGeom>
          <a:effectLst>
            <a:outerShdw blurRad="387096000" dist="193548000" dir="-1" algn="bl" rotWithShape="0">
              <a:srgbClr val="000000">
                <a:alpha val="500000000"/>
              </a:srgbClr>
            </a:outerShdw>
          </a:effectLst>
        </p:spPr>
      </p:pic>
      <p:pic>
        <p:nvPicPr>
          <p:cNvPr id="8" name="Image 4" descr="https://test.web.static.jianzeppt.com/ppt-temp-img3/13bd37cd94e6fab83bcf32e1d9fe244b.png?x-oss-process=image/resize,w_1440,h_800,m_lfit/format,png"/>
          <p:cNvPicPr>
            <a:picLocks noChangeAspect="1"/>
          </p:cNvPicPr>
          <p:nvPr/>
        </p:nvPicPr>
        <p:blipFill>
          <a:blip r:embed="rId6"/>
          <a:stretch>
            <a:fillRect/>
          </a:stretch>
        </p:blipFill>
        <p:spPr>
          <a:xfrm>
            <a:off x="624840" y="1935480"/>
            <a:ext cx="10942320" cy="777240"/>
          </a:xfrm>
          <a:prstGeom prst="rect">
            <a:avLst/>
          </a:prstGeom>
        </p:spPr>
      </p:pic>
      <p:sp>
        <p:nvSpPr>
          <p:cNvPr id="9" name="Text 2"/>
          <p:cNvSpPr/>
          <p:nvPr/>
        </p:nvSpPr>
        <p:spPr>
          <a:xfrm>
            <a:off x="990600" y="2118360"/>
            <a:ext cx="875690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检查项</a:t>
            </a:r>
            <a:endParaRPr lang="en-US" sz="2160" dirty="0"/>
          </a:p>
        </p:txBody>
      </p:sp>
      <p:sp>
        <p:nvSpPr>
          <p:cNvPr id="10" name="Text 3"/>
          <p:cNvSpPr/>
          <p:nvPr/>
        </p:nvSpPr>
        <p:spPr>
          <a:xfrm>
            <a:off x="9738360" y="2118360"/>
            <a:ext cx="1472184" cy="411480"/>
          </a:xfrm>
          <a:prstGeom prst="rect">
            <a:avLst/>
          </a:prstGeom>
          <a:noFill/>
        </p:spPr>
        <p:txBody>
          <a:bodyPr wrap="none" lIns="0" tIns="0" rIns="0" bIns="0" rtlCol="0" anchor="t">
            <a:spAutoFit/>
          </a:bodyPr>
          <a:lstStyle/>
          <a:p>
            <a:pPr marL="0" indent="0" algn="ctr">
              <a:lnSpc>
                <a:spcPct val="15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是/否</a:t>
            </a:r>
            <a:endParaRPr lang="en-US" sz="2160" dirty="0"/>
          </a:p>
        </p:txBody>
      </p:sp>
      <p:sp>
        <p:nvSpPr>
          <p:cNvPr id="11" name="Text 4"/>
          <p:cNvSpPr/>
          <p:nvPr/>
        </p:nvSpPr>
        <p:spPr>
          <a:xfrm>
            <a:off x="990600" y="2834640"/>
            <a:ext cx="87569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333333"/>
                </a:solidFill>
                <a:latin typeface="思源黑体 CN Regular" pitchFamily="34" charset="0"/>
                <a:ea typeface="思源黑体 CN Regular" pitchFamily="34" charset="-122"/>
                <a:cs typeface="思源黑体 CN Regular" pitchFamily="34" charset="-120"/>
              </a:rPr>
              <a:t>封面信息完整（项目名称、日期、版本）</a:t>
            </a:r>
            <a:endParaRPr lang="en-US" sz="1920" dirty="0"/>
          </a:p>
        </p:txBody>
      </p:sp>
      <p:pic>
        <p:nvPicPr>
          <p:cNvPr id="12"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2834640"/>
            <a:ext cx="365760" cy="365760"/>
          </a:xfrm>
          <a:prstGeom prst="rect">
            <a:avLst/>
          </a:prstGeom>
        </p:spPr>
      </p:pic>
      <p:pic>
        <p:nvPicPr>
          <p:cNvPr id="13"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4840" y="3329940"/>
            <a:ext cx="10942320" cy="15240"/>
          </a:xfrm>
          <a:prstGeom prst="rect">
            <a:avLst/>
          </a:prstGeom>
        </p:spPr>
      </p:pic>
      <p:sp>
        <p:nvSpPr>
          <p:cNvPr id="14" name="Text 5"/>
          <p:cNvSpPr/>
          <p:nvPr/>
        </p:nvSpPr>
        <p:spPr>
          <a:xfrm>
            <a:off x="990600" y="3459480"/>
            <a:ext cx="87569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333333"/>
                </a:solidFill>
                <a:latin typeface="思源黑体 CN Regular" pitchFamily="34" charset="0"/>
                <a:ea typeface="思源黑体 CN Regular" pitchFamily="34" charset="-122"/>
                <a:cs typeface="思源黑体 CN Regular" pitchFamily="34" charset="-120"/>
              </a:rPr>
              <a:t>目录自动生成、页码准确</a:t>
            </a:r>
            <a:endParaRPr lang="en-US" sz="1920" dirty="0"/>
          </a:p>
        </p:txBody>
      </p:sp>
      <p:pic>
        <p:nvPicPr>
          <p:cNvPr id="15"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3459480"/>
            <a:ext cx="365760" cy="365760"/>
          </a:xfrm>
          <a:prstGeom prst="rect">
            <a:avLst/>
          </a:prstGeom>
        </p:spPr>
      </p:pic>
      <p:pic>
        <p:nvPicPr>
          <p:cNvPr id="16"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4840" y="3954780"/>
            <a:ext cx="10942320" cy="15240"/>
          </a:xfrm>
          <a:prstGeom prst="rect">
            <a:avLst/>
          </a:prstGeom>
        </p:spPr>
      </p:pic>
      <p:sp>
        <p:nvSpPr>
          <p:cNvPr id="17" name="Text 6"/>
          <p:cNvSpPr/>
          <p:nvPr/>
        </p:nvSpPr>
        <p:spPr>
          <a:xfrm>
            <a:off x="990600" y="4084320"/>
            <a:ext cx="87569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333333"/>
                </a:solidFill>
                <a:latin typeface="思源黑体 CN Regular" pitchFamily="34" charset="0"/>
                <a:ea typeface="思源黑体 CN Regular" pitchFamily="34" charset="-122"/>
                <a:cs typeface="思源黑体 CN Regular" pitchFamily="34" charset="-120"/>
              </a:rPr>
              <a:t>项目概述包含背景、目的、依据</a:t>
            </a:r>
            <a:endParaRPr lang="en-US" sz="1920" dirty="0"/>
          </a:p>
        </p:txBody>
      </p:sp>
      <p:pic>
        <p:nvPicPr>
          <p:cNvPr id="18" name="Image 9"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4084320"/>
            <a:ext cx="365760" cy="365760"/>
          </a:xfrm>
          <a:prstGeom prst="rect">
            <a:avLst/>
          </a:prstGeom>
        </p:spPr>
      </p:pic>
      <p:pic>
        <p:nvPicPr>
          <p:cNvPr id="19" name="Image 10"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4840" y="4579620"/>
            <a:ext cx="10942320" cy="15240"/>
          </a:xfrm>
          <a:prstGeom prst="rect">
            <a:avLst/>
          </a:prstGeom>
        </p:spPr>
      </p:pic>
      <p:sp>
        <p:nvSpPr>
          <p:cNvPr id="20" name="Text 7"/>
          <p:cNvSpPr/>
          <p:nvPr/>
        </p:nvSpPr>
        <p:spPr>
          <a:xfrm>
            <a:off x="990600" y="4709160"/>
            <a:ext cx="87569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333333"/>
                </a:solidFill>
                <a:latin typeface="思源黑体 CN Regular" pitchFamily="34" charset="0"/>
                <a:ea typeface="思源黑体 CN Regular" pitchFamily="34" charset="-122"/>
                <a:cs typeface="思源黑体 CN Regular" pitchFamily="34" charset="-120"/>
              </a:rPr>
              <a:t>所有测评记录已填入单项结论</a:t>
            </a:r>
            <a:endParaRPr lang="en-US" sz="1920" dirty="0"/>
          </a:p>
        </p:txBody>
      </p:sp>
      <p:pic>
        <p:nvPicPr>
          <p:cNvPr id="21" name="Image 11"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4709160"/>
            <a:ext cx="365760" cy="365760"/>
          </a:xfrm>
          <a:prstGeom prst="rect">
            <a:avLst/>
          </a:prstGeom>
        </p:spPr>
      </p:pic>
      <p:pic>
        <p:nvPicPr>
          <p:cNvPr id="22" name="Image 12"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4840" y="5204460"/>
            <a:ext cx="10942320" cy="15240"/>
          </a:xfrm>
          <a:prstGeom prst="rect">
            <a:avLst/>
          </a:prstGeom>
        </p:spPr>
      </p:pic>
      <p:sp>
        <p:nvSpPr>
          <p:cNvPr id="23" name="Text 8"/>
          <p:cNvSpPr/>
          <p:nvPr/>
        </p:nvSpPr>
        <p:spPr>
          <a:xfrm>
            <a:off x="990600" y="5334000"/>
            <a:ext cx="87569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333333"/>
                </a:solidFill>
                <a:latin typeface="思源黑体 CN Regular" pitchFamily="34" charset="0"/>
                <a:ea typeface="思源黑体 CN Regular" pitchFamily="34" charset="-122"/>
                <a:cs typeface="思源黑体 CN Regular" pitchFamily="34" charset="-120"/>
              </a:rPr>
              <a:t>单项结论判定有标准依据</a:t>
            </a:r>
            <a:endParaRPr lang="en-US" sz="1920" dirty="0"/>
          </a:p>
        </p:txBody>
      </p:sp>
      <p:pic>
        <p:nvPicPr>
          <p:cNvPr id="24" name="Image 1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5334000"/>
            <a:ext cx="365760" cy="365760"/>
          </a:xfrm>
          <a:prstGeom prst="rect">
            <a:avLst/>
          </a:prstGeom>
        </p:spPr>
      </p:pic>
      <p:pic>
        <p:nvPicPr>
          <p:cNvPr id="25" name="Image 1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4840" y="5829300"/>
            <a:ext cx="10942320" cy="15240"/>
          </a:xfrm>
          <a:prstGeom prst="rect">
            <a:avLst/>
          </a:prstGeom>
        </p:spPr>
      </p:pic>
      <p:sp>
        <p:nvSpPr>
          <p:cNvPr id="26" name="Text 9"/>
          <p:cNvSpPr/>
          <p:nvPr/>
        </p:nvSpPr>
        <p:spPr>
          <a:xfrm>
            <a:off x="990600" y="5958840"/>
            <a:ext cx="875690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333333"/>
                </a:solidFill>
                <a:latin typeface="思源黑体 CN Regular" pitchFamily="34" charset="0"/>
                <a:ea typeface="思源黑体 CN Regular" pitchFamily="34" charset="-122"/>
                <a:cs typeface="思源黑体 CN Regular" pitchFamily="34" charset="-120"/>
              </a:rPr>
              <a:t>整体结论客观、有数据支撑</a:t>
            </a:r>
            <a:endParaRPr lang="en-US" sz="1920" dirty="0"/>
          </a:p>
        </p:txBody>
      </p:sp>
      <p:pic>
        <p:nvPicPr>
          <p:cNvPr id="27" name="Image 1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0" y="5958840"/>
            <a:ext cx="365760" cy="365760"/>
          </a:xfrm>
          <a:prstGeom prst="rect">
            <a:avLst/>
          </a:prstGeom>
        </p:spPr>
      </p:pic>
      <p:pic>
        <p:nvPicPr>
          <p:cNvPr id="28" name="Image 16" descr="https://test.web.static.jianzeppt.com/ppt-temp-img3/474bf41452cd7ad09cc1601b0b4bc3ce.png?x-oss-process=image/resize,w_1440,h_800,m_lfit/format,png"/>
          <p:cNvPicPr>
            <a:picLocks noChangeAspect="1"/>
          </p:cNvPicPr>
          <p:nvPr/>
        </p:nvPicPr>
        <p:blipFill>
          <a:blip r:embed="rId11"/>
          <a:stretch>
            <a:fillRect/>
          </a:stretch>
        </p:blipFill>
        <p:spPr>
          <a:xfrm flipV="1">
            <a:off x="624840" y="6327775"/>
            <a:ext cx="10942320" cy="1263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思政融入——测评报告中的职业品格</a:t>
            </a:r>
            <a:endParaRPr lang="en-US" sz="2760" dirty="0"/>
          </a:p>
        </p:txBody>
      </p:sp>
      <p:sp>
        <p:nvSpPr>
          <p:cNvPr id="6" name="Text 1"/>
          <p:cNvSpPr/>
          <p:nvPr/>
        </p:nvSpPr>
        <p:spPr>
          <a:xfrm>
            <a:off x="609600" y="1371600"/>
            <a:ext cx="109819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555555"/>
                </a:solidFill>
              </a:rPr>
              <a:t>一份测评报告，就是测评师的一张“职业名片”。</a:t>
            </a:r>
            <a:endParaRPr lang="en-US" sz="216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2026920"/>
            <a:ext cx="3505200" cy="3337560"/>
          </a:xfrm>
          <a:prstGeom prst="rect">
            <a:avLst/>
          </a:prstGeom>
          <a:effectLst>
            <a:outerShdw blurRad="387096000" dist="193548000" dir="-1" algn="bl" rotWithShape="0">
              <a:srgbClr val="000000">
                <a:alpha val="500000000"/>
              </a:srgbClr>
            </a:outerShdw>
          </a:effectLst>
        </p:spPr>
      </p:pic>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96440" y="2346960"/>
            <a:ext cx="731520" cy="502920"/>
          </a:xfrm>
          <a:prstGeom prst="rect">
            <a:avLst/>
          </a:prstGeom>
        </p:spPr>
      </p:pic>
      <p:pic>
        <p:nvPicPr>
          <p:cNvPr id="9"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79320" y="2407920"/>
            <a:ext cx="365760" cy="365760"/>
          </a:xfrm>
          <a:prstGeom prst="rect">
            <a:avLst/>
          </a:prstGeom>
        </p:spPr>
      </p:pic>
      <p:sp>
        <p:nvSpPr>
          <p:cNvPr id="10" name="Text 2"/>
          <p:cNvSpPr/>
          <p:nvPr/>
        </p:nvSpPr>
        <p:spPr>
          <a:xfrm>
            <a:off x="2026920" y="3078480"/>
            <a:ext cx="694944" cy="342900"/>
          </a:xfrm>
          <a:prstGeom prst="rect">
            <a:avLst/>
          </a:prstGeom>
          <a:noFill/>
        </p:spPr>
        <p:txBody>
          <a:bodyPr wrap="none" lIns="0" tIns="0" rIns="0" bIns="0" rtlCol="0" anchor="t">
            <a:spAutoFit/>
          </a:bodyPr>
          <a:lstStyle/>
          <a:p>
            <a:pPr marL="0" indent="0" algn="ctr">
              <a:lnSpc>
                <a:spcPct val="100000"/>
              </a:lnSpc>
              <a:buNone/>
            </a:pPr>
            <a:r>
              <a:rPr lang="en-US" sz="1800" b="1" dirty="0">
                <a:solidFill>
                  <a:srgbClr val="333333"/>
                </a:solidFill>
              </a:rPr>
              <a:t>客观</a:t>
            </a:r>
            <a:endParaRPr lang="en-US" sz="1800" dirty="0"/>
          </a:p>
        </p:txBody>
      </p:sp>
      <p:sp>
        <p:nvSpPr>
          <p:cNvPr id="11" name="Text 3"/>
          <p:cNvSpPr/>
          <p:nvPr/>
        </p:nvSpPr>
        <p:spPr>
          <a:xfrm>
            <a:off x="929640" y="3596640"/>
            <a:ext cx="3147695" cy="801370"/>
          </a:xfrm>
          <a:prstGeom prst="rect">
            <a:avLst/>
          </a:prstGeom>
          <a:noFill/>
        </p:spPr>
        <p:txBody>
          <a:bodyPr wrap="square" lIns="0" tIns="0" rIns="0" bIns="0" rtlCol="0" anchor="t">
            <a:spAutoFit/>
          </a:bodyPr>
          <a:lstStyle/>
          <a:p>
            <a:pPr marL="0" indent="0" algn="ctr">
              <a:lnSpc>
                <a:spcPct val="163000"/>
              </a:lnSpc>
              <a:buNone/>
            </a:pPr>
            <a:r>
              <a:rPr lang="en-US" sz="1600" dirty="0">
                <a:solidFill>
                  <a:srgbClr val="666666"/>
                </a:solidFill>
              </a:rPr>
              <a:t>报告不是给客户“交差”的文书，而是安全状况的真实反映</a:t>
            </a:r>
            <a:endParaRPr lang="en-US" sz="1600" dirty="0">
              <a:solidFill>
                <a:srgbClr val="666666"/>
              </a:solidFill>
            </a:endParaRPr>
          </a:p>
        </p:txBody>
      </p:sp>
      <p:sp>
        <p:nvSpPr>
          <p:cNvPr id="12" name="Text 4"/>
          <p:cNvSpPr/>
          <p:nvPr/>
        </p:nvSpPr>
        <p:spPr>
          <a:xfrm>
            <a:off x="929640" y="4511040"/>
            <a:ext cx="3147695" cy="400685"/>
          </a:xfrm>
          <a:prstGeom prst="rect">
            <a:avLst/>
          </a:prstGeom>
          <a:noFill/>
        </p:spPr>
        <p:txBody>
          <a:bodyPr wrap="square" lIns="0" tIns="0" rIns="0" bIns="0" rtlCol="0" anchor="t">
            <a:spAutoFit/>
          </a:bodyPr>
          <a:lstStyle/>
          <a:p>
            <a:pPr marL="0" indent="0" algn="ctr">
              <a:lnSpc>
                <a:spcPct val="163000"/>
              </a:lnSpc>
              <a:buNone/>
            </a:pPr>
            <a:r>
              <a:rPr lang="en-US" sz="1600" dirty="0">
                <a:solidFill>
                  <a:srgbClr val="666666"/>
                </a:solidFill>
              </a:rPr>
              <a:t>不隐瞒重大风险，不夸大安全问题</a:t>
            </a:r>
            <a:endParaRPr lang="en-US" sz="1600" dirty="0">
              <a:solidFill>
                <a:srgbClr val="666666"/>
              </a:solidFill>
            </a:endParaRPr>
          </a:p>
        </p:txBody>
      </p:sp>
      <p:pic>
        <p:nvPicPr>
          <p:cNvPr id="13" name="Image 6" descr="preencoded.png"/>
          <p:cNvPicPr>
            <a:picLocks noChangeAspect="1"/>
          </p:cNvPicPr>
          <p:nvPr>
            <p:custDataLst>
              <p:tags r:id="rId10"/>
            </p:custDataLst>
          </p:nvPr>
        </p:nvPicPr>
        <p:blipFill>
          <a:blip r:embed="rId4">
            <a:extLst>
              <a:ext uri="{96DAC541-7B7A-43D3-8B79-37D633B846F1}">
                <asvg:svgBlip xmlns:asvg="http://schemas.microsoft.com/office/drawing/2016/SVG/main" r:embed="rId5"/>
              </a:ext>
            </a:extLst>
          </a:blip>
          <a:stretch>
            <a:fillRect/>
          </a:stretch>
        </p:blipFill>
        <p:spPr>
          <a:xfrm>
            <a:off x="4343400" y="2026920"/>
            <a:ext cx="3505200" cy="3337560"/>
          </a:xfrm>
          <a:prstGeom prst="rect">
            <a:avLst/>
          </a:prstGeom>
          <a:effectLst>
            <a:outerShdw blurRad="387096000" dist="193548000" dir="-1" algn="bl" rotWithShape="0">
              <a:srgbClr val="000000">
                <a:alpha val="500000000"/>
              </a:srgbClr>
            </a:outerShdw>
          </a:effectLst>
        </p:spPr>
      </p:pic>
      <p:pic>
        <p:nvPicPr>
          <p:cNvPr id="14" name="Image 7" descr="preencoded.png"/>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5730240" y="2346960"/>
            <a:ext cx="731520" cy="563880"/>
          </a:xfrm>
          <a:prstGeom prst="rect">
            <a:avLst/>
          </a:prstGeom>
        </p:spPr>
      </p:pic>
      <p:pic>
        <p:nvPicPr>
          <p:cNvPr id="15" name="Image 8" descr="preencoded.png"/>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913120" y="2438400"/>
            <a:ext cx="365760" cy="365760"/>
          </a:xfrm>
          <a:prstGeom prst="rect">
            <a:avLst/>
          </a:prstGeom>
        </p:spPr>
      </p:pic>
      <p:sp>
        <p:nvSpPr>
          <p:cNvPr id="16" name="Text 5"/>
          <p:cNvSpPr/>
          <p:nvPr>
            <p:custDataLst>
              <p:tags r:id="rId17"/>
            </p:custDataLst>
          </p:nvPr>
        </p:nvSpPr>
        <p:spPr>
          <a:xfrm>
            <a:off x="5760720" y="3154680"/>
            <a:ext cx="69494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333333"/>
                </a:solidFill>
              </a:rPr>
              <a:t>专业</a:t>
            </a:r>
            <a:endParaRPr lang="en-US" sz="2040" dirty="0"/>
          </a:p>
        </p:txBody>
      </p:sp>
      <p:sp>
        <p:nvSpPr>
          <p:cNvPr id="17" name="Text 6"/>
          <p:cNvSpPr/>
          <p:nvPr>
            <p:custDataLst>
              <p:tags r:id="rId18"/>
            </p:custDataLst>
          </p:nvPr>
        </p:nvSpPr>
        <p:spPr>
          <a:xfrm>
            <a:off x="4663440" y="3766185"/>
            <a:ext cx="3147695" cy="492125"/>
          </a:xfrm>
          <a:prstGeom prst="rect">
            <a:avLst/>
          </a:prstGeom>
          <a:noFill/>
        </p:spPr>
        <p:txBody>
          <a:bodyPr wrap="square" lIns="0" tIns="0" rIns="0" bIns="0" rtlCol="0" anchor="t">
            <a:spAutoFit/>
          </a:bodyPr>
          <a:lstStyle/>
          <a:p>
            <a:pPr marL="0" indent="0" algn="ctr">
              <a:lnSpc>
                <a:spcPct val="100000"/>
              </a:lnSpc>
              <a:buNone/>
            </a:pPr>
            <a:r>
              <a:rPr lang="en-US" sz="1600" dirty="0">
                <a:solidFill>
                  <a:srgbClr val="666666"/>
                </a:solidFill>
              </a:rPr>
              <a:t>每一份报告都代表测评机构的专业水平</a:t>
            </a:r>
            <a:endParaRPr lang="en-US" sz="1600" dirty="0">
              <a:solidFill>
                <a:srgbClr val="666666"/>
              </a:solidFill>
            </a:endParaRPr>
          </a:p>
        </p:txBody>
      </p:sp>
      <p:sp>
        <p:nvSpPr>
          <p:cNvPr id="18" name="Text 7"/>
          <p:cNvSpPr/>
          <p:nvPr>
            <p:custDataLst>
              <p:tags r:id="rId19"/>
            </p:custDataLst>
          </p:nvPr>
        </p:nvSpPr>
        <p:spPr>
          <a:xfrm>
            <a:off x="4663440" y="4434840"/>
            <a:ext cx="3147695" cy="400685"/>
          </a:xfrm>
          <a:prstGeom prst="rect">
            <a:avLst/>
          </a:prstGeom>
          <a:noFill/>
        </p:spPr>
        <p:txBody>
          <a:bodyPr wrap="square" lIns="0" tIns="0" rIns="0" bIns="0" rtlCol="0" anchor="t">
            <a:spAutoFit/>
          </a:bodyPr>
          <a:lstStyle/>
          <a:p>
            <a:pPr marL="0" indent="0" algn="ctr">
              <a:lnSpc>
                <a:spcPct val="163000"/>
              </a:lnSpc>
              <a:buNone/>
            </a:pPr>
            <a:r>
              <a:rPr lang="en-US" sz="1600" dirty="0">
                <a:solidFill>
                  <a:srgbClr val="666666"/>
                </a:solidFill>
              </a:rPr>
              <a:t>格式规范、结论准确、建议可行</a:t>
            </a:r>
            <a:endParaRPr lang="en-US" sz="1600" dirty="0">
              <a:solidFill>
                <a:srgbClr val="666666"/>
              </a:solidFill>
            </a:endParaRPr>
          </a:p>
        </p:txBody>
      </p:sp>
      <p:pic>
        <p:nvPicPr>
          <p:cNvPr id="19" name="Image 9" descr="preencoded.png"/>
          <p:cNvPicPr>
            <a:picLocks noChangeAspect="1"/>
          </p:cNvPicPr>
          <p:nvPr>
            <p:custDataLst>
              <p:tags r:id="rId20"/>
            </p:custDataLst>
          </p:nvPr>
        </p:nvPicPr>
        <p:blipFill>
          <a:blip r:embed="rId4">
            <a:extLst>
              <a:ext uri="{96DAC541-7B7A-43D3-8B79-37D633B846F1}">
                <asvg:svgBlip xmlns:asvg="http://schemas.microsoft.com/office/drawing/2016/SVG/main" r:embed="rId5"/>
              </a:ext>
            </a:extLst>
          </a:blip>
          <a:stretch>
            <a:fillRect/>
          </a:stretch>
        </p:blipFill>
        <p:spPr>
          <a:xfrm>
            <a:off x="8092440" y="2026920"/>
            <a:ext cx="3505200" cy="3337560"/>
          </a:xfrm>
          <a:prstGeom prst="rect">
            <a:avLst/>
          </a:prstGeom>
          <a:effectLst>
            <a:outerShdw blurRad="387096000" dist="193548000" dir="-1" algn="bl" rotWithShape="0">
              <a:srgbClr val="000000">
                <a:alpha val="500000000"/>
              </a:srgbClr>
            </a:outerShdw>
          </a:effectLst>
        </p:spPr>
      </p:pic>
      <p:pic>
        <p:nvPicPr>
          <p:cNvPr id="20" name="Image 10" descr="preencoded.png"/>
          <p:cNvPicPr>
            <a:picLocks noChangeAspect="1"/>
          </p:cNvPicPr>
          <p:nvPr>
            <p:custDataLst>
              <p:tags r:id="rId21"/>
            </p:custDataLst>
          </p:nvPr>
        </p:nvPicPr>
        <p:blipFill>
          <a:blip r:embed="rId12">
            <a:extLst>
              <a:ext uri="{96DAC541-7B7A-43D3-8B79-37D633B846F1}">
                <asvg:svgBlip xmlns:asvg="http://schemas.microsoft.com/office/drawing/2016/SVG/main" r:embed="rId13"/>
              </a:ext>
            </a:extLst>
          </a:blip>
          <a:stretch>
            <a:fillRect/>
          </a:stretch>
        </p:blipFill>
        <p:spPr>
          <a:xfrm>
            <a:off x="9464040" y="2346960"/>
            <a:ext cx="731520" cy="563880"/>
          </a:xfrm>
          <a:prstGeom prst="rect">
            <a:avLst/>
          </a:prstGeom>
        </p:spPr>
      </p:pic>
      <p:pic>
        <p:nvPicPr>
          <p:cNvPr id="21" name="Image 11" descr="preencoded.png"/>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9646920" y="2438400"/>
            <a:ext cx="365760" cy="365760"/>
          </a:xfrm>
          <a:prstGeom prst="rect">
            <a:avLst/>
          </a:prstGeom>
        </p:spPr>
      </p:pic>
      <p:sp>
        <p:nvSpPr>
          <p:cNvPr id="22" name="Text 8"/>
          <p:cNvSpPr/>
          <p:nvPr>
            <p:custDataLst>
              <p:tags r:id="rId25"/>
            </p:custDataLst>
          </p:nvPr>
        </p:nvSpPr>
        <p:spPr>
          <a:xfrm>
            <a:off x="9494520" y="3154680"/>
            <a:ext cx="69494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333333"/>
                </a:solidFill>
              </a:rPr>
              <a:t>负责</a:t>
            </a:r>
            <a:endParaRPr lang="en-US" sz="2040" dirty="0"/>
          </a:p>
        </p:txBody>
      </p:sp>
      <p:sp>
        <p:nvSpPr>
          <p:cNvPr id="23" name="Text 9"/>
          <p:cNvSpPr/>
          <p:nvPr>
            <p:custDataLst>
              <p:tags r:id="rId26"/>
            </p:custDataLst>
          </p:nvPr>
        </p:nvSpPr>
        <p:spPr>
          <a:xfrm>
            <a:off x="8412480" y="3718560"/>
            <a:ext cx="3147695" cy="400685"/>
          </a:xfrm>
          <a:prstGeom prst="rect">
            <a:avLst/>
          </a:prstGeom>
          <a:noFill/>
        </p:spPr>
        <p:txBody>
          <a:bodyPr wrap="square" lIns="0" tIns="0" rIns="0" bIns="0" rtlCol="0" anchor="t">
            <a:spAutoFit/>
          </a:bodyPr>
          <a:lstStyle/>
          <a:p>
            <a:pPr marL="0" indent="0" algn="ctr">
              <a:lnSpc>
                <a:spcPct val="163000"/>
              </a:lnSpc>
              <a:buNone/>
            </a:pPr>
            <a:r>
              <a:rPr lang="en-US" sz="1600" dirty="0">
                <a:solidFill>
                  <a:srgbClr val="666666"/>
                </a:solidFill>
              </a:rPr>
              <a:t>报告内容可能影响客户的安全决策</a:t>
            </a:r>
            <a:endParaRPr lang="en-US" sz="1600" dirty="0">
              <a:solidFill>
                <a:srgbClr val="666666"/>
              </a:solidFill>
            </a:endParaRPr>
          </a:p>
        </p:txBody>
      </p:sp>
      <p:sp>
        <p:nvSpPr>
          <p:cNvPr id="24" name="Text 10"/>
          <p:cNvSpPr/>
          <p:nvPr>
            <p:custDataLst>
              <p:tags r:id="rId27"/>
            </p:custDataLst>
          </p:nvPr>
        </p:nvSpPr>
        <p:spPr>
          <a:xfrm>
            <a:off x="8412480" y="4434840"/>
            <a:ext cx="3147695" cy="801370"/>
          </a:xfrm>
          <a:prstGeom prst="rect">
            <a:avLst/>
          </a:prstGeom>
          <a:noFill/>
        </p:spPr>
        <p:txBody>
          <a:bodyPr wrap="square" lIns="0" tIns="0" rIns="0" bIns="0" rtlCol="0" anchor="t">
            <a:spAutoFit/>
          </a:bodyPr>
          <a:lstStyle/>
          <a:p>
            <a:pPr marL="0" indent="0" algn="ctr">
              <a:lnSpc>
                <a:spcPct val="163000"/>
              </a:lnSpc>
              <a:buNone/>
            </a:pPr>
            <a:r>
              <a:rPr lang="en-US" sz="1600" dirty="0">
                <a:solidFill>
                  <a:srgbClr val="666666"/>
                </a:solidFill>
              </a:rPr>
              <a:t>一份不负责任的报告，可能导致客户忽视重大风险</a:t>
            </a:r>
            <a:endParaRPr lang="en-US" sz="1600" dirty="0">
              <a:solidFill>
                <a:srgbClr val="666666"/>
              </a:solidFill>
            </a:endParaRPr>
          </a:p>
        </p:txBody>
      </p:sp>
      <p:pic>
        <p:nvPicPr>
          <p:cNvPr id="25" name="Image 12" descr="preencoded.png"/>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609600" y="5513070"/>
            <a:ext cx="10972800" cy="944880"/>
          </a:xfrm>
          <a:prstGeom prst="rect">
            <a:avLst/>
          </a:prstGeom>
        </p:spPr>
      </p:pic>
      <p:sp>
        <p:nvSpPr>
          <p:cNvPr id="26" name="Text 11"/>
          <p:cNvSpPr/>
          <p:nvPr/>
        </p:nvSpPr>
        <p:spPr>
          <a:xfrm>
            <a:off x="914400" y="5756910"/>
            <a:ext cx="10433304" cy="457200"/>
          </a:xfrm>
          <a:prstGeom prst="rect">
            <a:avLst/>
          </a:prstGeom>
          <a:noFill/>
        </p:spPr>
        <p:txBody>
          <a:bodyPr wrap="none" lIns="0" tIns="0" rIns="0" bIns="0" rtlCol="0" anchor="t">
            <a:spAutoFit/>
          </a:bodyPr>
          <a:lstStyle/>
          <a:p>
            <a:pPr marL="0" indent="0" algn="ctr">
              <a:lnSpc>
                <a:spcPct val="100000"/>
              </a:lnSpc>
              <a:buNone/>
            </a:pPr>
            <a:r>
              <a:rPr lang="en-US" sz="2400" b="1" dirty="0">
                <a:solidFill>
                  <a:srgbClr val="333333"/>
                </a:solidFill>
              </a:rPr>
              <a:t>一句话： 测评报告的字里行间，体现的是测评师的责任与担当。</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知识点回顾（5分钟）：思维导图</a:t>
            </a:r>
            <a:endParaRPr lang="en-US" sz="2760" dirty="0"/>
          </a:p>
        </p:txBody>
      </p:sp>
      <p:pic>
        <p:nvPicPr>
          <p:cNvPr id="6" name="Image 3" descr="https://test.web.static.jianzeppt.com/ppt-temp-img3/edc740c8c3aacff0609e3c1a57cb67bc.png?x-oss-process=image/resize,w_1440,h_800,m_lfit/format,png"/>
          <p:cNvPicPr>
            <a:picLocks noChangeAspect="1"/>
          </p:cNvPicPr>
          <p:nvPr/>
        </p:nvPicPr>
        <p:blipFill>
          <a:blip r:embed="rId4"/>
          <a:stretch>
            <a:fillRect/>
          </a:stretch>
        </p:blipFill>
        <p:spPr>
          <a:xfrm>
            <a:off x="609600" y="1371600"/>
            <a:ext cx="10972800" cy="518160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600" y="1371600"/>
            <a:ext cx="3505200" cy="2773680"/>
          </a:xfrm>
          <a:prstGeom prst="rect">
            <a:avLst/>
          </a:prstGeom>
          <a:effectLst>
            <a:outerShdw blurRad="387096000" dist="193548000" dir="-1" algn="bl" rotWithShape="0">
              <a:srgbClr val="000000">
                <a:alpha val="500000000"/>
              </a:srgbClr>
            </a:outerShdw>
          </a:effectLst>
        </p:spPr>
      </p:pic>
      <p:sp>
        <p:nvSpPr>
          <p:cNvPr id="8" name="Text 1"/>
          <p:cNvSpPr/>
          <p:nvPr/>
        </p:nvSpPr>
        <p:spPr>
          <a:xfrm>
            <a:off x="929640" y="1569720"/>
            <a:ext cx="299618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7291F"/>
                </a:solidFill>
              </a:rPr>
              <a:t>一、报告格式</a:t>
            </a:r>
            <a:endParaRPr lang="en-US" sz="2160" dirty="0"/>
          </a:p>
        </p:txBody>
      </p:sp>
      <p:sp>
        <p:nvSpPr>
          <p:cNvPr id="9" name="Text 2"/>
          <p:cNvSpPr/>
          <p:nvPr/>
        </p:nvSpPr>
        <p:spPr>
          <a:xfrm>
            <a:off x="929640" y="210312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10" name="Text 3"/>
          <p:cNvSpPr/>
          <p:nvPr/>
        </p:nvSpPr>
        <p:spPr>
          <a:xfrm>
            <a:off x="1112520" y="2133600"/>
            <a:ext cx="2142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封面、目录、项目概述</a:t>
            </a:r>
            <a:endParaRPr lang="en-US" sz="1680" dirty="0"/>
          </a:p>
        </p:txBody>
      </p:sp>
      <p:sp>
        <p:nvSpPr>
          <p:cNvPr id="11" name="Text 4"/>
          <p:cNvSpPr/>
          <p:nvPr/>
        </p:nvSpPr>
        <p:spPr>
          <a:xfrm>
            <a:off x="929640" y="248412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12" name="Text 5"/>
          <p:cNvSpPr/>
          <p:nvPr/>
        </p:nvSpPr>
        <p:spPr>
          <a:xfrm>
            <a:off x="1112520" y="2514600"/>
            <a:ext cx="15026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测评对象与方法</a:t>
            </a:r>
            <a:endParaRPr lang="en-US" sz="1680" dirty="0"/>
          </a:p>
        </p:txBody>
      </p:sp>
      <p:sp>
        <p:nvSpPr>
          <p:cNvPr id="13" name="Text 6"/>
          <p:cNvSpPr/>
          <p:nvPr/>
        </p:nvSpPr>
        <p:spPr>
          <a:xfrm>
            <a:off x="929640" y="286512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14" name="Text 7"/>
          <p:cNvSpPr/>
          <p:nvPr/>
        </p:nvSpPr>
        <p:spPr>
          <a:xfrm>
            <a:off x="1112520" y="2895600"/>
            <a:ext cx="22265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单项/系统整体测评结论</a:t>
            </a:r>
            <a:endParaRPr lang="en-US" sz="1680" dirty="0"/>
          </a:p>
        </p:txBody>
      </p:sp>
      <p:sp>
        <p:nvSpPr>
          <p:cNvPr id="15" name="Text 8"/>
          <p:cNvSpPr/>
          <p:nvPr/>
        </p:nvSpPr>
        <p:spPr>
          <a:xfrm>
            <a:off x="929640" y="324612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16" name="Text 9"/>
          <p:cNvSpPr/>
          <p:nvPr/>
        </p:nvSpPr>
        <p:spPr>
          <a:xfrm>
            <a:off x="1112520" y="3276600"/>
            <a:ext cx="19293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安全问题汇总、建议</a:t>
            </a:r>
            <a:endParaRPr lang="en-US" sz="1680" dirty="0"/>
          </a:p>
        </p:txBody>
      </p:sp>
      <p:sp>
        <p:nvSpPr>
          <p:cNvPr id="17" name="Text 10"/>
          <p:cNvSpPr/>
          <p:nvPr/>
        </p:nvSpPr>
        <p:spPr>
          <a:xfrm>
            <a:off x="929640" y="362712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18" name="Text 11"/>
          <p:cNvSpPr/>
          <p:nvPr/>
        </p:nvSpPr>
        <p:spPr>
          <a:xfrm>
            <a:off x="1112520" y="3657600"/>
            <a:ext cx="12893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附件、签章页</a:t>
            </a:r>
            <a:endParaRPr lang="en-US" sz="1680" dirty="0"/>
          </a:p>
        </p:txBody>
      </p:sp>
      <p:pic>
        <p:nvPicPr>
          <p:cNvPr id="19" name="Image 5" descr="https://test.web.static.jianzeppt.com/ppt-temp-img3/b61ff63e9c6afc3ba82f0758471db923.png?x-oss-process=image/resize,w_1440,h_800,m_lfit/format,png"/>
          <p:cNvPicPr>
            <a:picLocks noChangeAspect="1"/>
          </p:cNvPicPr>
          <p:nvPr/>
        </p:nvPicPr>
        <p:blipFill>
          <a:blip r:embed="rId7"/>
          <a:stretch>
            <a:fillRect/>
          </a:stretch>
        </p:blipFill>
        <p:spPr>
          <a:xfrm>
            <a:off x="624840" y="1386840"/>
            <a:ext cx="60960" cy="2743200"/>
          </a:xfrm>
          <a:prstGeom prst="rect">
            <a:avLst/>
          </a:prstGeom>
        </p:spPr>
      </p:pic>
      <p:pic>
        <p:nvPicPr>
          <p:cNvPr id="20"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065270"/>
            <a:ext cx="3505200" cy="2392680"/>
          </a:xfrm>
          <a:prstGeom prst="rect">
            <a:avLst/>
          </a:prstGeom>
          <a:effectLst>
            <a:outerShdw blurRad="387096000" dist="193548000" dir="-1" algn="bl" rotWithShape="0">
              <a:srgbClr val="000000">
                <a:alpha val="500000000"/>
              </a:srgbClr>
            </a:outerShdw>
          </a:effectLst>
        </p:spPr>
      </p:pic>
      <p:sp>
        <p:nvSpPr>
          <p:cNvPr id="21" name="Text 12"/>
          <p:cNvSpPr/>
          <p:nvPr/>
        </p:nvSpPr>
        <p:spPr>
          <a:xfrm>
            <a:off x="929640" y="4263390"/>
            <a:ext cx="299618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7291F"/>
                </a:solidFill>
              </a:rPr>
              <a:t>二、单项结论判定</a:t>
            </a:r>
            <a:endParaRPr lang="en-US" sz="2160" dirty="0"/>
          </a:p>
        </p:txBody>
      </p:sp>
      <p:sp>
        <p:nvSpPr>
          <p:cNvPr id="22" name="Text 13"/>
          <p:cNvSpPr/>
          <p:nvPr/>
        </p:nvSpPr>
        <p:spPr>
          <a:xfrm>
            <a:off x="929640" y="479679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23" name="Text 14"/>
          <p:cNvSpPr/>
          <p:nvPr/>
        </p:nvSpPr>
        <p:spPr>
          <a:xfrm>
            <a:off x="1112520" y="4796790"/>
            <a:ext cx="542544" cy="640080"/>
          </a:xfrm>
          <a:prstGeom prst="rect">
            <a:avLst/>
          </a:prstGeom>
          <a:noFill/>
        </p:spPr>
        <p:txBody>
          <a:bodyPr wrap="square" lIns="0" tIns="0" rIns="0" bIns="0" rtlCol="0" anchor="ctr">
            <a:spAutoFit/>
          </a:bodyPr>
          <a:lstStyle/>
          <a:p>
            <a:pPr marL="0" indent="0" algn="l">
              <a:lnSpc>
                <a:spcPct val="150000"/>
              </a:lnSpc>
              <a:buNone/>
            </a:pPr>
            <a:r>
              <a:rPr lang="en-US" sz="1680" b="1" dirty="0">
                <a:solidFill>
                  <a:srgbClr val="514337"/>
                </a:solidFill>
              </a:rPr>
              <a:t>结论：</a:t>
            </a:r>
            <a:endParaRPr lang="en-US" sz="1680" dirty="0"/>
          </a:p>
        </p:txBody>
      </p:sp>
      <p:sp>
        <p:nvSpPr>
          <p:cNvPr id="24" name="Text 15"/>
          <p:cNvSpPr/>
          <p:nvPr/>
        </p:nvSpPr>
        <p:spPr>
          <a:xfrm>
            <a:off x="1645920" y="4827270"/>
            <a:ext cx="215798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3554B"/>
                </a:solidFill>
              </a:rPr>
              <a:t>符合/部分符合/不符合/不适用</a:t>
            </a:r>
            <a:endParaRPr lang="en-US" sz="1680" dirty="0"/>
          </a:p>
        </p:txBody>
      </p:sp>
      <p:sp>
        <p:nvSpPr>
          <p:cNvPr id="25" name="Text 16"/>
          <p:cNvSpPr/>
          <p:nvPr/>
        </p:nvSpPr>
        <p:spPr>
          <a:xfrm>
            <a:off x="929640" y="552831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26" name="Text 17"/>
          <p:cNvSpPr/>
          <p:nvPr/>
        </p:nvSpPr>
        <p:spPr>
          <a:xfrm>
            <a:off x="1112520" y="5528310"/>
            <a:ext cx="64922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514337"/>
                </a:solidFill>
              </a:rPr>
              <a:t>依据：</a:t>
            </a:r>
            <a:endParaRPr lang="en-US" sz="1680" dirty="0"/>
          </a:p>
        </p:txBody>
      </p:sp>
      <p:sp>
        <p:nvSpPr>
          <p:cNvPr id="27" name="Text 18"/>
          <p:cNvSpPr/>
          <p:nvPr/>
        </p:nvSpPr>
        <p:spPr>
          <a:xfrm>
            <a:off x="1752600" y="5558790"/>
            <a:ext cx="16093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标准条款 + 证据</a:t>
            </a:r>
            <a:endParaRPr lang="en-US" sz="1680" dirty="0"/>
          </a:p>
        </p:txBody>
      </p:sp>
      <p:sp>
        <p:nvSpPr>
          <p:cNvPr id="28" name="Text 19"/>
          <p:cNvSpPr/>
          <p:nvPr/>
        </p:nvSpPr>
        <p:spPr>
          <a:xfrm>
            <a:off x="929640" y="593979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29" name="Text 20"/>
          <p:cNvSpPr/>
          <p:nvPr/>
        </p:nvSpPr>
        <p:spPr>
          <a:xfrm>
            <a:off x="1112520" y="5939790"/>
            <a:ext cx="64922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514337"/>
                </a:solidFill>
              </a:rPr>
              <a:t>避坑：</a:t>
            </a:r>
            <a:endParaRPr lang="en-US" sz="1680" dirty="0"/>
          </a:p>
        </p:txBody>
      </p:sp>
      <p:sp>
        <p:nvSpPr>
          <p:cNvPr id="30" name="Text 21"/>
          <p:cNvSpPr/>
          <p:nvPr/>
        </p:nvSpPr>
        <p:spPr>
          <a:xfrm>
            <a:off x="1752600" y="5970270"/>
            <a:ext cx="171602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63554B"/>
                </a:solidFill>
              </a:rPr>
              <a:t>模糊、不引用标准</a:t>
            </a:r>
            <a:endParaRPr lang="en-US" sz="1680" dirty="0"/>
          </a:p>
        </p:txBody>
      </p:sp>
      <p:pic>
        <p:nvPicPr>
          <p:cNvPr id="31" name="Image 7" descr="https://test.web.static.jianzeppt.com/ppt-temp-img3/6153b759ed073f8a51aa4e49a4888352.png?x-oss-process=image/resize,w_1440,h_800,m_lfit/format,png"/>
          <p:cNvPicPr>
            <a:picLocks noChangeAspect="1"/>
          </p:cNvPicPr>
          <p:nvPr/>
        </p:nvPicPr>
        <p:blipFill>
          <a:blip r:embed="rId10"/>
          <a:stretch>
            <a:fillRect/>
          </a:stretch>
        </p:blipFill>
        <p:spPr>
          <a:xfrm>
            <a:off x="624840" y="4080510"/>
            <a:ext cx="60960" cy="2362200"/>
          </a:xfrm>
          <a:prstGeom prst="rect">
            <a:avLst/>
          </a:prstGeom>
        </p:spPr>
      </p:pic>
      <p:pic>
        <p:nvPicPr>
          <p:cNvPr id="32" name="Image 8"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77200" y="1524000"/>
            <a:ext cx="3505200" cy="2133600"/>
          </a:xfrm>
          <a:prstGeom prst="rect">
            <a:avLst/>
          </a:prstGeom>
          <a:effectLst>
            <a:outerShdw blurRad="387096000" dist="193548000" dir="-1" algn="bl" rotWithShape="0">
              <a:srgbClr val="000000">
                <a:alpha val="500000000"/>
              </a:srgbClr>
            </a:outerShdw>
          </a:effectLst>
        </p:spPr>
      </p:pic>
      <p:sp>
        <p:nvSpPr>
          <p:cNvPr id="33" name="Text 22"/>
          <p:cNvSpPr/>
          <p:nvPr/>
        </p:nvSpPr>
        <p:spPr>
          <a:xfrm>
            <a:off x="8397240" y="1722120"/>
            <a:ext cx="299618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7291F"/>
                </a:solidFill>
              </a:rPr>
              <a:t>三、整体结论形成</a:t>
            </a:r>
            <a:endParaRPr lang="en-US" sz="2160" dirty="0"/>
          </a:p>
        </p:txBody>
      </p:sp>
      <p:pic>
        <p:nvPicPr>
          <p:cNvPr id="34" name="Image 9"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97240" y="2255520"/>
            <a:ext cx="2987040" cy="441960"/>
          </a:xfrm>
          <a:prstGeom prst="rect">
            <a:avLst/>
          </a:prstGeom>
        </p:spPr>
      </p:pic>
      <p:sp>
        <p:nvSpPr>
          <p:cNvPr id="35" name="Text 23"/>
          <p:cNvSpPr/>
          <p:nvPr/>
        </p:nvSpPr>
        <p:spPr>
          <a:xfrm>
            <a:off x="8519160" y="2346960"/>
            <a:ext cx="435864" cy="243840"/>
          </a:xfrm>
          <a:prstGeom prst="rect">
            <a:avLst/>
          </a:prstGeom>
          <a:noFill/>
        </p:spPr>
        <p:txBody>
          <a:bodyPr wrap="none" lIns="0" tIns="0" rIns="0" bIns="0" rtlCol="0" anchor="ctr"/>
          <a:lstStyle/>
          <a:p>
            <a:pPr marL="0" indent="0" algn="l">
              <a:lnSpc>
                <a:spcPct val="150000"/>
              </a:lnSpc>
              <a:buNone/>
            </a:pPr>
            <a:r>
              <a:rPr lang="en-US" sz="1680" dirty="0">
                <a:solidFill>
                  <a:srgbClr val="514337"/>
                </a:solidFill>
              </a:rPr>
              <a:t>统计</a:t>
            </a:r>
            <a:endParaRPr lang="en-US" sz="1680" dirty="0"/>
          </a:p>
        </p:txBody>
      </p:sp>
      <p:sp>
        <p:nvSpPr>
          <p:cNvPr id="36" name="Text 24"/>
          <p:cNvSpPr/>
          <p:nvPr/>
        </p:nvSpPr>
        <p:spPr>
          <a:xfrm>
            <a:off x="9006840" y="231648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37" name="Text 25"/>
          <p:cNvSpPr/>
          <p:nvPr/>
        </p:nvSpPr>
        <p:spPr>
          <a:xfrm>
            <a:off x="9250680" y="2346960"/>
            <a:ext cx="435864" cy="243840"/>
          </a:xfrm>
          <a:prstGeom prst="rect">
            <a:avLst/>
          </a:prstGeom>
          <a:noFill/>
        </p:spPr>
        <p:txBody>
          <a:bodyPr wrap="none" lIns="0" tIns="0" rIns="0" bIns="0" rtlCol="0" anchor="ctr"/>
          <a:lstStyle/>
          <a:p>
            <a:pPr marL="0" indent="0" algn="l">
              <a:lnSpc>
                <a:spcPct val="150000"/>
              </a:lnSpc>
              <a:buNone/>
            </a:pPr>
            <a:r>
              <a:rPr lang="en-US" sz="1680" dirty="0">
                <a:solidFill>
                  <a:srgbClr val="514337"/>
                </a:solidFill>
              </a:rPr>
              <a:t>分析</a:t>
            </a:r>
            <a:endParaRPr lang="en-US" sz="1680" dirty="0"/>
          </a:p>
        </p:txBody>
      </p:sp>
      <p:sp>
        <p:nvSpPr>
          <p:cNvPr id="38" name="Text 26"/>
          <p:cNvSpPr/>
          <p:nvPr/>
        </p:nvSpPr>
        <p:spPr>
          <a:xfrm>
            <a:off x="9738360" y="2316480"/>
            <a:ext cx="2225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39" name="Text 27"/>
          <p:cNvSpPr/>
          <p:nvPr/>
        </p:nvSpPr>
        <p:spPr>
          <a:xfrm>
            <a:off x="9966960" y="2346960"/>
            <a:ext cx="435864" cy="243840"/>
          </a:xfrm>
          <a:prstGeom prst="rect">
            <a:avLst/>
          </a:prstGeom>
          <a:noFill/>
        </p:spPr>
        <p:txBody>
          <a:bodyPr wrap="none" lIns="0" tIns="0" rIns="0" bIns="0" rtlCol="0" anchor="ctr"/>
          <a:lstStyle/>
          <a:p>
            <a:pPr marL="0" indent="0" algn="l">
              <a:lnSpc>
                <a:spcPct val="150000"/>
              </a:lnSpc>
              <a:buNone/>
            </a:pPr>
            <a:r>
              <a:rPr lang="en-US" sz="1680" dirty="0">
                <a:solidFill>
                  <a:srgbClr val="514337"/>
                </a:solidFill>
              </a:rPr>
              <a:t>判断</a:t>
            </a:r>
            <a:endParaRPr lang="en-US" sz="1680" dirty="0"/>
          </a:p>
        </p:txBody>
      </p:sp>
      <p:sp>
        <p:nvSpPr>
          <p:cNvPr id="40" name="Text 28"/>
          <p:cNvSpPr/>
          <p:nvPr/>
        </p:nvSpPr>
        <p:spPr>
          <a:xfrm>
            <a:off x="8397240" y="2819400"/>
            <a:ext cx="19202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a:t>
            </a:r>
            <a:endParaRPr lang="en-US" sz="1680" dirty="0"/>
          </a:p>
        </p:txBody>
      </p:sp>
      <p:sp>
        <p:nvSpPr>
          <p:cNvPr id="41" name="Text 29"/>
          <p:cNvSpPr/>
          <p:nvPr/>
        </p:nvSpPr>
        <p:spPr>
          <a:xfrm>
            <a:off x="8641080" y="2849880"/>
            <a:ext cx="2356104" cy="64008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514337"/>
                </a:solidFill>
              </a:rPr>
              <a:t>评判层级：</a:t>
            </a:r>
            <a:r>
              <a:rPr lang="en-US" sz="1680" dirty="0">
                <a:solidFill>
                  <a:srgbClr val="63554B"/>
                </a:solidFill>
              </a:rPr>
              <a:t>符合 / 基本符合 / 不符合</a:t>
            </a:r>
            <a:endParaRPr lang="en-US" sz="1680" dirty="0"/>
          </a:p>
        </p:txBody>
      </p:sp>
      <p:pic>
        <p:nvPicPr>
          <p:cNvPr id="42" name="Image 10" descr="https://test.web.static.jianzeppt.com/ppt-temp-img3/0c090265501fb1da15d91afd85eb440c.png?x-oss-process=image/resize,w_1440,h_800,m_lfit/format,png"/>
          <p:cNvPicPr>
            <a:picLocks noChangeAspect="1"/>
          </p:cNvPicPr>
          <p:nvPr/>
        </p:nvPicPr>
        <p:blipFill>
          <a:blip r:embed="rId15"/>
          <a:stretch>
            <a:fillRect/>
          </a:stretch>
        </p:blipFill>
        <p:spPr>
          <a:xfrm>
            <a:off x="8092440" y="1539240"/>
            <a:ext cx="60960" cy="2103120"/>
          </a:xfrm>
          <a:prstGeom prst="rect">
            <a:avLst/>
          </a:prstGeom>
        </p:spPr>
      </p:pic>
      <p:pic>
        <p:nvPicPr>
          <p:cNvPr id="43" name="Image 11"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077200" y="3916680"/>
            <a:ext cx="3505200" cy="2331720"/>
          </a:xfrm>
          <a:prstGeom prst="rect">
            <a:avLst/>
          </a:prstGeom>
          <a:effectLst>
            <a:outerShdw blurRad="387096000" dist="193548000" dir="-1" algn="bl" rotWithShape="0">
              <a:srgbClr val="000000">
                <a:alpha val="500000000"/>
              </a:srgbClr>
            </a:outerShdw>
          </a:effectLst>
        </p:spPr>
      </p:pic>
      <p:sp>
        <p:nvSpPr>
          <p:cNvPr id="44" name="Text 30"/>
          <p:cNvSpPr/>
          <p:nvPr/>
        </p:nvSpPr>
        <p:spPr>
          <a:xfrm>
            <a:off x="8397240" y="4114800"/>
            <a:ext cx="299618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7291F"/>
                </a:solidFill>
              </a:rPr>
              <a:t>四、整改建议撰写</a:t>
            </a:r>
            <a:endParaRPr lang="en-US" sz="2160" dirty="0"/>
          </a:p>
        </p:txBody>
      </p:sp>
      <p:sp>
        <p:nvSpPr>
          <p:cNvPr id="45" name="Text 31"/>
          <p:cNvSpPr/>
          <p:nvPr/>
        </p:nvSpPr>
        <p:spPr>
          <a:xfrm>
            <a:off x="8397240" y="4648200"/>
            <a:ext cx="2529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rPr>
              <a:t>1.</a:t>
            </a:r>
            <a:endParaRPr lang="en-US" sz="1680" dirty="0"/>
          </a:p>
        </p:txBody>
      </p:sp>
      <p:sp>
        <p:nvSpPr>
          <p:cNvPr id="46" name="Text 32"/>
          <p:cNvSpPr/>
          <p:nvPr/>
        </p:nvSpPr>
        <p:spPr>
          <a:xfrm>
            <a:off x="8686800" y="4678680"/>
            <a:ext cx="2478024" cy="96012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514337"/>
                </a:solidFill>
              </a:rPr>
              <a:t>逻辑结构：</a:t>
            </a:r>
            <a:r>
              <a:rPr lang="en-US" sz="1680" dirty="0">
                <a:solidFill>
                  <a:srgbClr val="63554B"/>
                </a:solidFill>
              </a:rPr>
              <a:t>问题→风险→建议→优先级</a:t>
            </a:r>
            <a:endParaRPr lang="en-US" sz="1680" dirty="0"/>
          </a:p>
        </p:txBody>
      </p:sp>
      <p:sp>
        <p:nvSpPr>
          <p:cNvPr id="47" name="Text 33"/>
          <p:cNvSpPr/>
          <p:nvPr/>
        </p:nvSpPr>
        <p:spPr>
          <a:xfrm>
            <a:off x="8397240" y="5410200"/>
            <a:ext cx="2529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rPr>
              <a:t>2.</a:t>
            </a:r>
            <a:endParaRPr lang="en-US" sz="1680" dirty="0"/>
          </a:p>
        </p:txBody>
      </p:sp>
      <p:sp>
        <p:nvSpPr>
          <p:cNvPr id="48" name="Text 34"/>
          <p:cNvSpPr/>
          <p:nvPr/>
        </p:nvSpPr>
        <p:spPr>
          <a:xfrm>
            <a:off x="8686800" y="5440680"/>
            <a:ext cx="2142744" cy="64008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514337"/>
                </a:solidFill>
              </a:rPr>
              <a:t>核心原则：</a:t>
            </a:r>
            <a:r>
              <a:rPr lang="en-US" sz="1680" dirty="0">
                <a:solidFill>
                  <a:srgbClr val="63554B"/>
                </a:solidFill>
              </a:rPr>
              <a:t>具体、可操作、有时限</a:t>
            </a:r>
            <a:endParaRPr lang="en-US" sz="1680" dirty="0"/>
          </a:p>
        </p:txBody>
      </p:sp>
      <p:pic>
        <p:nvPicPr>
          <p:cNvPr id="49" name="Image 12" descr="https://test.web.static.jianzeppt.com/ppt-temp-img3/3d984e0b359348085eb8601658fcefca.png?x-oss-process=image/resize,w_1440,h_800,m_lfit/format,png"/>
          <p:cNvPicPr>
            <a:picLocks noChangeAspect="1"/>
          </p:cNvPicPr>
          <p:nvPr/>
        </p:nvPicPr>
        <p:blipFill>
          <a:blip r:embed="rId18"/>
          <a:stretch>
            <a:fillRect/>
          </a:stretch>
        </p:blipFill>
        <p:spPr>
          <a:xfrm>
            <a:off x="8092440" y="3931920"/>
            <a:ext cx="60960" cy="2301240"/>
          </a:xfrm>
          <a:prstGeom prst="rect">
            <a:avLst/>
          </a:prstGeom>
        </p:spPr>
      </p:pic>
      <p:pic>
        <p:nvPicPr>
          <p:cNvPr id="50" name="Image 13"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724400" y="3200400"/>
            <a:ext cx="2743200" cy="1539240"/>
          </a:xfrm>
          <a:prstGeom prst="rect">
            <a:avLst/>
          </a:prstGeom>
          <a:effectLst>
            <a:outerShdw blurRad="1161288000" dist="774192000" dir="-1" algn="bl" rotWithShape="0">
              <a:srgbClr val="000000">
                <a:alpha val="1000000000"/>
              </a:srgbClr>
            </a:outerShdw>
          </a:effectLst>
        </p:spPr>
      </p:pic>
      <p:sp>
        <p:nvSpPr>
          <p:cNvPr id="51" name="Text 35"/>
          <p:cNvSpPr/>
          <p:nvPr/>
        </p:nvSpPr>
        <p:spPr>
          <a:xfrm>
            <a:off x="5029200" y="3489960"/>
            <a:ext cx="2142744" cy="929640"/>
          </a:xfrm>
          <a:prstGeom prst="rect">
            <a:avLst/>
          </a:prstGeom>
          <a:noFill/>
        </p:spPr>
        <p:txBody>
          <a:bodyPr wrap="square" lIns="0" tIns="0" rIns="0" bIns="0" rtlCol="0" anchor="t">
            <a:spAutoFit/>
          </a:bodyPr>
          <a:lstStyle/>
          <a:p>
            <a:pPr marL="0" indent="0" algn="ctr">
              <a:lnSpc>
                <a:spcPct val="138000"/>
              </a:lnSpc>
              <a:buNone/>
            </a:pPr>
            <a:r>
              <a:rPr lang="en-US" sz="2640" b="1" dirty="0">
                <a:solidFill>
                  <a:srgbClr val="271C11"/>
                </a:solidFill>
                <a:latin typeface="思源黑体 CN Bold" pitchFamily="34" charset="0"/>
                <a:ea typeface="思源黑体 CN Bold" pitchFamily="34" charset="-122"/>
                <a:cs typeface="思源黑体 CN Bold" pitchFamily="34" charset="-120"/>
              </a:rPr>
              <a:t>编制完整</a:t>
            </a:r>
            <a:r>
              <a:rPr lang="en-US" sz="2640" b="1" dirty="0">
                <a:solidFill>
                  <a:srgbClr val="271C11"/>
                </a:solidFill>
                <a:latin typeface="思源黑体 CN Bold" pitchFamily="34" charset="0"/>
                <a:ea typeface="思源黑体 CN Bold" pitchFamily="34" charset="-122"/>
                <a:cs typeface="思源黑体 CN Bold" pitchFamily="34" charset="-120"/>
              </a:rPr>
              <a:t>等保测评报告</a:t>
            </a:r>
            <a:endParaRPr lang="en-US" sz="26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课后作业</a:t>
            </a:r>
            <a:endParaRPr lang="en-US" sz="2760" dirty="0"/>
          </a:p>
        </p:txBody>
      </p:sp>
      <p:pic>
        <p:nvPicPr>
          <p:cNvPr id="6" name="Image 3" descr="https://test.web.static.jianzeppt.com/ppt-temp-img3/27246dabe72f37d0feaa98abc7c98b76.png?x-oss-process=image/resize,w_1440,h_800,m_lfit/format,png"/>
          <p:cNvPicPr>
            <a:picLocks noChangeAspect="1"/>
          </p:cNvPicPr>
          <p:nvPr/>
        </p:nvPicPr>
        <p:blipFill>
          <a:blip r:embed="rId4"/>
          <a:stretch>
            <a:fillRect/>
          </a:stretch>
        </p:blipFill>
        <p:spPr>
          <a:xfrm>
            <a:off x="609600" y="1371600"/>
            <a:ext cx="10972800" cy="144780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1630680"/>
            <a:ext cx="975360" cy="487680"/>
          </a:xfrm>
          <a:prstGeom prst="rect">
            <a:avLst/>
          </a:prstGeom>
        </p:spPr>
      </p:pic>
      <p:sp>
        <p:nvSpPr>
          <p:cNvPr id="8" name="Text 1"/>
          <p:cNvSpPr/>
          <p:nvPr/>
        </p:nvSpPr>
        <p:spPr>
          <a:xfrm>
            <a:off x="1143000" y="1722120"/>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333333"/>
                </a:solidFill>
                <a:latin typeface="思源黑体 CN Bold" pitchFamily="34" charset="0"/>
                <a:ea typeface="思源黑体 CN Bold" pitchFamily="34" charset="-122"/>
                <a:cs typeface="思源黑体 CN Bold" pitchFamily="34" charset="-120"/>
              </a:rPr>
              <a:t>必做</a:t>
            </a:r>
            <a:endParaRPr lang="en-US" sz="1680" dirty="0"/>
          </a:p>
        </p:txBody>
      </p:sp>
      <p:sp>
        <p:nvSpPr>
          <p:cNvPr id="9" name="Text 2"/>
          <p:cNvSpPr/>
          <p:nvPr/>
        </p:nvSpPr>
        <p:spPr>
          <a:xfrm>
            <a:off x="2087880" y="1691640"/>
            <a:ext cx="9244584" cy="893921"/>
          </a:xfrm>
          <a:prstGeom prst="rect">
            <a:avLst/>
          </a:prstGeom>
          <a:noFill/>
        </p:spPr>
        <p:txBody>
          <a:bodyPr wrap="square" lIns="0" tIns="0" rIns="0" bIns="0" rtlCol="0" anchor="t">
            <a:spAutoFit/>
          </a:bodyPr>
          <a:lstStyle/>
          <a:p>
            <a:pPr marL="0" indent="0" algn="l">
              <a:lnSpc>
                <a:spcPct val="163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完成一份完整的等保测评报告（基于课堂提供的模拟数据），提交至学习通平台</a:t>
            </a:r>
            <a:endParaRPr lang="en-US" sz="2160" dirty="0"/>
          </a:p>
        </p:txBody>
      </p:sp>
      <p:pic>
        <p:nvPicPr>
          <p:cNvPr id="10" name="Image 5" descr="https://test.web.static.jianzeppt.com/ppt-temp-img3/17116296da312cb31f30c84d391f9a05.png?x-oss-process=image/resize,w_1440,h_800,m_lfit/format,png"/>
          <p:cNvPicPr>
            <a:picLocks noChangeAspect="1"/>
          </p:cNvPicPr>
          <p:nvPr/>
        </p:nvPicPr>
        <p:blipFill>
          <a:blip r:embed="rId7"/>
          <a:stretch>
            <a:fillRect/>
          </a:stretch>
        </p:blipFill>
        <p:spPr>
          <a:xfrm>
            <a:off x="609600" y="3048000"/>
            <a:ext cx="10972800" cy="1005840"/>
          </a:xfrm>
          <a:prstGeom prst="rect">
            <a:avLst/>
          </a:prstGeom>
        </p:spPr>
      </p:pic>
      <p:pic>
        <p:nvPicPr>
          <p:cNvPr id="11"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3307080"/>
            <a:ext cx="975360" cy="487680"/>
          </a:xfrm>
          <a:prstGeom prst="rect">
            <a:avLst/>
          </a:prstGeom>
        </p:spPr>
      </p:pic>
      <p:sp>
        <p:nvSpPr>
          <p:cNvPr id="12" name="Text 3"/>
          <p:cNvSpPr/>
          <p:nvPr/>
        </p:nvSpPr>
        <p:spPr>
          <a:xfrm>
            <a:off x="1143000" y="3398520"/>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333333"/>
                </a:solidFill>
                <a:latin typeface="思源黑体 CN Bold" pitchFamily="34" charset="0"/>
                <a:ea typeface="思源黑体 CN Bold" pitchFamily="34" charset="-122"/>
                <a:cs typeface="思源黑体 CN Bold" pitchFamily="34" charset="-120"/>
              </a:rPr>
              <a:t>必做</a:t>
            </a:r>
            <a:endParaRPr lang="en-US" sz="1680" dirty="0"/>
          </a:p>
        </p:txBody>
      </p:sp>
      <p:sp>
        <p:nvSpPr>
          <p:cNvPr id="13" name="Text 4"/>
          <p:cNvSpPr/>
          <p:nvPr/>
        </p:nvSpPr>
        <p:spPr>
          <a:xfrm>
            <a:off x="2087880" y="3368040"/>
            <a:ext cx="9244584" cy="446961"/>
          </a:xfrm>
          <a:prstGeom prst="rect">
            <a:avLst/>
          </a:prstGeom>
          <a:noFill/>
        </p:spPr>
        <p:txBody>
          <a:bodyPr wrap="none" lIns="0" tIns="0" rIns="0" bIns="0" rtlCol="0" anchor="t">
            <a:spAutoFit/>
          </a:bodyPr>
          <a:lstStyle/>
          <a:p>
            <a:pPr marL="0" indent="0" algn="l">
              <a:lnSpc>
                <a:spcPct val="100000"/>
              </a:lnSpc>
              <a:buNone/>
            </a:pPr>
            <a:r>
              <a:rPr lang="en-US" sz="2160" dirty="0">
                <a:solidFill>
                  <a:srgbClr val="333333"/>
                </a:solidFill>
                <a:latin typeface="思源黑体 CN Regular" pitchFamily="34" charset="0"/>
                <a:ea typeface="思源黑体 CN Regular" pitchFamily="34" charset="-122"/>
                <a:cs typeface="思源黑体 CN Regular" pitchFamily="34" charset="-120"/>
              </a:rPr>
              <a:t>完成项目6.3在线测试（选择题+判断题，共20题）</a:t>
            </a:r>
            <a:endParaRPr lang="en-US" sz="2160" dirty="0"/>
          </a:p>
        </p:txBody>
      </p:sp>
      <p:pic>
        <p:nvPicPr>
          <p:cNvPr id="14" name="Image 7"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297680"/>
            <a:ext cx="10972800" cy="1005840"/>
          </a:xfrm>
          <a:prstGeom prst="rect">
            <a:avLst/>
          </a:prstGeom>
          <a:effectLst>
            <a:outerShdw blurRad="387096000" dist="193548000" dir="-1" algn="bl" rotWithShape="0">
              <a:srgbClr val="000000">
                <a:alpha val="500000000"/>
              </a:srgbClr>
            </a:outerShdw>
          </a:effectLst>
        </p:spPr>
      </p:pic>
      <p:pic>
        <p:nvPicPr>
          <p:cNvPr id="15" name="Image 8" descr="https://test.web.static.jianzeppt.com/ppt-temp-img3/5c4ad8270151bb6ea0968773eaa18066.png?x-oss-process=image/resize,w_1440,h_800,m_lfit/format,png"/>
          <p:cNvPicPr>
            <a:picLocks noChangeAspect="1"/>
          </p:cNvPicPr>
          <p:nvPr/>
        </p:nvPicPr>
        <p:blipFill>
          <a:blip r:embed="rId10"/>
          <a:stretch>
            <a:fillRect/>
          </a:stretch>
        </p:blipFill>
        <p:spPr>
          <a:xfrm>
            <a:off x="868680" y="4556760"/>
            <a:ext cx="975360" cy="487680"/>
          </a:xfrm>
          <a:prstGeom prst="rect">
            <a:avLst/>
          </a:prstGeom>
        </p:spPr>
      </p:pic>
      <p:sp>
        <p:nvSpPr>
          <p:cNvPr id="16" name="Text 5"/>
          <p:cNvSpPr/>
          <p:nvPr/>
        </p:nvSpPr>
        <p:spPr>
          <a:xfrm>
            <a:off x="1143000" y="4648200"/>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选做</a:t>
            </a:r>
            <a:endParaRPr lang="en-US" sz="1680" dirty="0"/>
          </a:p>
        </p:txBody>
      </p:sp>
      <p:sp>
        <p:nvSpPr>
          <p:cNvPr id="17" name="Text 6"/>
          <p:cNvSpPr/>
          <p:nvPr/>
        </p:nvSpPr>
        <p:spPr>
          <a:xfrm>
            <a:off x="2087880" y="4617720"/>
            <a:ext cx="9244584" cy="446961"/>
          </a:xfrm>
          <a:prstGeom prst="rect">
            <a:avLst/>
          </a:prstGeom>
          <a:noFill/>
        </p:spPr>
        <p:txBody>
          <a:bodyPr wrap="none" lIns="0" tIns="0" rIns="0" bIns="0" rtlCol="0" anchor="t">
            <a:spAutoFit/>
          </a:bodyPr>
          <a:lstStyle/>
          <a:p>
            <a:pPr marL="0" indent="0" algn="l">
              <a:lnSpc>
                <a:spcPct val="100000"/>
              </a:lnSpc>
              <a:buNone/>
            </a:pPr>
            <a:r>
              <a:rPr lang="en-US" sz="2160" dirty="0">
                <a:solidFill>
                  <a:srgbClr val="555555"/>
                </a:solidFill>
                <a:latin typeface="思源黑体 CN Regular" pitchFamily="34" charset="0"/>
                <a:ea typeface="思源黑体 CN Regular" pitchFamily="34" charset="-122"/>
                <a:cs typeface="思源黑体 CN Regular" pitchFamily="34" charset="-120"/>
              </a:rPr>
              <a:t>选取真实测评报告（脱敏版），分析其优点与可改进之处</a:t>
            </a:r>
            <a:endParaRPr lang="en-US" sz="2160" dirty="0"/>
          </a:p>
        </p:txBody>
      </p:sp>
      <p:pic>
        <p:nvPicPr>
          <p:cNvPr id="18" name="Image 9"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600" y="5547360"/>
            <a:ext cx="10972800" cy="908050"/>
          </a:xfrm>
          <a:prstGeom prst="rect">
            <a:avLst/>
          </a:prstGeom>
        </p:spPr>
      </p:pic>
      <p:pic>
        <p:nvPicPr>
          <p:cNvPr id="19" name="Image 10"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8680" y="5806440"/>
            <a:ext cx="975360" cy="487680"/>
          </a:xfrm>
          <a:prstGeom prst="rect">
            <a:avLst/>
          </a:prstGeom>
        </p:spPr>
      </p:pic>
      <p:sp>
        <p:nvSpPr>
          <p:cNvPr id="20" name="Text 7"/>
          <p:cNvSpPr/>
          <p:nvPr/>
        </p:nvSpPr>
        <p:spPr>
          <a:xfrm>
            <a:off x="1143000" y="5897880"/>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80756B"/>
                </a:solidFill>
                <a:latin typeface="思源黑体 CN Bold" pitchFamily="34" charset="0"/>
                <a:ea typeface="思源黑体 CN Bold" pitchFamily="34" charset="-122"/>
                <a:cs typeface="思源黑体 CN Bold" pitchFamily="34" charset="-120"/>
              </a:rPr>
              <a:t>预习</a:t>
            </a:r>
            <a:endParaRPr lang="en-US" sz="1680" dirty="0"/>
          </a:p>
        </p:txBody>
      </p:sp>
      <p:sp>
        <p:nvSpPr>
          <p:cNvPr id="21" name="Text 8"/>
          <p:cNvSpPr/>
          <p:nvPr/>
        </p:nvSpPr>
        <p:spPr>
          <a:xfrm>
            <a:off x="2087880" y="5867400"/>
            <a:ext cx="9244584" cy="446961"/>
          </a:xfrm>
          <a:prstGeom prst="rect">
            <a:avLst/>
          </a:prstGeom>
          <a:noFill/>
        </p:spPr>
        <p:txBody>
          <a:bodyPr wrap="none" lIns="0" tIns="0" rIns="0" bIns="0" rtlCol="0" anchor="t">
            <a:spAutoFit/>
          </a:bodyPr>
          <a:lstStyle/>
          <a:p>
            <a:pPr marL="0" indent="0" algn="l">
              <a:lnSpc>
                <a:spcPct val="100000"/>
              </a:lnSpc>
              <a:buNone/>
            </a:pPr>
            <a:r>
              <a:rPr lang="en-US" sz="2160" dirty="0">
                <a:solidFill>
                  <a:srgbClr val="80756B"/>
                </a:solidFill>
                <a:latin typeface="思源黑体 CN Regular" pitchFamily="34" charset="0"/>
                <a:ea typeface="思源黑体 CN Regular" pitchFamily="34" charset="-122"/>
                <a:cs typeface="思源黑体 CN Regular" pitchFamily="34" charset="-120"/>
              </a:rPr>
              <a:t>预习期中考试内容</a:t>
            </a:r>
            <a:endParaRPr lang="en-US" sz="21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1600200"/>
            <a:ext cx="36667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00000"/>
                </a:solidFill>
                <a:latin typeface="思源黑体 CN Regular" pitchFamily="34" charset="0"/>
                <a:ea typeface="思源黑体 CN Regular" pitchFamily="34" charset="-122"/>
                <a:cs typeface="思源黑体 CN Regular" pitchFamily="34" charset="-120"/>
              </a:rPr>
              <a:t>下节课预告</a:t>
            </a:r>
            <a:endParaRPr lang="en-US" sz="216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2000" y="2194560"/>
            <a:ext cx="975360" cy="60960"/>
          </a:xfrm>
          <a:prstGeom prst="rect">
            <a:avLst/>
          </a:prstGeom>
        </p:spPr>
      </p:pic>
      <p:sp>
        <p:nvSpPr>
          <p:cNvPr id="4" name="Text 1"/>
          <p:cNvSpPr/>
          <p:nvPr/>
        </p:nvSpPr>
        <p:spPr>
          <a:xfrm>
            <a:off x="762000" y="2438400"/>
            <a:ext cx="3666744" cy="838200"/>
          </a:xfrm>
          <a:prstGeom prst="rect">
            <a:avLst/>
          </a:prstGeom>
          <a:noFill/>
        </p:spPr>
        <p:txBody>
          <a:bodyPr wrap="none" lIns="0" tIns="0" rIns="0" bIns="0" rtlCol="0" anchor="t">
            <a:spAutoFit/>
          </a:bodyPr>
          <a:lstStyle/>
          <a:p>
            <a:pPr marL="0" indent="0" algn="l">
              <a:lnSpc>
                <a:spcPct val="100000"/>
              </a:lnSpc>
              <a:buNone/>
            </a:pPr>
            <a:r>
              <a:rPr lang="en-US" sz="5280" dirty="0">
                <a:solidFill>
                  <a:srgbClr val="000000"/>
                </a:solidFill>
                <a:latin typeface="思源黑体 CN Regular" pitchFamily="34" charset="0"/>
                <a:ea typeface="思源黑体 CN Regular" pitchFamily="34" charset="-122"/>
                <a:cs typeface="思源黑体 CN Regular" pitchFamily="34" charset="-120"/>
              </a:rPr>
              <a:t>期中考试</a:t>
            </a:r>
            <a:endParaRPr lang="en-US" sz="5280" dirty="0"/>
          </a:p>
        </p:txBody>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76800" y="0"/>
            <a:ext cx="7315200" cy="6858000"/>
          </a:xfrm>
          <a:prstGeom prst="rect">
            <a:avLst/>
          </a:prstGeom>
        </p:spPr>
      </p:pic>
      <p:sp>
        <p:nvSpPr>
          <p:cNvPr id="6" name="Text 2"/>
          <p:cNvSpPr/>
          <p:nvPr/>
        </p:nvSpPr>
        <p:spPr>
          <a:xfrm>
            <a:off x="5486400" y="807720"/>
            <a:ext cx="61051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867037"/>
                </a:solidFill>
                <a:latin typeface="思源黑体 CN Regular" pitchFamily="34" charset="0"/>
                <a:ea typeface="思源黑体 CN Regular" pitchFamily="34" charset="-122"/>
                <a:cs typeface="思源黑体 CN Regular" pitchFamily="34" charset="-120"/>
              </a:rPr>
              <a:t>考试形式</a:t>
            </a:r>
            <a:endParaRPr lang="en-US" sz="2160" dirty="0"/>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0" y="1432560"/>
            <a:ext cx="91440" cy="91440"/>
          </a:xfrm>
          <a:prstGeom prst="rect">
            <a:avLst/>
          </a:prstGeom>
        </p:spPr>
      </p:pic>
      <p:sp>
        <p:nvSpPr>
          <p:cNvPr id="8" name="Text 3"/>
          <p:cNvSpPr/>
          <p:nvPr/>
        </p:nvSpPr>
        <p:spPr>
          <a:xfrm>
            <a:off x="5699760" y="1341120"/>
            <a:ext cx="792480" cy="239395"/>
          </a:xfrm>
          <a:prstGeom prst="rect">
            <a:avLst/>
          </a:prstGeom>
          <a:noFill/>
        </p:spPr>
        <p:txBody>
          <a:bodyPr wrap="none" lIns="0" tIns="0" rIns="0" bIns="0" rtlCol="0" anchor="t">
            <a:spAutoFit/>
          </a:bodyPr>
          <a:lstStyle/>
          <a:p>
            <a:pPr marL="0" indent="0" algn="l">
              <a:lnSpc>
                <a:spcPct val="100000"/>
              </a:lnSpc>
              <a:buNone/>
            </a:pPr>
            <a:r>
              <a:rPr lang="en-US" sz="1560" dirty="0">
                <a:solidFill>
                  <a:srgbClr val="334155"/>
                </a:solidFill>
                <a:latin typeface="思源黑体 CN Regular" pitchFamily="34" charset="0"/>
                <a:ea typeface="思源黑体 CN Regular" pitchFamily="34" charset="-122"/>
                <a:cs typeface="思源黑体 CN Regular" pitchFamily="34" charset="-120"/>
              </a:rPr>
              <a:t>理论考核</a:t>
            </a:r>
            <a:endParaRPr lang="en-US" sz="1560" dirty="0"/>
          </a:p>
        </p:txBody>
      </p:sp>
      <p:pic>
        <p:nvPicPr>
          <p:cNvPr id="9"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1844040"/>
            <a:ext cx="91440" cy="91440"/>
          </a:xfrm>
          <a:prstGeom prst="rect">
            <a:avLst/>
          </a:prstGeom>
        </p:spPr>
      </p:pic>
      <p:sp>
        <p:nvSpPr>
          <p:cNvPr id="10" name="Text 4"/>
          <p:cNvSpPr/>
          <p:nvPr/>
        </p:nvSpPr>
        <p:spPr>
          <a:xfrm>
            <a:off x="5699760" y="1752600"/>
            <a:ext cx="174650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334155"/>
                </a:solidFill>
                <a:latin typeface="思源黑体 CN Regular" pitchFamily="34" charset="0"/>
                <a:ea typeface="思源黑体 CN Regular" pitchFamily="34" charset="-122"/>
                <a:cs typeface="思源黑体 CN Regular" pitchFamily="34" charset="-120"/>
              </a:rPr>
              <a:t>闭卷上机，90分钟</a:t>
            </a:r>
            <a:endParaRPr lang="en-US" sz="1560" dirty="0"/>
          </a:p>
        </p:txBody>
      </p:sp>
      <p:sp>
        <p:nvSpPr>
          <p:cNvPr id="11" name="Text 5"/>
          <p:cNvSpPr/>
          <p:nvPr/>
        </p:nvSpPr>
        <p:spPr>
          <a:xfrm>
            <a:off x="5486400" y="2438400"/>
            <a:ext cx="61051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867037"/>
                </a:solidFill>
                <a:latin typeface="思源黑体 CN Regular" pitchFamily="34" charset="0"/>
                <a:ea typeface="思源黑体 CN Regular" pitchFamily="34" charset="-122"/>
                <a:cs typeface="思源黑体 CN Regular" pitchFamily="34" charset="-120"/>
              </a:rPr>
              <a:t>考试范围</a:t>
            </a:r>
            <a:endParaRPr lang="en-US" sz="2160" dirty="0"/>
          </a:p>
        </p:txBody>
      </p:sp>
      <p:pic>
        <p:nvPicPr>
          <p:cNvPr id="12" name="Image 4"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3063240"/>
            <a:ext cx="91440" cy="91440"/>
          </a:xfrm>
          <a:prstGeom prst="rect">
            <a:avLst/>
          </a:prstGeom>
        </p:spPr>
      </p:pic>
      <p:sp>
        <p:nvSpPr>
          <p:cNvPr id="13" name="Text 6"/>
          <p:cNvSpPr/>
          <p:nvPr/>
        </p:nvSpPr>
        <p:spPr>
          <a:xfrm>
            <a:off x="5699760" y="2971800"/>
            <a:ext cx="159410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334155"/>
                </a:solidFill>
                <a:latin typeface="思源黑体 CN Regular" pitchFamily="34" charset="0"/>
                <a:ea typeface="思源黑体 CN Regular" pitchFamily="34" charset="-122"/>
                <a:cs typeface="思源黑体 CN Regular" pitchFamily="34" charset="-120"/>
              </a:rPr>
              <a:t>等保2.0标准体系</a:t>
            </a:r>
            <a:endParaRPr lang="en-US" sz="1560" dirty="0"/>
          </a:p>
        </p:txBody>
      </p:sp>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3474720"/>
            <a:ext cx="91440" cy="91440"/>
          </a:xfrm>
          <a:prstGeom prst="rect">
            <a:avLst/>
          </a:prstGeom>
        </p:spPr>
      </p:pic>
      <p:sp>
        <p:nvSpPr>
          <p:cNvPr id="15" name="Text 7"/>
          <p:cNvSpPr/>
          <p:nvPr/>
        </p:nvSpPr>
        <p:spPr>
          <a:xfrm>
            <a:off x="5684520" y="3383280"/>
            <a:ext cx="5907024" cy="738505"/>
          </a:xfrm>
          <a:prstGeom prst="rect">
            <a:avLst/>
          </a:prstGeom>
          <a:noFill/>
        </p:spPr>
        <p:txBody>
          <a:bodyPr wrap="square" lIns="0" tIns="0" rIns="0" bIns="0" rtlCol="0" anchor="t">
            <a:spAutoFit/>
          </a:bodyPr>
          <a:lstStyle/>
          <a:p>
            <a:pPr marL="0" indent="0" algn="l">
              <a:lnSpc>
                <a:spcPct val="150000"/>
              </a:lnSpc>
              <a:buNone/>
            </a:pPr>
            <a:r>
              <a:rPr lang="en-US" sz="1600" dirty="0">
                <a:solidFill>
                  <a:srgbClr val="334155"/>
                </a:solidFill>
                <a:latin typeface="思源黑体 CN Regular" pitchFamily="34" charset="0"/>
                <a:ea typeface="思源黑体 CN Regular" pitchFamily="34" charset="-122"/>
                <a:cs typeface="思源黑体 CN Regular" pitchFamily="34" charset="-120"/>
              </a:rPr>
              <a:t>安全通用要求（物理环境、通信网络、区域边界、计算环境、安全管理）</a:t>
            </a:r>
            <a:endParaRPr lang="en-US" sz="1600" dirty="0">
              <a:solidFill>
                <a:srgbClr val="334155"/>
              </a:solidFill>
              <a:latin typeface="思源黑体 CN Regular" pitchFamily="34" charset="0"/>
              <a:ea typeface="思源黑体 CN Regular" pitchFamily="34" charset="-122"/>
              <a:cs typeface="思源黑体 CN Regular" pitchFamily="34" charset="-120"/>
            </a:endParaRPr>
          </a:p>
        </p:txBody>
      </p:sp>
      <p:pic>
        <p:nvPicPr>
          <p:cNvPr id="16"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4206240"/>
            <a:ext cx="91440" cy="91440"/>
          </a:xfrm>
          <a:prstGeom prst="rect">
            <a:avLst/>
          </a:prstGeom>
        </p:spPr>
      </p:pic>
      <p:sp>
        <p:nvSpPr>
          <p:cNvPr id="17" name="Text 8"/>
          <p:cNvSpPr/>
          <p:nvPr/>
        </p:nvSpPr>
        <p:spPr>
          <a:xfrm>
            <a:off x="5699760" y="4114800"/>
            <a:ext cx="192938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334155"/>
                </a:solidFill>
                <a:latin typeface="思源黑体 CN Regular" pitchFamily="34" charset="0"/>
                <a:ea typeface="思源黑体 CN Regular" pitchFamily="34" charset="-122"/>
                <a:cs typeface="思源黑体 CN Regular" pitchFamily="34" charset="-120"/>
              </a:rPr>
              <a:t>测评流程与方案编制</a:t>
            </a:r>
            <a:endParaRPr lang="en-US" sz="1680" dirty="0"/>
          </a:p>
        </p:txBody>
      </p:sp>
      <p:sp>
        <p:nvSpPr>
          <p:cNvPr id="18" name="Text 9"/>
          <p:cNvSpPr/>
          <p:nvPr/>
        </p:nvSpPr>
        <p:spPr>
          <a:xfrm>
            <a:off x="5486400" y="4800600"/>
            <a:ext cx="61051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867037"/>
                </a:solidFill>
                <a:latin typeface="思源黑体 CN Regular" pitchFamily="34" charset="0"/>
                <a:ea typeface="思源黑体 CN Regular" pitchFamily="34" charset="-122"/>
                <a:cs typeface="思源黑体 CN Regular" pitchFamily="34" charset="-120"/>
              </a:rPr>
              <a:t>复习建议</a:t>
            </a:r>
            <a:endParaRPr lang="en-US" sz="2160" dirty="0"/>
          </a:p>
        </p:txBody>
      </p:sp>
      <p:pic>
        <p:nvPicPr>
          <p:cNvPr id="19"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5425440"/>
            <a:ext cx="91440" cy="91440"/>
          </a:xfrm>
          <a:prstGeom prst="rect">
            <a:avLst/>
          </a:prstGeom>
        </p:spPr>
      </p:pic>
      <p:sp>
        <p:nvSpPr>
          <p:cNvPr id="20" name="Text 10"/>
          <p:cNvSpPr/>
          <p:nvPr/>
        </p:nvSpPr>
        <p:spPr>
          <a:xfrm>
            <a:off x="5699760" y="5334000"/>
            <a:ext cx="203606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334155"/>
                </a:solidFill>
                <a:latin typeface="思源黑体 CN Regular" pitchFamily="34" charset="0"/>
                <a:ea typeface="思源黑体 CN Regular" pitchFamily="34" charset="-122"/>
                <a:cs typeface="思源黑体 CN Regular" pitchFamily="34" charset="-120"/>
              </a:rPr>
              <a:t>回顾项目1-6的知识点</a:t>
            </a:r>
            <a:endParaRPr lang="en-US" sz="1560" dirty="0"/>
          </a:p>
        </p:txBody>
      </p:sp>
      <p:pic>
        <p:nvPicPr>
          <p:cNvPr id="21" name="Image 8"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0" y="5836920"/>
            <a:ext cx="91440" cy="91440"/>
          </a:xfrm>
          <a:prstGeom prst="rect">
            <a:avLst/>
          </a:prstGeom>
        </p:spPr>
      </p:pic>
      <p:sp>
        <p:nvSpPr>
          <p:cNvPr id="22" name="Text 11"/>
          <p:cNvSpPr/>
          <p:nvPr/>
        </p:nvSpPr>
        <p:spPr>
          <a:xfrm>
            <a:off x="5699760" y="5745480"/>
            <a:ext cx="256946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554133"/>
                </a:solidFill>
                <a:latin typeface="思源黑体 CN Regular" pitchFamily="34" charset="0"/>
                <a:ea typeface="思源黑体 CN Regular" pitchFamily="34" charset="-122"/>
                <a:cs typeface="思源黑体 CN Regular" pitchFamily="34" charset="-120"/>
              </a:rPr>
              <a:t>复习测评记录表和报告模板</a:t>
            </a:r>
            <a:endParaRPr lang="en-US" sz="1680" dirty="0"/>
          </a:p>
        </p:txBody>
      </p:sp>
    </p:spTree>
  </p:cSld>
  <p:clrMapOvr>
    <a:masterClrMapping/>
  </p:clrMapOvr>
</p:sld>
</file>

<file path=ppt/tags/tag1.xml><?xml version="1.0" encoding="utf-8"?>
<p:tagLst xmlns:p="http://schemas.openxmlformats.org/presentationml/2006/main">
  <p:tag name="KSO_WM_DIAGRAM_VIRTUALLY_FRAME" val="{&quot;height&quot;:280.8,&quot;left&quot;:48,&quot;top&quot;:223.2,&quot;width&quot;:865.2}"/>
</p:tagLst>
</file>

<file path=ppt/tags/tag2.xml><?xml version="1.0" encoding="utf-8"?>
<p:tagLst xmlns:p="http://schemas.openxmlformats.org/presentationml/2006/main">
  <p:tag name="KSO_WM_DIAGRAM_VIRTUALLY_FRAME" val="{&quot;height&quot;:280.8,&quot;left&quot;:48,&quot;top&quot;:223.2,&quot;width&quot;:865.2}"/>
</p:tagLst>
</file>

<file path=ppt/tags/tag3.xml><?xml version="1.0" encoding="utf-8"?>
<p:tagLst xmlns:p="http://schemas.openxmlformats.org/presentationml/2006/main">
  <p:tag name="KSO_WM_DIAGRAM_VIRTUALLY_FRAME" val="{&quot;height&quot;:280.8,&quot;left&quot;:48,&quot;top&quot;:223.2,&quot;width&quot;:865.2}"/>
</p:tagLst>
</file>

<file path=ppt/tags/tag4.xml><?xml version="1.0" encoding="utf-8"?>
<p:tagLst xmlns:p="http://schemas.openxmlformats.org/presentationml/2006/main">
  <p:tag name="KSO_WM_DIAGRAM_VIRTUALLY_FRAME" val="{&quot;height&quot;:280.8,&quot;left&quot;:48,&quot;top&quot;:223.2,&quot;width&quot;:865.2}"/>
</p:tagLst>
</file>

<file path=ppt/tags/tag5.xml><?xml version="1.0" encoding="utf-8"?>
<p:tagLst xmlns:p="http://schemas.openxmlformats.org/presentationml/2006/main">
  <p:tag name="KSO_WM_DIAGRAM_VIRTUALLY_FRAME" val="{&quot;height&quot;:280.8,&quot;left&quot;:48,&quot;top&quot;:223.2,&quot;width&quot;:865.2}"/>
</p:tagLst>
</file>

<file path=ppt/tags/tag6.xml><?xml version="1.0" encoding="utf-8"?>
<p:tagLst xmlns:p="http://schemas.openxmlformats.org/presentationml/2006/main">
  <p:tag name="KSO_WM_DIAGRAM_VIRTUALLY_FRAME" val="{&quot;height&quot;:280.8,&quot;left&quot;:48,&quot;top&quot;:223.2,&quot;width&quot;:865.2}"/>
</p:tagLst>
</file>

<file path=ppt/tags/tag7.xml><?xml version="1.0" encoding="utf-8"?>
<p:tagLst xmlns:p="http://schemas.openxmlformats.org/presentationml/2006/main">
  <p:tag name="KSO_WM_DIAGRAM_VIRTUALLY_FRAME" val="{&quot;height&quot;:280.8,&quot;left&quot;:48,&quot;top&quot;:223.2,&quot;width&quot;:865.2}"/>
</p:tagLst>
</file>

<file path=ppt/tags/tag8.xml><?xml version="1.0" encoding="utf-8"?>
<p:tagLst xmlns:p="http://schemas.openxmlformats.org/presentationml/2006/main">
  <p:tag name="KSO_WM_DIAGRAM_VIRTUALLY_FRAME" val="{&quot;height&quot;:280.8,&quot;left&quot;:48,&quot;top&quot;:223.2,&quot;width&quot;:865.2}"/>
</p:tagLst>
</file>

<file path=ppt/tags/tag9.xml><?xml version="1.0" encoding="utf-8"?>
<p:tagLst xmlns:p="http://schemas.openxmlformats.org/presentationml/2006/main">
  <p:tag name="KSO_WM_DIAGRAM_VIRTUALLY_FRAME" val="{&quot;height&quot;:280.8,&quot;left&quot;:48,&quot;top&quot;:223.2,&quot;width&quot;:865.2}"/>
</p:tagLst>
</file>

<file path=ppt/tags/tag10.xml><?xml version="1.0" encoding="utf-8"?>
<p:tagLst xmlns:p="http://schemas.openxmlformats.org/presentationml/2006/main">
  <p:tag name="KSO_WM_DIAGRAM_VIRTUALLY_FRAME" val="{&quot;height&quot;:280.8,&quot;left&quot;:48,&quot;top&quot;:223.2,&quot;width&quot;:865.2}"/>
</p:tagLst>
</file>

<file path=ppt/tags/tag11.xml><?xml version="1.0" encoding="utf-8"?>
<p:tagLst xmlns:p="http://schemas.openxmlformats.org/presentationml/2006/main">
  <p:tag name="KSO_WM_DIAGRAM_VIRTUALLY_FRAME" val="{&quot;height&quot;:280.8,&quot;left&quot;:48,&quot;top&quot;:223.2,&quot;width&quot;:865.2}"/>
</p:tagLst>
</file>

<file path=ppt/tags/tag12.xml><?xml version="1.0" encoding="utf-8"?>
<p:tagLst xmlns:p="http://schemas.openxmlformats.org/presentationml/2006/main">
  <p:tag name="KSO_WM_DIAGRAM_VIRTUALLY_FRAME" val="{&quot;height&quot;:280.8,&quot;left&quot;:48,&quot;top&quot;:223.2,&quot;width&quot;:865.2}"/>
</p:tagLst>
</file>

<file path=ppt/tags/tag13.xml><?xml version="1.0" encoding="utf-8"?>
<p:tagLst xmlns:p="http://schemas.openxmlformats.org/presentationml/2006/main">
  <p:tag name="KSO_WM_DIAGRAM_VIRTUALLY_FRAME" val="{&quot;height&quot;:280.8,&quot;left&quot;:48,&quot;top&quot;:223.2,&quot;width&quot;:865.2}"/>
</p:tagLst>
</file>

<file path=ppt/tags/tag14.xml><?xml version="1.0" encoding="utf-8"?>
<p:tagLst xmlns:p="http://schemas.openxmlformats.org/presentationml/2006/main">
  <p:tag name="KSO_WM_DIAGRAM_VIRTUALLY_FRAME" val="{&quot;height&quot;:280.8,&quot;left&quot;:48,&quot;top&quot;:223.2,&quot;width&quot;:865.2}"/>
</p:tagLst>
</file>

<file path=ppt/tags/tag15.xml><?xml version="1.0" encoding="utf-8"?>
<p:tagLst xmlns:p="http://schemas.openxmlformats.org/presentationml/2006/main">
  <p:tag name="KSO_WM_DIAGRAM_VIRTUALLY_FRAME" val="{&quot;height&quot;:280.8,&quot;left&quot;:48,&quot;top&quot;:223.2,&quot;width&quot;:865.2}"/>
</p:tagLst>
</file>

<file path=ppt/tags/tag16.xml><?xml version="1.0" encoding="utf-8"?>
<p:tagLst xmlns:p="http://schemas.openxmlformats.org/presentationml/2006/main">
  <p:tag name="KSO_WM_DIAGRAM_VIRTUALLY_FRAME" val="{&quot;height&quot;:280.8,&quot;left&quot;:48,&quot;top&quot;:223.2,&quot;width&quot;:865.2}"/>
</p:tagLst>
</file>

<file path=ppt/tags/tag17.xml><?xml version="1.0" encoding="utf-8"?>
<p:tagLst xmlns:p="http://schemas.openxmlformats.org/presentationml/2006/main">
  <p:tag name="KSO_WM_DIAGRAM_VIRTUALLY_FRAME" val="{&quot;height&quot;:280.8,&quot;left&quot;:48,&quot;top&quot;:223.2,&quot;width&quot;:865.2}"/>
</p:tagLst>
</file>

<file path=ppt/tags/tag18.xml><?xml version="1.0" encoding="utf-8"?>
<p:tagLst xmlns:p="http://schemas.openxmlformats.org/presentationml/2006/main">
  <p:tag name="KSO_WM_DIAGRAM_VIRTUALLY_FRAME" val="{&quot;height&quot;:280.8,&quot;left&quot;:48,&quot;top&quot;:223.2,&quot;width&quot;:865.2}"/>
</p:tagLst>
</file>

<file path=ppt/tags/tag19.xml><?xml version="1.0" encoding="utf-8"?>
<p:tagLst xmlns:p="http://schemas.openxmlformats.org/presentationml/2006/main">
  <p:tag name="KSO_WM_DIAGRAM_VIRTUALLY_FRAME" val="{&quot;height&quot;:280.8,&quot;left&quot;:48,&quot;top&quot;:223.2,&quot;width&quot;:865.2}"/>
</p:tagLst>
</file>

<file path=ppt/tags/tag20.xml><?xml version="1.0" encoding="utf-8"?>
<p:tagLst xmlns:p="http://schemas.openxmlformats.org/presentationml/2006/main">
  <p:tag name="KSO_WM_DIAGRAM_VIRTUALLY_FRAME" val="{&quot;height&quot;:280.8,&quot;left&quot;:48,&quot;top&quot;:223.2,&quot;width&quot;:865.2}"/>
</p:tagLst>
</file>

<file path=ppt/tags/tag21.xml><?xml version="1.0" encoding="utf-8"?>
<p:tagLst xmlns:p="http://schemas.openxmlformats.org/presentationml/2006/main">
  <p:tag name="KSO_WM_DIAGRAM_VIRTUALLY_FRAME" val="{&quot;height&quot;:280.8,&quot;left&quot;:48,&quot;top&quot;:223.2,&quot;width&quot;:865.2}"/>
</p:tagLst>
</file>

<file path=ppt/tags/tag22.xml><?xml version="1.0" encoding="utf-8"?>
<p:tagLst xmlns:p="http://schemas.openxmlformats.org/presentationml/2006/main">
  <p:tag name="KSO_WM_DIAGRAM_VIRTUALLY_FRAME" val="{&quot;height&quot;:280.8,&quot;left&quot;:48,&quot;top&quot;:223.2,&quot;width&quot;:865.2}"/>
</p:tagLst>
</file>

<file path=ppt/tags/tag23.xml><?xml version="1.0" encoding="utf-8"?>
<p:tagLst xmlns:p="http://schemas.openxmlformats.org/presentationml/2006/main">
  <p:tag name="KSO_WM_DIAGRAM_VIRTUALLY_FRAME" val="{&quot;height&quot;:280.8,&quot;left&quot;:48,&quot;top&quot;:223.2,&quot;width&quot;:865.2}"/>
</p:tagLst>
</file>

<file path=ppt/tags/tag24.xml><?xml version="1.0" encoding="utf-8"?>
<p:tagLst xmlns:p="http://schemas.openxmlformats.org/presentationml/2006/main">
  <p:tag name="KSO_WM_DIAGRAM_VIRTUALLY_FRAME" val="{&quot;height&quot;:280.8,&quot;left&quot;:48,&quot;top&quot;:223.2,&quot;width&quot;:865.2}"/>
</p:tagLst>
</file>

<file path=ppt/tags/tag25.xml><?xml version="1.0" encoding="utf-8"?>
<p:tagLst xmlns:p="http://schemas.openxmlformats.org/presentationml/2006/main">
  <p:tag name="KSO_WM_DIAGRAM_VIRTUALLY_FRAME" val="{&quot;height&quot;:280.8,&quot;left&quot;:48,&quot;top&quot;:223.2,&quot;width&quot;:865.2}"/>
</p:tagLst>
</file>

<file path=ppt/tags/tag26.xml><?xml version="1.0" encoding="utf-8"?>
<p:tagLst xmlns:p="http://schemas.openxmlformats.org/presentationml/2006/main">
  <p:tag name="KSO_WM_DIAGRAM_VIRTUALLY_FRAME" val="{&quot;height&quot;:280.8,&quot;left&quot;:48,&quot;top&quot;:223.2,&quot;width&quot;:865.2}"/>
</p:tagLst>
</file>

<file path=ppt/tags/tag27.xml><?xml version="1.0" encoding="utf-8"?>
<p:tagLst xmlns:p="http://schemas.openxmlformats.org/presentationml/2006/main">
  <p:tag name="KSO_WM_DIAGRAM_VIRTUALLY_FRAME" val="{&quot;height&quot;:262.8,&quot;left&quot;:342,&quot;top&quot;:159.6,&quot;width&quot;:571.2}"/>
</p:tagLst>
</file>

<file path=ppt/tags/tag28.xml><?xml version="1.0" encoding="utf-8"?>
<p:tagLst xmlns:p="http://schemas.openxmlformats.org/presentationml/2006/main">
  <p:tag name="KSO_WM_DIAGRAM_VIRTUALLY_FRAME" val="{&quot;height&quot;:262.8,&quot;left&quot;:342,&quot;top&quot;:159.6,&quot;width&quot;:571.2}"/>
</p:tagLst>
</file>

<file path=ppt/tags/tag29.xml><?xml version="1.0" encoding="utf-8"?>
<p:tagLst xmlns:p="http://schemas.openxmlformats.org/presentationml/2006/main">
  <p:tag name="KSO_WM_DIAGRAM_VIRTUALLY_FRAME" val="{&quot;height&quot;:262.8,&quot;left&quot;:342,&quot;top&quot;:159.6,&quot;width&quot;:571.2}"/>
</p:tagLst>
</file>

<file path=ppt/tags/tag30.xml><?xml version="1.0" encoding="utf-8"?>
<p:tagLst xmlns:p="http://schemas.openxmlformats.org/presentationml/2006/main">
  <p:tag name="KSO_WM_DIAGRAM_VIRTUALLY_FRAME" val="{&quot;height&quot;:262.8,&quot;left&quot;:342,&quot;top&quot;:159.6,&quot;width&quot;:571.2}"/>
</p:tagLst>
</file>

<file path=ppt/tags/tag31.xml><?xml version="1.0" encoding="utf-8"?>
<p:tagLst xmlns:p="http://schemas.openxmlformats.org/presentationml/2006/main">
  <p:tag name="KSO_WM_DIAGRAM_VIRTUALLY_FRAME" val="{&quot;height&quot;:262.8,&quot;left&quot;:342,&quot;top&quot;:159.6,&quot;width&quot;:571.2}"/>
</p:tagLst>
</file>

<file path=ppt/tags/tag32.xml><?xml version="1.0" encoding="utf-8"?>
<p:tagLst xmlns:p="http://schemas.openxmlformats.org/presentationml/2006/main">
  <p:tag name="KSO_WM_DIAGRAM_VIRTUALLY_FRAME" val="{&quot;height&quot;:262.8,&quot;left&quot;:342,&quot;top&quot;:159.6,&quot;width&quot;:571.2}"/>
</p:tagLst>
</file>

<file path=ppt/tags/tag33.xml><?xml version="1.0" encoding="utf-8"?>
<p:tagLst xmlns:p="http://schemas.openxmlformats.org/presentationml/2006/main">
  <p:tag name="KSO_WM_DIAGRAM_VIRTUALLY_FRAME" val="{&quot;height&quot;:262.8,&quot;left&quot;:342,&quot;top&quot;:159.6,&quot;width&quot;:571.2}"/>
</p:tagLst>
</file>

<file path=ppt/tags/tag34.xml><?xml version="1.0" encoding="utf-8"?>
<p:tagLst xmlns:p="http://schemas.openxmlformats.org/presentationml/2006/main">
  <p:tag name="KSO_WM_DIAGRAM_VIRTUALLY_FRAME" val="{&quot;height&quot;:262.8,&quot;left&quot;:342,&quot;top&quot;:159.6,&quot;width&quot;:571.2}"/>
</p:tagLst>
</file>

<file path=ppt/tags/tag35.xml><?xml version="1.0" encoding="utf-8"?>
<p:tagLst xmlns:p="http://schemas.openxmlformats.org/presentationml/2006/main">
  <p:tag name="KSO_WM_DIAGRAM_VIRTUALLY_FRAME" val="{&quot;height&quot;:262.8,&quot;left&quot;:342,&quot;top&quot;:159.6,&quot;width&quot;:571.2}"/>
</p:tagLst>
</file>

<file path=ppt/tags/tag36.xml><?xml version="1.0" encoding="utf-8"?>
<p:tagLst xmlns:p="http://schemas.openxmlformats.org/presentationml/2006/main">
  <p:tag name="KSO_WM_DIAGRAM_VIRTUALLY_FRAME" val="{&quot;height&quot;:262.8,&quot;left&quot;:342,&quot;top&quot;:159.6,&quot;width&quot;:571.2}"/>
</p:tagLst>
</file>

<file path=ppt/tags/tag37.xml><?xml version="1.0" encoding="utf-8"?>
<p:tagLst xmlns:p="http://schemas.openxmlformats.org/presentationml/2006/main">
  <p:tag name="KSO_WM_DIAGRAM_VIRTUALLY_FRAME" val="{&quot;height&quot;:262.8,&quot;left&quot;:342,&quot;top&quot;:159.6,&quot;width&quot;:571.2}"/>
</p:tagLst>
</file>

<file path=ppt/tags/tag38.xml><?xml version="1.0" encoding="utf-8"?>
<p:tagLst xmlns:p="http://schemas.openxmlformats.org/presentationml/2006/main">
  <p:tag name="KSO_WM_DIAGRAM_VIRTUALLY_FRAME" val="{&quot;height&quot;:262.8,&quot;left&quot;:342,&quot;top&quot;:159.6,&quot;width&quot;:57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3531</Words>
  <Application>WPS 演示</Application>
  <PresentationFormat>On-screen Show (16:9)</PresentationFormat>
  <Paragraphs>759</Paragraphs>
  <Slides>22</Slides>
  <Notes>22</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vt:i4>
      </vt:variant>
      <vt:variant>
        <vt:lpstr>幻灯片标题</vt:lpstr>
      </vt:variant>
      <vt:variant>
        <vt:i4>22</vt:i4>
      </vt:variant>
    </vt:vector>
  </HeadingPairs>
  <TitlesOfParts>
    <vt:vector size="44" baseType="lpstr">
      <vt:lpstr>Arial</vt:lpstr>
      <vt:lpstr>宋体</vt:lpstr>
      <vt:lpstr>Wingdings</vt:lpstr>
      <vt:lpstr>思源黑体 CN</vt:lpstr>
      <vt:lpstr>黑体</vt:lpstr>
      <vt:lpstr>思源黑体 CN</vt:lpstr>
      <vt:lpstr>思源黑体 CN</vt:lpstr>
      <vt:lpstr>思源黑体 CN Bold</vt:lpstr>
      <vt:lpstr>思源黑体 CN Bold</vt:lpstr>
      <vt:lpstr>思源黑体 CN Bold</vt:lpstr>
      <vt:lpstr>思源黑体 CN Regular</vt:lpstr>
      <vt:lpstr>思源黑体 CN Regular</vt:lpstr>
      <vt:lpstr>思源黑体 CN Regular</vt:lpstr>
      <vt:lpstr>Calibri</vt:lpstr>
      <vt:lpstr>微软雅黑</vt:lpstr>
      <vt:lpstr>Arial Unicode MS</vt:lpstr>
      <vt:lpstr>等线</vt:lpstr>
      <vt:lpstr>Office Theme</vt:lpstr>
      <vt:lpstr>Word.Document.12</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202603</cp:lastModifiedBy>
  <cp:revision>6</cp:revision>
  <dcterms:created xsi:type="dcterms:W3CDTF">2026-08-30T14:01:00Z</dcterms:created>
  <dcterms:modified xsi:type="dcterms:W3CDTF">2026-10-16T07:43:34Z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EDA6109977B94E0189AA3A61BC60AD45_12</vt:lpwstr>
  </property>
</Properties>
</file>