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3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8.svg" ContentType="image/svg+xml"/>
  <Override PartName="/ppt/media/image131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6.svg" ContentType="image/svg+xml"/>
  <Override PartName="/ppt/media/image150.svg" ContentType="image/svg+xml"/>
  <Override PartName="/ppt/media/image152.svg" ContentType="image/svg+xml"/>
  <Override PartName="/ppt/media/image158.svg" ContentType="image/svg+xml"/>
  <Override PartName="/ppt/media/image16.svg" ContentType="image/svg+xml"/>
  <Override PartName="/ppt/media/image162.svg" ContentType="image/svg+xml"/>
  <Override PartName="/ppt/media/image166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0.svg" ContentType="image/svg+xml"/>
  <Override PartName="/ppt/media/image182.svg" ContentType="image/svg+xml"/>
  <Override PartName="/ppt/media/image184.svg" ContentType="image/svg+xml"/>
  <Override PartName="/ppt/media/image187.svg" ContentType="image/svg+xml"/>
  <Override PartName="/ppt/media/image19.svg" ContentType="image/svg+xml"/>
  <Override PartName="/ppt/media/image190.svg" ContentType="image/svg+xml"/>
  <Override PartName="/ppt/media/image194.svg" ContentType="image/svg+xml"/>
  <Override PartName="/ppt/media/image197.svg" ContentType="image/svg+xml"/>
  <Override PartName="/ppt/media/image200.svg" ContentType="image/svg+xml"/>
  <Override PartName="/ppt/media/image202.svg" ContentType="image/svg+xml"/>
  <Override PartName="/ppt/media/image204.svg" ContentType="image/svg+xml"/>
  <Override PartName="/ppt/media/image206.svg" ContentType="image/svg+xml"/>
  <Override PartName="/ppt/media/image208.svg" ContentType="image/svg+xml"/>
  <Override PartName="/ppt/media/image210.svg" ContentType="image/svg+xml"/>
  <Override PartName="/ppt/media/image212.svg" ContentType="image/svg+xml"/>
  <Override PartName="/ppt/media/image216.svg" ContentType="image/svg+xml"/>
  <Override PartName="/ppt/media/image218.svg" ContentType="image/svg+xml"/>
  <Override PartName="/ppt/media/image220.svg" ContentType="image/svg+xml"/>
  <Override PartName="/ppt/media/image221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3.svg" ContentType="image/svg+xml"/>
  <Override PartName="/ppt/media/image35.svg" ContentType="image/svg+xml"/>
  <Override PartName="/ppt/media/image46.svg" ContentType="image/svg+xml"/>
  <Override PartName="/ppt/media/image48.svg" ContentType="image/svg+xml"/>
  <Override PartName="/ppt/media/image58.svg" ContentType="image/svg+xml"/>
  <Override PartName="/ppt/media/image65.svg" ContentType="image/svg+xml"/>
  <Override PartName="/ppt/media/image71.svg" ContentType="image/svg+xml"/>
  <Override PartName="/ppt/media/image73.svg" ContentType="image/svg+xml"/>
  <Override PartName="/ppt/media/image80.svg" ContentType="image/svg+xml"/>
  <Override PartName="/ppt/media/image82.svg" ContentType="image/svg+xml"/>
  <Override PartName="/ppt/media/image88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8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30.png"/><Relationship Id="rId20" Type="http://schemas.openxmlformats.org/officeDocument/2006/relationships/image" Target="../media/image29.svg"/><Relationship Id="rId2" Type="http://schemas.openxmlformats.org/officeDocument/2006/relationships/image" Target="../media/image11.png"/><Relationship Id="rId19" Type="http://schemas.openxmlformats.org/officeDocument/2006/relationships/image" Target="../media/image28.png"/><Relationship Id="rId18" Type="http://schemas.openxmlformats.org/officeDocument/2006/relationships/image" Target="../media/image27.png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image" Target="../media/image24.sv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48.svg"/><Relationship Id="rId17" Type="http://schemas.openxmlformats.org/officeDocument/2006/relationships/image" Target="../media/image47.png"/><Relationship Id="rId16" Type="http://schemas.openxmlformats.org/officeDocument/2006/relationships/image" Target="../media/image46.svg"/><Relationship Id="rId15" Type="http://schemas.openxmlformats.org/officeDocument/2006/relationships/image" Target="../media/image45.png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tags" Target="../tags/tag2.xml"/><Relationship Id="rId7" Type="http://schemas.openxmlformats.org/officeDocument/2006/relationships/image" Target="../media/image51.png"/><Relationship Id="rId6" Type="http://schemas.openxmlformats.org/officeDocument/2006/relationships/tags" Target="../tags/tag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12.png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9" Type="http://schemas.openxmlformats.org/officeDocument/2006/relationships/image" Target="../media/image56.png"/><Relationship Id="rId18" Type="http://schemas.openxmlformats.org/officeDocument/2006/relationships/tags" Target="../tags/tag8.xml"/><Relationship Id="rId17" Type="http://schemas.openxmlformats.org/officeDocument/2006/relationships/image" Target="../media/image55.png"/><Relationship Id="rId16" Type="http://schemas.openxmlformats.org/officeDocument/2006/relationships/tags" Target="../tags/tag7.xml"/><Relationship Id="rId15" Type="http://schemas.openxmlformats.org/officeDocument/2006/relationships/image" Target="../media/image54.png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image" Target="../media/image53.png"/><Relationship Id="rId10" Type="http://schemas.openxmlformats.org/officeDocument/2006/relationships/tags" Target="../tags/tag3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67.png"/><Relationship Id="rId14" Type="http://schemas.openxmlformats.org/officeDocument/2006/relationships/image" Target="../media/image66.png"/><Relationship Id="rId13" Type="http://schemas.openxmlformats.org/officeDocument/2006/relationships/image" Target="../media/image20.png"/><Relationship Id="rId12" Type="http://schemas.openxmlformats.org/officeDocument/2006/relationships/image" Target="../media/image65.svg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svg"/><Relationship Id="rId8" Type="http://schemas.openxmlformats.org/officeDocument/2006/relationships/image" Target="../media/image72.png"/><Relationship Id="rId7" Type="http://schemas.openxmlformats.org/officeDocument/2006/relationships/image" Target="../media/image71.svg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77.png"/><Relationship Id="rId12" Type="http://schemas.openxmlformats.org/officeDocument/2006/relationships/image" Target="../media/image76.png"/><Relationship Id="rId11" Type="http://schemas.openxmlformats.org/officeDocument/2006/relationships/image" Target="../media/image75.png"/><Relationship Id="rId10" Type="http://schemas.openxmlformats.org/officeDocument/2006/relationships/image" Target="../media/image74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86.png"/><Relationship Id="rId11" Type="http://schemas.openxmlformats.org/officeDocument/2006/relationships/image" Target="../media/image85.png"/><Relationship Id="rId10" Type="http://schemas.openxmlformats.org/officeDocument/2006/relationships/image" Target="../media/image84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sv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10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06.png"/><Relationship Id="rId22" Type="http://schemas.openxmlformats.org/officeDocument/2006/relationships/image" Target="../media/image105.png"/><Relationship Id="rId21" Type="http://schemas.openxmlformats.org/officeDocument/2006/relationships/image" Target="../media/image104.png"/><Relationship Id="rId20" Type="http://schemas.openxmlformats.org/officeDocument/2006/relationships/image" Target="../media/image103.svg"/><Relationship Id="rId2" Type="http://schemas.openxmlformats.org/officeDocument/2006/relationships/image" Target="../media/image11.png"/><Relationship Id="rId19" Type="http://schemas.openxmlformats.org/officeDocument/2006/relationships/image" Target="../media/image102.png"/><Relationship Id="rId18" Type="http://schemas.openxmlformats.org/officeDocument/2006/relationships/image" Target="../media/image101.svg"/><Relationship Id="rId17" Type="http://schemas.openxmlformats.org/officeDocument/2006/relationships/image" Target="../media/image100.png"/><Relationship Id="rId16" Type="http://schemas.openxmlformats.org/officeDocument/2006/relationships/image" Target="../media/image99.svg"/><Relationship Id="rId15" Type="http://schemas.openxmlformats.org/officeDocument/2006/relationships/image" Target="../media/image98.png"/><Relationship Id="rId14" Type="http://schemas.openxmlformats.org/officeDocument/2006/relationships/image" Target="../media/image97.svg"/><Relationship Id="rId13" Type="http://schemas.openxmlformats.org/officeDocument/2006/relationships/image" Target="../media/image96.png"/><Relationship Id="rId12" Type="http://schemas.openxmlformats.org/officeDocument/2006/relationships/image" Target="../media/image95.svg"/><Relationship Id="rId11" Type="http://schemas.openxmlformats.org/officeDocument/2006/relationships/image" Target="../media/image94.png"/><Relationship Id="rId10" Type="http://schemas.openxmlformats.org/officeDocument/2006/relationships/image" Target="../media/image93.sv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svg"/><Relationship Id="rId8" Type="http://schemas.openxmlformats.org/officeDocument/2006/relationships/image" Target="../media/image111.png"/><Relationship Id="rId7" Type="http://schemas.openxmlformats.org/officeDocument/2006/relationships/image" Target="../media/image110.svg"/><Relationship Id="rId6" Type="http://schemas.openxmlformats.org/officeDocument/2006/relationships/image" Target="../media/image109.png"/><Relationship Id="rId5" Type="http://schemas.openxmlformats.org/officeDocument/2006/relationships/image" Target="../media/image108.svg"/><Relationship Id="rId4" Type="http://schemas.openxmlformats.org/officeDocument/2006/relationships/image" Target="../media/image107.png"/><Relationship Id="rId3" Type="http://schemas.openxmlformats.org/officeDocument/2006/relationships/image" Target="../media/image12.png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9" Type="http://schemas.openxmlformats.org/officeDocument/2006/relationships/image" Target="../media/image122.svg"/><Relationship Id="rId18" Type="http://schemas.openxmlformats.org/officeDocument/2006/relationships/image" Target="../media/image121.png"/><Relationship Id="rId17" Type="http://schemas.openxmlformats.org/officeDocument/2006/relationships/image" Target="../media/image120.svg"/><Relationship Id="rId16" Type="http://schemas.openxmlformats.org/officeDocument/2006/relationships/image" Target="../media/image119.png"/><Relationship Id="rId15" Type="http://schemas.openxmlformats.org/officeDocument/2006/relationships/image" Target="../media/image118.svg"/><Relationship Id="rId14" Type="http://schemas.openxmlformats.org/officeDocument/2006/relationships/image" Target="../media/image117.png"/><Relationship Id="rId13" Type="http://schemas.openxmlformats.org/officeDocument/2006/relationships/image" Target="../media/image116.svg"/><Relationship Id="rId12" Type="http://schemas.openxmlformats.org/officeDocument/2006/relationships/image" Target="../media/image115.png"/><Relationship Id="rId11" Type="http://schemas.openxmlformats.org/officeDocument/2006/relationships/image" Target="../media/image114.svg"/><Relationship Id="rId10" Type="http://schemas.openxmlformats.org/officeDocument/2006/relationships/image" Target="../media/image113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svg"/><Relationship Id="rId8" Type="http://schemas.openxmlformats.org/officeDocument/2006/relationships/image" Target="../media/image127.png"/><Relationship Id="rId7" Type="http://schemas.openxmlformats.org/officeDocument/2006/relationships/image" Target="../media/image126.png"/><Relationship Id="rId6" Type="http://schemas.openxmlformats.org/officeDocument/2006/relationships/image" Target="../media/image125.png"/><Relationship Id="rId5" Type="http://schemas.openxmlformats.org/officeDocument/2006/relationships/image" Target="../media/image124.svg"/><Relationship Id="rId4" Type="http://schemas.openxmlformats.org/officeDocument/2006/relationships/image" Target="../media/image12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12.xml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32.wmf"/><Relationship Id="rId13" Type="http://schemas.openxmlformats.org/officeDocument/2006/relationships/package" Target="../embeddings/Document1.docx"/><Relationship Id="rId12" Type="http://schemas.openxmlformats.org/officeDocument/2006/relationships/image" Target="../media/image131.svg"/><Relationship Id="rId11" Type="http://schemas.openxmlformats.org/officeDocument/2006/relationships/image" Target="../media/image130.png"/><Relationship Id="rId10" Type="http://schemas.openxmlformats.org/officeDocument/2006/relationships/image" Target="../media/image129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svg"/><Relationship Id="rId8" Type="http://schemas.openxmlformats.org/officeDocument/2006/relationships/image" Target="../media/image138.png"/><Relationship Id="rId7" Type="http://schemas.openxmlformats.org/officeDocument/2006/relationships/image" Target="../media/image137.svg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3" Type="http://schemas.openxmlformats.org/officeDocument/2006/relationships/image" Target="../media/image133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4.png"/><Relationship Id="rId13" Type="http://schemas.openxmlformats.org/officeDocument/2006/relationships/image" Target="../media/image143.svg"/><Relationship Id="rId12" Type="http://schemas.openxmlformats.org/officeDocument/2006/relationships/image" Target="../media/image142.png"/><Relationship Id="rId11" Type="http://schemas.openxmlformats.org/officeDocument/2006/relationships/image" Target="../media/image141.svg"/><Relationship Id="rId10" Type="http://schemas.openxmlformats.org/officeDocument/2006/relationships/image" Target="../media/image14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png"/><Relationship Id="rId8" Type="http://schemas.openxmlformats.org/officeDocument/2006/relationships/image" Target="../media/image126.png"/><Relationship Id="rId7" Type="http://schemas.openxmlformats.org/officeDocument/2006/relationships/image" Target="../media/image148.png"/><Relationship Id="rId6" Type="http://schemas.openxmlformats.org/officeDocument/2006/relationships/image" Target="../media/image147.png"/><Relationship Id="rId5" Type="http://schemas.openxmlformats.org/officeDocument/2006/relationships/image" Target="../media/image146.svg"/><Relationship Id="rId4" Type="http://schemas.openxmlformats.org/officeDocument/2006/relationships/image" Target="../media/image14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14.xml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55.wmf"/><Relationship Id="rId15" Type="http://schemas.openxmlformats.org/officeDocument/2006/relationships/package" Target="../embeddings/Document2.docx"/><Relationship Id="rId14" Type="http://schemas.openxmlformats.org/officeDocument/2006/relationships/image" Target="../media/image154.png"/><Relationship Id="rId13" Type="http://schemas.openxmlformats.org/officeDocument/2006/relationships/image" Target="../media/image153.png"/><Relationship Id="rId12" Type="http://schemas.openxmlformats.org/officeDocument/2006/relationships/image" Target="../media/image152.svg"/><Relationship Id="rId11" Type="http://schemas.openxmlformats.org/officeDocument/2006/relationships/image" Target="../media/image151.png"/><Relationship Id="rId10" Type="http://schemas.openxmlformats.org/officeDocument/2006/relationships/image" Target="../media/image150.sv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0.png"/><Relationship Id="rId7" Type="http://schemas.openxmlformats.org/officeDocument/2006/relationships/image" Target="../media/image159.png"/><Relationship Id="rId6" Type="http://schemas.openxmlformats.org/officeDocument/2006/relationships/image" Target="../media/image158.svg"/><Relationship Id="rId5" Type="http://schemas.openxmlformats.org/officeDocument/2006/relationships/image" Target="../media/image157.png"/><Relationship Id="rId4" Type="http://schemas.openxmlformats.org/officeDocument/2006/relationships/image" Target="../media/image15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svg"/><Relationship Id="rId8" Type="http://schemas.openxmlformats.org/officeDocument/2006/relationships/image" Target="../media/image165.png"/><Relationship Id="rId7" Type="http://schemas.openxmlformats.org/officeDocument/2006/relationships/image" Target="../media/image164.png"/><Relationship Id="rId6" Type="http://schemas.openxmlformats.org/officeDocument/2006/relationships/image" Target="../media/image163.png"/><Relationship Id="rId5" Type="http://schemas.openxmlformats.org/officeDocument/2006/relationships/image" Target="../media/image162.svg"/><Relationship Id="rId4" Type="http://schemas.openxmlformats.org/officeDocument/2006/relationships/image" Target="../media/image16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70.png"/><Relationship Id="rId13" Type="http://schemas.openxmlformats.org/officeDocument/2006/relationships/image" Target="../media/image169.png"/><Relationship Id="rId12" Type="http://schemas.openxmlformats.org/officeDocument/2006/relationships/image" Target="../media/image168.png"/><Relationship Id="rId11" Type="http://schemas.openxmlformats.org/officeDocument/2006/relationships/image" Target="../media/image101.svg"/><Relationship Id="rId10" Type="http://schemas.openxmlformats.org/officeDocument/2006/relationships/image" Target="../media/image167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png"/><Relationship Id="rId8" Type="http://schemas.openxmlformats.org/officeDocument/2006/relationships/image" Target="../media/image176.svg"/><Relationship Id="rId7" Type="http://schemas.openxmlformats.org/officeDocument/2006/relationships/image" Target="../media/image175.png"/><Relationship Id="rId6" Type="http://schemas.openxmlformats.org/officeDocument/2006/relationships/image" Target="../media/image174.sv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78.sv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svg"/><Relationship Id="rId8" Type="http://schemas.openxmlformats.org/officeDocument/2006/relationships/image" Target="../media/image183.png"/><Relationship Id="rId7" Type="http://schemas.openxmlformats.org/officeDocument/2006/relationships/image" Target="../media/image182.svg"/><Relationship Id="rId6" Type="http://schemas.openxmlformats.org/officeDocument/2006/relationships/image" Target="../media/image181.png"/><Relationship Id="rId5" Type="http://schemas.openxmlformats.org/officeDocument/2006/relationships/image" Target="../media/image180.svg"/><Relationship Id="rId4" Type="http://schemas.openxmlformats.org/officeDocument/2006/relationships/image" Target="../media/image179.png"/><Relationship Id="rId3" Type="http://schemas.openxmlformats.org/officeDocument/2006/relationships/image" Target="../media/image12.png"/><Relationship Id="rId24" Type="http://schemas.openxmlformats.org/officeDocument/2006/relationships/notesSlide" Target="../notesSlides/notesSlide18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97.svg"/><Relationship Id="rId21" Type="http://schemas.openxmlformats.org/officeDocument/2006/relationships/image" Target="../media/image196.png"/><Relationship Id="rId20" Type="http://schemas.openxmlformats.org/officeDocument/2006/relationships/image" Target="../media/image195.png"/><Relationship Id="rId2" Type="http://schemas.openxmlformats.org/officeDocument/2006/relationships/image" Target="../media/image11.png"/><Relationship Id="rId19" Type="http://schemas.openxmlformats.org/officeDocument/2006/relationships/image" Target="../media/image194.svg"/><Relationship Id="rId18" Type="http://schemas.openxmlformats.org/officeDocument/2006/relationships/image" Target="../media/image193.png"/><Relationship Id="rId17" Type="http://schemas.openxmlformats.org/officeDocument/2006/relationships/image" Target="../media/image192.png"/><Relationship Id="rId16" Type="http://schemas.openxmlformats.org/officeDocument/2006/relationships/image" Target="../media/image191.png"/><Relationship Id="rId15" Type="http://schemas.openxmlformats.org/officeDocument/2006/relationships/image" Target="../media/image190.svg"/><Relationship Id="rId14" Type="http://schemas.openxmlformats.org/officeDocument/2006/relationships/image" Target="../media/image189.png"/><Relationship Id="rId13" Type="http://schemas.openxmlformats.org/officeDocument/2006/relationships/image" Target="../media/image188.png"/><Relationship Id="rId12" Type="http://schemas.openxmlformats.org/officeDocument/2006/relationships/image" Target="../media/image187.svg"/><Relationship Id="rId11" Type="http://schemas.openxmlformats.org/officeDocument/2006/relationships/image" Target="../media/image186.png"/><Relationship Id="rId10" Type="http://schemas.openxmlformats.org/officeDocument/2006/relationships/image" Target="../media/image185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1.png"/><Relationship Id="rId8" Type="http://schemas.openxmlformats.org/officeDocument/2006/relationships/tags" Target="../tags/tag10.xml"/><Relationship Id="rId7" Type="http://schemas.openxmlformats.org/officeDocument/2006/relationships/image" Target="../media/image200.svg"/><Relationship Id="rId6" Type="http://schemas.openxmlformats.org/officeDocument/2006/relationships/image" Target="../media/image199.png"/><Relationship Id="rId5" Type="http://schemas.openxmlformats.org/officeDocument/2006/relationships/tags" Target="../tags/tag9.xml"/><Relationship Id="rId4" Type="http://schemas.openxmlformats.org/officeDocument/2006/relationships/image" Target="../media/image198.png"/><Relationship Id="rId39" Type="http://schemas.openxmlformats.org/officeDocument/2006/relationships/notesSlide" Target="../notesSlides/notesSlide19.xml"/><Relationship Id="rId38" Type="http://schemas.openxmlformats.org/officeDocument/2006/relationships/vmlDrawing" Target="../drawings/vmlDrawing3.vml"/><Relationship Id="rId37" Type="http://schemas.openxmlformats.org/officeDocument/2006/relationships/slideLayout" Target="../slideLayouts/slideLayout1.xml"/><Relationship Id="rId36" Type="http://schemas.openxmlformats.org/officeDocument/2006/relationships/image" Target="../media/image213.wmf"/><Relationship Id="rId35" Type="http://schemas.openxmlformats.org/officeDocument/2006/relationships/package" Target="../embeddings/Document3.docx"/><Relationship Id="rId34" Type="http://schemas.openxmlformats.org/officeDocument/2006/relationships/tags" Target="../tags/tag24.xml"/><Relationship Id="rId33" Type="http://schemas.openxmlformats.org/officeDocument/2006/relationships/tags" Target="../tags/tag23.xml"/><Relationship Id="rId32" Type="http://schemas.openxmlformats.org/officeDocument/2006/relationships/image" Target="../media/image212.svg"/><Relationship Id="rId31" Type="http://schemas.openxmlformats.org/officeDocument/2006/relationships/image" Target="../media/image211.png"/><Relationship Id="rId30" Type="http://schemas.openxmlformats.org/officeDocument/2006/relationships/tags" Target="../tags/tag22.xml"/><Relationship Id="rId3" Type="http://schemas.openxmlformats.org/officeDocument/2006/relationships/image" Target="../media/image12.png"/><Relationship Id="rId29" Type="http://schemas.openxmlformats.org/officeDocument/2006/relationships/image" Target="../media/image210.svg"/><Relationship Id="rId28" Type="http://schemas.openxmlformats.org/officeDocument/2006/relationships/image" Target="../media/image209.png"/><Relationship Id="rId27" Type="http://schemas.openxmlformats.org/officeDocument/2006/relationships/tags" Target="../tags/tag21.xml"/><Relationship Id="rId26" Type="http://schemas.openxmlformats.org/officeDocument/2006/relationships/image" Target="../media/image208.svg"/><Relationship Id="rId25" Type="http://schemas.openxmlformats.org/officeDocument/2006/relationships/image" Target="../media/image207.png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206.svg"/><Relationship Id="rId21" Type="http://schemas.openxmlformats.org/officeDocument/2006/relationships/image" Target="../media/image205.png"/><Relationship Id="rId20" Type="http://schemas.openxmlformats.org/officeDocument/2006/relationships/tags" Target="../tags/tag18.xml"/><Relationship Id="rId2" Type="http://schemas.openxmlformats.org/officeDocument/2006/relationships/image" Target="../media/image11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image" Target="../media/image204.svg"/><Relationship Id="rId15" Type="http://schemas.openxmlformats.org/officeDocument/2006/relationships/image" Target="../media/image203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image" Target="../media/image202.sv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png"/><Relationship Id="rId8" Type="http://schemas.openxmlformats.org/officeDocument/2006/relationships/image" Target="../media/image218.svg"/><Relationship Id="rId7" Type="http://schemas.openxmlformats.org/officeDocument/2006/relationships/image" Target="../media/image217.png"/><Relationship Id="rId6" Type="http://schemas.openxmlformats.org/officeDocument/2006/relationships/image" Target="../media/image216.svg"/><Relationship Id="rId5" Type="http://schemas.openxmlformats.org/officeDocument/2006/relationships/image" Target="../media/image215.png"/><Relationship Id="rId4" Type="http://schemas.openxmlformats.org/officeDocument/2006/relationships/image" Target="../media/image21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22.png"/><Relationship Id="rId12" Type="http://schemas.openxmlformats.org/officeDocument/2006/relationships/image" Target="../media/image221.svg"/><Relationship Id="rId11" Type="http://schemas.openxmlformats.org/officeDocument/2006/relationships/image" Target="../media/image211.png"/><Relationship Id="rId10" Type="http://schemas.openxmlformats.org/officeDocument/2006/relationships/image" Target="../media/image220.sv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120" dirty="0">
                <a:solidFill>
                  <a:srgbClr val="FFFFFF"/>
                </a:solidFill>
              </a:rPr>
              <a:t>信息安全测评与风险评估</a:t>
            </a:r>
            <a:endParaRPr lang="en-US" sz="612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6.1 单项测评结论判定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556144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3556144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3556144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3556144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4859020" y="4668520"/>
            <a:ext cx="7082790" cy="5162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00"/>
                </a:solidFill>
              </a:rPr>
              <a:t>单项测评结论的定义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824095" y="1649095"/>
            <a:ext cx="7082790" cy="5162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00"/>
                </a:solidFill>
              </a:rPr>
              <a:t>案例导入——“相同的证据，不同的结论”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859020" y="3688080"/>
            <a:ext cx="7082790" cy="5162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00"/>
                </a:solidFill>
              </a:rPr>
              <a:t>从现场测评到测评结论——数据加工链条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4859020" y="2635250"/>
            <a:ext cx="7082790" cy="5162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dirty="0">
                <a:solidFill>
                  <a:srgbClr val="000000"/>
                </a:solidFill>
              </a:rPr>
              <a:t>学习目标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93520"/>
            <a:ext cx="121920" cy="1219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3440" y="1371600"/>
            <a:ext cx="78272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引入问题：一堆测评记录表摆在你面前，怎么判断这个系统“过没过”？</a:t>
            </a:r>
            <a:endParaRPr lang="en-US" sz="192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920240"/>
            <a:ext cx="10972800" cy="20726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5" descr="https://test.web.static.jianzeppt.com/ppt-temp-img3/bc4adad8853df7cdec8e2d05f9761b0d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1935480"/>
            <a:ext cx="10942320" cy="50292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07720" y="2026920"/>
            <a:ext cx="740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1680" dirty="0"/>
          </a:p>
        </p:txBody>
      </p:sp>
      <p:sp>
        <p:nvSpPr>
          <p:cNvPr id="10" name="Text 2"/>
          <p:cNvSpPr/>
          <p:nvPr/>
        </p:nvSpPr>
        <p:spPr>
          <a:xfrm>
            <a:off x="1905000" y="202692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测评证据</a:t>
            </a: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5730240" y="202692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测评师A判断</a:t>
            </a:r>
            <a:endParaRPr lang="en-US" sz="1680" dirty="0"/>
          </a:p>
        </p:txBody>
      </p:sp>
      <p:sp>
        <p:nvSpPr>
          <p:cNvPr id="12" name="Text 4"/>
          <p:cNvSpPr/>
          <p:nvPr/>
        </p:nvSpPr>
        <p:spPr>
          <a:xfrm>
            <a:off x="8473440" y="2026920"/>
            <a:ext cx="2935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测评师B判断</a:t>
            </a:r>
            <a:endParaRPr lang="en-US" sz="168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" y="2438400"/>
            <a:ext cx="10942320" cy="5181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07720" y="2529840"/>
            <a:ext cx="740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1905000" y="252984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login.defs中PASS_MIN_LEN=6</a:t>
            </a:r>
            <a:endParaRPr lang="en-US" sz="1680" dirty="0"/>
          </a:p>
        </p:txBody>
      </p:sp>
      <p:sp>
        <p:nvSpPr>
          <p:cNvPr id="16" name="Text 7"/>
          <p:cNvSpPr/>
          <p:nvPr/>
        </p:nvSpPr>
        <p:spPr>
          <a:xfrm>
            <a:off x="5730240" y="252984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DC262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不符合(应8位)</a:t>
            </a:r>
            <a:endParaRPr lang="en-US" sz="1680" dirty="0"/>
          </a:p>
        </p:txBody>
      </p:sp>
      <p:sp>
        <p:nvSpPr>
          <p:cNvPr id="17" name="Text 8"/>
          <p:cNvSpPr/>
          <p:nvPr/>
        </p:nvSpPr>
        <p:spPr>
          <a:xfrm>
            <a:off x="8473440" y="2529840"/>
            <a:ext cx="2935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部分符合(长度不足)</a:t>
            </a:r>
            <a:endParaRPr lang="en-US" sz="1680" dirty="0"/>
          </a:p>
        </p:txBody>
      </p:sp>
      <p:pic>
        <p:nvPicPr>
          <p:cNvPr id="18" name="Image 7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2948940"/>
            <a:ext cx="10942320" cy="15240"/>
          </a:xfrm>
          <a:prstGeom prst="rect">
            <a:avLst/>
          </a:prstGeom>
        </p:spPr>
      </p:pic>
      <p:pic>
        <p:nvPicPr>
          <p:cNvPr id="19" name="Image 8" descr="https://test.web.static.jianzeppt.com/ppt-temp-img3/64cf9ef3856f4aa104c1201b14f001a3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" y="2956560"/>
            <a:ext cx="10942320" cy="51816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07720" y="3048000"/>
            <a:ext cx="740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</a:t>
            </a:r>
            <a:endParaRPr lang="en-US" sz="1680" dirty="0"/>
          </a:p>
        </p:txBody>
      </p:sp>
      <p:sp>
        <p:nvSpPr>
          <p:cNvPr id="21" name="Text 10"/>
          <p:cNvSpPr/>
          <p:nvPr/>
        </p:nvSpPr>
        <p:spPr>
          <a:xfrm>
            <a:off x="1905000" y="304800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防火墙有“允许any any”</a:t>
            </a:r>
            <a:endParaRPr lang="en-US" sz="1680" dirty="0"/>
          </a:p>
        </p:txBody>
      </p:sp>
      <p:sp>
        <p:nvSpPr>
          <p:cNvPr id="22" name="Text 11"/>
          <p:cNvSpPr/>
          <p:nvPr/>
        </p:nvSpPr>
        <p:spPr>
          <a:xfrm>
            <a:off x="5730240" y="304800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DC262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不符合(违最小权限)</a:t>
            </a:r>
            <a:endParaRPr lang="en-US" sz="1680" dirty="0"/>
          </a:p>
        </p:txBody>
      </p:sp>
      <p:sp>
        <p:nvSpPr>
          <p:cNvPr id="23" name="Text 12"/>
          <p:cNvSpPr/>
          <p:nvPr/>
        </p:nvSpPr>
        <p:spPr>
          <a:xfrm>
            <a:off x="8473440" y="3048000"/>
            <a:ext cx="2935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DC262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不符合(同上)</a:t>
            </a:r>
            <a:endParaRPr lang="en-US" sz="1680" dirty="0"/>
          </a:p>
        </p:txBody>
      </p:sp>
      <p:pic>
        <p:nvPicPr>
          <p:cNvPr id="24" name="Image 9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3467100"/>
            <a:ext cx="10942320" cy="15240"/>
          </a:xfrm>
          <a:prstGeom prst="rect">
            <a:avLst/>
          </a:prstGeom>
        </p:spPr>
      </p:pic>
      <p:pic>
        <p:nvPicPr>
          <p:cNvPr id="25" name="Image 10" descr="https://test.web.static.jianzeppt.com/ppt-temp-img3/af6476c0e956a26e4496691b8e32e438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3474720"/>
            <a:ext cx="10942320" cy="51816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07720" y="3566160"/>
            <a:ext cx="740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</a:t>
            </a:r>
            <a:endParaRPr lang="en-US" sz="1680" dirty="0"/>
          </a:p>
        </p:txBody>
      </p:sp>
      <p:sp>
        <p:nvSpPr>
          <p:cNvPr id="27" name="Text 14"/>
          <p:cNvSpPr/>
          <p:nvPr/>
        </p:nvSpPr>
        <p:spPr>
          <a:xfrm>
            <a:off x="1905000" y="356616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机房门禁记录不完整</a:t>
            </a:r>
            <a:endParaRPr lang="en-US" sz="1680" dirty="0"/>
          </a:p>
        </p:txBody>
      </p:sp>
      <p:sp>
        <p:nvSpPr>
          <p:cNvPr id="28" name="Text 15"/>
          <p:cNvSpPr/>
          <p:nvPr/>
        </p:nvSpPr>
        <p:spPr>
          <a:xfrm>
            <a:off x="5730240" y="3566160"/>
            <a:ext cx="2386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部分符合</a:t>
            </a:r>
            <a:endParaRPr lang="en-US" sz="1680" dirty="0"/>
          </a:p>
        </p:txBody>
      </p:sp>
      <p:sp>
        <p:nvSpPr>
          <p:cNvPr id="29" name="Text 16"/>
          <p:cNvSpPr/>
          <p:nvPr/>
        </p:nvSpPr>
        <p:spPr>
          <a:xfrm>
            <a:off x="8473440" y="3566160"/>
            <a:ext cx="2935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DC262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不符合(控制失效)</a:t>
            </a:r>
            <a:endParaRPr lang="en-US" sz="168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5982970"/>
            <a:ext cx="10972800" cy="526415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6">
            <a:alphaModFix amt="90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2480" y="5989320"/>
            <a:ext cx="487680" cy="48768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1463040" y="6035040"/>
            <a:ext cx="6531864" cy="2943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结论：</a:t>
            </a: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单项判定是编制的</a:t>
            </a:r>
            <a:r>
              <a:rPr lang="en-US" sz="1680" b="1" dirty="0">
                <a:solidFill>
                  <a:srgbClr val="FDE04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“第一粒扣子”</a:t>
            </a: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，必须掌握统一判定方法。</a:t>
            </a:r>
            <a:endParaRPr lang="en-US" sz="1680" dirty="0"/>
          </a:p>
        </p:txBody>
      </p:sp>
      <p:pic>
        <p:nvPicPr>
          <p:cNvPr id="33" name="Image 13" descr="https://test.web.static.jianzeppt.com/ppt-temp-img3/da96739fedd5eb457bc0c53ccff5f640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175760"/>
            <a:ext cx="3535680" cy="1447800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7720" y="4373880"/>
            <a:ext cx="502920" cy="33528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929640" y="4404360"/>
            <a:ext cx="2682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Q1</a:t>
            </a:r>
            <a:endParaRPr lang="en-US" sz="1440" dirty="0"/>
          </a:p>
        </p:txBody>
      </p:sp>
      <p:sp>
        <p:nvSpPr>
          <p:cNvPr id="36" name="Text 19"/>
          <p:cNvSpPr/>
          <p:nvPr/>
        </p:nvSpPr>
        <p:spPr>
          <a:xfrm>
            <a:off x="807720" y="4831080"/>
            <a:ext cx="3148584" cy="2943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同份证据，为何判断不同？</a:t>
            </a:r>
            <a:endParaRPr lang="en-US" sz="1680" dirty="0"/>
          </a:p>
        </p:txBody>
      </p:sp>
      <p:pic>
        <p:nvPicPr>
          <p:cNvPr id="37" name="Image 15" descr="https://test.web.static.jianzeppt.com/ppt-temp-img3/6ca92fc4b52f1a97ee2cfd62140e301c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" y="4191000"/>
            <a:ext cx="60960" cy="1417320"/>
          </a:xfrm>
          <a:prstGeom prst="rect">
            <a:avLst/>
          </a:prstGeom>
        </p:spPr>
      </p:pic>
      <p:pic>
        <p:nvPicPr>
          <p:cNvPr id="38" name="Image 16" descr="https://test.web.static.jianzeppt.com/ppt-temp-img3/da96739fedd5eb457bc0c53ccff5f640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28160" y="4175760"/>
            <a:ext cx="3535680" cy="1447800"/>
          </a:xfrm>
          <a:prstGeom prst="rect">
            <a:avLst/>
          </a:prstGeom>
        </p:spPr>
      </p:pic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26280" y="4373880"/>
            <a:ext cx="502920" cy="335280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4648200" y="4404360"/>
            <a:ext cx="2682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Q2</a:t>
            </a:r>
            <a:endParaRPr lang="en-US" sz="1440" dirty="0"/>
          </a:p>
        </p:txBody>
      </p:sp>
      <p:sp>
        <p:nvSpPr>
          <p:cNvPr id="41" name="Text 21"/>
          <p:cNvSpPr/>
          <p:nvPr/>
        </p:nvSpPr>
        <p:spPr>
          <a:xfrm>
            <a:off x="4526280" y="4831080"/>
            <a:ext cx="314858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什么是“优势证据”？怎判可信？</a:t>
            </a:r>
            <a:endParaRPr lang="en-US" sz="1680" dirty="0"/>
          </a:p>
        </p:txBody>
      </p:sp>
      <p:pic>
        <p:nvPicPr>
          <p:cNvPr id="42" name="Image 18" descr="https://test.web.static.jianzeppt.com/ppt-temp-img3/5c888e1eb6004687152921247ec3de54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43400" y="4191000"/>
            <a:ext cx="60960" cy="1417320"/>
          </a:xfrm>
          <a:prstGeom prst="rect">
            <a:avLst/>
          </a:prstGeom>
        </p:spPr>
      </p:pic>
      <p:pic>
        <p:nvPicPr>
          <p:cNvPr id="43" name="Image 19" descr="https://test.web.static.jianzeppt.com/ppt-temp-img3/da96739fedd5eb457bc0c53ccff5f640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46720" y="4175760"/>
            <a:ext cx="3535680" cy="1447800"/>
          </a:xfrm>
          <a:prstGeom prst="rect">
            <a:avLst/>
          </a:prstGeom>
        </p:spPr>
      </p:pic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44840" y="4373880"/>
            <a:ext cx="502920" cy="335280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8366760" y="4404360"/>
            <a:ext cx="2682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Q3</a:t>
            </a:r>
            <a:endParaRPr lang="en-US" sz="1440" dirty="0"/>
          </a:p>
        </p:txBody>
      </p:sp>
      <p:sp>
        <p:nvSpPr>
          <p:cNvPr id="46" name="Text 23"/>
          <p:cNvSpPr/>
          <p:nvPr/>
        </p:nvSpPr>
        <p:spPr>
          <a:xfrm>
            <a:off x="8244840" y="4831080"/>
            <a:ext cx="3148584" cy="2943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标准不一，报告还能客观吗？</a:t>
            </a:r>
            <a:endParaRPr lang="en-US" sz="1680" dirty="0"/>
          </a:p>
        </p:txBody>
      </p:sp>
      <p:pic>
        <p:nvPicPr>
          <p:cNvPr id="47" name="Image 21" descr="https://test.web.static.jianzeppt.com/ppt-temp-img3/6c7e88a668f8128ba6fb52b26ff39ed3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61960" y="4191000"/>
            <a:ext cx="60960" cy="1417320"/>
          </a:xfrm>
          <a:prstGeom prst="rect">
            <a:avLst/>
          </a:prstGeom>
        </p:spPr>
      </p:pic>
      <p:sp>
        <p:nvSpPr>
          <p:cNvPr id="48" name="Text 24"/>
          <p:cNvSpPr/>
          <p:nvPr/>
        </p:nvSpPr>
        <p:spPr>
          <a:xfrm>
            <a:off x="822497" y="531937"/>
            <a:ext cx="618617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案例导入——“相同的证据，不同的结论”</a:t>
            </a:r>
            <a:endParaRPr lang="en-US" sz="2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通过本课学习，你将能够：</a:t>
            </a:r>
            <a:endParaRPr lang="en-US" sz="2160" dirty="0"/>
          </a:p>
        </p:txBody>
      </p:sp>
      <p:pic>
        <p:nvPicPr>
          <p:cNvPr id="6" name="Image 3" descr="https://test.web.static.jianzeppt.com/ppt-temp-img3/4e96ef25faa2ab61bd0c90ed4621e11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26920"/>
            <a:ext cx="5364480" cy="105156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2240280"/>
            <a:ext cx="609600" cy="6096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90600" y="234696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2160" dirty="0"/>
          </a:p>
        </p:txBody>
      </p:sp>
      <p:sp>
        <p:nvSpPr>
          <p:cNvPr id="9" name="Text 2"/>
          <p:cNvSpPr/>
          <p:nvPr/>
        </p:nvSpPr>
        <p:spPr>
          <a:xfrm>
            <a:off x="1645920" y="2209800"/>
            <a:ext cx="409346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理解 单项测评结论在等保测评报告中的核心地位</a:t>
            </a:r>
            <a:endParaRPr lang="en-US" sz="1800" dirty="0"/>
          </a:p>
        </p:txBody>
      </p:sp>
      <p:pic>
        <p:nvPicPr>
          <p:cNvPr id="10" name="Image 5" descr="https://test.web.static.jianzeppt.com/ppt-temp-img3/4e96ef25faa2ab61bd0c90ed4621e11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26920"/>
            <a:ext cx="5364480" cy="105156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1760" y="2240280"/>
            <a:ext cx="609600" cy="6096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6598920" y="234696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2160" dirty="0"/>
          </a:p>
        </p:txBody>
      </p:sp>
      <p:sp>
        <p:nvSpPr>
          <p:cNvPr id="13" name="Text 4"/>
          <p:cNvSpPr/>
          <p:nvPr/>
        </p:nvSpPr>
        <p:spPr>
          <a:xfrm>
            <a:off x="7254240" y="2042160"/>
            <a:ext cx="4093464" cy="9458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掌握 单项测评结论的四种判定结果（符合/部分符合/不符合/不适用）及其判定标准</a:t>
            </a:r>
            <a:endParaRPr lang="en-US" sz="1800" dirty="0"/>
          </a:p>
        </p:txBody>
      </p:sp>
      <p:pic>
        <p:nvPicPr>
          <p:cNvPr id="14" name="Image 7" descr="https://test.web.static.jianzeppt.com/ppt-temp-img3/4e96ef25faa2ab61bd0c90ed4621e11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07080"/>
            <a:ext cx="5364480" cy="1051560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3535680"/>
            <a:ext cx="609600" cy="6096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990600" y="36271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2160" dirty="0"/>
          </a:p>
        </p:txBody>
      </p:sp>
      <p:sp>
        <p:nvSpPr>
          <p:cNvPr id="17" name="Text 6"/>
          <p:cNvSpPr/>
          <p:nvPr/>
        </p:nvSpPr>
        <p:spPr>
          <a:xfrm>
            <a:off x="1645920" y="3505200"/>
            <a:ext cx="409346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掌握 “优势证据”法的基本原理与应用</a:t>
            </a:r>
            <a:endParaRPr lang="en-US" sz="1920" dirty="0"/>
          </a:p>
        </p:txBody>
      </p:sp>
      <p:pic>
        <p:nvPicPr>
          <p:cNvPr id="18" name="Image 9" descr="https://test.web.static.jianzeppt.com/ppt-temp-img3/4e96ef25faa2ab61bd0c90ed4621e11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307080"/>
            <a:ext cx="5364480" cy="105156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1760" y="3535680"/>
            <a:ext cx="609600" cy="60960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6598920" y="362712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2160" dirty="0"/>
          </a:p>
        </p:txBody>
      </p:sp>
      <p:sp>
        <p:nvSpPr>
          <p:cNvPr id="21" name="Text 8"/>
          <p:cNvSpPr/>
          <p:nvPr/>
        </p:nvSpPr>
        <p:spPr>
          <a:xfrm>
            <a:off x="7254240" y="3505200"/>
            <a:ext cx="409346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能够 根据测评证据准确判定单项测评结论</a:t>
            </a:r>
            <a:endParaRPr lang="en-US" sz="1800" dirty="0"/>
          </a:p>
        </p:txBody>
      </p:sp>
      <p:pic>
        <p:nvPicPr>
          <p:cNvPr id="22" name="Image 11" descr="https://test.web.static.jianzeppt.com/ppt-temp-img3/4e96ef25faa2ab61bd0c90ed4621e11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02480"/>
            <a:ext cx="5364480" cy="1051560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4815840"/>
            <a:ext cx="609600" cy="60960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990600" y="490728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05</a:t>
            </a:r>
            <a:endParaRPr lang="en-US" sz="2160" dirty="0"/>
          </a:p>
        </p:txBody>
      </p:sp>
      <p:sp>
        <p:nvSpPr>
          <p:cNvPr id="25" name="Text 10"/>
          <p:cNvSpPr/>
          <p:nvPr/>
        </p:nvSpPr>
        <p:spPr>
          <a:xfrm>
            <a:off x="1645920" y="4785360"/>
            <a:ext cx="409346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理解 单项测评结论与单元测评结论、整体测评结论的逻辑关系</a:t>
            </a:r>
            <a:endParaRPr lang="en-US" sz="1800" dirty="0"/>
          </a:p>
        </p:txBody>
      </p:sp>
      <p:pic>
        <p:nvPicPr>
          <p:cNvPr id="26" name="Image 13" descr="https://test.web.static.jianzeppt.com/ppt-temp-img3/4e96ef25faa2ab61bd0c90ed4621e11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602480"/>
            <a:ext cx="5364480" cy="1051560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1760" y="4815840"/>
            <a:ext cx="609600" cy="609600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6598920" y="4907280"/>
            <a:ext cx="344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06</a:t>
            </a:r>
            <a:endParaRPr lang="en-US" sz="2160" dirty="0"/>
          </a:p>
        </p:txBody>
      </p:sp>
      <p:sp>
        <p:nvSpPr>
          <p:cNvPr id="29" name="Text 12"/>
          <p:cNvSpPr/>
          <p:nvPr/>
        </p:nvSpPr>
        <p:spPr>
          <a:xfrm>
            <a:off x="7254240" y="4785360"/>
            <a:ext cx="4093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具备 客观、公正、严谨的职业判断能力</a:t>
            </a:r>
            <a:endParaRPr lang="en-US" sz="1800" dirty="0"/>
          </a:p>
        </p:txBody>
      </p:sp>
      <p:sp>
        <p:nvSpPr>
          <p:cNvPr id="30" name="Text 13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2192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测评结论的生成是一个“逐级加工”的过程。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5486400"/>
            <a:ext cx="10972800" cy="762000"/>
          </a:xfrm>
          <a:prstGeom prst="rect">
            <a:avLst/>
          </a:prstGeom>
        </p:spPr>
      </p:pic>
      <p:pic>
        <p:nvPicPr>
          <p:cNvPr id="7" name="Image 4" descr="https://test.web.static.jianzeppt.com/ppt-temp-img3/54dda72700b1c39c2a4a6fa7b70a02c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684520"/>
            <a:ext cx="335280" cy="3352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280160" y="5684520"/>
            <a:ext cx="9046464" cy="3724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关键认识：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单项测评结论是后续所有结论的“地基”——地基歪了，整栋楼都会歪。</a:t>
            </a:r>
            <a:endParaRPr lang="en-US" sz="1800" dirty="0"/>
          </a:p>
        </p:txBody>
      </p:sp>
      <p:pic>
        <p:nvPicPr>
          <p:cNvPr id="9" name="Image 5" descr="https://test.web.static.jianzeppt.com/ppt-temp-img3/af28f07752f2a31bd6640091d7c5340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440" y="2118360"/>
            <a:ext cx="1996440" cy="10058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874520" y="2255520"/>
            <a:ext cx="150266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现场测评证据</a:t>
            </a: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(原始数据)</a:t>
            </a:r>
            <a:endParaRPr lang="en-US" sz="1920" dirty="0"/>
          </a:p>
        </p:txBody>
      </p:sp>
      <p:pic>
        <p:nvPicPr>
          <p:cNvPr id="11" name="Image 6" descr="https://test.web.static.jianzeppt.com/ppt-temp-img3/22c90c9c3ab3c59cdba50ddd84818b5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240" y="2423160"/>
            <a:ext cx="396240" cy="396240"/>
          </a:xfrm>
          <a:prstGeom prst="rect">
            <a:avLst/>
          </a:prstGeom>
        </p:spPr>
      </p:pic>
      <p:pic>
        <p:nvPicPr>
          <p:cNvPr id="12" name="Image 7" descr="https://test.web.static.jianzeppt.com/ppt-temp-img3/22c90c9c3ab3c59cdba50ddd84818b52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2840" y="2423160"/>
            <a:ext cx="396240" cy="396240"/>
          </a:xfrm>
          <a:prstGeom prst="rect">
            <a:avLst/>
          </a:prstGeom>
        </p:spPr>
      </p:pic>
      <p:pic>
        <p:nvPicPr>
          <p:cNvPr id="13" name="Image 8" descr="https://test.web.static.jianzeppt.com/ppt-temp-img3/1108114a2f23097e243c9332717cb650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7680" y="2301240"/>
            <a:ext cx="2484120" cy="64008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8366760" y="2438400"/>
            <a:ext cx="19751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单元测评结果汇总</a:t>
            </a:r>
            <a:endParaRPr lang="en-US" sz="1920" dirty="0"/>
          </a:p>
        </p:txBody>
      </p:sp>
      <p:pic>
        <p:nvPicPr>
          <p:cNvPr id="15" name="Image 9" descr="https://test.web.static.jianzeppt.com/ppt-temp-img3/44e9fa0ab0acb0d460871a667392f931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0" y="3352800"/>
            <a:ext cx="396240" cy="396240"/>
          </a:xfrm>
          <a:prstGeom prst="rect">
            <a:avLst/>
          </a:prstGeom>
        </p:spPr>
      </p:pic>
      <p:pic>
        <p:nvPicPr>
          <p:cNvPr id="16" name="Image 10" descr="https://test.web.static.jianzeppt.com/ppt-temp-img3/4c06aefe6b3d3522ba0f5b8266634b68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0" y="4175760"/>
            <a:ext cx="1996440" cy="64008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8336280" y="431292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整体测评分析</a:t>
            </a:r>
            <a:endParaRPr lang="en-US" sz="1920" dirty="0"/>
          </a:p>
        </p:txBody>
      </p:sp>
      <p:pic>
        <p:nvPicPr>
          <p:cNvPr id="18" name="Image 11" descr="https://test.web.static.jianzeppt.com/ppt-temp-img3/72d6b0ddb1ce0907274a82677fbae6b1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7467600" y="4312920"/>
            <a:ext cx="365760" cy="365760"/>
          </a:xfrm>
          <a:prstGeom prst="rect">
            <a:avLst/>
          </a:prstGeom>
        </p:spPr>
      </p:pic>
      <p:pic>
        <p:nvPicPr>
          <p:cNvPr id="19" name="Image 12" descr="https://test.web.static.jianzeppt.com/ppt-temp-img3/9d24e9d456e8536316f39b36a5b90bf5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8720" y="4175760"/>
            <a:ext cx="2240280" cy="640080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5257800" y="4312920"/>
            <a:ext cx="1731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风险分析与评价</a:t>
            </a:r>
            <a:endParaRPr lang="en-US" sz="1920" dirty="0"/>
          </a:p>
        </p:txBody>
      </p:sp>
      <p:pic>
        <p:nvPicPr>
          <p:cNvPr id="21" name="Image 13" descr="https://test.web.static.jianzeppt.com/ppt-temp-img3/72d6b0ddb1ce0907274a82677fbae6b1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4389120" y="4312920"/>
            <a:ext cx="365760" cy="365760"/>
          </a:xfrm>
          <a:prstGeom prst="rect">
            <a:avLst/>
          </a:prstGeom>
        </p:spPr>
      </p:pic>
      <p:pic>
        <p:nvPicPr>
          <p:cNvPr id="22" name="Image 14" descr="https://test.web.static.jianzeppt.com/ppt-temp-img3/963ae4e6bd2187586d9029ff45575b60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3600" y="3977640"/>
            <a:ext cx="2026920" cy="103632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2407920" y="4130040"/>
            <a:ext cx="151790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等级测评结论</a:t>
            </a: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(优/良/中/差)</a:t>
            </a:r>
            <a:endParaRPr lang="en-US" sz="1920" dirty="0"/>
          </a:p>
        </p:txBody>
      </p:sp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50080" y="2225040"/>
            <a:ext cx="2804160" cy="7772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5" name="Text 7"/>
          <p:cNvSpPr/>
          <p:nvPr/>
        </p:nvSpPr>
        <p:spPr>
          <a:xfrm>
            <a:off x="4754880" y="2407920"/>
            <a:ext cx="220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单项测评结果判定</a:t>
            </a:r>
            <a:endParaRPr lang="en-US" sz="2160" dirty="0"/>
          </a:p>
        </p:txBody>
      </p:sp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81600" y="1798320"/>
            <a:ext cx="135636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7" name="Text 8"/>
          <p:cNvSpPr/>
          <p:nvPr/>
        </p:nvSpPr>
        <p:spPr>
          <a:xfrm>
            <a:off x="5303520" y="1828800"/>
            <a:ext cx="11216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本节课重点！</a:t>
            </a:r>
            <a:endParaRPr lang="en-US" sz="1440" dirty="0"/>
          </a:p>
        </p:txBody>
      </p:sp>
      <p:sp>
        <p:nvSpPr>
          <p:cNvPr id="28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从现场测评到测评结论——数据加工链条</a:t>
            </a:r>
            <a:endParaRPr lang="en-US" sz="2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5edf7a5c2ec074808a418123042b570a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240" y="1371600"/>
            <a:ext cx="9113520" cy="6553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905000" y="1493520"/>
            <a:ext cx="83911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根据GB/T 28448-2019《信息安全技术 网络安全等级保护测评要求》</a:t>
            </a:r>
            <a:endParaRPr lang="en-US" sz="2160" dirty="0"/>
          </a:p>
        </p:txBody>
      </p:sp>
      <p:pic>
        <p:nvPicPr>
          <p:cNvPr id="7" name="Image 4" descr="https://test.web.static.jianzeppt.com/ppt-temp-img3/f5ab10d5be9e891421d5887caea98034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392680"/>
            <a:ext cx="10972800" cy="502920"/>
          </a:xfrm>
          <a:prstGeom prst="rect">
            <a:avLst/>
          </a:prstGeom>
        </p:spPr>
      </p:pic>
      <p:pic>
        <p:nvPicPr>
          <p:cNvPr id="8" name="Image 5" descr="https://test.web.static.jianzeppt.com/ppt-temp-img3/36f79cbd85e19fc49a74cc813b2cabf4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" y="2392680"/>
            <a:ext cx="1828800" cy="50292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8"/>
            </p:custDataLst>
          </p:nvPr>
        </p:nvSpPr>
        <p:spPr>
          <a:xfrm>
            <a:off x="1163955" y="2403475"/>
            <a:ext cx="754380" cy="4654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r>
              <a:rPr lang="en-US" sz="1680" b="1" kern="0" spc="288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定义</a:t>
            </a:r>
            <a:endParaRPr lang="en-US" sz="1680" dirty="0"/>
          </a:p>
          <a:p>
            <a:pPr marL="0" indent="0" algn="l">
              <a:lnSpc>
                <a:spcPct val="150000"/>
              </a:lnSpc>
              <a:buNone/>
            </a:pP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2682240" y="2383155"/>
            <a:ext cx="8665464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单项测评结果判定，是“针对等级测评指标中的单个测评项，结合具体测评对象，客观、准确地分析测评证据，形成初步单项测评结果”。</a:t>
            </a:r>
            <a:endParaRPr lang="en-US" sz="1800" dirty="0"/>
          </a:p>
        </p:txBody>
      </p:sp>
      <p:pic>
        <p:nvPicPr>
          <p:cNvPr id="12" name="Image 6" descr="https://test.web.static.jianzeppt.com/ppt-temp-img3/bb9998929df8d9ddd25b339227d0a0b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078480"/>
            <a:ext cx="10972800" cy="411480"/>
          </a:xfrm>
          <a:prstGeom prst="rect">
            <a:avLst/>
          </a:prstGeom>
        </p:spPr>
      </p:pic>
      <p:pic>
        <p:nvPicPr>
          <p:cNvPr id="13" name="Image 7" descr="https://test.web.static.jianzeppt.com/ppt-temp-img3/9148c7f0607a21e1cdfd4b1924d5b258.png?x-oss-process=image/resize,w_1440,h_800,m_lfit/format,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09600" y="3078480"/>
            <a:ext cx="1828800" cy="411480"/>
          </a:xfrm>
          <a:prstGeom prst="rect">
            <a:avLst/>
          </a:prstGeom>
        </p:spPr>
      </p:pic>
      <p:sp>
        <p:nvSpPr>
          <p:cNvPr id="14" name="Text 4"/>
          <p:cNvSpPr/>
          <p:nvPr>
            <p:custDataLst>
              <p:tags r:id="rId12"/>
            </p:custDataLst>
          </p:nvPr>
        </p:nvSpPr>
        <p:spPr>
          <a:xfrm>
            <a:off x="1179830" y="3089275"/>
            <a:ext cx="754380" cy="360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r>
              <a:rPr lang="en-US" sz="1680" b="1" kern="0" spc="288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输入</a:t>
            </a:r>
            <a:endParaRPr lang="en-US" sz="1680" dirty="0"/>
          </a:p>
          <a:p>
            <a:pPr marL="0" indent="0" algn="l">
              <a:lnSpc>
                <a:spcPct val="150000"/>
              </a:lnSpc>
              <a:buNone/>
            </a:pPr>
            <a:endParaRPr lang="en-US" sz="1680" dirty="0"/>
          </a:p>
        </p:txBody>
      </p:sp>
      <p:sp>
        <p:nvSpPr>
          <p:cNvPr id="16" name="Text 6"/>
          <p:cNvSpPr/>
          <p:nvPr/>
        </p:nvSpPr>
        <p:spPr>
          <a:xfrm>
            <a:off x="2682240" y="3124200"/>
            <a:ext cx="5876544" cy="3724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技术安全和管理安全的单项测评结果记录、测评指导书</a:t>
            </a:r>
            <a:endParaRPr lang="en-US" sz="1800" dirty="0"/>
          </a:p>
        </p:txBody>
      </p:sp>
      <p:pic>
        <p:nvPicPr>
          <p:cNvPr id="17" name="Image 8" descr="https://test.web.static.jianzeppt.com/ppt-temp-img3/bb9998929df8d9ddd25b339227d0a0b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657600"/>
            <a:ext cx="10972800" cy="411480"/>
          </a:xfrm>
          <a:prstGeom prst="rect">
            <a:avLst/>
          </a:prstGeom>
        </p:spPr>
      </p:pic>
      <p:pic>
        <p:nvPicPr>
          <p:cNvPr id="18" name="Image 9" descr="https://test.web.static.jianzeppt.com/ppt-temp-img3/1ce07f7f9d99b9e0cb7926c98abeb755.png?x-oss-process=image/resize,w_1440,h_800,m_lfit/format,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09600" y="3657600"/>
            <a:ext cx="1828800" cy="411480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14"/>
            </p:custDataLst>
          </p:nvPr>
        </p:nvSpPr>
        <p:spPr>
          <a:xfrm>
            <a:off x="1163955" y="3684270"/>
            <a:ext cx="754380" cy="3981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r>
              <a:rPr lang="en-US" sz="1680" b="1" kern="0" spc="288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输出</a:t>
            </a:r>
            <a:endParaRPr lang="en-US" sz="1680" dirty="0"/>
          </a:p>
          <a:p>
            <a:pPr marL="0" indent="0" algn="l">
              <a:lnSpc>
                <a:spcPct val="150000"/>
              </a:lnSpc>
              <a:buNone/>
            </a:pPr>
            <a:endParaRPr lang="en-US" sz="1680" dirty="0"/>
          </a:p>
        </p:txBody>
      </p:sp>
      <p:sp>
        <p:nvSpPr>
          <p:cNvPr id="21" name="Text 9"/>
          <p:cNvSpPr/>
          <p:nvPr/>
        </p:nvSpPr>
        <p:spPr>
          <a:xfrm>
            <a:off x="2682240" y="3703320"/>
            <a:ext cx="3681984" cy="3724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测评报告的单元测评结果记录部分</a:t>
            </a:r>
            <a:endParaRPr lang="en-US" sz="1800" dirty="0"/>
          </a:p>
        </p:txBody>
      </p:sp>
      <p:pic>
        <p:nvPicPr>
          <p:cNvPr id="22" name="Image 10" descr="https://test.web.static.jianzeppt.com/ppt-temp-img3/b9a188c021443857177645790a7b455b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251960"/>
            <a:ext cx="10972800" cy="396240"/>
          </a:xfrm>
          <a:prstGeom prst="rect">
            <a:avLst/>
          </a:prstGeom>
        </p:spPr>
      </p:pic>
      <p:pic>
        <p:nvPicPr>
          <p:cNvPr id="23" name="Image 11" descr="https://test.web.static.jianzeppt.com/ppt-temp-img3/c2c5443970ff1e4909d95233756c42c7.png?x-oss-process=image/resize,w_1440,h_800,m_lfit/format,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09600" y="4251960"/>
            <a:ext cx="1828800" cy="396240"/>
          </a:xfrm>
          <a:prstGeom prst="rect">
            <a:avLst/>
          </a:prstGeom>
        </p:spPr>
      </p:pic>
      <p:sp>
        <p:nvSpPr>
          <p:cNvPr id="24" name="Text 10"/>
          <p:cNvSpPr/>
          <p:nvPr>
            <p:custDataLst>
              <p:tags r:id="rId18"/>
            </p:custDataLst>
          </p:nvPr>
        </p:nvSpPr>
        <p:spPr>
          <a:xfrm>
            <a:off x="1148080" y="4262755"/>
            <a:ext cx="1141730" cy="358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r>
              <a:rPr lang="en-US" sz="1680" b="1" kern="0" spc="64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核心作用</a:t>
            </a:r>
            <a:endParaRPr lang="en-US" sz="1680" dirty="0"/>
          </a:p>
          <a:p>
            <a:pPr marL="0" indent="0" algn="l">
              <a:lnSpc>
                <a:spcPct val="150000"/>
              </a:lnSpc>
              <a:buNone/>
            </a:pPr>
            <a:endParaRPr lang="en-US" sz="1680" dirty="0"/>
          </a:p>
        </p:txBody>
      </p:sp>
      <p:sp>
        <p:nvSpPr>
          <p:cNvPr id="26" name="Text 12"/>
          <p:cNvSpPr/>
          <p:nvPr/>
        </p:nvSpPr>
        <p:spPr>
          <a:xfrm>
            <a:off x="2682240" y="4297680"/>
            <a:ext cx="7827264" cy="3724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单项测评结果是形成单元测评结论、整体测评结论和等级测评结论的基础</a:t>
            </a:r>
            <a:endParaRPr lang="en-US" sz="1800" dirty="0"/>
          </a:p>
        </p:txBody>
      </p:sp>
      <p:pic>
        <p:nvPicPr>
          <p:cNvPr id="27" name="Image 12" descr="https://test.web.static.jianzeppt.com/ppt-temp-img3/8433b8e3c5ca59ef47140709694f00b7.png?x-oss-process=image/resize,w_1440,h_800,m_lfit/format,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" y="4998720"/>
            <a:ext cx="10043160" cy="64008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1463040" y="5135880"/>
            <a:ext cx="92903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关键点：单项测评结论是对“一个测评项”在“一个测评对象”上的表现做出的判断。</a:t>
            </a:r>
            <a:endParaRPr lang="en-US" sz="1920" dirty="0"/>
          </a:p>
        </p:txBody>
      </p:sp>
      <p:sp>
        <p:nvSpPr>
          <p:cNvPr id="29" name="Text 1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单项测评结论的定义</a:t>
            </a:r>
            <a:endParaRPr lang="en-US" sz="2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93520"/>
            <a:ext cx="10972800" cy="49987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e71a94ea50d1cae890e364f44fa126be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508760"/>
            <a:ext cx="10942320" cy="77724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05840" y="16611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判定结果</a:t>
            </a:r>
            <a:endParaRPr lang="en-US" sz="2400" dirty="0"/>
          </a:p>
        </p:txBody>
      </p:sp>
      <p:pic>
        <p:nvPicPr>
          <p:cNvPr id="8" name="Image 5" descr="https://test.web.static.jianzeppt.com/ppt-temp-img3/763bcffa7f92c7ab61203c80844e3b7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278380"/>
            <a:ext cx="1969465" cy="1524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941320" y="166116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符号</a:t>
            </a:r>
            <a:endParaRPr lang="en-US" sz="2400" dirty="0"/>
          </a:p>
        </p:txBody>
      </p:sp>
      <p:pic>
        <p:nvPicPr>
          <p:cNvPr id="10" name="Image 6" descr="https://test.web.static.jianzeppt.com/ppt-temp-img3/6e755ae3851e8b48d6ac70285753397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4305" y="2278380"/>
            <a:ext cx="1313078" cy="152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4145280" y="166116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含义</a:t>
            </a:r>
            <a:endParaRPr lang="en-US" sz="2400" dirty="0"/>
          </a:p>
        </p:txBody>
      </p:sp>
      <p:pic>
        <p:nvPicPr>
          <p:cNvPr id="12" name="Image 7" descr="https://test.web.static.jianzeppt.com/ppt-temp-img3/febc8e1abe24d425e86d0ed1662ea1e3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7384" y="2278380"/>
            <a:ext cx="4376776" cy="152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8534400" y="16611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适用场景</a:t>
            </a:r>
            <a:endParaRPr lang="en-US" sz="2400" dirty="0"/>
          </a:p>
        </p:txBody>
      </p:sp>
      <p:pic>
        <p:nvPicPr>
          <p:cNvPr id="14" name="Image 8" descr="https://test.web.static.jianzeppt.com/ppt-temp-img3/2ac248a9b47d046cc174199a7d0b7e44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4159" y="2278380"/>
            <a:ext cx="3283001" cy="15240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" y="2286000"/>
            <a:ext cx="10942320" cy="105156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868680" y="2468880"/>
            <a:ext cx="150266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符合</a:t>
            </a:r>
            <a:endParaRPr lang="en-US" sz="2160" dirty="0"/>
          </a:p>
        </p:txBody>
      </p:sp>
      <p:sp>
        <p:nvSpPr>
          <p:cNvPr id="17" name="Text 5"/>
          <p:cNvSpPr/>
          <p:nvPr/>
        </p:nvSpPr>
        <p:spPr>
          <a:xfrm>
            <a:off x="2834640" y="2468880"/>
            <a:ext cx="84734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✅</a:t>
            </a:r>
            <a:endParaRPr lang="en-US" sz="2400" dirty="0"/>
          </a:p>
        </p:txBody>
      </p:sp>
      <p:sp>
        <p:nvSpPr>
          <p:cNvPr id="18" name="Text 6"/>
          <p:cNvSpPr/>
          <p:nvPr/>
        </p:nvSpPr>
        <p:spPr>
          <a:xfrm>
            <a:off x="4145280" y="2468880"/>
            <a:ext cx="39105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测评证据表明所有要求内容与预期测评结果一致</a:t>
            </a:r>
            <a:endParaRPr lang="en-US" sz="1920" dirty="0"/>
          </a:p>
        </p:txBody>
      </p:sp>
      <p:sp>
        <p:nvSpPr>
          <p:cNvPr id="19" name="Text 7"/>
          <p:cNvSpPr/>
          <p:nvPr/>
        </p:nvSpPr>
        <p:spPr>
          <a:xfrm>
            <a:off x="8534400" y="2468880"/>
            <a:ext cx="281330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系统完全满足标准要求</a:t>
            </a:r>
            <a:endParaRPr lang="en-US" sz="1920" dirty="0"/>
          </a:p>
        </p:txBody>
      </p:sp>
      <p:pic>
        <p:nvPicPr>
          <p:cNvPr id="20" name="Image 10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3329940"/>
            <a:ext cx="10942320" cy="15240"/>
          </a:xfrm>
          <a:prstGeom prst="rect">
            <a:avLst/>
          </a:prstGeom>
        </p:spPr>
      </p:pic>
      <p:pic>
        <p:nvPicPr>
          <p:cNvPr id="21" name="Image 11" descr="https://test.web.static.jianzeppt.com/ppt-temp-img3/3862feeba95de8cc8be8f5e69b2a5af1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" y="3337560"/>
            <a:ext cx="10942320" cy="105156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868680" y="3520440"/>
            <a:ext cx="150266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部分符合</a:t>
            </a:r>
            <a:endParaRPr lang="en-US" sz="2160" dirty="0"/>
          </a:p>
        </p:txBody>
      </p:sp>
      <p:sp>
        <p:nvSpPr>
          <p:cNvPr id="23" name="Text 9"/>
          <p:cNvSpPr/>
          <p:nvPr/>
        </p:nvSpPr>
        <p:spPr>
          <a:xfrm>
            <a:off x="2834640" y="3520440"/>
            <a:ext cx="84734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⚠️</a:t>
            </a:r>
            <a:endParaRPr lang="en-US" sz="2400" dirty="0"/>
          </a:p>
        </p:txBody>
      </p:sp>
      <p:sp>
        <p:nvSpPr>
          <p:cNvPr id="24" name="Text 10"/>
          <p:cNvSpPr/>
          <p:nvPr/>
        </p:nvSpPr>
        <p:spPr>
          <a:xfrm>
            <a:off x="4145280" y="3520440"/>
            <a:ext cx="39105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测评证据表明部分要求内容与预期测评结果一致</a:t>
            </a:r>
            <a:endParaRPr lang="en-US" sz="1920" dirty="0"/>
          </a:p>
        </p:txBody>
      </p:sp>
      <p:sp>
        <p:nvSpPr>
          <p:cNvPr id="25" name="Text 11"/>
          <p:cNvSpPr/>
          <p:nvPr/>
        </p:nvSpPr>
        <p:spPr>
          <a:xfrm>
            <a:off x="8534400" y="3520440"/>
            <a:ext cx="281330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系统部分满足，有差距但非完全缺失</a:t>
            </a:r>
            <a:endParaRPr lang="en-US" sz="1920" dirty="0"/>
          </a:p>
        </p:txBody>
      </p:sp>
      <p:pic>
        <p:nvPicPr>
          <p:cNvPr id="26" name="Image 12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4381500"/>
            <a:ext cx="10942320" cy="15240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" y="4389120"/>
            <a:ext cx="10942320" cy="105156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868680" y="4572000"/>
            <a:ext cx="150266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不符合</a:t>
            </a:r>
            <a:endParaRPr lang="en-US" sz="2160" dirty="0"/>
          </a:p>
        </p:txBody>
      </p:sp>
      <p:sp>
        <p:nvSpPr>
          <p:cNvPr id="29" name="Text 13"/>
          <p:cNvSpPr/>
          <p:nvPr/>
        </p:nvSpPr>
        <p:spPr>
          <a:xfrm>
            <a:off x="2834640" y="4572000"/>
            <a:ext cx="84734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2400" dirty="0"/>
          </a:p>
        </p:txBody>
      </p:sp>
      <p:sp>
        <p:nvSpPr>
          <p:cNvPr id="30" name="Text 14"/>
          <p:cNvSpPr/>
          <p:nvPr/>
        </p:nvSpPr>
        <p:spPr>
          <a:xfrm>
            <a:off x="4145280" y="4572000"/>
            <a:ext cx="39105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测评证据表明所有要求内容与预期测评结果不一致</a:t>
            </a:r>
            <a:endParaRPr lang="en-US" sz="1920" dirty="0"/>
          </a:p>
        </p:txBody>
      </p:sp>
      <p:sp>
        <p:nvSpPr>
          <p:cNvPr id="31" name="Text 15"/>
          <p:cNvSpPr/>
          <p:nvPr/>
        </p:nvSpPr>
        <p:spPr>
          <a:xfrm>
            <a:off x="8534400" y="4572000"/>
            <a:ext cx="281330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系统完全不满足标准要求</a:t>
            </a:r>
            <a:endParaRPr lang="en-US" sz="1920" dirty="0"/>
          </a:p>
        </p:txBody>
      </p:sp>
      <p:pic>
        <p:nvPicPr>
          <p:cNvPr id="32" name="Image 14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5433060"/>
            <a:ext cx="10942320" cy="15240"/>
          </a:xfrm>
          <a:prstGeom prst="rect">
            <a:avLst/>
          </a:prstGeom>
        </p:spPr>
      </p:pic>
      <p:pic>
        <p:nvPicPr>
          <p:cNvPr id="33" name="Image 15" descr="https://test.web.static.jianzeppt.com/ppt-temp-img3/8872557d6ecb13b9f6ad3de11a8ba3e1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5440680"/>
            <a:ext cx="10942320" cy="105156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868680" y="5623560"/>
            <a:ext cx="150266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不适用</a:t>
            </a:r>
            <a:endParaRPr lang="en-US" sz="2160" dirty="0"/>
          </a:p>
        </p:txBody>
      </p:sp>
      <p:sp>
        <p:nvSpPr>
          <p:cNvPr id="35" name="Text 17"/>
          <p:cNvSpPr/>
          <p:nvPr/>
        </p:nvSpPr>
        <p:spPr>
          <a:xfrm>
            <a:off x="2834640" y="5623560"/>
            <a:ext cx="84734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N/A</a:t>
            </a:r>
            <a:endParaRPr lang="en-US" sz="2160" dirty="0"/>
          </a:p>
        </p:txBody>
      </p:sp>
      <p:sp>
        <p:nvSpPr>
          <p:cNvPr id="36" name="Text 18"/>
          <p:cNvSpPr/>
          <p:nvPr/>
        </p:nvSpPr>
        <p:spPr>
          <a:xfrm>
            <a:off x="4145280" y="5623560"/>
            <a:ext cx="39105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该测评项所对抗的威胁在系统中不存在</a:t>
            </a:r>
            <a:endParaRPr lang="en-US" sz="1920" dirty="0"/>
          </a:p>
        </p:txBody>
      </p:sp>
      <p:sp>
        <p:nvSpPr>
          <p:cNvPr id="37" name="Text 19"/>
          <p:cNvSpPr/>
          <p:nvPr/>
        </p:nvSpPr>
        <p:spPr>
          <a:xfrm>
            <a:off x="8534400" y="5623560"/>
            <a:ext cx="281330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系统不涉及该项技术或管理领域</a:t>
            </a:r>
            <a:endParaRPr lang="en-US" sz="1920" dirty="0"/>
          </a:p>
        </p:txBody>
      </p:sp>
      <p:sp>
        <p:nvSpPr>
          <p:cNvPr id="38" name="Text 2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四种判定结果</a:t>
            </a:r>
            <a:endParaRPr lang="en-US" sz="2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301877d6949c90e26e5501b9c2049cc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394960" cy="2042160"/>
          </a:xfrm>
          <a:prstGeom prst="rect">
            <a:avLst/>
          </a:prstGeom>
        </p:spPr>
      </p:pic>
      <p:pic>
        <p:nvPicPr>
          <p:cNvPr id="6" name="Image 4" descr="https://test.web.static.jianzeppt.com/ppt-temp-img3/3cda9c392192352456b1376ba729a3b1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1386840"/>
            <a:ext cx="2849880" cy="44196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07720" y="1447800"/>
            <a:ext cx="24932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原则1：判断威胁是否存在</a:t>
            </a:r>
            <a:endParaRPr lang="en-US" sz="1680" dirty="0"/>
          </a:p>
        </p:txBody>
      </p:sp>
      <p:sp>
        <p:nvSpPr>
          <p:cNvPr id="8" name="Text 1"/>
          <p:cNvSpPr/>
          <p:nvPr/>
        </p:nvSpPr>
        <p:spPr>
          <a:xfrm>
            <a:off x="807720" y="1920240"/>
            <a:ext cx="5007864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分析测评项对抗的威胁在被测系统中是否存在，不存在则标为不适用。</a:t>
            </a:r>
            <a:endParaRPr lang="en-US" sz="168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720" y="2849880"/>
            <a:ext cx="4998720" cy="42672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944880" y="2941320"/>
            <a:ext cx="4847844" cy="2376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举例：系统无无线网络 → “无线接入控制”标为“不适用”</a:t>
            </a:r>
            <a:endParaRPr lang="en-US" sz="1440" dirty="0"/>
          </a:p>
        </p:txBody>
      </p:sp>
      <p:pic>
        <p:nvPicPr>
          <p:cNvPr id="11" name="Image 6" descr="https://test.web.static.jianzeppt.com/ppt-temp-img3/301877d6949c90e26e5501b9c2049cc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1371600"/>
            <a:ext cx="5394960" cy="2042160"/>
          </a:xfrm>
          <a:prstGeom prst="rect">
            <a:avLst/>
          </a:prstGeom>
        </p:spPr>
      </p:pic>
      <p:pic>
        <p:nvPicPr>
          <p:cNvPr id="12" name="Image 7" descr="https://test.web.static.jianzeppt.com/ppt-temp-img3/726308dcb7080c4980a4dea9a66a379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1386840"/>
            <a:ext cx="2849880" cy="44196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385560" y="1447800"/>
            <a:ext cx="24932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原则2：逐项分析要求内容</a:t>
            </a:r>
            <a:endParaRPr lang="en-US" sz="1680" dirty="0"/>
          </a:p>
        </p:txBody>
      </p:sp>
      <p:sp>
        <p:nvSpPr>
          <p:cNvPr id="14" name="Text 4"/>
          <p:cNvSpPr/>
          <p:nvPr/>
        </p:nvSpPr>
        <p:spPr>
          <a:xfrm>
            <a:off x="6385560" y="1920240"/>
            <a:ext cx="5007864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分析单个测评项是否有多方面的要求内容，针对每一方面进行判断。</a:t>
            </a:r>
            <a:endParaRPr lang="en-US" sz="168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5560" y="2621280"/>
            <a:ext cx="4998720" cy="67056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6522720" y="2712720"/>
            <a:ext cx="4779264" cy="4752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举例：身份鉴别含：①唯一性 ②复杂度 ③定期更换 → 需逐项检查</a:t>
            </a:r>
            <a:endParaRPr lang="en-US" sz="1440" dirty="0"/>
          </a:p>
        </p:txBody>
      </p:sp>
      <p:pic>
        <p:nvPicPr>
          <p:cNvPr id="17" name="Image 9" descr="https://test.web.static.jianzeppt.com/ppt-temp-img3/301877d6949c90e26e5501b9c2049cc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96640"/>
            <a:ext cx="5394960" cy="2042160"/>
          </a:xfrm>
          <a:prstGeom prst="rect">
            <a:avLst/>
          </a:prstGeom>
        </p:spPr>
      </p:pic>
      <p:pic>
        <p:nvPicPr>
          <p:cNvPr id="18" name="Image 10" descr="https://test.web.static.jianzeppt.com/ppt-temp-img3/d5d7e68c07faeb1df074f35a85779f90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3611880"/>
            <a:ext cx="3063240" cy="44196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807720" y="3672840"/>
            <a:ext cx="27066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原则3：使用“优势证据”法</a:t>
            </a:r>
            <a:endParaRPr lang="en-US" sz="1680" dirty="0"/>
          </a:p>
        </p:txBody>
      </p:sp>
      <p:sp>
        <p:nvSpPr>
          <p:cNvPr id="20" name="Text 7"/>
          <p:cNvSpPr/>
          <p:nvPr/>
        </p:nvSpPr>
        <p:spPr>
          <a:xfrm>
            <a:off x="807720" y="4145280"/>
            <a:ext cx="5007864" cy="601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从证据中选择出“优势证据”，并与预期结果相比较。</a:t>
            </a:r>
            <a:endParaRPr lang="en-US" sz="1680" dirty="0"/>
          </a:p>
        </p:txBody>
      </p:sp>
      <p:sp>
        <p:nvSpPr>
          <p:cNvPr id="21" name="Text 8"/>
          <p:cNvSpPr/>
          <p:nvPr/>
        </p:nvSpPr>
        <p:spPr>
          <a:xfrm>
            <a:off x="929640" y="4770120"/>
            <a:ext cx="9387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物理安全：</a:t>
            </a:r>
            <a:endParaRPr lang="en-US" sz="1440" dirty="0"/>
          </a:p>
        </p:txBody>
      </p:sp>
      <p:sp>
        <p:nvSpPr>
          <p:cNvPr id="22" name="Text 9"/>
          <p:cNvSpPr/>
          <p:nvPr/>
        </p:nvSpPr>
        <p:spPr>
          <a:xfrm>
            <a:off x="1844040" y="4754880"/>
            <a:ext cx="18531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实地察看 &gt; 文档 &gt; 访谈</a:t>
            </a:r>
            <a:endParaRPr lang="en-US" sz="1440" dirty="0"/>
          </a:p>
        </p:txBody>
      </p:sp>
      <p:sp>
        <p:nvSpPr>
          <p:cNvPr id="23" name="Text 10"/>
          <p:cNvSpPr/>
          <p:nvPr/>
        </p:nvSpPr>
        <p:spPr>
          <a:xfrm>
            <a:off x="929640" y="5029200"/>
            <a:ext cx="9387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技术安全：</a:t>
            </a:r>
            <a:endParaRPr lang="en-US" sz="1440" dirty="0"/>
          </a:p>
        </p:txBody>
      </p:sp>
      <p:sp>
        <p:nvSpPr>
          <p:cNvPr id="24" name="Text 11"/>
          <p:cNvSpPr/>
          <p:nvPr/>
        </p:nvSpPr>
        <p:spPr>
          <a:xfrm>
            <a:off x="1844040" y="5013960"/>
            <a:ext cx="18531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工具测试 &gt; 配置 &gt; 访谈</a:t>
            </a:r>
            <a:endParaRPr lang="en-US" sz="1440" dirty="0"/>
          </a:p>
        </p:txBody>
      </p:sp>
      <p:sp>
        <p:nvSpPr>
          <p:cNvPr id="25" name="Text 12"/>
          <p:cNvSpPr/>
          <p:nvPr/>
        </p:nvSpPr>
        <p:spPr>
          <a:xfrm>
            <a:off x="929640" y="5273040"/>
            <a:ext cx="9387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管理安全：</a:t>
            </a:r>
            <a:endParaRPr lang="en-US" sz="1440" dirty="0"/>
          </a:p>
        </p:txBody>
      </p:sp>
      <p:sp>
        <p:nvSpPr>
          <p:cNvPr id="26" name="Text 13"/>
          <p:cNvSpPr/>
          <p:nvPr/>
        </p:nvSpPr>
        <p:spPr>
          <a:xfrm>
            <a:off x="1844040" y="5257800"/>
            <a:ext cx="203606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4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需根据实际情况分析确定</a:t>
            </a:r>
            <a:endParaRPr lang="en-US" sz="1440" dirty="0"/>
          </a:p>
        </p:txBody>
      </p:sp>
      <p:pic>
        <p:nvPicPr>
          <p:cNvPr id="27" name="Image 11" descr="https://test.web.static.jianzeppt.com/ppt-temp-img3/301877d6949c90e26e5501b9c2049cc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3596640"/>
            <a:ext cx="5394960" cy="2042160"/>
          </a:xfrm>
          <a:prstGeom prst="rect">
            <a:avLst/>
          </a:prstGeom>
        </p:spPr>
      </p:pic>
      <p:pic>
        <p:nvPicPr>
          <p:cNvPr id="28" name="Image 12" descr="https://test.web.static.jianzeppt.com/ppt-temp-img3/1674c3ba57b4c7a9aa6e01c2ce30f2e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2680" y="3611880"/>
            <a:ext cx="1996440" cy="44196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385560" y="3672840"/>
            <a:ext cx="16398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原则4：综合判定</a:t>
            </a:r>
            <a:endParaRPr lang="en-US" sz="1680" dirty="0"/>
          </a:p>
        </p:txBody>
      </p:sp>
      <p:sp>
        <p:nvSpPr>
          <p:cNvPr id="30" name="Text 15"/>
          <p:cNvSpPr/>
          <p:nvPr/>
        </p:nvSpPr>
        <p:spPr>
          <a:xfrm>
            <a:off x="6385560" y="4312920"/>
            <a:ext cx="36972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所有要求与预期一致</a:t>
            </a:r>
            <a:endParaRPr lang="en-US" sz="1680" dirty="0"/>
          </a:p>
        </p:txBody>
      </p:sp>
      <p:sp>
        <p:nvSpPr>
          <p:cNvPr id="31" name="Text 16"/>
          <p:cNvSpPr/>
          <p:nvPr/>
        </p:nvSpPr>
        <p:spPr>
          <a:xfrm>
            <a:off x="10165080" y="4312920"/>
            <a:ext cx="222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endParaRPr lang="en-US" sz="1680" dirty="0"/>
          </a:p>
        </p:txBody>
      </p:sp>
      <p:pic>
        <p:nvPicPr>
          <p:cNvPr id="32" name="Image 13" descr="https://test.web.static.jianzeppt.com/ppt-temp-img3/ed6ca89313747d23d7b730749049f6ca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9880" y="4297680"/>
            <a:ext cx="914400" cy="28956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10744200" y="4312920"/>
            <a:ext cx="3901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符合</a:t>
            </a:r>
            <a:endParaRPr lang="en-US" sz="1440" dirty="0"/>
          </a:p>
        </p:txBody>
      </p:sp>
      <p:sp>
        <p:nvSpPr>
          <p:cNvPr id="34" name="Text 18"/>
          <p:cNvSpPr/>
          <p:nvPr/>
        </p:nvSpPr>
        <p:spPr>
          <a:xfrm>
            <a:off x="6385560" y="4693920"/>
            <a:ext cx="36972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所有要求与预期不一致</a:t>
            </a:r>
            <a:endParaRPr lang="en-US" sz="1680" dirty="0"/>
          </a:p>
        </p:txBody>
      </p:sp>
      <p:sp>
        <p:nvSpPr>
          <p:cNvPr id="35" name="Text 19"/>
          <p:cNvSpPr/>
          <p:nvPr/>
        </p:nvSpPr>
        <p:spPr>
          <a:xfrm>
            <a:off x="10165080" y="4693920"/>
            <a:ext cx="222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endParaRPr lang="en-US" sz="1680" dirty="0"/>
          </a:p>
        </p:txBody>
      </p:sp>
      <p:pic>
        <p:nvPicPr>
          <p:cNvPr id="36" name="Image 14" descr="https://test.web.static.jianzeppt.com/ppt-temp-img3/ed6ca89313747d23d7b730749049f6ca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9880" y="4678680"/>
            <a:ext cx="914400" cy="28956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10652760" y="4693920"/>
            <a:ext cx="57302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不符合</a:t>
            </a:r>
            <a:endParaRPr lang="en-US" sz="1440" dirty="0"/>
          </a:p>
        </p:txBody>
      </p:sp>
      <p:sp>
        <p:nvSpPr>
          <p:cNvPr id="38" name="Text 21"/>
          <p:cNvSpPr/>
          <p:nvPr/>
        </p:nvSpPr>
        <p:spPr>
          <a:xfrm>
            <a:off x="6385560" y="5074920"/>
            <a:ext cx="363626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否则</a:t>
            </a:r>
            <a:endParaRPr lang="en-US" sz="1680" dirty="0"/>
          </a:p>
        </p:txBody>
      </p:sp>
      <p:sp>
        <p:nvSpPr>
          <p:cNvPr id="39" name="Text 22"/>
          <p:cNvSpPr/>
          <p:nvPr/>
        </p:nvSpPr>
        <p:spPr>
          <a:xfrm>
            <a:off x="10104120" y="5074920"/>
            <a:ext cx="222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→</a:t>
            </a:r>
            <a:endParaRPr lang="en-US" sz="1680" dirty="0"/>
          </a:p>
        </p:txBody>
      </p:sp>
      <p:pic>
        <p:nvPicPr>
          <p:cNvPr id="40" name="Image 15" descr="https://test.web.static.jianzeppt.com/ppt-temp-img3/93570f6faf60edfc3b4370faa304a010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8920" y="5059680"/>
            <a:ext cx="990600" cy="28956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10530840" y="5074920"/>
            <a:ext cx="75590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部分符合</a:t>
            </a:r>
            <a:endParaRPr lang="en-US" sz="1440" dirty="0"/>
          </a:p>
        </p:txBody>
      </p:sp>
      <p:sp>
        <p:nvSpPr>
          <p:cNvPr id="42" name="Text 2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四项判定原则详解</a:t>
            </a:r>
            <a:endParaRPr lang="en-US" sz="2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9b24c370062cad82421a004632732d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364480" cy="1828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661160"/>
            <a:ext cx="9144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82040" y="1630680"/>
            <a:ext cx="12283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</a:rPr>
              <a:t>核心概念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868680" y="2133600"/>
            <a:ext cx="4855464" cy="8201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1F2937"/>
                </a:solidFill>
              </a:rPr>
              <a:t>“优势证据”是指在得到的多个测评证据中，那个或者那些对于单个要求项的符合性判定</a:t>
            </a:r>
            <a:r>
              <a:rPr lang="en-US" sz="1560" b="1" dirty="0">
                <a:solidFill>
                  <a:srgbClr val="1F2937"/>
                </a:solidFill>
              </a:rPr>
              <a:t>更具有证明力、说服力</a:t>
            </a:r>
            <a:r>
              <a:rPr lang="en-US" sz="1560" dirty="0">
                <a:solidFill>
                  <a:srgbClr val="1F2937"/>
                </a:solidFill>
              </a:rPr>
              <a:t>的测评证据。</a:t>
            </a:r>
            <a:endParaRPr lang="en-US" sz="1560" dirty="0"/>
          </a:p>
        </p:txBody>
      </p:sp>
      <p:pic>
        <p:nvPicPr>
          <p:cNvPr id="9" name="Image 5" descr="https://test.web.static.jianzeppt.com/ppt-temp-img3/9b24c370062cad82421a004632732d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64480" cy="18288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630680"/>
            <a:ext cx="91440" cy="3048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6690360" y="1600200"/>
            <a:ext cx="377342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</a:rPr>
              <a:t>为什么需要“优势证据”法？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6477000" y="2072640"/>
            <a:ext cx="485546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由于不同测评人员对优势证据的理解可能不同，选择的证据就不同，导致结果产生差异。为避免这种情况，</a:t>
            </a:r>
            <a:r>
              <a:rPr lang="en-US" sz="1680" b="1" dirty="0">
                <a:solidFill>
                  <a:srgbClr val="1F2937"/>
                </a:solidFill>
              </a:rPr>
              <a:t>必须统一使用</a:t>
            </a:r>
            <a:r>
              <a:rPr lang="en-US" sz="1680" dirty="0">
                <a:solidFill>
                  <a:srgbClr val="1F2937"/>
                </a:solidFill>
              </a:rPr>
              <a:t>该方法。</a:t>
            </a:r>
            <a:endParaRPr lang="en-US" sz="168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505200"/>
            <a:ext cx="10972800" cy="2133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4" name="Image 8" descr="https://test.web.static.jianzeppt.com/ppt-temp-img3/563d025c47ec41f4565c228137dcf23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520440"/>
            <a:ext cx="10942320" cy="76200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868680" y="374904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测评领域</a:t>
            </a:r>
            <a:endParaRPr lang="en-US" sz="1920" dirty="0"/>
          </a:p>
        </p:txBody>
      </p:sp>
      <p:pic>
        <p:nvPicPr>
          <p:cNvPr id="16" name="Image 9" descr="https://test.web.static.jianzeppt.com/ppt-temp-img3/d7687c484d0d1756e698f3fe5d601bde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9065" y="3520440"/>
            <a:ext cx="15240" cy="76200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2849880" y="3710940"/>
            <a:ext cx="2716530" cy="4425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优势证据层级（从高到低）</a:t>
            </a:r>
            <a:endParaRPr lang="en-US" sz="1920" dirty="0"/>
          </a:p>
        </p:txBody>
      </p:sp>
      <p:pic>
        <p:nvPicPr>
          <p:cNvPr id="18" name="Image 10" descr="https://test.web.static.jianzeppt.com/ppt-temp-img3/d7687c484d0d1756e698f3fe5d601bde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1761" y="3520440"/>
            <a:ext cx="15240" cy="76200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6126480" y="3749040"/>
            <a:ext cx="27066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具体举例及不同证据对比</a:t>
            </a:r>
            <a:endParaRPr lang="en-US" sz="1920" dirty="0"/>
          </a:p>
        </p:txBody>
      </p:sp>
      <p:pic>
        <p:nvPicPr>
          <p:cNvPr id="20" name="Image 11" descr="https://test.web.static.jianzeppt.com/ppt-temp-img3/d7687c484d0d1756e698f3fe5d601bde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0267" y="3520440"/>
            <a:ext cx="15240" cy="76200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10165080" y="3535680"/>
            <a:ext cx="116738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应采信的证据</a:t>
            </a:r>
            <a:endParaRPr lang="en-US" sz="1920" dirty="0"/>
          </a:p>
        </p:txBody>
      </p:sp>
      <p:pic>
        <p:nvPicPr>
          <p:cNvPr id="22" name="Image 12" descr="https://test.web.static.jianzeppt.com/ppt-temp-img3/3708fa16af4465803ff0daa48d18f8a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4282440"/>
            <a:ext cx="10942320" cy="143256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868680" y="4297680"/>
            <a:ext cx="1502664" cy="1402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</a:rPr>
              <a:t>物理安全</a:t>
            </a:r>
            <a:endParaRPr lang="en-US" sz="1680" dirty="0"/>
          </a:p>
        </p:txBody>
      </p:sp>
      <p:sp>
        <p:nvSpPr>
          <p:cNvPr id="24" name="Text 9"/>
          <p:cNvSpPr/>
          <p:nvPr/>
        </p:nvSpPr>
        <p:spPr>
          <a:xfrm>
            <a:off x="2834640" y="4693920"/>
            <a:ext cx="28133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</a:rPr>
              <a:t>实地察看</a:t>
            </a:r>
            <a:r>
              <a:rPr lang="en-US" sz="1680" dirty="0">
                <a:solidFill>
                  <a:srgbClr val="9CA3AF"/>
                </a:solidFill>
              </a:rPr>
              <a:t>＞</a:t>
            </a:r>
            <a:r>
              <a:rPr lang="en-US" sz="1680" dirty="0">
                <a:solidFill>
                  <a:srgbClr val="1F2937"/>
                </a:solidFill>
              </a:rPr>
              <a:t>文档审查</a:t>
            </a:r>
            <a:r>
              <a:rPr lang="en-US" sz="1680" dirty="0">
                <a:solidFill>
                  <a:srgbClr val="9CA3AF"/>
                </a:solidFill>
              </a:rPr>
              <a:t>＞</a:t>
            </a:r>
            <a:r>
              <a:rPr lang="en-US" sz="1680" dirty="0">
                <a:solidFill>
                  <a:srgbClr val="1F2937"/>
                </a:solidFill>
              </a:rPr>
              <a:t>访谈</a:t>
            </a:r>
            <a:endParaRPr lang="en-US" sz="1680" dirty="0"/>
          </a:p>
        </p:txBody>
      </p:sp>
      <p:sp>
        <p:nvSpPr>
          <p:cNvPr id="25" name="Text 10"/>
          <p:cNvSpPr/>
          <p:nvPr/>
        </p:nvSpPr>
        <p:spPr>
          <a:xfrm>
            <a:off x="6126480" y="4404360"/>
            <a:ext cx="35753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机房温湿度控制</a:t>
            </a:r>
            <a:endParaRPr lang="en-US" sz="1920" dirty="0"/>
          </a:p>
        </p:txBody>
      </p:sp>
      <p:sp>
        <p:nvSpPr>
          <p:cNvPr id="26" name="Text 11"/>
          <p:cNvSpPr/>
          <p:nvPr/>
        </p:nvSpPr>
        <p:spPr>
          <a:xfrm>
            <a:off x="6126480" y="4770120"/>
            <a:ext cx="357530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4B5563"/>
                </a:solidFill>
              </a:rPr>
              <a:t>访谈证据：管理员说温湿度正常</a:t>
            </a:r>
            <a:endParaRPr lang="en-US" sz="1560" dirty="0"/>
          </a:p>
        </p:txBody>
      </p:sp>
      <p:sp>
        <p:nvSpPr>
          <p:cNvPr id="27" name="Text 12"/>
          <p:cNvSpPr/>
          <p:nvPr/>
        </p:nvSpPr>
        <p:spPr>
          <a:xfrm>
            <a:off x="6126480" y="5044440"/>
            <a:ext cx="357530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4B5563"/>
                </a:solidFill>
              </a:rPr>
              <a:t>配置检查证据：查看温湿度记录</a:t>
            </a:r>
            <a:endParaRPr lang="en-US" sz="1560" dirty="0"/>
          </a:p>
        </p:txBody>
      </p:sp>
      <p:sp>
        <p:nvSpPr>
          <p:cNvPr id="28" name="Text 13"/>
          <p:cNvSpPr/>
          <p:nvPr/>
        </p:nvSpPr>
        <p:spPr>
          <a:xfrm>
            <a:off x="6126480" y="5334000"/>
            <a:ext cx="357530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4B5563"/>
                </a:solidFill>
              </a:rPr>
              <a:t>工具测试证据：实地察看温湿度计</a:t>
            </a:r>
            <a:endParaRPr lang="en-US" sz="1560" dirty="0"/>
          </a:p>
        </p:txBody>
      </p:sp>
      <p:pic>
        <p:nvPicPr>
          <p:cNvPr id="29" name="Image 13" descr="https://test.web.static.jianzeppt.com/ppt-temp-img3/ccd8cf9069f7627eea1b8272932ac655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4282440"/>
            <a:ext cx="1645920" cy="143256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10256520" y="48310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</a:rPr>
              <a:t>实地察看</a:t>
            </a:r>
            <a:endParaRPr lang="en-US" sz="1920" dirty="0"/>
          </a:p>
        </p:txBody>
      </p:sp>
      <p:sp>
        <p:nvSpPr>
          <p:cNvPr id="31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“优势证据”法详解（15分钟）</a:t>
            </a:r>
            <a:endParaRPr lang="en-US" sz="2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41120"/>
            <a:ext cx="10972800" cy="490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ebf2acc6c3d0fd80f335c18e322daf5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356360"/>
            <a:ext cx="10942320" cy="7315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68680" y="15087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判定结果</a:t>
            </a:r>
            <a:endParaRPr lang="en-US" sz="216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2087880"/>
            <a:ext cx="2735580" cy="1524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611880" y="15087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判定条件</a:t>
            </a:r>
            <a:endParaRPr lang="en-US" sz="216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60420" y="2087880"/>
            <a:ext cx="4559198" cy="152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8168640" y="150876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举例</a:t>
            </a:r>
            <a:endParaRPr lang="en-US" sz="216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19618" y="2087880"/>
            <a:ext cx="3647542" cy="152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4840" y="2087880"/>
            <a:ext cx="10942320" cy="1036320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8680" y="2377440"/>
            <a:ext cx="868680" cy="457200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1051560" y="2423160"/>
            <a:ext cx="5120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符合</a:t>
            </a:r>
            <a:endParaRPr lang="en-US" sz="1920" dirty="0"/>
          </a:p>
        </p:txBody>
      </p:sp>
      <p:sp>
        <p:nvSpPr>
          <p:cNvPr id="16" name="Text 4"/>
          <p:cNvSpPr/>
          <p:nvPr/>
        </p:nvSpPr>
        <p:spPr>
          <a:xfrm>
            <a:off x="3611880" y="2103120"/>
            <a:ext cx="4093464" cy="1005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所有要求内容与预期完全一致</a:t>
            </a:r>
            <a:endParaRPr lang="en-US" sz="1920" dirty="0"/>
          </a:p>
        </p:txBody>
      </p:sp>
      <p:sp>
        <p:nvSpPr>
          <p:cNvPr id="17" name="Text 5"/>
          <p:cNvSpPr/>
          <p:nvPr/>
        </p:nvSpPr>
        <p:spPr>
          <a:xfrm>
            <a:off x="8168640" y="2103120"/>
            <a:ext cx="31790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密码长度≥8位，复杂度要求全部满足</a:t>
            </a:r>
            <a:endParaRPr lang="en-US" sz="168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4840" y="3124200"/>
            <a:ext cx="10942320" cy="1524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4840" y="3124200"/>
            <a:ext cx="10942320" cy="1036320"/>
          </a:xfrm>
          <a:prstGeom prst="rect">
            <a:avLst/>
          </a:prstGeom>
        </p:spPr>
      </p:pic>
      <p:pic>
        <p:nvPicPr>
          <p:cNvPr id="20" name="Image 12" descr="https://test.web.static.jianzeppt.com/ppt-temp-img3/c2e4adce175960be6ed27f3f0518f9a5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8680" y="3398520"/>
            <a:ext cx="1386840" cy="48768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1066800" y="3459480"/>
            <a:ext cx="9997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部分符合</a:t>
            </a:r>
            <a:endParaRPr lang="en-US" sz="1920" dirty="0"/>
          </a:p>
        </p:txBody>
      </p:sp>
      <p:sp>
        <p:nvSpPr>
          <p:cNvPr id="22" name="Text 7"/>
          <p:cNvSpPr/>
          <p:nvPr/>
        </p:nvSpPr>
        <p:spPr>
          <a:xfrm>
            <a:off x="3611880" y="3139440"/>
            <a:ext cx="4093464" cy="1005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部分要求内容一致，部分不一致</a:t>
            </a:r>
            <a:endParaRPr lang="en-US" sz="1920" dirty="0"/>
          </a:p>
        </p:txBody>
      </p:sp>
      <p:sp>
        <p:nvSpPr>
          <p:cNvPr id="23" name="Text 8"/>
          <p:cNvSpPr/>
          <p:nvPr/>
        </p:nvSpPr>
        <p:spPr>
          <a:xfrm>
            <a:off x="8168640" y="3139440"/>
            <a:ext cx="31790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密码长度6位（要求≥8），但启用了复杂度</a:t>
            </a:r>
            <a:endParaRPr lang="en-US" sz="168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4840" y="4160520"/>
            <a:ext cx="10942320" cy="15240"/>
          </a:xfrm>
          <a:prstGeom prst="rect">
            <a:avLst/>
          </a:prstGeom>
        </p:spPr>
      </p:pic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4840" y="4160520"/>
            <a:ext cx="10942320" cy="1036320"/>
          </a:xfrm>
          <a:prstGeom prst="rect">
            <a:avLst/>
          </a:prstGeom>
        </p:spPr>
      </p:pic>
      <p:pic>
        <p:nvPicPr>
          <p:cNvPr id="26" name="Image 15" descr="https://test.web.static.jianzeppt.com/ppt-temp-img3/c190213924d0e41f1b1db8e234b5922f.png?x-oss-process=image/resize,w_1440,h_800,m_lfit/format,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8680" y="4434840"/>
            <a:ext cx="1143000" cy="487680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1066800" y="4495800"/>
            <a:ext cx="7559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不符合</a:t>
            </a:r>
            <a:endParaRPr lang="en-US" sz="1920" dirty="0"/>
          </a:p>
        </p:txBody>
      </p:sp>
      <p:sp>
        <p:nvSpPr>
          <p:cNvPr id="28" name="Text 10"/>
          <p:cNvSpPr/>
          <p:nvPr/>
        </p:nvSpPr>
        <p:spPr>
          <a:xfrm>
            <a:off x="3611880" y="4175760"/>
            <a:ext cx="4093464" cy="1005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所有要求内容与预期均不一致</a:t>
            </a:r>
            <a:endParaRPr lang="en-US" sz="1920" dirty="0"/>
          </a:p>
        </p:txBody>
      </p:sp>
      <p:sp>
        <p:nvSpPr>
          <p:cNvPr id="29" name="Text 11"/>
          <p:cNvSpPr/>
          <p:nvPr/>
        </p:nvSpPr>
        <p:spPr>
          <a:xfrm>
            <a:off x="8168640" y="4175760"/>
            <a:ext cx="31790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未启用密码策略，空口令账户存在</a:t>
            </a:r>
            <a:endParaRPr lang="en-US" sz="168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4840" y="5196840"/>
            <a:ext cx="10942320" cy="15240"/>
          </a:xfrm>
          <a:prstGeom prst="rect">
            <a:avLst/>
          </a:prstGeom>
        </p:spPr>
      </p:pic>
      <p:pic>
        <p:nvPicPr>
          <p:cNvPr id="31" name="Image 17" descr="https://test.web.static.jianzeppt.com/ppt-temp-img3/7eefe494cd2ec6439d67f2dbd1950668.png?x-oss-process=image/resize,w_1440,h_800,m_lfit/format,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" y="5196840"/>
            <a:ext cx="10942320" cy="1036320"/>
          </a:xfrm>
          <a:prstGeom prst="rect">
            <a:avLst/>
          </a:prstGeom>
        </p:spPr>
      </p:pic>
      <p:pic>
        <p:nvPicPr>
          <p:cNvPr id="32" name="Image 18" descr="https://test.web.static.jianzeppt.com/ppt-temp-img3/c190213924d0e41f1b1db8e234b5922f.png?x-oss-process=image/resize,w_1440,h_800,m_lfit/format,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8680" y="5471160"/>
            <a:ext cx="1143000" cy="487680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1066800" y="5532120"/>
            <a:ext cx="7559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不适用</a:t>
            </a:r>
            <a:endParaRPr lang="en-US" sz="1920" dirty="0"/>
          </a:p>
        </p:txBody>
      </p:sp>
      <p:sp>
        <p:nvSpPr>
          <p:cNvPr id="34" name="Text 13"/>
          <p:cNvSpPr/>
          <p:nvPr/>
        </p:nvSpPr>
        <p:spPr>
          <a:xfrm>
            <a:off x="3611880" y="5212080"/>
            <a:ext cx="4093464" cy="1005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该测评项对抗的威胁不存在</a:t>
            </a:r>
            <a:endParaRPr lang="en-US" sz="1920" dirty="0"/>
          </a:p>
        </p:txBody>
      </p:sp>
      <p:sp>
        <p:nvSpPr>
          <p:cNvPr id="35" name="Text 14"/>
          <p:cNvSpPr/>
          <p:nvPr/>
        </p:nvSpPr>
        <p:spPr>
          <a:xfrm>
            <a:off x="8168640" y="5212080"/>
            <a:ext cx="31790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系统无无线网络，无线接入控制指标不适用</a:t>
            </a:r>
            <a:endParaRPr lang="en-US" sz="1680" dirty="0"/>
          </a:p>
        </p:txBody>
      </p:sp>
      <p:sp>
        <p:nvSpPr>
          <p:cNvPr id="36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四种判定结果的判定标准（核心对照表）</a:t>
            </a:r>
            <a:endParaRPr lang="en-US" sz="2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731520" cy="6248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1463040"/>
            <a:ext cx="426720" cy="4267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09600" y="2179320"/>
            <a:ext cx="2569464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错误类型：将“部分符合”误判为“符合”</a:t>
            </a:r>
            <a:endParaRPr lang="en-US" sz="1560" dirty="0"/>
          </a:p>
        </p:txBody>
      </p:sp>
      <p:sp>
        <p:nvSpPr>
          <p:cNvPr id="8" name="Text 1"/>
          <p:cNvSpPr/>
          <p:nvPr/>
        </p:nvSpPr>
        <p:spPr>
          <a:xfrm>
            <a:off x="609600" y="3119120"/>
            <a:ext cx="2569464" cy="774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111827"/>
                </a:solidFill>
              </a:rPr>
              <a:t>错误表现：</a:t>
            </a:r>
            <a:r>
              <a:rPr lang="en-US" sz="1680" dirty="0">
                <a:solidFill>
                  <a:srgbClr val="374151"/>
                </a:solidFill>
              </a:rPr>
              <a:t>“密码策略基本满足，只是长度稍短”——应判为“部分符合”</a:t>
            </a:r>
            <a:endParaRPr lang="en-US" sz="1680" dirty="0"/>
          </a:p>
        </p:txBody>
      </p:sp>
      <p:sp>
        <p:nvSpPr>
          <p:cNvPr id="9" name="Text 2"/>
          <p:cNvSpPr/>
          <p:nvPr/>
        </p:nvSpPr>
        <p:spPr>
          <a:xfrm>
            <a:off x="609600" y="4216400"/>
            <a:ext cx="2569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</a:rPr>
              <a:t>正确做法：</a:t>
            </a:r>
            <a:r>
              <a:rPr lang="en-US" sz="1680" dirty="0">
                <a:solidFill>
                  <a:srgbClr val="374151"/>
                </a:solidFill>
              </a:rPr>
              <a:t>任何一项要求不满足，就不能判“符合”</a:t>
            </a:r>
            <a:endParaRPr lang="en-US" sz="168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3760" y="1371600"/>
            <a:ext cx="731520" cy="56388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66160" y="1432560"/>
            <a:ext cx="426720" cy="42672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3413760" y="2118360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错误类型：“不适用”理由不充分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3413760" y="2997200"/>
            <a:ext cx="2569464" cy="774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111827"/>
                </a:solidFill>
              </a:rPr>
              <a:t>错误表现：</a:t>
            </a:r>
            <a:r>
              <a:rPr lang="en-US" sz="1680" dirty="0">
                <a:solidFill>
                  <a:srgbClr val="374151"/>
                </a:solidFill>
              </a:rPr>
              <a:t>“系统没有这个要求”——未说明威胁是否存在</a:t>
            </a:r>
            <a:endParaRPr lang="en-US" sz="1680" dirty="0"/>
          </a:p>
        </p:txBody>
      </p:sp>
      <p:sp>
        <p:nvSpPr>
          <p:cNvPr id="14" name="Text 5"/>
          <p:cNvSpPr/>
          <p:nvPr/>
        </p:nvSpPr>
        <p:spPr>
          <a:xfrm>
            <a:off x="3413760" y="4094480"/>
            <a:ext cx="2569464" cy="774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</a:rPr>
              <a:t>正确做法：</a:t>
            </a:r>
            <a:r>
              <a:rPr lang="en-US" sz="1680" dirty="0">
                <a:solidFill>
                  <a:srgbClr val="374151"/>
                </a:solidFill>
              </a:rPr>
              <a:t>必须说明“该测评项所对抗的威胁在系统中不存在”</a:t>
            </a:r>
            <a:endParaRPr lang="en-US" sz="168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17920" y="1371600"/>
            <a:ext cx="731520" cy="70104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0320" y="1508760"/>
            <a:ext cx="426720" cy="42672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6217920" y="2255520"/>
            <a:ext cx="2569464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错误类型：未逐子项判定</a:t>
            </a:r>
            <a:endParaRPr lang="en-US" sz="1800" dirty="0"/>
          </a:p>
        </p:txBody>
      </p:sp>
      <p:sp>
        <p:nvSpPr>
          <p:cNvPr id="18" name="Text 7"/>
          <p:cNvSpPr/>
          <p:nvPr/>
        </p:nvSpPr>
        <p:spPr>
          <a:xfrm>
            <a:off x="6217920" y="3256280"/>
            <a:ext cx="2569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111827"/>
                </a:solidFill>
              </a:rPr>
              <a:t>错误表现：</a:t>
            </a:r>
            <a:r>
              <a:rPr lang="en-US" sz="1680" dirty="0">
                <a:solidFill>
                  <a:srgbClr val="374151"/>
                </a:solidFill>
              </a:rPr>
              <a:t>一项指标含多个子项，未逐子项分析</a:t>
            </a:r>
            <a:endParaRPr lang="en-US" sz="1680" dirty="0"/>
          </a:p>
        </p:txBody>
      </p:sp>
      <p:sp>
        <p:nvSpPr>
          <p:cNvPr id="19" name="Text 8"/>
          <p:cNvSpPr/>
          <p:nvPr/>
        </p:nvSpPr>
        <p:spPr>
          <a:xfrm>
            <a:off x="6217920" y="4003040"/>
            <a:ext cx="2569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</a:rPr>
              <a:t>正确做法：</a:t>
            </a:r>
            <a:r>
              <a:rPr lang="en-US" sz="1680" dirty="0">
                <a:solidFill>
                  <a:srgbClr val="374151"/>
                </a:solidFill>
              </a:rPr>
              <a:t>拆分到每个子项分别判定</a:t>
            </a:r>
            <a:endParaRPr lang="en-US" sz="168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22080" y="1371600"/>
            <a:ext cx="731520" cy="701040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74480" y="1508760"/>
            <a:ext cx="426720" cy="42672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9022080" y="2255520"/>
            <a:ext cx="2569464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错误类型：过度依赖访谈证据</a:t>
            </a:r>
            <a:endParaRPr lang="en-US" sz="1800" dirty="0"/>
          </a:p>
        </p:txBody>
      </p:sp>
      <p:sp>
        <p:nvSpPr>
          <p:cNvPr id="23" name="Text 10"/>
          <p:cNvSpPr/>
          <p:nvPr/>
        </p:nvSpPr>
        <p:spPr>
          <a:xfrm>
            <a:off x="9022080" y="3256280"/>
            <a:ext cx="2569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111827"/>
                </a:solidFill>
              </a:rPr>
              <a:t>错误表现：</a:t>
            </a:r>
            <a:r>
              <a:rPr lang="en-US" sz="1680" dirty="0">
                <a:solidFill>
                  <a:srgbClr val="374151"/>
                </a:solidFill>
              </a:rPr>
              <a:t>“管理员说配置了”——没有核查确认</a:t>
            </a:r>
            <a:endParaRPr lang="en-US" sz="1680" dirty="0"/>
          </a:p>
        </p:txBody>
      </p:sp>
      <p:sp>
        <p:nvSpPr>
          <p:cNvPr id="24" name="Text 11"/>
          <p:cNvSpPr/>
          <p:nvPr/>
        </p:nvSpPr>
        <p:spPr>
          <a:xfrm>
            <a:off x="9022080" y="4003040"/>
            <a:ext cx="2569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</a:rPr>
              <a:t>正确做法：</a:t>
            </a:r>
            <a:r>
              <a:rPr lang="en-US" sz="1680" dirty="0">
                <a:solidFill>
                  <a:srgbClr val="374151"/>
                </a:solidFill>
              </a:rPr>
              <a:t>技术安全以工具测试/配置检查为优势证据</a:t>
            </a:r>
            <a:endParaRPr lang="en-US" sz="168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609600" y="5254625"/>
            <a:ext cx="10972800" cy="1066800"/>
            <a:chOff x="960" y="7200"/>
            <a:chExt cx="17280" cy="1680"/>
          </a:xfrm>
        </p:grpSpPr>
        <p:pic>
          <p:nvPicPr>
            <p:cNvPr id="25" name="Image 11" descr="preencoded.png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60" y="7200"/>
              <a:ext cx="17280" cy="1680"/>
            </a:xfrm>
            <a:prstGeom prst="rect">
              <a:avLst/>
            </a:prstGeom>
          </p:spPr>
        </p:pic>
        <p:sp>
          <p:nvSpPr>
            <p:cNvPr id="26" name="Text 12"/>
            <p:cNvSpPr/>
            <p:nvPr/>
          </p:nvSpPr>
          <p:spPr>
            <a:xfrm>
              <a:off x="1440" y="7440"/>
              <a:ext cx="16430" cy="112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4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思政融入：</a:t>
              </a:r>
              <a:r>
                <a:rPr lang="en-US" sz="2040" dirty="0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判定错误往往不是能力问题，而是态度问题——不认真、不严谨、不负责。每一次判定都是职业操守的“试金石”。</a:t>
              </a:r>
              <a:endParaRPr lang="en-US" sz="2040" dirty="0"/>
            </a:p>
          </p:txBody>
        </p:sp>
      </p:grpSp>
      <p:sp>
        <p:nvSpPr>
          <p:cNvPr id="27" name="Text 13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判定常见错误类型</a:t>
            </a:r>
            <a:endParaRPr lang="en-US" sz="2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95400"/>
            <a:ext cx="10972800" cy="28041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c50a2fa58ce91152f4b0355a2aa7a44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310640"/>
            <a:ext cx="10942320" cy="6096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68680" y="1402080"/>
            <a:ext cx="34686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演示案例1：服务器身份鉴别</a:t>
            </a:r>
            <a:endParaRPr lang="en-US" sz="2160" dirty="0"/>
          </a:p>
        </p:txBody>
      </p:sp>
      <p:pic>
        <p:nvPicPr>
          <p:cNvPr id="8" name="Image 5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1920240"/>
            <a:ext cx="10942320" cy="152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1920240"/>
            <a:ext cx="10942320" cy="44196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746760" y="1981200"/>
            <a:ext cx="1091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测评项</a:t>
            </a:r>
            <a:endParaRPr lang="en-US" sz="1680" dirty="0"/>
          </a:p>
        </p:txBody>
      </p:sp>
      <p:sp>
        <p:nvSpPr>
          <p:cNvPr id="11" name="Text 2"/>
          <p:cNvSpPr/>
          <p:nvPr/>
        </p:nvSpPr>
        <p:spPr>
          <a:xfrm>
            <a:off x="2057400" y="1981200"/>
            <a:ext cx="2615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要求内容</a:t>
            </a:r>
            <a:endParaRPr lang="en-US" sz="1680" dirty="0"/>
          </a:p>
        </p:txBody>
      </p:sp>
      <p:sp>
        <p:nvSpPr>
          <p:cNvPr id="12" name="Text 3"/>
          <p:cNvSpPr/>
          <p:nvPr/>
        </p:nvSpPr>
        <p:spPr>
          <a:xfrm>
            <a:off x="4907280" y="1981200"/>
            <a:ext cx="34991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测评证据</a:t>
            </a:r>
            <a:endParaRPr lang="en-US" sz="1680" dirty="0"/>
          </a:p>
        </p:txBody>
      </p:sp>
      <p:sp>
        <p:nvSpPr>
          <p:cNvPr id="13" name="Text 4"/>
          <p:cNvSpPr/>
          <p:nvPr/>
        </p:nvSpPr>
        <p:spPr>
          <a:xfrm>
            <a:off x="8625840" y="1981200"/>
            <a:ext cx="1304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优势证据</a:t>
            </a:r>
            <a:endParaRPr lang="en-US" sz="1680" dirty="0"/>
          </a:p>
        </p:txBody>
      </p:sp>
      <p:sp>
        <p:nvSpPr>
          <p:cNvPr id="14" name="Text 5"/>
          <p:cNvSpPr/>
          <p:nvPr/>
        </p:nvSpPr>
        <p:spPr>
          <a:xfrm>
            <a:off x="10149840" y="1981200"/>
            <a:ext cx="1304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判定结果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746760" y="2453640"/>
            <a:ext cx="1091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8.1.4.1 a)</a:t>
            </a:r>
            <a:endParaRPr lang="en-US" sz="1680" dirty="0"/>
          </a:p>
        </p:txBody>
      </p:sp>
      <p:sp>
        <p:nvSpPr>
          <p:cNvPr id="16" name="Text 7"/>
          <p:cNvSpPr/>
          <p:nvPr/>
        </p:nvSpPr>
        <p:spPr>
          <a:xfrm>
            <a:off x="2057400" y="2453640"/>
            <a:ext cx="2281555" cy="467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①标识唯一 ②复杂要求 ③定期更换</a:t>
            </a:r>
            <a:endParaRPr lang="en-US" sz="1680" dirty="0"/>
          </a:p>
        </p:txBody>
      </p:sp>
      <p:sp>
        <p:nvSpPr>
          <p:cNvPr id="17" name="Text 8"/>
          <p:cNvSpPr/>
          <p:nvPr/>
        </p:nvSpPr>
        <p:spPr>
          <a:xfrm>
            <a:off x="2057400" y="3106420"/>
            <a:ext cx="261518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①访谈:用户唯一</a:t>
            </a:r>
            <a:r>
              <a:rPr lang="en-US" sz="168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②核查:密码长度6</a:t>
            </a:r>
            <a:r>
              <a:rPr lang="en-US" sz="168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③核查:无有效期</a:t>
            </a:r>
            <a:endParaRPr lang="en-US" sz="1680" dirty="0"/>
          </a:p>
        </p:txBody>
      </p:sp>
      <p:sp>
        <p:nvSpPr>
          <p:cNvPr id="18" name="Text 9"/>
          <p:cNvSpPr/>
          <p:nvPr/>
        </p:nvSpPr>
        <p:spPr>
          <a:xfrm>
            <a:off x="4907280" y="2453640"/>
            <a:ext cx="34991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配置检查</a:t>
            </a:r>
            <a:endParaRPr lang="en-US" sz="1680" dirty="0"/>
          </a:p>
        </p:txBody>
      </p:sp>
      <p:sp>
        <p:nvSpPr>
          <p:cNvPr id="19" name="Text 10"/>
          <p:cNvSpPr/>
          <p:nvPr/>
        </p:nvSpPr>
        <p:spPr>
          <a:xfrm>
            <a:off x="8625840" y="2453640"/>
            <a:ext cx="1304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FF8C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部分符合</a:t>
            </a:r>
            <a:endParaRPr lang="en-US" sz="1680" dirty="0"/>
          </a:p>
        </p:txBody>
      </p:sp>
      <p:pic>
        <p:nvPicPr>
          <p:cNvPr id="20" name="Image 7" descr="https://test.web.static.jianzeppt.com/ppt-temp-img3/3bc3882457660c411acb42dc1a9188a4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3657600"/>
            <a:ext cx="10942320" cy="4267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07720" y="3749040"/>
            <a:ext cx="1058570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判定说明：</a:t>
            </a:r>
            <a:r>
              <a:rPr lang="en-US" sz="144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a)复杂度不够且唯一性未完全验证；b)有失败处理但无超时。均“部分符合”。</a:t>
            </a:r>
            <a:endParaRPr lang="en-US" sz="1440" dirty="0"/>
          </a:p>
        </p:txBody>
      </p:sp>
      <p:pic>
        <p:nvPicPr>
          <p:cNvPr id="22" name="Image 8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3642360"/>
            <a:ext cx="10942320" cy="15240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4343400"/>
            <a:ext cx="1097280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4" name="Image 10" descr="https://test.web.static.jianzeppt.com/ppt-temp-img3/d7a04dc9b86c2652370f7fbdac2407e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4358640"/>
            <a:ext cx="10942320" cy="6096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868680" y="4450080"/>
            <a:ext cx="34686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演示案例2：防火墙访问控制</a:t>
            </a:r>
            <a:endParaRPr lang="en-US" sz="2160" dirty="0"/>
          </a:p>
        </p:txBody>
      </p:sp>
      <p:pic>
        <p:nvPicPr>
          <p:cNvPr id="26" name="Image 11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4968240"/>
            <a:ext cx="10942320" cy="1524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746760" y="5059680"/>
            <a:ext cx="1091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8.1.3.2 b)</a:t>
            </a:r>
            <a:endParaRPr lang="en-US" sz="1680" dirty="0"/>
          </a:p>
        </p:txBody>
      </p:sp>
      <p:sp>
        <p:nvSpPr>
          <p:cNvPr id="28" name="Text 14"/>
          <p:cNvSpPr/>
          <p:nvPr/>
        </p:nvSpPr>
        <p:spPr>
          <a:xfrm>
            <a:off x="2057400" y="5059680"/>
            <a:ext cx="261518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删除多余或无效规则</a:t>
            </a:r>
            <a:endParaRPr lang="en-US" sz="1680" dirty="0"/>
          </a:p>
        </p:txBody>
      </p:sp>
      <p:sp>
        <p:nvSpPr>
          <p:cNvPr id="29" name="Text 15"/>
          <p:cNvSpPr/>
          <p:nvPr/>
        </p:nvSpPr>
        <p:spPr>
          <a:xfrm>
            <a:off x="4907280" y="5059680"/>
            <a:ext cx="34991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核查:5条未使用策略</a:t>
            </a:r>
            <a:endParaRPr lang="en-US" sz="1680" dirty="0"/>
          </a:p>
        </p:txBody>
      </p:sp>
      <p:sp>
        <p:nvSpPr>
          <p:cNvPr id="30" name="Text 16"/>
          <p:cNvSpPr/>
          <p:nvPr/>
        </p:nvSpPr>
        <p:spPr>
          <a:xfrm>
            <a:off x="8625840" y="5059680"/>
            <a:ext cx="1304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配置检查</a:t>
            </a:r>
            <a:endParaRPr lang="en-US" sz="1680" dirty="0"/>
          </a:p>
        </p:txBody>
      </p:sp>
      <p:sp>
        <p:nvSpPr>
          <p:cNvPr id="31" name="Text 17"/>
          <p:cNvSpPr/>
          <p:nvPr/>
        </p:nvSpPr>
        <p:spPr>
          <a:xfrm>
            <a:off x="10149840" y="5059680"/>
            <a:ext cx="1304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E53935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不符合</a:t>
            </a:r>
            <a:endParaRPr lang="en-US" sz="1680" dirty="0"/>
          </a:p>
        </p:txBody>
      </p:sp>
      <p:pic>
        <p:nvPicPr>
          <p:cNvPr id="32" name="Image 12" descr="https://test.web.static.jianzeppt.com/ppt-temp-img3/3bc3882457660c411acb42dc1a9188a4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5882640"/>
            <a:ext cx="10942320" cy="42672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807720" y="5974080"/>
            <a:ext cx="1058570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判定说明：</a:t>
            </a:r>
            <a:r>
              <a:rPr lang="en-US" sz="144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存多余策略，未执行规则最小化，判“不符合”。</a:t>
            </a:r>
            <a:endParaRPr lang="en-US" sz="1440" dirty="0"/>
          </a:p>
        </p:txBody>
      </p:sp>
      <p:pic>
        <p:nvPicPr>
          <p:cNvPr id="34" name="Image 13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5867400"/>
            <a:ext cx="10942320" cy="1524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判定过程演示（15分钟）</a:t>
            </a:r>
            <a:endParaRPr lang="en-US" sz="2760" dirty="0"/>
          </a:p>
        </p:txBody>
      </p:sp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21620" y="42608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3" imgW="971550" imgH="666750" progId="Word.Document.12">
                  <p:embed/>
                </p:oleObj>
              </mc:Choice>
              <mc:Fallback>
                <p:oleObj name="" showAsIcon="1" r:id="rId13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21620" y="42608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test.web.static.jianzeppt.com/ppt-temp-img3/47e0db8cbe52e2a5f7161c20ee1178e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609600"/>
            <a:ext cx="1584960" cy="5943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352800" y="70104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单项结论</a:t>
            </a:r>
            <a:endParaRPr lang="en-US" sz="2160" dirty="0"/>
          </a:p>
        </p:txBody>
      </p:sp>
      <p:pic>
        <p:nvPicPr>
          <p:cNvPr id="6" name="Image 3" descr="https://test.web.static.jianzeppt.com/ppt-temp-img3/1141c90accac25e4ca402e9496c03e4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716280"/>
            <a:ext cx="396240" cy="396240"/>
          </a:xfrm>
          <a:prstGeom prst="rect">
            <a:avLst/>
          </a:prstGeom>
        </p:spPr>
      </p:pic>
      <p:pic>
        <p:nvPicPr>
          <p:cNvPr id="7" name="Image 4" descr="https://test.web.static.jianzeppt.com/ppt-temp-img3/47e0db8cbe52e2a5f7161c20ee1178e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609600"/>
            <a:ext cx="1584960" cy="5943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47360" y="70104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单元结论</a:t>
            </a:r>
            <a:endParaRPr lang="en-US" sz="2160" dirty="0"/>
          </a:p>
        </p:txBody>
      </p:sp>
      <p:pic>
        <p:nvPicPr>
          <p:cNvPr id="9" name="Image 5" descr="https://test.web.static.jianzeppt.com/ppt-temp-img3/87bca7db9568b51ab931d74d6488711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920" y="716280"/>
            <a:ext cx="426720" cy="396240"/>
          </a:xfrm>
          <a:prstGeom prst="rect">
            <a:avLst/>
          </a:prstGeom>
        </p:spPr>
      </p:pic>
      <p:pic>
        <p:nvPicPr>
          <p:cNvPr id="10" name="Image 6" descr="https://test.web.static.jianzeppt.com/ppt-temp-img3/47e0db8cbe52e2a5f7161c20ee1178e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609600"/>
            <a:ext cx="1584960" cy="59436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7741920" y="70104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整体结论</a:t>
            </a:r>
            <a:endParaRPr lang="en-US" sz="2160" dirty="0"/>
          </a:p>
        </p:txBody>
      </p:sp>
      <p:sp>
        <p:nvSpPr>
          <p:cNvPr id="12" name="Text 3"/>
          <p:cNvSpPr/>
          <p:nvPr/>
        </p:nvSpPr>
        <p:spPr>
          <a:xfrm>
            <a:off x="609600" y="132588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单项测评结论是“原材料”，单元测评结论是“半成品”，整体测评结论是“成品”。</a:t>
            </a:r>
            <a:endParaRPr lang="en-US" sz="168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1676400"/>
            <a:ext cx="10485120" cy="79248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036320" y="1889760"/>
            <a:ext cx="1472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单项测评结论</a:t>
            </a:r>
            <a:endParaRPr lang="en-US" sz="1920" dirty="0"/>
          </a:p>
        </p:txBody>
      </p:sp>
      <p:sp>
        <p:nvSpPr>
          <p:cNvPr id="15" name="Text 5"/>
          <p:cNvSpPr/>
          <p:nvPr/>
        </p:nvSpPr>
        <p:spPr>
          <a:xfrm>
            <a:off x="3002280" y="1752600"/>
            <a:ext cx="816254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单个测评项在单个测评对象上的表现</a:t>
            </a:r>
            <a:endParaRPr lang="en-US" sz="1680" dirty="0"/>
          </a:p>
        </p:txBody>
      </p:sp>
      <p:sp>
        <p:nvSpPr>
          <p:cNvPr id="16" name="Text 6"/>
          <p:cNvSpPr/>
          <p:nvPr/>
        </p:nvSpPr>
        <p:spPr>
          <a:xfrm>
            <a:off x="3002280" y="2072640"/>
            <a:ext cx="816254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形成方法：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根据“优势证据”法判定（本课重点）</a:t>
            </a:r>
            <a:endParaRPr lang="en-US" sz="168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3200" y="1746961"/>
            <a:ext cx="15240" cy="64008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40" y="2636520"/>
            <a:ext cx="10485120" cy="100584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36320" y="2773680"/>
            <a:ext cx="113690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单元测评结论</a:t>
            </a:r>
            <a:endParaRPr lang="en-US" sz="1920" dirty="0"/>
          </a:p>
        </p:txBody>
      </p:sp>
      <p:sp>
        <p:nvSpPr>
          <p:cNvPr id="20" name="Text 8"/>
          <p:cNvSpPr/>
          <p:nvPr/>
        </p:nvSpPr>
        <p:spPr>
          <a:xfrm>
            <a:off x="2651760" y="2667000"/>
            <a:ext cx="851306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多个测评对象在同一个测评单元上的汇总表现</a:t>
            </a:r>
            <a:endParaRPr lang="en-US" sz="1680" dirty="0"/>
          </a:p>
        </p:txBody>
      </p:sp>
      <p:sp>
        <p:nvSpPr>
          <p:cNvPr id="21" name="Text 9"/>
          <p:cNvSpPr/>
          <p:nvPr/>
        </p:nvSpPr>
        <p:spPr>
          <a:xfrm>
            <a:off x="2651760" y="2987040"/>
            <a:ext cx="851306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形成方法：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汇总单项结论：全部符合→符合；全部不符合→不符合；部分符合/不符合→部分符合；全部不适用→不适用</a:t>
            </a:r>
            <a:endParaRPr lang="en-US" sz="168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93137" y="2660599"/>
            <a:ext cx="15240" cy="96012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3825240"/>
            <a:ext cx="10485120" cy="79248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1036320" y="4038600"/>
            <a:ext cx="1472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整体测评结论</a:t>
            </a:r>
            <a:endParaRPr lang="en-US" sz="1920" dirty="0"/>
          </a:p>
        </p:txBody>
      </p:sp>
      <p:sp>
        <p:nvSpPr>
          <p:cNvPr id="25" name="Text 11"/>
          <p:cNvSpPr/>
          <p:nvPr/>
        </p:nvSpPr>
        <p:spPr>
          <a:xfrm>
            <a:off x="3002280" y="3901440"/>
            <a:ext cx="816254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系统的整体安全状况</a:t>
            </a:r>
            <a:endParaRPr lang="en-US" sz="1680" dirty="0"/>
          </a:p>
        </p:txBody>
      </p:sp>
      <p:sp>
        <p:nvSpPr>
          <p:cNvPr id="26" name="Text 12"/>
          <p:cNvSpPr/>
          <p:nvPr/>
        </p:nvSpPr>
        <p:spPr>
          <a:xfrm>
            <a:off x="3002280" y="4221480"/>
            <a:ext cx="816254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形成方法：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从控制间、层面间、区域间综合分析</a:t>
            </a:r>
            <a:endParaRPr lang="en-US" sz="168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3200" y="3894125"/>
            <a:ext cx="15240" cy="640080"/>
          </a:xfrm>
          <a:prstGeom prst="rect">
            <a:avLst/>
          </a:prstGeom>
        </p:spPr>
      </p:pic>
      <p:pic>
        <p:nvPicPr>
          <p:cNvPr id="28" name="Image 13" descr="https://test.web.static.jianzeppt.com/ppt-temp-img3/74f6e938ccc924d838f10799f91e8349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846320"/>
            <a:ext cx="10972800" cy="140208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807720" y="5044440"/>
            <a:ext cx="105857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单元测评结果判定原则：</a:t>
            </a:r>
            <a:endParaRPr lang="en-US" sz="1680" dirty="0"/>
          </a:p>
        </p:txBody>
      </p:sp>
      <p:sp>
        <p:nvSpPr>
          <p:cNvPr id="30" name="Text 14"/>
          <p:cNvSpPr/>
          <p:nvPr/>
        </p:nvSpPr>
        <p:spPr>
          <a:xfrm>
            <a:off x="807720" y="5425440"/>
            <a:ext cx="5175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 所有适用测评项的单项结果均为符合 → 符合</a:t>
            </a:r>
            <a:endParaRPr lang="en-US" sz="1440" dirty="0"/>
          </a:p>
        </p:txBody>
      </p:sp>
      <p:sp>
        <p:nvSpPr>
          <p:cNvPr id="31" name="Text 15"/>
          <p:cNvSpPr/>
          <p:nvPr/>
        </p:nvSpPr>
        <p:spPr>
          <a:xfrm>
            <a:off x="5580380" y="5425440"/>
            <a:ext cx="5812790" cy="2825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 所有适用测评项的单项结果均为不符合 → 不符合</a:t>
            </a:r>
            <a:endParaRPr lang="en-US" sz="1440" dirty="0"/>
          </a:p>
        </p:txBody>
      </p:sp>
      <p:sp>
        <p:nvSpPr>
          <p:cNvPr id="32" name="Text 16"/>
          <p:cNvSpPr/>
          <p:nvPr/>
        </p:nvSpPr>
        <p:spPr>
          <a:xfrm>
            <a:off x="807720" y="5760720"/>
            <a:ext cx="5175504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 所有测评项均为不适用 → 不适用</a:t>
            </a:r>
            <a:endParaRPr lang="en-US" sz="1440" dirty="0"/>
          </a:p>
        </p:txBody>
      </p:sp>
      <p:sp>
        <p:nvSpPr>
          <p:cNvPr id="33" name="Text 17"/>
          <p:cNvSpPr/>
          <p:nvPr/>
        </p:nvSpPr>
        <p:spPr>
          <a:xfrm>
            <a:off x="5547995" y="5868988"/>
            <a:ext cx="5845175" cy="332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- 适用项的单项结果不全为符合或不符合(含部分符合) → 部分符合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4267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a4446f13ec7d099805a11052a81fba75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386840"/>
            <a:ext cx="1828800" cy="9448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90600" y="16459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sz="2160" dirty="0"/>
          </a:p>
        </p:txBody>
      </p:sp>
      <p:pic>
        <p:nvPicPr>
          <p:cNvPr id="8" name="Image 5" descr="https://test.web.static.jianzeppt.com/ppt-temp-img3/cbf8b490e0629edff9b0168a8b545fe7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3640" y="1386840"/>
            <a:ext cx="9113520" cy="94488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697480" y="1645920"/>
            <a:ext cx="2752344" cy="449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单项测评结论判定练习</a:t>
            </a:r>
            <a:endParaRPr lang="en-US" sz="2160" dirty="0"/>
          </a:p>
        </p:txBody>
      </p:sp>
      <p:pic>
        <p:nvPicPr>
          <p:cNvPr id="10" name="Image 6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2327910"/>
            <a:ext cx="10942320" cy="1524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" y="2331720"/>
            <a:ext cx="1809115" cy="96012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990600" y="259080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</a:t>
            </a:r>
            <a:endParaRPr lang="en-US" sz="216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53640" y="2331720"/>
            <a:ext cx="9113520" cy="96012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2697480" y="2590800"/>
            <a:ext cx="8147304" cy="449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教师提供10个测评项的模拟测评证据（见素材1：单项判定练习卡）</a:t>
            </a:r>
            <a:endParaRPr lang="en-US" sz="2160" dirty="0"/>
          </a:p>
        </p:txBody>
      </p:sp>
      <p:pic>
        <p:nvPicPr>
          <p:cNvPr id="15" name="Image 9" descr="https://test.web.static.jianzeppt.com/ppt-temp-img3/b5c387b58dd8bb4a5d359728374c663e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3276600"/>
            <a:ext cx="10942320" cy="15240"/>
          </a:xfrm>
          <a:prstGeom prst="rect">
            <a:avLst/>
          </a:prstGeom>
        </p:spPr>
      </p:pic>
      <p:pic>
        <p:nvPicPr>
          <p:cNvPr id="16" name="Image 10" descr="https://test.web.static.jianzeppt.com/ppt-temp-img3/04b0eaa56a3ba0066a7edbef084f21bc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3276600"/>
            <a:ext cx="1828800" cy="265176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990600" y="44043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160" dirty="0"/>
          </a:p>
        </p:txBody>
      </p:sp>
      <p:pic>
        <p:nvPicPr>
          <p:cNvPr id="18" name="Image 11" descr="https://test.web.static.jianzeppt.com/ppt-temp-img3/0b3ff26f67d7c5b042c49b8bbf5a0b80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3640" y="3276600"/>
            <a:ext cx="9113520" cy="265176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2697480" y="3535680"/>
            <a:ext cx="863498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① 阅读每个测评项的测评证据</a:t>
            </a:r>
            <a:endParaRPr lang="en-US" sz="2160" dirty="0"/>
          </a:p>
        </p:txBody>
      </p:sp>
      <p:sp>
        <p:nvSpPr>
          <p:cNvPr id="20" name="Text 6"/>
          <p:cNvSpPr/>
          <p:nvPr/>
        </p:nvSpPr>
        <p:spPr>
          <a:xfrm>
            <a:off x="2697480" y="4099560"/>
            <a:ext cx="863498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② 识别“优势证据”</a:t>
            </a:r>
            <a:endParaRPr lang="en-US" sz="2160" dirty="0"/>
          </a:p>
        </p:txBody>
      </p:sp>
      <p:sp>
        <p:nvSpPr>
          <p:cNvPr id="21" name="Text 7"/>
          <p:cNvSpPr/>
          <p:nvPr/>
        </p:nvSpPr>
        <p:spPr>
          <a:xfrm>
            <a:off x="2697480" y="4663440"/>
            <a:ext cx="863498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③ 逐项判定（符合/部分符合/不符合/不适用）</a:t>
            </a:r>
            <a:endParaRPr lang="en-US" sz="2160" dirty="0"/>
          </a:p>
        </p:txBody>
      </p:sp>
      <p:sp>
        <p:nvSpPr>
          <p:cNvPr id="22" name="Text 8"/>
          <p:cNvSpPr/>
          <p:nvPr/>
        </p:nvSpPr>
        <p:spPr>
          <a:xfrm>
            <a:off x="2697480" y="5227320"/>
            <a:ext cx="863498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④ 填写判定依据和理由</a:t>
            </a:r>
            <a:endParaRPr lang="en-US" sz="2160" dirty="0"/>
          </a:p>
        </p:txBody>
      </p:sp>
      <p:sp>
        <p:nvSpPr>
          <p:cNvPr id="23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实践任务1——判定练习（20分钟）</a:t>
            </a:r>
            <a:endParaRPr lang="en-US" sz="2760" dirty="0"/>
          </a:p>
        </p:txBody>
      </p:sp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60660" y="142875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15" imgW="971550" imgH="666750" progId="Word.Document.12">
                  <p:embed/>
                </p:oleObj>
              </mc:Choice>
              <mc:Fallback>
                <p:oleObj name="" showAsIcon="1" r:id="rId15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360660" y="142875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bf07a9f8de53e95b94628cac96ba1df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2286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1752600"/>
            <a:ext cx="91440" cy="32004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203960" y="1661160"/>
            <a:ext cx="404774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判定时要问自己三个问题：</a:t>
            </a:r>
            <a:endParaRPr lang="en-US" sz="2640" dirty="0"/>
          </a:p>
        </p:txBody>
      </p:sp>
      <p:sp>
        <p:nvSpPr>
          <p:cNvPr id="8" name="Text 1"/>
          <p:cNvSpPr/>
          <p:nvPr/>
        </p:nvSpPr>
        <p:spPr>
          <a:xfrm>
            <a:off x="1234440" y="2301240"/>
            <a:ext cx="3139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1661160" y="2301240"/>
            <a:ext cx="78272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这个测评项对抗的威胁在系统中存在吗？（决定是否“不适用”）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1234440" y="2682240"/>
            <a:ext cx="3139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1661160" y="2682240"/>
            <a:ext cx="54955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这个测评项有几个要求内容？（拆分到子项）</a:t>
            </a:r>
            <a:endParaRPr lang="en-US" sz="2160" dirty="0"/>
          </a:p>
        </p:txBody>
      </p:sp>
      <p:sp>
        <p:nvSpPr>
          <p:cNvPr id="12" name="Text 5"/>
          <p:cNvSpPr/>
          <p:nvPr/>
        </p:nvSpPr>
        <p:spPr>
          <a:xfrm>
            <a:off x="1234440" y="3078480"/>
            <a:ext cx="3139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>
            <a:off x="1661160" y="3078480"/>
            <a:ext cx="86045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哪个证据最可信？（优势证据）（工具测试/配置检查/实地察看 &gt; 访谈）</a:t>
            </a:r>
            <a:endParaRPr lang="en-US" sz="2160" dirty="0"/>
          </a:p>
        </p:txBody>
      </p:sp>
      <p:pic>
        <p:nvPicPr>
          <p:cNvPr id="14" name="Image 5" descr="https://test.web.static.jianzeppt.com/ppt-temp-img3/afed2ef28405d2310fb3c4946be94e9a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962400"/>
            <a:ext cx="10972800" cy="2286000"/>
          </a:xfrm>
          <a:prstGeom prst="rect">
            <a:avLst/>
          </a:prstGeom>
        </p:spPr>
      </p:pic>
      <p:pic>
        <p:nvPicPr>
          <p:cNvPr id="15" name="Image 6" descr="https://test.web.static.jianzeppt.com/ppt-temp-img3/be59606162d9b4af5cfd1c54cd8f6518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360" y="4297680"/>
            <a:ext cx="396240" cy="3962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78280" y="4251960"/>
            <a:ext cx="170078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特别提醒：</a:t>
            </a:r>
            <a:endParaRPr lang="en-US" sz="2640" dirty="0"/>
          </a:p>
        </p:txBody>
      </p:sp>
      <p:sp>
        <p:nvSpPr>
          <p:cNvPr id="17" name="Text 8"/>
          <p:cNvSpPr/>
          <p:nvPr/>
        </p:nvSpPr>
        <p:spPr>
          <a:xfrm>
            <a:off x="1234440" y="4892040"/>
            <a:ext cx="3139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2400" dirty="0"/>
          </a:p>
        </p:txBody>
      </p:sp>
      <p:sp>
        <p:nvSpPr>
          <p:cNvPr id="18" name="Text 9"/>
          <p:cNvSpPr/>
          <p:nvPr/>
        </p:nvSpPr>
        <p:spPr>
          <a:xfrm>
            <a:off x="1661160" y="489204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不要</a:t>
            </a:r>
            <a:endParaRPr lang="en-US" sz="2160" dirty="0"/>
          </a:p>
        </p:txBody>
      </p:sp>
      <p:sp>
        <p:nvSpPr>
          <p:cNvPr id="19" name="Text 10"/>
          <p:cNvSpPr/>
          <p:nvPr/>
        </p:nvSpPr>
        <p:spPr>
          <a:xfrm>
            <a:off x="2209800" y="4892040"/>
            <a:ext cx="4123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因为“大部分满足”就判“符合”</a:t>
            </a:r>
            <a:endParaRPr lang="en-US" sz="2160" dirty="0"/>
          </a:p>
        </p:txBody>
      </p:sp>
      <p:sp>
        <p:nvSpPr>
          <p:cNvPr id="20" name="Text 11"/>
          <p:cNvSpPr/>
          <p:nvPr/>
        </p:nvSpPr>
        <p:spPr>
          <a:xfrm>
            <a:off x="1234440" y="5273040"/>
            <a:ext cx="3139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2400" dirty="0"/>
          </a:p>
        </p:txBody>
      </p:sp>
      <p:sp>
        <p:nvSpPr>
          <p:cNvPr id="21" name="Text 12"/>
          <p:cNvSpPr/>
          <p:nvPr/>
        </p:nvSpPr>
        <p:spPr>
          <a:xfrm>
            <a:off x="1661160" y="527304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不要</a:t>
            </a:r>
            <a:endParaRPr lang="en-US" sz="2160" dirty="0"/>
          </a:p>
        </p:txBody>
      </p:sp>
      <p:sp>
        <p:nvSpPr>
          <p:cNvPr id="22" name="Text 13"/>
          <p:cNvSpPr/>
          <p:nvPr/>
        </p:nvSpPr>
        <p:spPr>
          <a:xfrm>
            <a:off x="2209800" y="5273040"/>
            <a:ext cx="43982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因为“有一点不足”就判“不符合”</a:t>
            </a:r>
            <a:endParaRPr lang="en-US" sz="2160" dirty="0"/>
          </a:p>
        </p:txBody>
      </p:sp>
      <p:sp>
        <p:nvSpPr>
          <p:cNvPr id="23" name="Text 14"/>
          <p:cNvSpPr/>
          <p:nvPr/>
        </p:nvSpPr>
        <p:spPr>
          <a:xfrm>
            <a:off x="1234440" y="5669280"/>
            <a:ext cx="3139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2400" dirty="0"/>
          </a:p>
        </p:txBody>
      </p:sp>
      <p:sp>
        <p:nvSpPr>
          <p:cNvPr id="24" name="Text 15"/>
          <p:cNvSpPr/>
          <p:nvPr/>
        </p:nvSpPr>
        <p:spPr>
          <a:xfrm>
            <a:off x="1661160" y="5669280"/>
            <a:ext cx="7141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管理安全的判定要结合实际情况，不能只看文档“有没有”</a:t>
            </a:r>
            <a:endParaRPr lang="en-US" sz="2160" dirty="0"/>
          </a:p>
        </p:txBody>
      </p:sp>
      <p:sp>
        <p:nvSpPr>
          <p:cNvPr id="25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实践任务1——判定要点</a:t>
            </a:r>
            <a:endParaRPr lang="en-US" sz="2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4876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173325c3cfee1a315bfe212c633c349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386840"/>
            <a:ext cx="10942320" cy="7162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68680" y="153924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场景</a:t>
            </a:r>
            <a:endParaRPr lang="en-US" sz="2160" dirty="0"/>
          </a:p>
        </p:txBody>
      </p:sp>
      <p:pic>
        <p:nvPicPr>
          <p:cNvPr id="8" name="Image 5" descr="https://test.web.static.jianzeppt.com/ppt-temp-img3/771b9885ebf4a5cdb5c8c5a400ed0eaf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9412" y="1386840"/>
            <a:ext cx="15240" cy="71628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4709160" y="153924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证据情况</a:t>
            </a:r>
            <a:endParaRPr lang="en-US" sz="2160" dirty="0"/>
          </a:p>
        </p:txBody>
      </p:sp>
      <p:pic>
        <p:nvPicPr>
          <p:cNvPr id="10" name="Image 6" descr="https://test.web.static.jianzeppt.com/ppt-temp-img3/771b9885ebf4a5cdb5c8c5a400ed0eaf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7724" y="1386840"/>
            <a:ext cx="15240" cy="71628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6918960" y="153924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判定结果</a:t>
            </a:r>
            <a:endParaRPr lang="en-US" sz="2160" dirty="0"/>
          </a:p>
        </p:txBody>
      </p:sp>
      <p:pic>
        <p:nvPicPr>
          <p:cNvPr id="12" name="Image 7" descr="https://test.web.static.jianzeppt.com/ppt-temp-img3/771b9885ebf4a5cdb5c8c5a400ed0eaf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8919" y="1386840"/>
            <a:ext cx="15240" cy="71628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8534400" y="1539240"/>
            <a:ext cx="28133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理由</a:t>
            </a:r>
            <a:endParaRPr lang="en-US" sz="216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2103120"/>
            <a:ext cx="10942320" cy="99060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868680" y="2303463"/>
            <a:ext cx="33619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密码长度≥8，启用复杂度，定期更换</a:t>
            </a:r>
            <a:endParaRPr lang="en-US" sz="1920" dirty="0"/>
          </a:p>
        </p:txBody>
      </p:sp>
      <p:sp>
        <p:nvSpPr>
          <p:cNvPr id="16" name="Text 5"/>
          <p:cNvSpPr/>
          <p:nvPr/>
        </p:nvSpPr>
        <p:spPr>
          <a:xfrm>
            <a:off x="4693920" y="2255520"/>
            <a:ext cx="171602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全部满足</a:t>
            </a:r>
            <a:endParaRPr lang="en-US" sz="1920" dirty="0"/>
          </a:p>
        </p:txBody>
      </p:sp>
      <p:sp>
        <p:nvSpPr>
          <p:cNvPr id="17" name="Text 6"/>
          <p:cNvSpPr/>
          <p:nvPr/>
        </p:nvSpPr>
        <p:spPr>
          <a:xfrm>
            <a:off x="6888480" y="2255520"/>
            <a:ext cx="116738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符合</a:t>
            </a:r>
            <a:endParaRPr lang="en-US" sz="1920" dirty="0"/>
          </a:p>
        </p:txBody>
      </p:sp>
      <p:sp>
        <p:nvSpPr>
          <p:cNvPr id="18" name="Text 7"/>
          <p:cNvSpPr/>
          <p:nvPr/>
        </p:nvSpPr>
        <p:spPr>
          <a:xfrm>
            <a:off x="8534400" y="2255520"/>
            <a:ext cx="281330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所有要求一致</a:t>
            </a:r>
            <a:endParaRPr lang="en-US" sz="18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3086100"/>
            <a:ext cx="10942320" cy="15240"/>
          </a:xfrm>
          <a:prstGeom prst="rect">
            <a:avLst/>
          </a:prstGeom>
        </p:spPr>
      </p:pic>
      <p:pic>
        <p:nvPicPr>
          <p:cNvPr id="20" name="Image 10" descr="https://test.web.static.jianzeppt.com/ppt-temp-img3/3500fa5b9c52e81073e249d76384e940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" y="3093720"/>
            <a:ext cx="10942320" cy="68580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868680" y="3246120"/>
            <a:ext cx="329184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密码长度≥8，但未启用复杂度</a:t>
            </a:r>
            <a:endParaRPr lang="en-US" sz="1920" dirty="0"/>
          </a:p>
        </p:txBody>
      </p:sp>
      <p:sp>
        <p:nvSpPr>
          <p:cNvPr id="22" name="Text 9"/>
          <p:cNvSpPr/>
          <p:nvPr/>
        </p:nvSpPr>
        <p:spPr>
          <a:xfrm>
            <a:off x="4693920" y="324612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部分满足</a:t>
            </a:r>
            <a:endParaRPr lang="en-US" sz="1920" dirty="0"/>
          </a:p>
        </p:txBody>
      </p:sp>
      <p:sp>
        <p:nvSpPr>
          <p:cNvPr id="23" name="Text 10"/>
          <p:cNvSpPr/>
          <p:nvPr/>
        </p:nvSpPr>
        <p:spPr>
          <a:xfrm>
            <a:off x="6888480" y="3246120"/>
            <a:ext cx="1167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部分符合</a:t>
            </a:r>
            <a:endParaRPr lang="en-US" sz="1920" dirty="0"/>
          </a:p>
        </p:txBody>
      </p:sp>
      <p:sp>
        <p:nvSpPr>
          <p:cNvPr id="24" name="Text 11"/>
          <p:cNvSpPr/>
          <p:nvPr/>
        </p:nvSpPr>
        <p:spPr>
          <a:xfrm>
            <a:off x="8534400" y="3246120"/>
            <a:ext cx="28133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部分要求一致</a:t>
            </a:r>
            <a:endParaRPr lang="en-US" sz="18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3771900"/>
            <a:ext cx="10942320" cy="15240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3779520"/>
            <a:ext cx="10942320" cy="9906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868680" y="3979863"/>
            <a:ext cx="33619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未配置密码策略，使用默认密码</a:t>
            </a:r>
            <a:endParaRPr lang="en-US" sz="1920" dirty="0"/>
          </a:p>
        </p:txBody>
      </p:sp>
      <p:sp>
        <p:nvSpPr>
          <p:cNvPr id="28" name="Text 13"/>
          <p:cNvSpPr/>
          <p:nvPr/>
        </p:nvSpPr>
        <p:spPr>
          <a:xfrm>
            <a:off x="4693920" y="3931920"/>
            <a:ext cx="171602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完全不满足</a:t>
            </a:r>
            <a:endParaRPr lang="en-US" sz="1920" dirty="0"/>
          </a:p>
        </p:txBody>
      </p:sp>
      <p:sp>
        <p:nvSpPr>
          <p:cNvPr id="29" name="Text 14"/>
          <p:cNvSpPr/>
          <p:nvPr/>
        </p:nvSpPr>
        <p:spPr>
          <a:xfrm>
            <a:off x="6888480" y="3931920"/>
            <a:ext cx="116738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不符合</a:t>
            </a:r>
            <a:endParaRPr lang="en-US" sz="1920" dirty="0"/>
          </a:p>
        </p:txBody>
      </p:sp>
      <p:sp>
        <p:nvSpPr>
          <p:cNvPr id="30" name="Text 15"/>
          <p:cNvSpPr/>
          <p:nvPr/>
        </p:nvSpPr>
        <p:spPr>
          <a:xfrm>
            <a:off x="8534400" y="3931920"/>
            <a:ext cx="281330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所有要求不一致</a:t>
            </a:r>
            <a:endParaRPr lang="en-US" sz="18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4762500"/>
            <a:ext cx="10942320" cy="15240"/>
          </a:xfrm>
          <a:prstGeom prst="rect">
            <a:avLst/>
          </a:prstGeom>
        </p:spPr>
      </p:pic>
      <p:pic>
        <p:nvPicPr>
          <p:cNvPr id="32" name="Image 14" descr="https://test.web.static.jianzeppt.com/ppt-temp-img3/63332ec43ab8d2e182823a83ee1c9e62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4770120"/>
            <a:ext cx="10942320" cy="990600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868680" y="4970463"/>
            <a:ext cx="33619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系统无无线功能，无线接入控制</a:t>
            </a:r>
            <a:endParaRPr lang="en-US" sz="1920" dirty="0"/>
          </a:p>
        </p:txBody>
      </p:sp>
      <p:sp>
        <p:nvSpPr>
          <p:cNvPr id="34" name="Text 17"/>
          <p:cNvSpPr/>
          <p:nvPr/>
        </p:nvSpPr>
        <p:spPr>
          <a:xfrm>
            <a:off x="4693920" y="4922520"/>
            <a:ext cx="171602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威胁不存在</a:t>
            </a:r>
            <a:endParaRPr lang="en-US" sz="1920" dirty="0"/>
          </a:p>
        </p:txBody>
      </p:sp>
      <p:sp>
        <p:nvSpPr>
          <p:cNvPr id="35" name="Text 18"/>
          <p:cNvSpPr/>
          <p:nvPr/>
        </p:nvSpPr>
        <p:spPr>
          <a:xfrm>
            <a:off x="6888480" y="4922520"/>
            <a:ext cx="116738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不适用</a:t>
            </a:r>
            <a:endParaRPr lang="en-US" sz="1920" dirty="0"/>
          </a:p>
        </p:txBody>
      </p:sp>
      <p:sp>
        <p:nvSpPr>
          <p:cNvPr id="36" name="Text 19"/>
          <p:cNvSpPr/>
          <p:nvPr/>
        </p:nvSpPr>
        <p:spPr>
          <a:xfrm>
            <a:off x="8534400" y="4922520"/>
            <a:ext cx="281330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威胁不存在</a:t>
            </a:r>
            <a:endParaRPr lang="en-US" sz="18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5753100"/>
            <a:ext cx="10942320" cy="15240"/>
          </a:xfrm>
          <a:prstGeom prst="rect">
            <a:avLst/>
          </a:prstGeom>
        </p:spPr>
      </p:pic>
      <p:pic>
        <p:nvPicPr>
          <p:cNvPr id="38" name="Image 16" descr="https://test.web.static.jianzeppt.com/ppt-temp-img3/6de461c9ff5b6259c452e0d157dca346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" y="5760720"/>
            <a:ext cx="10942320" cy="685800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868680" y="5913120"/>
            <a:ext cx="341376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制度有“应做”，但无执行记录</a:t>
            </a:r>
            <a:endParaRPr lang="en-US" sz="1920" dirty="0"/>
          </a:p>
        </p:txBody>
      </p:sp>
      <p:sp>
        <p:nvSpPr>
          <p:cNvPr id="40" name="Text 21"/>
          <p:cNvSpPr/>
          <p:nvPr/>
        </p:nvSpPr>
        <p:spPr>
          <a:xfrm>
            <a:off x="4693920" y="591312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有制度无执行</a:t>
            </a:r>
            <a:endParaRPr lang="en-US" sz="1920" dirty="0"/>
          </a:p>
        </p:txBody>
      </p:sp>
      <p:sp>
        <p:nvSpPr>
          <p:cNvPr id="41" name="Text 22"/>
          <p:cNvSpPr/>
          <p:nvPr/>
        </p:nvSpPr>
        <p:spPr>
          <a:xfrm>
            <a:off x="6888480" y="5913120"/>
            <a:ext cx="1167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部分符合</a:t>
            </a:r>
            <a:endParaRPr lang="en-US" sz="1920" dirty="0"/>
          </a:p>
        </p:txBody>
      </p:sp>
      <p:sp>
        <p:nvSpPr>
          <p:cNvPr id="42" name="Text 23"/>
          <p:cNvSpPr/>
          <p:nvPr/>
        </p:nvSpPr>
        <p:spPr>
          <a:xfrm>
            <a:off x="8534400" y="5913120"/>
            <a:ext cx="28133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文档满足，执行不满足</a:t>
            </a:r>
            <a:endParaRPr lang="en-US" sz="1800" dirty="0"/>
          </a:p>
        </p:txBody>
      </p:sp>
      <p:sp>
        <p:nvSpPr>
          <p:cNvPr id="43" name="Text 2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常见判定场景对照表</a:t>
            </a:r>
            <a:endParaRPr lang="en-US" sz="2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235" y="304165"/>
            <a:ext cx="10704830" cy="593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228725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三个关键词：</a:t>
            </a:r>
            <a:endParaRPr lang="en-US" sz="2400" dirty="0"/>
          </a:p>
        </p:txBody>
      </p:sp>
      <p:pic>
        <p:nvPicPr>
          <p:cNvPr id="6" name="Image 3" descr="https://test.web.static.jianzeppt.com/ppt-temp-img3/73b8c952cc7da43e26528125606e8d8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876800"/>
            <a:ext cx="10972800" cy="7772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14400" y="5090160"/>
            <a:ext cx="10372344" cy="3412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一句话：单项测评结论判定的准确率，就是测评师职业操守的“及格线”。</a:t>
            </a:r>
            <a:endParaRPr lang="en-US" sz="192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133600"/>
            <a:ext cx="3459480" cy="24384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3200400"/>
            <a:ext cx="76200" cy="762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036320" y="3093720"/>
            <a:ext cx="23103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判定依据证据，非感觉</a:t>
            </a:r>
            <a:endParaRPr lang="en-US" sz="18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3703320"/>
            <a:ext cx="76200" cy="762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36320" y="3596640"/>
            <a:ext cx="2081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优势证据法保一致性</a:t>
            </a:r>
            <a:endParaRPr lang="en-US" sz="18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52600" y="1935480"/>
            <a:ext cx="1158240" cy="5334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2057400" y="1996440"/>
            <a:ext cx="557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客观</a:t>
            </a:r>
            <a:endParaRPr lang="en-US" sz="216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3880" y="2133600"/>
            <a:ext cx="3459480" cy="2438400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2960" y="3200400"/>
            <a:ext cx="76200" cy="7620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800600" y="3093720"/>
            <a:ext cx="23103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不因客户关系“放水”</a:t>
            </a:r>
            <a:endParaRPr lang="en-US" sz="18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2960" y="3703320"/>
            <a:ext cx="76200" cy="7620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4800600" y="3596640"/>
            <a:ext cx="23103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不因个人喜好“从严”</a:t>
            </a:r>
            <a:endParaRPr lang="en-US" sz="18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6880" y="1935480"/>
            <a:ext cx="1158240" cy="53340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5821680" y="1996440"/>
            <a:ext cx="557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公正</a:t>
            </a:r>
            <a:endParaRPr lang="en-US" sz="216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2920" y="2133600"/>
            <a:ext cx="3459480" cy="2438400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3200400"/>
            <a:ext cx="76200" cy="7620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8549640" y="3093720"/>
            <a:ext cx="23103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“符合”代表系统安全</a:t>
            </a:r>
            <a:endParaRPr lang="en-US" sz="18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3703320"/>
            <a:ext cx="76200" cy="7620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8549640" y="3596640"/>
            <a:ext cx="2081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“不符合”影响整改</a:t>
            </a:r>
            <a:endParaRPr lang="en-US" sz="18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81160" y="1935480"/>
            <a:ext cx="1158240" cy="533400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9585960" y="1996440"/>
            <a:ext cx="557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负责</a:t>
            </a:r>
            <a:endParaRPr lang="en-US" sz="2160" dirty="0"/>
          </a:p>
        </p:txBody>
      </p:sp>
      <p:sp>
        <p:nvSpPr>
          <p:cNvPr id="29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思政融入——判定中的职业道德</a:t>
            </a:r>
            <a:endParaRPr lang="en-US" sz="2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0800" y="1676400"/>
            <a:ext cx="30480" cy="3657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" y="3017520"/>
            <a:ext cx="1463040" cy="9906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0"/>
          <p:cNvSpPr/>
          <p:nvPr/>
        </p:nvSpPr>
        <p:spPr>
          <a:xfrm>
            <a:off x="548640" y="3169920"/>
            <a:ext cx="1106424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本课</a:t>
            </a: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核心知识</a:t>
            </a:r>
            <a:endParaRPr lang="en-US" sz="216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alphaModFix amt="4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28800" y="3489960"/>
            <a:ext cx="304800" cy="30480"/>
          </a:xfrm>
          <a:prstGeom prst="rect">
            <a:avLst/>
          </a:prstGeom>
        </p:spPr>
      </p:pic>
      <p:pic>
        <p:nvPicPr>
          <p:cNvPr id="9" name="Image 6" descr="https://test.web.static.jianzeppt.com/ppt-temp-img3/6f8f125eb266a49bdd52395cedf7403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0800" y="1524000"/>
            <a:ext cx="8991600" cy="94488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8440" y="1813560"/>
            <a:ext cx="365760" cy="36576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2834640" y="185928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440" dirty="0"/>
          </a:p>
        </p:txBody>
      </p:sp>
      <p:sp>
        <p:nvSpPr>
          <p:cNvPr id="12" name="Text 2"/>
          <p:cNvSpPr/>
          <p:nvPr/>
        </p:nvSpPr>
        <p:spPr>
          <a:xfrm>
            <a:off x="3246120" y="1627188"/>
            <a:ext cx="1152525" cy="738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定义与定位</a:t>
            </a:r>
            <a:endParaRPr lang="en-US" sz="1920" dirty="0"/>
          </a:p>
        </p:txBody>
      </p:sp>
      <p:pic>
        <p:nvPicPr>
          <p:cNvPr id="13" name="Image 8" descr="https://test.web.static.jianzeppt.com/ppt-temp-img3/2835b916ebffa1e14d131f575f996a37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1691640"/>
            <a:ext cx="15240" cy="6096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4617720" y="1691640"/>
            <a:ext cx="680618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对单个测评项在单个对象上的判定</a:t>
            </a:r>
            <a:endParaRPr lang="en-US" sz="1680" dirty="0"/>
          </a:p>
        </p:txBody>
      </p:sp>
      <p:sp>
        <p:nvSpPr>
          <p:cNvPr id="15" name="Text 4"/>
          <p:cNvSpPr/>
          <p:nvPr/>
        </p:nvSpPr>
        <p:spPr>
          <a:xfrm>
            <a:off x="4617720" y="1981200"/>
            <a:ext cx="680618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定位：</a:t>
            </a: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测评报告结论的“地基”</a:t>
            </a:r>
            <a:endParaRPr lang="en-US" sz="168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4">
            <a:alphaModFix amt="4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33600" y="1828800"/>
            <a:ext cx="457200" cy="30480"/>
          </a:xfrm>
          <a:prstGeom prst="rect">
            <a:avLst/>
          </a:prstGeom>
        </p:spPr>
      </p:pic>
      <p:pic>
        <p:nvPicPr>
          <p:cNvPr id="17" name="Image 10" descr="https://test.web.static.jianzeppt.com/ppt-temp-img3/8c47a6035846ab2245eabdc3cb352349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90800" y="2590800"/>
            <a:ext cx="8991600" cy="701040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8440" y="2758440"/>
            <a:ext cx="365760" cy="36576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2834640" y="280416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440" dirty="0"/>
          </a:p>
        </p:txBody>
      </p:sp>
      <p:sp>
        <p:nvSpPr>
          <p:cNvPr id="20" name="Text 6"/>
          <p:cNvSpPr/>
          <p:nvPr/>
        </p:nvSpPr>
        <p:spPr>
          <a:xfrm>
            <a:off x="3246120" y="2788920"/>
            <a:ext cx="999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判定结果</a:t>
            </a:r>
            <a:endParaRPr lang="en-US" sz="1920" dirty="0"/>
          </a:p>
        </p:txBody>
      </p:sp>
      <p:pic>
        <p:nvPicPr>
          <p:cNvPr id="21" name="Image 12" descr="https://test.web.static.jianzeppt.com/ppt-temp-img3/14035d3b48c8279d8f1301c00d0593da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9600" y="2757068"/>
            <a:ext cx="15240" cy="36576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17720" y="2910840"/>
            <a:ext cx="60960" cy="6096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4739640" y="277368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符合</a:t>
            </a:r>
            <a:endParaRPr lang="en-US" sz="1680" dirty="0"/>
          </a:p>
        </p:txBody>
      </p:sp>
      <p:sp>
        <p:nvSpPr>
          <p:cNvPr id="24" name="Text 8"/>
          <p:cNvSpPr/>
          <p:nvPr/>
        </p:nvSpPr>
        <p:spPr>
          <a:xfrm>
            <a:off x="5196840" y="2819400"/>
            <a:ext cx="51206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(一致)</a:t>
            </a:r>
            <a:endParaRPr lang="en-US" sz="144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67400" y="2910840"/>
            <a:ext cx="60960" cy="6096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5989320" y="277368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部分符合</a:t>
            </a:r>
            <a:endParaRPr lang="en-US" sz="1680" dirty="0"/>
          </a:p>
        </p:txBody>
      </p:sp>
      <p:sp>
        <p:nvSpPr>
          <p:cNvPr id="27" name="Text 10"/>
          <p:cNvSpPr/>
          <p:nvPr/>
        </p:nvSpPr>
        <p:spPr>
          <a:xfrm>
            <a:off x="6873240" y="2819400"/>
            <a:ext cx="87782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(部分一致)</a:t>
            </a:r>
            <a:endParaRPr lang="en-US" sz="144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09560" y="2910840"/>
            <a:ext cx="60960" cy="6096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8031480" y="2773680"/>
            <a:ext cx="649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不符合</a:t>
            </a:r>
            <a:endParaRPr lang="en-US" sz="1680" dirty="0"/>
          </a:p>
        </p:txBody>
      </p:sp>
      <p:sp>
        <p:nvSpPr>
          <p:cNvPr id="30" name="Text 12"/>
          <p:cNvSpPr/>
          <p:nvPr/>
        </p:nvSpPr>
        <p:spPr>
          <a:xfrm>
            <a:off x="8702040" y="2819400"/>
            <a:ext cx="6949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(不一致)</a:t>
            </a:r>
            <a:endParaRPr lang="en-US" sz="1440" dirty="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55480" y="2910840"/>
            <a:ext cx="60960" cy="60960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9677400" y="2773680"/>
            <a:ext cx="649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不适用</a:t>
            </a:r>
            <a:endParaRPr lang="en-US" sz="1680" dirty="0"/>
          </a:p>
        </p:txBody>
      </p:sp>
      <p:sp>
        <p:nvSpPr>
          <p:cNvPr id="33" name="Text 14"/>
          <p:cNvSpPr/>
          <p:nvPr/>
        </p:nvSpPr>
        <p:spPr>
          <a:xfrm>
            <a:off x="10347960" y="2819400"/>
            <a:ext cx="6949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(无威胁)</a:t>
            </a:r>
            <a:endParaRPr lang="en-US" sz="1440" dirty="0"/>
          </a:p>
        </p:txBody>
      </p:sp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4">
            <a:alphaModFix amt="4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33600" y="2895600"/>
            <a:ext cx="457200" cy="30480"/>
          </a:xfrm>
          <a:prstGeom prst="rect">
            <a:avLst/>
          </a:prstGeom>
        </p:spPr>
      </p:pic>
      <p:pic>
        <p:nvPicPr>
          <p:cNvPr id="35" name="Image 18" descr="https://test.web.static.jianzeppt.com/ppt-temp-img3/6f8f125eb266a49bdd52395cedf7403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0800" y="3413760"/>
            <a:ext cx="8991600" cy="94488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8440" y="3703320"/>
            <a:ext cx="365760" cy="365760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2834640" y="374904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440" dirty="0"/>
          </a:p>
        </p:txBody>
      </p:sp>
      <p:sp>
        <p:nvSpPr>
          <p:cNvPr id="38" name="Text 16"/>
          <p:cNvSpPr/>
          <p:nvPr/>
        </p:nvSpPr>
        <p:spPr>
          <a:xfrm>
            <a:off x="3246120" y="3581400"/>
            <a:ext cx="1030224" cy="6096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优势证据法</a:t>
            </a:r>
            <a:endParaRPr lang="en-US" sz="1920" dirty="0"/>
          </a:p>
        </p:txBody>
      </p:sp>
      <p:pic>
        <p:nvPicPr>
          <p:cNvPr id="39" name="Image 20" descr="https://test.web.static.jianzeppt.com/ppt-temp-img3/2835b916ebffa1e14d131f575f996a37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3578809"/>
            <a:ext cx="15240" cy="609600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4617720" y="3596640"/>
            <a:ext cx="10759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物理安全：</a:t>
            </a:r>
            <a:endParaRPr lang="en-US" sz="1680" dirty="0"/>
          </a:p>
        </p:txBody>
      </p:sp>
      <p:sp>
        <p:nvSpPr>
          <p:cNvPr id="41" name="Text 18"/>
          <p:cNvSpPr/>
          <p:nvPr/>
        </p:nvSpPr>
        <p:spPr>
          <a:xfrm>
            <a:off x="5775960" y="358140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察看</a:t>
            </a:r>
            <a:endParaRPr lang="en-US" sz="1680" dirty="0"/>
          </a:p>
        </p:txBody>
      </p:sp>
      <p:sp>
        <p:nvSpPr>
          <p:cNvPr id="42" name="Text 19"/>
          <p:cNvSpPr/>
          <p:nvPr/>
        </p:nvSpPr>
        <p:spPr>
          <a:xfrm>
            <a:off x="6263640" y="3596640"/>
            <a:ext cx="1310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234E">
                    <a:alpha val="5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&gt;</a:t>
            </a:r>
            <a:endParaRPr lang="en-US" sz="1680" dirty="0"/>
          </a:p>
        </p:txBody>
      </p:sp>
      <p:sp>
        <p:nvSpPr>
          <p:cNvPr id="43" name="Text 20"/>
          <p:cNvSpPr/>
          <p:nvPr/>
        </p:nvSpPr>
        <p:spPr>
          <a:xfrm>
            <a:off x="6446520" y="358140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文档</a:t>
            </a:r>
            <a:endParaRPr lang="en-US" sz="1680" dirty="0"/>
          </a:p>
        </p:txBody>
      </p:sp>
      <p:sp>
        <p:nvSpPr>
          <p:cNvPr id="44" name="Text 21"/>
          <p:cNvSpPr/>
          <p:nvPr/>
        </p:nvSpPr>
        <p:spPr>
          <a:xfrm>
            <a:off x="6934200" y="3596640"/>
            <a:ext cx="1310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234E">
                    <a:alpha val="5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&gt;</a:t>
            </a:r>
            <a:endParaRPr lang="en-US" sz="1680" dirty="0"/>
          </a:p>
        </p:txBody>
      </p:sp>
      <p:sp>
        <p:nvSpPr>
          <p:cNvPr id="45" name="Text 22"/>
          <p:cNvSpPr/>
          <p:nvPr/>
        </p:nvSpPr>
        <p:spPr>
          <a:xfrm>
            <a:off x="7117080" y="358140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访谈</a:t>
            </a:r>
            <a:endParaRPr lang="en-US" sz="1680" dirty="0"/>
          </a:p>
        </p:txBody>
      </p:sp>
      <p:sp>
        <p:nvSpPr>
          <p:cNvPr id="46" name="Text 23"/>
          <p:cNvSpPr/>
          <p:nvPr/>
        </p:nvSpPr>
        <p:spPr>
          <a:xfrm>
            <a:off x="4617720" y="3886200"/>
            <a:ext cx="10759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技术安全：</a:t>
            </a:r>
            <a:endParaRPr lang="en-US" sz="1680" dirty="0"/>
          </a:p>
        </p:txBody>
      </p:sp>
      <p:sp>
        <p:nvSpPr>
          <p:cNvPr id="47" name="Text 24"/>
          <p:cNvSpPr/>
          <p:nvPr/>
        </p:nvSpPr>
        <p:spPr>
          <a:xfrm>
            <a:off x="5775960" y="387096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工具</a:t>
            </a:r>
            <a:endParaRPr lang="en-US" sz="1680" dirty="0"/>
          </a:p>
        </p:txBody>
      </p:sp>
      <p:sp>
        <p:nvSpPr>
          <p:cNvPr id="48" name="Text 25"/>
          <p:cNvSpPr/>
          <p:nvPr/>
        </p:nvSpPr>
        <p:spPr>
          <a:xfrm>
            <a:off x="6263640" y="3886200"/>
            <a:ext cx="1310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234E">
                    <a:alpha val="5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&gt;</a:t>
            </a:r>
            <a:endParaRPr lang="en-US" sz="1680" dirty="0"/>
          </a:p>
        </p:txBody>
      </p:sp>
      <p:sp>
        <p:nvSpPr>
          <p:cNvPr id="49" name="Text 26"/>
          <p:cNvSpPr/>
          <p:nvPr/>
        </p:nvSpPr>
        <p:spPr>
          <a:xfrm>
            <a:off x="6446520" y="387096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配置</a:t>
            </a:r>
            <a:endParaRPr lang="en-US" sz="1680" dirty="0"/>
          </a:p>
        </p:txBody>
      </p:sp>
      <p:sp>
        <p:nvSpPr>
          <p:cNvPr id="50" name="Text 27"/>
          <p:cNvSpPr/>
          <p:nvPr/>
        </p:nvSpPr>
        <p:spPr>
          <a:xfrm>
            <a:off x="6934200" y="3886200"/>
            <a:ext cx="1310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234E">
                    <a:alpha val="5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&gt;</a:t>
            </a:r>
            <a:endParaRPr lang="en-US" sz="1680" dirty="0"/>
          </a:p>
        </p:txBody>
      </p:sp>
      <p:sp>
        <p:nvSpPr>
          <p:cNvPr id="51" name="Text 28"/>
          <p:cNvSpPr/>
          <p:nvPr/>
        </p:nvSpPr>
        <p:spPr>
          <a:xfrm>
            <a:off x="7117080" y="387096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访谈</a:t>
            </a:r>
            <a:endParaRPr lang="en-US" sz="1680" dirty="0"/>
          </a:p>
        </p:txBody>
      </p:sp>
      <p:pic>
        <p:nvPicPr>
          <p:cNvPr id="52" name="Image 21" descr="preencoded.png"/>
          <p:cNvPicPr>
            <a:picLocks noChangeAspect="1"/>
          </p:cNvPicPr>
          <p:nvPr/>
        </p:nvPicPr>
        <p:blipFill>
          <a:blip r:embed="rId14">
            <a:alphaModFix amt="4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33600" y="3718560"/>
            <a:ext cx="457200" cy="30480"/>
          </a:xfrm>
          <a:prstGeom prst="rect">
            <a:avLst/>
          </a:prstGeom>
        </p:spPr>
      </p:pic>
      <p:pic>
        <p:nvPicPr>
          <p:cNvPr id="53" name="Image 22" descr="https://test.web.static.jianzeppt.com/ppt-temp-img3/c150723e14ee54fc39c127b8f900f9c8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90800" y="4480560"/>
            <a:ext cx="4404360" cy="1021080"/>
          </a:xfrm>
          <a:prstGeom prst="rect">
            <a:avLst/>
          </a:prstGeom>
        </p:spPr>
      </p:pic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58440" y="4663440"/>
            <a:ext cx="304800" cy="304800"/>
          </a:xfrm>
          <a:prstGeom prst="rect">
            <a:avLst/>
          </a:prstGeom>
        </p:spPr>
      </p:pic>
      <p:sp>
        <p:nvSpPr>
          <p:cNvPr id="55" name="Text 29"/>
          <p:cNvSpPr/>
          <p:nvPr/>
        </p:nvSpPr>
        <p:spPr>
          <a:xfrm>
            <a:off x="2804160" y="467868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440" dirty="0"/>
          </a:p>
        </p:txBody>
      </p:sp>
      <p:sp>
        <p:nvSpPr>
          <p:cNvPr id="56" name="Text 30"/>
          <p:cNvSpPr/>
          <p:nvPr/>
        </p:nvSpPr>
        <p:spPr>
          <a:xfrm>
            <a:off x="3154680" y="4648200"/>
            <a:ext cx="93878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判定流程</a:t>
            </a:r>
            <a:endParaRPr lang="en-US" sz="1800" dirty="0"/>
          </a:p>
        </p:txBody>
      </p:sp>
      <p:sp>
        <p:nvSpPr>
          <p:cNvPr id="57" name="Text 31"/>
          <p:cNvSpPr/>
          <p:nvPr/>
        </p:nvSpPr>
        <p:spPr>
          <a:xfrm>
            <a:off x="2758440" y="5029200"/>
            <a:ext cx="81686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判断威胁</a:t>
            </a:r>
            <a:endParaRPr lang="en-US" sz="1560" dirty="0"/>
          </a:p>
        </p:txBody>
      </p:sp>
      <p:sp>
        <p:nvSpPr>
          <p:cNvPr id="58" name="Text 32"/>
          <p:cNvSpPr/>
          <p:nvPr/>
        </p:nvSpPr>
        <p:spPr>
          <a:xfrm>
            <a:off x="3581400" y="507492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200" dirty="0"/>
          </a:p>
        </p:txBody>
      </p:sp>
      <p:sp>
        <p:nvSpPr>
          <p:cNvPr id="59" name="Text 33"/>
          <p:cNvSpPr/>
          <p:nvPr/>
        </p:nvSpPr>
        <p:spPr>
          <a:xfrm>
            <a:off x="3764280" y="5029200"/>
            <a:ext cx="81686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拆解内容</a:t>
            </a:r>
            <a:endParaRPr lang="en-US" sz="1560" dirty="0"/>
          </a:p>
        </p:txBody>
      </p:sp>
      <p:sp>
        <p:nvSpPr>
          <p:cNvPr id="60" name="Text 34"/>
          <p:cNvSpPr/>
          <p:nvPr/>
        </p:nvSpPr>
        <p:spPr>
          <a:xfrm>
            <a:off x="4587240" y="507492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Text 35"/>
          <p:cNvSpPr/>
          <p:nvPr/>
        </p:nvSpPr>
        <p:spPr>
          <a:xfrm>
            <a:off x="4770120" y="5029200"/>
            <a:ext cx="6187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选证据</a:t>
            </a:r>
            <a:endParaRPr lang="en-US" sz="1560" dirty="0"/>
          </a:p>
        </p:txBody>
      </p:sp>
      <p:sp>
        <p:nvSpPr>
          <p:cNvPr id="62" name="Text 36"/>
          <p:cNvSpPr/>
          <p:nvPr/>
        </p:nvSpPr>
        <p:spPr>
          <a:xfrm>
            <a:off x="5394960" y="507492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200" dirty="0"/>
          </a:p>
        </p:txBody>
      </p:sp>
      <p:sp>
        <p:nvSpPr>
          <p:cNvPr id="63" name="Text 37"/>
          <p:cNvSpPr/>
          <p:nvPr/>
        </p:nvSpPr>
        <p:spPr>
          <a:xfrm>
            <a:off x="5577840" y="5029200"/>
            <a:ext cx="4206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判定</a:t>
            </a:r>
            <a:endParaRPr lang="en-US" sz="1560" dirty="0"/>
          </a:p>
        </p:txBody>
      </p:sp>
      <p:pic>
        <p:nvPicPr>
          <p:cNvPr id="64" name="Image 24" descr="preencoded.png"/>
          <p:cNvPicPr>
            <a:picLocks noChangeAspect="1"/>
          </p:cNvPicPr>
          <p:nvPr/>
        </p:nvPicPr>
        <p:blipFill>
          <a:blip r:embed="rId14">
            <a:alphaModFix amt="4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33600" y="4785360"/>
            <a:ext cx="457200" cy="30480"/>
          </a:xfrm>
          <a:prstGeom prst="rect">
            <a:avLst/>
          </a:prstGeom>
        </p:spPr>
      </p:pic>
      <p:pic>
        <p:nvPicPr>
          <p:cNvPr id="65" name="Image 25" descr="https://test.web.static.jianzeppt.com/ppt-temp-img3/c150723e14ee54fc39c127b8f900f9c8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78040" y="4480560"/>
            <a:ext cx="4404360" cy="1021080"/>
          </a:xfrm>
          <a:prstGeom prst="rect">
            <a:avLst/>
          </a:prstGeom>
        </p:spPr>
      </p:pic>
      <p:pic>
        <p:nvPicPr>
          <p:cNvPr id="66" name="Image 2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45680" y="4663440"/>
            <a:ext cx="304800" cy="304800"/>
          </a:xfrm>
          <a:prstGeom prst="rect">
            <a:avLst/>
          </a:prstGeom>
        </p:spPr>
      </p:pic>
      <p:sp>
        <p:nvSpPr>
          <p:cNvPr id="67" name="Text 38"/>
          <p:cNvSpPr/>
          <p:nvPr/>
        </p:nvSpPr>
        <p:spPr>
          <a:xfrm>
            <a:off x="7391400" y="467868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05</a:t>
            </a:r>
            <a:endParaRPr lang="en-US" sz="1440" dirty="0"/>
          </a:p>
        </p:txBody>
      </p:sp>
      <p:sp>
        <p:nvSpPr>
          <p:cNvPr id="68" name="Text 39"/>
          <p:cNvSpPr/>
          <p:nvPr/>
        </p:nvSpPr>
        <p:spPr>
          <a:xfrm>
            <a:off x="7741920" y="4648200"/>
            <a:ext cx="139598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上层结论关系</a:t>
            </a:r>
            <a:endParaRPr lang="en-US" sz="1800" dirty="0"/>
          </a:p>
        </p:txBody>
      </p:sp>
      <p:sp>
        <p:nvSpPr>
          <p:cNvPr id="69" name="Text 40"/>
          <p:cNvSpPr/>
          <p:nvPr/>
        </p:nvSpPr>
        <p:spPr>
          <a:xfrm>
            <a:off x="7345680" y="5029200"/>
            <a:ext cx="4206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单项</a:t>
            </a:r>
            <a:endParaRPr lang="en-US" sz="1560" dirty="0"/>
          </a:p>
        </p:txBody>
      </p:sp>
      <p:sp>
        <p:nvSpPr>
          <p:cNvPr id="70" name="Text 41"/>
          <p:cNvSpPr/>
          <p:nvPr/>
        </p:nvSpPr>
        <p:spPr>
          <a:xfrm>
            <a:off x="7772400" y="507492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200" dirty="0"/>
          </a:p>
        </p:txBody>
      </p:sp>
      <p:sp>
        <p:nvSpPr>
          <p:cNvPr id="71" name="Text 42"/>
          <p:cNvSpPr/>
          <p:nvPr/>
        </p:nvSpPr>
        <p:spPr>
          <a:xfrm>
            <a:off x="7955280" y="5029200"/>
            <a:ext cx="4206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单元</a:t>
            </a:r>
            <a:endParaRPr lang="en-US" sz="1560" dirty="0"/>
          </a:p>
        </p:txBody>
      </p:sp>
      <p:sp>
        <p:nvSpPr>
          <p:cNvPr id="72" name="Text 43"/>
          <p:cNvSpPr/>
          <p:nvPr/>
        </p:nvSpPr>
        <p:spPr>
          <a:xfrm>
            <a:off x="8382000" y="507492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200" dirty="0"/>
          </a:p>
        </p:txBody>
      </p:sp>
      <p:sp>
        <p:nvSpPr>
          <p:cNvPr id="73" name="Text 44"/>
          <p:cNvSpPr/>
          <p:nvPr/>
        </p:nvSpPr>
        <p:spPr>
          <a:xfrm>
            <a:off x="8564880" y="5029200"/>
            <a:ext cx="4206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整体</a:t>
            </a:r>
            <a:endParaRPr lang="en-US" sz="1560" dirty="0"/>
          </a:p>
        </p:txBody>
      </p:sp>
      <p:sp>
        <p:nvSpPr>
          <p:cNvPr id="74" name="Text 45"/>
          <p:cNvSpPr/>
          <p:nvPr/>
        </p:nvSpPr>
        <p:spPr>
          <a:xfrm>
            <a:off x="8991600" y="507492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00234E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200" dirty="0"/>
          </a:p>
        </p:txBody>
      </p:sp>
      <p:sp>
        <p:nvSpPr>
          <p:cNvPr id="75" name="Text 46"/>
          <p:cNvSpPr/>
          <p:nvPr/>
        </p:nvSpPr>
        <p:spPr>
          <a:xfrm>
            <a:off x="9174480" y="5029200"/>
            <a:ext cx="81686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等级测评</a:t>
            </a:r>
            <a:endParaRPr lang="en-US" sz="1560" dirty="0"/>
          </a:p>
        </p:txBody>
      </p:sp>
      <p:sp>
        <p:nvSpPr>
          <p:cNvPr id="76" name="Text 4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37ca6f9ef67a282b2d70c46becb46b0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8839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447800"/>
            <a:ext cx="731520" cy="7315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1560" y="1630680"/>
            <a:ext cx="365760" cy="365760"/>
          </a:xfrm>
          <a:prstGeom prst="rect">
            <a:avLst/>
          </a:prstGeom>
        </p:spPr>
      </p:pic>
      <p:sp>
        <p:nvSpPr>
          <p:cNvPr id="8" name="Text 0"/>
          <p:cNvSpPr/>
          <p:nvPr>
            <p:custDataLst>
              <p:tags r:id="rId11"/>
            </p:custDataLst>
          </p:nvPr>
        </p:nvSpPr>
        <p:spPr>
          <a:xfrm>
            <a:off x="1844040" y="1371600"/>
            <a:ext cx="55118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160" dirty="0"/>
          </a:p>
        </p:txBody>
      </p:sp>
      <p:sp>
        <p:nvSpPr>
          <p:cNvPr id="9" name="Text 1"/>
          <p:cNvSpPr/>
          <p:nvPr>
            <p:custDataLst>
              <p:tags r:id="rId12"/>
            </p:custDataLst>
          </p:nvPr>
        </p:nvSpPr>
        <p:spPr>
          <a:xfrm>
            <a:off x="1844040" y="1844040"/>
            <a:ext cx="768096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完成《单项测评判定练习表》（10个场景），提交至学习通平台</a:t>
            </a:r>
            <a:endParaRPr lang="en-US" sz="2160" dirty="0"/>
          </a:p>
        </p:txBody>
      </p:sp>
      <p:pic>
        <p:nvPicPr>
          <p:cNvPr id="10" name="Image 6" descr="https://test.web.static.jianzeppt.com/ppt-temp-img3/37ca6f9ef67a282b2d70c46becb46b0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99360"/>
            <a:ext cx="10972800" cy="88392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2575560"/>
            <a:ext cx="731520" cy="73152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1560" y="2758440"/>
            <a:ext cx="365760" cy="365760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7"/>
            </p:custDataLst>
          </p:nvPr>
        </p:nvSpPr>
        <p:spPr>
          <a:xfrm>
            <a:off x="1844040" y="2499360"/>
            <a:ext cx="55118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160" dirty="0"/>
          </a:p>
        </p:txBody>
      </p:sp>
      <p:sp>
        <p:nvSpPr>
          <p:cNvPr id="14" name="Text 3"/>
          <p:cNvSpPr/>
          <p:nvPr>
            <p:custDataLst>
              <p:tags r:id="rId18"/>
            </p:custDataLst>
          </p:nvPr>
        </p:nvSpPr>
        <p:spPr>
          <a:xfrm>
            <a:off x="1844040" y="2971800"/>
            <a:ext cx="603504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完成项目6.1在线测试（选择题+判断题，共20题）</a:t>
            </a:r>
            <a:endParaRPr lang="en-US" sz="2160" dirty="0"/>
          </a:p>
        </p:txBody>
      </p:sp>
      <p:pic>
        <p:nvPicPr>
          <p:cNvPr id="15" name="Image 9" descr="https://test.web.static.jianzeppt.com/ppt-temp-img3/37ca6f9ef67a282b2d70c46becb46b0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27120"/>
            <a:ext cx="10972800" cy="88392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3703320"/>
            <a:ext cx="731520" cy="731520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1560" y="3886200"/>
            <a:ext cx="365760" cy="365760"/>
          </a:xfrm>
          <a:prstGeom prst="rect">
            <a:avLst/>
          </a:prstGeom>
        </p:spPr>
      </p:pic>
      <p:sp>
        <p:nvSpPr>
          <p:cNvPr id="18" name="Text 4"/>
          <p:cNvSpPr/>
          <p:nvPr>
            <p:custDataLst>
              <p:tags r:id="rId23"/>
            </p:custDataLst>
          </p:nvPr>
        </p:nvSpPr>
        <p:spPr>
          <a:xfrm>
            <a:off x="1844040" y="3627120"/>
            <a:ext cx="55118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2160" dirty="0"/>
          </a:p>
        </p:txBody>
      </p:sp>
      <p:sp>
        <p:nvSpPr>
          <p:cNvPr id="19" name="Text 5"/>
          <p:cNvSpPr/>
          <p:nvPr>
            <p:custDataLst>
              <p:tags r:id="rId24"/>
            </p:custDataLst>
          </p:nvPr>
        </p:nvSpPr>
        <p:spPr>
          <a:xfrm>
            <a:off x="1844040" y="4099560"/>
            <a:ext cx="425196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完成作业：06.1 单项测评结论判定</a:t>
            </a:r>
            <a:endParaRPr lang="en-US" sz="2160" dirty="0"/>
          </a:p>
        </p:txBody>
      </p:sp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9600" y="4754880"/>
            <a:ext cx="10972800" cy="883920"/>
          </a:xfrm>
          <a:prstGeom prst="rect">
            <a:avLst/>
          </a:prstGeom>
        </p:spPr>
      </p:pic>
      <p:pic>
        <p:nvPicPr>
          <p:cNvPr id="21" name="Image 13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68680" y="4831080"/>
            <a:ext cx="731520" cy="731520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51560" y="5013960"/>
            <a:ext cx="365760" cy="365760"/>
          </a:xfrm>
          <a:prstGeom prst="rect">
            <a:avLst/>
          </a:prstGeom>
        </p:spPr>
      </p:pic>
      <p:sp>
        <p:nvSpPr>
          <p:cNvPr id="23" name="Text 6"/>
          <p:cNvSpPr/>
          <p:nvPr>
            <p:custDataLst>
              <p:tags r:id="rId33"/>
            </p:custDataLst>
          </p:nvPr>
        </p:nvSpPr>
        <p:spPr>
          <a:xfrm>
            <a:off x="1844040" y="4754880"/>
            <a:ext cx="55118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5C8CC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2160" dirty="0"/>
          </a:p>
        </p:txBody>
      </p:sp>
      <p:sp>
        <p:nvSpPr>
          <p:cNvPr id="24" name="Text 7"/>
          <p:cNvSpPr/>
          <p:nvPr>
            <p:custDataLst>
              <p:tags r:id="rId34"/>
            </p:custDataLst>
          </p:nvPr>
        </p:nvSpPr>
        <p:spPr>
          <a:xfrm>
            <a:off x="1844040" y="5227320"/>
            <a:ext cx="589788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预习活动6.2“系统整体测评结论形成”相关内容</a:t>
            </a:r>
            <a:endParaRPr lang="en-US" sz="2160" dirty="0"/>
          </a:p>
        </p:txBody>
      </p:sp>
      <p:sp>
        <p:nvSpPr>
          <p:cNvPr id="25" name="Text 8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93375" y="373570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5" imgW="971550" imgH="666750" progId="Word.Document.12">
                  <p:embed/>
                </p:oleObj>
              </mc:Choice>
              <mc:Fallback>
                <p:oleObj name="" showAsIcon="1" r:id="rId35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493375" y="373570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15824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>
                    <a:alpha val="8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活动6.2：系统整体测评结论形成</a:t>
            </a:r>
            <a:endParaRPr lang="en-US" sz="2640" dirty="0"/>
          </a:p>
        </p:txBody>
      </p:sp>
      <p:pic>
        <p:nvPicPr>
          <p:cNvPr id="6" name="Image 3" descr="https://test.web.static.jianzeppt.com/ppt-temp-img3/fce9df66b3636e09cede1e49b2112fe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828800"/>
            <a:ext cx="5303520" cy="44196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2225040"/>
            <a:ext cx="487680" cy="48768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520" y="2346960"/>
            <a:ext cx="243840" cy="24384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661160" y="22098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264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3078480"/>
            <a:ext cx="91440" cy="914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203960" y="2956560"/>
            <a:ext cx="357530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如何汇总单项和单元测评结论</a:t>
            </a:r>
            <a:endParaRPr lang="en-US" sz="216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3642360"/>
            <a:ext cx="91440" cy="914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203960" y="3520440"/>
            <a:ext cx="330098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如何形成系统整体测评结论</a:t>
            </a:r>
            <a:endParaRPr lang="en-US" sz="216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4206240"/>
            <a:ext cx="91440" cy="9144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203960" y="4084320"/>
            <a:ext cx="220370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风险趋势判断方法</a:t>
            </a:r>
            <a:endParaRPr lang="en-US" sz="216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4754880"/>
            <a:ext cx="91440" cy="9144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203960" y="4632960"/>
            <a:ext cx="247802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整体结论的撰写规范</a:t>
            </a:r>
            <a:endParaRPr lang="en-US" sz="2160" dirty="0"/>
          </a:p>
        </p:txBody>
      </p:sp>
      <p:pic>
        <p:nvPicPr>
          <p:cNvPr id="18" name="Image 10" descr="https://test.web.static.jianzeppt.com/ppt-temp-img3/fce9df66b3636e09cede1e49b2112fe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1828800"/>
            <a:ext cx="5303520" cy="44196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9880" y="2225040"/>
            <a:ext cx="487680" cy="48768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81800" y="2346960"/>
            <a:ext cx="243840" cy="24384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7330440" y="22098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2640" dirty="0"/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9880" y="3078480"/>
            <a:ext cx="91440" cy="9144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6873240" y="2956560"/>
            <a:ext cx="302666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复习本课的单项判定方法</a:t>
            </a:r>
            <a:endParaRPr lang="en-US" sz="216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9880" y="3642360"/>
            <a:ext cx="91440" cy="9144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873240" y="3520440"/>
            <a:ext cx="357530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准备前序项目的测评记录数据</a:t>
            </a:r>
            <a:endParaRPr lang="en-US" sz="2160" dirty="0"/>
          </a:p>
        </p:txBody>
      </p:sp>
      <p:sp>
        <p:nvSpPr>
          <p:cNvPr id="26" name="Text 9"/>
          <p:cNvSpPr/>
          <p:nvPr/>
        </p:nvSpPr>
        <p:spPr>
          <a:xfrm>
            <a:off x="6659880" y="5227320"/>
            <a:ext cx="455066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i="1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注：请同学们提前做好准备，以便下节课高效学习。</a:t>
            </a:r>
            <a:endParaRPr lang="en-US" sz="1680" dirty="0"/>
          </a:p>
        </p:txBody>
      </p:sp>
      <p:pic>
        <p:nvPicPr>
          <p:cNvPr id="27" name="Image 15" descr="https://test.web.static.jianzeppt.com/ppt-temp-img3/2eef78a2a432c57d73c2e0f5a59db504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9880" y="4953000"/>
            <a:ext cx="4541520" cy="15240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下节课预告</a:t>
            </a:r>
            <a:endParaRPr lang="en-US" sz="2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2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3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4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5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6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7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8.xml><?xml version="1.0" encoding="utf-8"?>
<p:tagLst xmlns:p="http://schemas.openxmlformats.org/presentationml/2006/main">
  <p:tag name="KSO_WM_DIAGRAM_VIRTUALLY_FRAME" val="{&quot;height&quot;:221.35,&quot;left&quot;:48,&quot;top&quot;:188.4,&quot;width&quot;:161.9}"/>
</p:tagLst>
</file>

<file path=ppt/tags/tag9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0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1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2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3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4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5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6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7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8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19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20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21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22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23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ags/tag24.xml><?xml version="1.0" encoding="utf-8"?>
<p:tagLst xmlns:p="http://schemas.openxmlformats.org/presentationml/2006/main">
  <p:tag name="KSO_WM_DIAGRAM_VIRTUALLY_FRAME" val="{&quot;height&quot;:336,&quot;left&quot;:68.4,&quot;top&quot;:108,&quot;width&quot;:823.92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3606</Words>
  <Application>WPS 演示</Application>
  <PresentationFormat>On-screen Show (16:9)</PresentationFormat>
  <Paragraphs>676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Noto Sans SC</vt:lpstr>
      <vt:lpstr>Office Theme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6</cp:revision>
  <dcterms:created xsi:type="dcterms:W3CDTF">2026-08-30T13:29:00Z</dcterms:created>
  <dcterms:modified xsi:type="dcterms:W3CDTF">2026-10-16T08:35:01Z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D18B451F79A544F6B8A9076E1AF4C694_12</vt:lpwstr>
  </property>
</Properties>
</file>