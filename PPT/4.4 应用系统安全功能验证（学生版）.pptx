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Document1.docx" ContentType="application/vnd.openxmlformats-officedocument.wordprocessingml.document"/>
  <Override PartName="/ppt/embeddings/Document2.docx" ContentType="application/vnd.openxmlformats-officedocument.wordprocessingml.document"/>
  <Override PartName="/ppt/embeddings/Document3.docx" ContentType="application/vnd.openxmlformats-officedocument.wordprocessingml.document"/>
  <Override PartName="/ppt/embeddings/Document4.docx" ContentType="application/vnd.openxmlformats-officedocument.wordprocessingml.document"/>
  <Override PartName="/ppt/embeddings/Document5.docx" ContentType="application/vnd.openxmlformats-officedocument.wordprocessingml.document"/>
  <Override PartName="/ppt/embeddings/Document6.docx" ContentType="application/vnd.openxmlformats-officedocument.wordprocessingml.document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8.svg" ContentType="image/svg+xml"/>
  <Override PartName="/ppt/media/image133.svg" ContentType="image/svg+xml"/>
  <Override PartName="/ppt/media/image135.svg" ContentType="image/svg+xml"/>
  <Override PartName="/ppt/media/image138.svg" ContentType="image/svg+xml"/>
  <Override PartName="/ppt/media/image141.svg" ContentType="image/svg+xml"/>
  <Override PartName="/ppt/media/image144.svg" ContentType="image/svg+xml"/>
  <Override PartName="/ppt/media/image148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9.svg" ContentType="image/svg+xml"/>
  <Override PartName="/ppt/media/image16.svg" ContentType="image/svg+xml"/>
  <Override PartName="/ppt/media/image162.svg" ContentType="image/svg+xml"/>
  <Override PartName="/ppt/media/image164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7.svg" ContentType="image/svg+xml"/>
  <Override PartName="/ppt/media/image18.svg" ContentType="image/svg+xml"/>
  <Override PartName="/ppt/media/image182.svg" ContentType="image/svg+xml"/>
  <Override PartName="/ppt/media/image186.svg" ContentType="image/svg+xml"/>
  <Override PartName="/ppt/media/image189.svg" ContentType="image/svg+xml"/>
  <Override PartName="/ppt/media/image191.svg" ContentType="image/svg+xml"/>
  <Override PartName="/ppt/media/image195.svg" ContentType="image/svg+xml"/>
  <Override PartName="/ppt/media/image197.svg" ContentType="image/svg+xml"/>
  <Override PartName="/ppt/media/image207.svg" ContentType="image/svg+xml"/>
  <Override PartName="/ppt/media/image21.svg" ContentType="image/svg+xml"/>
  <Override PartName="/ppt/media/image214.svg" ContentType="image/svg+xml"/>
  <Override PartName="/ppt/media/image216.svg" ContentType="image/svg+xml"/>
  <Override PartName="/ppt/media/image218.svg" ContentType="image/svg+xml"/>
  <Override PartName="/ppt/media/image222.svg" ContentType="image/svg+xml"/>
  <Override PartName="/ppt/media/image224.svg" ContentType="image/svg+xml"/>
  <Override PartName="/ppt/media/image227.svg" ContentType="image/svg+xml"/>
  <Override PartName="/ppt/media/image231.svg" ContentType="image/svg+xml"/>
  <Override PartName="/ppt/media/image233.svg" ContentType="image/svg+xml"/>
  <Override PartName="/ppt/media/image235.svg" ContentType="image/svg+xml"/>
  <Override PartName="/ppt/media/image237.svg" ContentType="image/svg+xml"/>
  <Override PartName="/ppt/media/image239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50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7" r:id="rId28"/>
    <p:sldId id="258" r:id="rId6"/>
    <p:sldId id="259" r:id="rId7"/>
    <p:sldId id="278" r:id="rId29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9" r:id="rId30"/>
    <p:sldId id="272" r:id="rId20"/>
    <p:sldId id="281" r:id="rId32"/>
    <p:sldId id="273" r:id="rId21"/>
    <p:sldId id="282" r:id="rId33"/>
    <p:sldId id="283" r:id="rId34"/>
    <p:sldId id="280" r:id="rId31"/>
    <p:sldId id="271" r:id="rId19"/>
    <p:sldId id="274" r:id="rId22"/>
    <p:sldId id="275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25.xml"/><Relationship Id="rId20" Type="http://schemas.openxmlformats.org/officeDocument/2006/relationships/slide" Target="slides/slide19.xml"/><Relationship Id="rId21" Type="http://schemas.openxmlformats.org/officeDocument/2006/relationships/slide" Target="slides/slide21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6.xml"/><Relationship Id="rId30" Type="http://schemas.openxmlformats.org/officeDocument/2006/relationships/slide" Target="slides/slide18.xml"/><Relationship Id="rId31" Type="http://schemas.openxmlformats.org/officeDocument/2006/relationships/slide" Target="slides/slide24.xml"/><Relationship Id="rId32" Type="http://schemas.openxmlformats.org/officeDocument/2006/relationships/slide" Target="slides/slide20.xml"/><Relationship Id="rId33" Type="http://schemas.openxmlformats.org/officeDocument/2006/relationships/slide" Target="slides/slide22.xml"/><Relationship Id="rId34" Type="http://schemas.openxmlformats.org/officeDocument/2006/relationships/slide" Target="slides/slide2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50.w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204.w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228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svg"/><Relationship Id="rId13" Type="http://schemas.openxmlformats.org/officeDocument/2006/relationships/package" Target="../embeddings/Document1.docx"/><Relationship Id="rId14" Type="http://schemas.openxmlformats.org/officeDocument/2006/relationships/image" Target="../media/image22.wmf"/><Relationship Id="rId15" Type="http://schemas.openxmlformats.org/officeDocument/2006/relationships/slideLayout" Target="../slideLayouts/slideLayout1.xml"/><Relationship Id="rId16" Type="http://schemas.openxmlformats.org/officeDocument/2006/relationships/vmlDrawing" Target="../drawings/vmlDrawing1.vml"/><Relationship Id="rId17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2.png"/><Relationship Id="rId5" Type="http://schemas.openxmlformats.org/officeDocument/2006/relationships/image" Target="../media/image33.sv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svg"/><Relationship Id="rId9" Type="http://schemas.openxmlformats.org/officeDocument/2006/relationships/image" Target="../media/image37.png"/><Relationship Id="rId10" Type="http://schemas.openxmlformats.org/officeDocument/2006/relationships/image" Target="../media/image38.svg"/><Relationship Id="rId11" Type="http://schemas.openxmlformats.org/officeDocument/2006/relationships/image" Target="../media/image39.png"/><Relationship Id="rId12" Type="http://schemas.openxmlformats.org/officeDocument/2006/relationships/image" Target="../media/image40.svg"/><Relationship Id="rId13" Type="http://schemas.openxmlformats.org/officeDocument/2006/relationships/image" Target="../media/image41.png"/><Relationship Id="rId14" Type="http://schemas.openxmlformats.org/officeDocument/2006/relationships/image" Target="../media/image42.sv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sv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svg"/><Relationship Id="rId23" Type="http://schemas.openxmlformats.org/officeDocument/2006/relationships/image" Target="../media/image51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svg"/><Relationship Id="rId7" Type="http://schemas.openxmlformats.org/officeDocument/2006/relationships/image" Target="../media/image55.png"/><Relationship Id="rId8" Type="http://schemas.openxmlformats.org/officeDocument/2006/relationships/image" Target="../media/image56.svg"/><Relationship Id="rId9" Type="http://schemas.openxmlformats.org/officeDocument/2006/relationships/image" Target="../media/image57.png"/><Relationship Id="rId10" Type="http://schemas.openxmlformats.org/officeDocument/2006/relationships/image" Target="../media/image44.png"/><Relationship Id="rId11" Type="http://schemas.openxmlformats.org/officeDocument/2006/relationships/image" Target="../media/image45.svg"/><Relationship Id="rId12" Type="http://schemas.openxmlformats.org/officeDocument/2006/relationships/image" Target="../media/image58.png"/><Relationship Id="rId13" Type="http://schemas.openxmlformats.org/officeDocument/2006/relationships/image" Target="../media/image59.svg"/><Relationship Id="rId14" Type="http://schemas.openxmlformats.org/officeDocument/2006/relationships/image" Target="../media/image60.png"/><Relationship Id="rId15" Type="http://schemas.openxmlformats.org/officeDocument/2006/relationships/image" Target="../media/image61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2.png"/><Relationship Id="rId5" Type="http://schemas.openxmlformats.org/officeDocument/2006/relationships/image" Target="../media/image63.sv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svg"/><Relationship Id="rId9" Type="http://schemas.openxmlformats.org/officeDocument/2006/relationships/image" Target="../media/image67.png"/><Relationship Id="rId10" Type="http://schemas.openxmlformats.org/officeDocument/2006/relationships/image" Target="../media/image68.svg"/><Relationship Id="rId11" Type="http://schemas.openxmlformats.org/officeDocument/2006/relationships/image" Target="../media/image69.png"/><Relationship Id="rId12" Type="http://schemas.openxmlformats.org/officeDocument/2006/relationships/image" Target="../media/image70.svg"/><Relationship Id="rId13" Type="http://schemas.openxmlformats.org/officeDocument/2006/relationships/image" Target="../media/image71.png"/><Relationship Id="rId14" Type="http://schemas.openxmlformats.org/officeDocument/2006/relationships/image" Target="../media/image72.svg"/><Relationship Id="rId15" Type="http://schemas.openxmlformats.org/officeDocument/2006/relationships/image" Target="../media/image73.png"/><Relationship Id="rId16" Type="http://schemas.openxmlformats.org/officeDocument/2006/relationships/image" Target="../media/image74.svg"/><Relationship Id="rId17" Type="http://schemas.openxmlformats.org/officeDocument/2006/relationships/image" Target="../media/image75.png"/><Relationship Id="rId18" Type="http://schemas.openxmlformats.org/officeDocument/2006/relationships/image" Target="../media/image76.svg"/><Relationship Id="rId19" Type="http://schemas.openxmlformats.org/officeDocument/2006/relationships/image" Target="../media/image77.png"/><Relationship Id="rId20" Type="http://schemas.openxmlformats.org/officeDocument/2006/relationships/image" Target="../media/image78.svg"/><Relationship Id="rId21" Type="http://schemas.openxmlformats.org/officeDocument/2006/relationships/image" Target="../media/image79.png"/><Relationship Id="rId22" Type="http://schemas.openxmlformats.org/officeDocument/2006/relationships/image" Target="../media/image80.svg"/><Relationship Id="rId23" Type="http://schemas.openxmlformats.org/officeDocument/2006/relationships/image" Target="../media/image81.png"/><Relationship Id="rId24" Type="http://schemas.openxmlformats.org/officeDocument/2006/relationships/image" Target="../media/image82.svg"/><Relationship Id="rId25" Type="http://schemas.openxmlformats.org/officeDocument/2006/relationships/image" Target="../media/image83.png"/><Relationship Id="rId26" Type="http://schemas.openxmlformats.org/officeDocument/2006/relationships/image" Target="../media/image84.svg"/><Relationship Id="rId27" Type="http://schemas.openxmlformats.org/officeDocument/2006/relationships/image" Target="../media/image85.png"/><Relationship Id="rId28" Type="http://schemas.openxmlformats.org/officeDocument/2006/relationships/image" Target="../media/image86.svg"/><Relationship Id="rId29" Type="http://schemas.openxmlformats.org/officeDocument/2006/relationships/package" Target="../embeddings/Document2.docx"/><Relationship Id="rId30" Type="http://schemas.openxmlformats.org/officeDocument/2006/relationships/image" Target="../media/image87.wmf"/><Relationship Id="rId31" Type="http://schemas.openxmlformats.org/officeDocument/2006/relationships/slideLayout" Target="../slideLayouts/slideLayout1.xml"/><Relationship Id="rId32" Type="http://schemas.openxmlformats.org/officeDocument/2006/relationships/vmlDrawing" Target="../drawings/vmlDrawing2.vml"/><Relationship Id="rId3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88.png"/><Relationship Id="rId5" Type="http://schemas.openxmlformats.org/officeDocument/2006/relationships/image" Target="../media/image89.sv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svg"/><Relationship Id="rId9" Type="http://schemas.openxmlformats.org/officeDocument/2006/relationships/image" Target="../media/image93.png"/><Relationship Id="rId10" Type="http://schemas.openxmlformats.org/officeDocument/2006/relationships/image" Target="../media/image94.svg"/><Relationship Id="rId11" Type="http://schemas.openxmlformats.org/officeDocument/2006/relationships/image" Target="../media/image95.png"/><Relationship Id="rId12" Type="http://schemas.openxmlformats.org/officeDocument/2006/relationships/image" Target="../media/image96.sv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svg"/><Relationship Id="rId16" Type="http://schemas.openxmlformats.org/officeDocument/2006/relationships/image" Target="../media/image100.png"/><Relationship Id="rId17" Type="http://schemas.openxmlformats.org/officeDocument/2006/relationships/image" Target="../media/image101.svg"/><Relationship Id="rId18" Type="http://schemas.openxmlformats.org/officeDocument/2006/relationships/image" Target="../media/image102.png"/><Relationship Id="rId19" Type="http://schemas.openxmlformats.org/officeDocument/2006/relationships/image" Target="../media/image103.svg"/><Relationship Id="rId20" Type="http://schemas.openxmlformats.org/officeDocument/2006/relationships/image" Target="../media/image104.png"/><Relationship Id="rId21" Type="http://schemas.openxmlformats.org/officeDocument/2006/relationships/image" Target="../media/image105.svg"/><Relationship Id="rId22" Type="http://schemas.openxmlformats.org/officeDocument/2006/relationships/image" Target="../media/image106.png"/><Relationship Id="rId23" Type="http://schemas.openxmlformats.org/officeDocument/2006/relationships/image" Target="../media/image107.svg"/><Relationship Id="rId24" Type="http://schemas.openxmlformats.org/officeDocument/2006/relationships/image" Target="../media/image108.png"/><Relationship Id="rId25" Type="http://schemas.openxmlformats.org/officeDocument/2006/relationships/image" Target="../media/image109.svg"/><Relationship Id="rId26" Type="http://schemas.openxmlformats.org/officeDocument/2006/relationships/image" Target="../media/image110.png"/><Relationship Id="rId27" Type="http://schemas.openxmlformats.org/officeDocument/2006/relationships/image" Target="../media/image111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svg"/><Relationship Id="rId7" Type="http://schemas.openxmlformats.org/officeDocument/2006/relationships/image" Target="../media/image115.png"/><Relationship Id="rId8" Type="http://schemas.openxmlformats.org/officeDocument/2006/relationships/image" Target="../media/image116.sv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svg"/><Relationship Id="rId12" Type="http://schemas.openxmlformats.org/officeDocument/2006/relationships/image" Target="../media/image120.png"/><Relationship Id="rId13" Type="http://schemas.openxmlformats.org/officeDocument/2006/relationships/image" Target="../media/image121.svg"/><Relationship Id="rId14" Type="http://schemas.openxmlformats.org/officeDocument/2006/relationships/image" Target="../media/image122.png"/><Relationship Id="rId15" Type="http://schemas.openxmlformats.org/officeDocument/2006/relationships/image" Target="../media/image123.svg"/><Relationship Id="rId16" Type="http://schemas.openxmlformats.org/officeDocument/2006/relationships/image" Target="../media/image124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sv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svg"/><Relationship Id="rId13" Type="http://schemas.openxmlformats.org/officeDocument/2006/relationships/image" Target="../media/image134.png"/><Relationship Id="rId14" Type="http://schemas.openxmlformats.org/officeDocument/2006/relationships/image" Target="../media/image135.svg"/><Relationship Id="rId15" Type="http://schemas.openxmlformats.org/officeDocument/2006/relationships/image" Target="../media/image13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7.png"/><Relationship Id="rId5" Type="http://schemas.openxmlformats.org/officeDocument/2006/relationships/image" Target="../media/image138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svg"/><Relationship Id="rId7" Type="http://schemas.openxmlformats.org/officeDocument/2006/relationships/image" Target="../media/image142.png"/><Relationship Id="rId8" Type="http://schemas.openxmlformats.org/officeDocument/2006/relationships/image" Target="../media/image143.png"/><Relationship Id="rId9" Type="http://schemas.openxmlformats.org/officeDocument/2006/relationships/image" Target="../media/image144.svg"/><Relationship Id="rId10" Type="http://schemas.openxmlformats.org/officeDocument/2006/relationships/image" Target="../media/image145.png"/><Relationship Id="rId11" Type="http://schemas.openxmlformats.org/officeDocument/2006/relationships/image" Target="../media/image14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tags" Target="../tags/tag1.xml"/><Relationship Id="rId5" Type="http://schemas.openxmlformats.org/officeDocument/2006/relationships/image" Target="../media/image147.png"/><Relationship Id="rId6" Type="http://schemas.openxmlformats.org/officeDocument/2006/relationships/image" Target="../media/image148.svg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image" Target="../media/image149.png"/><Relationship Id="rId10" Type="http://schemas.openxmlformats.org/officeDocument/2006/relationships/tags" Target="../tags/tag4.xml"/><Relationship Id="rId11" Type="http://schemas.openxmlformats.org/officeDocument/2006/relationships/package" Target="../embeddings/Document3.docx"/><Relationship Id="rId12" Type="http://schemas.openxmlformats.org/officeDocument/2006/relationships/image" Target="../media/image150.wmf"/><Relationship Id="rId13" Type="http://schemas.openxmlformats.org/officeDocument/2006/relationships/slideLayout" Target="../slideLayouts/slideLayout1.xml"/><Relationship Id="rId14" Type="http://schemas.openxmlformats.org/officeDocument/2006/relationships/vmlDrawing" Target="../drawings/vmlDrawing3.vml"/><Relationship Id="rId15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1.png"/><Relationship Id="rId5" Type="http://schemas.openxmlformats.org/officeDocument/2006/relationships/image" Target="../media/image152.svg"/><Relationship Id="rId6" Type="http://schemas.openxmlformats.org/officeDocument/2006/relationships/image" Target="../media/image153.png"/><Relationship Id="rId7" Type="http://schemas.openxmlformats.org/officeDocument/2006/relationships/image" Target="../media/image154.svg"/><Relationship Id="rId8" Type="http://schemas.openxmlformats.org/officeDocument/2006/relationships/image" Target="../media/image155.png"/><Relationship Id="rId9" Type="http://schemas.openxmlformats.org/officeDocument/2006/relationships/image" Target="../media/image156.svg"/><Relationship Id="rId10" Type="http://schemas.openxmlformats.org/officeDocument/2006/relationships/image" Target="../media/image157.png"/><Relationship Id="rId11" Type="http://schemas.openxmlformats.org/officeDocument/2006/relationships/image" Target="../media/image158.png"/><Relationship Id="rId12" Type="http://schemas.openxmlformats.org/officeDocument/2006/relationships/image" Target="../media/image159.svg"/><Relationship Id="rId13" Type="http://schemas.openxmlformats.org/officeDocument/2006/relationships/image" Target="../media/image160.png"/><Relationship Id="rId14" Type="http://schemas.openxmlformats.org/officeDocument/2006/relationships/image" Target="../media/image161.png"/><Relationship Id="rId15" Type="http://schemas.openxmlformats.org/officeDocument/2006/relationships/image" Target="../media/image162.svg"/><Relationship Id="rId16" Type="http://schemas.openxmlformats.org/officeDocument/2006/relationships/image" Target="../media/image163.png"/><Relationship Id="rId17" Type="http://schemas.openxmlformats.org/officeDocument/2006/relationships/image" Target="../media/image164.svg"/><Relationship Id="rId18" Type="http://schemas.openxmlformats.org/officeDocument/2006/relationships/image" Target="../media/image165.png"/><Relationship Id="rId19" Type="http://schemas.openxmlformats.org/officeDocument/2006/relationships/image" Target="../media/image166.png"/><Relationship Id="rId20" Type="http://schemas.openxmlformats.org/officeDocument/2006/relationships/image" Target="../media/image167.png"/><Relationship Id="rId21" Type="http://schemas.openxmlformats.org/officeDocument/2006/relationships/image" Target="../media/image16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69.png"/><Relationship Id="rId5" Type="http://schemas.openxmlformats.org/officeDocument/2006/relationships/image" Target="../media/image170.svg"/><Relationship Id="rId6" Type="http://schemas.openxmlformats.org/officeDocument/2006/relationships/image" Target="../media/image171.png"/><Relationship Id="rId7" Type="http://schemas.openxmlformats.org/officeDocument/2006/relationships/image" Target="../media/image172.svg"/><Relationship Id="rId8" Type="http://schemas.openxmlformats.org/officeDocument/2006/relationships/image" Target="../media/image173.png"/><Relationship Id="rId9" Type="http://schemas.openxmlformats.org/officeDocument/2006/relationships/image" Target="../media/image174.svg"/><Relationship Id="rId10" Type="http://schemas.openxmlformats.org/officeDocument/2006/relationships/image" Target="../media/image17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85.png"/><Relationship Id="rId5" Type="http://schemas.openxmlformats.org/officeDocument/2006/relationships/image" Target="../media/image186.sv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svg"/><Relationship Id="rId9" Type="http://schemas.openxmlformats.org/officeDocument/2006/relationships/image" Target="../media/image190.png"/><Relationship Id="rId10" Type="http://schemas.openxmlformats.org/officeDocument/2006/relationships/image" Target="../media/image191.svg"/><Relationship Id="rId11" Type="http://schemas.openxmlformats.org/officeDocument/2006/relationships/image" Target="../media/image192.png"/><Relationship Id="rId12" Type="http://schemas.openxmlformats.org/officeDocument/2006/relationships/image" Target="../media/image193.png"/><Relationship Id="rId13" Type="http://schemas.openxmlformats.org/officeDocument/2006/relationships/image" Target="../media/image194.png"/><Relationship Id="rId14" Type="http://schemas.openxmlformats.org/officeDocument/2006/relationships/image" Target="../media/image195.svg"/><Relationship Id="rId15" Type="http://schemas.openxmlformats.org/officeDocument/2006/relationships/image" Target="../media/image196.png"/><Relationship Id="rId16" Type="http://schemas.openxmlformats.org/officeDocument/2006/relationships/image" Target="../media/image197.svg"/><Relationship Id="rId17" Type="http://schemas.openxmlformats.org/officeDocument/2006/relationships/image" Target="../media/image198.png"/><Relationship Id="rId18" Type="http://schemas.openxmlformats.org/officeDocument/2006/relationships/image" Target="../media/image199.png"/><Relationship Id="rId19" Type="http://schemas.openxmlformats.org/officeDocument/2006/relationships/image" Target="../media/image200.png"/><Relationship Id="rId20" Type="http://schemas.openxmlformats.org/officeDocument/2006/relationships/image" Target="../media/image201.png"/><Relationship Id="rId21" Type="http://schemas.openxmlformats.org/officeDocument/2006/relationships/image" Target="../media/image202.png"/><Relationship Id="rId22" Type="http://schemas.openxmlformats.org/officeDocument/2006/relationships/package" Target="../embeddings/Document4.docx"/><Relationship Id="rId23" Type="http://schemas.openxmlformats.org/officeDocument/2006/relationships/image" Target="../media/image203.wmf"/><Relationship Id="rId24" Type="http://schemas.openxmlformats.org/officeDocument/2006/relationships/slideLayout" Target="../slideLayouts/slideLayout1.xml"/><Relationship Id="rId25" Type="http://schemas.openxmlformats.org/officeDocument/2006/relationships/vmlDrawing" Target="../drawings/vmlDrawing4.vml"/><Relationship Id="rId26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package" Target="../embeddings/Document5.docx"/><Relationship Id="rId5" Type="http://schemas.openxmlformats.org/officeDocument/2006/relationships/image" Target="../media/image204.wmf"/><Relationship Id="rId6" Type="http://schemas.openxmlformats.org/officeDocument/2006/relationships/slideLayout" Target="../slideLayouts/slideLayout1.xml"/><Relationship Id="rId7" Type="http://schemas.openxmlformats.org/officeDocument/2006/relationships/vmlDrawing" Target="../drawings/vmlDrawing5.v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package" Target="../embeddings/Document5.docx"/><Relationship Id="rId5" Type="http://schemas.openxmlformats.org/officeDocument/2006/relationships/image" Target="../media/image204.wmf"/><Relationship Id="rId6" Type="http://schemas.openxmlformats.org/officeDocument/2006/relationships/slideLayout" Target="../slideLayouts/slideLayout1.xml"/><Relationship Id="rId7" Type="http://schemas.openxmlformats.org/officeDocument/2006/relationships/vmlDrawing" Target="../drawings/vmlDrawing5.vml"/><Relationship Id="rId8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85.png"/><Relationship Id="rId5" Type="http://schemas.openxmlformats.org/officeDocument/2006/relationships/image" Target="../media/image186.sv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svg"/><Relationship Id="rId9" Type="http://schemas.openxmlformats.org/officeDocument/2006/relationships/image" Target="../media/image190.png"/><Relationship Id="rId10" Type="http://schemas.openxmlformats.org/officeDocument/2006/relationships/image" Target="../media/image191.svg"/><Relationship Id="rId11" Type="http://schemas.openxmlformats.org/officeDocument/2006/relationships/image" Target="../media/image192.png"/><Relationship Id="rId12" Type="http://schemas.openxmlformats.org/officeDocument/2006/relationships/image" Target="../media/image193.png"/><Relationship Id="rId13" Type="http://schemas.openxmlformats.org/officeDocument/2006/relationships/image" Target="../media/image194.png"/><Relationship Id="rId14" Type="http://schemas.openxmlformats.org/officeDocument/2006/relationships/image" Target="../media/image195.svg"/><Relationship Id="rId15" Type="http://schemas.openxmlformats.org/officeDocument/2006/relationships/image" Target="../media/image196.png"/><Relationship Id="rId16" Type="http://schemas.openxmlformats.org/officeDocument/2006/relationships/image" Target="../media/image197.svg"/><Relationship Id="rId17" Type="http://schemas.openxmlformats.org/officeDocument/2006/relationships/image" Target="../media/image198.png"/><Relationship Id="rId18" Type="http://schemas.openxmlformats.org/officeDocument/2006/relationships/image" Target="../media/image199.png"/><Relationship Id="rId19" Type="http://schemas.openxmlformats.org/officeDocument/2006/relationships/image" Target="../media/image200.png"/><Relationship Id="rId20" Type="http://schemas.openxmlformats.org/officeDocument/2006/relationships/image" Target="../media/image201.png"/><Relationship Id="rId21" Type="http://schemas.openxmlformats.org/officeDocument/2006/relationships/image" Target="../media/image202.png"/><Relationship Id="rId22" Type="http://schemas.openxmlformats.org/officeDocument/2006/relationships/package" Target="../embeddings/Document4.docx"/><Relationship Id="rId23" Type="http://schemas.openxmlformats.org/officeDocument/2006/relationships/image" Target="../media/image203.wmf"/><Relationship Id="rId24" Type="http://schemas.openxmlformats.org/officeDocument/2006/relationships/slideLayout" Target="../slideLayouts/slideLayout1.xml"/><Relationship Id="rId25" Type="http://schemas.openxmlformats.org/officeDocument/2006/relationships/vmlDrawing" Target="../drawings/vmlDrawing4.v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package" Target="../embeddings/Document5.docx"/><Relationship Id="rId5" Type="http://schemas.openxmlformats.org/officeDocument/2006/relationships/image" Target="../media/image204.wmf"/><Relationship Id="rId6" Type="http://schemas.openxmlformats.org/officeDocument/2006/relationships/slideLayout" Target="../slideLayouts/slideLayout1.xml"/><Relationship Id="rId7" Type="http://schemas.openxmlformats.org/officeDocument/2006/relationships/vmlDrawing" Target="../drawings/vmlDrawing5.v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76.png"/><Relationship Id="rId5" Type="http://schemas.openxmlformats.org/officeDocument/2006/relationships/image" Target="../media/image177.sv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sv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05.png"/><Relationship Id="rId5" Type="http://schemas.openxmlformats.org/officeDocument/2006/relationships/image" Target="../media/image206.png"/><Relationship Id="rId6" Type="http://schemas.openxmlformats.org/officeDocument/2006/relationships/image" Target="../media/image207.svg"/><Relationship Id="rId7" Type="http://schemas.openxmlformats.org/officeDocument/2006/relationships/image" Target="../media/image208.png"/><Relationship Id="rId8" Type="http://schemas.openxmlformats.org/officeDocument/2006/relationships/image" Target="../media/image209.png"/><Relationship Id="rId9" Type="http://schemas.openxmlformats.org/officeDocument/2006/relationships/image" Target="../media/image210.png"/><Relationship Id="rId10" Type="http://schemas.openxmlformats.org/officeDocument/2006/relationships/image" Target="../media/image211.png"/><Relationship Id="rId11" Type="http://schemas.openxmlformats.org/officeDocument/2006/relationships/image" Target="../media/image212.png"/><Relationship Id="rId12" Type="http://schemas.openxmlformats.org/officeDocument/2006/relationships/image" Target="../media/image66.svg"/><Relationship Id="rId13" Type="http://schemas.openxmlformats.org/officeDocument/2006/relationships/image" Target="../media/image213.png"/><Relationship Id="rId14" Type="http://schemas.openxmlformats.org/officeDocument/2006/relationships/image" Target="../media/image2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15.png"/><Relationship Id="rId5" Type="http://schemas.openxmlformats.org/officeDocument/2006/relationships/image" Target="../media/image216.svg"/><Relationship Id="rId6" Type="http://schemas.openxmlformats.org/officeDocument/2006/relationships/image" Target="../media/image217.png"/><Relationship Id="rId7" Type="http://schemas.openxmlformats.org/officeDocument/2006/relationships/image" Target="../media/image218.svg"/><Relationship Id="rId8" Type="http://schemas.openxmlformats.org/officeDocument/2006/relationships/image" Target="../media/image219.png"/><Relationship Id="rId9" Type="http://schemas.openxmlformats.org/officeDocument/2006/relationships/image" Target="../media/image220.png"/><Relationship Id="rId10" Type="http://schemas.openxmlformats.org/officeDocument/2006/relationships/image" Target="../media/image221.png"/><Relationship Id="rId11" Type="http://schemas.openxmlformats.org/officeDocument/2006/relationships/image" Target="../media/image222.svg"/><Relationship Id="rId12" Type="http://schemas.openxmlformats.org/officeDocument/2006/relationships/image" Target="../media/image223.png"/><Relationship Id="rId13" Type="http://schemas.openxmlformats.org/officeDocument/2006/relationships/image" Target="../media/image224.svg"/><Relationship Id="rId14" Type="http://schemas.openxmlformats.org/officeDocument/2006/relationships/image" Target="../media/image225.png"/><Relationship Id="rId15" Type="http://schemas.openxmlformats.org/officeDocument/2006/relationships/image" Target="../media/image226.png"/><Relationship Id="rId16" Type="http://schemas.openxmlformats.org/officeDocument/2006/relationships/image" Target="../media/image227.svg"/><Relationship Id="rId17" Type="http://schemas.openxmlformats.org/officeDocument/2006/relationships/package" Target="../embeddings/Document6.docx"/><Relationship Id="rId18" Type="http://schemas.openxmlformats.org/officeDocument/2006/relationships/image" Target="../media/image228.wmf"/><Relationship Id="rId19" Type="http://schemas.openxmlformats.org/officeDocument/2006/relationships/slideLayout" Target="../slideLayouts/slideLayout1.xml"/><Relationship Id="rId20" Type="http://schemas.openxmlformats.org/officeDocument/2006/relationships/vmlDrawing" Target="../drawings/vmlDrawing6.vml"/><Relationship Id="rId21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229.png"/><Relationship Id="rId2" Type="http://schemas.openxmlformats.org/officeDocument/2006/relationships/image" Target="../media/image230.png"/><Relationship Id="rId3" Type="http://schemas.openxmlformats.org/officeDocument/2006/relationships/image" Target="../media/image231.svg"/><Relationship Id="rId4" Type="http://schemas.openxmlformats.org/officeDocument/2006/relationships/image" Target="../media/image232.png"/><Relationship Id="rId5" Type="http://schemas.openxmlformats.org/officeDocument/2006/relationships/image" Target="../media/image233.svg"/><Relationship Id="rId6" Type="http://schemas.openxmlformats.org/officeDocument/2006/relationships/image" Target="../media/image234.png"/><Relationship Id="rId7" Type="http://schemas.openxmlformats.org/officeDocument/2006/relationships/image" Target="../media/image235.svg"/><Relationship Id="rId8" Type="http://schemas.openxmlformats.org/officeDocument/2006/relationships/image" Target="../media/image236.png"/><Relationship Id="rId9" Type="http://schemas.openxmlformats.org/officeDocument/2006/relationships/image" Target="../media/image237.svg"/><Relationship Id="rId10" Type="http://schemas.openxmlformats.org/officeDocument/2006/relationships/image" Target="../media/image238.png"/><Relationship Id="rId11" Type="http://schemas.openxmlformats.org/officeDocument/2006/relationships/image" Target="../media/image239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授课教师：杨迎</a:t>
            </a:r>
            <a:endParaRPr lang="en-US" sz="2040" dirty="0"/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4.4 应用系统安全功能验证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71160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回顾拓展：易错点、作业与下节预告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案例导入：改一个订单号，就能看到别人的信息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64048" y="3710752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动手实验：西普靶场取证 + JSecProbe 判定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064048" y="273797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关键知识：三个维度怎么验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Part.01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案例导入——改一个订单号，就能看到别人的信息</a:t>
            </a:r>
            <a:endParaRPr lang="en-US" sz="5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案例导入——一次越权访问引发的数据泄露</a:t>
            </a:r>
            <a:endParaRPr lang="en-US" sz="2760" dirty="0"/>
          </a:p>
        </p:txBody>
      </p:sp>
      <p:pic>
        <p:nvPicPr>
          <p:cNvPr id="6" name="Image 3" descr="https://test.web.static.jianzeppt.com/ppt-temp-img3/3e19e9fb5f1bcf42af2e543fecd9b9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3962400" cy="51816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876800" y="1219200"/>
            <a:ext cx="6714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应用系统的“身份证”和“门禁系统”靠谱吗？</a:t>
            </a:r>
            <a:endParaRPr lang="en-US" sz="2160" dirty="0"/>
          </a:p>
        </p:txBody>
      </p:sp>
      <p:pic>
        <p:nvPicPr>
          <p:cNvPr id="8" name="Image 4" descr="https://test.web.static.jianzeppt.com/ppt-temp-img3/330a8efb1c001b26308d901db7ccfe8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026920"/>
            <a:ext cx="6705600" cy="1783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074920" y="2209800"/>
            <a:ext cx="631850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案例：</a:t>
            </a: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某电商平台发生数据泄露。攻击者发现订单查询接口存在越权漏洞：只需修改URL中的订单ID参数，即可查看他人订单信息。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5074920" y="29565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漏洞：</a:t>
            </a:r>
            <a:endParaRPr lang="en-US" sz="1560" dirty="0"/>
          </a:p>
        </p:txBody>
      </p:sp>
      <p:sp>
        <p:nvSpPr>
          <p:cNvPr id="11" name="Text 4"/>
          <p:cNvSpPr/>
          <p:nvPr/>
        </p:nvSpPr>
        <p:spPr>
          <a:xfrm>
            <a:off x="5730240" y="2956560"/>
            <a:ext cx="8168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水平越权</a:t>
            </a:r>
            <a:endParaRPr lang="en-US" sz="1560" dirty="0"/>
          </a:p>
        </p:txBody>
      </p:sp>
      <p:sp>
        <p:nvSpPr>
          <p:cNvPr id="12" name="Text 5"/>
          <p:cNvSpPr/>
          <p:nvPr/>
        </p:nvSpPr>
        <p:spPr>
          <a:xfrm>
            <a:off x="8321040" y="29565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方式：</a:t>
            </a:r>
            <a:endParaRPr lang="en-US" sz="1560" dirty="0"/>
          </a:p>
        </p:txBody>
      </p:sp>
      <p:sp>
        <p:nvSpPr>
          <p:cNvPr id="13" name="Text 6"/>
          <p:cNvSpPr/>
          <p:nvPr/>
        </p:nvSpPr>
        <p:spPr>
          <a:xfrm>
            <a:off x="8976360" y="2956560"/>
            <a:ext cx="11978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333333"/>
                </a:solidFill>
              </a:rPr>
              <a:t>修改URL参数</a:t>
            </a:r>
            <a:endParaRPr lang="en-US" sz="1560" dirty="0"/>
          </a:p>
        </p:txBody>
      </p:sp>
      <p:sp>
        <p:nvSpPr>
          <p:cNvPr id="14" name="Text 7"/>
          <p:cNvSpPr/>
          <p:nvPr/>
        </p:nvSpPr>
        <p:spPr>
          <a:xfrm>
            <a:off x="5074920" y="330708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范围：</a:t>
            </a:r>
            <a:endParaRPr lang="en-US" sz="1560" dirty="0"/>
          </a:p>
        </p:txBody>
      </p:sp>
      <p:sp>
        <p:nvSpPr>
          <p:cNvPr id="15" name="Text 8"/>
          <p:cNvSpPr/>
          <p:nvPr/>
        </p:nvSpPr>
        <p:spPr>
          <a:xfrm>
            <a:off x="5730240" y="3307080"/>
            <a:ext cx="14112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333333"/>
                </a:solidFill>
              </a:rPr>
              <a:t>数百万用户信息</a:t>
            </a:r>
            <a:endParaRPr lang="en-US" sz="1560" dirty="0"/>
          </a:p>
        </p:txBody>
      </p:sp>
      <p:sp>
        <p:nvSpPr>
          <p:cNvPr id="16" name="Text 9"/>
          <p:cNvSpPr/>
          <p:nvPr/>
        </p:nvSpPr>
        <p:spPr>
          <a:xfrm>
            <a:off x="8321040" y="330708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后果：</a:t>
            </a:r>
            <a:endParaRPr lang="en-US" sz="1560" dirty="0"/>
          </a:p>
        </p:txBody>
      </p:sp>
      <p:sp>
        <p:nvSpPr>
          <p:cNvPr id="17" name="Text 10"/>
          <p:cNvSpPr/>
          <p:nvPr/>
        </p:nvSpPr>
        <p:spPr>
          <a:xfrm>
            <a:off x="8976360" y="3307080"/>
            <a:ext cx="8168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信任受损</a:t>
            </a:r>
            <a:endParaRPr lang="en-US" sz="156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6800" y="4267200"/>
            <a:ext cx="60960" cy="213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29200" y="420624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先想一想（30 秒）</a:t>
            </a:r>
            <a:endParaRPr lang="en-US" sz="18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4847590" y="5739130"/>
            <a:ext cx="6705600" cy="624840"/>
            <a:chOff x="7680" y="9360"/>
            <a:chExt cx="10560" cy="984"/>
          </a:xfrm>
        </p:grpSpPr>
        <p:pic>
          <p:nvPicPr>
            <p:cNvPr id="20" name="Image 6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80" y="9360"/>
              <a:ext cx="10560" cy="984"/>
            </a:xfrm>
            <a:prstGeom prst="rect">
              <a:avLst/>
            </a:prstGeom>
          </p:spPr>
        </p:pic>
        <p:pic>
          <p:nvPicPr>
            <p:cNvPr id="21" name="Image 7" descr="https://test.web.static.jianzeppt.com/ppt-temp-img3/2d1da975737510704030dcda6c939f74.png?x-oss-process=image/resize,w_1440,h_800,m_lfit/format,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96" y="9600"/>
              <a:ext cx="480" cy="480"/>
            </a:xfrm>
            <a:prstGeom prst="rect">
              <a:avLst/>
            </a:prstGeom>
          </p:spPr>
        </p:pic>
        <p:sp>
          <p:nvSpPr>
            <p:cNvPr id="22" name="Text 12"/>
            <p:cNvSpPr/>
            <p:nvPr/>
          </p:nvSpPr>
          <p:spPr>
            <a:xfrm>
              <a:off x="8544" y="9576"/>
              <a:ext cx="8414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结论：</a:t>
              </a:r>
              <a:r>
                <a:rPr lang="en-US" sz="1680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应用系统安全功能验证，是发现逻辑漏洞的关键。</a:t>
              </a:r>
              <a:endParaRPr lang="en-US" sz="1680" dirty="0"/>
            </a:p>
          </p:txBody>
        </p:sp>
      </p:grpSp>
      <p:sp>
        <p:nvSpPr>
          <p:cNvPr id="23" name="Text 13"/>
          <p:cNvSpPr/>
          <p:nvPr/>
        </p:nvSpPr>
        <p:spPr>
          <a:xfrm>
            <a:off x="5090160" y="4617720"/>
            <a:ext cx="25694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1. 这个漏洞对应等保哪一条？（提示：8.1.4.2 访问控制）</a:t>
            </a:r>
            <a:endParaRPr lang="en-US" sz="168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7760" y="4724400"/>
            <a:ext cx="76200" cy="762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90160" y="4937760"/>
            <a:ext cx="278282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2. 不拿源码、不改代码，你怎么把它测出来？</a:t>
            </a:r>
            <a:endParaRPr lang="en-US" sz="168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7760" y="5044440"/>
            <a:ext cx="76200" cy="762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090160" y="5273040"/>
            <a:ext cx="25694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3. 越权之外，这个系统还可能漏了什么？</a:t>
            </a:r>
            <a:endParaRPr lang="en-US" sz="168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7760" y="5379720"/>
            <a:ext cx="76200" cy="76200"/>
          </a:xfrm>
          <a:prstGeom prst="rect">
            <a:avLst/>
          </a:prstGeom>
        </p:spPr>
      </p:pic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00335" y="4457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3" imgW="971550" imgH="666750" progId="Word.Document.12">
                  <p:embed/>
                </p:oleObj>
              </mc:Choice>
              <mc:Fallback>
                <p:oleObj name="" showAsIcon="1" r:id="rId13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00335" y="4457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学完这一节，你应该能做到：</a:t>
            </a:r>
            <a:endParaRPr lang="en-US" sz="192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8120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2179320"/>
            <a:ext cx="548640" cy="54864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360" y="2301240"/>
            <a:ext cx="304800" cy="30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554480" y="2209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</a:t>
            </a:r>
            <a:endParaRPr lang="en-US" sz="2640" dirty="0"/>
          </a:p>
        </p:txBody>
      </p:sp>
      <p:sp>
        <p:nvSpPr>
          <p:cNvPr id="11" name="Text 3"/>
          <p:cNvSpPr/>
          <p:nvPr/>
        </p:nvSpPr>
        <p:spPr>
          <a:xfrm>
            <a:off x="853440" y="2880360"/>
            <a:ext cx="3026664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说清应用系统在等保里主要验哪三件事：身份鉴别、访问控制、安全审计</a:t>
            </a:r>
            <a:endParaRPr lang="en-US" sz="1680" dirty="0"/>
          </a:p>
        </p:txBody>
      </p:sp>
      <p:pic>
        <p:nvPicPr>
          <p:cNvPr id="12" name="Image 6" descr="https://test.web.static.jianzeppt.com/ppt-temp-img3/e43d887a6b074a34eecdb6dd34dd8126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981200"/>
            <a:ext cx="60960" cy="210312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198120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7240" y="2179320"/>
            <a:ext cx="548640" cy="54864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9160" y="2301240"/>
            <a:ext cx="304800" cy="30480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288280" y="2209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640" dirty="0"/>
          </a:p>
        </p:txBody>
      </p:sp>
      <p:sp>
        <p:nvSpPr>
          <p:cNvPr id="17" name="Text 5"/>
          <p:cNvSpPr/>
          <p:nvPr/>
        </p:nvSpPr>
        <p:spPr>
          <a:xfrm>
            <a:off x="4587240" y="2880360"/>
            <a:ext cx="3026664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在浏览器和靶场上亲手验口令复杂度、登录失败锁定、空闲超时与传输加密</a:t>
            </a:r>
            <a:endParaRPr lang="en-US" sz="1680" dirty="0"/>
          </a:p>
        </p:txBody>
      </p:sp>
      <p:pic>
        <p:nvPicPr>
          <p:cNvPr id="18" name="Image 10" descr="https://test.web.static.jianzeppt.com/ppt-temp-img3/b54f943523838155028f7744978a0f4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1981200"/>
            <a:ext cx="60960" cy="210312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198120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6280" y="2179320"/>
            <a:ext cx="548640" cy="548640"/>
          </a:xfrm>
          <a:prstGeom prst="rect">
            <a:avLst/>
          </a:prstGeom>
        </p:spPr>
      </p:pic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8200" y="2301240"/>
            <a:ext cx="304800" cy="304800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9037320" y="2209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640" dirty="0"/>
          </a:p>
        </p:txBody>
      </p:sp>
      <p:sp>
        <p:nvSpPr>
          <p:cNvPr id="23" name="Text 7"/>
          <p:cNvSpPr/>
          <p:nvPr/>
        </p:nvSpPr>
        <p:spPr>
          <a:xfrm>
            <a:off x="8336280" y="2880360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用改参数、换账号的办法把垂直越权和水平越权真正测出来</a:t>
            </a:r>
            <a:endParaRPr lang="en-US" sz="1800" dirty="0"/>
          </a:p>
        </p:txBody>
      </p:sp>
      <p:pic>
        <p:nvPicPr>
          <p:cNvPr id="24" name="Image 14" descr="https://test.web.static.jianzeppt.com/ppt-temp-img3/b58cc9b5b39f21e3f8a33ae0e3e999c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1981200"/>
            <a:ext cx="60960" cy="2103120"/>
          </a:xfrm>
          <a:prstGeom prst="rect">
            <a:avLst/>
          </a:prstGeom>
        </p:spPr>
      </p:pic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4312920"/>
            <a:ext cx="72390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4556760"/>
            <a:ext cx="548640" cy="548640"/>
          </a:xfrm>
          <a:prstGeom prst="rect">
            <a:avLst/>
          </a:prstGeom>
        </p:spPr>
      </p:pic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360" y="4678680"/>
            <a:ext cx="304800" cy="304800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1554480" y="45720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640" dirty="0"/>
          </a:p>
        </p:txBody>
      </p:sp>
      <p:sp>
        <p:nvSpPr>
          <p:cNvPr id="29" name="Text 9"/>
          <p:cNvSpPr/>
          <p:nvPr/>
        </p:nvSpPr>
        <p:spPr>
          <a:xfrm>
            <a:off x="853440" y="5288280"/>
            <a:ext cx="6760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 JSecProbe 录入实测结果、做四档判定，导出规范的测评记录表</a:t>
            </a:r>
            <a:endParaRPr lang="en-US" sz="1920" dirty="0"/>
          </a:p>
        </p:txBody>
      </p:sp>
      <p:pic>
        <p:nvPicPr>
          <p:cNvPr id="30" name="Image 18" descr="https://test.web.static.jianzeppt.com/ppt-temp-img3/c4608b05e2401283b56f9b9da0d3521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312920"/>
            <a:ext cx="60960" cy="2103120"/>
          </a:xfrm>
          <a:prstGeom prst="rect">
            <a:avLst/>
          </a:prstGeom>
        </p:spPr>
      </p:pic>
      <p:pic>
        <p:nvPicPr>
          <p:cNvPr id="31" name="Image 1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431292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6280" y="4556760"/>
            <a:ext cx="548640" cy="548640"/>
          </a:xfrm>
          <a:prstGeom prst="rect">
            <a:avLst/>
          </a:prstGeom>
        </p:spPr>
      </p:pic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8200" y="4678680"/>
            <a:ext cx="304800" cy="304800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9037320" y="45720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具备</a:t>
            </a:r>
            <a:endParaRPr lang="en-US" sz="2640" dirty="0"/>
          </a:p>
        </p:txBody>
      </p:sp>
      <p:sp>
        <p:nvSpPr>
          <p:cNvPr id="35" name="Text 11"/>
          <p:cNvSpPr/>
          <p:nvPr/>
        </p:nvSpPr>
        <p:spPr>
          <a:xfrm>
            <a:off x="8336280" y="5288280"/>
            <a:ext cx="3232785" cy="4425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对不合规项写出可执行的整改建议，说清"差在哪、怎么改"</a:t>
            </a:r>
            <a:endParaRPr lang="en-US" sz="1920" dirty="0"/>
          </a:p>
        </p:txBody>
      </p:sp>
      <p:pic>
        <p:nvPicPr>
          <p:cNvPr id="36" name="Image 22" descr="https://test.web.static.jianzeppt.com/ppt-temp-img3/09dbf9eaa46e5c6eb8473e988759a6dc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4312920"/>
            <a:ext cx="609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关键知识——三个维度怎么验</a:t>
            </a:r>
            <a:endParaRPr lang="en-US" sz="5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应用系统安全功能验证——在等保标准中的位置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24840" y="1691640"/>
            <a:ext cx="1098169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</a:t>
            </a:r>
            <a:r>
              <a:rPr lang="en-US" sz="20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安全技术要求 → 安全计算环境</a:t>
            </a:r>
            <a:endParaRPr lang="en-US" sz="2000" dirty="0">
              <a:solidFill>
                <a:srgbClr val="514D37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  <a:sym typeface="+mn-ea"/>
              </a:rPr>
              <a:t>应用系统属于安全计算环境的一部分，核心测评维度：</a:t>
            </a:r>
            <a:endParaRPr lang="en-US" sz="2000" dirty="0">
              <a:solidFill>
                <a:srgbClr val="514D37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63000"/>
              </a:lnSpc>
              <a:buNone/>
            </a:pPr>
            <a:endParaRPr lang="en-US" sz="2000" dirty="0">
              <a:solidFill>
                <a:srgbClr val="514D37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377440"/>
            <a:ext cx="10972800" cy="3322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4" descr="https://test.web.static.jianzeppt.com/ppt-temp-img3/38bb5d4f9f2a91ed51b886e115439c8a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583815"/>
            <a:ext cx="10942320" cy="101282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44880" y="2738120"/>
            <a:ext cx="591820" cy="4978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216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3581857"/>
            <a:ext cx="911809" cy="152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179320" y="277368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维度</a:t>
            </a:r>
            <a:endParaRPr lang="en-US" sz="216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36649" y="3581857"/>
            <a:ext cx="1823618" cy="152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038600" y="277368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标准要求节</a:t>
            </a:r>
            <a:endParaRPr lang="en-US" sz="216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60115" y="3581857"/>
            <a:ext cx="2735580" cy="152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138160" y="277368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核心关注点</a:t>
            </a:r>
            <a:endParaRPr lang="en-US" sz="216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5695" y="3581857"/>
            <a:ext cx="5471465" cy="15240"/>
          </a:xfrm>
          <a:prstGeom prst="rect">
            <a:avLst/>
          </a:prstGeom>
        </p:spPr>
      </p:pic>
      <p:pic>
        <p:nvPicPr>
          <p:cNvPr id="18" name="Image 9" descr="https://test.web.static.jianzeppt.com/ppt-temp-img3/a5548020548e1d48ca4682dd82412bf6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3581400"/>
            <a:ext cx="10942320" cy="68580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68680" y="373380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920" dirty="0"/>
          </a:p>
        </p:txBody>
      </p:sp>
      <p:sp>
        <p:nvSpPr>
          <p:cNvPr id="20" name="Text 8"/>
          <p:cNvSpPr/>
          <p:nvPr/>
        </p:nvSpPr>
        <p:spPr>
          <a:xfrm>
            <a:off x="1783080" y="373380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</a:t>
            </a:r>
            <a:endParaRPr lang="en-US" sz="1920" dirty="0"/>
          </a:p>
        </p:txBody>
      </p:sp>
      <p:sp>
        <p:nvSpPr>
          <p:cNvPr id="21" name="Text 9"/>
          <p:cNvSpPr/>
          <p:nvPr/>
        </p:nvSpPr>
        <p:spPr>
          <a:xfrm>
            <a:off x="3596640" y="373380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8.1.4.1</a:t>
            </a:r>
            <a:endParaRPr lang="en-US" sz="1920" dirty="0"/>
          </a:p>
        </p:txBody>
      </p:sp>
      <p:sp>
        <p:nvSpPr>
          <p:cNvPr id="22" name="Text 10"/>
          <p:cNvSpPr/>
          <p:nvPr/>
        </p:nvSpPr>
        <p:spPr>
          <a:xfrm>
            <a:off x="6339840" y="373380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用户身份认证是否可靠</a:t>
            </a:r>
            <a:endParaRPr lang="en-US" sz="192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4267657"/>
            <a:ext cx="10942320" cy="15240"/>
          </a:xfrm>
          <a:prstGeom prst="rect">
            <a:avLst/>
          </a:prstGeom>
        </p:spPr>
      </p:pic>
      <p:pic>
        <p:nvPicPr>
          <p:cNvPr id="24" name="Image 11" descr="https://test.web.static.jianzeppt.com/ppt-temp-img3/a5548020548e1d48ca4682dd82412bf6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4267200"/>
            <a:ext cx="10942320" cy="68580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868680" y="441960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920" dirty="0"/>
          </a:p>
        </p:txBody>
      </p:sp>
      <p:sp>
        <p:nvSpPr>
          <p:cNvPr id="26" name="Text 12"/>
          <p:cNvSpPr/>
          <p:nvPr/>
        </p:nvSpPr>
        <p:spPr>
          <a:xfrm>
            <a:off x="1783080" y="441960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</a:t>
            </a:r>
            <a:endParaRPr lang="en-US" sz="1920" dirty="0"/>
          </a:p>
        </p:txBody>
      </p:sp>
      <p:sp>
        <p:nvSpPr>
          <p:cNvPr id="27" name="Text 13"/>
          <p:cNvSpPr/>
          <p:nvPr/>
        </p:nvSpPr>
        <p:spPr>
          <a:xfrm>
            <a:off x="3596640" y="441960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8.1.4.2</a:t>
            </a:r>
            <a:endParaRPr lang="en-US" sz="1920" dirty="0"/>
          </a:p>
        </p:txBody>
      </p:sp>
      <p:sp>
        <p:nvSpPr>
          <p:cNvPr id="28" name="Text 14"/>
          <p:cNvSpPr/>
          <p:nvPr/>
        </p:nvSpPr>
        <p:spPr>
          <a:xfrm>
            <a:off x="6339840" y="441960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用户权限管理是否严格</a:t>
            </a:r>
            <a:endParaRPr lang="en-US" sz="192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4953457"/>
            <a:ext cx="10942320" cy="15240"/>
          </a:xfrm>
          <a:prstGeom prst="rect">
            <a:avLst/>
          </a:prstGeom>
        </p:spPr>
      </p:pic>
      <p:pic>
        <p:nvPicPr>
          <p:cNvPr id="30" name="Image 13" descr="https://test.web.static.jianzeppt.com/ppt-temp-img3/f6af37134257d5c5d4c1a25c75a84736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" y="4953000"/>
            <a:ext cx="10942320" cy="685800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868680" y="510540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920" dirty="0"/>
          </a:p>
        </p:txBody>
      </p:sp>
      <p:sp>
        <p:nvSpPr>
          <p:cNvPr id="32" name="Text 16"/>
          <p:cNvSpPr/>
          <p:nvPr/>
        </p:nvSpPr>
        <p:spPr>
          <a:xfrm>
            <a:off x="1783080" y="510540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</a:t>
            </a:r>
            <a:endParaRPr lang="en-US" sz="1920" dirty="0"/>
          </a:p>
        </p:txBody>
      </p:sp>
      <p:sp>
        <p:nvSpPr>
          <p:cNvPr id="33" name="Text 17"/>
          <p:cNvSpPr/>
          <p:nvPr/>
        </p:nvSpPr>
        <p:spPr>
          <a:xfrm>
            <a:off x="3596640" y="510540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8.1.4.3</a:t>
            </a:r>
            <a:endParaRPr lang="en-US" sz="1920" dirty="0"/>
          </a:p>
        </p:txBody>
      </p:sp>
      <p:sp>
        <p:nvSpPr>
          <p:cNvPr id="34" name="Text 18"/>
          <p:cNvSpPr/>
          <p:nvPr/>
        </p:nvSpPr>
        <p:spPr>
          <a:xfrm>
            <a:off x="6339840" y="510540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操作日志记录是否完整</a:t>
            </a:r>
            <a:endParaRPr lang="en-US" sz="1920" dirty="0"/>
          </a:p>
        </p:txBody>
      </p:sp>
      <p:pic>
        <p:nvPicPr>
          <p:cNvPr id="35" name="Image 14" descr="https://test.web.static.jianzeppt.com/ppt-temp-img3/ce89a7b2cc68c8aa6c02a85b100ee7c5.png?x-oss-process=image/resize,w_1440,h_800,m_lfit/format,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" y="5639257"/>
            <a:ext cx="10942320" cy="15240"/>
          </a:xfrm>
          <a:prstGeom prst="rect">
            <a:avLst/>
          </a:prstGeom>
        </p:spPr>
      </p:pic>
      <p:pic>
        <p:nvPicPr>
          <p:cNvPr id="36" name="Image 15" descr="https://test.web.static.jianzeppt.com/ppt-temp-img3/b66a29c42fd7dfd8bac9ae61de5ae372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" y="5638800"/>
            <a:ext cx="10942320" cy="685800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868680" y="579120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4</a:t>
            </a:r>
            <a:endParaRPr lang="en-US" sz="1920" dirty="0"/>
          </a:p>
        </p:txBody>
      </p:sp>
      <p:sp>
        <p:nvSpPr>
          <p:cNvPr id="38" name="Text 20"/>
          <p:cNvSpPr/>
          <p:nvPr/>
        </p:nvSpPr>
        <p:spPr>
          <a:xfrm>
            <a:off x="1783080" y="579120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数据完整性</a:t>
            </a:r>
            <a:endParaRPr lang="en-US" sz="1920" dirty="0"/>
          </a:p>
        </p:txBody>
      </p:sp>
      <p:sp>
        <p:nvSpPr>
          <p:cNvPr id="39" name="Text 21"/>
          <p:cNvSpPr/>
          <p:nvPr/>
        </p:nvSpPr>
        <p:spPr>
          <a:xfrm>
            <a:off x="3596640" y="579120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8.1.4.7</a:t>
            </a:r>
            <a:endParaRPr lang="en-US" sz="1920" dirty="0"/>
          </a:p>
        </p:txBody>
      </p:sp>
      <p:sp>
        <p:nvSpPr>
          <p:cNvPr id="40" name="Text 22"/>
          <p:cNvSpPr/>
          <p:nvPr/>
        </p:nvSpPr>
        <p:spPr>
          <a:xfrm>
            <a:off x="6339840" y="579120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重要数据是否被篡改</a:t>
            </a:r>
            <a:endParaRPr lang="en-US" sz="1920" dirty="0"/>
          </a:p>
        </p:txBody>
      </p:sp>
      <p:grpSp>
        <p:nvGrpSpPr>
          <p:cNvPr id="44" name="组合 43"/>
          <p:cNvGrpSpPr/>
          <p:nvPr/>
        </p:nvGrpSpPr>
        <p:grpSpPr>
          <a:xfrm>
            <a:off x="1536700" y="1034415"/>
            <a:ext cx="7292340" cy="474345"/>
            <a:chOff x="2640" y="9384"/>
            <a:chExt cx="13944" cy="1104"/>
          </a:xfrm>
        </p:grpSpPr>
        <p:pic>
          <p:nvPicPr>
            <p:cNvPr id="41" name="Image 16" descr="preencoded.png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640" y="9384"/>
              <a:ext cx="13944" cy="1104"/>
            </a:xfrm>
            <a:prstGeom prst="rect">
              <a:avLst/>
            </a:prstGeom>
            <a:effectLst>
              <a:outerShdw blurRad="1161288000" dist="774192000" dir="-1" algn="bl" rotWithShape="0">
                <a:srgbClr val="000000">
                  <a:alpha val="1000000000"/>
                </a:srgbClr>
              </a:outerShdw>
            </a:effectLst>
          </p:spPr>
        </p:pic>
        <p:pic>
          <p:nvPicPr>
            <p:cNvPr id="42" name="Image 17" descr="https://test.web.static.jianzeppt.com/ppt-temp-img3/d778744b35549414fd29c8dbc5768202.png?x-oss-process=image/resize,w_1440,h_800,m_lfit/format,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216" y="9648"/>
              <a:ext cx="576" cy="576"/>
            </a:xfrm>
            <a:prstGeom prst="rect">
              <a:avLst/>
            </a:prstGeom>
          </p:spPr>
        </p:pic>
        <p:sp>
          <p:nvSpPr>
            <p:cNvPr id="43" name="Text 23"/>
            <p:cNvSpPr/>
            <p:nvPr/>
          </p:nvSpPr>
          <p:spPr>
            <a:xfrm>
              <a:off x="3984" y="9576"/>
              <a:ext cx="12038" cy="69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本节课重点：身份鉴别 + 访问控制 + 安全审计（占90%）</a:t>
              </a:r>
              <a:endParaRPr lang="en-US" sz="20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身份鉴别测评——核心检查项</a:t>
            </a:r>
            <a:endParaRPr lang="en-US" sz="2760" dirty="0"/>
          </a:p>
        </p:txBody>
      </p:sp>
      <p:pic>
        <p:nvPicPr>
          <p:cNvPr id="6" name="Image 3" descr="https://test.web.static.jianzeppt.com/ppt-temp-img3/f4f4948a1a6271336cb0522859b5403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73152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417320" y="1508760"/>
            <a:ext cx="461162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身份鉴别的目标是：</a:t>
            </a:r>
            <a:r>
              <a:rPr lang="en-US" sz="24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验证“你是谁”</a:t>
            </a:r>
            <a:endParaRPr lang="en-US" sz="216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286000"/>
            <a:ext cx="10972800" cy="419925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0" name="Image 6" descr="https://test.web.static.jianzeppt.com/ppt-temp-img3/bff281e3062848ee529be9808407214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2301240"/>
            <a:ext cx="10942320" cy="57912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868680" y="2423160"/>
            <a:ext cx="10463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635F4B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8.1.4.1 身份鉴别要求：</a:t>
            </a:r>
            <a:endParaRPr lang="en-US" sz="168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624840" y="2758440"/>
            <a:ext cx="10942320" cy="3596640"/>
            <a:chOff x="984" y="4536"/>
            <a:chExt cx="17232" cy="5664"/>
          </a:xfrm>
        </p:grpSpPr>
        <p:pic>
          <p:nvPicPr>
            <p:cNvPr id="12" name="Image 7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4536"/>
              <a:ext cx="17232" cy="24"/>
            </a:xfrm>
            <a:prstGeom prst="rect">
              <a:avLst/>
            </a:prstGeom>
          </p:spPr>
        </p:pic>
        <p:pic>
          <p:nvPicPr>
            <p:cNvPr id="13" name="Image 8" descr="preencoded.png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4" y="4536"/>
              <a:ext cx="17232" cy="960"/>
            </a:xfrm>
            <a:prstGeom prst="rect">
              <a:avLst/>
            </a:prstGeom>
          </p:spPr>
        </p:pic>
        <p:sp>
          <p:nvSpPr>
            <p:cNvPr id="14" name="Text 3"/>
            <p:cNvSpPr/>
            <p:nvPr/>
          </p:nvSpPr>
          <p:spPr>
            <a:xfrm>
              <a:off x="1272" y="4728"/>
              <a:ext cx="772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序号</a:t>
              </a:r>
              <a:endParaRPr lang="en-US" sz="1920" dirty="0"/>
            </a:p>
          </p:txBody>
        </p:sp>
        <p:sp>
          <p:nvSpPr>
            <p:cNvPr id="15" name="Text 4"/>
            <p:cNvSpPr/>
            <p:nvPr/>
          </p:nvSpPr>
          <p:spPr>
            <a:xfrm>
              <a:off x="2640" y="4728"/>
              <a:ext cx="1158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检查项</a:t>
              </a:r>
              <a:endParaRPr lang="en-US" sz="1920" dirty="0"/>
            </a:p>
          </p:txBody>
        </p:sp>
        <p:sp>
          <p:nvSpPr>
            <p:cNvPr id="16" name="Text 5"/>
            <p:cNvSpPr/>
            <p:nvPr/>
          </p:nvSpPr>
          <p:spPr>
            <a:xfrm>
              <a:off x="6096" y="4728"/>
              <a:ext cx="772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</a:t>
              </a:r>
              <a:endParaRPr lang="en-US" sz="1920" dirty="0"/>
            </a:p>
          </p:txBody>
        </p:sp>
        <p:sp>
          <p:nvSpPr>
            <p:cNvPr id="17" name="Text 6"/>
            <p:cNvSpPr/>
            <p:nvPr/>
          </p:nvSpPr>
          <p:spPr>
            <a:xfrm>
              <a:off x="13848" y="4728"/>
              <a:ext cx="1544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测评方法</a:t>
              </a:r>
              <a:endParaRPr lang="en-US" sz="1920" dirty="0"/>
            </a:p>
          </p:txBody>
        </p:sp>
        <p:sp>
          <p:nvSpPr>
            <p:cNvPr id="18" name="Text 7"/>
            <p:cNvSpPr/>
            <p:nvPr/>
          </p:nvSpPr>
          <p:spPr>
            <a:xfrm>
              <a:off x="1272" y="5688"/>
              <a:ext cx="830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a)</a:t>
              </a:r>
              <a:endParaRPr lang="en-US" sz="1680" dirty="0"/>
            </a:p>
          </p:txBody>
        </p:sp>
        <p:sp>
          <p:nvSpPr>
            <p:cNvPr id="19" name="Text 8"/>
            <p:cNvSpPr/>
            <p:nvPr/>
          </p:nvSpPr>
          <p:spPr>
            <a:xfrm>
              <a:off x="2640" y="5688"/>
              <a:ext cx="28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身份唯一性</a:t>
              </a:r>
              <a:endParaRPr lang="en-US" sz="1680" dirty="0"/>
            </a:p>
          </p:txBody>
        </p:sp>
        <p:sp>
          <p:nvSpPr>
            <p:cNvPr id="20" name="Text 9"/>
            <p:cNvSpPr/>
            <p:nvPr/>
          </p:nvSpPr>
          <p:spPr>
            <a:xfrm>
              <a:off x="6096" y="5750"/>
              <a:ext cx="7214" cy="8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每个用户应有唯一标识，鉴别信息具复杂度并定期更换</a:t>
              </a:r>
              <a:endParaRPr lang="en-US" sz="1680" dirty="0"/>
            </a:p>
          </p:txBody>
        </p:sp>
        <p:sp>
          <p:nvSpPr>
            <p:cNvPr id="21" name="Text 10"/>
            <p:cNvSpPr/>
            <p:nvPr/>
          </p:nvSpPr>
          <p:spPr>
            <a:xfrm>
              <a:off x="13848" y="5688"/>
              <a:ext cx="40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看管理界面 + 查密码策略</a:t>
              </a:r>
              <a:endParaRPr lang="en-US" sz="1680" dirty="0"/>
            </a:p>
          </p:txBody>
        </p:sp>
        <p:pic>
          <p:nvPicPr>
            <p:cNvPr id="22" name="Image 9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6816"/>
              <a:ext cx="17232" cy="24"/>
            </a:xfrm>
            <a:prstGeom prst="rect">
              <a:avLst/>
            </a:prstGeom>
          </p:spPr>
        </p:pic>
        <p:pic>
          <p:nvPicPr>
            <p:cNvPr id="23" name="Image 10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84" y="6816"/>
              <a:ext cx="17232" cy="1344"/>
            </a:xfrm>
            <a:prstGeom prst="rect">
              <a:avLst/>
            </a:prstGeom>
          </p:spPr>
        </p:pic>
        <p:sp>
          <p:nvSpPr>
            <p:cNvPr id="24" name="Text 11"/>
            <p:cNvSpPr/>
            <p:nvPr/>
          </p:nvSpPr>
          <p:spPr>
            <a:xfrm>
              <a:off x="1272" y="7008"/>
              <a:ext cx="830" cy="9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b)</a:t>
              </a:r>
              <a:endParaRPr lang="en-US" sz="1680" dirty="0"/>
            </a:p>
          </p:txBody>
        </p:sp>
        <p:sp>
          <p:nvSpPr>
            <p:cNvPr id="25" name="Text 12"/>
            <p:cNvSpPr/>
            <p:nvPr/>
          </p:nvSpPr>
          <p:spPr>
            <a:xfrm>
              <a:off x="2640" y="7008"/>
              <a:ext cx="2894" cy="9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登录失败处理</a:t>
              </a:r>
              <a:endParaRPr lang="en-US" sz="1680" dirty="0"/>
            </a:p>
          </p:txBody>
        </p:sp>
        <p:sp>
          <p:nvSpPr>
            <p:cNvPr id="26" name="Text 13"/>
            <p:cNvSpPr/>
            <p:nvPr/>
          </p:nvSpPr>
          <p:spPr>
            <a:xfrm>
              <a:off x="6096" y="7070"/>
              <a:ext cx="7214" cy="8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配置结束会话、限非法登录次数、连接超时自动退出</a:t>
              </a:r>
              <a:endParaRPr lang="en-US" sz="1680" dirty="0"/>
            </a:p>
          </p:txBody>
        </p:sp>
        <p:sp>
          <p:nvSpPr>
            <p:cNvPr id="27" name="Text 14"/>
            <p:cNvSpPr/>
            <p:nvPr/>
          </p:nvSpPr>
          <p:spPr>
            <a:xfrm>
              <a:off x="13848" y="7008"/>
              <a:ext cx="4094" cy="9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模拟连续错误登录测试</a:t>
              </a:r>
              <a:endParaRPr lang="en-US" sz="1680" dirty="0"/>
            </a:p>
          </p:txBody>
        </p:sp>
        <p:pic>
          <p:nvPicPr>
            <p:cNvPr id="28" name="Image 11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8148"/>
              <a:ext cx="17232" cy="24"/>
            </a:xfrm>
            <a:prstGeom prst="rect">
              <a:avLst/>
            </a:prstGeom>
          </p:spPr>
        </p:pic>
        <p:sp>
          <p:nvSpPr>
            <p:cNvPr id="29" name="Text 15"/>
            <p:cNvSpPr/>
            <p:nvPr/>
          </p:nvSpPr>
          <p:spPr>
            <a:xfrm>
              <a:off x="1272" y="8352"/>
              <a:ext cx="306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c)</a:t>
              </a:r>
              <a:endParaRPr lang="en-US" sz="1680" dirty="0"/>
            </a:p>
          </p:txBody>
        </p:sp>
        <p:sp>
          <p:nvSpPr>
            <p:cNvPr id="30" name="Text 16"/>
            <p:cNvSpPr/>
            <p:nvPr/>
          </p:nvSpPr>
          <p:spPr>
            <a:xfrm>
              <a:off x="2640" y="8352"/>
              <a:ext cx="2028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远程管理安全</a:t>
              </a:r>
              <a:endParaRPr lang="en-US" sz="1680" dirty="0"/>
            </a:p>
          </p:txBody>
        </p:sp>
        <p:sp>
          <p:nvSpPr>
            <p:cNvPr id="31" name="Text 17"/>
            <p:cNvSpPr/>
            <p:nvPr/>
          </p:nvSpPr>
          <p:spPr>
            <a:xfrm>
              <a:off x="6096" y="8352"/>
              <a:ext cx="6720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远程管理时，鉴别信息不应在网络中明文传输</a:t>
              </a:r>
              <a:endParaRPr lang="en-US" sz="1680" dirty="0"/>
            </a:p>
          </p:txBody>
        </p:sp>
        <p:sp>
          <p:nvSpPr>
            <p:cNvPr id="32" name="Text 18"/>
            <p:cNvSpPr/>
            <p:nvPr/>
          </p:nvSpPr>
          <p:spPr>
            <a:xfrm>
              <a:off x="13848" y="8352"/>
              <a:ext cx="2970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抓包分析 / 查看协议</a:t>
              </a:r>
              <a:endParaRPr lang="en-US" sz="1680" dirty="0"/>
            </a:p>
          </p:txBody>
        </p:sp>
        <p:pic>
          <p:nvPicPr>
            <p:cNvPr id="33" name="Image 12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9060"/>
              <a:ext cx="17232" cy="24"/>
            </a:xfrm>
            <a:prstGeom prst="rect">
              <a:avLst/>
            </a:prstGeom>
          </p:spPr>
        </p:pic>
        <p:sp>
          <p:nvSpPr>
            <p:cNvPr id="34" name="Text 19"/>
            <p:cNvSpPr/>
            <p:nvPr/>
          </p:nvSpPr>
          <p:spPr>
            <a:xfrm>
              <a:off x="1272" y="9264"/>
              <a:ext cx="830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d)</a:t>
              </a:r>
              <a:endParaRPr lang="en-US" sz="1680" dirty="0"/>
            </a:p>
          </p:txBody>
        </p:sp>
        <p:sp>
          <p:nvSpPr>
            <p:cNvPr id="35" name="Text 20"/>
            <p:cNvSpPr/>
            <p:nvPr/>
          </p:nvSpPr>
          <p:spPr>
            <a:xfrm>
              <a:off x="2640" y="9264"/>
              <a:ext cx="28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多因素认证</a:t>
              </a:r>
              <a:endParaRPr lang="en-US" sz="1680" dirty="0"/>
            </a:p>
          </p:txBody>
        </p:sp>
        <p:sp>
          <p:nvSpPr>
            <p:cNvPr id="36" name="Text 21"/>
            <p:cNvSpPr/>
            <p:nvPr/>
          </p:nvSpPr>
          <p:spPr>
            <a:xfrm>
              <a:off x="6096" y="9326"/>
              <a:ext cx="7214" cy="8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采用口令、密码技术、生物技术等组合（三级及以上）</a:t>
              </a:r>
              <a:endParaRPr lang="en-US" sz="1680" dirty="0"/>
            </a:p>
          </p:txBody>
        </p:sp>
        <p:sp>
          <p:nvSpPr>
            <p:cNvPr id="37" name="Text 22"/>
            <p:cNvSpPr/>
            <p:nvPr/>
          </p:nvSpPr>
          <p:spPr>
            <a:xfrm>
              <a:off x="13848" y="9264"/>
              <a:ext cx="40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查看认证配置</a:t>
              </a:r>
              <a:endParaRPr lang="en-US" sz="168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①——口令复杂度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25880"/>
            <a:ext cx="9144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22960" y="1219200"/>
            <a:ext cx="49164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37331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检查项a：密码复杂度与更换周期</a:t>
            </a:r>
            <a:endParaRPr lang="en-US" sz="2640" dirty="0"/>
          </a:p>
        </p:txBody>
      </p:sp>
      <p:pic>
        <p:nvPicPr>
          <p:cNvPr id="8" name="Image 4" descr="https://test.web.static.jianzeppt.com/ppt-temp-img3/fc27d17f9a463aaef26cdbd9e6bb74c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65960"/>
            <a:ext cx="3307080" cy="448754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3581400"/>
            <a:ext cx="91440" cy="914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21080" y="3459480"/>
            <a:ext cx="217322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密码最小长度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≥8位</a:t>
            </a:r>
            <a:endParaRPr lang="en-US" sz="192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4038600"/>
            <a:ext cx="91440" cy="9144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21080" y="3916680"/>
            <a:ext cx="2706624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含大小写字母、数字、特殊字符中的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至少3类</a:t>
            </a:r>
            <a:endParaRPr lang="en-US" sz="192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4800600"/>
            <a:ext cx="91440" cy="914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021080" y="4678680"/>
            <a:ext cx="206654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密码有效期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≤90天</a:t>
            </a:r>
            <a:endParaRPr lang="en-US" sz="192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5257800"/>
            <a:ext cx="91440" cy="9144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021080" y="5135880"/>
            <a:ext cx="209702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禁止</a:t>
            </a: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使用前5次密码</a:t>
            </a:r>
            <a:endParaRPr lang="en-US" sz="192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1981200"/>
            <a:ext cx="1356360" cy="48768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807720" y="20421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</a:t>
            </a:r>
            <a:endParaRPr lang="en-US" sz="192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84320" y="1965960"/>
            <a:ext cx="4023360" cy="450723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2834640"/>
            <a:ext cx="304800" cy="30480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373880" y="288036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1</a:t>
            </a:r>
            <a:endParaRPr lang="en-US" sz="144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09160" y="2804160"/>
            <a:ext cx="3200400" cy="80772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4846320" y="2926080"/>
            <a:ext cx="295046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尝试: "123456"</a:t>
            </a:r>
            <a:r>
              <a:rPr lang="en-US" sz="1560" b="1" dirty="0">
                <a:solidFill>
                  <a:srgbClr val="2274D9"/>
                </a:solidFill>
              </a:rPr>
              <a:t>➔ 预期：被拒绝</a:t>
            </a:r>
            <a:endParaRPr lang="en-US" sz="168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3764280"/>
            <a:ext cx="304800" cy="30480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4373880" y="381000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2</a:t>
            </a:r>
            <a:endParaRPr lang="en-US" sz="144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09160" y="3733800"/>
            <a:ext cx="3200400" cy="80772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4846320" y="3724275"/>
            <a:ext cx="295046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尝试: "Password123"</a:t>
            </a:r>
            <a:r>
              <a:rPr lang="en-US" sz="1560" b="1" dirty="0">
                <a:solidFill>
                  <a:srgbClr val="2274D9"/>
                </a:solidFill>
              </a:rPr>
              <a:t>➔ 预期：被拒绝(缺特殊字符)</a:t>
            </a:r>
            <a:endParaRPr lang="en-US" sz="168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4678680"/>
            <a:ext cx="304800" cy="30480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4373880" y="472440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3</a:t>
            </a:r>
            <a:endParaRPr lang="en-US" sz="144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09160" y="4648200"/>
            <a:ext cx="3200400" cy="80772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4846320" y="4770120"/>
            <a:ext cx="295046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尝试: "P@ssw0rd123"</a:t>
            </a:r>
            <a:r>
              <a:rPr lang="en-US" sz="1560" b="1" dirty="0">
                <a:solidFill>
                  <a:srgbClr val="A3164E"/>
                </a:solidFill>
              </a:rPr>
              <a:t>➔ 预期：通过</a:t>
            </a:r>
            <a:endParaRPr lang="en-US" sz="168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5669280"/>
            <a:ext cx="304800" cy="30480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4373880" y="571500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4</a:t>
            </a:r>
            <a:endParaRPr lang="en-US" sz="144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09160" y="5577840"/>
            <a:ext cx="3200400" cy="518160"/>
          </a:xfrm>
          <a:prstGeom prst="rect">
            <a:avLst/>
          </a:prstGeom>
        </p:spPr>
      </p:pic>
      <p:sp>
        <p:nvSpPr>
          <p:cNvPr id="35" name="Text 14"/>
          <p:cNvSpPr/>
          <p:nvPr/>
        </p:nvSpPr>
        <p:spPr>
          <a:xfrm>
            <a:off x="4846320" y="5699760"/>
            <a:ext cx="19293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确认密码有效期设置</a:t>
            </a:r>
            <a:endParaRPr lang="en-US" sz="168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03520" y="1981200"/>
            <a:ext cx="1600200" cy="487680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5608320" y="20421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</a:t>
            </a:r>
            <a:endParaRPr lang="en-US" sz="192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90560" y="1965960"/>
            <a:ext cx="3307080" cy="450723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88680" y="3291840"/>
            <a:ext cx="2910840" cy="624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16"/>
          <p:cNvSpPr/>
          <p:nvPr/>
        </p:nvSpPr>
        <p:spPr>
          <a:xfrm>
            <a:off x="8625840" y="345948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2C819B"/>
                </a:solidFill>
              </a:rPr>
              <a:t>❌</a:t>
            </a:r>
            <a:endParaRPr lang="en-US" sz="1680" dirty="0"/>
          </a:p>
        </p:txBody>
      </p:sp>
      <p:sp>
        <p:nvSpPr>
          <p:cNvPr id="41" name="Text 17"/>
          <p:cNvSpPr/>
          <p:nvPr/>
        </p:nvSpPr>
        <p:spPr>
          <a:xfrm>
            <a:off x="8839200" y="3429000"/>
            <a:ext cx="1853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密码复杂度未强制</a:t>
            </a:r>
            <a:endParaRPr lang="en-US" sz="1800" dirty="0"/>
          </a:p>
        </p:txBody>
      </p: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88680" y="4099560"/>
            <a:ext cx="2910840" cy="624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3" name="Text 18"/>
          <p:cNvSpPr/>
          <p:nvPr/>
        </p:nvSpPr>
        <p:spPr>
          <a:xfrm>
            <a:off x="8625840" y="426720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2C819B"/>
                </a:solidFill>
              </a:rPr>
              <a:t>❌</a:t>
            </a:r>
            <a:endParaRPr lang="en-US" sz="1680" dirty="0"/>
          </a:p>
        </p:txBody>
      </p:sp>
      <p:sp>
        <p:nvSpPr>
          <p:cNvPr id="44" name="Text 19"/>
          <p:cNvSpPr/>
          <p:nvPr/>
        </p:nvSpPr>
        <p:spPr>
          <a:xfrm>
            <a:off x="8839200" y="4236720"/>
            <a:ext cx="1395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密码永不过期</a:t>
            </a:r>
            <a:endParaRPr lang="en-US" sz="1800" dirty="0"/>
          </a:p>
        </p:txBody>
      </p:sp>
      <p:pic>
        <p:nvPicPr>
          <p:cNvPr id="45" name="Image 23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88680" y="4907280"/>
            <a:ext cx="2910840" cy="624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6" name="Text 20"/>
          <p:cNvSpPr/>
          <p:nvPr/>
        </p:nvSpPr>
        <p:spPr>
          <a:xfrm>
            <a:off x="8625840" y="507492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2C819B"/>
                </a:solidFill>
              </a:rPr>
              <a:t>❌</a:t>
            </a:r>
            <a:endParaRPr lang="en-US" sz="1680" dirty="0"/>
          </a:p>
        </p:txBody>
      </p:sp>
      <p:sp>
        <p:nvSpPr>
          <p:cNvPr id="47" name="Text 21"/>
          <p:cNvSpPr/>
          <p:nvPr/>
        </p:nvSpPr>
        <p:spPr>
          <a:xfrm>
            <a:off x="8839200" y="504444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未禁止重复使用旧密码</a:t>
            </a:r>
            <a:endParaRPr lang="en-US" sz="1800" dirty="0"/>
          </a:p>
        </p:txBody>
      </p:sp>
      <p:grpSp>
        <p:nvGrpSpPr>
          <p:cNvPr id="50" name="组合 49"/>
          <p:cNvGrpSpPr/>
          <p:nvPr/>
        </p:nvGrpSpPr>
        <p:grpSpPr>
          <a:xfrm>
            <a:off x="10226040" y="1981200"/>
            <a:ext cx="1356360" cy="487680"/>
            <a:chOff x="15816" y="2832"/>
            <a:chExt cx="2136" cy="768"/>
          </a:xfrm>
        </p:grpSpPr>
        <p:pic>
          <p:nvPicPr>
            <p:cNvPr id="48" name="Image 24" descr="preencoded.png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5816" y="2832"/>
              <a:ext cx="2136" cy="76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49" name="Text 22"/>
            <p:cNvSpPr/>
            <p:nvPr/>
          </p:nvSpPr>
          <p:spPr>
            <a:xfrm>
              <a:off x="16104" y="2928"/>
              <a:ext cx="1574" cy="5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1920" dirty="0"/>
            </a:p>
          </p:txBody>
        </p:sp>
      </p:grpSp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36860" y="65913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showAsIcon="1" r:id="rId29" imgW="971550" imgH="666750" progId="Word.Document.12">
                  <p:embed/>
                </p:oleObj>
              </mc:Choice>
              <mc:Fallback>
                <p:oleObj name="" showAsIcon="1" r:id="rId29" imgW="971550" imgH="666750" progId="Word.Document.12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436860" y="65913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②——登录失败与会话超时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3261360" cy="12801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284378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检查项b：登录失败处理</a:t>
            </a:r>
            <a:endParaRPr lang="en-US" sz="2400" dirty="0"/>
          </a:p>
        </p:txBody>
      </p:sp>
      <p:pic>
        <p:nvPicPr>
          <p:cNvPr id="8" name="Image 4" descr="https://test.web.static.jianzeppt.com/ppt-temp-img3/189cf43180bb52ef911b42f46728675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34640"/>
            <a:ext cx="3261360" cy="371856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3093720"/>
            <a:ext cx="426720" cy="42672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4880" y="3185160"/>
            <a:ext cx="243840" cy="243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402080" y="30784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合格标准：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853440" y="368808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•</a:t>
            </a:r>
            <a:endParaRPr lang="en-US" sz="1920" dirty="0"/>
          </a:p>
        </p:txBody>
      </p:sp>
      <p:sp>
        <p:nvSpPr>
          <p:cNvPr id="13" name="Text 4"/>
          <p:cNvSpPr/>
          <p:nvPr/>
        </p:nvSpPr>
        <p:spPr>
          <a:xfrm>
            <a:off x="1219200" y="3611880"/>
            <a:ext cx="241706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连续失败</a:t>
            </a: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5次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锁定（或限制）</a:t>
            </a:r>
            <a:endParaRPr lang="en-US" sz="1920" dirty="0"/>
          </a:p>
        </p:txBody>
      </p:sp>
      <p:sp>
        <p:nvSpPr>
          <p:cNvPr id="14" name="Text 5"/>
          <p:cNvSpPr/>
          <p:nvPr/>
        </p:nvSpPr>
        <p:spPr>
          <a:xfrm>
            <a:off x="853440" y="454152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•</a:t>
            </a:r>
            <a:endParaRPr lang="en-US" sz="1920" dirty="0"/>
          </a:p>
        </p:txBody>
      </p:sp>
      <p:sp>
        <p:nvSpPr>
          <p:cNvPr id="15" name="Text 6"/>
          <p:cNvSpPr/>
          <p:nvPr/>
        </p:nvSpPr>
        <p:spPr>
          <a:xfrm>
            <a:off x="1219200" y="4465320"/>
            <a:ext cx="2417064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锁定时间≥</a:t>
            </a: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15分钟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（或需解锁）</a:t>
            </a:r>
            <a:endParaRPr lang="en-US" sz="1920" dirty="0"/>
          </a:p>
        </p:txBody>
      </p:sp>
      <p:sp>
        <p:nvSpPr>
          <p:cNvPr id="16" name="Text 7"/>
          <p:cNvSpPr/>
          <p:nvPr/>
        </p:nvSpPr>
        <p:spPr>
          <a:xfrm>
            <a:off x="853440" y="550164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•</a:t>
            </a:r>
            <a:endParaRPr lang="en-US" sz="1920" dirty="0"/>
          </a:p>
        </p:txBody>
      </p:sp>
      <p:sp>
        <p:nvSpPr>
          <p:cNvPr id="17" name="Text 8"/>
          <p:cNvSpPr/>
          <p:nvPr/>
        </p:nvSpPr>
        <p:spPr>
          <a:xfrm>
            <a:off x="1219200" y="5425440"/>
            <a:ext cx="2417064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空闲超时≤</a:t>
            </a: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15分钟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自动退出</a:t>
            </a:r>
            <a:endParaRPr lang="en-US" sz="192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99560" y="1371600"/>
            <a:ext cx="4069080" cy="5106670"/>
          </a:xfrm>
          <a:prstGeom prst="rect">
            <a:avLst/>
          </a:prstGeom>
          <a:effectLst>
            <a:outerShdw blurRad="1548384000" dist="387096000" dir="-1" algn="bl" rotWithShape="0">
              <a:srgbClr val="D95C22">
                <a:alpha val="800000000"/>
              </a:srgbClr>
            </a:outerShdw>
          </a:effectLst>
        </p:spPr>
      </p:pic>
      <p:pic>
        <p:nvPicPr>
          <p:cNvPr id="19" name="Image 8" descr="https://test.web.static.jianzeppt.com/ppt-temp-img3/f3cd619c0fcfc9faf6c26d4e8bc4fe8a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8640" y="1645920"/>
            <a:ext cx="426720" cy="42672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0080" y="1737360"/>
            <a:ext cx="243840" cy="2438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907280" y="16306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验证方法：</a:t>
            </a:r>
            <a:endParaRPr lang="en-US" sz="24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8640" y="2636520"/>
            <a:ext cx="3550920" cy="59436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511040" y="2788920"/>
            <a:ext cx="325526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步骤：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连续输入错误密码5次</a:t>
            </a:r>
            <a:endParaRPr lang="en-US" sz="18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58640" y="3352800"/>
            <a:ext cx="3550920" cy="88392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4511040" y="3505200"/>
            <a:ext cx="3255264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预期：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账户锁定或提示15分钟后重试</a:t>
            </a:r>
            <a:endParaRPr lang="en-US" sz="18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8640" y="4343400"/>
            <a:ext cx="3550920" cy="59436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4511040" y="4495800"/>
            <a:ext cx="325526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锁定再试：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预期被拒绝</a:t>
            </a:r>
            <a:endParaRPr lang="en-US" sz="18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58640" y="5059680"/>
            <a:ext cx="3550920" cy="88392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4511040" y="5212080"/>
            <a:ext cx="3255264" cy="2895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闲置15分：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预期自动退出需重认</a:t>
            </a:r>
            <a:endParaRPr lang="en-US" sz="18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12480" y="1371600"/>
            <a:ext cx="3185160" cy="5106670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1560" y="1645920"/>
            <a:ext cx="426720" cy="426720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63000" y="1737360"/>
            <a:ext cx="243840" cy="243840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9220200" y="16306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常见问题：</a:t>
            </a:r>
            <a:endParaRPr lang="en-US" sz="2400" dirty="0"/>
          </a:p>
        </p:txBody>
      </p:sp>
      <p:sp>
        <p:nvSpPr>
          <p:cNvPr id="34" name="Text 15"/>
          <p:cNvSpPr/>
          <p:nvPr/>
        </p:nvSpPr>
        <p:spPr>
          <a:xfrm>
            <a:off x="8671560" y="2301240"/>
            <a:ext cx="3063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A7B9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</a:t>
            </a:r>
            <a:endParaRPr lang="en-US" sz="1680" dirty="0"/>
          </a:p>
        </p:txBody>
      </p:sp>
      <p:sp>
        <p:nvSpPr>
          <p:cNvPr id="35" name="Text 16"/>
          <p:cNvSpPr/>
          <p:nvPr/>
        </p:nvSpPr>
        <p:spPr>
          <a:xfrm>
            <a:off x="8976360" y="227076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无失败次数限制</a:t>
            </a:r>
            <a:endParaRPr lang="en-US" sz="1800" dirty="0"/>
          </a:p>
        </p:txBody>
      </p:sp>
      <p:sp>
        <p:nvSpPr>
          <p:cNvPr id="36" name="Text 17"/>
          <p:cNvSpPr/>
          <p:nvPr/>
        </p:nvSpPr>
        <p:spPr>
          <a:xfrm>
            <a:off x="8671560" y="2804160"/>
            <a:ext cx="3063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A7B9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</a:t>
            </a:r>
            <a:endParaRPr lang="en-US" sz="1680" dirty="0"/>
          </a:p>
        </p:txBody>
      </p:sp>
      <p:sp>
        <p:nvSpPr>
          <p:cNvPr id="37" name="Text 18"/>
          <p:cNvSpPr/>
          <p:nvPr/>
        </p:nvSpPr>
        <p:spPr>
          <a:xfrm>
            <a:off x="8976360" y="277368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无空闲超时退出</a:t>
            </a:r>
            <a:endParaRPr lang="en-US" sz="1800" dirty="0"/>
          </a:p>
        </p:txBody>
      </p:sp>
      <p:sp>
        <p:nvSpPr>
          <p:cNvPr id="38" name="Text 19"/>
          <p:cNvSpPr/>
          <p:nvPr/>
        </p:nvSpPr>
        <p:spPr>
          <a:xfrm>
            <a:off x="8671560" y="3322320"/>
            <a:ext cx="3063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A7B9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</a:t>
            </a:r>
            <a:endParaRPr lang="en-US" sz="1680" dirty="0"/>
          </a:p>
        </p:txBody>
      </p:sp>
      <p:sp>
        <p:nvSpPr>
          <p:cNvPr id="39" name="Text 20"/>
          <p:cNvSpPr/>
          <p:nvPr/>
        </p:nvSpPr>
        <p:spPr>
          <a:xfrm>
            <a:off x="8976360" y="3291840"/>
            <a:ext cx="1853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锁定后立即可重试</a:t>
            </a:r>
            <a:endParaRPr lang="en-US" sz="1800" dirty="0"/>
          </a:p>
        </p:txBody>
      </p:sp>
      <p:pic>
        <p:nvPicPr>
          <p:cNvPr id="40" name="Image 17" descr="https://test.web.static.jianzeppt.com/ppt-temp-img3/190cae19b2f975cb46be46376e9d9e14.png"/>
          <p:cNvPicPr>
            <a:picLocks noChangeAspect="1"/>
          </p:cNvPicPr>
          <p:nvPr/>
        </p:nvPicPr>
        <p:blipFill>
          <a:blip r:embed="rId26">
            <a:alphaModFix amt="80000"/>
          </a:blip>
          <a:stretch>
            <a:fillRect/>
          </a:stretch>
        </p:blipFill>
        <p:spPr>
          <a:xfrm>
            <a:off x="8671560" y="5227320"/>
            <a:ext cx="2667000" cy="1066800"/>
          </a:xfrm>
          <a:prstGeom prst="rect">
            <a:avLst/>
          </a:prstGeom>
        </p:spPr>
      </p:pic>
      <p:pic>
        <p:nvPicPr>
          <p:cNvPr id="41" name="Image 18" descr="https://test.web.static.jianzeppt.com/ppt-temp-img3/0fd770652d3965fa47cc20515dbdf6ed.png?x-oss-process=image/resize,w_1440,h_800,m_lfit/format,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65921" y="5074920"/>
            <a:ext cx="2657551" cy="15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③——远程管理是否加密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143000"/>
            <a:ext cx="3544824" cy="4800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2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检查项c：远程管理安全</a:t>
            </a:r>
            <a:endParaRPr lang="en-US" sz="2520" dirty="0"/>
          </a:p>
        </p:txBody>
      </p:sp>
      <p:pic>
        <p:nvPicPr>
          <p:cNvPr id="7" name="Image 3" descr="https://test.web.static.jianzeppt.com/ppt-temp-img3/3da65aec027b82a06dbb2dfd0df189e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76400"/>
            <a:ext cx="3550920" cy="316992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1935480"/>
            <a:ext cx="487680" cy="4876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7720" y="2057400"/>
            <a:ext cx="243840" cy="2438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915400" y="195072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8305800" y="2489200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8671560" y="2560003"/>
            <a:ext cx="26761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仅支持HTTP，未启用HTTPS</a:t>
            </a:r>
            <a:endParaRPr lang="en-US" sz="1920" dirty="0"/>
          </a:p>
        </p:txBody>
      </p:sp>
      <p:sp>
        <p:nvSpPr>
          <p:cNvPr id="13" name="Text 5"/>
          <p:cNvSpPr/>
          <p:nvPr/>
        </p:nvSpPr>
        <p:spPr>
          <a:xfrm>
            <a:off x="8305800" y="3281680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1920" dirty="0"/>
          </a:p>
        </p:txBody>
      </p:sp>
      <p:sp>
        <p:nvSpPr>
          <p:cNvPr id="14" name="Text 6"/>
          <p:cNvSpPr/>
          <p:nvPr/>
        </p:nvSpPr>
        <p:spPr>
          <a:xfrm>
            <a:off x="8671560" y="3352483"/>
            <a:ext cx="26761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HTTPS未强制（可降级为HTTP）</a:t>
            </a:r>
            <a:endParaRPr lang="en-US" sz="1920" dirty="0"/>
          </a:p>
        </p:txBody>
      </p:sp>
      <p:sp>
        <p:nvSpPr>
          <p:cNvPr id="15" name="Text 7"/>
          <p:cNvSpPr/>
          <p:nvPr/>
        </p:nvSpPr>
        <p:spPr>
          <a:xfrm>
            <a:off x="8305800" y="4074160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1920" dirty="0"/>
          </a:p>
        </p:txBody>
      </p:sp>
      <p:sp>
        <p:nvSpPr>
          <p:cNvPr id="16" name="Text 8"/>
          <p:cNvSpPr/>
          <p:nvPr/>
        </p:nvSpPr>
        <p:spPr>
          <a:xfrm>
            <a:off x="8671560" y="4144963"/>
            <a:ext cx="26761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自签名证书（浏览器提示不安全）</a:t>
            </a:r>
            <a:endParaRPr lang="en-US" sz="1920" dirty="0"/>
          </a:p>
        </p:txBody>
      </p:sp>
      <p:pic>
        <p:nvPicPr>
          <p:cNvPr id="17" name="Image 6" descr="https://test.web.static.jianzeppt.com/ppt-temp-img3/fec60f1f4233773a6a0d2c8666b63b2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676400"/>
            <a:ext cx="3474720" cy="487680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935480"/>
            <a:ext cx="487680" cy="48768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2057400"/>
            <a:ext cx="243840" cy="24384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478280" y="195072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</a:t>
            </a:r>
            <a:endParaRPr lang="en-US" sz="2400" dirty="0"/>
          </a:p>
        </p:txBody>
      </p:sp>
      <p:sp>
        <p:nvSpPr>
          <p:cNvPr id="21" name="Text 10"/>
          <p:cNvSpPr/>
          <p:nvPr/>
        </p:nvSpPr>
        <p:spPr>
          <a:xfrm>
            <a:off x="868680" y="266700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22" name="Text 11"/>
          <p:cNvSpPr/>
          <p:nvPr/>
        </p:nvSpPr>
        <p:spPr>
          <a:xfrm>
            <a:off x="1234440" y="2606040"/>
            <a:ext cx="25999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远程管理应采用加密协议（HTTPS、SSH等）</a:t>
            </a:r>
            <a:endParaRPr lang="en-US" sz="1920" dirty="0"/>
          </a:p>
        </p:txBody>
      </p:sp>
      <p:sp>
        <p:nvSpPr>
          <p:cNvPr id="23" name="Text 12"/>
          <p:cNvSpPr/>
          <p:nvPr/>
        </p:nvSpPr>
        <p:spPr>
          <a:xfrm>
            <a:off x="868680" y="352044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24" name="Text 13"/>
          <p:cNvSpPr/>
          <p:nvPr/>
        </p:nvSpPr>
        <p:spPr>
          <a:xfrm>
            <a:off x="1234440" y="3459480"/>
            <a:ext cx="2599944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不应使用明文传输协议（HTTP、Telnet、FTP等）</a:t>
            </a:r>
            <a:endParaRPr lang="en-US" sz="1920" dirty="0"/>
          </a:p>
        </p:txBody>
      </p:sp>
      <p:pic>
        <p:nvPicPr>
          <p:cNvPr id="25" name="Image 9" descr="https://test.web.static.jianzeppt.com/ppt-temp-img3/fec60f1f4233773a6a0d2c8666b63b2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8160" y="1676400"/>
            <a:ext cx="3474720" cy="487680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7240" y="1935480"/>
            <a:ext cx="487680" cy="487680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09160" y="2057400"/>
            <a:ext cx="243840" cy="24384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196840" y="195072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</a:t>
            </a:r>
            <a:endParaRPr lang="en-US" sz="2400" dirty="0"/>
          </a:p>
        </p:txBody>
      </p:sp>
      <p:sp>
        <p:nvSpPr>
          <p:cNvPr id="29" name="Text 15"/>
          <p:cNvSpPr/>
          <p:nvPr/>
        </p:nvSpPr>
        <p:spPr>
          <a:xfrm>
            <a:off x="4587240" y="256476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0" name="Text 16"/>
          <p:cNvSpPr/>
          <p:nvPr/>
        </p:nvSpPr>
        <p:spPr>
          <a:xfrm>
            <a:off x="4953000" y="2610168"/>
            <a:ext cx="2599944" cy="8845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查看应用系统的访问协议（地址栏是否为https://）</a:t>
            </a:r>
            <a:endParaRPr lang="en-US" sz="1920" dirty="0"/>
          </a:p>
        </p:txBody>
      </p:sp>
      <p:sp>
        <p:nvSpPr>
          <p:cNvPr id="31" name="Text 17"/>
          <p:cNvSpPr/>
          <p:nvPr/>
        </p:nvSpPr>
        <p:spPr>
          <a:xfrm>
            <a:off x="4587240" y="378396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2" name="Text 18"/>
          <p:cNvSpPr/>
          <p:nvPr/>
        </p:nvSpPr>
        <p:spPr>
          <a:xfrm>
            <a:off x="4953000" y="3793808"/>
            <a:ext cx="2599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如果支持HTTP，查看是否自动跳转到HTTPS</a:t>
            </a:r>
            <a:endParaRPr lang="en-US" sz="1920" dirty="0"/>
          </a:p>
        </p:txBody>
      </p:sp>
      <p:sp>
        <p:nvSpPr>
          <p:cNvPr id="33" name="Text 19"/>
          <p:cNvSpPr/>
          <p:nvPr/>
        </p:nvSpPr>
        <p:spPr>
          <a:xfrm>
            <a:off x="4587240" y="463740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4" name="Text 20"/>
          <p:cNvSpPr/>
          <p:nvPr/>
        </p:nvSpPr>
        <p:spPr>
          <a:xfrm>
            <a:off x="4953000" y="4682808"/>
            <a:ext cx="2599944" cy="8845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使用抓包工具（如Wireshark）验证数据是否加密</a:t>
            </a:r>
            <a:endParaRPr lang="en-US" sz="1920" dirty="0"/>
          </a:p>
        </p:txBody>
      </p:sp>
      <p:sp>
        <p:nvSpPr>
          <p:cNvPr id="35" name="Text 21"/>
          <p:cNvSpPr/>
          <p:nvPr/>
        </p:nvSpPr>
        <p:spPr>
          <a:xfrm>
            <a:off x="4587240" y="585660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6" name="Text 22"/>
          <p:cNvSpPr/>
          <p:nvPr/>
        </p:nvSpPr>
        <p:spPr>
          <a:xfrm>
            <a:off x="4953000" y="5866448"/>
            <a:ext cx="2599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检查是否部署了有效的数字证书</a:t>
            </a:r>
            <a:endParaRPr lang="en-US" sz="192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46720" y="5029200"/>
            <a:ext cx="3550920" cy="140652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8" name="Image 13" descr="https://test.web.static.jianzeppt.com/ppt-temp-img3/fab767110b2b408c94ca053997bd86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3880" y="5107940"/>
            <a:ext cx="327660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④——多因素认证（三级以上）</a:t>
            </a:r>
            <a:endParaRPr lang="en-US" sz="2760" dirty="0"/>
          </a:p>
        </p:txBody>
      </p:sp>
      <p:pic>
        <p:nvPicPr>
          <p:cNvPr id="6" name="Image 3" descr="https://test.web.static.jianzeppt.com/ppt-temp-img3/2a565f817e94b089178e89dd192f664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6096000" cy="21031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07720" y="1473200"/>
            <a:ext cx="5708904" cy="11074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检查项d：多因素认证（三级及以上强制要求）</a:t>
            </a:r>
            <a:endParaRPr lang="en-US" sz="2400" dirty="0">
              <a:solidFill>
                <a:srgbClr val="2274D9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8" name="Text 2"/>
          <p:cNvSpPr/>
          <p:nvPr/>
        </p:nvSpPr>
        <p:spPr>
          <a:xfrm>
            <a:off x="807720" y="2590800"/>
            <a:ext cx="57089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合格标准：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应采用两种或以上组合的鉴别技术，其中至少一种应为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密码技术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。</a:t>
            </a:r>
            <a:endParaRPr lang="en-US" sz="1920" dirty="0"/>
          </a:p>
        </p:txBody>
      </p:sp>
      <p:sp>
        <p:nvSpPr>
          <p:cNvPr id="9" name="Text 3"/>
          <p:cNvSpPr/>
          <p:nvPr/>
        </p:nvSpPr>
        <p:spPr>
          <a:xfrm>
            <a:off x="609600" y="3718560"/>
            <a:ext cx="6105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组合方式举例</a:t>
            </a:r>
            <a:endParaRPr lang="en-US" sz="2400" dirty="0"/>
          </a:p>
        </p:txBody>
      </p:sp>
      <p:pic>
        <p:nvPicPr>
          <p:cNvPr id="10" name="Image 4" descr="https://test.web.static.jianzeppt.com/ppt-temp-img3/240aa4af893cee05d5a13323685ce559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40480"/>
            <a:ext cx="6096000" cy="184404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840" y="3855720"/>
            <a:ext cx="6080760" cy="457200"/>
          </a:xfrm>
          <a:prstGeom prst="rect">
            <a:avLst/>
          </a:prstGeom>
        </p:spPr>
      </p:pic>
      <p:pic>
        <p:nvPicPr>
          <p:cNvPr id="12" name="Image 6" descr="https://test.web.static.jianzeppt.com/ppt-temp-img3/5a50e3e2e531e634c819632db264528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855720"/>
            <a:ext cx="1524000" cy="4572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944880" y="39166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因素类型</a:t>
            </a:r>
            <a:endParaRPr lang="en-US" sz="1680" dirty="0"/>
          </a:p>
        </p:txBody>
      </p:sp>
      <p:pic>
        <p:nvPicPr>
          <p:cNvPr id="14" name="Image 7" descr="https://test.web.static.jianzeppt.com/ppt-temp-img3/d1fd87283ba4d12b845526078227ba0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3855720"/>
            <a:ext cx="3352800" cy="4572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3596640" y="391668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示例</a:t>
            </a:r>
            <a:endParaRPr lang="en-US" sz="1680" dirty="0"/>
          </a:p>
        </p:txBody>
      </p:sp>
      <p:pic>
        <p:nvPicPr>
          <p:cNvPr id="16" name="Image 8" descr="https://test.web.static.jianzeppt.com/ppt-temp-img3/f0ba3577796d4cdef9ec70f7322d84c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3855720"/>
            <a:ext cx="1219200" cy="4572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882640" y="391668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特点</a:t>
            </a:r>
            <a:endParaRPr lang="en-US" sz="1680" dirty="0"/>
          </a:p>
        </p:txBody>
      </p:sp>
      <p:pic>
        <p:nvPicPr>
          <p:cNvPr id="18" name="Image 9" descr="https://test.web.static.jianzeppt.com/ppt-temp-img3/5a50e3e2e531e634c819632db264528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4312920"/>
            <a:ext cx="1524000" cy="45720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944880" y="43738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所知因素</a:t>
            </a:r>
            <a:endParaRPr lang="en-US" sz="1680" dirty="0"/>
          </a:p>
        </p:txBody>
      </p:sp>
      <p:pic>
        <p:nvPicPr>
          <p:cNvPr id="20" name="Image 10" descr="https://test.web.static.jianzeppt.com/ppt-temp-img3/d1fd87283ba4d12b845526078227ba0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4312920"/>
            <a:ext cx="3352800" cy="45720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2270760" y="4373880"/>
            <a:ext cx="12283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密码、PIN码</a:t>
            </a:r>
            <a:endParaRPr lang="en-US" sz="1680" dirty="0"/>
          </a:p>
        </p:txBody>
      </p:sp>
      <p:pic>
        <p:nvPicPr>
          <p:cNvPr id="22" name="Image 11" descr="https://test.web.static.jianzeppt.com/ppt-temp-img3/f0ba3577796d4cdef9ec70f7322d84c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312920"/>
            <a:ext cx="1219200" cy="45720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5882640" y="437388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知识</a:t>
            </a:r>
            <a:endParaRPr lang="en-US" sz="1680" dirty="0"/>
          </a:p>
        </p:txBody>
      </p:sp>
      <p:pic>
        <p:nvPicPr>
          <p:cNvPr id="24" name="Image 12" descr="https://test.web.static.jianzeppt.com/ppt-temp-img3/5a50e3e2e531e634c819632db264528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4770120"/>
            <a:ext cx="1524000" cy="45720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944880" y="48310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所有因素</a:t>
            </a:r>
            <a:endParaRPr lang="en-US" sz="1680" dirty="0"/>
          </a:p>
        </p:txBody>
      </p:sp>
      <p:pic>
        <p:nvPicPr>
          <p:cNvPr id="26" name="Image 13" descr="https://test.web.static.jianzeppt.com/ppt-temp-img3/d1fd87283ba4d12b845526078227ba0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4770120"/>
            <a:ext cx="3352800" cy="457200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2270760" y="4831080"/>
            <a:ext cx="2980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短信验证、硬件令牌、USB Key</a:t>
            </a:r>
            <a:endParaRPr lang="en-US" sz="1680" dirty="0"/>
          </a:p>
        </p:txBody>
      </p:sp>
      <p:pic>
        <p:nvPicPr>
          <p:cNvPr id="28" name="Image 14" descr="https://test.web.static.jianzeppt.com/ppt-temp-img3/f0ba3577796d4cdef9ec70f7322d84c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770120"/>
            <a:ext cx="1219200" cy="45720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5882640" y="483108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持有</a:t>
            </a:r>
            <a:endParaRPr lang="en-US" sz="1680" dirty="0"/>
          </a:p>
        </p:txBody>
      </p:sp>
      <p:pic>
        <p:nvPicPr>
          <p:cNvPr id="30" name="Image 15" descr="https://test.web.static.jianzeppt.com/ppt-temp-img3/5a50e3e2e531e634c819632db264528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5227320"/>
            <a:ext cx="1524000" cy="45720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944880" y="52882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所是因素</a:t>
            </a:r>
            <a:endParaRPr lang="en-US" sz="1680" dirty="0"/>
          </a:p>
        </p:txBody>
      </p:sp>
      <p:pic>
        <p:nvPicPr>
          <p:cNvPr id="32" name="Image 16" descr="https://test.web.static.jianzeppt.com/ppt-temp-img3/d1fd87283ba4d12b845526078227ba0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5227320"/>
            <a:ext cx="3352800" cy="457200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2270760" y="5288280"/>
            <a:ext cx="21427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指纹、人脸识别、虹膜</a:t>
            </a:r>
            <a:endParaRPr lang="en-US" sz="1680" dirty="0"/>
          </a:p>
        </p:txBody>
      </p:sp>
      <p:pic>
        <p:nvPicPr>
          <p:cNvPr id="34" name="Image 17" descr="https://test.web.static.jianzeppt.com/ppt-temp-img3/f0ba3577796d4cdef9ec70f7322d84c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227320"/>
            <a:ext cx="1219200" cy="45720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5882640" y="528828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生物</a:t>
            </a:r>
            <a:endParaRPr lang="en-US" sz="168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5151120"/>
            <a:ext cx="6096000" cy="1270635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746760" y="5288280"/>
            <a:ext cx="5830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常见问题：</a:t>
            </a:r>
            <a:endParaRPr lang="en-US" sz="1920" dirty="0"/>
          </a:p>
        </p:txBody>
      </p:sp>
      <p:sp>
        <p:nvSpPr>
          <p:cNvPr id="38" name="Text 17"/>
          <p:cNvSpPr/>
          <p:nvPr/>
        </p:nvSpPr>
        <p:spPr>
          <a:xfrm>
            <a:off x="746760" y="5715000"/>
            <a:ext cx="5830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 仅使用单因素（仅密码）</a:t>
            </a:r>
            <a:endParaRPr lang="en-US" sz="1680" dirty="0"/>
          </a:p>
        </p:txBody>
      </p:sp>
      <p:sp>
        <p:nvSpPr>
          <p:cNvPr id="39" name="Text 18"/>
          <p:cNvSpPr/>
          <p:nvPr/>
        </p:nvSpPr>
        <p:spPr>
          <a:xfrm>
            <a:off x="746760" y="6096000"/>
            <a:ext cx="5830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 多因素认证形同虚设（可绕过）</a:t>
            </a:r>
            <a:endParaRPr lang="en-US" sz="1680" dirty="0"/>
          </a:p>
        </p:txBody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10400" y="1371600"/>
            <a:ext cx="4572000" cy="5050155"/>
          </a:xfrm>
          <a:prstGeom prst="rect">
            <a:avLst/>
          </a:prstGeom>
        </p:spPr>
      </p:pic>
      <p:pic>
        <p:nvPicPr>
          <p:cNvPr id="41" name="Image 20" descr="https://test.web.static.jianzeppt.com/ppt-temp-img3/90c1703e852a1a9c3a48f287906d5a6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7560" y="1508760"/>
            <a:ext cx="4297680" cy="490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访问控制测评——核心检查项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1582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1055522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访问控制的目标是：</a:t>
            </a:r>
            <a:r>
              <a:rPr lang="en-US" sz="216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验证“你能做什么”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853440" y="2026920"/>
            <a:ext cx="10555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GB/T 22239 8.1.4.2 访问控制要求：</a:t>
            </a:r>
            <a:endParaRPr lang="en-US" sz="16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09600" y="2642235"/>
          <a:ext cx="10972800" cy="3779520"/>
        </p:xfrm>
        <a:graphic>
          <a:graphicData uri="http://schemas.openxmlformats.org/drawingml/2006/table">
            <a:tbl>
              <a:tblPr/>
              <a:tblGrid>
                <a:gridCol w="702015"/>
                <a:gridCol w="1205634"/>
                <a:gridCol w="6867538"/>
                <a:gridCol w="2197612"/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内容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测评方法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a)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账户分配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登录用户应分配账户和权限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查看用户权限配置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b)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默认账户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应重命名或删除默认账户，修改默认口令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查看默认账户状态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c)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过期账户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及时删除或停用多余的、过期的账户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查看账户列表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d)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最小权限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授予管理用户所需的最小权限，实现管理用户的权限分离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查看权限分配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e)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授权主体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应由授权主体配置访问控制策略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查看权限管理流程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f)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粒度控制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访问控制粒度应达到用户级/进程级，客体为文件/数据库表级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查看权限配置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g)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安全标记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应对重要主体和客体设置安全标记（三级及以上）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查看标记配置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访问控制验证——两种越权漏洞</a:t>
            </a:r>
            <a:endParaRPr lang="en-US" sz="2760" dirty="0"/>
          </a:p>
        </p:txBody>
      </p:sp>
      <p:pic>
        <p:nvPicPr>
          <p:cNvPr id="6" name="Image 3" descr="https://test.web.static.jianzeppt.com/ppt-temp-img3/f8f0e1d72d65333e4d7cb504fa1ac823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6096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493520"/>
            <a:ext cx="4901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越权漏洞是应用系统最严重的安全问题之一。</a:t>
            </a:r>
            <a:endParaRPr lang="en-US" sz="192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164080"/>
            <a:ext cx="5334000" cy="4328160"/>
          </a:xfrm>
          <a:prstGeom prst="rect">
            <a:avLst/>
          </a:prstGeom>
        </p:spPr>
      </p:pic>
      <p:pic>
        <p:nvPicPr>
          <p:cNvPr id="9" name="Image 5" descr="https://test.web.static.jianzeppt.com/ppt-temp-img3/3cc882572e85e52ff163eef3f4c9280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179320"/>
            <a:ext cx="5303520" cy="9906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07720" y="2331720"/>
            <a:ext cx="494690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垂直越权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807720" y="2743200"/>
            <a:ext cx="4946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(Vertical Privilege Escalation)</a:t>
            </a:r>
            <a:endParaRPr lang="en-US" sz="1440" dirty="0"/>
          </a:p>
        </p:txBody>
      </p:sp>
      <p:sp>
        <p:nvSpPr>
          <p:cNvPr id="12" name="Text 4"/>
          <p:cNvSpPr/>
          <p:nvPr/>
        </p:nvSpPr>
        <p:spPr>
          <a:xfrm>
            <a:off x="807720" y="333756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低权限用户获取高权限操作</a:t>
            </a:r>
            <a:endParaRPr lang="en-US" sz="1680" dirty="0"/>
          </a:p>
        </p:txBody>
      </p:sp>
      <p:sp>
        <p:nvSpPr>
          <p:cNvPr id="13" name="Text 5"/>
          <p:cNvSpPr/>
          <p:nvPr/>
        </p:nvSpPr>
        <p:spPr>
          <a:xfrm>
            <a:off x="807720" y="377952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示例：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普通用户访问管理员后台</a:t>
            </a:r>
            <a:endParaRPr lang="en-US" sz="1680" dirty="0"/>
          </a:p>
        </p:txBody>
      </p:sp>
      <p:sp>
        <p:nvSpPr>
          <p:cNvPr id="14" name="Text 6"/>
          <p:cNvSpPr/>
          <p:nvPr/>
        </p:nvSpPr>
        <p:spPr>
          <a:xfrm>
            <a:off x="807720" y="423672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测试：</a:t>
            </a:r>
            <a:endParaRPr lang="en-US" sz="1680" dirty="0"/>
          </a:p>
        </p:txBody>
      </p:sp>
      <p:sp>
        <p:nvSpPr>
          <p:cNvPr id="15" name="Text 7"/>
          <p:cNvSpPr/>
          <p:nvPr/>
        </p:nvSpPr>
        <p:spPr>
          <a:xfrm>
            <a:off x="1783080" y="423672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 普通用户登录</a:t>
            </a:r>
            <a:endParaRPr lang="en-US" sz="1680" dirty="0"/>
          </a:p>
        </p:txBody>
      </p:sp>
      <p:sp>
        <p:nvSpPr>
          <p:cNvPr id="16" name="Text 8"/>
          <p:cNvSpPr/>
          <p:nvPr/>
        </p:nvSpPr>
        <p:spPr>
          <a:xfrm>
            <a:off x="1783080" y="455676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 尝试访问/admin</a:t>
            </a:r>
            <a:endParaRPr lang="en-US" sz="1680" dirty="0"/>
          </a:p>
        </p:txBody>
      </p:sp>
      <p:sp>
        <p:nvSpPr>
          <p:cNvPr id="17" name="Text 9"/>
          <p:cNvSpPr/>
          <p:nvPr/>
        </p:nvSpPr>
        <p:spPr>
          <a:xfrm>
            <a:off x="1783080" y="489204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 预期：被拒绝</a:t>
            </a:r>
            <a:endParaRPr lang="en-US" sz="168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720" y="5714365"/>
            <a:ext cx="4937760" cy="655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29640" y="586740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风险：</a:t>
            </a:r>
            <a:endParaRPr lang="en-US" sz="1680" dirty="0"/>
          </a:p>
        </p:txBody>
      </p:sp>
      <p:sp>
        <p:nvSpPr>
          <p:cNvPr id="20" name="Text 11"/>
          <p:cNvSpPr/>
          <p:nvPr/>
        </p:nvSpPr>
        <p:spPr>
          <a:xfrm>
            <a:off x="1905000" y="5821680"/>
            <a:ext cx="999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🔴 高危</a:t>
            </a:r>
            <a:endParaRPr lang="en-US" sz="216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2164080"/>
            <a:ext cx="5334000" cy="4314190"/>
          </a:xfrm>
          <a:prstGeom prst="rect">
            <a:avLst/>
          </a:prstGeom>
        </p:spPr>
      </p:pic>
      <p:pic>
        <p:nvPicPr>
          <p:cNvPr id="22" name="Image 8" descr="https://test.web.static.jianzeppt.com/ppt-temp-img3/5a7de79c58d4cc8955e5fb65f70a42c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179320"/>
            <a:ext cx="5303520" cy="990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446520" y="2331720"/>
            <a:ext cx="494690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水平越权</a:t>
            </a:r>
            <a:endParaRPr lang="en-US" sz="2400" dirty="0"/>
          </a:p>
        </p:txBody>
      </p:sp>
      <p:sp>
        <p:nvSpPr>
          <p:cNvPr id="24" name="Text 13"/>
          <p:cNvSpPr/>
          <p:nvPr/>
        </p:nvSpPr>
        <p:spPr>
          <a:xfrm>
            <a:off x="6446520" y="2743200"/>
            <a:ext cx="4946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(Horizontal Privilege Escalation)</a:t>
            </a:r>
            <a:endParaRPr lang="en-US" sz="1440" dirty="0"/>
          </a:p>
        </p:txBody>
      </p:sp>
      <p:sp>
        <p:nvSpPr>
          <p:cNvPr id="25" name="Text 14"/>
          <p:cNvSpPr/>
          <p:nvPr/>
        </p:nvSpPr>
        <p:spPr>
          <a:xfrm>
            <a:off x="6446520" y="333756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访问其他同级用户的数据</a:t>
            </a:r>
            <a:endParaRPr lang="en-US" sz="1680" dirty="0"/>
          </a:p>
        </p:txBody>
      </p:sp>
      <p:sp>
        <p:nvSpPr>
          <p:cNvPr id="26" name="Text 15"/>
          <p:cNvSpPr/>
          <p:nvPr/>
        </p:nvSpPr>
        <p:spPr>
          <a:xfrm>
            <a:off x="6446520" y="377952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示例：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用户A修改ID查看用户B订单</a:t>
            </a:r>
            <a:endParaRPr lang="en-US" sz="1680" dirty="0"/>
          </a:p>
        </p:txBody>
      </p:sp>
      <p:sp>
        <p:nvSpPr>
          <p:cNvPr id="27" name="Text 16"/>
          <p:cNvSpPr/>
          <p:nvPr/>
        </p:nvSpPr>
        <p:spPr>
          <a:xfrm>
            <a:off x="6446520" y="423672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测试：</a:t>
            </a:r>
            <a:endParaRPr lang="en-US" sz="1680" dirty="0"/>
          </a:p>
        </p:txBody>
      </p:sp>
      <p:sp>
        <p:nvSpPr>
          <p:cNvPr id="28" name="Text 17"/>
          <p:cNvSpPr/>
          <p:nvPr/>
        </p:nvSpPr>
        <p:spPr>
          <a:xfrm>
            <a:off x="7421880" y="423672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 用户A登录</a:t>
            </a:r>
            <a:endParaRPr lang="en-US" sz="1680" dirty="0"/>
          </a:p>
        </p:txBody>
      </p:sp>
      <p:sp>
        <p:nvSpPr>
          <p:cNvPr id="29" name="Text 18"/>
          <p:cNvSpPr/>
          <p:nvPr/>
        </p:nvSpPr>
        <p:spPr>
          <a:xfrm>
            <a:off x="7421880" y="455676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 修改资源ID参数</a:t>
            </a:r>
            <a:endParaRPr lang="en-US" sz="1680" dirty="0"/>
          </a:p>
        </p:txBody>
      </p:sp>
      <p:sp>
        <p:nvSpPr>
          <p:cNvPr id="30" name="Text 19"/>
          <p:cNvSpPr/>
          <p:nvPr/>
        </p:nvSpPr>
        <p:spPr>
          <a:xfrm>
            <a:off x="7421880" y="489204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 预期：无法查看</a:t>
            </a:r>
            <a:endParaRPr lang="en-US" sz="168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6520" y="5699760"/>
            <a:ext cx="4937760" cy="655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568440" y="586740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风险：</a:t>
            </a:r>
            <a:endParaRPr lang="en-US" sz="1680" dirty="0"/>
          </a:p>
        </p:txBody>
      </p:sp>
      <p:sp>
        <p:nvSpPr>
          <p:cNvPr id="33" name="Text 21"/>
          <p:cNvSpPr/>
          <p:nvPr/>
        </p:nvSpPr>
        <p:spPr>
          <a:xfrm>
            <a:off x="7543800" y="5821680"/>
            <a:ext cx="999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🔴 高危</a:t>
            </a:r>
            <a:endParaRPr lang="en-US" sz="21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访问控制怎么验 ⑤——两类越权动手测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447800"/>
            <a:ext cx="91440" cy="335280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7"/>
            </p:custDataLst>
          </p:nvPr>
        </p:nvSpPr>
        <p:spPr>
          <a:xfrm>
            <a:off x="822960" y="1371600"/>
            <a:ext cx="30419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垂直越权测试演示：</a:t>
            </a:r>
            <a:endParaRPr lang="en-US" sz="264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984449" y="1923415"/>
          <a:ext cx="10223103" cy="1703850"/>
        </p:xfrm>
        <a:graphic>
          <a:graphicData uri="http://schemas.openxmlformats.org/drawingml/2006/table">
            <a:tbl>
              <a:tblPr/>
              <a:tblGrid>
                <a:gridCol w="639833"/>
                <a:gridCol w="4606794"/>
                <a:gridCol w="3142289"/>
                <a:gridCol w="1834187"/>
              </a:tblGrid>
              <a:tr h="340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步骤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预期结果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实际观察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以普通用户登录系统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登录成功，只能看到普通功能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尝试访问管理员功能URL（如/admin/dashboard）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被拒绝访问，跳转至403或登录页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记录是否被拒绝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尝试通过修改请求参数访问管理功能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被拒绝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记录是否被拒绝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尝试使用管理员账户登录，确认功能可用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可以访问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确认功能本身正常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5193" marR="85193" marT="85193" marB="8519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4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191000"/>
            <a:ext cx="91440" cy="335280"/>
          </a:xfrm>
          <a:prstGeom prst="rect">
            <a:avLst/>
          </a:prstGeom>
        </p:spPr>
      </p:pic>
      <p:sp>
        <p:nvSpPr>
          <p:cNvPr id="10" name="Text 2"/>
          <p:cNvSpPr/>
          <p:nvPr>
            <p:custDataLst>
              <p:tags r:id="rId10"/>
            </p:custDataLst>
          </p:nvPr>
        </p:nvSpPr>
        <p:spPr>
          <a:xfrm>
            <a:off x="822960" y="4056380"/>
            <a:ext cx="30419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水平越权测试演示：</a:t>
            </a:r>
            <a:endParaRPr lang="en-US" sz="264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609600" y="4622800"/>
          <a:ext cx="10972800" cy="1828800"/>
        </p:xfrm>
        <a:graphic>
          <a:graphicData uri="http://schemas.openxmlformats.org/drawingml/2006/table">
            <a:tbl>
              <a:tblPr/>
              <a:tblGrid>
                <a:gridCol w="640970"/>
                <a:gridCol w="4242613"/>
                <a:gridCol w="3128545"/>
                <a:gridCol w="2960672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步骤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预期结果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实际观察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以用户A登录，查看自己的订单详情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正常显示订单A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修改URL中的订单ID（如从1001改为1002）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被拒绝，提示无权限或返回空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记录是否可查看其他用户数据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尝试修改POST请求中的用户ID参数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被拒绝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记录是否可越权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35565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showAsIcon="1" r:id="rId11" imgW="971550" imgH="666750" progId="Word.Document.12">
                  <p:embed/>
                </p:oleObj>
              </mc:Choice>
              <mc:Fallback>
                <p:oleObj name="" showAsIcon="1" r:id="rId11" imgW="971550" imgH="666750" progId="Word.Document.12">
                  <p:embed/>
                  <p:pic>
                    <p:nvPicPr>
                      <p:cNvPr id="0" name="图片 614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35565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安全审计测评——核心检查项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655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554480"/>
            <a:ext cx="304800" cy="304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56360" y="1508760"/>
            <a:ext cx="54955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安全审计的目标是：记录“你做了什么”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670560" y="2209800"/>
            <a:ext cx="10920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8.1.4.3 安全审计要求：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2651760"/>
            <a:ext cx="10972800" cy="3845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1" name="Image 6" descr="https://test.web.static.jianzeppt.com/ppt-temp-img3/1d93eeff88baedd81a0807298aee4e3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667000"/>
            <a:ext cx="10942320" cy="6096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68680" y="278892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1920" dirty="0"/>
          </a:p>
        </p:txBody>
      </p:sp>
      <p:sp>
        <p:nvSpPr>
          <p:cNvPr id="13" name="Text 4"/>
          <p:cNvSpPr/>
          <p:nvPr/>
        </p:nvSpPr>
        <p:spPr>
          <a:xfrm>
            <a:off x="1965960" y="27889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</a:t>
            </a:r>
            <a:endParaRPr lang="en-US" sz="1920" dirty="0"/>
          </a:p>
        </p:txBody>
      </p:sp>
      <p:sp>
        <p:nvSpPr>
          <p:cNvPr id="14" name="Text 5"/>
          <p:cNvSpPr/>
          <p:nvPr/>
        </p:nvSpPr>
        <p:spPr>
          <a:xfrm>
            <a:off x="4145280" y="2788920"/>
            <a:ext cx="7187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内容</a:t>
            </a:r>
            <a:endParaRPr lang="en-US" sz="192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3276600"/>
            <a:ext cx="10942320" cy="3032760"/>
          </a:xfrm>
          <a:prstGeom prst="rect">
            <a:avLst/>
          </a:prstGeom>
        </p:spPr>
      </p:pic>
      <p:pic>
        <p:nvPicPr>
          <p:cNvPr id="16" name="Image 8" descr="https://test.web.static.jianzeppt.com/ppt-temp-img3/b0f31d3e1cd53ac65ce6a044138f3ffc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3276600"/>
            <a:ext cx="10942320" cy="9906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68680" y="3429000"/>
            <a:ext cx="61874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a)</a:t>
            </a:r>
            <a:endParaRPr lang="en-US" sz="1920" dirty="0"/>
          </a:p>
        </p:txBody>
      </p:sp>
      <p:sp>
        <p:nvSpPr>
          <p:cNvPr id="18" name="Text 7"/>
          <p:cNvSpPr/>
          <p:nvPr/>
        </p:nvSpPr>
        <p:spPr>
          <a:xfrm>
            <a:off x="1965960" y="3429000"/>
            <a:ext cx="171602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审计启用</a:t>
            </a:r>
            <a:endParaRPr lang="en-US" sz="1920" dirty="0"/>
          </a:p>
        </p:txBody>
      </p:sp>
      <p:sp>
        <p:nvSpPr>
          <p:cNvPr id="19" name="Text 8"/>
          <p:cNvSpPr/>
          <p:nvPr/>
        </p:nvSpPr>
        <p:spPr>
          <a:xfrm>
            <a:off x="4145280" y="3429000"/>
            <a:ext cx="71871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应启用安全审计功能，审计覆盖到每个用户，对重要的行为和事件进行审计</a:t>
            </a:r>
            <a:endParaRPr lang="en-US" sz="192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4259580"/>
            <a:ext cx="10942320" cy="15240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4267200"/>
            <a:ext cx="10942320" cy="6858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68680" y="441960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b)</a:t>
            </a:r>
            <a:endParaRPr lang="en-US" sz="1920" dirty="0"/>
          </a:p>
        </p:txBody>
      </p:sp>
      <p:sp>
        <p:nvSpPr>
          <p:cNvPr id="23" name="Text 10"/>
          <p:cNvSpPr/>
          <p:nvPr/>
        </p:nvSpPr>
        <p:spPr>
          <a:xfrm>
            <a:off x="1965960" y="44196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审计内容</a:t>
            </a:r>
            <a:endParaRPr lang="en-US" sz="1920" dirty="0"/>
          </a:p>
        </p:txBody>
      </p:sp>
      <p:sp>
        <p:nvSpPr>
          <p:cNvPr id="24" name="Text 11"/>
          <p:cNvSpPr/>
          <p:nvPr/>
        </p:nvSpPr>
        <p:spPr>
          <a:xfrm>
            <a:off x="4145280" y="4419600"/>
            <a:ext cx="7187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记录应包括日期时间、用户、事件类型、是否成功及其他相关信息</a:t>
            </a:r>
            <a:endParaRPr lang="en-US" sz="192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4945380"/>
            <a:ext cx="10942320" cy="15240"/>
          </a:xfrm>
          <a:prstGeom prst="rect">
            <a:avLst/>
          </a:prstGeom>
        </p:spPr>
      </p:pic>
      <p:pic>
        <p:nvPicPr>
          <p:cNvPr id="26" name="Image 12" descr="https://test.web.static.jianzeppt.com/ppt-temp-img3/d054b983e8a0b32468812a66ba64b286.png?x-oss-process=image/resize,w_1440,h_800,m_lfit/format,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" y="4953000"/>
            <a:ext cx="10942320" cy="6858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868680" y="510540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c)</a:t>
            </a:r>
            <a:endParaRPr lang="en-US" sz="1920" dirty="0"/>
          </a:p>
        </p:txBody>
      </p:sp>
      <p:sp>
        <p:nvSpPr>
          <p:cNvPr id="28" name="Text 13"/>
          <p:cNvSpPr/>
          <p:nvPr/>
        </p:nvSpPr>
        <p:spPr>
          <a:xfrm>
            <a:off x="1965960" y="51054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审计保护</a:t>
            </a:r>
            <a:endParaRPr lang="en-US" sz="1920" dirty="0"/>
          </a:p>
        </p:txBody>
      </p:sp>
      <p:sp>
        <p:nvSpPr>
          <p:cNvPr id="29" name="Text 14"/>
          <p:cNvSpPr/>
          <p:nvPr/>
        </p:nvSpPr>
        <p:spPr>
          <a:xfrm>
            <a:off x="4145280" y="5105400"/>
            <a:ext cx="7187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应对记录进行保护，定期备份，避免未预期的删除、修改或覆盖</a:t>
            </a:r>
            <a:endParaRPr lang="en-US" sz="1920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5631180"/>
            <a:ext cx="10942320" cy="15240"/>
          </a:xfrm>
          <a:prstGeom prst="rect">
            <a:avLst/>
          </a:prstGeom>
        </p:spPr>
      </p:pic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5638800"/>
            <a:ext cx="10942320" cy="6858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868680" y="579120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d)</a:t>
            </a:r>
            <a:endParaRPr lang="en-US" sz="1920" dirty="0"/>
          </a:p>
        </p:txBody>
      </p:sp>
      <p:sp>
        <p:nvSpPr>
          <p:cNvPr id="33" name="Text 16"/>
          <p:cNvSpPr/>
          <p:nvPr/>
        </p:nvSpPr>
        <p:spPr>
          <a:xfrm>
            <a:off x="1965960" y="57912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进程保护</a:t>
            </a:r>
            <a:endParaRPr lang="en-US" sz="1920" dirty="0"/>
          </a:p>
        </p:txBody>
      </p:sp>
      <p:sp>
        <p:nvSpPr>
          <p:cNvPr id="34" name="Text 17"/>
          <p:cNvSpPr/>
          <p:nvPr/>
        </p:nvSpPr>
        <p:spPr>
          <a:xfrm>
            <a:off x="4145280" y="5791200"/>
            <a:ext cx="7187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应对审计进程进行保护，防止未经授权的中断（三级及以上）</a:t>
            </a:r>
            <a:endParaRPr lang="en-US" sz="1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安全审计怎么验 ⑥——日志有没有、全不全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47800"/>
            <a:ext cx="365760" cy="3657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097280" y="1371600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验证方法：</a:t>
            </a:r>
            <a:endParaRPr lang="en-US" sz="264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996440"/>
            <a:ext cx="10972800" cy="2484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24840" y="2011680"/>
          <a:ext cx="10942320" cy="2453640"/>
        </p:xfrm>
        <a:graphic>
          <a:graphicData uri="http://schemas.openxmlformats.org/drawingml/2006/table">
            <a:tbl>
              <a:tblPr/>
              <a:tblGrid>
                <a:gridCol w="1388774"/>
                <a:gridCol w="2777548"/>
                <a:gridCol w="6775997"/>
              </a:tblGrid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b="1" dirty="0">
                          <a:solidFill>
                            <a:srgbClr val="000000"/>
                          </a:solidFill>
                        </a:rPr>
                        <a:t>测试场景</a:t>
                      </a:r>
                      <a:endParaRPr lang="en-US" sz="143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b="1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43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b="1" dirty="0">
                          <a:solidFill>
                            <a:srgbClr val="000000"/>
                          </a:solidFill>
                        </a:rPr>
                        <a:t>预期结果</a:t>
                      </a:r>
                      <a:endParaRPr lang="en-US" sz="143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登录审计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成功登录一次、失败登录一次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审计日志中应有两条记录，包含用户名、登录时间、来源IP、成功/失败状态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权限变更审计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管理员修改用户权限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审计日志中应有记录，包含操作人、操作时间、操作内容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重要操作审计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删除数据、修改配置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审计日志中应有记录，包含操作人、操作时间、操作内容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日志保护验证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尝试普通用户删除审计日志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被拒绝（仅审计管理员可操作）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4800600"/>
            <a:ext cx="365760" cy="3657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97280" y="4724400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常见问题：</a:t>
            </a:r>
            <a:endParaRPr lang="en-US" sz="2640" dirty="0"/>
          </a:p>
        </p:txBody>
      </p:sp>
      <p:pic>
        <p:nvPicPr>
          <p:cNvPr id="12" name="Image 6" descr="https://test.web.static.jianzeppt.com/ppt-temp-img3/6dc595dc9a1bac790a066ae58579434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334000"/>
            <a:ext cx="10972800" cy="120396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868680" y="5471160"/>
            <a:ext cx="390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2160" dirty="0"/>
          </a:p>
        </p:txBody>
      </p:sp>
      <p:sp>
        <p:nvSpPr>
          <p:cNvPr id="14" name="Text 4"/>
          <p:cNvSpPr/>
          <p:nvPr/>
        </p:nvSpPr>
        <p:spPr>
          <a:xfrm>
            <a:off x="1325880" y="547116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未启用审计功能</a:t>
            </a:r>
            <a:endParaRPr lang="en-US" sz="2160" dirty="0"/>
          </a:p>
        </p:txBody>
      </p:sp>
      <p:sp>
        <p:nvSpPr>
          <p:cNvPr id="15" name="Text 5"/>
          <p:cNvSpPr/>
          <p:nvPr/>
        </p:nvSpPr>
        <p:spPr>
          <a:xfrm>
            <a:off x="868680" y="5745480"/>
            <a:ext cx="390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1325880" y="5745480"/>
            <a:ext cx="4123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审计日志不完整（缺少关键字段）</a:t>
            </a:r>
            <a:endParaRPr lang="en-US" sz="2160" dirty="0"/>
          </a:p>
        </p:txBody>
      </p:sp>
      <p:sp>
        <p:nvSpPr>
          <p:cNvPr id="17" name="Text 7"/>
          <p:cNvSpPr/>
          <p:nvPr/>
        </p:nvSpPr>
        <p:spPr>
          <a:xfrm>
            <a:off x="868680" y="6019800"/>
            <a:ext cx="390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2160" dirty="0"/>
          </a:p>
        </p:txBody>
      </p:sp>
      <p:sp>
        <p:nvSpPr>
          <p:cNvPr id="18" name="Text 8"/>
          <p:cNvSpPr/>
          <p:nvPr/>
        </p:nvSpPr>
        <p:spPr>
          <a:xfrm>
            <a:off x="1325880" y="6019800"/>
            <a:ext cx="33009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审计日志可被普通用户删除</a:t>
            </a:r>
            <a:endParaRPr lang="en-US" sz="21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Part.03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动手实验——西普靶场取证 + JSecProbe 判定</a:t>
            </a:r>
            <a:endParaRPr lang="en-US" sz="5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实验①做什么——本讲实验任务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alphaModFix amt="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64920"/>
            <a:ext cx="10972800" cy="5394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582af097caa18837a8bd7a129f464e6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64920"/>
            <a:ext cx="10972800" cy="8229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53440" y="1447800"/>
            <a:ext cx="1716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项目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3048000" y="1447800"/>
            <a:ext cx="82997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说明</a:t>
            </a:r>
            <a:endParaRPr lang="en-US" sz="2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087880"/>
            <a:ext cx="10972800" cy="7467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53440" y="227076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实验名称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3048000" y="2270760"/>
            <a:ext cx="8299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应用系统安全功能验证（西普靶场取证 + JSecProbe 判定）</a:t>
            </a:r>
            <a:endParaRPr lang="en-US" sz="192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2828696"/>
            <a:ext cx="10972800" cy="15240"/>
          </a:xfrm>
          <a:prstGeom prst="rect">
            <a:avLst/>
          </a:prstGeom>
        </p:spPr>
      </p:pic>
      <p:pic>
        <p:nvPicPr>
          <p:cNvPr id="14" name="Image 7" descr="https://test.web.static.jianzeppt.com/ppt-temp-img3/d511bb326a1c6d93ff613249514a8a0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834640"/>
            <a:ext cx="10972800" cy="7772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53440" y="30175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实验环境</a:t>
            </a:r>
            <a:endParaRPr lang="en-US" sz="1920" dirty="0"/>
          </a:p>
        </p:txBody>
      </p:sp>
      <p:sp>
        <p:nvSpPr>
          <p:cNvPr id="16" name="Text 6"/>
          <p:cNvSpPr/>
          <p:nvPr/>
        </p:nvSpPr>
        <p:spPr>
          <a:xfrm>
            <a:off x="3048000" y="3017520"/>
            <a:ext cx="8299704" cy="3962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西普实验平台（10.11.0.70）Web 应用安全类实验（预置越权 / 口令 / 审计缺陷）+ 本机 JSecProbe V2.0.3</a:t>
            </a:r>
            <a:endParaRPr lang="en-US" sz="192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599688"/>
            <a:ext cx="10972800" cy="1524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3596640"/>
            <a:ext cx="10972800" cy="233172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53440" y="3779520"/>
            <a:ext cx="1716024" cy="1965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验证项（三个维度逐条验）</a:t>
            </a:r>
            <a:endParaRPr lang="en-US" sz="192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3825240"/>
            <a:ext cx="365760" cy="36576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3124200" y="384048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</a:t>
            </a:r>
            <a:endParaRPr lang="en-US" sz="1680" dirty="0"/>
          </a:p>
        </p:txBody>
      </p:sp>
      <p:sp>
        <p:nvSpPr>
          <p:cNvPr id="22" name="Text 9"/>
          <p:cNvSpPr/>
          <p:nvPr/>
        </p:nvSpPr>
        <p:spPr>
          <a:xfrm>
            <a:off x="3535680" y="3825240"/>
            <a:ext cx="61203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身份鉴别验证：检查密码策略、登录失败处理、会话管理</a:t>
            </a:r>
            <a:endParaRPr lang="en-US" sz="192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4328160"/>
            <a:ext cx="365760" cy="3657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124200" y="434340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</a:t>
            </a:r>
            <a:endParaRPr lang="en-US" sz="1680" dirty="0"/>
          </a:p>
        </p:txBody>
      </p:sp>
      <p:sp>
        <p:nvSpPr>
          <p:cNvPr id="25" name="Text 11"/>
          <p:cNvSpPr/>
          <p:nvPr/>
        </p:nvSpPr>
        <p:spPr>
          <a:xfrm>
            <a:off x="3535680" y="4328160"/>
            <a:ext cx="441350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访问控制验证：测试垂直越权和水平越权</a:t>
            </a:r>
            <a:endParaRPr lang="en-US" sz="192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4815840"/>
            <a:ext cx="365760" cy="36576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3124200" y="484632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</a:t>
            </a:r>
            <a:endParaRPr lang="en-US" sz="1680" dirty="0"/>
          </a:p>
        </p:txBody>
      </p:sp>
      <p:sp>
        <p:nvSpPr>
          <p:cNvPr id="28" name="Text 13"/>
          <p:cNvSpPr/>
          <p:nvPr/>
        </p:nvSpPr>
        <p:spPr>
          <a:xfrm>
            <a:off x="3535680" y="4815840"/>
            <a:ext cx="61203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安全审计验证：检查审计日志完整性、审计功能是否启用</a:t>
            </a:r>
            <a:endParaRPr lang="en-US" sz="192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5318760"/>
            <a:ext cx="365760" cy="36576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3124200" y="534924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④</a:t>
            </a:r>
            <a:endParaRPr lang="en-US" sz="1680" dirty="0"/>
          </a:p>
        </p:txBody>
      </p:sp>
      <p:sp>
        <p:nvSpPr>
          <p:cNvPr id="31" name="Text 15"/>
          <p:cNvSpPr/>
          <p:nvPr/>
        </p:nvSpPr>
        <p:spPr>
          <a:xfrm>
            <a:off x="3535680" y="5318760"/>
            <a:ext cx="36819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填写《应用系统安全测评记录表》</a:t>
            </a:r>
            <a:endParaRPr lang="en-US" sz="192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5919064"/>
            <a:ext cx="10972800" cy="15240"/>
          </a:xfrm>
          <a:prstGeom prst="rect">
            <a:avLst/>
          </a:prstGeom>
        </p:spPr>
      </p:pic>
      <p:pic>
        <p:nvPicPr>
          <p:cNvPr id="33" name="Image 15" descr="https://test.web.static.jianzeppt.com/ppt-temp-img3/7a10bbd5850a7dbe8f5ecf4b824eb51b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913120"/>
            <a:ext cx="10972800" cy="74676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853440" y="60960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建议用时</a:t>
            </a:r>
            <a:endParaRPr lang="en-US" sz="1920" dirty="0"/>
          </a:p>
        </p:txBody>
      </p:sp>
      <p:sp>
        <p:nvSpPr>
          <p:cNvPr id="35" name="Text 17"/>
          <p:cNvSpPr/>
          <p:nvPr/>
        </p:nvSpPr>
        <p:spPr>
          <a:xfrm>
            <a:off x="3048000" y="6096000"/>
            <a:ext cx="8299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约 35 分钟</a:t>
            </a:r>
            <a:endParaRPr lang="en-US" sz="1920" dirty="0"/>
          </a:p>
        </p:txBody>
      </p:sp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81310" y="128016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2" imgW="971550" imgH="666750" progId="Word.Document.12">
                  <p:embed/>
                </p:oleObj>
              </mc:Choice>
              <mc:Fallback>
                <p:oleObj name="" showAsIcon="1" r:id="rId22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481310" y="128016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选什么——西普平台实验清单（三个维度各选一项）</a:t>
            </a:r>
            <a:endParaRPr lang="en-US" sz="276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22325" y="1201420"/>
          <a:ext cx="10455275" cy="5152390"/>
        </p:xfrm>
        <a:graphic>
          <a:graphicData uri="http://schemas.openxmlformats.org/drawingml/2006/table">
            <a:tbl>
              <a:tblPr/>
              <a:tblGrid>
                <a:gridCol w="1478915"/>
                <a:gridCol w="2062480"/>
                <a:gridCol w="6913880"/>
              </a:tblGrid>
              <a:tr h="509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编号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西普平台实验 / 你要验什么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对应维度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Web 应用身份鉴别测试 → 口令策略：注册/改密时试 123456、Password123、P@ssw0rd123，看哪些被拒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Web 应用身份鉴别测试 → 登录失败与会话：连错 5 次看是否锁定；登录后静置 15 分钟看是否退出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Web 应用访问控制测试 → 垂直越权：普通账号直接访问 /admin 等管理路径，看是否被拒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A4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Web 应用访问控制测试 → 水平越权：A 账号登录后改订单号 / 用户 ID，看能否读到 B 的数据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A5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Web 应用安全审计测试 → 日志：做一次登录失败和一次越权尝试，去后台看有没有记录、字段全不全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A6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Web 应用传输安全测试 → 加密：看地址栏是否 https、能否降级 http、证书是否有效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 / 8.1.4.7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建议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时间够就 A1 + A4 + A5：口令、越权、审计各一条，正好覆盖三个维度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课内完成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提醒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只测平台提供的靶场应用，不扫、不测任何校外真实站点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纪律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768965" y="4318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" imgW="971550" imgH="666750" progId="Word.Document.12">
                  <p:embed/>
                </p:oleObj>
              </mc:Choice>
              <mc:Fallback>
                <p:oleObj name="" showAsIcon="1" r:id="rId4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68965" y="4318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实验②怎么判——JSecProbe 录入与四档判定</a:t>
            </a:r>
            <a:endParaRPr lang="en-US" sz="276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22325" y="1201420"/>
          <a:ext cx="10455275" cy="5152390"/>
        </p:xfrm>
        <a:graphic>
          <a:graphicData uri="http://schemas.openxmlformats.org/drawingml/2006/table">
            <a:tbl>
              <a:tblPr/>
              <a:tblGrid>
                <a:gridCol w="1478915"/>
                <a:gridCol w="2062480"/>
                <a:gridCol w="6913880"/>
              </a:tblGrid>
              <a:tr h="509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填什么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怎么填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示例（水平越权）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测评对象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应用名称 + 版本 + 访问地址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简易 OA 系统 V1.0 / http://靶场地址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测评项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条款编号 + 名称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8.1.4.2 c) 访问控制-越权访问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测评方法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写清你用了什么办法验的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 账号登录后修改订单 ID 参数，抓包对比响应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核查结果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写看到的事实，不写结论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证据编号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填截图文件名，与截图包对应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A4-02.png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符合性判定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四选一：符合 / 部分符合 / 不符合 / 不适用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问题描述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写清"做到哪、差在哪"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服务端未校验资源归属，改 ID 即可越权读取他人订单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整改建议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给可执行动作 + 完成期限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服务端增加资源归属校验；5 个工作日内完成并复测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768965" y="4318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" imgW="971550" imgH="666750" progId="Word.Document.12">
                  <p:embed/>
                </p:oleObj>
              </mc:Choice>
              <mc:Fallback>
                <p:oleObj name="" showAsIcon="1" r:id="rId4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68965" y="4318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实验③交什么——成果与提交前自查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alphaModFix amt="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64920"/>
            <a:ext cx="10972800" cy="5394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582af097caa18837a8bd7a129f464e6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64920"/>
            <a:ext cx="10972800" cy="8229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53440" y="1447800"/>
            <a:ext cx="1716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类别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3048000" y="1447800"/>
            <a:ext cx="82997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要求</a:t>
            </a:r>
            <a:endParaRPr lang="en-US" sz="2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087880"/>
            <a:ext cx="10972800" cy="7467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53440" y="227076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必交 1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3048000" y="2270760"/>
            <a:ext cx="8299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《应用系统安全测评记录表》：三个维度的验证项全填（验证方法 + 实测结果 + 四档判定）</a:t>
            </a:r>
            <a:endParaRPr lang="en-US" sz="192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2828696"/>
            <a:ext cx="10972800" cy="15240"/>
          </a:xfrm>
          <a:prstGeom prst="rect">
            <a:avLst/>
          </a:prstGeom>
        </p:spPr>
      </p:pic>
      <p:pic>
        <p:nvPicPr>
          <p:cNvPr id="14" name="Image 7" descr="https://test.web.static.jianzeppt.com/ppt-temp-img3/d511bb326a1c6d93ff613249514a8a0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834640"/>
            <a:ext cx="10972800" cy="7772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53440" y="30175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必交 2</a:t>
            </a:r>
            <a:endParaRPr lang="en-US" sz="1920" dirty="0"/>
          </a:p>
        </p:txBody>
      </p:sp>
      <p:sp>
        <p:nvSpPr>
          <p:cNvPr id="16" name="Text 6"/>
          <p:cNvSpPr/>
          <p:nvPr/>
        </p:nvSpPr>
        <p:spPr>
          <a:xfrm>
            <a:off x="3048000" y="3017520"/>
            <a:ext cx="8299704" cy="3962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操作取证包：每条判定对应的截图或抓包片段，编号与记录表"证据"列一一对应</a:t>
            </a:r>
            <a:endParaRPr lang="en-US" sz="192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599688"/>
            <a:ext cx="10972800" cy="1524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3596640"/>
            <a:ext cx="10972800" cy="233172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53440" y="3779520"/>
            <a:ext cx="1716024" cy="1965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必交 3</a:t>
            </a:r>
            <a:endParaRPr lang="en-US" sz="192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3825240"/>
            <a:ext cx="365760" cy="36576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3124200" y="384048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</a:t>
            </a:r>
            <a:endParaRPr lang="en-US" sz="1680" dirty="0"/>
          </a:p>
        </p:txBody>
      </p:sp>
      <p:sp>
        <p:nvSpPr>
          <p:cNvPr id="22" name="Text 9"/>
          <p:cNvSpPr/>
          <p:nvPr/>
        </p:nvSpPr>
        <p:spPr>
          <a:xfrm>
            <a:off x="3535680" y="3825240"/>
            <a:ext cx="61203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JSecProbe 判定结果导出页（含项目名称与本人账号）</a:t>
            </a:r>
            <a:endParaRPr lang="en-US" sz="192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4328160"/>
            <a:ext cx="365760" cy="3657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124200" y="434340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</a:t>
            </a:r>
            <a:endParaRPr lang="en-US" sz="1680" dirty="0"/>
          </a:p>
        </p:txBody>
      </p:sp>
      <p:sp>
        <p:nvSpPr>
          <p:cNvPr id="25" name="Text 11"/>
          <p:cNvSpPr/>
          <p:nvPr/>
        </p:nvSpPr>
        <p:spPr>
          <a:xfrm>
            <a:off x="3535680" y="4328160"/>
            <a:ext cx="441350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提交方式：学号_姓名_实验4.4_记录表.docx ＋ 学号_姓名_实验4.4_截图.zip</a:t>
            </a:r>
            <a:endParaRPr lang="en-US" sz="192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4815840"/>
            <a:ext cx="365760" cy="36576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3124200" y="484632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</a:t>
            </a:r>
            <a:endParaRPr lang="en-US" sz="1680" dirty="0"/>
          </a:p>
        </p:txBody>
      </p:sp>
      <p:sp>
        <p:nvSpPr>
          <p:cNvPr id="28" name="Text 13"/>
          <p:cNvSpPr/>
          <p:nvPr/>
        </p:nvSpPr>
        <p:spPr>
          <a:xfrm>
            <a:off x="3535680" y="4815840"/>
            <a:ext cx="61203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提交至学习通 → 任务 4.4 → 作业区（课内完成并提交）</a:t>
            </a:r>
            <a:endParaRPr lang="en-US" sz="192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5318760"/>
            <a:ext cx="365760" cy="36576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3124200" y="534924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④</a:t>
            </a:r>
            <a:endParaRPr lang="en-US" sz="1680" dirty="0"/>
          </a:p>
        </p:txBody>
      </p:sp>
      <p:sp>
        <p:nvSpPr>
          <p:cNvPr id="31" name="Text 15"/>
          <p:cNvSpPr/>
          <p:nvPr/>
        </p:nvSpPr>
        <p:spPr>
          <a:xfrm>
            <a:off x="3535680" y="5318760"/>
            <a:ext cx="36819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自查：☐ 每条判定都有截图或抓包 ☐ 核查结果写的是事实不是结论</a:t>
            </a:r>
            <a:endParaRPr lang="en-US" sz="192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5919064"/>
            <a:ext cx="10972800" cy="15240"/>
          </a:xfrm>
          <a:prstGeom prst="rect">
            <a:avLst/>
          </a:prstGeom>
        </p:spPr>
      </p:pic>
      <p:pic>
        <p:nvPicPr>
          <p:cNvPr id="33" name="Image 15" descr="https://test.web.static.jianzeppt.com/ppt-temp-img3/7a10bbd5850a7dbe8f5ecf4b824eb51b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913120"/>
            <a:ext cx="10972800" cy="74676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853440" y="60960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评分看点</a:t>
            </a:r>
            <a:endParaRPr lang="en-US" sz="1920" dirty="0"/>
          </a:p>
        </p:txBody>
      </p:sp>
      <p:sp>
        <p:nvSpPr>
          <p:cNvPr id="35" name="Text 17"/>
          <p:cNvSpPr/>
          <p:nvPr/>
        </p:nvSpPr>
        <p:spPr>
          <a:xfrm>
            <a:off x="3048000" y="6096000"/>
            <a:ext cx="8299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验证操作 30% ＋ 取证质量 25% ＋ 判定与描述 25% ＋ 职业素养 20%</a:t>
            </a:r>
            <a:endParaRPr lang="en-US" sz="1920" dirty="0"/>
          </a:p>
        </p:txBody>
      </p:sp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81310" y="128016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2" imgW="971550" imgH="666750" progId="Word.Document.12">
                  <p:embed/>
                </p:oleObj>
              </mc:Choice>
              <mc:Fallback>
                <p:oleObj name="" showAsIcon="1" r:id="rId22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481310" y="128016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本讲配套素材——都在「各类表格/4.4」目录里，按编号取用</a:t>
            </a:r>
            <a:endParaRPr lang="en-US" sz="276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22325" y="1201420"/>
          <a:ext cx="10455275" cy="5152390"/>
        </p:xfrm>
        <a:graphic>
          <a:graphicData uri="http://schemas.openxmlformats.org/drawingml/2006/table">
            <a:tbl>
              <a:tblPr/>
              <a:tblGrid>
                <a:gridCol w="1478915"/>
                <a:gridCol w="2062480"/>
                <a:gridCol w="6913880"/>
              </a:tblGrid>
              <a:tr h="509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素材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用在哪一步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里面有什么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素材1：案例导入文字材料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课堂导入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越权泄露事件的经过、漏洞位置与暴露的数据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素材2：《应用系统安全测评记录表》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实验②判定与出表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身份鉴别 / 访问控制 / 安全审计三个维度的记录表模板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素材3、素材4：模拟测试用例（身份鉴别 / 访问控制）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实验①动手验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口令复杂度、登录失败、垂直越权、水平越权的分步用例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素材5：模拟应用系统（简易OA）预设缺陷清单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实验①动手验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靶场里预置了哪些缺陷、各自怎么触发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素材7：越权漏洞测试用例卡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验访问控制（进阶）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含抓包修改参数的用例，以及每种实测结果该判哪一档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素材8：JSecProbe 录入与判定操作卡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实验②判定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现场核查路径、四档判定口径、证据编号规则、导出步骤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素材9：应用系统安全功能核查速查卡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全流程速查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三个维度验什么、怎么验、什么算不合格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素材10：应用系统安全功能验证清单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实验①动手验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验证项 — 操作步骤 — 预期结果 — 不合规长什么样 四列对照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素材6：课后作业——越权漏洞分析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课后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分析题与提交要求（不少于 400 字）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768965" y="4318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" imgW="971550" imgH="666750" progId="Word.Document.12">
                  <p:embed/>
                </p:oleObj>
              </mc:Choice>
              <mc:Fallback>
                <p:oleObj name="" showAsIcon="1" r:id="rId4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68965" y="4318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Part.04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回顾与拓展——易错点、作业与下节预告</a:t>
            </a:r>
            <a:endParaRPr lang="en-US" sz="5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职业提醒——你放过的那次越权，会变成别人的信息泄露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09600"/>
            <a:ext cx="91440" cy="487680"/>
          </a:xfrm>
          <a:prstGeom prst="rect">
            <a:avLst/>
          </a:prstGeom>
        </p:spPr>
      </p:pic>
      <p:pic>
        <p:nvPicPr>
          <p:cNvPr id="7" name="Image 4" descr="https://test.web.static.jianzeppt.com/ppt-temp-img3/9ad5fe541b6860dc76693735cbbed4a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5623560"/>
            <a:ext cx="9311640" cy="80772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950720" y="5821680"/>
            <a:ext cx="8314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kern="0" spc="7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一句话：你多试一次越权，上线后就少一次真实的信息泄露。</a:t>
            </a:r>
            <a:endParaRPr lang="en-US" sz="2160" dirty="0"/>
          </a:p>
        </p:txBody>
      </p:sp>
      <p:pic>
        <p:nvPicPr>
          <p:cNvPr id="9" name="Image 5" descr="https://test.web.static.jianzeppt.com/ppt-temp-img3/5100fa13e1824b1d812703b3f69cd46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71600"/>
            <a:ext cx="3505200" cy="38100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981200" y="16916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守护</a:t>
            </a:r>
            <a:endParaRPr lang="en-US" sz="2640" dirty="0"/>
          </a:p>
        </p:txBody>
      </p:sp>
      <p:pic>
        <p:nvPicPr>
          <p:cNvPr id="11" name="Image 6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2468880"/>
            <a:ext cx="91440" cy="9144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82040" y="23774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应用系统承载着海量用户数据</a:t>
            </a:r>
            <a:endParaRPr lang="en-US" sz="1920" dirty="0"/>
          </a:p>
        </p:txBody>
      </p:sp>
      <p:pic>
        <p:nvPicPr>
          <p:cNvPr id="13" name="Image 7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307080"/>
            <a:ext cx="91440" cy="914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082040" y="32156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一次安全功能失效，可能导致千万用户信息泄露</a:t>
            </a:r>
            <a:endParaRPr lang="en-US" sz="1920" dirty="0"/>
          </a:p>
        </p:txBody>
      </p:sp>
      <p:pic>
        <p:nvPicPr>
          <p:cNvPr id="15" name="Image 8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145280"/>
            <a:ext cx="91440" cy="9144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082040" y="40538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每一次验证，都是在守护用户隐私</a:t>
            </a:r>
            <a:endParaRPr lang="en-US" sz="192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1386840"/>
            <a:ext cx="3474720" cy="60960"/>
          </a:xfrm>
          <a:prstGeom prst="rect">
            <a:avLst/>
          </a:prstGeom>
        </p:spPr>
      </p:pic>
      <p:pic>
        <p:nvPicPr>
          <p:cNvPr id="18" name="Image 10" descr="https://test.web.static.jianzeppt.com/ppt-temp-img3/5100fa13e1824b1d812703b3f69cd46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371600"/>
            <a:ext cx="3505200" cy="381000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5730240" y="16916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担当</a:t>
            </a:r>
            <a:endParaRPr lang="en-US" sz="2640" dirty="0"/>
          </a:p>
        </p:txBody>
      </p:sp>
      <p:pic>
        <p:nvPicPr>
          <p:cNvPr id="20" name="Image 11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80" y="2438400"/>
            <a:ext cx="91440" cy="9144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815840" y="2346960"/>
            <a:ext cx="2782824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《个保法》规定处理个人信息遵循“最小必要”原则</a:t>
            </a:r>
            <a:endParaRPr lang="en-US" sz="1920" dirty="0"/>
          </a:p>
        </p:txBody>
      </p:sp>
      <p:pic>
        <p:nvPicPr>
          <p:cNvPr id="22" name="Image 12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80" y="3566160"/>
            <a:ext cx="91440" cy="9144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4815840" y="347472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系统安全功能合规，是法律的基本要求</a:t>
            </a:r>
            <a:endParaRPr lang="en-US" sz="1920" dirty="0"/>
          </a:p>
        </p:txBody>
      </p:sp>
      <p:pic>
        <p:nvPicPr>
          <p:cNvPr id="24" name="Image 13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80" y="4373880"/>
            <a:ext cx="91440" cy="9144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4815840" y="42824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测评工程师为“依法治网”提供技术支撑</a:t>
            </a:r>
            <a:endParaRPr lang="en-US" sz="192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58640" y="1386840"/>
            <a:ext cx="3474720" cy="60960"/>
          </a:xfrm>
          <a:prstGeom prst="rect">
            <a:avLst/>
          </a:prstGeom>
        </p:spPr>
      </p:pic>
      <p:pic>
        <p:nvPicPr>
          <p:cNvPr id="27" name="Image 15" descr="https://test.web.static.jianzeppt.com/ppt-temp-img3/5100fa13e1824b1d812703b3f69cd46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1371600"/>
            <a:ext cx="3505200" cy="381000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9464040" y="16916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匠心</a:t>
            </a:r>
            <a:endParaRPr lang="en-US" sz="2640" dirty="0"/>
          </a:p>
        </p:txBody>
      </p:sp>
      <p:pic>
        <p:nvPicPr>
          <p:cNvPr id="29" name="Image 16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2468880"/>
            <a:ext cx="91440" cy="9144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8564880" y="23774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越权漏洞隐藏在参数、请求体等细微之处</a:t>
            </a:r>
            <a:endParaRPr lang="en-US" sz="1920" dirty="0"/>
          </a:p>
        </p:txBody>
      </p:sp>
      <p:pic>
        <p:nvPicPr>
          <p:cNvPr id="31" name="Image 17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3307080"/>
            <a:ext cx="91440" cy="91440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8564880" y="32156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需耐心细致，不放过任何一个可疑点</a:t>
            </a:r>
            <a:endParaRPr lang="en-US" sz="1920" dirty="0"/>
          </a:p>
        </p:txBody>
      </p:sp>
      <p:pic>
        <p:nvPicPr>
          <p:cNvPr id="33" name="Image 18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4145280"/>
            <a:ext cx="91440" cy="9144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564880" y="40538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精益求精是对职业的敬畏与对用户负责</a:t>
            </a:r>
            <a:endParaRPr lang="en-US" sz="1920" dirty="0"/>
          </a:p>
        </p:txBody>
      </p:sp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7680" y="1386840"/>
            <a:ext cx="3474720" cy="60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</a:t>
            </a:r>
            <a:endParaRPr lang="en-US" sz="276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09600" y="1108710"/>
            <a:ext cx="10972800" cy="5181600"/>
            <a:chOff x="960" y="1746"/>
            <a:chExt cx="17280" cy="8160"/>
          </a:xfrm>
        </p:grpSpPr>
        <p:pic>
          <p:nvPicPr>
            <p:cNvPr id="6" name="Image 3" descr="https://test.web.static.jianzeppt.com/ppt-temp-img3/e37b5a1a6275d03b21065218e47ebea7.png?x-oss-process=image/resize,w_1440,h_800,m_lfit/format,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0" y="3066"/>
              <a:ext cx="17280" cy="864"/>
            </a:xfrm>
            <a:prstGeom prst="rect">
              <a:avLst/>
            </a:prstGeom>
          </p:spPr>
        </p:pic>
        <p:pic>
          <p:nvPicPr>
            <p:cNvPr id="7" name="Image 4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0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8" name="Text 1"/>
            <p:cNvSpPr/>
            <p:nvPr/>
          </p:nvSpPr>
          <p:spPr>
            <a:xfrm>
              <a:off x="141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一、身份鉴别验证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9" name="Image 5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6" y="5346"/>
              <a:ext cx="768" cy="48"/>
            </a:xfrm>
            <a:prstGeom prst="rect">
              <a:avLst/>
            </a:prstGeom>
          </p:spPr>
        </p:pic>
        <p:pic>
          <p:nvPicPr>
            <p:cNvPr id="10" name="Image 6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2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1" name="Text 2"/>
            <p:cNvSpPr/>
            <p:nvPr/>
          </p:nvSpPr>
          <p:spPr>
            <a:xfrm>
              <a:off x="573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二、访问控制验证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2" name="Image 7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56" y="5466"/>
              <a:ext cx="768" cy="48"/>
            </a:xfrm>
            <a:prstGeom prst="rect">
              <a:avLst/>
            </a:prstGeom>
          </p:spPr>
        </p:pic>
        <p:pic>
          <p:nvPicPr>
            <p:cNvPr id="13" name="Image 8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4" name="Text 3"/>
            <p:cNvSpPr/>
            <p:nvPr/>
          </p:nvSpPr>
          <p:spPr>
            <a:xfrm>
              <a:off x="1005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三、安全审计验证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5" name="Image 9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376" y="5466"/>
              <a:ext cx="768" cy="48"/>
            </a:xfrm>
            <a:prstGeom prst="rect">
              <a:avLst/>
            </a:prstGeom>
          </p:spPr>
        </p:pic>
        <p:pic>
          <p:nvPicPr>
            <p:cNvPr id="16" name="Image 10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06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7" name="Text 4"/>
            <p:cNvSpPr/>
            <p:nvPr/>
          </p:nvSpPr>
          <p:spPr>
            <a:xfrm>
              <a:off x="1437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四、常见安全问题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8" name="Image 11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696" y="5466"/>
              <a:ext cx="768" cy="48"/>
            </a:xfrm>
            <a:prstGeom prst="rect">
              <a:avLst/>
            </a:prstGeom>
          </p:spPr>
        </p:pic>
        <p:sp>
          <p:nvSpPr>
            <p:cNvPr id="19" name="Text 5"/>
            <p:cNvSpPr/>
            <p:nvPr/>
          </p:nvSpPr>
          <p:spPr>
            <a:xfrm>
              <a:off x="1800" y="5658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唯一性与复杂度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（密码策略）</a:t>
              </a:r>
              <a:endParaRPr lang="en-US" sz="1920" dirty="0"/>
            </a:p>
          </p:txBody>
        </p:sp>
        <p:sp>
          <p:nvSpPr>
            <p:cNvPr id="20" name="Text 6"/>
            <p:cNvSpPr/>
            <p:nvPr/>
          </p:nvSpPr>
          <p:spPr>
            <a:xfrm>
              <a:off x="1800" y="6834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登录失败处理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（锁定机制）</a:t>
              </a:r>
              <a:endParaRPr lang="en-US" sz="1920" dirty="0"/>
            </a:p>
          </p:txBody>
        </p:sp>
        <p:sp>
          <p:nvSpPr>
            <p:cNvPr id="21" name="Text 7"/>
            <p:cNvSpPr/>
            <p:nvPr/>
          </p:nvSpPr>
          <p:spPr>
            <a:xfrm>
              <a:off x="1800" y="7986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远程管理安全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（加密协议）</a:t>
              </a:r>
              <a:endParaRPr lang="en-US" sz="1920" dirty="0"/>
            </a:p>
          </p:txBody>
        </p:sp>
        <p:sp>
          <p:nvSpPr>
            <p:cNvPr id="22" name="Text 8"/>
            <p:cNvSpPr/>
            <p:nvPr/>
          </p:nvSpPr>
          <p:spPr>
            <a:xfrm>
              <a:off x="1800" y="9162"/>
              <a:ext cx="3038" cy="3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3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多因素认证</a:t>
              </a:r>
              <a:r>
                <a:rPr lang="en-US" sz="132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（三级以上）</a:t>
              </a:r>
              <a:endParaRPr lang="en-US" sz="132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6120" y="5802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账户管理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（默认/最小权限）</a:t>
              </a:r>
              <a:endParaRPr lang="en-US" sz="1920" dirty="0"/>
            </a:p>
          </p:txBody>
        </p:sp>
        <p:sp>
          <p:nvSpPr>
            <p:cNvPr id="24" name="Text 10"/>
            <p:cNvSpPr/>
            <p:nvPr/>
          </p:nvSpPr>
          <p:spPr>
            <a:xfrm>
              <a:off x="6120" y="6978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垂直越权测试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（低→高权限）</a:t>
              </a:r>
              <a:endParaRPr lang="en-US" sz="1920" dirty="0"/>
            </a:p>
          </p:txBody>
        </p:sp>
        <p:sp>
          <p:nvSpPr>
            <p:cNvPr id="25" name="Text 11"/>
            <p:cNvSpPr/>
            <p:nvPr/>
          </p:nvSpPr>
          <p:spPr>
            <a:xfrm>
              <a:off x="6120" y="8130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水平越权测试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（同级用户数据）</a:t>
              </a:r>
              <a:endParaRPr lang="en-US" sz="1920" dirty="0"/>
            </a:p>
          </p:txBody>
        </p:sp>
        <p:sp>
          <p:nvSpPr>
            <p:cNvPr id="26" name="Text 12"/>
            <p:cNvSpPr/>
            <p:nvPr/>
          </p:nvSpPr>
          <p:spPr>
            <a:xfrm>
              <a:off x="10440" y="5778"/>
              <a:ext cx="2726" cy="10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审计功能是否启用</a:t>
              </a:r>
              <a:endParaRPr lang="en-US" sz="1920" dirty="0"/>
            </a:p>
          </p:txBody>
        </p:sp>
        <p:pic>
          <p:nvPicPr>
            <p:cNvPr id="27" name="Image 12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52" y="5994"/>
              <a:ext cx="144" cy="144"/>
            </a:xfrm>
            <a:prstGeom prst="rect">
              <a:avLst/>
            </a:prstGeom>
          </p:spPr>
        </p:pic>
        <p:sp>
          <p:nvSpPr>
            <p:cNvPr id="28" name="Text 13"/>
            <p:cNvSpPr/>
            <p:nvPr/>
          </p:nvSpPr>
          <p:spPr>
            <a:xfrm>
              <a:off x="10440" y="7122"/>
              <a:ext cx="2726" cy="10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审计内容是否完整</a:t>
              </a:r>
              <a:endParaRPr lang="en-US" sz="1920" dirty="0"/>
            </a:p>
          </p:txBody>
        </p:sp>
        <p:pic>
          <p:nvPicPr>
            <p:cNvPr id="29" name="Image 13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52" y="7338"/>
              <a:ext cx="144" cy="144"/>
            </a:xfrm>
            <a:prstGeom prst="rect">
              <a:avLst/>
            </a:prstGeom>
          </p:spPr>
        </p:pic>
        <p:sp>
          <p:nvSpPr>
            <p:cNvPr id="30" name="Text 14"/>
            <p:cNvSpPr/>
            <p:nvPr/>
          </p:nvSpPr>
          <p:spPr>
            <a:xfrm>
              <a:off x="10440" y="8466"/>
              <a:ext cx="2726" cy="10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审计记录是否受保护</a:t>
              </a:r>
              <a:endParaRPr lang="en-US" sz="1920" dirty="0"/>
            </a:p>
          </p:txBody>
        </p:sp>
        <p:pic>
          <p:nvPicPr>
            <p:cNvPr id="31" name="Image 14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52" y="8682"/>
              <a:ext cx="144" cy="144"/>
            </a:xfrm>
            <a:prstGeom prst="rect">
              <a:avLst/>
            </a:prstGeom>
          </p:spPr>
        </p:pic>
        <p:sp>
          <p:nvSpPr>
            <p:cNvPr id="32" name="Text 15"/>
            <p:cNvSpPr/>
            <p:nvPr/>
          </p:nvSpPr>
          <p:spPr>
            <a:xfrm>
              <a:off x="14760" y="5778"/>
              <a:ext cx="2726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密码策略未强制</a:t>
              </a:r>
              <a:endParaRPr lang="en-US" sz="1920" dirty="0"/>
            </a:p>
          </p:txBody>
        </p:sp>
        <p:pic>
          <p:nvPicPr>
            <p:cNvPr id="33" name="Image 15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472" y="5994"/>
              <a:ext cx="144" cy="144"/>
            </a:xfrm>
            <a:prstGeom prst="rect">
              <a:avLst/>
            </a:prstGeom>
          </p:spPr>
        </p:pic>
        <p:sp>
          <p:nvSpPr>
            <p:cNvPr id="34" name="Text 16"/>
            <p:cNvSpPr/>
            <p:nvPr/>
          </p:nvSpPr>
          <p:spPr>
            <a:xfrm>
              <a:off x="14760" y="6594"/>
              <a:ext cx="2726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无登录失败限制</a:t>
              </a:r>
              <a:endParaRPr lang="en-US" sz="1920" dirty="0"/>
            </a:p>
          </p:txBody>
        </p:sp>
        <p:pic>
          <p:nvPicPr>
            <p:cNvPr id="35" name="Image 16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472" y="6810"/>
              <a:ext cx="144" cy="144"/>
            </a:xfrm>
            <a:prstGeom prst="rect">
              <a:avLst/>
            </a:prstGeom>
          </p:spPr>
        </p:pic>
        <p:sp>
          <p:nvSpPr>
            <p:cNvPr id="36" name="Text 17"/>
            <p:cNvSpPr/>
            <p:nvPr/>
          </p:nvSpPr>
          <p:spPr>
            <a:xfrm>
              <a:off x="14760" y="7410"/>
              <a:ext cx="1574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越权漏洞</a:t>
              </a:r>
              <a:endParaRPr lang="en-US" sz="1920" dirty="0"/>
            </a:p>
          </p:txBody>
        </p:sp>
        <p:pic>
          <p:nvPicPr>
            <p:cNvPr id="37" name="Image 17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472" y="7626"/>
              <a:ext cx="144" cy="144"/>
            </a:xfrm>
            <a:prstGeom prst="rect">
              <a:avLst/>
            </a:prstGeom>
          </p:spPr>
        </p:pic>
        <p:sp>
          <p:nvSpPr>
            <p:cNvPr id="38" name="Text 18"/>
            <p:cNvSpPr/>
            <p:nvPr/>
          </p:nvSpPr>
          <p:spPr>
            <a:xfrm>
              <a:off x="14760" y="8226"/>
              <a:ext cx="2342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审计功能缺失</a:t>
              </a:r>
              <a:endParaRPr lang="en-US" sz="1920" dirty="0"/>
            </a:p>
          </p:txBody>
        </p:sp>
        <p:pic>
          <p:nvPicPr>
            <p:cNvPr id="39" name="Image 18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472" y="8442"/>
              <a:ext cx="144" cy="144"/>
            </a:xfrm>
            <a:prstGeom prst="rect">
              <a:avLst/>
            </a:prstGeom>
          </p:spPr>
        </p:pic>
        <p:pic>
          <p:nvPicPr>
            <p:cNvPr id="40" name="Image 19" descr="preencoded.png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192" y="1746"/>
              <a:ext cx="6840" cy="1368"/>
            </a:xfrm>
            <a:prstGeom prst="rect">
              <a:avLst/>
            </a:prstGeom>
            <a:effectLst>
              <a:outerShdw blurRad="1161288000" dist="774192000" dir="-1" algn="bl" rotWithShape="0">
                <a:srgbClr val="000000">
                  <a:alpha val="1000000000"/>
                </a:srgbClr>
              </a:outerShdw>
            </a:effectLst>
          </p:spPr>
        </p:pic>
        <p:sp>
          <p:nvSpPr>
            <p:cNvPr id="41" name="Text 19"/>
            <p:cNvSpPr/>
            <p:nvPr/>
          </p:nvSpPr>
          <p:spPr>
            <a:xfrm>
              <a:off x="6960" y="2034"/>
              <a:ext cx="5318" cy="79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64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应用系统安全功能验证</a:t>
              </a:r>
              <a:endParaRPr lang="en-US" sz="264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112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630680"/>
            <a:ext cx="975360" cy="4876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112520" y="169164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920" dirty="0"/>
          </a:p>
        </p:txBody>
      </p:sp>
      <p:sp>
        <p:nvSpPr>
          <p:cNvPr id="9" name="Text 2"/>
          <p:cNvSpPr/>
          <p:nvPr/>
        </p:nvSpPr>
        <p:spPr>
          <a:xfrm>
            <a:off x="2087880" y="1630680"/>
            <a:ext cx="9244584" cy="594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用素材2 完成三个维度的《应用系统安全测评记录表》，连同截图包提交至学习通</a:t>
            </a:r>
            <a:endParaRPr lang="en-US" sz="216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727960"/>
            <a:ext cx="10972800" cy="1112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2987040"/>
            <a:ext cx="975360" cy="48768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112520" y="304800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920" dirty="0"/>
          </a:p>
        </p:txBody>
      </p:sp>
      <p:sp>
        <p:nvSpPr>
          <p:cNvPr id="13" name="Text 4"/>
          <p:cNvSpPr/>
          <p:nvPr/>
        </p:nvSpPr>
        <p:spPr>
          <a:xfrm>
            <a:off x="2087880" y="2987040"/>
            <a:ext cx="9244584" cy="594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完成作业：04.4 应用系统安全功能验证（含越权漏洞分析题）</a:t>
            </a:r>
            <a:endParaRPr lang="en-US" sz="216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084320"/>
            <a:ext cx="10972800" cy="1112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4343400"/>
            <a:ext cx="975360" cy="48768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112520" y="440436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1920" dirty="0"/>
          </a:p>
        </p:txBody>
      </p:sp>
      <p:sp>
        <p:nvSpPr>
          <p:cNvPr id="17" name="Text 6"/>
          <p:cNvSpPr/>
          <p:nvPr/>
        </p:nvSpPr>
        <p:spPr>
          <a:xfrm>
            <a:off x="2087880" y="4343400"/>
            <a:ext cx="9244584" cy="594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对照素材1，自查你填的身份鉴别判定有没有漏项，写 3 行说明</a:t>
            </a:r>
            <a:endParaRPr lang="en-US" sz="216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5440680"/>
            <a:ext cx="10972800" cy="1112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8680" y="5699760"/>
            <a:ext cx="975360" cy="48768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112520" y="576072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1920" dirty="0"/>
          </a:p>
        </p:txBody>
      </p:sp>
      <p:sp>
        <p:nvSpPr>
          <p:cNvPr id="21" name="Text 8"/>
          <p:cNvSpPr/>
          <p:nvPr/>
        </p:nvSpPr>
        <p:spPr>
          <a:xfrm>
            <a:off x="2087880" y="5699760"/>
            <a:ext cx="9244584" cy="594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预习4.5“漏洞扫描与结果分析”相关内容</a:t>
            </a:r>
            <a:endParaRPr lang="en-US" sz="2160" dirty="0"/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43810" y="46101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17" imgW="971550" imgH="666750" progId="Word.Document.12">
                  <p:embed/>
                </p:oleObj>
              </mc:Choice>
              <mc:Fallback>
                <p:oleObj name="" showAsIcon="1" r:id="rId17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43810" y="46101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a98a11d194ece0f125776874041874d2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0"/>
            <a:ext cx="6227064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40" b="1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下节课预告</a:t>
            </a:r>
            <a:endParaRPr lang="en-US" sz="384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6217920" cy="106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1219200" y="1158240"/>
            <a:ext cx="56784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活动4.5：漏洞扫描与结果分析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286000"/>
            <a:ext cx="6217920" cy="2682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1173480" y="2545080"/>
            <a:ext cx="5708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预告内容：</a:t>
            </a:r>
            <a:endParaRPr lang="en-US" sz="1920" dirty="0"/>
          </a:p>
        </p:txBody>
      </p:sp>
      <p:sp>
        <p:nvSpPr>
          <p:cNvPr id="8" name="Text 3"/>
          <p:cNvSpPr/>
          <p:nvPr/>
        </p:nvSpPr>
        <p:spPr>
          <a:xfrm>
            <a:off x="1173480" y="306324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9" name="Text 4"/>
          <p:cNvSpPr/>
          <p:nvPr/>
        </p:nvSpPr>
        <p:spPr>
          <a:xfrm>
            <a:off x="1478280" y="3048000"/>
            <a:ext cx="49164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漏洞扫描原理（漏洞库匹配、端口扫描、服务识别）</a:t>
            </a:r>
            <a:endParaRPr lang="en-US" sz="1680" dirty="0"/>
          </a:p>
        </p:txBody>
      </p:sp>
      <p:sp>
        <p:nvSpPr>
          <p:cNvPr id="10" name="Text 5"/>
          <p:cNvSpPr/>
          <p:nvPr/>
        </p:nvSpPr>
        <p:spPr>
          <a:xfrm>
            <a:off x="1173480" y="348996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1" name="Text 6"/>
          <p:cNvSpPr/>
          <p:nvPr/>
        </p:nvSpPr>
        <p:spPr>
          <a:xfrm>
            <a:off x="1478280" y="3474720"/>
            <a:ext cx="38496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漏洞扫描工具使用（Nessus/OpenVAS）</a:t>
            </a:r>
            <a:endParaRPr lang="en-US" sz="1680" dirty="0"/>
          </a:p>
        </p:txBody>
      </p:sp>
      <p:sp>
        <p:nvSpPr>
          <p:cNvPr id="12" name="Text 7"/>
          <p:cNvSpPr/>
          <p:nvPr/>
        </p:nvSpPr>
        <p:spPr>
          <a:xfrm>
            <a:off x="1173480" y="393192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3" name="Text 8"/>
          <p:cNvSpPr/>
          <p:nvPr/>
        </p:nvSpPr>
        <p:spPr>
          <a:xfrm>
            <a:off x="1478280" y="3916680"/>
            <a:ext cx="47945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扫描报告解读（CVSS评分、漏洞分类、修复建议）</a:t>
            </a:r>
            <a:endParaRPr lang="en-US" sz="1680" dirty="0"/>
          </a:p>
        </p:txBody>
      </p:sp>
      <p:sp>
        <p:nvSpPr>
          <p:cNvPr id="14" name="Text 9"/>
          <p:cNvSpPr/>
          <p:nvPr/>
        </p:nvSpPr>
        <p:spPr>
          <a:xfrm>
            <a:off x="1173480" y="435864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5" name="Text 10"/>
          <p:cNvSpPr/>
          <p:nvPr/>
        </p:nvSpPr>
        <p:spPr>
          <a:xfrm>
            <a:off x="1478280" y="4343400"/>
            <a:ext cx="19293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漏洞验证与风险评估</a:t>
            </a:r>
            <a:endParaRPr lang="en-US" sz="168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5005070"/>
            <a:ext cx="6217920" cy="1813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7" name="Text 11"/>
          <p:cNvSpPr/>
          <p:nvPr/>
        </p:nvSpPr>
        <p:spPr>
          <a:xfrm>
            <a:off x="1173480" y="5278755"/>
            <a:ext cx="5708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课前准备：</a:t>
            </a:r>
            <a:endParaRPr lang="en-US" sz="1920" dirty="0"/>
          </a:p>
        </p:txBody>
      </p:sp>
      <p:sp>
        <p:nvSpPr>
          <p:cNvPr id="18" name="Text 12"/>
          <p:cNvSpPr/>
          <p:nvPr/>
        </p:nvSpPr>
        <p:spPr>
          <a:xfrm>
            <a:off x="1173480" y="5796915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9" name="Text 13"/>
          <p:cNvSpPr/>
          <p:nvPr/>
        </p:nvSpPr>
        <p:spPr>
          <a:xfrm>
            <a:off x="1478280" y="5781675"/>
            <a:ext cx="23561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复习漏洞扫描的基本原理</a:t>
            </a:r>
            <a:endParaRPr lang="en-US" sz="1680" dirty="0"/>
          </a:p>
        </p:txBody>
      </p:sp>
      <p:sp>
        <p:nvSpPr>
          <p:cNvPr id="20" name="Text 14"/>
          <p:cNvSpPr/>
          <p:nvPr/>
        </p:nvSpPr>
        <p:spPr>
          <a:xfrm>
            <a:off x="1173480" y="6223635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21" name="Text 15"/>
          <p:cNvSpPr/>
          <p:nvPr/>
        </p:nvSpPr>
        <p:spPr>
          <a:xfrm>
            <a:off x="1478280" y="6208395"/>
            <a:ext cx="21427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准备漏洞扫描工具环境</a:t>
            </a:r>
            <a:endParaRPr lang="en-US" sz="1680" dirty="0"/>
          </a:p>
        </p:txBody>
      </p:sp>
      <p:sp>
        <p:nvSpPr>
          <p:cNvPr id="22" name="Text 16"/>
          <p:cNvSpPr/>
          <p:nvPr/>
        </p:nvSpPr>
        <p:spPr>
          <a:xfrm>
            <a:off x="7650480" y="1280160"/>
            <a:ext cx="3240024" cy="838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280" b="1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谢谢观看</a:t>
            </a:r>
            <a:endParaRPr lang="en-US" sz="5280" dirty="0"/>
          </a:p>
        </p:txBody>
      </p:sp>
      <p:sp>
        <p:nvSpPr>
          <p:cNvPr id="23" name="Text 17"/>
          <p:cNvSpPr/>
          <p:nvPr/>
        </p:nvSpPr>
        <p:spPr>
          <a:xfrm>
            <a:off x="7650480" y="2270760"/>
            <a:ext cx="324002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160" kern="0" spc="288" dirty="0">
                <a:solidFill>
                  <a:srgbClr val="88888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THANKS FOR WATCHING</a:t>
            </a:r>
            <a:endParaRPr lang="en-US" sz="216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6160" y="1120140"/>
            <a:ext cx="91440" cy="2118360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0">
            <a:alphaModFix amt="5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63200" y="3703320"/>
            <a:ext cx="914400" cy="609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4.4,&quot;left&quot;:48,&quot;top&quot;:108,&quot;width&quot;:256.32}"/>
</p:tagLst>
</file>

<file path=ppt/tags/tag2.xml><?xml version="1.0" encoding="utf-8"?>
<p:tagLst xmlns:p="http://schemas.openxmlformats.org/presentationml/2006/main">
  <p:tag name="KSO_WM_DIAGRAM_VIRTUALLY_FRAME" val="{&quot;height&quot;:254.4,&quot;left&quot;:48,&quot;top&quot;:108,&quot;width&quot;:256.32}"/>
</p:tagLst>
</file>

<file path=ppt/tags/tag3.xml><?xml version="1.0" encoding="utf-8"?>
<p:tagLst xmlns:p="http://schemas.openxmlformats.org/presentationml/2006/main">
  <p:tag name="KSO_WM_DIAGRAM_VIRTUALLY_FRAME" val="{&quot;height&quot;:254.4,&quot;left&quot;:48,&quot;top&quot;:108,&quot;width&quot;:256.32}"/>
</p:tagLst>
</file>

<file path=ppt/tags/tag4.xml><?xml version="1.0" encoding="utf-8"?>
<p:tagLst xmlns:p="http://schemas.openxmlformats.org/presentationml/2006/main">
  <p:tag name="KSO_WM_DIAGRAM_VIRTUALLY_FRAME" val="{&quot;height&quot;:254.4,&quot;left&quot;:48,&quot;top&quot;:108,&quot;width&quot;:256.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4092</Words>
  <Application>WPS 演示</Application>
  <PresentationFormat>On-screen Show (16:9)</PresentationFormat>
  <Paragraphs>834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49" baseType="lpstr">
      <vt:lpstr>Arial</vt:lpstr>
      <vt:lpstr>宋体</vt:lpstr>
      <vt:lpstr>Wingdings</vt:lpstr>
      <vt:lpstr>思源黑体 CN</vt:lpstr>
      <vt:lpstr>黑体</vt:lpstr>
      <vt:lpstr>思源黑体 CN</vt:lpstr>
      <vt:lpstr>思源黑体 CN Bold</vt:lpstr>
      <vt:lpstr>思源黑体 CN Bold</vt:lpstr>
      <vt:lpstr>思源黑体 CN Bold</vt:lpstr>
      <vt:lpstr>思源黑体 CN Regular</vt:lpstr>
      <vt:lpstr>思源黑体 CN Regular</vt:lpstr>
      <vt:lpstr>思源黑体 CN Regular</vt:lpstr>
      <vt:lpstr>Calibri</vt:lpstr>
      <vt:lpstr>微软雅黑</vt:lpstr>
      <vt:lpstr>Arial Unicode MS</vt:lpstr>
      <vt:lpstr>等线</vt:lpstr>
      <vt:lpstr>KSOFD723FC5D</vt:lpstr>
      <vt:lpstr>FFont-Family</vt:lpstr>
      <vt:lpstr>KSOF28C8607A</vt:lpstr>
      <vt:lpstr>KSOFD72470BC</vt:lpstr>
      <vt:lpstr>KSOF28C8D4D9</vt:lpstr>
      <vt:lpstr>Office Theme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杨传筠</cp:lastModifiedBy>
  <cp:revision>4</cp:revision>
  <dcterms:created xsi:type="dcterms:W3CDTF">2026-08-30T08:29:00Z</dcterms:created>
  <dcterms:modified xsi:type="dcterms:W3CDTF">2026-09-05T08:39:05Z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2AB731BA7C9549EF8031A4C7D3F17B34_12</vt:lpwstr>
  </property>
  <property fmtid="{D5CDD505-2E9C-101B-9397-08002B2CF9AE}" pid="3" name="KSOProductBuildVer">
    <vt:lpwstr>2052-12.1.0.28043</vt:lpwstr>
  </property>
</Properties>
</file>