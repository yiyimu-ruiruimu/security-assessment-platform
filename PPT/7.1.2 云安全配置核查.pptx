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2.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0.svg" ContentType="image/svg+xml"/>
  <Override PartName="/ppt/media/image122.svg" ContentType="image/svg+xml"/>
  <Override PartName="/ppt/media/image126.svg" ContentType="image/svg+xml"/>
  <Override PartName="/ppt/media/image128.svg" ContentType="image/svg+xml"/>
  <Override PartName="/ppt/media/image13.svg" ContentType="image/svg+xml"/>
  <Override PartName="/ppt/media/image132.svg" ContentType="image/svg+xml"/>
  <Override PartName="/ppt/media/image138.svg" ContentType="image/svg+xml"/>
  <Override PartName="/ppt/media/image141.svg" ContentType="image/svg+xml"/>
  <Override PartName="/ppt/media/image147.svg" ContentType="image/svg+xml"/>
  <Override PartName="/ppt/media/image17.svg" ContentType="image/svg+xml"/>
  <Override PartName="/ppt/media/image21.svg" ContentType="image/svg+xml"/>
  <Override PartName="/ppt/media/image24.svg" ContentType="image/svg+xml"/>
  <Override PartName="/ppt/media/image27.svg" ContentType="image/svg+xml"/>
  <Override PartName="/ppt/media/image32.svg" ContentType="image/svg+xml"/>
  <Override PartName="/ppt/media/image36.svg" ContentType="image/svg+xml"/>
  <Override PartName="/ppt/media/image38.svg" ContentType="image/svg+xml"/>
  <Override PartName="/ppt/media/image40.svg" ContentType="image/svg+xml"/>
  <Override PartName="/ppt/media/image49.svg" ContentType="image/svg+xml"/>
  <Override PartName="/ppt/media/image54.svg" ContentType="image/svg+xml"/>
  <Override PartName="/ppt/media/image83.svg" ContentType="image/svg+xml"/>
  <Override PartName="/ppt/media/image86.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85" r:id="rId9"/>
    <p:sldId id="261" r:id="rId10"/>
    <p:sldId id="262" r:id="rId11"/>
    <p:sldId id="286" r:id="rId12"/>
    <p:sldId id="263" r:id="rId13"/>
    <p:sldId id="264" r:id="rId14"/>
    <p:sldId id="265" r:id="rId15"/>
    <p:sldId id="266" r:id="rId16"/>
    <p:sldId id="267" r:id="rId17"/>
    <p:sldId id="268" r:id="rId18"/>
    <p:sldId id="274" r:id="rId19"/>
    <p:sldId id="275" r:id="rId20"/>
    <p:sldId id="270"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showGuides="1">
      <p:cViewPr>
        <p:scale>
          <a:sx n="73" d="100"/>
          <a:sy n="73" d="100"/>
        </p:scale>
        <p:origin x="0" y="0"/>
      </p:cViewPr>
      <p:guideLst>
        <p:guide orient="horz" pos="2160"/>
        <p:guide pos="2880"/>
      </p:guideLst>
    </p:cSldViewPr>
  </p:slideViewPr>
  <p:notesViewPr>
    <p:cSldViewPr>
      <p:cViewPr>
        <p:scale>
          <a:sx n="1" d="100"/>
          <a:sy n="1"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42" name="Slide Image Placeholder 1"/>
          <p:cNvSpPr>
            <a:spLocks noGrp="1" noRot="1" noChangeAspect="1"/>
          </p:cNvSpPr>
          <p:nvPr>
            <p:ph type="sldImg"/>
          </p:nvPr>
        </p:nvSpPr>
        <p:spPr/>
        <p:txBody>
          <a:bodyPr/>
          <a:p/>
        </p:txBody>
      </p:sp>
      <p:sp>
        <p:nvSpPr>
          <p:cNvPr id="43" name="Notes Placeholder 2"/>
          <p:cNvSpPr>
            <a:spLocks noGrp="1"/>
          </p:cNvSpPr>
          <p:nvPr>
            <p:ph type="body" idx="1"/>
          </p:nvPr>
        </p:nvSpPr>
        <p:spPr/>
        <p:txBody>
          <a:bodyPr/>
          <a:lstStyle/>
          <a:p>
            <a:endParaRPr lang="en-US"/>
          </a:p>
        </p:txBody>
      </p:sp>
      <p:sp>
        <p:nvSpPr>
          <p:cNvPr id="4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78" name="Slide Image Placeholder 1"/>
          <p:cNvSpPr>
            <a:spLocks noGrp="1" noRot="1" noChangeAspect="1"/>
          </p:cNvSpPr>
          <p:nvPr>
            <p:ph type="sldImg"/>
          </p:nvPr>
        </p:nvSpPr>
        <p:spPr/>
        <p:txBody>
          <a:bodyPr/>
          <a:p/>
        </p:txBody>
      </p:sp>
      <p:sp>
        <p:nvSpPr>
          <p:cNvPr id="79" name="Notes Placeholder 2"/>
          <p:cNvSpPr>
            <a:spLocks noGrp="1"/>
          </p:cNvSpPr>
          <p:nvPr>
            <p:ph type="body" idx="1"/>
          </p:nvPr>
        </p:nvSpPr>
        <p:spPr/>
        <p:txBody>
          <a:bodyPr/>
          <a:lstStyle/>
          <a:p>
            <a:endParaRPr lang="en-US"/>
          </a:p>
        </p:txBody>
      </p:sp>
      <p:sp>
        <p:nvSpPr>
          <p:cNvPr id="8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82" name="Slide Image Placeholder 1"/>
          <p:cNvSpPr>
            <a:spLocks noGrp="1" noRot="1" noChangeAspect="1"/>
          </p:cNvSpPr>
          <p:nvPr>
            <p:ph type="sldImg"/>
          </p:nvPr>
        </p:nvSpPr>
        <p:spPr/>
        <p:txBody>
          <a:bodyPr/>
          <a:p/>
        </p:txBody>
      </p:sp>
      <p:sp>
        <p:nvSpPr>
          <p:cNvPr id="83" name="Notes Placeholder 2"/>
          <p:cNvSpPr>
            <a:spLocks noGrp="1"/>
          </p:cNvSpPr>
          <p:nvPr>
            <p:ph type="body" idx="1"/>
          </p:nvPr>
        </p:nvSpPr>
        <p:spPr/>
        <p:txBody>
          <a:bodyPr/>
          <a:lstStyle/>
          <a:p>
            <a:endParaRPr lang="en-US"/>
          </a:p>
        </p:txBody>
      </p:sp>
      <p:sp>
        <p:nvSpPr>
          <p:cNvPr id="8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86" name="Slide Image Placeholder 1"/>
          <p:cNvSpPr>
            <a:spLocks noGrp="1" noRot="1" noChangeAspect="1"/>
          </p:cNvSpPr>
          <p:nvPr>
            <p:ph type="sldImg"/>
          </p:nvPr>
        </p:nvSpPr>
        <p:spPr/>
        <p:txBody>
          <a:bodyPr/>
          <a:p/>
        </p:txBody>
      </p:sp>
      <p:sp>
        <p:nvSpPr>
          <p:cNvPr id="87" name="Notes Placeholder 2"/>
          <p:cNvSpPr>
            <a:spLocks noGrp="1"/>
          </p:cNvSpPr>
          <p:nvPr>
            <p:ph type="body" idx="1"/>
          </p:nvPr>
        </p:nvSpPr>
        <p:spPr/>
        <p:txBody>
          <a:bodyPr/>
          <a:lstStyle/>
          <a:p>
            <a:endParaRPr lang="en-US"/>
          </a:p>
        </p:txBody>
      </p:sp>
      <p:sp>
        <p:nvSpPr>
          <p:cNvPr id="8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90" name="Slide Image Placeholder 1"/>
          <p:cNvSpPr>
            <a:spLocks noGrp="1" noRot="1" noChangeAspect="1"/>
          </p:cNvSpPr>
          <p:nvPr>
            <p:ph type="sldImg"/>
          </p:nvPr>
        </p:nvSpPr>
        <p:spPr/>
        <p:txBody>
          <a:bodyPr/>
          <a:p/>
        </p:txBody>
      </p:sp>
      <p:sp>
        <p:nvSpPr>
          <p:cNvPr id="91" name="Notes Placeholder 2"/>
          <p:cNvSpPr>
            <a:spLocks noGrp="1"/>
          </p:cNvSpPr>
          <p:nvPr>
            <p:ph type="body" idx="1"/>
          </p:nvPr>
        </p:nvSpPr>
        <p:spPr/>
        <p:txBody>
          <a:bodyPr/>
          <a:lstStyle/>
          <a:p>
            <a:endParaRPr lang="en-US"/>
          </a:p>
        </p:txBody>
      </p:sp>
      <p:sp>
        <p:nvSpPr>
          <p:cNvPr id="9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94" name="Slide Image Placeholder 1"/>
          <p:cNvSpPr>
            <a:spLocks noGrp="1" noRot="1" noChangeAspect="1"/>
          </p:cNvSpPr>
          <p:nvPr>
            <p:ph type="sldImg"/>
          </p:nvPr>
        </p:nvSpPr>
        <p:spPr/>
        <p:txBody>
          <a:bodyPr/>
          <a:p/>
        </p:txBody>
      </p:sp>
      <p:sp>
        <p:nvSpPr>
          <p:cNvPr id="95" name="Notes Placeholder 2"/>
          <p:cNvSpPr>
            <a:spLocks noGrp="1"/>
          </p:cNvSpPr>
          <p:nvPr>
            <p:ph type="body" idx="1"/>
          </p:nvPr>
        </p:nvSpPr>
        <p:spPr/>
        <p:txBody>
          <a:bodyPr/>
          <a:lstStyle/>
          <a:p>
            <a:endParaRPr lang="en-US"/>
          </a:p>
        </p:txBody>
      </p:sp>
      <p:sp>
        <p:nvSpPr>
          <p:cNvPr id="9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94" name="Slide Image Placeholder 1"/>
          <p:cNvSpPr>
            <a:spLocks noGrp="1" noRot="1" noChangeAspect="1"/>
          </p:cNvSpPr>
          <p:nvPr>
            <p:ph type="sldImg"/>
          </p:nvPr>
        </p:nvSpPr>
        <p:spPr/>
        <p:txBody>
          <a:bodyPr/>
          <a:p/>
        </p:txBody>
      </p:sp>
      <p:sp>
        <p:nvSpPr>
          <p:cNvPr id="95" name="Notes Placeholder 2"/>
          <p:cNvSpPr>
            <a:spLocks noGrp="1"/>
          </p:cNvSpPr>
          <p:nvPr>
            <p:ph type="body" idx="1"/>
          </p:nvPr>
        </p:nvSpPr>
        <p:spPr/>
        <p:txBody>
          <a:bodyPr/>
          <a:lstStyle/>
          <a:p>
            <a:endParaRPr lang="en-US"/>
          </a:p>
        </p:txBody>
      </p:sp>
      <p:sp>
        <p:nvSpPr>
          <p:cNvPr id="9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98" name="Slide Image Placeholder 1"/>
          <p:cNvSpPr>
            <a:spLocks noGrp="1" noRot="1" noChangeAspect="1"/>
          </p:cNvSpPr>
          <p:nvPr>
            <p:ph type="sldImg"/>
          </p:nvPr>
        </p:nvSpPr>
        <p:spPr/>
        <p:txBody>
          <a:bodyPr/>
          <a:p/>
        </p:txBody>
      </p:sp>
      <p:sp>
        <p:nvSpPr>
          <p:cNvPr id="99" name="Notes Placeholder 2"/>
          <p:cNvSpPr>
            <a:spLocks noGrp="1"/>
          </p:cNvSpPr>
          <p:nvPr>
            <p:ph type="body" idx="1"/>
          </p:nvPr>
        </p:nvSpPr>
        <p:spPr/>
        <p:txBody>
          <a:bodyPr/>
          <a:lstStyle/>
          <a:p>
            <a:endParaRPr lang="en-US"/>
          </a:p>
        </p:txBody>
      </p:sp>
      <p:sp>
        <p:nvSpPr>
          <p:cNvPr id="10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2" name="Slide Image Placeholder 1"/>
          <p:cNvSpPr>
            <a:spLocks noGrp="1" noRot="1" noChangeAspect="1"/>
          </p:cNvSpPr>
          <p:nvPr>
            <p:ph type="sldImg"/>
          </p:nvPr>
        </p:nvSpPr>
        <p:spPr/>
        <p:txBody>
          <a:bodyPr/>
          <a:p/>
        </p:txBody>
      </p:sp>
      <p:sp>
        <p:nvSpPr>
          <p:cNvPr id="103" name="Notes Placeholder 2"/>
          <p:cNvSpPr>
            <a:spLocks noGrp="1"/>
          </p:cNvSpPr>
          <p:nvPr>
            <p:ph type="body" idx="1"/>
          </p:nvPr>
        </p:nvSpPr>
        <p:spPr/>
        <p:txBody>
          <a:bodyPr/>
          <a:lstStyle/>
          <a:p>
            <a:endParaRPr lang="en-US"/>
          </a:p>
        </p:txBody>
      </p:sp>
      <p:sp>
        <p:nvSpPr>
          <p:cNvPr id="10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Slide Image Placeholder 1"/>
          <p:cNvSpPr>
            <a:spLocks noGrp="1" noRot="1" noChangeAspect="1"/>
          </p:cNvSpPr>
          <p:nvPr>
            <p:ph type="sldImg"/>
          </p:nvPr>
        </p:nvSpPr>
        <p:spPr/>
        <p:txBody>
          <a:bodyPr/>
          <a:p/>
        </p:txBody>
      </p:sp>
      <p:sp>
        <p:nvSpPr>
          <p:cNvPr id="7" name="Notes Placeholder 2"/>
          <p:cNvSpPr>
            <a:spLocks noGrp="1"/>
          </p:cNvSpPr>
          <p:nvPr>
            <p:ph type="body" idx="1"/>
          </p:nvPr>
        </p:nvSpPr>
        <p:spPr/>
        <p:txBody>
          <a:bodyPr/>
          <a:lstStyle/>
          <a:p>
            <a:endParaRPr lang="en-US"/>
          </a:p>
        </p:txBody>
      </p:sp>
      <p:sp>
        <p:nvSpPr>
          <p:cNvPr id="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9" name=""/>
        <p:cNvGrpSpPr/>
        <p:nvPr/>
      </p:nvGrpSpPr>
      <p:grpSpPr>
        <a:xfrm>
          <a:off x="0" y="0"/>
          <a:ext cx="0" cy="0"/>
          <a:chOff x="0" y="0"/>
          <a:chExt cx="0" cy="0"/>
        </a:xfrm>
      </p:grpSpPr>
      <p:sp>
        <p:nvSpPr>
          <p:cNvPr id="10" name="Slide Image Placeholder 1"/>
          <p:cNvSpPr>
            <a:spLocks noGrp="1" noRot="1" noChangeAspect="1"/>
          </p:cNvSpPr>
          <p:nvPr>
            <p:ph type="sldImg"/>
          </p:nvPr>
        </p:nvSpPr>
        <p:spPr/>
        <p:txBody>
          <a:bodyPr/>
          <a:p/>
        </p:txBody>
      </p:sp>
      <p:sp>
        <p:nvSpPr>
          <p:cNvPr id="11" name="Notes Placeholder 2"/>
          <p:cNvSpPr>
            <a:spLocks noGrp="1"/>
          </p:cNvSpPr>
          <p:nvPr>
            <p:ph type="body" idx="1"/>
          </p:nvPr>
        </p:nvSpPr>
        <p:spPr/>
        <p:txBody>
          <a:bodyPr/>
          <a:lstStyle/>
          <a:p>
            <a:endParaRPr lang="en-US"/>
          </a:p>
        </p:txBody>
      </p:sp>
      <p:sp>
        <p:nvSpPr>
          <p:cNvPr id="1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Slide Image Placeholder 1"/>
          <p:cNvSpPr>
            <a:spLocks noGrp="1" noRot="1" noChangeAspect="1"/>
          </p:cNvSpPr>
          <p:nvPr>
            <p:ph type="sldImg"/>
          </p:nvPr>
        </p:nvSpPr>
        <p:spPr/>
        <p:txBody>
          <a:bodyPr/>
          <a:p/>
        </p:txBody>
      </p:sp>
      <p:sp>
        <p:nvSpPr>
          <p:cNvPr id="15" name="Notes Placeholder 2"/>
          <p:cNvSpPr>
            <a:spLocks noGrp="1"/>
          </p:cNvSpPr>
          <p:nvPr>
            <p:ph type="body" idx="1"/>
          </p:nvPr>
        </p:nvSpPr>
        <p:spPr/>
        <p:txBody>
          <a:bodyPr/>
          <a:lstStyle/>
          <a:p>
            <a:endParaRPr lang="en-US"/>
          </a:p>
        </p:txBody>
      </p:sp>
      <p:sp>
        <p:nvSpPr>
          <p:cNvPr id="1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Slide Image Placeholder 1"/>
          <p:cNvSpPr>
            <a:spLocks noGrp="1" noRot="1" noChangeAspect="1"/>
          </p:cNvSpPr>
          <p:nvPr>
            <p:ph type="sldImg"/>
          </p:nvPr>
        </p:nvSpPr>
        <p:spPr/>
        <p:txBody>
          <a:bodyPr/>
          <a:p/>
        </p:txBody>
      </p:sp>
      <p:sp>
        <p:nvSpPr>
          <p:cNvPr id="19" name="Notes Placeholder 2"/>
          <p:cNvSpPr>
            <a:spLocks noGrp="1"/>
          </p:cNvSpPr>
          <p:nvPr>
            <p:ph type="body" idx="1"/>
          </p:nvPr>
        </p:nvSpPr>
        <p:spPr/>
        <p:txBody>
          <a:bodyPr/>
          <a:lstStyle/>
          <a:p>
            <a:endParaRPr lang="en-US"/>
          </a:p>
        </p:txBody>
      </p:sp>
      <p:sp>
        <p:nvSpPr>
          <p:cNvPr id="2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38" name="Slide Image Placeholder 1"/>
          <p:cNvSpPr>
            <a:spLocks noGrp="1" noRot="1" noChangeAspect="1"/>
          </p:cNvSpPr>
          <p:nvPr>
            <p:ph type="sldImg"/>
          </p:nvPr>
        </p:nvSpPr>
        <p:spPr/>
        <p:txBody>
          <a:bodyPr/>
          <a:p/>
        </p:txBody>
      </p:sp>
      <p:sp>
        <p:nvSpPr>
          <p:cNvPr id="39" name="Notes Placeholder 2"/>
          <p:cNvSpPr>
            <a:spLocks noGrp="1"/>
          </p:cNvSpPr>
          <p:nvPr>
            <p:ph type="body" idx="1"/>
          </p:nvPr>
        </p:nvSpPr>
        <p:spPr/>
        <p:txBody>
          <a:bodyPr/>
          <a:lstStyle/>
          <a:p>
            <a:endParaRPr lang="en-US"/>
          </a:p>
        </p:txBody>
      </p:sp>
      <p:sp>
        <p:nvSpPr>
          <p:cNvPr id="4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46" name="Slide Image Placeholder 1"/>
          <p:cNvSpPr>
            <a:spLocks noGrp="1" noRot="1" noChangeAspect="1"/>
          </p:cNvSpPr>
          <p:nvPr>
            <p:ph type="sldImg"/>
          </p:nvPr>
        </p:nvSpPr>
        <p:spPr/>
        <p:txBody>
          <a:bodyPr/>
          <a:p/>
        </p:txBody>
      </p:sp>
      <p:sp>
        <p:nvSpPr>
          <p:cNvPr id="47" name="Notes Placeholder 2"/>
          <p:cNvSpPr>
            <a:spLocks noGrp="1"/>
          </p:cNvSpPr>
          <p:nvPr>
            <p:ph type="body" idx="1"/>
          </p:nvPr>
        </p:nvSpPr>
        <p:spPr/>
        <p:txBody>
          <a:bodyPr/>
          <a:lstStyle/>
          <a:p>
            <a:endParaRPr lang="en-US"/>
          </a:p>
        </p:txBody>
      </p:sp>
      <p:sp>
        <p:nvSpPr>
          <p:cNvPr id="4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50" name="Slide Image Placeholder 1"/>
          <p:cNvSpPr>
            <a:spLocks noGrp="1" noRot="1" noChangeAspect="1"/>
          </p:cNvSpPr>
          <p:nvPr>
            <p:ph type="sldImg"/>
          </p:nvPr>
        </p:nvSpPr>
        <p:spPr/>
        <p:txBody>
          <a:bodyPr/>
          <a:p/>
        </p:txBody>
      </p:sp>
      <p:sp>
        <p:nvSpPr>
          <p:cNvPr id="51" name="Notes Placeholder 2"/>
          <p:cNvSpPr>
            <a:spLocks noGrp="1"/>
          </p:cNvSpPr>
          <p:nvPr>
            <p:ph type="body" idx="1"/>
          </p:nvPr>
        </p:nvSpPr>
        <p:spPr/>
        <p:txBody>
          <a:bodyPr/>
          <a:lstStyle/>
          <a:p>
            <a:endParaRPr lang="en-US"/>
          </a:p>
        </p:txBody>
      </p:sp>
      <p:sp>
        <p:nvSpPr>
          <p:cNvPr id="5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54" name="Slide Image Placeholder 1"/>
          <p:cNvSpPr>
            <a:spLocks noGrp="1" noRot="1" noChangeAspect="1"/>
          </p:cNvSpPr>
          <p:nvPr>
            <p:ph type="sldImg"/>
          </p:nvPr>
        </p:nvSpPr>
        <p:spPr/>
        <p:txBody>
          <a:bodyPr/>
          <a:p/>
        </p:txBody>
      </p:sp>
      <p:sp>
        <p:nvSpPr>
          <p:cNvPr id="55" name="Notes Placeholder 2"/>
          <p:cNvSpPr>
            <a:spLocks noGrp="1"/>
          </p:cNvSpPr>
          <p:nvPr>
            <p:ph type="body" idx="1"/>
          </p:nvPr>
        </p:nvSpPr>
        <p:spPr/>
        <p:txBody>
          <a:bodyPr/>
          <a:lstStyle/>
          <a:p>
            <a:endParaRPr lang="en-US"/>
          </a:p>
        </p:txBody>
      </p:sp>
      <p:sp>
        <p:nvSpPr>
          <p:cNvPr id="5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58" name="Slide Image Placeholder 1"/>
          <p:cNvSpPr>
            <a:spLocks noGrp="1" noRot="1" noChangeAspect="1"/>
          </p:cNvSpPr>
          <p:nvPr>
            <p:ph type="sldImg"/>
          </p:nvPr>
        </p:nvSpPr>
        <p:spPr/>
        <p:txBody>
          <a:bodyPr/>
          <a:p/>
        </p:txBody>
      </p:sp>
      <p:sp>
        <p:nvSpPr>
          <p:cNvPr id="59" name="Notes Placeholder 2"/>
          <p:cNvSpPr>
            <a:spLocks noGrp="1"/>
          </p:cNvSpPr>
          <p:nvPr>
            <p:ph type="body" idx="1"/>
          </p:nvPr>
        </p:nvSpPr>
        <p:spPr/>
        <p:txBody>
          <a:bodyPr/>
          <a:lstStyle/>
          <a:p>
            <a:endParaRPr lang="en-US"/>
          </a:p>
        </p:txBody>
      </p:sp>
      <p:sp>
        <p:nvSpPr>
          <p:cNvPr id="6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Slide Image Placeholder 1"/>
          <p:cNvSpPr>
            <a:spLocks noGrp="1" noRot="1" noChangeAspect="1"/>
          </p:cNvSpPr>
          <p:nvPr>
            <p:ph type="sldImg"/>
          </p:nvPr>
        </p:nvSpPr>
        <p:spPr/>
        <p:txBody>
          <a:bodyPr/>
          <a:p/>
        </p:txBody>
      </p:sp>
      <p:sp>
        <p:nvSpPr>
          <p:cNvPr id="63" name="Notes Placeholder 2"/>
          <p:cNvSpPr>
            <a:spLocks noGrp="1"/>
          </p:cNvSpPr>
          <p:nvPr>
            <p:ph type="body" idx="1"/>
          </p:nvPr>
        </p:nvSpPr>
        <p:spPr/>
        <p:txBody>
          <a:bodyPr/>
          <a:lstStyle/>
          <a:p>
            <a:endParaRPr lang="en-US"/>
          </a:p>
        </p:txBody>
      </p:sp>
      <p:sp>
        <p:nvSpPr>
          <p:cNvPr id="6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66" name="Slide Image Placeholder 1"/>
          <p:cNvSpPr>
            <a:spLocks noGrp="1" noRot="1" noChangeAspect="1"/>
          </p:cNvSpPr>
          <p:nvPr>
            <p:ph type="sldImg"/>
          </p:nvPr>
        </p:nvSpPr>
        <p:spPr/>
        <p:txBody>
          <a:bodyPr/>
          <a:p/>
        </p:txBody>
      </p:sp>
      <p:sp>
        <p:nvSpPr>
          <p:cNvPr id="67" name="Notes Placeholder 2"/>
          <p:cNvSpPr>
            <a:spLocks noGrp="1"/>
          </p:cNvSpPr>
          <p:nvPr>
            <p:ph type="body" idx="1"/>
          </p:nvPr>
        </p:nvSpPr>
        <p:spPr/>
        <p:txBody>
          <a:bodyPr/>
          <a:lstStyle/>
          <a:p>
            <a:endParaRPr lang="en-US"/>
          </a:p>
        </p:txBody>
      </p:sp>
      <p:sp>
        <p:nvSpPr>
          <p:cNvPr id="6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p/>
        </p:txBody>
      </p:sp>
      <p:sp>
        <p:nvSpPr>
          <p:cNvPr id="71" name="Notes Placeholder 2"/>
          <p:cNvSpPr>
            <a:spLocks noGrp="1"/>
          </p:cNvSpPr>
          <p:nvPr>
            <p:ph type="body" idx="1"/>
          </p:nvPr>
        </p:nvSpPr>
        <p:spPr/>
        <p:txBody>
          <a:bodyPr/>
          <a:lstStyle/>
          <a:p>
            <a:endParaRPr lang="en-US"/>
          </a:p>
        </p:txBody>
      </p:sp>
      <p:sp>
        <p:nvSpPr>
          <p:cNvPr id="7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74" name="Slide Image Placeholder 1"/>
          <p:cNvSpPr>
            <a:spLocks noGrp="1" noRot="1" noChangeAspect="1"/>
          </p:cNvSpPr>
          <p:nvPr>
            <p:ph type="sldImg"/>
          </p:nvPr>
        </p:nvSpPr>
        <p:spPr/>
        <p:txBody>
          <a:bodyPr/>
          <a:p/>
        </p:txBody>
      </p:sp>
      <p:sp>
        <p:nvSpPr>
          <p:cNvPr id="75" name="Notes Placeholder 2"/>
          <p:cNvSpPr>
            <a:spLocks noGrp="1"/>
          </p:cNvSpPr>
          <p:nvPr>
            <p:ph type="body" idx="1"/>
          </p:nvPr>
        </p:nvSpPr>
        <p:spPr/>
        <p:txBody>
          <a:bodyPr/>
          <a:lstStyle/>
          <a:p>
            <a:endParaRPr lang="en-US" dirty="0"/>
          </a:p>
        </p:txBody>
      </p:sp>
      <p:sp>
        <p:nvSpPr>
          <p:cNvPr id="7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image" Target="../media/image17.svg"/><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6" Type="http://schemas.openxmlformats.org/officeDocument/2006/relationships/notesSlide" Target="../notesSlides/notesSlide3.xml"/><Relationship Id="rId15" Type="http://schemas.openxmlformats.org/officeDocument/2006/relationships/slideLayout" Target="../slideLayouts/slideLayout1.xml"/><Relationship Id="rId14" Type="http://schemas.openxmlformats.org/officeDocument/2006/relationships/image" Target="../media/image22.png"/><Relationship Id="rId13" Type="http://schemas.openxmlformats.org/officeDocument/2006/relationships/image" Target="../media/image21.svg"/><Relationship Id="rId12" Type="http://schemas.openxmlformats.org/officeDocument/2006/relationships/image" Target="../media/image20.png"/><Relationship Id="rId11" Type="http://schemas.openxmlformats.org/officeDocument/2006/relationships/image" Target="../media/image19.png"/><Relationship Id="rId10" Type="http://schemas.openxmlformats.org/officeDocument/2006/relationships/image" Target="../media/image18.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11.png"/><Relationship Id="rId2" Type="http://schemas.openxmlformats.org/officeDocument/2006/relationships/image" Target="../media/image10.png"/><Relationship Id="rId10" Type="http://schemas.openxmlformats.org/officeDocument/2006/relationships/notesSlide" Target="../notesSlides/notesSlide5.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11.png"/><Relationship Id="rId2" Type="http://schemas.openxmlformats.org/officeDocument/2006/relationships/image" Target="../media/image10.png"/><Relationship Id="rId15" Type="http://schemas.openxmlformats.org/officeDocument/2006/relationships/notesSlide" Target="../notesSlides/notesSlide10.xml"/><Relationship Id="rId14" Type="http://schemas.openxmlformats.org/officeDocument/2006/relationships/slideLayout" Target="../slideLayouts/slideLayout1.xml"/><Relationship Id="rId13" Type="http://schemas.openxmlformats.org/officeDocument/2006/relationships/image" Target="../media/image50.png"/><Relationship Id="rId12" Type="http://schemas.openxmlformats.org/officeDocument/2006/relationships/image" Target="../media/image49.svg"/><Relationship Id="rId11" Type="http://schemas.openxmlformats.org/officeDocument/2006/relationships/image" Target="../media/image48.png"/><Relationship Id="rId10" Type="http://schemas.openxmlformats.org/officeDocument/2006/relationships/image" Target="../media/image47.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55.png"/><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11.png"/><Relationship Id="rId2" Type="http://schemas.openxmlformats.org/officeDocument/2006/relationships/image" Target="../media/image10.png"/><Relationship Id="rId19" Type="http://schemas.openxmlformats.org/officeDocument/2006/relationships/notesSlide" Target="../notesSlides/notesSlide11.xml"/><Relationship Id="rId18" Type="http://schemas.openxmlformats.org/officeDocument/2006/relationships/slideLayout" Target="../slideLayouts/slideLayout1.xml"/><Relationship Id="rId17" Type="http://schemas.openxmlformats.org/officeDocument/2006/relationships/image" Target="../media/image64.png"/><Relationship Id="rId16" Type="http://schemas.openxmlformats.org/officeDocument/2006/relationships/image" Target="../media/image63.png"/><Relationship Id="rId15" Type="http://schemas.openxmlformats.org/officeDocument/2006/relationships/image" Target="../media/image62.png"/><Relationship Id="rId14" Type="http://schemas.openxmlformats.org/officeDocument/2006/relationships/image" Target="../media/image61.png"/><Relationship Id="rId13" Type="http://schemas.openxmlformats.org/officeDocument/2006/relationships/image" Target="../media/image60.png"/><Relationship Id="rId12" Type="http://schemas.openxmlformats.org/officeDocument/2006/relationships/image" Target="../media/image59.png"/><Relationship Id="rId11" Type="http://schemas.openxmlformats.org/officeDocument/2006/relationships/image" Target="../media/image58.png"/><Relationship Id="rId10" Type="http://schemas.openxmlformats.org/officeDocument/2006/relationships/image" Target="../media/image57.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11.png"/><Relationship Id="rId20" Type="http://schemas.openxmlformats.org/officeDocument/2006/relationships/notesSlide" Target="../notesSlides/notesSlide13.xml"/><Relationship Id="rId2" Type="http://schemas.openxmlformats.org/officeDocument/2006/relationships/image" Target="../media/image10.png"/><Relationship Id="rId19" Type="http://schemas.openxmlformats.org/officeDocument/2006/relationships/slideLayout" Target="../slideLayouts/slideLayout1.xml"/><Relationship Id="rId18" Type="http://schemas.openxmlformats.org/officeDocument/2006/relationships/image" Target="../media/image81.png"/><Relationship Id="rId17" Type="http://schemas.openxmlformats.org/officeDocument/2006/relationships/image" Target="../media/image80.png"/><Relationship Id="rId16" Type="http://schemas.openxmlformats.org/officeDocument/2006/relationships/image" Target="../media/image79.png"/><Relationship Id="rId15" Type="http://schemas.openxmlformats.org/officeDocument/2006/relationships/image" Target="../media/image78.png"/><Relationship Id="rId14" Type="http://schemas.openxmlformats.org/officeDocument/2006/relationships/image" Target="../media/image77.png"/><Relationship Id="rId13" Type="http://schemas.openxmlformats.org/officeDocument/2006/relationships/image" Target="../media/image76.png"/><Relationship Id="rId12" Type="http://schemas.openxmlformats.org/officeDocument/2006/relationships/image" Target="../media/image75.png"/><Relationship Id="rId11" Type="http://schemas.openxmlformats.org/officeDocument/2006/relationships/image" Target="../media/image74.png"/><Relationship Id="rId10" Type="http://schemas.openxmlformats.org/officeDocument/2006/relationships/image" Target="../media/image73.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image" Target="../media/image83.svg"/><Relationship Id="rId4" Type="http://schemas.openxmlformats.org/officeDocument/2006/relationships/image" Target="../media/image8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87.png"/><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11.png"/><Relationship Id="rId2" Type="http://schemas.openxmlformats.org/officeDocument/2006/relationships/image" Target="../media/image10.png"/><Relationship Id="rId15" Type="http://schemas.openxmlformats.org/officeDocument/2006/relationships/notesSlide" Target="../notesSlides/notesSlide15.xml"/><Relationship Id="rId14" Type="http://schemas.openxmlformats.org/officeDocument/2006/relationships/slideLayout" Target="../slideLayouts/slideLayout1.xml"/><Relationship Id="rId13" Type="http://schemas.openxmlformats.org/officeDocument/2006/relationships/image" Target="../media/image91.svg"/><Relationship Id="rId12" Type="http://schemas.openxmlformats.org/officeDocument/2006/relationships/image" Target="../media/image90.png"/><Relationship Id="rId11" Type="http://schemas.openxmlformats.org/officeDocument/2006/relationships/image" Target="../media/image89.png"/><Relationship Id="rId10" Type="http://schemas.openxmlformats.org/officeDocument/2006/relationships/image" Target="../media/image88.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svg"/><Relationship Id="rId7" Type="http://schemas.openxmlformats.org/officeDocument/2006/relationships/image" Target="../media/image94.png"/><Relationship Id="rId6" Type="http://schemas.openxmlformats.org/officeDocument/2006/relationships/image" Target="../media/image33.png"/><Relationship Id="rId5" Type="http://schemas.openxmlformats.org/officeDocument/2006/relationships/image" Target="../media/image93.svg"/><Relationship Id="rId4" Type="http://schemas.openxmlformats.org/officeDocument/2006/relationships/image" Target="../media/image92.png"/><Relationship Id="rId3" Type="http://schemas.openxmlformats.org/officeDocument/2006/relationships/image" Target="../media/image11.png"/><Relationship Id="rId2" Type="http://schemas.openxmlformats.org/officeDocument/2006/relationships/image" Target="../media/image10.png"/><Relationship Id="rId14" Type="http://schemas.openxmlformats.org/officeDocument/2006/relationships/notesSlide" Target="../notesSlides/notesSlide16.xml"/><Relationship Id="rId13" Type="http://schemas.openxmlformats.org/officeDocument/2006/relationships/slideLayout" Target="../slideLayouts/slideLayout1.xml"/><Relationship Id="rId12" Type="http://schemas.openxmlformats.org/officeDocument/2006/relationships/image" Target="../media/image99.wmf"/><Relationship Id="rId11" Type="http://schemas.openxmlformats.org/officeDocument/2006/relationships/image" Target="../media/image98.png"/><Relationship Id="rId10" Type="http://schemas.openxmlformats.org/officeDocument/2006/relationships/image" Target="../media/image97.sv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4.svg"/><Relationship Id="rId7" Type="http://schemas.openxmlformats.org/officeDocument/2006/relationships/image" Target="../media/image103.png"/><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11.png"/><Relationship Id="rId20" Type="http://schemas.openxmlformats.org/officeDocument/2006/relationships/notesSlide" Target="../notesSlides/notesSlide17.xml"/><Relationship Id="rId2" Type="http://schemas.openxmlformats.org/officeDocument/2006/relationships/image" Target="../media/image10.png"/><Relationship Id="rId19" Type="http://schemas.openxmlformats.org/officeDocument/2006/relationships/slideLayout" Target="../slideLayouts/slideLayout1.xml"/><Relationship Id="rId18" Type="http://schemas.openxmlformats.org/officeDocument/2006/relationships/image" Target="../media/image114.svg"/><Relationship Id="rId17" Type="http://schemas.openxmlformats.org/officeDocument/2006/relationships/image" Target="../media/image113.png"/><Relationship Id="rId16" Type="http://schemas.openxmlformats.org/officeDocument/2006/relationships/image" Target="../media/image112.svg"/><Relationship Id="rId15" Type="http://schemas.openxmlformats.org/officeDocument/2006/relationships/image" Target="../media/image111.png"/><Relationship Id="rId14" Type="http://schemas.openxmlformats.org/officeDocument/2006/relationships/image" Target="../media/image110.svg"/><Relationship Id="rId13" Type="http://schemas.openxmlformats.org/officeDocument/2006/relationships/image" Target="../media/image109.png"/><Relationship Id="rId12" Type="http://schemas.openxmlformats.org/officeDocument/2006/relationships/image" Target="../media/image108.svg"/><Relationship Id="rId11" Type="http://schemas.openxmlformats.org/officeDocument/2006/relationships/image" Target="../media/image107.png"/><Relationship Id="rId10" Type="http://schemas.openxmlformats.org/officeDocument/2006/relationships/image" Target="../media/image106.sv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9" Type="http://schemas.openxmlformats.org/officeDocument/2006/relationships/image" Target="../media/image120.svg"/><Relationship Id="rId8" Type="http://schemas.openxmlformats.org/officeDocument/2006/relationships/image" Target="../media/image119.png"/><Relationship Id="rId7" Type="http://schemas.openxmlformats.org/officeDocument/2006/relationships/image" Target="../media/image118.svg"/><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3" Type="http://schemas.openxmlformats.org/officeDocument/2006/relationships/image" Target="../media/image11.png"/><Relationship Id="rId20" Type="http://schemas.openxmlformats.org/officeDocument/2006/relationships/notesSlide" Target="../notesSlides/notesSlide18.xml"/><Relationship Id="rId2" Type="http://schemas.openxmlformats.org/officeDocument/2006/relationships/image" Target="../media/image10.png"/><Relationship Id="rId19" Type="http://schemas.openxmlformats.org/officeDocument/2006/relationships/slideLayout" Target="../slideLayouts/slideLayout1.xml"/><Relationship Id="rId18" Type="http://schemas.openxmlformats.org/officeDocument/2006/relationships/image" Target="../media/image129.png"/><Relationship Id="rId17" Type="http://schemas.openxmlformats.org/officeDocument/2006/relationships/image" Target="../media/image128.svg"/><Relationship Id="rId16" Type="http://schemas.openxmlformats.org/officeDocument/2006/relationships/image" Target="../media/image127.png"/><Relationship Id="rId15" Type="http://schemas.openxmlformats.org/officeDocument/2006/relationships/image" Target="../media/image126.svg"/><Relationship Id="rId14" Type="http://schemas.openxmlformats.org/officeDocument/2006/relationships/image" Target="../media/image125.png"/><Relationship Id="rId13" Type="http://schemas.openxmlformats.org/officeDocument/2006/relationships/image" Target="../media/image124.png"/><Relationship Id="rId12" Type="http://schemas.openxmlformats.org/officeDocument/2006/relationships/image" Target="../media/image123.png"/><Relationship Id="rId11" Type="http://schemas.openxmlformats.org/officeDocument/2006/relationships/image" Target="../media/image122.svg"/><Relationship Id="rId10" Type="http://schemas.openxmlformats.org/officeDocument/2006/relationships/image" Target="../media/image121.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9" Type="http://schemas.openxmlformats.org/officeDocument/2006/relationships/image" Target="../media/image135.png"/><Relationship Id="rId8" Type="http://schemas.openxmlformats.org/officeDocument/2006/relationships/image" Target="../media/image134.png"/><Relationship Id="rId7" Type="http://schemas.openxmlformats.org/officeDocument/2006/relationships/image" Target="../media/image133.png"/><Relationship Id="rId6" Type="http://schemas.openxmlformats.org/officeDocument/2006/relationships/image" Target="../media/image132.svg"/><Relationship Id="rId5" Type="http://schemas.openxmlformats.org/officeDocument/2006/relationships/image" Target="../media/image131.png"/><Relationship Id="rId4" Type="http://schemas.openxmlformats.org/officeDocument/2006/relationships/image" Target="../media/image130.png"/><Relationship Id="rId3" Type="http://schemas.openxmlformats.org/officeDocument/2006/relationships/image" Target="../media/image11.png"/><Relationship Id="rId2" Type="http://schemas.openxmlformats.org/officeDocument/2006/relationships/image" Target="../media/image10.png"/><Relationship Id="rId11" Type="http://schemas.openxmlformats.org/officeDocument/2006/relationships/notesSlide" Target="../notesSlides/notesSlide19.xml"/><Relationship Id="rId10" Type="http://schemas.openxmlformats.org/officeDocument/2006/relationships/slideLayout" Target="../slideLayouts/slideLayout1.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9" Type="http://schemas.openxmlformats.org/officeDocument/2006/relationships/image" Target="../media/image139.png"/><Relationship Id="rId8" Type="http://schemas.openxmlformats.org/officeDocument/2006/relationships/image" Target="../media/image36.svg"/><Relationship Id="rId7" Type="http://schemas.openxmlformats.org/officeDocument/2006/relationships/image" Target="../media/image35.png"/><Relationship Id="rId6" Type="http://schemas.openxmlformats.org/officeDocument/2006/relationships/image" Target="../media/image138.svg"/><Relationship Id="rId5" Type="http://schemas.openxmlformats.org/officeDocument/2006/relationships/image" Target="../media/image137.png"/><Relationship Id="rId4" Type="http://schemas.openxmlformats.org/officeDocument/2006/relationships/image" Target="../media/image136.png"/><Relationship Id="rId3" Type="http://schemas.openxmlformats.org/officeDocument/2006/relationships/image" Target="../media/image11.png"/><Relationship Id="rId2" Type="http://schemas.openxmlformats.org/officeDocument/2006/relationships/image" Target="../media/image10.png"/><Relationship Id="rId15" Type="http://schemas.openxmlformats.org/officeDocument/2006/relationships/notesSlide" Target="../notesSlides/notesSlide20.xml"/><Relationship Id="rId14" Type="http://schemas.openxmlformats.org/officeDocument/2006/relationships/slideLayout" Target="../slideLayouts/slideLayout1.xml"/><Relationship Id="rId13" Type="http://schemas.openxmlformats.org/officeDocument/2006/relationships/image" Target="../media/image143.png"/><Relationship Id="rId12" Type="http://schemas.openxmlformats.org/officeDocument/2006/relationships/image" Target="../media/image142.png"/><Relationship Id="rId11" Type="http://schemas.openxmlformats.org/officeDocument/2006/relationships/image" Target="../media/image141.svg"/><Relationship Id="rId10" Type="http://schemas.openxmlformats.org/officeDocument/2006/relationships/image" Target="../media/image140.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144.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xml"/><Relationship Id="rId6" Type="http://schemas.openxmlformats.org/officeDocument/2006/relationships/image" Target="../media/image147.svg"/><Relationship Id="rId5" Type="http://schemas.openxmlformats.org/officeDocument/2006/relationships/image" Target="../media/image146.png"/><Relationship Id="rId4" Type="http://schemas.openxmlformats.org/officeDocument/2006/relationships/image" Target="../media/image145.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2"/>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3"/>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4"/>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5"/>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6"/>
          <a:stretch>
            <a:fillRect/>
          </a:stretch>
        </p:blipFill>
        <p:spPr>
          <a:xfrm>
            <a:off x="10101383" y="2273111"/>
            <a:ext cx="2105868" cy="4595809"/>
          </a:xfrm>
          <a:prstGeom prst="rect">
            <a:avLst/>
          </a:prstGeom>
        </p:spPr>
      </p:pic>
      <p:pic>
        <p:nvPicPr>
          <p:cNvPr id="8" name="Image 7" descr="https://test.web.static.jianzeppt.com/ppt-temp-img3/d6b73fd749a971aade8e0c5073b66807.png"/>
          <p:cNvPicPr>
            <a:picLocks noChangeAspect="1"/>
          </p:cNvPicPr>
          <p:nvPr/>
        </p:nvPicPr>
        <p:blipFill>
          <a:blip r:embed="rId7"/>
          <a:stretch>
            <a:fillRect/>
          </a:stretch>
        </p:blipFill>
        <p:spPr>
          <a:xfrm>
            <a:off x="9613224" y="2284033"/>
            <a:ext cx="2578776" cy="4584889"/>
          </a:xfrm>
          <a:prstGeom prst="rect">
            <a:avLst/>
          </a:prstGeom>
        </p:spPr>
      </p:pic>
      <p:sp>
        <p:nvSpPr>
          <p:cNvPr id="9" name="Text 0"/>
          <p:cNvSpPr/>
          <p:nvPr/>
        </p:nvSpPr>
        <p:spPr>
          <a:xfrm>
            <a:off x="577080" y="4577763"/>
            <a:ext cx="3321262" cy="54422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2040">
                <a:solidFill>
                  <a:srgbClr val="000000"/>
                </a:solidFill>
              </a:rPr>
              <a:t>授课教师：</a:t>
            </a:r>
            <a:r>
              <a:rPr lang="zh-CN" altLang="en-US" sz="2040">
                <a:solidFill>
                  <a:srgbClr val="000000"/>
                </a:solidFill>
              </a:rPr>
              <a:t>张玉</a:t>
            </a:r>
            <a:endParaRPr lang="zh-CN" altLang="en-US" sz="2040">
              <a:solidFill>
                <a:srgbClr val="000000"/>
              </a:solidFill>
            </a:endParaRPr>
          </a:p>
        </p:txBody>
      </p:sp>
      <p:sp>
        <p:nvSpPr>
          <p:cNvPr id="10" name="Text 1"/>
          <p:cNvSpPr/>
          <p:nvPr/>
        </p:nvSpPr>
        <p:spPr>
          <a:xfrm>
            <a:off x="577068" y="1683313"/>
            <a:ext cx="5490553" cy="182880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6000">
                <a:solidFill>
                  <a:srgbClr val="FFFFFF"/>
                </a:solidFill>
              </a:rPr>
              <a:t>信息安全测评与风险评估</a:t>
            </a:r>
            <a:endParaRPr lang="en-US" sz="6000"/>
          </a:p>
        </p:txBody>
      </p:sp>
      <p:sp>
        <p:nvSpPr>
          <p:cNvPr id="11" name="Text 2"/>
          <p:cNvSpPr/>
          <p:nvPr/>
        </p:nvSpPr>
        <p:spPr>
          <a:xfrm>
            <a:off x="577068" y="3867726"/>
            <a:ext cx="4339657" cy="2590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FFFFFF"/>
                </a:solidFill>
                <a:latin typeface="思源黑体 CN" pitchFamily="34" charset="0"/>
                <a:ea typeface="思源黑体 CN" pitchFamily="34" charset="-122"/>
                <a:cs typeface="思源黑体 CN" pitchFamily="34" charset="-120"/>
              </a:rPr>
              <a:t>7.1.2 云安全配置核查</a:t>
            </a:r>
            <a:endParaRPr lang="en-US" sz="168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10" presetClass="entr" presetSubtype="0" fill="hold" grpId="3"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750"/>
                                        <p:tgtEl>
                                          <p:spTgt spid="9"/>
                                        </p:tgtEl>
                                      </p:cBhvr>
                                    </p:animEffect>
                                  </p:childTnLst>
                                </p:cTn>
                              </p:par>
                              <p:par>
                                <p:cTn id="11" presetID="10" presetClass="entr" presetSubtype="0" fill="hold" grpId="4"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750"/>
                                        <p:tgtEl>
                                          <p:spTgt spid="2"/>
                                        </p:tgtEl>
                                      </p:cBhvr>
                                    </p:animEffect>
                                  </p:childTnLst>
                                </p:cTn>
                              </p:par>
                              <p:par>
                                <p:cTn id="14" presetID="10" presetClass="entr" presetSubtype="0" fill="hold" grpId="5"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750"/>
                                        <p:tgtEl>
                                          <p:spTgt spid="6"/>
                                        </p:tgtEl>
                                      </p:cBhvr>
                                    </p:animEffect>
                                  </p:childTnLst>
                                </p:cTn>
                              </p:par>
                            </p:childTnLst>
                          </p:cTn>
                        </p:par>
                        <p:par>
                          <p:cTn id="17" fill="hold">
                            <p:stCondLst>
                              <p:cond delay="1000"/>
                            </p:stCondLst>
                            <p:childTnLst>
                              <p:par>
                                <p:cTn id="18" presetID="10" presetClass="entr" presetSubtype="0" fill="hold" grpId="1"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750"/>
                                        <p:tgtEl>
                                          <p:spTgt spid="10"/>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88" name=""/>
        <p:cNvGrpSpPr/>
        <p:nvPr/>
      </p:nvGrpSpPr>
      <p:grpSpPr>
        <a:xfrm>
          <a:off x="0" y="0"/>
          <a:ext cx="0" cy="0"/>
          <a:chOff x="0" y="0"/>
          <a:chExt cx="0" cy="0"/>
        </a:xfrm>
      </p:grpSpPr>
      <p:pic>
        <p:nvPicPr>
          <p:cNvPr id="289"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290" name="Image 1" descr="https://oss.jianzeppt.com/editablePptPic/isIllustration_2_isShadow_0/963919ed-6c17-4175-b7cd-9f6f68e9281a_image_3d7a216c70ecba8f9c09a39add3fad53_6317120.png?x-oss-process=image/resize,w_1440,h_800,m_lfit/format,png"/>
          <p:cNvPicPr>
            <a:picLocks noChangeAspect="1"/>
          </p:cNvPicPr>
          <p:nvPr/>
        </p:nvPicPr>
        <p:blipFill>
          <a:blip r:embed="rId2"/>
          <a:stretch>
            <a:fillRect/>
          </a:stretch>
        </p:blipFill>
        <p:spPr>
          <a:xfrm>
            <a:off x="194345" y="245378"/>
            <a:ext cx="11803310" cy="6367244"/>
          </a:xfrm>
          <a:prstGeom prst="rect">
            <a:avLst/>
          </a:prstGeom>
        </p:spPr>
      </p:pic>
      <p:sp>
        <p:nvSpPr>
          <p:cNvPr id="291" name="Text 0"/>
          <p:cNvSpPr/>
          <p:nvPr/>
        </p:nvSpPr>
        <p:spPr>
          <a:xfrm>
            <a:off x="2286635" y="2121535"/>
            <a:ext cx="2121535" cy="51625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01</a:t>
            </a:r>
            <a:endParaRPr lang="en-US" sz="3360"/>
          </a:p>
        </p:txBody>
      </p:sp>
      <p:sp>
        <p:nvSpPr>
          <p:cNvPr id="292" name="Text 1"/>
          <p:cNvSpPr/>
          <p:nvPr/>
        </p:nvSpPr>
        <p:spPr>
          <a:xfrm>
            <a:off x="2286635" y="3138170"/>
            <a:ext cx="2121535" cy="51625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02</a:t>
            </a:r>
            <a:endParaRPr lang="en-US" sz="3360"/>
          </a:p>
        </p:txBody>
      </p:sp>
      <p:sp>
        <p:nvSpPr>
          <p:cNvPr id="293" name="Text 2"/>
          <p:cNvSpPr/>
          <p:nvPr/>
        </p:nvSpPr>
        <p:spPr>
          <a:xfrm>
            <a:off x="2286635" y="4154805"/>
            <a:ext cx="2121535" cy="51625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03</a:t>
            </a:r>
            <a:endParaRPr lang="en-US" sz="3360"/>
          </a:p>
        </p:txBody>
      </p:sp>
      <p:sp>
        <p:nvSpPr>
          <p:cNvPr id="294" name="Text 3"/>
          <p:cNvSpPr/>
          <p:nvPr/>
        </p:nvSpPr>
        <p:spPr>
          <a:xfrm>
            <a:off x="2286635" y="5171440"/>
            <a:ext cx="2121535" cy="51625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buNone/>
            </a:pPr>
            <a:r>
              <a:rPr lang="en-US" sz="3360">
                <a:solidFill>
                  <a:srgbClr val="000000"/>
                </a:solidFill>
              </a:rPr>
              <a:t>04</a:t>
            </a:r>
            <a:endParaRPr lang="en-US" sz="3360"/>
          </a:p>
        </p:txBody>
      </p:sp>
      <p:sp>
        <p:nvSpPr>
          <p:cNvPr id="295" name="Text 4"/>
          <p:cNvSpPr/>
          <p:nvPr/>
        </p:nvSpPr>
        <p:spPr>
          <a:xfrm>
            <a:off x="965498" y="2799393"/>
            <a:ext cx="1769654" cy="73152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4800">
                <a:solidFill>
                  <a:srgbClr val="000000"/>
                </a:solidFill>
              </a:rPr>
              <a:t>目录</a:t>
            </a:r>
            <a:endParaRPr lang="en-US" sz="4800"/>
          </a:p>
        </p:txBody>
      </p:sp>
      <p:sp>
        <p:nvSpPr>
          <p:cNvPr id="296" name="Text 5"/>
          <p:cNvSpPr/>
          <p:nvPr/>
        </p:nvSpPr>
        <p:spPr>
          <a:xfrm>
            <a:off x="953110" y="3733353"/>
            <a:ext cx="3150109" cy="310896"/>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2040">
                <a:solidFill>
                  <a:srgbClr val="000000"/>
                </a:solidFill>
              </a:rPr>
              <a:t>CONTENTS</a:t>
            </a:r>
            <a:endParaRPr lang="en-US" sz="2040"/>
          </a:p>
        </p:txBody>
      </p:sp>
      <p:sp>
        <p:nvSpPr>
          <p:cNvPr id="297" name="Text 6"/>
          <p:cNvSpPr/>
          <p:nvPr/>
        </p:nvSpPr>
        <p:spPr>
          <a:xfrm>
            <a:off x="3780790" y="5180330"/>
            <a:ext cx="8161020" cy="46164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云计算安全扩展要求——在等保标准中的定位</a:t>
            </a:r>
            <a:endParaRPr lang="en-US" sz="3000"/>
          </a:p>
        </p:txBody>
      </p:sp>
      <p:sp>
        <p:nvSpPr>
          <p:cNvPr id="298" name="Text 7"/>
          <p:cNvSpPr/>
          <p:nvPr/>
        </p:nvSpPr>
        <p:spPr>
          <a:xfrm>
            <a:off x="3780790" y="2130425"/>
            <a:ext cx="8161020" cy="46164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案例导入——“一个配置错误，百万数据泄露”</a:t>
            </a:r>
            <a:endParaRPr lang="en-US" sz="3000"/>
          </a:p>
        </p:txBody>
      </p:sp>
      <p:sp>
        <p:nvSpPr>
          <p:cNvPr id="299" name="Text 8"/>
          <p:cNvSpPr/>
          <p:nvPr/>
        </p:nvSpPr>
        <p:spPr>
          <a:xfrm>
            <a:off x="3780790" y="4163695"/>
            <a:ext cx="8161020" cy="46164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复习导入——回顾云平台架构与责任共担</a:t>
            </a:r>
            <a:endParaRPr lang="en-US" sz="3000"/>
          </a:p>
        </p:txBody>
      </p:sp>
      <p:sp>
        <p:nvSpPr>
          <p:cNvPr id="300" name="Text 9"/>
          <p:cNvSpPr/>
          <p:nvPr/>
        </p:nvSpPr>
        <p:spPr>
          <a:xfrm>
            <a:off x="3780790" y="3167380"/>
            <a:ext cx="8161020" cy="461645"/>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3000">
                <a:solidFill>
                  <a:srgbClr val="000000"/>
                </a:solidFill>
              </a:rPr>
              <a:t>学习目标</a:t>
            </a:r>
            <a:endParaRPr lang="en-US" sz="30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6" name=""/>
        <p:cNvGrpSpPr/>
        <p:nvPr/>
      </p:nvGrpSpPr>
      <p:grpSpPr>
        <a:xfrm>
          <a:off x="0" y="0"/>
          <a:ext cx="0" cy="0"/>
          <a:chOff x="0" y="0"/>
          <a:chExt cx="0" cy="0"/>
        </a:xfrm>
      </p:grpSpPr>
      <p:pic>
        <p:nvPicPr>
          <p:cNvPr id="497"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498"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99"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00"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案例导入——“一个配置错误，百万数据泄露”</a:t>
            </a:r>
            <a:endParaRPr lang="en-US" sz="2760"/>
          </a:p>
        </p:txBody>
      </p:sp>
      <p:grpSp>
        <p:nvGrpSpPr>
          <p:cNvPr id="501" name="组合 34"/>
          <p:cNvGrpSpPr/>
          <p:nvPr/>
        </p:nvGrpSpPr>
        <p:grpSpPr>
          <a:xfrm>
            <a:off x="5242560" y="1371600"/>
            <a:ext cx="6339840" cy="1188720"/>
            <a:chOff x="-635000" y="-635000"/>
            <a:chExt cx="6339840" cy="1188720"/>
          </a:xfrm>
        </p:grpSpPr>
        <p:pic>
          <p:nvPicPr>
            <p:cNvPr id="502" name="Image 3" descr="TEMP_Z_ORDER_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635000"/>
              <a:ext cx="6339840" cy="1188720"/>
            </a:xfrm>
            <a:prstGeom prst="rect">
              <a:avLst/>
            </a:prstGeom>
          </p:spPr>
        </p:pic>
        <p:sp>
          <p:nvSpPr>
            <p:cNvPr id="503" name="Text 1" descr="TEMP_Z_ORDER_5"/>
            <p:cNvSpPr/>
            <p:nvPr/>
          </p:nvSpPr>
          <p:spPr>
            <a:xfrm>
              <a:off x="-391160" y="-452120"/>
              <a:ext cx="5922264" cy="80628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000000"/>
                  </a:solidFill>
                  <a:latin typeface="思源黑体 CN Bold" pitchFamily="34" charset="0"/>
                  <a:ea typeface="思源黑体 CN Bold" pitchFamily="34" charset="-122"/>
                  <a:cs typeface="思源黑体 CN Bold" pitchFamily="34" charset="-120"/>
                </a:rPr>
                <a:t>引入问题 云平台配置好了，但——你真的“配置安全”了吗？</a:t>
              </a:r>
              <a:endParaRPr lang="en-US" sz="2160"/>
            </a:p>
          </p:txBody>
        </p:sp>
      </p:grpSp>
      <p:grpSp>
        <p:nvGrpSpPr>
          <p:cNvPr id="508" name="组合 20"/>
          <p:cNvGrpSpPr/>
          <p:nvPr/>
        </p:nvGrpSpPr>
        <p:grpSpPr>
          <a:xfrm>
            <a:off x="5181600" y="2759710"/>
            <a:ext cx="6339840" cy="883920"/>
            <a:chOff x="-635000" y="-635000"/>
            <a:chExt cx="6339840" cy="883920"/>
          </a:xfrm>
        </p:grpSpPr>
        <p:pic>
          <p:nvPicPr>
            <p:cNvPr id="509" name="Image 6" descr="TEMP_Z_ORDER_9"/>
            <p:cNvPicPr>
              <a:picLocks noChangeAspect="1"/>
            </p:cNvPicPr>
            <p:nvPr/>
          </p:nvPicPr>
          <p:blipFill>
            <a:blip r:embed="rId6"/>
            <a:stretch>
              <a:fillRect/>
            </a:stretch>
          </p:blipFill>
          <p:spPr>
            <a:xfrm>
              <a:off x="-635000" y="-635000"/>
              <a:ext cx="6339840" cy="883920"/>
            </a:xfrm>
            <a:prstGeom prst="rect">
              <a:avLst/>
            </a:prstGeom>
          </p:spPr>
        </p:pic>
        <p:pic>
          <p:nvPicPr>
            <p:cNvPr id="510" name="Image 7" descr="TEMP_Z_ORDER_10"/>
            <p:cNvPicPr>
              <a:picLocks noChangeAspect="1"/>
            </p:cNvPicPr>
            <p:nvPr/>
          </p:nvPicPr>
          <p:blipFill>
            <a:blip r:embed="rId7"/>
            <a:stretch>
              <a:fillRect/>
            </a:stretch>
          </p:blipFill>
          <p:spPr>
            <a:xfrm>
              <a:off x="-375920" y="-299720"/>
              <a:ext cx="304800" cy="304800"/>
            </a:xfrm>
            <a:prstGeom prst="rect">
              <a:avLst/>
            </a:prstGeom>
          </p:spPr>
        </p:pic>
        <p:sp>
          <p:nvSpPr>
            <p:cNvPr id="511" name="Text 3" descr="TEMP_Z_ORDER_11"/>
            <p:cNvSpPr/>
            <p:nvPr/>
          </p:nvSpPr>
          <p:spPr>
            <a:xfrm>
              <a:off x="50799" y="-376537"/>
              <a:ext cx="1231392" cy="443193"/>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问题讨论</a:t>
              </a:r>
              <a:endParaRPr lang="en-US" sz="2400"/>
            </a:p>
          </p:txBody>
        </p:sp>
      </p:grpSp>
      <p:grpSp>
        <p:nvGrpSpPr>
          <p:cNvPr id="512" name="组合 26"/>
          <p:cNvGrpSpPr/>
          <p:nvPr/>
        </p:nvGrpSpPr>
        <p:grpSpPr>
          <a:xfrm>
            <a:off x="5181600" y="4319905"/>
            <a:ext cx="6339840" cy="1304925"/>
            <a:chOff x="-635000" y="-635000"/>
            <a:chExt cx="6339840" cy="1524000"/>
          </a:xfrm>
        </p:grpSpPr>
        <p:pic>
          <p:nvPicPr>
            <p:cNvPr id="513" name="Image 8" descr="TEMP_Z_ORDER_1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5000" y="-635000"/>
              <a:ext cx="6339840" cy="1524000"/>
            </a:xfrm>
            <a:prstGeom prst="rect">
              <a:avLst/>
            </a:prstGeom>
          </p:spPr>
        </p:pic>
        <p:pic>
          <p:nvPicPr>
            <p:cNvPr id="514" name="Image 9" descr="TEMP_Z_ORDER_13"/>
            <p:cNvPicPr>
              <a:picLocks noChangeAspect="1"/>
            </p:cNvPicPr>
            <p:nvPr/>
          </p:nvPicPr>
          <p:blipFill>
            <a:blip r:embed="rId10"/>
            <a:stretch>
              <a:fillRect/>
            </a:stretch>
          </p:blipFill>
          <p:spPr>
            <a:xfrm>
              <a:off x="-452120" y="-147320"/>
              <a:ext cx="548640" cy="548640"/>
            </a:xfrm>
            <a:prstGeom prst="rect">
              <a:avLst/>
            </a:prstGeom>
          </p:spPr>
        </p:pic>
        <p:pic>
          <p:nvPicPr>
            <p:cNvPr id="515" name="Image 10" descr="TEMP_Z_ORDER_14"/>
            <p:cNvPicPr>
              <a:picLocks noChangeAspect="1"/>
            </p:cNvPicPr>
            <p:nvPr/>
          </p:nvPicPr>
          <p:blipFill>
            <a:blip r:embed="rId11"/>
            <a:stretch>
              <a:fillRect/>
            </a:stretch>
          </p:blipFill>
          <p:spPr>
            <a:xfrm>
              <a:off x="-360680" y="-55880"/>
              <a:ext cx="365760" cy="365760"/>
            </a:xfrm>
            <a:prstGeom prst="rect">
              <a:avLst/>
            </a:prstGeom>
          </p:spPr>
        </p:pic>
        <p:sp>
          <p:nvSpPr>
            <p:cNvPr id="516" name="Text 4" descr="TEMP_Z_ORDER_15"/>
            <p:cNvSpPr/>
            <p:nvPr/>
          </p:nvSpPr>
          <p:spPr>
            <a:xfrm>
              <a:off x="279399" y="-452120"/>
              <a:ext cx="5251704" cy="125998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7000"/>
                </a:lnSpc>
                <a:buNone/>
              </a:pPr>
              <a:r>
                <a:rPr lang="en-US" sz="2000" b="1">
                  <a:solidFill>
                    <a:srgbClr val="FFFFFF"/>
                  </a:solidFill>
                  <a:latin typeface="思源黑体 CN Bold" pitchFamily="34" charset="0"/>
                  <a:ea typeface="思源黑体 CN Bold" pitchFamily="34" charset="-122"/>
                  <a:cs typeface="思源黑体 CN Bold" pitchFamily="34" charset="-120"/>
                </a:rPr>
                <a:t>云平台配置错误是云安全风险的主要来源之一。等保测评中，需要对云平台的安全配置进行逐项核查。</a:t>
              </a:r>
              <a:endParaRPr lang="en-US" sz="2000" b="1">
                <a:solidFill>
                  <a:srgbClr val="FFFFFF"/>
                </a:solidFill>
                <a:latin typeface="思源黑体 CN Bold" pitchFamily="34" charset="0"/>
                <a:ea typeface="思源黑体 CN Bold" pitchFamily="34" charset="-122"/>
                <a:cs typeface="思源黑体 CN Bold" pitchFamily="34" charset="-120"/>
              </a:endParaRPr>
            </a:p>
          </p:txBody>
        </p:sp>
      </p:grpSp>
      <p:grpSp>
        <p:nvGrpSpPr>
          <p:cNvPr id="517" name="组合 31"/>
          <p:cNvGrpSpPr/>
          <p:nvPr/>
        </p:nvGrpSpPr>
        <p:grpSpPr>
          <a:xfrm>
            <a:off x="609600" y="1371600"/>
            <a:ext cx="4267200" cy="5038725"/>
            <a:chOff x="-635000" y="-635000"/>
            <a:chExt cx="4267200" cy="5181600"/>
          </a:xfrm>
        </p:grpSpPr>
        <p:pic>
          <p:nvPicPr>
            <p:cNvPr id="518" name="Image 11" descr="TEMP_Z_ORDER_16"/>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5000" y="-635000"/>
              <a:ext cx="4267200" cy="5181600"/>
            </a:xfrm>
            <a:prstGeom prst="rect">
              <a:avLst/>
            </a:prstGeom>
            <a:effectLst>
              <a:outerShdw blurRad="228600" dist="152400" dir="5400000" algn="bl" rotWithShape="0">
                <a:srgbClr val="000000">
                  <a:alpha val="10000"/>
                </a:srgbClr>
              </a:outerShdw>
            </a:effectLst>
          </p:spPr>
        </p:pic>
        <p:pic>
          <p:nvPicPr>
            <p:cNvPr id="519" name="Image 12" descr="TEMP_Z_ORDER_17"/>
            <p:cNvPicPr>
              <a:picLocks noChangeAspect="1"/>
            </p:cNvPicPr>
            <p:nvPr/>
          </p:nvPicPr>
          <p:blipFill>
            <a:blip r:embed="rId14"/>
            <a:stretch>
              <a:fillRect/>
            </a:stretch>
          </p:blipFill>
          <p:spPr>
            <a:xfrm>
              <a:off x="-619760" y="-619760"/>
              <a:ext cx="4236720" cy="5151120"/>
            </a:xfrm>
            <a:prstGeom prst="rect">
              <a:avLst/>
            </a:prstGeom>
          </p:spPr>
        </p:pic>
      </p:grpSp>
      <p:grpSp>
        <p:nvGrpSpPr>
          <p:cNvPr id="520" name="组合 24"/>
          <p:cNvGrpSpPr/>
          <p:nvPr/>
        </p:nvGrpSpPr>
        <p:grpSpPr>
          <a:xfrm>
            <a:off x="5623560" y="3626803"/>
            <a:ext cx="5859780" cy="368935"/>
            <a:chOff x="-635000" y="-453707"/>
            <a:chExt cx="5632704" cy="368935"/>
          </a:xfrm>
        </p:grpSpPr>
        <p:sp>
          <p:nvSpPr>
            <p:cNvPr id="521" name="Text 5" descr="TEMP_Z_ORDER_18"/>
            <p:cNvSpPr/>
            <p:nvPr/>
          </p:nvSpPr>
          <p:spPr>
            <a:xfrm>
              <a:off x="-635000" y="-453707"/>
              <a:ext cx="5632704" cy="36893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002060"/>
                  </a:solidFill>
                  <a:latin typeface="思源黑体 CN Regular" pitchFamily="34" charset="0"/>
                  <a:ea typeface="思源黑体 CN Regular" pitchFamily="34" charset="-122"/>
                  <a:cs typeface="思源黑体 CN Regular" pitchFamily="34" charset="-120"/>
                </a:rPr>
                <a:t>数据泄露事件，是云服务商的责任还是客户的责任？</a:t>
              </a:r>
              <a:endParaRPr lang="en-US" sz="1920">
                <a:solidFill>
                  <a:srgbClr val="002060"/>
                </a:solidFill>
                <a:latin typeface="思源黑体 CN Regular" pitchFamily="34" charset="0"/>
                <a:ea typeface="思源黑体 CN Regular" pitchFamily="34" charset="-122"/>
                <a:cs typeface="思源黑体 CN Regular" pitchFamily="34" charset="-12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6" nodeType="withEffect">
                                  <p:stCondLst>
                                    <p:cond delay="0"/>
                                  </p:stCondLst>
                                  <p:iterate type="lt">
                                    <p:tmPct val="5000"/>
                                  </p:iterate>
                                  <p:childTnLst>
                                    <p:set>
                                      <p:cBhvr>
                                        <p:cTn id="6" dur="1" fill="hold">
                                          <p:stCondLst>
                                            <p:cond delay="0"/>
                                          </p:stCondLst>
                                        </p:cTn>
                                        <p:tgtEl>
                                          <p:spTgt spid="520"/>
                                        </p:tgtEl>
                                        <p:attrNameLst>
                                          <p:attrName>style.visibility</p:attrName>
                                        </p:attrNameLst>
                                      </p:cBhvr>
                                      <p:to>
                                        <p:strVal val="visible"/>
                                      </p:to>
                                    </p:set>
                                    <p:anim calcmode="lin" valueType="num">
                                      <p:cBhvr>
                                        <p:cTn id="7" dur="750" fill="hold"/>
                                        <p:tgtEl>
                                          <p:spTgt spid="520"/>
                                        </p:tgtEl>
                                        <p:attrNameLst>
                                          <p:attrName>ppt_w</p:attrName>
                                        </p:attrNameLst>
                                      </p:cBhvr>
                                      <p:tavLst>
                                        <p:tav tm="0">
                                          <p:val>
                                            <p:fltVal val="0"/>
                                          </p:val>
                                        </p:tav>
                                        <p:tav tm="100000">
                                          <p:val>
                                            <p:strVal val="#ppt_w"/>
                                          </p:val>
                                        </p:tav>
                                      </p:tavLst>
                                    </p:anim>
                                    <p:anim calcmode="lin" valueType="num">
                                      <p:cBhvr>
                                        <p:cTn id="8" dur="750" fill="hold"/>
                                        <p:tgtEl>
                                          <p:spTgt spid="520"/>
                                        </p:tgtEl>
                                        <p:attrNameLst>
                                          <p:attrName>ppt_h</p:attrName>
                                        </p:attrNameLst>
                                      </p:cBhvr>
                                      <p:tavLst>
                                        <p:tav tm="0">
                                          <p:val>
                                            <p:fltVal val="0"/>
                                          </p:val>
                                        </p:tav>
                                        <p:tav tm="100000">
                                          <p:val>
                                            <p:strVal val="#ppt_h"/>
                                          </p:val>
                                        </p:tav>
                                      </p:tavLst>
                                    </p:anim>
                                    <p:anim calcmode="lin" valueType="num">
                                      <p:cBhvr>
                                        <p:cTn id="9" dur="750" fill="hold"/>
                                        <p:tgtEl>
                                          <p:spTgt spid="520"/>
                                        </p:tgtEl>
                                        <p:attrNameLst>
                                          <p:attrName>style.rotation</p:attrName>
                                        </p:attrNameLst>
                                      </p:cBhvr>
                                      <p:tavLst>
                                        <p:tav tm="0">
                                          <p:val>
                                            <p:fltVal val="90"/>
                                          </p:val>
                                        </p:tav>
                                        <p:tav tm="100000">
                                          <p:val>
                                            <p:fltVal val="0"/>
                                          </p:val>
                                        </p:tav>
                                      </p:tavLst>
                                    </p:anim>
                                    <p:animEffect transition="in" filter="fade">
                                      <p:cBhvr>
                                        <p:cTn id="10" dur="750"/>
                                        <p:tgtEl>
                                          <p:spTgt spid="520"/>
                                        </p:tgtEl>
                                      </p:cBhvr>
                                    </p:animEffect>
                                  </p:childTnLst>
                                </p:cTn>
                              </p:par>
                            </p:childTnLst>
                          </p:cTn>
                        </p:par>
                        <p:par>
                          <p:cTn id="11" fill="hold">
                            <p:stCondLst>
                              <p:cond delay="0"/>
                            </p:stCondLst>
                            <p:childTnLst>
                              <p:par>
                                <p:cTn id="12" presetID="10" presetClass="entr" presetSubtype="0" fill="hold" grpId="1" nodeType="afterEffect">
                                  <p:stCondLst>
                                    <p:cond delay="0"/>
                                  </p:stCondLst>
                                  <p:childTnLst>
                                    <p:set>
                                      <p:cBhvr>
                                        <p:cTn id="13" dur="1" fill="hold">
                                          <p:stCondLst>
                                            <p:cond delay="0"/>
                                          </p:stCondLst>
                                        </p:cTn>
                                        <p:tgtEl>
                                          <p:spTgt spid="500"/>
                                        </p:tgtEl>
                                        <p:attrNameLst>
                                          <p:attrName>style.visibility</p:attrName>
                                        </p:attrNameLst>
                                      </p:cBhvr>
                                      <p:to>
                                        <p:strVal val="visible"/>
                                      </p:to>
                                    </p:set>
                                    <p:animEffect transition="in" filter="fade">
                                      <p:cBhvr>
                                        <p:cTn id="14" dur="750"/>
                                        <p:tgtEl>
                                          <p:spTgt spid="500"/>
                                        </p:tgtEl>
                                      </p:cBhvr>
                                    </p:animEffect>
                                  </p:childTnLst>
                                </p:cTn>
                              </p:par>
                            </p:childTnLst>
                          </p:cTn>
                        </p:par>
                        <p:par>
                          <p:cTn id="15" fill="hold">
                            <p:stCondLst>
                              <p:cond delay="1000"/>
                            </p:stCondLst>
                            <p:childTnLst>
                              <p:par>
                                <p:cTn id="16" presetID="31" presetClass="entr" presetSubtype="0" fill="hold" grpId="2" nodeType="afterEffect">
                                  <p:stCondLst>
                                    <p:cond delay="0"/>
                                  </p:stCondLst>
                                  <p:iterate type="lt">
                                    <p:tmPct val="5000"/>
                                  </p:iterate>
                                  <p:childTnLst>
                                    <p:set>
                                      <p:cBhvr>
                                        <p:cTn id="17" dur="1" fill="hold">
                                          <p:stCondLst>
                                            <p:cond delay="0"/>
                                          </p:stCondLst>
                                        </p:cTn>
                                        <p:tgtEl>
                                          <p:spTgt spid="517"/>
                                        </p:tgtEl>
                                        <p:attrNameLst>
                                          <p:attrName>style.visibility</p:attrName>
                                        </p:attrNameLst>
                                      </p:cBhvr>
                                      <p:to>
                                        <p:strVal val="visible"/>
                                      </p:to>
                                    </p:set>
                                    <p:anim calcmode="lin" valueType="num">
                                      <p:cBhvr>
                                        <p:cTn id="18" dur="750" fill="hold"/>
                                        <p:tgtEl>
                                          <p:spTgt spid="517"/>
                                        </p:tgtEl>
                                        <p:attrNameLst>
                                          <p:attrName>ppt_w</p:attrName>
                                        </p:attrNameLst>
                                      </p:cBhvr>
                                      <p:tavLst>
                                        <p:tav tm="0">
                                          <p:val>
                                            <p:fltVal val="0"/>
                                          </p:val>
                                        </p:tav>
                                        <p:tav tm="100000">
                                          <p:val>
                                            <p:strVal val="#ppt_w"/>
                                          </p:val>
                                        </p:tav>
                                      </p:tavLst>
                                    </p:anim>
                                    <p:anim calcmode="lin" valueType="num">
                                      <p:cBhvr>
                                        <p:cTn id="19" dur="750" fill="hold"/>
                                        <p:tgtEl>
                                          <p:spTgt spid="517"/>
                                        </p:tgtEl>
                                        <p:attrNameLst>
                                          <p:attrName>ppt_h</p:attrName>
                                        </p:attrNameLst>
                                      </p:cBhvr>
                                      <p:tavLst>
                                        <p:tav tm="0">
                                          <p:val>
                                            <p:fltVal val="0"/>
                                          </p:val>
                                        </p:tav>
                                        <p:tav tm="100000">
                                          <p:val>
                                            <p:strVal val="#ppt_h"/>
                                          </p:val>
                                        </p:tav>
                                      </p:tavLst>
                                    </p:anim>
                                    <p:anim calcmode="lin" valueType="num">
                                      <p:cBhvr>
                                        <p:cTn id="20" dur="750" fill="hold"/>
                                        <p:tgtEl>
                                          <p:spTgt spid="517"/>
                                        </p:tgtEl>
                                        <p:attrNameLst>
                                          <p:attrName>style.rotation</p:attrName>
                                        </p:attrNameLst>
                                      </p:cBhvr>
                                      <p:tavLst>
                                        <p:tav tm="0">
                                          <p:val>
                                            <p:fltVal val="90"/>
                                          </p:val>
                                        </p:tav>
                                        <p:tav tm="100000">
                                          <p:val>
                                            <p:fltVal val="0"/>
                                          </p:val>
                                        </p:tav>
                                      </p:tavLst>
                                    </p:anim>
                                    <p:animEffect transition="in" filter="fade">
                                      <p:cBhvr>
                                        <p:cTn id="21" dur="750"/>
                                        <p:tgtEl>
                                          <p:spTgt spid="517"/>
                                        </p:tgtEl>
                                      </p:cBhvr>
                                    </p:animEffect>
                                  </p:childTnLst>
                                </p:cTn>
                              </p:par>
                            </p:childTnLst>
                          </p:cTn>
                        </p:par>
                        <p:par>
                          <p:cTn id="22" fill="hold">
                            <p:stCondLst>
                              <p:cond delay="1500"/>
                            </p:stCondLst>
                            <p:childTnLst>
                              <p:par>
                                <p:cTn id="23" presetID="31" presetClass="entr" presetSubtype="0" fill="hold" grpId="3" nodeType="afterEffect">
                                  <p:stCondLst>
                                    <p:cond delay="0"/>
                                  </p:stCondLst>
                                  <p:iterate type="lt">
                                    <p:tmPct val="5000"/>
                                  </p:iterate>
                                  <p:childTnLst>
                                    <p:set>
                                      <p:cBhvr>
                                        <p:cTn id="24" dur="1" fill="hold">
                                          <p:stCondLst>
                                            <p:cond delay="0"/>
                                          </p:stCondLst>
                                        </p:cTn>
                                        <p:tgtEl>
                                          <p:spTgt spid="501"/>
                                        </p:tgtEl>
                                        <p:attrNameLst>
                                          <p:attrName>style.visibility</p:attrName>
                                        </p:attrNameLst>
                                      </p:cBhvr>
                                      <p:to>
                                        <p:strVal val="visible"/>
                                      </p:to>
                                    </p:set>
                                    <p:anim calcmode="lin" valueType="num">
                                      <p:cBhvr>
                                        <p:cTn id="25" dur="750" fill="hold"/>
                                        <p:tgtEl>
                                          <p:spTgt spid="501"/>
                                        </p:tgtEl>
                                        <p:attrNameLst>
                                          <p:attrName>ppt_w</p:attrName>
                                        </p:attrNameLst>
                                      </p:cBhvr>
                                      <p:tavLst>
                                        <p:tav tm="0">
                                          <p:val>
                                            <p:fltVal val="0"/>
                                          </p:val>
                                        </p:tav>
                                        <p:tav tm="100000">
                                          <p:val>
                                            <p:strVal val="#ppt_w"/>
                                          </p:val>
                                        </p:tav>
                                      </p:tavLst>
                                    </p:anim>
                                    <p:anim calcmode="lin" valueType="num">
                                      <p:cBhvr>
                                        <p:cTn id="26" dur="750" fill="hold"/>
                                        <p:tgtEl>
                                          <p:spTgt spid="501"/>
                                        </p:tgtEl>
                                        <p:attrNameLst>
                                          <p:attrName>ppt_h</p:attrName>
                                        </p:attrNameLst>
                                      </p:cBhvr>
                                      <p:tavLst>
                                        <p:tav tm="0">
                                          <p:val>
                                            <p:fltVal val="0"/>
                                          </p:val>
                                        </p:tav>
                                        <p:tav tm="100000">
                                          <p:val>
                                            <p:strVal val="#ppt_h"/>
                                          </p:val>
                                        </p:tav>
                                      </p:tavLst>
                                    </p:anim>
                                    <p:anim calcmode="lin" valueType="num">
                                      <p:cBhvr>
                                        <p:cTn id="27" dur="750" fill="hold"/>
                                        <p:tgtEl>
                                          <p:spTgt spid="501"/>
                                        </p:tgtEl>
                                        <p:attrNameLst>
                                          <p:attrName>style.rotation</p:attrName>
                                        </p:attrNameLst>
                                      </p:cBhvr>
                                      <p:tavLst>
                                        <p:tav tm="0">
                                          <p:val>
                                            <p:fltVal val="90"/>
                                          </p:val>
                                        </p:tav>
                                        <p:tav tm="100000">
                                          <p:val>
                                            <p:fltVal val="0"/>
                                          </p:val>
                                        </p:tav>
                                      </p:tavLst>
                                    </p:anim>
                                    <p:animEffect transition="in" filter="fade">
                                      <p:cBhvr>
                                        <p:cTn id="28" dur="750"/>
                                        <p:tgtEl>
                                          <p:spTgt spid="501"/>
                                        </p:tgtEl>
                                      </p:cBhvr>
                                    </p:animEffect>
                                  </p:childTnLst>
                                </p:cTn>
                              </p:par>
                            </p:childTnLst>
                          </p:cTn>
                        </p:par>
                        <p:par>
                          <p:cTn id="29" fill="hold">
                            <p:stCondLst>
                              <p:cond delay="2250"/>
                            </p:stCondLst>
                            <p:childTnLst>
                              <p:par>
                                <p:cTn id="30" presetID="31" presetClass="entr" presetSubtype="0" fill="hold" grpId="5" nodeType="afterEffect">
                                  <p:stCondLst>
                                    <p:cond delay="0"/>
                                  </p:stCondLst>
                                  <p:iterate type="lt">
                                    <p:tmPct val="5000"/>
                                  </p:iterate>
                                  <p:childTnLst>
                                    <p:set>
                                      <p:cBhvr>
                                        <p:cTn id="31" dur="1" fill="hold">
                                          <p:stCondLst>
                                            <p:cond delay="0"/>
                                          </p:stCondLst>
                                        </p:cTn>
                                        <p:tgtEl>
                                          <p:spTgt spid="508"/>
                                        </p:tgtEl>
                                        <p:attrNameLst>
                                          <p:attrName>style.visibility</p:attrName>
                                        </p:attrNameLst>
                                      </p:cBhvr>
                                      <p:to>
                                        <p:strVal val="visible"/>
                                      </p:to>
                                    </p:set>
                                    <p:anim calcmode="lin" valueType="num">
                                      <p:cBhvr>
                                        <p:cTn id="32" dur="750" fill="hold"/>
                                        <p:tgtEl>
                                          <p:spTgt spid="508"/>
                                        </p:tgtEl>
                                        <p:attrNameLst>
                                          <p:attrName>ppt_w</p:attrName>
                                        </p:attrNameLst>
                                      </p:cBhvr>
                                      <p:tavLst>
                                        <p:tav tm="0">
                                          <p:val>
                                            <p:fltVal val="0"/>
                                          </p:val>
                                        </p:tav>
                                        <p:tav tm="100000">
                                          <p:val>
                                            <p:strVal val="#ppt_w"/>
                                          </p:val>
                                        </p:tav>
                                      </p:tavLst>
                                    </p:anim>
                                    <p:anim calcmode="lin" valueType="num">
                                      <p:cBhvr>
                                        <p:cTn id="33" dur="750" fill="hold"/>
                                        <p:tgtEl>
                                          <p:spTgt spid="508"/>
                                        </p:tgtEl>
                                        <p:attrNameLst>
                                          <p:attrName>ppt_h</p:attrName>
                                        </p:attrNameLst>
                                      </p:cBhvr>
                                      <p:tavLst>
                                        <p:tav tm="0">
                                          <p:val>
                                            <p:fltVal val="0"/>
                                          </p:val>
                                        </p:tav>
                                        <p:tav tm="100000">
                                          <p:val>
                                            <p:strVal val="#ppt_h"/>
                                          </p:val>
                                        </p:tav>
                                      </p:tavLst>
                                    </p:anim>
                                    <p:anim calcmode="lin" valueType="num">
                                      <p:cBhvr>
                                        <p:cTn id="34" dur="750" fill="hold"/>
                                        <p:tgtEl>
                                          <p:spTgt spid="508"/>
                                        </p:tgtEl>
                                        <p:attrNameLst>
                                          <p:attrName>style.rotation</p:attrName>
                                        </p:attrNameLst>
                                      </p:cBhvr>
                                      <p:tavLst>
                                        <p:tav tm="0">
                                          <p:val>
                                            <p:fltVal val="90"/>
                                          </p:val>
                                        </p:tav>
                                        <p:tav tm="100000">
                                          <p:val>
                                            <p:fltVal val="0"/>
                                          </p:val>
                                        </p:tav>
                                      </p:tavLst>
                                    </p:anim>
                                    <p:animEffect transition="in" filter="fade">
                                      <p:cBhvr>
                                        <p:cTn id="35" dur="750"/>
                                        <p:tgtEl>
                                          <p:spTgt spid="508"/>
                                        </p:tgtEl>
                                      </p:cBhvr>
                                    </p:animEffect>
                                  </p:childTnLst>
                                </p:cTn>
                              </p:par>
                            </p:childTnLst>
                          </p:cTn>
                        </p:par>
                        <p:par>
                          <p:cTn id="36" fill="hold">
                            <p:stCondLst>
                              <p:cond delay="3000"/>
                            </p:stCondLst>
                            <p:childTnLst>
                              <p:par>
                                <p:cTn id="37" presetID="31" presetClass="entr" presetSubtype="0" fill="hold" grpId="7" nodeType="afterEffect">
                                  <p:stCondLst>
                                    <p:cond delay="0"/>
                                  </p:stCondLst>
                                  <p:iterate type="lt">
                                    <p:tmPct val="5000"/>
                                  </p:iterate>
                                  <p:childTnLst>
                                    <p:set>
                                      <p:cBhvr>
                                        <p:cTn id="38" dur="1" fill="hold">
                                          <p:stCondLst>
                                            <p:cond delay="0"/>
                                          </p:stCondLst>
                                        </p:cTn>
                                        <p:tgtEl>
                                          <p:spTgt spid="512"/>
                                        </p:tgtEl>
                                        <p:attrNameLst>
                                          <p:attrName>style.visibility</p:attrName>
                                        </p:attrNameLst>
                                      </p:cBhvr>
                                      <p:to>
                                        <p:strVal val="visible"/>
                                      </p:to>
                                    </p:set>
                                    <p:anim calcmode="lin" valueType="num">
                                      <p:cBhvr>
                                        <p:cTn id="39" dur="750" fill="hold"/>
                                        <p:tgtEl>
                                          <p:spTgt spid="512"/>
                                        </p:tgtEl>
                                        <p:attrNameLst>
                                          <p:attrName>ppt_w</p:attrName>
                                        </p:attrNameLst>
                                      </p:cBhvr>
                                      <p:tavLst>
                                        <p:tav tm="0">
                                          <p:val>
                                            <p:fltVal val="0"/>
                                          </p:val>
                                        </p:tav>
                                        <p:tav tm="100000">
                                          <p:val>
                                            <p:strVal val="#ppt_w"/>
                                          </p:val>
                                        </p:tav>
                                      </p:tavLst>
                                    </p:anim>
                                    <p:anim calcmode="lin" valueType="num">
                                      <p:cBhvr>
                                        <p:cTn id="40" dur="750" fill="hold"/>
                                        <p:tgtEl>
                                          <p:spTgt spid="512"/>
                                        </p:tgtEl>
                                        <p:attrNameLst>
                                          <p:attrName>ppt_h</p:attrName>
                                        </p:attrNameLst>
                                      </p:cBhvr>
                                      <p:tavLst>
                                        <p:tav tm="0">
                                          <p:val>
                                            <p:fltVal val="0"/>
                                          </p:val>
                                        </p:tav>
                                        <p:tav tm="100000">
                                          <p:val>
                                            <p:strVal val="#ppt_h"/>
                                          </p:val>
                                        </p:tav>
                                      </p:tavLst>
                                    </p:anim>
                                    <p:anim calcmode="lin" valueType="num">
                                      <p:cBhvr>
                                        <p:cTn id="41" dur="750" fill="hold"/>
                                        <p:tgtEl>
                                          <p:spTgt spid="512"/>
                                        </p:tgtEl>
                                        <p:attrNameLst>
                                          <p:attrName>style.rotation</p:attrName>
                                        </p:attrNameLst>
                                      </p:cBhvr>
                                      <p:tavLst>
                                        <p:tav tm="0">
                                          <p:val>
                                            <p:fltVal val="90"/>
                                          </p:val>
                                        </p:tav>
                                        <p:tav tm="100000">
                                          <p:val>
                                            <p:fltVal val="0"/>
                                          </p:val>
                                        </p:tav>
                                      </p:tavLst>
                                    </p:anim>
                                    <p:animEffect transition="in" filter="fade">
                                      <p:cBhvr>
                                        <p:cTn id="42" dur="750"/>
                                        <p:tgtEl>
                                          <p:spTgt spid="512"/>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22" name=""/>
        <p:cNvGrpSpPr/>
        <p:nvPr/>
      </p:nvGrpSpPr>
      <p:grpSpPr>
        <a:xfrm>
          <a:off x="0" y="0"/>
          <a:ext cx="0" cy="0"/>
          <a:chOff x="0" y="0"/>
          <a:chExt cx="0" cy="0"/>
        </a:xfrm>
      </p:grpSpPr>
      <p:pic>
        <p:nvPicPr>
          <p:cNvPr id="52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52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52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2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学习目标</a:t>
            </a:r>
            <a:endParaRPr lang="en-US" sz="2760"/>
          </a:p>
        </p:txBody>
      </p:sp>
      <p:grpSp>
        <p:nvGrpSpPr>
          <p:cNvPr id="527" name="组合 45"/>
          <p:cNvGrpSpPr/>
          <p:nvPr/>
        </p:nvGrpSpPr>
        <p:grpSpPr>
          <a:xfrm>
            <a:off x="609600" y="1371600"/>
            <a:ext cx="10972800" cy="853440"/>
            <a:chOff x="-635000" y="-635000"/>
            <a:chExt cx="10972800" cy="853440"/>
          </a:xfrm>
        </p:grpSpPr>
        <p:pic>
          <p:nvPicPr>
            <p:cNvPr id="528" name="Image 3" descr="TEMP_Z_ORDER_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74040"/>
              <a:ext cx="731520" cy="731520"/>
            </a:xfrm>
            <a:prstGeom prst="rect">
              <a:avLst/>
            </a:prstGeom>
            <a:effectLst>
              <a:outerShdw blurRad="30480" dist="15240" dir="5400000" algn="bl" rotWithShape="0">
                <a:srgbClr val="000000">
                  <a:alpha val="5000"/>
                </a:srgbClr>
              </a:outerShdw>
            </a:effectLst>
          </p:spPr>
        </p:pic>
        <p:sp>
          <p:nvSpPr>
            <p:cNvPr id="529" name="Text 1" descr="TEMP_Z_ORDER_5"/>
            <p:cNvSpPr/>
            <p:nvPr/>
          </p:nvSpPr>
          <p:spPr>
            <a:xfrm>
              <a:off x="-479520" y="-437431"/>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01</a:t>
              </a:r>
              <a:endParaRPr lang="en-US" sz="2400"/>
            </a:p>
          </p:txBody>
        </p:sp>
        <p:pic>
          <p:nvPicPr>
            <p:cNvPr id="530" name="Image 4" descr="TEMP_Z_ORDER_6"/>
            <p:cNvPicPr>
              <a:picLocks noChangeAspect="1"/>
            </p:cNvPicPr>
            <p:nvPr/>
          </p:nvPicPr>
          <p:blipFill>
            <a:blip r:embed="rId6"/>
            <a:stretch>
              <a:fillRect/>
            </a:stretch>
          </p:blipFill>
          <p:spPr>
            <a:xfrm>
              <a:off x="340360" y="-635000"/>
              <a:ext cx="9997440" cy="853440"/>
            </a:xfrm>
            <a:prstGeom prst="rect">
              <a:avLst/>
            </a:prstGeom>
          </p:spPr>
        </p:pic>
        <p:sp>
          <p:nvSpPr>
            <p:cNvPr id="531" name="Text 2" descr="TEMP_Z_ORDER_7"/>
            <p:cNvSpPr/>
            <p:nvPr/>
          </p:nvSpPr>
          <p:spPr>
            <a:xfrm>
              <a:off x="721360" y="-467360"/>
              <a:ext cx="5205984" cy="3401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160" b="1">
                  <a:solidFill>
                    <a:srgbClr val="458BE6"/>
                  </a:solidFill>
                  <a:latin typeface="思源黑体 CN Bold" pitchFamily="34" charset="0"/>
                  <a:ea typeface="思源黑体 CN Bold" pitchFamily="34" charset="-122"/>
                  <a:cs typeface="思源黑体 CN Bold" pitchFamily="34" charset="-120"/>
                </a:rPr>
                <a:t>掌握</a:t>
              </a:r>
              <a:r>
                <a:rPr lang="en-US" sz="2160">
                  <a:solidFill>
                    <a:srgbClr val="000000"/>
                  </a:solidFill>
                  <a:latin typeface="思源黑体 CN Regular" pitchFamily="34" charset="0"/>
                  <a:ea typeface="思源黑体 CN Regular" pitchFamily="34" charset="-122"/>
                  <a:cs typeface="思源黑体 CN Regular" pitchFamily="34" charset="-120"/>
                </a:rPr>
                <a:t>云计算安全扩展要求的核心测评指标</a:t>
              </a:r>
              <a:endParaRPr lang="en-US" sz="2160"/>
            </a:p>
          </p:txBody>
        </p:sp>
      </p:grpSp>
      <p:grpSp>
        <p:nvGrpSpPr>
          <p:cNvPr id="532" name="组合 25"/>
          <p:cNvGrpSpPr/>
          <p:nvPr/>
        </p:nvGrpSpPr>
        <p:grpSpPr>
          <a:xfrm>
            <a:off x="609600" y="2453640"/>
            <a:ext cx="10972800" cy="853440"/>
            <a:chOff x="-635000" y="-635000"/>
            <a:chExt cx="10972800" cy="853440"/>
          </a:xfrm>
        </p:grpSpPr>
        <p:pic>
          <p:nvPicPr>
            <p:cNvPr id="533" name="Image 5" descr="TEMP_Z_ORDER_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74040"/>
              <a:ext cx="731520" cy="731520"/>
            </a:xfrm>
            <a:prstGeom prst="rect">
              <a:avLst/>
            </a:prstGeom>
            <a:effectLst>
              <a:outerShdw blurRad="30480" dist="15240" dir="5400000" algn="bl" rotWithShape="0">
                <a:srgbClr val="000000">
                  <a:alpha val="5000"/>
                </a:srgbClr>
              </a:outerShdw>
            </a:effectLst>
          </p:spPr>
        </p:pic>
        <p:sp>
          <p:nvSpPr>
            <p:cNvPr id="534" name="Text 3" descr="TEMP_Z_ORDER_9"/>
            <p:cNvSpPr/>
            <p:nvPr/>
          </p:nvSpPr>
          <p:spPr>
            <a:xfrm>
              <a:off x="-479520" y="-43743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02</a:t>
              </a:r>
              <a:endParaRPr lang="en-US" sz="2400"/>
            </a:p>
          </p:txBody>
        </p:sp>
        <p:pic>
          <p:nvPicPr>
            <p:cNvPr id="535" name="Image 6" descr="TEMP_Z_ORDER_10"/>
            <p:cNvPicPr>
              <a:picLocks noChangeAspect="1"/>
            </p:cNvPicPr>
            <p:nvPr/>
          </p:nvPicPr>
          <p:blipFill>
            <a:blip r:embed="rId6"/>
            <a:stretch>
              <a:fillRect/>
            </a:stretch>
          </p:blipFill>
          <p:spPr>
            <a:xfrm>
              <a:off x="340360" y="-635000"/>
              <a:ext cx="9997440" cy="853440"/>
            </a:xfrm>
            <a:prstGeom prst="rect">
              <a:avLst/>
            </a:prstGeom>
          </p:spPr>
        </p:pic>
        <p:sp>
          <p:nvSpPr>
            <p:cNvPr id="536" name="Text 4" descr="TEMP_Z_ORDER_11"/>
            <p:cNvSpPr/>
            <p:nvPr/>
          </p:nvSpPr>
          <p:spPr>
            <a:xfrm>
              <a:off x="721360" y="-467360"/>
              <a:ext cx="5480304" cy="3401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160" b="1">
                  <a:solidFill>
                    <a:srgbClr val="458BE6"/>
                  </a:solidFill>
                  <a:latin typeface="思源黑体 CN Bold" pitchFamily="34" charset="0"/>
                  <a:ea typeface="思源黑体 CN Bold" pitchFamily="34" charset="-122"/>
                  <a:cs typeface="思源黑体 CN Bold" pitchFamily="34" charset="-120"/>
                </a:rPr>
                <a:t>理解</a:t>
              </a:r>
              <a:r>
                <a:rPr lang="en-US" sz="2160">
                  <a:solidFill>
                    <a:srgbClr val="000000"/>
                  </a:solidFill>
                  <a:latin typeface="思源黑体 CN Regular" pitchFamily="34" charset="0"/>
                  <a:ea typeface="思源黑体 CN Regular" pitchFamily="34" charset="-122"/>
                  <a:cs typeface="思源黑体 CN Regular" pitchFamily="34" charset="-120"/>
                </a:rPr>
                <a:t>云计算平台安全配置核查的方法与流程</a:t>
              </a:r>
              <a:endParaRPr lang="en-US" sz="2160"/>
            </a:p>
          </p:txBody>
        </p:sp>
      </p:grpSp>
      <p:grpSp>
        <p:nvGrpSpPr>
          <p:cNvPr id="537" name="组合 35"/>
          <p:cNvGrpSpPr/>
          <p:nvPr/>
        </p:nvGrpSpPr>
        <p:grpSpPr>
          <a:xfrm>
            <a:off x="609600" y="3535680"/>
            <a:ext cx="10972800" cy="853440"/>
            <a:chOff x="-635000" y="-635000"/>
            <a:chExt cx="10972800" cy="853440"/>
          </a:xfrm>
        </p:grpSpPr>
        <p:pic>
          <p:nvPicPr>
            <p:cNvPr id="538" name="Image 7" descr="TEMP_Z_ORDER_1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74040"/>
              <a:ext cx="731520" cy="731520"/>
            </a:xfrm>
            <a:prstGeom prst="rect">
              <a:avLst/>
            </a:prstGeom>
            <a:effectLst>
              <a:outerShdw blurRad="30480" dist="15240" dir="5400000" algn="bl" rotWithShape="0">
                <a:srgbClr val="000000">
                  <a:alpha val="5000"/>
                </a:srgbClr>
              </a:outerShdw>
            </a:effectLst>
          </p:spPr>
        </p:pic>
        <p:sp>
          <p:nvSpPr>
            <p:cNvPr id="539" name="Text 5" descr="TEMP_Z_ORDER_13"/>
            <p:cNvSpPr/>
            <p:nvPr/>
          </p:nvSpPr>
          <p:spPr>
            <a:xfrm>
              <a:off x="-479520" y="-43743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03</a:t>
              </a:r>
              <a:endParaRPr lang="en-US" sz="2400"/>
            </a:p>
          </p:txBody>
        </p:sp>
        <p:pic>
          <p:nvPicPr>
            <p:cNvPr id="540" name="Image 8" descr="TEMP_Z_ORDER_14"/>
            <p:cNvPicPr>
              <a:picLocks noChangeAspect="1"/>
            </p:cNvPicPr>
            <p:nvPr/>
          </p:nvPicPr>
          <p:blipFill>
            <a:blip r:embed="rId6"/>
            <a:stretch>
              <a:fillRect/>
            </a:stretch>
          </p:blipFill>
          <p:spPr>
            <a:xfrm>
              <a:off x="340360" y="-635000"/>
              <a:ext cx="9997440" cy="853440"/>
            </a:xfrm>
            <a:prstGeom prst="rect">
              <a:avLst/>
            </a:prstGeom>
          </p:spPr>
        </p:pic>
        <p:sp>
          <p:nvSpPr>
            <p:cNvPr id="541" name="Text 6" descr="TEMP_Z_ORDER_15"/>
            <p:cNvSpPr/>
            <p:nvPr/>
          </p:nvSpPr>
          <p:spPr>
            <a:xfrm>
              <a:off x="721360" y="-467360"/>
              <a:ext cx="4657344" cy="35903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280" b="1">
                  <a:solidFill>
                    <a:srgbClr val="458BE6"/>
                  </a:solidFill>
                  <a:latin typeface="思源黑体 CN Bold" pitchFamily="34" charset="0"/>
                  <a:ea typeface="思源黑体 CN Bold" pitchFamily="34" charset="-122"/>
                  <a:cs typeface="思源黑体 CN Bold" pitchFamily="34" charset="-120"/>
                </a:rPr>
                <a:t>能够</a:t>
              </a:r>
              <a:r>
                <a:rPr lang="en-US" sz="2280">
                  <a:solidFill>
                    <a:srgbClr val="000000"/>
                  </a:solidFill>
                  <a:latin typeface="思源黑体 CN Regular" pitchFamily="34" charset="0"/>
                  <a:ea typeface="思源黑体 CN Regular" pitchFamily="34" charset="-122"/>
                  <a:cs typeface="思源黑体 CN Regular" pitchFamily="34" charset="-120"/>
                </a:rPr>
                <a:t>对模拟云平台进行安全配置核查</a:t>
              </a:r>
              <a:endParaRPr lang="en-US" sz="2280"/>
            </a:p>
          </p:txBody>
        </p:sp>
      </p:grpSp>
      <p:grpSp>
        <p:nvGrpSpPr>
          <p:cNvPr id="542" name="组合 40"/>
          <p:cNvGrpSpPr/>
          <p:nvPr/>
        </p:nvGrpSpPr>
        <p:grpSpPr>
          <a:xfrm>
            <a:off x="609600" y="4632960"/>
            <a:ext cx="10972800" cy="853440"/>
            <a:chOff x="-635000" y="-635000"/>
            <a:chExt cx="10972800" cy="853440"/>
          </a:xfrm>
        </p:grpSpPr>
        <p:pic>
          <p:nvPicPr>
            <p:cNvPr id="543" name="Image 9" descr="TEMP_Z_ORDER_1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89280"/>
              <a:ext cx="731520" cy="731520"/>
            </a:xfrm>
            <a:prstGeom prst="rect">
              <a:avLst/>
            </a:prstGeom>
            <a:effectLst>
              <a:outerShdw blurRad="30480" dist="15240" dir="5400000" algn="bl" rotWithShape="0">
                <a:srgbClr val="000000">
                  <a:alpha val="5000"/>
                </a:srgbClr>
              </a:outerShdw>
            </a:effectLst>
          </p:spPr>
        </p:pic>
        <p:sp>
          <p:nvSpPr>
            <p:cNvPr id="544" name="Text 7" descr="TEMP_Z_ORDER_17"/>
            <p:cNvSpPr/>
            <p:nvPr/>
          </p:nvSpPr>
          <p:spPr>
            <a:xfrm>
              <a:off x="-479520" y="-45267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04</a:t>
              </a:r>
              <a:endParaRPr lang="en-US" sz="2400"/>
            </a:p>
          </p:txBody>
        </p:sp>
        <p:pic>
          <p:nvPicPr>
            <p:cNvPr id="545" name="Image 10" descr="TEMP_Z_ORDER_18"/>
            <p:cNvPicPr>
              <a:picLocks noChangeAspect="1"/>
            </p:cNvPicPr>
            <p:nvPr/>
          </p:nvPicPr>
          <p:blipFill>
            <a:blip r:embed="rId6"/>
            <a:stretch>
              <a:fillRect/>
            </a:stretch>
          </p:blipFill>
          <p:spPr>
            <a:xfrm>
              <a:off x="340360" y="-635000"/>
              <a:ext cx="9997440" cy="853440"/>
            </a:xfrm>
            <a:prstGeom prst="rect">
              <a:avLst/>
            </a:prstGeom>
          </p:spPr>
        </p:pic>
        <p:sp>
          <p:nvSpPr>
            <p:cNvPr id="546" name="Text 8" descr="TEMP_Z_ORDER_19"/>
            <p:cNvSpPr/>
            <p:nvPr/>
          </p:nvSpPr>
          <p:spPr>
            <a:xfrm>
              <a:off x="721360" y="-482600"/>
              <a:ext cx="5205984" cy="34014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160" b="1">
                  <a:solidFill>
                    <a:srgbClr val="458BE6"/>
                  </a:solidFill>
                  <a:latin typeface="思源黑体 CN Bold" pitchFamily="34" charset="0"/>
                  <a:ea typeface="思源黑体 CN Bold" pitchFamily="34" charset="-122"/>
                  <a:cs typeface="思源黑体 CN Bold" pitchFamily="34" charset="-120"/>
                </a:rPr>
                <a:t>能够</a:t>
              </a:r>
              <a:r>
                <a:rPr lang="en-US" sz="2160">
                  <a:solidFill>
                    <a:srgbClr val="000000"/>
                  </a:solidFill>
                  <a:latin typeface="思源黑体 CN Regular" pitchFamily="34" charset="0"/>
                  <a:ea typeface="思源黑体 CN Regular" pitchFamily="34" charset="-122"/>
                  <a:cs typeface="思源黑体 CN Regular" pitchFamily="34" charset="-120"/>
                </a:rPr>
                <a:t>规范填写《云计算安全测评记录表》</a:t>
              </a:r>
              <a:endParaRPr lang="en-US" sz="2160"/>
            </a:p>
          </p:txBody>
        </p:sp>
      </p:grpSp>
      <p:grpSp>
        <p:nvGrpSpPr>
          <p:cNvPr id="547" name="组合 30"/>
          <p:cNvGrpSpPr/>
          <p:nvPr/>
        </p:nvGrpSpPr>
        <p:grpSpPr>
          <a:xfrm>
            <a:off x="609600" y="5715000"/>
            <a:ext cx="10972800" cy="853440"/>
            <a:chOff x="-635000" y="-635000"/>
            <a:chExt cx="10972800" cy="853440"/>
          </a:xfrm>
        </p:grpSpPr>
        <p:pic>
          <p:nvPicPr>
            <p:cNvPr id="548" name="Image 11" descr="TEMP_Z_ORDER_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89280"/>
              <a:ext cx="731520" cy="731520"/>
            </a:xfrm>
            <a:prstGeom prst="rect">
              <a:avLst/>
            </a:prstGeom>
            <a:effectLst>
              <a:outerShdw blurRad="30480" dist="15240" dir="5400000" algn="bl" rotWithShape="0">
                <a:srgbClr val="000000">
                  <a:alpha val="5000"/>
                </a:srgbClr>
              </a:outerShdw>
            </a:effectLst>
          </p:spPr>
        </p:pic>
        <p:sp>
          <p:nvSpPr>
            <p:cNvPr id="549" name="Text 9" descr="TEMP_Z_ORDER_21"/>
            <p:cNvSpPr/>
            <p:nvPr/>
          </p:nvSpPr>
          <p:spPr>
            <a:xfrm>
              <a:off x="-479520" y="-452670"/>
              <a:ext cx="429704" cy="443061"/>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400" b="1">
                  <a:solidFill>
                    <a:srgbClr val="FFFFFF"/>
                  </a:solidFill>
                  <a:latin typeface="思源黑体 CN Bold" pitchFamily="34" charset="0"/>
                  <a:ea typeface="思源黑体 CN Bold" pitchFamily="34" charset="-122"/>
                  <a:cs typeface="思源黑体 CN Bold" pitchFamily="34" charset="-120"/>
                </a:rPr>
                <a:t>05</a:t>
              </a:r>
              <a:endParaRPr lang="en-US" sz="2400"/>
            </a:p>
          </p:txBody>
        </p:sp>
        <p:pic>
          <p:nvPicPr>
            <p:cNvPr id="550" name="Image 12" descr="TEMP_Z_ORDER_22"/>
            <p:cNvPicPr>
              <a:picLocks noChangeAspect="1"/>
            </p:cNvPicPr>
            <p:nvPr/>
          </p:nvPicPr>
          <p:blipFill>
            <a:blip r:embed="rId6"/>
            <a:stretch>
              <a:fillRect/>
            </a:stretch>
          </p:blipFill>
          <p:spPr>
            <a:xfrm>
              <a:off x="340360" y="-635000"/>
              <a:ext cx="9997440" cy="853440"/>
            </a:xfrm>
            <a:prstGeom prst="rect">
              <a:avLst/>
            </a:prstGeom>
          </p:spPr>
        </p:pic>
        <p:sp>
          <p:nvSpPr>
            <p:cNvPr id="551" name="Text 10" descr="TEMP_Z_ORDER_23"/>
            <p:cNvSpPr/>
            <p:nvPr/>
          </p:nvSpPr>
          <p:spPr>
            <a:xfrm>
              <a:off x="721360" y="-467360"/>
              <a:ext cx="4383024" cy="35903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280" b="1">
                  <a:solidFill>
                    <a:srgbClr val="458BE6"/>
                  </a:solidFill>
                  <a:latin typeface="思源黑体 CN Bold" pitchFamily="34" charset="0"/>
                  <a:ea typeface="思源黑体 CN Bold" pitchFamily="34" charset="-122"/>
                  <a:cs typeface="思源黑体 CN Bold" pitchFamily="34" charset="-120"/>
                </a:rPr>
                <a:t>具备</a:t>
              </a:r>
              <a:r>
                <a:rPr lang="en-US" sz="2280">
                  <a:solidFill>
                    <a:srgbClr val="000000"/>
                  </a:solidFill>
                  <a:latin typeface="思源黑体 CN Regular" pitchFamily="34" charset="0"/>
                  <a:ea typeface="思源黑体 CN Regular" pitchFamily="34" charset="-122"/>
                  <a:cs typeface="思源黑体 CN Regular" pitchFamily="34" charset="-120"/>
                </a:rPr>
                <a:t>云平台安全配置风险识别能力</a:t>
              </a:r>
              <a:endParaRPr lang="en-US" sz="228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526"/>
                                        </p:tgtEl>
                                        <p:attrNameLst>
                                          <p:attrName>style.visibility</p:attrName>
                                        </p:attrNameLst>
                                      </p:cBhvr>
                                      <p:to>
                                        <p:strVal val="visible"/>
                                      </p:to>
                                    </p:set>
                                    <p:animEffect transition="in" filter="fade">
                                      <p:cBhvr>
                                        <p:cTn id="7" dur="750"/>
                                        <p:tgtEl>
                                          <p:spTgt spid="526"/>
                                        </p:tgtEl>
                                      </p:cBhvr>
                                    </p:animEffect>
                                  </p:childTnLst>
                                </p:cTn>
                              </p:par>
                            </p:childTnLst>
                          </p:cTn>
                        </p:par>
                        <p:par>
                          <p:cTn id="8" fill="hold">
                            <p:stCondLst>
                              <p:cond delay="1000"/>
                            </p:stCondLst>
                            <p:childTnLst>
                              <p:par>
                                <p:cTn id="9" presetID="22" presetClass="entr" presetSubtype="1" fill="hold" grpId="2" nodeType="afterEffect">
                                  <p:stCondLst>
                                    <p:cond delay="0"/>
                                  </p:stCondLst>
                                  <p:childTnLst>
                                    <p:set>
                                      <p:cBhvr>
                                        <p:cTn id="10" dur="1" fill="hold">
                                          <p:stCondLst>
                                            <p:cond delay="0"/>
                                          </p:stCondLst>
                                        </p:cTn>
                                        <p:tgtEl>
                                          <p:spTgt spid="527"/>
                                        </p:tgtEl>
                                        <p:attrNameLst>
                                          <p:attrName>style.visibility</p:attrName>
                                        </p:attrNameLst>
                                      </p:cBhvr>
                                      <p:to>
                                        <p:strVal val="visible"/>
                                      </p:to>
                                    </p:set>
                                    <p:animEffect transition="in" filter="wipe(up)">
                                      <p:cBhvr>
                                        <p:cTn id="11" dur="750"/>
                                        <p:tgtEl>
                                          <p:spTgt spid="527"/>
                                        </p:tgtEl>
                                      </p:cBhvr>
                                    </p:animEffect>
                                  </p:childTnLst>
                                </p:cTn>
                              </p:par>
                            </p:childTnLst>
                          </p:cTn>
                        </p:par>
                        <p:par>
                          <p:cTn id="12" fill="hold">
                            <p:stCondLst>
                              <p:cond delay="2000"/>
                            </p:stCondLst>
                            <p:childTnLst>
                              <p:par>
                                <p:cTn id="13" presetID="22" presetClass="entr" presetSubtype="1" fill="hold" grpId="3" nodeType="afterEffect">
                                  <p:stCondLst>
                                    <p:cond delay="0"/>
                                  </p:stCondLst>
                                  <p:childTnLst>
                                    <p:set>
                                      <p:cBhvr>
                                        <p:cTn id="14" dur="1" fill="hold">
                                          <p:stCondLst>
                                            <p:cond delay="0"/>
                                          </p:stCondLst>
                                        </p:cTn>
                                        <p:tgtEl>
                                          <p:spTgt spid="532"/>
                                        </p:tgtEl>
                                        <p:attrNameLst>
                                          <p:attrName>style.visibility</p:attrName>
                                        </p:attrNameLst>
                                      </p:cBhvr>
                                      <p:to>
                                        <p:strVal val="visible"/>
                                      </p:to>
                                    </p:set>
                                    <p:animEffect transition="in" filter="wipe(up)">
                                      <p:cBhvr>
                                        <p:cTn id="15" dur="750"/>
                                        <p:tgtEl>
                                          <p:spTgt spid="532"/>
                                        </p:tgtEl>
                                      </p:cBhvr>
                                    </p:animEffect>
                                  </p:childTnLst>
                                </p:cTn>
                              </p:par>
                            </p:childTnLst>
                          </p:cTn>
                        </p:par>
                        <p:par>
                          <p:cTn id="16" fill="hold">
                            <p:stCondLst>
                              <p:cond delay="3000"/>
                            </p:stCondLst>
                            <p:childTnLst>
                              <p:par>
                                <p:cTn id="17" presetID="22" presetClass="entr" presetSubtype="1" fill="hold" grpId="4" nodeType="afterEffect">
                                  <p:stCondLst>
                                    <p:cond delay="0"/>
                                  </p:stCondLst>
                                  <p:childTnLst>
                                    <p:set>
                                      <p:cBhvr>
                                        <p:cTn id="18" dur="1" fill="hold">
                                          <p:stCondLst>
                                            <p:cond delay="0"/>
                                          </p:stCondLst>
                                        </p:cTn>
                                        <p:tgtEl>
                                          <p:spTgt spid="537"/>
                                        </p:tgtEl>
                                        <p:attrNameLst>
                                          <p:attrName>style.visibility</p:attrName>
                                        </p:attrNameLst>
                                      </p:cBhvr>
                                      <p:to>
                                        <p:strVal val="visible"/>
                                      </p:to>
                                    </p:set>
                                    <p:animEffect transition="in" filter="wipe(up)">
                                      <p:cBhvr>
                                        <p:cTn id="19" dur="750"/>
                                        <p:tgtEl>
                                          <p:spTgt spid="537"/>
                                        </p:tgtEl>
                                      </p:cBhvr>
                                    </p:animEffect>
                                  </p:childTnLst>
                                </p:cTn>
                              </p:par>
                            </p:childTnLst>
                          </p:cTn>
                        </p:par>
                        <p:par>
                          <p:cTn id="20" fill="hold">
                            <p:stCondLst>
                              <p:cond delay="4000"/>
                            </p:stCondLst>
                            <p:childTnLst>
                              <p:par>
                                <p:cTn id="21" presetID="22" presetClass="entr" presetSubtype="1" fill="hold" grpId="5" nodeType="afterEffect">
                                  <p:stCondLst>
                                    <p:cond delay="0"/>
                                  </p:stCondLst>
                                  <p:childTnLst>
                                    <p:set>
                                      <p:cBhvr>
                                        <p:cTn id="22" dur="1" fill="hold">
                                          <p:stCondLst>
                                            <p:cond delay="0"/>
                                          </p:stCondLst>
                                        </p:cTn>
                                        <p:tgtEl>
                                          <p:spTgt spid="542"/>
                                        </p:tgtEl>
                                        <p:attrNameLst>
                                          <p:attrName>style.visibility</p:attrName>
                                        </p:attrNameLst>
                                      </p:cBhvr>
                                      <p:to>
                                        <p:strVal val="visible"/>
                                      </p:to>
                                    </p:set>
                                    <p:animEffect transition="in" filter="wipe(up)">
                                      <p:cBhvr>
                                        <p:cTn id="23" dur="750"/>
                                        <p:tgtEl>
                                          <p:spTgt spid="542"/>
                                        </p:tgtEl>
                                      </p:cBhvr>
                                    </p:animEffect>
                                  </p:childTnLst>
                                </p:cTn>
                              </p:par>
                            </p:childTnLst>
                          </p:cTn>
                        </p:par>
                        <p:par>
                          <p:cTn id="24" fill="hold">
                            <p:stCondLst>
                              <p:cond delay="5000"/>
                            </p:stCondLst>
                            <p:childTnLst>
                              <p:par>
                                <p:cTn id="25" presetID="22" presetClass="entr" presetSubtype="1" fill="hold" grpId="6" nodeType="afterEffect">
                                  <p:stCondLst>
                                    <p:cond delay="0"/>
                                  </p:stCondLst>
                                  <p:childTnLst>
                                    <p:set>
                                      <p:cBhvr>
                                        <p:cTn id="26" dur="1" fill="hold">
                                          <p:stCondLst>
                                            <p:cond delay="0"/>
                                          </p:stCondLst>
                                        </p:cTn>
                                        <p:tgtEl>
                                          <p:spTgt spid="547"/>
                                        </p:tgtEl>
                                        <p:attrNameLst>
                                          <p:attrName>style.visibility</p:attrName>
                                        </p:attrNameLst>
                                      </p:cBhvr>
                                      <p:to>
                                        <p:strVal val="visible"/>
                                      </p:to>
                                    </p:set>
                                    <p:animEffect transition="in" filter="wipe(up)">
                                      <p:cBhvr>
                                        <p:cTn id="27" dur="750"/>
                                        <p:tgtEl>
                                          <p:spTgt spid="547"/>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52" name=""/>
        <p:cNvGrpSpPr/>
        <p:nvPr/>
      </p:nvGrpSpPr>
      <p:grpSpPr>
        <a:xfrm>
          <a:off x="0" y="0"/>
          <a:ext cx="0" cy="0"/>
          <a:chOff x="0" y="0"/>
          <a:chExt cx="0" cy="0"/>
        </a:xfrm>
      </p:grpSpPr>
      <p:pic>
        <p:nvPicPr>
          <p:cNvPr id="55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55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55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5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复习导入——回顾云平台架构与责任共担</a:t>
            </a:r>
            <a:endParaRPr lang="en-US" sz="2760"/>
          </a:p>
        </p:txBody>
      </p:sp>
      <p:grpSp>
        <p:nvGrpSpPr>
          <p:cNvPr id="563" name="组合 16"/>
          <p:cNvGrpSpPr/>
          <p:nvPr/>
        </p:nvGrpSpPr>
        <p:grpSpPr>
          <a:xfrm>
            <a:off x="609600" y="1371600"/>
            <a:ext cx="10972800" cy="3108960"/>
            <a:chOff x="-635000" y="-635000"/>
            <a:chExt cx="10972800" cy="3108960"/>
          </a:xfrm>
        </p:grpSpPr>
        <p:pic>
          <p:nvPicPr>
            <p:cNvPr id="564" name="Image 6" descr="TEMP_Z_ORDER_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635000"/>
              <a:ext cx="10972800" cy="3108960"/>
            </a:xfrm>
            <a:prstGeom prst="rect">
              <a:avLst/>
            </a:prstGeom>
            <a:effectLst>
              <a:outerShdw blurRad="228600" dist="152400" dir="5400000" algn="bl" rotWithShape="0">
                <a:srgbClr val="000000">
                  <a:alpha val="10000"/>
                </a:srgbClr>
              </a:outerShdw>
            </a:effectLst>
          </p:spPr>
        </p:pic>
        <p:pic>
          <p:nvPicPr>
            <p:cNvPr id="565" name="Image 7" descr="TEMP_Z_ORDER_10"/>
            <p:cNvPicPr>
              <a:picLocks noChangeAspect="1"/>
            </p:cNvPicPr>
            <p:nvPr/>
          </p:nvPicPr>
          <p:blipFill>
            <a:blip r:embed="rId6"/>
            <a:stretch>
              <a:fillRect/>
            </a:stretch>
          </p:blipFill>
          <p:spPr>
            <a:xfrm>
              <a:off x="-619760" y="-619760"/>
              <a:ext cx="10942320" cy="838200"/>
            </a:xfrm>
            <a:prstGeom prst="rect">
              <a:avLst/>
            </a:prstGeom>
          </p:spPr>
        </p:pic>
        <p:sp>
          <p:nvSpPr>
            <p:cNvPr id="566" name="Text 3" descr="TEMP_Z_ORDER_11"/>
            <p:cNvSpPr/>
            <p:nvPr/>
          </p:nvSpPr>
          <p:spPr>
            <a:xfrm>
              <a:off x="-254000" y="-436880"/>
              <a:ext cx="1272438" cy="44319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kern="0" spc="80">
                  <a:solidFill>
                    <a:srgbClr val="000000"/>
                  </a:solidFill>
                  <a:latin typeface="思源黑体 CN Bold" pitchFamily="34" charset="0"/>
                  <a:ea typeface="思源黑体 CN Bold" pitchFamily="34" charset="-122"/>
                  <a:cs typeface="思源黑体 CN Bold" pitchFamily="34" charset="-120"/>
                </a:rPr>
                <a:t>快速问答</a:t>
              </a:r>
              <a:endParaRPr lang="en-US" sz="2400"/>
            </a:p>
          </p:txBody>
        </p:sp>
        <p:pic>
          <p:nvPicPr>
            <p:cNvPr id="567" name="Image 8" descr="TEMP_Z_ORDER_12"/>
            <p:cNvPicPr>
              <a:picLocks noChangeAspect="1"/>
            </p:cNvPicPr>
            <p:nvPr/>
          </p:nvPicPr>
          <p:blipFill>
            <a:blip r:embed="rId7">
              <a:alphaModFix amt="80000"/>
            </a:blip>
            <a:stretch>
              <a:fillRect/>
            </a:stretch>
          </p:blipFill>
          <p:spPr>
            <a:xfrm>
              <a:off x="9591040" y="-391160"/>
              <a:ext cx="365760" cy="365760"/>
            </a:xfrm>
            <a:prstGeom prst="rect">
              <a:avLst/>
            </a:prstGeom>
          </p:spPr>
        </p:pic>
        <p:pic>
          <p:nvPicPr>
            <p:cNvPr id="568" name="Image 9" descr="TEMP_Z_ORDER_13"/>
            <p:cNvPicPr>
              <a:picLocks noChangeAspect="1"/>
            </p:cNvPicPr>
            <p:nvPr/>
          </p:nvPicPr>
          <p:blipFill>
            <a:blip r:embed="rId8"/>
            <a:stretch>
              <a:fillRect/>
            </a:stretch>
          </p:blipFill>
          <p:spPr>
            <a:xfrm>
              <a:off x="-619760" y="218440"/>
              <a:ext cx="10942320" cy="15240"/>
            </a:xfrm>
            <a:prstGeom prst="rect">
              <a:avLst/>
            </a:prstGeom>
          </p:spPr>
        </p:pic>
      </p:grpSp>
      <p:graphicFrame>
        <p:nvGraphicFramePr>
          <p:cNvPr id="569" name="Table 0"/>
          <p:cNvGraphicFramePr>
            <a:graphicFrameLocks noGrp="1"/>
          </p:cNvGraphicFramePr>
          <p:nvPr/>
        </p:nvGraphicFramePr>
        <p:xfrm>
          <a:off x="624840" y="2225040"/>
          <a:ext cx="10942319" cy="2255520"/>
        </p:xfrm>
        <a:graphic>
          <a:graphicData uri="http://schemas.openxmlformats.org/drawingml/2006/table">
            <a:tbl>
              <a:tblPr/>
              <a:tblGrid>
                <a:gridCol w="7065961"/>
                <a:gridCol w="3876358"/>
              </a:tblGrid>
              <a:tr h="451104">
                <a:tc>
                  <a:txBody>
                    <a:bodyPr wrap="square"/>
                    <a:lstStyle/>
                    <a:p>
                      <a:pPr marL="0" indent="0" algn="ctr">
                        <a:buNone/>
                      </a:pPr>
                      <a:r>
                        <a:rPr lang="en-US" sz="1680" b="1">
                          <a:solidFill>
                            <a:srgbClr val="000000"/>
                          </a:solidFill>
                        </a:rPr>
                        <a:t>问题</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学生回答</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1104">
                <a:tc>
                  <a:txBody>
                    <a:bodyPr wrap="square"/>
                    <a:lstStyle/>
                    <a:p>
                      <a:pPr marL="0" indent="0" algn="ctr">
                        <a:buNone/>
                      </a:pPr>
                      <a:r>
                        <a:rPr lang="en-US" sz="1680">
                          <a:solidFill>
                            <a:srgbClr val="000000"/>
                          </a:solidFill>
                        </a:rPr>
                        <a:t>云计算的三种服务模式是什么？</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1104">
                <a:tc>
                  <a:txBody>
                    <a:bodyPr wrap="square"/>
                    <a:lstStyle/>
                    <a:p>
                      <a:pPr marL="0" indent="0" algn="ctr">
                        <a:buNone/>
                      </a:pPr>
                      <a:r>
                        <a:rPr lang="en-US" sz="1680">
                          <a:solidFill>
                            <a:srgbClr val="000000"/>
                          </a:solidFill>
                        </a:rPr>
                        <a:t>IaaS模式下，谁负责操作系统的安全？</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1104">
                <a:tc>
                  <a:txBody>
                    <a:bodyPr wrap="square"/>
                    <a:lstStyle/>
                    <a:p>
                      <a:pPr marL="0" indent="0" algn="ctr">
                        <a:buNone/>
                      </a:pPr>
                      <a:r>
                        <a:rPr lang="en-US" sz="1680">
                          <a:solidFill>
                            <a:srgbClr val="000000"/>
                          </a:solidFill>
                        </a:rPr>
                        <a:t>PaaS模式下，谁负责数据安全？</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1104">
                <a:tc>
                  <a:txBody>
                    <a:bodyPr wrap="square"/>
                    <a:lstStyle/>
                    <a:p>
                      <a:pPr marL="0" indent="0" algn="ctr">
                        <a:buNone/>
                      </a:pPr>
                      <a:r>
                        <a:rPr lang="en-US" sz="1680">
                          <a:solidFill>
                            <a:srgbClr val="000000"/>
                          </a:solidFill>
                        </a:rPr>
                        <a:t>基础设施位于中国境内是谁的责任？</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556"/>
                                        </p:tgtEl>
                                        <p:attrNameLst>
                                          <p:attrName>style.visibility</p:attrName>
                                        </p:attrNameLst>
                                      </p:cBhvr>
                                      <p:to>
                                        <p:strVal val="visible"/>
                                      </p:to>
                                    </p:set>
                                    <p:animEffect transition="in" filter="fade">
                                      <p:cBhvr>
                                        <p:cTn id="7" dur="750"/>
                                        <p:tgtEl>
                                          <p:spTgt spid="556"/>
                                        </p:tgtEl>
                                      </p:cBhvr>
                                    </p:animEffect>
                                  </p:childTnLst>
                                </p:cTn>
                              </p:par>
                            </p:childTnLst>
                          </p:cTn>
                        </p:par>
                        <p:par>
                          <p:cTn id="8" fill="hold">
                            <p:stCondLst>
                              <p:cond delay="1000"/>
                            </p:stCondLst>
                            <p:childTnLst>
                              <p:par>
                                <p:cTn id="9" presetID="17" presetClass="entr" presetSubtype="10" fill="hold" grpId="2" nodeType="afterEffect">
                                  <p:stCondLst>
                                    <p:cond delay="0"/>
                                  </p:stCondLst>
                                  <p:childTnLst>
                                    <p:set>
                                      <p:cBhvr>
                                        <p:cTn id="10" dur="1" fill="hold">
                                          <p:stCondLst>
                                            <p:cond delay="0"/>
                                          </p:stCondLst>
                                        </p:cTn>
                                        <p:tgtEl>
                                          <p:spTgt spid="563"/>
                                        </p:tgtEl>
                                        <p:attrNameLst>
                                          <p:attrName>style.visibility</p:attrName>
                                        </p:attrNameLst>
                                      </p:cBhvr>
                                      <p:to>
                                        <p:strVal val="visible"/>
                                      </p:to>
                                    </p:set>
                                    <p:anim calcmode="lin" valueType="num">
                                      <p:cBhvr>
                                        <p:cTn id="11" dur="750" fill="hold"/>
                                        <p:tgtEl>
                                          <p:spTgt spid="563"/>
                                        </p:tgtEl>
                                        <p:attrNameLst>
                                          <p:attrName>ppt_w</p:attrName>
                                        </p:attrNameLst>
                                      </p:cBhvr>
                                      <p:tavLst>
                                        <p:tav tm="0">
                                          <p:val>
                                            <p:fltVal val="0"/>
                                          </p:val>
                                        </p:tav>
                                        <p:tav tm="100000">
                                          <p:val>
                                            <p:strVal val="#ppt_w"/>
                                          </p:val>
                                        </p:tav>
                                      </p:tavLst>
                                    </p:anim>
                                    <p:anim calcmode="lin" valueType="num">
                                      <p:cBhvr>
                                        <p:cTn id="12" dur="750" fill="hold"/>
                                        <p:tgtEl>
                                          <p:spTgt spid="56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nvGraphicFramePr>
        <p:xfrm>
          <a:off x="838200" y="457200"/>
          <a:ext cx="10485120" cy="0"/>
        </p:xfrm>
        <a:graphic>
          <a:graphicData uri="http://schemas.openxmlformats.org/drawingml/2006/table">
            <a:tbl>
              <a:tblPr/>
              <a:tblGrid>
                <a:gridCol w="2805430"/>
                <a:gridCol w="4184650"/>
                <a:gridCol w="3495040"/>
              </a:tblGrid>
              <a:tr h="0">
                <a:tc>
                  <a:txBody>
                    <a:bodyPr/>
                    <a:p>
                      <a:pPr algn="l"/>
                      <a:r>
                        <a:rPr lang="zh-CN" altLang="en-US" sz="1400" b="1"/>
                        <a:t>问题</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solidFill>
                      <a:schemeClr val="bg1">
                        <a:lumMod val="85000"/>
                      </a:schemeClr>
                    </a:solidFill>
                  </a:tcPr>
                </a:tc>
                <a:tc>
                  <a:txBody>
                    <a:bodyPr/>
                    <a:p>
                      <a:pPr algn="l"/>
                      <a:r>
                        <a:rPr lang="zh-CN" altLang="en-US" sz="1400" b="1"/>
                        <a:t>学生回答（参考答案）</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solidFill>
                      <a:schemeClr val="bg1">
                        <a:lumMod val="85000"/>
                      </a:schemeClr>
                    </a:solidFill>
                  </a:tcPr>
                </a:tc>
                <a:tc>
                  <a:txBody>
                    <a:bodyPr/>
                    <a:p>
                      <a:pPr algn="l"/>
                      <a:r>
                        <a:rPr lang="zh-CN" altLang="en-US" sz="1400" b="1"/>
                        <a:t>教师点评</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solidFill>
                      <a:schemeClr val="bg1">
                        <a:lumMod val="85000"/>
                      </a:schemeClr>
                    </a:solidFill>
                  </a:tcPr>
                </a:tc>
              </a:tr>
              <a:tr h="0">
                <a:tc>
                  <a:txBody>
                    <a:bodyPr/>
                    <a:p>
                      <a:pPr algn="l"/>
                      <a:r>
                        <a:rPr lang="zh-CN" altLang="en-US" sz="1400" b="1"/>
                        <a:t>云计算的三种服务模式是什么？</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en-US" altLang="zh-CN" sz="1400" b="1"/>
                        <a:t>IaaS</a:t>
                      </a:r>
                      <a:r>
                        <a:rPr lang="zh-CN" altLang="en-US" sz="1400" b="1"/>
                        <a:t>（基础设施即服务）、</a:t>
                      </a:r>
                      <a:r>
                        <a:rPr lang="en-US" altLang="zh-CN" sz="1400" b="1"/>
                        <a:t>PaaS</a:t>
                      </a:r>
                      <a:r>
                        <a:rPr lang="zh-CN" altLang="en-US" sz="1400" b="1"/>
                        <a:t>（平台即服务）、</a:t>
                      </a:r>
                      <a:r>
                        <a:rPr lang="en-US" altLang="zh-CN" sz="1400" b="1"/>
                        <a:t>SaaS</a:t>
                      </a:r>
                      <a:r>
                        <a:rPr lang="zh-CN" altLang="en-US" sz="1400" b="1"/>
                        <a:t>（软件即服务）。口诀：基、平、软</a:t>
                      </a:r>
                      <a:r>
                        <a:rPr lang="en-US" altLang="zh-CN" sz="1400" b="1"/>
                        <a:t>—— </a:t>
                      </a:r>
                      <a:r>
                        <a:rPr lang="zh-CN" altLang="en-US" sz="1400" b="1"/>
                        <a:t>从底层到上层，云服务商管得越来越多，租户管得越来越少。</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基础概念题，三种模式必须熟记。注意区分：</a:t>
                      </a:r>
                      <a:r>
                        <a:rPr lang="en-US" altLang="zh-CN" sz="1400" b="1"/>
                        <a:t>IaaS </a:t>
                      </a:r>
                      <a:r>
                        <a:rPr lang="zh-CN" altLang="en-US" sz="1400" b="1"/>
                        <a:t>租的是 </a:t>
                      </a:r>
                      <a:r>
                        <a:rPr lang="en-US" altLang="zh-CN" sz="1400" b="1"/>
                        <a:t>"</a:t>
                      </a:r>
                      <a:r>
                        <a:rPr lang="zh-CN" altLang="en-US" sz="1400" b="1"/>
                        <a:t>虚拟机</a:t>
                      </a:r>
                      <a:r>
                        <a:rPr lang="en-US" altLang="zh-CN" sz="1400" b="1"/>
                        <a:t>"</a:t>
                      </a:r>
                      <a:r>
                        <a:rPr lang="zh-CN" altLang="en-US" sz="1400" b="1"/>
                        <a:t>，</a:t>
                      </a:r>
                      <a:r>
                        <a:rPr lang="en-US" altLang="zh-CN" sz="1400" b="1"/>
                        <a:t>PaaS </a:t>
                      </a:r>
                      <a:r>
                        <a:rPr lang="zh-CN" altLang="en-US" sz="1400" b="1"/>
                        <a:t>租的是 </a:t>
                      </a:r>
                      <a:r>
                        <a:rPr lang="en-US" altLang="zh-CN" sz="1400" b="1"/>
                        <a:t>"</a:t>
                      </a:r>
                      <a:r>
                        <a:rPr lang="zh-CN" altLang="en-US" sz="1400" b="1"/>
                        <a:t>开发平台</a:t>
                      </a:r>
                      <a:r>
                        <a:rPr lang="en-US" altLang="zh-CN" sz="1400" b="1"/>
                        <a:t>"</a:t>
                      </a:r>
                      <a:r>
                        <a:rPr lang="zh-CN" altLang="en-US" sz="1400" b="1"/>
                        <a:t>，</a:t>
                      </a:r>
                      <a:r>
                        <a:rPr lang="en-US" altLang="zh-CN" sz="1400" b="1"/>
                        <a:t>SaaS </a:t>
                      </a:r>
                      <a:r>
                        <a:rPr lang="zh-CN" altLang="en-US" sz="1400" b="1"/>
                        <a:t>租的是 </a:t>
                      </a:r>
                      <a:r>
                        <a:rPr lang="en-US" altLang="zh-CN" sz="1400" b="1"/>
                        <a:t>"</a:t>
                      </a:r>
                      <a:r>
                        <a:rPr lang="zh-CN" altLang="en-US" sz="1400" b="1"/>
                        <a:t>现成软件</a:t>
                      </a:r>
                      <a:r>
                        <a:rPr lang="en-US" altLang="zh-CN" sz="1400" b="1"/>
                        <a:t>"</a:t>
                      </a:r>
                      <a:r>
                        <a:rPr lang="zh-CN" altLang="en-US" sz="1400" b="1"/>
                        <a:t>。</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0">
                <a:tc>
                  <a:txBody>
                    <a:bodyPr/>
                    <a:p>
                      <a:pPr algn="l"/>
                      <a:r>
                        <a:rPr lang="en-US" altLang="zh-CN" sz="1400" b="1"/>
                        <a:t>IaaS </a:t>
                      </a:r>
                      <a:r>
                        <a:rPr lang="zh-CN" altLang="en-US" sz="1400" b="1"/>
                        <a:t>模式下，谁负责操作系统的安全？</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租户（用户）负责。云服务商管：物理机房、网络设备、服务器硬件、虚拟化层；租户管：操作系统补丁、中间件、应用程序、数据。</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这是责任共担模型的核心考点。</a:t>
                      </a:r>
                      <a:r>
                        <a:rPr lang="en-US" altLang="zh-CN" sz="1400" b="1"/>
                        <a:t>IaaS </a:t>
                      </a:r>
                      <a:r>
                        <a:rPr lang="zh-CN" altLang="en-US" sz="1400" b="1"/>
                        <a:t>模式下，云服务商把 </a:t>
                      </a:r>
                      <a:r>
                        <a:rPr lang="en-US" altLang="zh-CN" sz="1400" b="1"/>
                        <a:t>"</a:t>
                      </a:r>
                      <a:r>
                        <a:rPr lang="zh-CN" altLang="en-US" sz="1400" b="1"/>
                        <a:t>裸机 </a:t>
                      </a:r>
                      <a:r>
                        <a:rPr lang="en-US" altLang="zh-CN" sz="1400" b="1"/>
                        <a:t>+ </a:t>
                      </a:r>
                      <a:r>
                        <a:rPr lang="zh-CN" altLang="en-US" sz="1400" b="1"/>
                        <a:t>虚拟化</a:t>
                      </a:r>
                      <a:r>
                        <a:rPr lang="en-US" altLang="zh-CN" sz="1400" b="1"/>
                        <a:t>" </a:t>
                      </a:r>
                      <a:r>
                        <a:rPr lang="zh-CN" altLang="en-US" sz="1400" b="1"/>
                        <a:t>给你，操作系统以上全是自己管 </a:t>
                      </a:r>
                      <a:r>
                        <a:rPr lang="en-US" altLang="zh-CN" sz="1400" b="1"/>
                        <a:t>—— </a:t>
                      </a:r>
                      <a:r>
                        <a:rPr lang="zh-CN" altLang="en-US" sz="1400" b="1"/>
                        <a:t>装系统、打补丁、配安全策略都靠自己。</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0">
                <a:tc>
                  <a:txBody>
                    <a:bodyPr/>
                    <a:p>
                      <a:pPr algn="l"/>
                      <a:r>
                        <a:rPr lang="en-US" altLang="zh-CN" sz="1400" b="1"/>
                        <a:t>PaaS </a:t>
                      </a:r>
                      <a:r>
                        <a:rPr lang="zh-CN" altLang="en-US" sz="1400" b="1"/>
                        <a:t>模式下，谁负责数据安全？</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租户（用户）负责数据安全。云服务商管：操作系统、中间件、运行环境、数据库平台本身；租户管：数据内容、数据访问权限、应用逻辑、</a:t>
                      </a:r>
                      <a:r>
                        <a:rPr lang="en-US" altLang="zh-CN" sz="1400" b="1"/>
                        <a:t>API </a:t>
                      </a:r>
                      <a:r>
                        <a:rPr lang="zh-CN" altLang="en-US" sz="1400" b="1"/>
                        <a:t>调用安全。</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易错点！</a:t>
                      </a:r>
                      <a:r>
                        <a:rPr lang="en-US" altLang="zh-CN" sz="1400" b="1"/>
                        <a:t>PaaS </a:t>
                      </a:r>
                      <a:r>
                        <a:rPr lang="zh-CN" altLang="en-US" sz="1400" b="1"/>
                        <a:t>不是 </a:t>
                      </a:r>
                      <a:r>
                        <a:rPr lang="en-US" altLang="zh-CN" sz="1400" b="1"/>
                        <a:t>"</a:t>
                      </a:r>
                      <a:r>
                        <a:rPr lang="zh-CN" altLang="en-US" sz="1400" b="1"/>
                        <a:t>什么都不用管</a:t>
                      </a:r>
                      <a:r>
                        <a:rPr lang="en-US" altLang="zh-CN" sz="1400" b="1"/>
                        <a:t>"—— </a:t>
                      </a:r>
                      <a:r>
                        <a:rPr lang="zh-CN" altLang="en-US" sz="1400" b="1"/>
                        <a:t>数据永远是租户自己的责任。平台安全云服务商兜底，但数据有没有泄露、有没有被越权访问，全在租户。</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0">
                <a:tc>
                  <a:txBody>
                    <a:bodyPr/>
                    <a:p>
                      <a:pPr algn="l"/>
                      <a:r>
                        <a:rPr lang="zh-CN" altLang="en-US" sz="1400" b="1"/>
                        <a:t>基础设施位于中国境内是谁的责任？</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云服务商的责任。根据等保 </a:t>
                      </a:r>
                      <a:r>
                        <a:rPr lang="en-US" altLang="zh-CN" sz="1400" b="1"/>
                        <a:t>2.0 </a:t>
                      </a:r>
                      <a:r>
                        <a:rPr lang="zh-CN" altLang="en-US" sz="1400" b="1"/>
                        <a:t>云计算扩展要求，云服务商应确保云计算基础设施位于中国境内。</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400" b="1"/>
                        <a:t>等保 </a:t>
                      </a:r>
                      <a:r>
                        <a:rPr lang="en-US" altLang="zh-CN" sz="1400" b="1"/>
                        <a:t>2.0 </a:t>
                      </a:r>
                      <a:r>
                        <a:rPr lang="zh-CN" altLang="en-US" sz="1400" b="1"/>
                        <a:t>云扩要求中的硬性条款。注意区分：物理境内存续是云服务商的事，但租户业务数据的合规存储和跨境传输，租户也要担责。</a:t>
                      </a:r>
                      <a:endParaRPr lang="zh-CN" altLang="en-US" sz="14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bl>
          </a:graphicData>
        </a:graphic>
      </p:graphicFrame>
      <p:grpSp>
        <p:nvGrpSpPr>
          <p:cNvPr id="557" name="组合 22"/>
          <p:cNvGrpSpPr/>
          <p:nvPr/>
        </p:nvGrpSpPr>
        <p:grpSpPr>
          <a:xfrm>
            <a:off x="609600" y="4953000"/>
            <a:ext cx="10972800" cy="1616710"/>
            <a:chOff x="-635000" y="-635000"/>
            <a:chExt cx="10972800" cy="1844040"/>
          </a:xfrm>
        </p:grpSpPr>
        <p:pic>
          <p:nvPicPr>
            <p:cNvPr id="558" name="Image 3" descr="TEMP_Z_ORDER_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5000" y="-635000"/>
              <a:ext cx="10972800" cy="1844040"/>
            </a:xfrm>
            <a:prstGeom prst="rect">
              <a:avLst/>
            </a:prstGeom>
            <a:effectLst>
              <a:outerShdw blurRad="91440" dist="60960" dir="5400000" algn="bl" rotWithShape="0">
                <a:srgbClr val="000000">
                  <a:alpha val="10000"/>
                </a:srgbClr>
              </a:outerShdw>
            </a:effectLst>
          </p:spPr>
        </p:pic>
        <p:pic>
          <p:nvPicPr>
            <p:cNvPr id="559" name="Image 4" descr="TEMP_Z_ORDER_5"/>
            <p:cNvPicPr>
              <a:picLocks noChangeAspect="1"/>
            </p:cNvPicPr>
            <p:nvPr/>
          </p:nvPicPr>
          <p:blipFill>
            <a:blip r:embed="rId3"/>
            <a:stretch>
              <a:fillRect/>
            </a:stretch>
          </p:blipFill>
          <p:spPr>
            <a:xfrm>
              <a:off x="-254000" y="-314960"/>
              <a:ext cx="609600" cy="609600"/>
            </a:xfrm>
            <a:prstGeom prst="rect">
              <a:avLst/>
            </a:prstGeom>
          </p:spPr>
        </p:pic>
        <p:pic>
          <p:nvPicPr>
            <p:cNvPr id="560" name="Image 5" descr="TEMP_Z_ORDER_6"/>
            <p:cNvPicPr>
              <a:picLocks noChangeAspect="1"/>
            </p:cNvPicPr>
            <p:nvPr/>
          </p:nvPicPr>
          <p:blipFill>
            <a:blip r:embed="rId4"/>
            <a:stretch>
              <a:fillRect/>
            </a:stretch>
          </p:blipFill>
          <p:spPr>
            <a:xfrm>
              <a:off x="-147320" y="-208280"/>
              <a:ext cx="396240" cy="396240"/>
            </a:xfrm>
            <a:prstGeom prst="rect">
              <a:avLst/>
            </a:prstGeom>
          </p:spPr>
        </p:pic>
        <p:sp>
          <p:nvSpPr>
            <p:cNvPr id="561" name="Text 1" descr="TEMP_Z_ORDER_7"/>
            <p:cNvSpPr/>
            <p:nvPr/>
          </p:nvSpPr>
          <p:spPr>
            <a:xfrm>
              <a:off x="599440" y="-375705"/>
              <a:ext cx="1366520" cy="314341"/>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zh-CN" altLang="en-US" sz="2160">
                  <a:solidFill>
                    <a:srgbClr val="FFFF00"/>
                  </a:solidFill>
                </a:rPr>
                <a:t>敲黑板</a:t>
              </a:r>
              <a:endParaRPr lang="zh-CN" altLang="en-US" sz="2160">
                <a:solidFill>
                  <a:srgbClr val="FFFF00"/>
                </a:solidFill>
              </a:endParaRPr>
            </a:p>
          </p:txBody>
        </p:sp>
        <p:sp>
          <p:nvSpPr>
            <p:cNvPr id="562" name="Text 2" descr="TEMP_Z_ORDER_8"/>
            <p:cNvSpPr/>
            <p:nvPr/>
          </p:nvSpPr>
          <p:spPr>
            <a:xfrm>
              <a:off x="599440" y="-62070"/>
              <a:ext cx="9366504" cy="97344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1920">
                  <a:solidFill>
                    <a:srgbClr val="FFFFFF">
                      <a:alpha val="90000"/>
                    </a:srgbClr>
                  </a:solidFill>
                  <a:latin typeface="思源黑体 CN Regular" pitchFamily="34" charset="0"/>
                  <a:ea typeface="思源黑体 CN Regular" pitchFamily="34" charset="-122"/>
                  <a:cs typeface="思源黑体 CN Regular" pitchFamily="34" charset="-120"/>
                </a:rPr>
                <a:t>云安全责任共担模型中，</a:t>
              </a:r>
              <a:r>
                <a:rPr lang="en-US" sz="2160" b="1">
                  <a:solidFill>
                    <a:srgbClr val="FFFFFF"/>
                  </a:solidFill>
                  <a:latin typeface="思源黑体 CN Bold" pitchFamily="34" charset="0"/>
                  <a:ea typeface="思源黑体 CN Bold" pitchFamily="34" charset="-122"/>
                  <a:cs typeface="思源黑体 CN Bold" pitchFamily="34" charset="-120"/>
                </a:rPr>
                <a:t>数据安全永远是客户的责任</a:t>
              </a:r>
              <a:r>
                <a:rPr lang="en-US" sz="1920">
                  <a:solidFill>
                    <a:srgbClr val="FFFFFF">
                      <a:alpha val="90000"/>
                    </a:srgbClr>
                  </a:solidFill>
                  <a:latin typeface="思源黑体 CN Regular" pitchFamily="34" charset="0"/>
                  <a:ea typeface="思源黑体 CN Regular" pitchFamily="34" charset="-122"/>
                  <a:cs typeface="思源黑体 CN Regular" pitchFamily="34" charset="-120"/>
                </a:rPr>
                <a:t>。云安全配置核查，就是帮助客户检查“自己负责的那部分”是否配置到位。</a:t>
              </a:r>
              <a:endParaRPr lang="en-US" sz="192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3" nodeType="afterEffect">
                                  <p:stCondLst>
                                    <p:cond delay="0"/>
                                  </p:stCondLst>
                                  <p:childTnLst>
                                    <p:set>
                                      <p:cBhvr>
                                        <p:cTn id="6" dur="1" fill="hold">
                                          <p:stCondLst>
                                            <p:cond delay="0"/>
                                          </p:stCondLst>
                                        </p:cTn>
                                        <p:tgtEl>
                                          <p:spTgt spid="557"/>
                                        </p:tgtEl>
                                        <p:attrNameLst>
                                          <p:attrName>style.visibility</p:attrName>
                                        </p:attrNameLst>
                                      </p:cBhvr>
                                      <p:to>
                                        <p:strVal val="visible"/>
                                      </p:to>
                                    </p:set>
                                    <p:anim calcmode="lin" valueType="num">
                                      <p:cBhvr>
                                        <p:cTn id="7" dur="750" fill="hold"/>
                                        <p:tgtEl>
                                          <p:spTgt spid="557"/>
                                        </p:tgtEl>
                                        <p:attrNameLst>
                                          <p:attrName>ppt_w</p:attrName>
                                        </p:attrNameLst>
                                      </p:cBhvr>
                                      <p:tavLst>
                                        <p:tav tm="0">
                                          <p:val>
                                            <p:fltVal val="0"/>
                                          </p:val>
                                        </p:tav>
                                        <p:tav tm="100000">
                                          <p:val>
                                            <p:strVal val="#ppt_w"/>
                                          </p:val>
                                        </p:tav>
                                      </p:tavLst>
                                    </p:anim>
                                    <p:anim calcmode="lin" valueType="num">
                                      <p:cBhvr>
                                        <p:cTn id="8" dur="750" fill="hold"/>
                                        <p:tgtEl>
                                          <p:spTgt spid="55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70" name=""/>
        <p:cNvGrpSpPr/>
        <p:nvPr/>
      </p:nvGrpSpPr>
      <p:grpSpPr>
        <a:xfrm>
          <a:off x="0" y="0"/>
          <a:ext cx="0" cy="0"/>
          <a:chOff x="0" y="0"/>
          <a:chExt cx="0" cy="0"/>
        </a:xfrm>
      </p:grpSpPr>
      <p:pic>
        <p:nvPicPr>
          <p:cNvPr id="57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57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57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7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云计算安全扩展要求——在等保标准中的定位</a:t>
            </a:r>
            <a:endParaRPr lang="en-US" sz="2760"/>
          </a:p>
        </p:txBody>
      </p:sp>
      <p:grpSp>
        <p:nvGrpSpPr>
          <p:cNvPr id="575" name="组合 13"/>
          <p:cNvGrpSpPr/>
          <p:nvPr/>
        </p:nvGrpSpPr>
        <p:grpSpPr>
          <a:xfrm>
            <a:off x="1874520" y="1219200"/>
            <a:ext cx="8442960" cy="341676"/>
            <a:chOff x="-635000" y="-520700"/>
            <a:chExt cx="8442959" cy="256257"/>
          </a:xfrm>
        </p:grpSpPr>
        <p:pic>
          <p:nvPicPr>
            <p:cNvPr id="576" name="Image 3" descr="TEMP_Z_ORDER_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482600"/>
              <a:ext cx="121920" cy="121920"/>
            </a:xfrm>
            <a:prstGeom prst="rect">
              <a:avLst/>
            </a:prstGeom>
          </p:spPr>
        </p:pic>
        <p:sp>
          <p:nvSpPr>
            <p:cNvPr id="577" name="Text 1" descr="TEMP_Z_ORDER_5"/>
            <p:cNvSpPr/>
            <p:nvPr/>
          </p:nvSpPr>
          <p:spPr>
            <a:xfrm>
              <a:off x="-391160" y="-520700"/>
              <a:ext cx="7681770" cy="256257"/>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920" b="1">
                  <a:solidFill>
                    <a:srgbClr val="000000"/>
                  </a:solidFill>
                  <a:latin typeface="思源黑体 CN Bold" pitchFamily="34" charset="0"/>
                  <a:ea typeface="思源黑体 CN Bold" pitchFamily="34" charset="-122"/>
                  <a:cs typeface="思源黑体 CN Bold" pitchFamily="34" charset="-120"/>
                </a:rPr>
                <a:t>GB/T 22239-2019 第三级/第四级 → 8.2/9.2 云计算安全扩展要求</a:t>
              </a:r>
              <a:endParaRPr lang="en-US" sz="1920"/>
            </a:p>
          </p:txBody>
        </p:sp>
        <p:pic>
          <p:nvPicPr>
            <p:cNvPr id="578" name="Image 4" descr="TEMP_Z_ORDER_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86039" y="-482600"/>
              <a:ext cx="121920" cy="121920"/>
            </a:xfrm>
            <a:prstGeom prst="rect">
              <a:avLst/>
            </a:prstGeom>
          </p:spPr>
        </p:pic>
      </p:grpSp>
      <p:sp>
        <p:nvSpPr>
          <p:cNvPr id="579" name="Text 2"/>
          <p:cNvSpPr/>
          <p:nvPr/>
        </p:nvSpPr>
        <p:spPr>
          <a:xfrm>
            <a:off x="731520" y="1645920"/>
            <a:ext cx="10738104" cy="36576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458BE6"/>
                </a:solidFill>
                <a:latin typeface="思源黑体 CN Bold" pitchFamily="34" charset="0"/>
                <a:ea typeface="思源黑体 CN Bold" pitchFamily="34" charset="-122"/>
                <a:cs typeface="思源黑体 CN Bold" pitchFamily="34" charset="-120"/>
              </a:rPr>
              <a:t>七个安全类：</a:t>
            </a:r>
            <a:endParaRPr lang="en-US" sz="1920"/>
          </a:p>
        </p:txBody>
      </p:sp>
      <p:graphicFrame>
        <p:nvGraphicFramePr>
          <p:cNvPr id="585" name="Table 0"/>
          <p:cNvGraphicFramePr>
            <a:graphicFrameLocks noGrp="1"/>
          </p:cNvGraphicFramePr>
          <p:nvPr/>
        </p:nvGraphicFramePr>
        <p:xfrm>
          <a:off x="1348740" y="2148840"/>
          <a:ext cx="9589135" cy="3921760"/>
        </p:xfrm>
        <a:graphic>
          <a:graphicData uri="http://schemas.openxmlformats.org/drawingml/2006/table">
            <a:tbl>
              <a:tblPr/>
              <a:tblGrid>
                <a:gridCol w="600710"/>
                <a:gridCol w="1895475"/>
                <a:gridCol w="5545455"/>
                <a:gridCol w="1547495"/>
              </a:tblGrid>
              <a:tr h="255322">
                <a:tc>
                  <a:txBody>
                    <a:bodyPr wrap="square"/>
                    <a:lstStyle/>
                    <a:p>
                      <a:pPr marL="0" indent="0" algn="ctr">
                        <a:buNone/>
                      </a:pPr>
                      <a:r>
                        <a:rPr lang="en-US" sz="1800" b="0">
                          <a:solidFill>
                            <a:srgbClr val="000000"/>
                          </a:solidFill>
                        </a:rPr>
                        <a:t>序号</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安全类</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核心关注点</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测评方法</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1</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安全物理环境</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基础设施位置</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文档审查</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2</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安全通信网络</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网络架构（隔离、冗余、自主配置）</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核查+访谈</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3</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安全区域边界</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访问控制、入侵防范、安全审计</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核查+测试</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4</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安全计算环境</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身份鉴别、访问控制、镜像快照、数据保护、备份恢复、剩余信息保护</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核查+测试</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5</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安全管理中心</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集中管控</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核查</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6</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安全建设管理</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云服务商选择、供应链管理</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文档审查</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322">
                <a:tc>
                  <a:txBody>
                    <a:bodyPr wrap="square"/>
                    <a:lstStyle/>
                    <a:p>
                      <a:pPr marL="0" indent="0" algn="ctr">
                        <a:buNone/>
                      </a:pPr>
                      <a:r>
                        <a:rPr lang="en-US" sz="1800" b="0">
                          <a:solidFill>
                            <a:srgbClr val="000000"/>
                          </a:solidFill>
                        </a:rPr>
                        <a:t>7</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安全运维管理</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云计算环境管理</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0">
                          <a:solidFill>
                            <a:srgbClr val="000000"/>
                          </a:solidFill>
                        </a:rPr>
                        <a:t>核查+访谈</a:t>
                      </a:r>
                      <a:endParaRPr lang="en-US" sz="1800" b="0">
                        <a:solidFill>
                          <a:srgbClr val="000000"/>
                        </a:solidFill>
                      </a:endParaRPr>
                    </a:p>
                  </a:txBody>
                  <a:tcPr marL="73828" marR="73828" marT="73828" marB="7382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750"/>
                                        <p:tgtEl>
                                          <p:spTgt spid="574"/>
                                        </p:tgtEl>
                                      </p:cBhvr>
                                    </p:animEffect>
                                  </p:childTnLst>
                                </p:cTn>
                              </p:par>
                            </p:childTnLst>
                          </p:cTn>
                        </p:par>
                        <p:par>
                          <p:cTn id="8" fill="hold">
                            <p:stCondLst>
                              <p:cond delay="1000"/>
                            </p:stCondLst>
                            <p:childTnLst>
                              <p:par>
                                <p:cTn id="9" presetID="2" presetClass="entr" presetSubtype="4" fill="hold" grpId="2" nodeType="afterEffect">
                                  <p:stCondLst>
                                    <p:cond delay="0"/>
                                  </p:stCondLst>
                                  <p:childTnLst>
                                    <p:set>
                                      <p:cBhvr>
                                        <p:cTn id="10" dur="1" fill="hold">
                                          <p:stCondLst>
                                            <p:cond delay="0"/>
                                          </p:stCondLst>
                                        </p:cTn>
                                        <p:tgtEl>
                                          <p:spTgt spid="575"/>
                                        </p:tgtEl>
                                        <p:attrNameLst>
                                          <p:attrName>style.visibility</p:attrName>
                                        </p:attrNameLst>
                                      </p:cBhvr>
                                      <p:to>
                                        <p:strVal val="visible"/>
                                      </p:to>
                                    </p:set>
                                    <p:anim calcmode="lin" valueType="num">
                                      <p:cBhvr additive="base">
                                        <p:cTn id="11" dur="750" fill="hold"/>
                                        <p:tgtEl>
                                          <p:spTgt spid="575"/>
                                        </p:tgtEl>
                                        <p:attrNameLst>
                                          <p:attrName>ppt_x</p:attrName>
                                        </p:attrNameLst>
                                      </p:cBhvr>
                                      <p:tavLst>
                                        <p:tav tm="0">
                                          <p:val>
                                            <p:strVal val="#ppt_x"/>
                                          </p:val>
                                        </p:tav>
                                        <p:tav tm="100000">
                                          <p:val>
                                            <p:strVal val="#ppt_x"/>
                                          </p:val>
                                        </p:tav>
                                      </p:tavLst>
                                    </p:anim>
                                    <p:anim calcmode="lin" valueType="num">
                                      <p:cBhvr additive="base">
                                        <p:cTn id="12" dur="750" fill="hold"/>
                                        <p:tgtEl>
                                          <p:spTgt spid="575"/>
                                        </p:tgtEl>
                                        <p:attrNameLst>
                                          <p:attrName>ppt_y</p:attrName>
                                        </p:attrNameLst>
                                      </p:cBhvr>
                                      <p:tavLst>
                                        <p:tav tm="0">
                                          <p:val>
                                            <p:strVal val="1+#ppt_h/2"/>
                                          </p:val>
                                        </p:tav>
                                        <p:tav tm="100000">
                                          <p:val>
                                            <p:strVal val="#ppt_y"/>
                                          </p:val>
                                        </p:tav>
                                      </p:tavLst>
                                    </p:anim>
                                  </p:childTnLst>
                                </p:cTn>
                              </p:par>
                            </p:childTnLst>
                          </p:cTn>
                        </p:par>
                        <p:par>
                          <p:cTn id="13" fill="hold">
                            <p:stCondLst>
                              <p:cond delay="2000"/>
                            </p:stCondLst>
                            <p:childTnLst>
                              <p:par>
                                <p:cTn id="14" presetID="2" presetClass="entr" presetSubtype="4" fill="hold" grpId="3" nodeType="afterEffect">
                                  <p:stCondLst>
                                    <p:cond delay="0"/>
                                  </p:stCondLst>
                                  <p:childTnLst>
                                    <p:set>
                                      <p:cBhvr>
                                        <p:cTn id="15" dur="1" fill="hold">
                                          <p:stCondLst>
                                            <p:cond delay="0"/>
                                          </p:stCondLst>
                                        </p:cTn>
                                        <p:tgtEl>
                                          <p:spTgt spid="579"/>
                                        </p:tgtEl>
                                        <p:attrNameLst>
                                          <p:attrName>style.visibility</p:attrName>
                                        </p:attrNameLst>
                                      </p:cBhvr>
                                      <p:to>
                                        <p:strVal val="visible"/>
                                      </p:to>
                                    </p:set>
                                    <p:anim calcmode="lin" valueType="num">
                                      <p:cBhvr additive="base">
                                        <p:cTn id="16" dur="750" fill="hold"/>
                                        <p:tgtEl>
                                          <p:spTgt spid="579"/>
                                        </p:tgtEl>
                                        <p:attrNameLst>
                                          <p:attrName>ppt_x</p:attrName>
                                        </p:attrNameLst>
                                      </p:cBhvr>
                                      <p:tavLst>
                                        <p:tav tm="0">
                                          <p:val>
                                            <p:strVal val="#ppt_x"/>
                                          </p:val>
                                        </p:tav>
                                        <p:tav tm="100000">
                                          <p:val>
                                            <p:strVal val="#ppt_x"/>
                                          </p:val>
                                        </p:tav>
                                      </p:tavLst>
                                    </p:anim>
                                    <p:anim calcmode="lin" valueType="num">
                                      <p:cBhvr additive="base">
                                        <p:cTn id="17" dur="750" fill="hold"/>
                                        <p:tgtEl>
                                          <p:spTgt spid="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86" name=""/>
        <p:cNvGrpSpPr/>
        <p:nvPr/>
      </p:nvGrpSpPr>
      <p:grpSpPr>
        <a:xfrm>
          <a:off x="0" y="0"/>
          <a:ext cx="0" cy="0"/>
          <a:chOff x="0" y="0"/>
          <a:chExt cx="0" cy="0"/>
        </a:xfrm>
      </p:grpSpPr>
      <p:pic>
        <p:nvPicPr>
          <p:cNvPr id="587"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588"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589"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90"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测评指标适用性原则</a:t>
            </a:r>
            <a:endParaRPr lang="en-US" sz="2760"/>
          </a:p>
        </p:txBody>
      </p:sp>
      <p:sp>
        <p:nvSpPr>
          <p:cNvPr id="591" name="Text 1"/>
          <p:cNvSpPr/>
          <p:nvPr/>
        </p:nvSpPr>
        <p:spPr>
          <a:xfrm>
            <a:off x="609600" y="990600"/>
            <a:ext cx="10981944" cy="41783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2000">
                <a:solidFill>
                  <a:srgbClr val="000000"/>
                </a:solidFill>
                <a:latin typeface="思源黑体 CN Regular" pitchFamily="34" charset="0"/>
                <a:ea typeface="思源黑体 CN Regular" pitchFamily="34" charset="-122"/>
                <a:cs typeface="思源黑体 CN Regular" pitchFamily="34" charset="-120"/>
              </a:rPr>
              <a:t>云计算安全扩展要求中，不同指标适用于云计算平台或云服务客户业务系统，需要区分适用性。</a:t>
            </a:r>
            <a:endParaRPr lang="en-US" sz="2000">
              <a:solidFill>
                <a:srgbClr val="000000"/>
              </a:solidFill>
              <a:latin typeface="思源黑体 CN Regular" pitchFamily="34" charset="0"/>
              <a:ea typeface="思源黑体 CN Regular" pitchFamily="34" charset="-122"/>
              <a:cs typeface="思源黑体 CN Regular" pitchFamily="34" charset="-120"/>
            </a:endParaRPr>
          </a:p>
        </p:txBody>
      </p:sp>
      <p:grpSp>
        <p:nvGrpSpPr>
          <p:cNvPr id="592" name="组合 16"/>
          <p:cNvGrpSpPr/>
          <p:nvPr/>
        </p:nvGrpSpPr>
        <p:grpSpPr>
          <a:xfrm>
            <a:off x="609600" y="1600200"/>
            <a:ext cx="2356104" cy="457200"/>
            <a:chOff x="-635000" y="-635000"/>
            <a:chExt cx="2356104" cy="457200"/>
          </a:xfrm>
        </p:grpSpPr>
        <p:pic>
          <p:nvPicPr>
            <p:cNvPr id="593" name="Image 3" descr="TEMP_Z_ORDER_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28320"/>
              <a:ext cx="91440" cy="243840"/>
            </a:xfrm>
            <a:prstGeom prst="rect">
              <a:avLst/>
            </a:prstGeom>
          </p:spPr>
        </p:pic>
        <p:sp>
          <p:nvSpPr>
            <p:cNvPr id="594" name="Text 2" descr="TEMP_Z_ORDER_6"/>
            <p:cNvSpPr/>
            <p:nvPr/>
          </p:nvSpPr>
          <p:spPr>
            <a:xfrm>
              <a:off x="-421640" y="-635000"/>
              <a:ext cx="2154936" cy="32023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000000"/>
                  </a:solidFill>
                  <a:latin typeface="思源黑体 CN Bold" pitchFamily="34" charset="0"/>
                  <a:ea typeface="思源黑体 CN Bold" pitchFamily="34" charset="-122"/>
                  <a:cs typeface="思源黑体 CN Bold" pitchFamily="34" charset="-120"/>
                </a:rPr>
                <a:t>四个区分原则：</a:t>
              </a:r>
              <a:endParaRPr lang="en-US" sz="2400"/>
            </a:p>
          </p:txBody>
        </p:sp>
      </p:grpSp>
      <p:graphicFrame>
        <p:nvGraphicFramePr>
          <p:cNvPr id="595" name="Table 0"/>
          <p:cNvGraphicFramePr>
            <a:graphicFrameLocks noGrp="1"/>
          </p:cNvGraphicFramePr>
          <p:nvPr/>
        </p:nvGraphicFramePr>
        <p:xfrm>
          <a:off x="984449" y="1950720"/>
          <a:ext cx="10223103" cy="2048270"/>
        </p:xfrm>
        <a:graphic>
          <a:graphicData uri="http://schemas.openxmlformats.org/drawingml/2006/table">
            <a:tbl>
              <a:tblPr/>
              <a:tblGrid>
                <a:gridCol w="1251228"/>
                <a:gridCol w="5459905"/>
                <a:gridCol w="3511970"/>
              </a:tblGrid>
              <a:tr h="340770">
                <a:tc>
                  <a:txBody>
                    <a:bodyPr wrap="square"/>
                    <a:lstStyle/>
                    <a:p>
                      <a:pPr marL="0" indent="0" algn="ctr">
                        <a:buNone/>
                      </a:pPr>
                      <a:r>
                        <a:rPr lang="en-US" sz="1570" b="1">
                          <a:solidFill>
                            <a:srgbClr val="000000"/>
                          </a:solidFill>
                        </a:rPr>
                        <a:t>原则</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b="1">
                          <a:solidFill>
                            <a:srgbClr val="000000"/>
                          </a:solidFill>
                        </a:rPr>
                        <a:t>说明</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b="1">
                          <a:solidFill>
                            <a:srgbClr val="000000"/>
                          </a:solidFill>
                        </a:rPr>
                        <a:t>适用对象</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原则一</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仅关注云计算平台自身安全防护</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只适用于云计算平台</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原则二</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提供需要客户自操作的安全服务</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同时适用</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原则三</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分别关注平台和客户各自的安全需求</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同时适用</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原则四</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仅关注云服务客户安全需求</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只适用于客户业务系统</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596" name="组合 19"/>
          <p:cNvGrpSpPr/>
          <p:nvPr/>
        </p:nvGrpSpPr>
        <p:grpSpPr>
          <a:xfrm>
            <a:off x="609600" y="4343400"/>
            <a:ext cx="5321301" cy="350520"/>
            <a:chOff x="-635000" y="-635000"/>
            <a:chExt cx="5321301" cy="350520"/>
          </a:xfrm>
        </p:grpSpPr>
        <p:pic>
          <p:nvPicPr>
            <p:cNvPr id="597" name="Image 4" descr="TEMP_Z_ORDER_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28320"/>
              <a:ext cx="91440" cy="243840"/>
            </a:xfrm>
            <a:prstGeom prst="rect">
              <a:avLst/>
            </a:prstGeom>
          </p:spPr>
        </p:pic>
        <p:sp>
          <p:nvSpPr>
            <p:cNvPr id="598" name="Text 3" descr="TEMP_Z_ORDER_9"/>
            <p:cNvSpPr/>
            <p:nvPr/>
          </p:nvSpPr>
          <p:spPr>
            <a:xfrm>
              <a:off x="-421639" y="-635000"/>
              <a:ext cx="510794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000000"/>
                  </a:solidFill>
                  <a:latin typeface="思源黑体 CN Bold" pitchFamily="34" charset="0"/>
                  <a:ea typeface="思源黑体 CN Bold" pitchFamily="34" charset="-122"/>
                  <a:cs typeface="思源黑体 CN Bold" pitchFamily="34" charset="-120"/>
                </a:rPr>
                <a:t>第三级云平台测评指标适用性（IaaS）示例：</a:t>
              </a:r>
              <a:endParaRPr lang="en-US" sz="2000" b="1">
                <a:solidFill>
                  <a:srgbClr val="000000"/>
                </a:solidFill>
                <a:latin typeface="思源黑体 CN Bold" pitchFamily="34" charset="0"/>
                <a:ea typeface="思源黑体 CN Bold" pitchFamily="34" charset="-122"/>
                <a:cs typeface="思源黑体 CN Bold" pitchFamily="34" charset="-120"/>
              </a:endParaRPr>
            </a:p>
          </p:txBody>
        </p:sp>
      </p:grpSp>
      <p:graphicFrame>
        <p:nvGraphicFramePr>
          <p:cNvPr id="599" name="Table 1"/>
          <p:cNvGraphicFramePr>
            <a:graphicFrameLocks noGrp="1"/>
          </p:cNvGraphicFramePr>
          <p:nvPr/>
        </p:nvGraphicFramePr>
        <p:xfrm>
          <a:off x="5813425" y="4114800"/>
          <a:ext cx="5927090" cy="2310130"/>
        </p:xfrm>
        <a:graphic>
          <a:graphicData uri="http://schemas.openxmlformats.org/drawingml/2006/table">
            <a:tbl>
              <a:tblPr/>
              <a:tblGrid>
                <a:gridCol w="3408680"/>
                <a:gridCol w="1045210"/>
                <a:gridCol w="1473200"/>
              </a:tblGrid>
              <a:tr h="188345">
                <a:tc>
                  <a:txBody>
                    <a:bodyPr wrap="square"/>
                    <a:lstStyle/>
                    <a:p>
                      <a:pPr marL="0" indent="0" algn="ctr">
                        <a:buNone/>
                      </a:pPr>
                      <a:r>
                        <a:rPr lang="en-US" sz="1160" b="1">
                          <a:solidFill>
                            <a:srgbClr val="000000"/>
                          </a:solidFill>
                        </a:rPr>
                        <a:t>要求项</a:t>
                      </a:r>
                      <a:endParaRPr lang="en-US" sz="1160" b="1">
                        <a:solidFill>
                          <a:srgbClr val="000000"/>
                        </a:solidFill>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160" b="1">
                          <a:solidFill>
                            <a:srgbClr val="000000"/>
                          </a:solidFill>
                        </a:rPr>
                        <a:t>适用平台</a:t>
                      </a:r>
                      <a:endParaRPr lang="en-US" sz="1160" b="1">
                        <a:solidFill>
                          <a:srgbClr val="000000"/>
                        </a:solidFill>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160" b="1">
                          <a:solidFill>
                            <a:srgbClr val="000000"/>
                          </a:solidFill>
                        </a:rPr>
                        <a:t>适用客户系统</a:t>
                      </a:r>
                      <a:endParaRPr lang="en-US" sz="1160" b="1">
                        <a:solidFill>
                          <a:srgbClr val="000000"/>
                        </a:solidFill>
                      </a:endParaRPr>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8345">
                <a:tc>
                  <a:txBody>
                    <a:bodyPr wrap="square"/>
                    <a:lstStyle/>
                    <a:p>
                      <a:pPr marL="0" indent="0" algn="ctr">
                        <a:buNone/>
                      </a:pPr>
                      <a:r>
                        <a:rPr lang="en-US" sz="1160">
                          <a:solidFill>
                            <a:srgbClr val="000000"/>
                          </a:solidFill>
                        </a:rPr>
                        <a:t>基础设施位置（中国境内）</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8345">
                <a:tc>
                  <a:txBody>
                    <a:bodyPr wrap="square"/>
                    <a:lstStyle/>
                    <a:p>
                      <a:pPr marL="0" indent="0" algn="ctr">
                        <a:buNone/>
                      </a:pPr>
                      <a:r>
                        <a:rPr lang="en-US" sz="1160">
                          <a:solidFill>
                            <a:srgbClr val="000000"/>
                          </a:solidFill>
                        </a:rPr>
                        <a:t>不同客户虚拟网络隔离</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8345">
                <a:tc>
                  <a:txBody>
                    <a:bodyPr wrap="square"/>
                    <a:lstStyle/>
                    <a:p>
                      <a:pPr marL="0" indent="0" algn="ctr">
                        <a:buNone/>
                      </a:pPr>
                      <a:r>
                        <a:rPr lang="en-US" sz="1160">
                          <a:solidFill>
                            <a:srgbClr val="000000"/>
                          </a:solidFill>
                        </a:rPr>
                        <a:t>虚拟化网络边界访问控制</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8345">
                <a:tc>
                  <a:txBody>
                    <a:bodyPr wrap="square"/>
                    <a:lstStyle/>
                    <a:p>
                      <a:pPr marL="0" indent="0" algn="ctr">
                        <a:buNone/>
                      </a:pPr>
                      <a:r>
                        <a:rPr lang="en-US" sz="1160">
                          <a:solidFill>
                            <a:srgbClr val="000000"/>
                          </a:solidFill>
                        </a:rPr>
                        <a:t>虚拟机迁移时策略随其迁移</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8345">
                <a:tc>
                  <a:txBody>
                    <a:bodyPr wrap="square"/>
                    <a:lstStyle/>
                    <a:p>
                      <a:pPr marL="0" indent="0" algn="ctr">
                        <a:buNone/>
                      </a:pPr>
                      <a:r>
                        <a:rPr lang="en-US" sz="1160">
                          <a:solidFill>
                            <a:srgbClr val="000000"/>
                          </a:solidFill>
                        </a:rPr>
                        <a:t>云服务客户设置虚拟机间访问控制</a:t>
                      </a:r>
                      <a:endParaRPr lang="en-US" sz="1160"/>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txBody>
                  <a:tcPr marL="63368" marR="63368" marT="63368" marB="63368"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590"/>
                                        </p:tgtEl>
                                        <p:attrNameLst>
                                          <p:attrName>style.visibility</p:attrName>
                                        </p:attrNameLst>
                                      </p:cBhvr>
                                      <p:to>
                                        <p:strVal val="visible"/>
                                      </p:to>
                                    </p:set>
                                    <p:animEffect transition="in" filter="fade">
                                      <p:cBhvr>
                                        <p:cTn id="7" dur="750"/>
                                        <p:tgtEl>
                                          <p:spTgt spid="590"/>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1" fill="hold">
                                          <p:stCondLst>
                                            <p:cond delay="0"/>
                                          </p:stCondLst>
                                        </p:cTn>
                                        <p:tgtEl>
                                          <p:spTgt spid="591"/>
                                        </p:tgtEl>
                                        <p:attrNameLst>
                                          <p:attrName>style.visibility</p:attrName>
                                        </p:attrNameLst>
                                      </p:cBhvr>
                                      <p:to>
                                        <p:strVal val="visible"/>
                                      </p:to>
                                    </p:set>
                                    <p:anim calcmode="lin" valueType="num">
                                      <p:cBhvr additive="base">
                                        <p:cTn id="11" dur="750" fill="hold"/>
                                        <p:tgtEl>
                                          <p:spTgt spid="591"/>
                                        </p:tgtEl>
                                        <p:attrNameLst>
                                          <p:attrName>ppt_x</p:attrName>
                                        </p:attrNameLst>
                                      </p:cBhvr>
                                      <p:tavLst>
                                        <p:tav tm="0">
                                          <p:val>
                                            <p:strVal val="1+#ppt_w/2"/>
                                          </p:val>
                                        </p:tav>
                                        <p:tav tm="100000">
                                          <p:val>
                                            <p:strVal val="#ppt_x"/>
                                          </p:val>
                                        </p:tav>
                                      </p:tavLst>
                                    </p:anim>
                                    <p:anim calcmode="lin" valueType="num">
                                      <p:cBhvr additive="base">
                                        <p:cTn id="12" dur="750" fill="hold"/>
                                        <p:tgtEl>
                                          <p:spTgt spid="59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fill="hold" grpId="3" nodeType="afterEffect">
                                  <p:stCondLst>
                                    <p:cond delay="0"/>
                                  </p:stCondLst>
                                  <p:childTnLst>
                                    <p:set>
                                      <p:cBhvr>
                                        <p:cTn id="15" dur="1" fill="hold">
                                          <p:stCondLst>
                                            <p:cond delay="0"/>
                                          </p:stCondLst>
                                        </p:cTn>
                                        <p:tgtEl>
                                          <p:spTgt spid="592"/>
                                        </p:tgtEl>
                                        <p:attrNameLst>
                                          <p:attrName>style.visibility</p:attrName>
                                        </p:attrNameLst>
                                      </p:cBhvr>
                                      <p:to>
                                        <p:strVal val="visible"/>
                                      </p:to>
                                    </p:set>
                                    <p:anim calcmode="lin" valueType="num">
                                      <p:cBhvr additive="base">
                                        <p:cTn id="16" dur="750" fill="hold"/>
                                        <p:tgtEl>
                                          <p:spTgt spid="592"/>
                                        </p:tgtEl>
                                        <p:attrNameLst>
                                          <p:attrName>ppt_x</p:attrName>
                                        </p:attrNameLst>
                                      </p:cBhvr>
                                      <p:tavLst>
                                        <p:tav tm="0">
                                          <p:val>
                                            <p:strVal val="1+#ppt_w/2"/>
                                          </p:val>
                                        </p:tav>
                                        <p:tav tm="100000">
                                          <p:val>
                                            <p:strVal val="#ppt_x"/>
                                          </p:val>
                                        </p:tav>
                                      </p:tavLst>
                                    </p:anim>
                                    <p:anim calcmode="lin" valueType="num">
                                      <p:cBhvr additive="base">
                                        <p:cTn id="17" dur="750" fill="hold"/>
                                        <p:tgtEl>
                                          <p:spTgt spid="592"/>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2" presetClass="entr" presetSubtype="2" fill="hold" grpId="4" nodeType="afterEffect">
                                  <p:stCondLst>
                                    <p:cond delay="0"/>
                                  </p:stCondLst>
                                  <p:childTnLst>
                                    <p:set>
                                      <p:cBhvr>
                                        <p:cTn id="20" dur="1" fill="hold">
                                          <p:stCondLst>
                                            <p:cond delay="0"/>
                                          </p:stCondLst>
                                        </p:cTn>
                                        <p:tgtEl>
                                          <p:spTgt spid="596"/>
                                        </p:tgtEl>
                                        <p:attrNameLst>
                                          <p:attrName>style.visibility</p:attrName>
                                        </p:attrNameLst>
                                      </p:cBhvr>
                                      <p:to>
                                        <p:strVal val="visible"/>
                                      </p:to>
                                    </p:set>
                                    <p:anim calcmode="lin" valueType="num">
                                      <p:cBhvr additive="base">
                                        <p:cTn id="21" dur="750" fill="hold"/>
                                        <p:tgtEl>
                                          <p:spTgt spid="596"/>
                                        </p:tgtEl>
                                        <p:attrNameLst>
                                          <p:attrName>ppt_x</p:attrName>
                                        </p:attrNameLst>
                                      </p:cBhvr>
                                      <p:tavLst>
                                        <p:tav tm="0">
                                          <p:val>
                                            <p:strVal val="1+#ppt_w/2"/>
                                          </p:val>
                                        </p:tav>
                                        <p:tav tm="100000">
                                          <p:val>
                                            <p:strVal val="#ppt_x"/>
                                          </p:val>
                                        </p:tav>
                                      </p:tavLst>
                                    </p:anim>
                                    <p:anim calcmode="lin" valueType="num">
                                      <p:cBhvr additive="base">
                                        <p:cTn id="22" dur="750" fill="hold"/>
                                        <p:tgtEl>
                                          <p:spTgt spid="5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86" name=""/>
        <p:cNvGrpSpPr/>
        <p:nvPr/>
      </p:nvGrpSpPr>
      <p:grpSpPr>
        <a:xfrm>
          <a:off x="0" y="0"/>
          <a:ext cx="0" cy="0"/>
          <a:chOff x="0" y="0"/>
          <a:chExt cx="0" cy="0"/>
        </a:xfrm>
      </p:grpSpPr>
      <p:pic>
        <p:nvPicPr>
          <p:cNvPr id="587"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588"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589"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90"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测评指标适用性原则</a:t>
            </a:r>
            <a:endParaRPr lang="en-US" sz="2760"/>
          </a:p>
        </p:txBody>
      </p:sp>
      <p:sp>
        <p:nvSpPr>
          <p:cNvPr id="591" name="Text 1"/>
          <p:cNvSpPr/>
          <p:nvPr/>
        </p:nvSpPr>
        <p:spPr>
          <a:xfrm>
            <a:off x="609600" y="990600"/>
            <a:ext cx="10981944" cy="41783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2000">
                <a:solidFill>
                  <a:srgbClr val="000000"/>
                </a:solidFill>
                <a:latin typeface="思源黑体 CN Regular" pitchFamily="34" charset="0"/>
                <a:ea typeface="思源黑体 CN Regular" pitchFamily="34" charset="-122"/>
                <a:cs typeface="思源黑体 CN Regular" pitchFamily="34" charset="-120"/>
              </a:rPr>
              <a:t>云计算安全扩展要求中，不同指标适用于云计算平台或云服务客户业务系统，需要区分适用性。</a:t>
            </a:r>
            <a:endParaRPr lang="en-US" sz="2000">
              <a:solidFill>
                <a:srgbClr val="000000"/>
              </a:solidFill>
              <a:latin typeface="思源黑体 CN Regular" pitchFamily="34" charset="0"/>
              <a:ea typeface="思源黑体 CN Regular" pitchFamily="34" charset="-122"/>
              <a:cs typeface="思源黑体 CN Regular" pitchFamily="34" charset="-120"/>
            </a:endParaRPr>
          </a:p>
        </p:txBody>
      </p:sp>
      <p:grpSp>
        <p:nvGrpSpPr>
          <p:cNvPr id="592" name="组合 16"/>
          <p:cNvGrpSpPr/>
          <p:nvPr/>
        </p:nvGrpSpPr>
        <p:grpSpPr>
          <a:xfrm>
            <a:off x="609600" y="1600200"/>
            <a:ext cx="2356104" cy="457200"/>
            <a:chOff x="-635000" y="-635000"/>
            <a:chExt cx="2356104" cy="457200"/>
          </a:xfrm>
        </p:grpSpPr>
        <p:pic>
          <p:nvPicPr>
            <p:cNvPr id="593" name="Image 3" descr="TEMP_Z_ORDER_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28320"/>
              <a:ext cx="91440" cy="243840"/>
            </a:xfrm>
            <a:prstGeom prst="rect">
              <a:avLst/>
            </a:prstGeom>
          </p:spPr>
        </p:pic>
        <p:sp>
          <p:nvSpPr>
            <p:cNvPr id="594" name="Text 2" descr="TEMP_Z_ORDER_6"/>
            <p:cNvSpPr/>
            <p:nvPr/>
          </p:nvSpPr>
          <p:spPr>
            <a:xfrm>
              <a:off x="-421640" y="-635000"/>
              <a:ext cx="2154936" cy="32023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000000"/>
                  </a:solidFill>
                  <a:latin typeface="思源黑体 CN Bold" pitchFamily="34" charset="0"/>
                  <a:ea typeface="思源黑体 CN Bold" pitchFamily="34" charset="-122"/>
                  <a:cs typeface="思源黑体 CN Bold" pitchFamily="34" charset="-120"/>
                </a:rPr>
                <a:t>四个区分原则：</a:t>
              </a:r>
              <a:endParaRPr lang="en-US" sz="2400"/>
            </a:p>
          </p:txBody>
        </p:sp>
      </p:grpSp>
      <p:graphicFrame>
        <p:nvGraphicFramePr>
          <p:cNvPr id="595" name="Table 0"/>
          <p:cNvGraphicFramePr>
            <a:graphicFrameLocks noGrp="1"/>
          </p:cNvGraphicFramePr>
          <p:nvPr/>
        </p:nvGraphicFramePr>
        <p:xfrm>
          <a:off x="984449" y="1950720"/>
          <a:ext cx="10223103" cy="2048270"/>
        </p:xfrm>
        <a:graphic>
          <a:graphicData uri="http://schemas.openxmlformats.org/drawingml/2006/table">
            <a:tbl>
              <a:tblPr/>
              <a:tblGrid>
                <a:gridCol w="1251228"/>
                <a:gridCol w="5459905"/>
                <a:gridCol w="3511970"/>
              </a:tblGrid>
              <a:tr h="340770">
                <a:tc>
                  <a:txBody>
                    <a:bodyPr wrap="square"/>
                    <a:lstStyle/>
                    <a:p>
                      <a:pPr marL="0" indent="0" algn="ctr">
                        <a:buNone/>
                      </a:pPr>
                      <a:r>
                        <a:rPr lang="en-US" sz="1570" b="1">
                          <a:solidFill>
                            <a:srgbClr val="000000"/>
                          </a:solidFill>
                        </a:rPr>
                        <a:t>原则</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b="1">
                          <a:solidFill>
                            <a:srgbClr val="000000"/>
                          </a:solidFill>
                        </a:rPr>
                        <a:t>说明</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b="1">
                          <a:solidFill>
                            <a:srgbClr val="000000"/>
                          </a:solidFill>
                        </a:rPr>
                        <a:t>适用对象</a:t>
                      </a:r>
                      <a:endParaRPr lang="en-US" sz="1570" b="1">
                        <a:solidFill>
                          <a:srgbClr val="000000"/>
                        </a:solidFill>
                      </a:endParaRPr>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原则一</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仅关注云计算平台自身安全防护</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只适用于云计算平台</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原则二</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提供需要客户自操作的安全服务</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同时适用</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原则三</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分别关注平台和客户各自的安全需求</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同时适用</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770">
                <a:tc>
                  <a:txBody>
                    <a:bodyPr wrap="square"/>
                    <a:lstStyle/>
                    <a:p>
                      <a:pPr marL="0" indent="0" algn="ctr">
                        <a:buNone/>
                      </a:pPr>
                      <a:r>
                        <a:rPr lang="en-US" sz="1570">
                          <a:solidFill>
                            <a:srgbClr val="000000"/>
                          </a:solidFill>
                        </a:rPr>
                        <a:t>原则四</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仅关注云服务客户安全需求</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70">
                          <a:solidFill>
                            <a:srgbClr val="000000"/>
                          </a:solidFill>
                        </a:rPr>
                        <a:t>只适用于客户业务系统</a:t>
                      </a:r>
                      <a:endParaRPr lang="en-US" sz="1570"/>
                    </a:p>
                  </a:txBody>
                  <a:tcPr marL="85193" marR="85193" marT="85193" marB="85193"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596" name="组合 19"/>
          <p:cNvGrpSpPr/>
          <p:nvPr/>
        </p:nvGrpSpPr>
        <p:grpSpPr>
          <a:xfrm>
            <a:off x="609600" y="4343400"/>
            <a:ext cx="5321301" cy="350520"/>
            <a:chOff x="-635000" y="-635000"/>
            <a:chExt cx="5321301" cy="350520"/>
          </a:xfrm>
        </p:grpSpPr>
        <p:pic>
          <p:nvPicPr>
            <p:cNvPr id="597" name="Image 4" descr="TEMP_Z_ORDER_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528320"/>
              <a:ext cx="91440" cy="243840"/>
            </a:xfrm>
            <a:prstGeom prst="rect">
              <a:avLst/>
            </a:prstGeom>
          </p:spPr>
        </p:pic>
        <p:sp>
          <p:nvSpPr>
            <p:cNvPr id="598" name="Text 3" descr="TEMP_Z_ORDER_9"/>
            <p:cNvSpPr/>
            <p:nvPr/>
          </p:nvSpPr>
          <p:spPr>
            <a:xfrm>
              <a:off x="-421639" y="-635000"/>
              <a:ext cx="510794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000000"/>
                  </a:solidFill>
                  <a:latin typeface="思源黑体 CN Bold" pitchFamily="34" charset="0"/>
                  <a:ea typeface="思源黑体 CN Bold" pitchFamily="34" charset="-122"/>
                  <a:cs typeface="思源黑体 CN Bold" pitchFamily="34" charset="-120"/>
                </a:rPr>
                <a:t>第三级云平台测评指标适用性（IaaS）示例：</a:t>
              </a:r>
              <a:endParaRPr lang="en-US" sz="2000" b="1">
                <a:solidFill>
                  <a:srgbClr val="000000"/>
                </a:solidFill>
                <a:latin typeface="思源黑体 CN Bold" pitchFamily="34" charset="0"/>
                <a:ea typeface="思源黑体 CN Bold" pitchFamily="34" charset="-122"/>
                <a:cs typeface="思源黑体 CN Bold" pitchFamily="34" charset="-120"/>
              </a:endParaRPr>
            </a:p>
          </p:txBody>
        </p:sp>
      </p:grpSp>
      <p:graphicFrame>
        <p:nvGraphicFramePr>
          <p:cNvPr id="1" name="表格 0"/>
          <p:cNvGraphicFramePr/>
          <p:nvPr>
            <p:custDataLst>
              <p:tags r:id="rId6"/>
            </p:custDataLst>
          </p:nvPr>
        </p:nvGraphicFramePr>
        <p:xfrm>
          <a:off x="6080760" y="4282440"/>
          <a:ext cx="5318760" cy="2102485"/>
        </p:xfrm>
        <a:graphic>
          <a:graphicData uri="http://schemas.openxmlformats.org/drawingml/2006/table">
            <a:tbl>
              <a:tblPr/>
              <a:tblGrid>
                <a:gridCol w="1772920"/>
                <a:gridCol w="1772920"/>
                <a:gridCol w="1772920"/>
              </a:tblGrid>
              <a:tr h="294005">
                <a:tc>
                  <a:txBody>
                    <a:bodyPr/>
                    <a:p>
                      <a:pPr algn="l"/>
                      <a:r>
                        <a:rPr lang="zh-CN" altLang="en-US" sz="1100" b="1"/>
                        <a:t>要求项</a:t>
                      </a:r>
                      <a:endParaRPr lang="zh-CN" altLang="en-US" sz="11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100" b="1"/>
                        <a:t>适用平台（云服务商）</a:t>
                      </a:r>
                      <a:endParaRPr lang="zh-CN" altLang="en-US" sz="11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zh-CN" altLang="en-US" sz="1100" b="1"/>
                        <a:t>适用客户系统（租户）</a:t>
                      </a:r>
                      <a:endParaRPr lang="zh-CN" altLang="en-US" sz="1100" b="1"/>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294640">
                <a:tc>
                  <a:txBody>
                    <a:bodyPr/>
                    <a:p>
                      <a:pPr algn="l"/>
                      <a:r>
                        <a:rPr lang="zh-CN" altLang="en-US" sz="1100"/>
                        <a:t>基础设施位置（中国境内）</a:t>
                      </a:r>
                      <a:endParaRPr lang="zh-CN" altLang="en-US"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en-US" altLang="zh-CN" sz="1100"/>
                        <a:t>√</a:t>
                      </a:r>
                      <a:endParaRPr lang="en-US" altLang="zh-CN"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endParaRPr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294005">
                <a:tc>
                  <a:txBody>
                    <a:bodyPr/>
                    <a:p>
                      <a:pPr algn="l"/>
                      <a:r>
                        <a:rPr lang="zh-CN" altLang="en-US" sz="1100"/>
                        <a:t>不同客户虚拟网络隔离</a:t>
                      </a:r>
                      <a:endParaRPr lang="zh-CN" altLang="en-US"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en-US" altLang="zh-CN" sz="1100"/>
                        <a:t>√</a:t>
                      </a:r>
                      <a:endParaRPr lang="en-US" altLang="zh-CN"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endParaRPr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294640">
                <a:tc>
                  <a:txBody>
                    <a:bodyPr/>
                    <a:p>
                      <a:pPr algn="l"/>
                      <a:r>
                        <a:rPr lang="zh-CN" altLang="en-US" sz="1100"/>
                        <a:t>虚拟化网络边界访问控制</a:t>
                      </a:r>
                      <a:endParaRPr lang="zh-CN" altLang="en-US"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en-US" altLang="zh-CN" sz="1100"/>
                        <a:t>√</a:t>
                      </a:r>
                      <a:endParaRPr lang="en-US" altLang="zh-CN"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endParaRPr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462280">
                <a:tc>
                  <a:txBody>
                    <a:bodyPr/>
                    <a:p>
                      <a:pPr algn="l"/>
                      <a:r>
                        <a:rPr lang="zh-CN" altLang="en-US" sz="1100"/>
                        <a:t>虚拟机迁移时策略随其迁移</a:t>
                      </a:r>
                      <a:endParaRPr lang="zh-CN" altLang="en-US"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en-US" altLang="zh-CN" sz="1100"/>
                        <a:t>√</a:t>
                      </a:r>
                      <a:endParaRPr lang="en-US" altLang="zh-CN"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endParaRPr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r h="462915">
                <a:tc>
                  <a:txBody>
                    <a:bodyPr/>
                    <a:p>
                      <a:pPr algn="l"/>
                      <a:r>
                        <a:rPr lang="zh-CN" altLang="en-US" sz="1100"/>
                        <a:t>云服务客户设置虚拟机间访问控制</a:t>
                      </a:r>
                      <a:endParaRPr lang="zh-CN" altLang="en-US"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endParaRPr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c>
                  <a:txBody>
                    <a:bodyPr/>
                    <a:p>
                      <a:pPr algn="l"/>
                      <a:r>
                        <a:rPr lang="en-US" altLang="zh-CN" sz="1100"/>
                        <a:t>√</a:t>
                      </a:r>
                      <a:endParaRPr lang="en-US" altLang="zh-CN" sz="1100"/>
                    </a:p>
                  </a:txBody>
                  <a:tcPr marL="61277" marR="61277" marT="61277" marB="61277" anchor="ctr" anchorCtr="0">
                    <a:lnL w="7620" cap="flat" cmpd="sng">
                      <a:solidFill>
                        <a:srgbClr val="CCCCCC"/>
                      </a:solidFill>
                      <a:prstDash val="solid"/>
                      <a:headEnd type="none" w="med" len="med"/>
                      <a:tailEnd type="none" w="med" len="med"/>
                    </a:lnL>
                    <a:lnR w="7620" cap="flat" cmpd="sng">
                      <a:solidFill>
                        <a:srgbClr val="CCCCCC"/>
                      </a:solidFill>
                      <a:prstDash val="solid"/>
                      <a:headEnd type="none" w="med" len="med"/>
                      <a:tailEnd type="none" w="med" len="med"/>
                    </a:lnR>
                    <a:lnT w="7620" cap="flat" cmpd="sng">
                      <a:solidFill>
                        <a:srgbClr val="CCCCCC"/>
                      </a:solidFill>
                      <a:prstDash val="solid"/>
                      <a:headEnd type="none" w="med" len="med"/>
                      <a:tailEnd type="none" w="med" len="med"/>
                    </a:lnT>
                    <a:lnB w="7620" cap="flat" cmpd="sng">
                      <a:solidFill>
                        <a:srgbClr val="CCCCCC"/>
                      </a:solidFill>
                      <a:prstDash val="solid"/>
                      <a:headEnd type="none" w="med" len="med"/>
                      <a:tailEnd type="none" w="med" len="med"/>
                    </a:lnB>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590"/>
                                        </p:tgtEl>
                                        <p:attrNameLst>
                                          <p:attrName>style.visibility</p:attrName>
                                        </p:attrNameLst>
                                      </p:cBhvr>
                                      <p:to>
                                        <p:strVal val="visible"/>
                                      </p:to>
                                    </p:set>
                                    <p:animEffect transition="in" filter="fade">
                                      <p:cBhvr>
                                        <p:cTn id="7" dur="750"/>
                                        <p:tgtEl>
                                          <p:spTgt spid="590"/>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1" fill="hold">
                                          <p:stCondLst>
                                            <p:cond delay="0"/>
                                          </p:stCondLst>
                                        </p:cTn>
                                        <p:tgtEl>
                                          <p:spTgt spid="591"/>
                                        </p:tgtEl>
                                        <p:attrNameLst>
                                          <p:attrName>style.visibility</p:attrName>
                                        </p:attrNameLst>
                                      </p:cBhvr>
                                      <p:to>
                                        <p:strVal val="visible"/>
                                      </p:to>
                                    </p:set>
                                    <p:anim calcmode="lin" valueType="num">
                                      <p:cBhvr additive="base">
                                        <p:cTn id="11" dur="750" fill="hold"/>
                                        <p:tgtEl>
                                          <p:spTgt spid="591"/>
                                        </p:tgtEl>
                                        <p:attrNameLst>
                                          <p:attrName>ppt_x</p:attrName>
                                        </p:attrNameLst>
                                      </p:cBhvr>
                                      <p:tavLst>
                                        <p:tav tm="0">
                                          <p:val>
                                            <p:strVal val="1+#ppt_w/2"/>
                                          </p:val>
                                        </p:tav>
                                        <p:tav tm="100000">
                                          <p:val>
                                            <p:strVal val="#ppt_x"/>
                                          </p:val>
                                        </p:tav>
                                      </p:tavLst>
                                    </p:anim>
                                    <p:anim calcmode="lin" valueType="num">
                                      <p:cBhvr additive="base">
                                        <p:cTn id="12" dur="750" fill="hold"/>
                                        <p:tgtEl>
                                          <p:spTgt spid="59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fill="hold" grpId="3" nodeType="afterEffect">
                                  <p:stCondLst>
                                    <p:cond delay="0"/>
                                  </p:stCondLst>
                                  <p:childTnLst>
                                    <p:set>
                                      <p:cBhvr>
                                        <p:cTn id="15" dur="1" fill="hold">
                                          <p:stCondLst>
                                            <p:cond delay="0"/>
                                          </p:stCondLst>
                                        </p:cTn>
                                        <p:tgtEl>
                                          <p:spTgt spid="592"/>
                                        </p:tgtEl>
                                        <p:attrNameLst>
                                          <p:attrName>style.visibility</p:attrName>
                                        </p:attrNameLst>
                                      </p:cBhvr>
                                      <p:to>
                                        <p:strVal val="visible"/>
                                      </p:to>
                                    </p:set>
                                    <p:anim calcmode="lin" valueType="num">
                                      <p:cBhvr additive="base">
                                        <p:cTn id="16" dur="750" fill="hold"/>
                                        <p:tgtEl>
                                          <p:spTgt spid="592"/>
                                        </p:tgtEl>
                                        <p:attrNameLst>
                                          <p:attrName>ppt_x</p:attrName>
                                        </p:attrNameLst>
                                      </p:cBhvr>
                                      <p:tavLst>
                                        <p:tav tm="0">
                                          <p:val>
                                            <p:strVal val="1+#ppt_w/2"/>
                                          </p:val>
                                        </p:tav>
                                        <p:tav tm="100000">
                                          <p:val>
                                            <p:strVal val="#ppt_x"/>
                                          </p:val>
                                        </p:tav>
                                      </p:tavLst>
                                    </p:anim>
                                    <p:anim calcmode="lin" valueType="num">
                                      <p:cBhvr additive="base">
                                        <p:cTn id="17" dur="750" fill="hold"/>
                                        <p:tgtEl>
                                          <p:spTgt spid="592"/>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2" presetClass="entr" presetSubtype="2" fill="hold" grpId="4" nodeType="afterEffect">
                                  <p:stCondLst>
                                    <p:cond delay="0"/>
                                  </p:stCondLst>
                                  <p:childTnLst>
                                    <p:set>
                                      <p:cBhvr>
                                        <p:cTn id="20" dur="1" fill="hold">
                                          <p:stCondLst>
                                            <p:cond delay="0"/>
                                          </p:stCondLst>
                                        </p:cTn>
                                        <p:tgtEl>
                                          <p:spTgt spid="596"/>
                                        </p:tgtEl>
                                        <p:attrNameLst>
                                          <p:attrName>style.visibility</p:attrName>
                                        </p:attrNameLst>
                                      </p:cBhvr>
                                      <p:to>
                                        <p:strVal val="visible"/>
                                      </p:to>
                                    </p:set>
                                    <p:anim calcmode="lin" valueType="num">
                                      <p:cBhvr additive="base">
                                        <p:cTn id="21" dur="750" fill="hold"/>
                                        <p:tgtEl>
                                          <p:spTgt spid="596"/>
                                        </p:tgtEl>
                                        <p:attrNameLst>
                                          <p:attrName>ppt_x</p:attrName>
                                        </p:attrNameLst>
                                      </p:cBhvr>
                                      <p:tavLst>
                                        <p:tav tm="0">
                                          <p:val>
                                            <p:strVal val="1+#ppt_w/2"/>
                                          </p:val>
                                        </p:tav>
                                        <p:tav tm="100000">
                                          <p:val>
                                            <p:strVal val="#ppt_x"/>
                                          </p:val>
                                        </p:tav>
                                      </p:tavLst>
                                    </p:anim>
                                    <p:anim calcmode="lin" valueType="num">
                                      <p:cBhvr additive="base">
                                        <p:cTn id="22" dur="750" fill="hold"/>
                                        <p:tgtEl>
                                          <p:spTgt spid="5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00" name=""/>
        <p:cNvGrpSpPr/>
        <p:nvPr/>
      </p:nvGrpSpPr>
      <p:grpSpPr>
        <a:xfrm>
          <a:off x="0" y="0"/>
          <a:ext cx="0" cy="0"/>
          <a:chOff x="0" y="0"/>
          <a:chExt cx="0" cy="0"/>
        </a:xfrm>
      </p:grpSpPr>
      <p:pic>
        <p:nvPicPr>
          <p:cNvPr id="60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60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60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60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测评指标解读——安全物理环境（1项）</a:t>
            </a:r>
            <a:endParaRPr lang="en-US" sz="2760"/>
          </a:p>
        </p:txBody>
      </p:sp>
      <p:grpSp>
        <p:nvGrpSpPr>
          <p:cNvPr id="605" name="组合 32"/>
          <p:cNvGrpSpPr/>
          <p:nvPr/>
        </p:nvGrpSpPr>
        <p:grpSpPr>
          <a:xfrm>
            <a:off x="670560" y="1371600"/>
            <a:ext cx="10920984" cy="320040"/>
            <a:chOff x="-635000" y="-635000"/>
            <a:chExt cx="10920984" cy="320040"/>
          </a:xfrm>
        </p:grpSpPr>
        <p:sp>
          <p:nvSpPr>
            <p:cNvPr id="606" name="Text 1" descr="TEMP_Z_ORDER_4"/>
            <p:cNvSpPr/>
            <p:nvPr/>
          </p:nvSpPr>
          <p:spPr>
            <a:xfrm>
              <a:off x="-635000" y="-635000"/>
              <a:ext cx="308489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8.2.1.1 / 9.2.1.1 基础设施位置</a:t>
              </a:r>
              <a:endParaRPr lang="en-US" sz="1680"/>
            </a:p>
          </p:txBody>
        </p:sp>
      </p:grpSp>
      <p:graphicFrame>
        <p:nvGraphicFramePr>
          <p:cNvPr id="607" name="Table 0"/>
          <p:cNvGraphicFramePr>
            <a:graphicFrameLocks noGrp="1"/>
          </p:cNvGraphicFramePr>
          <p:nvPr/>
        </p:nvGraphicFramePr>
        <p:xfrm>
          <a:off x="609600" y="1813560"/>
          <a:ext cx="10972800" cy="1377315"/>
        </p:xfrm>
        <a:graphic>
          <a:graphicData uri="http://schemas.openxmlformats.org/drawingml/2006/table">
            <a:tbl>
              <a:tblPr/>
              <a:tblGrid>
                <a:gridCol w="3281157"/>
                <a:gridCol w="4837799"/>
                <a:gridCol w="2853844"/>
              </a:tblGrid>
              <a:tr h="615315">
                <a:tc>
                  <a:txBody>
                    <a:bodyPr wrap="square"/>
                    <a:lstStyle/>
                    <a:p>
                      <a:pPr marL="0" indent="0" algn="ctr">
                        <a:buNone/>
                      </a:pPr>
                      <a:r>
                        <a:rPr lang="en-US" sz="1600" b="1">
                          <a:solidFill>
                            <a:srgbClr val="000000"/>
                          </a:solidFill>
                        </a:rPr>
                        <a:t>测评内容</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要求</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核查方法</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62000">
                <a:tc>
                  <a:txBody>
                    <a:bodyPr wrap="square"/>
                    <a:lstStyle/>
                    <a:p>
                      <a:pPr marL="0" indent="0" algn="l">
                        <a:buNone/>
                      </a:pPr>
                      <a:r>
                        <a:rPr lang="en-US" sz="1600">
                          <a:solidFill>
                            <a:srgbClr val="000000"/>
                          </a:solidFill>
                        </a:rPr>
                        <a:t>a）应保证云计算基础设施位于中国境内</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l">
                        <a:buNone/>
                      </a:pPr>
                      <a:r>
                        <a:rPr lang="en-US" sz="1600">
                          <a:solidFill>
                            <a:srgbClr val="000000"/>
                          </a:solidFill>
                        </a:rPr>
                        <a:t>云计算平台/系统的硬件设备、数据存储设施必须在中国境内</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l">
                        <a:buNone/>
                      </a:pPr>
                      <a:r>
                        <a:rPr lang="en-US" sz="1600">
                          <a:solidFill>
                            <a:srgbClr val="000000"/>
                          </a:solidFill>
                        </a:rPr>
                        <a:t>查阅服务协议、查看数据中心位置</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608" name="组合 34"/>
          <p:cNvGrpSpPr/>
          <p:nvPr/>
        </p:nvGrpSpPr>
        <p:grpSpPr>
          <a:xfrm>
            <a:off x="609600" y="3352800"/>
            <a:ext cx="10972800" cy="1478280"/>
            <a:chOff x="-635000" y="-635000"/>
            <a:chExt cx="10972800" cy="1478280"/>
          </a:xfrm>
        </p:grpSpPr>
        <p:pic>
          <p:nvPicPr>
            <p:cNvPr id="609" name="Image 3" descr="TEMP_Z_ORDER_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635000"/>
              <a:ext cx="10972800" cy="1478280"/>
            </a:xfrm>
            <a:prstGeom prst="rect">
              <a:avLst/>
            </a:prstGeom>
          </p:spPr>
        </p:pic>
        <p:sp>
          <p:nvSpPr>
            <p:cNvPr id="610" name="Text 2" descr="TEMP_Z_ORDER_7"/>
            <p:cNvSpPr/>
            <p:nvPr/>
          </p:nvSpPr>
          <p:spPr>
            <a:xfrm>
              <a:off x="-391160" y="-452120"/>
              <a:ext cx="1457468"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458BE6"/>
                  </a:solidFill>
                  <a:latin typeface="思源黑体 CN Bold" pitchFamily="34" charset="0"/>
                  <a:ea typeface="思源黑体 CN Bold" pitchFamily="34" charset="-122"/>
                  <a:cs typeface="思源黑体 CN Bold" pitchFamily="34" charset="-120"/>
                </a:rPr>
                <a:t>等保2.0依据：</a:t>
              </a:r>
              <a:endParaRPr lang="en-US" sz="1680"/>
            </a:p>
          </p:txBody>
        </p:sp>
        <p:sp>
          <p:nvSpPr>
            <p:cNvPr id="611" name="Text 3" descr="TEMP_Z_ORDER_8"/>
            <p:cNvSpPr/>
            <p:nvPr/>
          </p:nvSpPr>
          <p:spPr>
            <a:xfrm>
              <a:off x="-391160" y="-63710"/>
              <a:ext cx="10555224" cy="716699"/>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《网络安全法》第37条——“关键信息基础设施的运营者在中华人民共和国境内运营中收集和产生的个人信息和重要数据应当在境内存储。”</a:t>
              </a:r>
              <a:endParaRPr lang="en-US" sz="1920"/>
            </a:p>
          </p:txBody>
        </p:sp>
      </p:grpSp>
      <p:grpSp>
        <p:nvGrpSpPr>
          <p:cNvPr id="612" name="组合 21"/>
          <p:cNvGrpSpPr/>
          <p:nvPr/>
        </p:nvGrpSpPr>
        <p:grpSpPr>
          <a:xfrm>
            <a:off x="609600" y="5074920"/>
            <a:ext cx="10988040" cy="1346835"/>
            <a:chOff x="-635000" y="-635000"/>
            <a:chExt cx="10988040" cy="1249680"/>
          </a:xfrm>
        </p:grpSpPr>
        <p:sp>
          <p:nvSpPr>
            <p:cNvPr id="613" name="Text 4" descr="TEMP_Z_ORDER_9"/>
            <p:cNvSpPr/>
            <p:nvPr/>
          </p:nvSpPr>
          <p:spPr>
            <a:xfrm>
              <a:off x="-574040" y="-635000"/>
              <a:ext cx="1276350" cy="356462"/>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00" b="1">
                  <a:solidFill>
                    <a:srgbClr val="002060"/>
                  </a:solidFill>
                  <a:latin typeface="思源黑体 CN Bold" pitchFamily="34" charset="0"/>
                  <a:ea typeface="思源黑体 CN Bold" pitchFamily="34" charset="-122"/>
                  <a:cs typeface="思源黑体 CN Bold" pitchFamily="34" charset="-120"/>
                </a:rPr>
                <a:t>测评要点：</a:t>
              </a:r>
              <a:endParaRPr lang="en-US" sz="2000" b="1">
                <a:solidFill>
                  <a:srgbClr val="002060"/>
                </a:solidFill>
                <a:latin typeface="思源黑体 CN Bold" pitchFamily="34" charset="0"/>
                <a:ea typeface="思源黑体 CN Bold" pitchFamily="34" charset="-122"/>
                <a:cs typeface="思源黑体 CN Bold" pitchFamily="34" charset="-120"/>
              </a:endParaRPr>
            </a:p>
          </p:txBody>
        </p:sp>
        <p:pic>
          <p:nvPicPr>
            <p:cNvPr id="614" name="Image 4" descr="TEMP_Z_ORDER_10"/>
            <p:cNvPicPr>
              <a:picLocks noChangeAspect="1"/>
            </p:cNvPicPr>
            <p:nvPr/>
          </p:nvPicPr>
          <p:blipFill>
            <a:blip r:embed="rId6"/>
            <a:stretch>
              <a:fillRect/>
            </a:stretch>
          </p:blipFill>
          <p:spPr>
            <a:xfrm>
              <a:off x="-635000" y="-40640"/>
              <a:ext cx="3505200" cy="655320"/>
            </a:xfrm>
            <a:prstGeom prst="rect">
              <a:avLst/>
            </a:prstGeom>
          </p:spPr>
        </p:pic>
        <p:sp>
          <p:nvSpPr>
            <p:cNvPr id="615" name="Text 5" descr="TEMP_Z_ORDER_11"/>
            <p:cNvSpPr/>
            <p:nvPr/>
          </p:nvSpPr>
          <p:spPr>
            <a:xfrm>
              <a:off x="-510540" y="221099"/>
              <a:ext cx="3118485" cy="253943"/>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400">
                  <a:solidFill>
                    <a:srgbClr val="002060"/>
                  </a:solidFill>
                  <a:latin typeface="思源黑体 CN Regular" pitchFamily="34" charset="0"/>
                  <a:ea typeface="思源黑体 CN Regular" pitchFamily="34" charset="-122"/>
                  <a:cs typeface="思源黑体 CN Regular" pitchFamily="34" charset="-120"/>
                </a:rPr>
                <a:t>✅ 查看云服务商的数据中心位置说明</a:t>
              </a:r>
              <a:endParaRPr lang="en-US" sz="1400">
                <a:solidFill>
                  <a:srgbClr val="002060"/>
                </a:solidFill>
                <a:latin typeface="思源黑体 CN Regular" pitchFamily="34" charset="0"/>
                <a:ea typeface="思源黑体 CN Regular" pitchFamily="34" charset="-122"/>
                <a:cs typeface="思源黑体 CN Regular" pitchFamily="34" charset="-120"/>
              </a:endParaRPr>
            </a:p>
          </p:txBody>
        </p:sp>
        <p:pic>
          <p:nvPicPr>
            <p:cNvPr id="616" name="Image 5" descr="TEMP_Z_ORDER_12"/>
            <p:cNvPicPr>
              <a:picLocks noChangeAspect="1"/>
            </p:cNvPicPr>
            <p:nvPr/>
          </p:nvPicPr>
          <p:blipFill>
            <a:blip r:embed="rId7">
              <a:alphaModFix amt="50000"/>
            </a:blip>
            <a:stretch>
              <a:fillRect/>
            </a:stretch>
          </p:blipFill>
          <p:spPr>
            <a:xfrm>
              <a:off x="-619760" y="-25400"/>
              <a:ext cx="3474720" cy="60960"/>
            </a:xfrm>
            <a:prstGeom prst="rect">
              <a:avLst/>
            </a:prstGeom>
          </p:spPr>
        </p:pic>
        <p:pic>
          <p:nvPicPr>
            <p:cNvPr id="617" name="Image 6" descr="TEMP_Z_ORDER_13"/>
            <p:cNvPicPr>
              <a:picLocks noChangeAspect="1"/>
            </p:cNvPicPr>
            <p:nvPr/>
          </p:nvPicPr>
          <p:blipFill>
            <a:blip r:embed="rId6"/>
            <a:stretch>
              <a:fillRect/>
            </a:stretch>
          </p:blipFill>
          <p:spPr>
            <a:xfrm>
              <a:off x="3098800" y="-40640"/>
              <a:ext cx="3505200" cy="655320"/>
            </a:xfrm>
            <a:prstGeom prst="rect">
              <a:avLst/>
            </a:prstGeom>
          </p:spPr>
        </p:pic>
        <p:sp>
          <p:nvSpPr>
            <p:cNvPr id="618" name="Text 6" descr="TEMP_Z_ORDER_14"/>
            <p:cNvSpPr/>
            <p:nvPr/>
          </p:nvSpPr>
          <p:spPr>
            <a:xfrm>
              <a:off x="3390265" y="226990"/>
              <a:ext cx="2965450" cy="293419"/>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400">
                  <a:solidFill>
                    <a:srgbClr val="002060"/>
                  </a:solidFill>
                  <a:latin typeface="思源黑体 CN Regular" pitchFamily="34" charset="0"/>
                  <a:ea typeface="思源黑体 CN Regular" pitchFamily="34" charset="-122"/>
                  <a:cs typeface="思源黑体 CN Regular" pitchFamily="34" charset="-120"/>
                </a:rPr>
                <a:t>✅ 核查是否有数据出境的情况</a:t>
              </a:r>
              <a:endParaRPr lang="en-US" sz="1400">
                <a:solidFill>
                  <a:srgbClr val="002060"/>
                </a:solidFill>
                <a:latin typeface="思源黑体 CN Regular" pitchFamily="34" charset="0"/>
                <a:ea typeface="思源黑体 CN Regular" pitchFamily="34" charset="-122"/>
                <a:cs typeface="思源黑体 CN Regular" pitchFamily="34" charset="-120"/>
              </a:endParaRPr>
            </a:p>
          </p:txBody>
        </p:sp>
        <p:pic>
          <p:nvPicPr>
            <p:cNvPr id="619" name="Image 7" descr="TEMP_Z_ORDER_15"/>
            <p:cNvPicPr>
              <a:picLocks noChangeAspect="1"/>
            </p:cNvPicPr>
            <p:nvPr/>
          </p:nvPicPr>
          <p:blipFill>
            <a:blip r:embed="rId7">
              <a:alphaModFix amt="50000"/>
            </a:blip>
            <a:stretch>
              <a:fillRect/>
            </a:stretch>
          </p:blipFill>
          <p:spPr>
            <a:xfrm>
              <a:off x="3114040" y="-25400"/>
              <a:ext cx="3474720" cy="60960"/>
            </a:xfrm>
            <a:prstGeom prst="rect">
              <a:avLst/>
            </a:prstGeom>
          </p:spPr>
        </p:pic>
        <p:pic>
          <p:nvPicPr>
            <p:cNvPr id="620" name="Image 8" descr="TEMP_Z_ORDER_16"/>
            <p:cNvPicPr>
              <a:picLocks noChangeAspect="1"/>
            </p:cNvPicPr>
            <p:nvPr/>
          </p:nvPicPr>
          <p:blipFill>
            <a:blip r:embed="rId6"/>
            <a:stretch>
              <a:fillRect/>
            </a:stretch>
          </p:blipFill>
          <p:spPr>
            <a:xfrm>
              <a:off x="6847840" y="-40640"/>
              <a:ext cx="3505200" cy="655320"/>
            </a:xfrm>
            <a:prstGeom prst="rect">
              <a:avLst/>
            </a:prstGeom>
          </p:spPr>
        </p:pic>
        <p:sp>
          <p:nvSpPr>
            <p:cNvPr id="621" name="Text 7" descr="TEMP_Z_ORDER_17"/>
            <p:cNvSpPr/>
            <p:nvPr/>
          </p:nvSpPr>
          <p:spPr>
            <a:xfrm>
              <a:off x="7021195" y="181623"/>
              <a:ext cx="3107055" cy="268083"/>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400">
                  <a:solidFill>
                    <a:srgbClr val="002060"/>
                  </a:solidFill>
                  <a:latin typeface="思源黑体 CN Regular" pitchFamily="34" charset="0"/>
                  <a:ea typeface="思源黑体 CN Regular" pitchFamily="34" charset="-122"/>
                  <a:cs typeface="思源黑体 CN Regular" pitchFamily="34" charset="-120"/>
                </a:rPr>
                <a:t>✅ 关注：IaaS层的物理设施位置</a:t>
              </a:r>
              <a:endParaRPr lang="en-US" sz="1400">
                <a:solidFill>
                  <a:srgbClr val="002060"/>
                </a:solidFill>
                <a:latin typeface="思源黑体 CN Regular" pitchFamily="34" charset="0"/>
                <a:ea typeface="思源黑体 CN Regular" pitchFamily="34" charset="-122"/>
                <a:cs typeface="思源黑体 CN Regular" pitchFamily="34" charset="-120"/>
              </a:endParaRPr>
            </a:p>
          </p:txBody>
        </p:sp>
        <p:pic>
          <p:nvPicPr>
            <p:cNvPr id="622" name="Image 9" descr="TEMP_Z_ORDER_18"/>
            <p:cNvPicPr>
              <a:picLocks noChangeAspect="1"/>
            </p:cNvPicPr>
            <p:nvPr/>
          </p:nvPicPr>
          <p:blipFill>
            <a:blip r:embed="rId7">
              <a:alphaModFix amt="50000"/>
            </a:blip>
            <a:stretch>
              <a:fillRect/>
            </a:stretch>
          </p:blipFill>
          <p:spPr>
            <a:xfrm>
              <a:off x="6863080" y="-25400"/>
              <a:ext cx="3474720" cy="60960"/>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604"/>
                                        </p:tgtEl>
                                        <p:attrNameLst>
                                          <p:attrName>style.visibility</p:attrName>
                                        </p:attrNameLst>
                                      </p:cBhvr>
                                      <p:to>
                                        <p:strVal val="visible"/>
                                      </p:to>
                                    </p:set>
                                    <p:animEffect transition="in" filter="fade">
                                      <p:cBhvr>
                                        <p:cTn id="7" dur="750"/>
                                        <p:tgtEl>
                                          <p:spTgt spid="604"/>
                                        </p:tgtEl>
                                      </p:cBhvr>
                                    </p:animEffect>
                                  </p:childTnLst>
                                </p:cTn>
                              </p:par>
                            </p:childTnLst>
                          </p:cTn>
                        </p:par>
                        <p:par>
                          <p:cTn id="8" fill="hold">
                            <p:stCondLst>
                              <p:cond delay="1000"/>
                            </p:stCondLst>
                            <p:childTnLst>
                              <p:par>
                                <p:cTn id="9" presetID="31" presetClass="entr" presetSubtype="0" fill="hold" grpId="2" nodeType="afterEffect">
                                  <p:stCondLst>
                                    <p:cond delay="0"/>
                                  </p:stCondLst>
                                  <p:iterate type="lt">
                                    <p:tmPct val="5000"/>
                                  </p:iterate>
                                  <p:childTnLst>
                                    <p:set>
                                      <p:cBhvr>
                                        <p:cTn id="10" dur="1" fill="hold">
                                          <p:stCondLst>
                                            <p:cond delay="0"/>
                                          </p:stCondLst>
                                        </p:cTn>
                                        <p:tgtEl>
                                          <p:spTgt spid="605"/>
                                        </p:tgtEl>
                                        <p:attrNameLst>
                                          <p:attrName>style.visibility</p:attrName>
                                        </p:attrNameLst>
                                      </p:cBhvr>
                                      <p:to>
                                        <p:strVal val="visible"/>
                                      </p:to>
                                    </p:set>
                                    <p:anim calcmode="lin" valueType="num">
                                      <p:cBhvr>
                                        <p:cTn id="11" dur="750" fill="hold"/>
                                        <p:tgtEl>
                                          <p:spTgt spid="605"/>
                                        </p:tgtEl>
                                        <p:attrNameLst>
                                          <p:attrName>ppt_w</p:attrName>
                                        </p:attrNameLst>
                                      </p:cBhvr>
                                      <p:tavLst>
                                        <p:tav tm="0">
                                          <p:val>
                                            <p:fltVal val="0"/>
                                          </p:val>
                                        </p:tav>
                                        <p:tav tm="100000">
                                          <p:val>
                                            <p:strVal val="#ppt_w"/>
                                          </p:val>
                                        </p:tav>
                                      </p:tavLst>
                                    </p:anim>
                                    <p:anim calcmode="lin" valueType="num">
                                      <p:cBhvr>
                                        <p:cTn id="12" dur="750" fill="hold"/>
                                        <p:tgtEl>
                                          <p:spTgt spid="605"/>
                                        </p:tgtEl>
                                        <p:attrNameLst>
                                          <p:attrName>ppt_h</p:attrName>
                                        </p:attrNameLst>
                                      </p:cBhvr>
                                      <p:tavLst>
                                        <p:tav tm="0">
                                          <p:val>
                                            <p:fltVal val="0"/>
                                          </p:val>
                                        </p:tav>
                                        <p:tav tm="100000">
                                          <p:val>
                                            <p:strVal val="#ppt_h"/>
                                          </p:val>
                                        </p:tav>
                                      </p:tavLst>
                                    </p:anim>
                                    <p:anim calcmode="lin" valueType="num">
                                      <p:cBhvr>
                                        <p:cTn id="13" dur="750" fill="hold"/>
                                        <p:tgtEl>
                                          <p:spTgt spid="605"/>
                                        </p:tgtEl>
                                        <p:attrNameLst>
                                          <p:attrName>style.rotation</p:attrName>
                                        </p:attrNameLst>
                                      </p:cBhvr>
                                      <p:tavLst>
                                        <p:tav tm="0">
                                          <p:val>
                                            <p:fltVal val="90"/>
                                          </p:val>
                                        </p:tav>
                                        <p:tav tm="100000">
                                          <p:val>
                                            <p:fltVal val="0"/>
                                          </p:val>
                                        </p:tav>
                                      </p:tavLst>
                                    </p:anim>
                                    <p:animEffect transition="in" filter="fade">
                                      <p:cBhvr>
                                        <p:cTn id="14" dur="750"/>
                                        <p:tgtEl>
                                          <p:spTgt spid="605"/>
                                        </p:tgtEl>
                                      </p:cBhvr>
                                    </p:animEffect>
                                  </p:childTnLst>
                                </p:cTn>
                              </p:par>
                            </p:childTnLst>
                          </p:cTn>
                        </p:par>
                        <p:par>
                          <p:cTn id="15" fill="hold">
                            <p:stCondLst>
                              <p:cond delay="1500"/>
                            </p:stCondLst>
                            <p:childTnLst>
                              <p:par>
                                <p:cTn id="16" presetID="31" presetClass="entr" presetSubtype="0" fill="hold" grpId="3" nodeType="afterEffect">
                                  <p:stCondLst>
                                    <p:cond delay="0"/>
                                  </p:stCondLst>
                                  <p:iterate type="lt">
                                    <p:tmPct val="5000"/>
                                  </p:iterate>
                                  <p:childTnLst>
                                    <p:set>
                                      <p:cBhvr>
                                        <p:cTn id="17" dur="1" fill="hold">
                                          <p:stCondLst>
                                            <p:cond delay="0"/>
                                          </p:stCondLst>
                                        </p:cTn>
                                        <p:tgtEl>
                                          <p:spTgt spid="608"/>
                                        </p:tgtEl>
                                        <p:attrNameLst>
                                          <p:attrName>style.visibility</p:attrName>
                                        </p:attrNameLst>
                                      </p:cBhvr>
                                      <p:to>
                                        <p:strVal val="visible"/>
                                      </p:to>
                                    </p:set>
                                    <p:anim calcmode="lin" valueType="num">
                                      <p:cBhvr>
                                        <p:cTn id="18" dur="750" fill="hold"/>
                                        <p:tgtEl>
                                          <p:spTgt spid="608"/>
                                        </p:tgtEl>
                                        <p:attrNameLst>
                                          <p:attrName>ppt_w</p:attrName>
                                        </p:attrNameLst>
                                      </p:cBhvr>
                                      <p:tavLst>
                                        <p:tav tm="0">
                                          <p:val>
                                            <p:fltVal val="0"/>
                                          </p:val>
                                        </p:tav>
                                        <p:tav tm="100000">
                                          <p:val>
                                            <p:strVal val="#ppt_w"/>
                                          </p:val>
                                        </p:tav>
                                      </p:tavLst>
                                    </p:anim>
                                    <p:anim calcmode="lin" valueType="num">
                                      <p:cBhvr>
                                        <p:cTn id="19" dur="750" fill="hold"/>
                                        <p:tgtEl>
                                          <p:spTgt spid="608"/>
                                        </p:tgtEl>
                                        <p:attrNameLst>
                                          <p:attrName>ppt_h</p:attrName>
                                        </p:attrNameLst>
                                      </p:cBhvr>
                                      <p:tavLst>
                                        <p:tav tm="0">
                                          <p:val>
                                            <p:fltVal val="0"/>
                                          </p:val>
                                        </p:tav>
                                        <p:tav tm="100000">
                                          <p:val>
                                            <p:strVal val="#ppt_h"/>
                                          </p:val>
                                        </p:tav>
                                      </p:tavLst>
                                    </p:anim>
                                    <p:anim calcmode="lin" valueType="num">
                                      <p:cBhvr>
                                        <p:cTn id="20" dur="750" fill="hold"/>
                                        <p:tgtEl>
                                          <p:spTgt spid="608"/>
                                        </p:tgtEl>
                                        <p:attrNameLst>
                                          <p:attrName>style.rotation</p:attrName>
                                        </p:attrNameLst>
                                      </p:cBhvr>
                                      <p:tavLst>
                                        <p:tav tm="0">
                                          <p:val>
                                            <p:fltVal val="90"/>
                                          </p:val>
                                        </p:tav>
                                        <p:tav tm="100000">
                                          <p:val>
                                            <p:fltVal val="0"/>
                                          </p:val>
                                        </p:tav>
                                      </p:tavLst>
                                    </p:anim>
                                    <p:animEffect transition="in" filter="fade">
                                      <p:cBhvr>
                                        <p:cTn id="21" dur="750"/>
                                        <p:tgtEl>
                                          <p:spTgt spid="608"/>
                                        </p:tgtEl>
                                      </p:cBhvr>
                                    </p:animEffect>
                                  </p:childTnLst>
                                </p:cTn>
                              </p:par>
                            </p:childTnLst>
                          </p:cTn>
                        </p:par>
                        <p:par>
                          <p:cTn id="22" fill="hold">
                            <p:stCondLst>
                              <p:cond delay="2250"/>
                            </p:stCondLst>
                            <p:childTnLst>
                              <p:par>
                                <p:cTn id="23" presetID="31" presetClass="entr" presetSubtype="0" fill="hold" grpId="4" nodeType="afterEffect">
                                  <p:stCondLst>
                                    <p:cond delay="0"/>
                                  </p:stCondLst>
                                  <p:iterate type="lt">
                                    <p:tmPct val="5000"/>
                                  </p:iterate>
                                  <p:childTnLst>
                                    <p:set>
                                      <p:cBhvr>
                                        <p:cTn id="24" dur="1" fill="hold">
                                          <p:stCondLst>
                                            <p:cond delay="0"/>
                                          </p:stCondLst>
                                        </p:cTn>
                                        <p:tgtEl>
                                          <p:spTgt spid="612"/>
                                        </p:tgtEl>
                                        <p:attrNameLst>
                                          <p:attrName>style.visibility</p:attrName>
                                        </p:attrNameLst>
                                      </p:cBhvr>
                                      <p:to>
                                        <p:strVal val="visible"/>
                                      </p:to>
                                    </p:set>
                                    <p:anim calcmode="lin" valueType="num">
                                      <p:cBhvr>
                                        <p:cTn id="25" dur="750" fill="hold"/>
                                        <p:tgtEl>
                                          <p:spTgt spid="612"/>
                                        </p:tgtEl>
                                        <p:attrNameLst>
                                          <p:attrName>ppt_w</p:attrName>
                                        </p:attrNameLst>
                                      </p:cBhvr>
                                      <p:tavLst>
                                        <p:tav tm="0">
                                          <p:val>
                                            <p:fltVal val="0"/>
                                          </p:val>
                                        </p:tav>
                                        <p:tav tm="100000">
                                          <p:val>
                                            <p:strVal val="#ppt_w"/>
                                          </p:val>
                                        </p:tav>
                                      </p:tavLst>
                                    </p:anim>
                                    <p:anim calcmode="lin" valueType="num">
                                      <p:cBhvr>
                                        <p:cTn id="26" dur="750" fill="hold"/>
                                        <p:tgtEl>
                                          <p:spTgt spid="612"/>
                                        </p:tgtEl>
                                        <p:attrNameLst>
                                          <p:attrName>ppt_h</p:attrName>
                                        </p:attrNameLst>
                                      </p:cBhvr>
                                      <p:tavLst>
                                        <p:tav tm="0">
                                          <p:val>
                                            <p:fltVal val="0"/>
                                          </p:val>
                                        </p:tav>
                                        <p:tav tm="100000">
                                          <p:val>
                                            <p:strVal val="#ppt_h"/>
                                          </p:val>
                                        </p:tav>
                                      </p:tavLst>
                                    </p:anim>
                                    <p:anim calcmode="lin" valueType="num">
                                      <p:cBhvr>
                                        <p:cTn id="27" dur="750" fill="hold"/>
                                        <p:tgtEl>
                                          <p:spTgt spid="612"/>
                                        </p:tgtEl>
                                        <p:attrNameLst>
                                          <p:attrName>style.rotation</p:attrName>
                                        </p:attrNameLst>
                                      </p:cBhvr>
                                      <p:tavLst>
                                        <p:tav tm="0">
                                          <p:val>
                                            <p:fltVal val="90"/>
                                          </p:val>
                                        </p:tav>
                                        <p:tav tm="100000">
                                          <p:val>
                                            <p:fltVal val="0"/>
                                          </p:val>
                                        </p:tav>
                                      </p:tavLst>
                                    </p:anim>
                                    <p:animEffect transition="in" filter="fade">
                                      <p:cBhvr>
                                        <p:cTn id="28" dur="750"/>
                                        <p:tgtEl>
                                          <p:spTgt spid="612"/>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23" name=""/>
        <p:cNvGrpSpPr/>
        <p:nvPr/>
      </p:nvGrpSpPr>
      <p:grpSpPr>
        <a:xfrm>
          <a:off x="0" y="0"/>
          <a:ext cx="0" cy="0"/>
          <a:chOff x="0" y="0"/>
          <a:chExt cx="0" cy="0"/>
        </a:xfrm>
      </p:grpSpPr>
      <p:pic>
        <p:nvPicPr>
          <p:cNvPr id="62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625"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626"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627"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测评指标解读——安全通信网络（3项）</a:t>
            </a:r>
            <a:endParaRPr lang="en-US" sz="2760"/>
          </a:p>
        </p:txBody>
      </p:sp>
      <p:grpSp>
        <p:nvGrpSpPr>
          <p:cNvPr id="628" name="组合 36"/>
          <p:cNvGrpSpPr/>
          <p:nvPr/>
        </p:nvGrpSpPr>
        <p:grpSpPr>
          <a:xfrm>
            <a:off x="609600" y="1066800"/>
            <a:ext cx="10972800" cy="3192780"/>
            <a:chOff x="-635000" y="-635000"/>
            <a:chExt cx="10972800" cy="3108960"/>
          </a:xfrm>
        </p:grpSpPr>
        <p:pic>
          <p:nvPicPr>
            <p:cNvPr id="629" name="Image 3" descr="TEMP_Z_ORDER_4"/>
            <p:cNvPicPr>
              <a:picLocks noChangeAspect="1"/>
            </p:cNvPicPr>
            <p:nvPr/>
          </p:nvPicPr>
          <p:blipFill>
            <a:blip r:embed="rId4"/>
            <a:stretch>
              <a:fillRect/>
            </a:stretch>
          </p:blipFill>
          <p:spPr>
            <a:xfrm>
              <a:off x="-635000" y="-635000"/>
              <a:ext cx="10972800" cy="3108960"/>
            </a:xfrm>
            <a:prstGeom prst="rect">
              <a:avLst/>
            </a:prstGeom>
          </p:spPr>
        </p:pic>
        <p:pic>
          <p:nvPicPr>
            <p:cNvPr id="630" name="Image 4" descr="TEMP_Z_ORDER_5"/>
            <p:cNvPicPr>
              <a:picLocks noChangeAspect="1"/>
            </p:cNvPicPr>
            <p:nvPr/>
          </p:nvPicPr>
          <p:blipFill>
            <a:blip r:embed="rId5"/>
            <a:stretch>
              <a:fillRect/>
            </a:stretch>
          </p:blipFill>
          <p:spPr>
            <a:xfrm>
              <a:off x="-619760" y="-619760"/>
              <a:ext cx="10942320" cy="670560"/>
            </a:xfrm>
            <a:prstGeom prst="rect">
              <a:avLst/>
            </a:prstGeom>
          </p:spPr>
        </p:pic>
        <p:sp>
          <p:nvSpPr>
            <p:cNvPr id="631" name="Text 1" descr="TEMP_Z_ORDER_6"/>
            <p:cNvSpPr/>
            <p:nvPr/>
          </p:nvSpPr>
          <p:spPr>
            <a:xfrm>
              <a:off x="-375920" y="-497840"/>
              <a:ext cx="3673332" cy="40438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000000"/>
                  </a:solidFill>
                  <a:latin typeface="思源黑体 CN Bold" pitchFamily="34" charset="0"/>
                  <a:ea typeface="思源黑体 CN Bold" pitchFamily="34" charset="-122"/>
                  <a:cs typeface="思源黑体 CN Bold" pitchFamily="34" charset="-120"/>
                </a:rPr>
                <a:t>8.2.2.1 / 9.2.2.1 网络架构</a:t>
              </a:r>
              <a:endParaRPr lang="en-US" sz="2160"/>
            </a:p>
          </p:txBody>
        </p:sp>
        <p:pic>
          <p:nvPicPr>
            <p:cNvPr id="632" name="Image 5" descr="TEMP_Z_ORDER_7"/>
            <p:cNvPicPr>
              <a:picLocks noChangeAspect="1"/>
            </p:cNvPicPr>
            <p:nvPr/>
          </p:nvPicPr>
          <p:blipFill>
            <a:blip r:embed="rId6"/>
            <a:stretch>
              <a:fillRect/>
            </a:stretch>
          </p:blipFill>
          <p:spPr>
            <a:xfrm>
              <a:off x="-619760" y="50800"/>
              <a:ext cx="10942320" cy="15240"/>
            </a:xfrm>
            <a:prstGeom prst="rect">
              <a:avLst/>
            </a:prstGeom>
          </p:spPr>
        </p:pic>
      </p:grpSp>
      <p:graphicFrame>
        <p:nvGraphicFramePr>
          <p:cNvPr id="633" name="Table 0"/>
          <p:cNvGraphicFramePr>
            <a:graphicFrameLocks noGrp="1"/>
          </p:cNvGraphicFramePr>
          <p:nvPr/>
        </p:nvGraphicFramePr>
        <p:xfrm>
          <a:off x="1176364" y="1798320"/>
          <a:ext cx="9839272" cy="2426472"/>
        </p:xfrm>
        <a:graphic>
          <a:graphicData uri="http://schemas.openxmlformats.org/drawingml/2006/table">
            <a:tbl>
              <a:tblPr/>
              <a:tblGrid>
                <a:gridCol w="1066740"/>
                <a:gridCol w="7425071"/>
                <a:gridCol w="1347461"/>
              </a:tblGrid>
              <a:tr h="331713">
                <a:tc>
                  <a:txBody>
                    <a:bodyPr wrap="square"/>
                    <a:lstStyle/>
                    <a:p>
                      <a:pPr marL="0" indent="0" algn="ctr">
                        <a:buNone/>
                      </a:pPr>
                      <a:r>
                        <a:rPr lang="en-US" sz="1550" b="1">
                          <a:solidFill>
                            <a:srgbClr val="000000"/>
                          </a:solidFill>
                        </a:rPr>
                        <a:t>要求项</a:t>
                      </a:r>
                      <a:endParaRPr lang="en-US" sz="1550" b="1">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b="1">
                          <a:solidFill>
                            <a:srgbClr val="000000"/>
                          </a:solidFill>
                        </a:rPr>
                        <a:t>内容</a:t>
                      </a:r>
                      <a:endParaRPr lang="en-US" sz="1550" b="1">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b="1">
                          <a:solidFill>
                            <a:srgbClr val="000000"/>
                          </a:solidFill>
                        </a:rPr>
                        <a:t>适用对象</a:t>
                      </a:r>
                      <a:endParaRPr lang="en-US" sz="1550" b="1">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550">
                          <a:solidFill>
                            <a:srgbClr val="000000"/>
                          </a:solidFill>
                        </a:rPr>
                        <a:t>a)</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平台不承载高于自身安全等级的业务应用系统</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550">
                          <a:solidFill>
                            <a:srgbClr val="000000"/>
                          </a:solidFill>
                        </a:rPr>
                        <a:t>b)</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不同云服务客户虚拟网络之间隔离</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550">
                          <a:solidFill>
                            <a:srgbClr val="000000"/>
                          </a:solidFill>
                        </a:rPr>
                        <a:t>c)</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提供通信传输、边界防护、入侵防范等安全机制能力</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550">
                          <a:solidFill>
                            <a:srgbClr val="000000"/>
                          </a:solidFill>
                        </a:rPr>
                        <a:t>d)</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客户可自主设置安全策略（定义访问路径、选择安全组件）</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550">
                          <a:solidFill>
                            <a:srgbClr val="000000"/>
                          </a:solidFill>
                        </a:rPr>
                        <a:t>e)</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开放接口，允许客户接入第三方安全产品</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550">
                          <a:solidFill>
                            <a:srgbClr val="000000"/>
                          </a:solidFill>
                        </a:rPr>
                        <a:t>平台</a:t>
                      </a:r>
                      <a:endParaRPr lang="en-US" sz="1550"/>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634" name="组合 22"/>
          <p:cNvGrpSpPr/>
          <p:nvPr/>
        </p:nvGrpSpPr>
        <p:grpSpPr>
          <a:xfrm>
            <a:off x="609600" y="4495800"/>
            <a:ext cx="5364480" cy="1828800"/>
            <a:chOff x="-635000" y="-635000"/>
            <a:chExt cx="5364480" cy="1828800"/>
          </a:xfrm>
        </p:grpSpPr>
        <p:pic>
          <p:nvPicPr>
            <p:cNvPr id="635" name="Image 6" descr="TEMP_Z_ORDER_9"/>
            <p:cNvPicPr>
              <a:picLocks noChangeAspect="1"/>
            </p:cNvPicPr>
            <p:nvPr/>
          </p:nvPicPr>
          <p:blipFill>
            <a:blip r:embed="rId7"/>
            <a:stretch>
              <a:fillRect/>
            </a:stretch>
          </p:blipFill>
          <p:spPr>
            <a:xfrm>
              <a:off x="-635000" y="-635000"/>
              <a:ext cx="5364480" cy="1828800"/>
            </a:xfrm>
            <a:prstGeom prst="rect">
              <a:avLst/>
            </a:prstGeom>
          </p:spPr>
        </p:pic>
        <p:pic>
          <p:nvPicPr>
            <p:cNvPr id="636" name="Image 7" descr="TEMP_Z_ORDER_10"/>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5920" y="-269240"/>
              <a:ext cx="121920" cy="121920"/>
            </a:xfrm>
            <a:prstGeom prst="rect">
              <a:avLst/>
            </a:prstGeom>
          </p:spPr>
        </p:pic>
        <p:sp>
          <p:nvSpPr>
            <p:cNvPr id="637" name="Text 2" descr="TEMP_Z_ORDER_11"/>
            <p:cNvSpPr/>
            <p:nvPr/>
          </p:nvSpPr>
          <p:spPr>
            <a:xfrm>
              <a:off x="-132080" y="-385557"/>
              <a:ext cx="987679" cy="35455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458BE6"/>
                  </a:solidFill>
                  <a:latin typeface="思源黑体 CN Bold" pitchFamily="34" charset="0"/>
                  <a:ea typeface="思源黑体 CN Bold" pitchFamily="34" charset="-122"/>
                  <a:cs typeface="思源黑体 CN Bold" pitchFamily="34" charset="-120"/>
                </a:rPr>
                <a:t>四级新增</a:t>
              </a:r>
              <a:endParaRPr lang="en-US" sz="1920"/>
            </a:p>
          </p:txBody>
        </p:sp>
        <p:sp>
          <p:nvSpPr>
            <p:cNvPr id="638" name="Text 3" descr="TEMP_Z_ORDER_12"/>
            <p:cNvSpPr/>
            <p:nvPr/>
          </p:nvSpPr>
          <p:spPr>
            <a:xfrm>
              <a:off x="-375920" y="81280"/>
              <a:ext cx="2805906"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f) 提供虚拟资源安全标记能力</a:t>
              </a:r>
              <a:endParaRPr lang="en-US" sz="1680"/>
            </a:p>
          </p:txBody>
        </p:sp>
        <p:sp>
          <p:nvSpPr>
            <p:cNvPr id="639" name="Text 4" descr="TEMP_Z_ORDER_13"/>
            <p:cNvSpPr/>
            <p:nvPr/>
          </p:nvSpPr>
          <p:spPr>
            <a:xfrm>
              <a:off x="-375920" y="416560"/>
              <a:ext cx="4013248"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g) 提供通信协议转换/隔离的数据交换方式</a:t>
              </a:r>
              <a:endParaRPr lang="en-US" sz="1680"/>
            </a:p>
          </p:txBody>
        </p:sp>
        <p:sp>
          <p:nvSpPr>
            <p:cNvPr id="640" name="Text 5" descr="TEMP_Z_ORDER_14"/>
            <p:cNvSpPr/>
            <p:nvPr/>
          </p:nvSpPr>
          <p:spPr>
            <a:xfrm>
              <a:off x="-375920" y="736600"/>
              <a:ext cx="3941096"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h) 为第四级业务应用系统划分独立资源池</a:t>
              </a:r>
              <a:endParaRPr lang="en-US" sz="1680"/>
            </a:p>
          </p:txBody>
        </p:sp>
        <p:pic>
          <p:nvPicPr>
            <p:cNvPr id="641" name="Image 8" descr="TEMP_Z_ORDER_15"/>
            <p:cNvPicPr>
              <a:picLocks noChangeAspect="1"/>
            </p:cNvPicPr>
            <p:nvPr/>
          </p:nvPicPr>
          <p:blipFill>
            <a:blip r:embed="rId10"/>
            <a:stretch>
              <a:fillRect/>
            </a:stretch>
          </p:blipFill>
          <p:spPr>
            <a:xfrm>
              <a:off x="-619760" y="-619760"/>
              <a:ext cx="60960" cy="1798320"/>
            </a:xfrm>
            <a:prstGeom prst="rect">
              <a:avLst/>
            </a:prstGeom>
          </p:spPr>
        </p:pic>
      </p:grpSp>
      <p:grpSp>
        <p:nvGrpSpPr>
          <p:cNvPr id="642" name="组合 30"/>
          <p:cNvGrpSpPr/>
          <p:nvPr/>
        </p:nvGrpSpPr>
        <p:grpSpPr>
          <a:xfrm>
            <a:off x="6217920" y="4495800"/>
            <a:ext cx="5364480" cy="1828800"/>
            <a:chOff x="-635000" y="-635000"/>
            <a:chExt cx="5364480" cy="1828800"/>
          </a:xfrm>
        </p:grpSpPr>
        <p:pic>
          <p:nvPicPr>
            <p:cNvPr id="643" name="Image 9" descr="TEMP_Z_ORDER_16"/>
            <p:cNvPicPr>
              <a:picLocks noChangeAspect="1"/>
            </p:cNvPicPr>
            <p:nvPr/>
          </p:nvPicPr>
          <p:blipFill>
            <a:blip r:embed="rId7"/>
            <a:stretch>
              <a:fillRect/>
            </a:stretch>
          </p:blipFill>
          <p:spPr>
            <a:xfrm>
              <a:off x="-635000" y="-635000"/>
              <a:ext cx="5364480" cy="1828800"/>
            </a:xfrm>
            <a:prstGeom prst="rect">
              <a:avLst/>
            </a:prstGeom>
          </p:spPr>
        </p:pic>
        <p:pic>
          <p:nvPicPr>
            <p:cNvPr id="644" name="Image 10" descr="TEMP_Z_ORDER_17"/>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5920" y="-254000"/>
              <a:ext cx="121920" cy="121920"/>
            </a:xfrm>
            <a:prstGeom prst="rect">
              <a:avLst/>
            </a:prstGeom>
          </p:spPr>
        </p:pic>
        <p:sp>
          <p:nvSpPr>
            <p:cNvPr id="645" name="Text 6" descr="TEMP_Z_ORDER_18"/>
            <p:cNvSpPr/>
            <p:nvPr/>
          </p:nvSpPr>
          <p:spPr>
            <a:xfrm>
              <a:off x="-132080" y="-377507"/>
              <a:ext cx="490220" cy="368935"/>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9E6405"/>
                  </a:solidFill>
                  <a:latin typeface="思源黑体 CN Bold" pitchFamily="34" charset="0"/>
                  <a:ea typeface="思源黑体 CN Bold" pitchFamily="34" charset="-122"/>
                  <a:cs typeface="思源黑体 CN Bold" pitchFamily="34" charset="-120"/>
                </a:rPr>
                <a:t>要点</a:t>
              </a:r>
              <a:endParaRPr lang="en-US" sz="1920"/>
            </a:p>
          </p:txBody>
        </p:sp>
        <p:sp>
          <p:nvSpPr>
            <p:cNvPr id="646" name="Text 7" descr="TEMP_Z_ORDER_19"/>
            <p:cNvSpPr/>
            <p:nvPr/>
          </p:nvSpPr>
          <p:spPr>
            <a:xfrm>
              <a:off x="-375919" y="127000"/>
              <a:ext cx="4855464" cy="773824"/>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重点关注</a:t>
              </a:r>
              <a:r>
                <a:rPr lang="en-US" sz="1920" b="1">
                  <a:solidFill>
                    <a:srgbClr val="97680D"/>
                  </a:solidFill>
                  <a:highlight>
                    <a:srgbClr val="EA9508">
                      <a:alpha val="20000"/>
                    </a:srgbClr>
                  </a:highlight>
                  <a:latin typeface="思源黑体 CN Bold" pitchFamily="34" charset="0"/>
                  <a:ea typeface="思源黑体 CN Bold" pitchFamily="34" charset="-122"/>
                  <a:cs typeface="思源黑体 CN Bold" pitchFamily="34" charset="-120"/>
                </a:rPr>
                <a:t>b)虚拟网络隔离</a:t>
              </a:r>
              <a:r>
                <a:rPr lang="en-US" sz="1680">
                  <a:solidFill>
                    <a:srgbClr val="000000"/>
                  </a:solidFill>
                  <a:latin typeface="思源黑体 CN Regular" pitchFamily="34" charset="0"/>
                  <a:ea typeface="思源黑体 CN Regular" pitchFamily="34" charset="-122"/>
                  <a:cs typeface="思源黑体 CN Regular" pitchFamily="34" charset="-120"/>
                </a:rPr>
                <a:t>和</a:t>
              </a:r>
              <a:r>
                <a:rPr lang="en-US" sz="1920" b="1">
                  <a:solidFill>
                    <a:srgbClr val="97680D"/>
                  </a:solidFill>
                  <a:highlight>
                    <a:srgbClr val="EA9508">
                      <a:alpha val="20000"/>
                    </a:srgbClr>
                  </a:highlight>
                  <a:latin typeface="思源黑体 CN Bold" pitchFamily="34" charset="0"/>
                  <a:ea typeface="思源黑体 CN Bold" pitchFamily="34" charset="-122"/>
                  <a:cs typeface="思源黑体 CN Bold" pitchFamily="34" charset="-120"/>
                </a:rPr>
                <a:t>d)自主设置安全策略</a:t>
              </a:r>
              <a:r>
                <a:rPr lang="en-US" sz="1680">
                  <a:solidFill>
                    <a:srgbClr val="000000"/>
                  </a:solidFill>
                  <a:latin typeface="思源黑体 CN Regular" pitchFamily="34" charset="0"/>
                  <a:ea typeface="思源黑体 CN Regular" pitchFamily="34" charset="-122"/>
                  <a:cs typeface="思源黑体 CN Regular" pitchFamily="34" charset="-120"/>
                </a:rPr>
                <a:t>。</a:t>
              </a:r>
              <a:endParaRPr lang="en-US" sz="1680"/>
            </a:p>
          </p:txBody>
        </p:sp>
        <p:pic>
          <p:nvPicPr>
            <p:cNvPr id="647" name="Image 11" descr="TEMP_Z_ORDER_20"/>
            <p:cNvPicPr>
              <a:picLocks noChangeAspect="1"/>
            </p:cNvPicPr>
            <p:nvPr/>
          </p:nvPicPr>
          <p:blipFill>
            <a:blip r:embed="rId13"/>
            <a:stretch>
              <a:fillRect/>
            </a:stretch>
          </p:blipFill>
          <p:spPr>
            <a:xfrm>
              <a:off x="-619760" y="-619760"/>
              <a:ext cx="60960" cy="1798320"/>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627"/>
                                        </p:tgtEl>
                                        <p:attrNameLst>
                                          <p:attrName>style.visibility</p:attrName>
                                        </p:attrNameLst>
                                      </p:cBhvr>
                                      <p:to>
                                        <p:strVal val="visible"/>
                                      </p:to>
                                    </p:set>
                                    <p:animEffect transition="in" filter="fade">
                                      <p:cBhvr>
                                        <p:cTn id="7" dur="750"/>
                                        <p:tgtEl>
                                          <p:spTgt spid="627"/>
                                        </p:tgtEl>
                                      </p:cBhvr>
                                    </p:animEffect>
                                  </p:childTnLst>
                                </p:cTn>
                              </p:par>
                            </p:childTnLst>
                          </p:cTn>
                        </p:par>
                        <p:par>
                          <p:cTn id="8" fill="hold">
                            <p:stCondLst>
                              <p:cond delay="1000"/>
                            </p:stCondLst>
                            <p:childTnLst>
                              <p:par>
                                <p:cTn id="9" presetID="2" presetClass="entr" presetSubtype="1" fill="hold" grpId="2" nodeType="afterEffect">
                                  <p:stCondLst>
                                    <p:cond delay="0"/>
                                  </p:stCondLst>
                                  <p:childTnLst>
                                    <p:set>
                                      <p:cBhvr>
                                        <p:cTn id="10" dur="1" fill="hold">
                                          <p:stCondLst>
                                            <p:cond delay="0"/>
                                          </p:stCondLst>
                                        </p:cTn>
                                        <p:tgtEl>
                                          <p:spTgt spid="628"/>
                                        </p:tgtEl>
                                        <p:attrNameLst>
                                          <p:attrName>style.visibility</p:attrName>
                                        </p:attrNameLst>
                                      </p:cBhvr>
                                      <p:to>
                                        <p:strVal val="visible"/>
                                      </p:to>
                                    </p:set>
                                    <p:anim calcmode="lin" valueType="num">
                                      <p:cBhvr additive="base">
                                        <p:cTn id="11" dur="750" fill="hold"/>
                                        <p:tgtEl>
                                          <p:spTgt spid="628"/>
                                        </p:tgtEl>
                                        <p:attrNameLst>
                                          <p:attrName>ppt_x</p:attrName>
                                        </p:attrNameLst>
                                      </p:cBhvr>
                                      <p:tavLst>
                                        <p:tav tm="0">
                                          <p:val>
                                            <p:strVal val="#ppt_x"/>
                                          </p:val>
                                        </p:tav>
                                        <p:tav tm="100000">
                                          <p:val>
                                            <p:strVal val="#ppt_x"/>
                                          </p:val>
                                        </p:tav>
                                      </p:tavLst>
                                    </p:anim>
                                    <p:anim calcmode="lin" valueType="num">
                                      <p:cBhvr additive="base">
                                        <p:cTn id="12" dur="750" fill="hold"/>
                                        <p:tgtEl>
                                          <p:spTgt spid="628"/>
                                        </p:tgtEl>
                                        <p:attrNameLst>
                                          <p:attrName>ppt_y</p:attrName>
                                        </p:attrNameLst>
                                      </p:cBhvr>
                                      <p:tavLst>
                                        <p:tav tm="0">
                                          <p:val>
                                            <p:strVal val="0-#ppt_h/2"/>
                                          </p:val>
                                        </p:tav>
                                        <p:tav tm="100000">
                                          <p:val>
                                            <p:strVal val="#ppt_y"/>
                                          </p:val>
                                        </p:tav>
                                      </p:tavLst>
                                    </p:anim>
                                  </p:childTnLst>
                                </p:cTn>
                              </p:par>
                            </p:childTnLst>
                          </p:cTn>
                        </p:par>
                        <p:par>
                          <p:cTn id="13" fill="hold">
                            <p:stCondLst>
                              <p:cond delay="2000"/>
                            </p:stCondLst>
                            <p:childTnLst>
                              <p:par>
                                <p:cTn id="14" presetID="2" presetClass="entr" presetSubtype="1" fill="hold" grpId="3" nodeType="afterEffect">
                                  <p:stCondLst>
                                    <p:cond delay="0"/>
                                  </p:stCondLst>
                                  <p:childTnLst>
                                    <p:set>
                                      <p:cBhvr>
                                        <p:cTn id="15" dur="1" fill="hold">
                                          <p:stCondLst>
                                            <p:cond delay="0"/>
                                          </p:stCondLst>
                                        </p:cTn>
                                        <p:tgtEl>
                                          <p:spTgt spid="634"/>
                                        </p:tgtEl>
                                        <p:attrNameLst>
                                          <p:attrName>style.visibility</p:attrName>
                                        </p:attrNameLst>
                                      </p:cBhvr>
                                      <p:to>
                                        <p:strVal val="visible"/>
                                      </p:to>
                                    </p:set>
                                    <p:anim calcmode="lin" valueType="num">
                                      <p:cBhvr additive="base">
                                        <p:cTn id="16" dur="750" fill="hold"/>
                                        <p:tgtEl>
                                          <p:spTgt spid="634"/>
                                        </p:tgtEl>
                                        <p:attrNameLst>
                                          <p:attrName>ppt_x</p:attrName>
                                        </p:attrNameLst>
                                      </p:cBhvr>
                                      <p:tavLst>
                                        <p:tav tm="0">
                                          <p:val>
                                            <p:strVal val="#ppt_x"/>
                                          </p:val>
                                        </p:tav>
                                        <p:tav tm="100000">
                                          <p:val>
                                            <p:strVal val="#ppt_x"/>
                                          </p:val>
                                        </p:tav>
                                      </p:tavLst>
                                    </p:anim>
                                    <p:anim calcmode="lin" valueType="num">
                                      <p:cBhvr additive="base">
                                        <p:cTn id="17" dur="750" fill="hold"/>
                                        <p:tgtEl>
                                          <p:spTgt spid="634"/>
                                        </p:tgtEl>
                                        <p:attrNameLst>
                                          <p:attrName>ppt_y</p:attrName>
                                        </p:attrNameLst>
                                      </p:cBhvr>
                                      <p:tavLst>
                                        <p:tav tm="0">
                                          <p:val>
                                            <p:strVal val="0-#ppt_h/2"/>
                                          </p:val>
                                        </p:tav>
                                        <p:tav tm="100000">
                                          <p:val>
                                            <p:strVal val="#ppt_y"/>
                                          </p:val>
                                        </p:tav>
                                      </p:tavLst>
                                    </p:anim>
                                  </p:childTnLst>
                                </p:cTn>
                              </p:par>
                            </p:childTnLst>
                          </p:cTn>
                        </p:par>
                        <p:par>
                          <p:cTn id="18" fill="hold">
                            <p:stCondLst>
                              <p:cond delay="3000"/>
                            </p:stCondLst>
                            <p:childTnLst>
                              <p:par>
                                <p:cTn id="19" presetID="2" presetClass="entr" presetSubtype="1" fill="hold" grpId="4" nodeType="afterEffect">
                                  <p:stCondLst>
                                    <p:cond delay="0"/>
                                  </p:stCondLst>
                                  <p:childTnLst>
                                    <p:set>
                                      <p:cBhvr>
                                        <p:cTn id="20" dur="1" fill="hold">
                                          <p:stCondLst>
                                            <p:cond delay="0"/>
                                          </p:stCondLst>
                                        </p:cTn>
                                        <p:tgtEl>
                                          <p:spTgt spid="642"/>
                                        </p:tgtEl>
                                        <p:attrNameLst>
                                          <p:attrName>style.visibility</p:attrName>
                                        </p:attrNameLst>
                                      </p:cBhvr>
                                      <p:to>
                                        <p:strVal val="visible"/>
                                      </p:to>
                                    </p:set>
                                    <p:anim calcmode="lin" valueType="num">
                                      <p:cBhvr additive="base">
                                        <p:cTn id="21" dur="750" fill="hold"/>
                                        <p:tgtEl>
                                          <p:spTgt spid="642"/>
                                        </p:tgtEl>
                                        <p:attrNameLst>
                                          <p:attrName>ppt_x</p:attrName>
                                        </p:attrNameLst>
                                      </p:cBhvr>
                                      <p:tavLst>
                                        <p:tav tm="0">
                                          <p:val>
                                            <p:strVal val="#ppt_x"/>
                                          </p:val>
                                        </p:tav>
                                        <p:tav tm="100000">
                                          <p:val>
                                            <p:strVal val="#ppt_x"/>
                                          </p:val>
                                        </p:tav>
                                      </p:tavLst>
                                    </p:anim>
                                    <p:anim calcmode="lin" valueType="num">
                                      <p:cBhvr additive="base">
                                        <p:cTn id="22" dur="750" fill="hold"/>
                                        <p:tgtEl>
                                          <p:spTgt spid="64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2" name=""/>
        <p:cNvGrpSpPr/>
        <p:nvPr/>
      </p:nvGrpSpPr>
      <p:grpSpPr>
        <a:xfrm>
          <a:off x="0" y="0"/>
          <a:ext cx="0" cy="0"/>
          <a:chOff x="0" y="0"/>
          <a:chExt cx="0" cy="0"/>
        </a:xfrm>
      </p:grpSpPr>
      <p:pic>
        <p:nvPicPr>
          <p:cNvPr id="1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1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1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16" name="Text 0" descr="TEMP_Z_ORDER_3"/>
          <p:cNvSpPr/>
          <p:nvPr/>
        </p:nvSpPr>
        <p:spPr>
          <a:xfrm>
            <a:off x="822325" y="705485"/>
            <a:ext cx="5722620" cy="351790"/>
          </a:xfrm>
          <a:prstGeom prst="rect">
            <a:avLst/>
          </a:prstGeom>
          <a:noFill/>
        </p:spPr>
        <p:txBody>
          <a:bodyPr wrap="squar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测评指标解读——安全区域边界</a:t>
            </a:r>
            <a:endParaRPr lang="en-US" sz="2760"/>
          </a:p>
        </p:txBody>
      </p:sp>
      <p:grpSp>
        <p:nvGrpSpPr>
          <p:cNvPr id="17" name="组合 70"/>
          <p:cNvGrpSpPr/>
          <p:nvPr/>
        </p:nvGrpSpPr>
        <p:grpSpPr>
          <a:xfrm>
            <a:off x="609600" y="1087929"/>
            <a:ext cx="10972800" cy="1655271"/>
            <a:chOff x="-635000" y="-604520"/>
            <a:chExt cx="10972800" cy="1676400"/>
          </a:xfrm>
        </p:grpSpPr>
        <p:pic>
          <p:nvPicPr>
            <p:cNvPr id="18" name="Image 4" descr="TEMP_Z_ORDER_5"/>
            <p:cNvPicPr>
              <a:picLocks noChangeAspect="1"/>
            </p:cNvPicPr>
            <p:nvPr/>
          </p:nvPicPr>
          <p:blipFill>
            <a:blip r:embed="rId4"/>
            <a:stretch>
              <a:fillRect/>
            </a:stretch>
          </p:blipFill>
          <p:spPr>
            <a:xfrm>
              <a:off x="-635000" y="-604520"/>
              <a:ext cx="10972800" cy="1676400"/>
            </a:xfrm>
            <a:prstGeom prst="rect">
              <a:avLst/>
            </a:prstGeom>
          </p:spPr>
        </p:pic>
        <p:pic>
          <p:nvPicPr>
            <p:cNvPr id="19" name="Image 5" descr="TEMP_Z_ORDER_6"/>
            <p:cNvPicPr>
              <a:picLocks noChangeAspect="1"/>
            </p:cNvPicPr>
            <p:nvPr/>
          </p:nvPicPr>
          <p:blipFill>
            <a:blip r:embed="rId5"/>
            <a:stretch>
              <a:fillRect/>
            </a:stretch>
          </p:blipFill>
          <p:spPr>
            <a:xfrm>
              <a:off x="-619760" y="-604131"/>
              <a:ext cx="10942320" cy="304189"/>
            </a:xfrm>
            <a:prstGeom prst="rect">
              <a:avLst/>
            </a:prstGeom>
          </p:spPr>
        </p:pic>
        <p:pic>
          <p:nvPicPr>
            <p:cNvPr id="20" name="Image 6" descr="TEMP_Z_ORDER_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880" y="-543560"/>
              <a:ext cx="60960" cy="182880"/>
            </a:xfrm>
            <a:prstGeom prst="rect">
              <a:avLst/>
            </a:prstGeom>
          </p:spPr>
        </p:pic>
        <p:sp>
          <p:nvSpPr>
            <p:cNvPr id="21" name="Text 1" descr="TEMP_Z_ORDER_8"/>
            <p:cNvSpPr/>
            <p:nvPr/>
          </p:nvSpPr>
          <p:spPr>
            <a:xfrm>
              <a:off x="-254000" y="-557827"/>
              <a:ext cx="2860421" cy="2167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b="1">
                  <a:solidFill>
                    <a:srgbClr val="000000"/>
                  </a:solidFill>
                  <a:latin typeface="思源黑体 CN Bold" pitchFamily="34" charset="0"/>
                  <a:ea typeface="思源黑体 CN Bold" pitchFamily="34" charset="-122"/>
                  <a:cs typeface="思源黑体 CN Bold" pitchFamily="34" charset="-120"/>
                </a:rPr>
                <a:t>8.2.3.1 / 9.2.3.1 访问控制</a:t>
              </a:r>
              <a:endParaRPr lang="en-US" sz="1680"/>
            </a:p>
          </p:txBody>
        </p:sp>
        <p:pic>
          <p:nvPicPr>
            <p:cNvPr id="22" name="Image 7" descr="TEMP_Z_ORDER_9"/>
            <p:cNvPicPr>
              <a:picLocks noChangeAspect="1"/>
            </p:cNvPicPr>
            <p:nvPr/>
          </p:nvPicPr>
          <p:blipFill>
            <a:blip r:embed="rId8"/>
            <a:stretch>
              <a:fillRect/>
            </a:stretch>
          </p:blipFill>
          <p:spPr>
            <a:xfrm>
              <a:off x="-619760" y="-304749"/>
              <a:ext cx="10942320" cy="15240"/>
            </a:xfrm>
            <a:prstGeom prst="rect">
              <a:avLst/>
            </a:prstGeom>
          </p:spPr>
        </p:pic>
        <p:pic>
          <p:nvPicPr>
            <p:cNvPr id="23" name="Image 8" descr="TEMP_Z_ORDER_10"/>
            <p:cNvPicPr>
              <a:picLocks noChangeAspect="1"/>
            </p:cNvPicPr>
            <p:nvPr/>
          </p:nvPicPr>
          <p:blipFill>
            <a:blip r:embed="rId9"/>
            <a:stretch>
              <a:fillRect/>
            </a:stretch>
          </p:blipFill>
          <p:spPr>
            <a:xfrm>
              <a:off x="-619760" y="-299720"/>
              <a:ext cx="10942320" cy="457200"/>
            </a:xfrm>
            <a:prstGeom prst="rect">
              <a:avLst/>
            </a:prstGeom>
          </p:spPr>
        </p:pic>
        <p:sp>
          <p:nvSpPr>
            <p:cNvPr id="24" name="Text 2" descr="TEMP_Z_ORDER_11"/>
            <p:cNvSpPr/>
            <p:nvPr/>
          </p:nvSpPr>
          <p:spPr>
            <a:xfrm>
              <a:off x="-436880" y="-238760"/>
              <a:ext cx="644557"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要求项</a:t>
              </a:r>
              <a:endParaRPr lang="en-US" sz="1680"/>
            </a:p>
          </p:txBody>
        </p:sp>
        <p:pic>
          <p:nvPicPr>
            <p:cNvPr id="25" name="Image 9" descr="TEMP_Z_ORDER_12"/>
            <p:cNvPicPr>
              <a:picLocks noChangeAspect="1"/>
            </p:cNvPicPr>
            <p:nvPr/>
          </p:nvPicPr>
          <p:blipFill>
            <a:blip r:embed="rId10"/>
            <a:stretch>
              <a:fillRect/>
            </a:stretch>
          </p:blipFill>
          <p:spPr>
            <a:xfrm>
              <a:off x="-619760" y="144831"/>
              <a:ext cx="1094232" cy="15240"/>
            </a:xfrm>
            <a:prstGeom prst="rect">
              <a:avLst/>
            </a:prstGeom>
          </p:spPr>
        </p:pic>
        <p:sp>
          <p:nvSpPr>
            <p:cNvPr id="26" name="Text 3" descr="TEMP_Z_ORDER_13"/>
            <p:cNvSpPr/>
            <p:nvPr/>
          </p:nvSpPr>
          <p:spPr>
            <a:xfrm>
              <a:off x="660400" y="-238760"/>
              <a:ext cx="429704"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内容</a:t>
              </a:r>
              <a:endParaRPr lang="en-US" sz="1680"/>
            </a:p>
          </p:txBody>
        </p:sp>
        <p:pic>
          <p:nvPicPr>
            <p:cNvPr id="27" name="Image 10" descr="TEMP_Z_ORDER_14"/>
            <p:cNvPicPr>
              <a:picLocks noChangeAspect="1"/>
            </p:cNvPicPr>
            <p:nvPr/>
          </p:nvPicPr>
          <p:blipFill>
            <a:blip r:embed="rId11"/>
            <a:stretch>
              <a:fillRect/>
            </a:stretch>
          </p:blipFill>
          <p:spPr>
            <a:xfrm>
              <a:off x="474472" y="144831"/>
              <a:ext cx="8206740" cy="15240"/>
            </a:xfrm>
            <a:prstGeom prst="rect">
              <a:avLst/>
            </a:prstGeom>
          </p:spPr>
        </p:pic>
        <p:sp>
          <p:nvSpPr>
            <p:cNvPr id="28" name="Text 4" descr="TEMP_Z_ORDER_15"/>
            <p:cNvSpPr/>
            <p:nvPr/>
          </p:nvSpPr>
          <p:spPr>
            <a:xfrm>
              <a:off x="9074468" y="-238760"/>
              <a:ext cx="859409"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适用对象</a:t>
              </a:r>
              <a:endParaRPr lang="en-US" sz="1680"/>
            </a:p>
          </p:txBody>
        </p:sp>
        <p:pic>
          <p:nvPicPr>
            <p:cNvPr id="29" name="Image 11" descr="TEMP_Z_ORDER_16"/>
            <p:cNvPicPr>
              <a:picLocks noChangeAspect="1"/>
            </p:cNvPicPr>
            <p:nvPr/>
          </p:nvPicPr>
          <p:blipFill>
            <a:blip r:embed="rId12"/>
            <a:stretch>
              <a:fillRect/>
            </a:stretch>
          </p:blipFill>
          <p:spPr>
            <a:xfrm>
              <a:off x="8681212" y="144831"/>
              <a:ext cx="1641348" cy="15240"/>
            </a:xfrm>
            <a:prstGeom prst="rect">
              <a:avLst/>
            </a:prstGeom>
          </p:spPr>
        </p:pic>
        <p:sp>
          <p:nvSpPr>
            <p:cNvPr id="30" name="Text 5" descr="TEMP_Z_ORDER_17"/>
            <p:cNvSpPr/>
            <p:nvPr/>
          </p:nvSpPr>
          <p:spPr>
            <a:xfrm>
              <a:off x="-436880" y="203200"/>
              <a:ext cx="214852"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a)</a:t>
              </a:r>
              <a:endParaRPr lang="en-US" sz="1680"/>
            </a:p>
          </p:txBody>
        </p:sp>
        <p:sp>
          <p:nvSpPr>
            <p:cNvPr id="31" name="Text 6" descr="TEMP_Z_ORDER_18"/>
            <p:cNvSpPr/>
            <p:nvPr/>
          </p:nvSpPr>
          <p:spPr>
            <a:xfrm>
              <a:off x="660400" y="203200"/>
              <a:ext cx="3867340" cy="2167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在虚拟网络边界部署访问控制，设置规则</a:t>
              </a:r>
              <a:endParaRPr lang="en-US" sz="1680"/>
            </a:p>
          </p:txBody>
        </p:sp>
        <p:sp>
          <p:nvSpPr>
            <p:cNvPr id="32" name="Text 7" descr="TEMP_Z_ORDER_19"/>
            <p:cNvSpPr/>
            <p:nvPr/>
          </p:nvSpPr>
          <p:spPr>
            <a:xfrm>
              <a:off x="8983876" y="203200"/>
              <a:ext cx="1040590"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33" name="Image 12" descr="TEMP_Z_ORDER_20"/>
            <p:cNvPicPr>
              <a:picLocks noChangeAspect="1"/>
            </p:cNvPicPr>
            <p:nvPr/>
          </p:nvPicPr>
          <p:blipFill>
            <a:blip r:embed="rId13"/>
            <a:stretch>
              <a:fillRect/>
            </a:stretch>
          </p:blipFill>
          <p:spPr>
            <a:xfrm>
              <a:off x="-619760" y="602031"/>
              <a:ext cx="10942320" cy="15240"/>
            </a:xfrm>
            <a:prstGeom prst="rect">
              <a:avLst/>
            </a:prstGeom>
          </p:spPr>
        </p:pic>
        <p:sp>
          <p:nvSpPr>
            <p:cNvPr id="34" name="Text 8" descr="TEMP_Z_ORDER_21"/>
            <p:cNvSpPr/>
            <p:nvPr/>
          </p:nvSpPr>
          <p:spPr>
            <a:xfrm>
              <a:off x="-436880" y="660400"/>
              <a:ext cx="219662"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b)</a:t>
              </a:r>
              <a:endParaRPr lang="en-US" sz="1680"/>
            </a:p>
          </p:txBody>
        </p:sp>
        <p:sp>
          <p:nvSpPr>
            <p:cNvPr id="35" name="Text 9" descr="TEMP_Z_ORDER_22"/>
            <p:cNvSpPr/>
            <p:nvPr/>
          </p:nvSpPr>
          <p:spPr>
            <a:xfrm>
              <a:off x="660400" y="660400"/>
              <a:ext cx="3652488" cy="2167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在不同等级网络区域边界部署访问控制</a:t>
              </a:r>
              <a:endParaRPr lang="en-US" sz="1680"/>
            </a:p>
          </p:txBody>
        </p:sp>
        <p:sp>
          <p:nvSpPr>
            <p:cNvPr id="36" name="Text 10" descr="TEMP_Z_ORDER_23"/>
            <p:cNvSpPr/>
            <p:nvPr/>
          </p:nvSpPr>
          <p:spPr>
            <a:xfrm>
              <a:off x="8983876" y="660400"/>
              <a:ext cx="1040590" cy="32669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grpSp>
      <p:grpSp>
        <p:nvGrpSpPr>
          <p:cNvPr id="37" name="组合 93"/>
          <p:cNvGrpSpPr/>
          <p:nvPr/>
        </p:nvGrpSpPr>
        <p:grpSpPr>
          <a:xfrm>
            <a:off x="609600" y="2773680"/>
            <a:ext cx="10972800" cy="2255520"/>
            <a:chOff x="-635000" y="-741680"/>
            <a:chExt cx="10972800" cy="2255520"/>
          </a:xfrm>
        </p:grpSpPr>
        <p:pic>
          <p:nvPicPr>
            <p:cNvPr id="38" name="Image 13" descr="TEMP_Z_ORDER_24"/>
            <p:cNvPicPr>
              <a:picLocks noChangeAspect="1"/>
            </p:cNvPicPr>
            <p:nvPr/>
          </p:nvPicPr>
          <p:blipFill>
            <a:blip r:embed="rId14"/>
            <a:stretch>
              <a:fillRect/>
            </a:stretch>
          </p:blipFill>
          <p:spPr>
            <a:xfrm>
              <a:off x="-635000" y="-574040"/>
              <a:ext cx="10972800" cy="2087880"/>
            </a:xfrm>
            <a:prstGeom prst="rect">
              <a:avLst/>
            </a:prstGeom>
          </p:spPr>
        </p:pic>
        <p:pic>
          <p:nvPicPr>
            <p:cNvPr id="39" name="Image 14" descr="TEMP_Z_ORDER_25"/>
            <p:cNvPicPr>
              <a:picLocks noChangeAspect="1"/>
            </p:cNvPicPr>
            <p:nvPr/>
          </p:nvPicPr>
          <p:blipFill>
            <a:blip r:embed="rId15"/>
            <a:stretch>
              <a:fillRect/>
            </a:stretch>
          </p:blipFill>
          <p:spPr>
            <a:xfrm>
              <a:off x="-619760" y="-741680"/>
              <a:ext cx="10942320" cy="426720"/>
            </a:xfrm>
            <a:prstGeom prst="rect">
              <a:avLst/>
            </a:prstGeom>
          </p:spPr>
        </p:pic>
        <p:pic>
          <p:nvPicPr>
            <p:cNvPr id="40" name="Image 15" descr="TEMP_Z_ORDER_26"/>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880" y="-543560"/>
              <a:ext cx="60960" cy="182880"/>
            </a:xfrm>
            <a:prstGeom prst="rect">
              <a:avLst/>
            </a:prstGeom>
          </p:spPr>
        </p:pic>
        <p:sp>
          <p:nvSpPr>
            <p:cNvPr id="41" name="Text 11" descr="TEMP_Z_ORDER_27"/>
            <p:cNvSpPr/>
            <p:nvPr/>
          </p:nvSpPr>
          <p:spPr>
            <a:xfrm>
              <a:off x="-254000" y="-635000"/>
              <a:ext cx="2860421"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b="1">
                  <a:solidFill>
                    <a:srgbClr val="000000"/>
                  </a:solidFill>
                  <a:latin typeface="思源黑体 CN Bold" pitchFamily="34" charset="0"/>
                  <a:ea typeface="思源黑体 CN Bold" pitchFamily="34" charset="-122"/>
                  <a:cs typeface="思源黑体 CN Bold" pitchFamily="34" charset="-120"/>
                </a:rPr>
                <a:t>8.2.3.2 / 9.2.3.2 入侵防范</a:t>
              </a:r>
              <a:endParaRPr lang="en-US" sz="1680"/>
            </a:p>
          </p:txBody>
        </p:sp>
        <p:pic>
          <p:nvPicPr>
            <p:cNvPr id="42" name="Image 16" descr="TEMP_Z_ORDER_28"/>
            <p:cNvPicPr>
              <a:picLocks noChangeAspect="1"/>
            </p:cNvPicPr>
            <p:nvPr/>
          </p:nvPicPr>
          <p:blipFill>
            <a:blip r:embed="rId8"/>
            <a:stretch>
              <a:fillRect/>
            </a:stretch>
          </p:blipFill>
          <p:spPr>
            <a:xfrm>
              <a:off x="-619760" y="-333096"/>
              <a:ext cx="10942320" cy="15240"/>
            </a:xfrm>
            <a:prstGeom prst="rect">
              <a:avLst/>
            </a:prstGeom>
          </p:spPr>
        </p:pic>
        <p:sp>
          <p:nvSpPr>
            <p:cNvPr id="43" name="Text 12" descr="TEMP_Z_ORDER_29"/>
            <p:cNvSpPr/>
            <p:nvPr/>
          </p:nvSpPr>
          <p:spPr>
            <a:xfrm>
              <a:off x="-436880" y="-269240"/>
              <a:ext cx="21485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a)</a:t>
              </a:r>
              <a:endParaRPr lang="en-US" sz="1680"/>
            </a:p>
          </p:txBody>
        </p:sp>
        <p:sp>
          <p:nvSpPr>
            <p:cNvPr id="44" name="Text 13" descr="TEMP_Z_ORDER_30"/>
            <p:cNvSpPr/>
            <p:nvPr/>
          </p:nvSpPr>
          <p:spPr>
            <a:xfrm>
              <a:off x="3230880" y="-269240"/>
              <a:ext cx="4257040"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检测客户发起网络攻击，记录类型/时间/流量</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45" name="Text 14" descr="TEMP_Z_ORDER_31"/>
            <p:cNvSpPr/>
            <p:nvPr/>
          </p:nvSpPr>
          <p:spPr>
            <a:xfrm>
              <a:off x="8298721" y="-269240"/>
              <a:ext cx="429704"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a:t>
              </a:r>
              <a:endParaRPr lang="en-US" sz="1680"/>
            </a:p>
          </p:txBody>
        </p:sp>
        <p:pic>
          <p:nvPicPr>
            <p:cNvPr id="46" name="Image 17" descr="TEMP_Z_ORDER_32"/>
            <p:cNvPicPr>
              <a:picLocks noChangeAspect="1"/>
            </p:cNvPicPr>
            <p:nvPr/>
          </p:nvPicPr>
          <p:blipFill>
            <a:blip r:embed="rId13"/>
            <a:stretch>
              <a:fillRect/>
            </a:stretch>
          </p:blipFill>
          <p:spPr>
            <a:xfrm>
              <a:off x="-619760" y="116484"/>
              <a:ext cx="10942320" cy="15240"/>
            </a:xfrm>
            <a:prstGeom prst="rect">
              <a:avLst/>
            </a:prstGeom>
          </p:spPr>
        </p:pic>
        <p:sp>
          <p:nvSpPr>
            <p:cNvPr id="47" name="Text 15" descr="TEMP_Z_ORDER_33"/>
            <p:cNvSpPr/>
            <p:nvPr/>
          </p:nvSpPr>
          <p:spPr>
            <a:xfrm>
              <a:off x="-436880" y="172720"/>
              <a:ext cx="21966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b)</a:t>
              </a:r>
              <a:endParaRPr lang="en-US" sz="1680"/>
            </a:p>
          </p:txBody>
        </p:sp>
        <p:sp>
          <p:nvSpPr>
            <p:cNvPr id="48" name="Text 16" descr="TEMP_Z_ORDER_34"/>
            <p:cNvSpPr/>
            <p:nvPr/>
          </p:nvSpPr>
          <p:spPr>
            <a:xfrm>
              <a:off x="3205479" y="172720"/>
              <a:ext cx="3007932" cy="22416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检测对虚拟网络节点的攻击行为</a:t>
              </a:r>
              <a:endParaRPr lang="en-US" sz="1680"/>
            </a:p>
          </p:txBody>
        </p:sp>
        <p:sp>
          <p:nvSpPr>
            <p:cNvPr id="49" name="Text 17" descr="TEMP_Z_ORDER_35"/>
            <p:cNvSpPr/>
            <p:nvPr/>
          </p:nvSpPr>
          <p:spPr>
            <a:xfrm>
              <a:off x="7993277" y="17272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50" name="Image 18" descr="TEMP_Z_ORDER_36"/>
            <p:cNvPicPr>
              <a:picLocks noChangeAspect="1"/>
            </p:cNvPicPr>
            <p:nvPr/>
          </p:nvPicPr>
          <p:blipFill>
            <a:blip r:embed="rId13"/>
            <a:stretch>
              <a:fillRect/>
            </a:stretch>
          </p:blipFill>
          <p:spPr>
            <a:xfrm>
              <a:off x="-619760" y="573684"/>
              <a:ext cx="10942320" cy="15240"/>
            </a:xfrm>
            <a:prstGeom prst="rect">
              <a:avLst/>
            </a:prstGeom>
          </p:spPr>
        </p:pic>
        <p:sp>
          <p:nvSpPr>
            <p:cNvPr id="51" name="Text 18" descr="TEMP_Z_ORDER_37"/>
            <p:cNvSpPr/>
            <p:nvPr/>
          </p:nvSpPr>
          <p:spPr>
            <a:xfrm>
              <a:off x="-436880" y="629920"/>
              <a:ext cx="202025"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c)</a:t>
              </a:r>
              <a:endParaRPr lang="en-US" sz="1680"/>
            </a:p>
          </p:txBody>
        </p:sp>
        <p:sp>
          <p:nvSpPr>
            <p:cNvPr id="52" name="Text 19" descr="TEMP_Z_ORDER_38"/>
            <p:cNvSpPr/>
            <p:nvPr/>
          </p:nvSpPr>
          <p:spPr>
            <a:xfrm>
              <a:off x="3175000" y="523240"/>
              <a:ext cx="433260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检测虚拟机与宿主机、虚拟机间的异常流量</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53" name="Text 20" descr="TEMP_Z_ORDER_39"/>
            <p:cNvSpPr/>
            <p:nvPr/>
          </p:nvSpPr>
          <p:spPr>
            <a:xfrm>
              <a:off x="7993277" y="62992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54" name="Image 19" descr="TEMP_Z_ORDER_40"/>
            <p:cNvPicPr>
              <a:picLocks noChangeAspect="1"/>
            </p:cNvPicPr>
            <p:nvPr/>
          </p:nvPicPr>
          <p:blipFill>
            <a:blip r:embed="rId13"/>
            <a:stretch>
              <a:fillRect/>
            </a:stretch>
          </p:blipFill>
          <p:spPr>
            <a:xfrm>
              <a:off x="-619760" y="1030884"/>
              <a:ext cx="10942320" cy="15240"/>
            </a:xfrm>
            <a:prstGeom prst="rect">
              <a:avLst/>
            </a:prstGeom>
          </p:spPr>
        </p:pic>
        <p:sp>
          <p:nvSpPr>
            <p:cNvPr id="55" name="Text 21" descr="TEMP_Z_ORDER_41"/>
            <p:cNvSpPr/>
            <p:nvPr/>
          </p:nvSpPr>
          <p:spPr>
            <a:xfrm>
              <a:off x="-436880" y="1087120"/>
              <a:ext cx="21966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d)</a:t>
              </a:r>
              <a:endParaRPr lang="en-US" sz="1680"/>
            </a:p>
          </p:txBody>
        </p:sp>
        <p:sp>
          <p:nvSpPr>
            <p:cNvPr id="56" name="Text 22" descr="TEMP_Z_ORDER_42"/>
            <p:cNvSpPr/>
            <p:nvPr/>
          </p:nvSpPr>
          <p:spPr>
            <a:xfrm>
              <a:off x="3205480" y="1087120"/>
              <a:ext cx="396811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检测到攻击行为或异常流量时进行告警</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57" name="Text 23" descr="TEMP_Z_ORDER_43"/>
            <p:cNvSpPr/>
            <p:nvPr/>
          </p:nvSpPr>
          <p:spPr>
            <a:xfrm>
              <a:off x="7993277" y="108712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grpSp>
      <p:grpSp>
        <p:nvGrpSpPr>
          <p:cNvPr id="58" name="组合 57"/>
          <p:cNvGrpSpPr/>
          <p:nvPr/>
        </p:nvGrpSpPr>
        <p:grpSpPr>
          <a:xfrm>
            <a:off x="609600" y="5120640"/>
            <a:ext cx="10972800" cy="1295400"/>
            <a:chOff x="-635000" y="-635000"/>
            <a:chExt cx="10972800" cy="1295400"/>
          </a:xfrm>
        </p:grpSpPr>
        <p:pic>
          <p:nvPicPr>
            <p:cNvPr id="59" name="Image 20" descr="TEMP_Z_ORDER_44"/>
            <p:cNvPicPr>
              <a:picLocks noChangeAspect="1"/>
            </p:cNvPicPr>
            <p:nvPr/>
          </p:nvPicPr>
          <p:blipFill>
            <a:blip r:embed="rId16"/>
            <a:stretch>
              <a:fillRect/>
            </a:stretch>
          </p:blipFill>
          <p:spPr>
            <a:xfrm>
              <a:off x="-635000" y="-619760"/>
              <a:ext cx="10972800" cy="1280160"/>
            </a:xfrm>
            <a:prstGeom prst="rect">
              <a:avLst/>
            </a:prstGeom>
          </p:spPr>
        </p:pic>
        <p:pic>
          <p:nvPicPr>
            <p:cNvPr id="60" name="Image 21" descr="TEMP_Z_ORDER_45"/>
            <p:cNvPicPr>
              <a:picLocks noChangeAspect="1"/>
            </p:cNvPicPr>
            <p:nvPr/>
          </p:nvPicPr>
          <p:blipFill>
            <a:blip r:embed="rId17"/>
            <a:stretch>
              <a:fillRect/>
            </a:stretch>
          </p:blipFill>
          <p:spPr>
            <a:xfrm>
              <a:off x="-619760" y="-604520"/>
              <a:ext cx="10942320" cy="350520"/>
            </a:xfrm>
            <a:prstGeom prst="rect">
              <a:avLst/>
            </a:prstGeom>
          </p:spPr>
        </p:pic>
        <p:pic>
          <p:nvPicPr>
            <p:cNvPr id="61" name="Image 22" descr="TEMP_Z_ORDER_46"/>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880" y="-543560"/>
              <a:ext cx="60960" cy="182880"/>
            </a:xfrm>
            <a:prstGeom prst="rect">
              <a:avLst/>
            </a:prstGeom>
          </p:spPr>
        </p:pic>
        <p:sp>
          <p:nvSpPr>
            <p:cNvPr id="62" name="Text 24" descr="TEMP_Z_ORDER_47"/>
            <p:cNvSpPr/>
            <p:nvPr/>
          </p:nvSpPr>
          <p:spPr>
            <a:xfrm>
              <a:off x="-254000" y="-635000"/>
              <a:ext cx="2860421" cy="22422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680" b="1">
                  <a:solidFill>
                    <a:srgbClr val="000000"/>
                  </a:solidFill>
                  <a:latin typeface="思源黑体 CN Bold" pitchFamily="34" charset="0"/>
                  <a:ea typeface="思源黑体 CN Bold" pitchFamily="34" charset="-122"/>
                  <a:cs typeface="思源黑体 CN Bold" pitchFamily="34" charset="-120"/>
                </a:rPr>
                <a:t>8.2.3.3 / 9.2.3.3 安全审计</a:t>
              </a:r>
              <a:endParaRPr lang="en-US" sz="1680"/>
            </a:p>
          </p:txBody>
        </p:sp>
        <p:pic>
          <p:nvPicPr>
            <p:cNvPr id="63" name="Image 23" descr="TEMP_Z_ORDER_48"/>
            <p:cNvPicPr>
              <a:picLocks noChangeAspect="1"/>
            </p:cNvPicPr>
            <p:nvPr/>
          </p:nvPicPr>
          <p:blipFill>
            <a:blip r:embed="rId8"/>
            <a:stretch>
              <a:fillRect/>
            </a:stretch>
          </p:blipFill>
          <p:spPr>
            <a:xfrm>
              <a:off x="-619760" y="-269240"/>
              <a:ext cx="10942320" cy="15240"/>
            </a:xfrm>
            <a:prstGeom prst="rect">
              <a:avLst/>
            </a:prstGeom>
          </p:spPr>
        </p:pic>
        <p:sp>
          <p:nvSpPr>
            <p:cNvPr id="64" name="Text 25" descr="TEMP_Z_ORDER_49"/>
            <p:cNvSpPr/>
            <p:nvPr/>
          </p:nvSpPr>
          <p:spPr>
            <a:xfrm>
              <a:off x="-436880" y="-208280"/>
              <a:ext cx="21485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a)</a:t>
              </a:r>
              <a:endParaRPr lang="en-US" sz="1680"/>
            </a:p>
          </p:txBody>
        </p:sp>
        <p:sp>
          <p:nvSpPr>
            <p:cNvPr id="65" name="Text 26" descr="TEMP_Z_ORDER_50"/>
            <p:cNvSpPr/>
            <p:nvPr/>
          </p:nvSpPr>
          <p:spPr>
            <a:xfrm>
              <a:off x="3205480" y="-208280"/>
              <a:ext cx="403923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对远程管理特权命令进行审计（如删/启等）</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66" name="Text 27" descr="TEMP_Z_ORDER_51"/>
            <p:cNvSpPr/>
            <p:nvPr/>
          </p:nvSpPr>
          <p:spPr>
            <a:xfrm>
              <a:off x="7993277" y="-208280"/>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pic>
          <p:nvPicPr>
            <p:cNvPr id="67" name="Image 24" descr="TEMP_Z_ORDER_52"/>
            <p:cNvPicPr>
              <a:picLocks noChangeAspect="1"/>
            </p:cNvPicPr>
            <p:nvPr/>
          </p:nvPicPr>
          <p:blipFill>
            <a:blip r:embed="rId13"/>
            <a:stretch>
              <a:fillRect/>
            </a:stretch>
          </p:blipFill>
          <p:spPr>
            <a:xfrm>
              <a:off x="-619760" y="180340"/>
              <a:ext cx="10942320" cy="15240"/>
            </a:xfrm>
            <a:prstGeom prst="rect">
              <a:avLst/>
            </a:prstGeom>
          </p:spPr>
        </p:pic>
        <p:sp>
          <p:nvSpPr>
            <p:cNvPr id="68" name="Text 28" descr="TEMP_Z_ORDER_53"/>
            <p:cNvSpPr/>
            <p:nvPr/>
          </p:nvSpPr>
          <p:spPr>
            <a:xfrm>
              <a:off x="-436880" y="248920"/>
              <a:ext cx="219662"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458BE6"/>
                  </a:solidFill>
                  <a:latin typeface="思源黑体 CN Bold" pitchFamily="34" charset="0"/>
                  <a:ea typeface="思源黑体 CN Bold" pitchFamily="34" charset="-122"/>
                  <a:cs typeface="思源黑体 CN Bold" pitchFamily="34" charset="-120"/>
                </a:rPr>
                <a:t>b)</a:t>
              </a:r>
              <a:endParaRPr lang="en-US" sz="1680"/>
            </a:p>
          </p:txBody>
        </p:sp>
        <p:sp>
          <p:nvSpPr>
            <p:cNvPr id="69" name="Text 29" descr="TEMP_Z_ORDER_54"/>
            <p:cNvSpPr/>
            <p:nvPr/>
          </p:nvSpPr>
          <p:spPr>
            <a:xfrm>
              <a:off x="3205480" y="248920"/>
              <a:ext cx="4039235" cy="30734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云服务商对客户系统和数据的操作可被审计</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sp>
          <p:nvSpPr>
            <p:cNvPr id="70" name="Text 30" descr="TEMP_Z_ORDER_55"/>
            <p:cNvSpPr/>
            <p:nvPr/>
          </p:nvSpPr>
          <p:spPr>
            <a:xfrm>
              <a:off x="7993277" y="248919"/>
              <a:ext cx="104059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平台+客户</a:t>
              </a:r>
              <a:endParaRPr lang="en-US" sz="168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2"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750" fill="hold"/>
                                        <p:tgtEl>
                                          <p:spTgt spid="17"/>
                                        </p:tgtEl>
                                        <p:attrNameLst>
                                          <p:attrName>ppt_w</p:attrName>
                                        </p:attrNameLst>
                                      </p:cBhvr>
                                      <p:tavLst>
                                        <p:tav tm="0">
                                          <p:val>
                                            <p:fltVal val="0"/>
                                          </p:val>
                                        </p:tav>
                                        <p:tav tm="100000">
                                          <p:val>
                                            <p:strVal val="#ppt_w"/>
                                          </p:val>
                                        </p:tav>
                                      </p:tavLst>
                                    </p:anim>
                                    <p:anim calcmode="lin" valueType="num">
                                      <p:cBhvr>
                                        <p:cTn id="8" dur="750" fill="hold"/>
                                        <p:tgtEl>
                                          <p:spTgt spid="17"/>
                                        </p:tgtEl>
                                        <p:attrNameLst>
                                          <p:attrName>ppt_h</p:attrName>
                                        </p:attrNameLst>
                                      </p:cBhvr>
                                      <p:tavLst>
                                        <p:tav tm="0">
                                          <p:val>
                                            <p:strVal val="#ppt_h"/>
                                          </p:val>
                                        </p:tav>
                                        <p:tav tm="100000">
                                          <p:val>
                                            <p:strVal val="#ppt_h"/>
                                          </p:val>
                                        </p:tav>
                                      </p:tavLst>
                                    </p:anim>
                                  </p:childTnLst>
                                </p:cTn>
                              </p:par>
                            </p:childTnLst>
                          </p:cTn>
                        </p:par>
                        <p:par>
                          <p:cTn id="9" fill="hold">
                            <p:stCondLst>
                              <p:cond delay="1000"/>
                            </p:stCondLst>
                            <p:childTnLst>
                              <p:par>
                                <p:cTn id="10" presetID="17" presetClass="entr" presetSubtype="10" fill="hold" grpId="3" nodeType="after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750" fill="hold"/>
                                        <p:tgtEl>
                                          <p:spTgt spid="37"/>
                                        </p:tgtEl>
                                        <p:attrNameLst>
                                          <p:attrName>ppt_w</p:attrName>
                                        </p:attrNameLst>
                                      </p:cBhvr>
                                      <p:tavLst>
                                        <p:tav tm="0">
                                          <p:val>
                                            <p:fltVal val="0"/>
                                          </p:val>
                                        </p:tav>
                                        <p:tav tm="100000">
                                          <p:val>
                                            <p:strVal val="#ppt_w"/>
                                          </p:val>
                                        </p:tav>
                                      </p:tavLst>
                                    </p:anim>
                                    <p:anim calcmode="lin" valueType="num">
                                      <p:cBhvr>
                                        <p:cTn id="13" dur="750" fill="hold"/>
                                        <p:tgtEl>
                                          <p:spTgt spid="37"/>
                                        </p:tgtEl>
                                        <p:attrNameLst>
                                          <p:attrName>ppt_h</p:attrName>
                                        </p:attrNameLst>
                                      </p:cBhvr>
                                      <p:tavLst>
                                        <p:tav tm="0">
                                          <p:val>
                                            <p:strVal val="#ppt_h"/>
                                          </p:val>
                                        </p:tav>
                                        <p:tav tm="100000">
                                          <p:val>
                                            <p:strVal val="#ppt_h"/>
                                          </p:val>
                                        </p:tav>
                                      </p:tavLst>
                                    </p:anim>
                                  </p:childTnLst>
                                </p:cTn>
                              </p:par>
                            </p:childTnLst>
                          </p:cTn>
                        </p:par>
                        <p:par>
                          <p:cTn id="14" fill="hold">
                            <p:stCondLst>
                              <p:cond delay="2000"/>
                            </p:stCondLst>
                            <p:childTnLst>
                              <p:par>
                                <p:cTn id="15" presetID="17" presetClass="entr" presetSubtype="10" fill="hold" grpId="4" nodeType="afterEffect">
                                  <p:stCondLst>
                                    <p:cond delay="0"/>
                                  </p:stCondLst>
                                  <p:childTnLst>
                                    <p:set>
                                      <p:cBhvr>
                                        <p:cTn id="16" dur="1" fill="hold">
                                          <p:stCondLst>
                                            <p:cond delay="0"/>
                                          </p:stCondLst>
                                        </p:cTn>
                                        <p:tgtEl>
                                          <p:spTgt spid="58"/>
                                        </p:tgtEl>
                                        <p:attrNameLst>
                                          <p:attrName>style.visibility</p:attrName>
                                        </p:attrNameLst>
                                      </p:cBhvr>
                                      <p:to>
                                        <p:strVal val="visible"/>
                                      </p:to>
                                    </p:set>
                                    <p:anim calcmode="lin" valueType="num">
                                      <p:cBhvr>
                                        <p:cTn id="17" dur="750" fill="hold"/>
                                        <p:tgtEl>
                                          <p:spTgt spid="58"/>
                                        </p:tgtEl>
                                        <p:attrNameLst>
                                          <p:attrName>ppt_w</p:attrName>
                                        </p:attrNameLst>
                                      </p:cBhvr>
                                      <p:tavLst>
                                        <p:tav tm="0">
                                          <p:val>
                                            <p:fltVal val="0"/>
                                          </p:val>
                                        </p:tav>
                                        <p:tav tm="100000">
                                          <p:val>
                                            <p:strVal val="#ppt_w"/>
                                          </p:val>
                                        </p:tav>
                                      </p:tavLst>
                                    </p:anim>
                                    <p:anim calcmode="lin" valueType="num">
                                      <p:cBhvr>
                                        <p:cTn id="18" dur="750" fill="hold"/>
                                        <p:tgtEl>
                                          <p:spTgt spid="5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1" name=""/>
        <p:cNvGrpSpPr/>
        <p:nvPr/>
      </p:nvGrpSpPr>
      <p:grpSpPr>
        <a:xfrm>
          <a:off x="0" y="0"/>
          <a:ext cx="0" cy="0"/>
          <a:chOff x="0" y="0"/>
          <a:chExt cx="0" cy="0"/>
        </a:xfrm>
      </p:grpSpPr>
      <p:pic>
        <p:nvPicPr>
          <p:cNvPr id="7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7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7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75"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测评指标解读——安全计算环境</a:t>
            </a:r>
            <a:endParaRPr lang="en-US" sz="2760"/>
          </a:p>
        </p:txBody>
      </p:sp>
      <p:grpSp>
        <p:nvGrpSpPr>
          <p:cNvPr id="76" name="组合 42"/>
          <p:cNvGrpSpPr/>
          <p:nvPr/>
        </p:nvGrpSpPr>
        <p:grpSpPr>
          <a:xfrm>
            <a:off x="685800" y="1219200"/>
            <a:ext cx="3329940" cy="254635"/>
            <a:chOff x="-635000" y="-635000"/>
            <a:chExt cx="3329940" cy="254635"/>
          </a:xfrm>
        </p:grpSpPr>
        <p:sp>
          <p:nvSpPr>
            <p:cNvPr id="77" name="Text 1" descr="TEMP_Z_ORDER_4"/>
            <p:cNvSpPr/>
            <p:nvPr/>
          </p:nvSpPr>
          <p:spPr>
            <a:xfrm>
              <a:off x="-635000" y="-635000"/>
              <a:ext cx="332994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458BE6"/>
                  </a:solidFill>
                  <a:latin typeface="思源黑体 CN Bold" pitchFamily="34" charset="0"/>
                  <a:ea typeface="思源黑体 CN Bold" pitchFamily="34" charset="-122"/>
                  <a:cs typeface="思源黑体 CN Bold" pitchFamily="34" charset="-120"/>
                </a:rPr>
                <a:t>8.2.4.1 / 9.2.4.1 身份鉴别</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grpSp>
      <p:pic>
        <p:nvPicPr>
          <p:cNvPr id="78" name="Image 3" descr="https://test.web.static.jianzeppt.com/ppt-temp-img3/71d92427b23c9e988f8d3a581e9dbe02.png?x-oss-process=image/resize,w_1440,h_800,m_lfit/format,png"/>
          <p:cNvPicPr>
            <a:picLocks noChangeAspect="1"/>
          </p:cNvPicPr>
          <p:nvPr/>
        </p:nvPicPr>
        <p:blipFill>
          <a:blip r:embed="rId4"/>
          <a:stretch>
            <a:fillRect/>
          </a:stretch>
        </p:blipFill>
        <p:spPr>
          <a:xfrm>
            <a:off x="609600" y="2621280"/>
            <a:ext cx="10972800" cy="15240"/>
          </a:xfrm>
          <a:prstGeom prst="rect">
            <a:avLst/>
          </a:prstGeom>
        </p:spPr>
      </p:pic>
      <p:grpSp>
        <p:nvGrpSpPr>
          <p:cNvPr id="79" name="组合 34"/>
          <p:cNvGrpSpPr/>
          <p:nvPr/>
        </p:nvGrpSpPr>
        <p:grpSpPr>
          <a:xfrm>
            <a:off x="685800" y="2880360"/>
            <a:ext cx="3329940" cy="254635"/>
            <a:chOff x="-635000" y="-635000"/>
            <a:chExt cx="3329940" cy="254635"/>
          </a:xfrm>
        </p:grpSpPr>
        <p:sp>
          <p:nvSpPr>
            <p:cNvPr id="80" name="Text 2" descr="TEMP_Z_ORDER_6"/>
            <p:cNvSpPr/>
            <p:nvPr/>
          </p:nvSpPr>
          <p:spPr>
            <a:xfrm>
              <a:off x="-635000" y="-635000"/>
              <a:ext cx="332994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458BE6"/>
                  </a:solidFill>
                  <a:latin typeface="思源黑体 CN Bold" pitchFamily="34" charset="0"/>
                  <a:ea typeface="思源黑体 CN Bold" pitchFamily="34" charset="-122"/>
                  <a:cs typeface="思源黑体 CN Bold" pitchFamily="34" charset="-120"/>
                </a:rPr>
                <a:t>8.2.4.2 / 9.2.4.2 访问控制</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grpSp>
      <p:pic>
        <p:nvPicPr>
          <p:cNvPr id="81" name="Image 4" descr="https://test.web.static.jianzeppt.com/ppt-temp-img3/71d92427b23c9e988f8d3a581e9dbe02.png?x-oss-process=image/resize,w_1440,h_800,m_lfit/format,png"/>
          <p:cNvPicPr>
            <a:picLocks noChangeAspect="1"/>
          </p:cNvPicPr>
          <p:nvPr/>
        </p:nvPicPr>
        <p:blipFill>
          <a:blip r:embed="rId4"/>
          <a:stretch>
            <a:fillRect/>
          </a:stretch>
        </p:blipFill>
        <p:spPr>
          <a:xfrm>
            <a:off x="609600" y="4526280"/>
            <a:ext cx="10972800" cy="15240"/>
          </a:xfrm>
          <a:prstGeom prst="rect">
            <a:avLst/>
          </a:prstGeom>
        </p:spPr>
      </p:pic>
      <p:grpSp>
        <p:nvGrpSpPr>
          <p:cNvPr id="82" name="组合 38"/>
          <p:cNvGrpSpPr/>
          <p:nvPr/>
        </p:nvGrpSpPr>
        <p:grpSpPr>
          <a:xfrm>
            <a:off x="762000" y="4632960"/>
            <a:ext cx="3329940" cy="254635"/>
            <a:chOff x="-635000" y="-635000"/>
            <a:chExt cx="3329940" cy="254635"/>
          </a:xfrm>
        </p:grpSpPr>
        <p:sp>
          <p:nvSpPr>
            <p:cNvPr id="83" name="Text 3" descr="TEMP_Z_ORDER_8"/>
            <p:cNvSpPr/>
            <p:nvPr/>
          </p:nvSpPr>
          <p:spPr>
            <a:xfrm>
              <a:off x="-635000" y="-635000"/>
              <a:ext cx="332994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458BE6"/>
                  </a:solidFill>
                  <a:latin typeface="思源黑体 CN Bold" pitchFamily="34" charset="0"/>
                  <a:ea typeface="思源黑体 CN Bold" pitchFamily="34" charset="-122"/>
                  <a:cs typeface="思源黑体 CN Bold" pitchFamily="34" charset="-120"/>
                </a:rPr>
                <a:t>8.2.4.3 / 9.2.4.3 入侵防范</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grpSp>
      <p:grpSp>
        <p:nvGrpSpPr>
          <p:cNvPr id="84" name="组合 44"/>
          <p:cNvGrpSpPr/>
          <p:nvPr/>
        </p:nvGrpSpPr>
        <p:grpSpPr>
          <a:xfrm>
            <a:off x="609600" y="1569720"/>
            <a:ext cx="10972800" cy="822960"/>
            <a:chOff x="-635000" y="-635000"/>
            <a:chExt cx="10972800" cy="822960"/>
          </a:xfrm>
        </p:grpSpPr>
        <p:pic>
          <p:nvPicPr>
            <p:cNvPr id="85" name="Image 5" descr="TEMP_Z_ORDER_9"/>
            <p:cNvPicPr>
              <a:picLocks noChangeAspect="1"/>
            </p:cNvPicPr>
            <p:nvPr/>
          </p:nvPicPr>
          <p:blipFill>
            <a:blip r:embed="rId5"/>
            <a:stretch>
              <a:fillRect/>
            </a:stretch>
          </p:blipFill>
          <p:spPr>
            <a:xfrm>
              <a:off x="-635000" y="-635000"/>
              <a:ext cx="10972800" cy="822960"/>
            </a:xfrm>
            <a:prstGeom prst="rect">
              <a:avLst/>
            </a:prstGeom>
          </p:spPr>
        </p:pic>
      </p:grpSp>
      <p:graphicFrame>
        <p:nvGraphicFramePr>
          <p:cNvPr id="86" name="Table 0"/>
          <p:cNvGraphicFramePr>
            <a:graphicFrameLocks noGrp="1"/>
          </p:cNvGraphicFramePr>
          <p:nvPr/>
        </p:nvGraphicFramePr>
        <p:xfrm>
          <a:off x="624840" y="1584960"/>
          <a:ext cx="10942320" cy="804672"/>
        </p:xfrm>
        <a:graphic>
          <a:graphicData uri="http://schemas.openxmlformats.org/drawingml/2006/table">
            <a:tbl>
              <a:tblPr/>
              <a:tblGrid>
                <a:gridCol w="2685981"/>
                <a:gridCol w="8256339"/>
              </a:tblGrid>
              <a:tr h="396240">
                <a:tc>
                  <a:txBody>
                    <a:bodyPr wrap="square"/>
                    <a:lstStyle/>
                    <a:p>
                      <a:pPr marL="0" indent="0" algn="ctr">
                        <a:buNone/>
                      </a:pPr>
                      <a:r>
                        <a:rPr lang="en-US" sz="1600" b="1">
                          <a:solidFill>
                            <a:srgbClr val="000000"/>
                          </a:solidFill>
                        </a:rPr>
                        <a:t>要求项</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内容</a:t>
                      </a:r>
                      <a:endParaRPr lang="en-US" sz="16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wrap="square"/>
                    <a:lstStyle/>
                    <a:p>
                      <a:pPr marL="0" indent="0" algn="ctr">
                        <a:buNone/>
                      </a:pPr>
                      <a:r>
                        <a:rPr lang="en-US" sz="1600">
                          <a:solidFill>
                            <a:srgbClr val="000000"/>
                          </a:solidFill>
                        </a:rPr>
                        <a:t>（第四级/第三级增强）</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远程管理云计算平台中设备时，管理终端和平台之间应建立双向身份验证机制</a:t>
                      </a:r>
                      <a:endParaRPr lang="en-US" sz="1600">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87" name="组合 36"/>
          <p:cNvGrpSpPr/>
          <p:nvPr/>
        </p:nvGrpSpPr>
        <p:grpSpPr>
          <a:xfrm>
            <a:off x="609600" y="3459480"/>
            <a:ext cx="10972800" cy="822960"/>
            <a:chOff x="-635000" y="-635000"/>
            <a:chExt cx="10972800" cy="822960"/>
          </a:xfrm>
        </p:grpSpPr>
        <p:pic>
          <p:nvPicPr>
            <p:cNvPr id="88" name="Image 6" descr="TEMP_Z_ORDER_11"/>
            <p:cNvPicPr>
              <a:picLocks noChangeAspect="1"/>
            </p:cNvPicPr>
            <p:nvPr/>
          </p:nvPicPr>
          <p:blipFill>
            <a:blip r:embed="rId5"/>
            <a:stretch>
              <a:fillRect/>
            </a:stretch>
          </p:blipFill>
          <p:spPr>
            <a:xfrm>
              <a:off x="-635000" y="-635000"/>
              <a:ext cx="10972800" cy="822960"/>
            </a:xfrm>
            <a:prstGeom prst="rect">
              <a:avLst/>
            </a:prstGeom>
          </p:spPr>
        </p:pic>
      </p:grpSp>
      <p:graphicFrame>
        <p:nvGraphicFramePr>
          <p:cNvPr id="89" name="Table 1"/>
          <p:cNvGraphicFramePr>
            <a:graphicFrameLocks noGrp="1"/>
          </p:cNvGraphicFramePr>
          <p:nvPr/>
        </p:nvGraphicFramePr>
        <p:xfrm>
          <a:off x="2427605" y="3228975"/>
          <a:ext cx="7334250" cy="1022985"/>
        </p:xfrm>
        <a:graphic>
          <a:graphicData uri="http://schemas.openxmlformats.org/drawingml/2006/table">
            <a:tbl>
              <a:tblPr/>
              <a:tblGrid>
                <a:gridCol w="869315"/>
                <a:gridCol w="5370830"/>
                <a:gridCol w="1094105"/>
              </a:tblGrid>
              <a:tr h="340995">
                <a:tc>
                  <a:txBody>
                    <a:bodyPr wrap="square"/>
                    <a:lstStyle/>
                    <a:p>
                      <a:pPr marL="0" indent="0" algn="ctr">
                        <a:buNone/>
                      </a:pPr>
                      <a:r>
                        <a:rPr lang="en-US" sz="1600" b="1">
                          <a:solidFill>
                            <a:srgbClr val="000000"/>
                          </a:solidFill>
                        </a:rPr>
                        <a:t>要求项</a:t>
                      </a:r>
                      <a:endParaRPr lang="en-US" sz="1600" b="1">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内容</a:t>
                      </a:r>
                      <a:endParaRPr lang="en-US" sz="1600" b="1">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b="1">
                          <a:solidFill>
                            <a:srgbClr val="000000"/>
                          </a:solidFill>
                        </a:rPr>
                        <a:t>适用对象</a:t>
                      </a:r>
                      <a:endParaRPr lang="en-US" sz="1600" b="1">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995">
                <a:tc>
                  <a:txBody>
                    <a:bodyPr wrap="square"/>
                    <a:lstStyle/>
                    <a:p>
                      <a:pPr marL="0" indent="0" algn="ctr">
                        <a:buNone/>
                      </a:pPr>
                      <a:r>
                        <a:rPr lang="en-US" sz="1600">
                          <a:solidFill>
                            <a:srgbClr val="000000"/>
                          </a:solidFill>
                        </a:rPr>
                        <a:t>a)</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虚拟机迁移时，访问控制策略随其迁移</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0995">
                <a:tc>
                  <a:txBody>
                    <a:bodyPr wrap="square"/>
                    <a:lstStyle/>
                    <a:p>
                      <a:pPr marL="0" indent="0" algn="ctr">
                        <a:buNone/>
                      </a:pPr>
                      <a:r>
                        <a:rPr lang="en-US" sz="1600">
                          <a:solidFill>
                            <a:srgbClr val="000000"/>
                          </a:solidFill>
                        </a:rPr>
                        <a:t>b)</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允许云服务客户设置不同虚拟机之间的访问控制策略</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客户</a:t>
                      </a:r>
                      <a:endParaRPr lang="en-US" sz="1600">
                        <a:solidFill>
                          <a:srgbClr val="000000"/>
                        </a:solidFill>
                      </a:endParaRPr>
                    </a:p>
                  </a:txBody>
                  <a:tcPr marL="61274" marR="61274" marT="61274" marB="61274"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90" name="组合 40"/>
          <p:cNvGrpSpPr/>
          <p:nvPr/>
        </p:nvGrpSpPr>
        <p:grpSpPr>
          <a:xfrm>
            <a:off x="609600" y="5364480"/>
            <a:ext cx="10972800" cy="822960"/>
            <a:chOff x="-635000" y="-635000"/>
            <a:chExt cx="10972800" cy="822960"/>
          </a:xfrm>
        </p:grpSpPr>
        <p:pic>
          <p:nvPicPr>
            <p:cNvPr id="91" name="Image 7" descr="TEMP_Z_ORDER_13"/>
            <p:cNvPicPr>
              <a:picLocks noChangeAspect="1"/>
            </p:cNvPicPr>
            <p:nvPr/>
          </p:nvPicPr>
          <p:blipFill>
            <a:blip r:embed="rId5"/>
            <a:stretch>
              <a:fillRect/>
            </a:stretch>
          </p:blipFill>
          <p:spPr>
            <a:xfrm>
              <a:off x="-635000" y="-635000"/>
              <a:ext cx="10972800" cy="822960"/>
            </a:xfrm>
            <a:prstGeom prst="rect">
              <a:avLst/>
            </a:prstGeom>
          </p:spPr>
        </p:pic>
      </p:grpSp>
      <p:graphicFrame>
        <p:nvGraphicFramePr>
          <p:cNvPr id="92" name="Table 2"/>
          <p:cNvGraphicFramePr>
            <a:graphicFrameLocks noGrp="1"/>
          </p:cNvGraphicFramePr>
          <p:nvPr/>
        </p:nvGraphicFramePr>
        <p:xfrm>
          <a:off x="2366010" y="5029200"/>
          <a:ext cx="7266305" cy="1346200"/>
        </p:xfrm>
        <a:graphic>
          <a:graphicData uri="http://schemas.openxmlformats.org/drawingml/2006/table">
            <a:tbl>
              <a:tblPr/>
              <a:tblGrid>
                <a:gridCol w="991235"/>
                <a:gridCol w="4848225"/>
                <a:gridCol w="1426845"/>
              </a:tblGrid>
              <a:tr h="0">
                <a:tc>
                  <a:txBody>
                    <a:bodyPr wrap="square"/>
                    <a:lstStyle/>
                    <a:p>
                      <a:pPr marL="0" indent="0" algn="ctr">
                        <a:buNone/>
                      </a:pPr>
                      <a:r>
                        <a:rPr lang="en-US" sz="1600">
                          <a:solidFill>
                            <a:srgbClr val="000000"/>
                          </a:solidFill>
                        </a:rPr>
                        <a:t>要求项</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内容</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适用对象</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wrap="square"/>
                    <a:lstStyle/>
                    <a:p>
                      <a:pPr marL="0" indent="0" algn="ctr">
                        <a:buNone/>
                      </a:pPr>
                      <a:r>
                        <a:rPr lang="en-US" sz="1600">
                          <a:solidFill>
                            <a:srgbClr val="000000"/>
                          </a:solidFill>
                        </a:rPr>
                        <a:t>a)</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检测虚拟机之间的资源隔离失效，并告警</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wrap="square"/>
                    <a:lstStyle/>
                    <a:p>
                      <a:pPr marL="0" indent="0" algn="ctr">
                        <a:buNone/>
                      </a:pPr>
                      <a:r>
                        <a:rPr lang="en-US" sz="1600">
                          <a:solidFill>
                            <a:srgbClr val="000000"/>
                          </a:solidFill>
                        </a:rPr>
                        <a:t>b)</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检测非授权新建虚拟机或重新启用虚拟机</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wrap="square"/>
                    <a:lstStyle/>
                    <a:p>
                      <a:pPr marL="0" indent="0" algn="ctr">
                        <a:buNone/>
                      </a:pPr>
                      <a:r>
                        <a:rPr lang="en-US" sz="1600">
                          <a:solidFill>
                            <a:srgbClr val="000000"/>
                          </a:solidFill>
                        </a:rPr>
                        <a:t>c)</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检测恶意代码感染及在虚拟机间蔓延</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00">
                          <a:solidFill>
                            <a:srgbClr val="000000"/>
                          </a:solidFill>
                        </a:rPr>
                        <a:t>平台+客户</a:t>
                      </a:r>
                      <a:endParaRPr lang="en-US" sz="1600">
                        <a:solidFill>
                          <a:srgbClr val="000000"/>
                        </a:solidFill>
                      </a:endParaRPr>
                    </a:p>
                  </a:txBody>
                  <a:tcPr marL="46075" marR="46075" marT="46075" marB="46075"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3"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up)">
                                      <p:cBhvr>
                                        <p:cTn id="7" dur="750"/>
                                        <p:tgtEl>
                                          <p:spTgt spid="84"/>
                                        </p:tgtEl>
                                      </p:cBhvr>
                                    </p:animEffect>
                                  </p:childTnLst>
                                </p:cTn>
                              </p:par>
                              <p:par>
                                <p:cTn id="8" presetID="22" presetClass="entr" presetSubtype="1" fill="hold" grpId="6"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wipe(up)">
                                      <p:cBhvr>
                                        <p:cTn id="10" dur="750"/>
                                        <p:tgtEl>
                                          <p:spTgt spid="87"/>
                                        </p:tgtEl>
                                      </p:cBhvr>
                                    </p:animEffect>
                                  </p:childTnLst>
                                </p:cTn>
                              </p:par>
                              <p:par>
                                <p:cTn id="11" presetID="22" presetClass="entr" presetSubtype="1" fill="hold" grpId="9" nodeType="with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wipe(up)">
                                      <p:cBhvr>
                                        <p:cTn id="13" dur="750"/>
                                        <p:tgtEl>
                                          <p:spTgt spid="90"/>
                                        </p:tgtEl>
                                      </p:cBhvr>
                                    </p:animEffect>
                                  </p:childTnLst>
                                </p:cTn>
                              </p:par>
                            </p:childTnLst>
                          </p:cTn>
                        </p:par>
                        <p:par>
                          <p:cTn id="14" fill="hold">
                            <p:stCondLst>
                              <p:cond delay="1000"/>
                            </p:stCondLst>
                            <p:childTnLst>
                              <p:par>
                                <p:cTn id="15" presetID="10" presetClass="entr" presetSubtype="0" fill="hold" grpId="1" nodeType="after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fade">
                                      <p:cBhvr>
                                        <p:cTn id="17" dur="750"/>
                                        <p:tgtEl>
                                          <p:spTgt spid="75"/>
                                        </p:tgtEl>
                                      </p:cBhvr>
                                    </p:animEffect>
                                  </p:childTnLst>
                                </p:cTn>
                              </p:par>
                            </p:childTnLst>
                          </p:cTn>
                        </p:par>
                        <p:par>
                          <p:cTn id="18" fill="hold">
                            <p:stCondLst>
                              <p:cond delay="2000"/>
                            </p:stCondLst>
                            <p:childTnLst>
                              <p:par>
                                <p:cTn id="19" presetID="22" presetClass="entr" presetSubtype="1" fill="hold" grpId="2" nodeType="afterEffect">
                                  <p:stCondLst>
                                    <p:cond delay="0"/>
                                  </p:stCondLst>
                                  <p:childTnLst>
                                    <p:set>
                                      <p:cBhvr>
                                        <p:cTn id="20" dur="1" fill="hold">
                                          <p:stCondLst>
                                            <p:cond delay="0"/>
                                          </p:stCondLst>
                                        </p:cTn>
                                        <p:tgtEl>
                                          <p:spTgt spid="76"/>
                                        </p:tgtEl>
                                        <p:attrNameLst>
                                          <p:attrName>style.visibility</p:attrName>
                                        </p:attrNameLst>
                                      </p:cBhvr>
                                      <p:to>
                                        <p:strVal val="visible"/>
                                      </p:to>
                                    </p:set>
                                    <p:animEffect transition="in" filter="wipe(up)">
                                      <p:cBhvr>
                                        <p:cTn id="21" dur="750"/>
                                        <p:tgtEl>
                                          <p:spTgt spid="76"/>
                                        </p:tgtEl>
                                      </p:cBhvr>
                                    </p:animEffect>
                                  </p:childTnLst>
                                </p:cTn>
                              </p:par>
                            </p:childTnLst>
                          </p:cTn>
                        </p:par>
                        <p:par>
                          <p:cTn id="22" fill="hold">
                            <p:stCondLst>
                              <p:cond delay="3000"/>
                            </p:stCondLst>
                            <p:childTnLst>
                              <p:par>
                                <p:cTn id="23" presetID="22" presetClass="entr" presetSubtype="1" fill="hold" grpId="4" nodeType="after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wipe(up)">
                                      <p:cBhvr>
                                        <p:cTn id="25" dur="750"/>
                                        <p:tgtEl>
                                          <p:spTgt spid="78"/>
                                        </p:tgtEl>
                                      </p:cBhvr>
                                    </p:animEffect>
                                  </p:childTnLst>
                                </p:cTn>
                              </p:par>
                            </p:childTnLst>
                          </p:cTn>
                        </p:par>
                        <p:par>
                          <p:cTn id="26" fill="hold">
                            <p:stCondLst>
                              <p:cond delay="4000"/>
                            </p:stCondLst>
                            <p:childTnLst>
                              <p:par>
                                <p:cTn id="27" presetID="22" presetClass="entr" presetSubtype="1" fill="hold" grpId="5" nodeType="after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wipe(up)">
                                      <p:cBhvr>
                                        <p:cTn id="29" dur="750"/>
                                        <p:tgtEl>
                                          <p:spTgt spid="79"/>
                                        </p:tgtEl>
                                      </p:cBhvr>
                                    </p:animEffect>
                                  </p:childTnLst>
                                </p:cTn>
                              </p:par>
                            </p:childTnLst>
                          </p:cTn>
                        </p:par>
                        <p:par>
                          <p:cTn id="30" fill="hold">
                            <p:stCondLst>
                              <p:cond delay="5000"/>
                            </p:stCondLst>
                            <p:childTnLst>
                              <p:par>
                                <p:cTn id="31" presetID="22" presetClass="entr" presetSubtype="1" fill="hold" grpId="7" nodeType="afterEffect">
                                  <p:stCondLst>
                                    <p:cond delay="0"/>
                                  </p:stCondLst>
                                  <p:childTnLst>
                                    <p:set>
                                      <p:cBhvr>
                                        <p:cTn id="32" dur="1" fill="hold">
                                          <p:stCondLst>
                                            <p:cond delay="0"/>
                                          </p:stCondLst>
                                        </p:cTn>
                                        <p:tgtEl>
                                          <p:spTgt spid="81"/>
                                        </p:tgtEl>
                                        <p:attrNameLst>
                                          <p:attrName>style.visibility</p:attrName>
                                        </p:attrNameLst>
                                      </p:cBhvr>
                                      <p:to>
                                        <p:strVal val="visible"/>
                                      </p:to>
                                    </p:set>
                                    <p:animEffect transition="in" filter="wipe(up)">
                                      <p:cBhvr>
                                        <p:cTn id="33" dur="750"/>
                                        <p:tgtEl>
                                          <p:spTgt spid="81"/>
                                        </p:tgtEl>
                                      </p:cBhvr>
                                    </p:animEffect>
                                  </p:childTnLst>
                                </p:cTn>
                              </p:par>
                            </p:childTnLst>
                          </p:cTn>
                        </p:par>
                        <p:par>
                          <p:cTn id="34" fill="hold">
                            <p:stCondLst>
                              <p:cond delay="6000"/>
                            </p:stCondLst>
                            <p:childTnLst>
                              <p:par>
                                <p:cTn id="35" presetID="22" presetClass="entr" presetSubtype="1" fill="hold" grpId="8" nodeType="afterEffect">
                                  <p:stCondLst>
                                    <p:cond delay="0"/>
                                  </p:stCondLst>
                                  <p:childTnLst>
                                    <p:set>
                                      <p:cBhvr>
                                        <p:cTn id="36" dur="1" fill="hold">
                                          <p:stCondLst>
                                            <p:cond delay="0"/>
                                          </p:stCondLst>
                                        </p:cTn>
                                        <p:tgtEl>
                                          <p:spTgt spid="82"/>
                                        </p:tgtEl>
                                        <p:attrNameLst>
                                          <p:attrName>style.visibility</p:attrName>
                                        </p:attrNameLst>
                                      </p:cBhvr>
                                      <p:to>
                                        <p:strVal val="visible"/>
                                      </p:to>
                                    </p:set>
                                    <p:animEffect transition="in" filter="wipe(up)">
                                      <p:cBhvr>
                                        <p:cTn id="37" dur="750"/>
                                        <p:tgtEl>
                                          <p:spTgt spid="82"/>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93" name=""/>
        <p:cNvGrpSpPr/>
        <p:nvPr/>
      </p:nvGrpSpPr>
      <p:grpSpPr>
        <a:xfrm>
          <a:off x="0" y="0"/>
          <a:ext cx="0" cy="0"/>
          <a:chOff x="0" y="0"/>
          <a:chExt cx="0" cy="0"/>
        </a:xfrm>
      </p:grpSpPr>
      <p:pic>
        <p:nvPicPr>
          <p:cNvPr id="9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95"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96"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97"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测评指标解读——镜像与数据保护</a:t>
            </a:r>
            <a:endParaRPr lang="en-US" sz="2760"/>
          </a:p>
        </p:txBody>
      </p:sp>
      <p:grpSp>
        <p:nvGrpSpPr>
          <p:cNvPr id="98" name="组合 65"/>
          <p:cNvGrpSpPr/>
          <p:nvPr/>
        </p:nvGrpSpPr>
        <p:grpSpPr>
          <a:xfrm>
            <a:off x="609600" y="1066800"/>
            <a:ext cx="5364480" cy="2468880"/>
            <a:chOff x="-635000" y="-635000"/>
            <a:chExt cx="5364480" cy="2468880"/>
          </a:xfrm>
        </p:grpSpPr>
        <p:pic>
          <p:nvPicPr>
            <p:cNvPr id="99" name="Image 3" descr="TEMP_Z_ORDER_4"/>
            <p:cNvPicPr>
              <a:picLocks noChangeAspect="1"/>
            </p:cNvPicPr>
            <p:nvPr/>
          </p:nvPicPr>
          <p:blipFill>
            <a:blip r:embed="rId4"/>
            <a:stretch>
              <a:fillRect/>
            </a:stretch>
          </p:blipFill>
          <p:spPr>
            <a:xfrm>
              <a:off x="-635000" y="-635000"/>
              <a:ext cx="5364480" cy="2468880"/>
            </a:xfrm>
            <a:prstGeom prst="rect">
              <a:avLst/>
            </a:prstGeom>
          </p:spPr>
        </p:pic>
        <p:sp>
          <p:nvSpPr>
            <p:cNvPr id="100" name="Text 1" descr="TEMP_Z_ORDER_5"/>
            <p:cNvSpPr/>
            <p:nvPr/>
          </p:nvSpPr>
          <p:spPr>
            <a:xfrm>
              <a:off x="-436880" y="-436880"/>
              <a:ext cx="409575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458BE6"/>
                  </a:solidFill>
                  <a:latin typeface="思源黑体 CN Bold" pitchFamily="34" charset="0"/>
                  <a:ea typeface="思源黑体 CN Bold" pitchFamily="34" charset="-122"/>
                  <a:cs typeface="思源黑体 CN Bold" pitchFamily="34" charset="-120"/>
                </a:rPr>
                <a:t>8.2.4.4 / 9.2.4.4 镜像和快照保护</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pic>
          <p:nvPicPr>
            <p:cNvPr id="101" name="Image 4" descr="TEMP_Z_ORDER_6"/>
            <p:cNvPicPr>
              <a:picLocks noChangeAspect="1"/>
            </p:cNvPicPr>
            <p:nvPr/>
          </p:nvPicPr>
          <p:blipFill>
            <a:blip r:embed="rId5"/>
            <a:stretch>
              <a:fillRect/>
            </a:stretch>
          </p:blipFill>
          <p:spPr>
            <a:xfrm>
              <a:off x="-421640" y="157480"/>
              <a:ext cx="4953000" cy="838200"/>
            </a:xfrm>
            <a:prstGeom prst="rect">
              <a:avLst/>
            </a:prstGeom>
          </p:spPr>
        </p:pic>
        <p:pic>
          <p:nvPicPr>
            <p:cNvPr id="102" name="Image 5" descr="TEMP_Z_ORDER_7"/>
            <p:cNvPicPr>
              <a:picLocks noChangeAspect="1"/>
            </p:cNvPicPr>
            <p:nvPr/>
          </p:nvPicPr>
          <p:blipFill>
            <a:blip r:embed="rId6"/>
            <a:stretch>
              <a:fillRect/>
            </a:stretch>
          </p:blipFill>
          <p:spPr>
            <a:xfrm>
              <a:off x="-421640" y="157480"/>
              <a:ext cx="762000" cy="838200"/>
            </a:xfrm>
            <a:prstGeom prst="rect">
              <a:avLst/>
            </a:prstGeom>
          </p:spPr>
        </p:pic>
        <p:sp>
          <p:nvSpPr>
            <p:cNvPr id="103" name="Text 2" descr="TEMP_Z_ORDER_8"/>
            <p:cNvSpPr/>
            <p:nvPr/>
          </p:nvSpPr>
          <p:spPr>
            <a:xfrm>
              <a:off x="-330200" y="255358"/>
              <a:ext cx="435864" cy="627204"/>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要求项</a:t>
              </a:r>
              <a:endParaRPr lang="en-US" sz="1680"/>
            </a:p>
          </p:txBody>
        </p:sp>
        <p:pic>
          <p:nvPicPr>
            <p:cNvPr id="104" name="Image 6" descr="TEMP_Z_ORDER_9"/>
            <p:cNvPicPr>
              <a:picLocks noChangeAspect="1"/>
            </p:cNvPicPr>
            <p:nvPr/>
          </p:nvPicPr>
          <p:blipFill>
            <a:blip r:embed="rId7"/>
            <a:stretch>
              <a:fillRect/>
            </a:stretch>
          </p:blipFill>
          <p:spPr>
            <a:xfrm>
              <a:off x="340360" y="157480"/>
              <a:ext cx="4191000" cy="838200"/>
            </a:xfrm>
            <a:prstGeom prst="rect">
              <a:avLst/>
            </a:prstGeom>
          </p:spPr>
        </p:pic>
        <p:sp>
          <p:nvSpPr>
            <p:cNvPr id="105" name="Text 3" descr="TEMP_Z_ORDER_10"/>
            <p:cNvSpPr/>
            <p:nvPr/>
          </p:nvSpPr>
          <p:spPr>
            <a:xfrm>
              <a:off x="431800" y="416560"/>
              <a:ext cx="429704" cy="3102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内容</a:t>
              </a:r>
              <a:endParaRPr lang="en-US" sz="1680"/>
            </a:p>
          </p:txBody>
        </p:sp>
        <p:pic>
          <p:nvPicPr>
            <p:cNvPr id="106" name="Image 7" descr="TEMP_Z_ORDER_11"/>
            <p:cNvPicPr>
              <a:picLocks noChangeAspect="1"/>
            </p:cNvPicPr>
            <p:nvPr/>
          </p:nvPicPr>
          <p:blipFill>
            <a:blip r:embed="rId8"/>
            <a:stretch>
              <a:fillRect/>
            </a:stretch>
          </p:blipFill>
          <p:spPr>
            <a:xfrm>
              <a:off x="-421640" y="995680"/>
              <a:ext cx="762000" cy="792480"/>
            </a:xfrm>
            <a:prstGeom prst="rect">
              <a:avLst/>
            </a:prstGeom>
          </p:spPr>
        </p:pic>
        <p:sp>
          <p:nvSpPr>
            <p:cNvPr id="107" name="Text 4" descr="TEMP_Z_ORDER_12"/>
            <p:cNvSpPr/>
            <p:nvPr/>
          </p:nvSpPr>
          <p:spPr>
            <a:xfrm>
              <a:off x="-330200" y="1087120"/>
              <a:ext cx="24371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08" name="Image 8" descr="TEMP_Z_ORDER_13"/>
            <p:cNvPicPr>
              <a:picLocks noChangeAspect="1"/>
            </p:cNvPicPr>
            <p:nvPr/>
          </p:nvPicPr>
          <p:blipFill>
            <a:blip r:embed="rId9"/>
            <a:stretch>
              <a:fillRect/>
            </a:stretch>
          </p:blipFill>
          <p:spPr>
            <a:xfrm>
              <a:off x="340360" y="995680"/>
              <a:ext cx="4191000" cy="792480"/>
            </a:xfrm>
            <a:prstGeom prst="rect">
              <a:avLst/>
            </a:prstGeom>
          </p:spPr>
        </p:pic>
        <p:sp>
          <p:nvSpPr>
            <p:cNvPr id="109" name="Text 5" descr="TEMP_Z_ORDER_14"/>
            <p:cNvSpPr/>
            <p:nvPr/>
          </p:nvSpPr>
          <p:spPr>
            <a:xfrm>
              <a:off x="431800" y="1078486"/>
              <a:ext cx="384962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针对重要业务系统提供加固的操作系统镜像或安全加固服务</a:t>
              </a:r>
              <a:endParaRPr lang="en-US" sz="1680"/>
            </a:p>
          </p:txBody>
        </p:sp>
      </p:grpSp>
      <p:grpSp>
        <p:nvGrpSpPr>
          <p:cNvPr id="110" name="组合 77"/>
          <p:cNvGrpSpPr/>
          <p:nvPr/>
        </p:nvGrpSpPr>
        <p:grpSpPr>
          <a:xfrm>
            <a:off x="6217920" y="1066800"/>
            <a:ext cx="5364480" cy="2468880"/>
            <a:chOff x="-635000" y="-635000"/>
            <a:chExt cx="5364480" cy="2468880"/>
          </a:xfrm>
        </p:grpSpPr>
        <p:pic>
          <p:nvPicPr>
            <p:cNvPr id="111" name="Image 9" descr="TEMP_Z_ORDER_15"/>
            <p:cNvPicPr>
              <a:picLocks noChangeAspect="1"/>
            </p:cNvPicPr>
            <p:nvPr/>
          </p:nvPicPr>
          <p:blipFill>
            <a:blip r:embed="rId4"/>
            <a:stretch>
              <a:fillRect/>
            </a:stretch>
          </p:blipFill>
          <p:spPr>
            <a:xfrm>
              <a:off x="-635000" y="-635000"/>
              <a:ext cx="5364480" cy="2468880"/>
            </a:xfrm>
            <a:prstGeom prst="rect">
              <a:avLst/>
            </a:prstGeom>
          </p:spPr>
        </p:pic>
        <p:sp>
          <p:nvSpPr>
            <p:cNvPr id="112" name="Text 6" descr="TEMP_Z_ORDER_16"/>
            <p:cNvSpPr/>
            <p:nvPr/>
          </p:nvSpPr>
          <p:spPr>
            <a:xfrm>
              <a:off x="-436880" y="-436880"/>
              <a:ext cx="4977384" cy="38417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00" b="1">
                  <a:solidFill>
                    <a:srgbClr val="458BE6"/>
                  </a:solidFill>
                  <a:latin typeface="思源黑体 CN Bold" pitchFamily="34" charset="0"/>
                  <a:ea typeface="思源黑体 CN Bold" pitchFamily="34" charset="-122"/>
                  <a:cs typeface="思源黑体 CN Bold" pitchFamily="34" charset="-120"/>
                </a:rPr>
                <a:t>8.2.4.5 / 9.2.4.5 数据完整性和保密性</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pic>
          <p:nvPicPr>
            <p:cNvPr id="113" name="Image 10" descr="TEMP_Z_ORDER_17"/>
            <p:cNvPicPr>
              <a:picLocks noChangeAspect="1"/>
            </p:cNvPicPr>
            <p:nvPr/>
          </p:nvPicPr>
          <p:blipFill>
            <a:blip r:embed="rId10"/>
            <a:stretch>
              <a:fillRect/>
            </a:stretch>
          </p:blipFill>
          <p:spPr>
            <a:xfrm>
              <a:off x="-421640" y="142240"/>
              <a:ext cx="4953000" cy="914400"/>
            </a:xfrm>
            <a:prstGeom prst="rect">
              <a:avLst/>
            </a:prstGeom>
          </p:spPr>
        </p:pic>
        <p:pic>
          <p:nvPicPr>
            <p:cNvPr id="114" name="Image 11" descr="TEMP_Z_ORDER_18"/>
            <p:cNvPicPr>
              <a:picLocks noChangeAspect="1"/>
            </p:cNvPicPr>
            <p:nvPr/>
          </p:nvPicPr>
          <p:blipFill>
            <a:blip r:embed="rId11"/>
            <a:stretch>
              <a:fillRect/>
            </a:stretch>
          </p:blipFill>
          <p:spPr>
            <a:xfrm>
              <a:off x="-421640" y="142240"/>
              <a:ext cx="426720" cy="792480"/>
            </a:xfrm>
            <a:prstGeom prst="rect">
              <a:avLst/>
            </a:prstGeom>
          </p:spPr>
        </p:pic>
        <p:sp>
          <p:nvSpPr>
            <p:cNvPr id="115" name="Text 7" descr="TEMP_Z_ORDER_19"/>
            <p:cNvSpPr/>
            <p:nvPr/>
          </p:nvSpPr>
          <p:spPr>
            <a:xfrm>
              <a:off x="-330200" y="248920"/>
              <a:ext cx="24371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16" name="Image 12" descr="TEMP_Z_ORDER_20"/>
            <p:cNvPicPr>
              <a:picLocks noChangeAspect="1"/>
            </p:cNvPicPr>
            <p:nvPr/>
          </p:nvPicPr>
          <p:blipFill>
            <a:blip r:embed="rId12"/>
            <a:stretch>
              <a:fillRect/>
            </a:stretch>
          </p:blipFill>
          <p:spPr>
            <a:xfrm>
              <a:off x="-10160" y="142240"/>
              <a:ext cx="4541520" cy="792480"/>
            </a:xfrm>
            <a:prstGeom prst="rect">
              <a:avLst/>
            </a:prstGeom>
          </p:spPr>
        </p:pic>
        <p:sp>
          <p:nvSpPr>
            <p:cNvPr id="117" name="Text 8" descr="TEMP_Z_ORDER_21"/>
            <p:cNvSpPr/>
            <p:nvPr/>
          </p:nvSpPr>
          <p:spPr>
            <a:xfrm>
              <a:off x="81280" y="240286"/>
              <a:ext cx="427634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云服务客户数据、用户个人信息存储于中国境内，出境需遵循国家规定</a:t>
              </a:r>
              <a:endParaRPr lang="en-US" sz="1680"/>
            </a:p>
          </p:txBody>
        </p:sp>
        <p:pic>
          <p:nvPicPr>
            <p:cNvPr id="118" name="Image 13" descr="TEMP_Z_ORDER_22"/>
            <p:cNvPicPr>
              <a:picLocks noChangeAspect="1"/>
            </p:cNvPicPr>
            <p:nvPr/>
          </p:nvPicPr>
          <p:blipFill>
            <a:blip r:embed="rId13"/>
            <a:stretch>
              <a:fillRect/>
            </a:stretch>
          </p:blipFill>
          <p:spPr>
            <a:xfrm>
              <a:off x="-421640" y="934720"/>
              <a:ext cx="426720" cy="792480"/>
            </a:xfrm>
            <a:prstGeom prst="rect">
              <a:avLst/>
            </a:prstGeom>
          </p:spPr>
        </p:pic>
        <p:sp>
          <p:nvSpPr>
            <p:cNvPr id="119" name="Text 9" descr="TEMP_Z_ORDER_23"/>
            <p:cNvSpPr/>
            <p:nvPr/>
          </p:nvSpPr>
          <p:spPr>
            <a:xfrm>
              <a:off x="-330200" y="1026160"/>
              <a:ext cx="25173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b)</a:t>
              </a:r>
              <a:endParaRPr lang="en-US" sz="1680"/>
            </a:p>
          </p:txBody>
        </p:sp>
        <p:pic>
          <p:nvPicPr>
            <p:cNvPr id="120" name="Image 14" descr="TEMP_Z_ORDER_24"/>
            <p:cNvPicPr>
              <a:picLocks noChangeAspect="1"/>
            </p:cNvPicPr>
            <p:nvPr/>
          </p:nvPicPr>
          <p:blipFill>
            <a:blip r:embed="rId14"/>
            <a:stretch>
              <a:fillRect/>
            </a:stretch>
          </p:blipFill>
          <p:spPr>
            <a:xfrm>
              <a:off x="-10160" y="934720"/>
              <a:ext cx="4541520" cy="792480"/>
            </a:xfrm>
            <a:prstGeom prst="rect">
              <a:avLst/>
            </a:prstGeom>
          </p:spPr>
        </p:pic>
        <p:sp>
          <p:nvSpPr>
            <p:cNvPr id="121" name="Text 10" descr="TEMP_Z_ORDER_25"/>
            <p:cNvSpPr/>
            <p:nvPr/>
          </p:nvSpPr>
          <p:spPr>
            <a:xfrm>
              <a:off x="81280" y="1017526"/>
              <a:ext cx="427634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只有在客户授权下，云服务商或第三方才具有数据管理权限</a:t>
              </a:r>
              <a:endParaRPr lang="en-US" sz="1680"/>
            </a:p>
          </p:txBody>
        </p:sp>
      </p:grpSp>
      <p:grpSp>
        <p:nvGrpSpPr>
          <p:cNvPr id="122" name="组合 89"/>
          <p:cNvGrpSpPr/>
          <p:nvPr/>
        </p:nvGrpSpPr>
        <p:grpSpPr>
          <a:xfrm>
            <a:off x="609600" y="3779520"/>
            <a:ext cx="5364480" cy="2880360"/>
            <a:chOff x="-635000" y="-635000"/>
            <a:chExt cx="5364480" cy="2880360"/>
          </a:xfrm>
        </p:grpSpPr>
        <p:pic>
          <p:nvPicPr>
            <p:cNvPr id="123" name="Image 15" descr="TEMP_Z_ORDER_26"/>
            <p:cNvPicPr>
              <a:picLocks noChangeAspect="1"/>
            </p:cNvPicPr>
            <p:nvPr/>
          </p:nvPicPr>
          <p:blipFill>
            <a:blip r:embed="rId4"/>
            <a:stretch>
              <a:fillRect/>
            </a:stretch>
          </p:blipFill>
          <p:spPr>
            <a:xfrm>
              <a:off x="-635000" y="-635000"/>
              <a:ext cx="5364480" cy="2468880"/>
            </a:xfrm>
            <a:prstGeom prst="rect">
              <a:avLst/>
            </a:prstGeom>
          </p:spPr>
        </p:pic>
        <p:sp>
          <p:nvSpPr>
            <p:cNvPr id="124" name="Text 11" descr="TEMP_Z_ORDER_27"/>
            <p:cNvSpPr/>
            <p:nvPr/>
          </p:nvSpPr>
          <p:spPr>
            <a:xfrm>
              <a:off x="-436880" y="-436880"/>
              <a:ext cx="3840480" cy="30734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2000" b="1">
                  <a:solidFill>
                    <a:srgbClr val="458BE6"/>
                  </a:solidFill>
                  <a:latin typeface="思源黑体 CN Bold" pitchFamily="34" charset="0"/>
                  <a:ea typeface="思源黑体 CN Bold" pitchFamily="34" charset="-122"/>
                  <a:cs typeface="思源黑体 CN Bold" pitchFamily="34" charset="-120"/>
                </a:rPr>
                <a:t>8.2.4.6 / 9.2.4.6 数据备份恢复</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pic>
          <p:nvPicPr>
            <p:cNvPr id="125" name="Image 16" descr="TEMP_Z_ORDER_28"/>
            <p:cNvPicPr>
              <a:picLocks noChangeAspect="1"/>
            </p:cNvPicPr>
            <p:nvPr/>
          </p:nvPicPr>
          <p:blipFill>
            <a:blip r:embed="rId10"/>
            <a:stretch>
              <a:fillRect/>
            </a:stretch>
          </p:blipFill>
          <p:spPr>
            <a:xfrm>
              <a:off x="-421640" y="142240"/>
              <a:ext cx="4953000" cy="914400"/>
            </a:xfrm>
            <a:prstGeom prst="rect">
              <a:avLst/>
            </a:prstGeom>
          </p:spPr>
        </p:pic>
        <p:pic>
          <p:nvPicPr>
            <p:cNvPr id="126" name="Image 17" descr="TEMP_Z_ORDER_29"/>
            <p:cNvPicPr>
              <a:picLocks noChangeAspect="1"/>
            </p:cNvPicPr>
            <p:nvPr/>
          </p:nvPicPr>
          <p:blipFill>
            <a:blip r:embed="rId15"/>
            <a:stretch>
              <a:fillRect/>
            </a:stretch>
          </p:blipFill>
          <p:spPr>
            <a:xfrm>
              <a:off x="-421640" y="142240"/>
              <a:ext cx="426720" cy="518160"/>
            </a:xfrm>
            <a:prstGeom prst="rect">
              <a:avLst/>
            </a:prstGeom>
          </p:spPr>
        </p:pic>
        <p:sp>
          <p:nvSpPr>
            <p:cNvPr id="127" name="Text 12" descr="TEMP_Z_ORDER_30"/>
            <p:cNvSpPr/>
            <p:nvPr/>
          </p:nvSpPr>
          <p:spPr>
            <a:xfrm>
              <a:off x="-330200" y="248920"/>
              <a:ext cx="208280"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28" name="Image 18" descr="TEMP_Z_ORDER_31"/>
            <p:cNvPicPr>
              <a:picLocks noChangeAspect="1"/>
            </p:cNvPicPr>
            <p:nvPr/>
          </p:nvPicPr>
          <p:blipFill>
            <a:blip r:embed="rId16"/>
            <a:stretch>
              <a:fillRect/>
            </a:stretch>
          </p:blipFill>
          <p:spPr>
            <a:xfrm>
              <a:off x="-10160" y="142240"/>
              <a:ext cx="4541520" cy="518160"/>
            </a:xfrm>
            <a:prstGeom prst="rect">
              <a:avLst/>
            </a:prstGeom>
          </p:spPr>
        </p:pic>
        <p:sp>
          <p:nvSpPr>
            <p:cNvPr id="129" name="Text 13" descr="TEMP_Z_ORDER_32"/>
            <p:cNvSpPr/>
            <p:nvPr/>
          </p:nvSpPr>
          <p:spPr>
            <a:xfrm>
              <a:off x="81280" y="233680"/>
              <a:ext cx="4053840"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云服务客户应在本地保存其业务数据的备份</a:t>
              </a:r>
              <a:endParaRPr lang="en-US" sz="1680"/>
            </a:p>
          </p:txBody>
        </p:sp>
        <p:pic>
          <p:nvPicPr>
            <p:cNvPr id="130" name="Image 19" descr="TEMP_Z_ORDER_33"/>
            <p:cNvPicPr>
              <a:picLocks noChangeAspect="1"/>
            </p:cNvPicPr>
            <p:nvPr/>
          </p:nvPicPr>
          <p:blipFill>
            <a:blip r:embed="rId13"/>
            <a:stretch>
              <a:fillRect/>
            </a:stretch>
          </p:blipFill>
          <p:spPr>
            <a:xfrm>
              <a:off x="-421640" y="660400"/>
              <a:ext cx="426720" cy="792480"/>
            </a:xfrm>
            <a:prstGeom prst="rect">
              <a:avLst/>
            </a:prstGeom>
          </p:spPr>
        </p:pic>
        <p:sp>
          <p:nvSpPr>
            <p:cNvPr id="131" name="Text 14" descr="TEMP_Z_ORDER_34"/>
            <p:cNvSpPr/>
            <p:nvPr/>
          </p:nvSpPr>
          <p:spPr>
            <a:xfrm>
              <a:off x="-330200" y="767080"/>
              <a:ext cx="219075"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b="1">
                  <a:solidFill>
                    <a:srgbClr val="000000"/>
                  </a:solidFill>
                  <a:latin typeface="思源黑体 CN Bold" pitchFamily="34" charset="0"/>
                  <a:ea typeface="思源黑体 CN Bold" pitchFamily="34" charset="-122"/>
                  <a:cs typeface="思源黑体 CN Bold" pitchFamily="34" charset="-120"/>
                </a:rPr>
                <a:t>b)</a:t>
              </a:r>
              <a:endParaRPr lang="en-US" sz="1680"/>
            </a:p>
          </p:txBody>
        </p:sp>
        <p:pic>
          <p:nvPicPr>
            <p:cNvPr id="132" name="Image 20" descr="TEMP_Z_ORDER_35"/>
            <p:cNvPicPr>
              <a:picLocks noChangeAspect="1"/>
            </p:cNvPicPr>
            <p:nvPr/>
          </p:nvPicPr>
          <p:blipFill>
            <a:blip r:embed="rId14"/>
            <a:stretch>
              <a:fillRect/>
            </a:stretch>
          </p:blipFill>
          <p:spPr>
            <a:xfrm>
              <a:off x="-10160" y="660400"/>
              <a:ext cx="4541520" cy="792480"/>
            </a:xfrm>
            <a:prstGeom prst="rect">
              <a:avLst/>
            </a:prstGeom>
          </p:spPr>
        </p:pic>
        <p:sp>
          <p:nvSpPr>
            <p:cNvPr id="133" name="Text 15" descr="TEMP_Z_ORDER_36"/>
            <p:cNvSpPr/>
            <p:nvPr/>
          </p:nvSpPr>
          <p:spPr>
            <a:xfrm>
              <a:off x="81280" y="638492"/>
              <a:ext cx="4276344" cy="51625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提供查询云服务客户数据及备份存储位置的能力</a:t>
              </a:r>
              <a:endParaRPr lang="en-US" sz="1680"/>
            </a:p>
          </p:txBody>
        </p:sp>
        <p:pic>
          <p:nvPicPr>
            <p:cNvPr id="134" name="Image 21" descr="TEMP_Z_ORDER_37"/>
            <p:cNvPicPr>
              <a:picLocks noChangeAspect="1"/>
            </p:cNvPicPr>
            <p:nvPr/>
          </p:nvPicPr>
          <p:blipFill>
            <a:blip r:embed="rId11"/>
            <a:stretch>
              <a:fillRect/>
            </a:stretch>
          </p:blipFill>
          <p:spPr>
            <a:xfrm>
              <a:off x="-421640" y="1452880"/>
              <a:ext cx="426720" cy="792480"/>
            </a:xfrm>
            <a:prstGeom prst="rect">
              <a:avLst/>
            </a:prstGeom>
          </p:spPr>
        </p:pic>
        <p:sp>
          <p:nvSpPr>
            <p:cNvPr id="135" name="Text 16" descr="TEMP_Z_ORDER_38"/>
            <p:cNvSpPr/>
            <p:nvPr/>
          </p:nvSpPr>
          <p:spPr>
            <a:xfrm>
              <a:off x="-330200" y="1315720"/>
              <a:ext cx="194310" cy="257810"/>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b="1">
                  <a:solidFill>
                    <a:srgbClr val="002060"/>
                  </a:solidFill>
                  <a:latin typeface="思源黑体 CN Bold" pitchFamily="34" charset="0"/>
                  <a:ea typeface="思源黑体 CN Bold" pitchFamily="34" charset="-122"/>
                  <a:cs typeface="思源黑体 CN Bold" pitchFamily="34" charset="-120"/>
                </a:rPr>
                <a:t>c)</a:t>
              </a:r>
              <a:endParaRPr lang="en-US" sz="1680" b="1">
                <a:solidFill>
                  <a:srgbClr val="002060"/>
                </a:solidFill>
                <a:latin typeface="思源黑体 CN Bold" pitchFamily="34" charset="0"/>
                <a:ea typeface="思源黑体 CN Bold" pitchFamily="34" charset="-122"/>
                <a:cs typeface="思源黑体 CN Bold" pitchFamily="34" charset="-120"/>
              </a:endParaRPr>
            </a:p>
          </p:txBody>
        </p:sp>
        <p:pic>
          <p:nvPicPr>
            <p:cNvPr id="136" name="Image 22" descr="TEMP_Z_ORDER_39"/>
            <p:cNvPicPr>
              <a:picLocks noChangeAspect="1"/>
            </p:cNvPicPr>
            <p:nvPr/>
          </p:nvPicPr>
          <p:blipFill>
            <a:blip r:embed="rId12"/>
            <a:stretch>
              <a:fillRect/>
            </a:stretch>
          </p:blipFill>
          <p:spPr>
            <a:xfrm>
              <a:off x="-10160" y="1452880"/>
              <a:ext cx="4541520" cy="792480"/>
            </a:xfrm>
            <a:prstGeom prst="rect">
              <a:avLst/>
            </a:prstGeom>
          </p:spPr>
        </p:pic>
        <p:sp>
          <p:nvSpPr>
            <p:cNvPr id="137" name="Text 17" descr="TEMP_Z_ORDER_40"/>
            <p:cNvSpPr/>
            <p:nvPr/>
          </p:nvSpPr>
          <p:spPr>
            <a:xfrm>
              <a:off x="81280" y="1263334"/>
              <a:ext cx="4276344" cy="51625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buNone/>
              </a:pPr>
              <a:r>
                <a:rPr lang="en-US" sz="1680">
                  <a:solidFill>
                    <a:srgbClr val="002060"/>
                  </a:solidFill>
                  <a:latin typeface="思源黑体 CN Regular" pitchFamily="34" charset="0"/>
                  <a:ea typeface="思源黑体 CN Regular" pitchFamily="34" charset="-122"/>
                  <a:cs typeface="思源黑体 CN Regular" pitchFamily="34" charset="-120"/>
                </a:rPr>
                <a:t>云存储服务保证数据存在若干个可用副本，各副本内容一致</a:t>
              </a:r>
              <a:endParaRPr lang="en-US" sz="1680">
                <a:solidFill>
                  <a:srgbClr val="002060"/>
                </a:solidFill>
                <a:latin typeface="思源黑体 CN Regular" pitchFamily="34" charset="0"/>
                <a:ea typeface="思源黑体 CN Regular" pitchFamily="34" charset="-122"/>
                <a:cs typeface="思源黑体 CN Regular" pitchFamily="34" charset="-120"/>
              </a:endParaRPr>
            </a:p>
          </p:txBody>
        </p:sp>
      </p:grpSp>
      <p:grpSp>
        <p:nvGrpSpPr>
          <p:cNvPr id="138" name="组合 53"/>
          <p:cNvGrpSpPr/>
          <p:nvPr/>
        </p:nvGrpSpPr>
        <p:grpSpPr>
          <a:xfrm>
            <a:off x="6217920" y="3779520"/>
            <a:ext cx="5364480" cy="2468880"/>
            <a:chOff x="-635000" y="-635000"/>
            <a:chExt cx="5364480" cy="2468880"/>
          </a:xfrm>
        </p:grpSpPr>
        <p:pic>
          <p:nvPicPr>
            <p:cNvPr id="139" name="Image 23" descr="TEMP_Z_ORDER_41"/>
            <p:cNvPicPr>
              <a:picLocks noChangeAspect="1"/>
            </p:cNvPicPr>
            <p:nvPr/>
          </p:nvPicPr>
          <p:blipFill>
            <a:blip r:embed="rId4"/>
            <a:stretch>
              <a:fillRect/>
            </a:stretch>
          </p:blipFill>
          <p:spPr>
            <a:xfrm>
              <a:off x="-635000" y="-635000"/>
              <a:ext cx="5364480" cy="2468880"/>
            </a:xfrm>
            <a:prstGeom prst="rect">
              <a:avLst/>
            </a:prstGeom>
          </p:spPr>
        </p:pic>
        <p:sp>
          <p:nvSpPr>
            <p:cNvPr id="140" name="Text 18" descr="TEMP_Z_ORDER_42"/>
            <p:cNvSpPr/>
            <p:nvPr/>
          </p:nvSpPr>
          <p:spPr>
            <a:xfrm>
              <a:off x="-436880" y="-436880"/>
              <a:ext cx="3840480" cy="25463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000" b="1">
                  <a:solidFill>
                    <a:srgbClr val="458BE6"/>
                  </a:solidFill>
                  <a:latin typeface="思源黑体 CN Bold" pitchFamily="34" charset="0"/>
                  <a:ea typeface="思源黑体 CN Bold" pitchFamily="34" charset="-122"/>
                  <a:cs typeface="思源黑体 CN Bold" pitchFamily="34" charset="-120"/>
                </a:rPr>
                <a:t>8.2.4.7 / 9.2.4.7 剩余信息保护</a:t>
              </a:r>
              <a:endParaRPr lang="en-US" sz="2000" b="1">
                <a:solidFill>
                  <a:srgbClr val="458BE6"/>
                </a:solidFill>
                <a:latin typeface="思源黑体 CN Bold" pitchFamily="34" charset="0"/>
                <a:ea typeface="思源黑体 CN Bold" pitchFamily="34" charset="-122"/>
                <a:cs typeface="思源黑体 CN Bold" pitchFamily="34" charset="-120"/>
              </a:endParaRPr>
            </a:p>
          </p:txBody>
        </p:sp>
        <p:pic>
          <p:nvPicPr>
            <p:cNvPr id="141" name="Image 24" descr="TEMP_Z_ORDER_43"/>
            <p:cNvPicPr>
              <a:picLocks noChangeAspect="1"/>
            </p:cNvPicPr>
            <p:nvPr/>
          </p:nvPicPr>
          <p:blipFill>
            <a:blip r:embed="rId10"/>
            <a:stretch>
              <a:fillRect/>
            </a:stretch>
          </p:blipFill>
          <p:spPr>
            <a:xfrm>
              <a:off x="-421640" y="142240"/>
              <a:ext cx="4953000" cy="914400"/>
            </a:xfrm>
            <a:prstGeom prst="rect">
              <a:avLst/>
            </a:prstGeom>
          </p:spPr>
        </p:pic>
        <p:pic>
          <p:nvPicPr>
            <p:cNvPr id="142" name="Image 25" descr="TEMP_Z_ORDER_44"/>
            <p:cNvPicPr>
              <a:picLocks noChangeAspect="1"/>
            </p:cNvPicPr>
            <p:nvPr/>
          </p:nvPicPr>
          <p:blipFill>
            <a:blip r:embed="rId15"/>
            <a:stretch>
              <a:fillRect/>
            </a:stretch>
          </p:blipFill>
          <p:spPr>
            <a:xfrm>
              <a:off x="-421640" y="142240"/>
              <a:ext cx="426720" cy="518160"/>
            </a:xfrm>
            <a:prstGeom prst="rect">
              <a:avLst/>
            </a:prstGeom>
          </p:spPr>
        </p:pic>
        <p:sp>
          <p:nvSpPr>
            <p:cNvPr id="143" name="Text 19" descr="TEMP_Z_ORDER_45"/>
            <p:cNvSpPr/>
            <p:nvPr/>
          </p:nvSpPr>
          <p:spPr>
            <a:xfrm>
              <a:off x="-330200" y="248920"/>
              <a:ext cx="243713"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a)</a:t>
              </a:r>
              <a:endParaRPr lang="en-US" sz="1680"/>
            </a:p>
          </p:txBody>
        </p:sp>
        <p:pic>
          <p:nvPicPr>
            <p:cNvPr id="144" name="Image 26" descr="TEMP_Z_ORDER_46"/>
            <p:cNvPicPr>
              <a:picLocks noChangeAspect="1"/>
            </p:cNvPicPr>
            <p:nvPr/>
          </p:nvPicPr>
          <p:blipFill>
            <a:blip r:embed="rId16"/>
            <a:stretch>
              <a:fillRect/>
            </a:stretch>
          </p:blipFill>
          <p:spPr>
            <a:xfrm>
              <a:off x="-10160" y="142240"/>
              <a:ext cx="4541520" cy="518160"/>
            </a:xfrm>
            <a:prstGeom prst="rect">
              <a:avLst/>
            </a:prstGeom>
          </p:spPr>
        </p:pic>
        <p:sp>
          <p:nvSpPr>
            <p:cNvPr id="145" name="Text 20" descr="TEMP_Z_ORDER_47"/>
            <p:cNvSpPr/>
            <p:nvPr/>
          </p:nvSpPr>
          <p:spPr>
            <a:xfrm>
              <a:off x="96520" y="233680"/>
              <a:ext cx="4297045"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虚拟机使用的内存和存储空间回收时完全清除</a:t>
              </a:r>
              <a:endParaRPr lang="en-US" sz="1680"/>
            </a:p>
          </p:txBody>
        </p:sp>
        <p:pic>
          <p:nvPicPr>
            <p:cNvPr id="146" name="Image 27" descr="TEMP_Z_ORDER_48"/>
            <p:cNvPicPr>
              <a:picLocks noChangeAspect="1"/>
            </p:cNvPicPr>
            <p:nvPr/>
          </p:nvPicPr>
          <p:blipFill>
            <a:blip r:embed="rId17"/>
            <a:stretch>
              <a:fillRect/>
            </a:stretch>
          </p:blipFill>
          <p:spPr>
            <a:xfrm>
              <a:off x="-421640" y="660400"/>
              <a:ext cx="426720" cy="518160"/>
            </a:xfrm>
            <a:prstGeom prst="rect">
              <a:avLst/>
            </a:prstGeom>
          </p:spPr>
        </p:pic>
        <p:sp>
          <p:nvSpPr>
            <p:cNvPr id="147" name="Text 21" descr="TEMP_Z_ORDER_49"/>
            <p:cNvSpPr/>
            <p:nvPr/>
          </p:nvSpPr>
          <p:spPr>
            <a:xfrm>
              <a:off x="-330200" y="767080"/>
              <a:ext cx="251730" cy="31014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680" b="1">
                  <a:solidFill>
                    <a:srgbClr val="000000"/>
                  </a:solidFill>
                  <a:latin typeface="思源黑体 CN Bold" pitchFamily="34" charset="0"/>
                  <a:ea typeface="思源黑体 CN Bold" pitchFamily="34" charset="-122"/>
                  <a:cs typeface="思源黑体 CN Bold" pitchFamily="34" charset="-120"/>
                </a:rPr>
                <a:t>b)</a:t>
              </a:r>
              <a:endParaRPr lang="en-US" sz="1680"/>
            </a:p>
          </p:txBody>
        </p:sp>
        <p:pic>
          <p:nvPicPr>
            <p:cNvPr id="148" name="Image 28" descr="TEMP_Z_ORDER_50"/>
            <p:cNvPicPr>
              <a:picLocks noChangeAspect="1"/>
            </p:cNvPicPr>
            <p:nvPr/>
          </p:nvPicPr>
          <p:blipFill>
            <a:blip r:embed="rId18"/>
            <a:stretch>
              <a:fillRect/>
            </a:stretch>
          </p:blipFill>
          <p:spPr>
            <a:xfrm>
              <a:off x="-10160" y="660400"/>
              <a:ext cx="4541520" cy="518160"/>
            </a:xfrm>
            <a:prstGeom prst="rect">
              <a:avLst/>
            </a:prstGeom>
          </p:spPr>
        </p:pic>
        <p:sp>
          <p:nvSpPr>
            <p:cNvPr id="149" name="Text 22" descr="TEMP_Z_ORDER_51"/>
            <p:cNvSpPr/>
            <p:nvPr/>
          </p:nvSpPr>
          <p:spPr>
            <a:xfrm>
              <a:off x="96521" y="751840"/>
              <a:ext cx="4297045"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客户删除业务数据时，云存储中所有副本删除</a:t>
              </a:r>
              <a:endParaRPr lang="en-US" sz="168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750"/>
                                        <p:tgtEl>
                                          <p:spTgt spid="97"/>
                                        </p:tgtEl>
                                      </p:cBhvr>
                                    </p:animEffect>
                                  </p:childTnLst>
                                </p:cTn>
                              </p:par>
                            </p:childTnLst>
                          </p:cTn>
                        </p:par>
                        <p:par>
                          <p:cTn id="8" fill="hold">
                            <p:stCondLst>
                              <p:cond delay="1000"/>
                            </p:stCondLst>
                            <p:childTnLst>
                              <p:par>
                                <p:cTn id="9" presetID="2" presetClass="entr" presetSubtype="8" fill="hold" grpId="2" nodeType="afterEffect">
                                  <p:stCondLst>
                                    <p:cond delay="0"/>
                                  </p:stCondLst>
                                  <p:childTnLst>
                                    <p:set>
                                      <p:cBhvr>
                                        <p:cTn id="10" dur="1" fill="hold">
                                          <p:stCondLst>
                                            <p:cond delay="0"/>
                                          </p:stCondLst>
                                        </p:cTn>
                                        <p:tgtEl>
                                          <p:spTgt spid="98"/>
                                        </p:tgtEl>
                                        <p:attrNameLst>
                                          <p:attrName>style.visibility</p:attrName>
                                        </p:attrNameLst>
                                      </p:cBhvr>
                                      <p:to>
                                        <p:strVal val="visible"/>
                                      </p:to>
                                    </p:set>
                                    <p:anim calcmode="lin" valueType="num">
                                      <p:cBhvr additive="base">
                                        <p:cTn id="11" dur="750" fill="hold"/>
                                        <p:tgtEl>
                                          <p:spTgt spid="98"/>
                                        </p:tgtEl>
                                        <p:attrNameLst>
                                          <p:attrName>ppt_x</p:attrName>
                                        </p:attrNameLst>
                                      </p:cBhvr>
                                      <p:tavLst>
                                        <p:tav tm="0">
                                          <p:val>
                                            <p:strVal val="0-#ppt_w/2"/>
                                          </p:val>
                                        </p:tav>
                                        <p:tav tm="100000">
                                          <p:val>
                                            <p:strVal val="#ppt_x"/>
                                          </p:val>
                                        </p:tav>
                                      </p:tavLst>
                                    </p:anim>
                                    <p:anim calcmode="lin" valueType="num">
                                      <p:cBhvr additive="base">
                                        <p:cTn id="12" dur="750" fill="hold"/>
                                        <p:tgtEl>
                                          <p:spTgt spid="98"/>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8" fill="hold" grpId="3" nodeType="afterEffect">
                                  <p:stCondLst>
                                    <p:cond delay="0"/>
                                  </p:stCondLst>
                                  <p:childTnLst>
                                    <p:set>
                                      <p:cBhvr>
                                        <p:cTn id="15" dur="1" fill="hold">
                                          <p:stCondLst>
                                            <p:cond delay="0"/>
                                          </p:stCondLst>
                                        </p:cTn>
                                        <p:tgtEl>
                                          <p:spTgt spid="110"/>
                                        </p:tgtEl>
                                        <p:attrNameLst>
                                          <p:attrName>style.visibility</p:attrName>
                                        </p:attrNameLst>
                                      </p:cBhvr>
                                      <p:to>
                                        <p:strVal val="visible"/>
                                      </p:to>
                                    </p:set>
                                    <p:anim calcmode="lin" valueType="num">
                                      <p:cBhvr additive="base">
                                        <p:cTn id="16" dur="750" fill="hold"/>
                                        <p:tgtEl>
                                          <p:spTgt spid="110"/>
                                        </p:tgtEl>
                                        <p:attrNameLst>
                                          <p:attrName>ppt_x</p:attrName>
                                        </p:attrNameLst>
                                      </p:cBhvr>
                                      <p:tavLst>
                                        <p:tav tm="0">
                                          <p:val>
                                            <p:strVal val="0-#ppt_w/2"/>
                                          </p:val>
                                        </p:tav>
                                        <p:tav tm="100000">
                                          <p:val>
                                            <p:strVal val="#ppt_x"/>
                                          </p:val>
                                        </p:tav>
                                      </p:tavLst>
                                    </p:anim>
                                    <p:anim calcmode="lin" valueType="num">
                                      <p:cBhvr additive="base">
                                        <p:cTn id="17" dur="750" fill="hold"/>
                                        <p:tgtEl>
                                          <p:spTgt spid="110"/>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2" presetClass="entr" presetSubtype="8" fill="hold" grpId="4" nodeType="afterEffect">
                                  <p:stCondLst>
                                    <p:cond delay="0"/>
                                  </p:stCondLst>
                                  <p:childTnLst>
                                    <p:set>
                                      <p:cBhvr>
                                        <p:cTn id="20" dur="1" fill="hold">
                                          <p:stCondLst>
                                            <p:cond delay="0"/>
                                          </p:stCondLst>
                                        </p:cTn>
                                        <p:tgtEl>
                                          <p:spTgt spid="122"/>
                                        </p:tgtEl>
                                        <p:attrNameLst>
                                          <p:attrName>style.visibility</p:attrName>
                                        </p:attrNameLst>
                                      </p:cBhvr>
                                      <p:to>
                                        <p:strVal val="visible"/>
                                      </p:to>
                                    </p:set>
                                    <p:anim calcmode="lin" valueType="num">
                                      <p:cBhvr additive="base">
                                        <p:cTn id="21" dur="750" fill="hold"/>
                                        <p:tgtEl>
                                          <p:spTgt spid="122"/>
                                        </p:tgtEl>
                                        <p:attrNameLst>
                                          <p:attrName>ppt_x</p:attrName>
                                        </p:attrNameLst>
                                      </p:cBhvr>
                                      <p:tavLst>
                                        <p:tav tm="0">
                                          <p:val>
                                            <p:strVal val="0-#ppt_w/2"/>
                                          </p:val>
                                        </p:tav>
                                        <p:tav tm="100000">
                                          <p:val>
                                            <p:strVal val="#ppt_x"/>
                                          </p:val>
                                        </p:tav>
                                      </p:tavLst>
                                    </p:anim>
                                    <p:anim calcmode="lin" valueType="num">
                                      <p:cBhvr additive="base">
                                        <p:cTn id="22" dur="750" fill="hold"/>
                                        <p:tgtEl>
                                          <p:spTgt spid="122"/>
                                        </p:tgtEl>
                                        <p:attrNameLst>
                                          <p:attrName>ppt_y</p:attrName>
                                        </p:attrNameLst>
                                      </p:cBhvr>
                                      <p:tavLst>
                                        <p:tav tm="0">
                                          <p:val>
                                            <p:strVal val="#ppt_y"/>
                                          </p:val>
                                        </p:tav>
                                        <p:tav tm="100000">
                                          <p:val>
                                            <p:strVal val="#ppt_y"/>
                                          </p:val>
                                        </p:tav>
                                      </p:tavLst>
                                    </p:anim>
                                  </p:childTnLst>
                                </p:cTn>
                              </p:par>
                            </p:childTnLst>
                          </p:cTn>
                        </p:par>
                        <p:par>
                          <p:cTn id="23" fill="hold">
                            <p:stCondLst>
                              <p:cond delay="4000"/>
                            </p:stCondLst>
                            <p:childTnLst>
                              <p:par>
                                <p:cTn id="24" presetID="2" presetClass="entr" presetSubtype="8" fill="hold" grpId="5" nodeType="afterEffect">
                                  <p:stCondLst>
                                    <p:cond delay="0"/>
                                  </p:stCondLst>
                                  <p:childTnLst>
                                    <p:set>
                                      <p:cBhvr>
                                        <p:cTn id="25" dur="1" fill="hold">
                                          <p:stCondLst>
                                            <p:cond delay="0"/>
                                          </p:stCondLst>
                                        </p:cTn>
                                        <p:tgtEl>
                                          <p:spTgt spid="138"/>
                                        </p:tgtEl>
                                        <p:attrNameLst>
                                          <p:attrName>style.visibility</p:attrName>
                                        </p:attrNameLst>
                                      </p:cBhvr>
                                      <p:to>
                                        <p:strVal val="visible"/>
                                      </p:to>
                                    </p:set>
                                    <p:anim calcmode="lin" valueType="num">
                                      <p:cBhvr additive="base">
                                        <p:cTn id="26" dur="750" fill="hold"/>
                                        <p:tgtEl>
                                          <p:spTgt spid="138"/>
                                        </p:tgtEl>
                                        <p:attrNameLst>
                                          <p:attrName>ppt_x</p:attrName>
                                        </p:attrNameLst>
                                      </p:cBhvr>
                                      <p:tavLst>
                                        <p:tav tm="0">
                                          <p:val>
                                            <p:strVal val="0-#ppt_w/2"/>
                                          </p:val>
                                        </p:tav>
                                        <p:tav tm="100000">
                                          <p:val>
                                            <p:strVal val="#ppt_x"/>
                                          </p:val>
                                        </p:tav>
                                      </p:tavLst>
                                    </p:anim>
                                    <p:anim calcmode="lin" valueType="num">
                                      <p:cBhvr additive="base">
                                        <p:cTn id="27" dur="750" fill="hold"/>
                                        <p:tgtEl>
                                          <p:spTgt spid="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50" name=""/>
        <p:cNvGrpSpPr/>
        <p:nvPr/>
      </p:nvGrpSpPr>
      <p:grpSpPr>
        <a:xfrm>
          <a:off x="0" y="0"/>
          <a:ext cx="0" cy="0"/>
          <a:chOff x="0" y="0"/>
          <a:chExt cx="0" cy="0"/>
        </a:xfrm>
      </p:grpSpPr>
      <p:pic>
        <p:nvPicPr>
          <p:cNvPr id="151"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152"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153"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154"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云安全配置核查的“检查清单”</a:t>
            </a:r>
            <a:endParaRPr lang="en-US" sz="2760"/>
          </a:p>
        </p:txBody>
      </p:sp>
      <p:grpSp>
        <p:nvGrpSpPr>
          <p:cNvPr id="155" name="组合 14"/>
          <p:cNvGrpSpPr/>
          <p:nvPr/>
        </p:nvGrpSpPr>
        <p:grpSpPr>
          <a:xfrm>
            <a:off x="609600" y="1005840"/>
            <a:ext cx="10972800" cy="5044440"/>
            <a:chOff x="-635000" y="-635000"/>
            <a:chExt cx="10972800" cy="5044440"/>
          </a:xfrm>
        </p:grpSpPr>
        <p:pic>
          <p:nvPicPr>
            <p:cNvPr id="156" name="Image 3" descr="TEMP_Z_ORDER_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635000"/>
              <a:ext cx="10972800" cy="5044440"/>
            </a:xfrm>
            <a:prstGeom prst="rect">
              <a:avLst/>
            </a:prstGeom>
            <a:effectLst>
              <a:outerShdw blurRad="228600" dist="152400" dir="5400000" algn="bl" rotWithShape="0">
                <a:srgbClr val="000000">
                  <a:alpha val="10000"/>
                </a:srgbClr>
              </a:outerShdw>
            </a:effectLst>
          </p:spPr>
        </p:pic>
        <p:sp>
          <p:nvSpPr>
            <p:cNvPr id="157" name="Text 1" descr="TEMP_Z_ORDER_5"/>
            <p:cNvSpPr/>
            <p:nvPr/>
          </p:nvSpPr>
          <p:spPr>
            <a:xfrm>
              <a:off x="2636901" y="-254000"/>
              <a:ext cx="4438142" cy="28820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将等保要求转化为可操作的检查项：</a:t>
              </a:r>
              <a:endParaRPr lang="en-US" sz="2160"/>
            </a:p>
          </p:txBody>
        </p:sp>
      </p:grpSp>
      <p:graphicFrame>
        <p:nvGraphicFramePr>
          <p:cNvPr id="158" name="Table 0"/>
          <p:cNvGraphicFramePr>
            <a:graphicFrameLocks noGrp="1"/>
          </p:cNvGraphicFramePr>
          <p:nvPr/>
        </p:nvGraphicFramePr>
        <p:xfrm>
          <a:off x="990600" y="1905000"/>
          <a:ext cx="10210801" cy="3627120"/>
        </p:xfrm>
        <a:graphic>
          <a:graphicData uri="http://schemas.openxmlformats.org/drawingml/2006/table">
            <a:tbl>
              <a:tblPr/>
              <a:tblGrid>
                <a:gridCol w="2503096"/>
                <a:gridCol w="5937222"/>
                <a:gridCol w="1770483"/>
              </a:tblGrid>
              <a:tr h="518160">
                <a:tc>
                  <a:txBody>
                    <a:bodyPr wrap="square"/>
                    <a:lstStyle/>
                    <a:p>
                      <a:pPr marL="0" indent="0" algn="ctr">
                        <a:buNone/>
                      </a:pPr>
                      <a:r>
                        <a:rPr lang="en-US" sz="1680" b="1">
                          <a:solidFill>
                            <a:srgbClr val="000000"/>
                          </a:solidFill>
                        </a:rPr>
                        <a:t>检查维度</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检查内容</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b="1">
                          <a:solidFill>
                            <a:srgbClr val="000000"/>
                          </a:solidFill>
                        </a:rPr>
                        <a:t>对应标准</a:t>
                      </a:r>
                      <a:endParaRPr lang="en-US" sz="168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8160">
                <a:tc>
                  <a:txBody>
                    <a:bodyPr wrap="square"/>
                    <a:lstStyle/>
                    <a:p>
                      <a:pPr marL="0" indent="0" algn="ctr">
                        <a:buNone/>
                      </a:pPr>
                      <a:r>
                        <a:rPr lang="en-US" sz="1680">
                          <a:solidFill>
                            <a:srgbClr val="000000"/>
                          </a:solidFill>
                        </a:rPr>
                        <a:t>虚拟网络隔离</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不同租户的VPC是否隔离？</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8.2.2.1b)</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8160">
                <a:tc>
                  <a:txBody>
                    <a:bodyPr wrap="square"/>
                    <a:lstStyle/>
                    <a:p>
                      <a:pPr marL="0" indent="0" algn="ctr">
                        <a:buNone/>
                      </a:pPr>
                      <a:r>
                        <a:rPr lang="en-US" sz="1680">
                          <a:solidFill>
                            <a:srgbClr val="000000"/>
                          </a:solidFill>
                        </a:rPr>
                        <a:t>访问控制策略</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安全组/防火墙策略是否最小权限？</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8.2.3.1a)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8160">
                <a:tc>
                  <a:txBody>
                    <a:bodyPr wrap="square"/>
                    <a:lstStyle/>
                    <a:p>
                      <a:pPr marL="0" indent="0" algn="ctr">
                        <a:buNone/>
                      </a:pPr>
                      <a:r>
                        <a:rPr lang="en-US" sz="1680">
                          <a:solidFill>
                            <a:srgbClr val="000000"/>
                          </a:solidFill>
                        </a:rPr>
                        <a:t>入侵检测</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是否启用入侵检测/告警？</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8.2.3.2d)</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8160">
                <a:tc>
                  <a:txBody>
                    <a:bodyPr wrap="square"/>
                    <a:lstStyle/>
                    <a:p>
                      <a:pPr marL="0" indent="0" algn="ctr">
                        <a:buNone/>
                      </a:pPr>
                      <a:r>
                        <a:rPr lang="en-US" sz="1680">
                          <a:solidFill>
                            <a:srgbClr val="000000"/>
                          </a:solidFill>
                        </a:rPr>
                        <a:t>安全审计</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特权操作是否记录日志？</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8.2.3.3a)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8160">
                <a:tc>
                  <a:txBody>
                    <a:bodyPr wrap="square"/>
                    <a:lstStyle/>
                    <a:p>
                      <a:pPr marL="0" indent="0" algn="ctr">
                        <a:buNone/>
                      </a:pPr>
                      <a:r>
                        <a:rPr lang="en-US" sz="1680">
                          <a:solidFill>
                            <a:srgbClr val="000000"/>
                          </a:solidFill>
                        </a:rPr>
                        <a:t>镜像安全</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是否使用加固镜像？</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8.2.4.4a)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18160">
                <a:tc>
                  <a:txBody>
                    <a:bodyPr wrap="square"/>
                    <a:lstStyle/>
                    <a:p>
                      <a:pPr marL="0" indent="0" algn="ctr">
                        <a:buNone/>
                      </a:pPr>
                      <a:r>
                        <a:rPr lang="en-US" sz="1680">
                          <a:solidFill>
                            <a:srgbClr val="000000"/>
                          </a:solidFill>
                        </a:rPr>
                        <a:t>数据备份</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客户是否有本地备份？</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8.2.4.6a)</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750"/>
                                        <p:tgtEl>
                                          <p:spTgt spid="154"/>
                                        </p:tgtEl>
                                      </p:cBhvr>
                                    </p:animEffect>
                                  </p:childTnLst>
                                </p:cTn>
                              </p:par>
                            </p:childTnLst>
                          </p:cTn>
                        </p:par>
                        <p:par>
                          <p:cTn id="8" fill="hold">
                            <p:stCondLst>
                              <p:cond delay="1000"/>
                            </p:stCondLst>
                            <p:childTnLst>
                              <p:par>
                                <p:cTn id="9" presetID="31" presetClass="entr" presetSubtype="0" fill="hold" grpId="2" nodeType="afterEffect">
                                  <p:stCondLst>
                                    <p:cond delay="0"/>
                                  </p:stCondLst>
                                  <p:iterate type="lt">
                                    <p:tmPct val="5000"/>
                                  </p:iterate>
                                  <p:childTnLst>
                                    <p:set>
                                      <p:cBhvr>
                                        <p:cTn id="10" dur="1" fill="hold">
                                          <p:stCondLst>
                                            <p:cond delay="0"/>
                                          </p:stCondLst>
                                        </p:cTn>
                                        <p:tgtEl>
                                          <p:spTgt spid="155"/>
                                        </p:tgtEl>
                                        <p:attrNameLst>
                                          <p:attrName>style.visibility</p:attrName>
                                        </p:attrNameLst>
                                      </p:cBhvr>
                                      <p:to>
                                        <p:strVal val="visible"/>
                                      </p:to>
                                    </p:set>
                                    <p:anim calcmode="lin" valueType="num">
                                      <p:cBhvr>
                                        <p:cTn id="11" dur="750" fill="hold"/>
                                        <p:tgtEl>
                                          <p:spTgt spid="155"/>
                                        </p:tgtEl>
                                        <p:attrNameLst>
                                          <p:attrName>ppt_w</p:attrName>
                                        </p:attrNameLst>
                                      </p:cBhvr>
                                      <p:tavLst>
                                        <p:tav tm="0">
                                          <p:val>
                                            <p:fltVal val="0"/>
                                          </p:val>
                                        </p:tav>
                                        <p:tav tm="100000">
                                          <p:val>
                                            <p:strVal val="#ppt_w"/>
                                          </p:val>
                                        </p:tav>
                                      </p:tavLst>
                                    </p:anim>
                                    <p:anim calcmode="lin" valueType="num">
                                      <p:cBhvr>
                                        <p:cTn id="12" dur="750" fill="hold"/>
                                        <p:tgtEl>
                                          <p:spTgt spid="155"/>
                                        </p:tgtEl>
                                        <p:attrNameLst>
                                          <p:attrName>ppt_h</p:attrName>
                                        </p:attrNameLst>
                                      </p:cBhvr>
                                      <p:tavLst>
                                        <p:tav tm="0">
                                          <p:val>
                                            <p:fltVal val="0"/>
                                          </p:val>
                                        </p:tav>
                                        <p:tav tm="100000">
                                          <p:val>
                                            <p:strVal val="#ppt_h"/>
                                          </p:val>
                                        </p:tav>
                                      </p:tavLst>
                                    </p:anim>
                                    <p:anim calcmode="lin" valueType="num">
                                      <p:cBhvr>
                                        <p:cTn id="13" dur="750" fill="hold"/>
                                        <p:tgtEl>
                                          <p:spTgt spid="155"/>
                                        </p:tgtEl>
                                        <p:attrNameLst>
                                          <p:attrName>style.rotation</p:attrName>
                                        </p:attrNameLst>
                                      </p:cBhvr>
                                      <p:tavLst>
                                        <p:tav tm="0">
                                          <p:val>
                                            <p:fltVal val="90"/>
                                          </p:val>
                                        </p:tav>
                                        <p:tav tm="100000">
                                          <p:val>
                                            <p:fltVal val="0"/>
                                          </p:val>
                                        </p:tav>
                                      </p:tavLst>
                                    </p:anim>
                                    <p:animEffect transition="in" filter="fade">
                                      <p:cBhvr>
                                        <p:cTn id="14" dur="750"/>
                                        <p:tgtEl>
                                          <p:spTgt spid="155"/>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58" name=""/>
        <p:cNvGrpSpPr/>
        <p:nvPr/>
      </p:nvGrpSpPr>
      <p:grpSpPr>
        <a:xfrm>
          <a:off x="0" y="0"/>
          <a:ext cx="0" cy="0"/>
          <a:chOff x="0" y="0"/>
          <a:chExt cx="0" cy="0"/>
        </a:xfrm>
      </p:grpSpPr>
      <p:pic>
        <p:nvPicPr>
          <p:cNvPr id="259"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260"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261"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262"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云平台配置检查工具介绍</a:t>
            </a:r>
            <a:endParaRPr lang="en-US" sz="2760"/>
          </a:p>
        </p:txBody>
      </p:sp>
      <p:grpSp>
        <p:nvGrpSpPr>
          <p:cNvPr id="263" name="组合 43"/>
          <p:cNvGrpSpPr/>
          <p:nvPr/>
        </p:nvGrpSpPr>
        <p:grpSpPr>
          <a:xfrm>
            <a:off x="609600" y="1371600"/>
            <a:ext cx="3749040" cy="3048000"/>
            <a:chOff x="-635000" y="-635000"/>
            <a:chExt cx="3749040" cy="3048000"/>
          </a:xfrm>
        </p:grpSpPr>
        <p:pic>
          <p:nvPicPr>
            <p:cNvPr id="264" name="Image 3" descr="TEMP_Z_ORDER_4"/>
            <p:cNvPicPr>
              <a:picLocks noChangeAspect="1"/>
            </p:cNvPicPr>
            <p:nvPr/>
          </p:nvPicPr>
          <p:blipFill>
            <a:blip r:embed="rId4"/>
            <a:stretch>
              <a:fillRect/>
            </a:stretch>
          </p:blipFill>
          <p:spPr>
            <a:xfrm>
              <a:off x="-635000" y="-635000"/>
              <a:ext cx="3749040" cy="3048000"/>
            </a:xfrm>
            <a:prstGeom prst="rect">
              <a:avLst/>
            </a:prstGeom>
          </p:spPr>
        </p:pic>
        <p:pic>
          <p:nvPicPr>
            <p:cNvPr id="265" name="Image 4" descr="TEMP_Z_ORDER_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4960" y="-314960"/>
              <a:ext cx="60960" cy="243840"/>
            </a:xfrm>
            <a:prstGeom prst="rect">
              <a:avLst/>
            </a:prstGeom>
          </p:spPr>
        </p:pic>
        <p:sp>
          <p:nvSpPr>
            <p:cNvPr id="266" name="Text 1" descr="TEMP_Z_ORDER_6"/>
            <p:cNvSpPr/>
            <p:nvPr/>
          </p:nvSpPr>
          <p:spPr>
            <a:xfrm>
              <a:off x="-132080" y="-421640"/>
              <a:ext cx="1231392" cy="32023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000000"/>
                  </a:solidFill>
                  <a:latin typeface="思源黑体 CN Bold" pitchFamily="34" charset="0"/>
                  <a:ea typeface="思源黑体 CN Bold" pitchFamily="34" charset="-122"/>
                  <a:cs typeface="思源黑体 CN Bold" pitchFamily="34" charset="-120"/>
                </a:rPr>
                <a:t>功能概述</a:t>
              </a:r>
              <a:endParaRPr lang="en-US" sz="2400"/>
            </a:p>
          </p:txBody>
        </p:sp>
        <p:sp>
          <p:nvSpPr>
            <p:cNvPr id="267" name="Text 2" descr="TEMP_Z_ORDER_7"/>
            <p:cNvSpPr/>
            <p:nvPr/>
          </p:nvSpPr>
          <p:spPr>
            <a:xfrm>
              <a:off x="-314960" y="96520"/>
              <a:ext cx="3118104" cy="196151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600">
                  <a:solidFill>
                    <a:srgbClr val="000000"/>
                  </a:solidFill>
                  <a:latin typeface="思源黑体 CN Regular" pitchFamily="34" charset="0"/>
                  <a:ea typeface="思源黑体 CN Regular" pitchFamily="34" charset="-122"/>
                  <a:cs typeface="思源黑体 CN Regular" pitchFamily="34" charset="-120"/>
                </a:rPr>
                <a:t>云安全中心（阿里云）/ 安全中心（华为云）等平台提供了“云平台配置检查”功能。自动检查云产品的安全配置是否符合最佳实践和合规要求（如等保2.0、CIS基线），识别配置风险并给出修复建议。</a:t>
              </a:r>
              <a:endParaRPr lang="en-US" sz="1600">
                <a:solidFill>
                  <a:srgbClr val="000000"/>
                </a:solidFill>
                <a:latin typeface="思源黑体 CN Regular" pitchFamily="34" charset="0"/>
                <a:ea typeface="思源黑体 CN Regular" pitchFamily="34" charset="-122"/>
                <a:cs typeface="思源黑体 CN Regular" pitchFamily="34" charset="-120"/>
              </a:endParaRPr>
            </a:p>
          </p:txBody>
        </p:sp>
      </p:grpSp>
      <p:grpSp>
        <p:nvGrpSpPr>
          <p:cNvPr id="268" name="组合 48"/>
          <p:cNvGrpSpPr/>
          <p:nvPr/>
        </p:nvGrpSpPr>
        <p:grpSpPr>
          <a:xfrm>
            <a:off x="4663440" y="1143000"/>
            <a:ext cx="6934200" cy="3048000"/>
            <a:chOff x="-635000" y="-635000"/>
            <a:chExt cx="6934200" cy="3048000"/>
          </a:xfrm>
        </p:grpSpPr>
        <p:pic>
          <p:nvPicPr>
            <p:cNvPr id="269" name="Image 5" descr="TEMP_Z_ORDER_8"/>
            <p:cNvPicPr>
              <a:picLocks noChangeAspect="1"/>
            </p:cNvPicPr>
            <p:nvPr/>
          </p:nvPicPr>
          <p:blipFill>
            <a:blip r:embed="rId7"/>
            <a:stretch>
              <a:fillRect/>
            </a:stretch>
          </p:blipFill>
          <p:spPr>
            <a:xfrm>
              <a:off x="-635000" y="-635000"/>
              <a:ext cx="6934200" cy="3048000"/>
            </a:xfrm>
            <a:prstGeom prst="rect">
              <a:avLst/>
            </a:prstGeom>
          </p:spPr>
        </p:pic>
        <p:pic>
          <p:nvPicPr>
            <p:cNvPr id="270" name="Image 6" descr="TEMP_Z_ORDER_9"/>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4960" y="-314960"/>
              <a:ext cx="121920" cy="121920"/>
            </a:xfrm>
            <a:prstGeom prst="rect">
              <a:avLst/>
            </a:prstGeom>
          </p:spPr>
        </p:pic>
        <p:sp>
          <p:nvSpPr>
            <p:cNvPr id="271" name="Text 3" descr="TEMP_Z_ORDER_10"/>
            <p:cNvSpPr/>
            <p:nvPr/>
          </p:nvSpPr>
          <p:spPr>
            <a:xfrm>
              <a:off x="-71120" y="-436880"/>
              <a:ext cx="3456877"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000000"/>
                  </a:solidFill>
                  <a:latin typeface="思源黑体 CN Bold" pitchFamily="34" charset="0"/>
                  <a:ea typeface="思源黑体 CN Bold" pitchFamily="34" charset="-122"/>
                  <a:cs typeface="思源黑体 CN Bold" pitchFamily="34" charset="-120"/>
                </a:rPr>
                <a:t>检查范围示例（以阿里云为例）</a:t>
              </a:r>
              <a:endParaRPr lang="en-US" sz="1920"/>
            </a:p>
          </p:txBody>
        </p:sp>
      </p:grpSp>
      <p:graphicFrame>
        <p:nvGraphicFramePr>
          <p:cNvPr id="272" name="Table 0"/>
          <p:cNvGraphicFramePr>
            <a:graphicFrameLocks noGrp="1"/>
          </p:cNvGraphicFramePr>
          <p:nvPr/>
        </p:nvGraphicFramePr>
        <p:xfrm>
          <a:off x="4862830" y="1828800"/>
          <a:ext cx="6630035" cy="2499360"/>
        </p:xfrm>
        <a:graphic>
          <a:graphicData uri="http://schemas.openxmlformats.org/drawingml/2006/table">
            <a:tbl>
              <a:tblPr/>
              <a:tblGrid>
                <a:gridCol w="1181100"/>
                <a:gridCol w="5448935"/>
              </a:tblGrid>
              <a:tr h="331713">
                <a:tc>
                  <a:txBody>
                    <a:bodyPr wrap="square"/>
                    <a:lstStyle/>
                    <a:p>
                      <a:pPr marL="0" indent="0" algn="ctr">
                        <a:buNone/>
                      </a:pPr>
                      <a:r>
                        <a:rPr lang="en-US" sz="1400">
                          <a:solidFill>
                            <a:srgbClr val="000000"/>
                          </a:solidFill>
                        </a:rPr>
                        <a:t>检查项类别</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检查内容</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400">
                          <a:solidFill>
                            <a:srgbClr val="000000"/>
                          </a:solidFill>
                        </a:rPr>
                        <a:t>身份认证</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l">
                        <a:buNone/>
                      </a:pPr>
                      <a:r>
                        <a:rPr lang="en-US" sz="1400">
                          <a:solidFill>
                            <a:srgbClr val="000000"/>
                          </a:solidFill>
                        </a:rPr>
                        <a:t>是否启用MFA（多因素认证）、是否存在闲置账户、是否存在弱密码策略</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400">
                          <a:solidFill>
                            <a:srgbClr val="000000"/>
                          </a:solidFill>
                        </a:rPr>
                        <a:t>网络安全</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安全组规则是否过于宽松、是否开放高危端口（22/3389/3306等）</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400">
                          <a:solidFill>
                            <a:srgbClr val="000000"/>
                          </a:solidFill>
                        </a:rPr>
                        <a:t>数据安全</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OSS存储桶是否公共访问、RDS实例是否开启加密、是否启用备份</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400">
                          <a:solidFill>
                            <a:srgbClr val="000000"/>
                          </a:solidFill>
                        </a:rPr>
                        <a:t>审计日志</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是否启用操作审计、日志留存时间是否满足合规要求</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31713">
                <a:tc>
                  <a:txBody>
                    <a:bodyPr wrap="square"/>
                    <a:lstStyle/>
                    <a:p>
                      <a:pPr marL="0" indent="0" algn="ctr">
                        <a:buNone/>
                      </a:pPr>
                      <a:r>
                        <a:rPr lang="en-US" sz="1400">
                          <a:solidFill>
                            <a:srgbClr val="000000"/>
                          </a:solidFill>
                        </a:rPr>
                        <a:t>合规基线</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400">
                          <a:solidFill>
                            <a:srgbClr val="000000"/>
                          </a:solidFill>
                        </a:rPr>
                        <a:t>是否满足等保2.0、CIS、ISO27001等基线要求</a:t>
                      </a:r>
                      <a:endParaRPr lang="en-US" sz="1400">
                        <a:solidFill>
                          <a:srgbClr val="000000"/>
                        </a:solidFill>
                      </a:endParaRPr>
                    </a:p>
                  </a:txBody>
                  <a:tcPr marL="84096" marR="84096" marT="84096" marB="84096"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273" name="组合 28"/>
          <p:cNvGrpSpPr/>
          <p:nvPr/>
        </p:nvGrpSpPr>
        <p:grpSpPr>
          <a:xfrm>
            <a:off x="609600" y="4724400"/>
            <a:ext cx="10972800" cy="1828800"/>
            <a:chOff x="-635000" y="-635000"/>
            <a:chExt cx="10972800" cy="1828800"/>
          </a:xfrm>
        </p:grpSpPr>
        <p:pic>
          <p:nvPicPr>
            <p:cNvPr id="274" name="Image 7" descr="TEMP_Z_ORDER_12"/>
            <p:cNvPicPr>
              <a:picLocks noChangeAspect="1"/>
            </p:cNvPicPr>
            <p:nvPr/>
          </p:nvPicPr>
          <p:blipFill>
            <a:blip r:embed="rId10"/>
            <a:stretch>
              <a:fillRect/>
            </a:stretch>
          </p:blipFill>
          <p:spPr>
            <a:xfrm>
              <a:off x="-635000" y="-635000"/>
              <a:ext cx="10972800" cy="1828800"/>
            </a:xfrm>
            <a:prstGeom prst="rect">
              <a:avLst/>
            </a:prstGeom>
          </p:spPr>
        </p:pic>
        <p:pic>
          <p:nvPicPr>
            <p:cNvPr id="275" name="Image 8" descr="TEMP_Z_ORDER_13"/>
            <p:cNvPicPr>
              <a:picLocks noChangeAspect="1"/>
            </p:cNvPicPr>
            <p:nvPr/>
          </p:nvPicPr>
          <p:blipFill>
            <a:blip r:embed="rId11"/>
            <a:stretch>
              <a:fillRect/>
            </a:stretch>
          </p:blipFill>
          <p:spPr>
            <a:xfrm>
              <a:off x="767080" y="-208280"/>
              <a:ext cx="8168640" cy="30480"/>
            </a:xfrm>
            <a:prstGeom prst="rect">
              <a:avLst/>
            </a:prstGeom>
          </p:spPr>
        </p:pic>
        <p:pic>
          <p:nvPicPr>
            <p:cNvPr id="276" name="Image 9" descr="TEMP_Z_ORDER_14"/>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4680" y="-452120"/>
              <a:ext cx="518160" cy="518160"/>
            </a:xfrm>
            <a:prstGeom prst="rect">
              <a:avLst/>
            </a:prstGeom>
            <a:effectLst>
              <a:outerShdw blurRad="152400" dist="50800" dir="16200000" algn="bl" rotWithShape="0">
                <a:srgbClr val="4576E6">
                  <a:alpha val="50000"/>
                </a:srgbClr>
              </a:outerShdw>
            </a:effectLst>
          </p:spPr>
        </p:pic>
        <p:sp>
          <p:nvSpPr>
            <p:cNvPr id="277" name="Text 4" descr="TEMP_Z_ORDER_15"/>
            <p:cNvSpPr/>
            <p:nvPr/>
          </p:nvSpPr>
          <p:spPr>
            <a:xfrm>
              <a:off x="699151"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01</a:t>
              </a:r>
              <a:endParaRPr lang="en-US" sz="1920"/>
            </a:p>
          </p:txBody>
        </p:sp>
        <p:sp>
          <p:nvSpPr>
            <p:cNvPr id="278" name="Text 5" descr="TEMP_Z_ORDER_16"/>
            <p:cNvSpPr/>
            <p:nvPr/>
          </p:nvSpPr>
          <p:spPr>
            <a:xfrm>
              <a:off x="-254000" y="233680"/>
              <a:ext cx="2264664" cy="5888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授权云安全中心访问云资源</a:t>
              </a:r>
              <a:r>
                <a:rPr lang="en-US" sz="1440">
                  <a:solidFill>
                    <a:srgbClr val="000000"/>
                  </a:solidFill>
                  <a:latin typeface="思源黑体 CN Regular" pitchFamily="34" charset="0"/>
                  <a:ea typeface="思源黑体 CN Regular" pitchFamily="34" charset="-122"/>
                  <a:cs typeface="思源黑体 CN Regular" pitchFamily="34" charset="-120"/>
                </a:rPr>
                <a:t>（创建服务关联角色）</a:t>
              </a:r>
              <a:endParaRPr lang="en-US" sz="1680"/>
            </a:p>
          </p:txBody>
        </p:sp>
        <p:pic>
          <p:nvPicPr>
            <p:cNvPr id="279" name="Image 10" descr="TEMP_Z_ORDER_17"/>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66440" y="-452120"/>
              <a:ext cx="518160" cy="518160"/>
            </a:xfrm>
            <a:prstGeom prst="rect">
              <a:avLst/>
            </a:prstGeom>
            <a:effectLst>
              <a:outerShdw blurRad="152400" dist="50800" dir="16200000" algn="bl" rotWithShape="0">
                <a:srgbClr val="4576E6">
                  <a:alpha val="50000"/>
                </a:srgbClr>
              </a:outerShdw>
            </a:effectLst>
          </p:spPr>
        </p:pic>
        <p:sp>
          <p:nvSpPr>
            <p:cNvPr id="280" name="Text 6" descr="TEMP_Z_ORDER_18"/>
            <p:cNvSpPr/>
            <p:nvPr/>
          </p:nvSpPr>
          <p:spPr>
            <a:xfrm>
              <a:off x="3350911"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02</a:t>
              </a:r>
              <a:endParaRPr lang="en-US" sz="1920"/>
            </a:p>
          </p:txBody>
        </p:sp>
        <p:sp>
          <p:nvSpPr>
            <p:cNvPr id="281" name="Text 7" descr="TEMP_Z_ORDER_19"/>
            <p:cNvSpPr/>
            <p:nvPr/>
          </p:nvSpPr>
          <p:spPr>
            <a:xfrm>
              <a:off x="2885440" y="233680"/>
              <a:ext cx="1289304" cy="58882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执行全量扫描或按策略扫描</a:t>
              </a:r>
              <a:endParaRPr lang="en-US" sz="1680"/>
            </a:p>
          </p:txBody>
        </p:sp>
        <p:pic>
          <p:nvPicPr>
            <p:cNvPr id="282" name="Image 11" descr="TEMP_Z_ORDER_20"/>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18200" y="-452120"/>
              <a:ext cx="518160" cy="518160"/>
            </a:xfrm>
            <a:prstGeom prst="rect">
              <a:avLst/>
            </a:prstGeom>
            <a:effectLst>
              <a:outerShdw blurRad="152400" dist="50800" dir="16200000" algn="bl" rotWithShape="0">
                <a:srgbClr val="4576E6">
                  <a:alpha val="50000"/>
                </a:srgbClr>
              </a:outerShdw>
            </a:effectLst>
          </p:spPr>
        </p:pic>
        <p:sp>
          <p:nvSpPr>
            <p:cNvPr id="283" name="Text 8" descr="TEMP_Z_ORDER_21"/>
            <p:cNvSpPr/>
            <p:nvPr/>
          </p:nvSpPr>
          <p:spPr>
            <a:xfrm>
              <a:off x="6017911"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03</a:t>
              </a:r>
              <a:endParaRPr lang="en-US" sz="1920"/>
            </a:p>
          </p:txBody>
        </p:sp>
        <p:sp>
          <p:nvSpPr>
            <p:cNvPr id="284" name="Text 9" descr="TEMP_Z_ORDER_22"/>
            <p:cNvSpPr/>
            <p:nvPr/>
          </p:nvSpPr>
          <p:spPr>
            <a:xfrm>
              <a:off x="5537200" y="233680"/>
              <a:ext cx="1304544" cy="54738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查看检查结果</a:t>
              </a:r>
              <a:r>
                <a:rPr lang="en-US" sz="1440">
                  <a:solidFill>
                    <a:srgbClr val="000000"/>
                  </a:solidFill>
                  <a:latin typeface="思源黑体 CN Regular" pitchFamily="34" charset="0"/>
                  <a:ea typeface="思源黑体 CN Regular" pitchFamily="34" charset="-122"/>
                  <a:cs typeface="思源黑体 CN Regular" pitchFamily="34" charset="-120"/>
                </a:rPr>
                <a:t>（风险项列表）</a:t>
              </a:r>
              <a:endParaRPr lang="en-US" sz="1680"/>
            </a:p>
          </p:txBody>
        </p:sp>
        <p:pic>
          <p:nvPicPr>
            <p:cNvPr id="285" name="Image 12" descr="TEMP_Z_ORDER_23"/>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69960" y="-452120"/>
              <a:ext cx="518160" cy="518160"/>
            </a:xfrm>
            <a:prstGeom prst="rect">
              <a:avLst/>
            </a:prstGeom>
            <a:effectLst>
              <a:outerShdw blurRad="152400" dist="50800" dir="16200000" algn="bl" rotWithShape="0">
                <a:srgbClr val="4576E6">
                  <a:alpha val="50000"/>
                </a:srgbClr>
              </a:outerShdw>
            </a:effectLst>
          </p:spPr>
        </p:pic>
        <p:sp>
          <p:nvSpPr>
            <p:cNvPr id="286" name="Text 10" descr="TEMP_Z_ORDER_24"/>
            <p:cNvSpPr/>
            <p:nvPr/>
          </p:nvSpPr>
          <p:spPr>
            <a:xfrm>
              <a:off x="8669672" y="-370264"/>
              <a:ext cx="343122" cy="354449"/>
            </a:xfrm>
            <a:prstGeom prst="rect">
              <a:avLst/>
            </a:prstGeom>
            <a:noFill/>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04</a:t>
              </a:r>
              <a:endParaRPr lang="en-US" sz="1920"/>
            </a:p>
          </p:txBody>
        </p:sp>
        <p:sp>
          <p:nvSpPr>
            <p:cNvPr id="287" name="Text 11" descr="TEMP_Z_ORDER_25"/>
            <p:cNvSpPr/>
            <p:nvPr/>
          </p:nvSpPr>
          <p:spPr>
            <a:xfrm>
              <a:off x="8036560" y="233680"/>
              <a:ext cx="1624584" cy="54732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7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处理风险</a:t>
              </a:r>
              <a:r>
                <a:rPr lang="en-US" sz="1440">
                  <a:solidFill>
                    <a:srgbClr val="000000"/>
                  </a:solidFill>
                  <a:latin typeface="思源黑体 CN Regular" pitchFamily="34" charset="0"/>
                  <a:ea typeface="思源黑体 CN Regular" pitchFamily="34" charset="-122"/>
                  <a:cs typeface="思源黑体 CN Regular" pitchFamily="34" charset="-120"/>
                </a:rPr>
                <a:t>（修复/加白/忽略）</a:t>
              </a:r>
              <a:endParaRPr lang="en-US" sz="168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fade">
                                      <p:cBhvr>
                                        <p:cTn id="7" dur="750"/>
                                        <p:tgtEl>
                                          <p:spTgt spid="262"/>
                                        </p:tgtEl>
                                      </p:cBhvr>
                                    </p:animEffect>
                                  </p:childTnLst>
                                </p:cTn>
                              </p:par>
                            </p:childTnLst>
                          </p:cTn>
                        </p:par>
                        <p:par>
                          <p:cTn id="8" fill="hold">
                            <p:stCondLst>
                              <p:cond delay="1000"/>
                            </p:stCondLst>
                            <p:childTnLst>
                              <p:par>
                                <p:cTn id="9" presetID="2" presetClass="entr" presetSubtype="4" fill="hold" grpId="2" nodeType="afterEffect">
                                  <p:stCondLst>
                                    <p:cond delay="0"/>
                                  </p:stCondLst>
                                  <p:childTnLst>
                                    <p:set>
                                      <p:cBhvr>
                                        <p:cTn id="10" dur="1" fill="hold">
                                          <p:stCondLst>
                                            <p:cond delay="0"/>
                                          </p:stCondLst>
                                        </p:cTn>
                                        <p:tgtEl>
                                          <p:spTgt spid="263"/>
                                        </p:tgtEl>
                                        <p:attrNameLst>
                                          <p:attrName>style.visibility</p:attrName>
                                        </p:attrNameLst>
                                      </p:cBhvr>
                                      <p:to>
                                        <p:strVal val="visible"/>
                                      </p:to>
                                    </p:set>
                                    <p:anim calcmode="lin" valueType="num">
                                      <p:cBhvr additive="base">
                                        <p:cTn id="11" dur="750" fill="hold"/>
                                        <p:tgtEl>
                                          <p:spTgt spid="263"/>
                                        </p:tgtEl>
                                        <p:attrNameLst>
                                          <p:attrName>ppt_x</p:attrName>
                                        </p:attrNameLst>
                                      </p:cBhvr>
                                      <p:tavLst>
                                        <p:tav tm="0">
                                          <p:val>
                                            <p:strVal val="#ppt_x"/>
                                          </p:val>
                                        </p:tav>
                                        <p:tav tm="100000">
                                          <p:val>
                                            <p:strVal val="#ppt_x"/>
                                          </p:val>
                                        </p:tav>
                                      </p:tavLst>
                                    </p:anim>
                                    <p:anim calcmode="lin" valueType="num">
                                      <p:cBhvr additive="base">
                                        <p:cTn id="12" dur="750" fill="hold"/>
                                        <p:tgtEl>
                                          <p:spTgt spid="263"/>
                                        </p:tgtEl>
                                        <p:attrNameLst>
                                          <p:attrName>ppt_y</p:attrName>
                                        </p:attrNameLst>
                                      </p:cBhvr>
                                      <p:tavLst>
                                        <p:tav tm="0">
                                          <p:val>
                                            <p:strVal val="1+#ppt_h/2"/>
                                          </p:val>
                                        </p:tav>
                                        <p:tav tm="100000">
                                          <p:val>
                                            <p:strVal val="#ppt_y"/>
                                          </p:val>
                                        </p:tav>
                                      </p:tavLst>
                                    </p:anim>
                                  </p:childTnLst>
                                </p:cTn>
                              </p:par>
                            </p:childTnLst>
                          </p:cTn>
                        </p:par>
                        <p:par>
                          <p:cTn id="13" fill="hold">
                            <p:stCondLst>
                              <p:cond delay="2000"/>
                            </p:stCondLst>
                            <p:childTnLst>
                              <p:par>
                                <p:cTn id="14" presetID="2" presetClass="entr" presetSubtype="4" fill="hold" grpId="3" nodeType="afterEffect">
                                  <p:stCondLst>
                                    <p:cond delay="0"/>
                                  </p:stCondLst>
                                  <p:childTnLst>
                                    <p:set>
                                      <p:cBhvr>
                                        <p:cTn id="15" dur="1" fill="hold">
                                          <p:stCondLst>
                                            <p:cond delay="0"/>
                                          </p:stCondLst>
                                        </p:cTn>
                                        <p:tgtEl>
                                          <p:spTgt spid="268"/>
                                        </p:tgtEl>
                                        <p:attrNameLst>
                                          <p:attrName>style.visibility</p:attrName>
                                        </p:attrNameLst>
                                      </p:cBhvr>
                                      <p:to>
                                        <p:strVal val="visible"/>
                                      </p:to>
                                    </p:set>
                                    <p:anim calcmode="lin" valueType="num">
                                      <p:cBhvr additive="base">
                                        <p:cTn id="16" dur="750" fill="hold"/>
                                        <p:tgtEl>
                                          <p:spTgt spid="268"/>
                                        </p:tgtEl>
                                        <p:attrNameLst>
                                          <p:attrName>ppt_x</p:attrName>
                                        </p:attrNameLst>
                                      </p:cBhvr>
                                      <p:tavLst>
                                        <p:tav tm="0">
                                          <p:val>
                                            <p:strVal val="#ppt_x"/>
                                          </p:val>
                                        </p:tav>
                                        <p:tav tm="100000">
                                          <p:val>
                                            <p:strVal val="#ppt_x"/>
                                          </p:val>
                                        </p:tav>
                                      </p:tavLst>
                                    </p:anim>
                                    <p:anim calcmode="lin" valueType="num">
                                      <p:cBhvr additive="base">
                                        <p:cTn id="17" dur="750" fill="hold"/>
                                        <p:tgtEl>
                                          <p:spTgt spid="268"/>
                                        </p:tgtEl>
                                        <p:attrNameLst>
                                          <p:attrName>ppt_y</p:attrName>
                                        </p:attrNameLst>
                                      </p:cBhvr>
                                      <p:tavLst>
                                        <p:tav tm="0">
                                          <p:val>
                                            <p:strVal val="1+#ppt_h/2"/>
                                          </p:val>
                                        </p:tav>
                                        <p:tav tm="100000">
                                          <p:val>
                                            <p:strVal val="#ppt_y"/>
                                          </p:val>
                                        </p:tav>
                                      </p:tavLst>
                                    </p:anim>
                                  </p:childTnLst>
                                </p:cTn>
                              </p:par>
                            </p:childTnLst>
                          </p:cTn>
                        </p:par>
                        <p:par>
                          <p:cTn id="18" fill="hold">
                            <p:stCondLst>
                              <p:cond delay="3000"/>
                            </p:stCondLst>
                            <p:childTnLst>
                              <p:par>
                                <p:cTn id="19" presetID="2" presetClass="entr" presetSubtype="4" fill="hold" grpId="4" nodeType="afterEffect">
                                  <p:stCondLst>
                                    <p:cond delay="0"/>
                                  </p:stCondLst>
                                  <p:childTnLst>
                                    <p:set>
                                      <p:cBhvr>
                                        <p:cTn id="20" dur="1" fill="hold">
                                          <p:stCondLst>
                                            <p:cond delay="0"/>
                                          </p:stCondLst>
                                        </p:cTn>
                                        <p:tgtEl>
                                          <p:spTgt spid="273"/>
                                        </p:tgtEl>
                                        <p:attrNameLst>
                                          <p:attrName>style.visibility</p:attrName>
                                        </p:attrNameLst>
                                      </p:cBhvr>
                                      <p:to>
                                        <p:strVal val="visible"/>
                                      </p:to>
                                    </p:set>
                                    <p:anim calcmode="lin" valueType="num">
                                      <p:cBhvr additive="base">
                                        <p:cTn id="21" dur="750" fill="hold"/>
                                        <p:tgtEl>
                                          <p:spTgt spid="273"/>
                                        </p:tgtEl>
                                        <p:attrNameLst>
                                          <p:attrName>ppt_x</p:attrName>
                                        </p:attrNameLst>
                                      </p:cBhvr>
                                      <p:tavLst>
                                        <p:tav tm="0">
                                          <p:val>
                                            <p:strVal val="#ppt_x"/>
                                          </p:val>
                                        </p:tav>
                                        <p:tav tm="100000">
                                          <p:val>
                                            <p:strVal val="#ppt_x"/>
                                          </p:val>
                                        </p:tav>
                                      </p:tavLst>
                                    </p:anim>
                                    <p:anim calcmode="lin" valueType="num">
                                      <p:cBhvr additive="base">
                                        <p:cTn id="22" dur="750" fill="hold"/>
                                        <p:tgtEl>
                                          <p:spTgt spid="2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1" name=""/>
        <p:cNvGrpSpPr/>
        <p:nvPr/>
      </p:nvGrpSpPr>
      <p:grpSpPr>
        <a:xfrm>
          <a:off x="0" y="0"/>
          <a:ext cx="0" cy="0"/>
          <a:chOff x="0" y="0"/>
          <a:chExt cx="0" cy="0"/>
        </a:xfrm>
      </p:grpSpPr>
      <p:pic>
        <p:nvPicPr>
          <p:cNvPr id="30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0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30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305"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云平台配置检查——等保测评视角</a:t>
            </a:r>
            <a:endParaRPr lang="en-US" sz="2760"/>
          </a:p>
        </p:txBody>
      </p:sp>
      <p:grpSp>
        <p:nvGrpSpPr>
          <p:cNvPr id="306" name="组合 20"/>
          <p:cNvGrpSpPr/>
          <p:nvPr/>
        </p:nvGrpSpPr>
        <p:grpSpPr>
          <a:xfrm>
            <a:off x="609600" y="5212080"/>
            <a:ext cx="10972800" cy="1126490"/>
            <a:chOff x="-635000" y="-635000"/>
            <a:chExt cx="10972800" cy="1341120"/>
          </a:xfrm>
        </p:grpSpPr>
        <p:pic>
          <p:nvPicPr>
            <p:cNvPr id="307" name="Image 3" descr="TEMP_Z_ORDER_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000" y="-635000"/>
              <a:ext cx="10972800" cy="1341120"/>
            </a:xfrm>
            <a:prstGeom prst="rect">
              <a:avLst/>
            </a:prstGeom>
            <a:effectLst>
              <a:outerShdw blurRad="91440" dist="60960" dir="5400000" algn="bl" rotWithShape="0">
                <a:srgbClr val="000000">
                  <a:alpha val="10000"/>
                </a:srgbClr>
              </a:outerShdw>
            </a:effectLst>
          </p:spPr>
        </p:pic>
        <p:pic>
          <p:nvPicPr>
            <p:cNvPr id="308" name="Image 4" descr="TEMP_Z_ORDER_5"/>
            <p:cNvPicPr>
              <a:picLocks noChangeAspect="1"/>
            </p:cNvPicPr>
            <p:nvPr/>
          </p:nvPicPr>
          <p:blipFill>
            <a:blip r:embed="rId6"/>
            <a:stretch>
              <a:fillRect/>
            </a:stretch>
          </p:blipFill>
          <p:spPr>
            <a:xfrm>
              <a:off x="-375920" y="-269240"/>
              <a:ext cx="609600" cy="609600"/>
            </a:xfrm>
            <a:prstGeom prst="rect">
              <a:avLst/>
            </a:prstGeom>
          </p:spPr>
        </p:pic>
        <p:pic>
          <p:nvPicPr>
            <p:cNvPr id="309" name="Image 5" descr="TEMP_Z_ORDER_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000" y="-147320"/>
              <a:ext cx="365760" cy="365760"/>
            </a:xfrm>
            <a:prstGeom prst="rect">
              <a:avLst/>
            </a:prstGeom>
          </p:spPr>
        </p:pic>
        <p:sp>
          <p:nvSpPr>
            <p:cNvPr id="310" name="Text 1" descr="TEMP_Z_ORDER_7"/>
            <p:cNvSpPr/>
            <p:nvPr/>
          </p:nvSpPr>
          <p:spPr>
            <a:xfrm>
              <a:off x="416560" y="-375920"/>
              <a:ext cx="9671304" cy="91550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000" b="1">
                  <a:solidFill>
                    <a:srgbClr val="FFFFFF"/>
                  </a:solidFill>
                  <a:latin typeface="思源黑体 CN Bold" pitchFamily="34" charset="0"/>
                  <a:ea typeface="思源黑体 CN Bold" pitchFamily="34" charset="-122"/>
                  <a:cs typeface="思源黑体 CN Bold" pitchFamily="34" charset="-120"/>
                </a:rPr>
                <a:t>教学要点：</a:t>
              </a:r>
              <a:r>
                <a:rPr lang="en-US" sz="2000">
                  <a:solidFill>
                    <a:srgbClr val="FFFFFF">
                      <a:alpha val="90000"/>
                    </a:srgbClr>
                  </a:solidFill>
                  <a:latin typeface="思源黑体 CN Regular" pitchFamily="34" charset="0"/>
                  <a:ea typeface="思源黑体 CN Regular" pitchFamily="34" charset="-122"/>
                  <a:cs typeface="思源黑体 CN Regular" pitchFamily="34" charset="-120"/>
                </a:rPr>
                <a:t>云平台配置检查是云安全测评的重要技术手段，但不是唯一手段——需要结合登录核查、访谈等综合判断。</a:t>
              </a:r>
              <a:endParaRPr lang="en-US" sz="2000">
                <a:solidFill>
                  <a:srgbClr val="FFFFFF">
                    <a:alpha val="90000"/>
                  </a:srgbClr>
                </a:solidFill>
                <a:latin typeface="思源黑体 CN Regular" pitchFamily="34" charset="0"/>
                <a:ea typeface="思源黑体 CN Regular" pitchFamily="34" charset="-122"/>
                <a:cs typeface="思源黑体 CN Regular" pitchFamily="34" charset="-120"/>
              </a:endParaRPr>
            </a:p>
          </p:txBody>
        </p:sp>
      </p:grpSp>
      <p:grpSp>
        <p:nvGrpSpPr>
          <p:cNvPr id="311" name="组合 25"/>
          <p:cNvGrpSpPr/>
          <p:nvPr/>
        </p:nvGrpSpPr>
        <p:grpSpPr>
          <a:xfrm>
            <a:off x="609600" y="1371600"/>
            <a:ext cx="10972800" cy="3535680"/>
            <a:chOff x="-635000" y="-635000"/>
            <a:chExt cx="10972800" cy="3535680"/>
          </a:xfrm>
        </p:grpSpPr>
        <p:pic>
          <p:nvPicPr>
            <p:cNvPr id="312" name="Image 6" descr="TEMP_Z_ORDER_8"/>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000" y="-635000"/>
              <a:ext cx="10972800" cy="3535680"/>
            </a:xfrm>
            <a:prstGeom prst="rect">
              <a:avLst/>
            </a:prstGeom>
            <a:effectLst>
              <a:outerShdw blurRad="228600" dist="152400" dir="5400000" algn="bl" rotWithShape="0">
                <a:srgbClr val="000000">
                  <a:alpha val="10000"/>
                </a:srgbClr>
              </a:outerShdw>
            </a:effectLst>
          </p:spPr>
        </p:pic>
      </p:grpSp>
      <p:graphicFrame>
        <p:nvGraphicFramePr>
          <p:cNvPr id="313" name="Table 0"/>
          <p:cNvGraphicFramePr>
            <a:graphicFrameLocks noGrp="1"/>
          </p:cNvGraphicFramePr>
          <p:nvPr/>
        </p:nvGraphicFramePr>
        <p:xfrm>
          <a:off x="868680" y="1630680"/>
          <a:ext cx="10454639" cy="3017520"/>
        </p:xfrm>
        <a:graphic>
          <a:graphicData uri="http://schemas.openxmlformats.org/drawingml/2006/table">
            <a:tbl>
              <a:tblPr/>
              <a:tblGrid>
                <a:gridCol w="2045141"/>
                <a:gridCol w="4013971"/>
                <a:gridCol w="4395527"/>
              </a:tblGrid>
              <a:tr h="502920">
                <a:tc>
                  <a:txBody>
                    <a:bodyPr wrap="square"/>
                    <a:lstStyle/>
                    <a:p>
                      <a:pPr marL="0" indent="0" algn="ctr">
                        <a:buNone/>
                      </a:pPr>
                      <a:r>
                        <a:rPr lang="en-US" sz="1800" b="1">
                          <a:solidFill>
                            <a:srgbClr val="000000"/>
                          </a:solidFill>
                        </a:rPr>
                        <a:t>配置检查结果</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1">
                          <a:solidFill>
                            <a:srgbClr val="000000"/>
                          </a:solidFill>
                        </a:rPr>
                        <a:t>等保测评影响</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800" b="1">
                          <a:solidFill>
                            <a:srgbClr val="000000"/>
                          </a:solidFill>
                        </a:rPr>
                        <a:t>处理方式</a:t>
                      </a:r>
                      <a:endParaRPr lang="en-US" sz="1800" b="1">
                        <a:solidFill>
                          <a:srgbClr val="000000"/>
                        </a:solidFill>
                      </a:endParaRPr>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02920">
                <a:tc>
                  <a:txBody>
                    <a:bodyPr wrap="square"/>
                    <a:lstStyle/>
                    <a:p>
                      <a:pPr marL="0" indent="0" algn="ctr">
                        <a:buNone/>
                      </a:pPr>
                      <a:r>
                        <a:rPr lang="en-US" sz="1680">
                          <a:solidFill>
                            <a:srgbClr val="000000"/>
                          </a:solidFill>
                        </a:rPr>
                        <a:t>存储桶公共访问</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不符合数据保密性（8.2.4.5）</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记录为不符合项，建议修改权限</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02920">
                <a:tc>
                  <a:txBody>
                    <a:bodyPr wrap="square"/>
                    <a:lstStyle/>
                    <a:p>
                      <a:pPr marL="0" indent="0" algn="ctr">
                        <a:buNone/>
                      </a:pPr>
                      <a:r>
                        <a:rPr lang="en-US" sz="1680">
                          <a:solidFill>
                            <a:srgbClr val="000000"/>
                          </a:solidFill>
                        </a:rPr>
                        <a:t>安全组过于宽松</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不符合访问控制（8.2.3.1）</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记录为不符合项，建议重新配置</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02920">
                <a:tc>
                  <a:txBody>
                    <a:bodyPr wrap="square"/>
                    <a:lstStyle/>
                    <a:p>
                      <a:pPr marL="0" indent="0" algn="ctr">
                        <a:buNone/>
                      </a:pPr>
                      <a:r>
                        <a:rPr lang="en-US" sz="1680">
                          <a:solidFill>
                            <a:srgbClr val="000000"/>
                          </a:solidFill>
                        </a:rPr>
                        <a:t>未启用操作审计</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不符合安全审计（8.2.3.3）</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记录为不符合项，建议启用审计</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02920">
                <a:tc>
                  <a:txBody>
                    <a:bodyPr wrap="square"/>
                    <a:lstStyle/>
                    <a:p>
                      <a:pPr marL="0" indent="0" algn="ctr">
                        <a:buNone/>
                      </a:pPr>
                      <a:r>
                        <a:rPr lang="en-US" sz="1680">
                          <a:solidFill>
                            <a:srgbClr val="000000"/>
                          </a:solidFill>
                        </a:rPr>
                        <a:t>使用默认镜像</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不符合入侵防范（8.2.4.3）</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记录为部分符合，建议使用加固镜像</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02920">
                <a:tc>
                  <a:txBody>
                    <a:bodyPr wrap="square"/>
                    <a:lstStyle/>
                    <a:p>
                      <a:pPr marL="0" indent="0" algn="ctr">
                        <a:buNone/>
                      </a:pPr>
                      <a:r>
                        <a:rPr lang="en-US" sz="1680">
                          <a:solidFill>
                            <a:srgbClr val="000000"/>
                          </a:solidFill>
                        </a:rPr>
                        <a:t>未配置备份</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不符合数据备份恢复（8.2.4.6）</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wrap="square"/>
                    <a:lstStyle/>
                    <a:p>
                      <a:pPr marL="0" indent="0" algn="ctr">
                        <a:buNone/>
                      </a:pPr>
                      <a:r>
                        <a:rPr lang="en-US" sz="1680">
                          <a:solidFill>
                            <a:srgbClr val="000000"/>
                          </a:solidFill>
                        </a:rPr>
                        <a:t>记录为不符合项，建议配置备份策略</a:t>
                      </a:r>
                      <a:endParaRPr lang="en-US" sz="1680"/>
                    </a:p>
                  </a:txBody>
                  <a:tcPr marT="91440" marB="91440" vert="horz"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pSp>
        <p:nvGrpSpPr>
          <p:cNvPr id="314" name="组合 27"/>
          <p:cNvGrpSpPr/>
          <p:nvPr/>
        </p:nvGrpSpPr>
        <p:grpSpPr>
          <a:xfrm>
            <a:off x="624840" y="1386840"/>
            <a:ext cx="10942320" cy="60960"/>
            <a:chOff x="-635000" y="-635000"/>
            <a:chExt cx="10942320" cy="60960"/>
          </a:xfrm>
        </p:grpSpPr>
        <p:pic>
          <p:nvPicPr>
            <p:cNvPr id="315" name="Image 7" descr="TEMP_Z_ORDER_10"/>
            <p:cNvPicPr>
              <a:picLocks noChangeAspect="1"/>
            </p:cNvPicPr>
            <p:nvPr/>
          </p:nvPicPr>
          <p:blipFill>
            <a:blip r:embed="rId11"/>
            <a:stretch>
              <a:fillRect/>
            </a:stretch>
          </p:blipFill>
          <p:spPr>
            <a:xfrm>
              <a:off x="-635000" y="-635000"/>
              <a:ext cx="10942320" cy="60960"/>
            </a:xfrm>
            <a:prstGeom prst="rect">
              <a:avLst/>
            </a:prstGeom>
          </p:spPr>
        </p:pic>
      </p:grpSp>
      <p:pic>
        <p:nvPicPr>
          <p:cNvPr id="316" name="图片 2048"/>
          <p:cNvPicPr/>
          <p:nvPr/>
        </p:nvPicPr>
        <p:blipFill>
          <a:blip r:embed="rId12"/>
          <a:stretch>
            <a:fillRect/>
          </a:stretch>
        </p:blipFill>
        <p:spPr>
          <a:xfrm>
            <a:off x="10439400" y="457200"/>
            <a:ext cx="971550" cy="6667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3" nodeType="withEffect">
                                  <p:stCondLst>
                                    <p:cond delay="0"/>
                                  </p:stCondLst>
                                  <p:childTnLst>
                                    <p:set>
                                      <p:cBhvr>
                                        <p:cTn id="6" dur="1" fill="hold">
                                          <p:stCondLst>
                                            <p:cond delay="0"/>
                                          </p:stCondLst>
                                        </p:cTn>
                                        <p:tgtEl>
                                          <p:spTgt spid="314"/>
                                        </p:tgtEl>
                                        <p:attrNameLst>
                                          <p:attrName>style.visibility</p:attrName>
                                        </p:attrNameLst>
                                      </p:cBhvr>
                                      <p:to>
                                        <p:strVal val="visible"/>
                                      </p:to>
                                    </p:set>
                                    <p:animEffect transition="in" filter="wipe(up)">
                                      <p:cBhvr>
                                        <p:cTn id="7" dur="750"/>
                                        <p:tgtEl>
                                          <p:spTgt spid="314"/>
                                        </p:tgtEl>
                                      </p:cBhvr>
                                    </p:animEffect>
                                  </p:childTnLst>
                                </p:cTn>
                              </p:par>
                            </p:childTnLst>
                          </p:cTn>
                        </p:par>
                        <p:par>
                          <p:cTn id="8" fill="hold">
                            <p:stCondLst>
                              <p:cond delay="1000"/>
                            </p:stCondLst>
                            <p:childTnLst>
                              <p:par>
                                <p:cTn id="9" presetID="10" presetClass="entr" presetSubtype="0" fill="hold" grpId="1" nodeType="afterEffect">
                                  <p:stCondLst>
                                    <p:cond delay="0"/>
                                  </p:stCondLst>
                                  <p:childTnLst>
                                    <p:set>
                                      <p:cBhvr>
                                        <p:cTn id="10" dur="1" fill="hold">
                                          <p:stCondLst>
                                            <p:cond delay="0"/>
                                          </p:stCondLst>
                                        </p:cTn>
                                        <p:tgtEl>
                                          <p:spTgt spid="305"/>
                                        </p:tgtEl>
                                        <p:attrNameLst>
                                          <p:attrName>style.visibility</p:attrName>
                                        </p:attrNameLst>
                                      </p:cBhvr>
                                      <p:to>
                                        <p:strVal val="visible"/>
                                      </p:to>
                                    </p:set>
                                    <p:animEffect transition="in" filter="fade">
                                      <p:cBhvr>
                                        <p:cTn id="11" dur="750"/>
                                        <p:tgtEl>
                                          <p:spTgt spid="305"/>
                                        </p:tgtEl>
                                      </p:cBhvr>
                                    </p:animEffect>
                                  </p:childTnLst>
                                </p:cTn>
                              </p:par>
                            </p:childTnLst>
                          </p:cTn>
                        </p:par>
                        <p:par>
                          <p:cTn id="12" fill="hold">
                            <p:stCondLst>
                              <p:cond delay="2000"/>
                            </p:stCondLst>
                            <p:childTnLst>
                              <p:par>
                                <p:cTn id="13" presetID="22" presetClass="entr" presetSubtype="1" fill="hold" grpId="2" nodeType="afterEffect">
                                  <p:stCondLst>
                                    <p:cond delay="0"/>
                                  </p:stCondLst>
                                  <p:childTnLst>
                                    <p:set>
                                      <p:cBhvr>
                                        <p:cTn id="14" dur="1" fill="hold">
                                          <p:stCondLst>
                                            <p:cond delay="0"/>
                                          </p:stCondLst>
                                        </p:cTn>
                                        <p:tgtEl>
                                          <p:spTgt spid="311"/>
                                        </p:tgtEl>
                                        <p:attrNameLst>
                                          <p:attrName>style.visibility</p:attrName>
                                        </p:attrNameLst>
                                      </p:cBhvr>
                                      <p:to>
                                        <p:strVal val="visible"/>
                                      </p:to>
                                    </p:set>
                                    <p:animEffect transition="in" filter="wipe(up)">
                                      <p:cBhvr>
                                        <p:cTn id="15" dur="750"/>
                                        <p:tgtEl>
                                          <p:spTgt spid="311"/>
                                        </p:tgtEl>
                                      </p:cBhvr>
                                    </p:animEffect>
                                  </p:childTnLst>
                                </p:cTn>
                              </p:par>
                            </p:childTnLst>
                          </p:cTn>
                        </p:par>
                        <p:par>
                          <p:cTn id="16" fill="hold">
                            <p:stCondLst>
                              <p:cond delay="3000"/>
                            </p:stCondLst>
                            <p:childTnLst>
                              <p:par>
                                <p:cTn id="17" presetID="22" presetClass="entr" presetSubtype="1" fill="hold" grpId="4" nodeType="afterEffect">
                                  <p:stCondLst>
                                    <p:cond delay="0"/>
                                  </p:stCondLst>
                                  <p:childTnLst>
                                    <p:set>
                                      <p:cBhvr>
                                        <p:cTn id="18" dur="1" fill="hold">
                                          <p:stCondLst>
                                            <p:cond delay="0"/>
                                          </p:stCondLst>
                                        </p:cTn>
                                        <p:tgtEl>
                                          <p:spTgt spid="306"/>
                                        </p:tgtEl>
                                        <p:attrNameLst>
                                          <p:attrName>style.visibility</p:attrName>
                                        </p:attrNameLst>
                                      </p:cBhvr>
                                      <p:to>
                                        <p:strVal val="visible"/>
                                      </p:to>
                                    </p:set>
                                    <p:animEffect transition="in" filter="wipe(up)">
                                      <p:cBhvr>
                                        <p:cTn id="19" dur="750"/>
                                        <p:tgtEl>
                                          <p:spTgt spid="306"/>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18" name=""/>
        <p:cNvGrpSpPr/>
        <p:nvPr/>
      </p:nvGrpSpPr>
      <p:grpSpPr>
        <a:xfrm>
          <a:off x="0" y="0"/>
          <a:ext cx="0" cy="0"/>
          <a:chOff x="0" y="0"/>
          <a:chExt cx="0" cy="0"/>
        </a:xfrm>
      </p:grpSpPr>
      <p:pic>
        <p:nvPicPr>
          <p:cNvPr id="160"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161"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sp>
        <p:nvSpPr>
          <p:cNvPr id="219" name="矩形 218"/>
          <p:cNvSpPr/>
          <p:nvPr/>
        </p:nvSpPr>
        <p:spPr>
          <a:xfrm>
            <a:off x="825500" y="533400"/>
            <a:ext cx="10922000" cy="431800"/>
          </a:xfrm>
          <a:prstGeom prst="rect">
            <a:avLst/>
          </a:prstGeom>
          <a:noFill/>
          <a:ln>
            <a:noFill/>
          </a:ln>
        </p:spPr>
        <p:txBody>
          <a:bodyPr/>
          <a:p>
            <a:r>
              <a:rPr lang="zh-CN" sz="2400">
                <a:solidFill>
                  <a:srgbClr val="1E1E1E"/>
                </a:solidFill>
                <a:latin typeface="思源黑体 CN Bold"/>
                <a:ea typeface="思源黑体 CN Bold"/>
              </a:rPr>
              <a:t>实验环节｜切换到实践平台，动手做</a:t>
            </a:r>
            <a:endParaRPr lang="zh-CN" sz="2400">
              <a:solidFill>
                <a:srgbClr val="1E1E1E"/>
              </a:solidFill>
              <a:latin typeface="思源黑体 CN Bold"/>
              <a:ea typeface="思源黑体 CN Bold"/>
            </a:endParaRPr>
          </a:p>
        </p:txBody>
      </p:sp>
      <p:sp>
        <p:nvSpPr>
          <p:cNvPr id="220" name="矩形 219"/>
          <p:cNvSpPr/>
          <p:nvPr/>
        </p:nvSpPr>
        <p:spPr>
          <a:xfrm>
            <a:off x="609600" y="1206500"/>
            <a:ext cx="10972800" cy="635000"/>
          </a:xfrm>
          <a:prstGeom prst="rect">
            <a:avLst/>
          </a:prstGeom>
          <a:solidFill>
            <a:srgbClr val="E3F2FD"/>
          </a:solidFill>
          <a:ln w="12700">
            <a:solidFill>
              <a:srgbClr val="64B5F6"/>
            </a:solidFill>
            <a:prstDash val="solid"/>
          </a:ln>
        </p:spPr>
        <p:txBody>
          <a:bodyPr/>
          <a:p>
            <a:r>
              <a:rPr lang="zh-CN" sz="1400">
                <a:solidFill>
                  <a:srgbClr val="0D47A1"/>
                </a:solidFill>
              </a:rPr>
              <a:t>接下来进入上机实践：教师切换到「信息安全测评实践教学平台 → 7.1 云计算」单元，在 CloudLab 模拟环境里演示核查流程并布置任务——本页只做预告，具体步骤在平台上跟着走。</a:t>
            </a:r>
            <a:endParaRPr lang="zh-CN" sz="1400">
              <a:solidFill>
                <a:srgbClr val="0D47A1"/>
              </a:solidFill>
            </a:endParaRPr>
          </a:p>
        </p:txBody>
      </p:sp>
      <p:sp>
        <p:nvSpPr>
          <p:cNvPr id="221" name="矩形 220"/>
          <p:cNvSpPr/>
          <p:nvPr/>
        </p:nvSpPr>
        <p:spPr>
          <a:xfrm>
            <a:off x="609600" y="2032000"/>
            <a:ext cx="10972800" cy="2376000"/>
          </a:xfrm>
          <a:prstGeom prst="rect">
            <a:avLst/>
          </a:prstGeom>
          <a:solidFill>
            <a:srgbClr val="FFFFFF"/>
          </a:solidFill>
          <a:ln w="12700">
            <a:solidFill>
              <a:srgbClr val="90CAF9"/>
            </a:solidFill>
            <a:prstDash val="solid"/>
          </a:ln>
        </p:spPr>
        <p:txBody>
          <a:bodyPr/>
          <a:p>
            <a:r>
              <a:rPr lang="zh-CN" sz="1400">
                <a:solidFill>
                  <a:srgbClr val="333333"/>
                </a:solidFill>
              </a:rPr>
              <a:t>🧪 实验二｜云安全配置核查（课堂 45 分钟）</a:t>
            </a:r>
            <a:endParaRPr lang="zh-CN" sz="1400">
              <a:solidFill>
                <a:srgbClr val="333333"/>
              </a:solidFill>
            </a:endParaRPr>
          </a:p>
          <a:p>
            <a:r>
              <a:rPr lang="zh-CN" sz="1400">
                <a:solidFill>
                  <a:srgbClr val="333333"/>
                </a:solidFill>
              </a:rPr>
              <a:t>　· 做什么：7 项指标逐项取证 → 四档判定 → 写问题描述与整改建议 → 导出记录表</a:t>
            </a:r>
            <a:endParaRPr lang="zh-CN" sz="1400">
              <a:solidFill>
                <a:srgbClr val="333333"/>
              </a:solidFill>
            </a:endParaRPr>
          </a:p>
          <a:p>
            <a:r>
              <a:rPr lang="zh-CN" sz="1400">
                <a:solidFill>
                  <a:srgbClr val="333333"/>
                </a:solidFill>
              </a:rPr>
              <a:t>　· 看哪里：平台「等保核查任务」页，每项都有「前往取证页」按钮跳到现场</a:t>
            </a:r>
            <a:endParaRPr lang="zh-CN" sz="1400">
              <a:solidFill>
                <a:srgbClr val="333333"/>
              </a:solidFill>
            </a:endParaRPr>
          </a:p>
          <a:p>
            <a:r>
              <a:rPr lang="zh-CN" sz="1400">
                <a:solidFill>
                  <a:srgbClr val="333333"/>
                </a:solidFill>
              </a:rPr>
              <a:t>　· 再进一步：从 5 处配置风险里至少找出 3 处真实风险，并说出对应的等保条款</a:t>
            </a:r>
            <a:endParaRPr lang="zh-CN" sz="1400">
              <a:solidFill>
                <a:srgbClr val="333333"/>
              </a:solidFill>
            </a:endParaRPr>
          </a:p>
          <a:p>
            <a:r>
              <a:rPr lang="zh-CN" sz="1400">
                <a:solidFill>
                  <a:srgbClr val="333333"/>
                </a:solidFill>
              </a:rPr>
              <a:t>　· 交什么：《云计算安全测评记录表》+ 风险识别得分截图，提交学习通</a:t>
            </a:r>
            <a:endParaRPr lang="zh-CN" sz="1400">
              <a:solidFill>
                <a:srgbClr val="333333"/>
              </a:solidFill>
            </a:endParaRPr>
          </a:p>
          <a:p>
            <a:r>
              <a:rPr lang="zh-CN" sz="1400">
                <a:solidFill>
                  <a:srgbClr val="333333"/>
                </a:solidFill>
              </a:rPr>
              <a:t>📋 判定口径：符合 / 部分符合 / 不符合 / 不适用</a:t>
            </a:r>
            <a:endParaRPr lang="zh-CN" sz="1400">
              <a:solidFill>
                <a:srgbClr val="333333"/>
              </a:solidFill>
            </a:endParaRPr>
          </a:p>
          <a:p>
            <a:r>
              <a:rPr lang="zh-CN" sz="1400">
                <a:solidFill>
                  <a:srgbClr val="333333"/>
                </a:solidFill>
              </a:rPr>
              <a:t>　· 写判定要带依据：哪条配置、什么值、对哪个条款，不写“不满足”三个字了事</a:t>
            </a:r>
            <a:endParaRPr lang="zh-CN" sz="1400">
              <a:solidFill>
                <a:srgbClr val="333333"/>
              </a:solidFill>
            </a:endParaRPr>
          </a:p>
          <a:p>
            <a:r>
              <a:rPr lang="zh-CN" sz="1400">
                <a:solidFill>
                  <a:srgbClr val="333333"/>
                </a:solidFill>
              </a:rPr>
              <a:t>⏱ 课堂节奏：教师演示 15 分钟 → 学生动手 30 分钟 → 当堂导出提交</a:t>
            </a:r>
            <a:endParaRPr lang="zh-CN" sz="1400">
              <a:solidFill>
                <a:srgbClr val="333333"/>
              </a:solidFill>
            </a:endParaRPr>
          </a:p>
        </p:txBody>
      </p:sp>
      <p:sp>
        <p:nvSpPr>
          <p:cNvPr id="222" name="矩形 221"/>
          <p:cNvSpPr/>
          <p:nvPr/>
        </p:nvSpPr>
        <p:spPr>
          <a:xfrm>
            <a:off x="609600" y="4644000"/>
            <a:ext cx="10972800" cy="635000"/>
          </a:xfrm>
          <a:prstGeom prst="rect">
            <a:avLst/>
          </a:prstGeom>
          <a:solidFill>
            <a:srgbClr val="FFF8E1"/>
          </a:solidFill>
          <a:ln w="12700">
            <a:solidFill>
              <a:srgbClr val="FFB300"/>
            </a:solidFill>
            <a:prstDash val="solid"/>
          </a:ln>
        </p:spPr>
        <p:txBody>
          <a:bodyPr/>
          <a:p>
            <a:r>
              <a:rPr lang="zh-CN" sz="1300">
                <a:solidFill>
                  <a:srgbClr val="B26A00"/>
                </a:solidFill>
              </a:rPr>
              <a:t>🌐 入口：cloudlab-experiment.html →「等保核查任务」｜素材 2-1 ～ 2-5 与判定标准都在平台单元里。</a:t>
            </a:r>
            <a:endParaRPr lang="zh-CN" sz="1300">
              <a:solidFill>
                <a:srgbClr val="B26A00"/>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17" name=""/>
        <p:cNvGrpSpPr/>
        <p:nvPr/>
      </p:nvGrpSpPr>
      <p:grpSpPr>
        <a:xfrm>
          <a:off x="0" y="0"/>
          <a:ext cx="0" cy="0"/>
          <a:chOff x="0" y="0"/>
          <a:chExt cx="0" cy="0"/>
        </a:xfrm>
      </p:grpSpPr>
      <p:pic>
        <p:nvPicPr>
          <p:cNvPr id="318"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19"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320"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321"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思政融入——云上安全，“每一个配置都是责任”</a:t>
            </a:r>
            <a:endParaRPr lang="en-US" sz="2760"/>
          </a:p>
        </p:txBody>
      </p:sp>
      <p:grpSp>
        <p:nvGrpSpPr>
          <p:cNvPr id="322" name="组合 43"/>
          <p:cNvGrpSpPr/>
          <p:nvPr/>
        </p:nvGrpSpPr>
        <p:grpSpPr>
          <a:xfrm>
            <a:off x="609600" y="1615440"/>
            <a:ext cx="3413760" cy="3794760"/>
            <a:chOff x="-635000" y="-635000"/>
            <a:chExt cx="3413760" cy="3794760"/>
          </a:xfrm>
        </p:grpSpPr>
        <p:pic>
          <p:nvPicPr>
            <p:cNvPr id="323" name="Image 3" descr="TEMP_Z_ORDER_4"/>
            <p:cNvPicPr>
              <a:picLocks noChangeAspect="1"/>
            </p:cNvPicPr>
            <p:nvPr/>
          </p:nvPicPr>
          <p:blipFill>
            <a:blip r:embed="rId4"/>
            <a:stretch>
              <a:fillRect/>
            </a:stretch>
          </p:blipFill>
          <p:spPr>
            <a:xfrm>
              <a:off x="-635000" y="-635000"/>
              <a:ext cx="3413760" cy="3794760"/>
            </a:xfrm>
            <a:prstGeom prst="rect">
              <a:avLst/>
            </a:prstGeom>
          </p:spPr>
        </p:pic>
        <p:pic>
          <p:nvPicPr>
            <p:cNvPr id="324" name="Image 4" descr="TEMP_Z_ORDER_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5160" y="-314960"/>
              <a:ext cx="853440" cy="716280"/>
            </a:xfrm>
            <a:prstGeom prst="rect">
              <a:avLst/>
            </a:prstGeom>
            <a:effectLst>
              <a:outerShdw blurRad="91440" dist="60960" dir="5400000" algn="bl" rotWithShape="0">
                <a:srgbClr val="000000">
                  <a:alpha val="10000"/>
                </a:srgbClr>
              </a:outerShdw>
            </a:effectLst>
          </p:spPr>
        </p:pic>
        <p:pic>
          <p:nvPicPr>
            <p:cNvPr id="325" name="Image 5" descr="TEMP_Z_ORDER_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8040" y="-208280"/>
              <a:ext cx="487680" cy="487680"/>
            </a:xfrm>
            <a:prstGeom prst="rect">
              <a:avLst/>
            </a:prstGeom>
          </p:spPr>
        </p:pic>
        <p:sp>
          <p:nvSpPr>
            <p:cNvPr id="326" name="Text 1" descr="TEMP_Z_ORDER_7"/>
            <p:cNvSpPr/>
            <p:nvPr/>
          </p:nvSpPr>
          <p:spPr>
            <a:xfrm>
              <a:off x="736600" y="629920"/>
              <a:ext cx="554768" cy="28828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b="1">
                  <a:solidFill>
                    <a:srgbClr val="458BE6"/>
                  </a:solidFill>
                </a:rPr>
                <a:t>合规</a:t>
              </a:r>
              <a:endParaRPr lang="en-US" sz="2160"/>
            </a:p>
          </p:txBody>
        </p:sp>
        <p:sp>
          <p:nvSpPr>
            <p:cNvPr id="327" name="Text 2" descr="TEMP_Z_ORDER_8"/>
            <p:cNvSpPr/>
            <p:nvPr/>
          </p:nvSpPr>
          <p:spPr>
            <a:xfrm>
              <a:off x="-314960" y="136144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28" name="Text 3" descr="TEMP_Z_ORDER_9"/>
            <p:cNvSpPr/>
            <p:nvPr/>
          </p:nvSpPr>
          <p:spPr>
            <a:xfrm>
              <a:off x="-55880" y="1300480"/>
              <a:ext cx="2523744" cy="9380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等保2.0明确要求“云计算基础设施位于中国境内”</a:t>
              </a:r>
              <a:endParaRPr lang="en-US" sz="1800"/>
            </a:p>
          </p:txBody>
        </p:sp>
        <p:sp>
          <p:nvSpPr>
            <p:cNvPr id="329" name="Text 4" descr="TEMP_Z_ORDER_10"/>
            <p:cNvSpPr/>
            <p:nvPr/>
          </p:nvSpPr>
          <p:spPr>
            <a:xfrm>
              <a:off x="-314960" y="235204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30" name="Text 5" descr="TEMP_Z_ORDER_11"/>
            <p:cNvSpPr/>
            <p:nvPr/>
          </p:nvSpPr>
          <p:spPr>
            <a:xfrm>
              <a:off x="-55880" y="2291080"/>
              <a:ext cx="2523744" cy="62259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数据安全是国家安全的组成部分</a:t>
              </a:r>
              <a:endParaRPr lang="en-US" sz="1800"/>
            </a:p>
          </p:txBody>
        </p:sp>
      </p:grpSp>
      <p:grpSp>
        <p:nvGrpSpPr>
          <p:cNvPr id="331" name="组合 52"/>
          <p:cNvGrpSpPr/>
          <p:nvPr/>
        </p:nvGrpSpPr>
        <p:grpSpPr>
          <a:xfrm>
            <a:off x="4389120" y="1615440"/>
            <a:ext cx="3413760" cy="3794760"/>
            <a:chOff x="-635000" y="-635000"/>
            <a:chExt cx="3413760" cy="3794760"/>
          </a:xfrm>
        </p:grpSpPr>
        <p:pic>
          <p:nvPicPr>
            <p:cNvPr id="332" name="Image 6" descr="TEMP_Z_ORDER_12"/>
            <p:cNvPicPr>
              <a:picLocks noChangeAspect="1"/>
            </p:cNvPicPr>
            <p:nvPr/>
          </p:nvPicPr>
          <p:blipFill>
            <a:blip r:embed="rId4"/>
            <a:stretch>
              <a:fillRect/>
            </a:stretch>
          </p:blipFill>
          <p:spPr>
            <a:xfrm>
              <a:off x="-635000" y="-635000"/>
              <a:ext cx="3413760" cy="3794760"/>
            </a:xfrm>
            <a:prstGeom prst="rect">
              <a:avLst/>
            </a:prstGeom>
          </p:spPr>
        </p:pic>
        <p:pic>
          <p:nvPicPr>
            <p:cNvPr id="333" name="Image 7" descr="TEMP_Z_ORDER_13"/>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160" y="-314960"/>
              <a:ext cx="853440" cy="594360"/>
            </a:xfrm>
            <a:prstGeom prst="rect">
              <a:avLst/>
            </a:prstGeom>
            <a:effectLst>
              <a:outerShdw blurRad="91440" dist="60960" dir="5400000" algn="bl" rotWithShape="0">
                <a:srgbClr val="000000">
                  <a:alpha val="10000"/>
                </a:srgbClr>
              </a:outerShdw>
            </a:effectLst>
          </p:spPr>
        </p:pic>
        <p:pic>
          <p:nvPicPr>
            <p:cNvPr id="334" name="Image 8" descr="TEMP_Z_ORDER_14"/>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8040" y="-269240"/>
              <a:ext cx="487680" cy="487680"/>
            </a:xfrm>
            <a:prstGeom prst="rect">
              <a:avLst/>
            </a:prstGeom>
          </p:spPr>
        </p:pic>
        <p:sp>
          <p:nvSpPr>
            <p:cNvPr id="335" name="Text 6" descr="TEMP_Z_ORDER_15"/>
            <p:cNvSpPr/>
            <p:nvPr/>
          </p:nvSpPr>
          <p:spPr>
            <a:xfrm>
              <a:off x="736600" y="508000"/>
              <a:ext cx="461772" cy="24024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1800" b="1">
                  <a:solidFill>
                    <a:srgbClr val="458BE6"/>
                  </a:solidFill>
                </a:rPr>
                <a:t>责任</a:t>
              </a:r>
              <a:endParaRPr lang="en-US" sz="1800"/>
            </a:p>
          </p:txBody>
        </p:sp>
        <p:sp>
          <p:nvSpPr>
            <p:cNvPr id="336" name="Text 7" descr="TEMP_Z_ORDER_16"/>
            <p:cNvSpPr/>
            <p:nvPr/>
          </p:nvSpPr>
          <p:spPr>
            <a:xfrm>
              <a:off x="-314960" y="116332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37" name="Text 8" descr="TEMP_Z_ORDER_17"/>
            <p:cNvSpPr/>
            <p:nvPr/>
          </p:nvSpPr>
          <p:spPr>
            <a:xfrm>
              <a:off x="-55880" y="1102360"/>
              <a:ext cx="2523744" cy="9380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云平台配置错误——哪怕是“一个复选框”，也可能导致大规模数据泄露</a:t>
              </a:r>
              <a:endParaRPr lang="en-US" sz="1800"/>
            </a:p>
          </p:txBody>
        </p:sp>
        <p:sp>
          <p:nvSpPr>
            <p:cNvPr id="338" name="Text 9" descr="TEMP_Z_ORDER_18"/>
            <p:cNvSpPr/>
            <p:nvPr/>
          </p:nvSpPr>
          <p:spPr>
            <a:xfrm>
              <a:off x="-314960" y="223012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39" name="Text 10" descr="TEMP_Z_ORDER_19"/>
            <p:cNvSpPr/>
            <p:nvPr/>
          </p:nvSpPr>
          <p:spPr>
            <a:xfrm>
              <a:off x="-55880" y="2169160"/>
              <a:ext cx="2523744" cy="9380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测评师的每一次核查，都是在守护用户的“数据资产”</a:t>
              </a:r>
              <a:endParaRPr lang="en-US" sz="1800"/>
            </a:p>
          </p:txBody>
        </p:sp>
      </p:grpSp>
      <p:grpSp>
        <p:nvGrpSpPr>
          <p:cNvPr id="340" name="组合 31"/>
          <p:cNvGrpSpPr/>
          <p:nvPr/>
        </p:nvGrpSpPr>
        <p:grpSpPr>
          <a:xfrm>
            <a:off x="8168639" y="1615440"/>
            <a:ext cx="3413760" cy="3794760"/>
            <a:chOff x="-635000" y="-635000"/>
            <a:chExt cx="3413760" cy="3794760"/>
          </a:xfrm>
        </p:grpSpPr>
        <p:pic>
          <p:nvPicPr>
            <p:cNvPr id="341" name="Image 9" descr="TEMP_Z_ORDER_20"/>
            <p:cNvPicPr>
              <a:picLocks noChangeAspect="1"/>
            </p:cNvPicPr>
            <p:nvPr/>
          </p:nvPicPr>
          <p:blipFill>
            <a:blip r:embed="rId4"/>
            <a:stretch>
              <a:fillRect/>
            </a:stretch>
          </p:blipFill>
          <p:spPr>
            <a:xfrm>
              <a:off x="-635000" y="-635000"/>
              <a:ext cx="3413760" cy="3794760"/>
            </a:xfrm>
            <a:prstGeom prst="rect">
              <a:avLst/>
            </a:prstGeom>
          </p:spPr>
        </p:pic>
        <p:pic>
          <p:nvPicPr>
            <p:cNvPr id="342" name="Image 10" descr="TEMP_Z_ORDER_21"/>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5160" y="-314960"/>
              <a:ext cx="853440" cy="792480"/>
            </a:xfrm>
            <a:prstGeom prst="rect">
              <a:avLst/>
            </a:prstGeom>
            <a:effectLst>
              <a:outerShdw blurRad="91440" dist="60960" dir="5400000" algn="bl" rotWithShape="0">
                <a:srgbClr val="000000">
                  <a:alpha val="10000"/>
                </a:srgbClr>
              </a:outerShdw>
            </a:effectLst>
          </p:spPr>
        </p:pic>
        <p:pic>
          <p:nvPicPr>
            <p:cNvPr id="343" name="Image 11" descr="TEMP_Z_ORDER_22"/>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8041" y="-162560"/>
              <a:ext cx="487680" cy="487680"/>
            </a:xfrm>
            <a:prstGeom prst="rect">
              <a:avLst/>
            </a:prstGeom>
          </p:spPr>
        </p:pic>
        <p:sp>
          <p:nvSpPr>
            <p:cNvPr id="344" name="Text 11" descr="TEMP_Z_ORDER_23"/>
            <p:cNvSpPr/>
            <p:nvPr/>
          </p:nvSpPr>
          <p:spPr>
            <a:xfrm>
              <a:off x="736600" y="721360"/>
              <a:ext cx="615696" cy="32032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rPr>
                <a:t>严谨</a:t>
              </a:r>
              <a:endParaRPr lang="en-US" sz="2400"/>
            </a:p>
          </p:txBody>
        </p:sp>
        <p:sp>
          <p:nvSpPr>
            <p:cNvPr id="345" name="Text 12" descr="TEMP_Z_ORDER_24"/>
            <p:cNvSpPr/>
            <p:nvPr/>
          </p:nvSpPr>
          <p:spPr>
            <a:xfrm>
              <a:off x="-314959" y="148336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46" name="Text 13" descr="TEMP_Z_ORDER_25"/>
            <p:cNvSpPr/>
            <p:nvPr/>
          </p:nvSpPr>
          <p:spPr>
            <a:xfrm>
              <a:off x="-55880" y="1422400"/>
              <a:ext cx="2523744" cy="62259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云安全配置核查需要“逐项对照标准”</a:t>
              </a:r>
              <a:endParaRPr lang="en-US" sz="1800"/>
            </a:p>
          </p:txBody>
        </p:sp>
        <p:sp>
          <p:nvSpPr>
            <p:cNvPr id="347" name="Text 14" descr="TEMP_Z_ORDER_26"/>
            <p:cNvSpPr/>
            <p:nvPr/>
          </p:nvSpPr>
          <p:spPr>
            <a:xfrm>
              <a:off x="-314959" y="2291080"/>
              <a:ext cx="145907" cy="35444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a:solidFill>
                    <a:srgbClr val="458BE6"/>
                  </a:solidFill>
                </a:rPr>
                <a:t>•</a:t>
              </a:r>
              <a:endParaRPr lang="en-US" sz="1920"/>
            </a:p>
          </p:txBody>
        </p:sp>
        <p:sp>
          <p:nvSpPr>
            <p:cNvPr id="348" name="Text 15" descr="TEMP_Z_ORDER_27"/>
            <p:cNvSpPr/>
            <p:nvPr/>
          </p:nvSpPr>
          <p:spPr>
            <a:xfrm>
              <a:off x="-55880" y="2230120"/>
              <a:ext cx="2523744" cy="622599"/>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800">
                  <a:solidFill>
                    <a:srgbClr val="000000"/>
                  </a:solidFill>
                </a:rPr>
                <a:t>“差不多”在安全面前，就是“差很多”</a:t>
              </a:r>
              <a:endParaRPr lang="en-US" sz="1800"/>
            </a:p>
          </p:txBody>
        </p:sp>
      </p:grpSp>
      <p:grpSp>
        <p:nvGrpSpPr>
          <p:cNvPr id="349" name="组合 40"/>
          <p:cNvGrpSpPr/>
          <p:nvPr/>
        </p:nvGrpSpPr>
        <p:grpSpPr>
          <a:xfrm>
            <a:off x="777240" y="5654040"/>
            <a:ext cx="10637520" cy="665480"/>
            <a:chOff x="-635000" y="-635000"/>
            <a:chExt cx="10637520" cy="777240"/>
          </a:xfrm>
        </p:grpSpPr>
        <p:pic>
          <p:nvPicPr>
            <p:cNvPr id="350" name="Image 12" descr="TEMP_Z_ORDER_28"/>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35000" y="-635000"/>
              <a:ext cx="10637520" cy="777240"/>
            </a:xfrm>
            <a:prstGeom prst="rect">
              <a:avLst/>
            </a:prstGeom>
          </p:spPr>
        </p:pic>
        <p:sp>
          <p:nvSpPr>
            <p:cNvPr id="351" name="Text 16" descr="TEMP_Z_ORDER_29"/>
            <p:cNvSpPr/>
            <p:nvPr/>
          </p:nvSpPr>
          <p:spPr>
            <a:xfrm>
              <a:off x="-297023" y="-363123"/>
              <a:ext cx="10031671" cy="32187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83000"/>
                </a:lnSpc>
                <a:buNone/>
              </a:pPr>
              <a:r>
                <a:rPr lang="en-US" sz="2160" b="1" kern="0" spc="72">
                  <a:solidFill>
                    <a:srgbClr val="458BE6"/>
                  </a:solidFill>
                </a:rPr>
                <a:t>云上的每一行配置，都关乎数据安全；测评师的每一份记录，都关乎合规底线。</a:t>
              </a:r>
              <a:endParaRPr lang="en-US" sz="216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750"/>
                                        <p:tgtEl>
                                          <p:spTgt spid="321"/>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1" fill="hold">
                                          <p:stCondLst>
                                            <p:cond delay="0"/>
                                          </p:stCondLst>
                                        </p:cTn>
                                        <p:tgtEl>
                                          <p:spTgt spid="322"/>
                                        </p:tgtEl>
                                        <p:attrNameLst>
                                          <p:attrName>style.visibility</p:attrName>
                                        </p:attrNameLst>
                                      </p:cBhvr>
                                      <p:to>
                                        <p:strVal val="visible"/>
                                      </p:to>
                                    </p:set>
                                    <p:anim calcmode="lin" valueType="num">
                                      <p:cBhvr additive="base">
                                        <p:cTn id="11" dur="750" fill="hold"/>
                                        <p:tgtEl>
                                          <p:spTgt spid="322"/>
                                        </p:tgtEl>
                                        <p:attrNameLst>
                                          <p:attrName>ppt_x</p:attrName>
                                        </p:attrNameLst>
                                      </p:cBhvr>
                                      <p:tavLst>
                                        <p:tav tm="0">
                                          <p:val>
                                            <p:strVal val="1+#ppt_w/2"/>
                                          </p:val>
                                        </p:tav>
                                        <p:tav tm="100000">
                                          <p:val>
                                            <p:strVal val="#ppt_x"/>
                                          </p:val>
                                        </p:tav>
                                      </p:tavLst>
                                    </p:anim>
                                    <p:anim calcmode="lin" valueType="num">
                                      <p:cBhvr additive="base">
                                        <p:cTn id="12" dur="750" fill="hold"/>
                                        <p:tgtEl>
                                          <p:spTgt spid="322"/>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fill="hold" grpId="3" nodeType="afterEffect">
                                  <p:stCondLst>
                                    <p:cond delay="0"/>
                                  </p:stCondLst>
                                  <p:childTnLst>
                                    <p:set>
                                      <p:cBhvr>
                                        <p:cTn id="15" dur="1" fill="hold">
                                          <p:stCondLst>
                                            <p:cond delay="0"/>
                                          </p:stCondLst>
                                        </p:cTn>
                                        <p:tgtEl>
                                          <p:spTgt spid="331"/>
                                        </p:tgtEl>
                                        <p:attrNameLst>
                                          <p:attrName>style.visibility</p:attrName>
                                        </p:attrNameLst>
                                      </p:cBhvr>
                                      <p:to>
                                        <p:strVal val="visible"/>
                                      </p:to>
                                    </p:set>
                                    <p:anim calcmode="lin" valueType="num">
                                      <p:cBhvr additive="base">
                                        <p:cTn id="16" dur="750" fill="hold"/>
                                        <p:tgtEl>
                                          <p:spTgt spid="331"/>
                                        </p:tgtEl>
                                        <p:attrNameLst>
                                          <p:attrName>ppt_x</p:attrName>
                                        </p:attrNameLst>
                                      </p:cBhvr>
                                      <p:tavLst>
                                        <p:tav tm="0">
                                          <p:val>
                                            <p:strVal val="1+#ppt_w/2"/>
                                          </p:val>
                                        </p:tav>
                                        <p:tav tm="100000">
                                          <p:val>
                                            <p:strVal val="#ppt_x"/>
                                          </p:val>
                                        </p:tav>
                                      </p:tavLst>
                                    </p:anim>
                                    <p:anim calcmode="lin" valueType="num">
                                      <p:cBhvr additive="base">
                                        <p:cTn id="17" dur="750" fill="hold"/>
                                        <p:tgtEl>
                                          <p:spTgt spid="331"/>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2" presetClass="entr" presetSubtype="2" fill="hold" grpId="4" nodeType="afterEffect">
                                  <p:stCondLst>
                                    <p:cond delay="0"/>
                                  </p:stCondLst>
                                  <p:childTnLst>
                                    <p:set>
                                      <p:cBhvr>
                                        <p:cTn id="20" dur="1" fill="hold">
                                          <p:stCondLst>
                                            <p:cond delay="0"/>
                                          </p:stCondLst>
                                        </p:cTn>
                                        <p:tgtEl>
                                          <p:spTgt spid="340"/>
                                        </p:tgtEl>
                                        <p:attrNameLst>
                                          <p:attrName>style.visibility</p:attrName>
                                        </p:attrNameLst>
                                      </p:cBhvr>
                                      <p:to>
                                        <p:strVal val="visible"/>
                                      </p:to>
                                    </p:set>
                                    <p:anim calcmode="lin" valueType="num">
                                      <p:cBhvr additive="base">
                                        <p:cTn id="21" dur="750" fill="hold"/>
                                        <p:tgtEl>
                                          <p:spTgt spid="340"/>
                                        </p:tgtEl>
                                        <p:attrNameLst>
                                          <p:attrName>ppt_x</p:attrName>
                                        </p:attrNameLst>
                                      </p:cBhvr>
                                      <p:tavLst>
                                        <p:tav tm="0">
                                          <p:val>
                                            <p:strVal val="1+#ppt_w/2"/>
                                          </p:val>
                                        </p:tav>
                                        <p:tav tm="100000">
                                          <p:val>
                                            <p:strVal val="#ppt_x"/>
                                          </p:val>
                                        </p:tav>
                                      </p:tavLst>
                                    </p:anim>
                                    <p:anim calcmode="lin" valueType="num">
                                      <p:cBhvr additive="base">
                                        <p:cTn id="22" dur="750" fill="hold"/>
                                        <p:tgtEl>
                                          <p:spTgt spid="340"/>
                                        </p:tgtEl>
                                        <p:attrNameLst>
                                          <p:attrName>ppt_y</p:attrName>
                                        </p:attrNameLst>
                                      </p:cBhvr>
                                      <p:tavLst>
                                        <p:tav tm="0">
                                          <p:val>
                                            <p:strVal val="#ppt_y"/>
                                          </p:val>
                                        </p:tav>
                                        <p:tav tm="100000">
                                          <p:val>
                                            <p:strVal val="#ppt_y"/>
                                          </p:val>
                                        </p:tav>
                                      </p:tavLst>
                                    </p:anim>
                                  </p:childTnLst>
                                </p:cTn>
                              </p:par>
                            </p:childTnLst>
                          </p:cTn>
                        </p:par>
                        <p:par>
                          <p:cTn id="23" fill="hold">
                            <p:stCondLst>
                              <p:cond delay="4000"/>
                            </p:stCondLst>
                            <p:childTnLst>
                              <p:par>
                                <p:cTn id="24" presetID="2" presetClass="entr" presetSubtype="2" fill="hold" grpId="5" nodeType="afterEffect">
                                  <p:stCondLst>
                                    <p:cond delay="0"/>
                                  </p:stCondLst>
                                  <p:childTnLst>
                                    <p:set>
                                      <p:cBhvr>
                                        <p:cTn id="25" dur="1" fill="hold">
                                          <p:stCondLst>
                                            <p:cond delay="0"/>
                                          </p:stCondLst>
                                        </p:cTn>
                                        <p:tgtEl>
                                          <p:spTgt spid="349"/>
                                        </p:tgtEl>
                                        <p:attrNameLst>
                                          <p:attrName>style.visibility</p:attrName>
                                        </p:attrNameLst>
                                      </p:cBhvr>
                                      <p:to>
                                        <p:strVal val="visible"/>
                                      </p:to>
                                    </p:set>
                                    <p:anim calcmode="lin" valueType="num">
                                      <p:cBhvr additive="base">
                                        <p:cTn id="26" dur="750" fill="hold"/>
                                        <p:tgtEl>
                                          <p:spTgt spid="349"/>
                                        </p:tgtEl>
                                        <p:attrNameLst>
                                          <p:attrName>ppt_x</p:attrName>
                                        </p:attrNameLst>
                                      </p:cBhvr>
                                      <p:tavLst>
                                        <p:tav tm="0">
                                          <p:val>
                                            <p:strVal val="1+#ppt_w/2"/>
                                          </p:val>
                                        </p:tav>
                                        <p:tav tm="100000">
                                          <p:val>
                                            <p:strVal val="#ppt_x"/>
                                          </p:val>
                                        </p:tav>
                                      </p:tavLst>
                                    </p:anim>
                                    <p:anim calcmode="lin" valueType="num">
                                      <p:cBhvr additive="base">
                                        <p:cTn id="27" dur="750" fill="hold"/>
                                        <p:tgtEl>
                                          <p:spTgt spid="3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52" name=""/>
        <p:cNvGrpSpPr/>
        <p:nvPr/>
      </p:nvGrpSpPr>
      <p:grpSpPr>
        <a:xfrm>
          <a:off x="0" y="0"/>
          <a:ext cx="0" cy="0"/>
          <a:chOff x="0" y="0"/>
          <a:chExt cx="0" cy="0"/>
        </a:xfrm>
      </p:grpSpPr>
      <p:pic>
        <p:nvPicPr>
          <p:cNvPr id="35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5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35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35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知识点回顾（5分钟）</a:t>
            </a:r>
            <a:endParaRPr lang="en-US" sz="2760"/>
          </a:p>
        </p:txBody>
      </p:sp>
      <p:grpSp>
        <p:nvGrpSpPr>
          <p:cNvPr id="357" name="组合 85"/>
          <p:cNvGrpSpPr/>
          <p:nvPr/>
        </p:nvGrpSpPr>
        <p:grpSpPr>
          <a:xfrm>
            <a:off x="1981200" y="1371600"/>
            <a:ext cx="8229600" cy="1264920"/>
            <a:chOff x="-635000" y="-635000"/>
            <a:chExt cx="8229600" cy="1264920"/>
          </a:xfrm>
        </p:grpSpPr>
        <p:pic>
          <p:nvPicPr>
            <p:cNvPr id="358" name="Image 3" descr="TEMP_Z_ORDER_4"/>
            <p:cNvPicPr>
              <a:picLocks noChangeAspect="1"/>
            </p:cNvPicPr>
            <p:nvPr/>
          </p:nvPicPr>
          <p:blipFill>
            <a:blip r:embed="rId4">
              <a:alphaModFix amt="80000"/>
              <a:extLst>
                <a:ext uri="{96DAC541-7B7A-43D3-8B79-37D633B846F1}">
                  <asvg:svgBlip xmlns:asvg="http://schemas.microsoft.com/office/drawing/2016/SVG/main" r:embed="rId5"/>
                </a:ext>
              </a:extLst>
            </a:blip>
            <a:stretch>
              <a:fillRect/>
            </a:stretch>
          </p:blipFill>
          <p:spPr>
            <a:xfrm>
              <a:off x="3464560" y="294640"/>
              <a:ext cx="30480" cy="304800"/>
            </a:xfrm>
            <a:prstGeom prst="rect">
              <a:avLst/>
            </a:prstGeom>
          </p:spPr>
        </p:pic>
        <p:pic>
          <p:nvPicPr>
            <p:cNvPr id="359" name="Image 4" descr="TEMP_Z_ORDER_5"/>
            <p:cNvPicPr>
              <a:picLocks noChangeAspect="1"/>
            </p:cNvPicPr>
            <p:nvPr/>
          </p:nvPicPr>
          <p:blipFill>
            <a:blip r:embed="rId6">
              <a:alphaModFix amt="80000"/>
              <a:extLst>
                <a:ext uri="{96DAC541-7B7A-43D3-8B79-37D633B846F1}">
                  <asvg:svgBlip xmlns:asvg="http://schemas.microsoft.com/office/drawing/2016/SVG/main" r:embed="rId7"/>
                </a:ext>
              </a:extLst>
            </a:blip>
            <a:stretch>
              <a:fillRect/>
            </a:stretch>
          </p:blipFill>
          <p:spPr>
            <a:xfrm>
              <a:off x="-635000" y="599440"/>
              <a:ext cx="8229600" cy="30480"/>
            </a:xfrm>
            <a:prstGeom prst="rect">
              <a:avLst/>
            </a:prstGeom>
          </p:spPr>
        </p:pic>
        <p:pic>
          <p:nvPicPr>
            <p:cNvPr id="360" name="Image 5" descr="TEMP_Z_ORDER_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88159" y="-635000"/>
              <a:ext cx="3398520" cy="929640"/>
            </a:xfrm>
            <a:prstGeom prst="rect">
              <a:avLst/>
            </a:prstGeom>
            <a:effectLst>
              <a:outerShdw blurRad="228600" dist="152400" dir="5400000" algn="bl" rotWithShape="0">
                <a:srgbClr val="4576E6">
                  <a:alpha val="30000"/>
                </a:srgbClr>
              </a:outerShdw>
            </a:effectLst>
          </p:spPr>
        </p:pic>
        <p:sp>
          <p:nvSpPr>
            <p:cNvPr id="361" name="Text 1" descr="TEMP_Z_ORDER_7"/>
            <p:cNvSpPr/>
            <p:nvPr/>
          </p:nvSpPr>
          <p:spPr>
            <a:xfrm>
              <a:off x="2306320" y="-421640"/>
              <a:ext cx="2368185" cy="48751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640" b="1">
                  <a:solidFill>
                    <a:srgbClr val="FFFFFF"/>
                  </a:solidFill>
                  <a:latin typeface="思源黑体 CN Bold" pitchFamily="34" charset="0"/>
                  <a:ea typeface="思源黑体 CN Bold" pitchFamily="34" charset="-122"/>
                  <a:cs typeface="思源黑体 CN Bold" pitchFamily="34" charset="-120"/>
                </a:rPr>
                <a:t>云安全配置核查</a:t>
              </a:r>
              <a:endParaRPr lang="en-US" sz="2640"/>
            </a:p>
          </p:txBody>
        </p:sp>
      </p:grpSp>
      <p:grpSp>
        <p:nvGrpSpPr>
          <p:cNvPr id="362" name="组合 65"/>
          <p:cNvGrpSpPr/>
          <p:nvPr/>
        </p:nvGrpSpPr>
        <p:grpSpPr>
          <a:xfrm>
            <a:off x="609600" y="2910840"/>
            <a:ext cx="2606040" cy="3642360"/>
            <a:chOff x="-635000" y="-635000"/>
            <a:chExt cx="2606040" cy="3642360"/>
          </a:xfrm>
        </p:grpSpPr>
        <p:pic>
          <p:nvPicPr>
            <p:cNvPr id="363" name="Image 6" descr="TEMP_Z_ORDER_8"/>
            <p:cNvPicPr>
              <a:picLocks noChangeAspect="1"/>
            </p:cNvPicPr>
            <p:nvPr/>
          </p:nvPicPr>
          <p:blipFill>
            <a:blip r:embed="rId10">
              <a:alphaModFix amt="80000"/>
              <a:extLst>
                <a:ext uri="{96DAC541-7B7A-43D3-8B79-37D633B846F1}">
                  <asvg:svgBlip xmlns:asvg="http://schemas.microsoft.com/office/drawing/2016/SVG/main" r:embed="rId11"/>
                </a:ext>
              </a:extLst>
            </a:blip>
            <a:stretch>
              <a:fillRect/>
            </a:stretch>
          </p:blipFill>
          <p:spPr>
            <a:xfrm>
              <a:off x="660400" y="-635000"/>
              <a:ext cx="30480" cy="228600"/>
            </a:xfrm>
            <a:prstGeom prst="rect">
              <a:avLst/>
            </a:prstGeom>
          </p:spPr>
        </p:pic>
        <p:pic>
          <p:nvPicPr>
            <p:cNvPr id="364" name="Image 7" descr="TEMP_Z_ORDER_9"/>
            <p:cNvPicPr>
              <a:picLocks noChangeAspect="1"/>
            </p:cNvPicPr>
            <p:nvPr/>
          </p:nvPicPr>
          <p:blipFill>
            <a:blip r:embed="rId12"/>
            <a:stretch>
              <a:fillRect/>
            </a:stretch>
          </p:blipFill>
          <p:spPr>
            <a:xfrm>
              <a:off x="-635000" y="-284480"/>
              <a:ext cx="2606040" cy="3291840"/>
            </a:xfrm>
            <a:prstGeom prst="rect">
              <a:avLst/>
            </a:prstGeom>
          </p:spPr>
        </p:pic>
        <p:sp>
          <p:nvSpPr>
            <p:cNvPr id="365" name="Text 2" descr="TEMP_Z_ORDER_10"/>
            <p:cNvSpPr/>
            <p:nvPr/>
          </p:nvSpPr>
          <p:spPr>
            <a:xfrm>
              <a:off x="-406400" y="-85126"/>
              <a:ext cx="2157984" cy="607132"/>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一、等保2.0云计算扩展要求</a:t>
              </a:r>
              <a:endParaRPr lang="en-US" sz="1920"/>
            </a:p>
          </p:txBody>
        </p:sp>
        <p:pic>
          <p:nvPicPr>
            <p:cNvPr id="366" name="Image 8" descr="TEMP_Z_ORDER_11"/>
            <p:cNvPicPr>
              <a:picLocks noChangeAspect="1"/>
            </p:cNvPicPr>
            <p:nvPr/>
          </p:nvPicPr>
          <p:blipFill>
            <a:blip r:embed="rId13"/>
            <a:stretch>
              <a:fillRect/>
            </a:stretch>
          </p:blipFill>
          <p:spPr>
            <a:xfrm>
              <a:off x="-436880" y="660400"/>
              <a:ext cx="2209800" cy="15240"/>
            </a:xfrm>
            <a:prstGeom prst="rect">
              <a:avLst/>
            </a:prstGeom>
          </p:spPr>
        </p:pic>
        <p:pic>
          <p:nvPicPr>
            <p:cNvPr id="367" name="Image 9" descr="TEMP_Z_ORDER_12"/>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934720"/>
              <a:ext cx="91440" cy="91440"/>
            </a:xfrm>
            <a:prstGeom prst="rect">
              <a:avLst/>
            </a:prstGeom>
          </p:spPr>
        </p:pic>
        <p:sp>
          <p:nvSpPr>
            <p:cNvPr id="368" name="Text 3" descr="TEMP_Z_ORDER_13"/>
            <p:cNvSpPr/>
            <p:nvPr/>
          </p:nvSpPr>
          <p:spPr>
            <a:xfrm>
              <a:off x="-254000" y="84988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安全物理环境（基础设施位置）</a:t>
              </a:r>
              <a:endParaRPr lang="en-US" sz="1680"/>
            </a:p>
          </p:txBody>
        </p:sp>
        <p:pic>
          <p:nvPicPr>
            <p:cNvPr id="369" name="Image 10" descr="TEMP_Z_ORDER_14"/>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1651000"/>
              <a:ext cx="91440" cy="91440"/>
            </a:xfrm>
            <a:prstGeom prst="rect">
              <a:avLst/>
            </a:prstGeom>
          </p:spPr>
        </p:pic>
        <p:sp>
          <p:nvSpPr>
            <p:cNvPr id="370" name="Text 4" descr="TEMP_Z_ORDER_15"/>
            <p:cNvSpPr/>
            <p:nvPr/>
          </p:nvSpPr>
          <p:spPr>
            <a:xfrm>
              <a:off x="-254000" y="156616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安全通信网络（网络架构、隔离）</a:t>
              </a:r>
              <a:endParaRPr lang="en-US" sz="1680"/>
            </a:p>
          </p:txBody>
        </p:sp>
        <p:pic>
          <p:nvPicPr>
            <p:cNvPr id="371" name="Image 11" descr="TEMP_Z_ORDER_16"/>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2352040"/>
              <a:ext cx="91440" cy="91440"/>
            </a:xfrm>
            <a:prstGeom prst="rect">
              <a:avLst/>
            </a:prstGeom>
          </p:spPr>
        </p:pic>
        <p:sp>
          <p:nvSpPr>
            <p:cNvPr id="372" name="Text 5" descr="TEMP_Z_ORDER_17"/>
            <p:cNvSpPr/>
            <p:nvPr/>
          </p:nvSpPr>
          <p:spPr>
            <a:xfrm>
              <a:off x="-254000" y="2177415"/>
              <a:ext cx="2165985" cy="5937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2060">
                      <a:alpha val="80000"/>
                    </a:srgbClr>
                  </a:solidFill>
                  <a:latin typeface="思源黑体 CN Regular" pitchFamily="34" charset="0"/>
                  <a:ea typeface="思源黑体 CN Regular" pitchFamily="34" charset="-122"/>
                  <a:cs typeface="思源黑体 CN Regular" pitchFamily="34" charset="-120"/>
                </a:rPr>
                <a:t>安全区域边界（访问控制、入侵防范、审计）</a:t>
              </a:r>
              <a:endParaRPr lang="en-US" sz="1680">
                <a:solidFill>
                  <a:srgbClr val="002060">
                    <a:alpha val="80000"/>
                  </a:srgbClr>
                </a:solidFill>
                <a:latin typeface="思源黑体 CN Regular" pitchFamily="34" charset="0"/>
                <a:ea typeface="思源黑体 CN Regular" pitchFamily="34" charset="-122"/>
                <a:cs typeface="思源黑体 CN Regular" pitchFamily="34" charset="-120"/>
              </a:endParaRPr>
            </a:p>
          </p:txBody>
        </p:sp>
      </p:grpSp>
      <p:grpSp>
        <p:nvGrpSpPr>
          <p:cNvPr id="373" name="组合 45"/>
          <p:cNvGrpSpPr/>
          <p:nvPr/>
        </p:nvGrpSpPr>
        <p:grpSpPr>
          <a:xfrm>
            <a:off x="3398520" y="2910840"/>
            <a:ext cx="2606040" cy="3642360"/>
            <a:chOff x="-635000" y="-635000"/>
            <a:chExt cx="2606040" cy="3642360"/>
          </a:xfrm>
        </p:grpSpPr>
        <p:pic>
          <p:nvPicPr>
            <p:cNvPr id="374" name="Image 12" descr="TEMP_Z_ORDER_18"/>
            <p:cNvPicPr>
              <a:picLocks noChangeAspect="1"/>
            </p:cNvPicPr>
            <p:nvPr/>
          </p:nvPicPr>
          <p:blipFill>
            <a:blip r:embed="rId16">
              <a:alphaModFix amt="80000"/>
              <a:extLst>
                <a:ext uri="{96DAC541-7B7A-43D3-8B79-37D633B846F1}">
                  <asvg:svgBlip xmlns:asvg="http://schemas.microsoft.com/office/drawing/2016/SVG/main" r:embed="rId17"/>
                </a:ext>
              </a:extLst>
            </a:blip>
            <a:stretch>
              <a:fillRect/>
            </a:stretch>
          </p:blipFill>
          <p:spPr>
            <a:xfrm>
              <a:off x="660400" y="-635000"/>
              <a:ext cx="30480" cy="213360"/>
            </a:xfrm>
            <a:prstGeom prst="rect">
              <a:avLst/>
            </a:prstGeom>
          </p:spPr>
        </p:pic>
        <p:pic>
          <p:nvPicPr>
            <p:cNvPr id="375" name="Image 13" descr="TEMP_Z_ORDER_19"/>
            <p:cNvPicPr>
              <a:picLocks noChangeAspect="1"/>
            </p:cNvPicPr>
            <p:nvPr/>
          </p:nvPicPr>
          <p:blipFill>
            <a:blip r:embed="rId18"/>
            <a:stretch>
              <a:fillRect/>
            </a:stretch>
          </p:blipFill>
          <p:spPr>
            <a:xfrm>
              <a:off x="-635000" y="-314960"/>
              <a:ext cx="2606040" cy="3322320"/>
            </a:xfrm>
            <a:prstGeom prst="rect">
              <a:avLst/>
            </a:prstGeom>
          </p:spPr>
        </p:pic>
        <p:sp>
          <p:nvSpPr>
            <p:cNvPr id="376" name="Text 6" descr="TEMP_Z_ORDER_20"/>
            <p:cNvSpPr/>
            <p:nvPr/>
          </p:nvSpPr>
          <p:spPr>
            <a:xfrm>
              <a:off x="-438547" y="-116840"/>
              <a:ext cx="2222278" cy="305354"/>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二、测评指标适用性</a:t>
              </a:r>
              <a:endParaRPr lang="en-US" sz="1920"/>
            </a:p>
          </p:txBody>
        </p:sp>
        <p:pic>
          <p:nvPicPr>
            <p:cNvPr id="377" name="Image 14" descr="TEMP_Z_ORDER_21"/>
            <p:cNvPicPr>
              <a:picLocks noChangeAspect="1"/>
            </p:cNvPicPr>
            <p:nvPr/>
          </p:nvPicPr>
          <p:blipFill>
            <a:blip r:embed="rId13"/>
            <a:stretch>
              <a:fillRect/>
            </a:stretch>
          </p:blipFill>
          <p:spPr>
            <a:xfrm>
              <a:off x="-436880" y="332435"/>
              <a:ext cx="2209800" cy="15240"/>
            </a:xfrm>
            <a:prstGeom prst="rect">
              <a:avLst/>
            </a:prstGeom>
          </p:spPr>
        </p:pic>
        <p:pic>
          <p:nvPicPr>
            <p:cNvPr id="378" name="Image 15" descr="TEMP_Z_ORDER_22"/>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599440"/>
              <a:ext cx="91440" cy="91440"/>
            </a:xfrm>
            <a:prstGeom prst="rect">
              <a:avLst/>
            </a:prstGeom>
          </p:spPr>
        </p:pic>
        <p:sp>
          <p:nvSpPr>
            <p:cNvPr id="379" name="Text 7" descr="TEMP_Z_ORDER_23"/>
            <p:cNvSpPr/>
            <p:nvPr/>
          </p:nvSpPr>
          <p:spPr>
            <a:xfrm>
              <a:off x="-254000" y="508000"/>
              <a:ext cx="2097214" cy="289523"/>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平台责任 vs 客户责任</a:t>
              </a:r>
              <a:endParaRPr lang="en-US" sz="1680"/>
            </a:p>
          </p:txBody>
        </p:sp>
        <p:pic>
          <p:nvPicPr>
            <p:cNvPr id="380" name="Image 16" descr="TEMP_Z_ORDER_24"/>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1056640"/>
              <a:ext cx="91440" cy="91440"/>
            </a:xfrm>
            <a:prstGeom prst="rect">
              <a:avLst/>
            </a:prstGeom>
          </p:spPr>
        </p:pic>
        <p:sp>
          <p:nvSpPr>
            <p:cNvPr id="381" name="Text 8" descr="TEMP_Z_ORDER_25"/>
            <p:cNvSpPr/>
            <p:nvPr/>
          </p:nvSpPr>
          <p:spPr>
            <a:xfrm>
              <a:off x="-254001" y="965200"/>
              <a:ext cx="1289113"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四个区分原则</a:t>
              </a:r>
              <a:endParaRPr lang="en-US" sz="1680"/>
            </a:p>
          </p:txBody>
        </p:sp>
      </p:grpSp>
      <p:grpSp>
        <p:nvGrpSpPr>
          <p:cNvPr id="382" name="组合 54"/>
          <p:cNvGrpSpPr/>
          <p:nvPr/>
        </p:nvGrpSpPr>
        <p:grpSpPr>
          <a:xfrm>
            <a:off x="6187440" y="2910840"/>
            <a:ext cx="2606040" cy="3642360"/>
            <a:chOff x="-635000" y="-635000"/>
            <a:chExt cx="2606040" cy="3642360"/>
          </a:xfrm>
        </p:grpSpPr>
        <p:pic>
          <p:nvPicPr>
            <p:cNvPr id="383" name="Image 17" descr="TEMP_Z_ORDER_26"/>
            <p:cNvPicPr>
              <a:picLocks noChangeAspect="1"/>
            </p:cNvPicPr>
            <p:nvPr/>
          </p:nvPicPr>
          <p:blipFill>
            <a:blip r:embed="rId16">
              <a:alphaModFix amt="80000"/>
              <a:extLst>
                <a:ext uri="{96DAC541-7B7A-43D3-8B79-37D633B846F1}">
                  <asvg:svgBlip xmlns:asvg="http://schemas.microsoft.com/office/drawing/2016/SVG/main" r:embed="rId17"/>
                </a:ext>
              </a:extLst>
            </a:blip>
            <a:stretch>
              <a:fillRect/>
            </a:stretch>
          </p:blipFill>
          <p:spPr>
            <a:xfrm>
              <a:off x="660400" y="-635000"/>
              <a:ext cx="30480" cy="213360"/>
            </a:xfrm>
            <a:prstGeom prst="rect">
              <a:avLst/>
            </a:prstGeom>
          </p:spPr>
        </p:pic>
        <p:pic>
          <p:nvPicPr>
            <p:cNvPr id="384" name="Image 18" descr="TEMP_Z_ORDER_27"/>
            <p:cNvPicPr>
              <a:picLocks noChangeAspect="1"/>
            </p:cNvPicPr>
            <p:nvPr/>
          </p:nvPicPr>
          <p:blipFill>
            <a:blip r:embed="rId18"/>
            <a:stretch>
              <a:fillRect/>
            </a:stretch>
          </p:blipFill>
          <p:spPr>
            <a:xfrm>
              <a:off x="-635000" y="-314960"/>
              <a:ext cx="2606040" cy="3322320"/>
            </a:xfrm>
            <a:prstGeom prst="rect">
              <a:avLst/>
            </a:prstGeom>
          </p:spPr>
        </p:pic>
        <p:sp>
          <p:nvSpPr>
            <p:cNvPr id="385" name="Text 9" descr="TEMP_Z_ORDER_28"/>
            <p:cNvSpPr/>
            <p:nvPr/>
          </p:nvSpPr>
          <p:spPr>
            <a:xfrm>
              <a:off x="-315087" y="-116840"/>
              <a:ext cx="1975358" cy="305354"/>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三、配置核查实操</a:t>
              </a:r>
              <a:endParaRPr lang="en-US" sz="1920"/>
            </a:p>
          </p:txBody>
        </p:sp>
        <p:pic>
          <p:nvPicPr>
            <p:cNvPr id="386" name="Image 19" descr="TEMP_Z_ORDER_29"/>
            <p:cNvPicPr>
              <a:picLocks noChangeAspect="1"/>
            </p:cNvPicPr>
            <p:nvPr/>
          </p:nvPicPr>
          <p:blipFill>
            <a:blip r:embed="rId13"/>
            <a:stretch>
              <a:fillRect/>
            </a:stretch>
          </p:blipFill>
          <p:spPr>
            <a:xfrm>
              <a:off x="-436880" y="332435"/>
              <a:ext cx="2209800" cy="15240"/>
            </a:xfrm>
            <a:prstGeom prst="rect">
              <a:avLst/>
            </a:prstGeom>
          </p:spPr>
        </p:pic>
        <p:pic>
          <p:nvPicPr>
            <p:cNvPr id="387" name="Image 20" descr="TEMP_Z_ORDER_3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599440"/>
              <a:ext cx="91440" cy="91440"/>
            </a:xfrm>
            <a:prstGeom prst="rect">
              <a:avLst/>
            </a:prstGeom>
          </p:spPr>
        </p:pic>
        <p:sp>
          <p:nvSpPr>
            <p:cNvPr id="388" name="Text 10" descr="TEMP_Z_ORDER_31"/>
            <p:cNvSpPr/>
            <p:nvPr/>
          </p:nvSpPr>
          <p:spPr>
            <a:xfrm>
              <a:off x="-254001" y="51460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VPC隔离、安全组策略</a:t>
              </a:r>
              <a:endParaRPr lang="en-US" sz="1680"/>
            </a:p>
          </p:txBody>
        </p:sp>
        <p:pic>
          <p:nvPicPr>
            <p:cNvPr id="389" name="Image 21" descr="TEMP_Z_ORDER_32"/>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1346200"/>
              <a:ext cx="91440" cy="91440"/>
            </a:xfrm>
            <a:prstGeom prst="rect">
              <a:avLst/>
            </a:prstGeom>
          </p:spPr>
        </p:pic>
        <p:sp>
          <p:nvSpPr>
            <p:cNvPr id="390" name="Text 11" descr="TEMP_Z_ORDER_33"/>
            <p:cNvSpPr/>
            <p:nvPr/>
          </p:nvSpPr>
          <p:spPr>
            <a:xfrm>
              <a:off x="-254000" y="1254760"/>
              <a:ext cx="1933670"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审计日志、加固镜像</a:t>
              </a:r>
              <a:endParaRPr lang="en-US" sz="1680"/>
            </a:p>
          </p:txBody>
        </p:sp>
        <p:pic>
          <p:nvPicPr>
            <p:cNvPr id="391" name="Image 22" descr="TEMP_Z_ORDER_34"/>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1788160"/>
              <a:ext cx="91440" cy="91440"/>
            </a:xfrm>
            <a:prstGeom prst="rect">
              <a:avLst/>
            </a:prstGeom>
          </p:spPr>
        </p:pic>
        <p:sp>
          <p:nvSpPr>
            <p:cNvPr id="392" name="Text 12" descr="TEMP_Z_ORDER_35"/>
            <p:cNvSpPr/>
            <p:nvPr/>
          </p:nvSpPr>
          <p:spPr>
            <a:xfrm>
              <a:off x="-254000" y="1703326"/>
              <a:ext cx="2036064" cy="58114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备份策略、剩余信息保护</a:t>
              </a:r>
              <a:endParaRPr lang="en-US" sz="1680"/>
            </a:p>
          </p:txBody>
        </p:sp>
      </p:grpSp>
      <p:grpSp>
        <p:nvGrpSpPr>
          <p:cNvPr id="393" name="组合 76"/>
          <p:cNvGrpSpPr/>
          <p:nvPr/>
        </p:nvGrpSpPr>
        <p:grpSpPr>
          <a:xfrm>
            <a:off x="8976360" y="2910840"/>
            <a:ext cx="2606040" cy="3642360"/>
            <a:chOff x="-635000" y="-635000"/>
            <a:chExt cx="2606040" cy="3642360"/>
          </a:xfrm>
        </p:grpSpPr>
        <p:pic>
          <p:nvPicPr>
            <p:cNvPr id="394" name="Image 23" descr="TEMP_Z_ORDER_36"/>
            <p:cNvPicPr>
              <a:picLocks noChangeAspect="1"/>
            </p:cNvPicPr>
            <p:nvPr/>
          </p:nvPicPr>
          <p:blipFill>
            <a:blip r:embed="rId16">
              <a:alphaModFix amt="80000"/>
              <a:extLst>
                <a:ext uri="{96DAC541-7B7A-43D3-8B79-37D633B846F1}">
                  <asvg:svgBlip xmlns:asvg="http://schemas.microsoft.com/office/drawing/2016/SVG/main" r:embed="rId17"/>
                </a:ext>
              </a:extLst>
            </a:blip>
            <a:stretch>
              <a:fillRect/>
            </a:stretch>
          </p:blipFill>
          <p:spPr>
            <a:xfrm>
              <a:off x="660400" y="-635000"/>
              <a:ext cx="30480" cy="213360"/>
            </a:xfrm>
            <a:prstGeom prst="rect">
              <a:avLst/>
            </a:prstGeom>
          </p:spPr>
        </p:pic>
        <p:pic>
          <p:nvPicPr>
            <p:cNvPr id="395" name="Image 24" descr="TEMP_Z_ORDER_37"/>
            <p:cNvPicPr>
              <a:picLocks noChangeAspect="1"/>
            </p:cNvPicPr>
            <p:nvPr/>
          </p:nvPicPr>
          <p:blipFill>
            <a:blip r:embed="rId18"/>
            <a:stretch>
              <a:fillRect/>
            </a:stretch>
          </p:blipFill>
          <p:spPr>
            <a:xfrm>
              <a:off x="-635000" y="-314960"/>
              <a:ext cx="2606040" cy="3322320"/>
            </a:xfrm>
            <a:prstGeom prst="rect">
              <a:avLst/>
            </a:prstGeom>
          </p:spPr>
        </p:pic>
        <p:sp>
          <p:nvSpPr>
            <p:cNvPr id="396" name="Text 13" descr="TEMP_Z_ORDER_38"/>
            <p:cNvSpPr/>
            <p:nvPr/>
          </p:nvSpPr>
          <p:spPr>
            <a:xfrm>
              <a:off x="-436879" y="-115606"/>
              <a:ext cx="2218944" cy="607132"/>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4000"/>
                </a:lnSpc>
                <a:buNone/>
              </a:pPr>
              <a:r>
                <a:rPr lang="en-US" sz="1920" b="1">
                  <a:solidFill>
                    <a:srgbClr val="000000"/>
                  </a:solidFill>
                </a:rPr>
                <a:t>四、云平台配置检查工具</a:t>
              </a:r>
              <a:endParaRPr lang="en-US" sz="1920"/>
            </a:p>
          </p:txBody>
        </p:sp>
        <p:pic>
          <p:nvPicPr>
            <p:cNvPr id="397" name="Image 25" descr="TEMP_Z_ORDER_39"/>
            <p:cNvPicPr>
              <a:picLocks noChangeAspect="1"/>
            </p:cNvPicPr>
            <p:nvPr/>
          </p:nvPicPr>
          <p:blipFill>
            <a:blip r:embed="rId13"/>
            <a:stretch>
              <a:fillRect/>
            </a:stretch>
          </p:blipFill>
          <p:spPr>
            <a:xfrm>
              <a:off x="-436879" y="637235"/>
              <a:ext cx="2209800" cy="15240"/>
            </a:xfrm>
            <a:prstGeom prst="rect">
              <a:avLst/>
            </a:prstGeom>
          </p:spPr>
        </p:pic>
        <p:pic>
          <p:nvPicPr>
            <p:cNvPr id="398" name="Image 26" descr="TEMP_Z_ORDER_4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80" y="904240"/>
              <a:ext cx="91440" cy="91440"/>
            </a:xfrm>
            <a:prstGeom prst="rect">
              <a:avLst/>
            </a:prstGeom>
          </p:spPr>
        </p:pic>
        <p:sp>
          <p:nvSpPr>
            <p:cNvPr id="399" name="Text 14" descr="TEMP_Z_ORDER_41"/>
            <p:cNvSpPr/>
            <p:nvPr/>
          </p:nvSpPr>
          <p:spPr>
            <a:xfrm>
              <a:off x="-254000" y="812800"/>
              <a:ext cx="1718818"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自动扫描配置风险</a:t>
              </a:r>
              <a:endParaRPr lang="en-US" sz="1680"/>
            </a:p>
          </p:txBody>
        </p:sp>
        <p:pic>
          <p:nvPicPr>
            <p:cNvPr id="400" name="Image 27" descr="TEMP_Z_ORDER_42"/>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879" y="1361440"/>
              <a:ext cx="91440" cy="91440"/>
            </a:xfrm>
            <a:prstGeom prst="rect">
              <a:avLst/>
            </a:prstGeom>
          </p:spPr>
        </p:pic>
        <p:sp>
          <p:nvSpPr>
            <p:cNvPr id="401" name="Text 15" descr="TEMP_Z_ORDER_43"/>
            <p:cNvSpPr/>
            <p:nvPr/>
          </p:nvSpPr>
          <p:spPr>
            <a:xfrm>
              <a:off x="-254000" y="1270000"/>
              <a:ext cx="1718818" cy="289578"/>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5000"/>
                </a:lnSpc>
                <a:buNone/>
              </a:pPr>
              <a:r>
                <a:rPr lang="en-US" sz="1680">
                  <a:solidFill>
                    <a:srgbClr val="000000"/>
                  </a:solidFill>
                  <a:latin typeface="思源黑体 CN Regular" pitchFamily="34" charset="0"/>
                  <a:ea typeface="思源黑体 CN Regular" pitchFamily="34" charset="-122"/>
                  <a:cs typeface="思源黑体 CN Regular" pitchFamily="34" charset="-120"/>
                </a:rPr>
                <a:t>与等保测评的关联</a:t>
              </a:r>
              <a:endParaRPr lang="en-US" sz="168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fade">
                                      <p:cBhvr>
                                        <p:cTn id="7" dur="750"/>
                                        <p:tgtEl>
                                          <p:spTgt spid="356"/>
                                        </p:tgtEl>
                                      </p:cBhvr>
                                    </p:animEffect>
                                  </p:childTnLst>
                                </p:cTn>
                              </p:par>
                            </p:childTnLst>
                          </p:cTn>
                        </p:par>
                        <p:par>
                          <p:cTn id="8" fill="hold">
                            <p:stCondLst>
                              <p:cond delay="1000"/>
                            </p:stCondLst>
                            <p:childTnLst>
                              <p:par>
                                <p:cTn id="9" presetID="2" presetClass="entr" presetSubtype="1" fill="hold" grpId="2" nodeType="afterEffect">
                                  <p:stCondLst>
                                    <p:cond delay="0"/>
                                  </p:stCondLst>
                                  <p:childTnLst>
                                    <p:set>
                                      <p:cBhvr>
                                        <p:cTn id="10" dur="1" fill="hold">
                                          <p:stCondLst>
                                            <p:cond delay="0"/>
                                          </p:stCondLst>
                                        </p:cTn>
                                        <p:tgtEl>
                                          <p:spTgt spid="357"/>
                                        </p:tgtEl>
                                        <p:attrNameLst>
                                          <p:attrName>style.visibility</p:attrName>
                                        </p:attrNameLst>
                                      </p:cBhvr>
                                      <p:to>
                                        <p:strVal val="visible"/>
                                      </p:to>
                                    </p:set>
                                    <p:anim calcmode="lin" valueType="num">
                                      <p:cBhvr additive="base">
                                        <p:cTn id="11" dur="750" fill="hold"/>
                                        <p:tgtEl>
                                          <p:spTgt spid="357"/>
                                        </p:tgtEl>
                                        <p:attrNameLst>
                                          <p:attrName>ppt_x</p:attrName>
                                        </p:attrNameLst>
                                      </p:cBhvr>
                                      <p:tavLst>
                                        <p:tav tm="0">
                                          <p:val>
                                            <p:strVal val="#ppt_x"/>
                                          </p:val>
                                        </p:tav>
                                        <p:tav tm="100000">
                                          <p:val>
                                            <p:strVal val="#ppt_x"/>
                                          </p:val>
                                        </p:tav>
                                      </p:tavLst>
                                    </p:anim>
                                    <p:anim calcmode="lin" valueType="num">
                                      <p:cBhvr additive="base">
                                        <p:cTn id="12" dur="750" fill="hold"/>
                                        <p:tgtEl>
                                          <p:spTgt spid="357"/>
                                        </p:tgtEl>
                                        <p:attrNameLst>
                                          <p:attrName>ppt_y</p:attrName>
                                        </p:attrNameLst>
                                      </p:cBhvr>
                                      <p:tavLst>
                                        <p:tav tm="0">
                                          <p:val>
                                            <p:strVal val="0-#ppt_h/2"/>
                                          </p:val>
                                        </p:tav>
                                        <p:tav tm="100000">
                                          <p:val>
                                            <p:strVal val="#ppt_y"/>
                                          </p:val>
                                        </p:tav>
                                      </p:tavLst>
                                    </p:anim>
                                  </p:childTnLst>
                                </p:cTn>
                              </p:par>
                            </p:childTnLst>
                          </p:cTn>
                        </p:par>
                        <p:par>
                          <p:cTn id="13" fill="hold">
                            <p:stCondLst>
                              <p:cond delay="2000"/>
                            </p:stCondLst>
                            <p:childTnLst>
                              <p:par>
                                <p:cTn id="14" presetID="2" presetClass="entr" presetSubtype="1" fill="hold" grpId="3" nodeType="afterEffect">
                                  <p:stCondLst>
                                    <p:cond delay="0"/>
                                  </p:stCondLst>
                                  <p:childTnLst>
                                    <p:set>
                                      <p:cBhvr>
                                        <p:cTn id="15" dur="1" fill="hold">
                                          <p:stCondLst>
                                            <p:cond delay="0"/>
                                          </p:stCondLst>
                                        </p:cTn>
                                        <p:tgtEl>
                                          <p:spTgt spid="362"/>
                                        </p:tgtEl>
                                        <p:attrNameLst>
                                          <p:attrName>style.visibility</p:attrName>
                                        </p:attrNameLst>
                                      </p:cBhvr>
                                      <p:to>
                                        <p:strVal val="visible"/>
                                      </p:to>
                                    </p:set>
                                    <p:anim calcmode="lin" valueType="num">
                                      <p:cBhvr additive="base">
                                        <p:cTn id="16" dur="750" fill="hold"/>
                                        <p:tgtEl>
                                          <p:spTgt spid="362"/>
                                        </p:tgtEl>
                                        <p:attrNameLst>
                                          <p:attrName>ppt_x</p:attrName>
                                        </p:attrNameLst>
                                      </p:cBhvr>
                                      <p:tavLst>
                                        <p:tav tm="0">
                                          <p:val>
                                            <p:strVal val="#ppt_x"/>
                                          </p:val>
                                        </p:tav>
                                        <p:tav tm="100000">
                                          <p:val>
                                            <p:strVal val="#ppt_x"/>
                                          </p:val>
                                        </p:tav>
                                      </p:tavLst>
                                    </p:anim>
                                    <p:anim calcmode="lin" valueType="num">
                                      <p:cBhvr additive="base">
                                        <p:cTn id="17" dur="750" fill="hold"/>
                                        <p:tgtEl>
                                          <p:spTgt spid="362"/>
                                        </p:tgtEl>
                                        <p:attrNameLst>
                                          <p:attrName>ppt_y</p:attrName>
                                        </p:attrNameLst>
                                      </p:cBhvr>
                                      <p:tavLst>
                                        <p:tav tm="0">
                                          <p:val>
                                            <p:strVal val="0-#ppt_h/2"/>
                                          </p:val>
                                        </p:tav>
                                        <p:tav tm="100000">
                                          <p:val>
                                            <p:strVal val="#ppt_y"/>
                                          </p:val>
                                        </p:tav>
                                      </p:tavLst>
                                    </p:anim>
                                  </p:childTnLst>
                                </p:cTn>
                              </p:par>
                            </p:childTnLst>
                          </p:cTn>
                        </p:par>
                        <p:par>
                          <p:cTn id="18" fill="hold">
                            <p:stCondLst>
                              <p:cond delay="3000"/>
                            </p:stCondLst>
                            <p:childTnLst>
                              <p:par>
                                <p:cTn id="19" presetID="2" presetClass="entr" presetSubtype="1" fill="hold" grpId="4" nodeType="afterEffect">
                                  <p:stCondLst>
                                    <p:cond delay="0"/>
                                  </p:stCondLst>
                                  <p:childTnLst>
                                    <p:set>
                                      <p:cBhvr>
                                        <p:cTn id="20" dur="1" fill="hold">
                                          <p:stCondLst>
                                            <p:cond delay="0"/>
                                          </p:stCondLst>
                                        </p:cTn>
                                        <p:tgtEl>
                                          <p:spTgt spid="373"/>
                                        </p:tgtEl>
                                        <p:attrNameLst>
                                          <p:attrName>style.visibility</p:attrName>
                                        </p:attrNameLst>
                                      </p:cBhvr>
                                      <p:to>
                                        <p:strVal val="visible"/>
                                      </p:to>
                                    </p:set>
                                    <p:anim calcmode="lin" valueType="num">
                                      <p:cBhvr additive="base">
                                        <p:cTn id="21" dur="750" fill="hold"/>
                                        <p:tgtEl>
                                          <p:spTgt spid="373"/>
                                        </p:tgtEl>
                                        <p:attrNameLst>
                                          <p:attrName>ppt_x</p:attrName>
                                        </p:attrNameLst>
                                      </p:cBhvr>
                                      <p:tavLst>
                                        <p:tav tm="0">
                                          <p:val>
                                            <p:strVal val="#ppt_x"/>
                                          </p:val>
                                        </p:tav>
                                        <p:tav tm="100000">
                                          <p:val>
                                            <p:strVal val="#ppt_x"/>
                                          </p:val>
                                        </p:tav>
                                      </p:tavLst>
                                    </p:anim>
                                    <p:anim calcmode="lin" valueType="num">
                                      <p:cBhvr additive="base">
                                        <p:cTn id="22" dur="750" fill="hold"/>
                                        <p:tgtEl>
                                          <p:spTgt spid="373"/>
                                        </p:tgtEl>
                                        <p:attrNameLst>
                                          <p:attrName>ppt_y</p:attrName>
                                        </p:attrNameLst>
                                      </p:cBhvr>
                                      <p:tavLst>
                                        <p:tav tm="0">
                                          <p:val>
                                            <p:strVal val="0-#ppt_h/2"/>
                                          </p:val>
                                        </p:tav>
                                        <p:tav tm="100000">
                                          <p:val>
                                            <p:strVal val="#ppt_y"/>
                                          </p:val>
                                        </p:tav>
                                      </p:tavLst>
                                    </p:anim>
                                  </p:childTnLst>
                                </p:cTn>
                              </p:par>
                            </p:childTnLst>
                          </p:cTn>
                        </p:par>
                        <p:par>
                          <p:cTn id="23" fill="hold">
                            <p:stCondLst>
                              <p:cond delay="4000"/>
                            </p:stCondLst>
                            <p:childTnLst>
                              <p:par>
                                <p:cTn id="24" presetID="2" presetClass="entr" presetSubtype="1" fill="hold" grpId="5" nodeType="afterEffect">
                                  <p:stCondLst>
                                    <p:cond delay="0"/>
                                  </p:stCondLst>
                                  <p:childTnLst>
                                    <p:set>
                                      <p:cBhvr>
                                        <p:cTn id="25" dur="1" fill="hold">
                                          <p:stCondLst>
                                            <p:cond delay="0"/>
                                          </p:stCondLst>
                                        </p:cTn>
                                        <p:tgtEl>
                                          <p:spTgt spid="382"/>
                                        </p:tgtEl>
                                        <p:attrNameLst>
                                          <p:attrName>style.visibility</p:attrName>
                                        </p:attrNameLst>
                                      </p:cBhvr>
                                      <p:to>
                                        <p:strVal val="visible"/>
                                      </p:to>
                                    </p:set>
                                    <p:anim calcmode="lin" valueType="num">
                                      <p:cBhvr additive="base">
                                        <p:cTn id="26" dur="750" fill="hold"/>
                                        <p:tgtEl>
                                          <p:spTgt spid="382"/>
                                        </p:tgtEl>
                                        <p:attrNameLst>
                                          <p:attrName>ppt_x</p:attrName>
                                        </p:attrNameLst>
                                      </p:cBhvr>
                                      <p:tavLst>
                                        <p:tav tm="0">
                                          <p:val>
                                            <p:strVal val="#ppt_x"/>
                                          </p:val>
                                        </p:tav>
                                        <p:tav tm="100000">
                                          <p:val>
                                            <p:strVal val="#ppt_x"/>
                                          </p:val>
                                        </p:tav>
                                      </p:tavLst>
                                    </p:anim>
                                    <p:anim calcmode="lin" valueType="num">
                                      <p:cBhvr additive="base">
                                        <p:cTn id="27" dur="750" fill="hold"/>
                                        <p:tgtEl>
                                          <p:spTgt spid="382"/>
                                        </p:tgtEl>
                                        <p:attrNameLst>
                                          <p:attrName>ppt_y</p:attrName>
                                        </p:attrNameLst>
                                      </p:cBhvr>
                                      <p:tavLst>
                                        <p:tav tm="0">
                                          <p:val>
                                            <p:strVal val="0-#ppt_h/2"/>
                                          </p:val>
                                        </p:tav>
                                        <p:tav tm="100000">
                                          <p:val>
                                            <p:strVal val="#ppt_y"/>
                                          </p:val>
                                        </p:tav>
                                      </p:tavLst>
                                    </p:anim>
                                  </p:childTnLst>
                                </p:cTn>
                              </p:par>
                            </p:childTnLst>
                          </p:cTn>
                        </p:par>
                        <p:par>
                          <p:cTn id="28" fill="hold">
                            <p:stCondLst>
                              <p:cond delay="5000"/>
                            </p:stCondLst>
                            <p:childTnLst>
                              <p:par>
                                <p:cTn id="29" presetID="2" presetClass="entr" presetSubtype="1" fill="hold" grpId="6" nodeType="afterEffect">
                                  <p:stCondLst>
                                    <p:cond delay="0"/>
                                  </p:stCondLst>
                                  <p:childTnLst>
                                    <p:set>
                                      <p:cBhvr>
                                        <p:cTn id="30" dur="1" fill="hold">
                                          <p:stCondLst>
                                            <p:cond delay="0"/>
                                          </p:stCondLst>
                                        </p:cTn>
                                        <p:tgtEl>
                                          <p:spTgt spid="393"/>
                                        </p:tgtEl>
                                        <p:attrNameLst>
                                          <p:attrName>style.visibility</p:attrName>
                                        </p:attrNameLst>
                                      </p:cBhvr>
                                      <p:to>
                                        <p:strVal val="visible"/>
                                      </p:to>
                                    </p:set>
                                    <p:anim calcmode="lin" valueType="num">
                                      <p:cBhvr additive="base">
                                        <p:cTn id="31" dur="750" fill="hold"/>
                                        <p:tgtEl>
                                          <p:spTgt spid="393"/>
                                        </p:tgtEl>
                                        <p:attrNameLst>
                                          <p:attrName>ppt_x</p:attrName>
                                        </p:attrNameLst>
                                      </p:cBhvr>
                                      <p:tavLst>
                                        <p:tav tm="0">
                                          <p:val>
                                            <p:strVal val="#ppt_x"/>
                                          </p:val>
                                        </p:tav>
                                        <p:tav tm="100000">
                                          <p:val>
                                            <p:strVal val="#ppt_x"/>
                                          </p:val>
                                        </p:tav>
                                      </p:tavLst>
                                    </p:anim>
                                    <p:anim calcmode="lin" valueType="num">
                                      <p:cBhvr additive="base">
                                        <p:cTn id="32" dur="750" fill="hold"/>
                                        <p:tgtEl>
                                          <p:spTgt spid="39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02" name=""/>
        <p:cNvGrpSpPr/>
        <p:nvPr/>
      </p:nvGrpSpPr>
      <p:grpSpPr>
        <a:xfrm>
          <a:off x="0" y="0"/>
          <a:ext cx="0" cy="0"/>
          <a:chOff x="0" y="0"/>
          <a:chExt cx="0" cy="0"/>
        </a:xfrm>
      </p:grpSpPr>
      <p:pic>
        <p:nvPicPr>
          <p:cNvPr id="40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40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0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40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课后作业</a:t>
            </a:r>
            <a:endParaRPr lang="en-US" sz="2760"/>
          </a:p>
        </p:txBody>
      </p:sp>
      <p:grpSp>
        <p:nvGrpSpPr>
          <p:cNvPr id="407" name="组合 36"/>
          <p:cNvGrpSpPr/>
          <p:nvPr/>
        </p:nvGrpSpPr>
        <p:grpSpPr>
          <a:xfrm>
            <a:off x="609600" y="1371600"/>
            <a:ext cx="10972800" cy="1295400"/>
            <a:chOff x="-635000" y="-635000"/>
            <a:chExt cx="10972800" cy="1295400"/>
          </a:xfrm>
        </p:grpSpPr>
        <p:pic>
          <p:nvPicPr>
            <p:cNvPr id="408" name="Image 3" descr="TEMP_Z_ORDER_4"/>
            <p:cNvPicPr>
              <a:picLocks noChangeAspect="1"/>
            </p:cNvPicPr>
            <p:nvPr/>
          </p:nvPicPr>
          <p:blipFill>
            <a:blip r:embed="rId4"/>
            <a:stretch>
              <a:fillRect/>
            </a:stretch>
          </p:blipFill>
          <p:spPr>
            <a:xfrm>
              <a:off x="-635000" y="-635000"/>
              <a:ext cx="10972800" cy="1295400"/>
            </a:xfrm>
            <a:prstGeom prst="rect">
              <a:avLst/>
            </a:prstGeom>
          </p:spPr>
        </p:pic>
        <p:pic>
          <p:nvPicPr>
            <p:cNvPr id="409" name="Image 4" descr="TEMP_Z_ORDER_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4960" y="-269240"/>
              <a:ext cx="990600" cy="548640"/>
            </a:xfrm>
            <a:prstGeom prst="rect">
              <a:avLst/>
            </a:prstGeom>
          </p:spPr>
        </p:pic>
        <p:sp>
          <p:nvSpPr>
            <p:cNvPr id="410" name="Text 1" descr="TEMP_Z_ORDER_6"/>
            <p:cNvSpPr/>
            <p:nvPr/>
          </p:nvSpPr>
          <p:spPr>
            <a:xfrm>
              <a:off x="-71120" y="-177800"/>
              <a:ext cx="493839"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必做</a:t>
              </a:r>
              <a:endParaRPr lang="en-US" sz="1920"/>
            </a:p>
          </p:txBody>
        </p:sp>
        <p:sp>
          <p:nvSpPr>
            <p:cNvPr id="411" name="Text 2" descr="TEMP_Z_ORDER_7"/>
            <p:cNvSpPr/>
            <p:nvPr/>
          </p:nvSpPr>
          <p:spPr>
            <a:xfrm>
              <a:off x="1026160" y="-436880"/>
              <a:ext cx="13578840" cy="870552"/>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6000"/>
                </a:lnSpc>
                <a:buNone/>
              </a:pPr>
              <a:r>
                <a:rPr lang="zh-CN" sz="2160">
                  <a:solidFill>
                    <a:srgbClr val="000000"/>
                  </a:solidFill>
                  <a:latin typeface="思源黑体 CN Regular" pitchFamily="34" charset="0"/>
                  <a:ea typeface="思源黑体 CN Regular" pitchFamily="34" charset="-122"/>
                  <a:cs typeface="思源黑体 CN Regular" pitchFamily="34" charset="-120"/>
                </a:rPr>
                <a:t>完成《云计算安全测评记录表》（基于 CloudLab 实验平台核查结果，可从页面直接导出），提交至学习通平台</a:t>
              </a:r>
              <a:endParaRPr lang="en-US" sz="2160">
                <a:solidFill>
                  <a:srgbClr val="000000"/>
                </a:solidFill>
                <a:latin typeface="思源黑体 CN Regular" pitchFamily="34" charset="0"/>
                <a:ea typeface="思源黑体 CN Regular" pitchFamily="34" charset="-122"/>
                <a:cs typeface="思源黑体 CN Regular" pitchFamily="34" charset="-120"/>
              </a:endParaRPr>
            </a:p>
            <a:p>
              <a:pPr marL="0" indent="0" algn="l">
                <a:lnSpc>
                  <a:spcPct val="136000"/>
                </a:lnSpc>
                <a:buNone/>
              </a:pPr>
              <a:endParaRPr lang="en-US" sz="2160">
                <a:solidFill>
                  <a:srgbClr val="000000"/>
                </a:solidFill>
                <a:latin typeface="思源黑体 CN Regular" pitchFamily="34" charset="0"/>
                <a:ea typeface="思源黑体 CN Regular" pitchFamily="34" charset="-122"/>
                <a:cs typeface="思源黑体 CN Regular" pitchFamily="34" charset="-120"/>
              </a:endParaRPr>
            </a:p>
          </p:txBody>
        </p:sp>
      </p:grpSp>
      <p:grpSp>
        <p:nvGrpSpPr>
          <p:cNvPr id="412" name="组合 21"/>
          <p:cNvGrpSpPr/>
          <p:nvPr/>
        </p:nvGrpSpPr>
        <p:grpSpPr>
          <a:xfrm>
            <a:off x="609600" y="2910840"/>
            <a:ext cx="10972800" cy="1051560"/>
            <a:chOff x="-635000" y="-635000"/>
            <a:chExt cx="10972800" cy="1051560"/>
          </a:xfrm>
        </p:grpSpPr>
        <p:pic>
          <p:nvPicPr>
            <p:cNvPr id="413" name="Image 5" descr="TEMP_Z_ORDER_8"/>
            <p:cNvPicPr>
              <a:picLocks noChangeAspect="1"/>
            </p:cNvPicPr>
            <p:nvPr/>
          </p:nvPicPr>
          <p:blipFill>
            <a:blip r:embed="rId7"/>
            <a:stretch>
              <a:fillRect/>
            </a:stretch>
          </p:blipFill>
          <p:spPr>
            <a:xfrm>
              <a:off x="-635000" y="-635000"/>
              <a:ext cx="10972800" cy="1051560"/>
            </a:xfrm>
            <a:prstGeom prst="rect">
              <a:avLst/>
            </a:prstGeom>
          </p:spPr>
        </p:pic>
        <p:pic>
          <p:nvPicPr>
            <p:cNvPr id="414" name="Image 6" descr="TEMP_Z_ORDER_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4960" y="-391160"/>
              <a:ext cx="990600" cy="548640"/>
            </a:xfrm>
            <a:prstGeom prst="rect">
              <a:avLst/>
            </a:prstGeom>
          </p:spPr>
        </p:pic>
        <p:sp>
          <p:nvSpPr>
            <p:cNvPr id="415" name="Text 3" descr="TEMP_Z_ORDER_10"/>
            <p:cNvSpPr/>
            <p:nvPr/>
          </p:nvSpPr>
          <p:spPr>
            <a:xfrm>
              <a:off x="-71120" y="-299720"/>
              <a:ext cx="493839"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FFFFFF"/>
                  </a:solidFill>
                  <a:latin typeface="思源黑体 CN Bold" pitchFamily="34" charset="0"/>
                  <a:ea typeface="思源黑体 CN Bold" pitchFamily="34" charset="-122"/>
                  <a:cs typeface="思源黑体 CN Bold" pitchFamily="34" charset="-120"/>
                </a:rPr>
                <a:t>必做</a:t>
              </a:r>
              <a:endParaRPr lang="en-US" sz="1920"/>
            </a:p>
          </p:txBody>
        </p:sp>
        <p:sp>
          <p:nvSpPr>
            <p:cNvPr id="416" name="Text 4" descr="TEMP_Z_ORDER_11"/>
            <p:cNvSpPr/>
            <p:nvPr/>
          </p:nvSpPr>
          <p:spPr>
            <a:xfrm>
              <a:off x="1026160" y="-269240"/>
              <a:ext cx="6561010" cy="28828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完成活动7.1.2在线测试（选择题+判断题，共15题）</a:t>
              </a:r>
              <a:endParaRPr lang="en-US" sz="2160"/>
            </a:p>
          </p:txBody>
        </p:sp>
      </p:grpSp>
      <p:grpSp>
        <p:nvGrpSpPr>
          <p:cNvPr id="417" name="组合 26"/>
          <p:cNvGrpSpPr/>
          <p:nvPr/>
        </p:nvGrpSpPr>
        <p:grpSpPr>
          <a:xfrm>
            <a:off x="609600" y="4191000"/>
            <a:ext cx="10972800" cy="1066800"/>
            <a:chOff x="-635000" y="-635000"/>
            <a:chExt cx="10972800" cy="1066800"/>
          </a:xfrm>
        </p:grpSpPr>
        <p:pic>
          <p:nvPicPr>
            <p:cNvPr id="418" name="Image 7" descr="TEMP_Z_ORDER_12"/>
            <p:cNvPicPr>
              <a:picLocks noChangeAspect="1"/>
            </p:cNvPicPr>
            <p:nvPr/>
          </p:nvPicPr>
          <p:blipFill>
            <a:blip r:embed="rId8"/>
            <a:stretch>
              <a:fillRect/>
            </a:stretch>
          </p:blipFill>
          <p:spPr>
            <a:xfrm>
              <a:off x="-635000" y="-635000"/>
              <a:ext cx="10972800" cy="1066800"/>
            </a:xfrm>
            <a:prstGeom prst="rect">
              <a:avLst/>
            </a:prstGeom>
          </p:spPr>
        </p:pic>
        <p:pic>
          <p:nvPicPr>
            <p:cNvPr id="419" name="Image 8" descr="TEMP_Z_ORDER_13"/>
            <p:cNvPicPr>
              <a:picLocks noChangeAspect="1"/>
            </p:cNvPicPr>
            <p:nvPr/>
          </p:nvPicPr>
          <p:blipFill>
            <a:blip r:embed="rId9"/>
            <a:stretch>
              <a:fillRect/>
            </a:stretch>
          </p:blipFill>
          <p:spPr>
            <a:xfrm>
              <a:off x="-314960" y="-391160"/>
              <a:ext cx="1021080" cy="579120"/>
            </a:xfrm>
            <a:prstGeom prst="rect">
              <a:avLst/>
            </a:prstGeom>
          </p:spPr>
        </p:pic>
        <p:sp>
          <p:nvSpPr>
            <p:cNvPr id="420" name="Text 5" descr="TEMP_Z_ORDER_14"/>
            <p:cNvSpPr/>
            <p:nvPr/>
          </p:nvSpPr>
          <p:spPr>
            <a:xfrm>
              <a:off x="-55880" y="-284480"/>
              <a:ext cx="493839" cy="354555"/>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000000"/>
                  </a:solidFill>
                  <a:latin typeface="思源黑体 CN Bold" pitchFamily="34" charset="0"/>
                  <a:ea typeface="思源黑体 CN Bold" pitchFamily="34" charset="-122"/>
                  <a:cs typeface="思源黑体 CN Bold" pitchFamily="34" charset="-120"/>
                </a:rPr>
                <a:t>选做</a:t>
              </a:r>
              <a:endParaRPr lang="en-US" sz="1920"/>
            </a:p>
          </p:txBody>
        </p:sp>
        <p:sp>
          <p:nvSpPr>
            <p:cNvPr id="421" name="Text 6" descr="TEMP_Z_ORDER_15"/>
            <p:cNvSpPr/>
            <p:nvPr/>
          </p:nvSpPr>
          <p:spPr>
            <a:xfrm>
              <a:off x="1056640" y="-254000"/>
              <a:ext cx="8425735" cy="288289"/>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登录阿里云/华为云免费试用，体验“云平台配置检查”功能（可截图）</a:t>
              </a:r>
              <a:endParaRPr lang="en-US" sz="2160"/>
            </a:p>
          </p:txBody>
        </p:sp>
      </p:grpSp>
      <p:grpSp>
        <p:nvGrpSpPr>
          <p:cNvPr id="422" name="组合 31"/>
          <p:cNvGrpSpPr/>
          <p:nvPr/>
        </p:nvGrpSpPr>
        <p:grpSpPr>
          <a:xfrm>
            <a:off x="609600" y="5486400"/>
            <a:ext cx="10972800" cy="970280"/>
            <a:chOff x="-635000" y="-635000"/>
            <a:chExt cx="10972800" cy="1066800"/>
          </a:xfrm>
        </p:grpSpPr>
        <p:pic>
          <p:nvPicPr>
            <p:cNvPr id="423" name="Image 9" descr="TEMP_Z_ORDER_16"/>
            <p:cNvPicPr>
              <a:picLocks noChangeAspect="1"/>
            </p:cNvPicPr>
            <p:nvPr/>
          </p:nvPicPr>
          <p:blipFill>
            <a:blip r:embed="rId8"/>
            <a:stretch>
              <a:fillRect/>
            </a:stretch>
          </p:blipFill>
          <p:spPr>
            <a:xfrm>
              <a:off x="-635000" y="-635000"/>
              <a:ext cx="10972800" cy="1066800"/>
            </a:xfrm>
            <a:prstGeom prst="rect">
              <a:avLst/>
            </a:prstGeom>
          </p:spPr>
        </p:pic>
        <p:pic>
          <p:nvPicPr>
            <p:cNvPr id="424" name="Image 10" descr="TEMP_Z_ORDER_17"/>
            <p:cNvPicPr>
              <a:picLocks noChangeAspect="1"/>
            </p:cNvPicPr>
            <p:nvPr/>
          </p:nvPicPr>
          <p:blipFill>
            <a:blip r:embed="rId9"/>
            <a:stretch>
              <a:fillRect/>
            </a:stretch>
          </p:blipFill>
          <p:spPr>
            <a:xfrm>
              <a:off x="-314960" y="-391160"/>
              <a:ext cx="1021080" cy="579120"/>
            </a:xfrm>
            <a:prstGeom prst="rect">
              <a:avLst/>
            </a:prstGeom>
          </p:spPr>
        </p:pic>
        <p:sp>
          <p:nvSpPr>
            <p:cNvPr id="425" name="Text 7" descr="TEMP_Z_ORDER_18"/>
            <p:cNvSpPr/>
            <p:nvPr/>
          </p:nvSpPr>
          <p:spPr>
            <a:xfrm>
              <a:off x="-55880" y="-284480"/>
              <a:ext cx="493839" cy="405635"/>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1920" b="1">
                  <a:solidFill>
                    <a:srgbClr val="000000"/>
                  </a:solidFill>
                  <a:latin typeface="思源黑体 CN Bold" pitchFamily="34" charset="0"/>
                  <a:ea typeface="思源黑体 CN Bold" pitchFamily="34" charset="-122"/>
                  <a:cs typeface="思源黑体 CN Bold" pitchFamily="34" charset="-120"/>
                </a:rPr>
                <a:t>预习</a:t>
              </a:r>
              <a:endParaRPr lang="en-US" sz="1920"/>
            </a:p>
          </p:txBody>
        </p:sp>
        <p:sp>
          <p:nvSpPr>
            <p:cNvPr id="426" name="Text 8" descr="TEMP_Z_ORDER_19"/>
            <p:cNvSpPr/>
            <p:nvPr/>
          </p:nvSpPr>
          <p:spPr>
            <a:xfrm>
              <a:off x="1056640" y="-231459"/>
              <a:ext cx="6282690" cy="353273"/>
            </a:xfrm>
            <a:prstGeom prst="rect">
              <a:avLst/>
            </a:prstGeom>
            <a:noFill/>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预习7.2.1“移动互联架构认知”相关内容</a:t>
              </a:r>
              <a:endParaRPr lang="en-US" sz="216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750"/>
                                        <p:tgtEl>
                                          <p:spTgt spid="406"/>
                                        </p:tgtEl>
                                      </p:cBhvr>
                                    </p:animEffect>
                                  </p:childTnLst>
                                </p:cTn>
                              </p:par>
                            </p:childTnLst>
                          </p:cTn>
                        </p:par>
                        <p:par>
                          <p:cTn id="8" fill="hold">
                            <p:stCondLst>
                              <p:cond delay="1000"/>
                            </p:stCondLst>
                            <p:childTnLst>
                              <p:par>
                                <p:cTn id="9" presetID="2" presetClass="entr" presetSubtype="1" fill="hold" grpId="2" nodeType="afterEffect">
                                  <p:stCondLst>
                                    <p:cond delay="0"/>
                                  </p:stCondLst>
                                  <p:childTnLst>
                                    <p:set>
                                      <p:cBhvr>
                                        <p:cTn id="10" dur="1" fill="hold">
                                          <p:stCondLst>
                                            <p:cond delay="0"/>
                                          </p:stCondLst>
                                        </p:cTn>
                                        <p:tgtEl>
                                          <p:spTgt spid="407"/>
                                        </p:tgtEl>
                                        <p:attrNameLst>
                                          <p:attrName>style.visibility</p:attrName>
                                        </p:attrNameLst>
                                      </p:cBhvr>
                                      <p:to>
                                        <p:strVal val="visible"/>
                                      </p:to>
                                    </p:set>
                                    <p:anim calcmode="lin" valueType="num">
                                      <p:cBhvr additive="base">
                                        <p:cTn id="11" dur="750" fill="hold"/>
                                        <p:tgtEl>
                                          <p:spTgt spid="407"/>
                                        </p:tgtEl>
                                        <p:attrNameLst>
                                          <p:attrName>ppt_x</p:attrName>
                                        </p:attrNameLst>
                                      </p:cBhvr>
                                      <p:tavLst>
                                        <p:tav tm="0">
                                          <p:val>
                                            <p:strVal val="#ppt_x"/>
                                          </p:val>
                                        </p:tav>
                                        <p:tav tm="100000">
                                          <p:val>
                                            <p:strVal val="#ppt_x"/>
                                          </p:val>
                                        </p:tav>
                                      </p:tavLst>
                                    </p:anim>
                                    <p:anim calcmode="lin" valueType="num">
                                      <p:cBhvr additive="base">
                                        <p:cTn id="12" dur="750" fill="hold"/>
                                        <p:tgtEl>
                                          <p:spTgt spid="407"/>
                                        </p:tgtEl>
                                        <p:attrNameLst>
                                          <p:attrName>ppt_y</p:attrName>
                                        </p:attrNameLst>
                                      </p:cBhvr>
                                      <p:tavLst>
                                        <p:tav tm="0">
                                          <p:val>
                                            <p:strVal val="0-#ppt_h/2"/>
                                          </p:val>
                                        </p:tav>
                                        <p:tav tm="100000">
                                          <p:val>
                                            <p:strVal val="#ppt_y"/>
                                          </p:val>
                                        </p:tav>
                                      </p:tavLst>
                                    </p:anim>
                                  </p:childTnLst>
                                </p:cTn>
                              </p:par>
                            </p:childTnLst>
                          </p:cTn>
                        </p:par>
                        <p:par>
                          <p:cTn id="13" fill="hold">
                            <p:stCondLst>
                              <p:cond delay="2000"/>
                            </p:stCondLst>
                            <p:childTnLst>
                              <p:par>
                                <p:cTn id="14" presetID="2" presetClass="entr" presetSubtype="1" fill="hold" grpId="3" nodeType="afterEffect">
                                  <p:stCondLst>
                                    <p:cond delay="0"/>
                                  </p:stCondLst>
                                  <p:childTnLst>
                                    <p:set>
                                      <p:cBhvr>
                                        <p:cTn id="15" dur="1" fill="hold">
                                          <p:stCondLst>
                                            <p:cond delay="0"/>
                                          </p:stCondLst>
                                        </p:cTn>
                                        <p:tgtEl>
                                          <p:spTgt spid="412"/>
                                        </p:tgtEl>
                                        <p:attrNameLst>
                                          <p:attrName>style.visibility</p:attrName>
                                        </p:attrNameLst>
                                      </p:cBhvr>
                                      <p:to>
                                        <p:strVal val="visible"/>
                                      </p:to>
                                    </p:set>
                                    <p:anim calcmode="lin" valueType="num">
                                      <p:cBhvr additive="base">
                                        <p:cTn id="16" dur="750" fill="hold"/>
                                        <p:tgtEl>
                                          <p:spTgt spid="412"/>
                                        </p:tgtEl>
                                        <p:attrNameLst>
                                          <p:attrName>ppt_x</p:attrName>
                                        </p:attrNameLst>
                                      </p:cBhvr>
                                      <p:tavLst>
                                        <p:tav tm="0">
                                          <p:val>
                                            <p:strVal val="#ppt_x"/>
                                          </p:val>
                                        </p:tav>
                                        <p:tav tm="100000">
                                          <p:val>
                                            <p:strVal val="#ppt_x"/>
                                          </p:val>
                                        </p:tav>
                                      </p:tavLst>
                                    </p:anim>
                                    <p:anim calcmode="lin" valueType="num">
                                      <p:cBhvr additive="base">
                                        <p:cTn id="17" dur="750" fill="hold"/>
                                        <p:tgtEl>
                                          <p:spTgt spid="412"/>
                                        </p:tgtEl>
                                        <p:attrNameLst>
                                          <p:attrName>ppt_y</p:attrName>
                                        </p:attrNameLst>
                                      </p:cBhvr>
                                      <p:tavLst>
                                        <p:tav tm="0">
                                          <p:val>
                                            <p:strVal val="0-#ppt_h/2"/>
                                          </p:val>
                                        </p:tav>
                                        <p:tav tm="100000">
                                          <p:val>
                                            <p:strVal val="#ppt_y"/>
                                          </p:val>
                                        </p:tav>
                                      </p:tavLst>
                                    </p:anim>
                                  </p:childTnLst>
                                </p:cTn>
                              </p:par>
                            </p:childTnLst>
                          </p:cTn>
                        </p:par>
                        <p:par>
                          <p:cTn id="18" fill="hold">
                            <p:stCondLst>
                              <p:cond delay="3000"/>
                            </p:stCondLst>
                            <p:childTnLst>
                              <p:par>
                                <p:cTn id="19" presetID="2" presetClass="entr" presetSubtype="1" fill="hold" grpId="4" nodeType="afterEffect">
                                  <p:stCondLst>
                                    <p:cond delay="0"/>
                                  </p:stCondLst>
                                  <p:childTnLst>
                                    <p:set>
                                      <p:cBhvr>
                                        <p:cTn id="20" dur="1" fill="hold">
                                          <p:stCondLst>
                                            <p:cond delay="0"/>
                                          </p:stCondLst>
                                        </p:cTn>
                                        <p:tgtEl>
                                          <p:spTgt spid="417"/>
                                        </p:tgtEl>
                                        <p:attrNameLst>
                                          <p:attrName>style.visibility</p:attrName>
                                        </p:attrNameLst>
                                      </p:cBhvr>
                                      <p:to>
                                        <p:strVal val="visible"/>
                                      </p:to>
                                    </p:set>
                                    <p:anim calcmode="lin" valueType="num">
                                      <p:cBhvr additive="base">
                                        <p:cTn id="21" dur="750" fill="hold"/>
                                        <p:tgtEl>
                                          <p:spTgt spid="417"/>
                                        </p:tgtEl>
                                        <p:attrNameLst>
                                          <p:attrName>ppt_x</p:attrName>
                                        </p:attrNameLst>
                                      </p:cBhvr>
                                      <p:tavLst>
                                        <p:tav tm="0">
                                          <p:val>
                                            <p:strVal val="#ppt_x"/>
                                          </p:val>
                                        </p:tav>
                                        <p:tav tm="100000">
                                          <p:val>
                                            <p:strVal val="#ppt_x"/>
                                          </p:val>
                                        </p:tav>
                                      </p:tavLst>
                                    </p:anim>
                                    <p:anim calcmode="lin" valueType="num">
                                      <p:cBhvr additive="base">
                                        <p:cTn id="22" dur="750" fill="hold"/>
                                        <p:tgtEl>
                                          <p:spTgt spid="417"/>
                                        </p:tgtEl>
                                        <p:attrNameLst>
                                          <p:attrName>ppt_y</p:attrName>
                                        </p:attrNameLst>
                                      </p:cBhvr>
                                      <p:tavLst>
                                        <p:tav tm="0">
                                          <p:val>
                                            <p:strVal val="0-#ppt_h/2"/>
                                          </p:val>
                                        </p:tav>
                                        <p:tav tm="100000">
                                          <p:val>
                                            <p:strVal val="#ppt_y"/>
                                          </p:val>
                                        </p:tav>
                                      </p:tavLst>
                                    </p:anim>
                                  </p:childTnLst>
                                </p:cTn>
                              </p:par>
                            </p:childTnLst>
                          </p:cTn>
                        </p:par>
                        <p:par>
                          <p:cTn id="23" fill="hold">
                            <p:stCondLst>
                              <p:cond delay="4000"/>
                            </p:stCondLst>
                            <p:childTnLst>
                              <p:par>
                                <p:cTn id="24" presetID="2" presetClass="entr" presetSubtype="1" fill="hold" grpId="5" nodeType="afterEffect">
                                  <p:stCondLst>
                                    <p:cond delay="0"/>
                                  </p:stCondLst>
                                  <p:childTnLst>
                                    <p:set>
                                      <p:cBhvr>
                                        <p:cTn id="25" dur="1" fill="hold">
                                          <p:stCondLst>
                                            <p:cond delay="0"/>
                                          </p:stCondLst>
                                        </p:cTn>
                                        <p:tgtEl>
                                          <p:spTgt spid="422"/>
                                        </p:tgtEl>
                                        <p:attrNameLst>
                                          <p:attrName>style.visibility</p:attrName>
                                        </p:attrNameLst>
                                      </p:cBhvr>
                                      <p:to>
                                        <p:strVal val="visible"/>
                                      </p:to>
                                    </p:set>
                                    <p:anim calcmode="lin" valueType="num">
                                      <p:cBhvr additive="base">
                                        <p:cTn id="26" dur="750" fill="hold"/>
                                        <p:tgtEl>
                                          <p:spTgt spid="422"/>
                                        </p:tgtEl>
                                        <p:attrNameLst>
                                          <p:attrName>ppt_x</p:attrName>
                                        </p:attrNameLst>
                                      </p:cBhvr>
                                      <p:tavLst>
                                        <p:tav tm="0">
                                          <p:val>
                                            <p:strVal val="#ppt_x"/>
                                          </p:val>
                                        </p:tav>
                                        <p:tav tm="100000">
                                          <p:val>
                                            <p:strVal val="#ppt_x"/>
                                          </p:val>
                                        </p:tav>
                                      </p:tavLst>
                                    </p:anim>
                                    <p:anim calcmode="lin" valueType="num">
                                      <p:cBhvr additive="base">
                                        <p:cTn id="27" dur="750" fill="hold"/>
                                        <p:tgtEl>
                                          <p:spTgt spid="4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27" name=""/>
        <p:cNvGrpSpPr/>
        <p:nvPr/>
      </p:nvGrpSpPr>
      <p:grpSpPr>
        <a:xfrm>
          <a:off x="0" y="0"/>
          <a:ext cx="0" cy="0"/>
          <a:chOff x="0" y="0"/>
          <a:chExt cx="0" cy="0"/>
        </a:xfrm>
      </p:grpSpPr>
      <p:pic>
        <p:nvPicPr>
          <p:cNvPr id="428"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429"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30"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431"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下节课预告</a:t>
            </a:r>
            <a:endParaRPr lang="en-US" sz="2760"/>
          </a:p>
        </p:txBody>
      </p:sp>
      <p:grpSp>
        <p:nvGrpSpPr>
          <p:cNvPr id="432" name="组合 23"/>
          <p:cNvGrpSpPr/>
          <p:nvPr/>
        </p:nvGrpSpPr>
        <p:grpSpPr>
          <a:xfrm>
            <a:off x="609600" y="1371600"/>
            <a:ext cx="5242560" cy="5075555"/>
            <a:chOff x="-635000" y="-635000"/>
            <a:chExt cx="5242560" cy="5181600"/>
          </a:xfrm>
        </p:grpSpPr>
        <p:pic>
          <p:nvPicPr>
            <p:cNvPr id="433" name="Image 3" descr="TEMP_Z_ORDER_4"/>
            <p:cNvPicPr>
              <a:picLocks noChangeAspect="1"/>
            </p:cNvPicPr>
            <p:nvPr/>
          </p:nvPicPr>
          <p:blipFill>
            <a:blip r:embed="rId4"/>
            <a:stretch>
              <a:fillRect/>
            </a:stretch>
          </p:blipFill>
          <p:spPr>
            <a:xfrm>
              <a:off x="-635000" y="-635000"/>
              <a:ext cx="5242560" cy="5181600"/>
            </a:xfrm>
            <a:prstGeom prst="rect">
              <a:avLst/>
            </a:prstGeom>
          </p:spPr>
        </p:pic>
        <p:pic>
          <p:nvPicPr>
            <p:cNvPr id="434" name="Image 4" descr="TEMP_Z_ORDER_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4000" y="-177800"/>
              <a:ext cx="365760" cy="365760"/>
            </a:xfrm>
            <a:prstGeom prst="rect">
              <a:avLst/>
            </a:prstGeom>
          </p:spPr>
        </p:pic>
        <p:sp>
          <p:nvSpPr>
            <p:cNvPr id="435" name="Text 1" descr="TEMP_Z_ORDER_6"/>
            <p:cNvSpPr/>
            <p:nvPr/>
          </p:nvSpPr>
          <p:spPr>
            <a:xfrm>
              <a:off x="233680" y="-269142"/>
              <a:ext cx="1353249" cy="517966"/>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640" b="1">
                  <a:solidFill>
                    <a:srgbClr val="458BE6"/>
                  </a:solidFill>
                  <a:latin typeface="思源黑体 CN Bold" pitchFamily="34" charset="0"/>
                  <a:ea typeface="思源黑体 CN Bold" pitchFamily="34" charset="-122"/>
                  <a:cs typeface="思源黑体 CN Bold" pitchFamily="34" charset="-120"/>
                </a:rPr>
                <a:t>预告内容</a:t>
              </a:r>
              <a:endParaRPr lang="en-US" sz="2640"/>
            </a:p>
          </p:txBody>
        </p:sp>
        <p:pic>
          <p:nvPicPr>
            <p:cNvPr id="436" name="Image 5" descr="TEMP_Z_ORDER_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000" y="614680"/>
              <a:ext cx="121920" cy="121920"/>
            </a:xfrm>
            <a:prstGeom prst="rect">
              <a:avLst/>
            </a:prstGeom>
          </p:spPr>
        </p:pic>
        <p:sp>
          <p:nvSpPr>
            <p:cNvPr id="437" name="Text 2" descr="TEMP_Z_ORDER_8"/>
            <p:cNvSpPr/>
            <p:nvPr/>
          </p:nvSpPr>
          <p:spPr>
            <a:xfrm>
              <a:off x="50800" y="492760"/>
              <a:ext cx="2773839"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移动互联系统架构特点</a:t>
              </a:r>
              <a:endParaRPr lang="en-US" sz="2160"/>
            </a:p>
          </p:txBody>
        </p:sp>
        <p:pic>
          <p:nvPicPr>
            <p:cNvPr id="438" name="Image 6" descr="TEMP_Z_ORDER_9"/>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000" y="1270000"/>
              <a:ext cx="121920" cy="121920"/>
            </a:xfrm>
            <a:prstGeom prst="rect">
              <a:avLst/>
            </a:prstGeom>
          </p:spPr>
        </p:pic>
        <p:sp>
          <p:nvSpPr>
            <p:cNvPr id="439" name="Text 3" descr="TEMP_Z_ORDER_10"/>
            <p:cNvSpPr/>
            <p:nvPr/>
          </p:nvSpPr>
          <p:spPr>
            <a:xfrm>
              <a:off x="50800" y="1148080"/>
              <a:ext cx="2773839"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移动安全扩展要求概述</a:t>
              </a:r>
              <a:endParaRPr lang="en-US" sz="2160"/>
            </a:p>
          </p:txBody>
        </p:sp>
        <p:pic>
          <p:nvPicPr>
            <p:cNvPr id="440" name="Image 7" descr="TEMP_Z_ORDER_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000" y="1925320"/>
              <a:ext cx="121920" cy="121920"/>
            </a:xfrm>
            <a:prstGeom prst="rect">
              <a:avLst/>
            </a:prstGeom>
          </p:spPr>
        </p:pic>
        <p:sp>
          <p:nvSpPr>
            <p:cNvPr id="441" name="Text 4" descr="TEMP_Z_ORDER_12"/>
            <p:cNvSpPr/>
            <p:nvPr/>
          </p:nvSpPr>
          <p:spPr>
            <a:xfrm>
              <a:off x="50800" y="1803400"/>
              <a:ext cx="3883374"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移动终端、移动应用、无线网络</a:t>
              </a:r>
              <a:endParaRPr lang="en-US" sz="2160"/>
            </a:p>
          </p:txBody>
        </p:sp>
      </p:grpSp>
      <p:grpSp>
        <p:nvGrpSpPr>
          <p:cNvPr id="442" name="组合 33"/>
          <p:cNvGrpSpPr/>
          <p:nvPr/>
        </p:nvGrpSpPr>
        <p:grpSpPr>
          <a:xfrm>
            <a:off x="6339840" y="1371600"/>
            <a:ext cx="5242560" cy="5075555"/>
            <a:chOff x="-635000" y="-635000"/>
            <a:chExt cx="5242560" cy="5181600"/>
          </a:xfrm>
        </p:grpSpPr>
        <p:pic>
          <p:nvPicPr>
            <p:cNvPr id="443" name="Image 8" descr="TEMP_Z_ORDER_13"/>
            <p:cNvPicPr>
              <a:picLocks noChangeAspect="1"/>
            </p:cNvPicPr>
            <p:nvPr/>
          </p:nvPicPr>
          <p:blipFill>
            <a:blip r:embed="rId9"/>
            <a:stretch>
              <a:fillRect/>
            </a:stretch>
          </p:blipFill>
          <p:spPr>
            <a:xfrm>
              <a:off x="-635000" y="-635000"/>
              <a:ext cx="5242560" cy="2880360"/>
            </a:xfrm>
            <a:prstGeom prst="rect">
              <a:avLst/>
            </a:prstGeom>
          </p:spPr>
        </p:pic>
        <p:pic>
          <p:nvPicPr>
            <p:cNvPr id="444" name="Image 9" descr="TEMP_Z_ORDER_14"/>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54000" y="-177800"/>
              <a:ext cx="365760" cy="365760"/>
            </a:xfrm>
            <a:prstGeom prst="rect">
              <a:avLst/>
            </a:prstGeom>
          </p:spPr>
        </p:pic>
        <p:sp>
          <p:nvSpPr>
            <p:cNvPr id="445" name="Text 5" descr="TEMP_Z_ORDER_15"/>
            <p:cNvSpPr/>
            <p:nvPr/>
          </p:nvSpPr>
          <p:spPr>
            <a:xfrm>
              <a:off x="233680" y="-269142"/>
              <a:ext cx="1353249" cy="517966"/>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640" b="1">
                  <a:solidFill>
                    <a:srgbClr val="458BE6"/>
                  </a:solidFill>
                  <a:latin typeface="思源黑体 CN Bold" pitchFamily="34" charset="0"/>
                  <a:ea typeface="思源黑体 CN Bold" pitchFamily="34" charset="-122"/>
                  <a:cs typeface="思源黑体 CN Bold" pitchFamily="34" charset="-120"/>
                </a:rPr>
                <a:t>课前准备</a:t>
              </a:r>
              <a:endParaRPr lang="en-US" sz="2640"/>
            </a:p>
          </p:txBody>
        </p:sp>
        <p:sp>
          <p:nvSpPr>
            <p:cNvPr id="446" name="Text 6" descr="TEMP_Z_ORDER_16"/>
            <p:cNvSpPr/>
            <p:nvPr/>
          </p:nvSpPr>
          <p:spPr>
            <a:xfrm>
              <a:off x="-254000" y="492760"/>
              <a:ext cx="298228"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458BE6"/>
                  </a:solidFill>
                  <a:latin typeface="思源黑体 CN Bold" pitchFamily="34" charset="0"/>
                  <a:ea typeface="思源黑体 CN Bold" pitchFamily="34" charset="-122"/>
                  <a:cs typeface="思源黑体 CN Bold" pitchFamily="34" charset="-120"/>
                </a:rPr>
                <a:t>1.</a:t>
              </a:r>
              <a:endParaRPr lang="en-US" sz="2160"/>
            </a:p>
          </p:txBody>
        </p:sp>
        <p:sp>
          <p:nvSpPr>
            <p:cNvPr id="447" name="Text 7" descr="TEMP_Z_ORDER_17"/>
            <p:cNvSpPr/>
            <p:nvPr/>
          </p:nvSpPr>
          <p:spPr>
            <a:xfrm>
              <a:off x="172720" y="492760"/>
              <a:ext cx="3605990"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a:solidFill>
                    <a:srgbClr val="000000"/>
                  </a:solidFill>
                  <a:latin typeface="思源黑体 CN Regular" pitchFamily="34" charset="0"/>
                  <a:ea typeface="思源黑体 CN Regular" pitchFamily="34" charset="-122"/>
                  <a:cs typeface="思源黑体 CN Regular" pitchFamily="34" charset="-120"/>
                </a:rPr>
                <a:t>了解移动互联安全的基本概念</a:t>
              </a:r>
              <a:endParaRPr lang="en-US" sz="2160"/>
            </a:p>
          </p:txBody>
        </p:sp>
        <p:sp>
          <p:nvSpPr>
            <p:cNvPr id="448" name="Text 8" descr="TEMP_Z_ORDER_18"/>
            <p:cNvSpPr/>
            <p:nvPr/>
          </p:nvSpPr>
          <p:spPr>
            <a:xfrm>
              <a:off x="-254000" y="1087120"/>
              <a:ext cx="298228"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458BE6"/>
                  </a:solidFill>
                  <a:latin typeface="思源黑体 CN Bold" pitchFamily="34" charset="0"/>
                  <a:ea typeface="思源黑体 CN Bold" pitchFamily="34" charset="-122"/>
                  <a:cs typeface="思源黑体 CN Bold" pitchFamily="34" charset="-120"/>
                </a:rPr>
                <a:t>2.</a:t>
              </a:r>
              <a:endParaRPr lang="en-US" sz="2160"/>
            </a:p>
          </p:txBody>
        </p:sp>
        <p:sp>
          <p:nvSpPr>
            <p:cNvPr id="449" name="Text 9" descr="TEMP_Z_ORDER_19"/>
            <p:cNvSpPr/>
            <p:nvPr/>
          </p:nvSpPr>
          <p:spPr>
            <a:xfrm>
              <a:off x="172720" y="1087121"/>
              <a:ext cx="3544824" cy="423967"/>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160" b="1">
                  <a:solidFill>
                    <a:srgbClr val="458BE6"/>
                  </a:solidFill>
                  <a:latin typeface="思源黑体 CN Bold" pitchFamily="34" charset="0"/>
                  <a:ea typeface="思源黑体 CN Bold" pitchFamily="34" charset="-122"/>
                  <a:cs typeface="思源黑体 CN Bold" pitchFamily="34" charset="-120"/>
                </a:rPr>
                <a:t>思考：</a:t>
              </a:r>
              <a:r>
                <a:rPr lang="en-US" sz="2160">
                  <a:solidFill>
                    <a:srgbClr val="000000"/>
                  </a:solidFill>
                  <a:latin typeface="思源黑体 CN Regular" pitchFamily="34" charset="0"/>
                  <a:ea typeface="思源黑体 CN Regular" pitchFamily="34" charset="-122"/>
                  <a:cs typeface="思源黑体 CN Regular" pitchFamily="34" charset="-120"/>
                </a:rPr>
                <a:t>手机里的APP安全吗？</a:t>
              </a:r>
              <a:endParaRPr lang="en-US" sz="2160"/>
            </a:p>
          </p:txBody>
        </p:sp>
        <p:pic>
          <p:nvPicPr>
            <p:cNvPr id="450" name="Image 10" descr="TEMP_Z_ORDER_20"/>
            <p:cNvPicPr>
              <a:picLocks noChangeAspect="1"/>
            </p:cNvPicPr>
            <p:nvPr/>
          </p:nvPicPr>
          <p:blipFill>
            <a:blip r:embed="rId12"/>
            <a:stretch>
              <a:fillRect/>
            </a:stretch>
          </p:blipFill>
          <p:spPr>
            <a:xfrm>
              <a:off x="-635000" y="2489200"/>
              <a:ext cx="5242560" cy="2057400"/>
            </a:xfrm>
            <a:prstGeom prst="rect">
              <a:avLst/>
            </a:prstGeom>
          </p:spPr>
        </p:pic>
        <p:pic>
          <p:nvPicPr>
            <p:cNvPr id="451" name="Image 11" descr="TEMP_Z_ORDER_21"/>
            <p:cNvPicPr>
              <a:picLocks noChangeAspect="1"/>
            </p:cNvPicPr>
            <p:nvPr/>
          </p:nvPicPr>
          <p:blipFill>
            <a:blip r:embed="rId13"/>
            <a:stretch>
              <a:fillRect/>
            </a:stretch>
          </p:blipFill>
          <p:spPr>
            <a:xfrm>
              <a:off x="-619760" y="2504440"/>
              <a:ext cx="5212080" cy="2026920"/>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750"/>
                                        <p:tgtEl>
                                          <p:spTgt spid="431"/>
                                        </p:tgtEl>
                                      </p:cBhvr>
                                    </p:animEffect>
                                  </p:childTnLst>
                                </p:cTn>
                              </p:par>
                            </p:childTnLst>
                          </p:cTn>
                        </p:par>
                        <p:par>
                          <p:cTn id="8" fill="hold">
                            <p:stCondLst>
                              <p:cond delay="1000"/>
                            </p:stCondLst>
                            <p:childTnLst>
                              <p:par>
                                <p:cTn id="9" presetID="10" presetClass="entr" presetSubtype="0" fill="hold" grpId="2" nodeType="afterEffect">
                                  <p:stCondLst>
                                    <p:cond delay="0"/>
                                  </p:stCondLst>
                                  <p:childTnLst>
                                    <p:set>
                                      <p:cBhvr>
                                        <p:cTn id="10" dur="1" fill="hold">
                                          <p:stCondLst>
                                            <p:cond delay="0"/>
                                          </p:stCondLst>
                                        </p:cTn>
                                        <p:tgtEl>
                                          <p:spTgt spid="432"/>
                                        </p:tgtEl>
                                        <p:attrNameLst>
                                          <p:attrName>style.visibility</p:attrName>
                                        </p:attrNameLst>
                                      </p:cBhvr>
                                      <p:to>
                                        <p:strVal val="visible"/>
                                      </p:to>
                                    </p:set>
                                    <p:animEffect transition="in" filter="fade">
                                      <p:cBhvr>
                                        <p:cTn id="11" dur="750"/>
                                        <p:tgtEl>
                                          <p:spTgt spid="432"/>
                                        </p:tgtEl>
                                      </p:cBhvr>
                                    </p:animEffect>
                                  </p:childTnLst>
                                </p:cTn>
                              </p:par>
                            </p:childTnLst>
                          </p:cTn>
                        </p:par>
                        <p:par>
                          <p:cTn id="12" fill="hold">
                            <p:stCondLst>
                              <p:cond delay="2000"/>
                            </p:stCondLst>
                            <p:childTnLst>
                              <p:par>
                                <p:cTn id="13" presetID="10" presetClass="entr" presetSubtype="0" fill="hold" grpId="3" nodeType="afterEffect">
                                  <p:stCondLst>
                                    <p:cond delay="0"/>
                                  </p:stCondLst>
                                  <p:childTnLst>
                                    <p:set>
                                      <p:cBhvr>
                                        <p:cTn id="14" dur="1" fill="hold">
                                          <p:stCondLst>
                                            <p:cond delay="0"/>
                                          </p:stCondLst>
                                        </p:cTn>
                                        <p:tgtEl>
                                          <p:spTgt spid="442"/>
                                        </p:tgtEl>
                                        <p:attrNameLst>
                                          <p:attrName>style.visibility</p:attrName>
                                        </p:attrNameLst>
                                      </p:cBhvr>
                                      <p:to>
                                        <p:strVal val="visible"/>
                                      </p:to>
                                    </p:set>
                                    <p:animEffect transition="in" filter="fade">
                                      <p:cBhvr>
                                        <p:cTn id="15" dur="750"/>
                                        <p:tgtEl>
                                          <p:spTgt spid="442"/>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52" name=""/>
        <p:cNvGrpSpPr/>
        <p:nvPr/>
      </p:nvGrpSpPr>
      <p:grpSpPr>
        <a:xfrm>
          <a:off x="0" y="0"/>
          <a:ext cx="0" cy="0"/>
          <a:chOff x="0" y="0"/>
          <a:chExt cx="0" cy="0"/>
        </a:xfrm>
      </p:grpSpPr>
      <p:pic>
        <p:nvPicPr>
          <p:cNvPr id="453"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454"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55"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456"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常见问题与答疑</a:t>
            </a:r>
            <a:endParaRPr lang="en-US" sz="2760"/>
          </a:p>
        </p:txBody>
      </p:sp>
      <p:grpSp>
        <p:nvGrpSpPr>
          <p:cNvPr id="457" name="组合 18"/>
          <p:cNvGrpSpPr/>
          <p:nvPr/>
        </p:nvGrpSpPr>
        <p:grpSpPr>
          <a:xfrm>
            <a:off x="609600" y="1371600"/>
            <a:ext cx="10981944" cy="1569720"/>
            <a:chOff x="-635000" y="-635000"/>
            <a:chExt cx="10972800" cy="1569720"/>
          </a:xfrm>
        </p:grpSpPr>
        <p:sp>
          <p:nvSpPr>
            <p:cNvPr id="458" name="Text 1" descr="TEMP_Z_ORDER_4"/>
            <p:cNvSpPr/>
            <p:nvPr/>
          </p:nvSpPr>
          <p:spPr>
            <a:xfrm>
              <a:off x="-635000" y="-635000"/>
              <a:ext cx="6325314" cy="44306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Q1：云平台配置检查工具能替代人工核查吗？</a:t>
              </a:r>
              <a:endParaRPr lang="en-US" sz="2400"/>
            </a:p>
          </p:txBody>
        </p:sp>
        <p:pic>
          <p:nvPicPr>
            <p:cNvPr id="459" name="Image 3" descr="TEMP_Z_ORDER_5"/>
            <p:cNvPicPr>
              <a:picLocks noChangeAspect="1"/>
            </p:cNvPicPr>
            <p:nvPr/>
          </p:nvPicPr>
          <p:blipFill>
            <a:blip r:embed="rId4"/>
            <a:stretch>
              <a:fillRect/>
            </a:stretch>
          </p:blipFill>
          <p:spPr>
            <a:xfrm>
              <a:off x="-635000" y="-116840"/>
              <a:ext cx="10972800" cy="1051560"/>
            </a:xfrm>
            <a:prstGeom prst="rect">
              <a:avLst/>
            </a:prstGeom>
          </p:spPr>
        </p:pic>
        <p:sp>
          <p:nvSpPr>
            <p:cNvPr id="460" name="Text 2" descr="TEMP_Z_ORDER_6"/>
            <p:cNvSpPr/>
            <p:nvPr/>
          </p:nvSpPr>
          <p:spPr>
            <a:xfrm>
              <a:off x="-452120" y="78207"/>
              <a:ext cx="10387584" cy="76052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不能完全替代。工具可以发现配置类风险（如权限错误、端口开放），但无法判断业务逻辑合理性（如“这个端口是否真的需要开放？”）。人工核查是必要的补充。</a:t>
              </a:r>
              <a:endParaRPr lang="en-US" sz="1920"/>
            </a:p>
          </p:txBody>
        </p:sp>
      </p:grpSp>
      <p:grpSp>
        <p:nvGrpSpPr>
          <p:cNvPr id="461" name="组合 22"/>
          <p:cNvGrpSpPr/>
          <p:nvPr/>
        </p:nvGrpSpPr>
        <p:grpSpPr>
          <a:xfrm>
            <a:off x="609600" y="3185160"/>
            <a:ext cx="10981944" cy="1569720"/>
            <a:chOff x="-635000" y="-635000"/>
            <a:chExt cx="10972800" cy="1569720"/>
          </a:xfrm>
        </p:grpSpPr>
        <p:sp>
          <p:nvSpPr>
            <p:cNvPr id="462" name="Text 3" descr="TEMP_Z_ORDER_7"/>
            <p:cNvSpPr/>
            <p:nvPr/>
          </p:nvSpPr>
          <p:spPr>
            <a:xfrm>
              <a:off x="-635000" y="-635000"/>
              <a:ext cx="8480251" cy="443061"/>
            </a:xfrm>
            <a:prstGeom prst="rect">
              <a:avLst/>
            </a:prstGeom>
            <a:noFill/>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Q2：如果一个云平台承载了多个等级的业务系统，怎么测评？</a:t>
              </a:r>
              <a:endParaRPr lang="en-US" sz="2400"/>
            </a:p>
          </p:txBody>
        </p:sp>
        <p:pic>
          <p:nvPicPr>
            <p:cNvPr id="463" name="Image 4" descr="TEMP_Z_ORDER_8"/>
            <p:cNvPicPr>
              <a:picLocks noChangeAspect="1"/>
            </p:cNvPicPr>
            <p:nvPr/>
          </p:nvPicPr>
          <p:blipFill>
            <a:blip r:embed="rId4"/>
            <a:stretch>
              <a:fillRect/>
            </a:stretch>
          </p:blipFill>
          <p:spPr>
            <a:xfrm>
              <a:off x="-635000" y="-116840"/>
              <a:ext cx="10972800" cy="1051560"/>
            </a:xfrm>
            <a:prstGeom prst="rect">
              <a:avLst/>
            </a:prstGeom>
          </p:spPr>
        </p:pic>
        <p:sp>
          <p:nvSpPr>
            <p:cNvPr id="464" name="Text 4" descr="TEMP_Z_ORDER_9"/>
            <p:cNvSpPr/>
            <p:nvPr/>
          </p:nvSpPr>
          <p:spPr>
            <a:xfrm>
              <a:off x="-452120" y="78137"/>
              <a:ext cx="10509504" cy="760665"/>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原则：云平台的安全保护等级应不低于其承载的最高等级业务系统。即如果云平台承载了三级业务系统，云平台本身至少应按三级要求测评。</a:t>
              </a:r>
              <a:endParaRPr lang="en-US" sz="1920"/>
            </a:p>
          </p:txBody>
        </p:sp>
      </p:grpSp>
      <p:grpSp>
        <p:nvGrpSpPr>
          <p:cNvPr id="465" name="组合 14"/>
          <p:cNvGrpSpPr/>
          <p:nvPr/>
        </p:nvGrpSpPr>
        <p:grpSpPr>
          <a:xfrm>
            <a:off x="609600" y="4983480"/>
            <a:ext cx="10981690" cy="1503680"/>
            <a:chOff x="-635000" y="-635000"/>
            <a:chExt cx="10972800" cy="1569720"/>
          </a:xfrm>
        </p:grpSpPr>
        <p:sp>
          <p:nvSpPr>
            <p:cNvPr id="466" name="Text 5" descr="TEMP_Z_ORDER_10"/>
            <p:cNvSpPr/>
            <p:nvPr/>
          </p:nvSpPr>
          <p:spPr>
            <a:xfrm>
              <a:off x="-635000" y="-635000"/>
              <a:ext cx="4478226" cy="48192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5000"/>
                </a:lnSpc>
                <a:buNone/>
              </a:pPr>
              <a:r>
                <a:rPr lang="en-US" sz="2400" b="1">
                  <a:solidFill>
                    <a:srgbClr val="458BE6"/>
                  </a:solidFill>
                  <a:latin typeface="思源黑体 CN Bold" pitchFamily="34" charset="0"/>
                  <a:ea typeface="思源黑体 CN Bold" pitchFamily="34" charset="-122"/>
                  <a:cs typeface="思源黑体 CN Bold" pitchFamily="34" charset="-120"/>
                </a:rPr>
                <a:t>Q3：混合云场景怎么划分责任？</a:t>
              </a:r>
              <a:endParaRPr lang="en-US" sz="2400"/>
            </a:p>
          </p:txBody>
        </p:sp>
        <p:pic>
          <p:nvPicPr>
            <p:cNvPr id="467" name="Image 5" descr="TEMP_Z_ORDER_11"/>
            <p:cNvPicPr>
              <a:picLocks noChangeAspect="1"/>
            </p:cNvPicPr>
            <p:nvPr/>
          </p:nvPicPr>
          <p:blipFill>
            <a:blip r:embed="rId4"/>
            <a:stretch>
              <a:fillRect/>
            </a:stretch>
          </p:blipFill>
          <p:spPr>
            <a:xfrm>
              <a:off x="-635000" y="-116840"/>
              <a:ext cx="10972800" cy="1051560"/>
            </a:xfrm>
            <a:prstGeom prst="rect">
              <a:avLst/>
            </a:prstGeom>
          </p:spPr>
        </p:pic>
        <p:sp>
          <p:nvSpPr>
            <p:cNvPr id="468" name="Text 6" descr="TEMP_Z_ORDER_12"/>
            <p:cNvSpPr/>
            <p:nvPr/>
          </p:nvSpPr>
          <p:spPr>
            <a:xfrm>
              <a:off x="-452272" y="78105"/>
              <a:ext cx="10509382" cy="681355"/>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混合云中，公有云部分适用云计算扩展要求，私有云部分适用安全通用要求。责任划分需根据具体服务模式确定。</a:t>
              </a:r>
              <a:endParaRPr lang="en-US" sz="192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456"/>
                                        </p:tgtEl>
                                        <p:attrNameLst>
                                          <p:attrName>style.visibility</p:attrName>
                                        </p:attrNameLst>
                                      </p:cBhvr>
                                      <p:to>
                                        <p:strVal val="visible"/>
                                      </p:to>
                                    </p:set>
                                    <p:animEffect transition="in" filter="fade">
                                      <p:cBhvr>
                                        <p:cTn id="7" dur="750"/>
                                        <p:tgtEl>
                                          <p:spTgt spid="456"/>
                                        </p:tgtEl>
                                      </p:cBhvr>
                                    </p:animEffect>
                                  </p:childTnLst>
                                </p:cTn>
                              </p:par>
                            </p:childTnLst>
                          </p:cTn>
                        </p:par>
                        <p:par>
                          <p:cTn id="8" fill="hold">
                            <p:stCondLst>
                              <p:cond delay="1000"/>
                            </p:stCondLst>
                            <p:childTnLst>
                              <p:par>
                                <p:cTn id="9" presetID="17" presetClass="entr" presetSubtype="10" fill="hold" grpId="2" nodeType="afterEffect">
                                  <p:stCondLst>
                                    <p:cond delay="0"/>
                                  </p:stCondLst>
                                  <p:childTnLst>
                                    <p:set>
                                      <p:cBhvr>
                                        <p:cTn id="10" dur="1" fill="hold">
                                          <p:stCondLst>
                                            <p:cond delay="0"/>
                                          </p:stCondLst>
                                        </p:cTn>
                                        <p:tgtEl>
                                          <p:spTgt spid="457"/>
                                        </p:tgtEl>
                                        <p:attrNameLst>
                                          <p:attrName>style.visibility</p:attrName>
                                        </p:attrNameLst>
                                      </p:cBhvr>
                                      <p:to>
                                        <p:strVal val="visible"/>
                                      </p:to>
                                    </p:set>
                                    <p:anim calcmode="lin" valueType="num">
                                      <p:cBhvr>
                                        <p:cTn id="11" dur="750" fill="hold"/>
                                        <p:tgtEl>
                                          <p:spTgt spid="457"/>
                                        </p:tgtEl>
                                        <p:attrNameLst>
                                          <p:attrName>ppt_w</p:attrName>
                                        </p:attrNameLst>
                                      </p:cBhvr>
                                      <p:tavLst>
                                        <p:tav tm="0">
                                          <p:val>
                                            <p:fltVal val="0"/>
                                          </p:val>
                                        </p:tav>
                                        <p:tav tm="100000">
                                          <p:val>
                                            <p:strVal val="#ppt_w"/>
                                          </p:val>
                                        </p:tav>
                                      </p:tavLst>
                                    </p:anim>
                                    <p:anim calcmode="lin" valueType="num">
                                      <p:cBhvr>
                                        <p:cTn id="12" dur="750" fill="hold"/>
                                        <p:tgtEl>
                                          <p:spTgt spid="457"/>
                                        </p:tgtEl>
                                        <p:attrNameLst>
                                          <p:attrName>ppt_h</p:attrName>
                                        </p:attrNameLst>
                                      </p:cBhvr>
                                      <p:tavLst>
                                        <p:tav tm="0">
                                          <p:val>
                                            <p:strVal val="#ppt_h"/>
                                          </p:val>
                                        </p:tav>
                                        <p:tav tm="100000">
                                          <p:val>
                                            <p:strVal val="#ppt_h"/>
                                          </p:val>
                                        </p:tav>
                                      </p:tavLst>
                                    </p:anim>
                                  </p:childTnLst>
                                </p:cTn>
                              </p:par>
                            </p:childTnLst>
                          </p:cTn>
                        </p:par>
                        <p:par>
                          <p:cTn id="13" fill="hold">
                            <p:stCondLst>
                              <p:cond delay="2000"/>
                            </p:stCondLst>
                            <p:childTnLst>
                              <p:par>
                                <p:cTn id="14" presetID="17" presetClass="entr" presetSubtype="10" fill="hold" grpId="3" nodeType="afterEffect">
                                  <p:stCondLst>
                                    <p:cond delay="0"/>
                                  </p:stCondLst>
                                  <p:childTnLst>
                                    <p:set>
                                      <p:cBhvr>
                                        <p:cTn id="15" dur="1" fill="hold">
                                          <p:stCondLst>
                                            <p:cond delay="0"/>
                                          </p:stCondLst>
                                        </p:cTn>
                                        <p:tgtEl>
                                          <p:spTgt spid="461"/>
                                        </p:tgtEl>
                                        <p:attrNameLst>
                                          <p:attrName>style.visibility</p:attrName>
                                        </p:attrNameLst>
                                      </p:cBhvr>
                                      <p:to>
                                        <p:strVal val="visible"/>
                                      </p:to>
                                    </p:set>
                                    <p:anim calcmode="lin" valueType="num">
                                      <p:cBhvr>
                                        <p:cTn id="16" dur="750" fill="hold"/>
                                        <p:tgtEl>
                                          <p:spTgt spid="461"/>
                                        </p:tgtEl>
                                        <p:attrNameLst>
                                          <p:attrName>ppt_w</p:attrName>
                                        </p:attrNameLst>
                                      </p:cBhvr>
                                      <p:tavLst>
                                        <p:tav tm="0">
                                          <p:val>
                                            <p:fltVal val="0"/>
                                          </p:val>
                                        </p:tav>
                                        <p:tav tm="100000">
                                          <p:val>
                                            <p:strVal val="#ppt_w"/>
                                          </p:val>
                                        </p:tav>
                                      </p:tavLst>
                                    </p:anim>
                                    <p:anim calcmode="lin" valueType="num">
                                      <p:cBhvr>
                                        <p:cTn id="17" dur="750" fill="hold"/>
                                        <p:tgtEl>
                                          <p:spTgt spid="461"/>
                                        </p:tgtEl>
                                        <p:attrNameLst>
                                          <p:attrName>ppt_h</p:attrName>
                                        </p:attrNameLst>
                                      </p:cBhvr>
                                      <p:tavLst>
                                        <p:tav tm="0">
                                          <p:val>
                                            <p:strVal val="#ppt_h"/>
                                          </p:val>
                                        </p:tav>
                                        <p:tav tm="100000">
                                          <p:val>
                                            <p:strVal val="#ppt_h"/>
                                          </p:val>
                                        </p:tav>
                                      </p:tavLst>
                                    </p:anim>
                                  </p:childTnLst>
                                </p:cTn>
                              </p:par>
                            </p:childTnLst>
                          </p:cTn>
                        </p:par>
                        <p:par>
                          <p:cTn id="18" fill="hold">
                            <p:stCondLst>
                              <p:cond delay="3000"/>
                            </p:stCondLst>
                            <p:childTnLst>
                              <p:par>
                                <p:cTn id="19" presetID="17" presetClass="entr" presetSubtype="10" fill="hold" grpId="4" nodeType="afterEffect">
                                  <p:stCondLst>
                                    <p:cond delay="0"/>
                                  </p:stCondLst>
                                  <p:childTnLst>
                                    <p:set>
                                      <p:cBhvr>
                                        <p:cTn id="20" dur="1" fill="hold">
                                          <p:stCondLst>
                                            <p:cond delay="0"/>
                                          </p:stCondLst>
                                        </p:cTn>
                                        <p:tgtEl>
                                          <p:spTgt spid="465"/>
                                        </p:tgtEl>
                                        <p:attrNameLst>
                                          <p:attrName>style.visibility</p:attrName>
                                        </p:attrNameLst>
                                      </p:cBhvr>
                                      <p:to>
                                        <p:strVal val="visible"/>
                                      </p:to>
                                    </p:set>
                                    <p:anim calcmode="lin" valueType="num">
                                      <p:cBhvr>
                                        <p:cTn id="21" dur="750" fill="hold"/>
                                        <p:tgtEl>
                                          <p:spTgt spid="465"/>
                                        </p:tgtEl>
                                        <p:attrNameLst>
                                          <p:attrName>ppt_w</p:attrName>
                                        </p:attrNameLst>
                                      </p:cBhvr>
                                      <p:tavLst>
                                        <p:tav tm="0">
                                          <p:val>
                                            <p:fltVal val="0"/>
                                          </p:val>
                                        </p:tav>
                                        <p:tav tm="100000">
                                          <p:val>
                                            <p:strVal val="#ppt_w"/>
                                          </p:val>
                                        </p:tav>
                                      </p:tavLst>
                                    </p:anim>
                                    <p:anim calcmode="lin" valueType="num">
                                      <p:cBhvr>
                                        <p:cTn id="22" dur="750" fill="hold"/>
                                        <p:tgtEl>
                                          <p:spTgt spid="4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69" name=""/>
        <p:cNvGrpSpPr/>
        <p:nvPr/>
      </p:nvGrpSpPr>
      <p:grpSpPr>
        <a:xfrm>
          <a:off x="0" y="0"/>
          <a:ext cx="0" cy="0"/>
          <a:chOff x="0" y="0"/>
          <a:chExt cx="0" cy="0"/>
        </a:xfrm>
      </p:grpSpPr>
      <p:pic>
        <p:nvPicPr>
          <p:cNvPr id="470"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471"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72"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473" name="Text 0"/>
          <p:cNvSpPr/>
          <p:nvPr/>
        </p:nvSpPr>
        <p:spPr>
          <a:xfrm>
            <a:off x="822497" y="529635"/>
            <a:ext cx="10918068" cy="426482"/>
          </a:xfrm>
          <a:prstGeom prst="rect">
            <a:avLst/>
          </a:prstGeom>
          <a:noFill/>
        </p:spPr>
        <p:txBody>
          <a:bodyPr wrap="none" lIns="0" tIns="0" rIns="0" bIns="0" rtlCol="0" anchor="b">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760">
                <a:solidFill>
                  <a:srgbClr val="1E1E1E"/>
                </a:solidFill>
              </a:rPr>
              <a:t>课堂小结</a:t>
            </a:r>
            <a:endParaRPr lang="en-US" sz="2760"/>
          </a:p>
        </p:txBody>
      </p:sp>
      <p:grpSp>
        <p:nvGrpSpPr>
          <p:cNvPr id="474" name="组合 23"/>
          <p:cNvGrpSpPr/>
          <p:nvPr/>
        </p:nvGrpSpPr>
        <p:grpSpPr>
          <a:xfrm>
            <a:off x="609600" y="1371600"/>
            <a:ext cx="10972800" cy="5102860"/>
            <a:chOff x="-635000" y="-635000"/>
            <a:chExt cx="10972800" cy="5181600"/>
          </a:xfrm>
        </p:grpSpPr>
        <p:pic>
          <p:nvPicPr>
            <p:cNvPr id="475" name="Image 3" descr="TEMP_Z_ORDER_4"/>
            <p:cNvPicPr>
              <a:picLocks noChangeAspect="1"/>
            </p:cNvPicPr>
            <p:nvPr/>
          </p:nvPicPr>
          <p:blipFill>
            <a:blip r:embed="rId4"/>
            <a:stretch>
              <a:fillRect/>
            </a:stretch>
          </p:blipFill>
          <p:spPr>
            <a:xfrm>
              <a:off x="-635000" y="-635000"/>
              <a:ext cx="3459480" cy="5181600"/>
            </a:xfrm>
            <a:prstGeom prst="rect">
              <a:avLst/>
            </a:prstGeom>
          </p:spPr>
        </p:pic>
        <p:pic>
          <p:nvPicPr>
            <p:cNvPr id="476" name="Image 4" descr="TEMP_Z_ORDER_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4960" y="-162560"/>
              <a:ext cx="548640" cy="548640"/>
            </a:xfrm>
            <a:prstGeom prst="rect">
              <a:avLst/>
            </a:prstGeom>
          </p:spPr>
        </p:pic>
        <p:sp>
          <p:nvSpPr>
            <p:cNvPr id="477" name="Text 1" descr="TEMP_Z_ORDER_6"/>
            <p:cNvSpPr/>
            <p:nvPr/>
          </p:nvSpPr>
          <p:spPr>
            <a:xfrm>
              <a:off x="-124650" y="-114329"/>
              <a:ext cx="192405" cy="42169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latin typeface="思源黑体 CN Bold" pitchFamily="34" charset="0"/>
                  <a:ea typeface="思源黑体 CN Bold" pitchFamily="34" charset="-122"/>
                  <a:cs typeface="思源黑体 CN Bold" pitchFamily="34" charset="-120"/>
                </a:rPr>
                <a:t>1</a:t>
              </a:r>
              <a:endParaRPr lang="en-US" sz="2160"/>
            </a:p>
          </p:txBody>
        </p:sp>
        <p:sp>
          <p:nvSpPr>
            <p:cNvPr id="478" name="Text 2" descr="TEMP_Z_ORDER_7"/>
            <p:cNvSpPr/>
            <p:nvPr/>
          </p:nvSpPr>
          <p:spPr>
            <a:xfrm>
              <a:off x="416560" y="-160428"/>
              <a:ext cx="2272665" cy="389458"/>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400" b="1">
                  <a:solidFill>
                    <a:srgbClr val="458BE6"/>
                  </a:solidFill>
                  <a:latin typeface="思源黑体 CN Bold" pitchFamily="34" charset="0"/>
                  <a:ea typeface="思源黑体 CN Bold" pitchFamily="34" charset="-122"/>
                  <a:cs typeface="思源黑体 CN Bold" pitchFamily="34" charset="-120"/>
                </a:rPr>
                <a:t>三个核心知识点</a:t>
              </a:r>
              <a:endParaRPr lang="en-US" sz="2400" b="1">
                <a:solidFill>
                  <a:srgbClr val="458BE6"/>
                </a:solidFill>
                <a:latin typeface="思源黑体 CN Bold" pitchFamily="34" charset="0"/>
                <a:ea typeface="思源黑体 CN Bold" pitchFamily="34" charset="-122"/>
                <a:cs typeface="思源黑体 CN Bold" pitchFamily="34" charset="-120"/>
              </a:endParaRPr>
            </a:p>
          </p:txBody>
        </p:sp>
        <p:sp>
          <p:nvSpPr>
            <p:cNvPr id="479" name="Text 3" descr="TEMP_Z_ORDER_8"/>
            <p:cNvSpPr/>
            <p:nvPr/>
          </p:nvSpPr>
          <p:spPr>
            <a:xfrm>
              <a:off x="-314960" y="534952"/>
              <a:ext cx="2828544" cy="1120660"/>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b="1">
                  <a:solidFill>
                    <a:srgbClr val="458BE6"/>
                  </a:solidFill>
                  <a:latin typeface="思源黑体 CN Bold" pitchFamily="34" charset="0"/>
                  <a:ea typeface="思源黑体 CN Bold" pitchFamily="34" charset="-122"/>
                  <a:cs typeface="思源黑体 CN Bold" pitchFamily="34" charset="-120"/>
                </a:rPr>
                <a:t>①</a:t>
              </a:r>
              <a:r>
                <a:rPr lang="en-US">
                  <a:solidFill>
                    <a:srgbClr val="000000"/>
                  </a:solidFill>
                  <a:latin typeface="思源黑体 CN Regular" pitchFamily="34" charset="0"/>
                  <a:ea typeface="思源黑体 CN Regular" pitchFamily="34" charset="-122"/>
                  <a:cs typeface="思源黑体 CN Regular" pitchFamily="34" charset="-120"/>
                </a:rPr>
                <a:t>云计算安全扩展要求包含7个安全类，需区分平台责任与客户责任；</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sp>
          <p:nvSpPr>
            <p:cNvPr id="480" name="Text 4" descr="TEMP_Z_ORDER_9"/>
            <p:cNvSpPr/>
            <p:nvPr/>
          </p:nvSpPr>
          <p:spPr>
            <a:xfrm>
              <a:off x="-314960" y="1724848"/>
              <a:ext cx="2828544" cy="149464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800" b="1">
                  <a:solidFill>
                    <a:srgbClr val="458BE6"/>
                  </a:solidFill>
                  <a:latin typeface="思源黑体 CN Bold" pitchFamily="34" charset="0"/>
                  <a:ea typeface="思源黑体 CN Bold" pitchFamily="34" charset="-122"/>
                  <a:cs typeface="思源黑体 CN Bold" pitchFamily="34" charset="-120"/>
                </a:rPr>
                <a:t>②</a:t>
              </a:r>
              <a:r>
                <a:rPr lang="en-US" sz="1800">
                  <a:solidFill>
                    <a:srgbClr val="000000"/>
                  </a:solidFill>
                  <a:latin typeface="思源黑体 CN Regular" pitchFamily="34" charset="0"/>
                  <a:ea typeface="思源黑体 CN Regular" pitchFamily="34" charset="-122"/>
                  <a:cs typeface="思源黑体 CN Regular" pitchFamily="34" charset="-120"/>
                </a:rPr>
                <a:t>安全区域边界（访问控制/入侵防范/审计）和安全计算环境（身份鉴别/镜像/数据保护）是核查重点；</a:t>
              </a:r>
              <a:endParaRPr lang="en-US" sz="1800"/>
            </a:p>
          </p:txBody>
        </p:sp>
        <p:sp>
          <p:nvSpPr>
            <p:cNvPr id="481" name="Text 5" descr="TEMP_Z_ORDER_10"/>
            <p:cNvSpPr/>
            <p:nvPr/>
          </p:nvSpPr>
          <p:spPr>
            <a:xfrm>
              <a:off x="-314960" y="3292216"/>
              <a:ext cx="2828544" cy="747321"/>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b="1">
                  <a:solidFill>
                    <a:srgbClr val="458BE6"/>
                  </a:solidFill>
                  <a:latin typeface="思源黑体 CN Bold" pitchFamily="34" charset="0"/>
                  <a:ea typeface="思源黑体 CN Bold" pitchFamily="34" charset="-122"/>
                  <a:cs typeface="思源黑体 CN Bold" pitchFamily="34" charset="-120"/>
                </a:rPr>
                <a:t>③</a:t>
              </a:r>
              <a:r>
                <a:rPr lang="en-US">
                  <a:solidFill>
                    <a:srgbClr val="000000"/>
                  </a:solidFill>
                  <a:latin typeface="思源黑体 CN Regular" pitchFamily="34" charset="0"/>
                  <a:ea typeface="思源黑体 CN Regular" pitchFamily="34" charset="-122"/>
                  <a:cs typeface="思源黑体 CN Regular" pitchFamily="34" charset="-120"/>
                </a:rPr>
                <a:t>云平台配置检查工具可辅助识别配置风险</a:t>
              </a:r>
              <a:endParaRPr lang="en-US">
                <a:solidFill>
                  <a:srgbClr val="000000"/>
                </a:solidFill>
                <a:latin typeface="思源黑体 CN Regular" pitchFamily="34" charset="0"/>
                <a:ea typeface="思源黑体 CN Regular" pitchFamily="34" charset="-122"/>
                <a:cs typeface="思源黑体 CN Regular" pitchFamily="34" charset="-120"/>
              </a:endParaRPr>
            </a:p>
          </p:txBody>
        </p:sp>
        <p:pic>
          <p:nvPicPr>
            <p:cNvPr id="482" name="Image 5" descr="TEMP_Z_ORDER_11"/>
            <p:cNvPicPr>
              <a:picLocks noChangeAspect="1"/>
            </p:cNvPicPr>
            <p:nvPr/>
          </p:nvPicPr>
          <p:blipFill>
            <a:blip r:embed="rId4"/>
            <a:stretch>
              <a:fillRect/>
            </a:stretch>
          </p:blipFill>
          <p:spPr>
            <a:xfrm>
              <a:off x="3129280" y="-635000"/>
              <a:ext cx="3459480" cy="5181600"/>
            </a:xfrm>
            <a:prstGeom prst="rect">
              <a:avLst/>
            </a:prstGeom>
          </p:spPr>
        </p:pic>
        <p:pic>
          <p:nvPicPr>
            <p:cNvPr id="483" name="Image 6" descr="TEMP_Z_ORDER_1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49320" y="-314960"/>
              <a:ext cx="548640" cy="548640"/>
            </a:xfrm>
            <a:prstGeom prst="rect">
              <a:avLst/>
            </a:prstGeom>
          </p:spPr>
        </p:pic>
        <p:sp>
          <p:nvSpPr>
            <p:cNvPr id="484" name="Text 6" descr="TEMP_Z_ORDER_13"/>
            <p:cNvSpPr/>
            <p:nvPr/>
          </p:nvSpPr>
          <p:spPr>
            <a:xfrm>
              <a:off x="3624389" y="-251489"/>
              <a:ext cx="192405" cy="42169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latin typeface="思源黑体 CN Bold" pitchFamily="34" charset="0"/>
                  <a:ea typeface="思源黑体 CN Bold" pitchFamily="34" charset="-122"/>
                  <a:cs typeface="思源黑体 CN Bold" pitchFamily="34" charset="-120"/>
                </a:rPr>
                <a:t>2</a:t>
              </a:r>
              <a:endParaRPr lang="en-US" sz="2160"/>
            </a:p>
          </p:txBody>
        </p:sp>
        <p:sp>
          <p:nvSpPr>
            <p:cNvPr id="485" name="Text 7" descr="TEMP_Z_ORDER_14"/>
            <p:cNvSpPr/>
            <p:nvPr/>
          </p:nvSpPr>
          <p:spPr>
            <a:xfrm>
              <a:off x="4180840" y="-176624"/>
              <a:ext cx="2029873" cy="31079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两个关键技能</a:t>
              </a:r>
              <a:endParaRPr lang="en-US" sz="2400" b="1">
                <a:solidFill>
                  <a:srgbClr val="458BE6"/>
                </a:solidFill>
                <a:latin typeface="思源黑体 CN Bold" pitchFamily="34" charset="0"/>
                <a:ea typeface="思源黑体 CN Bold" pitchFamily="34" charset="-122"/>
                <a:cs typeface="思源黑体 CN Bold" pitchFamily="34" charset="-120"/>
              </a:endParaRPr>
            </a:p>
          </p:txBody>
        </p:sp>
        <p:sp>
          <p:nvSpPr>
            <p:cNvPr id="486" name="Text 8" descr="TEMP_Z_ORDER_15"/>
            <p:cNvSpPr/>
            <p:nvPr/>
          </p:nvSpPr>
          <p:spPr>
            <a:xfrm>
              <a:off x="3449320" y="477520"/>
              <a:ext cx="2828544" cy="79632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b="1">
                  <a:solidFill>
                    <a:srgbClr val="458BE6"/>
                  </a:solidFill>
                  <a:latin typeface="思源黑体 CN Bold" pitchFamily="34" charset="0"/>
                  <a:ea typeface="思源黑体 CN Bold" pitchFamily="34" charset="-122"/>
                  <a:cs typeface="思源黑体 CN Bold" pitchFamily="34" charset="-120"/>
                </a:rPr>
                <a:t>①</a:t>
              </a:r>
              <a:r>
                <a:rPr lang="en-US" sz="1920">
                  <a:solidFill>
                    <a:srgbClr val="000000"/>
                  </a:solidFill>
                  <a:latin typeface="思源黑体 CN Regular" pitchFamily="34" charset="0"/>
                  <a:ea typeface="思源黑体 CN Regular" pitchFamily="34" charset="-122"/>
                  <a:cs typeface="思源黑体 CN Regular" pitchFamily="34" charset="-120"/>
                </a:rPr>
                <a:t>能依据等保要求对云平台进行安全配置核查；</a:t>
              </a:r>
              <a:endParaRPr lang="en-US" sz="1920"/>
            </a:p>
          </p:txBody>
        </p:sp>
        <p:sp>
          <p:nvSpPr>
            <p:cNvPr id="487" name="Text 9" descr="TEMP_Z_ORDER_16"/>
            <p:cNvSpPr/>
            <p:nvPr/>
          </p:nvSpPr>
          <p:spPr>
            <a:xfrm>
              <a:off x="3449320" y="1437640"/>
              <a:ext cx="2828544" cy="796326"/>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b="1">
                  <a:solidFill>
                    <a:srgbClr val="458BE6"/>
                  </a:solidFill>
                  <a:latin typeface="思源黑体 CN Bold" pitchFamily="34" charset="0"/>
                  <a:ea typeface="思源黑体 CN Bold" pitchFamily="34" charset="-122"/>
                  <a:cs typeface="思源黑体 CN Bold" pitchFamily="34" charset="-120"/>
                </a:rPr>
                <a:t>②</a:t>
              </a:r>
              <a:r>
                <a:rPr lang="en-US" sz="1920">
                  <a:solidFill>
                    <a:srgbClr val="000000"/>
                  </a:solidFill>
                  <a:latin typeface="思源黑体 CN Regular" pitchFamily="34" charset="0"/>
                  <a:ea typeface="思源黑体 CN Regular" pitchFamily="34" charset="-122"/>
                  <a:cs typeface="思源黑体 CN Regular" pitchFamily="34" charset="-120"/>
                </a:rPr>
                <a:t>能规范填写《云计算安全测评记录表》</a:t>
              </a:r>
              <a:endParaRPr lang="en-US" sz="1920"/>
            </a:p>
          </p:txBody>
        </p:sp>
        <p:pic>
          <p:nvPicPr>
            <p:cNvPr id="488" name="Image 7" descr="TEMP_Z_ORDER_17"/>
            <p:cNvPicPr>
              <a:picLocks noChangeAspect="1"/>
            </p:cNvPicPr>
            <p:nvPr/>
          </p:nvPicPr>
          <p:blipFill>
            <a:blip r:embed="rId4"/>
            <a:stretch>
              <a:fillRect/>
            </a:stretch>
          </p:blipFill>
          <p:spPr>
            <a:xfrm>
              <a:off x="6878320" y="-635000"/>
              <a:ext cx="3459480" cy="5181600"/>
            </a:xfrm>
            <a:prstGeom prst="rect">
              <a:avLst/>
            </a:prstGeom>
          </p:spPr>
        </p:pic>
        <p:pic>
          <p:nvPicPr>
            <p:cNvPr id="489" name="Image 8" descr="TEMP_Z_ORDER_1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8360" y="-314960"/>
              <a:ext cx="548640" cy="548640"/>
            </a:xfrm>
            <a:prstGeom prst="rect">
              <a:avLst/>
            </a:prstGeom>
          </p:spPr>
        </p:pic>
        <p:sp>
          <p:nvSpPr>
            <p:cNvPr id="490" name="Text 10" descr="TEMP_Z_ORDER_19"/>
            <p:cNvSpPr/>
            <p:nvPr/>
          </p:nvSpPr>
          <p:spPr>
            <a:xfrm>
              <a:off x="7388670" y="-251489"/>
              <a:ext cx="192405" cy="421698"/>
            </a:xfrm>
            <a:prstGeom prst="rect">
              <a:avLst/>
            </a:prstGeom>
            <a:noFill/>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5000"/>
                </a:lnSpc>
                <a:buNone/>
              </a:pPr>
              <a:r>
                <a:rPr lang="en-US" sz="2160" b="1">
                  <a:solidFill>
                    <a:srgbClr val="FFFFFF"/>
                  </a:solidFill>
                  <a:latin typeface="思源黑体 CN Bold" pitchFamily="34" charset="0"/>
                  <a:ea typeface="思源黑体 CN Bold" pitchFamily="34" charset="-122"/>
                  <a:cs typeface="思源黑体 CN Bold" pitchFamily="34" charset="-120"/>
                </a:rPr>
                <a:t>3</a:t>
              </a:r>
              <a:endParaRPr lang="en-US" sz="2160"/>
            </a:p>
          </p:txBody>
        </p:sp>
        <p:sp>
          <p:nvSpPr>
            <p:cNvPr id="491" name="Text 11" descr="TEMP_Z_ORDER_20"/>
            <p:cNvSpPr/>
            <p:nvPr/>
          </p:nvSpPr>
          <p:spPr>
            <a:xfrm>
              <a:off x="7929880" y="-176624"/>
              <a:ext cx="2029873" cy="310793"/>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83000"/>
                </a:lnSpc>
                <a:buNone/>
              </a:pPr>
              <a:r>
                <a:rPr lang="en-US" sz="2400" b="1">
                  <a:solidFill>
                    <a:srgbClr val="458BE6"/>
                  </a:solidFill>
                  <a:latin typeface="思源黑体 CN Bold" pitchFamily="34" charset="0"/>
                  <a:ea typeface="思源黑体 CN Bold" pitchFamily="34" charset="-122"/>
                  <a:cs typeface="思源黑体 CN Bold" pitchFamily="34" charset="-120"/>
                </a:rPr>
                <a:t>一个职业准则</a:t>
              </a:r>
              <a:endParaRPr lang="en-US" sz="2400" b="1">
                <a:solidFill>
                  <a:srgbClr val="458BE6"/>
                </a:solidFill>
                <a:latin typeface="思源黑体 CN Bold" pitchFamily="34" charset="0"/>
                <a:ea typeface="思源黑体 CN Bold" pitchFamily="34" charset="-122"/>
                <a:cs typeface="思源黑体 CN Bold" pitchFamily="34" charset="-120"/>
              </a:endParaRPr>
            </a:p>
          </p:txBody>
        </p:sp>
        <p:sp>
          <p:nvSpPr>
            <p:cNvPr id="492" name="Text 12" descr="TEMP_Z_ORDER_21"/>
            <p:cNvSpPr/>
            <p:nvPr/>
          </p:nvSpPr>
          <p:spPr>
            <a:xfrm>
              <a:off x="7198360" y="477520"/>
              <a:ext cx="2828544" cy="1194811"/>
            </a:xfrm>
            <a:prstGeom prst="rect">
              <a:avLst/>
            </a:prstGeom>
            <a:noFill/>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920">
                  <a:solidFill>
                    <a:srgbClr val="000000"/>
                  </a:solidFill>
                  <a:latin typeface="思源黑体 CN Regular" pitchFamily="34" charset="0"/>
                  <a:ea typeface="思源黑体 CN Regular" pitchFamily="34" charset="-122"/>
                  <a:cs typeface="思源黑体 CN Regular" pitchFamily="34" charset="-120"/>
                </a:rPr>
                <a:t>云安全测评需要“</a:t>
              </a:r>
              <a:r>
                <a:rPr lang="en-US" sz="1920" b="1">
                  <a:solidFill>
                    <a:srgbClr val="458BE6"/>
                  </a:solidFill>
                  <a:latin typeface="思源黑体 CN Bold" pitchFamily="34" charset="0"/>
                  <a:ea typeface="思源黑体 CN Bold" pitchFamily="34" charset="-122"/>
                  <a:cs typeface="思源黑体 CN Bold" pitchFamily="34" charset="-120"/>
                </a:rPr>
                <a:t>逐项对照、逐条记录</a:t>
              </a:r>
              <a:r>
                <a:rPr lang="en-US" sz="1920">
                  <a:solidFill>
                    <a:srgbClr val="000000"/>
                  </a:solidFill>
                  <a:latin typeface="思源黑体 CN Regular" pitchFamily="34" charset="0"/>
                  <a:ea typeface="思源黑体 CN Regular" pitchFamily="34" charset="-122"/>
                  <a:cs typeface="思源黑体 CN Regular" pitchFamily="34" charset="-120"/>
                </a:rPr>
                <a:t>”，严谨是对数据安全的最大尊重</a:t>
              </a:r>
              <a:endParaRPr lang="en-US" sz="192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473"/>
                                        </p:tgtEl>
                                        <p:attrNameLst>
                                          <p:attrName>style.visibility</p:attrName>
                                        </p:attrNameLst>
                                      </p:cBhvr>
                                      <p:to>
                                        <p:strVal val="visible"/>
                                      </p:to>
                                    </p:set>
                                    <p:animEffect transition="in" filter="fade">
                                      <p:cBhvr>
                                        <p:cTn id="7" dur="750"/>
                                        <p:tgtEl>
                                          <p:spTgt spid="473"/>
                                        </p:tgtEl>
                                      </p:cBhvr>
                                    </p:animEffect>
                                  </p:childTnLst>
                                </p:cTn>
                              </p:par>
                            </p:childTnLst>
                          </p:cTn>
                        </p:par>
                        <p:par>
                          <p:cTn id="8" fill="hold">
                            <p:stCondLst>
                              <p:cond delay="1000"/>
                            </p:stCondLst>
                            <p:childTnLst>
                              <p:par>
                                <p:cTn id="9" presetID="2" presetClass="entr" presetSubtype="4" fill="hold" grpId="2" nodeType="afterEffect">
                                  <p:stCondLst>
                                    <p:cond delay="0"/>
                                  </p:stCondLst>
                                  <p:childTnLst>
                                    <p:set>
                                      <p:cBhvr>
                                        <p:cTn id="10" dur="1" fill="hold">
                                          <p:stCondLst>
                                            <p:cond delay="0"/>
                                          </p:stCondLst>
                                        </p:cTn>
                                        <p:tgtEl>
                                          <p:spTgt spid="474"/>
                                        </p:tgtEl>
                                        <p:attrNameLst>
                                          <p:attrName>style.visibility</p:attrName>
                                        </p:attrNameLst>
                                      </p:cBhvr>
                                      <p:to>
                                        <p:strVal val="visible"/>
                                      </p:to>
                                    </p:set>
                                    <p:anim calcmode="lin" valueType="num">
                                      <p:cBhvr additive="base">
                                        <p:cTn id="11" dur="750" fill="hold"/>
                                        <p:tgtEl>
                                          <p:spTgt spid="474"/>
                                        </p:tgtEl>
                                        <p:attrNameLst>
                                          <p:attrName>ppt_x</p:attrName>
                                        </p:attrNameLst>
                                      </p:cBhvr>
                                      <p:tavLst>
                                        <p:tav tm="0">
                                          <p:val>
                                            <p:strVal val="#ppt_x"/>
                                          </p:val>
                                        </p:tav>
                                        <p:tav tm="100000">
                                          <p:val>
                                            <p:strVal val="#ppt_x"/>
                                          </p:val>
                                        </p:tav>
                                      </p:tavLst>
                                    </p:anim>
                                    <p:anim calcmode="lin" valueType="num">
                                      <p:cBhvr additive="base">
                                        <p:cTn id="12" dur="750" fill="hold"/>
                                        <p:tgtEl>
                                          <p:spTgt spid="4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493" name=""/>
        <p:cNvGrpSpPr/>
        <p:nvPr/>
      </p:nvGrpSpPr>
      <p:grpSpPr>
        <a:xfrm>
          <a:off x="0" y="0"/>
          <a:ext cx="0" cy="0"/>
          <a:chOff x="0" y="0"/>
          <a:chExt cx="0" cy="0"/>
        </a:xfrm>
      </p:grpSpPr>
      <p:pic>
        <p:nvPicPr>
          <p:cNvPr id="494"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sp>
        <p:nvSpPr>
          <p:cNvPr id="495" name="Text 0"/>
          <p:cNvSpPr/>
          <p:nvPr/>
        </p:nvSpPr>
        <p:spPr>
          <a:xfrm>
            <a:off x="1536780" y="1925506"/>
            <a:ext cx="9136882" cy="975122"/>
          </a:xfrm>
          <a:prstGeom prst="rect">
            <a:avLst/>
          </a:prstGeom>
          <a:noFill/>
        </p:spPr>
        <p:txBody>
          <a:bodyPr wrap="square" lIns="0" tIns="0" rIns="0" bIns="0" rtlCol="0" anchor="b">
            <a:spAutoFit/>
          </a:bodyPr>
          <a:lstStyle/>
          <a:p>
            <a:pPr marL="0" indent="0" algn="ctr">
              <a:lnSpc>
                <a:spcPct val="120000"/>
              </a:lnSpc>
              <a:buNone/>
            </a:pPr>
            <a:r>
              <a:rPr lang="en-US" sz="6360" dirty="0">
                <a:solidFill>
                  <a:srgbClr val="FFFFFF"/>
                </a:solidFill>
              </a:rPr>
              <a:t>感谢观看</a:t>
            </a:r>
            <a:endParaRPr lang="en-US" sz="6360" dirty="0"/>
          </a:p>
        </p:txBody>
      </p:sp>
    </p:spTree>
  </p:cSld>
  <p:clrMapOvr>
    <a:masterClrMapping/>
  </p:clrMapOvr>
  <p:transition/>
</p:sld>
</file>

<file path=ppt/tags/tag1.xml><?xml version="1.0" encoding="utf-8"?>
<p:tagLst xmlns:p="http://schemas.openxmlformats.org/presentationml/2006/main">
  <p:tag name="TABLE_ENDDRAG_ORIGIN_RECT" val="418*165"/>
  <p:tag name="TABLE_ENDDRAG_RECT" val="478*337*418*16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5588</Words>
  <Application>WPS 演示</Application>
  <PresentationFormat/>
  <Paragraphs>838</Paragraphs>
  <Slides>25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思源黑体 CN</vt:lpstr>
      <vt:lpstr>黑体</vt:lpstr>
      <vt:lpstr>思源黑体 CN</vt:lpstr>
      <vt:lpstr>思源黑体 CN</vt:lpstr>
      <vt:lpstr>思源黑体 CN Bold</vt:lpstr>
      <vt:lpstr>思源黑体 CN Bold</vt:lpstr>
      <vt:lpstr>思源黑体 CN Bold</vt:lpstr>
      <vt:lpstr>思源黑体 CN Regular</vt:lpstr>
      <vt:lpstr>思源黑体 CN Regular</vt:lpstr>
      <vt:lpstr>思源黑体 CN Regular</vt:lpstr>
      <vt:lpstr>Calibri</vt:lpstr>
      <vt:lpstr>等线</vt:lpstr>
      <vt:lpstr>微软雅黑</vt:lpstr>
      <vt:lpstr>Arial Unicode MS</vt:lpstr>
      <vt:lpstr>思源黑体 CN 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202603</cp:lastModifiedBy>
  <cp:revision>1</cp:revision>
  <dcterms:created xsi:type="dcterms:W3CDTF">2026-10-27T01:24:35Z</dcterms:created>
  <dcterms:modified xsi:type="dcterms:W3CDTF">2026-10-27T01:24:35Z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A2E5F76C798E4FE4A399DCC3E5552BF5_12</vt:lpwstr>
  </property>
</Properties>
</file>