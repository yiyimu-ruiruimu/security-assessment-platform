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3.svg" ContentType="image/svg+xml"/>
  <Override PartName="/ppt/media/image105.svg" ContentType="image/svg+xml"/>
  <Override PartName="/ppt/media/image106.svg" ContentType="image/svg+xml"/>
  <Override PartName="/ppt/media/image107.svg" ContentType="image/svg+xml"/>
  <Override PartName="/ppt/media/image108.svg" ContentType="image/svg+xml"/>
  <Override PartName="/ppt/media/image109.svg" ContentType="image/svg+xml"/>
  <Override PartName="/ppt/media/image110.svg" ContentType="image/svg+xml"/>
  <Override PartName="/ppt/media/image111.svg" ContentType="image/svg+xml"/>
  <Override PartName="/ppt/media/image114.svg" ContentType="image/svg+xml"/>
  <Override PartName="/ppt/media/image117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4.svg" ContentType="image/svg+xml"/>
  <Override PartName="/ppt/media/image139.svg" ContentType="image/svg+xml"/>
  <Override PartName="/ppt/media/image149.svg" ContentType="image/svg+xml"/>
  <Override PartName="/ppt/media/image15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7.svg" ContentType="image/svg+xml"/>
  <Override PartName="/ppt/media/image17.svg" ContentType="image/svg+xml"/>
  <Override PartName="/ppt/media/image172.svg" ContentType="image/svg+xml"/>
  <Override PartName="/ppt/media/image175.svg" ContentType="image/svg+xml"/>
  <Override PartName="/ppt/media/image178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8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60.svg" ContentType="image/svg+xml"/>
  <Override PartName="/ppt/media/image62.svg" ContentType="image/svg+xml"/>
  <Override PartName="/ppt/media/image66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4.svg" ContentType="image/svg+xml"/>
  <Override PartName="/ppt/media/image86.svg" ContentType="image/svg+xml"/>
  <Override PartName="/ppt/media/image89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7" r:id="rId6"/>
    <p:sldId id="258" r:id="rId7"/>
    <p:sldId id="259" r:id="rId8"/>
    <p:sldId id="278" r:id="rId9"/>
    <p:sldId id="260" r:id="rId10"/>
    <p:sldId id="261" r:id="rId11"/>
    <p:sldId id="262" r:id="rId12"/>
    <p:sldId id="263" r:id="rId13"/>
    <p:sldId id="265" r:id="rId14"/>
    <p:sldId id="264" r:id="rId15"/>
    <p:sldId id="266" r:id="rId16"/>
    <p:sldId id="267" r:id="rId17"/>
    <p:sldId id="268" r:id="rId18"/>
    <p:sldId id="279" r:id="rId19"/>
    <p:sldId id="269" r:id="rId20"/>
    <p:sldId id="270" r:id="rId21"/>
    <p:sldId id="281" r:id="rId22"/>
    <p:sldId id="271" r:id="rId23"/>
    <p:sldId id="282" r:id="rId24"/>
    <p:sldId id="283" r:id="rId25"/>
    <p:sldId id="284" r:id="rId26"/>
    <p:sldId id="280" r:id="rId27"/>
    <p:sldId id="272" r:id="rId28"/>
    <p:sldId id="273" r:id="rId29"/>
    <p:sldId id="274" r:id="rId30"/>
    <p:sldId id="275" r:id="rId31"/>
    <p:sldId id="27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Q</a:t>
            </a:r>
            <a:r>
              <a:rPr lang="zh-CN" altLang="en-US"/>
              <a:t>：数据库被拖库了，但日志里什么都没有</a:t>
            </a:r>
            <a:r>
              <a:rPr lang="en-US" altLang="zh-CN"/>
              <a:t> —— </a:t>
            </a:r>
            <a:r>
              <a:rPr lang="zh-CN" altLang="en-US"/>
              <a:t>问题出在哪？</a:t>
            </a:r>
            <a:endParaRPr lang="zh-CN" altLang="en-US"/>
          </a:p>
          <a:p>
            <a:r>
              <a:rPr lang="en-US" altLang="zh-CN"/>
              <a:t>**</a:t>
            </a:r>
            <a:r>
              <a:rPr lang="zh-CN" altLang="en-US"/>
              <a:t>拖库</a:t>
            </a:r>
            <a:r>
              <a:rPr lang="en-US" altLang="zh-CN"/>
              <a:t>**</a:t>
            </a:r>
            <a:r>
              <a:rPr lang="zh-CN" altLang="en-US"/>
              <a:t>：黑客通过漏洞入侵数据库，把整张用户数据表（账号、手机号、密码）全部下载窃取。</a:t>
            </a:r>
            <a:endParaRPr lang="zh-CN" altLang="en-US"/>
          </a:p>
          <a:p>
            <a:r>
              <a:rPr lang="zh-CN" altLang="en-US"/>
              <a:t>现象：入侵事件发生后，审计日志是空的，查不到攻击者操作记录。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mysql</a:t>
            </a:r>
            <a:r>
              <a:rPr lang="zh-CN" altLang="en-US" dirty="0"/>
              <a:t>：</a:t>
            </a:r>
            <a:r>
              <a:rPr lang="en-US" altLang="zh-CN" dirty="0"/>
              <a:t>oracle</a:t>
            </a:r>
            <a:r>
              <a:rPr lang="zh-CN" altLang="en-US" dirty="0"/>
              <a:t>，端口</a:t>
            </a:r>
            <a:r>
              <a:rPr lang="en-US" altLang="zh-CN" dirty="0"/>
              <a:t>3306</a:t>
            </a:r>
            <a:r>
              <a:rPr lang="zh-CN" altLang="en-US" dirty="0"/>
              <a:t>；</a:t>
            </a:r>
            <a:r>
              <a:rPr lang="en-US" altLang="zh-CN" dirty="0"/>
              <a:t>SQL Server</a:t>
            </a:r>
            <a:r>
              <a:rPr lang="zh-CN" altLang="en-US" dirty="0"/>
              <a:t>：微软，有</a:t>
            </a:r>
            <a:r>
              <a:rPr lang="en-US" altLang="zh-CN" dirty="0"/>
              <a:t>sa</a:t>
            </a:r>
            <a:r>
              <a:rPr lang="zh-CN" altLang="en-US" dirty="0"/>
              <a:t>账户，端口</a:t>
            </a:r>
            <a:r>
              <a:rPr lang="en-US" altLang="zh-CN" dirty="0"/>
              <a:t>1433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# TDE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**</a:t>
            </a:r>
            <a:r>
              <a:rPr lang="zh-CN" altLang="en-US"/>
              <a:t>全称：</a:t>
            </a:r>
            <a:r>
              <a:rPr lang="en-US" altLang="zh-CN"/>
              <a:t>Transparent Data Encryption</a:t>
            </a:r>
            <a:r>
              <a:rPr lang="zh-CN" altLang="en-US"/>
              <a:t>，透明数据加密</a:t>
            </a:r>
            <a:r>
              <a:rPr lang="en-US" altLang="zh-CN"/>
              <a:t>**</a:t>
            </a:r>
            <a:r>
              <a:rPr lang="zh-CN" altLang="en-US"/>
              <a:t>，数据库数据静态落盘加密</a:t>
            </a:r>
            <a:r>
              <a:rPr lang="zh-CN" altLang="en-US"/>
              <a:t>技术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46.svg"/><Relationship Id="rId20" Type="http://schemas.openxmlformats.org/officeDocument/2006/relationships/image" Target="../media/image45.png"/><Relationship Id="rId2" Type="http://schemas.openxmlformats.org/officeDocument/2006/relationships/image" Target="../media/image12.png"/><Relationship Id="rId19" Type="http://schemas.openxmlformats.org/officeDocument/2006/relationships/image" Target="../media/image44.svg"/><Relationship Id="rId18" Type="http://schemas.openxmlformats.org/officeDocument/2006/relationships/image" Target="../media/image43.png"/><Relationship Id="rId17" Type="http://schemas.openxmlformats.org/officeDocument/2006/relationships/image" Target="../media/image42.svg"/><Relationship Id="rId16" Type="http://schemas.openxmlformats.org/officeDocument/2006/relationships/image" Target="../media/image41.png"/><Relationship Id="rId15" Type="http://schemas.openxmlformats.org/officeDocument/2006/relationships/image" Target="../media/image40.png"/><Relationship Id="rId14" Type="http://schemas.openxmlformats.org/officeDocument/2006/relationships/image" Target="../media/image39.png"/><Relationship Id="rId13" Type="http://schemas.openxmlformats.org/officeDocument/2006/relationships/image" Target="../media/image38.svg"/><Relationship Id="rId12" Type="http://schemas.openxmlformats.org/officeDocument/2006/relationships/image" Target="../media/image37.png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sv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12.png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64.png"/><Relationship Id="rId20" Type="http://schemas.openxmlformats.org/officeDocument/2006/relationships/image" Target="../media/image63.png"/><Relationship Id="rId2" Type="http://schemas.openxmlformats.org/officeDocument/2006/relationships/image" Target="../media/image11.png"/><Relationship Id="rId19" Type="http://schemas.openxmlformats.org/officeDocument/2006/relationships/image" Target="../media/image62.svg"/><Relationship Id="rId18" Type="http://schemas.openxmlformats.org/officeDocument/2006/relationships/image" Target="../media/image61.png"/><Relationship Id="rId17" Type="http://schemas.openxmlformats.org/officeDocument/2006/relationships/image" Target="../media/image60.svg"/><Relationship Id="rId16" Type="http://schemas.openxmlformats.org/officeDocument/2006/relationships/image" Target="../media/image59.png"/><Relationship Id="rId15" Type="http://schemas.openxmlformats.org/officeDocument/2006/relationships/image" Target="../media/image58.png"/><Relationship Id="rId14" Type="http://schemas.openxmlformats.org/officeDocument/2006/relationships/image" Target="../media/image57.png"/><Relationship Id="rId13" Type="http://schemas.openxmlformats.org/officeDocument/2006/relationships/image" Target="../media/image56.png"/><Relationship Id="rId12" Type="http://schemas.openxmlformats.org/officeDocument/2006/relationships/image" Target="../media/image55.png"/><Relationship Id="rId11" Type="http://schemas.openxmlformats.org/officeDocument/2006/relationships/image" Target="../media/image54.png"/><Relationship Id="rId10" Type="http://schemas.openxmlformats.org/officeDocument/2006/relationships/image" Target="../media/image53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69.png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76.svg"/><Relationship Id="rId15" Type="http://schemas.openxmlformats.org/officeDocument/2006/relationships/image" Target="../media/image75.png"/><Relationship Id="rId14" Type="http://schemas.openxmlformats.org/officeDocument/2006/relationships/image" Target="../media/image74.svg"/><Relationship Id="rId13" Type="http://schemas.openxmlformats.org/officeDocument/2006/relationships/image" Target="../media/image73.png"/><Relationship Id="rId12" Type="http://schemas.openxmlformats.org/officeDocument/2006/relationships/image" Target="../media/image72.png"/><Relationship Id="rId11" Type="http://schemas.openxmlformats.org/officeDocument/2006/relationships/image" Target="../media/image71.png"/><Relationship Id="rId10" Type="http://schemas.openxmlformats.org/officeDocument/2006/relationships/image" Target="../media/image7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81.png"/><Relationship Id="rId7" Type="http://schemas.openxmlformats.org/officeDocument/2006/relationships/image" Target="../media/image80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svg"/><Relationship Id="rId7" Type="http://schemas.openxmlformats.org/officeDocument/2006/relationships/image" Target="../media/image85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91.png"/><Relationship Id="rId12" Type="http://schemas.openxmlformats.org/officeDocument/2006/relationships/image" Target="../media/image90.png"/><Relationship Id="rId11" Type="http://schemas.openxmlformats.org/officeDocument/2006/relationships/image" Target="../media/image89.svg"/><Relationship Id="rId10" Type="http://schemas.openxmlformats.org/officeDocument/2006/relationships/image" Target="../media/image88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svg"/><Relationship Id="rId8" Type="http://schemas.openxmlformats.org/officeDocument/2006/relationships/image" Target="../media/image96.png"/><Relationship Id="rId7" Type="http://schemas.openxmlformats.org/officeDocument/2006/relationships/image" Target="../media/image95.svg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12.png"/><Relationship Id="rId25" Type="http://schemas.openxmlformats.org/officeDocument/2006/relationships/notesSlide" Target="../notesSlides/notesSlide12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111.svg"/><Relationship Id="rId22" Type="http://schemas.openxmlformats.org/officeDocument/2006/relationships/image" Target="../media/image110.svg"/><Relationship Id="rId21" Type="http://schemas.openxmlformats.org/officeDocument/2006/relationships/image" Target="../media/image109.svg"/><Relationship Id="rId20" Type="http://schemas.openxmlformats.org/officeDocument/2006/relationships/image" Target="../media/image108.svg"/><Relationship Id="rId2" Type="http://schemas.openxmlformats.org/officeDocument/2006/relationships/image" Target="../media/image11.png"/><Relationship Id="rId19" Type="http://schemas.openxmlformats.org/officeDocument/2006/relationships/image" Target="../media/image107.svg"/><Relationship Id="rId18" Type="http://schemas.openxmlformats.org/officeDocument/2006/relationships/image" Target="../media/image106.svg"/><Relationship Id="rId17" Type="http://schemas.openxmlformats.org/officeDocument/2006/relationships/image" Target="../media/image105.svg"/><Relationship Id="rId16" Type="http://schemas.openxmlformats.org/officeDocument/2006/relationships/image" Target="../media/image104.png"/><Relationship Id="rId15" Type="http://schemas.openxmlformats.org/officeDocument/2006/relationships/image" Target="../media/image103.svg"/><Relationship Id="rId14" Type="http://schemas.openxmlformats.org/officeDocument/2006/relationships/image" Target="../media/image102.png"/><Relationship Id="rId13" Type="http://schemas.openxmlformats.org/officeDocument/2006/relationships/image" Target="../media/image101.png"/><Relationship Id="rId12" Type="http://schemas.openxmlformats.org/officeDocument/2006/relationships/image" Target="../media/image100.svg"/><Relationship Id="rId11" Type="http://schemas.openxmlformats.org/officeDocument/2006/relationships/image" Target="../media/image99.svg"/><Relationship Id="rId10" Type="http://schemas.openxmlformats.org/officeDocument/2006/relationships/image" Target="../media/image98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5.png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png"/><Relationship Id="rId8" Type="http://schemas.openxmlformats.org/officeDocument/2006/relationships/tags" Target="../tags/tag2.xml"/><Relationship Id="rId7" Type="http://schemas.openxmlformats.org/officeDocument/2006/relationships/image" Target="../media/image120.svg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6" Type="http://schemas.openxmlformats.org/officeDocument/2006/relationships/notesSlide" Target="../notesSlides/notesSlide14.xml"/><Relationship Id="rId45" Type="http://schemas.openxmlformats.org/officeDocument/2006/relationships/vmlDrawing" Target="../drawings/vmlDrawing1.vml"/><Relationship Id="rId44" Type="http://schemas.openxmlformats.org/officeDocument/2006/relationships/slideLayout" Target="../slideLayouts/slideLayout1.xml"/><Relationship Id="rId43" Type="http://schemas.openxmlformats.org/officeDocument/2006/relationships/image" Target="../media/image125.wmf"/><Relationship Id="rId42" Type="http://schemas.openxmlformats.org/officeDocument/2006/relationships/package" Target="../embeddings/Document1.docx"/><Relationship Id="rId41" Type="http://schemas.openxmlformats.org/officeDocument/2006/relationships/tags" Target="../tags/tag31.xml"/><Relationship Id="rId40" Type="http://schemas.openxmlformats.org/officeDocument/2006/relationships/tags" Target="../tags/tag30.xml"/><Relationship Id="rId4" Type="http://schemas.openxmlformats.org/officeDocument/2006/relationships/image" Target="../media/image117.svg"/><Relationship Id="rId39" Type="http://schemas.openxmlformats.org/officeDocument/2006/relationships/tags" Target="../tags/tag29.xml"/><Relationship Id="rId38" Type="http://schemas.openxmlformats.org/officeDocument/2006/relationships/tags" Target="../tags/tag28.xml"/><Relationship Id="rId37" Type="http://schemas.openxmlformats.org/officeDocument/2006/relationships/tags" Target="../tags/tag27.xml"/><Relationship Id="rId36" Type="http://schemas.openxmlformats.org/officeDocument/2006/relationships/tags" Target="../tags/tag26.xml"/><Relationship Id="rId35" Type="http://schemas.openxmlformats.org/officeDocument/2006/relationships/tags" Target="../tags/tag25.xml"/><Relationship Id="rId34" Type="http://schemas.openxmlformats.org/officeDocument/2006/relationships/tags" Target="../tags/tag24.xml"/><Relationship Id="rId33" Type="http://schemas.openxmlformats.org/officeDocument/2006/relationships/tags" Target="../tags/tag23.xml"/><Relationship Id="rId32" Type="http://schemas.openxmlformats.org/officeDocument/2006/relationships/tags" Target="../tags/tag2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16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tags" Target="../tags/tag10.xml"/><Relationship Id="rId2" Type="http://schemas.openxmlformats.org/officeDocument/2006/relationships/image" Target="../media/image12.png"/><Relationship Id="rId19" Type="http://schemas.openxmlformats.org/officeDocument/2006/relationships/tags" Target="../tags/tag9.xml"/><Relationship Id="rId18" Type="http://schemas.openxmlformats.org/officeDocument/2006/relationships/tags" Target="../tags/tag8.xml"/><Relationship Id="rId17" Type="http://schemas.openxmlformats.org/officeDocument/2006/relationships/tags" Target="../tags/tag7.xml"/><Relationship Id="rId16" Type="http://schemas.openxmlformats.org/officeDocument/2006/relationships/tags" Target="../tags/tag6.xml"/><Relationship Id="rId15" Type="http://schemas.openxmlformats.org/officeDocument/2006/relationships/tags" Target="../tags/tag5.xml"/><Relationship Id="rId14" Type="http://schemas.openxmlformats.org/officeDocument/2006/relationships/tags" Target="../tags/tag4.xml"/><Relationship Id="rId13" Type="http://schemas.openxmlformats.org/officeDocument/2006/relationships/image" Target="../media/image124.svg"/><Relationship Id="rId12" Type="http://schemas.openxmlformats.org/officeDocument/2006/relationships/image" Target="../media/image123.png"/><Relationship Id="rId11" Type="http://schemas.openxmlformats.org/officeDocument/2006/relationships/tags" Target="../tags/tag3.xml"/><Relationship Id="rId10" Type="http://schemas.openxmlformats.org/officeDocument/2006/relationships/image" Target="../media/image122.sv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svg"/><Relationship Id="rId8" Type="http://schemas.openxmlformats.org/officeDocument/2006/relationships/image" Target="../media/image130.png"/><Relationship Id="rId7" Type="http://schemas.openxmlformats.org/officeDocument/2006/relationships/image" Target="../media/image129.svg"/><Relationship Id="rId6" Type="http://schemas.openxmlformats.org/officeDocument/2006/relationships/image" Target="../media/image128.png"/><Relationship Id="rId5" Type="http://schemas.openxmlformats.org/officeDocument/2006/relationships/image" Target="../media/image127.svg"/><Relationship Id="rId4" Type="http://schemas.openxmlformats.org/officeDocument/2006/relationships/image" Target="../media/image126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15.xml"/><Relationship Id="rId2" Type="http://schemas.openxmlformats.org/officeDocument/2006/relationships/image" Target="../media/image11.png"/><Relationship Id="rId19" Type="http://schemas.openxmlformats.org/officeDocument/2006/relationships/vmlDrawing" Target="../drawings/vmlDrawing2.v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37.wmf"/><Relationship Id="rId16" Type="http://schemas.openxmlformats.org/officeDocument/2006/relationships/package" Target="../embeddings/Document3.docx"/><Relationship Id="rId15" Type="http://schemas.openxmlformats.org/officeDocument/2006/relationships/image" Target="../media/image136.wmf"/><Relationship Id="rId14" Type="http://schemas.openxmlformats.org/officeDocument/2006/relationships/package" Target="../embeddings/Document2.docx"/><Relationship Id="rId13" Type="http://schemas.openxmlformats.org/officeDocument/2006/relationships/image" Target="../media/image135.png"/><Relationship Id="rId12" Type="http://schemas.openxmlformats.org/officeDocument/2006/relationships/image" Target="../media/image134.svg"/><Relationship Id="rId11" Type="http://schemas.openxmlformats.org/officeDocument/2006/relationships/image" Target="../media/image133.png"/><Relationship Id="rId10" Type="http://schemas.openxmlformats.org/officeDocument/2006/relationships/image" Target="../media/image132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png"/><Relationship Id="rId8" Type="http://schemas.openxmlformats.org/officeDocument/2006/relationships/image" Target="../media/image142.png"/><Relationship Id="rId7" Type="http://schemas.openxmlformats.org/officeDocument/2006/relationships/image" Target="../media/image141.png"/><Relationship Id="rId6" Type="http://schemas.openxmlformats.org/officeDocument/2006/relationships/image" Target="../media/image140.png"/><Relationship Id="rId5" Type="http://schemas.openxmlformats.org/officeDocument/2006/relationships/image" Target="../media/image139.svg"/><Relationship Id="rId4" Type="http://schemas.openxmlformats.org/officeDocument/2006/relationships/image" Target="../media/image13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16.xml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7.wmf"/><Relationship Id="rId13" Type="http://schemas.openxmlformats.org/officeDocument/2006/relationships/package" Target="../embeddings/Document4.docx"/><Relationship Id="rId12" Type="http://schemas.openxmlformats.org/officeDocument/2006/relationships/image" Target="../media/image146.png"/><Relationship Id="rId11" Type="http://schemas.openxmlformats.org/officeDocument/2006/relationships/image" Target="../media/image145.png"/><Relationship Id="rId10" Type="http://schemas.openxmlformats.org/officeDocument/2006/relationships/image" Target="../media/image144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svg"/><Relationship Id="rId8" Type="http://schemas.openxmlformats.org/officeDocument/2006/relationships/image" Target="../media/image130.png"/><Relationship Id="rId7" Type="http://schemas.openxmlformats.org/officeDocument/2006/relationships/image" Target="../media/image129.svg"/><Relationship Id="rId6" Type="http://schemas.openxmlformats.org/officeDocument/2006/relationships/image" Target="../media/image128.png"/><Relationship Id="rId5" Type="http://schemas.openxmlformats.org/officeDocument/2006/relationships/image" Target="../media/image127.svg"/><Relationship Id="rId4" Type="http://schemas.openxmlformats.org/officeDocument/2006/relationships/image" Target="../media/image126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9" Type="http://schemas.openxmlformats.org/officeDocument/2006/relationships/vmlDrawing" Target="../drawings/vmlDrawing4.v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37.wmf"/><Relationship Id="rId16" Type="http://schemas.openxmlformats.org/officeDocument/2006/relationships/package" Target="../embeddings/Document6.docx"/><Relationship Id="rId15" Type="http://schemas.openxmlformats.org/officeDocument/2006/relationships/image" Target="../media/image136.wmf"/><Relationship Id="rId14" Type="http://schemas.openxmlformats.org/officeDocument/2006/relationships/package" Target="../embeddings/Document5.docx"/><Relationship Id="rId13" Type="http://schemas.openxmlformats.org/officeDocument/2006/relationships/image" Target="../media/image135.png"/><Relationship Id="rId12" Type="http://schemas.openxmlformats.org/officeDocument/2006/relationships/image" Target="../media/image134.svg"/><Relationship Id="rId11" Type="http://schemas.openxmlformats.org/officeDocument/2006/relationships/image" Target="../media/image133.png"/><Relationship Id="rId10" Type="http://schemas.openxmlformats.org/officeDocument/2006/relationships/image" Target="../media/image132.png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png"/><Relationship Id="rId8" Type="http://schemas.openxmlformats.org/officeDocument/2006/relationships/image" Target="../media/image152.svg"/><Relationship Id="rId7" Type="http://schemas.openxmlformats.org/officeDocument/2006/relationships/image" Target="../media/image151.png"/><Relationship Id="rId6" Type="http://schemas.openxmlformats.org/officeDocument/2006/relationships/image" Target="../media/image150.png"/><Relationship Id="rId5" Type="http://schemas.openxmlformats.org/officeDocument/2006/relationships/image" Target="../media/image149.svg"/><Relationship Id="rId4" Type="http://schemas.openxmlformats.org/officeDocument/2006/relationships/image" Target="../media/image148.png"/><Relationship Id="rId3" Type="http://schemas.openxmlformats.org/officeDocument/2006/relationships/image" Target="../media/image12.png"/><Relationship Id="rId20" Type="http://schemas.openxmlformats.org/officeDocument/2006/relationships/notesSlide" Target="../notesSlides/notesSlide17.xml"/><Relationship Id="rId2" Type="http://schemas.openxmlformats.org/officeDocument/2006/relationships/image" Target="../media/image1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62.svg"/><Relationship Id="rId17" Type="http://schemas.openxmlformats.org/officeDocument/2006/relationships/image" Target="../media/image161.png"/><Relationship Id="rId16" Type="http://schemas.openxmlformats.org/officeDocument/2006/relationships/image" Target="../media/image160.svg"/><Relationship Id="rId15" Type="http://schemas.openxmlformats.org/officeDocument/2006/relationships/image" Target="../media/image159.png"/><Relationship Id="rId14" Type="http://schemas.openxmlformats.org/officeDocument/2006/relationships/image" Target="../media/image158.svg"/><Relationship Id="rId13" Type="http://schemas.openxmlformats.org/officeDocument/2006/relationships/image" Target="../media/image157.png"/><Relationship Id="rId12" Type="http://schemas.openxmlformats.org/officeDocument/2006/relationships/image" Target="../media/image156.svg"/><Relationship Id="rId11" Type="http://schemas.openxmlformats.org/officeDocument/2006/relationships/image" Target="../media/image155.png"/><Relationship Id="rId10" Type="http://schemas.openxmlformats.org/officeDocument/2006/relationships/image" Target="../media/image154.svg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7.svg"/><Relationship Id="rId7" Type="http://schemas.openxmlformats.org/officeDocument/2006/relationships/image" Target="../media/image166.png"/><Relationship Id="rId6" Type="http://schemas.openxmlformats.org/officeDocument/2006/relationships/image" Target="../media/image165.png"/><Relationship Id="rId5" Type="http://schemas.openxmlformats.org/officeDocument/2006/relationships/image" Target="../media/image164.svg"/><Relationship Id="rId4" Type="http://schemas.openxmlformats.org/officeDocument/2006/relationships/image" Target="../media/image16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70.wmf"/><Relationship Id="rId6" Type="http://schemas.openxmlformats.org/officeDocument/2006/relationships/package" Target="../embeddings/Document7.docx"/><Relationship Id="rId5" Type="http://schemas.openxmlformats.org/officeDocument/2006/relationships/image" Target="../media/image169.png"/><Relationship Id="rId4" Type="http://schemas.openxmlformats.org/officeDocument/2006/relationships/image" Target="../media/image168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6.png"/><Relationship Id="rId8" Type="http://schemas.openxmlformats.org/officeDocument/2006/relationships/image" Target="../media/image175.svg"/><Relationship Id="rId7" Type="http://schemas.openxmlformats.org/officeDocument/2006/relationships/image" Target="../media/image174.png"/><Relationship Id="rId6" Type="http://schemas.openxmlformats.org/officeDocument/2006/relationships/image" Target="../media/image173.png"/><Relationship Id="rId5" Type="http://schemas.openxmlformats.org/officeDocument/2006/relationships/image" Target="../media/image172.svg"/><Relationship Id="rId4" Type="http://schemas.openxmlformats.org/officeDocument/2006/relationships/image" Target="../media/image171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20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78.svg"/><Relationship Id="rId10" Type="http://schemas.openxmlformats.org/officeDocument/2006/relationships/image" Target="../media/image177.png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708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授课教师：</a:t>
            </a:r>
            <a:r>
              <a:rPr lang="zh-CN" altLang="en-US" sz="2040" dirty="0">
                <a:solidFill>
                  <a:srgbClr val="000000"/>
                </a:solidFill>
              </a:rPr>
              <a:t>张玉</a:t>
            </a:r>
            <a:endParaRPr lang="zh-CN" altLang="en-US" sz="2040" dirty="0">
              <a:solidFill>
                <a:srgbClr val="000000"/>
              </a:solidFill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83313"/>
            <a:ext cx="5490553" cy="18288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0" dirty="0">
                <a:solidFill>
                  <a:srgbClr val="FFFFFF"/>
                </a:solidFill>
              </a:rPr>
              <a:t>信息安全测评与风险评估</a:t>
            </a:r>
            <a:endParaRPr lang="en-US" sz="6000" dirty="0"/>
          </a:p>
        </p:txBody>
      </p:sp>
      <p:sp>
        <p:nvSpPr>
          <p:cNvPr id="12" name="Text 2"/>
          <p:cNvSpPr/>
          <p:nvPr/>
        </p:nvSpPr>
        <p:spPr>
          <a:xfrm>
            <a:off x="577068" y="3867726"/>
            <a:ext cx="4339657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4.3 数据库安全配置核查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3d7a216c70ecba8f9c09a39add3fad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50" y="153303"/>
            <a:ext cx="11803310" cy="63672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9119" y="1653024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01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5769119" y="2669616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02</a:t>
            </a:r>
            <a:endParaRPr lang="en-US" sz="3360" dirty="0"/>
          </a:p>
        </p:txBody>
      </p:sp>
      <p:sp>
        <p:nvSpPr>
          <p:cNvPr id="6" name="Text 2"/>
          <p:cNvSpPr/>
          <p:nvPr/>
        </p:nvSpPr>
        <p:spPr>
          <a:xfrm>
            <a:off x="5769119" y="3686208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03</a:t>
            </a:r>
            <a:endParaRPr lang="en-US" sz="3360" dirty="0"/>
          </a:p>
        </p:txBody>
      </p:sp>
      <p:sp>
        <p:nvSpPr>
          <p:cNvPr id="7" name="Text 3"/>
          <p:cNvSpPr/>
          <p:nvPr/>
        </p:nvSpPr>
        <p:spPr>
          <a:xfrm>
            <a:off x="5769119" y="4702801"/>
            <a:ext cx="1267993" cy="5120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360" dirty="0">
                <a:solidFill>
                  <a:srgbClr val="000000"/>
                </a:solidFill>
              </a:rPr>
              <a:t>04</a:t>
            </a:r>
            <a:endParaRPr lang="en-US" sz="3360" dirty="0"/>
          </a:p>
        </p:txBody>
      </p:sp>
      <p:sp>
        <p:nvSpPr>
          <p:cNvPr id="8" name="Text 4"/>
          <p:cNvSpPr/>
          <p:nvPr/>
        </p:nvSpPr>
        <p:spPr>
          <a:xfrm>
            <a:off x="965498" y="2799393"/>
            <a:ext cx="1769654" cy="73152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</a:rPr>
              <a:t>目录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53110" y="3733353"/>
            <a:ext cx="315010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40" dirty="0">
                <a:solidFill>
                  <a:srgbClr val="000000"/>
                </a:solidFill>
              </a:rPr>
              <a:t>CONTENTS</a:t>
            </a:r>
            <a:endParaRPr lang="en-US" sz="2040" dirty="0"/>
          </a:p>
        </p:txBody>
      </p:sp>
      <p:sp>
        <p:nvSpPr>
          <p:cNvPr id="10" name="Text 6"/>
          <p:cNvSpPr/>
          <p:nvPr/>
        </p:nvSpPr>
        <p:spPr>
          <a:xfrm>
            <a:off x="7064048" y="4795925"/>
            <a:ext cx="4878288" cy="3073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回顾拓展：易错点、作业与下节预告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7070090" y="1539875"/>
            <a:ext cx="4665980" cy="73850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案例导入：数据库被拖库，日志里却什么都没有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7071033" y="3764092"/>
            <a:ext cx="4878288" cy="3073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动手实验：西普真机取证 + JSecProbe 判定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119928" y="2710035"/>
            <a:ext cx="4878288" cy="36893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000000"/>
                </a:solidFill>
              </a:rPr>
              <a:t>关键知识：7 个维度与核查命令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Part.01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40729" y="1484116"/>
            <a:ext cx="10728960" cy="16243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案例导入——</a:t>
            </a:r>
            <a:endParaRPr lang="en-US" sz="528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数据库被拖库，日志里却什么都没有</a:t>
            </a:r>
            <a:endParaRPr lang="en-US" sz="5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案例导入——“沉默的数据库”</a:t>
            </a:r>
            <a:endParaRPr lang="en-US" sz="2760" dirty="0"/>
          </a:p>
        </p:txBody>
      </p:sp>
      <p:pic>
        <p:nvPicPr>
          <p:cNvPr id="6" name="Image 3" descr="https://test.web.static.jianzeppt.com/ppt-temp-img3/07df5d3da6174cd85be171807a65ca4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143000"/>
            <a:ext cx="5730240" cy="10363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92480" y="1310640"/>
            <a:ext cx="5373624" cy="630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Q:</a:t>
            </a:r>
            <a:r>
              <a:rPr lang="en-US" sz="18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数据库被拖库了，但日志里什么都没有——问题出在哪？</a:t>
            </a:r>
            <a:endParaRPr lang="en-US" sz="18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453640"/>
            <a:ext cx="45720" cy="2438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77240" y="2362200"/>
            <a:ext cx="38496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某电商平台数据泄露事后调查：</a:t>
            </a:r>
            <a:endParaRPr lang="en-US" sz="2160" dirty="0"/>
          </a:p>
        </p:txBody>
      </p:sp>
      <p:sp>
        <p:nvSpPr>
          <p:cNvPr id="10" name="Text 3"/>
          <p:cNvSpPr/>
          <p:nvPr/>
        </p:nvSpPr>
        <p:spPr>
          <a:xfrm>
            <a:off x="853440" y="2834640"/>
            <a:ext cx="5495544" cy="1600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密码策略未配置，DBA弱口令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审计日志未启用，无法追溯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SA账户未禁用，允许远程登录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未做网络隔离 (0.0.0.0:3306)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数据明文存储，备份未加密</a:t>
            </a:r>
            <a:endParaRPr lang="en-US" sz="168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4892040"/>
            <a:ext cx="45720" cy="24384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77240" y="4800600"/>
            <a:ext cx="138074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先想一想（30 秒）</a:t>
            </a:r>
            <a:endParaRPr lang="en-US" sz="2160" dirty="0"/>
          </a:p>
        </p:txBody>
      </p:sp>
      <p:sp>
        <p:nvSpPr>
          <p:cNvPr id="13" name="Text 5"/>
          <p:cNvSpPr/>
          <p:nvPr/>
        </p:nvSpPr>
        <p:spPr>
          <a:xfrm>
            <a:off x="853440" y="5273040"/>
            <a:ext cx="5495544" cy="11614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1. 上面 5 个问题，分别对应等保里的哪个测评维度？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2. 为什么"日志里什么都没有"比数据泄露本身更严重？</a:t>
            </a:r>
            <a:endParaRPr lang="en-US" sz="1680" dirty="0"/>
          </a:p>
          <a:p>
            <a:pPr marL="213360" indent="-213360">
              <a:lnSpc>
                <a:spcPct val="150000"/>
              </a:lnSpc>
              <a:buSzPct val="100000"/>
              <a:buChar char="•"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3. 换你来查这个库，第一条命令你会敲什么？</a:t>
            </a:r>
            <a:endParaRPr lang="en-US" sz="168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4640" y="1143000"/>
            <a:ext cx="4937760" cy="4221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5" name="Image 7" descr="https://test.web.static.jianzeppt.com/ppt-temp-img3/b831c66f52f1ec91b7635deac6d5f3f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9880" y="1158240"/>
            <a:ext cx="4907280" cy="4191000"/>
          </a:xfrm>
          <a:prstGeom prst="rect">
            <a:avLst/>
          </a:prstGeom>
        </p:spPr>
      </p:pic>
      <p:pic>
        <p:nvPicPr>
          <p:cNvPr id="17" name="Image 9" descr="https://test.web.static.jianzeppt.com/ppt-temp-img3/a59a9aed1da10fcac90331f68bf3d79e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480" y="5730240"/>
            <a:ext cx="487680" cy="48768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6396990" y="5351780"/>
            <a:ext cx="5290820" cy="1059815"/>
            <a:chOff x="1126" y="8760"/>
            <a:chExt cx="17280" cy="1344"/>
          </a:xfrm>
        </p:grpSpPr>
        <p:pic>
          <p:nvPicPr>
            <p:cNvPr id="16" name="Image 8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6" y="8760"/>
              <a:ext cx="17280" cy="1344"/>
            </a:xfrm>
            <a:prstGeom prst="rect">
              <a:avLst/>
            </a:prstGeom>
            <a:effectLst>
              <a:outerShdw blurRad="1161288000" dist="774192000" dir="-1" algn="bl" rotWithShape="0">
                <a:srgbClr val="000000">
                  <a:alpha val="1000000000"/>
                </a:srgbClr>
              </a:outerShdw>
            </a:effectLst>
          </p:spPr>
        </p:pic>
        <p:sp>
          <p:nvSpPr>
            <p:cNvPr id="19" name="Text 6"/>
            <p:cNvSpPr/>
            <p:nvPr/>
          </p:nvSpPr>
          <p:spPr>
            <a:xfrm>
              <a:off x="2304" y="9120"/>
              <a:ext cx="15350" cy="70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数据库是信息系统的“心脏”，数据泄露往往从安全配置的“漏洞”开始。</a:t>
              </a:r>
              <a:endParaRPr lang="en-US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1371600"/>
            <a:ext cx="10981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学完这一节，你应该能做到：</a:t>
            </a:r>
            <a:endParaRPr lang="en-US" sz="1680" dirty="0"/>
          </a:p>
        </p:txBody>
      </p:sp>
      <p:pic>
        <p:nvPicPr>
          <p:cNvPr id="7" name="Image 3" descr="https://test.web.static.jianzeppt.com/ppt-temp-img3/3c5dc3f671cf4aae85eb9fc3c8710c6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46960"/>
            <a:ext cx="487680" cy="6096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4960" y="1920240"/>
            <a:ext cx="9997440" cy="89916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889760" y="2164080"/>
            <a:ext cx="9457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说清数据库在等保里的 7 个测评维度各自查什么</a:t>
            </a:r>
            <a:endParaRPr lang="en-US" sz="2160" dirty="0"/>
          </a:p>
        </p:txBody>
      </p:sp>
      <p:pic>
        <p:nvPicPr>
          <p:cNvPr id="10" name="Image 5" descr="https://test.web.static.jianzeppt.com/ppt-temp-img3/3c5dc3f671cf4aae85eb9fc3c8710c6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230880"/>
            <a:ext cx="487680" cy="6096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4960" y="2819400"/>
            <a:ext cx="9997440" cy="89916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889760" y="3063240"/>
            <a:ext cx="9457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在 MySQL 和 SQL Server 上用命令查出账号、口令、权限、审计的真实配置</a:t>
            </a:r>
            <a:endParaRPr lang="en-US" sz="2160" dirty="0"/>
          </a:p>
        </p:txBody>
      </p:sp>
      <p:pic>
        <p:nvPicPr>
          <p:cNvPr id="13" name="Image 7" descr="https://test.web.static.jianzeppt.com/ppt-temp-img3/3c5dc3f671cf4aae85eb9fc3c8710c6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114800"/>
            <a:ext cx="487680" cy="60960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4960" y="3703320"/>
            <a:ext cx="9997440" cy="89916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889760" y="3947160"/>
            <a:ext cx="9457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认出弱口令、空口令、SA 未禁用、无审计、0.0.0.0 监听这些典型隐患</a:t>
            </a:r>
            <a:endParaRPr lang="en-US" sz="2160" dirty="0"/>
          </a:p>
        </p:txBody>
      </p:sp>
      <p:pic>
        <p:nvPicPr>
          <p:cNvPr id="16" name="Image 9" descr="https://test.web.static.jianzeppt.com/ppt-temp-img3/3c5dc3f671cf4aae85eb9fc3c8710c6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013960"/>
            <a:ext cx="487680" cy="60960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4960" y="4587240"/>
            <a:ext cx="9997440" cy="89916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1889760" y="4831080"/>
            <a:ext cx="9457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 JSecProbe 录入实测值、做四档判定，导出规范的测评记录表</a:t>
            </a:r>
            <a:endParaRPr lang="en-US" sz="2160" dirty="0"/>
          </a:p>
        </p:txBody>
      </p:sp>
      <p:pic>
        <p:nvPicPr>
          <p:cNvPr id="19" name="Image 11" descr="https://test.web.static.jianzeppt.com/ppt-temp-img3/3c5dc3f671cf4aae85eb9fc3c8710c6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897880"/>
            <a:ext cx="487680" cy="60960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4960" y="5471160"/>
            <a:ext cx="9997440" cy="89916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1889760" y="5715000"/>
            <a:ext cx="94579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针对不合规项，写出可直接执行的 SQL 或配置修改建议</a:t>
            </a:r>
            <a:endParaRPr lang="en-US" sz="2160" dirty="0"/>
          </a:p>
        </p:txBody>
      </p:sp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2072640"/>
            <a:ext cx="609600" cy="60960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822960" y="211836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264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2956560"/>
            <a:ext cx="609600" cy="60960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822960" y="301752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2640" dirty="0"/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3840480"/>
            <a:ext cx="609600" cy="609600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822960" y="390144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2640" dirty="0"/>
          </a:p>
        </p:txBody>
      </p:sp>
      <p:pic>
        <p:nvPicPr>
          <p:cNvPr id="28" name="Image 1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4739640"/>
            <a:ext cx="609600" cy="609600"/>
          </a:xfrm>
          <a:prstGeom prst="rect">
            <a:avLst/>
          </a:prstGeom>
        </p:spPr>
      </p:pic>
      <p:sp>
        <p:nvSpPr>
          <p:cNvPr id="29" name="Text 10"/>
          <p:cNvSpPr/>
          <p:nvPr/>
        </p:nvSpPr>
        <p:spPr>
          <a:xfrm>
            <a:off x="822960" y="478536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2640" dirty="0"/>
          </a:p>
        </p:txBody>
      </p:sp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5623560"/>
            <a:ext cx="609600" cy="609600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822960" y="5669280"/>
            <a:ext cx="20726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26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Part.02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关键知识——7 个维度怎么查</a:t>
            </a:r>
            <a:endParaRPr lang="en-US" sz="5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数据库安全测评——在等保标准中的位置</a:t>
            </a:r>
            <a:endParaRPr lang="en-US" sz="2760" dirty="0"/>
          </a:p>
        </p:txBody>
      </p:sp>
      <p:pic>
        <p:nvPicPr>
          <p:cNvPr id="6" name="Image 3" descr="https://test.web.static.jianzeppt.com/ppt-temp-img3/0133859ee5cb805e2333fb22b4f88ea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6553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331720" y="1493520"/>
            <a:ext cx="7552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22239-2019 安全技术要求 → 安全计算环境 → 数据库层</a:t>
            </a:r>
            <a:endParaRPr lang="en-US" sz="2160" dirty="0"/>
          </a:p>
        </p:txBody>
      </p:sp>
      <p:sp>
        <p:nvSpPr>
          <p:cNvPr id="8" name="Text 2"/>
          <p:cNvSpPr/>
          <p:nvPr/>
        </p:nvSpPr>
        <p:spPr>
          <a:xfrm>
            <a:off x="609600" y="2270760"/>
            <a:ext cx="109819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374351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安全计算环境涉及数据库的测评指标（共7个维度）：</a:t>
            </a:r>
            <a:endParaRPr lang="en-US" sz="192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09600" y="2758440"/>
          <a:ext cx="10972800" cy="3657600"/>
        </p:xfrm>
        <a:graphic>
          <a:graphicData uri="http://schemas.openxmlformats.org/drawingml/2006/table">
            <a:tbl>
              <a:tblPr/>
              <a:tblGrid>
                <a:gridCol w="2362200"/>
                <a:gridCol w="5654040"/>
                <a:gridCol w="295656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维度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测评内容核心关注点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b="1" dirty="0">
                          <a:solidFill>
                            <a:srgbClr val="000000"/>
                          </a:solidFill>
                        </a:rPr>
                        <a:t>测评方法（检查项）</a:t>
                      </a:r>
                      <a:endParaRPr lang="en-US" sz="168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1.身份鉴别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密码策略、登录失败处理、远程管理安全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登录数据库查看配置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2.访问控制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账户权限、默认账户、最小权限原则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查看用户/权限配置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3.安全审计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审计功能是否启用、审计内容是否完整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查看审计配置与日志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4.入侵防范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最小安装、关闭高危端口/服务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查看服务/端口配置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5.数据完整性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传输/存储过程中的完整性保护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查看加密/校验配置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6.数据保密性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传输/存储过程中的加密保护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查看加密配置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7.数据备份恢复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备份策略、恢复机制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查看备份配置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31937"/>
            <a:ext cx="6158865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1.身份鉴别测评——数据库的第一道防线</a:t>
            </a:r>
            <a:endParaRPr lang="en-US" sz="2760" dirty="0"/>
          </a:p>
        </p:txBody>
      </p:sp>
      <p:grpSp>
        <p:nvGrpSpPr>
          <p:cNvPr id="56" name="组合 55"/>
          <p:cNvGrpSpPr/>
          <p:nvPr/>
        </p:nvGrpSpPr>
        <p:grpSpPr>
          <a:xfrm>
            <a:off x="7999095" y="325120"/>
            <a:ext cx="3491865" cy="746760"/>
            <a:chOff x="11448" y="960"/>
            <a:chExt cx="6816" cy="1176"/>
          </a:xfrm>
        </p:grpSpPr>
        <p:pic>
          <p:nvPicPr>
            <p:cNvPr id="6" name="Image 3" descr="https://test.web.static.jianzeppt.com/ppt-temp-img3/94eefa09c299938d181e1df0c4560fc4.png?x-oss-process=image/resize,w_1440,h_800,m_lfit/format,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48" y="960"/>
              <a:ext cx="6816" cy="1176"/>
            </a:xfrm>
            <a:prstGeom prst="rect">
              <a:avLst/>
            </a:prstGeom>
          </p:spPr>
        </p:pic>
        <p:sp>
          <p:nvSpPr>
            <p:cNvPr id="7" name="Text 1"/>
            <p:cNvSpPr/>
            <p:nvPr/>
          </p:nvSpPr>
          <p:spPr>
            <a:xfrm>
              <a:off x="11760" y="982"/>
              <a:ext cx="6110" cy="11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56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GB/T 22239 第三级 安全计算环境 → 身份鉴别</a:t>
              </a:r>
              <a:endParaRPr lang="en-US" sz="1560" dirty="0"/>
            </a:p>
          </p:txBody>
        </p:sp>
      </p:grp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143000"/>
            <a:ext cx="10972800" cy="278892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5" descr="https://test.web.static.jianzeppt.com/ppt-temp-img3/e1a3d0ad0d674daeda3dce3ec889cbb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158240"/>
            <a:ext cx="10942320" cy="4724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375150" y="1173480"/>
            <a:ext cx="27675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核心检查项（针对数据库）</a:t>
            </a:r>
            <a:endParaRPr lang="en-US" sz="1800" dirty="0"/>
          </a:p>
        </p:txBody>
      </p:sp>
      <p:pic>
        <p:nvPicPr>
          <p:cNvPr id="11" name="Image 6" descr="https://test.web.static.jianzeppt.com/ppt-temp-img3/9419b6a38b29d5f79a4fef61fad0f8d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1630680"/>
            <a:ext cx="10942320" cy="3810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853440" y="1661160"/>
            <a:ext cx="42062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序号</a:t>
            </a:r>
            <a:endParaRPr lang="en-US" sz="1560" dirty="0"/>
          </a:p>
        </p:txBody>
      </p:sp>
      <p:pic>
        <p:nvPicPr>
          <p:cNvPr id="13" name="Image 7" descr="https://test.web.static.jianzeppt.com/ppt-temp-img3/a9aebfc87fc3bfd208fed9df0af8b94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4986" y="1623060"/>
            <a:ext cx="15240" cy="37719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691640" y="1661160"/>
            <a:ext cx="121310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检查项与要求</a:t>
            </a:r>
            <a:endParaRPr lang="en-US" sz="1560" dirty="0"/>
          </a:p>
        </p:txBody>
      </p:sp>
      <p:pic>
        <p:nvPicPr>
          <p:cNvPr id="15" name="Image 8" descr="https://test.web.static.jianzeppt.com/ppt-temp-img3/a9aebfc87fc3bfd208fed9df0af8b94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072" y="1623060"/>
            <a:ext cx="15240" cy="37719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8473440" y="1691640"/>
            <a:ext cx="293522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常见不合规示例</a:t>
            </a:r>
            <a:endParaRPr lang="en-US" sz="1560" dirty="0"/>
          </a:p>
        </p:txBody>
      </p:sp>
      <p:pic>
        <p:nvPicPr>
          <p:cNvPr id="17" name="Image 9" descr="https://test.web.static.jianzeppt.com/ppt-temp-img3/a20ded39da130264ccf227c055dd83f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2000250"/>
            <a:ext cx="10942320" cy="1524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1005840" y="2042160"/>
            <a:ext cx="13106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560" dirty="0"/>
          </a:p>
        </p:txBody>
      </p:sp>
      <p:pic>
        <p:nvPicPr>
          <p:cNvPr id="19" name="Image 10" descr="https://test.web.static.jianzeppt.com/ppt-temp-img3/a9008a305364f09cfd8e4332fdc4892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4986" y="2000250"/>
            <a:ext cx="15240" cy="38481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691640" y="2057400"/>
            <a:ext cx="6425184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身份标识与鉴别：</a:t>
            </a:r>
            <a:r>
              <a:rPr lang="en-US" sz="15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用户登录需鉴别，标识应唯一</a:t>
            </a:r>
            <a:endParaRPr lang="en-US" sz="1560" dirty="0"/>
          </a:p>
        </p:txBody>
      </p:sp>
      <p:sp>
        <p:nvSpPr>
          <p:cNvPr id="21" name="Text 8"/>
          <p:cNvSpPr/>
          <p:nvPr/>
        </p:nvSpPr>
        <p:spPr>
          <a:xfrm>
            <a:off x="8473440" y="2057400"/>
            <a:ext cx="293522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E53E49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存在空口令账户</a:t>
            </a:r>
            <a:endParaRPr lang="en-US" sz="1560" dirty="0"/>
          </a:p>
        </p:txBody>
      </p:sp>
      <p:pic>
        <p:nvPicPr>
          <p:cNvPr id="22" name="Image 11" descr="https://test.web.static.jianzeppt.com/ppt-temp-img3/1c04ed19c1f33a09c1efb4f76ff8fe2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2385060"/>
            <a:ext cx="10942320" cy="15240"/>
          </a:xfrm>
          <a:prstGeom prst="rect">
            <a:avLst/>
          </a:prstGeom>
        </p:spPr>
      </p:pic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2392680"/>
            <a:ext cx="10942320" cy="39624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1005840" y="2423160"/>
            <a:ext cx="13106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560" dirty="0"/>
          </a:p>
        </p:txBody>
      </p:sp>
      <p:pic>
        <p:nvPicPr>
          <p:cNvPr id="25" name="Image 13" descr="https://test.web.static.jianzeppt.com/ppt-temp-img3/a9008a305364f09cfd8e4332fdc4892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4986" y="2385060"/>
            <a:ext cx="15240" cy="38481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1691640" y="2453640"/>
            <a:ext cx="6425184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密码复杂度：</a:t>
            </a:r>
            <a:r>
              <a:rPr lang="en-US" sz="15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配置策略(≥8位,含大小写+数字+特殊字符)</a:t>
            </a:r>
            <a:endParaRPr lang="en-US" sz="1560" dirty="0"/>
          </a:p>
        </p:txBody>
      </p:sp>
      <p:sp>
        <p:nvSpPr>
          <p:cNvPr id="27" name="Text 11"/>
          <p:cNvSpPr/>
          <p:nvPr/>
        </p:nvSpPr>
        <p:spPr>
          <a:xfrm>
            <a:off x="8473440" y="2453640"/>
            <a:ext cx="293522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E53E49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未装validate_password插件</a:t>
            </a:r>
            <a:endParaRPr lang="en-US" sz="1560" dirty="0"/>
          </a:p>
        </p:txBody>
      </p:sp>
      <p:pic>
        <p:nvPicPr>
          <p:cNvPr id="28" name="Image 14" descr="https://test.web.static.jianzeppt.com/ppt-temp-img3/1c04ed19c1f33a09c1efb4f76ff8fe2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2769870"/>
            <a:ext cx="10942320" cy="1524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1005840" y="2804160"/>
            <a:ext cx="13106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560" dirty="0"/>
          </a:p>
        </p:txBody>
      </p:sp>
      <p:pic>
        <p:nvPicPr>
          <p:cNvPr id="30" name="Image 15" descr="https://test.web.static.jianzeppt.com/ppt-temp-img3/a9008a305364f09cfd8e4332fdc4892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4986" y="2769870"/>
            <a:ext cx="15240" cy="384810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1691640" y="2834640"/>
            <a:ext cx="6425184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密码定期更换：</a:t>
            </a:r>
            <a:r>
              <a:rPr lang="en-US" sz="15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密码应定期更换（建议90天）</a:t>
            </a:r>
            <a:endParaRPr lang="en-US" sz="1560" dirty="0"/>
          </a:p>
        </p:txBody>
      </p:sp>
      <p:sp>
        <p:nvSpPr>
          <p:cNvPr id="32" name="Text 14"/>
          <p:cNvSpPr/>
          <p:nvPr/>
        </p:nvSpPr>
        <p:spPr>
          <a:xfrm>
            <a:off x="8473440" y="2834640"/>
            <a:ext cx="293522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E53E49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default_password_lifetime=0</a:t>
            </a:r>
            <a:endParaRPr lang="en-US" sz="1560" dirty="0"/>
          </a:p>
        </p:txBody>
      </p:sp>
      <p:pic>
        <p:nvPicPr>
          <p:cNvPr id="33" name="Image 16" descr="https://test.web.static.jianzeppt.com/ppt-temp-img3/1c04ed19c1f33a09c1efb4f76ff8fe2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3154680"/>
            <a:ext cx="10942320" cy="1524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3154680"/>
            <a:ext cx="10942320" cy="396240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1005840" y="3200400"/>
            <a:ext cx="13106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560" dirty="0"/>
          </a:p>
        </p:txBody>
      </p:sp>
      <p:pic>
        <p:nvPicPr>
          <p:cNvPr id="36" name="Image 18" descr="https://test.web.static.jianzeppt.com/ppt-temp-img3/a9008a305364f09cfd8e4332fdc48928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4986" y="3154680"/>
            <a:ext cx="15240" cy="384810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>
            <a:off x="1691640" y="3215640"/>
            <a:ext cx="6425184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登录失败处理：</a:t>
            </a:r>
            <a:r>
              <a:rPr lang="en-US" sz="15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启用失败处理（限制非法登录次数）</a:t>
            </a:r>
            <a:endParaRPr lang="en-US" sz="1560" dirty="0"/>
          </a:p>
        </p:txBody>
      </p:sp>
      <p:sp>
        <p:nvSpPr>
          <p:cNvPr id="38" name="Text 17"/>
          <p:cNvSpPr/>
          <p:nvPr/>
        </p:nvSpPr>
        <p:spPr>
          <a:xfrm>
            <a:off x="8473440" y="3215640"/>
            <a:ext cx="293522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E53E49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无账户锁定策略</a:t>
            </a:r>
            <a:endParaRPr lang="en-US" sz="1560" dirty="0"/>
          </a:p>
        </p:txBody>
      </p:sp>
      <p:pic>
        <p:nvPicPr>
          <p:cNvPr id="39" name="Image 19" descr="https://test.web.static.jianzeppt.com/ppt-temp-img3/1c04ed19c1f33a09c1efb4f76ff8fe24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" y="3539490"/>
            <a:ext cx="10942320" cy="15240"/>
          </a:xfrm>
          <a:prstGeom prst="rect">
            <a:avLst/>
          </a:prstGeom>
        </p:spPr>
      </p:pic>
      <p:sp>
        <p:nvSpPr>
          <p:cNvPr id="40" name="Text 18"/>
          <p:cNvSpPr/>
          <p:nvPr/>
        </p:nvSpPr>
        <p:spPr>
          <a:xfrm>
            <a:off x="1005840" y="3581400"/>
            <a:ext cx="131064" cy="2514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>
                    <a:alpha val="70000"/>
                  </a:srgbClr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560" dirty="0"/>
          </a:p>
        </p:txBody>
      </p:sp>
      <p:pic>
        <p:nvPicPr>
          <p:cNvPr id="41" name="Image 20" descr="https://test.web.static.jianzeppt.com/ppt-temp-img3/a9aebfc87fc3bfd208fed9df0af8b941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4986" y="3539490"/>
            <a:ext cx="15240" cy="377190"/>
          </a:xfrm>
          <a:prstGeom prst="rect">
            <a:avLst/>
          </a:prstGeom>
        </p:spPr>
      </p:pic>
      <p:sp>
        <p:nvSpPr>
          <p:cNvPr id="42" name="Text 19"/>
          <p:cNvSpPr/>
          <p:nvPr/>
        </p:nvSpPr>
        <p:spPr>
          <a:xfrm>
            <a:off x="1691640" y="3596640"/>
            <a:ext cx="6425184" cy="2590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远程管理安全：</a:t>
            </a:r>
            <a:r>
              <a:rPr lang="en-US" sz="15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远程管理应采取加密措施（SSL/TLS）</a:t>
            </a:r>
            <a:endParaRPr lang="en-US" sz="1560" dirty="0"/>
          </a:p>
        </p:txBody>
      </p:sp>
      <p:sp>
        <p:nvSpPr>
          <p:cNvPr id="43" name="Text 20"/>
          <p:cNvSpPr/>
          <p:nvPr/>
        </p:nvSpPr>
        <p:spPr>
          <a:xfrm>
            <a:off x="8473440" y="3596640"/>
            <a:ext cx="2935224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60" dirty="0">
                <a:solidFill>
                  <a:srgbClr val="E53E49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未启用SSL加密</a:t>
            </a:r>
            <a:endParaRPr lang="en-US" sz="1560" dirty="0"/>
          </a:p>
        </p:txBody>
      </p:sp>
      <p:pic>
        <p:nvPicPr>
          <p:cNvPr id="44" name="Image 21" descr="https://test.web.static.jianzeppt.com/ppt-temp-img3/489721ed70d2b74bb5b4a679fdc6c8e4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114800"/>
            <a:ext cx="5364480" cy="2286000"/>
          </a:xfrm>
          <a:prstGeom prst="rect">
            <a:avLst/>
          </a:prstGeom>
        </p:spPr>
      </p:pic>
      <p:pic>
        <p:nvPicPr>
          <p:cNvPr id="45" name="Image 22" descr="https://test.web.static.jianzeppt.com/ppt-temp-img3/053228d937f6f64f10d3f6bae6081540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" y="4130040"/>
            <a:ext cx="5334000" cy="441960"/>
          </a:xfrm>
          <a:prstGeom prst="rect">
            <a:avLst/>
          </a:prstGeom>
        </p:spPr>
      </p:pic>
      <p:pic>
        <p:nvPicPr>
          <p:cNvPr id="46" name="Image 23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7720" y="4236720"/>
            <a:ext cx="213360" cy="213360"/>
          </a:xfrm>
          <a:prstGeom prst="rect">
            <a:avLst/>
          </a:prstGeom>
        </p:spPr>
      </p:pic>
      <p:sp>
        <p:nvSpPr>
          <p:cNvPr id="47" name="Text 21"/>
          <p:cNvSpPr/>
          <p:nvPr/>
        </p:nvSpPr>
        <p:spPr>
          <a:xfrm>
            <a:off x="1143000" y="4191000"/>
            <a:ext cx="153314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MySQL 操作示例</a:t>
            </a:r>
            <a:endParaRPr lang="en-US" sz="1560" dirty="0"/>
          </a:p>
        </p:txBody>
      </p:sp>
      <p:pic>
        <p:nvPicPr>
          <p:cNvPr id="48" name="Image 24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4840" y="4564380"/>
            <a:ext cx="5334000" cy="15240"/>
          </a:xfrm>
          <a:prstGeom prst="rect">
            <a:avLst/>
          </a:prstGeom>
        </p:spPr>
      </p:pic>
      <p:sp>
        <p:nvSpPr>
          <p:cNvPr id="49" name="Text 22"/>
          <p:cNvSpPr/>
          <p:nvPr/>
        </p:nvSpPr>
        <p:spPr>
          <a:xfrm>
            <a:off x="746760" y="4648200"/>
            <a:ext cx="5099304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DE76"/>
                </a:solidFill>
              </a:rPr>
              <a:t>-- 检查/安装密码策略插件</a:t>
            </a:r>
            <a:r>
              <a:rPr lang="en-US" sz="1200" dirty="0">
                <a:solidFill>
                  <a:srgbClr val="93CCFD"/>
                </a:solidFill>
              </a:rPr>
              <a:t>SHOW PLUGINS LIKE</a:t>
            </a:r>
            <a:r>
              <a:rPr lang="en-US" sz="1200" dirty="0">
                <a:solidFill>
                  <a:srgbClr val="D1D6DB"/>
                </a:solidFill>
              </a:rPr>
              <a:t>'validate_password';</a:t>
            </a:r>
            <a:r>
              <a:rPr lang="en-US" sz="1200" dirty="0">
                <a:solidFill>
                  <a:srgbClr val="93CCFD"/>
                </a:solidFill>
              </a:rPr>
              <a:t>INSTALL COMPONENT </a:t>
            </a:r>
            <a:r>
              <a:rPr lang="en-US" sz="1200" dirty="0">
                <a:solidFill>
                  <a:srgbClr val="D1D6DB"/>
                </a:solidFill>
              </a:rPr>
              <a:t>'file://component_validate_password';</a:t>
            </a:r>
            <a:endParaRPr lang="en-US" sz="1200" dirty="0">
              <a:solidFill>
                <a:srgbClr val="D1D6DB"/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DE76"/>
                </a:solidFill>
              </a:rPr>
              <a:t>-- 策略级别: MEDIUM, 最小长度: 12 </a:t>
            </a:r>
            <a:r>
              <a:rPr lang="en-US" sz="1200" dirty="0">
                <a:solidFill>
                  <a:srgbClr val="93CCFD"/>
                </a:solidFill>
              </a:rPr>
              <a:t>SET GLOBAL</a:t>
            </a:r>
            <a:r>
              <a:rPr lang="en-US" sz="1200" dirty="0">
                <a:solidFill>
                  <a:srgbClr val="D1D6DB"/>
                </a:solidFill>
              </a:rPr>
              <a:t>validate_password.policy = MEDIUM;</a:t>
            </a:r>
            <a:r>
              <a:rPr lang="en-US" sz="1200" dirty="0">
                <a:solidFill>
                  <a:srgbClr val="93CCFD"/>
                </a:solidFill>
              </a:rPr>
              <a:t>SET GLOBAL</a:t>
            </a:r>
            <a:r>
              <a:rPr lang="en-US" sz="1200" dirty="0">
                <a:solidFill>
                  <a:srgbClr val="D1D6DB"/>
                </a:solidFill>
              </a:rPr>
              <a:t>validate_password.length = 12;</a:t>
            </a:r>
            <a:endParaRPr lang="en-US" sz="1200" dirty="0">
              <a:solidFill>
                <a:srgbClr val="D1D6DB"/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DE76"/>
                </a:solidFill>
              </a:rPr>
              <a:t>-- 设置密码90天过期</a:t>
            </a:r>
            <a:r>
              <a:rPr lang="en-US" sz="1200" dirty="0">
                <a:solidFill>
                  <a:srgbClr val="93CCFD"/>
                </a:solidFill>
              </a:rPr>
              <a:t>SET GLOBAL</a:t>
            </a:r>
            <a:r>
              <a:rPr lang="en-US" sz="1200" dirty="0">
                <a:solidFill>
                  <a:srgbClr val="D1D6DB"/>
                </a:solidFill>
              </a:rPr>
              <a:t>default_password_lifetime = 90;</a:t>
            </a:r>
            <a:endParaRPr lang="en-US" sz="1200" dirty="0">
              <a:solidFill>
                <a:srgbClr val="D1D6DB"/>
              </a:solidFill>
            </a:endParaRPr>
          </a:p>
        </p:txBody>
      </p:sp>
      <p:pic>
        <p:nvPicPr>
          <p:cNvPr id="50" name="Image 25" descr="https://test.web.static.jianzeppt.com/ppt-temp-img3/489721ed70d2b74bb5b4a679fdc6c8e4.png?x-oss-process=image/resize,w_1440,h_800,m_lfit/format,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4114800"/>
            <a:ext cx="5364480" cy="2286000"/>
          </a:xfrm>
          <a:prstGeom prst="rect">
            <a:avLst/>
          </a:prstGeom>
        </p:spPr>
      </p:pic>
      <p:pic>
        <p:nvPicPr>
          <p:cNvPr id="51" name="Image 26" descr="https://test.web.static.jianzeppt.com/ppt-temp-img3/b5affa53a392acc9b105d2f692d01a32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3160" y="4130040"/>
            <a:ext cx="5334000" cy="441960"/>
          </a:xfrm>
          <a:prstGeom prst="rect">
            <a:avLst/>
          </a:prstGeom>
        </p:spPr>
      </p:pic>
      <p:pic>
        <p:nvPicPr>
          <p:cNvPr id="52" name="Image 27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16040" y="4236720"/>
            <a:ext cx="213360" cy="213360"/>
          </a:xfrm>
          <a:prstGeom prst="rect">
            <a:avLst/>
          </a:prstGeom>
        </p:spPr>
      </p:pic>
      <p:sp>
        <p:nvSpPr>
          <p:cNvPr id="53" name="Text 23"/>
          <p:cNvSpPr/>
          <p:nvPr/>
        </p:nvSpPr>
        <p:spPr>
          <a:xfrm>
            <a:off x="6751320" y="4191000"/>
            <a:ext cx="1929384" cy="2895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SQL Server 操作示例</a:t>
            </a:r>
            <a:endParaRPr lang="en-US" sz="1560" dirty="0"/>
          </a:p>
        </p:txBody>
      </p:sp>
      <p:pic>
        <p:nvPicPr>
          <p:cNvPr id="54" name="Image 28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33160" y="4564380"/>
            <a:ext cx="5334000" cy="15240"/>
          </a:xfrm>
          <a:prstGeom prst="rect">
            <a:avLst/>
          </a:prstGeom>
        </p:spPr>
      </p:pic>
      <p:sp>
        <p:nvSpPr>
          <p:cNvPr id="55" name="Text 24"/>
          <p:cNvSpPr/>
          <p:nvPr/>
        </p:nvSpPr>
        <p:spPr>
          <a:xfrm>
            <a:off x="6355080" y="4724400"/>
            <a:ext cx="5099304" cy="1118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ADE76"/>
                </a:solidFill>
              </a:rPr>
              <a:t>-- 检查审核级别(应为'all')</a:t>
            </a:r>
            <a:r>
              <a:rPr lang="en-US" sz="1400" dirty="0">
                <a:solidFill>
                  <a:srgbClr val="93CCFD"/>
                </a:solidFill>
              </a:rPr>
              <a:t>EXEC</a:t>
            </a:r>
            <a:r>
              <a:rPr lang="en-US" sz="1400" dirty="0">
                <a:solidFill>
                  <a:srgbClr val="D1D6DB"/>
                </a:solidFill>
              </a:rPr>
              <a:t>xp_loginconfig 'audit level';</a:t>
            </a:r>
            <a:endParaRPr lang="en-US" sz="1400" dirty="0">
              <a:solidFill>
                <a:srgbClr val="D1D6DB"/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ADE76"/>
                </a:solidFill>
              </a:rPr>
              <a:t>-- 禁用SA账户</a:t>
            </a:r>
            <a:r>
              <a:rPr lang="en-US" sz="1400" dirty="0">
                <a:solidFill>
                  <a:srgbClr val="93CCFD"/>
                </a:solidFill>
              </a:rPr>
              <a:t>ALTER LOGIN</a:t>
            </a:r>
            <a:r>
              <a:rPr lang="en-US" sz="1400" dirty="0">
                <a:solidFill>
                  <a:srgbClr val="D1D6DB"/>
                </a:solidFill>
              </a:rPr>
              <a:t>sa</a:t>
            </a:r>
            <a:r>
              <a:rPr lang="en-US" sz="1400" dirty="0">
                <a:solidFill>
                  <a:srgbClr val="93CCFD"/>
                </a:solidFill>
              </a:rPr>
              <a:t>DISABLE</a:t>
            </a:r>
            <a:r>
              <a:rPr lang="en-US" sz="1400" dirty="0">
                <a:solidFill>
                  <a:srgbClr val="D1D6DB"/>
                </a:solidFill>
              </a:rPr>
              <a:t>;</a:t>
            </a:r>
            <a:endParaRPr lang="en-US" sz="1400" dirty="0">
              <a:solidFill>
                <a:srgbClr val="D1D6DB"/>
              </a:solidFill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ADE76"/>
                </a:solidFill>
              </a:rPr>
              <a:t>-- 检查空口令账户</a:t>
            </a:r>
            <a:r>
              <a:rPr lang="en-US" sz="1400" dirty="0">
                <a:solidFill>
                  <a:srgbClr val="93CCFD"/>
                </a:solidFill>
              </a:rPr>
              <a:t>SELECT</a:t>
            </a:r>
            <a:r>
              <a:rPr lang="en-US" sz="1400" dirty="0">
                <a:solidFill>
                  <a:srgbClr val="D1D6DB"/>
                </a:solidFill>
              </a:rPr>
              <a:t>name</a:t>
            </a:r>
            <a:r>
              <a:rPr lang="en-US" sz="1400" dirty="0">
                <a:solidFill>
                  <a:srgbClr val="93CCFD"/>
                </a:solidFill>
              </a:rPr>
              <a:t>FROM</a:t>
            </a:r>
            <a:r>
              <a:rPr lang="en-US" sz="1400" dirty="0">
                <a:solidFill>
                  <a:srgbClr val="D1D6DB"/>
                </a:solidFill>
              </a:rPr>
              <a:t>sys.sql_logins</a:t>
            </a:r>
            <a:r>
              <a:rPr lang="en-US" sz="1400" dirty="0">
                <a:solidFill>
                  <a:srgbClr val="93CCFD"/>
                </a:solidFill>
              </a:rPr>
              <a:t>WHERE</a:t>
            </a:r>
            <a:r>
              <a:rPr lang="en-US" sz="1400" dirty="0">
                <a:solidFill>
                  <a:srgbClr val="D1D6DB"/>
                </a:solidFill>
              </a:rPr>
              <a:t>password_hash</a:t>
            </a:r>
            <a:r>
              <a:rPr lang="en-US" sz="1400" dirty="0">
                <a:solidFill>
                  <a:srgbClr val="93CCFD"/>
                </a:solidFill>
              </a:rPr>
              <a:t>IS NULL</a:t>
            </a:r>
            <a:r>
              <a:rPr lang="en-US" sz="1400" dirty="0">
                <a:solidFill>
                  <a:srgbClr val="D1D6DB"/>
                </a:solidFill>
              </a:rPr>
              <a:t>;</a:t>
            </a:r>
            <a:endParaRPr lang="en-US" sz="1400" dirty="0">
              <a:solidFill>
                <a:srgbClr val="D1D6D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31937"/>
            <a:ext cx="5457825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1.身份鉴别测评——常见问题与整改</a:t>
            </a:r>
            <a:endParaRPr lang="en-US" sz="276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09600" y="1371600"/>
          <a:ext cx="10972800" cy="4876802"/>
        </p:xfrm>
        <a:graphic>
          <a:graphicData uri="http://schemas.openxmlformats.org/drawingml/2006/table">
            <a:tbl>
              <a:tblPr/>
              <a:tblGrid>
                <a:gridCol w="2334963"/>
                <a:gridCol w="4028956"/>
                <a:gridCol w="4608881"/>
              </a:tblGrid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常见不合规问题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风险描述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整改建议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未安装密码复杂度插件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用户可设置弱口令，易被暴力破解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安装validate_password插件，启用MEDIUM策略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密码永不过期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长期使用同一密码，泄露风险高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设置default_password_lifetime=90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SA账户未禁用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SA拥有最高权限，被攻击后系统完全沦陷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禁用SA账户，创建专用服务账户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存在空口令账户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任何人都可以无密码登录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检查并删除空口令账户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远程管理未加密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密码在网络中明文传输，可被嗅探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启用SSL/TLS加密连接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无登录失败限制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可无限次尝试密码，易被暴力破解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配置登录失败锁定策略</a:t>
                      </a:r>
                      <a:endParaRPr lang="en-US" sz="160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31937"/>
            <a:ext cx="5808345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2.访问控制测评——谁有权</a:t>
            </a:r>
            <a:r>
              <a:rPr lang="zh-CN" altLang="en-US" sz="2760" dirty="0">
                <a:solidFill>
                  <a:srgbClr val="1E1E1E"/>
                </a:solidFill>
              </a:rPr>
              <a:t>，</a:t>
            </a:r>
            <a:r>
              <a:rPr lang="en-US" sz="2760" dirty="0">
                <a:solidFill>
                  <a:srgbClr val="1E1E1E"/>
                </a:solidFill>
              </a:rPr>
              <a:t>访问什么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066800"/>
            <a:ext cx="121920" cy="3657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066800"/>
            <a:ext cx="500786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B5763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 第三级 安全计算环境 → 访问控制</a:t>
            </a:r>
            <a:endParaRPr lang="en-US" sz="180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609600" y="1645920"/>
            <a:ext cx="10972800" cy="2114449"/>
            <a:chOff x="960" y="2640"/>
            <a:chExt cx="17280" cy="3954"/>
          </a:xfrm>
        </p:grpSpPr>
        <p:pic>
          <p:nvPicPr>
            <p:cNvPr id="8" name="Image 4" descr="https://test.web.static.jianzeppt.com/ppt-temp-img3/5454dad0c6d7e3719b1c6c4f79005d39.png?x-oss-process=image/resize,w_1440,h_800,m_lfit/format,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0" y="2640"/>
              <a:ext cx="17280" cy="3936"/>
            </a:xfrm>
            <a:prstGeom prst="rect">
              <a:avLst/>
            </a:prstGeom>
          </p:spPr>
        </p:pic>
        <p:sp>
          <p:nvSpPr>
            <p:cNvPr id="9" name="Text 2"/>
            <p:cNvSpPr/>
            <p:nvPr/>
          </p:nvSpPr>
          <p:spPr>
            <a:xfrm>
              <a:off x="1368" y="3048"/>
              <a:ext cx="5226" cy="5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核心检查项（针对数据库）：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0" name="Image 5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92" y="3984"/>
              <a:ext cx="16440" cy="912"/>
            </a:xfrm>
            <a:prstGeom prst="rect">
              <a:avLst/>
            </a:prstGeom>
          </p:spPr>
        </p:pic>
        <p:pic>
          <p:nvPicPr>
            <p:cNvPr id="11" name="Image 6" descr="https://test.web.static.jianzeppt.com/ppt-temp-img3/a9b98ee719e5c7ee88188195b6fc74c9.png?x-oss-process=image/resize,w_1440,h_800,m_lfit/format,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92" y="3984"/>
              <a:ext cx="2304" cy="912"/>
            </a:xfrm>
            <a:prstGeom prst="rect">
              <a:avLst/>
            </a:prstGeom>
          </p:spPr>
        </p:pic>
        <p:sp>
          <p:nvSpPr>
            <p:cNvPr id="12" name="Text 3"/>
            <p:cNvSpPr/>
            <p:nvPr/>
          </p:nvSpPr>
          <p:spPr>
            <a:xfrm>
              <a:off x="1680" y="4224"/>
              <a:ext cx="966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检查项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13" name="Image 7" descr="https://test.web.static.jianzeppt.com/ppt-temp-img3/a633404b1b680c9a053e30ef7751d938.png?x-oss-process=image/resize,w_1440,h_800,m_lfit/format,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696" y="3984"/>
              <a:ext cx="8664" cy="912"/>
            </a:xfrm>
            <a:prstGeom prst="rect">
              <a:avLst/>
            </a:prstGeom>
          </p:spPr>
        </p:pic>
        <p:sp>
          <p:nvSpPr>
            <p:cNvPr id="14" name="Text 4"/>
            <p:cNvSpPr/>
            <p:nvPr/>
          </p:nvSpPr>
          <p:spPr>
            <a:xfrm>
              <a:off x="3984" y="4224"/>
              <a:ext cx="1288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合规要求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15" name="Image 8" descr="https://test.web.static.jianzeppt.com/ppt-temp-img3/695ab9c1a784ca6e4c7b78d527049096.png?x-oss-process=image/resize,w_1440,h_800,m_lfit/format,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336" y="3984"/>
              <a:ext cx="5496" cy="912"/>
            </a:xfrm>
            <a:prstGeom prst="rect">
              <a:avLst/>
            </a:prstGeom>
          </p:spPr>
        </p:pic>
        <p:sp>
          <p:nvSpPr>
            <p:cNvPr id="16" name="Text 5"/>
            <p:cNvSpPr/>
            <p:nvPr/>
          </p:nvSpPr>
          <p:spPr>
            <a:xfrm>
              <a:off x="12648" y="4224"/>
              <a:ext cx="1610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不合规示例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pic>
          <p:nvPicPr>
            <p:cNvPr id="18" name="Image 10" descr="https://test.web.static.jianzeppt.com/ppt-temp-img3/d1e2c479df8a1030c9cd4a95dae50cf9.png?x-oss-process=image/resize,w_1440,h_800,m_lfit/format,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92" y="4896"/>
              <a:ext cx="2304" cy="816"/>
            </a:xfrm>
            <a:prstGeom prst="rect">
              <a:avLst/>
            </a:prstGeom>
          </p:spPr>
        </p:pic>
        <p:sp>
          <p:nvSpPr>
            <p:cNvPr id="19" name="Text 6"/>
            <p:cNvSpPr/>
            <p:nvPr/>
          </p:nvSpPr>
          <p:spPr>
            <a:xfrm>
              <a:off x="1680" y="5088"/>
              <a:ext cx="1288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374351"/>
                  </a:solidFill>
                </a:rPr>
                <a:t>账户分配</a:t>
              </a:r>
              <a:endParaRPr lang="en-US" sz="1600" b="1" dirty="0">
                <a:solidFill>
                  <a:srgbClr val="374351"/>
                </a:solidFill>
              </a:endParaRPr>
            </a:p>
          </p:txBody>
        </p:sp>
        <p:pic>
          <p:nvPicPr>
            <p:cNvPr id="20" name="Image 11" descr="https://test.web.static.jianzeppt.com/ppt-temp-img3/ce65b3e107ed9048a540ea5cb7964388.png?x-oss-process=image/resize,w_1440,h_800,m_lfit/format,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96" y="4896"/>
              <a:ext cx="8664" cy="816"/>
            </a:xfrm>
            <a:prstGeom prst="rect">
              <a:avLst/>
            </a:prstGeom>
          </p:spPr>
        </p:pic>
        <p:sp>
          <p:nvSpPr>
            <p:cNvPr id="21" name="Text 7"/>
            <p:cNvSpPr/>
            <p:nvPr/>
          </p:nvSpPr>
          <p:spPr>
            <a:xfrm>
              <a:off x="3984" y="5088"/>
              <a:ext cx="4480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374351"/>
                  </a:solidFill>
                </a:rPr>
                <a:t>应对登录的用户分配账户和权限</a:t>
              </a:r>
              <a:endParaRPr lang="en-US" sz="1600" dirty="0">
                <a:solidFill>
                  <a:srgbClr val="374351"/>
                </a:solidFill>
              </a:endParaRPr>
            </a:p>
          </p:txBody>
        </p:sp>
        <p:pic>
          <p:nvPicPr>
            <p:cNvPr id="22" name="Image 12" descr="https://test.web.static.jianzeppt.com/ppt-temp-img3/00bd506aed29bdd44a5ff71a2aaf09a3.png?x-oss-process=image/resize,w_1440,h_800,m_lfit/format,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2336" y="4896"/>
              <a:ext cx="5496" cy="816"/>
            </a:xfrm>
            <a:prstGeom prst="rect">
              <a:avLst/>
            </a:prstGeom>
          </p:spPr>
        </p:pic>
        <p:sp>
          <p:nvSpPr>
            <p:cNvPr id="23" name="Text 8"/>
            <p:cNvSpPr/>
            <p:nvPr/>
          </p:nvSpPr>
          <p:spPr>
            <a:xfrm>
              <a:off x="12648" y="5088"/>
              <a:ext cx="3840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DC2632"/>
                  </a:solidFill>
                </a:rPr>
                <a:t>多个运维人员共用一个账户</a:t>
              </a:r>
              <a:endParaRPr lang="en-US" sz="1600" dirty="0">
                <a:solidFill>
                  <a:srgbClr val="DC2632"/>
                </a:solidFill>
              </a:endParaRPr>
            </a:p>
          </p:txBody>
        </p:sp>
        <p:pic>
          <p:nvPicPr>
            <p:cNvPr id="24" name="Image 13" descr="https://test.web.static.jianzeppt.com/ppt-temp-img3/af40786772d420d083b0b1c13f25c5c4.png?x-oss-process=image/resize,w_1440,h_800,m_lfit/format,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92" y="5712"/>
              <a:ext cx="16440" cy="816"/>
            </a:xfrm>
            <a:prstGeom prst="rect">
              <a:avLst/>
            </a:prstGeom>
          </p:spPr>
        </p:pic>
        <p:pic>
          <p:nvPicPr>
            <p:cNvPr id="25" name="Image 14" descr="https://test.web.static.jianzeppt.com/ppt-temp-img3/d1e2c479df8a1030c9cd4a95dae50cf9.png?x-oss-process=image/resize,w_1440,h_800,m_lfit/format,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92" y="5712"/>
              <a:ext cx="2304" cy="816"/>
            </a:xfrm>
            <a:prstGeom prst="rect">
              <a:avLst/>
            </a:prstGeom>
          </p:spPr>
        </p:pic>
        <p:sp>
          <p:nvSpPr>
            <p:cNvPr id="26" name="Text 9"/>
            <p:cNvSpPr/>
            <p:nvPr/>
          </p:nvSpPr>
          <p:spPr>
            <a:xfrm>
              <a:off x="1680" y="5904"/>
              <a:ext cx="1288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374351"/>
                  </a:solidFill>
                </a:rPr>
                <a:t>默认账户</a:t>
              </a:r>
              <a:endParaRPr lang="en-US" sz="1600" b="1" dirty="0">
                <a:solidFill>
                  <a:srgbClr val="374351"/>
                </a:solidFill>
              </a:endParaRPr>
            </a:p>
          </p:txBody>
        </p:sp>
        <p:pic>
          <p:nvPicPr>
            <p:cNvPr id="27" name="Image 15" descr="https://test.web.static.jianzeppt.com/ppt-temp-img3/ce65b3e107ed9048a540ea5cb7964388.png?x-oss-process=image/resize,w_1440,h_800,m_lfit/format,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96" y="5712"/>
              <a:ext cx="8664" cy="816"/>
            </a:xfrm>
            <a:prstGeom prst="rect">
              <a:avLst/>
            </a:prstGeom>
          </p:spPr>
        </p:pic>
        <p:sp>
          <p:nvSpPr>
            <p:cNvPr id="28" name="Text 10"/>
            <p:cNvSpPr/>
            <p:nvPr/>
          </p:nvSpPr>
          <p:spPr>
            <a:xfrm>
              <a:off x="3984" y="5904"/>
              <a:ext cx="5760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374351"/>
                  </a:solidFill>
                </a:rPr>
                <a:t>应重命名或删除默认账户，修改默认口令</a:t>
              </a:r>
              <a:endParaRPr lang="en-US" sz="1600" dirty="0">
                <a:solidFill>
                  <a:srgbClr val="374351"/>
                </a:solidFill>
              </a:endParaRPr>
            </a:p>
          </p:txBody>
        </p:sp>
        <p:pic>
          <p:nvPicPr>
            <p:cNvPr id="29" name="Image 16" descr="https://test.web.static.jianzeppt.com/ppt-temp-img3/00bd506aed29bdd44a5ff71a2aaf09a3.png?x-oss-process=image/resize,w_1440,h_800,m_lfit/format,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2336" y="5712"/>
              <a:ext cx="5496" cy="816"/>
            </a:xfrm>
            <a:prstGeom prst="rect">
              <a:avLst/>
            </a:prstGeom>
          </p:spPr>
        </p:pic>
        <p:sp>
          <p:nvSpPr>
            <p:cNvPr id="30" name="Text 11"/>
            <p:cNvSpPr/>
            <p:nvPr/>
          </p:nvSpPr>
          <p:spPr>
            <a:xfrm>
              <a:off x="12648" y="5904"/>
              <a:ext cx="1929" cy="6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DC2632"/>
                  </a:solidFill>
                </a:rPr>
                <a:t>SA账户未禁用</a:t>
              </a:r>
              <a:endParaRPr lang="en-US" sz="1600" dirty="0">
                <a:solidFill>
                  <a:srgbClr val="DC2632"/>
                </a:solidFill>
              </a:endParaRPr>
            </a:p>
          </p:txBody>
        </p:sp>
      </p:grpSp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390" y="3966845"/>
            <a:ext cx="5393690" cy="2383155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765175" y="4149725"/>
            <a:ext cx="5034915" cy="4070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MySQL操作示例</a:t>
            </a:r>
            <a:endParaRPr lang="en-US" sz="1920" dirty="0"/>
          </a:p>
        </p:txBody>
      </p:sp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5175" y="4637405"/>
            <a:ext cx="5026025" cy="1430020"/>
          </a:xfrm>
          <a:prstGeom prst="rect">
            <a:avLst/>
          </a:prstGeom>
        </p:spPr>
      </p:pic>
      <p:sp>
        <p:nvSpPr>
          <p:cNvPr id="34" name="Text 13"/>
          <p:cNvSpPr/>
          <p:nvPr/>
        </p:nvSpPr>
        <p:spPr>
          <a:xfrm>
            <a:off x="888365" y="475932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检查root账户是否只允许本地登录</a:t>
            </a:r>
            <a:endParaRPr lang="en-US" sz="1400" dirty="0">
              <a:solidFill>
                <a:srgbClr val="A0D8FF"/>
              </a:solidFill>
            </a:endParaRPr>
          </a:p>
        </p:txBody>
      </p:sp>
      <p:sp>
        <p:nvSpPr>
          <p:cNvPr id="35" name="Text 14"/>
          <p:cNvSpPr/>
          <p:nvPr/>
        </p:nvSpPr>
        <p:spPr>
          <a:xfrm>
            <a:off x="888365" y="4972685"/>
            <a:ext cx="4789805" cy="2813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SELECT user, host FROM mysql.user WHERE user='root';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6" name="Text 15"/>
          <p:cNvSpPr/>
          <p:nvPr/>
        </p:nvSpPr>
        <p:spPr>
          <a:xfrm>
            <a:off x="888365" y="537400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删除匿名用户</a:t>
            </a:r>
            <a:endParaRPr lang="en-US" sz="1400" dirty="0">
              <a:solidFill>
                <a:srgbClr val="A0D8FF"/>
              </a:solidFill>
            </a:endParaRPr>
          </a:p>
        </p:txBody>
      </p:sp>
      <p:sp>
        <p:nvSpPr>
          <p:cNvPr id="37" name="Text 16"/>
          <p:cNvSpPr/>
          <p:nvPr/>
        </p:nvSpPr>
        <p:spPr>
          <a:xfrm>
            <a:off x="888365" y="557720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DELETE FROM mysql.user WHERE User='';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8" name="Text 17"/>
          <p:cNvSpPr/>
          <p:nvPr/>
        </p:nvSpPr>
        <p:spPr>
          <a:xfrm>
            <a:off x="888365" y="5810885"/>
            <a:ext cx="4789805" cy="1631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创建专用应用账户（最小权限）</a:t>
            </a:r>
            <a:endParaRPr lang="en-US" sz="1400" dirty="0">
              <a:solidFill>
                <a:srgbClr val="A0D8FF"/>
              </a:solidFill>
            </a:endParaRPr>
          </a:p>
        </p:txBody>
      </p:sp>
      <p:pic>
        <p:nvPicPr>
          <p:cNvPr id="39" name="Image 19" descr="https://test.web.static.jianzeppt.com/ppt-temp-img3/2c31f4b31db0e45232ae9a77dc363d62.png?x-oss-process=image/resize,w_1440,h_800,m_lfit/format,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54600" y="3966845"/>
            <a:ext cx="919480" cy="441960"/>
          </a:xfrm>
          <a:prstGeom prst="rect">
            <a:avLst/>
          </a:prstGeom>
        </p:spPr>
      </p:pic>
      <p:sp>
        <p:nvSpPr>
          <p:cNvPr id="40" name="Text 18"/>
          <p:cNvSpPr/>
          <p:nvPr/>
        </p:nvSpPr>
        <p:spPr>
          <a:xfrm>
            <a:off x="5239385" y="4058285"/>
            <a:ext cx="60642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FFFFFF"/>
                </a:solidFill>
              </a:rPr>
              <a:t>MySQL</a:t>
            </a:r>
            <a:endParaRPr lang="en-US" sz="1440" dirty="0"/>
          </a:p>
        </p:txBody>
      </p:sp>
      <p:pic>
        <p:nvPicPr>
          <p:cNvPr id="41" name="Image 2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88710" y="3966845"/>
            <a:ext cx="5393690" cy="2383155"/>
          </a:xfrm>
          <a:prstGeom prst="rect">
            <a:avLst/>
          </a:prstGeom>
        </p:spPr>
      </p:pic>
      <p:sp>
        <p:nvSpPr>
          <p:cNvPr id="42" name="Text 19"/>
          <p:cNvSpPr/>
          <p:nvPr/>
        </p:nvSpPr>
        <p:spPr>
          <a:xfrm>
            <a:off x="6373495" y="4149725"/>
            <a:ext cx="5034915" cy="40703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SQL Server操作示例</a:t>
            </a:r>
            <a:endParaRPr lang="en-US" sz="1920" dirty="0"/>
          </a:p>
        </p:txBody>
      </p:sp>
      <p:pic>
        <p:nvPicPr>
          <p:cNvPr id="43" name="Image 21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73495" y="4637405"/>
            <a:ext cx="5026025" cy="1430020"/>
          </a:xfrm>
          <a:prstGeom prst="rect">
            <a:avLst/>
          </a:prstGeom>
        </p:spPr>
      </p:pic>
      <p:sp>
        <p:nvSpPr>
          <p:cNvPr id="44" name="Text 20"/>
          <p:cNvSpPr/>
          <p:nvPr/>
        </p:nvSpPr>
        <p:spPr>
          <a:xfrm>
            <a:off x="6496685" y="475932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检查SA账户状态</a:t>
            </a:r>
            <a:endParaRPr lang="en-US" sz="1400" dirty="0">
              <a:solidFill>
                <a:srgbClr val="A0D8FF"/>
              </a:solidFill>
            </a:endParaRPr>
          </a:p>
        </p:txBody>
      </p:sp>
      <p:sp>
        <p:nvSpPr>
          <p:cNvPr id="45" name="Text 21"/>
          <p:cNvSpPr/>
          <p:nvPr/>
        </p:nvSpPr>
        <p:spPr>
          <a:xfrm>
            <a:off x="6496685" y="4972685"/>
            <a:ext cx="4789805" cy="2813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SELECT name, is_disabled FROM sys.server_principals;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6" name="Text 22"/>
          <p:cNvSpPr/>
          <p:nvPr/>
        </p:nvSpPr>
        <p:spPr>
          <a:xfrm>
            <a:off x="6496685" y="538416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禁用SA账户</a:t>
            </a:r>
            <a:endParaRPr lang="en-US" sz="1400" dirty="0">
              <a:solidFill>
                <a:srgbClr val="A0D8FF"/>
              </a:solidFill>
            </a:endParaRPr>
          </a:p>
        </p:txBody>
      </p:sp>
      <p:sp>
        <p:nvSpPr>
          <p:cNvPr id="47" name="Text 23"/>
          <p:cNvSpPr/>
          <p:nvPr/>
        </p:nvSpPr>
        <p:spPr>
          <a:xfrm>
            <a:off x="6496685" y="5597525"/>
            <a:ext cx="478980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ALTER LOGIN sa DISABLE;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8" name="Text 24"/>
          <p:cNvSpPr/>
          <p:nvPr/>
        </p:nvSpPr>
        <p:spPr>
          <a:xfrm>
            <a:off x="6496685" y="5810885"/>
            <a:ext cx="4789805" cy="1631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A0D8FF"/>
                </a:solidFill>
              </a:rPr>
              <a:t>-- 创建角色并分配最小权限</a:t>
            </a:r>
            <a:endParaRPr lang="en-US" sz="1400" dirty="0">
              <a:solidFill>
                <a:srgbClr val="A0D8FF"/>
              </a:solidFill>
            </a:endParaRPr>
          </a:p>
        </p:txBody>
      </p:sp>
      <p:pic>
        <p:nvPicPr>
          <p:cNvPr id="49" name="Image 22" descr="https://test.web.static.jianzeppt.com/ppt-temp-img3/01d4366873630ad5a1fe9cd24c784def.png?x-oss-process=image/resize,w_1440,h_800,m_lfit/format,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11740" y="3966845"/>
            <a:ext cx="1470660" cy="441960"/>
          </a:xfrm>
          <a:prstGeom prst="rect">
            <a:avLst/>
          </a:prstGeom>
        </p:spPr>
      </p:pic>
      <p:sp>
        <p:nvSpPr>
          <p:cNvPr id="50" name="Text 25"/>
          <p:cNvSpPr/>
          <p:nvPr/>
        </p:nvSpPr>
        <p:spPr>
          <a:xfrm>
            <a:off x="10296525" y="4058285"/>
            <a:ext cx="112712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FFFFFF"/>
                </a:solidFill>
              </a:rPr>
              <a:t>SQL Server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入侵防范测评——减少攻击面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609600" y="990600"/>
            <a:ext cx="500786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666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GB/T 22239 第三级 安全计算环境 → 入侵防范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609600" y="1371600"/>
            <a:ext cx="306324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核心检查项（针对数据库）</a:t>
            </a:r>
            <a:endParaRPr lang="en-US" sz="20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950720"/>
            <a:ext cx="10972800" cy="18897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4" descr="https://test.web.static.jianzeppt.com/ppt-temp-img3/bb6599db12f415d849f5f3249ad875af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965960"/>
            <a:ext cx="10942320" cy="56388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07720" y="2087880"/>
            <a:ext cx="649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检查项</a:t>
            </a:r>
            <a:endParaRPr lang="en-US" sz="1680" dirty="0"/>
          </a:p>
        </p:txBody>
      </p:sp>
      <p:pic>
        <p:nvPicPr>
          <p:cNvPr id="11" name="Image 5" descr="https://test.web.static.jianzeppt.com/ppt-temp-img3/10720313edaab46a2d9d2e1ccd76577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912" y="1965960"/>
            <a:ext cx="15240" cy="56388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3002280" y="208788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要求说明</a:t>
            </a:r>
            <a:endParaRPr lang="en-US" sz="1680" dirty="0"/>
          </a:p>
        </p:txBody>
      </p:sp>
      <p:pic>
        <p:nvPicPr>
          <p:cNvPr id="13" name="Image 6" descr="https://test.web.static.jianzeppt.com/ppt-temp-img3/10720313edaab46a2d9d2e1ccd765776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956" y="1965960"/>
            <a:ext cx="15240" cy="56388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7924800" y="2087880"/>
            <a:ext cx="3483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不合规示例</a:t>
            </a:r>
            <a:endParaRPr lang="en-US" sz="1680" dirty="0"/>
          </a:p>
        </p:txBody>
      </p:sp>
      <p:sp>
        <p:nvSpPr>
          <p:cNvPr id="15" name="Text 6"/>
          <p:cNvSpPr/>
          <p:nvPr/>
        </p:nvSpPr>
        <p:spPr>
          <a:xfrm>
            <a:off x="807720" y="2548255"/>
            <a:ext cx="105156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1. 最小安装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6" name="Image 7" descr="https://test.web.static.jianzeppt.com/ppt-temp-img3/9a48d5273ca56770f362896b1756b218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912" y="2529840"/>
            <a:ext cx="15240" cy="51054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3002280" y="2548255"/>
            <a:ext cx="26416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仅安装需要的组件和应用程序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8" name="Image 8" descr="https://test.web.static.jianzeppt.com/ppt-temp-img3/9a48d5273ca56770f362896b1756b218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1956" y="2529840"/>
            <a:ext cx="15240" cy="51054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7924800" y="2548255"/>
            <a:ext cx="1828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E5353D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安装了不必要的组件</a:t>
            </a:r>
            <a:endParaRPr lang="en-US" sz="1600" dirty="0">
              <a:solidFill>
                <a:srgbClr val="E5353D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0" name="Image 9" descr="https://test.web.static.jianzeppt.com/ppt-temp-img3/a20ded39da130264ccf227c055dd83f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2967355"/>
            <a:ext cx="10942320" cy="15240"/>
          </a:xfrm>
          <a:prstGeom prst="rect">
            <a:avLst/>
          </a:prstGeom>
        </p:spPr>
      </p:pic>
      <p:pic>
        <p:nvPicPr>
          <p:cNvPr id="21" name="Image 10" descr="https://test.web.static.jianzeppt.com/ppt-temp-img3/8e6471231dadefaec9c178d3dde3da1a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2974975"/>
            <a:ext cx="10942320" cy="51816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807720" y="3066415"/>
            <a:ext cx="14605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2. 关闭高危服务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23" name="Image 11" descr="https://test.web.static.jianzeppt.com/ppt-temp-img3/f3d964fff083ccabc966568fb3de5340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912" y="2967355"/>
            <a:ext cx="15240" cy="51816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3002280" y="3066415"/>
            <a:ext cx="4267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应关闭不需要的系统服务、默认共享和高危端口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5" name="Image 12" descr="https://test.web.static.jianzeppt.com/ppt-temp-img3/f3d964fff083ccabc966568fb3de5340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1956" y="2967355"/>
            <a:ext cx="15240" cy="51816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7924800" y="3066415"/>
            <a:ext cx="29464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E5353D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数据库监听在默认端口1433/3306</a:t>
            </a:r>
            <a:endParaRPr lang="en-US" sz="1600" dirty="0">
              <a:solidFill>
                <a:srgbClr val="E5353D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7" name="Image 13" descr="https://test.web.static.jianzeppt.com/ppt-temp-img3/a20ded39da130264ccf227c055dd83f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" y="3485515"/>
            <a:ext cx="10942320" cy="1524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807720" y="3500755"/>
            <a:ext cx="14605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3. 管理终端限制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29" name="Image 14" descr="https://test.web.static.jianzeppt.com/ppt-temp-img3/597ebf8bb15395a44e0aba6febca9203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7912" y="3485515"/>
            <a:ext cx="15240" cy="83820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3002280" y="3435033"/>
            <a:ext cx="4489704" cy="36893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应通过设定终端接入方式或网络地址范围进行限制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1" name="Image 15" descr="https://test.web.static.jianzeppt.com/ppt-temp-img3/597ebf8bb15395a44e0aba6febca9203.png?x-oss-process=image/resize,w_1440,h_800,m_lfit/format,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1956" y="3485515"/>
            <a:ext cx="15240" cy="83820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7924800" y="3331210"/>
            <a:ext cx="3483864" cy="655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E5353D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允许任意IP访问数据库</a:t>
            </a:r>
            <a:endParaRPr lang="en-US" sz="1600" dirty="0">
              <a:solidFill>
                <a:srgbClr val="E5353D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3" name="Image 16" descr="https://test.web.static.jianzeppt.com/ppt-temp-img3/8373e5945c76b4805febeff8430cd7d6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084320"/>
            <a:ext cx="5364480" cy="246888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7720" y="4434840"/>
            <a:ext cx="121920" cy="121920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1051560" y="4282440"/>
            <a:ext cx="205130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MySQL操作示例</a:t>
            </a:r>
            <a:endParaRPr lang="en-US" sz="216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7720" y="4815840"/>
            <a:ext cx="4968240" cy="1539240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>
            <a:off x="990600" y="4998720"/>
            <a:ext cx="4021455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60" b="1" dirty="0">
                <a:solidFill>
                  <a:srgbClr val="6F9955"/>
                </a:solidFill>
              </a:rPr>
              <a:t>-- 检查bind-address配置（不应监听所有网卡）</a:t>
            </a:r>
            <a:endParaRPr lang="en-US" sz="1560" b="1" dirty="0"/>
          </a:p>
        </p:txBody>
      </p:sp>
      <p:sp>
        <p:nvSpPr>
          <p:cNvPr id="38" name="Text 17"/>
          <p:cNvSpPr/>
          <p:nvPr/>
        </p:nvSpPr>
        <p:spPr>
          <a:xfrm>
            <a:off x="990600" y="5218430"/>
            <a:ext cx="4611624" cy="3228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560" dirty="0">
                <a:solidFill>
                  <a:srgbClr val="56A5D6"/>
                </a:solidFill>
              </a:rPr>
              <a:t>SHOW</a:t>
            </a:r>
            <a:r>
              <a:rPr lang="en-US" sz="1560" dirty="0">
                <a:solidFill>
                  <a:srgbClr val="9CE3FE"/>
                </a:solidFill>
              </a:rPr>
              <a:t>VARIABLES</a:t>
            </a:r>
            <a:r>
              <a:rPr lang="en-US" sz="1560" dirty="0">
                <a:solidFill>
                  <a:srgbClr val="C586C4"/>
                </a:solidFill>
              </a:rPr>
              <a:t>LIKE</a:t>
            </a:r>
            <a:r>
              <a:rPr lang="en-US" sz="1560" dirty="0">
                <a:solidFill>
                  <a:srgbClr val="CE8B78"/>
                </a:solidFill>
              </a:rPr>
              <a:t>'bind_address'</a:t>
            </a:r>
            <a:r>
              <a:rPr lang="en-US" sz="1560" dirty="0">
                <a:solidFill>
                  <a:srgbClr val="D4D4D4"/>
                </a:solidFill>
              </a:rPr>
              <a:t>;</a:t>
            </a:r>
            <a:endParaRPr lang="en-US" sz="1560" dirty="0"/>
          </a:p>
        </p:txBody>
      </p:sp>
      <p:sp>
        <p:nvSpPr>
          <p:cNvPr id="39" name="Text 18"/>
          <p:cNvSpPr/>
          <p:nvPr/>
        </p:nvSpPr>
        <p:spPr>
          <a:xfrm>
            <a:off x="990600" y="5638800"/>
            <a:ext cx="4611624" cy="3228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60" dirty="0">
                <a:solidFill>
                  <a:srgbClr val="6F9955"/>
                </a:solidFill>
              </a:rPr>
              <a:t>-- 生产环境应设置为具体内网IP，而非0.0.0.0</a:t>
            </a:r>
            <a:endParaRPr lang="en-US" sz="1560" dirty="0"/>
          </a:p>
        </p:txBody>
      </p:sp>
      <p:sp>
        <p:nvSpPr>
          <p:cNvPr id="40" name="Text 19"/>
          <p:cNvSpPr/>
          <p:nvPr/>
        </p:nvSpPr>
        <p:spPr>
          <a:xfrm>
            <a:off x="990600" y="6080760"/>
            <a:ext cx="240538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F9955"/>
                </a:solidFill>
              </a:rPr>
              <a:t>-- 检查是否修改了默认端口</a:t>
            </a:r>
            <a:endParaRPr lang="en-US" sz="1600" dirty="0">
              <a:solidFill>
                <a:srgbClr val="6F9955"/>
              </a:solidFill>
            </a:endParaRPr>
          </a:p>
        </p:txBody>
      </p:sp>
      <p:pic>
        <p:nvPicPr>
          <p:cNvPr id="41" name="Image 19" descr="https://test.web.static.jianzeppt.com/ppt-temp-img3/8373e5945c76b4805febeff8430cd7d6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920" y="4084320"/>
            <a:ext cx="5364480" cy="2468880"/>
          </a:xfrm>
          <a:prstGeom prst="rect">
            <a:avLst/>
          </a:prstGeom>
        </p:spPr>
      </p:pic>
      <p:pic>
        <p:nvPicPr>
          <p:cNvPr id="42" name="Image 2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6040" y="4434840"/>
            <a:ext cx="121920" cy="121920"/>
          </a:xfrm>
          <a:prstGeom prst="rect">
            <a:avLst/>
          </a:prstGeom>
        </p:spPr>
      </p:pic>
      <p:sp>
        <p:nvSpPr>
          <p:cNvPr id="43" name="Text 20"/>
          <p:cNvSpPr/>
          <p:nvPr/>
        </p:nvSpPr>
        <p:spPr>
          <a:xfrm>
            <a:off x="6659880" y="4282440"/>
            <a:ext cx="259994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SQL Server操作示例</a:t>
            </a:r>
            <a:endParaRPr lang="en-US" sz="2160" dirty="0"/>
          </a:p>
        </p:txBody>
      </p:sp>
      <p:pic>
        <p:nvPicPr>
          <p:cNvPr id="44" name="Image 2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16040" y="4815840"/>
            <a:ext cx="4968240" cy="1539240"/>
          </a:xfrm>
          <a:prstGeom prst="rect">
            <a:avLst/>
          </a:prstGeom>
        </p:spPr>
      </p:pic>
      <p:sp>
        <p:nvSpPr>
          <p:cNvPr id="45" name="Text 21"/>
          <p:cNvSpPr/>
          <p:nvPr/>
        </p:nvSpPr>
        <p:spPr>
          <a:xfrm>
            <a:off x="6598920" y="4998720"/>
            <a:ext cx="4611624" cy="3228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60" dirty="0">
                <a:solidFill>
                  <a:srgbClr val="6F9955"/>
                </a:solidFill>
              </a:rPr>
              <a:t>-- 检查是否修改了默认端口（1433）</a:t>
            </a:r>
            <a:endParaRPr lang="en-US" sz="1560" dirty="0"/>
          </a:p>
        </p:txBody>
      </p:sp>
      <p:sp>
        <p:nvSpPr>
          <p:cNvPr id="46" name="Text 22"/>
          <p:cNvSpPr/>
          <p:nvPr/>
        </p:nvSpPr>
        <p:spPr>
          <a:xfrm>
            <a:off x="6598920" y="5318760"/>
            <a:ext cx="4611624" cy="3228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60" dirty="0">
                <a:solidFill>
                  <a:srgbClr val="6F9955"/>
                </a:solidFill>
              </a:rPr>
              <a:t>-- 需通过SQL Server配置管理器查看</a:t>
            </a:r>
            <a:endParaRPr lang="en-US" sz="1560" dirty="0"/>
          </a:p>
        </p:txBody>
      </p:sp>
      <p:sp>
        <p:nvSpPr>
          <p:cNvPr id="47" name="Text 23"/>
          <p:cNvSpPr/>
          <p:nvPr/>
        </p:nvSpPr>
        <p:spPr>
          <a:xfrm>
            <a:off x="6598920" y="5760720"/>
            <a:ext cx="4611624" cy="3228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60" dirty="0">
                <a:solidFill>
                  <a:srgbClr val="6F9955"/>
                </a:solidFill>
              </a:rPr>
              <a:t>-- 禁用高危扩展存储过程</a:t>
            </a:r>
            <a:endParaRPr lang="en-US" sz="1560" dirty="0"/>
          </a:p>
        </p:txBody>
      </p:sp>
      <p:sp>
        <p:nvSpPr>
          <p:cNvPr id="48" name="Text 24"/>
          <p:cNvSpPr/>
          <p:nvPr/>
        </p:nvSpPr>
        <p:spPr>
          <a:xfrm>
            <a:off x="6598920" y="5936615"/>
            <a:ext cx="4611624" cy="4006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600" dirty="0">
                <a:solidFill>
                  <a:srgbClr val="56A5D6"/>
                </a:solidFill>
              </a:rPr>
              <a:t>EXEC</a:t>
            </a:r>
            <a:r>
              <a:rPr lang="en-US" sz="1600" dirty="0">
                <a:solidFill>
                  <a:srgbClr val="DCD9AA"/>
                </a:solidFill>
              </a:rPr>
              <a:t>sp_configure</a:t>
            </a:r>
            <a:r>
              <a:rPr lang="en-US" sz="1600" dirty="0">
                <a:solidFill>
                  <a:srgbClr val="CE8B78"/>
                </a:solidFill>
              </a:rPr>
              <a:t>'show advanced options'</a:t>
            </a:r>
            <a:r>
              <a:rPr lang="en-US" sz="1600" dirty="0">
                <a:solidFill>
                  <a:srgbClr val="D4D4D4"/>
                </a:solidFill>
              </a:rPr>
              <a:t>,</a:t>
            </a:r>
            <a:r>
              <a:rPr lang="en-US" sz="1600" dirty="0">
                <a:solidFill>
                  <a:srgbClr val="B8CEA8"/>
                </a:solidFill>
              </a:rPr>
              <a:t>1</a:t>
            </a:r>
            <a:r>
              <a:rPr lang="en-US" sz="1600" dirty="0">
                <a:solidFill>
                  <a:srgbClr val="D4D4D4"/>
                </a:solidFill>
              </a:rPr>
              <a:t>;</a:t>
            </a:r>
            <a:endParaRPr lang="en-US" sz="1600" dirty="0">
              <a:solidFill>
                <a:srgbClr val="D4D4D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安全审计测评——出了事有据可查</a:t>
            </a:r>
            <a:endParaRPr lang="en-US" sz="2760" dirty="0"/>
          </a:p>
        </p:txBody>
      </p:sp>
      <p:pic>
        <p:nvPicPr>
          <p:cNvPr id="6" name="Image 3" descr="https://test.web.static.jianzeppt.com/ppt-temp-img3/07b50f6f6e4308ab1c8aaef5d9cf5f2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524000"/>
            <a:ext cx="10972800" cy="225298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07720" y="1524000"/>
            <a:ext cx="1058570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</a:rPr>
              <a:t>核心检查项（针对数据库）</a:t>
            </a:r>
            <a:endParaRPr lang="en-US" sz="216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3901440"/>
            <a:ext cx="5364480" cy="2499360"/>
          </a:xfrm>
          <a:prstGeom prst="rect">
            <a:avLst/>
          </a:prstGeom>
        </p:spPr>
      </p:pic>
      <p:pic>
        <p:nvPicPr>
          <p:cNvPr id="9" name="Image 5" descr="https://test.web.static.jianzeppt.com/ppt-temp-img3/4cdc09b359e8e5d2545727f222e40624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" y="3916680"/>
            <a:ext cx="5334000" cy="36576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807720" y="3862070"/>
            <a:ext cx="19293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MySQL操作示例</a:t>
            </a:r>
            <a:endParaRPr lang="en-US" sz="1920" dirty="0"/>
          </a:p>
        </p:txBody>
      </p:sp>
      <p:sp>
        <p:nvSpPr>
          <p:cNvPr id="11" name="Text 3"/>
          <p:cNvSpPr/>
          <p:nvPr/>
        </p:nvSpPr>
        <p:spPr>
          <a:xfrm>
            <a:off x="807720" y="4450080"/>
            <a:ext cx="4977130" cy="18313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6A341"/>
                </a:solidFill>
              </a:rPr>
              <a:t>-- 检查审计插件是否安装（MySQL Enterprise版）</a:t>
            </a:r>
            <a:r>
              <a:rPr lang="en-US" sz="1000" dirty="0">
                <a:solidFill>
                  <a:srgbClr val="374351"/>
                </a:solidFill>
              </a:rPr>
              <a:t>SHOW PLUGINS LIKE 'audit_log';</a:t>
            </a:r>
            <a:endParaRPr lang="en-US" sz="1000" dirty="0">
              <a:solidFill>
                <a:srgbClr val="374351"/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6A341"/>
                </a:solidFill>
              </a:rPr>
              <a:t>-- 社区版可使用MariaDB audit_log插件</a:t>
            </a:r>
            <a:r>
              <a:rPr lang="en-US" sz="1000" dirty="0">
                <a:solidFill>
                  <a:srgbClr val="374351"/>
                </a:solidFill>
              </a:rPr>
              <a:t>INSTALL PLUGIN audit_log SONAME 'audit_log.so';</a:t>
            </a:r>
            <a:endParaRPr lang="en-US" sz="1000" dirty="0">
              <a:solidFill>
                <a:srgbClr val="374351"/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6A341"/>
                </a:solidFill>
              </a:rPr>
              <a:t>-- 启用全量审计</a:t>
            </a:r>
            <a:r>
              <a:rPr lang="en-US" sz="1000" dirty="0">
                <a:solidFill>
                  <a:srgbClr val="374351"/>
                </a:solidFill>
              </a:rPr>
              <a:t>SET GLOBAL audit_log_policy = 'ALL';</a:t>
            </a:r>
            <a:endParaRPr lang="en-US" sz="1000" dirty="0">
              <a:solidFill>
                <a:srgbClr val="374351"/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6A341"/>
                </a:solidFill>
              </a:rPr>
              <a:t>-- 性能敏感场景：仅审计关键操作</a:t>
            </a:r>
            <a:r>
              <a:rPr lang="en-US" sz="1000" dirty="0">
                <a:solidFill>
                  <a:srgbClr val="374351"/>
                </a:solidFill>
              </a:rPr>
              <a:t>SET GLOBAL audit_log_policy = 'LOGINS,QUERIES_DDL,QUERIES_DCL';</a:t>
            </a:r>
            <a:endParaRPr lang="en-US" sz="1000" dirty="0">
              <a:solidFill>
                <a:srgbClr val="374351"/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16A341"/>
                </a:solidFill>
              </a:rPr>
              <a:t>-- 检查通用日志状态（排障时临时开启）</a:t>
            </a:r>
            <a:r>
              <a:rPr lang="en-US" sz="1000" dirty="0">
                <a:solidFill>
                  <a:srgbClr val="374351"/>
                </a:solidFill>
              </a:rPr>
              <a:t>SHOW VARIABLES LIKE 'general_log%';</a:t>
            </a:r>
            <a:endParaRPr lang="en-US" sz="1000" dirty="0">
              <a:solidFill>
                <a:srgbClr val="374351"/>
              </a:solidFill>
            </a:endParaRPr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7920" y="3901440"/>
            <a:ext cx="5364480" cy="2499360"/>
          </a:xfrm>
          <a:prstGeom prst="rect">
            <a:avLst/>
          </a:prstGeom>
        </p:spPr>
      </p:pic>
      <p:pic>
        <p:nvPicPr>
          <p:cNvPr id="13" name="Image 7" descr="https://test.web.static.jianzeppt.com/ppt-temp-img3/b6880a88c9145d8c4549171fda803af6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3160" y="3916680"/>
            <a:ext cx="5334000" cy="3048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6416040" y="3818255"/>
            <a:ext cx="2523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chemeClr val="bg1"/>
                </a:solidFill>
              </a:rPr>
              <a:t>SQL Server操作示例</a:t>
            </a:r>
            <a:endParaRPr lang="en-US" sz="1920" b="1" dirty="0">
              <a:solidFill>
                <a:schemeClr val="bg1"/>
              </a:solidFill>
            </a:endParaRPr>
          </a:p>
        </p:txBody>
      </p:sp>
      <p:sp>
        <p:nvSpPr>
          <p:cNvPr id="15" name="Text 5"/>
          <p:cNvSpPr/>
          <p:nvPr/>
        </p:nvSpPr>
        <p:spPr>
          <a:xfrm>
            <a:off x="6416040" y="4272915"/>
            <a:ext cx="4977130" cy="18954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6A341"/>
                </a:solidFill>
              </a:rPr>
              <a:t>-- 启用服务器审计</a:t>
            </a:r>
            <a:r>
              <a:rPr lang="en-US" sz="1200" dirty="0">
                <a:solidFill>
                  <a:srgbClr val="374351"/>
                </a:solidFill>
              </a:rPr>
              <a:t>USE master;CREATE SERVER AUDIT ServerAuditTO FILE (FILEPATH = 'C:\Audits\')WITH (QUEUE_DELAY = 1000, ON_FAILURE = CONTINUE);ALTER SERVER AUDIT ServerAudit WITH (STATE = ON);</a:t>
            </a:r>
            <a:endParaRPr lang="en-US" sz="1200" dirty="0">
              <a:solidFill>
                <a:srgbClr val="374351"/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6A341"/>
                </a:solidFill>
              </a:rPr>
              <a:t>-- 创建审计规范（记录登录事件）</a:t>
            </a:r>
            <a:r>
              <a:rPr lang="en-US" sz="1200" dirty="0">
                <a:solidFill>
                  <a:srgbClr val="374351"/>
                </a:solidFill>
              </a:rPr>
              <a:t>CREATE SERVER AUDIT SPECIFICATION LoginAuditSpecFOR SERVER AUDIT ServerAuditADD (FAILED_LOGIN_GROUP),ADD (LOGIN_CHANGE_PASSWORD_GROUP);ALTER SERVER AUDIT SPECIFICATION LoginAuditSpec WITH (STATE = ON);</a:t>
            </a:r>
            <a:endParaRPr lang="en-US" sz="1200" dirty="0">
              <a:solidFill>
                <a:srgbClr val="374351"/>
              </a:solidFill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1504950" y="2000885"/>
          <a:ext cx="9552305" cy="1732915"/>
        </p:xfrm>
        <a:graphic>
          <a:graphicData uri="http://schemas.openxmlformats.org/drawingml/2006/table">
            <a:tbl>
              <a:tblPr/>
              <a:tblGrid>
                <a:gridCol w="1461135"/>
                <a:gridCol w="5375910"/>
                <a:gridCol w="2715260"/>
              </a:tblGrid>
              <a:tr h="3460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检查项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要求说明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不合规示例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审计功能启用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应启用安全审计功能，审计覆盖到每个用户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审计功能未启用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审计内容完整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审计记录应包括日期、时间、用户、事件类型、结果等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审计记录不完整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审计记录保护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应对审计记录进行保护，定期备份，防止删除/修改/覆盖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审计日志可被普通用户删除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审计进程保护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应对审计进程进行保护，防止未经授权的中断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审计进程可被随意停止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6085" marR="56085" marT="56085" marB="5608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6"/>
          <p:cNvSpPr/>
          <p:nvPr/>
        </p:nvSpPr>
        <p:spPr>
          <a:xfrm>
            <a:off x="609600" y="990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143866">
                    <a:alpha val="80000"/>
                  </a:srgbClr>
                </a:solidFill>
              </a:rPr>
              <a:t>GB/T 22239 第三级 安全计算环境 → 安全审计</a:t>
            </a:r>
            <a:endParaRPr lang="en-US" sz="21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数据完整性与保密性测评</a:t>
            </a:r>
            <a:endParaRPr lang="en-US" sz="2760" dirty="0"/>
          </a:p>
        </p:txBody>
      </p:sp>
      <p:pic>
        <p:nvPicPr>
          <p:cNvPr id="6" name="Image 3" descr="https://test.web.static.jianzeppt.com/ppt-temp-img3/a620ba124a87d808cbb8a1c759fbe0ae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6187440" cy="5029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92480" y="1463040"/>
            <a:ext cx="58308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B73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GB/T 22239 第三级 安全计算环境 → 数据完整性、数据保密性</a:t>
            </a:r>
            <a:endParaRPr lang="en-US" sz="168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2118360"/>
            <a:ext cx="10972800" cy="11430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" y="2362200"/>
            <a:ext cx="60960" cy="18288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036320" y="2240280"/>
            <a:ext cx="138074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核心检查项</a:t>
            </a:r>
            <a:endParaRPr lang="en-US" sz="2160" dirty="0"/>
          </a:p>
        </p:txBody>
      </p:sp>
      <p:pic>
        <p:nvPicPr>
          <p:cNvPr id="11" name="Image 6" descr="https://test.web.static.jianzeppt.com/ppt-temp-img3/97b0969c686d55bced1f7b5e60541b2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440" y="2727960"/>
            <a:ext cx="10485120" cy="3048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023100" y="1477010"/>
          <a:ext cx="4452620" cy="1568450"/>
        </p:xfrm>
        <a:graphic>
          <a:graphicData uri="http://schemas.openxmlformats.org/drawingml/2006/table">
            <a:tbl>
              <a:tblPr/>
              <a:tblGrid>
                <a:gridCol w="1371600"/>
                <a:gridCol w="669290"/>
                <a:gridCol w="2411730"/>
              </a:tblGrid>
              <a:tr h="313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检查项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阶段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合规标准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数据完整性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传输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启用SSL/TLS加密传输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数据完整性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存储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启用TDE或数据校验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数据保密性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传输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启用SSL/TLS加密传输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数据保密性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存储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启用TDE或列级加密</a:t>
                      </a:r>
                      <a:endParaRPr lang="en-US" sz="1200" dirty="0">
                        <a:solidFill>
                          <a:srgbClr val="000000"/>
                        </a:solidFill>
                      </a:endParaRPr>
                    </a:p>
                  </a:txBody>
                  <a:tcPr marL="12779" marR="12779" marT="12779" marB="1277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3505200"/>
            <a:ext cx="5334000" cy="27432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853440" y="3992880"/>
            <a:ext cx="4855464" cy="1769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FFFF00"/>
                </a:solidFill>
              </a:rPr>
              <a:t>-- 检查SSL是否启用 </a:t>
            </a:r>
            <a:r>
              <a:rPr lang="en-US" sz="1440" dirty="0">
                <a:solidFill>
                  <a:srgbClr val="E5E7EB"/>
                </a:solidFill>
              </a:rPr>
              <a:t>SHOW VARIABLES LIKE 'have_ssl';</a:t>
            </a:r>
            <a:endParaRPr lang="en-US" sz="1440" dirty="0">
              <a:solidFill>
                <a:srgbClr val="E5E7EB"/>
              </a:solidFill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FFFF00"/>
                </a:solidFill>
              </a:rPr>
              <a:t> -- 检查是否强制使用</a:t>
            </a:r>
            <a:r>
              <a:rPr lang="en-US" sz="1440" dirty="0">
                <a:solidFill>
                  <a:srgbClr val="E5E7EB"/>
                </a:solidFill>
              </a:rPr>
              <a:t>SSL SHOW VARIABLES LIKE 'require_secure_transport'; </a:t>
            </a:r>
            <a:endParaRPr lang="en-US" sz="1440" dirty="0">
              <a:solidFill>
                <a:srgbClr val="E5E7EB"/>
              </a:solidFill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FFFF00"/>
                </a:solidFill>
              </a:rPr>
              <a:t>-- 检查未要求SSL的用户</a:t>
            </a:r>
            <a:r>
              <a:rPr lang="en-US" sz="1440" dirty="0">
                <a:solidFill>
                  <a:srgbClr val="E5E7EB"/>
                </a:solidFill>
              </a:rPr>
              <a:t> SELECT user, host, ssl_type FROM mysql.user WHERE ssl_type = '';</a:t>
            </a:r>
            <a:endParaRPr lang="en-US" sz="1440" dirty="0"/>
          </a:p>
        </p:txBody>
      </p:sp>
      <p:pic>
        <p:nvPicPr>
          <p:cNvPr id="15" name="Image 8" descr="https://test.web.static.jianzeppt.com/ppt-temp-img3/e02f4eadb46dc315ccc9c8e39af6f7bb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1480" y="3505200"/>
            <a:ext cx="1722120" cy="39624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4404360" y="3566160"/>
            <a:ext cx="1380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MySQL 操作示例</a:t>
            </a:r>
            <a:endParaRPr lang="en-US" sz="144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0" y="3505200"/>
            <a:ext cx="5334000" cy="274320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6492240" y="3992880"/>
            <a:ext cx="4855464" cy="14154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FFFF00"/>
                </a:solidFill>
              </a:rPr>
              <a:t>-- 检查TDE是否启用</a:t>
            </a:r>
            <a:r>
              <a:rPr lang="en-US" sz="1440" dirty="0">
                <a:solidFill>
                  <a:srgbClr val="E5E7EB"/>
                </a:solidFill>
              </a:rPr>
              <a:t> SELECT name, is_encrypted FROM sys.databases; </a:t>
            </a:r>
            <a:endParaRPr lang="en-US" sz="1440" dirty="0">
              <a:solidFill>
                <a:srgbClr val="E5E7EB"/>
              </a:solidFill>
            </a:endParaRPr>
          </a:p>
          <a:p>
            <a:pPr marL="0" indent="0" algn="l">
              <a:lnSpc>
                <a:spcPct val="160000"/>
              </a:lnSpc>
              <a:buNone/>
            </a:pPr>
            <a:r>
              <a:rPr lang="en-US" sz="1440" dirty="0">
                <a:solidFill>
                  <a:srgbClr val="FFFF00"/>
                </a:solidFill>
              </a:rPr>
              <a:t>-- 检查连接加密状态</a:t>
            </a:r>
            <a:r>
              <a:rPr lang="en-US" sz="1440" dirty="0">
                <a:solidFill>
                  <a:srgbClr val="E5E7EB"/>
                </a:solidFill>
              </a:rPr>
              <a:t> SELECT session_id, encrypt_option FROM sys.dm_exec_connections;</a:t>
            </a:r>
            <a:endParaRPr lang="en-US" sz="1440" dirty="0"/>
          </a:p>
        </p:txBody>
      </p:sp>
      <p:pic>
        <p:nvPicPr>
          <p:cNvPr id="19" name="Image 10" descr="https://test.web.static.jianzeppt.com/ppt-temp-img3/c5b7dc07750123dcb298ced16da9683d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9760" y="3505200"/>
            <a:ext cx="2072640" cy="39624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9692640" y="3566160"/>
            <a:ext cx="17312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SQL Server 操作示例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数据备份恢复测评</a:t>
            </a:r>
            <a:endParaRPr lang="en-US" sz="2760" dirty="0"/>
          </a:p>
        </p:txBody>
      </p:sp>
      <p:sp>
        <p:nvSpPr>
          <p:cNvPr id="6" name="Text 1"/>
          <p:cNvSpPr/>
          <p:nvPr/>
        </p:nvSpPr>
        <p:spPr>
          <a:xfrm>
            <a:off x="3904742" y="1371600"/>
            <a:ext cx="439166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380"/>
                </a:solidFill>
              </a:rPr>
              <a:t>GB/T 22239 第三级 安全计算环境 → 数据备份恢复</a:t>
            </a:r>
            <a:endParaRPr lang="en-US" sz="1600" dirty="0">
              <a:solidFill>
                <a:srgbClr val="6B7380"/>
              </a:solidFill>
            </a:endParaRPr>
          </a:p>
        </p:txBody>
      </p:sp>
      <p:sp>
        <p:nvSpPr>
          <p:cNvPr id="7" name="Text 2"/>
          <p:cNvSpPr/>
          <p:nvPr/>
        </p:nvSpPr>
        <p:spPr>
          <a:xfrm>
            <a:off x="609600" y="185928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143866"/>
                </a:solidFill>
              </a:rPr>
              <a:t>核心检查项</a:t>
            </a:r>
            <a:endParaRPr lang="en-US" sz="2160" dirty="0"/>
          </a:p>
        </p:txBody>
      </p:sp>
      <p:pic>
        <p:nvPicPr>
          <p:cNvPr id="8" name="Image 3" descr="https://test.web.static.jianzeppt.com/ppt-temp-img3/2249e0b87d08593d1806010a77296a3b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392680"/>
            <a:ext cx="10972800" cy="2499360"/>
          </a:xfrm>
          <a:prstGeom prst="rect">
            <a:avLst/>
          </a:prstGeom>
        </p:spPr>
      </p:pic>
      <p:pic>
        <p:nvPicPr>
          <p:cNvPr id="9" name="Image 4" descr="https://test.web.static.jianzeppt.com/ppt-temp-img3/d2e2f5f0283aa55b27e94d77438af335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" y="2407920"/>
            <a:ext cx="10942320" cy="6096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46760" y="2529840"/>
            <a:ext cx="1959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检查项</a:t>
            </a:r>
            <a:endParaRPr lang="en-US" sz="1920" dirty="0"/>
          </a:p>
        </p:txBody>
      </p:sp>
      <p:sp>
        <p:nvSpPr>
          <p:cNvPr id="11" name="Text 4"/>
          <p:cNvSpPr/>
          <p:nvPr/>
        </p:nvSpPr>
        <p:spPr>
          <a:xfrm>
            <a:off x="2941320" y="2529840"/>
            <a:ext cx="4154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要求</a:t>
            </a:r>
            <a:endParaRPr lang="en-US" sz="1920" dirty="0"/>
          </a:p>
        </p:txBody>
      </p:sp>
      <p:sp>
        <p:nvSpPr>
          <p:cNvPr id="12" name="Text 5"/>
          <p:cNvSpPr/>
          <p:nvPr/>
        </p:nvSpPr>
        <p:spPr>
          <a:xfrm>
            <a:off x="7315200" y="2529840"/>
            <a:ext cx="4154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</a:rPr>
              <a:t>不合规示例</a:t>
            </a:r>
            <a:endParaRPr lang="en-US" sz="192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840" y="3017520"/>
            <a:ext cx="10942320" cy="6248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34440" y="316992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143866"/>
                </a:solidFill>
              </a:rPr>
              <a:t>本地备份</a:t>
            </a:r>
            <a:endParaRPr lang="en-US" sz="192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3629101"/>
            <a:ext cx="2188312" cy="152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2941320" y="3185160"/>
            <a:ext cx="406298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351"/>
                </a:solidFill>
              </a:rPr>
              <a:t>应提供重要数据的本地数据备份与恢复功能</a:t>
            </a:r>
            <a:endParaRPr lang="en-US" sz="168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13152" y="3629101"/>
            <a:ext cx="4376776" cy="1524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315200" y="3185160"/>
            <a:ext cx="272186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6B7380"/>
                </a:solidFill>
              </a:rPr>
              <a:t>不合规: 未配置任何备份策略</a:t>
            </a:r>
            <a:endParaRPr lang="en-US" sz="168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89927" y="3629101"/>
            <a:ext cx="4377233" cy="15240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840" y="3627120"/>
            <a:ext cx="10942320" cy="62484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234440" y="3794760"/>
            <a:ext cx="9997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143866"/>
                </a:solidFill>
              </a:rPr>
              <a:t>异地备份</a:t>
            </a:r>
            <a:endParaRPr lang="en-US" sz="192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4253941"/>
            <a:ext cx="2188312" cy="1524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2941320" y="3810000"/>
            <a:ext cx="34229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351"/>
                </a:solidFill>
              </a:rPr>
              <a:t>应提供异地实时备份功能（第三级）</a:t>
            </a:r>
            <a:endParaRPr lang="en-US" sz="168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13152" y="4253941"/>
            <a:ext cx="4376776" cy="1524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7315200" y="3810000"/>
            <a:ext cx="2508504" cy="2971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6B7380"/>
                </a:solidFill>
              </a:rPr>
              <a:t>不合规: 备份仅保存在本地</a:t>
            </a:r>
            <a:endParaRPr lang="en-US" sz="168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89927" y="4253941"/>
            <a:ext cx="4377233" cy="15240"/>
          </a:xfrm>
          <a:prstGeom prst="rect">
            <a:avLst/>
          </a:prstGeom>
        </p:spPr>
      </p:pic>
      <p:pic>
        <p:nvPicPr>
          <p:cNvPr id="27" name="Image 13" descr="https://test.web.static.jianzeppt.com/ppt-temp-img3/e4c0064c3b31fdc417961d9170b0e237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" y="4251960"/>
            <a:ext cx="10942320" cy="62484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746760" y="4373880"/>
            <a:ext cx="195986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dirty="0">
                <a:solidFill>
                  <a:srgbClr val="143866"/>
                </a:solidFill>
              </a:rPr>
              <a:t>高可用</a:t>
            </a:r>
            <a:endParaRPr lang="en-US" sz="1920" dirty="0"/>
          </a:p>
        </p:txBody>
      </p:sp>
      <p:sp>
        <p:nvSpPr>
          <p:cNvPr id="29" name="Text 13"/>
          <p:cNvSpPr/>
          <p:nvPr/>
        </p:nvSpPr>
        <p:spPr>
          <a:xfrm>
            <a:off x="2941320" y="4373880"/>
            <a:ext cx="4154424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351"/>
                </a:solidFill>
              </a:rPr>
              <a:t>应提供重要数据处理系统的热冗余</a:t>
            </a:r>
            <a:endParaRPr lang="en-US" sz="1680" dirty="0"/>
          </a:p>
        </p:txBody>
      </p:sp>
      <p:sp>
        <p:nvSpPr>
          <p:cNvPr id="30" name="Text 14"/>
          <p:cNvSpPr/>
          <p:nvPr/>
        </p:nvSpPr>
        <p:spPr>
          <a:xfrm>
            <a:off x="7315200" y="4373880"/>
            <a:ext cx="4154424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6B7380"/>
                </a:solidFill>
              </a:rPr>
              <a:t>不合规: 数据库单机运行，无高可用</a:t>
            </a:r>
            <a:endParaRPr lang="en-US" sz="1680" dirty="0"/>
          </a:p>
        </p:txBody>
      </p:sp>
      <p:grpSp>
        <p:nvGrpSpPr>
          <p:cNvPr id="48" name="组合 47"/>
          <p:cNvGrpSpPr/>
          <p:nvPr/>
        </p:nvGrpSpPr>
        <p:grpSpPr>
          <a:xfrm>
            <a:off x="624205" y="4883785"/>
            <a:ext cx="10972800" cy="1493520"/>
            <a:chOff x="960" y="7512"/>
            <a:chExt cx="17280" cy="2352"/>
          </a:xfrm>
        </p:grpSpPr>
        <p:pic>
          <p:nvPicPr>
            <p:cNvPr id="32" name="Image 14" descr="preencoded.png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60" y="7558"/>
              <a:ext cx="8448" cy="984"/>
            </a:xfrm>
            <a:prstGeom prst="rect">
              <a:avLst/>
            </a:prstGeom>
          </p:spPr>
        </p:pic>
        <p:pic>
          <p:nvPicPr>
            <p:cNvPr id="33" name="Image 15" descr="preencoded.png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72" y="7632"/>
              <a:ext cx="768" cy="768"/>
            </a:xfrm>
            <a:prstGeom prst="rect">
              <a:avLst/>
            </a:prstGeom>
          </p:spPr>
        </p:pic>
        <p:sp>
          <p:nvSpPr>
            <p:cNvPr id="34" name="Text 16"/>
            <p:cNvSpPr/>
            <p:nvPr/>
          </p:nvSpPr>
          <p:spPr>
            <a:xfrm>
              <a:off x="1536" y="7728"/>
              <a:ext cx="278" cy="57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FFFFFF"/>
                  </a:solidFill>
                </a:rPr>
                <a:t>?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5" name="Text 17"/>
            <p:cNvSpPr/>
            <p:nvPr/>
          </p:nvSpPr>
          <p:spPr>
            <a:xfrm>
              <a:off x="2328" y="7728"/>
              <a:ext cx="5244" cy="38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1F2B37"/>
                  </a:solidFill>
                </a:rPr>
                <a:t>是否有定期备份计划（每日/每周）？</a:t>
              </a:r>
              <a:endParaRPr lang="en-US" sz="1600" dirty="0">
                <a:solidFill>
                  <a:srgbClr val="1F2B37"/>
                </a:solidFill>
              </a:endParaRPr>
            </a:p>
          </p:txBody>
        </p:sp>
        <p:pic>
          <p:nvPicPr>
            <p:cNvPr id="36" name="Image 16" descr="preencoded.png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9792" y="7512"/>
              <a:ext cx="8448" cy="984"/>
            </a:xfrm>
            <a:prstGeom prst="rect">
              <a:avLst/>
            </a:prstGeom>
          </p:spPr>
        </p:pic>
        <p:pic>
          <p:nvPicPr>
            <p:cNvPr id="37" name="Image 17" descr="preencoded.png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104" y="7632"/>
              <a:ext cx="768" cy="768"/>
            </a:xfrm>
            <a:prstGeom prst="rect">
              <a:avLst/>
            </a:prstGeom>
          </p:spPr>
        </p:pic>
        <p:sp>
          <p:nvSpPr>
            <p:cNvPr id="38" name="Text 18"/>
            <p:cNvSpPr/>
            <p:nvPr/>
          </p:nvSpPr>
          <p:spPr>
            <a:xfrm>
              <a:off x="10368" y="7728"/>
              <a:ext cx="278" cy="57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FFFFFF"/>
                  </a:solidFill>
                </a:rPr>
                <a:t>?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9" name="Text 19"/>
            <p:cNvSpPr/>
            <p:nvPr/>
          </p:nvSpPr>
          <p:spPr>
            <a:xfrm>
              <a:off x="11160" y="7728"/>
              <a:ext cx="3200" cy="38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1F2B37"/>
                  </a:solidFill>
                </a:rPr>
                <a:t>备份是否存储在异地？</a:t>
              </a:r>
              <a:endParaRPr lang="en-US" sz="1600" dirty="0">
                <a:solidFill>
                  <a:srgbClr val="1F2B37"/>
                </a:solidFill>
              </a:endParaRPr>
            </a:p>
          </p:txBody>
        </p:sp>
        <p:pic>
          <p:nvPicPr>
            <p:cNvPr id="40" name="Image 18" descr="preencoded.png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60" y="8880"/>
              <a:ext cx="8448" cy="984"/>
            </a:xfrm>
            <a:prstGeom prst="rect">
              <a:avLst/>
            </a:prstGeom>
          </p:spPr>
        </p:pic>
        <p:pic>
          <p:nvPicPr>
            <p:cNvPr id="41" name="Image 19" descr="preencoded.png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72" y="8976"/>
              <a:ext cx="768" cy="768"/>
            </a:xfrm>
            <a:prstGeom prst="rect">
              <a:avLst/>
            </a:prstGeom>
          </p:spPr>
        </p:pic>
        <p:sp>
          <p:nvSpPr>
            <p:cNvPr id="42" name="Text 20"/>
            <p:cNvSpPr/>
            <p:nvPr/>
          </p:nvSpPr>
          <p:spPr>
            <a:xfrm>
              <a:off x="1536" y="9072"/>
              <a:ext cx="278" cy="57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FFFFFF"/>
                  </a:solidFill>
                </a:rPr>
                <a:t>?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43" name="Text 21"/>
            <p:cNvSpPr/>
            <p:nvPr/>
          </p:nvSpPr>
          <p:spPr>
            <a:xfrm>
              <a:off x="2328" y="9072"/>
              <a:ext cx="3520" cy="38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1F2B37"/>
                  </a:solidFill>
                </a:rPr>
                <a:t>是否定期进行恢复演练？</a:t>
              </a:r>
              <a:endParaRPr lang="en-US" sz="1600" dirty="0">
                <a:solidFill>
                  <a:srgbClr val="1F2B37"/>
                </a:solidFill>
              </a:endParaRPr>
            </a:p>
          </p:txBody>
        </p:sp>
        <p:pic>
          <p:nvPicPr>
            <p:cNvPr id="44" name="Image 20" descr="preencoded.png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792" y="8880"/>
              <a:ext cx="8448" cy="984"/>
            </a:xfrm>
            <a:prstGeom prst="rect">
              <a:avLst/>
            </a:prstGeom>
          </p:spPr>
        </p:pic>
        <p:pic>
          <p:nvPicPr>
            <p:cNvPr id="45" name="Image 21" descr="preencoded.png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0104" y="8976"/>
              <a:ext cx="768" cy="768"/>
            </a:xfrm>
            <a:prstGeom prst="rect">
              <a:avLst/>
            </a:prstGeom>
          </p:spPr>
        </p:pic>
        <p:sp>
          <p:nvSpPr>
            <p:cNvPr id="46" name="Text 22"/>
            <p:cNvSpPr/>
            <p:nvPr/>
          </p:nvSpPr>
          <p:spPr>
            <a:xfrm>
              <a:off x="10368" y="9072"/>
              <a:ext cx="278" cy="57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FFFFFF"/>
                  </a:solidFill>
                </a:rPr>
                <a:t>?</a:t>
              </a:r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47" name="Text 23"/>
            <p:cNvSpPr/>
            <p:nvPr/>
          </p:nvSpPr>
          <p:spPr>
            <a:xfrm>
              <a:off x="11160" y="9072"/>
              <a:ext cx="4160" cy="38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1F2B37"/>
                  </a:solidFill>
                </a:rPr>
                <a:t>是否配置了主从复制或集群？</a:t>
              </a:r>
              <a:endParaRPr lang="en-US" sz="1600" dirty="0">
                <a:solidFill>
                  <a:srgbClr val="1F2B37"/>
                </a:solidFill>
              </a:endParaRPr>
            </a:p>
          </p:txBody>
        </p:sp>
      </p:grpSp>
      <p:sp>
        <p:nvSpPr>
          <p:cNvPr id="31" name="Text 15"/>
          <p:cNvSpPr/>
          <p:nvPr/>
        </p:nvSpPr>
        <p:spPr>
          <a:xfrm>
            <a:off x="5436235" y="4782185"/>
            <a:ext cx="1482090" cy="2387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检查要点</a:t>
            </a:r>
            <a:endParaRPr lang="en-US" sz="20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数据库安全测评——实操五步法</a:t>
            </a:r>
            <a:endParaRPr lang="en-US" sz="2760" dirty="0"/>
          </a:p>
        </p:txBody>
      </p:sp>
      <p:pic>
        <p:nvPicPr>
          <p:cNvPr id="6" name="Image 3" descr="https://test.web.static.jianzeppt.com/ppt-temp-img3/34cff19fdf3950dafda2c184810dfeec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697480"/>
            <a:ext cx="9144000" cy="4572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9200" y="2331720"/>
            <a:ext cx="762000" cy="762000"/>
          </a:xfrm>
          <a:prstGeom prst="rect">
            <a:avLst/>
          </a:prstGeom>
          <a:effectLst>
            <a:outerShdw blurRad="-2147483648" dist="1935480000" dir="-1" algn="bl" rotWithShape="0">
              <a:srgbClr val="143366">
                <a:alpha val="2000000000"/>
              </a:srgbClr>
            </a:outerShdw>
          </a:effectLst>
        </p:spPr>
      </p:pic>
      <p:sp>
        <p:nvSpPr>
          <p:cNvPr id="8" name="Text 1"/>
          <p:cNvSpPr/>
          <p:nvPr/>
        </p:nvSpPr>
        <p:spPr>
          <a:xfrm>
            <a:off x="1493520" y="2438400"/>
            <a:ext cx="222504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8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2880" dirty="0"/>
          </a:p>
        </p:txBody>
      </p:sp>
      <p:sp>
        <p:nvSpPr>
          <p:cNvPr id="9" name="Text 2"/>
          <p:cNvSpPr/>
          <p:nvPr/>
        </p:nvSpPr>
        <p:spPr>
          <a:xfrm>
            <a:off x="990600" y="33375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信息收集</a:t>
            </a:r>
            <a:endParaRPr lang="en-US" sz="2400" dirty="0"/>
          </a:p>
        </p:txBody>
      </p:sp>
      <p:sp>
        <p:nvSpPr>
          <p:cNvPr id="10" name="Text 3"/>
          <p:cNvSpPr/>
          <p:nvPr/>
        </p:nvSpPr>
        <p:spPr>
          <a:xfrm>
            <a:off x="609600" y="3916680"/>
            <a:ext cx="1990344" cy="6019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获取数据库版本、类型、部署架构</a:t>
            </a:r>
            <a:endParaRPr lang="en-US" sz="1680" dirty="0"/>
          </a:p>
        </p:txBody>
      </p:sp>
      <p:pic>
        <p:nvPicPr>
          <p:cNvPr id="11" name="Image 5" descr="https://test.web.static.jianzeppt.com/ppt-temp-img3/7f41c13e658a1a704b14904e034448ed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892040"/>
            <a:ext cx="1981200" cy="39624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051560" y="4953000"/>
            <a:ext cx="11216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系统信息查询</a:t>
            </a:r>
            <a:endParaRPr lang="en-US" sz="144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4720" y="2331720"/>
            <a:ext cx="762000" cy="762000"/>
          </a:xfrm>
          <a:prstGeom prst="rect">
            <a:avLst/>
          </a:prstGeom>
          <a:effectLst>
            <a:outerShdw blurRad="-2147483648" dist="1935480000" dir="-1" algn="bl" rotWithShape="0">
              <a:srgbClr val="143366">
                <a:alpha val="2000000000"/>
              </a:srgbClr>
            </a:outerShdw>
          </a:effectLst>
        </p:spPr>
      </p:pic>
      <p:sp>
        <p:nvSpPr>
          <p:cNvPr id="14" name="Text 5"/>
          <p:cNvSpPr/>
          <p:nvPr/>
        </p:nvSpPr>
        <p:spPr>
          <a:xfrm>
            <a:off x="3749040" y="2438400"/>
            <a:ext cx="222504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8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2880" dirty="0"/>
          </a:p>
        </p:txBody>
      </p:sp>
      <p:sp>
        <p:nvSpPr>
          <p:cNvPr id="15" name="Text 6"/>
          <p:cNvSpPr/>
          <p:nvPr/>
        </p:nvSpPr>
        <p:spPr>
          <a:xfrm>
            <a:off x="3246120" y="33375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登录验证</a:t>
            </a:r>
            <a:endParaRPr lang="en-US" sz="2400" dirty="0"/>
          </a:p>
        </p:txBody>
      </p:sp>
      <p:sp>
        <p:nvSpPr>
          <p:cNvPr id="16" name="Text 7"/>
          <p:cNvSpPr/>
          <p:nvPr/>
        </p:nvSpPr>
        <p:spPr>
          <a:xfrm>
            <a:off x="2865120" y="3916680"/>
            <a:ext cx="1990344" cy="6019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尝试使用默认账户登录，测试密码策略</a:t>
            </a:r>
            <a:endParaRPr lang="en-US" sz="1680" dirty="0"/>
          </a:p>
        </p:txBody>
      </p:sp>
      <p:pic>
        <p:nvPicPr>
          <p:cNvPr id="17" name="Image 7" descr="https://test.web.static.jianzeppt.com/ppt-temp-img3/7f41c13e658a1a704b14904e034448ed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5120" y="4892040"/>
            <a:ext cx="1981200" cy="39624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3291840" y="4953000"/>
            <a:ext cx="11216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数据库客户端</a:t>
            </a:r>
            <a:endParaRPr lang="en-US" sz="144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2331720"/>
            <a:ext cx="762000" cy="762000"/>
          </a:xfrm>
          <a:prstGeom prst="rect">
            <a:avLst/>
          </a:prstGeom>
          <a:effectLst>
            <a:outerShdw blurRad="-2147483648" dist="1935480000" dir="-1" algn="bl" rotWithShape="0">
              <a:srgbClr val="143366">
                <a:alpha val="2000000000"/>
              </a:srgbClr>
            </a:outerShdw>
          </a:effectLst>
        </p:spPr>
      </p:pic>
      <p:sp>
        <p:nvSpPr>
          <p:cNvPr id="20" name="Text 9"/>
          <p:cNvSpPr/>
          <p:nvPr/>
        </p:nvSpPr>
        <p:spPr>
          <a:xfrm>
            <a:off x="5989320" y="2438400"/>
            <a:ext cx="222504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8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2880" dirty="0"/>
          </a:p>
        </p:txBody>
      </p:sp>
      <p:sp>
        <p:nvSpPr>
          <p:cNvPr id="21" name="Text 10"/>
          <p:cNvSpPr/>
          <p:nvPr/>
        </p:nvSpPr>
        <p:spPr>
          <a:xfrm>
            <a:off x="5486400" y="33375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配置核查</a:t>
            </a:r>
            <a:endParaRPr lang="en-US" sz="2400" dirty="0"/>
          </a:p>
        </p:txBody>
      </p:sp>
      <p:sp>
        <p:nvSpPr>
          <p:cNvPr id="22" name="Text 11"/>
          <p:cNvSpPr/>
          <p:nvPr/>
        </p:nvSpPr>
        <p:spPr>
          <a:xfrm>
            <a:off x="5105400" y="3916680"/>
            <a:ext cx="1990344" cy="8991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逐项检查身份鉴别、访问控制、审计等配置</a:t>
            </a:r>
            <a:endParaRPr lang="en-US" sz="1680" dirty="0"/>
          </a:p>
        </p:txBody>
      </p:sp>
      <p:pic>
        <p:nvPicPr>
          <p:cNvPr id="23" name="Image 9" descr="https://test.web.static.jianzeppt.com/ppt-temp-img3/7f41c13e658a1a704b14904e034448ed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400" y="4892040"/>
            <a:ext cx="1981200" cy="39624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562600" y="4953000"/>
            <a:ext cx="10911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SQL查询语句</a:t>
            </a:r>
            <a:endParaRPr lang="en-US" sz="144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0520" y="2331720"/>
            <a:ext cx="762000" cy="762000"/>
          </a:xfrm>
          <a:prstGeom prst="rect">
            <a:avLst/>
          </a:prstGeom>
          <a:effectLst>
            <a:outerShdw blurRad="-2147483648" dist="1935480000" dir="-1" algn="bl" rotWithShape="0">
              <a:srgbClr val="143366">
                <a:alpha val="2000000000"/>
              </a:srgbClr>
            </a:outerShdw>
          </a:effectLst>
        </p:spPr>
      </p:pic>
      <p:sp>
        <p:nvSpPr>
          <p:cNvPr id="26" name="Text 13"/>
          <p:cNvSpPr/>
          <p:nvPr/>
        </p:nvSpPr>
        <p:spPr>
          <a:xfrm>
            <a:off x="8244840" y="2438400"/>
            <a:ext cx="222504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8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2880" dirty="0"/>
          </a:p>
        </p:txBody>
      </p:sp>
      <p:sp>
        <p:nvSpPr>
          <p:cNvPr id="27" name="Text 14"/>
          <p:cNvSpPr/>
          <p:nvPr/>
        </p:nvSpPr>
        <p:spPr>
          <a:xfrm>
            <a:off x="7741920" y="33375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日志审计</a:t>
            </a:r>
            <a:endParaRPr lang="en-US" sz="2400" dirty="0"/>
          </a:p>
        </p:txBody>
      </p:sp>
      <p:sp>
        <p:nvSpPr>
          <p:cNvPr id="28" name="Text 15"/>
          <p:cNvSpPr/>
          <p:nvPr/>
        </p:nvSpPr>
        <p:spPr>
          <a:xfrm>
            <a:off x="7360920" y="3916680"/>
            <a:ext cx="1990344" cy="8991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查看审计日志是否启用、日志内容是否完整</a:t>
            </a:r>
            <a:endParaRPr lang="en-US" sz="1680" dirty="0"/>
          </a:p>
        </p:txBody>
      </p:sp>
      <p:pic>
        <p:nvPicPr>
          <p:cNvPr id="29" name="Image 11" descr="https://test.web.static.jianzeppt.com/ppt-temp-img3/7f41c13e658a1a704b14904e034448ed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0" y="4892040"/>
            <a:ext cx="1981200" cy="39624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7787640" y="4953000"/>
            <a:ext cx="11216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日志查看工具</a:t>
            </a:r>
            <a:endParaRPr lang="en-US" sz="1440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10800" y="2331720"/>
            <a:ext cx="762000" cy="762000"/>
          </a:xfrm>
          <a:prstGeom prst="rect">
            <a:avLst/>
          </a:prstGeom>
          <a:effectLst>
            <a:outerShdw blurRad="-2147483648" dist="1935480000" dir="-1" algn="bl" rotWithShape="0">
              <a:srgbClr val="143366">
                <a:alpha val="2000000000"/>
              </a:srgbClr>
            </a:outerShdw>
          </a:effectLst>
        </p:spPr>
      </p:pic>
      <p:sp>
        <p:nvSpPr>
          <p:cNvPr id="32" name="Text 17"/>
          <p:cNvSpPr/>
          <p:nvPr/>
        </p:nvSpPr>
        <p:spPr>
          <a:xfrm>
            <a:off x="10485120" y="2438400"/>
            <a:ext cx="222504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8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2880" dirty="0"/>
          </a:p>
        </p:txBody>
      </p:sp>
      <p:sp>
        <p:nvSpPr>
          <p:cNvPr id="33" name="Text 18"/>
          <p:cNvSpPr/>
          <p:nvPr/>
        </p:nvSpPr>
        <p:spPr>
          <a:xfrm>
            <a:off x="9982200" y="33375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记录判定</a:t>
            </a:r>
            <a:endParaRPr lang="en-US" sz="2400" dirty="0"/>
          </a:p>
        </p:txBody>
      </p:sp>
      <p:sp>
        <p:nvSpPr>
          <p:cNvPr id="34" name="Text 19"/>
          <p:cNvSpPr/>
          <p:nvPr/>
        </p:nvSpPr>
        <p:spPr>
          <a:xfrm>
            <a:off x="9601200" y="3916680"/>
            <a:ext cx="1990344" cy="60198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80" dirty="0">
                <a:solidFill>
                  <a:srgbClr val="3743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逐项做出符合性判定，填写测评记录表</a:t>
            </a:r>
            <a:endParaRPr lang="en-US" sz="1680" dirty="0"/>
          </a:p>
        </p:txBody>
      </p:sp>
      <p:pic>
        <p:nvPicPr>
          <p:cNvPr id="35" name="Image 13" descr="https://test.web.static.jianzeppt.com/ppt-temp-img3/7f41c13e658a1a704b14904e034448ed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4892040"/>
            <a:ext cx="1981200" cy="396240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10134600" y="4953000"/>
            <a:ext cx="9387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1438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测评记录表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Part.03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1745934" y="2072126"/>
            <a:ext cx="8901430" cy="243713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动手实验</a:t>
            </a:r>
            <a:endParaRPr lang="en-US" sz="528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——</a:t>
            </a:r>
            <a:endParaRPr lang="en-US" sz="5280" dirty="0">
              <a:solidFill>
                <a:srgbClr val="FFFFFF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西普真机取证 + JSecProbe 判定</a:t>
            </a:r>
            <a:endParaRPr lang="en-US" sz="52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两套环境怎么配合——西普出证据，JSecProbe 出结论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7" name="Image 4" descr="https://test.web.static.jianzeppt.com/ppt-temp-img3/2eeca359144695fe90c1583b0bdfa08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" y="1386840"/>
            <a:ext cx="2991485" cy="179832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3732530" y="1386840"/>
            <a:ext cx="268097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 取证：西普实验平台</a:t>
            </a:r>
            <a:endParaRPr lang="en-US" sz="20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1" name="Text 2"/>
          <p:cNvSpPr/>
          <p:nvPr/>
        </p:nvSpPr>
        <p:spPr>
          <a:xfrm>
            <a:off x="3840480" y="1766570"/>
            <a:ext cx="7469505" cy="9023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800" b="1" dirty="0">
                <a:solidFill>
                  <a:srgbClr val="1F2B3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登录 10.11.0.70（账号=学号，密码=学号+1q2w），选 MySQL 8.0 / SQL Server 2019 数据库类实验，在提供的真实库上跑核查命令</a:t>
            </a:r>
            <a:endParaRPr lang="en-US" sz="18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520" y="3444240"/>
            <a:ext cx="60960" cy="30480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914400" y="336804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 上机五步：选 → 查 → 录 → 判 → 交</a:t>
            </a:r>
            <a:endParaRPr lang="en-US" sz="2400" dirty="0"/>
          </a:p>
        </p:txBody>
      </p:sp>
      <p:pic>
        <p:nvPicPr>
          <p:cNvPr id="14" name="Image 8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560" y="3947160"/>
            <a:ext cx="5424805" cy="670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5" name="Image 9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7720" y="4114800"/>
            <a:ext cx="365760" cy="365760"/>
          </a:xfrm>
          <a:prstGeom prst="rect">
            <a:avLst/>
          </a:prstGeom>
        </p:spPr>
      </p:pic>
      <p:sp>
        <p:nvSpPr>
          <p:cNvPr id="16" name="Text 4"/>
          <p:cNvSpPr/>
          <p:nvPr>
            <p:custDataLst>
              <p:tags r:id="rId14"/>
            </p:custDataLst>
          </p:nvPr>
        </p:nvSpPr>
        <p:spPr>
          <a:xfrm>
            <a:off x="929640" y="414528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7" name="Text 5"/>
          <p:cNvSpPr/>
          <p:nvPr>
            <p:custDataLst>
              <p:tags r:id="rId15"/>
            </p:custDataLst>
          </p:nvPr>
        </p:nvSpPr>
        <p:spPr>
          <a:xfrm>
            <a:off x="1295400" y="4084320"/>
            <a:ext cx="122682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　选：MySQL 线与 SQL Server 线各选 1~2 个实验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8" name="Text 6"/>
          <p:cNvSpPr/>
          <p:nvPr>
            <p:custDataLst>
              <p:tags r:id="rId16"/>
            </p:custDataLst>
          </p:nvPr>
        </p:nvSpPr>
        <p:spPr>
          <a:xfrm>
            <a:off x="1295400" y="4419600"/>
            <a:ext cx="222250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先看清库的版本、实例名和端口，再动手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9" name="Image 10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0" y="3947160"/>
            <a:ext cx="4908550" cy="670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0" name="Image 11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960" y="4114800"/>
            <a:ext cx="365760" cy="365760"/>
          </a:xfrm>
          <a:prstGeom prst="rect">
            <a:avLst/>
          </a:prstGeom>
        </p:spPr>
      </p:pic>
      <p:sp>
        <p:nvSpPr>
          <p:cNvPr id="21" name="Text 7"/>
          <p:cNvSpPr/>
          <p:nvPr>
            <p:custDataLst>
              <p:tags r:id="rId19"/>
            </p:custDataLst>
          </p:nvPr>
        </p:nvSpPr>
        <p:spPr>
          <a:xfrm>
            <a:off x="6659880" y="414528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2" name="Text 8"/>
          <p:cNvSpPr/>
          <p:nvPr>
            <p:custDataLst>
              <p:tags r:id="rId20"/>
            </p:custDataLst>
          </p:nvPr>
        </p:nvSpPr>
        <p:spPr>
          <a:xfrm>
            <a:off x="7025640" y="4084320"/>
            <a:ext cx="122682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　查：在真实库上跑核查命令，逐条截图留证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3" name="Text 9"/>
          <p:cNvSpPr/>
          <p:nvPr>
            <p:custDataLst>
              <p:tags r:id="rId21"/>
            </p:custDataLst>
          </p:nvPr>
        </p:nvSpPr>
        <p:spPr>
          <a:xfrm>
            <a:off x="7025640" y="4419600"/>
            <a:ext cx="124460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回显里要能看到命令本身和真实返回值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4" name="Image 12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560" y="4724400"/>
            <a:ext cx="5471160" cy="670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5" name="Image 13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7720" y="4892040"/>
            <a:ext cx="365760" cy="365760"/>
          </a:xfrm>
          <a:prstGeom prst="rect">
            <a:avLst/>
          </a:prstGeom>
        </p:spPr>
      </p:pic>
      <p:sp>
        <p:nvSpPr>
          <p:cNvPr id="26" name="Text 10"/>
          <p:cNvSpPr/>
          <p:nvPr>
            <p:custDataLst>
              <p:tags r:id="rId24"/>
            </p:custDataLst>
          </p:nvPr>
        </p:nvSpPr>
        <p:spPr>
          <a:xfrm>
            <a:off x="929640" y="492252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7" name="Text 11"/>
          <p:cNvSpPr/>
          <p:nvPr>
            <p:custDataLst>
              <p:tags r:id="rId25"/>
            </p:custDataLst>
          </p:nvPr>
        </p:nvSpPr>
        <p:spPr>
          <a:xfrm>
            <a:off x="1295400" y="4861560"/>
            <a:ext cx="122682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　录：把回显里的真实值抄进 JSecProbe「现场核查」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8" name="Text 12"/>
          <p:cNvSpPr/>
          <p:nvPr>
            <p:custDataLst>
              <p:tags r:id="rId26"/>
            </p:custDataLst>
          </p:nvPr>
        </p:nvSpPr>
        <p:spPr>
          <a:xfrm>
            <a:off x="1295400" y="5196840"/>
            <a:ext cx="195580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抄参数值，不抄结论，如 default_password_lifetime=0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9" name="Image 14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0" y="4724400"/>
            <a:ext cx="5387340" cy="6705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0" name="Image 15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960" y="4892040"/>
            <a:ext cx="365760" cy="365760"/>
          </a:xfrm>
          <a:prstGeom prst="rect">
            <a:avLst/>
          </a:prstGeom>
        </p:spPr>
      </p:pic>
      <p:sp>
        <p:nvSpPr>
          <p:cNvPr id="31" name="Text 13"/>
          <p:cNvSpPr/>
          <p:nvPr>
            <p:custDataLst>
              <p:tags r:id="rId29"/>
            </p:custDataLst>
          </p:nvPr>
        </p:nvSpPr>
        <p:spPr>
          <a:xfrm>
            <a:off x="6659880" y="492252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2" name="Text 14"/>
          <p:cNvSpPr/>
          <p:nvPr>
            <p:custDataLst>
              <p:tags r:id="rId30"/>
            </p:custDataLst>
          </p:nvPr>
        </p:nvSpPr>
        <p:spPr>
          <a:xfrm>
            <a:off x="7025640" y="4861560"/>
            <a:ext cx="143129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　判：对照基线做四档判定，写清"做到哪、差在哪"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3" name="Text 15"/>
          <p:cNvSpPr/>
          <p:nvPr>
            <p:custDataLst>
              <p:tags r:id="rId31"/>
            </p:custDataLst>
          </p:nvPr>
        </p:nvSpPr>
        <p:spPr>
          <a:xfrm>
            <a:off x="7025640" y="5196840"/>
            <a:ext cx="195580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一条判定配一张回显截图，编号与记录表对应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4" name="Image 16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560" y="5516880"/>
            <a:ext cx="5424805" cy="8432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5" name="Image 17" descr="preencoded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7720" y="5684520"/>
            <a:ext cx="365760" cy="365760"/>
          </a:xfrm>
          <a:prstGeom prst="rect">
            <a:avLst/>
          </a:prstGeom>
        </p:spPr>
      </p:pic>
      <p:sp>
        <p:nvSpPr>
          <p:cNvPr id="36" name="Text 16"/>
          <p:cNvSpPr/>
          <p:nvPr>
            <p:custDataLst>
              <p:tags r:id="rId34"/>
            </p:custDataLst>
          </p:nvPr>
        </p:nvSpPr>
        <p:spPr>
          <a:xfrm>
            <a:off x="929640" y="569976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7" name="Text 17"/>
          <p:cNvSpPr/>
          <p:nvPr>
            <p:custDataLst>
              <p:tags r:id="rId35"/>
            </p:custDataLst>
          </p:nvPr>
        </p:nvSpPr>
        <p:spPr>
          <a:xfrm>
            <a:off x="1295400" y="5654040"/>
            <a:ext cx="122682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　交：导出《数据库安全测评记录表》，课内提交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8" name="Text 18"/>
          <p:cNvSpPr/>
          <p:nvPr>
            <p:custDataLst>
              <p:tags r:id="rId36"/>
            </p:custDataLst>
          </p:nvPr>
        </p:nvSpPr>
        <p:spPr>
          <a:xfrm>
            <a:off x="1295400" y="5989320"/>
            <a:ext cx="1778000" cy="2965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交不了就先交已完成部分并注明，不要填假数据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9" name="Image 18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0" y="5516880"/>
            <a:ext cx="5387975" cy="85344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40" name="Image 19" descr="preencoded.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960" y="5684520"/>
            <a:ext cx="365760" cy="365760"/>
          </a:xfrm>
          <a:prstGeom prst="rect">
            <a:avLst/>
          </a:prstGeom>
        </p:spPr>
      </p:pic>
      <p:sp>
        <p:nvSpPr>
          <p:cNvPr id="41" name="Text 19"/>
          <p:cNvSpPr/>
          <p:nvPr>
            <p:custDataLst>
              <p:tags r:id="rId39"/>
            </p:custDataLst>
          </p:nvPr>
        </p:nvSpPr>
        <p:spPr>
          <a:xfrm>
            <a:off x="6659880" y="5699760"/>
            <a:ext cx="14605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!</a:t>
            </a:r>
            <a:endParaRPr lang="en-US" sz="14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2" name="Text 20"/>
          <p:cNvSpPr/>
          <p:nvPr>
            <p:custDataLst>
              <p:tags r:id="rId40"/>
            </p:custDataLst>
          </p:nvPr>
        </p:nvSpPr>
        <p:spPr>
          <a:xfrm>
            <a:off x="7025640" y="5654040"/>
            <a:ext cx="81788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两条纪律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3" name="Text 21"/>
          <p:cNvSpPr/>
          <p:nvPr>
            <p:custDataLst>
              <p:tags r:id="rId41"/>
            </p:custDataLst>
          </p:nvPr>
        </p:nvSpPr>
        <p:spPr>
          <a:xfrm>
            <a:off x="7025640" y="5989320"/>
            <a:ext cx="4445000" cy="5937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只在平台实验库上操作，不做删库、改密等破坏性动作；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400" dirty="0">
                <a:solidFill>
                  <a:srgbClr val="4B57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截图只交作业不外传</a:t>
            </a:r>
            <a:endParaRPr lang="en-US" sz="1400" dirty="0">
              <a:solidFill>
                <a:srgbClr val="4B57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graphicFrame>
        <p:nvGraphicFramePr>
          <p:cNvPr id="45" name="对象 4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950450" y="40957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showAsIcon="1" r:id="rId42" imgW="971550" imgH="666750" progId="Word.Document.12">
                  <p:embed/>
                </p:oleObj>
              </mc:Choice>
              <mc:Fallback>
                <p:oleObj name="" showAsIcon="1" r:id="rId42" imgW="971550" imgH="666750" progId="Word.Document.12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9950450" y="40957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实验①做什么——MySQL 线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3840480" cy="15849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554480"/>
            <a:ext cx="34229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实验名称</a:t>
            </a:r>
            <a:endParaRPr lang="en-US" sz="1680" dirty="0"/>
          </a:p>
        </p:txBody>
      </p:sp>
      <p:sp>
        <p:nvSpPr>
          <p:cNvPr id="8" name="Text 2"/>
          <p:cNvSpPr/>
          <p:nvPr/>
        </p:nvSpPr>
        <p:spPr>
          <a:xfrm>
            <a:off x="853440" y="1976438"/>
            <a:ext cx="3422904" cy="7639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MySQL 数据库安全配置核查（西普取证 + JSecProbe 判定）</a:t>
            </a:r>
            <a:endParaRPr lang="en-US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3920" y="1371600"/>
            <a:ext cx="4526280" cy="158496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937760" y="1645920"/>
            <a:ext cx="41087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实验环境</a:t>
            </a:r>
            <a:endParaRPr lang="en-US" sz="1680" dirty="0"/>
          </a:p>
        </p:txBody>
      </p:sp>
      <p:sp>
        <p:nvSpPr>
          <p:cNvPr id="11" name="Text 4"/>
          <p:cNvSpPr/>
          <p:nvPr/>
        </p:nvSpPr>
        <p:spPr>
          <a:xfrm>
            <a:off x="4937760" y="2011680"/>
            <a:ext cx="410870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西普实验平台（10.11.0.70）MySQL 8.0 真实库 + 本机 JSecProbe V2.0.3 测评项目</a:t>
            </a:r>
            <a:endParaRPr lang="en-US" sz="192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48800" y="1371600"/>
            <a:ext cx="2133600" cy="15849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119360" y="175260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建议用时</a:t>
            </a:r>
            <a:endParaRPr lang="en-US" sz="1680" dirty="0"/>
          </a:p>
        </p:txBody>
      </p:sp>
      <p:sp>
        <p:nvSpPr>
          <p:cNvPr id="14" name="Text 6"/>
          <p:cNvSpPr/>
          <p:nvPr/>
        </p:nvSpPr>
        <p:spPr>
          <a:xfrm>
            <a:off x="9906000" y="2133600"/>
            <a:ext cx="128930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约 25 分钟</a:t>
            </a:r>
            <a:endParaRPr lang="en-US" sz="2400" dirty="0"/>
          </a:p>
        </p:txBody>
      </p:sp>
      <p:pic>
        <p:nvPicPr>
          <p:cNvPr id="15" name="Image 6" descr="https://test.web.static.jianzeppt.com/ppt-temp-img3/661e0e922852dad8cba9e33cf50fe194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200400"/>
            <a:ext cx="10972800" cy="3048000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840" y="3215640"/>
            <a:ext cx="10942320" cy="65532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29640" y="33375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核查项（在真实库上逐条跑命令）</a:t>
            </a:r>
            <a:endParaRPr lang="en-US" sz="2160" dirty="0"/>
          </a:p>
        </p:txBody>
      </p:sp>
      <p:pic>
        <p:nvPicPr>
          <p:cNvPr id="18" name="Image 8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" y="4145280"/>
            <a:ext cx="304800" cy="3048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60120" y="416052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440" dirty="0"/>
          </a:p>
        </p:txBody>
      </p:sp>
      <p:sp>
        <p:nvSpPr>
          <p:cNvPr id="20" name="Text 9"/>
          <p:cNvSpPr/>
          <p:nvPr/>
        </p:nvSpPr>
        <p:spPr>
          <a:xfrm>
            <a:off x="1325880" y="4114800"/>
            <a:ext cx="20208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连接MySQL服务器</a:t>
            </a:r>
            <a:endParaRPr lang="en-US" sz="1920" dirty="0"/>
          </a:p>
        </p:txBody>
      </p:sp>
      <p:pic>
        <p:nvPicPr>
          <p:cNvPr id="21" name="Image 9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8880" y="4145280"/>
            <a:ext cx="304800" cy="3048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6370320" y="416052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440" dirty="0"/>
          </a:p>
        </p:txBody>
      </p:sp>
      <p:sp>
        <p:nvSpPr>
          <p:cNvPr id="23" name="Text 11"/>
          <p:cNvSpPr/>
          <p:nvPr/>
        </p:nvSpPr>
        <p:spPr>
          <a:xfrm>
            <a:off x="6736080" y="4114800"/>
            <a:ext cx="24627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检查密码策略插件配置</a:t>
            </a:r>
            <a:endParaRPr lang="en-US" sz="1920" dirty="0"/>
          </a:p>
        </p:txBody>
      </p:sp>
      <p:pic>
        <p:nvPicPr>
          <p:cNvPr id="24" name="Image 10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" y="4632960"/>
            <a:ext cx="304800" cy="3048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960120" y="464820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440" dirty="0"/>
          </a:p>
        </p:txBody>
      </p:sp>
      <p:sp>
        <p:nvSpPr>
          <p:cNvPr id="26" name="Text 13"/>
          <p:cNvSpPr/>
          <p:nvPr/>
        </p:nvSpPr>
        <p:spPr>
          <a:xfrm>
            <a:off x="1325880" y="4587240"/>
            <a:ext cx="240182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检查用户列表</a:t>
            </a:r>
            <a:r>
              <a:rPr lang="en-US" sz="144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（空口令、匿名、默认账户）</a:t>
            </a:r>
            <a:endParaRPr lang="en-US" sz="1920" dirty="0"/>
          </a:p>
        </p:txBody>
      </p:sp>
      <p:pic>
        <p:nvPicPr>
          <p:cNvPr id="27" name="Image 11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8880" y="4632960"/>
            <a:ext cx="304800" cy="30480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370320" y="464820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440" dirty="0"/>
          </a:p>
        </p:txBody>
      </p:sp>
      <p:sp>
        <p:nvSpPr>
          <p:cNvPr id="29" name="Text 15"/>
          <p:cNvSpPr/>
          <p:nvPr/>
        </p:nvSpPr>
        <p:spPr>
          <a:xfrm>
            <a:off x="6736080" y="4602480"/>
            <a:ext cx="246278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检查审计日志启用状态</a:t>
            </a:r>
            <a:endParaRPr lang="en-US" sz="1920" dirty="0"/>
          </a:p>
        </p:txBody>
      </p:sp>
      <p:pic>
        <p:nvPicPr>
          <p:cNvPr id="30" name="Image 12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" y="5455920"/>
            <a:ext cx="304800" cy="30480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960120" y="547116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440" dirty="0"/>
          </a:p>
        </p:txBody>
      </p:sp>
      <p:sp>
        <p:nvSpPr>
          <p:cNvPr id="32" name="Text 17"/>
          <p:cNvSpPr/>
          <p:nvPr/>
        </p:nvSpPr>
        <p:spPr>
          <a:xfrm>
            <a:off x="1325880" y="5410200"/>
            <a:ext cx="2051304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检查网络配置</a:t>
            </a:r>
            <a:r>
              <a:rPr lang="en-US" sz="144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（bind-address、端口）</a:t>
            </a:r>
            <a:endParaRPr lang="en-US" sz="1920" dirty="0"/>
          </a:p>
        </p:txBody>
      </p:sp>
      <p:pic>
        <p:nvPicPr>
          <p:cNvPr id="33" name="Image 13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8880" y="5455920"/>
            <a:ext cx="304800" cy="30480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370320" y="547116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</a:t>
            </a:r>
            <a:endParaRPr lang="en-US" sz="1440" dirty="0"/>
          </a:p>
        </p:txBody>
      </p:sp>
      <p:sp>
        <p:nvSpPr>
          <p:cNvPr id="35" name="Text 19"/>
          <p:cNvSpPr/>
          <p:nvPr/>
        </p:nvSpPr>
        <p:spPr>
          <a:xfrm>
            <a:off x="6736080" y="5425440"/>
            <a:ext cx="14112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检查SSL配置</a:t>
            </a:r>
            <a:endParaRPr lang="en-US" sz="1920" dirty="0"/>
          </a:p>
        </p:txBody>
      </p:sp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36080" y="41084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4" imgW="971550" imgH="666750" progId="Word.Document.12">
                  <p:embed/>
                </p:oleObj>
              </mc:Choice>
              <mc:Fallback>
                <p:oleObj name="" showAsIcon="1" r:id="rId14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36080" y="41084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987030" y="41021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16" imgW="971550" imgH="666750" progId="Word.Document.12">
                  <p:embed/>
                </p:oleObj>
              </mc:Choice>
              <mc:Fallback>
                <p:oleObj name="" showAsIcon="1" r:id="rId16" imgW="971550" imgH="666750" progId="Word.Documen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987030" y="41021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选什么——西普平台实验清单（MySQL 线 + SQL Server 线）</a:t>
            </a:r>
            <a:endParaRPr lang="en-US" sz="276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98170" y="1143000"/>
          <a:ext cx="10972800" cy="5573395"/>
        </p:xfrm>
        <a:graphic>
          <a:graphicData uri="http://schemas.openxmlformats.org/drawingml/2006/table">
            <a:tbl>
              <a:tblPr/>
              <a:tblGrid>
                <a:gridCol w="1298575"/>
                <a:gridCol w="6330315"/>
                <a:gridCol w="3343910"/>
              </a:tblGrid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编号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西普平台实验 / 你要查什么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覆盖维度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M1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MySQL 安全配置核查 → 口令策略与账户：validate_password 插件、密码有效期、空口令与匿名账户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8.1.4.1 / 8.1.4.2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MySQL 安全配置核查 → 权限与网络：root 是否允许远程、用户权限、bind-address、端口、SSL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8.1.4.2 / 8.1.4.4 / 8.1.4.7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M3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MySQL 安全配置核查 → 审计与日志：审计插件状态、general_log、日志留存与保护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8.1.4.3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S1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SQL Server 安全配置核查 → 登录与账户：审核级别、SA 账户状态、空口令账户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8.1.4.1 / 8.1.4.2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S2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SQL Server 安全配置核查 → 审计与权限：服务器审计是否启用、登录审计规范、危险存储过程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8.1.4.3 / 8.1.4.4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S3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SQL Server 安全配置核查 → 加密与备份：TDE 加密状态、连接加密、备份与异地备份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8.1.4.7 / 8.1.4.8 / 8.1.4.9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推荐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M1 + M3（或 S1 + S2）：口令与审计是数据库测评最高频的丢分点，两条线合起来覆盖 ≥4 个维度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课内完成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实验②做什么——SQL Server 线</a:t>
            </a:r>
            <a:endParaRPr lang="en-US" sz="276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624927" y="1059180"/>
            <a:ext cx="11360093" cy="5324475"/>
            <a:chOff x="984" y="1392"/>
            <a:chExt cx="17788" cy="9216"/>
          </a:xfrm>
        </p:grpSpPr>
        <p:pic>
          <p:nvPicPr>
            <p:cNvPr id="6" name="Image 3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92" y="1392"/>
              <a:ext cx="17280" cy="9216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pic>
          <p:nvPicPr>
            <p:cNvPr id="7" name="Image 4" descr="https://test.web.static.jianzeppt.com/ppt-temp-img3/af6d4aee3d00e1709425b940bb0a0b7c.png?x-oss-process=image/resize,w_1440,h_800,m_lfit/format,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4" y="1416"/>
              <a:ext cx="3360" cy="1320"/>
            </a:xfrm>
            <a:prstGeom prst="rect">
              <a:avLst/>
            </a:prstGeom>
          </p:spPr>
        </p:pic>
        <p:sp>
          <p:nvSpPr>
            <p:cNvPr id="8" name="Text 1"/>
            <p:cNvSpPr/>
            <p:nvPr/>
          </p:nvSpPr>
          <p:spPr>
            <a:xfrm>
              <a:off x="1867" y="1704"/>
              <a:ext cx="1608" cy="7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实验名称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9" name="Image 5" descr="https://test.web.static.jianzeppt.com/ppt-temp-img3/66028c136f2bea815959333f71ab20a6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20" y="1422"/>
              <a:ext cx="24" cy="1308"/>
            </a:xfrm>
            <a:prstGeom prst="rect">
              <a:avLst/>
            </a:prstGeom>
          </p:spPr>
        </p:pic>
        <p:sp>
          <p:nvSpPr>
            <p:cNvPr id="10" name="Text 2"/>
            <p:cNvSpPr/>
            <p:nvPr/>
          </p:nvSpPr>
          <p:spPr>
            <a:xfrm>
              <a:off x="4920" y="1704"/>
              <a:ext cx="13174" cy="7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b="1" dirty="0">
                  <a:solidFill>
                    <a:srgbClr val="111927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SQL Server 数据库安全配置核查（西普取证 + JSecProbe 判定）</a:t>
              </a:r>
              <a:endParaRPr lang="en-US" sz="2000" b="1" dirty="0">
                <a:solidFill>
                  <a:srgbClr val="111927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1" name="Image 6" descr="https://test.web.static.jianzeppt.com/ppt-temp-img3/edbf06a280c39b33bcbd0817eab70b3c.png?x-oss-process=image/resize,w_1440,h_800,m_lfit/format,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4" y="2730"/>
              <a:ext cx="17232" cy="24"/>
            </a:xfrm>
            <a:prstGeom prst="rect">
              <a:avLst/>
            </a:prstGeom>
          </p:spPr>
        </p:pic>
        <p:pic>
          <p:nvPicPr>
            <p:cNvPr id="12" name="Image 7" descr="https://test.web.static.jianzeppt.com/ppt-temp-img3/9e654897926e547addfea764b2ea013d.png?x-oss-process=image/resize,w_1440,h_800,m_lfit/format,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4" y="2736"/>
              <a:ext cx="3360" cy="1320"/>
            </a:xfrm>
            <a:prstGeom prst="rect">
              <a:avLst/>
            </a:prstGeom>
          </p:spPr>
        </p:pic>
        <p:sp>
          <p:nvSpPr>
            <p:cNvPr id="13" name="Text 3"/>
            <p:cNvSpPr/>
            <p:nvPr/>
          </p:nvSpPr>
          <p:spPr>
            <a:xfrm>
              <a:off x="1867" y="3024"/>
              <a:ext cx="1608" cy="7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实验环境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4" name="Image 8" descr="https://test.web.static.jianzeppt.com/ppt-temp-img3/02adc47ce4d6c8ca270ae9a4b3677b4f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20" y="2730"/>
              <a:ext cx="24" cy="1320"/>
            </a:xfrm>
            <a:prstGeom prst="rect">
              <a:avLst/>
            </a:prstGeom>
          </p:spPr>
        </p:pic>
        <p:sp>
          <p:nvSpPr>
            <p:cNvPr id="15" name="Text 4"/>
            <p:cNvSpPr/>
            <p:nvPr/>
          </p:nvSpPr>
          <p:spPr>
            <a:xfrm>
              <a:off x="4920" y="3024"/>
              <a:ext cx="12734" cy="744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dirty="0">
                  <a:solidFill>
                    <a:srgbClr val="1F2B37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西普实验平台（10.11.0.70）SQL Server 2019 真实库 + 本机 JSecProbe V2.0.3</a:t>
              </a:r>
              <a:endParaRPr lang="en-US" sz="2000" dirty="0">
                <a:solidFill>
                  <a:srgbClr val="1F2B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pic>
          <p:nvPicPr>
            <p:cNvPr id="16" name="Image 9" descr="https://test.web.static.jianzeppt.com/ppt-temp-img3/edbf06a280c39b33bcbd0817eab70b3c.png?x-oss-process=image/resize,w_1440,h_800,m_lfit/format,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4" y="4050"/>
              <a:ext cx="17232" cy="24"/>
            </a:xfrm>
            <a:prstGeom prst="rect">
              <a:avLst/>
            </a:prstGeom>
          </p:spPr>
        </p:pic>
        <p:pic>
          <p:nvPicPr>
            <p:cNvPr id="17" name="Image 10" descr="https://test.web.static.jianzeppt.com/ppt-temp-img3/9e654897926e547addfea764b2ea013d.png?x-oss-process=image/resize,w_1440,h_800,m_lfit/format,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4" y="4056"/>
              <a:ext cx="3360" cy="1320"/>
            </a:xfrm>
            <a:prstGeom prst="rect">
              <a:avLst/>
            </a:prstGeom>
          </p:spPr>
        </p:pic>
        <p:sp>
          <p:nvSpPr>
            <p:cNvPr id="18" name="Text 5"/>
            <p:cNvSpPr/>
            <p:nvPr/>
          </p:nvSpPr>
          <p:spPr>
            <a:xfrm>
              <a:off x="1867" y="4344"/>
              <a:ext cx="1608" cy="7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建议用时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19" name="Image 11" descr="https://test.web.static.jianzeppt.com/ppt-temp-img3/02adc47ce4d6c8ca270ae9a4b3677b4f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20" y="4050"/>
              <a:ext cx="24" cy="1320"/>
            </a:xfrm>
            <a:prstGeom prst="rect">
              <a:avLst/>
            </a:prstGeom>
          </p:spPr>
        </p:pic>
        <p:sp>
          <p:nvSpPr>
            <p:cNvPr id="20" name="Text 6"/>
            <p:cNvSpPr/>
            <p:nvPr/>
          </p:nvSpPr>
          <p:spPr>
            <a:xfrm>
              <a:off x="4920" y="4344"/>
              <a:ext cx="1680" cy="7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约 20 分钟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21" name="Image 12" descr="https://test.web.static.jianzeppt.com/ppt-temp-img3/edbf06a280c39b33bcbd0817eab70b3c.png?x-oss-process=image/resize,w_1440,h_800,m_lfit/format,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4" y="5370"/>
              <a:ext cx="17232" cy="24"/>
            </a:xfrm>
            <a:prstGeom prst="rect">
              <a:avLst/>
            </a:prstGeom>
          </p:spPr>
        </p:pic>
        <p:pic>
          <p:nvPicPr>
            <p:cNvPr id="22" name="Image 13" descr="https://test.web.static.jianzeppt.com/ppt-temp-img3/87ec4a25a62c4c3110fb75fc3255058a.png?x-oss-process=image/resize,w_1440,h_800,m_lfit/format,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84" y="5376"/>
              <a:ext cx="3360" cy="5208"/>
            </a:xfrm>
            <a:prstGeom prst="rect">
              <a:avLst/>
            </a:prstGeom>
          </p:spPr>
        </p:pic>
        <p:sp>
          <p:nvSpPr>
            <p:cNvPr id="23" name="Text 7"/>
            <p:cNvSpPr/>
            <p:nvPr/>
          </p:nvSpPr>
          <p:spPr>
            <a:xfrm>
              <a:off x="1867" y="5760"/>
              <a:ext cx="1608" cy="7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核查项（在真实库上逐条跑命令）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pic>
          <p:nvPicPr>
            <p:cNvPr id="24" name="Image 14" descr="https://test.web.static.jianzeppt.com/ppt-temp-img3/b41e64528b85e93f30a7aa39f6b27a58.png?x-oss-process=image/resize,w_1440,h_800,m_lfit/format,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20" y="5370"/>
              <a:ext cx="24" cy="5208"/>
            </a:xfrm>
            <a:prstGeom prst="rect">
              <a:avLst/>
            </a:prstGeom>
          </p:spPr>
        </p:pic>
        <p:pic>
          <p:nvPicPr>
            <p:cNvPr id="25" name="Image 15" descr="https://test.web.static.jianzeppt.com/ppt-temp-img3/284a92f82978d57f9bd9f4297cfff51e.png?x-oss-process=image/resize,w_1440,h_800,m_lfit/format,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344" y="5376"/>
              <a:ext cx="13872" cy="5208"/>
            </a:xfrm>
            <a:prstGeom prst="rect">
              <a:avLst/>
            </a:prstGeom>
          </p:spPr>
        </p:pic>
        <p:sp>
          <p:nvSpPr>
            <p:cNvPr id="26" name="Text 8"/>
            <p:cNvSpPr/>
            <p:nvPr/>
          </p:nvSpPr>
          <p:spPr>
            <a:xfrm>
              <a:off x="4944" y="5760"/>
              <a:ext cx="402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①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27" name="Text 9"/>
            <p:cNvSpPr/>
            <p:nvPr/>
          </p:nvSpPr>
          <p:spPr>
            <a:xfrm>
              <a:off x="5520" y="5626"/>
              <a:ext cx="5510" cy="146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dirty="0">
                  <a:solidFill>
                    <a:srgbClr val="1F2B37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使用SSMS连接到SQL Server服务器</a:t>
              </a:r>
              <a:endParaRPr lang="en-US" sz="2000" dirty="0">
                <a:solidFill>
                  <a:srgbClr val="1F2B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28" name="Text 10"/>
            <p:cNvSpPr/>
            <p:nvPr/>
          </p:nvSpPr>
          <p:spPr>
            <a:xfrm>
              <a:off x="11568" y="5760"/>
              <a:ext cx="402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②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29" name="Text 11"/>
            <p:cNvSpPr/>
            <p:nvPr/>
          </p:nvSpPr>
          <p:spPr>
            <a:xfrm>
              <a:off x="12144" y="5760"/>
              <a:ext cx="3200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dirty="0">
                  <a:solidFill>
                    <a:srgbClr val="1F2B37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检查登录审核级别</a:t>
              </a:r>
              <a:endParaRPr lang="en-US" sz="2000" dirty="0">
                <a:solidFill>
                  <a:srgbClr val="1F2B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30" name="Text 12"/>
            <p:cNvSpPr/>
            <p:nvPr/>
          </p:nvSpPr>
          <p:spPr>
            <a:xfrm>
              <a:off x="4944" y="7248"/>
              <a:ext cx="402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③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31" name="Text 13"/>
            <p:cNvSpPr/>
            <p:nvPr/>
          </p:nvSpPr>
          <p:spPr>
            <a:xfrm>
              <a:off x="5520" y="7248"/>
              <a:ext cx="2800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dirty="0">
                  <a:solidFill>
                    <a:srgbClr val="1F2B37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检查SA账户状态</a:t>
              </a:r>
              <a:endParaRPr lang="en-US" sz="2000" dirty="0">
                <a:solidFill>
                  <a:srgbClr val="1F2B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32" name="Text 14"/>
            <p:cNvSpPr/>
            <p:nvPr/>
          </p:nvSpPr>
          <p:spPr>
            <a:xfrm>
              <a:off x="11568" y="7248"/>
              <a:ext cx="402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④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33" name="Text 15"/>
            <p:cNvSpPr/>
            <p:nvPr/>
          </p:nvSpPr>
          <p:spPr>
            <a:xfrm>
              <a:off x="12144" y="7248"/>
              <a:ext cx="4400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dirty="0">
                  <a:solidFill>
                    <a:srgbClr val="1F2B37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检查是否存在空口令账户</a:t>
              </a:r>
              <a:endParaRPr lang="en-US" sz="2000" dirty="0">
                <a:solidFill>
                  <a:srgbClr val="1F2B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34" name="Text 16"/>
            <p:cNvSpPr/>
            <p:nvPr/>
          </p:nvSpPr>
          <p:spPr>
            <a:xfrm>
              <a:off x="4944" y="8136"/>
              <a:ext cx="402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⑤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35" name="Text 17"/>
            <p:cNvSpPr/>
            <p:nvPr/>
          </p:nvSpPr>
          <p:spPr>
            <a:xfrm>
              <a:off x="5520" y="8136"/>
              <a:ext cx="4000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dirty="0">
                  <a:solidFill>
                    <a:srgbClr val="1F2B37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检查审计功能是否启用</a:t>
              </a:r>
              <a:endParaRPr lang="en-US" sz="2000" dirty="0">
                <a:solidFill>
                  <a:srgbClr val="1F2B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36" name="Text 18"/>
            <p:cNvSpPr/>
            <p:nvPr/>
          </p:nvSpPr>
          <p:spPr>
            <a:xfrm>
              <a:off x="11568" y="8136"/>
              <a:ext cx="402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⑥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37" name="Text 19"/>
            <p:cNvSpPr/>
            <p:nvPr/>
          </p:nvSpPr>
          <p:spPr>
            <a:xfrm>
              <a:off x="12144" y="8136"/>
              <a:ext cx="4400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dirty="0">
                  <a:solidFill>
                    <a:srgbClr val="1F2B37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检查是否修改了默认端口</a:t>
              </a:r>
              <a:endParaRPr lang="en-US" sz="2000" dirty="0">
                <a:solidFill>
                  <a:srgbClr val="1F2B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38" name="Text 20"/>
            <p:cNvSpPr/>
            <p:nvPr/>
          </p:nvSpPr>
          <p:spPr>
            <a:xfrm>
              <a:off x="4944" y="9000"/>
              <a:ext cx="402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⑦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39" name="Text 21"/>
            <p:cNvSpPr/>
            <p:nvPr/>
          </p:nvSpPr>
          <p:spPr>
            <a:xfrm>
              <a:off x="5520" y="8866"/>
              <a:ext cx="5510" cy="146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dirty="0">
                  <a:solidFill>
                    <a:srgbClr val="1F2B37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检查是否禁用了危险扩展存储过程</a:t>
              </a:r>
              <a:endParaRPr lang="en-US" sz="2000" dirty="0">
                <a:solidFill>
                  <a:srgbClr val="1F2B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40" name="Text 22"/>
            <p:cNvSpPr/>
            <p:nvPr/>
          </p:nvSpPr>
          <p:spPr>
            <a:xfrm>
              <a:off x="11568" y="9000"/>
              <a:ext cx="402" cy="73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b="1" dirty="0">
                  <a:solidFill>
                    <a:srgbClr val="143866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⑧</a:t>
              </a:r>
              <a:endParaRPr lang="en-US" sz="20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endParaRPr>
            </a:p>
          </p:txBody>
        </p:sp>
        <p:sp>
          <p:nvSpPr>
            <p:cNvPr id="41" name="Text 23"/>
            <p:cNvSpPr/>
            <p:nvPr/>
          </p:nvSpPr>
          <p:spPr>
            <a:xfrm>
              <a:off x="12144" y="9233"/>
              <a:ext cx="5510" cy="73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2000" dirty="0">
                  <a:solidFill>
                    <a:srgbClr val="1F2B37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在 JSecProbe 里做判定并导出《数据库安全测评记录表》</a:t>
              </a:r>
              <a:endParaRPr lang="en-US" sz="2000" dirty="0">
                <a:solidFill>
                  <a:srgbClr val="1F2B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</p:grpSp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561955" y="31369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13" imgW="971550" imgH="666750" progId="Word.Document.12">
                  <p:embed/>
                </p:oleObj>
              </mc:Choice>
              <mc:Fallback>
                <p:oleObj name="" showAsIcon="1" r:id="rId13" imgW="971550" imgH="666750" progId="Word.Document.12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561955" y="31369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实验③怎么判——JSecProbe 录入与四档判定</a:t>
            </a:r>
            <a:endParaRPr lang="en-US" sz="276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09600" y="1371600"/>
          <a:ext cx="10972800" cy="4606290"/>
        </p:xfrm>
        <a:graphic>
          <a:graphicData uri="http://schemas.openxmlformats.org/drawingml/2006/table">
            <a:tbl>
              <a:tblPr/>
              <a:tblGrid>
                <a:gridCol w="2334963"/>
                <a:gridCol w="4028956"/>
                <a:gridCol w="4608881"/>
              </a:tblGrid>
              <a:tr h="452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填什么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怎么填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示例（MySQL 8.0）</a:t>
                      </a:r>
                      <a:endParaRPr lang="en-US" sz="1600" b="1" dirty="0">
                        <a:solidFill>
                          <a:srgbClr val="FF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测评对象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实例名 + 版本 + 端口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MySQL-01 / MySQL 8.0 / 3306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测评项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条款编号 + 名称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8.1.4.1 b) 身份鉴别-口令复杂度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核查结果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抄回显里的真实值，只写数据不写结论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validate_password 未安装；default_password_lifetime=0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9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证据编号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填对应截图的文件名，与截图包一一对应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M1-02.png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符合性判定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四选一：符合 / 部分符合 / 不符合 / 不适用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不符合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问题描述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写清"做到哪、差在哪"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未启用口令复杂度校验，密码可设为 123456；且密码永不过期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整改建议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给出可直接执行的语句 + 完成期限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INSTALL COMPONENT 'file://component_validate_password'; SET GLOBAL default_password_lifetime=90；5 个工作日内完成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实验④交什么——成果与提交前自查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3840480" cy="15849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3440" y="1447800"/>
            <a:ext cx="34229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必交 1</a:t>
            </a:r>
            <a:endParaRPr lang="en-US" sz="1680" dirty="0"/>
          </a:p>
        </p:txBody>
      </p:sp>
      <p:sp>
        <p:nvSpPr>
          <p:cNvPr id="8" name="Text 2"/>
          <p:cNvSpPr/>
          <p:nvPr/>
        </p:nvSpPr>
        <p:spPr>
          <a:xfrm>
            <a:off x="853440" y="1849755"/>
            <a:ext cx="3422904" cy="101727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《数据库安全测评记录表》：MySQL 与 SQL Server 两条线的核查项全填（实测值 + 四档判定 + 整改建议）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3920" y="1371600"/>
            <a:ext cx="3855720" cy="158496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937760" y="1432560"/>
            <a:ext cx="41087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必交 2</a:t>
            </a:r>
            <a:endParaRPr lang="en-US" sz="1680" dirty="0"/>
          </a:p>
        </p:txBody>
      </p:sp>
      <p:sp>
        <p:nvSpPr>
          <p:cNvPr id="11" name="Text 4"/>
          <p:cNvSpPr/>
          <p:nvPr/>
        </p:nvSpPr>
        <p:spPr>
          <a:xfrm>
            <a:off x="4937760" y="1821180"/>
            <a:ext cx="3605530" cy="1146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操作取证包：每条判定对应的命令回显截图，编号与记录表"证据"列一一对应</a:t>
            </a:r>
            <a:endParaRPr lang="en-US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92845" y="1371600"/>
            <a:ext cx="2789555" cy="15849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296400" y="143256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必交 3</a:t>
            </a:r>
            <a:endParaRPr lang="en-US" sz="1680" dirty="0"/>
          </a:p>
        </p:txBody>
      </p:sp>
      <p:sp>
        <p:nvSpPr>
          <p:cNvPr id="14" name="Text 6"/>
          <p:cNvSpPr/>
          <p:nvPr/>
        </p:nvSpPr>
        <p:spPr>
          <a:xfrm>
            <a:off x="9122410" y="1828800"/>
            <a:ext cx="217043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JSecProbe 判定结果导出页（含项目名称与本人账号）</a:t>
            </a:r>
            <a:endParaRPr lang="en-US" sz="16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15" name="Image 6" descr="https://test.web.static.jianzeppt.com/ppt-temp-img3/661e0e922852dad8cba9e33cf50fe194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200400"/>
            <a:ext cx="10972800" cy="3048000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840" y="3215640"/>
            <a:ext cx="10942320" cy="65532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29640" y="3337560"/>
            <a:ext cx="110642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提交方式</a:t>
            </a:r>
            <a:endParaRPr lang="en-US" sz="2160" dirty="0"/>
          </a:p>
        </p:txBody>
      </p:sp>
      <p:pic>
        <p:nvPicPr>
          <p:cNvPr id="18" name="Image 8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" y="4145280"/>
            <a:ext cx="304800" cy="3048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960120" y="416052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2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0" name="Text 9"/>
          <p:cNvSpPr/>
          <p:nvPr/>
        </p:nvSpPr>
        <p:spPr>
          <a:xfrm>
            <a:off x="1325880" y="4114800"/>
            <a:ext cx="4693285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文件命名：学号_姓名_实验4.3_记录表.docx / 学号_姓名_实验4.3_截图.zip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1" name="Image 9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8880" y="4145280"/>
            <a:ext cx="304800" cy="3048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6370320" y="416052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2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6736080" y="4114800"/>
            <a:ext cx="528320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提交至学习通 → 任务 4.3 → 作业区（课内完成并提交）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4" name="Image 10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" y="4815840"/>
            <a:ext cx="304800" cy="3048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960120" y="483108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2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1325880" y="4770120"/>
            <a:ext cx="4595495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自查：☐ 每条判定都有截图 ☐ 实测值是具体参数值而不是结论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7" name="Image 11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8880" y="4632960"/>
            <a:ext cx="304800" cy="30480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370320" y="464820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2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6736080" y="4602480"/>
            <a:ext cx="5181600" cy="3390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☐ 不符合项写清差在哪 ☐ 整改建议是可直接执行的语句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0" name="Image 12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" y="5455920"/>
            <a:ext cx="304800" cy="30480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960120" y="547116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2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1325880" y="5410200"/>
            <a:ext cx="4595495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评分看点：命令执行 30% ＋ 取证质量 25% ＋ 判定与描述 25% ＋ 职业素养 20%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3" name="Image 13" descr="https://test.web.static.jianzeppt.com/ppt-temp-img3/4137e4b43d4888376bc6dc627fea755b.png?x-oss-process=image/resize,w_1440,h_800,m_lfit/format,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8880" y="5455920"/>
            <a:ext cx="304800" cy="30480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370320" y="5471160"/>
            <a:ext cx="13106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</a:t>
            </a:r>
            <a:endParaRPr lang="en-US" sz="1200" b="1" dirty="0">
              <a:solidFill>
                <a:srgbClr val="143866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6736080" y="5425440"/>
            <a:ext cx="4556760" cy="6781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职业素养：如实记录、截图不外传、只在平台实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验库上操作，不做删库改密等破坏性动作</a:t>
            </a:r>
            <a:endParaRPr lang="en-US" sz="1600" dirty="0">
              <a:solidFill>
                <a:srgbClr val="33333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36080" y="410845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4" imgW="971550" imgH="666750" progId="Word.Document.12">
                  <p:embed/>
                </p:oleObj>
              </mc:Choice>
              <mc:Fallback>
                <p:oleObj name="" showAsIcon="1" r:id="rId14" imgW="971550" imgH="666750" progId="Word.Documen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36080" y="410845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987030" y="41021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16" imgW="971550" imgH="666750" progId="Word.Document.12">
                  <p:embed/>
                </p:oleObj>
              </mc:Choice>
              <mc:Fallback>
                <p:oleObj name="" showAsIcon="1" r:id="rId16" imgW="971550" imgH="666750" progId="Word.Documen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987030" y="41021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本讲配套素材——什么时候用、用在哪一步</a:t>
            </a:r>
            <a:endParaRPr lang="en-US" sz="276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09600" y="1371600"/>
          <a:ext cx="10972800" cy="4876802"/>
        </p:xfrm>
        <a:graphic>
          <a:graphicData uri="http://schemas.openxmlformats.org/drawingml/2006/table">
            <a:tbl>
              <a:tblPr/>
              <a:tblGrid>
                <a:gridCol w="2334963"/>
                <a:gridCol w="4028956"/>
                <a:gridCol w="4608881"/>
              </a:tblGrid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素材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用在哪一步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里面有什么</a:t>
                      </a:r>
                      <a:endParaRPr lang="en-US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素材1：MySQL 配置核查清单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实验①查 MySQL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检查项 — 核查命令 — 合格标准 — 回显要点 四列对照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素材2：《数据库安全测评记录表》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实验③判定与出表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实例信息、测评项、核查结果、四档判定、整改建议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素材3：SQL Server 配置核查清单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实验②查 SQL Server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检查项 — 核查命令 — 合格标准 — 回显要点 四列对照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素材4：数据库核查快速命令参考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全流程速查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常用命令速查卡，命令记不住时先翻它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素材6：JSecProbe 录入与判定操作卡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实验③判定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现场核查路径、四档判定口径、证据编号规则、导出步骤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6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素材5：课后作业——数据库安全合规性分析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课后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分析题与提交要求</a:t>
                      </a:r>
                      <a:endParaRPr lang="en-US" sz="1600" dirty="0">
                        <a:solidFill>
                          <a:srgbClr val="000000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282" y="897806"/>
            <a:ext cx="2863855" cy="49377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40" dirty="0">
                <a:solidFill>
                  <a:srgbClr val="FFFFFF"/>
                </a:solidFill>
              </a:rPr>
              <a:t>Part.04</a:t>
            </a:r>
            <a:endParaRPr lang="en-US" sz="3240" dirty="0"/>
          </a:p>
        </p:txBody>
      </p:sp>
      <p:sp>
        <p:nvSpPr>
          <p:cNvPr id="4" name="Text 1"/>
          <p:cNvSpPr/>
          <p:nvPr/>
        </p:nvSpPr>
        <p:spPr>
          <a:xfrm>
            <a:off x="771842" y="1617339"/>
            <a:ext cx="10666735" cy="80467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280" dirty="0">
                <a:solidFill>
                  <a:srgbClr val="FFFFFF"/>
                </a:solidFill>
              </a:rPr>
              <a:t>回顾与拓展——易错点、作业与下节预告</a:t>
            </a:r>
            <a:endParaRPr lang="en-US" sz="5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职业提醒——你查的每一行配置，背后都是人的信息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815840"/>
            <a:ext cx="10972800" cy="14325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1112520" y="5288280"/>
            <a:ext cx="99761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一句话：你填的每一个"不符合"，都可能挡住一次真实的数据泄露。</a:t>
            </a:r>
            <a:endParaRPr lang="en-US" sz="2640" dirty="0"/>
          </a:p>
        </p:txBody>
      </p:sp>
      <p:pic>
        <p:nvPicPr>
          <p:cNvPr id="8" name="Image 4" descr="https://test.web.static.jianzeppt.com/ppt-temp-img3/fd5cc301fdabd9926705f7834b3d58f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3505200" cy="32004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96440" y="1630680"/>
            <a:ext cx="731520" cy="6858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79320" y="1783080"/>
            <a:ext cx="365760" cy="36576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2026920" y="2484120"/>
            <a:ext cx="694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守护</a:t>
            </a:r>
            <a:endParaRPr lang="en-US" sz="2400" dirty="0"/>
          </a:p>
        </p:txBody>
      </p:sp>
      <p:sp>
        <p:nvSpPr>
          <p:cNvPr id="12" name="Text 3"/>
          <p:cNvSpPr/>
          <p:nvPr/>
        </p:nvSpPr>
        <p:spPr>
          <a:xfrm>
            <a:off x="868680" y="3078480"/>
            <a:ext cx="2996184" cy="882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数据库存储的是客户信息、交易记录、医疗档案……一次配置失误，可能影响成千上万的人</a:t>
            </a:r>
            <a:endParaRPr lang="en-US" sz="1680" dirty="0"/>
          </a:p>
        </p:txBody>
      </p:sp>
      <p:pic>
        <p:nvPicPr>
          <p:cNvPr id="13" name="Image 7" descr="https://test.web.static.jianzeppt.com/ppt-temp-img3/fd5cc301fdabd9926705f7834b3d58f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371600"/>
            <a:ext cx="3505200" cy="3200400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30240" y="1630680"/>
            <a:ext cx="731520" cy="609600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13120" y="1752600"/>
            <a:ext cx="365760" cy="365760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>
            <a:off x="5760720" y="2407920"/>
            <a:ext cx="694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合规</a:t>
            </a:r>
            <a:endParaRPr lang="en-US" sz="2160" dirty="0"/>
          </a:p>
        </p:txBody>
      </p:sp>
      <p:sp>
        <p:nvSpPr>
          <p:cNvPr id="17" name="Text 5"/>
          <p:cNvSpPr/>
          <p:nvPr/>
        </p:nvSpPr>
        <p:spPr>
          <a:xfrm>
            <a:off x="4602480" y="2941320"/>
            <a:ext cx="2996184" cy="1177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《网络安全法》《数据安全法》《个人信息保护法》对数据安全有明确要求，测评工程师的每一次核查，都是在推动法律落实</a:t>
            </a:r>
            <a:endParaRPr lang="en-US" sz="1680" dirty="0"/>
          </a:p>
        </p:txBody>
      </p:sp>
      <p:pic>
        <p:nvPicPr>
          <p:cNvPr id="18" name="Image 10" descr="https://test.web.static.jianzeppt.com/ppt-temp-img3/fd5cc301fdabd9926705f7834b3d58f0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1371600"/>
            <a:ext cx="3505200" cy="320040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64040" y="1630680"/>
            <a:ext cx="731520" cy="731520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46920" y="1813560"/>
            <a:ext cx="365760" cy="36576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9494520" y="254508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担当</a:t>
            </a:r>
            <a:endParaRPr lang="en-US" sz="2640" dirty="0"/>
          </a:p>
        </p:txBody>
      </p:sp>
      <p:sp>
        <p:nvSpPr>
          <p:cNvPr id="22" name="Text 7"/>
          <p:cNvSpPr/>
          <p:nvPr/>
        </p:nvSpPr>
        <p:spPr>
          <a:xfrm>
            <a:off x="8351520" y="3169920"/>
            <a:ext cx="2996184" cy="9458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“数据库安全无小事”，发现一个配置漏洞，可能避免一次大规模数据泄露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知识点回顾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1480" y="1219200"/>
            <a:ext cx="3764280" cy="74676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4587240" y="1341120"/>
            <a:ext cx="30419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数据库安全配置核查</a:t>
            </a:r>
            <a:endParaRPr lang="en-US" sz="2640" dirty="0"/>
          </a:p>
        </p:txBody>
      </p:sp>
      <p:pic>
        <p:nvPicPr>
          <p:cNvPr id="8" name="Image 4" descr="https://test.web.static.jianzeppt.com/ppt-temp-img3/7280daf2dfac1c18eb5bfb70e5a20feb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209800"/>
            <a:ext cx="5242560" cy="10210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480" y="2377440"/>
            <a:ext cx="304800" cy="33528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883920" y="24079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</a:t>
            </a:r>
            <a:endParaRPr lang="en-US" sz="1440" dirty="0"/>
          </a:p>
        </p:txBody>
      </p:sp>
      <p:sp>
        <p:nvSpPr>
          <p:cNvPr id="11" name="Text 3"/>
          <p:cNvSpPr/>
          <p:nvPr/>
        </p:nvSpPr>
        <p:spPr>
          <a:xfrm>
            <a:off x="1203960" y="233172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身份鉴别</a:t>
            </a:r>
            <a:endParaRPr lang="en-US" sz="2160" dirty="0"/>
          </a:p>
        </p:txBody>
      </p:sp>
      <p:sp>
        <p:nvSpPr>
          <p:cNvPr id="12" name="Text 4"/>
          <p:cNvSpPr/>
          <p:nvPr/>
        </p:nvSpPr>
        <p:spPr>
          <a:xfrm>
            <a:off x="792480" y="280416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密码复杂度、定期更换、登录失败处理、远程加密</a:t>
            </a:r>
            <a:endParaRPr lang="en-US" sz="1680" dirty="0"/>
          </a:p>
        </p:txBody>
      </p:sp>
      <p:pic>
        <p:nvPicPr>
          <p:cNvPr id="13" name="Image 6" descr="https://test.web.static.jianzeppt.com/ppt-temp-img3/447237d5c8b7d57f6e6689a1130d542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840" y="2209800"/>
            <a:ext cx="5242560" cy="1021080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2720" y="2377440"/>
            <a:ext cx="304800" cy="33528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6614160" y="24079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</a:t>
            </a:r>
            <a:endParaRPr lang="en-US" sz="1440" dirty="0"/>
          </a:p>
        </p:txBody>
      </p:sp>
      <p:sp>
        <p:nvSpPr>
          <p:cNvPr id="16" name="Text 6"/>
          <p:cNvSpPr/>
          <p:nvPr/>
        </p:nvSpPr>
        <p:spPr>
          <a:xfrm>
            <a:off x="6934200" y="233172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访问控制</a:t>
            </a:r>
            <a:endParaRPr lang="en-US" sz="2160" dirty="0"/>
          </a:p>
        </p:txBody>
      </p:sp>
      <p:sp>
        <p:nvSpPr>
          <p:cNvPr id="17" name="Text 7"/>
          <p:cNvSpPr/>
          <p:nvPr/>
        </p:nvSpPr>
        <p:spPr>
          <a:xfrm>
            <a:off x="6522720" y="280416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最小权限、禁用SA/root远程、权限分离</a:t>
            </a:r>
            <a:endParaRPr lang="en-US" sz="1680" dirty="0"/>
          </a:p>
        </p:txBody>
      </p:sp>
      <p:pic>
        <p:nvPicPr>
          <p:cNvPr id="18" name="Image 8" descr="https://test.web.static.jianzeppt.com/ppt-temp-img3/5b226e8e2b1bc6c1facb505615cda8e2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672840"/>
            <a:ext cx="5242560" cy="1021080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480" y="3825240"/>
            <a:ext cx="304800" cy="33528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883920" y="38557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</a:t>
            </a:r>
            <a:endParaRPr lang="en-US" sz="1440" dirty="0"/>
          </a:p>
        </p:txBody>
      </p:sp>
      <p:sp>
        <p:nvSpPr>
          <p:cNvPr id="21" name="Text 9"/>
          <p:cNvSpPr/>
          <p:nvPr/>
        </p:nvSpPr>
        <p:spPr>
          <a:xfrm>
            <a:off x="1203960" y="379476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安全审计</a:t>
            </a:r>
            <a:endParaRPr lang="en-US" sz="2160" dirty="0"/>
          </a:p>
        </p:txBody>
      </p:sp>
      <p:sp>
        <p:nvSpPr>
          <p:cNvPr id="22" name="Text 10"/>
          <p:cNvSpPr/>
          <p:nvPr/>
        </p:nvSpPr>
        <p:spPr>
          <a:xfrm>
            <a:off x="792480" y="426720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功能启用、内容完整、记录保护</a:t>
            </a:r>
            <a:endParaRPr lang="en-US" sz="1680" dirty="0"/>
          </a:p>
        </p:txBody>
      </p:sp>
      <p:pic>
        <p:nvPicPr>
          <p:cNvPr id="23" name="Image 10" descr="https://test.web.static.jianzeppt.com/ppt-temp-img3/833f46497ac6d61580cb2c3e274397ec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840" y="3672840"/>
            <a:ext cx="5242560" cy="1021080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2720" y="3825240"/>
            <a:ext cx="304800" cy="33528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6614160" y="385572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</a:t>
            </a:r>
            <a:endParaRPr lang="en-US" sz="1440" dirty="0"/>
          </a:p>
        </p:txBody>
      </p:sp>
      <p:sp>
        <p:nvSpPr>
          <p:cNvPr id="26" name="Text 12"/>
          <p:cNvSpPr/>
          <p:nvPr/>
        </p:nvSpPr>
        <p:spPr>
          <a:xfrm>
            <a:off x="6934200" y="3794760"/>
            <a:ext cx="110642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入侵防范</a:t>
            </a:r>
            <a:endParaRPr lang="en-US" sz="2160" dirty="0"/>
          </a:p>
        </p:txBody>
      </p:sp>
      <p:sp>
        <p:nvSpPr>
          <p:cNvPr id="27" name="Text 13"/>
          <p:cNvSpPr/>
          <p:nvPr/>
        </p:nvSpPr>
        <p:spPr>
          <a:xfrm>
            <a:off x="6522720" y="426720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最小安装、修改默认端口、禁用高危功能</a:t>
            </a:r>
            <a:endParaRPr lang="en-US" sz="1680" dirty="0"/>
          </a:p>
        </p:txBody>
      </p:sp>
      <p:pic>
        <p:nvPicPr>
          <p:cNvPr id="28" name="Image 12" descr="https://test.web.static.jianzeppt.com/ppt-temp-img3/6c61de79230afe74648c71f9022032d7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120640"/>
            <a:ext cx="5242560" cy="1021080"/>
          </a:xfrm>
          <a:prstGeom prst="rect">
            <a:avLst/>
          </a:prstGeom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480" y="5288280"/>
            <a:ext cx="304800" cy="33528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883920" y="531876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</a:t>
            </a:r>
            <a:endParaRPr lang="en-US" sz="1440" dirty="0"/>
          </a:p>
        </p:txBody>
      </p:sp>
      <p:sp>
        <p:nvSpPr>
          <p:cNvPr id="31" name="Text 15"/>
          <p:cNvSpPr/>
          <p:nvPr/>
        </p:nvSpPr>
        <p:spPr>
          <a:xfrm>
            <a:off x="1203960" y="5242560"/>
            <a:ext cx="176174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完整性/保密性</a:t>
            </a:r>
            <a:endParaRPr lang="en-US" sz="2160" dirty="0"/>
          </a:p>
        </p:txBody>
      </p:sp>
      <p:sp>
        <p:nvSpPr>
          <p:cNvPr id="32" name="Text 16"/>
          <p:cNvSpPr/>
          <p:nvPr/>
        </p:nvSpPr>
        <p:spPr>
          <a:xfrm>
            <a:off x="792480" y="571500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传输加密（SSL/TLS）、存储加密（TDE）</a:t>
            </a:r>
            <a:endParaRPr lang="en-US" sz="1680" dirty="0"/>
          </a:p>
        </p:txBody>
      </p:sp>
      <p:pic>
        <p:nvPicPr>
          <p:cNvPr id="33" name="Image 14" descr="https://test.web.static.jianzeppt.com/ppt-temp-img3/d0f83973a71a8c6688fb8a8a6b1b0978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840" y="5120640"/>
            <a:ext cx="5242560" cy="1021080"/>
          </a:xfrm>
          <a:prstGeom prst="rect">
            <a:avLst/>
          </a:prstGeom>
        </p:spPr>
      </p:pic>
      <p:pic>
        <p:nvPicPr>
          <p:cNvPr id="34" name="Image 1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2720" y="5288280"/>
            <a:ext cx="304800" cy="335280"/>
          </a:xfrm>
          <a:prstGeom prst="rect">
            <a:avLst/>
          </a:prstGeom>
        </p:spPr>
      </p:pic>
      <p:sp>
        <p:nvSpPr>
          <p:cNvPr id="35" name="Text 17"/>
          <p:cNvSpPr/>
          <p:nvPr/>
        </p:nvSpPr>
        <p:spPr>
          <a:xfrm>
            <a:off x="6614160" y="5318760"/>
            <a:ext cx="13106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</a:t>
            </a:r>
            <a:endParaRPr lang="en-US" sz="1440" dirty="0"/>
          </a:p>
        </p:txBody>
      </p:sp>
      <p:sp>
        <p:nvSpPr>
          <p:cNvPr id="36" name="Text 18"/>
          <p:cNvSpPr/>
          <p:nvPr/>
        </p:nvSpPr>
        <p:spPr>
          <a:xfrm>
            <a:off x="6934200" y="5242560"/>
            <a:ext cx="1655064" cy="3962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数据备份恢复</a:t>
            </a:r>
            <a:endParaRPr lang="en-US" sz="2160" dirty="0"/>
          </a:p>
        </p:txBody>
      </p:sp>
      <p:sp>
        <p:nvSpPr>
          <p:cNvPr id="37" name="Text 19"/>
          <p:cNvSpPr/>
          <p:nvPr/>
        </p:nvSpPr>
        <p:spPr>
          <a:xfrm>
            <a:off x="6522720" y="5715000"/>
            <a:ext cx="4946904" cy="3048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本地备份、异地备份（三级）</a:t>
            </a:r>
            <a:endParaRPr lang="en-US" sz="16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课后作业</a:t>
            </a:r>
            <a:endParaRPr lang="en-US" sz="2760" dirty="0"/>
          </a:p>
        </p:txBody>
      </p:sp>
      <p:pic>
        <p:nvPicPr>
          <p:cNvPr id="6" name="Image 3" descr="https://test.web.static.jianzeppt.com/ppt-temp-img3/5a985fa7cf4bc507c0a590f7415d9ef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5303520" cy="22555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75360" y="2304336"/>
            <a:ext cx="4581144" cy="87772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用素材2 完成 MySQL 与 SQL Server 两条线的《数据库安全测评记录表》，连同截图包提交至学习通</a:t>
            </a:r>
            <a:endParaRPr lang="en-US" sz="2160" dirty="0"/>
          </a:p>
        </p:txBody>
      </p:sp>
      <p:pic>
        <p:nvPicPr>
          <p:cNvPr id="8" name="Image 4" descr="https://test.web.static.jianzeppt.com/ppt-temp-img3/a984cd0e2b5992876499fd7abc9c038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1295400" cy="54864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14400" y="140208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优设标题黑" panose="00000500000000000000" pitchFamily="34" charset="-122"/>
                <a:ea typeface="优设标题黑" panose="00000500000000000000" pitchFamily="34" charset="-122"/>
                <a:cs typeface="优设标题黑" panose="00000500000000000000" pitchFamily="34" charset="-120"/>
              </a:rPr>
              <a:t>必做</a:t>
            </a:r>
            <a:endParaRPr lang="en-US" sz="2640" dirty="0"/>
          </a:p>
        </p:txBody>
      </p:sp>
      <p:pic>
        <p:nvPicPr>
          <p:cNvPr id="10" name="Image 5" descr="https://test.web.static.jianzeppt.com/ppt-temp-img3/5a985fa7cf4bc507c0a590f7415d9ef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0" y="1371600"/>
            <a:ext cx="5303520" cy="225552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644640" y="2225040"/>
            <a:ext cx="4581144" cy="1036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完成作业：04.3 数据库安全配置核查</a:t>
            </a:r>
            <a:endParaRPr lang="en-US" sz="2160" dirty="0"/>
          </a:p>
        </p:txBody>
      </p:sp>
      <p:pic>
        <p:nvPicPr>
          <p:cNvPr id="12" name="Image 6" descr="https://test.web.static.jianzeppt.com/ppt-temp-img3/1ae785e4c043e696229245ce8b3eeadb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880" y="1371600"/>
            <a:ext cx="1295400" cy="54864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6583680" y="140208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优设标题黑" panose="00000500000000000000" pitchFamily="34" charset="-122"/>
                <a:ea typeface="优设标题黑" panose="00000500000000000000" pitchFamily="34" charset="-122"/>
                <a:cs typeface="优设标题黑" panose="00000500000000000000" pitchFamily="34" charset="-120"/>
              </a:rPr>
              <a:t>必做</a:t>
            </a:r>
            <a:endParaRPr lang="en-US" sz="2640" dirty="0"/>
          </a:p>
        </p:txBody>
      </p:sp>
      <p:pic>
        <p:nvPicPr>
          <p:cNvPr id="14" name="Image 7" descr="https://test.web.static.jianzeppt.com/ppt-temp-img3/5a985fa7cf4bc507c0a590f7415d9ef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92880"/>
            <a:ext cx="5303520" cy="225552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975360" y="4974431"/>
            <a:ext cx="4581144" cy="7800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对照素材1，自查你填的 MySQL 口令策略判定有没有漏项，写 3 行说明</a:t>
            </a:r>
            <a:endParaRPr lang="en-US" sz="1920" dirty="0"/>
          </a:p>
        </p:txBody>
      </p:sp>
      <p:pic>
        <p:nvPicPr>
          <p:cNvPr id="16" name="Image 8" descr="https://test.web.static.jianzeppt.com/ppt-temp-img3/c8d88094f728184935b2a60e7f7f9c8a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992880"/>
            <a:ext cx="1295400" cy="54864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914400" y="402336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优设标题黑" panose="00000500000000000000" pitchFamily="34" charset="-122"/>
                <a:ea typeface="优设标题黑" panose="00000500000000000000" pitchFamily="34" charset="-122"/>
                <a:cs typeface="优设标题黑" panose="00000500000000000000" pitchFamily="34" charset="-120"/>
              </a:rPr>
              <a:t>选做</a:t>
            </a:r>
            <a:endParaRPr lang="en-US" sz="2640" dirty="0"/>
          </a:p>
        </p:txBody>
      </p:sp>
      <p:pic>
        <p:nvPicPr>
          <p:cNvPr id="18" name="Image 9" descr="https://test.web.static.jianzeppt.com/ppt-temp-img3/5a985fa7cf4bc507c0a590f7415d9ef8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0" y="3992880"/>
            <a:ext cx="5303520" cy="225552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6644640" y="4925616"/>
            <a:ext cx="4581144" cy="87772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预习4.4“应用系统安全功能验证”相关内容</a:t>
            </a:r>
            <a:endParaRPr lang="en-US" sz="2160" dirty="0"/>
          </a:p>
        </p:txBody>
      </p:sp>
      <p:pic>
        <p:nvPicPr>
          <p:cNvPr id="20" name="Image 10" descr="https://test.web.static.jianzeppt.com/ppt-temp-img3/9cff75cd3e64aebc847071818d31fd78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880" y="3992880"/>
            <a:ext cx="1295400" cy="54864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6583680" y="4023360"/>
            <a:ext cx="69494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dirty="0">
                <a:solidFill>
                  <a:srgbClr val="FFFFFF"/>
                </a:solidFill>
                <a:latin typeface="优设标题黑" panose="00000500000000000000" pitchFamily="34" charset="-122"/>
                <a:ea typeface="优设标题黑" panose="00000500000000000000" pitchFamily="34" charset="-122"/>
                <a:cs typeface="优设标题黑" panose="00000500000000000000" pitchFamily="34" charset="-120"/>
              </a:rPr>
              <a:t>预习</a:t>
            </a:r>
            <a:endParaRPr lang="en-US" sz="2640" dirty="0"/>
          </a:p>
        </p:txBody>
      </p:sp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780030" y="42545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6" imgW="971550" imgH="666750" progId="Word.Document.12">
                  <p:embed/>
                </p:oleObj>
              </mc:Choice>
              <mc:Fallback>
                <p:oleObj name="" showAsIcon="1" r:id="rId6" imgW="971550" imgH="666750" progId="Word.Document.12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0030" y="42545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下节课预告</a:t>
            </a:r>
            <a:endParaRPr lang="en-US" sz="276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10972800" cy="9906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7" name="Text 1"/>
          <p:cNvSpPr/>
          <p:nvPr/>
        </p:nvSpPr>
        <p:spPr>
          <a:xfrm>
            <a:off x="3596640" y="1615440"/>
            <a:ext cx="50078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kern="0" spc="88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任务4.4：应用系统安全功能验证</a:t>
            </a:r>
            <a:endParaRPr lang="en-US" sz="2640" dirty="0"/>
          </a:p>
        </p:txBody>
      </p:sp>
      <p:pic>
        <p:nvPicPr>
          <p:cNvPr id="8" name="Image 4" descr="https://test.web.static.jianzeppt.com/ppt-temp-img3/80aca478237490c28a55a1d969dae3f6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667000"/>
            <a:ext cx="5303520" cy="35814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600" y="3139440"/>
            <a:ext cx="121920" cy="30480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234440" y="30480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预告内容</a:t>
            </a:r>
            <a:endParaRPr lang="en-US" sz="2640" dirty="0"/>
          </a:p>
        </p:txBody>
      </p:sp>
      <p:pic>
        <p:nvPicPr>
          <p:cNvPr id="11" name="Image 6" descr="https://test.web.static.jianzeppt.com/ppt-temp-img3/a90e3d2fe432fcfe5722fa9c4ddb9d9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3746602"/>
            <a:ext cx="4541520" cy="1524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600" y="4145280"/>
            <a:ext cx="91440" cy="9144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264920" y="4053840"/>
            <a:ext cx="220370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身份鉴别功能验证</a:t>
            </a:r>
            <a:endParaRPr lang="en-US" sz="216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600" y="4831080"/>
            <a:ext cx="91440" cy="9144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264920" y="4739640"/>
            <a:ext cx="220370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访问控制功能验证</a:t>
            </a:r>
            <a:endParaRPr lang="en-US" sz="216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600" y="5516880"/>
            <a:ext cx="91440" cy="9144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1264920" y="5425440"/>
            <a:ext cx="2203704" cy="4469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安全审计功能验证</a:t>
            </a:r>
            <a:endParaRPr lang="en-US" sz="2160" dirty="0"/>
          </a:p>
        </p:txBody>
      </p:sp>
      <p:pic>
        <p:nvPicPr>
          <p:cNvPr id="18" name="Image 10" descr="https://test.web.static.jianzeppt.com/ppt-temp-img3/80aca478237490c28a55a1d969dae3f6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880" y="2667000"/>
            <a:ext cx="5303520" cy="3581400"/>
          </a:xfrm>
          <a:prstGeom prst="rect">
            <a:avLst/>
          </a:prstGeom>
        </p:spPr>
      </p:pic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9880" y="3154680"/>
            <a:ext cx="121920" cy="30480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6903720" y="3048000"/>
            <a:ext cx="13655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143866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课前准备</a:t>
            </a:r>
            <a:endParaRPr lang="en-US" sz="2640" dirty="0"/>
          </a:p>
        </p:txBody>
      </p:sp>
      <p:pic>
        <p:nvPicPr>
          <p:cNvPr id="21" name="Image 12" descr="https://test.web.static.jianzeppt.com/ppt-temp-img3/a90e3d2fe432fcfe5722fa9c4ddb9d97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9880" y="3749040"/>
            <a:ext cx="4541520" cy="15240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9880" y="4145280"/>
            <a:ext cx="91440" cy="9144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6934200" y="3849370"/>
            <a:ext cx="4154424" cy="8939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复习GB/T 22239中“安全计算环境-应用系统”相关要求</a:t>
            </a:r>
            <a:endParaRPr lang="en-US" sz="216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9880" y="5288280"/>
            <a:ext cx="91440" cy="9144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6934200" y="5196840"/>
            <a:ext cx="2767584" cy="42219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4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准备Web应用测试环境</a:t>
            </a:r>
            <a:endParaRPr lang="en-US" sz="20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6780" y="1925506"/>
            <a:ext cx="9136882" cy="97512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360" dirty="0">
                <a:solidFill>
                  <a:srgbClr val="FFFFFF"/>
                </a:solidFill>
              </a:rPr>
              <a:t>感谢观看</a:t>
            </a:r>
            <a:endParaRPr lang="en-US" sz="63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52*207"/>
  <p:tag name="TABLE_ENDDRAG_RECT" val="96*164*752*207"/>
</p:tagLst>
</file>

<file path=ppt/tags/tag2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3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4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5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6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7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8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9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10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11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12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13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14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15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16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17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18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19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20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21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22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23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24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25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26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27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28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29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30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ags/tag31.xml><?xml version="1.0" encoding="utf-8"?>
<p:tagLst xmlns:p="http://schemas.openxmlformats.org/presentationml/2006/main">
  <p:tag name="KSO_WM_DIAGRAM_VIRTUALLY_FRAME" val="{&quot;height&quot;:207.55,&quot;left&quot;:52.8,&quot;top&quot;:310.8,&quot;width&quot;:875.4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7788</Words>
  <Application>WPS 演示</Application>
  <PresentationFormat>On-screen Show (16:9)</PresentationFormat>
  <Paragraphs>941</Paragraphs>
  <Slides>29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29</vt:i4>
      </vt:variant>
    </vt:vector>
  </HeadingPairs>
  <TitlesOfParts>
    <vt:vector size="52" baseType="lpstr">
      <vt:lpstr>Arial</vt:lpstr>
      <vt:lpstr>宋体</vt:lpstr>
      <vt:lpstr>Wingdings</vt:lpstr>
      <vt:lpstr>思源黑体 CN</vt:lpstr>
      <vt:lpstr>黑体</vt:lpstr>
      <vt:lpstr>思源黑体 CN</vt:lpstr>
      <vt:lpstr>思源黑体 CN Bold</vt:lpstr>
      <vt:lpstr>思源黑体 CN Bold</vt:lpstr>
      <vt:lpstr>思源黑体 CN Bold</vt:lpstr>
      <vt:lpstr>Calibri</vt:lpstr>
      <vt:lpstr>微软雅黑</vt:lpstr>
      <vt:lpstr>Arial Unicode MS</vt:lpstr>
      <vt:lpstr>等线</vt:lpstr>
      <vt:lpstr>优设标题黑</vt:lpstr>
      <vt:lpstr>优设标题黑</vt:lpstr>
      <vt:lpstr>Office Theme</vt:lpstr>
      <vt:lpstr>Word.Document.12</vt:lpstr>
      <vt:lpstr>Word.Document.12</vt:lpstr>
      <vt:lpstr>Word.Document.12</vt:lpstr>
      <vt:lpstr>Word.Document.12</vt:lpstr>
      <vt:lpstr>Word.Document.12</vt:lpstr>
      <vt:lpstr>Word.Document.12</vt:lpstr>
      <vt:lpstr>Word.Document.12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13</cp:revision>
  <dcterms:created xsi:type="dcterms:W3CDTF">2026-08-30T07:50:00Z</dcterms:created>
  <dcterms:modified xsi:type="dcterms:W3CDTF">2026-10-09T16:12:35Z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25430E5E729C44C59F052F4BB85923BC_12</vt:lpwstr>
  </property>
  <property fmtid="{D5CDD505-2E9C-101B-9397-08002B2CF9AE}" pid="3" name="KSOProductBuildVer">
    <vt:lpwstr>2052-12.1.0.19302</vt:lpwstr>
  </property>
</Properties>
</file>