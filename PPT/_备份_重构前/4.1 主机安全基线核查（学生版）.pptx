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16.svg" ContentType="image/svg+xml"/>
  <Override PartName="/ppt/media/image119.svg" ContentType="image/svg+xml"/>
  <Override PartName="/ppt/media/image121.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51.svg" ContentType="image/svg+xml"/>
  <Override PartName="/ppt/media/image17.svg" ContentType="image/svg+xml"/>
  <Override PartName="/ppt/media/image2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42.svg" ContentType="image/svg+xml"/>
  <Override PartName="/ppt/media/image45.svg" ContentType="image/svg+xml"/>
  <Override PartName="/ppt/media/image49.svg" ContentType="image/svg+xml"/>
  <Override PartName="/ppt/media/image54.svg" ContentType="image/svg+xml"/>
  <Override PartName="/ppt/media/image58.svg" ContentType="image/svg+xml"/>
  <Override PartName="/ppt/media/image61.svg" ContentType="image/svg+xml"/>
  <Override PartName="/ppt/media/image65.svg" ContentType="image/svg+xml"/>
  <Override PartName="/ppt/media/image69.svg" ContentType="image/svg+xml"/>
  <Override PartName="/ppt/media/image71.svg" ContentType="image/svg+xml"/>
  <Override PartName="/ppt/media/image75.svg" ContentType="image/svg+xml"/>
  <Override PartName="/ppt/media/image78.svg" ContentType="image/svg+xml"/>
  <Override PartName="/ppt/media/image82.svg" ContentType="image/svg+xml"/>
  <Override PartName="/ppt/media/image86.svg" ContentType="image/svg+xml"/>
  <Override PartName="/ppt/media/image93.svg" ContentType="image/svg+xml"/>
  <Override PartName="/ppt/media/image95.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3" r:id="rId9"/>
    <p:sldId id="261" r:id="rId10"/>
    <p:sldId id="262" r:id="rId11"/>
    <p:sldId id="264" r:id="rId12"/>
    <p:sldId id="265" r:id="rId13"/>
    <p:sldId id="266" r:id="rId14"/>
    <p:sldId id="267" r:id="rId15"/>
    <p:sldId id="268" r:id="rId16"/>
    <p:sldId id="269" r:id="rId17"/>
    <p:sldId id="281" r:id="rId18"/>
    <p:sldId id="270" r:id="rId19"/>
    <p:sldId id="271" r:id="rId20"/>
    <p:sldId id="282" r:id="rId21"/>
    <p:sldId id="272" r:id="rId22"/>
    <p:sldId id="273" r:id="rId23"/>
    <p:sldId id="274" r:id="rId24"/>
    <p:sldId id="283" r:id="rId25"/>
    <p:sldId id="284" r:id="rId26"/>
    <p:sldId id="285" r:id="rId27"/>
    <p:sldId id="275" r:id="rId28"/>
    <p:sldId id="276" r:id="rId29"/>
    <p:sldId id="277" r:id="rId30"/>
    <p:sldId id="278" r:id="rId31"/>
    <p:sldId id="279" r:id="rId32"/>
    <p:sldId id="280"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4.xml"/><Relationship Id="rId14" Type="http://schemas.openxmlformats.org/officeDocument/2006/relationships/vmlDrawing" Target="../drawings/vmlDrawing1.vml"/><Relationship Id="rId13" Type="http://schemas.openxmlformats.org/officeDocument/2006/relationships/slideLayout" Target="../slideLayouts/slideLayout1.xml"/><Relationship Id="rId12" Type="http://schemas.openxmlformats.org/officeDocument/2006/relationships/image" Target="../media/image20.wmf"/><Relationship Id="rId11" Type="http://schemas.openxmlformats.org/officeDocument/2006/relationships/package" Target="../embeddings/Document1.docx"/><Relationship Id="rId10" Type="http://schemas.openxmlformats.org/officeDocument/2006/relationships/image" Target="../media/image19.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7.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9" Type="http://schemas.openxmlformats.org/officeDocument/2006/relationships/package" Target="../embeddings/Document2.docx"/><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9.xml"/><Relationship Id="rId14" Type="http://schemas.openxmlformats.org/officeDocument/2006/relationships/vmlDrawing" Target="../drawings/vmlDrawing2.vml"/><Relationship Id="rId13" Type="http://schemas.openxmlformats.org/officeDocument/2006/relationships/slideLayout" Target="../slideLayouts/slideLayout1.xml"/><Relationship Id="rId12" Type="http://schemas.openxmlformats.org/officeDocument/2006/relationships/image" Target="../media/image37.wmf"/><Relationship Id="rId11" Type="http://schemas.openxmlformats.org/officeDocument/2006/relationships/package" Target="../embeddings/Document3.docx"/><Relationship Id="rId10" Type="http://schemas.openxmlformats.org/officeDocument/2006/relationships/image" Target="../media/image36.wmf"/><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sv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0.xml"/><Relationship Id="rId12" Type="http://schemas.openxmlformats.org/officeDocument/2006/relationships/slideLayout" Target="../slideLayouts/slideLayout1.xml"/><Relationship Id="rId11" Type="http://schemas.openxmlformats.org/officeDocument/2006/relationships/image" Target="../media/image45.svg"/><Relationship Id="rId10" Type="http://schemas.openxmlformats.org/officeDocument/2006/relationships/image" Target="../media/image44.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svg"/><Relationship Id="rId7" Type="http://schemas.openxmlformats.org/officeDocument/2006/relationships/image" Target="../media/image48.png"/><Relationship Id="rId6" Type="http://schemas.openxmlformats.org/officeDocument/2006/relationships/image" Target="../media/image26.sv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12.png"/><Relationship Id="rId28" Type="http://schemas.openxmlformats.org/officeDocument/2006/relationships/notesSlide" Target="../notesSlides/notesSlide11.xml"/><Relationship Id="rId27" Type="http://schemas.openxmlformats.org/officeDocument/2006/relationships/slideLayout" Target="../slideLayouts/slideLayout1.xml"/><Relationship Id="rId26" Type="http://schemas.openxmlformats.org/officeDocument/2006/relationships/image" Target="../media/image67.png"/><Relationship Id="rId25" Type="http://schemas.openxmlformats.org/officeDocument/2006/relationships/image" Target="../media/image66.png"/><Relationship Id="rId24" Type="http://schemas.openxmlformats.org/officeDocument/2006/relationships/image" Target="../media/image65.svg"/><Relationship Id="rId23" Type="http://schemas.openxmlformats.org/officeDocument/2006/relationships/image" Target="../media/image64.png"/><Relationship Id="rId22" Type="http://schemas.openxmlformats.org/officeDocument/2006/relationships/image" Target="../media/image63.png"/><Relationship Id="rId21" Type="http://schemas.openxmlformats.org/officeDocument/2006/relationships/image" Target="../media/image62.png"/><Relationship Id="rId20" Type="http://schemas.openxmlformats.org/officeDocument/2006/relationships/image" Target="../media/image61.svg"/><Relationship Id="rId2" Type="http://schemas.openxmlformats.org/officeDocument/2006/relationships/image" Target="../media/image11.png"/><Relationship Id="rId19" Type="http://schemas.openxmlformats.org/officeDocument/2006/relationships/image" Target="../media/image60.png"/><Relationship Id="rId18" Type="http://schemas.openxmlformats.org/officeDocument/2006/relationships/image" Target="../media/image59.png"/><Relationship Id="rId17" Type="http://schemas.openxmlformats.org/officeDocument/2006/relationships/image" Target="../media/image58.svg"/><Relationship Id="rId16" Type="http://schemas.openxmlformats.org/officeDocument/2006/relationships/image" Target="../media/image57.png"/><Relationship Id="rId15" Type="http://schemas.openxmlformats.org/officeDocument/2006/relationships/image" Target="../media/image56.png"/><Relationship Id="rId14" Type="http://schemas.openxmlformats.org/officeDocument/2006/relationships/image" Target="../media/image55.png"/><Relationship Id="rId13" Type="http://schemas.openxmlformats.org/officeDocument/2006/relationships/image" Target="../media/image54.sv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2.png"/><Relationship Id="rId7" Type="http://schemas.openxmlformats.org/officeDocument/2006/relationships/image" Target="../media/image71.svg"/><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image" Target="../media/image78.svg"/><Relationship Id="rId8" Type="http://schemas.openxmlformats.org/officeDocument/2006/relationships/image" Target="../media/image77.png"/><Relationship Id="rId7" Type="http://schemas.openxmlformats.org/officeDocument/2006/relationships/image" Target="../media/image76.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13.xml"/><Relationship Id="rId15" Type="http://schemas.openxmlformats.org/officeDocument/2006/relationships/slideLayout" Target="../slideLayouts/slideLayout1.xml"/><Relationship Id="rId14" Type="http://schemas.openxmlformats.org/officeDocument/2006/relationships/image" Target="../media/image83.png"/><Relationship Id="rId13" Type="http://schemas.openxmlformats.org/officeDocument/2006/relationships/image" Target="../media/image82.svg"/><Relationship Id="rId12" Type="http://schemas.openxmlformats.org/officeDocument/2006/relationships/image" Target="../media/image81.png"/><Relationship Id="rId11" Type="http://schemas.openxmlformats.org/officeDocument/2006/relationships/image" Target="../media/image80.png"/><Relationship Id="rId10" Type="http://schemas.openxmlformats.org/officeDocument/2006/relationships/image" Target="../media/image79.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12.png"/><Relationship Id="rId2" Type="http://schemas.openxmlformats.org/officeDocument/2006/relationships/image" Target="../media/image11.png"/><Relationship Id="rId18" Type="http://schemas.openxmlformats.org/officeDocument/2006/relationships/notesSlide" Target="../notesSlides/notesSlide14.xml"/><Relationship Id="rId17" Type="http://schemas.openxmlformats.org/officeDocument/2006/relationships/slideLayout" Target="../slideLayouts/slideLayout1.xml"/><Relationship Id="rId16" Type="http://schemas.openxmlformats.org/officeDocument/2006/relationships/image" Target="../media/image96.png"/><Relationship Id="rId15" Type="http://schemas.openxmlformats.org/officeDocument/2006/relationships/image" Target="../media/image95.svg"/><Relationship Id="rId14" Type="http://schemas.openxmlformats.org/officeDocument/2006/relationships/image" Target="../media/image94.png"/><Relationship Id="rId13" Type="http://schemas.openxmlformats.org/officeDocument/2006/relationships/image" Target="../media/image93.svg"/><Relationship Id="rId12" Type="http://schemas.openxmlformats.org/officeDocument/2006/relationships/image" Target="../media/image92.png"/><Relationship Id="rId11" Type="http://schemas.openxmlformats.org/officeDocument/2006/relationships/image" Target="../media/image91.png"/><Relationship Id="rId10" Type="http://schemas.openxmlformats.org/officeDocument/2006/relationships/image" Target="../media/image90.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xml"/><Relationship Id="rId7" Type="http://schemas.openxmlformats.org/officeDocument/2006/relationships/image" Target="../media/image99.wmf"/><Relationship Id="rId6" Type="http://schemas.openxmlformats.org/officeDocument/2006/relationships/package" Target="../embeddings/Document4.docx"/><Relationship Id="rId5" Type="http://schemas.openxmlformats.org/officeDocument/2006/relationships/image" Target="../media/image98.svg"/><Relationship Id="rId4" Type="http://schemas.openxmlformats.org/officeDocument/2006/relationships/image" Target="../media/image97.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5.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 Id="rId3" Type="http://schemas.openxmlformats.org/officeDocument/2006/relationships/image" Target="../media/image12.png"/><Relationship Id="rId2" Type="http://schemas.openxmlformats.org/officeDocument/2006/relationships/image" Target="../media/image11.png"/><Relationship Id="rId13" Type="http://schemas.openxmlformats.org/officeDocument/2006/relationships/notesSlide" Target="../notesSlides/notesSlide16.xml"/><Relationship Id="rId12" Type="http://schemas.openxmlformats.org/officeDocument/2006/relationships/slideLayout" Target="../slideLayouts/slideLayout1.xml"/><Relationship Id="rId11" Type="http://schemas.openxmlformats.org/officeDocument/2006/relationships/image" Target="../media/image107.png"/><Relationship Id="rId10" Type="http://schemas.openxmlformats.org/officeDocument/2006/relationships/image" Target="../media/image106.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2.png"/><Relationship Id="rId7" Type="http://schemas.openxmlformats.org/officeDocument/2006/relationships/image" Target="../media/image111.png"/><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7.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9" Type="http://schemas.openxmlformats.org/officeDocument/2006/relationships/image" Target="../media/image118.png"/><Relationship Id="rId8" Type="http://schemas.openxmlformats.org/officeDocument/2006/relationships/image" Target="../media/image117.png"/><Relationship Id="rId7" Type="http://schemas.openxmlformats.org/officeDocument/2006/relationships/image" Target="../media/image116.svg"/><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18.xml"/><Relationship Id="rId15" Type="http://schemas.openxmlformats.org/officeDocument/2006/relationships/slideLayout" Target="../slideLayouts/slideLayout1.xml"/><Relationship Id="rId14" Type="http://schemas.openxmlformats.org/officeDocument/2006/relationships/image" Target="../media/image123.png"/><Relationship Id="rId13" Type="http://schemas.openxmlformats.org/officeDocument/2006/relationships/image" Target="../media/image122.png"/><Relationship Id="rId12" Type="http://schemas.openxmlformats.org/officeDocument/2006/relationships/image" Target="../media/image121.svg"/><Relationship Id="rId11" Type="http://schemas.openxmlformats.org/officeDocument/2006/relationships/image" Target="../media/image120.png"/><Relationship Id="rId10" Type="http://schemas.openxmlformats.org/officeDocument/2006/relationships/image" Target="../media/image119.sv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slideLayout" Target="../slideLayouts/slideLayout1.xml"/><Relationship Id="rId11" Type="http://schemas.openxmlformats.org/officeDocument/2006/relationships/image" Target="../media/image107.png"/><Relationship Id="rId10" Type="http://schemas.openxmlformats.org/officeDocument/2006/relationships/image" Target="../media/image106.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9" Type="http://schemas.openxmlformats.org/officeDocument/2006/relationships/image" Target="../media/image129.png"/><Relationship Id="rId8" Type="http://schemas.openxmlformats.org/officeDocument/2006/relationships/image" Target="../media/image128.svg"/><Relationship Id="rId7" Type="http://schemas.openxmlformats.org/officeDocument/2006/relationships/image" Target="../media/image127.png"/><Relationship Id="rId6" Type="http://schemas.openxmlformats.org/officeDocument/2006/relationships/image" Target="../media/image126.sv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21.xml"/><Relationship Id="rId13" Type="http://schemas.openxmlformats.org/officeDocument/2006/relationships/slideLayout" Target="../slideLayouts/slideLayout1.xml"/><Relationship Id="rId12" Type="http://schemas.openxmlformats.org/officeDocument/2006/relationships/image" Target="../media/image132.svg"/><Relationship Id="rId11" Type="http://schemas.openxmlformats.org/officeDocument/2006/relationships/image" Target="../media/image131.png"/><Relationship Id="rId10" Type="http://schemas.openxmlformats.org/officeDocument/2006/relationships/image" Target="../media/image130.svg"/><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9" Type="http://schemas.openxmlformats.org/officeDocument/2006/relationships/image" Target="../media/image138.svg"/><Relationship Id="rId8" Type="http://schemas.openxmlformats.org/officeDocument/2006/relationships/image" Target="../media/image137.png"/><Relationship Id="rId7" Type="http://schemas.openxmlformats.org/officeDocument/2006/relationships/image" Target="../media/image136.svg"/><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 Id="rId3" Type="http://schemas.openxmlformats.org/officeDocument/2006/relationships/image" Target="../media/image12.png"/><Relationship Id="rId2" Type="http://schemas.openxmlformats.org/officeDocument/2006/relationships/image" Target="../media/image11.png"/><Relationship Id="rId17" Type="http://schemas.openxmlformats.org/officeDocument/2006/relationships/notesSlide" Target="../notesSlides/notesSlide22.xml"/><Relationship Id="rId16" Type="http://schemas.openxmlformats.org/officeDocument/2006/relationships/slideLayout" Target="../slideLayouts/slideLayout1.xml"/><Relationship Id="rId15" Type="http://schemas.openxmlformats.org/officeDocument/2006/relationships/image" Target="../media/image144.svg"/><Relationship Id="rId14" Type="http://schemas.openxmlformats.org/officeDocument/2006/relationships/image" Target="../media/image143.png"/><Relationship Id="rId13" Type="http://schemas.openxmlformats.org/officeDocument/2006/relationships/image" Target="../media/image142.svg"/><Relationship Id="rId12" Type="http://schemas.openxmlformats.org/officeDocument/2006/relationships/image" Target="../media/image141.png"/><Relationship Id="rId11" Type="http://schemas.openxmlformats.org/officeDocument/2006/relationships/image" Target="../media/image140.svg"/><Relationship Id="rId10" Type="http://schemas.openxmlformats.org/officeDocument/2006/relationships/image" Target="../media/image139.png"/><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tags" Target="../tags/tag1.xml"/><Relationship Id="rId3" Type="http://schemas.openxmlformats.org/officeDocument/2006/relationships/image" Target="../media/image12.png"/><Relationship Id="rId22" Type="http://schemas.openxmlformats.org/officeDocument/2006/relationships/notesSlide" Target="../notesSlides/notesSlide23.xml"/><Relationship Id="rId21" Type="http://schemas.openxmlformats.org/officeDocument/2006/relationships/vmlDrawing" Target="../drawings/vmlDrawing4.vml"/><Relationship Id="rId20" Type="http://schemas.openxmlformats.org/officeDocument/2006/relationships/slideLayout" Target="../slideLayouts/slideLayout1.xml"/><Relationship Id="rId2" Type="http://schemas.openxmlformats.org/officeDocument/2006/relationships/image" Target="../media/image11.png"/><Relationship Id="rId19" Type="http://schemas.openxmlformats.org/officeDocument/2006/relationships/image" Target="../media/image147.wmf"/><Relationship Id="rId18" Type="http://schemas.openxmlformats.org/officeDocument/2006/relationships/package" Target="../embeddings/Document5.docx"/><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9" Type="http://schemas.openxmlformats.org/officeDocument/2006/relationships/image" Target="../media/image78.svg"/><Relationship Id="rId8" Type="http://schemas.openxmlformats.org/officeDocument/2006/relationships/image" Target="../media/image77.png"/><Relationship Id="rId7" Type="http://schemas.openxmlformats.org/officeDocument/2006/relationships/image" Target="../media/image151.svg"/><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 Id="rId3" Type="http://schemas.openxmlformats.org/officeDocument/2006/relationships/image" Target="../media/image12.png"/><Relationship Id="rId2" Type="http://schemas.openxmlformats.org/officeDocument/2006/relationships/image" Target="../media/image11.png"/><Relationship Id="rId12" Type="http://schemas.openxmlformats.org/officeDocument/2006/relationships/notesSlide" Target="../notesSlides/notesSlide24.xml"/><Relationship Id="rId11" Type="http://schemas.openxmlformats.org/officeDocument/2006/relationships/slideLayout" Target="../slideLayouts/slideLayout1.xml"/><Relationship Id="rId10" Type="http://schemas.openxmlformats.org/officeDocument/2006/relationships/image" Target="../media/image152.png"/><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6" descr="https://test.web.static.jianzeppt.com/ppt-temp-img3/785b4c7764742237954fb25c8a197f91.png"/>
          <p:cNvPicPr>
            <a:picLocks noChangeAspect="1"/>
          </p:cNvPicPr>
          <p:nvPr/>
        </p:nvPicPr>
        <p:blipFill>
          <a:blip r:embed="rId7"/>
          <a:stretch>
            <a:fillRect/>
          </a:stretch>
        </p:blipFill>
        <p:spPr>
          <a:xfrm>
            <a:off x="3782024" y="3802120"/>
            <a:ext cx="2104426" cy="3069770"/>
          </a:xfrm>
          <a:prstGeom prst="rect">
            <a:avLst/>
          </a:prstGeom>
        </p:spPr>
      </p:pic>
      <p:pic>
        <p:nvPicPr>
          <p:cNvPr id="9"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10" name="Text 0"/>
          <p:cNvSpPr/>
          <p:nvPr/>
        </p:nvSpPr>
        <p:spPr>
          <a:xfrm>
            <a:off x="577080" y="4577763"/>
            <a:ext cx="3321262" cy="544228"/>
          </a:xfrm>
          <a:prstGeom prst="rect">
            <a:avLst/>
          </a:prstGeom>
          <a:noFill/>
        </p:spPr>
        <p:txBody>
          <a:bodyPr wrap="square" lIns="0" tIns="0" rIns="0" bIns="0" rtlCol="0" anchor="ctr"/>
          <a:lstStyle/>
          <a:p>
            <a:pPr marL="0" indent="0" algn="ctr">
              <a:lnSpc>
                <a:spcPct val="120000"/>
              </a:lnSpc>
              <a:buNone/>
            </a:pPr>
            <a:r>
              <a:rPr lang="en-US" sz="2040" dirty="0">
                <a:solidFill>
                  <a:srgbClr val="000000"/>
                </a:solidFill>
              </a:rPr>
              <a:t>授课教师：杨迎</a:t>
            </a:r>
            <a:endParaRPr lang="en-US" sz="2040" dirty="0"/>
          </a:p>
        </p:txBody>
      </p:sp>
      <p:sp>
        <p:nvSpPr>
          <p:cNvPr id="11" name="Text 1"/>
          <p:cNvSpPr/>
          <p:nvPr/>
        </p:nvSpPr>
        <p:spPr>
          <a:xfrm>
            <a:off x="577068" y="1683313"/>
            <a:ext cx="5490553" cy="1828800"/>
          </a:xfrm>
          <a:prstGeom prst="rect">
            <a:avLst/>
          </a:prstGeom>
          <a:noFill/>
        </p:spPr>
        <p:txBody>
          <a:bodyPr wrap="square" lIns="0" tIns="0" rIns="0" bIns="0" rtlCol="0" anchor="b">
            <a:spAutoFit/>
          </a:bodyPr>
          <a:lstStyle/>
          <a:p>
            <a:pPr marL="0" indent="0" algn="l">
              <a:lnSpc>
                <a:spcPct val="120000"/>
              </a:lnSpc>
              <a:buNone/>
            </a:pPr>
            <a:r>
              <a:rPr lang="en-US" sz="6000" dirty="0">
                <a:solidFill>
                  <a:srgbClr val="FFFFFF"/>
                </a:solidFill>
              </a:rPr>
              <a:t>信息安全测评与风险评估</a:t>
            </a:r>
            <a:endParaRPr lang="en-US" sz="6000" dirty="0"/>
          </a:p>
        </p:txBody>
      </p:sp>
      <p:sp>
        <p:nvSpPr>
          <p:cNvPr id="12" name="Text 2"/>
          <p:cNvSpPr/>
          <p:nvPr/>
        </p:nvSpPr>
        <p:spPr>
          <a:xfrm>
            <a:off x="577068" y="3867726"/>
            <a:ext cx="4339657" cy="388620"/>
          </a:xfrm>
          <a:prstGeom prst="rect">
            <a:avLst/>
          </a:prstGeom>
          <a:noFill/>
        </p:spPr>
        <p:txBody>
          <a:bodyPr wrap="square" lIns="0" tIns="0" rIns="0" bIns="0" rtlCol="0" anchor="t">
            <a:spAutoFit/>
          </a:bodyPr>
          <a:lstStyle/>
          <a:p>
            <a:pPr marL="0" indent="0" algn="l">
              <a:lnSpc>
                <a:spcPct val="120000"/>
              </a:lnSpc>
              <a:buNone/>
            </a:pPr>
            <a:r>
              <a:rPr lang="en-US" sz="2520" dirty="0">
                <a:solidFill>
                  <a:srgbClr val="FFFFFF"/>
                </a:solidFill>
                <a:latin typeface="思源黑体 CN" pitchFamily="34" charset="0"/>
                <a:ea typeface="思源黑体 CN" pitchFamily="34" charset="-122"/>
                <a:cs typeface="思源黑体 CN" pitchFamily="34" charset="-120"/>
              </a:rPr>
              <a:t>4.1 主机安全基线核查</a:t>
            </a:r>
            <a:endParaRPr lang="en-US" sz="25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40bc18a4f70cd7b96e4920a20f3d946b.png"/>
          <p:cNvPicPr>
            <a:picLocks noChangeAspect="1"/>
          </p:cNvPicPr>
          <p:nvPr/>
        </p:nvPicPr>
        <p:blipFill>
          <a:blip r:embed="rId2"/>
          <a:stretch>
            <a:fillRect/>
          </a:stretch>
        </p:blipFill>
        <p:spPr>
          <a:xfrm>
            <a:off x="194345" y="245378"/>
            <a:ext cx="11803310" cy="6367244"/>
          </a:xfrm>
          <a:prstGeom prst="rect">
            <a:avLst/>
          </a:prstGeom>
        </p:spPr>
      </p:pic>
      <p:sp>
        <p:nvSpPr>
          <p:cNvPr id="4" name="Text 0"/>
          <p:cNvSpPr/>
          <p:nvPr/>
        </p:nvSpPr>
        <p:spPr>
          <a:xfrm>
            <a:off x="5769119" y="1653024"/>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01</a:t>
            </a:r>
            <a:endParaRPr lang="en-US" sz="3360" dirty="0"/>
          </a:p>
        </p:txBody>
      </p:sp>
      <p:sp>
        <p:nvSpPr>
          <p:cNvPr id="5" name="Text 1"/>
          <p:cNvSpPr/>
          <p:nvPr/>
        </p:nvSpPr>
        <p:spPr>
          <a:xfrm>
            <a:off x="5769119" y="2669616"/>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02</a:t>
            </a:r>
            <a:endParaRPr lang="en-US" sz="3360" dirty="0"/>
          </a:p>
        </p:txBody>
      </p:sp>
      <p:sp>
        <p:nvSpPr>
          <p:cNvPr id="6" name="Text 2"/>
          <p:cNvSpPr/>
          <p:nvPr/>
        </p:nvSpPr>
        <p:spPr>
          <a:xfrm>
            <a:off x="5769119" y="3686208"/>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03</a:t>
            </a:r>
            <a:endParaRPr lang="en-US" sz="3360" dirty="0"/>
          </a:p>
        </p:txBody>
      </p:sp>
      <p:sp>
        <p:nvSpPr>
          <p:cNvPr id="7" name="Text 3"/>
          <p:cNvSpPr/>
          <p:nvPr/>
        </p:nvSpPr>
        <p:spPr>
          <a:xfrm>
            <a:off x="5769119" y="4702801"/>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04</a:t>
            </a:r>
            <a:endParaRPr lang="en-US" sz="3360" dirty="0"/>
          </a:p>
        </p:txBody>
      </p:sp>
      <p:sp>
        <p:nvSpPr>
          <p:cNvPr id="8" name="Text 4"/>
          <p:cNvSpPr/>
          <p:nvPr/>
        </p:nvSpPr>
        <p:spPr>
          <a:xfrm>
            <a:off x="965498" y="2799393"/>
            <a:ext cx="1769654" cy="731520"/>
          </a:xfrm>
          <a:prstGeom prst="rect">
            <a:avLst/>
          </a:prstGeom>
          <a:noFill/>
        </p:spPr>
        <p:txBody>
          <a:bodyPr wrap="square" lIns="0" tIns="0" rIns="0" bIns="0" rtlCol="0" anchor="b">
            <a:spAutoFit/>
          </a:bodyPr>
          <a:lstStyle/>
          <a:p>
            <a:pPr marL="0" indent="0" algn="l">
              <a:lnSpc>
                <a:spcPct val="120000"/>
              </a:lnSpc>
              <a:buNone/>
            </a:pPr>
            <a:r>
              <a:rPr lang="en-US" sz="4800" dirty="0">
                <a:solidFill>
                  <a:srgbClr val="000000"/>
                </a:solidFill>
              </a:rPr>
              <a:t>目录</a:t>
            </a:r>
            <a:endParaRPr lang="en-US" sz="4800" dirty="0"/>
          </a:p>
        </p:txBody>
      </p:sp>
      <p:sp>
        <p:nvSpPr>
          <p:cNvPr id="9" name="Text 5"/>
          <p:cNvSpPr/>
          <p:nvPr/>
        </p:nvSpPr>
        <p:spPr>
          <a:xfrm>
            <a:off x="953110" y="3733353"/>
            <a:ext cx="3150109" cy="310896"/>
          </a:xfrm>
          <a:prstGeom prst="rect">
            <a:avLst/>
          </a:prstGeom>
          <a:noFill/>
        </p:spPr>
        <p:txBody>
          <a:bodyPr wrap="square" lIns="0" tIns="0" rIns="0" bIns="0" rtlCol="0" anchor="ctr">
            <a:spAutoFit/>
          </a:bodyPr>
          <a:lstStyle/>
          <a:p>
            <a:pPr marL="0" indent="0" algn="l">
              <a:lnSpc>
                <a:spcPct val="120000"/>
              </a:lnSpc>
              <a:buNone/>
            </a:pPr>
            <a:r>
              <a:rPr lang="en-US" sz="2040" dirty="0">
                <a:solidFill>
                  <a:srgbClr val="000000"/>
                </a:solidFill>
              </a:rPr>
              <a:t>CONTENTS</a:t>
            </a:r>
            <a:endParaRPr lang="en-US" sz="2040" dirty="0"/>
          </a:p>
        </p:txBody>
      </p:sp>
      <p:sp>
        <p:nvSpPr>
          <p:cNvPr id="10" name="Text 6"/>
          <p:cNvSpPr/>
          <p:nvPr/>
        </p:nvSpPr>
        <p:spPr>
          <a:xfrm>
            <a:off x="7064048" y="4727345"/>
            <a:ext cx="4878288" cy="9144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回顾拓展：易错点、作业与下节预告</a:t>
            </a:r>
            <a:endParaRPr lang="en-US" sz="3000" dirty="0"/>
          </a:p>
        </p:txBody>
      </p:sp>
      <p:sp>
        <p:nvSpPr>
          <p:cNvPr id="11" name="Text 7"/>
          <p:cNvSpPr/>
          <p:nvPr/>
        </p:nvSpPr>
        <p:spPr>
          <a:xfrm>
            <a:off x="7064048" y="1677568"/>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案例导入：一台服务器是怎么沦陷的</a:t>
            </a:r>
            <a:endParaRPr lang="en-US" sz="3000" dirty="0"/>
          </a:p>
        </p:txBody>
      </p:sp>
      <p:sp>
        <p:nvSpPr>
          <p:cNvPr id="12" name="Text 8"/>
          <p:cNvSpPr/>
          <p:nvPr/>
        </p:nvSpPr>
        <p:spPr>
          <a:xfrm>
            <a:off x="7064048" y="3710752"/>
            <a:ext cx="4878288" cy="9144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动手实验：西普真机取证 + JSecProbe 判定</a:t>
            </a:r>
            <a:endParaRPr lang="en-US" sz="3000" dirty="0"/>
          </a:p>
        </p:txBody>
      </p:sp>
      <p:sp>
        <p:nvSpPr>
          <p:cNvPr id="13" name="Text 9"/>
          <p:cNvSpPr/>
          <p:nvPr/>
        </p:nvSpPr>
        <p:spPr>
          <a:xfrm>
            <a:off x="7064048" y="2694160"/>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关键知识：主机基线的 7 个维度怎么查</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Part.01</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案例导入——一台服务器是怎么沦陷的</a:t>
            </a:r>
            <a:endParaRPr lang="en-US" sz="5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案例导入——一台服务器的“沦陷”</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840480"/>
            <a:ext cx="91440" cy="243840"/>
          </a:xfrm>
          <a:prstGeom prst="rect">
            <a:avLst/>
          </a:prstGeom>
        </p:spPr>
      </p:pic>
      <p:sp>
        <p:nvSpPr>
          <p:cNvPr id="7" name="Text 1"/>
          <p:cNvSpPr/>
          <p:nvPr/>
        </p:nvSpPr>
        <p:spPr>
          <a:xfrm>
            <a:off x="822960" y="3749040"/>
            <a:ext cx="110642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案例素材</a:t>
            </a:r>
            <a:endParaRPr lang="en-US" sz="2160" dirty="0"/>
          </a:p>
        </p:txBody>
      </p:sp>
      <p:sp>
        <p:nvSpPr>
          <p:cNvPr id="8" name="Text 2"/>
          <p:cNvSpPr/>
          <p:nvPr/>
        </p:nvSpPr>
        <p:spPr>
          <a:xfrm>
            <a:off x="609600" y="4282440"/>
            <a:ext cx="3468624" cy="1093470"/>
          </a:xfrm>
          <a:prstGeom prst="rect">
            <a:avLst/>
          </a:prstGeom>
          <a:noFill/>
        </p:spPr>
        <p:txBody>
          <a:bodyPr wrap="square" lIns="0" tIns="0" rIns="0" bIns="0" rtlCol="0" anchor="t">
            <a:spAutoFit/>
          </a:bodyPr>
          <a:lstStyle/>
          <a:p>
            <a:pPr marL="0" indent="0" algn="l">
              <a:lnSpc>
                <a:spcPct val="138000"/>
              </a:lnSpc>
              <a:buNone/>
            </a:pPr>
            <a:r>
              <a:rPr lang="en-US" sz="1560" dirty="0">
                <a:solidFill>
                  <a:srgbClr val="374051"/>
                </a:solidFill>
                <a:latin typeface="思源黑体 CN" pitchFamily="34" charset="0"/>
                <a:ea typeface="思源黑体 CN" pitchFamily="34" charset="-122"/>
                <a:cs typeface="思源黑体 CN" pitchFamily="34" charset="-120"/>
              </a:rPr>
              <a:t>2024年，某制造企业的一台核心生产数据库服务器被勒索病毒加密，导致全厂停产72小时，直接经济损失超500万元。</a:t>
            </a:r>
            <a:endParaRPr lang="en-US" sz="1560" dirty="0"/>
          </a:p>
        </p:txBody>
      </p:sp>
      <p:pic>
        <p:nvPicPr>
          <p:cNvPr id="9"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3880" y="3840480"/>
            <a:ext cx="91440" cy="243840"/>
          </a:xfrm>
          <a:prstGeom prst="rect">
            <a:avLst/>
          </a:prstGeom>
        </p:spPr>
      </p:pic>
      <p:sp>
        <p:nvSpPr>
          <p:cNvPr id="10" name="Text 3"/>
          <p:cNvSpPr/>
          <p:nvPr/>
        </p:nvSpPr>
        <p:spPr>
          <a:xfrm>
            <a:off x="4587240" y="3749040"/>
            <a:ext cx="165506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事后调查发现</a:t>
            </a:r>
            <a:endParaRPr lang="en-US" sz="2160" dirty="0"/>
          </a:p>
        </p:txBody>
      </p:sp>
      <p:pic>
        <p:nvPicPr>
          <p:cNvPr id="11"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2920" y="3840480"/>
            <a:ext cx="91440" cy="243840"/>
          </a:xfrm>
          <a:prstGeom prst="rect">
            <a:avLst/>
          </a:prstGeom>
        </p:spPr>
      </p:pic>
      <p:sp>
        <p:nvSpPr>
          <p:cNvPr id="12" name="Text 4"/>
          <p:cNvSpPr/>
          <p:nvPr/>
        </p:nvSpPr>
        <p:spPr>
          <a:xfrm>
            <a:off x="8336280" y="3749040"/>
            <a:ext cx="110642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先想一想</a:t>
            </a:r>
            <a:endParaRPr lang="en-US" sz="2160" dirty="0"/>
          </a:p>
        </p:txBody>
      </p:sp>
      <p:sp>
        <p:nvSpPr>
          <p:cNvPr id="13" name="Text 5"/>
          <p:cNvSpPr/>
          <p:nvPr/>
        </p:nvSpPr>
        <p:spPr>
          <a:xfrm>
            <a:off x="8122920" y="4282440"/>
            <a:ext cx="3468624"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1. 这 6 个问题，分别落在等保的哪个测评维度？</a:t>
            </a:r>
            <a:endParaRPr lang="en-US" sz="1400" dirty="0">
              <a:solidFill>
                <a:srgbClr val="374051"/>
              </a:solidFill>
              <a:latin typeface="思源黑体 CN" pitchFamily="34" charset="0"/>
              <a:ea typeface="思源黑体 CN" pitchFamily="34" charset="-122"/>
              <a:cs typeface="思源黑体 CN" pitchFamily="34" charset="-120"/>
            </a:endParaRPr>
          </a:p>
        </p:txBody>
      </p:sp>
      <p:sp>
        <p:nvSpPr>
          <p:cNvPr id="14" name="Text 6"/>
          <p:cNvSpPr/>
          <p:nvPr/>
        </p:nvSpPr>
        <p:spPr>
          <a:xfrm>
            <a:off x="8122920" y="4813300"/>
            <a:ext cx="3468624"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2. 如果事前做过一次基线核查，哪些损失本可以避免？</a:t>
            </a:r>
            <a:endParaRPr lang="en-US" sz="1400" dirty="0">
              <a:solidFill>
                <a:srgbClr val="374051"/>
              </a:solidFill>
              <a:latin typeface="思源黑体 CN" pitchFamily="34" charset="0"/>
              <a:ea typeface="思源黑体 CN" pitchFamily="34" charset="-122"/>
              <a:cs typeface="思源黑体 CN" pitchFamily="34" charset="-120"/>
            </a:endParaRPr>
          </a:p>
        </p:txBody>
      </p:sp>
      <p:sp>
        <p:nvSpPr>
          <p:cNvPr id="15" name="Text 7"/>
          <p:cNvSpPr/>
          <p:nvPr/>
        </p:nvSpPr>
        <p:spPr>
          <a:xfrm>
            <a:off x="8122920" y="5410200"/>
            <a:ext cx="3468624" cy="26924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74051"/>
                </a:solidFill>
                <a:latin typeface="思源黑体 CN" pitchFamily="34" charset="0"/>
                <a:ea typeface="思源黑体 CN" pitchFamily="34" charset="-122"/>
                <a:cs typeface="思源黑体 CN" pitchFamily="34" charset="-120"/>
              </a:rPr>
              <a:t>3. 换你来当测评师，最先查哪三项？为什么？</a:t>
            </a:r>
            <a:endParaRPr lang="en-US" sz="1400" dirty="0">
              <a:solidFill>
                <a:srgbClr val="374051"/>
              </a:solidFill>
              <a:latin typeface="思源黑体 CN" pitchFamily="34" charset="0"/>
              <a:ea typeface="思源黑体 CN" pitchFamily="34" charset="-122"/>
              <a:cs typeface="思源黑体 CN" pitchFamily="34" charset="-120"/>
            </a:endParaRPr>
          </a:p>
        </p:txBody>
      </p:sp>
      <p:pic>
        <p:nvPicPr>
          <p:cNvPr id="16" name="Image 6" descr="https://test.web.static.jianzeppt.com/ppt-temp-img3/ae8d1f10fc00b915a1e705617591d498.png?x-oss-process=image/resize,w_1440,h_800,m_lfit/format,png"/>
          <p:cNvPicPr>
            <a:picLocks noChangeAspect="1"/>
          </p:cNvPicPr>
          <p:nvPr/>
        </p:nvPicPr>
        <p:blipFill>
          <a:blip r:embed="rId6"/>
          <a:stretch>
            <a:fillRect/>
          </a:stretch>
        </p:blipFill>
        <p:spPr>
          <a:xfrm>
            <a:off x="8122920" y="6050280"/>
            <a:ext cx="3459480" cy="198120"/>
          </a:xfrm>
          <a:prstGeom prst="rect">
            <a:avLst/>
          </a:prstGeom>
        </p:spPr>
      </p:pic>
      <p:sp>
        <p:nvSpPr>
          <p:cNvPr id="17" name="Text 8"/>
          <p:cNvSpPr/>
          <p:nvPr/>
        </p:nvSpPr>
        <p:spPr>
          <a:xfrm>
            <a:off x="8244840" y="6047740"/>
            <a:ext cx="3644265" cy="307340"/>
          </a:xfrm>
          <a:prstGeom prst="rect">
            <a:avLst/>
          </a:prstGeom>
          <a:noFill/>
        </p:spPr>
        <p:txBody>
          <a:bodyPr wrap="none" lIns="0" tIns="0" rIns="0" bIns="0" rtlCol="0" anchor="t">
            <a:spAutoFit/>
          </a:bodyPr>
          <a:lstStyle/>
          <a:p>
            <a:pPr marL="0" indent="0" algn="l">
              <a:lnSpc>
                <a:spcPct val="100000"/>
              </a:lnSpc>
              <a:buNone/>
            </a:pPr>
            <a:r>
              <a:rPr lang="en-US" sz="1000" b="1" dirty="0">
                <a:solidFill>
                  <a:srgbClr val="143966"/>
                </a:solidFill>
                <a:latin typeface="思源黑体 CN Bold" pitchFamily="34" charset="0"/>
                <a:ea typeface="思源黑体 CN Bold" pitchFamily="34" charset="-122"/>
                <a:cs typeface="思源黑体 CN Bold" pitchFamily="34" charset="-120"/>
              </a:rPr>
              <a:t>结论：这 6 条全部落在 GB/T 22239 的 8.1.4「安全计算环境」</a:t>
            </a:r>
            <a:endParaRPr lang="en-US" sz="1000" b="1" dirty="0">
              <a:solidFill>
                <a:srgbClr val="143966"/>
              </a:solidFill>
              <a:latin typeface="思源黑体 CN Bold" pitchFamily="34" charset="0"/>
              <a:ea typeface="思源黑体 CN Bold" pitchFamily="34" charset="-122"/>
              <a:cs typeface="思源黑体 CN Bold" pitchFamily="34" charset="-120"/>
            </a:endParaRPr>
          </a:p>
          <a:p>
            <a:pPr marL="0" indent="0" algn="l">
              <a:lnSpc>
                <a:spcPct val="100000"/>
              </a:lnSpc>
              <a:buNone/>
            </a:pPr>
            <a:r>
              <a:rPr lang="en-US" sz="1000" b="1" dirty="0">
                <a:solidFill>
                  <a:srgbClr val="143966"/>
                </a:solidFill>
                <a:latin typeface="思源黑体 CN Bold" pitchFamily="34" charset="0"/>
                <a:ea typeface="思源黑体 CN Bold" pitchFamily="34" charset="-122"/>
                <a:cs typeface="思源黑体 CN Bold" pitchFamily="34" charset="-120"/>
              </a:rPr>
              <a:t>——本讲就按这套清单逐项查</a:t>
            </a:r>
            <a:endParaRPr lang="en-US" sz="1000" b="1" dirty="0">
              <a:solidFill>
                <a:srgbClr val="143966"/>
              </a:solidFill>
              <a:latin typeface="思源黑体 CN Bold" pitchFamily="34" charset="0"/>
              <a:ea typeface="思源黑体 CN Bold" pitchFamily="34" charset="-122"/>
              <a:cs typeface="思源黑体 CN Bold" pitchFamily="34" charset="-120"/>
            </a:endParaRPr>
          </a:p>
        </p:txBody>
      </p:sp>
      <p:pic>
        <p:nvPicPr>
          <p:cNvPr id="18"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9600" y="1371600"/>
            <a:ext cx="10972800" cy="2133600"/>
          </a:xfrm>
          <a:prstGeom prst="rect">
            <a:avLst/>
          </a:prstGeom>
          <a:effectLst>
            <a:outerShdw blurRad="387096000" dist="193548000" dir="-1" algn="bl" rotWithShape="0">
              <a:srgbClr val="000000">
                <a:alpha val="500000000"/>
              </a:srgbClr>
            </a:outerShdw>
          </a:effectLst>
        </p:spPr>
      </p:pic>
      <p:pic>
        <p:nvPicPr>
          <p:cNvPr id="19" name="Image 8" descr="https://test.web.static.jianzeppt.com/ppt-temp-img3/2b7c00ffccee43c26ebc26fbc43c1bf7.png?x-oss-process=image/resize,w_1440,h_800,m_lfit/format,png"/>
          <p:cNvPicPr>
            <a:picLocks noChangeAspect="1"/>
          </p:cNvPicPr>
          <p:nvPr/>
        </p:nvPicPr>
        <p:blipFill>
          <a:blip r:embed="rId9"/>
          <a:stretch>
            <a:fillRect/>
          </a:stretch>
        </p:blipFill>
        <p:spPr>
          <a:xfrm>
            <a:off x="624840" y="1386840"/>
            <a:ext cx="10942320" cy="2103120"/>
          </a:xfrm>
          <a:prstGeom prst="rect">
            <a:avLst/>
          </a:prstGeom>
        </p:spPr>
      </p:pic>
      <p:pic>
        <p:nvPicPr>
          <p:cNvPr id="20" name="Image 9" descr="https://test.web.static.jianzeppt.com/ppt-temp-img3/717cc5b456d2de95ff9831fb6672b6bd.png?x-oss-process=image/resize,w_1440,h_800,m_lfit/format,png"/>
          <p:cNvPicPr>
            <a:picLocks noChangeAspect="1"/>
          </p:cNvPicPr>
          <p:nvPr/>
        </p:nvPicPr>
        <p:blipFill>
          <a:blip r:embed="rId10"/>
          <a:stretch>
            <a:fillRect/>
          </a:stretch>
        </p:blipFill>
        <p:spPr>
          <a:xfrm>
            <a:off x="4373880" y="4282440"/>
            <a:ext cx="3459480" cy="1965960"/>
          </a:xfrm>
          <a:prstGeom prst="rect">
            <a:avLst/>
          </a:prstGeom>
        </p:spPr>
      </p:pic>
      <p:graphicFrame>
        <p:nvGraphicFramePr>
          <p:cNvPr id="21" name="Table 0"/>
          <p:cNvGraphicFramePr>
            <a:graphicFrameLocks noGrp="1"/>
          </p:cNvGraphicFramePr>
          <p:nvPr/>
        </p:nvGraphicFramePr>
        <p:xfrm>
          <a:off x="5055870" y="4317365"/>
          <a:ext cx="1863725" cy="1897380"/>
        </p:xfrm>
        <a:graphic>
          <a:graphicData uri="http://schemas.openxmlformats.org/drawingml/2006/table">
            <a:tbl>
              <a:tblPr/>
              <a:tblGrid>
                <a:gridCol w="241300"/>
                <a:gridCol w="1073150"/>
                <a:gridCol w="549275"/>
              </a:tblGrid>
              <a:tr h="210820">
                <a:tc>
                  <a:txBody>
                    <a:bodyPr/>
                    <a:lstStyle/>
                    <a:p>
                      <a:pPr marL="0" indent="0" algn="ctr">
                        <a:buNone/>
                      </a:pPr>
                      <a:r>
                        <a:rPr lang="en-US" sz="320" dirty="0">
                          <a:solidFill>
                            <a:srgbClr val="000000"/>
                          </a:solidFill>
                        </a:rPr>
                        <a:t>序号</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问题</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影响</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51790">
                <a:tc>
                  <a:txBody>
                    <a:bodyPr/>
                    <a:lstStyle/>
                    <a:p>
                      <a:pPr marL="0" indent="0" algn="ctr">
                        <a:buNone/>
                      </a:pPr>
                      <a:r>
                        <a:rPr lang="en-US" sz="320" dirty="0">
                          <a:solidFill>
                            <a:srgbClr val="000000"/>
                          </a:solidFill>
                        </a:rPr>
                        <a:t>1</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操作系统未启用密码复杂度策略，管理员使用Admin@123</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攻击者通过暴力破解获取管理员权限</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50520">
                <a:tc>
                  <a:txBody>
                    <a:bodyPr/>
                    <a:lstStyle/>
                    <a:p>
                      <a:pPr marL="0" indent="0" algn="ctr">
                        <a:buNone/>
                      </a:pPr>
                      <a:r>
                        <a:rPr lang="en-US" sz="320" dirty="0">
                          <a:solidFill>
                            <a:srgbClr val="000000"/>
                          </a:solidFill>
                        </a:rPr>
                        <a:t>2</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未配置登录失败锁定策略</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暴力破解无限制，攻击者可无限尝试</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80670">
                <a:tc>
                  <a:txBody>
                    <a:bodyPr/>
                    <a:lstStyle/>
                    <a:p>
                      <a:pPr marL="0" indent="0" algn="ctr">
                        <a:buNone/>
                      </a:pPr>
                      <a:r>
                        <a:rPr lang="en-US" sz="320" dirty="0">
                          <a:solidFill>
                            <a:srgbClr val="000000"/>
                          </a:solidFill>
                        </a:rPr>
                        <a:t>3</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未关闭默认共享（C、Admin）</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攻击者利用共享传播病毒</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10820">
                <a:tc>
                  <a:txBody>
                    <a:bodyPr/>
                    <a:lstStyle/>
                    <a:p>
                      <a:pPr marL="0" indent="0" algn="ctr">
                        <a:buNone/>
                      </a:pPr>
                      <a:r>
                        <a:rPr lang="en-US" sz="320" dirty="0">
                          <a:solidFill>
                            <a:srgbClr val="000000"/>
                          </a:solidFill>
                        </a:rPr>
                        <a:t>4</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远程桌面（3389）直接对互联网开放</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攻击面暴露</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12090">
                <a:tc>
                  <a:txBody>
                    <a:bodyPr/>
                    <a:lstStyle/>
                    <a:p>
                      <a:pPr marL="0" indent="0" algn="ctr">
                        <a:buNone/>
                      </a:pPr>
                      <a:r>
                        <a:rPr lang="en-US" sz="320" dirty="0">
                          <a:solidFill>
                            <a:srgbClr val="000000"/>
                          </a:solidFill>
                        </a:rPr>
                        <a:t>5</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未安装防病毒软件</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勒索病毒未被拦截</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80670">
                <a:tc>
                  <a:txBody>
                    <a:bodyPr/>
                    <a:lstStyle/>
                    <a:p>
                      <a:pPr marL="0" indent="0" algn="ctr">
                        <a:buNone/>
                      </a:pPr>
                      <a:r>
                        <a:rPr lang="en-US" sz="320" dirty="0">
                          <a:solidFill>
                            <a:srgbClr val="000000"/>
                          </a:solidFill>
                        </a:rPr>
                        <a:t>6</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系统补丁超过6个月未更新</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320" dirty="0">
                          <a:solidFill>
                            <a:srgbClr val="000000"/>
                          </a:solidFill>
                        </a:rPr>
                        <a:t>存在已知高危漏洞（如永恒之蓝）</a:t>
                      </a:r>
                      <a:endParaRPr lang="en-US" sz="320" dirty="0"/>
                    </a:p>
                  </a:txBody>
                  <a:tcPr marL="24920" marR="24920" marT="24920" marB="249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22" name="对象 21">
            <a:hlinkClick r:id="" action="ppaction://ole?verb="/>
          </p:cNvPr>
          <p:cNvGraphicFramePr>
            <a:graphicFrameLocks noChangeAspect="1"/>
          </p:cNvGraphicFramePr>
          <p:nvPr/>
        </p:nvGraphicFramePr>
        <p:xfrm>
          <a:off x="6919595" y="508762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11" imgW="971550" imgH="666750" progId="Word.Document.12">
                  <p:embed/>
                </p:oleObj>
              </mc:Choice>
              <mc:Fallback>
                <p:oleObj name="" showAsIcon="1" r:id="rId11" imgW="971550" imgH="666750" progId="Word.Document.12">
                  <p:embed/>
                  <p:pic>
                    <p:nvPicPr>
                      <p:cNvPr id="0" name="图片 1024"/>
                      <p:cNvPicPr/>
                      <p:nvPr/>
                    </p:nvPicPr>
                    <p:blipFill>
                      <a:blip r:embed="rId12"/>
                      <a:stretch>
                        <a:fillRect/>
                      </a:stretch>
                    </p:blipFill>
                    <p:spPr>
                      <a:xfrm>
                        <a:off x="6919595" y="5087620"/>
                        <a:ext cx="971550" cy="66675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学习目标</a:t>
            </a:r>
            <a:endParaRPr lang="en-US" sz="2760" dirty="0"/>
          </a:p>
        </p:txBody>
      </p:sp>
      <p:pic>
        <p:nvPicPr>
          <p:cNvPr id="6" name="Image 3"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1965960"/>
            <a:ext cx="5379720" cy="128016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2209800"/>
            <a:ext cx="487680" cy="487680"/>
          </a:xfrm>
          <a:prstGeom prst="rect">
            <a:avLst/>
          </a:prstGeom>
        </p:spPr>
      </p:pic>
      <p:sp>
        <p:nvSpPr>
          <p:cNvPr id="8" name="Text 1"/>
          <p:cNvSpPr/>
          <p:nvPr/>
        </p:nvSpPr>
        <p:spPr>
          <a:xfrm>
            <a:off x="960120" y="227076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01</a:t>
            </a:r>
            <a:endParaRPr lang="en-US" sz="1920" dirty="0"/>
          </a:p>
        </p:txBody>
      </p:sp>
      <p:sp>
        <p:nvSpPr>
          <p:cNvPr id="9" name="Text 2"/>
          <p:cNvSpPr/>
          <p:nvPr/>
        </p:nvSpPr>
        <p:spPr>
          <a:xfrm>
            <a:off x="1493520" y="225552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理解</a:t>
            </a:r>
            <a:endParaRPr lang="en-US" sz="2400" dirty="0"/>
          </a:p>
        </p:txBody>
      </p:sp>
      <p:sp>
        <p:nvSpPr>
          <p:cNvPr id="10" name="Text 3"/>
          <p:cNvSpPr/>
          <p:nvPr/>
        </p:nvSpPr>
        <p:spPr>
          <a:xfrm>
            <a:off x="853440" y="2849880"/>
            <a:ext cx="4901184" cy="168116"/>
          </a:xfrm>
          <a:prstGeom prst="rect">
            <a:avLst/>
          </a:prstGeom>
          <a:noFill/>
        </p:spPr>
        <p:txBody>
          <a:bodyPr wrap="none" lIns="0" tIns="0" rIns="0" bIns="0" rtlCol="0" anchor="t">
            <a:spAutoFit/>
          </a:bodyPr>
          <a:lstStyle/>
          <a:p>
            <a:pPr marL="0" indent="0" algn="l">
              <a:lnSpc>
                <a:spcPct val="100000"/>
              </a:lnSpc>
              <a:buNone/>
            </a:pPr>
            <a:r>
              <a:rPr lang="en-US" sz="960" dirty="0">
                <a:solidFill>
                  <a:srgbClr val="333333"/>
                </a:solidFill>
                <a:latin typeface="思源黑体 CN" pitchFamily="34" charset="0"/>
                <a:ea typeface="思源黑体 CN" pitchFamily="34" charset="-122"/>
                <a:cs typeface="思源黑体 CN" pitchFamily="34" charset="-120"/>
              </a:rPr>
              <a:t>说清主机安全基线是什么，在 GB/T 22239 里对应哪些条款</a:t>
            </a:r>
            <a:endParaRPr lang="en-US" sz="960" dirty="0"/>
          </a:p>
        </p:txBody>
      </p:sp>
      <p:pic>
        <p:nvPicPr>
          <p:cNvPr id="11" name="Image 5" descr="https://test.web.static.jianzeppt.com/ppt-temp-img3/326049fc01eedfc89a33a92ec0e2d3e7.png?x-oss-process=image/resize,w_1440,h_800,m_lfit/format,png"/>
          <p:cNvPicPr>
            <a:picLocks noChangeAspect="1"/>
          </p:cNvPicPr>
          <p:nvPr/>
        </p:nvPicPr>
        <p:blipFill>
          <a:blip r:embed="rId4"/>
          <a:stretch>
            <a:fillRect/>
          </a:stretch>
        </p:blipFill>
        <p:spPr>
          <a:xfrm>
            <a:off x="6217920" y="1965960"/>
            <a:ext cx="5379720" cy="1280160"/>
          </a:xfrm>
          <a:prstGeom prst="rect">
            <a:avLst/>
          </a:prstGeom>
        </p:spPr>
      </p:pic>
      <p:pic>
        <p:nvPicPr>
          <p:cNvPr id="12" name="Image 6"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1760" y="2209800"/>
            <a:ext cx="487680" cy="487680"/>
          </a:xfrm>
          <a:prstGeom prst="rect">
            <a:avLst/>
          </a:prstGeom>
        </p:spPr>
      </p:pic>
      <p:sp>
        <p:nvSpPr>
          <p:cNvPr id="13" name="Text 4"/>
          <p:cNvSpPr/>
          <p:nvPr/>
        </p:nvSpPr>
        <p:spPr>
          <a:xfrm>
            <a:off x="6568440" y="227076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02</a:t>
            </a:r>
            <a:endParaRPr lang="en-US" sz="1920" dirty="0"/>
          </a:p>
        </p:txBody>
      </p:sp>
      <p:sp>
        <p:nvSpPr>
          <p:cNvPr id="14" name="Text 5"/>
          <p:cNvSpPr/>
          <p:nvPr/>
        </p:nvSpPr>
        <p:spPr>
          <a:xfrm>
            <a:off x="7101840" y="225552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掌握</a:t>
            </a:r>
            <a:endParaRPr lang="en-US" sz="2400" dirty="0"/>
          </a:p>
        </p:txBody>
      </p:sp>
      <p:sp>
        <p:nvSpPr>
          <p:cNvPr id="15" name="Text 6"/>
          <p:cNvSpPr/>
          <p:nvPr/>
        </p:nvSpPr>
        <p:spPr>
          <a:xfrm>
            <a:off x="6461760" y="2849880"/>
            <a:ext cx="4901184" cy="168116"/>
          </a:xfrm>
          <a:prstGeom prst="rect">
            <a:avLst/>
          </a:prstGeom>
          <a:noFill/>
        </p:spPr>
        <p:txBody>
          <a:bodyPr wrap="square" lIns="0" tIns="0" rIns="0" bIns="0" rtlCol="0" anchor="t">
            <a:spAutoFit/>
          </a:bodyPr>
          <a:lstStyle/>
          <a:p>
            <a:pPr marL="0" indent="0" algn="l">
              <a:lnSpc>
                <a:spcPct val="138000"/>
              </a:lnSpc>
              <a:buNone/>
            </a:pPr>
            <a:r>
              <a:rPr lang="en-US" sz="960" dirty="0">
                <a:solidFill>
                  <a:srgbClr val="333333"/>
                </a:solidFill>
                <a:latin typeface="思源黑体 CN" pitchFamily="34" charset="0"/>
                <a:ea typeface="思源黑体 CN" pitchFamily="34" charset="-122"/>
                <a:cs typeface="思源黑体 CN" pitchFamily="34" charset="-120"/>
              </a:rPr>
              <a:t>在 Windows / Linux 上找到口令、账户、审计、端口等配置项并判断合不合规</a:t>
            </a:r>
            <a:endParaRPr lang="en-US" sz="960" dirty="0"/>
          </a:p>
        </p:txBody>
      </p:sp>
      <p:pic>
        <p:nvPicPr>
          <p:cNvPr id="16" name="Image 7"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3474720"/>
            <a:ext cx="5379720" cy="1280160"/>
          </a:xfrm>
          <a:prstGeom prst="rect">
            <a:avLst/>
          </a:prstGeom>
        </p:spPr>
      </p:pic>
      <p:pic>
        <p:nvPicPr>
          <p:cNvPr id="17" name="Image 8"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3718560"/>
            <a:ext cx="487680" cy="487680"/>
          </a:xfrm>
          <a:prstGeom prst="rect">
            <a:avLst/>
          </a:prstGeom>
        </p:spPr>
      </p:pic>
      <p:sp>
        <p:nvSpPr>
          <p:cNvPr id="18" name="Text 7"/>
          <p:cNvSpPr/>
          <p:nvPr/>
        </p:nvSpPr>
        <p:spPr>
          <a:xfrm>
            <a:off x="960120" y="377952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03</a:t>
            </a:r>
            <a:endParaRPr lang="en-US" sz="1920" dirty="0"/>
          </a:p>
        </p:txBody>
      </p:sp>
      <p:sp>
        <p:nvSpPr>
          <p:cNvPr id="19" name="Text 8"/>
          <p:cNvSpPr/>
          <p:nvPr/>
        </p:nvSpPr>
        <p:spPr>
          <a:xfrm>
            <a:off x="1493520" y="376428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能够</a:t>
            </a:r>
            <a:endParaRPr lang="en-US" sz="2400" dirty="0"/>
          </a:p>
        </p:txBody>
      </p:sp>
      <p:sp>
        <p:nvSpPr>
          <p:cNvPr id="20" name="Text 9"/>
          <p:cNvSpPr/>
          <p:nvPr/>
        </p:nvSpPr>
        <p:spPr>
          <a:xfrm>
            <a:off x="853440" y="4358640"/>
            <a:ext cx="4901184" cy="168116"/>
          </a:xfrm>
          <a:prstGeom prst="rect">
            <a:avLst/>
          </a:prstGeom>
          <a:noFill/>
        </p:spPr>
        <p:txBody>
          <a:bodyPr wrap="none" lIns="0" tIns="0" rIns="0" bIns="0" rtlCol="0" anchor="t">
            <a:spAutoFit/>
          </a:bodyPr>
          <a:lstStyle/>
          <a:p>
            <a:pPr marL="0" indent="0" algn="l">
              <a:lnSpc>
                <a:spcPct val="100000"/>
              </a:lnSpc>
              <a:buNone/>
            </a:pPr>
            <a:r>
              <a:rPr lang="en-US" sz="960" dirty="0">
                <a:solidFill>
                  <a:srgbClr val="333333"/>
                </a:solidFill>
                <a:latin typeface="思源黑体 CN" pitchFamily="34" charset="0"/>
                <a:ea typeface="思源黑体 CN" pitchFamily="34" charset="-122"/>
                <a:cs typeface="思源黑体 CN" pitchFamily="34" charset="-120"/>
              </a:rPr>
              <a:t>在西普实验平台的真实主机上完成核查取证，留下可追溯的截图与回显</a:t>
            </a:r>
            <a:endParaRPr lang="en-US" sz="960" dirty="0"/>
          </a:p>
        </p:txBody>
      </p:sp>
      <p:pic>
        <p:nvPicPr>
          <p:cNvPr id="21" name="Image 9" descr="https://test.web.static.jianzeppt.com/ppt-temp-img3/326049fc01eedfc89a33a92ec0e2d3e7.png?x-oss-process=image/resize,w_1440,h_800,m_lfit/format,png"/>
          <p:cNvPicPr>
            <a:picLocks noChangeAspect="1"/>
          </p:cNvPicPr>
          <p:nvPr/>
        </p:nvPicPr>
        <p:blipFill>
          <a:blip r:embed="rId4"/>
          <a:stretch>
            <a:fillRect/>
          </a:stretch>
        </p:blipFill>
        <p:spPr>
          <a:xfrm>
            <a:off x="6217920" y="3474720"/>
            <a:ext cx="5379720" cy="1280160"/>
          </a:xfrm>
          <a:prstGeom prst="rect">
            <a:avLst/>
          </a:prstGeom>
        </p:spPr>
      </p:pic>
      <p:pic>
        <p:nvPicPr>
          <p:cNvPr id="22"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1760" y="3718560"/>
            <a:ext cx="487680" cy="487680"/>
          </a:xfrm>
          <a:prstGeom prst="rect">
            <a:avLst/>
          </a:prstGeom>
        </p:spPr>
      </p:pic>
      <p:sp>
        <p:nvSpPr>
          <p:cNvPr id="23" name="Text 10"/>
          <p:cNvSpPr/>
          <p:nvPr/>
        </p:nvSpPr>
        <p:spPr>
          <a:xfrm>
            <a:off x="6568440" y="377952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04</a:t>
            </a:r>
            <a:endParaRPr lang="en-US" sz="1920" dirty="0"/>
          </a:p>
        </p:txBody>
      </p:sp>
      <p:sp>
        <p:nvSpPr>
          <p:cNvPr id="24" name="Text 11"/>
          <p:cNvSpPr/>
          <p:nvPr/>
        </p:nvSpPr>
        <p:spPr>
          <a:xfrm>
            <a:off x="7101840" y="376428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能够</a:t>
            </a:r>
            <a:endParaRPr lang="en-US" sz="2400" dirty="0"/>
          </a:p>
        </p:txBody>
      </p:sp>
      <p:sp>
        <p:nvSpPr>
          <p:cNvPr id="25" name="Text 12"/>
          <p:cNvSpPr/>
          <p:nvPr/>
        </p:nvSpPr>
        <p:spPr>
          <a:xfrm>
            <a:off x="6461760" y="4358640"/>
            <a:ext cx="4901184" cy="168116"/>
          </a:xfrm>
          <a:prstGeom prst="rect">
            <a:avLst/>
          </a:prstGeom>
          <a:noFill/>
        </p:spPr>
        <p:txBody>
          <a:bodyPr wrap="none" lIns="0" tIns="0" rIns="0" bIns="0" rtlCol="0" anchor="t">
            <a:spAutoFit/>
          </a:bodyPr>
          <a:lstStyle/>
          <a:p>
            <a:pPr marL="0" indent="0" algn="l">
              <a:lnSpc>
                <a:spcPct val="100000"/>
              </a:lnSpc>
              <a:buNone/>
            </a:pPr>
            <a:r>
              <a:rPr lang="en-US" sz="960" dirty="0">
                <a:solidFill>
                  <a:srgbClr val="333333"/>
                </a:solidFill>
                <a:latin typeface="思源黑体 CN" pitchFamily="34" charset="0"/>
                <a:ea typeface="思源黑体 CN" pitchFamily="34" charset="-122"/>
                <a:cs typeface="思源黑体 CN" pitchFamily="34" charset="-120"/>
              </a:rPr>
              <a:t>用 JSecProbe 录入核查结果、做出四档判定，导出规范的测评记录表</a:t>
            </a:r>
            <a:endParaRPr lang="en-US" sz="960" dirty="0"/>
          </a:p>
        </p:txBody>
      </p:sp>
      <p:pic>
        <p:nvPicPr>
          <p:cNvPr id="26" name="Image 11" descr="https://test.web.static.jianzeppt.com/ppt-temp-img3/326049fc01eedfc89a33a92ec0e2d3e7.png?x-oss-process=image/resize,w_1440,h_800,m_lfit/format,png"/>
          <p:cNvPicPr>
            <a:picLocks noChangeAspect="1"/>
          </p:cNvPicPr>
          <p:nvPr/>
        </p:nvPicPr>
        <p:blipFill>
          <a:blip r:embed="rId4"/>
          <a:stretch>
            <a:fillRect/>
          </a:stretch>
        </p:blipFill>
        <p:spPr>
          <a:xfrm>
            <a:off x="609600" y="4968240"/>
            <a:ext cx="5379720" cy="1280160"/>
          </a:xfrm>
          <a:prstGeom prst="rect">
            <a:avLst/>
          </a:prstGeom>
        </p:spPr>
      </p:pic>
      <p:pic>
        <p:nvPicPr>
          <p:cNvPr id="27" name="Image 1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40" y="5212080"/>
            <a:ext cx="487680" cy="487680"/>
          </a:xfrm>
          <a:prstGeom prst="rect">
            <a:avLst/>
          </a:prstGeom>
        </p:spPr>
      </p:pic>
      <p:sp>
        <p:nvSpPr>
          <p:cNvPr id="28" name="Text 13"/>
          <p:cNvSpPr/>
          <p:nvPr/>
        </p:nvSpPr>
        <p:spPr>
          <a:xfrm>
            <a:off x="960120" y="5273040"/>
            <a:ext cx="283464" cy="365760"/>
          </a:xfrm>
          <a:prstGeom prst="rect">
            <a:avLst/>
          </a:prstGeom>
          <a:noFill/>
        </p:spPr>
        <p:txBody>
          <a:bodyPr wrap="none" lIns="0" tIns="0" rIns="0" bIns="0" rtlCol="0" anchor="ctr"/>
          <a:lstStyle/>
          <a:p>
            <a:pPr marL="0" indent="0" algn="ctr">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05</a:t>
            </a:r>
            <a:endParaRPr lang="en-US" sz="1920" dirty="0"/>
          </a:p>
        </p:txBody>
      </p:sp>
      <p:sp>
        <p:nvSpPr>
          <p:cNvPr id="29" name="Text 14"/>
          <p:cNvSpPr/>
          <p:nvPr/>
        </p:nvSpPr>
        <p:spPr>
          <a:xfrm>
            <a:off x="1493520" y="5273040"/>
            <a:ext cx="618744" cy="381000"/>
          </a:xfrm>
          <a:prstGeom prst="rect">
            <a:avLst/>
          </a:prstGeom>
          <a:noFill/>
        </p:spPr>
        <p:txBody>
          <a:bodyPr wrap="none" lIns="0" tIns="0" rIns="0" bIns="0" rtlCol="0" anchor="t">
            <a:spAutoFit/>
          </a:bodyPr>
          <a:lstStyle/>
          <a:p>
            <a:pPr marL="0" indent="0" algn="l">
              <a:lnSpc>
                <a:spcPct val="100000"/>
              </a:lnSpc>
              <a:buNone/>
            </a:pPr>
            <a:r>
              <a:rPr lang="en-US" sz="2400" dirty="0">
                <a:solidFill>
                  <a:srgbClr val="143966"/>
                </a:solidFill>
                <a:latin typeface="思源黑体 CN Bold" pitchFamily="34" charset="0"/>
                <a:ea typeface="思源黑体 CN Bold" pitchFamily="34" charset="-122"/>
                <a:cs typeface="思源黑体 CN Bold" pitchFamily="34" charset="-120"/>
              </a:rPr>
              <a:t>具备</a:t>
            </a:r>
            <a:endParaRPr lang="en-US" sz="2400" dirty="0"/>
          </a:p>
        </p:txBody>
      </p:sp>
      <p:sp>
        <p:nvSpPr>
          <p:cNvPr id="30" name="Text 15"/>
          <p:cNvSpPr/>
          <p:nvPr/>
        </p:nvSpPr>
        <p:spPr>
          <a:xfrm>
            <a:off x="853440" y="5852160"/>
            <a:ext cx="4901184" cy="168116"/>
          </a:xfrm>
          <a:prstGeom prst="rect">
            <a:avLst/>
          </a:prstGeom>
          <a:noFill/>
        </p:spPr>
        <p:txBody>
          <a:bodyPr wrap="none" lIns="0" tIns="0" rIns="0" bIns="0" rtlCol="0" anchor="t">
            <a:spAutoFit/>
          </a:bodyPr>
          <a:lstStyle/>
          <a:p>
            <a:pPr marL="0" indent="0" algn="l">
              <a:lnSpc>
                <a:spcPct val="100000"/>
              </a:lnSpc>
              <a:buNone/>
            </a:pPr>
            <a:r>
              <a:rPr lang="en-US" sz="960" dirty="0">
                <a:solidFill>
                  <a:srgbClr val="333333"/>
                </a:solidFill>
                <a:latin typeface="思源黑体 CN" pitchFamily="34" charset="0"/>
                <a:ea typeface="思源黑体 CN" pitchFamily="34" charset="-122"/>
                <a:cs typeface="思源黑体 CN" pitchFamily="34" charset="-120"/>
              </a:rPr>
              <a:t>针对不符合项，写出具体、能落地、带期限的整改建议</a:t>
            </a:r>
            <a:endParaRPr lang="en-US" sz="960" dirty="0"/>
          </a:p>
        </p:txBody>
      </p:sp>
      <p:sp>
        <p:nvSpPr>
          <p:cNvPr id="31" name="Text 16"/>
          <p:cNvSpPr/>
          <p:nvPr/>
        </p:nvSpPr>
        <p:spPr>
          <a:xfrm>
            <a:off x="609600" y="1371600"/>
            <a:ext cx="10981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666666"/>
                </a:solidFill>
                <a:latin typeface="思源黑体 CN" pitchFamily="34" charset="0"/>
                <a:ea typeface="思源黑体 CN" pitchFamily="34" charset="-122"/>
                <a:cs typeface="思源黑体 CN" pitchFamily="34" charset="-120"/>
              </a:rPr>
              <a:t>学完这一节，你应该能做到：</a:t>
            </a:r>
            <a:endParaRPr lang="en-US" sz="1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Part.02</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关键知识——标准怎么说、怎么查</a:t>
            </a:r>
            <a:endParaRPr lang="en-US" sz="5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什么是主机安全基线？</a:t>
            </a:r>
            <a:endParaRPr lang="en-US" sz="2760" dirty="0"/>
          </a:p>
        </p:txBody>
      </p:sp>
      <p:sp>
        <p:nvSpPr>
          <p:cNvPr id="6" name="Text 1"/>
          <p:cNvSpPr/>
          <p:nvPr/>
        </p:nvSpPr>
        <p:spPr>
          <a:xfrm>
            <a:off x="609600" y="1981200"/>
            <a:ext cx="4276344" cy="1429703"/>
          </a:xfrm>
          <a:prstGeom prst="rect">
            <a:avLst/>
          </a:prstGeom>
          <a:noFill/>
        </p:spPr>
        <p:txBody>
          <a:bodyPr wrap="square" lIns="0" tIns="0" rIns="0" bIns="0" rtlCol="0" anchor="t">
            <a:spAutoFit/>
          </a:bodyPr>
          <a:lstStyle/>
          <a:p>
            <a:pPr marL="0" indent="0" algn="l">
              <a:lnSpc>
                <a:spcPct val="138000"/>
              </a:lnSpc>
              <a:buNone/>
            </a:pPr>
            <a:r>
              <a:rPr lang="en-US" sz="2040" b="1" dirty="0">
                <a:solidFill>
                  <a:srgbClr val="1F2837"/>
                </a:solidFill>
                <a:latin typeface="思源黑体 CN Bold" pitchFamily="34" charset="0"/>
                <a:ea typeface="思源黑体 CN Bold" pitchFamily="34" charset="-122"/>
                <a:cs typeface="思源黑体 CN Bold" pitchFamily="34" charset="-120"/>
              </a:rPr>
              <a:t>安全基线（Security Baseline）</a:t>
            </a:r>
            <a:r>
              <a:rPr lang="en-US" sz="2040" dirty="0">
                <a:solidFill>
                  <a:srgbClr val="1F2837"/>
                </a:solidFill>
                <a:latin typeface="思源黑体 CN" pitchFamily="34" charset="0"/>
                <a:ea typeface="思源黑体 CN" pitchFamily="34" charset="-122"/>
                <a:cs typeface="思源黑体 CN" pitchFamily="34" charset="-120"/>
              </a:rPr>
              <a:t>是指信息系统在特定安全等级下，为保障系统安全运行所必须满足的最低安全配置标准。</a:t>
            </a:r>
            <a:endParaRPr lang="en-US" sz="2040" dirty="0"/>
          </a:p>
        </p:txBody>
      </p:sp>
      <p:pic>
        <p:nvPicPr>
          <p:cNvPr id="7" name="Image 3" descr="https://test.web.static.jianzeppt.com/ppt-temp-img3/8bb88656cf1183d86938bd32bbb21b3c.png?x-oss-process=image/resize,w_1440,h_800,m_lfit/format,png"/>
          <p:cNvPicPr>
            <a:picLocks noChangeAspect="1"/>
          </p:cNvPicPr>
          <p:nvPr/>
        </p:nvPicPr>
        <p:blipFill>
          <a:blip r:embed="rId4"/>
          <a:stretch>
            <a:fillRect/>
          </a:stretch>
        </p:blipFill>
        <p:spPr>
          <a:xfrm>
            <a:off x="609600" y="3870960"/>
            <a:ext cx="4267200" cy="1767840"/>
          </a:xfrm>
          <a:prstGeom prst="rect">
            <a:avLst/>
          </a:prstGeom>
        </p:spPr>
      </p:pic>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4236720"/>
            <a:ext cx="60960" cy="243840"/>
          </a:xfrm>
          <a:prstGeom prst="rect">
            <a:avLst/>
          </a:prstGeom>
        </p:spPr>
      </p:pic>
      <p:sp>
        <p:nvSpPr>
          <p:cNvPr id="9" name="Text 2"/>
          <p:cNvSpPr/>
          <p:nvPr/>
        </p:nvSpPr>
        <p:spPr>
          <a:xfrm>
            <a:off x="1051560" y="4130040"/>
            <a:ext cx="1228344" cy="457200"/>
          </a:xfrm>
          <a:prstGeom prst="rect">
            <a:avLst/>
          </a:prstGeom>
          <a:noFill/>
        </p:spPr>
        <p:txBody>
          <a:bodyPr wrap="none" lIns="0" tIns="0" rIns="0" bIns="0" rtlCol="0" anchor="t">
            <a:spAutoFit/>
          </a:bodyPr>
          <a:lstStyle/>
          <a:p>
            <a:pPr marL="0" indent="0" algn="l">
              <a:lnSpc>
                <a:spcPct val="150000"/>
              </a:lnSpc>
              <a:buNone/>
            </a:pPr>
            <a:r>
              <a:rPr lang="en-US" sz="2400" b="1" dirty="0">
                <a:solidFill>
                  <a:srgbClr val="143966"/>
                </a:solidFill>
                <a:latin typeface="思源黑体 CN Bold" pitchFamily="34" charset="0"/>
                <a:ea typeface="思源黑体 CN Bold" pitchFamily="34" charset="-122"/>
                <a:cs typeface="思源黑体 CN Bold" pitchFamily="34" charset="-120"/>
              </a:rPr>
              <a:t>本课重点</a:t>
            </a:r>
            <a:endParaRPr lang="en-US" sz="2400" dirty="0"/>
          </a:p>
        </p:txBody>
      </p:sp>
      <p:sp>
        <p:nvSpPr>
          <p:cNvPr id="10" name="Text 3"/>
          <p:cNvSpPr/>
          <p:nvPr/>
        </p:nvSpPr>
        <p:spPr>
          <a:xfrm>
            <a:off x="868680" y="4693920"/>
            <a:ext cx="3758184" cy="630555"/>
          </a:xfrm>
          <a:prstGeom prst="rect">
            <a:avLst/>
          </a:prstGeom>
          <a:noFill/>
        </p:spPr>
        <p:txBody>
          <a:bodyPr wrap="square" lIns="0" tIns="0" rIns="0" bIns="0" rtlCol="0" anchor="t">
            <a:spAutoFit/>
          </a:bodyPr>
          <a:lstStyle/>
          <a:p>
            <a:pPr marL="0" indent="0" algn="l">
              <a:lnSpc>
                <a:spcPct val="138000"/>
              </a:lnSpc>
              <a:buNone/>
            </a:pPr>
            <a:r>
              <a:rPr lang="en-US" sz="1800" b="1" dirty="0">
                <a:solidFill>
                  <a:srgbClr val="143966"/>
                </a:solidFill>
                <a:latin typeface="思源黑体 CN Bold" pitchFamily="34" charset="0"/>
                <a:ea typeface="思源黑体 CN Bold" pitchFamily="34" charset="-122"/>
                <a:cs typeface="思源黑体 CN Bold" pitchFamily="34" charset="-120"/>
              </a:rPr>
              <a:t>身份鉴别、访问控制（占比约60%）</a:t>
            </a:r>
            <a:r>
              <a:rPr lang="en-US" sz="1800" dirty="0">
                <a:solidFill>
                  <a:srgbClr val="1F2837"/>
                </a:solidFill>
                <a:latin typeface="思源黑体 CN" pitchFamily="34" charset="0"/>
                <a:ea typeface="思源黑体 CN" pitchFamily="34" charset="-122"/>
                <a:cs typeface="思源黑体 CN" pitchFamily="34" charset="-120"/>
              </a:rPr>
              <a:t>，其他维度为补充。</a:t>
            </a:r>
            <a:endParaRPr lang="en-US" sz="180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42560" y="1371600"/>
            <a:ext cx="6339840" cy="4876800"/>
          </a:xfrm>
          <a:prstGeom prst="rect">
            <a:avLst/>
          </a:prstGeom>
          <a:effectLst>
            <a:outerShdw blurRad="387096000" dist="193548000" dir="-1" algn="bl" rotWithShape="0">
              <a:srgbClr val="000000">
                <a:alpha val="500000000"/>
              </a:srgbClr>
            </a:outerShdw>
          </a:effectLst>
        </p:spPr>
      </p:pic>
      <p:graphicFrame>
        <p:nvGraphicFramePr>
          <p:cNvPr id="12" name="Table 0"/>
          <p:cNvGraphicFramePr>
            <a:graphicFrameLocks noGrp="1"/>
          </p:cNvGraphicFramePr>
          <p:nvPr/>
        </p:nvGraphicFramePr>
        <p:xfrm>
          <a:off x="5440680" y="1395095"/>
          <a:ext cx="5943600" cy="4480560"/>
        </p:xfrm>
        <a:graphic>
          <a:graphicData uri="http://schemas.openxmlformats.org/drawingml/2006/table">
            <a:tbl>
              <a:tblPr/>
              <a:tblGrid>
                <a:gridCol w="1634872"/>
                <a:gridCol w="3422536"/>
                <a:gridCol w="886192"/>
              </a:tblGrid>
              <a:tr h="497840">
                <a:tc>
                  <a:txBody>
                    <a:bodyPr/>
                    <a:lstStyle/>
                    <a:p>
                      <a:pPr marL="0" indent="0" algn="ctr">
                        <a:buNone/>
                      </a:pPr>
                      <a:r>
                        <a:rPr lang="en-US" sz="1400" dirty="0">
                          <a:solidFill>
                            <a:srgbClr val="000000"/>
                          </a:solidFill>
                        </a:rPr>
                        <a:t>维度</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检查内容</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标准依据</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身份鉴别</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口令复杂度、登录失败处理、远程管理加密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访问控制</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账户权限、默认账户、最小权限原则</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8.1.4.2</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安全审计</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审计策略、审计日志保护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8.1.4.3</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入侵防范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最小安装、关闭高危端口、漏洞管理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8.1.4.4</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恶意代码防范</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防病毒软件安装、病毒库更新</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8.1.4.5</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数据完整性/保密性</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数据传输/存储加密</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8.1.4.7/8</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数据备份恢复</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备份策略</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8.1.4.9</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97840">
                <a:tc>
                  <a:txBody>
                    <a:bodyPr/>
                    <a:lstStyle/>
                    <a:p>
                      <a:pPr marL="0" indent="0" algn="ctr">
                        <a:buNone/>
                      </a:pPr>
                      <a:r>
                        <a:rPr lang="en-US" sz="1400" dirty="0">
                          <a:solidFill>
                            <a:srgbClr val="000000"/>
                          </a:solidFill>
                        </a:rPr>
                        <a:t>剩余信息保护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存储空间清除</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8.1.4.10</a:t>
                      </a:r>
                      <a:endParaRPr lang="en-US" sz="14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身份鉴别核查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874520"/>
          </a:xfrm>
          <a:prstGeom prst="rect">
            <a:avLst/>
          </a:prstGeom>
        </p:spPr>
      </p:pic>
      <p:sp>
        <p:nvSpPr>
          <p:cNvPr id="7" name="Text 1"/>
          <p:cNvSpPr/>
          <p:nvPr/>
        </p:nvSpPr>
        <p:spPr>
          <a:xfrm>
            <a:off x="914400" y="1615440"/>
            <a:ext cx="10433304" cy="438864"/>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GB/T 22239 8.1.4.1</a:t>
            </a:r>
            <a:endParaRPr lang="en-US" sz="2160" dirty="0"/>
          </a:p>
        </p:txBody>
      </p:sp>
      <p:sp>
        <p:nvSpPr>
          <p:cNvPr id="8" name="Text 2"/>
          <p:cNvSpPr/>
          <p:nvPr/>
        </p:nvSpPr>
        <p:spPr>
          <a:xfrm>
            <a:off x="914400" y="2087880"/>
            <a:ext cx="10433304" cy="984885"/>
          </a:xfrm>
          <a:prstGeom prst="rect">
            <a:avLst/>
          </a:prstGeom>
          <a:noFill/>
        </p:spPr>
        <p:txBody>
          <a:bodyPr wrap="square" lIns="0" tIns="0" rIns="0" bIns="0" rtlCol="0" anchor="t">
            <a:spAutoFit/>
          </a:bodyPr>
          <a:lstStyle/>
          <a:p>
            <a:pPr marL="0" indent="0" algn="l">
              <a:lnSpc>
                <a:spcPct val="160000"/>
              </a:lnSpc>
              <a:buNone/>
            </a:pPr>
            <a:r>
              <a:rPr lang="en-US" sz="2000" dirty="0">
                <a:solidFill>
                  <a:srgbClr val="333333"/>
                </a:solidFill>
                <a:latin typeface="思源黑体 CN" pitchFamily="34" charset="0"/>
                <a:ea typeface="思源黑体 CN" pitchFamily="34" charset="-122"/>
                <a:cs typeface="思源黑体 CN" pitchFamily="34" charset="-120"/>
              </a:rPr>
              <a:t>“应对登录的用户进行身份标识和鉴别，身份标识具有唯一性，身份鉴别信息具有复杂度要求并定期更换。”</a:t>
            </a:r>
            <a:endParaRPr lang="en-US" sz="2000" dirty="0">
              <a:solidFill>
                <a:srgbClr val="333333"/>
              </a:solidFill>
              <a:latin typeface="思源黑体 CN" pitchFamily="34" charset="0"/>
              <a:ea typeface="思源黑体 CN" pitchFamily="34" charset="-122"/>
              <a:cs typeface="思源黑体 CN" pitchFamily="34" charset="-120"/>
            </a:endParaRPr>
          </a:p>
        </p:txBody>
      </p:sp>
      <p:graphicFrame>
        <p:nvGraphicFramePr>
          <p:cNvPr id="9" name="Table 0"/>
          <p:cNvGraphicFramePr>
            <a:graphicFrameLocks noGrp="1"/>
          </p:cNvGraphicFramePr>
          <p:nvPr/>
        </p:nvGraphicFramePr>
        <p:xfrm>
          <a:off x="609600" y="3413760"/>
          <a:ext cx="10972800" cy="2773680"/>
        </p:xfrm>
        <a:graphic>
          <a:graphicData uri="http://schemas.openxmlformats.org/drawingml/2006/table">
            <a:tbl>
              <a:tblPr/>
              <a:tblGrid>
                <a:gridCol w="808843"/>
                <a:gridCol w="2411269"/>
                <a:gridCol w="3693209"/>
                <a:gridCol w="4059478"/>
              </a:tblGrid>
              <a:tr h="396240">
                <a:tc>
                  <a:txBody>
                    <a:bodyPr/>
                    <a:lstStyle/>
                    <a:p>
                      <a:pPr marL="0" indent="0" algn="ctr">
                        <a:buNone/>
                      </a:pPr>
                      <a:r>
                        <a:rPr lang="en-US" sz="1600" dirty="0">
                          <a:solidFill>
                            <a:srgbClr val="000000"/>
                          </a:solidFill>
                        </a:rPr>
                        <a:t>序号</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Windows检查方法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Linux检查方法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1</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密码复杂度策略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secpol.msc密码策略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/etc/security/pwquality.conf</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密码最小长度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密码最小长度8位</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minlen=8+</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3</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密码最长使用期限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密码最长使用期限90天</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/etc/login.defsPASS_MAX_DAYS</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密码历史</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强制密码历史5个</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/etc/security/opasswd</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5</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登录失败锁定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账户锁定策略5次失败锁定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pam_tally2/faillock</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96240">
                <a:tc>
                  <a:txBody>
                    <a:bodyPr/>
                    <a:lstStyle/>
                    <a:p>
                      <a:pPr marL="0" indent="0" algn="ctr">
                        <a:buNone/>
                      </a:pPr>
                      <a:r>
                        <a:rPr lang="en-US" sz="1600" dirty="0">
                          <a:solidFill>
                            <a:srgbClr val="000000"/>
                          </a:solidFill>
                        </a:rPr>
                        <a:t>6</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远程管理加密</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使用RDP/SSH代替Telnet</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禁用Telnet，使用SSH</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7010" y="146050"/>
            <a:ext cx="11777980" cy="6624955"/>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386760"/>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身份鉴别怎么查——Windows 与 Linux 对照</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055370"/>
            <a:ext cx="10972800" cy="2632710"/>
          </a:xfrm>
          <a:prstGeom prst="rect">
            <a:avLst/>
          </a:prstGeom>
          <a:effectLst>
            <a:outerShdw blurRad="387096000" dist="193548000" dir="-1" algn="bl" rotWithShape="0">
              <a:srgbClr val="000000">
                <a:alpha val="500000000"/>
              </a:srgbClr>
            </a:outerShdw>
          </a:effectLst>
        </p:spPr>
      </p:pic>
      <p:pic>
        <p:nvPicPr>
          <p:cNvPr id="7"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9640" y="1197610"/>
            <a:ext cx="60960" cy="304800"/>
          </a:xfrm>
          <a:prstGeom prst="rect">
            <a:avLst/>
          </a:prstGeom>
        </p:spPr>
      </p:pic>
      <p:sp>
        <p:nvSpPr>
          <p:cNvPr id="8" name="Text 1"/>
          <p:cNvSpPr/>
          <p:nvPr/>
        </p:nvSpPr>
        <p:spPr>
          <a:xfrm>
            <a:off x="1112520" y="1153795"/>
            <a:ext cx="6364224" cy="480060"/>
          </a:xfrm>
          <a:prstGeom prst="rect">
            <a:avLst/>
          </a:prstGeom>
          <a:noFill/>
        </p:spPr>
        <p:txBody>
          <a:bodyPr wrap="none" lIns="0" tIns="0" rIns="0" bIns="0" rtlCol="0" anchor="t">
            <a:spAutoFit/>
          </a:bodyPr>
          <a:lstStyle/>
          <a:p>
            <a:pPr marL="0" indent="0" algn="l">
              <a:lnSpc>
                <a:spcPct val="100000"/>
              </a:lnSpc>
              <a:buNone/>
            </a:pPr>
            <a:r>
              <a:rPr lang="en-US" sz="2520" dirty="0">
                <a:solidFill>
                  <a:srgbClr val="143966"/>
                </a:solidFill>
                <a:latin typeface="思源黑体 CN Bold" pitchFamily="34" charset="0"/>
                <a:ea typeface="思源黑体 CN Bold" pitchFamily="34" charset="-122"/>
                <a:cs typeface="思源黑体 CN Bold" pitchFamily="34" charset="-120"/>
              </a:rPr>
              <a:t>Windows Server 配置核查（secpol.msc）</a:t>
            </a:r>
            <a:endParaRPr lang="en-US" sz="2520" dirty="0"/>
          </a:p>
        </p:txBody>
      </p:sp>
      <p:pic>
        <p:nvPicPr>
          <p:cNvPr id="9"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865880"/>
            <a:ext cx="10972800" cy="2668905"/>
          </a:xfrm>
          <a:prstGeom prst="rect">
            <a:avLst/>
          </a:prstGeom>
          <a:effectLst>
            <a:outerShdw blurRad="387096000" dist="193548000" dir="-1" algn="bl" rotWithShape="0">
              <a:srgbClr val="000000">
                <a:alpha val="500000000"/>
              </a:srgbClr>
            </a:outerShdw>
          </a:effectLst>
        </p:spPr>
      </p:pic>
      <p:pic>
        <p:nvPicPr>
          <p:cNvPr id="10"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8680" y="4138930"/>
            <a:ext cx="60960" cy="304800"/>
          </a:xfrm>
          <a:prstGeom prst="rect">
            <a:avLst/>
          </a:prstGeom>
        </p:spPr>
      </p:pic>
      <p:sp>
        <p:nvSpPr>
          <p:cNvPr id="11" name="Text 2"/>
          <p:cNvSpPr/>
          <p:nvPr/>
        </p:nvSpPr>
        <p:spPr>
          <a:xfrm>
            <a:off x="1082040" y="4064000"/>
            <a:ext cx="4352544" cy="502920"/>
          </a:xfrm>
          <a:prstGeom prst="rect">
            <a:avLst/>
          </a:prstGeom>
          <a:noFill/>
        </p:spPr>
        <p:txBody>
          <a:bodyPr wrap="none" lIns="0" tIns="0" rIns="0" bIns="0" rtlCol="0" anchor="t">
            <a:spAutoFit/>
          </a:bodyPr>
          <a:lstStyle/>
          <a:p>
            <a:pPr marL="0" indent="0" algn="l">
              <a:lnSpc>
                <a:spcPct val="100000"/>
              </a:lnSpc>
              <a:buNone/>
            </a:pPr>
            <a:r>
              <a:rPr lang="en-US" sz="2640" dirty="0">
                <a:solidFill>
                  <a:srgbClr val="143966"/>
                </a:solidFill>
                <a:latin typeface="思源黑体 CN Bold" pitchFamily="34" charset="0"/>
                <a:ea typeface="思源黑体 CN Bold" pitchFamily="34" charset="-122"/>
                <a:cs typeface="思源黑体 CN Bold" pitchFamily="34" charset="-120"/>
              </a:rPr>
              <a:t>Linux 配置核查（关键文件）</a:t>
            </a:r>
            <a:endParaRPr lang="en-US" sz="2640" dirty="0"/>
          </a:p>
        </p:txBody>
      </p:sp>
      <p:pic>
        <p:nvPicPr>
          <p:cNvPr id="12" name="Image 7" descr="https://test.web.static.jianzeppt.com/ppt-temp-img3/dab9514f2693716e3128e735cf36c55a.png?x-oss-process=image/resize,w_1440,h_800,m_lfit/format,png"/>
          <p:cNvPicPr>
            <a:picLocks noChangeAspect="1"/>
          </p:cNvPicPr>
          <p:nvPr/>
        </p:nvPicPr>
        <p:blipFill>
          <a:blip r:embed="rId8"/>
          <a:stretch>
            <a:fillRect/>
          </a:stretch>
        </p:blipFill>
        <p:spPr>
          <a:xfrm>
            <a:off x="868680" y="1681480"/>
            <a:ext cx="10454640" cy="1832610"/>
          </a:xfrm>
          <a:prstGeom prst="rect">
            <a:avLst/>
          </a:prstGeom>
        </p:spPr>
      </p:pic>
      <p:graphicFrame>
        <p:nvGraphicFramePr>
          <p:cNvPr id="13" name="Table 0"/>
          <p:cNvGraphicFramePr>
            <a:graphicFrameLocks noGrp="1"/>
          </p:cNvGraphicFramePr>
          <p:nvPr/>
        </p:nvGraphicFramePr>
        <p:xfrm>
          <a:off x="3364865" y="1704340"/>
          <a:ext cx="4397375" cy="1786890"/>
        </p:xfrm>
        <a:graphic>
          <a:graphicData uri="http://schemas.openxmlformats.org/drawingml/2006/table">
            <a:tbl>
              <a:tblPr/>
              <a:tblGrid>
                <a:gridCol w="1043305"/>
                <a:gridCol w="1802130"/>
                <a:gridCol w="811530"/>
                <a:gridCol w="740410"/>
              </a:tblGrid>
              <a:tr h="255270">
                <a:tc>
                  <a:txBody>
                    <a:bodyPr/>
                    <a:lstStyle/>
                    <a:p>
                      <a:pPr marL="0" indent="0" algn="ctr">
                        <a:buNone/>
                      </a:pPr>
                      <a:r>
                        <a:rPr lang="en-US" sz="1200" dirty="0">
                          <a:solidFill>
                            <a:srgbClr val="000000"/>
                          </a:solidFill>
                        </a:rPr>
                        <a:t>策略路径</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策略名称</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检查结果</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密码必须符合复杂性要求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已启用</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密码长度最小值</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8个字符</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密码最长使用期限</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90天</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密码策略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强制密码历史</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5个</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账户锁定策略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账户锁定阈值</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5次</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5270">
                <a:tc>
                  <a:txBody>
                    <a:bodyPr/>
                    <a:lstStyle/>
                    <a:p>
                      <a:pPr marL="0" indent="0" algn="ctr">
                        <a:buNone/>
                      </a:pPr>
                      <a:r>
                        <a:rPr lang="en-US" sz="1200" dirty="0">
                          <a:solidFill>
                            <a:srgbClr val="000000"/>
                          </a:solidFill>
                        </a:rPr>
                        <a:t>账户锁定策略</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账户锁定时间</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15分钟</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endParaRPr lang="en-US" sz="1200" dirty="0"/>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4" name="Image 8" descr="https://test.web.static.jianzeppt.com/ppt-temp-img3/dab9514f2693716e3128e735cf36c55a.png?x-oss-process=image/resize,w_1440,h_800,m_lfit/format,png"/>
          <p:cNvPicPr>
            <a:picLocks noChangeAspect="1"/>
          </p:cNvPicPr>
          <p:nvPr/>
        </p:nvPicPr>
        <p:blipFill>
          <a:blip r:embed="rId8"/>
          <a:stretch>
            <a:fillRect/>
          </a:stretch>
        </p:blipFill>
        <p:spPr>
          <a:xfrm>
            <a:off x="868680" y="4545330"/>
            <a:ext cx="10454640" cy="1905000"/>
          </a:xfrm>
          <a:prstGeom prst="rect">
            <a:avLst/>
          </a:prstGeom>
        </p:spPr>
      </p:pic>
      <p:graphicFrame>
        <p:nvGraphicFramePr>
          <p:cNvPr id="19" name="Table 1"/>
          <p:cNvGraphicFramePr>
            <a:graphicFrameLocks noGrp="1"/>
          </p:cNvGraphicFramePr>
          <p:nvPr/>
        </p:nvGraphicFramePr>
        <p:xfrm>
          <a:off x="3364230" y="4558030"/>
          <a:ext cx="4866005" cy="1862455"/>
        </p:xfrm>
        <a:graphic>
          <a:graphicData uri="http://schemas.openxmlformats.org/drawingml/2006/table">
            <a:tbl>
              <a:tblPr/>
              <a:tblGrid>
                <a:gridCol w="1588770"/>
                <a:gridCol w="1414145"/>
                <a:gridCol w="1863090"/>
              </a:tblGrid>
              <a:tr h="266065">
                <a:tc>
                  <a:txBody>
                    <a:bodyPr/>
                    <a:lstStyle/>
                    <a:p>
                      <a:pPr marL="0" indent="0" algn="ctr">
                        <a:buNone/>
                      </a:pPr>
                      <a:r>
                        <a:rPr lang="en-US" sz="1200" dirty="0">
                          <a:solidFill>
                            <a:srgbClr val="000000"/>
                          </a:solidFill>
                        </a:rPr>
                        <a:t>配置文件</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参数</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合规要求</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PASS_MAX_DAYS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90</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PASS_MIN_DAYS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1</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PASS_MIN_LEN</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8</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/etc/login.defs</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PASS_WARN_AGE</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7</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/etc/ssh/sshd_config</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PermitRootLogin</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no（禁止root直接登录）</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66065">
                <a:tc>
                  <a:txBody>
                    <a:bodyPr/>
                    <a:lstStyle/>
                    <a:p>
                      <a:pPr marL="0" indent="0" algn="ctr">
                        <a:buNone/>
                      </a:pPr>
                      <a:r>
                        <a:rPr lang="en-US" sz="1200" dirty="0">
                          <a:solidFill>
                            <a:srgbClr val="000000"/>
                          </a:solidFill>
                        </a:rPr>
                        <a:t>/etc/ssh/sshd_config</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Protocol</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2（仅使用SSHv2）</a:t>
                      </a:r>
                      <a:endParaRPr lang="en-US" sz="1200" dirty="0">
                        <a:solidFill>
                          <a:srgbClr val="000000"/>
                        </a:solidFill>
                      </a:endParaRPr>
                    </a:p>
                  </a:txBody>
                  <a:tcPr marL="36068" marR="36068" marT="36068" marB="3606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15" name="对象 14">
            <a:hlinkClick r:id="" action="ppaction://ole?verb="/>
          </p:cNvPr>
          <p:cNvGraphicFramePr>
            <a:graphicFrameLocks noChangeAspect="1"/>
          </p:cNvGraphicFramePr>
          <p:nvPr/>
        </p:nvGraphicFramePr>
        <p:xfrm>
          <a:off x="9388475" y="2264410"/>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9" imgW="971550" imgH="666750" progId="Word.Document.12">
                  <p:embed/>
                </p:oleObj>
              </mc:Choice>
              <mc:Fallback>
                <p:oleObj name="" showAsIcon="1" r:id="rId9" imgW="971550" imgH="666750" progId="Word.Document.12">
                  <p:embed/>
                  <p:pic>
                    <p:nvPicPr>
                      <p:cNvPr id="0" name="图片 2048"/>
                      <p:cNvPicPr/>
                      <p:nvPr/>
                    </p:nvPicPr>
                    <p:blipFill>
                      <a:blip r:embed="rId10"/>
                      <a:stretch>
                        <a:fillRect/>
                      </a:stretch>
                    </p:blipFill>
                    <p:spPr>
                      <a:xfrm>
                        <a:off x="9388475" y="2264410"/>
                        <a:ext cx="971550" cy="66675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9388475" y="5164455"/>
          <a:ext cx="971550" cy="666750"/>
        </p:xfrm>
        <a:graphic>
          <a:graphicData uri="http://schemas.openxmlformats.org/presentationml/2006/ole">
            <mc:AlternateContent xmlns:mc="http://schemas.openxmlformats.org/markup-compatibility/2006">
              <mc:Choice xmlns:v="urn:schemas-microsoft-com:vml" Requires="v">
                <p:oleObj spid="_x0000_s2051" name="" showAsIcon="1" r:id="rId11" imgW="971550" imgH="666750" progId="Word.Document.12">
                  <p:embed/>
                </p:oleObj>
              </mc:Choice>
              <mc:Fallback>
                <p:oleObj name="" showAsIcon="1" r:id="rId11" imgW="971550" imgH="666750" progId="Word.Document.12">
                  <p:embed/>
                  <p:pic>
                    <p:nvPicPr>
                      <p:cNvPr id="0" name="图片 2050"/>
                      <p:cNvPicPr/>
                      <p:nvPr/>
                    </p:nvPicPr>
                    <p:blipFill>
                      <a:blip r:embed="rId12"/>
                      <a:stretch>
                        <a:fillRect/>
                      </a:stretch>
                    </p:blipFill>
                    <p:spPr>
                      <a:xfrm>
                        <a:off x="9388475" y="5164455"/>
                        <a:ext cx="971550" cy="6667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访问控制核查</a:t>
            </a:r>
            <a:endParaRPr lang="en-US" sz="2760" dirty="0"/>
          </a:p>
        </p:txBody>
      </p:sp>
      <p:pic>
        <p:nvPicPr>
          <p:cNvPr id="6" name="Image 3" descr="https://test.web.static.jianzeppt.com/ppt-temp-img3/4076d2d1373c0e3e70687f8ef3e4e976.png?x-oss-process=image/resize,w_1440,h_800,m_lfit/format,png"/>
          <p:cNvPicPr>
            <a:picLocks noChangeAspect="1"/>
          </p:cNvPicPr>
          <p:nvPr/>
        </p:nvPicPr>
        <p:blipFill>
          <a:blip r:embed="rId4"/>
          <a:stretch>
            <a:fillRect/>
          </a:stretch>
        </p:blipFill>
        <p:spPr>
          <a:xfrm>
            <a:off x="609600" y="1371600"/>
            <a:ext cx="10972800" cy="1356360"/>
          </a:xfrm>
          <a:prstGeom prst="rect">
            <a:avLst/>
          </a:prstGeom>
        </p:spPr>
      </p:pic>
      <p:sp>
        <p:nvSpPr>
          <p:cNvPr id="7" name="Text 1"/>
          <p:cNvSpPr/>
          <p:nvPr/>
        </p:nvSpPr>
        <p:spPr>
          <a:xfrm>
            <a:off x="792480" y="1554480"/>
            <a:ext cx="10616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GB/T 22239 8.1.4.2</a:t>
            </a:r>
            <a:endParaRPr lang="en-US" sz="1680" dirty="0"/>
          </a:p>
        </p:txBody>
      </p:sp>
      <p:sp>
        <p:nvSpPr>
          <p:cNvPr id="8" name="Text 2"/>
          <p:cNvSpPr/>
          <p:nvPr/>
        </p:nvSpPr>
        <p:spPr>
          <a:xfrm>
            <a:off x="792480" y="1935480"/>
            <a:ext cx="10616184" cy="609600"/>
          </a:xfrm>
          <a:prstGeom prst="rect">
            <a:avLst/>
          </a:prstGeom>
          <a:noFill/>
        </p:spPr>
        <p:txBody>
          <a:bodyPr wrap="square" lIns="0" tIns="0" rIns="0" bIns="0" rtlCol="0" anchor="ctr">
            <a:spAutoFit/>
          </a:bodyPr>
          <a:lstStyle/>
          <a:p>
            <a:pPr marL="0" indent="0" algn="l">
              <a:lnSpc>
                <a:spcPct val="140000"/>
              </a:lnSpc>
              <a:buNone/>
            </a:pPr>
            <a:r>
              <a:rPr lang="en-US" sz="1680" dirty="0">
                <a:solidFill>
                  <a:srgbClr val="555555"/>
                </a:solidFill>
                <a:latin typeface="思源黑体 CN" pitchFamily="34" charset="0"/>
                <a:ea typeface="思源黑体 CN" pitchFamily="34" charset="-122"/>
                <a:cs typeface="思源黑体 CN" pitchFamily="34" charset="-120"/>
              </a:rPr>
              <a:t>“应对登录的用户分配账户和权限；应重命名或删除默认账户，修改默认账户的默认口令；应及时删除或停用多余的、过期的账户，避免共享账户的存在；应授予管理用户所需的最小权限，实现管理用户的权限分离。”</a:t>
            </a:r>
            <a:endParaRPr lang="en-US" sz="1680" dirty="0"/>
          </a:p>
        </p:txBody>
      </p:sp>
      <p:pic>
        <p:nvPicPr>
          <p:cNvPr id="9" name="Image 4" descr="https://test.web.static.jianzeppt.com/ppt-temp-img3/da69639442a34c09e61b2d871501e369.png?x-oss-process=image/resize,w_1440,h_800,m_lfit/format,png"/>
          <p:cNvPicPr>
            <a:picLocks noChangeAspect="1"/>
          </p:cNvPicPr>
          <p:nvPr/>
        </p:nvPicPr>
        <p:blipFill>
          <a:blip r:embed="rId5"/>
          <a:stretch>
            <a:fillRect/>
          </a:stretch>
        </p:blipFill>
        <p:spPr>
          <a:xfrm>
            <a:off x="609600" y="2895600"/>
            <a:ext cx="6431280" cy="3352800"/>
          </a:xfrm>
          <a:prstGeom prst="rect">
            <a:avLst/>
          </a:prstGeom>
        </p:spPr>
      </p:pic>
      <p:pic>
        <p:nvPicPr>
          <p:cNvPr id="10" name="Image 5" descr="https://test.web.static.jianzeppt.com/ppt-temp-img3/6219297937280a47b715e3c76f9a7f8c.png?x-oss-process=image/resize,w_1440,h_800,m_lfit/format,png"/>
          <p:cNvPicPr>
            <a:picLocks noChangeAspect="1"/>
          </p:cNvPicPr>
          <p:nvPr/>
        </p:nvPicPr>
        <p:blipFill>
          <a:blip r:embed="rId6"/>
          <a:stretch>
            <a:fillRect/>
          </a:stretch>
        </p:blipFill>
        <p:spPr>
          <a:xfrm>
            <a:off x="624840" y="2910840"/>
            <a:ext cx="6400800" cy="609600"/>
          </a:xfrm>
          <a:prstGeom prst="rect">
            <a:avLst/>
          </a:prstGeom>
        </p:spPr>
      </p:pic>
      <p:sp>
        <p:nvSpPr>
          <p:cNvPr id="11" name="Text 3"/>
          <p:cNvSpPr/>
          <p:nvPr/>
        </p:nvSpPr>
        <p:spPr>
          <a:xfrm>
            <a:off x="868680" y="3032760"/>
            <a:ext cx="124358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FFFFFF"/>
                </a:solidFill>
                <a:latin typeface="思源黑体 CN Bold" pitchFamily="34" charset="0"/>
                <a:ea typeface="思源黑体 CN Bold" pitchFamily="34" charset="-122"/>
                <a:cs typeface="思源黑体 CN Bold" pitchFamily="34" charset="-120"/>
              </a:rPr>
              <a:t>核心检查项</a:t>
            </a:r>
            <a:endParaRPr lang="en-US" sz="1920" dirty="0"/>
          </a:p>
        </p:txBody>
      </p:sp>
      <p:graphicFrame>
        <p:nvGraphicFramePr>
          <p:cNvPr id="12" name="Table 0"/>
          <p:cNvGraphicFramePr>
            <a:graphicFrameLocks noGrp="1"/>
          </p:cNvGraphicFramePr>
          <p:nvPr/>
        </p:nvGraphicFramePr>
        <p:xfrm>
          <a:off x="825500" y="3520440"/>
          <a:ext cx="5967730" cy="2706370"/>
        </p:xfrm>
        <a:graphic>
          <a:graphicData uri="http://schemas.openxmlformats.org/drawingml/2006/table">
            <a:tbl>
              <a:tblPr/>
              <a:tblGrid>
                <a:gridCol w="459740"/>
                <a:gridCol w="823595"/>
                <a:gridCol w="4684395"/>
              </a:tblGrid>
              <a:tr h="375285">
                <a:tc>
                  <a:txBody>
                    <a:bodyPr/>
                    <a:lstStyle/>
                    <a:p>
                      <a:pPr marL="0" indent="0" algn="ctr">
                        <a:buNone/>
                      </a:pPr>
                      <a:r>
                        <a:rPr lang="en-US" sz="1200" dirty="0">
                          <a:solidFill>
                            <a:srgbClr val="000000"/>
                          </a:solidFill>
                        </a:rPr>
                        <a:t>序号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检查项</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合规要点</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1</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默认账户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Windows：Administrator是否重命名？Guest是否禁用？Linux：root是否允许直接登录？</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2</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默认口令</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是否修改了默认密码？（如：admin/admin、root/root）</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3</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多余账户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是否存在已离职人员账户？是否存在测试账户未清理？</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4</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共享账户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是否存在多人共用同一账户的情况？</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5</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最小权限</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普通用户是否具有管理员权限？</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5285">
                <a:tc>
                  <a:txBody>
                    <a:bodyPr/>
                    <a:lstStyle/>
                    <a:p>
                      <a:pPr marL="0" indent="0" algn="ctr">
                        <a:buNone/>
                      </a:pPr>
                      <a:r>
                        <a:rPr lang="en-US" sz="1200" dirty="0">
                          <a:solidFill>
                            <a:srgbClr val="000000"/>
                          </a:solidFill>
                        </a:rPr>
                        <a:t>6</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权限分离</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系统管理员、安全管理员、审计管理员是否分属不同账户？</a:t>
                      </a:r>
                      <a:endParaRPr lang="en-US" sz="1200" dirty="0">
                        <a:solidFill>
                          <a:srgbClr val="000000"/>
                        </a:solidFill>
                      </a:endParaRPr>
                    </a:p>
                  </a:txBody>
                  <a:tcPr marL="44351" marR="44351" marT="44351" marB="44351"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3"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84720" y="2895600"/>
            <a:ext cx="4297680" cy="3352800"/>
          </a:xfrm>
          <a:prstGeom prst="rect">
            <a:avLst/>
          </a:prstGeom>
        </p:spPr>
      </p:pic>
      <p:pic>
        <p:nvPicPr>
          <p:cNvPr id="14" name="Image 7" descr="https://test.web.static.jianzeppt.com/ppt-temp-img3/8e274c184f0a8d3ba7a9a108c1127a6f.png?x-oss-process=image/resize,w_1440,h_800,m_lfit/format,png"/>
          <p:cNvPicPr>
            <a:picLocks noChangeAspect="1"/>
          </p:cNvPicPr>
          <p:nvPr/>
        </p:nvPicPr>
        <p:blipFill>
          <a:blip r:embed="rId9"/>
          <a:stretch>
            <a:fillRect/>
          </a:stretch>
        </p:blipFill>
        <p:spPr>
          <a:xfrm>
            <a:off x="7299960" y="2910840"/>
            <a:ext cx="4267200" cy="594360"/>
          </a:xfrm>
          <a:prstGeom prst="rect">
            <a:avLst/>
          </a:prstGeom>
        </p:spPr>
      </p:pic>
      <p:pic>
        <p:nvPicPr>
          <p:cNvPr id="15" name="Image 8"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43800" y="3093720"/>
            <a:ext cx="243840" cy="243840"/>
          </a:xfrm>
          <a:prstGeom prst="rect">
            <a:avLst/>
          </a:prstGeom>
        </p:spPr>
      </p:pic>
      <p:sp>
        <p:nvSpPr>
          <p:cNvPr id="16" name="Text 4"/>
          <p:cNvSpPr/>
          <p:nvPr/>
        </p:nvSpPr>
        <p:spPr>
          <a:xfrm>
            <a:off x="7909560" y="3032760"/>
            <a:ext cx="999744" cy="365760"/>
          </a:xfrm>
          <a:prstGeom prst="rect">
            <a:avLst/>
          </a:prstGeom>
          <a:noFill/>
        </p:spPr>
        <p:txBody>
          <a:bodyPr wrap="none" lIns="0" tIns="0" rIns="0" bIns="0" rtlCol="0" anchor="ctr"/>
          <a:lstStyle/>
          <a:p>
            <a:pPr marL="0" indent="0" algn="l">
              <a:lnSpc>
                <a:spcPct val="150000"/>
              </a:lnSpc>
              <a:buNone/>
            </a:pPr>
            <a:r>
              <a:rPr lang="en-US" sz="1920" dirty="0">
                <a:solidFill>
                  <a:srgbClr val="D80B00"/>
                </a:solidFill>
                <a:latin typeface="思源黑体 CN Bold" pitchFamily="34" charset="0"/>
                <a:ea typeface="思源黑体 CN Bold" pitchFamily="34" charset="-122"/>
                <a:cs typeface="思源黑体 CN Bold" pitchFamily="34" charset="-120"/>
              </a:rPr>
              <a:t>常见问题</a:t>
            </a:r>
            <a:endParaRPr lang="en-US" sz="1920" dirty="0"/>
          </a:p>
        </p:txBody>
      </p:sp>
      <p:sp>
        <p:nvSpPr>
          <p:cNvPr id="17" name="Text 5"/>
          <p:cNvSpPr/>
          <p:nvPr/>
        </p:nvSpPr>
        <p:spPr>
          <a:xfrm>
            <a:off x="7444740" y="37185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18" name="Text 6"/>
          <p:cNvSpPr/>
          <p:nvPr/>
        </p:nvSpPr>
        <p:spPr>
          <a:xfrm>
            <a:off x="7848600" y="3688080"/>
            <a:ext cx="266090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Administrator账户未重命名</a:t>
            </a:r>
            <a:endParaRPr lang="en-US" sz="1680" dirty="0"/>
          </a:p>
        </p:txBody>
      </p:sp>
      <p:sp>
        <p:nvSpPr>
          <p:cNvPr id="19" name="Text 7"/>
          <p:cNvSpPr/>
          <p:nvPr/>
        </p:nvSpPr>
        <p:spPr>
          <a:xfrm>
            <a:off x="7444740" y="422148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0" name="Text 8"/>
          <p:cNvSpPr/>
          <p:nvPr/>
        </p:nvSpPr>
        <p:spPr>
          <a:xfrm>
            <a:off x="7848600" y="4191000"/>
            <a:ext cx="165506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Guest账户未禁用</a:t>
            </a:r>
            <a:endParaRPr lang="en-US" sz="1680" dirty="0"/>
          </a:p>
        </p:txBody>
      </p:sp>
      <p:sp>
        <p:nvSpPr>
          <p:cNvPr id="21" name="Text 9"/>
          <p:cNvSpPr/>
          <p:nvPr/>
        </p:nvSpPr>
        <p:spPr>
          <a:xfrm>
            <a:off x="7444740" y="47091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2" name="Text 10"/>
          <p:cNvSpPr/>
          <p:nvPr/>
        </p:nvSpPr>
        <p:spPr>
          <a:xfrm>
            <a:off x="7848600" y="4678680"/>
            <a:ext cx="256946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存在已离职人员账户未删除</a:t>
            </a:r>
            <a:endParaRPr lang="en-US" sz="1680" dirty="0"/>
          </a:p>
        </p:txBody>
      </p:sp>
      <p:sp>
        <p:nvSpPr>
          <p:cNvPr id="23" name="Text 11"/>
          <p:cNvSpPr/>
          <p:nvPr/>
        </p:nvSpPr>
        <p:spPr>
          <a:xfrm>
            <a:off x="7444740" y="521208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4" name="Text 12"/>
          <p:cNvSpPr/>
          <p:nvPr/>
        </p:nvSpPr>
        <p:spPr>
          <a:xfrm>
            <a:off x="7848600" y="5181600"/>
            <a:ext cx="314858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多人共用root/Administrator账户</a:t>
            </a:r>
            <a:endParaRPr lang="en-US" sz="1680" dirty="0"/>
          </a:p>
        </p:txBody>
      </p:sp>
      <p:sp>
        <p:nvSpPr>
          <p:cNvPr id="25" name="Text 13"/>
          <p:cNvSpPr/>
          <p:nvPr/>
        </p:nvSpPr>
        <p:spPr>
          <a:xfrm>
            <a:off x="7444740" y="5699760"/>
            <a:ext cx="344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D80B00"/>
                </a:solidFill>
                <a:latin typeface="思源黑体 CN" pitchFamily="34" charset="0"/>
                <a:ea typeface="思源黑体 CN" pitchFamily="34" charset="-122"/>
                <a:cs typeface="思源黑体 CN" pitchFamily="34" charset="-120"/>
              </a:rPr>
              <a:t>❌</a:t>
            </a:r>
            <a:endParaRPr lang="en-US" sz="1920" dirty="0"/>
          </a:p>
        </p:txBody>
      </p:sp>
      <p:sp>
        <p:nvSpPr>
          <p:cNvPr id="26" name="Text 14"/>
          <p:cNvSpPr/>
          <p:nvPr/>
        </p:nvSpPr>
        <p:spPr>
          <a:xfrm>
            <a:off x="7848600" y="5669280"/>
            <a:ext cx="2935224" cy="304800"/>
          </a:xfrm>
          <a:prstGeom prst="rect">
            <a:avLst/>
          </a:prstGeom>
          <a:noFill/>
        </p:spPr>
        <p:txBody>
          <a:bodyPr wrap="none" lIns="0" tIns="0" rIns="0" bIns="0" rtlCol="0" anchor="t">
            <a:spAutoFit/>
          </a:bodyPr>
          <a:lstStyle/>
          <a:p>
            <a:pPr marL="0" indent="0" algn="l">
              <a:lnSpc>
                <a:spcPct val="140000"/>
              </a:lnSpc>
              <a:buNone/>
            </a:pPr>
            <a:r>
              <a:rPr lang="en-US" sz="1680" dirty="0">
                <a:solidFill>
                  <a:srgbClr val="333333"/>
                </a:solidFill>
                <a:latin typeface="思源黑体 CN" pitchFamily="34" charset="0"/>
                <a:ea typeface="思源黑体 CN" pitchFamily="34" charset="-122"/>
                <a:cs typeface="思源黑体 CN" pitchFamily="34" charset="-120"/>
              </a:rPr>
              <a:t>普通用户具有sudo/管理员权限</a:t>
            </a: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1734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安全审计核查</a:t>
            </a:r>
            <a:endParaRPr lang="en-US" sz="2760" dirty="0"/>
          </a:p>
        </p:txBody>
      </p:sp>
      <p:pic>
        <p:nvPicPr>
          <p:cNvPr id="6" name="Image 3" descr="https://test.web.static.jianzeppt.com/ppt-temp-img3/986e7f83575964dde739989fb556d229.png?x-oss-process=image/resize,w_1440,h_800,m_lfit/format,png"/>
          <p:cNvPicPr>
            <a:picLocks noChangeAspect="1"/>
          </p:cNvPicPr>
          <p:nvPr/>
        </p:nvPicPr>
        <p:blipFill>
          <a:blip r:embed="rId4"/>
          <a:stretch>
            <a:fillRect/>
          </a:stretch>
        </p:blipFill>
        <p:spPr>
          <a:xfrm>
            <a:off x="609600" y="1371600"/>
            <a:ext cx="5791200" cy="487680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 y="1737360"/>
            <a:ext cx="60960" cy="243840"/>
          </a:xfrm>
          <a:prstGeom prst="rect">
            <a:avLst/>
          </a:prstGeom>
        </p:spPr>
      </p:pic>
      <p:sp>
        <p:nvSpPr>
          <p:cNvPr id="8" name="Text 1"/>
          <p:cNvSpPr/>
          <p:nvPr/>
        </p:nvSpPr>
        <p:spPr>
          <a:xfrm>
            <a:off x="1051560" y="1630680"/>
            <a:ext cx="1533144" cy="441960"/>
          </a:xfrm>
          <a:prstGeom prst="rect">
            <a:avLst/>
          </a:prstGeom>
          <a:noFill/>
        </p:spPr>
        <p:txBody>
          <a:bodyPr wrap="none" lIns="0" tIns="0" rIns="0" bIns="0" rtlCol="0" anchor="ctr"/>
          <a:lstStyle/>
          <a:p>
            <a:pPr marL="0" indent="0" algn="l">
              <a:lnSpc>
                <a:spcPct val="150000"/>
              </a:lnSpc>
              <a:buNone/>
            </a:pPr>
            <a:r>
              <a:rPr lang="en-US" sz="2400" dirty="0">
                <a:solidFill>
                  <a:srgbClr val="143966"/>
                </a:solidFill>
                <a:latin typeface="思源黑体 CN Bold" pitchFamily="34" charset="0"/>
                <a:ea typeface="思源黑体 CN Bold" pitchFamily="34" charset="-122"/>
                <a:cs typeface="思源黑体 CN Bold" pitchFamily="34" charset="-120"/>
              </a:rPr>
              <a:t>核心检查项</a:t>
            </a:r>
            <a:endParaRPr lang="en-US" sz="2400" dirty="0"/>
          </a:p>
        </p:txBody>
      </p:sp>
      <p:pic>
        <p:nvPicPr>
          <p:cNvPr id="9"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8680" y="2270760"/>
            <a:ext cx="5273040" cy="899160"/>
          </a:xfrm>
          <a:prstGeom prst="rect">
            <a:avLst/>
          </a:prstGeom>
        </p:spPr>
      </p:pic>
      <p:sp>
        <p:nvSpPr>
          <p:cNvPr id="10" name="Text 2"/>
          <p:cNvSpPr/>
          <p:nvPr/>
        </p:nvSpPr>
        <p:spPr>
          <a:xfrm>
            <a:off x="1051560" y="2392680"/>
            <a:ext cx="222504" cy="640080"/>
          </a:xfrm>
          <a:prstGeom prst="rect">
            <a:avLst/>
          </a:prstGeom>
          <a:noFill/>
        </p:spPr>
        <p:txBody>
          <a:bodyPr wrap="square" lIns="0" tIns="0" rIns="0" bIns="0" rtlCol="0" anchor="ctr">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序号</a:t>
            </a:r>
            <a:endParaRPr lang="en-US" sz="1680" dirty="0"/>
          </a:p>
        </p:txBody>
      </p:sp>
      <p:pic>
        <p:nvPicPr>
          <p:cNvPr id="11" name="Image 6" descr="https://test.web.static.jianzeppt.com/ppt-temp-img3/6e4a3dde2ba5f83b9f2d6c06cff246ba.png?x-oss-process=image/resize,w_1440,h_800,m_lfit/format,png"/>
          <p:cNvPicPr>
            <a:picLocks noChangeAspect="1"/>
          </p:cNvPicPr>
          <p:nvPr/>
        </p:nvPicPr>
        <p:blipFill>
          <a:blip r:embed="rId9"/>
          <a:stretch>
            <a:fillRect/>
          </a:stretch>
        </p:blipFill>
        <p:spPr>
          <a:xfrm>
            <a:off x="868680" y="3162300"/>
            <a:ext cx="651815" cy="15240"/>
          </a:xfrm>
          <a:prstGeom prst="rect">
            <a:avLst/>
          </a:prstGeom>
        </p:spPr>
      </p:pic>
      <p:sp>
        <p:nvSpPr>
          <p:cNvPr id="12" name="Text 3"/>
          <p:cNvSpPr/>
          <p:nvPr/>
        </p:nvSpPr>
        <p:spPr>
          <a:xfrm>
            <a:off x="1706880" y="2560320"/>
            <a:ext cx="16093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Windows检查项</a:t>
            </a:r>
            <a:endParaRPr lang="en-US" sz="1680" dirty="0"/>
          </a:p>
        </p:txBody>
      </p:sp>
      <p:pic>
        <p:nvPicPr>
          <p:cNvPr id="13" name="Image 7" descr="https://test.web.static.jianzeppt.com/ppt-temp-img3/64ddb70547cd110f1a90e17ab02dd1ea.png?x-oss-process=image/resize,w_1440,h_800,m_lfit/format,png"/>
          <p:cNvPicPr>
            <a:picLocks noChangeAspect="1"/>
          </p:cNvPicPr>
          <p:nvPr/>
        </p:nvPicPr>
        <p:blipFill>
          <a:blip r:embed="rId10"/>
          <a:stretch>
            <a:fillRect/>
          </a:stretch>
        </p:blipFill>
        <p:spPr>
          <a:xfrm>
            <a:off x="1520495" y="3162300"/>
            <a:ext cx="2449525" cy="15240"/>
          </a:xfrm>
          <a:prstGeom prst="rect">
            <a:avLst/>
          </a:prstGeom>
        </p:spPr>
      </p:pic>
      <p:sp>
        <p:nvSpPr>
          <p:cNvPr id="14" name="Text 4"/>
          <p:cNvSpPr/>
          <p:nvPr/>
        </p:nvSpPr>
        <p:spPr>
          <a:xfrm>
            <a:off x="4160520" y="2560320"/>
            <a:ext cx="1243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Linux检查项</a:t>
            </a:r>
            <a:endParaRPr lang="en-US" sz="1680" dirty="0"/>
          </a:p>
        </p:txBody>
      </p:sp>
      <p:pic>
        <p:nvPicPr>
          <p:cNvPr id="15" name="Image 8" descr="https://test.web.static.jianzeppt.com/ppt-temp-img3/fae6bad251f5e94fe5886873a488b23c.png?x-oss-process=image/resize,w_1440,h_800,m_lfit/format,png"/>
          <p:cNvPicPr>
            <a:picLocks noChangeAspect="1"/>
          </p:cNvPicPr>
          <p:nvPr/>
        </p:nvPicPr>
        <p:blipFill>
          <a:blip r:embed="rId11"/>
          <a:stretch>
            <a:fillRect/>
          </a:stretch>
        </p:blipFill>
        <p:spPr>
          <a:xfrm>
            <a:off x="3970020" y="3162300"/>
            <a:ext cx="2171700" cy="15240"/>
          </a:xfrm>
          <a:prstGeom prst="rect">
            <a:avLst/>
          </a:prstGeom>
        </p:spPr>
      </p:pic>
      <p:pic>
        <p:nvPicPr>
          <p:cNvPr id="16" name="Image 9"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68680" y="3169920"/>
            <a:ext cx="5273040" cy="899160"/>
          </a:xfrm>
          <a:prstGeom prst="rect">
            <a:avLst/>
          </a:prstGeom>
        </p:spPr>
      </p:pic>
      <p:sp>
        <p:nvSpPr>
          <p:cNvPr id="17" name="Text 5"/>
          <p:cNvSpPr/>
          <p:nvPr/>
        </p:nvSpPr>
        <p:spPr>
          <a:xfrm>
            <a:off x="1051560" y="3291840"/>
            <a:ext cx="298704" cy="65532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1</a:t>
            </a:r>
            <a:endParaRPr lang="en-US" sz="1680" dirty="0"/>
          </a:p>
        </p:txBody>
      </p:sp>
      <p:sp>
        <p:nvSpPr>
          <p:cNvPr id="18" name="Text 6"/>
          <p:cNvSpPr/>
          <p:nvPr/>
        </p:nvSpPr>
        <p:spPr>
          <a:xfrm>
            <a:off x="1706880" y="3291840"/>
            <a:ext cx="2097024" cy="655320"/>
          </a:xfrm>
          <a:prstGeom prst="rect">
            <a:avLst/>
          </a:prstGeom>
          <a:noFill/>
        </p:spPr>
        <p:txBody>
          <a:bodyPr wrap="none" lIns="0" tIns="0" rIns="0" bIns="0" rtlCol="0" anchor="ct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审核策略是否启用？</a:t>
            </a:r>
            <a:endParaRPr lang="en-US" sz="1680" dirty="0"/>
          </a:p>
        </p:txBody>
      </p:sp>
      <p:sp>
        <p:nvSpPr>
          <p:cNvPr id="19" name="Text 7"/>
          <p:cNvSpPr/>
          <p:nvPr/>
        </p:nvSpPr>
        <p:spPr>
          <a:xfrm>
            <a:off x="4160520" y="329184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rsyslog/auditd是否运行？</a:t>
            </a:r>
            <a:endParaRPr lang="en-US" sz="1680" dirty="0"/>
          </a:p>
        </p:txBody>
      </p:sp>
      <p:pic>
        <p:nvPicPr>
          <p:cNvPr id="20" name="Image 10" descr="https://test.web.static.jianzeppt.com/ppt-temp-img3/4dcbb28cf665aed4564d691ed13a7754.png?x-oss-process=image/resize,w_1440,h_800,m_lfit/format,png"/>
          <p:cNvPicPr>
            <a:picLocks noChangeAspect="1"/>
          </p:cNvPicPr>
          <p:nvPr/>
        </p:nvPicPr>
        <p:blipFill>
          <a:blip r:embed="rId14"/>
          <a:stretch>
            <a:fillRect/>
          </a:stretch>
        </p:blipFill>
        <p:spPr>
          <a:xfrm>
            <a:off x="868680" y="4061460"/>
            <a:ext cx="5273040" cy="15240"/>
          </a:xfrm>
          <a:prstGeom prst="rect">
            <a:avLst/>
          </a:prstGeom>
        </p:spPr>
      </p:pic>
      <p:pic>
        <p:nvPicPr>
          <p:cNvPr id="21" name="Image 11" descr="https://test.web.static.jianzeppt.com/ppt-temp-img3/1e392b1e57c772964c5924831eee0ae2.png?x-oss-process=image/resize,w_1440,h_800,m_lfit/format,png"/>
          <p:cNvPicPr>
            <a:picLocks noChangeAspect="1"/>
          </p:cNvPicPr>
          <p:nvPr/>
        </p:nvPicPr>
        <p:blipFill>
          <a:blip r:embed="rId15"/>
          <a:stretch>
            <a:fillRect/>
          </a:stretch>
        </p:blipFill>
        <p:spPr>
          <a:xfrm>
            <a:off x="868680" y="4069080"/>
            <a:ext cx="5273040" cy="899160"/>
          </a:xfrm>
          <a:prstGeom prst="rect">
            <a:avLst/>
          </a:prstGeom>
        </p:spPr>
      </p:pic>
      <p:sp>
        <p:nvSpPr>
          <p:cNvPr id="22" name="Text 8"/>
          <p:cNvSpPr/>
          <p:nvPr/>
        </p:nvSpPr>
        <p:spPr>
          <a:xfrm>
            <a:off x="1051560" y="4191000"/>
            <a:ext cx="298704" cy="65532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2</a:t>
            </a:r>
            <a:endParaRPr lang="en-US" sz="1680" dirty="0"/>
          </a:p>
        </p:txBody>
      </p:sp>
      <p:sp>
        <p:nvSpPr>
          <p:cNvPr id="23" name="Text 9"/>
          <p:cNvSpPr/>
          <p:nvPr/>
        </p:nvSpPr>
        <p:spPr>
          <a:xfrm>
            <a:off x="1706880" y="4191000"/>
            <a:ext cx="2097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是否覆盖“成功”和“失败”事件？</a:t>
            </a:r>
            <a:endParaRPr lang="en-US" sz="1680" dirty="0"/>
          </a:p>
        </p:txBody>
      </p:sp>
      <p:sp>
        <p:nvSpPr>
          <p:cNvPr id="24" name="Text 10"/>
          <p:cNvSpPr/>
          <p:nvPr/>
        </p:nvSpPr>
        <p:spPr>
          <a:xfrm>
            <a:off x="4160520" y="419100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audit.rules是否配置？</a:t>
            </a:r>
            <a:endParaRPr lang="en-US" sz="1680" dirty="0"/>
          </a:p>
        </p:txBody>
      </p:sp>
      <p:pic>
        <p:nvPicPr>
          <p:cNvPr id="25" name="Image 12" descr="https://test.web.static.jianzeppt.com/ppt-temp-img3/4dcbb28cf665aed4564d691ed13a7754.png?x-oss-process=image/resize,w_1440,h_800,m_lfit/format,png"/>
          <p:cNvPicPr>
            <a:picLocks noChangeAspect="1"/>
          </p:cNvPicPr>
          <p:nvPr/>
        </p:nvPicPr>
        <p:blipFill>
          <a:blip r:embed="rId14"/>
          <a:stretch>
            <a:fillRect/>
          </a:stretch>
        </p:blipFill>
        <p:spPr>
          <a:xfrm>
            <a:off x="868680" y="4960620"/>
            <a:ext cx="5273040" cy="15240"/>
          </a:xfrm>
          <a:prstGeom prst="rect">
            <a:avLst/>
          </a:prstGeom>
        </p:spPr>
      </p:pic>
      <p:pic>
        <p:nvPicPr>
          <p:cNvPr id="26" name="Image 13"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68680" y="4968240"/>
            <a:ext cx="5273040" cy="1219200"/>
          </a:xfrm>
          <a:prstGeom prst="rect">
            <a:avLst/>
          </a:prstGeom>
        </p:spPr>
      </p:pic>
      <p:sp>
        <p:nvSpPr>
          <p:cNvPr id="27" name="Text 11"/>
          <p:cNvSpPr/>
          <p:nvPr/>
        </p:nvSpPr>
        <p:spPr>
          <a:xfrm>
            <a:off x="1051560" y="5090160"/>
            <a:ext cx="298704" cy="975360"/>
          </a:xfrm>
          <a:prstGeom prst="rect">
            <a:avLst/>
          </a:prstGeom>
          <a:noFill/>
        </p:spPr>
        <p:txBody>
          <a:bodyPr wrap="none" lIns="0" tIns="0" rIns="0" bIns="0" rtlCol="0" anchor="ct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3</a:t>
            </a:r>
            <a:endParaRPr lang="en-US" sz="1680" dirty="0"/>
          </a:p>
        </p:txBody>
      </p:sp>
      <p:sp>
        <p:nvSpPr>
          <p:cNvPr id="28" name="Text 12"/>
          <p:cNvSpPr/>
          <p:nvPr/>
        </p:nvSpPr>
        <p:spPr>
          <a:xfrm>
            <a:off x="1706880" y="5090160"/>
            <a:ext cx="2097024" cy="96012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审计日志是否包含日期、时间、用户、事件？</a:t>
            </a:r>
            <a:endParaRPr lang="en-US" sz="1680" dirty="0"/>
          </a:p>
        </p:txBody>
      </p:sp>
      <p:sp>
        <p:nvSpPr>
          <p:cNvPr id="29" name="Text 13"/>
          <p:cNvSpPr/>
          <p:nvPr/>
        </p:nvSpPr>
        <p:spPr>
          <a:xfrm>
            <a:off x="4160520" y="5090160"/>
            <a:ext cx="182270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日志是否包含必要信息？</a:t>
            </a:r>
            <a:endParaRPr lang="en-US" sz="1680" dirty="0"/>
          </a:p>
        </p:txBody>
      </p:sp>
      <p:pic>
        <p:nvPicPr>
          <p:cNvPr id="30" name="Image 14" descr="https://test.web.static.jianzeppt.com/ppt-temp-img3/6475eaa60dc890abfe35d512b9bc99a0.png?x-oss-process=image/resize,w_1440,h_800,m_lfit/format,png"/>
          <p:cNvPicPr>
            <a:picLocks noChangeAspect="1"/>
          </p:cNvPicPr>
          <p:nvPr/>
        </p:nvPicPr>
        <p:blipFill>
          <a:blip r:embed="rId18"/>
          <a:stretch>
            <a:fillRect/>
          </a:stretch>
        </p:blipFill>
        <p:spPr>
          <a:xfrm>
            <a:off x="6705600" y="1371600"/>
            <a:ext cx="4876800" cy="4876800"/>
          </a:xfrm>
          <a:prstGeom prst="rect">
            <a:avLst/>
          </a:prstGeom>
        </p:spPr>
      </p:pic>
      <p:pic>
        <p:nvPicPr>
          <p:cNvPr id="31" name="Image 1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64680" y="1737360"/>
            <a:ext cx="60960" cy="243840"/>
          </a:xfrm>
          <a:prstGeom prst="rect">
            <a:avLst/>
          </a:prstGeom>
        </p:spPr>
      </p:pic>
      <p:sp>
        <p:nvSpPr>
          <p:cNvPr id="32" name="Text 14"/>
          <p:cNvSpPr/>
          <p:nvPr/>
        </p:nvSpPr>
        <p:spPr>
          <a:xfrm>
            <a:off x="7147560" y="1630680"/>
            <a:ext cx="3148584" cy="441960"/>
          </a:xfrm>
          <a:prstGeom prst="rect">
            <a:avLst/>
          </a:prstGeom>
          <a:noFill/>
        </p:spPr>
        <p:txBody>
          <a:bodyPr wrap="none" lIns="0" tIns="0" rIns="0" bIns="0" rtlCol="0" anchor="ctr"/>
          <a:lstStyle/>
          <a:p>
            <a:pPr marL="0" indent="0" algn="l">
              <a:lnSpc>
                <a:spcPct val="150000"/>
              </a:lnSpc>
              <a:buNone/>
            </a:pPr>
            <a:r>
              <a:rPr lang="en-US" sz="2400" dirty="0">
                <a:solidFill>
                  <a:srgbClr val="143966"/>
                </a:solidFill>
                <a:latin typeface="思源黑体 CN Bold" pitchFamily="34" charset="0"/>
                <a:ea typeface="思源黑体 CN Bold" pitchFamily="34" charset="-122"/>
                <a:cs typeface="思源黑体 CN Bold" pitchFamily="34" charset="-120"/>
              </a:rPr>
              <a:t>Windows审核策略推荐</a:t>
            </a:r>
            <a:endParaRPr lang="en-US" sz="2400" dirty="0"/>
          </a:p>
        </p:txBody>
      </p:sp>
      <p:sp>
        <p:nvSpPr>
          <p:cNvPr id="33" name="Text 15"/>
          <p:cNvSpPr/>
          <p:nvPr/>
        </p:nvSpPr>
        <p:spPr>
          <a:xfrm>
            <a:off x="6964680" y="2270760"/>
            <a:ext cx="436778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666666"/>
                </a:solidFill>
                <a:latin typeface="思源黑体 CN" pitchFamily="34" charset="0"/>
                <a:ea typeface="思源黑体 CN" pitchFamily="34" charset="-122"/>
                <a:cs typeface="思源黑体 CN" pitchFamily="34" charset="-120"/>
              </a:rPr>
              <a:t>(等保三级)</a:t>
            </a:r>
            <a:endParaRPr lang="en-US" sz="1440" dirty="0"/>
          </a:p>
        </p:txBody>
      </p:sp>
      <p:pic>
        <p:nvPicPr>
          <p:cNvPr id="34" name="Image 16"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64680" y="2667000"/>
            <a:ext cx="4358640" cy="518160"/>
          </a:xfrm>
          <a:prstGeom prst="rect">
            <a:avLst/>
          </a:prstGeom>
        </p:spPr>
      </p:pic>
      <p:sp>
        <p:nvSpPr>
          <p:cNvPr id="35" name="Text 16"/>
          <p:cNvSpPr/>
          <p:nvPr/>
        </p:nvSpPr>
        <p:spPr>
          <a:xfrm>
            <a:off x="7147560" y="275844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审核策略</a:t>
            </a:r>
            <a:endParaRPr lang="en-US" sz="1680" dirty="0"/>
          </a:p>
        </p:txBody>
      </p:sp>
      <p:pic>
        <p:nvPicPr>
          <p:cNvPr id="36" name="Image 17" descr="https://test.web.static.jianzeppt.com/ppt-temp-img3/0a5a3d031851aa80e28efa2f1c03f5f1.png?x-oss-process=image/resize,w_1440,h_800,m_lfit/format,png"/>
          <p:cNvPicPr>
            <a:picLocks noChangeAspect="1"/>
          </p:cNvPicPr>
          <p:nvPr/>
        </p:nvPicPr>
        <p:blipFill>
          <a:blip r:embed="rId21"/>
          <a:stretch>
            <a:fillRect/>
          </a:stretch>
        </p:blipFill>
        <p:spPr>
          <a:xfrm>
            <a:off x="6964680" y="3177540"/>
            <a:ext cx="2577236" cy="15240"/>
          </a:xfrm>
          <a:prstGeom prst="rect">
            <a:avLst/>
          </a:prstGeom>
        </p:spPr>
      </p:pic>
      <p:sp>
        <p:nvSpPr>
          <p:cNvPr id="37" name="Text 17"/>
          <p:cNvSpPr/>
          <p:nvPr/>
        </p:nvSpPr>
        <p:spPr>
          <a:xfrm>
            <a:off x="9723120" y="275844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推荐设置</a:t>
            </a:r>
            <a:endParaRPr lang="en-US" sz="1680" dirty="0"/>
          </a:p>
        </p:txBody>
      </p:sp>
      <p:pic>
        <p:nvPicPr>
          <p:cNvPr id="38" name="Image 18" descr="https://test.web.static.jianzeppt.com/ppt-temp-img3/67208a0a9974af18629f4cb154938229.png?x-oss-process=image/resize,w_1440,h_800,m_lfit/format,png"/>
          <p:cNvPicPr>
            <a:picLocks noChangeAspect="1"/>
          </p:cNvPicPr>
          <p:nvPr/>
        </p:nvPicPr>
        <p:blipFill>
          <a:blip r:embed="rId22"/>
          <a:stretch>
            <a:fillRect/>
          </a:stretch>
        </p:blipFill>
        <p:spPr>
          <a:xfrm>
            <a:off x="9541916" y="3177540"/>
            <a:ext cx="1781404" cy="15240"/>
          </a:xfrm>
          <a:prstGeom prst="rect">
            <a:avLst/>
          </a:prstGeom>
        </p:spPr>
      </p:pic>
      <p:pic>
        <p:nvPicPr>
          <p:cNvPr id="39" name="Image 19"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3185160"/>
            <a:ext cx="4358640" cy="518160"/>
          </a:xfrm>
          <a:prstGeom prst="rect">
            <a:avLst/>
          </a:prstGeom>
        </p:spPr>
      </p:pic>
      <p:sp>
        <p:nvSpPr>
          <p:cNvPr id="40" name="Text 18"/>
          <p:cNvSpPr/>
          <p:nvPr/>
        </p:nvSpPr>
        <p:spPr>
          <a:xfrm>
            <a:off x="7147560" y="327660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审核登录事件</a:t>
            </a:r>
            <a:endParaRPr lang="en-US" sz="1680" dirty="0"/>
          </a:p>
        </p:txBody>
      </p:sp>
      <p:sp>
        <p:nvSpPr>
          <p:cNvPr id="41" name="Text 19"/>
          <p:cNvSpPr/>
          <p:nvPr/>
        </p:nvSpPr>
        <p:spPr>
          <a:xfrm>
            <a:off x="9723120" y="327660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42" name="Image 20"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3695700"/>
            <a:ext cx="4358640" cy="15240"/>
          </a:xfrm>
          <a:prstGeom prst="rect">
            <a:avLst/>
          </a:prstGeom>
        </p:spPr>
      </p:pic>
      <p:pic>
        <p:nvPicPr>
          <p:cNvPr id="43" name="Image 21"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3703320"/>
            <a:ext cx="4358640" cy="518160"/>
          </a:xfrm>
          <a:prstGeom prst="rect">
            <a:avLst/>
          </a:prstGeom>
        </p:spPr>
      </p:pic>
      <p:sp>
        <p:nvSpPr>
          <p:cNvPr id="44" name="Text 20"/>
          <p:cNvSpPr/>
          <p:nvPr/>
        </p:nvSpPr>
        <p:spPr>
          <a:xfrm>
            <a:off x="7147560" y="379476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审核账户登录事件</a:t>
            </a:r>
            <a:endParaRPr lang="en-US" sz="1680" dirty="0"/>
          </a:p>
        </p:txBody>
      </p:sp>
      <p:sp>
        <p:nvSpPr>
          <p:cNvPr id="45" name="Text 21"/>
          <p:cNvSpPr/>
          <p:nvPr/>
        </p:nvSpPr>
        <p:spPr>
          <a:xfrm>
            <a:off x="9723120" y="379476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46" name="Image 22"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4213860"/>
            <a:ext cx="4358640" cy="15240"/>
          </a:xfrm>
          <a:prstGeom prst="rect">
            <a:avLst/>
          </a:prstGeom>
        </p:spPr>
      </p:pic>
      <p:pic>
        <p:nvPicPr>
          <p:cNvPr id="47" name="Image 23"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4221480"/>
            <a:ext cx="4358640" cy="518160"/>
          </a:xfrm>
          <a:prstGeom prst="rect">
            <a:avLst/>
          </a:prstGeom>
        </p:spPr>
      </p:pic>
      <p:sp>
        <p:nvSpPr>
          <p:cNvPr id="48" name="Text 22"/>
          <p:cNvSpPr/>
          <p:nvPr/>
        </p:nvSpPr>
        <p:spPr>
          <a:xfrm>
            <a:off x="7147560" y="431292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审核账户管理</a:t>
            </a:r>
            <a:endParaRPr lang="en-US" sz="1680" dirty="0"/>
          </a:p>
        </p:txBody>
      </p:sp>
      <p:sp>
        <p:nvSpPr>
          <p:cNvPr id="49" name="Text 23"/>
          <p:cNvSpPr/>
          <p:nvPr/>
        </p:nvSpPr>
        <p:spPr>
          <a:xfrm>
            <a:off x="9723120" y="431292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0" name="Image 24"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4732020"/>
            <a:ext cx="4358640" cy="15240"/>
          </a:xfrm>
          <a:prstGeom prst="rect">
            <a:avLst/>
          </a:prstGeom>
        </p:spPr>
      </p:pic>
      <p:pic>
        <p:nvPicPr>
          <p:cNvPr id="51" name="Image 25"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4739640"/>
            <a:ext cx="4358640" cy="518160"/>
          </a:xfrm>
          <a:prstGeom prst="rect">
            <a:avLst/>
          </a:prstGeom>
        </p:spPr>
      </p:pic>
      <p:sp>
        <p:nvSpPr>
          <p:cNvPr id="52" name="Text 24"/>
          <p:cNvSpPr/>
          <p:nvPr/>
        </p:nvSpPr>
        <p:spPr>
          <a:xfrm>
            <a:off x="7147560" y="483108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审核目录服务访问</a:t>
            </a:r>
            <a:endParaRPr lang="en-US" sz="1680" dirty="0"/>
          </a:p>
        </p:txBody>
      </p:sp>
      <p:sp>
        <p:nvSpPr>
          <p:cNvPr id="53" name="Text 25"/>
          <p:cNvSpPr/>
          <p:nvPr/>
        </p:nvSpPr>
        <p:spPr>
          <a:xfrm>
            <a:off x="9723120" y="483108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4" name="Image 26"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5250180"/>
            <a:ext cx="4358640" cy="15240"/>
          </a:xfrm>
          <a:prstGeom prst="rect">
            <a:avLst/>
          </a:prstGeom>
        </p:spPr>
      </p:pic>
      <p:pic>
        <p:nvPicPr>
          <p:cNvPr id="55" name="Image 27"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64680" y="5257800"/>
            <a:ext cx="4358640" cy="518160"/>
          </a:xfrm>
          <a:prstGeom prst="rect">
            <a:avLst/>
          </a:prstGeom>
        </p:spPr>
      </p:pic>
      <p:sp>
        <p:nvSpPr>
          <p:cNvPr id="56" name="Text 26"/>
          <p:cNvSpPr/>
          <p:nvPr/>
        </p:nvSpPr>
        <p:spPr>
          <a:xfrm>
            <a:off x="7147560" y="534924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审核策略更改</a:t>
            </a:r>
            <a:endParaRPr lang="en-US" sz="1680" dirty="0"/>
          </a:p>
        </p:txBody>
      </p:sp>
      <p:sp>
        <p:nvSpPr>
          <p:cNvPr id="57" name="Text 27"/>
          <p:cNvSpPr/>
          <p:nvPr/>
        </p:nvSpPr>
        <p:spPr>
          <a:xfrm>
            <a:off x="9723120" y="534924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pic>
        <p:nvPicPr>
          <p:cNvPr id="58" name="Image 28" descr="https://test.web.static.jianzeppt.com/ppt-temp-img3/1a39479d3efda2740edfe1291127cdf1.png?x-oss-process=image/resize,w_1440,h_800,m_lfit/format,png"/>
          <p:cNvPicPr>
            <a:picLocks noChangeAspect="1"/>
          </p:cNvPicPr>
          <p:nvPr/>
        </p:nvPicPr>
        <p:blipFill>
          <a:blip r:embed="rId25"/>
          <a:stretch>
            <a:fillRect/>
          </a:stretch>
        </p:blipFill>
        <p:spPr>
          <a:xfrm>
            <a:off x="6964680" y="5768340"/>
            <a:ext cx="4358640" cy="15240"/>
          </a:xfrm>
          <a:prstGeom prst="rect">
            <a:avLst/>
          </a:prstGeom>
        </p:spPr>
      </p:pic>
      <p:pic>
        <p:nvPicPr>
          <p:cNvPr id="59" name="Image 29" descr="https://test.web.static.jianzeppt.com/ppt-temp-img3/b6c03f4db9060b51594ec67d13708a44.png?x-oss-process=image/resize,w_1440,h_800,m_lfit/format,png"/>
          <p:cNvPicPr>
            <a:picLocks noChangeAspect="1"/>
          </p:cNvPicPr>
          <p:nvPr/>
        </p:nvPicPr>
        <p:blipFill>
          <a:blip r:embed="rId26"/>
          <a:stretch>
            <a:fillRect/>
          </a:stretch>
        </p:blipFill>
        <p:spPr>
          <a:xfrm>
            <a:off x="6964680" y="5775960"/>
            <a:ext cx="4358640" cy="518160"/>
          </a:xfrm>
          <a:prstGeom prst="rect">
            <a:avLst/>
          </a:prstGeom>
        </p:spPr>
      </p:pic>
      <p:sp>
        <p:nvSpPr>
          <p:cNvPr id="60" name="Text 28"/>
          <p:cNvSpPr/>
          <p:nvPr/>
        </p:nvSpPr>
        <p:spPr>
          <a:xfrm>
            <a:off x="7147560" y="5867400"/>
            <a:ext cx="22341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审核系统事件</a:t>
            </a:r>
            <a:endParaRPr lang="en-US" sz="1680" dirty="0"/>
          </a:p>
        </p:txBody>
      </p:sp>
      <p:sp>
        <p:nvSpPr>
          <p:cNvPr id="61" name="Text 29"/>
          <p:cNvSpPr/>
          <p:nvPr/>
        </p:nvSpPr>
        <p:spPr>
          <a:xfrm>
            <a:off x="9723120" y="5867400"/>
            <a:ext cx="1426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143966"/>
                </a:solidFill>
                <a:latin typeface="思源黑体 CN Bold" pitchFamily="34" charset="0"/>
                <a:ea typeface="思源黑体 CN Bold" pitchFamily="34" charset="-122"/>
                <a:cs typeface="思源黑体 CN Bold" pitchFamily="34" charset="-120"/>
              </a:rPr>
              <a:t>成功，失败</a:t>
            </a: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1734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入侵防范核查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264920"/>
          </a:xfrm>
          <a:prstGeom prst="rect">
            <a:avLst/>
          </a:prstGeom>
        </p:spPr>
      </p:pic>
      <p:sp>
        <p:nvSpPr>
          <p:cNvPr id="7" name="Text 1"/>
          <p:cNvSpPr/>
          <p:nvPr/>
        </p:nvSpPr>
        <p:spPr>
          <a:xfrm>
            <a:off x="914400" y="1414145"/>
            <a:ext cx="10433304" cy="365760"/>
          </a:xfrm>
          <a:prstGeom prst="rect">
            <a:avLst/>
          </a:prstGeom>
          <a:noFill/>
        </p:spPr>
        <p:txBody>
          <a:bodyPr wrap="none" lIns="0" tIns="0" rIns="0" bIns="0" rtlCol="0" anchor="t">
            <a:spAutoFit/>
          </a:bodyPr>
          <a:lstStyle/>
          <a:p>
            <a:pPr marL="0" indent="0" algn="l">
              <a:lnSpc>
                <a:spcPct val="100000"/>
              </a:lnSpc>
              <a:buNone/>
            </a:pPr>
            <a:r>
              <a:rPr lang="en-US" sz="1920" b="1" dirty="0">
                <a:solidFill>
                  <a:srgbClr val="333333"/>
                </a:solidFill>
                <a:latin typeface="思源黑体 CN Bold" pitchFamily="34" charset="0"/>
                <a:ea typeface="思源黑体 CN Bold" pitchFamily="34" charset="-122"/>
                <a:cs typeface="思源黑体 CN Bold" pitchFamily="34" charset="-120"/>
              </a:rPr>
              <a:t>GB/T 22239 8.1.4.4 要求</a:t>
            </a:r>
            <a:endParaRPr lang="en-US" sz="1920" dirty="0"/>
          </a:p>
        </p:txBody>
      </p:sp>
      <p:sp>
        <p:nvSpPr>
          <p:cNvPr id="8" name="Text 2"/>
          <p:cNvSpPr/>
          <p:nvPr/>
        </p:nvSpPr>
        <p:spPr>
          <a:xfrm>
            <a:off x="914400" y="1889760"/>
            <a:ext cx="10433304" cy="553720"/>
          </a:xfrm>
          <a:prstGeom prst="rect">
            <a:avLst/>
          </a:prstGeom>
          <a:noFill/>
        </p:spPr>
        <p:txBody>
          <a:bodyPr wrap="square" lIns="0" tIns="0" rIns="0" bIns="0" rtlCol="0" anchor="t">
            <a:spAutoFit/>
          </a:bodyPr>
          <a:lstStyle/>
          <a:p>
            <a:pPr marL="0" indent="0" algn="l">
              <a:lnSpc>
                <a:spcPct val="100000"/>
              </a:lnSpc>
              <a:buNone/>
            </a:pPr>
            <a:r>
              <a:rPr lang="en-US" dirty="0">
                <a:solidFill>
                  <a:srgbClr val="666666"/>
                </a:solidFill>
                <a:latin typeface="思源黑体 CN" pitchFamily="34" charset="0"/>
                <a:ea typeface="思源黑体 CN" pitchFamily="34" charset="-122"/>
                <a:cs typeface="思源黑体 CN" pitchFamily="34" charset="-120"/>
              </a:rPr>
              <a:t>“应遵循最小安装的原则，仅安装需要的组件和应用程序；应关闭不需要的系统服务、默认共享和高危端口；应能发现可能存在的已知漏洞，并在经过充分测试评估后，及时修补漏洞。”</a:t>
            </a:r>
            <a:endParaRPr lang="en-US" dirty="0">
              <a:solidFill>
                <a:srgbClr val="666666"/>
              </a:solidFill>
              <a:latin typeface="思源黑体 CN" pitchFamily="34" charset="0"/>
              <a:ea typeface="思源黑体 CN" pitchFamily="34" charset="-122"/>
              <a:cs typeface="思源黑体 CN" pitchFamily="34" charset="-120"/>
            </a:endParaRPr>
          </a:p>
        </p:txBody>
      </p:sp>
      <p:pic>
        <p:nvPicPr>
          <p:cNvPr id="9"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2865120"/>
            <a:ext cx="5334000" cy="609600"/>
          </a:xfrm>
          <a:prstGeom prst="rect">
            <a:avLst/>
          </a:prstGeom>
        </p:spPr>
      </p:pic>
      <p:sp>
        <p:nvSpPr>
          <p:cNvPr id="10" name="Text 3"/>
          <p:cNvSpPr/>
          <p:nvPr/>
        </p:nvSpPr>
        <p:spPr>
          <a:xfrm>
            <a:off x="853440" y="2987040"/>
            <a:ext cx="12435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核心检查项</a:t>
            </a:r>
            <a:endParaRPr lang="en-US" sz="1920" dirty="0"/>
          </a:p>
        </p:txBody>
      </p:sp>
      <p:pic>
        <p:nvPicPr>
          <p:cNvPr id="11" name="Image 5" descr="https://test.web.static.jianzeppt.com/ppt-temp-img3/bd1ebcb48e94be750f1dab27017ec3d7.png?x-oss-process=image/resize,w_1440,h_800,m_lfit/format,png"/>
          <p:cNvPicPr>
            <a:picLocks noChangeAspect="1"/>
          </p:cNvPicPr>
          <p:nvPr/>
        </p:nvPicPr>
        <p:blipFill>
          <a:blip r:embed="rId8"/>
          <a:stretch>
            <a:fillRect/>
          </a:stretch>
        </p:blipFill>
        <p:spPr>
          <a:xfrm>
            <a:off x="609600" y="3474720"/>
            <a:ext cx="5334000" cy="2773680"/>
          </a:xfrm>
          <a:prstGeom prst="rect">
            <a:avLst/>
          </a:prstGeom>
        </p:spPr>
      </p:pic>
      <p:graphicFrame>
        <p:nvGraphicFramePr>
          <p:cNvPr id="13" name="Table 0"/>
          <p:cNvGraphicFramePr>
            <a:graphicFrameLocks noGrp="1"/>
          </p:cNvGraphicFramePr>
          <p:nvPr/>
        </p:nvGraphicFramePr>
        <p:xfrm>
          <a:off x="742950" y="3489960"/>
          <a:ext cx="5146040" cy="2882265"/>
        </p:xfrm>
        <a:graphic>
          <a:graphicData uri="http://schemas.openxmlformats.org/drawingml/2006/table">
            <a:tbl>
              <a:tblPr/>
              <a:tblGrid>
                <a:gridCol w="459105"/>
                <a:gridCol w="2996565"/>
                <a:gridCol w="1690370"/>
              </a:tblGrid>
              <a:tr h="473075">
                <a:tc>
                  <a:txBody>
                    <a:bodyPr/>
                    <a:lstStyle/>
                    <a:p>
                      <a:pPr marL="0" indent="0" algn="ctr">
                        <a:buNone/>
                      </a:pPr>
                      <a:r>
                        <a:rPr lang="en-US" sz="1200" dirty="0">
                          <a:solidFill>
                            <a:srgbClr val="000000"/>
                          </a:solidFill>
                        </a:rPr>
                        <a:t>序号</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Windows检查项</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Linux检查项</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1</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是否仅安装必要组件？</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是否最小化安装？</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3535">
                <a:tc>
                  <a:txBody>
                    <a:bodyPr/>
                    <a:lstStyle/>
                    <a:p>
                      <a:pPr marL="0" indent="0" algn="ctr">
                        <a:buNone/>
                      </a:pPr>
                      <a:r>
                        <a:rPr lang="en-US" sz="1200" dirty="0">
                          <a:solidFill>
                            <a:srgbClr val="000000"/>
                          </a:solidFill>
                        </a:rPr>
                        <a:t>2</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是否关闭不需要的服务？</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systemctllist-unit-files</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82880">
                <a:tc>
                  <a:txBody>
                    <a:bodyPr/>
                    <a:lstStyle/>
                    <a:p>
                      <a:pPr marL="0" algn="ctr">
                        <a:buClrTx/>
                        <a:buSzTx/>
                        <a:buFontTx/>
                        <a:buNone/>
                      </a:pPr>
                      <a:r>
                        <a:rPr lang="en-US" sz="1200" dirty="0">
                          <a:solidFill>
                            <a:srgbClr val="000000"/>
                          </a:solidFill>
                        </a:rPr>
                        <a:t>3</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默认共享（C$、Admin$、IPC$）是否关闭？</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buClrTx/>
                        <a:buSzTx/>
                        <a:buFontTx/>
                      </a:pP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4</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高危端口是否关闭？（如135、137-139、445）</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高危端口是否关闭？</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3535">
                <a:tc>
                  <a:txBody>
                    <a:bodyPr/>
                    <a:lstStyle/>
                    <a:p>
                      <a:pPr marL="0" indent="0" algn="ctr">
                        <a:buNone/>
                      </a:pPr>
                      <a:r>
                        <a:rPr lang="en-US" sz="1200" dirty="0">
                          <a:solidFill>
                            <a:srgbClr val="000000"/>
                          </a:solidFill>
                        </a:rPr>
                        <a:t>5</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是否定期进行漏洞扫描？</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是否定期进行漏洞扫描？</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42900">
                <a:tc>
                  <a:txBody>
                    <a:bodyPr/>
                    <a:lstStyle/>
                    <a:p>
                      <a:pPr marL="0" indent="0" algn="ctr">
                        <a:buNone/>
                      </a:pPr>
                      <a:r>
                        <a:rPr lang="en-US" sz="1200" dirty="0">
                          <a:solidFill>
                            <a:srgbClr val="000000"/>
                          </a:solidFill>
                        </a:rPr>
                        <a:t>6</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系统补丁是否及时更新？</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系统补丁是否及时更新？</a:t>
                      </a:r>
                      <a:endParaRPr lang="en-US" sz="1200" dirty="0">
                        <a:solidFill>
                          <a:srgbClr val="000000"/>
                        </a:solidFill>
                      </a:endParaRPr>
                    </a:p>
                  </a:txBody>
                  <a:tcPr marL="45720" marR="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2"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8400" y="2910840"/>
            <a:ext cx="5334000" cy="609600"/>
          </a:xfrm>
          <a:prstGeom prst="rect">
            <a:avLst/>
          </a:prstGeom>
        </p:spPr>
      </p:pic>
      <p:sp>
        <p:nvSpPr>
          <p:cNvPr id="14" name="Text 4"/>
          <p:cNvSpPr/>
          <p:nvPr/>
        </p:nvSpPr>
        <p:spPr>
          <a:xfrm>
            <a:off x="6492240" y="2987040"/>
            <a:ext cx="197510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常见高危端口风险</a:t>
            </a:r>
            <a:endParaRPr lang="en-US" sz="1920" dirty="0"/>
          </a:p>
        </p:txBody>
      </p:sp>
      <p:pic>
        <p:nvPicPr>
          <p:cNvPr id="15" name="Image 7" descr="https://test.web.static.jianzeppt.com/ppt-temp-img3/bd1ebcb48e94be750f1dab27017ec3d7.png?x-oss-process=image/resize,w_1440,h_800,m_lfit/format,png"/>
          <p:cNvPicPr>
            <a:picLocks noChangeAspect="1"/>
          </p:cNvPicPr>
          <p:nvPr/>
        </p:nvPicPr>
        <p:blipFill>
          <a:blip r:embed="rId8"/>
          <a:stretch>
            <a:fillRect/>
          </a:stretch>
        </p:blipFill>
        <p:spPr>
          <a:xfrm>
            <a:off x="6248400" y="3474720"/>
            <a:ext cx="5334000" cy="2773680"/>
          </a:xfrm>
          <a:prstGeom prst="rect">
            <a:avLst/>
          </a:prstGeom>
        </p:spPr>
      </p:pic>
      <p:graphicFrame>
        <p:nvGraphicFramePr>
          <p:cNvPr id="25" name="Table 1"/>
          <p:cNvGraphicFramePr>
            <a:graphicFrameLocks noGrp="1"/>
          </p:cNvGraphicFramePr>
          <p:nvPr/>
        </p:nvGraphicFramePr>
        <p:xfrm>
          <a:off x="6358890" y="3489960"/>
          <a:ext cx="5102225" cy="2604770"/>
        </p:xfrm>
        <a:graphic>
          <a:graphicData uri="http://schemas.openxmlformats.org/drawingml/2006/table">
            <a:tbl>
              <a:tblPr/>
              <a:tblGrid>
                <a:gridCol w="1043940"/>
                <a:gridCol w="1073150"/>
                <a:gridCol w="2985135"/>
              </a:tblGrid>
              <a:tr h="372110">
                <a:tc>
                  <a:txBody>
                    <a:bodyPr/>
                    <a:lstStyle/>
                    <a:p>
                      <a:pPr marL="0" algn="ctr">
                        <a:buClrTx/>
                        <a:buSzTx/>
                        <a:buFontTx/>
                        <a:buNone/>
                      </a:pPr>
                      <a:r>
                        <a:rPr lang="en-US" sz="1200" dirty="0">
                          <a:solidFill>
                            <a:srgbClr val="000000"/>
                          </a:solidFill>
                        </a:rPr>
                        <a:t>端口</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服务</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风险</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135</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RPC</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远程执行漏洞</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137-139</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NetBIOS</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信息泄露</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445</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SMB</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勒索病毒传播（永恒之蓝）</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23</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Telnet</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明文传输</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21</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FTP</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明文传输</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72110">
                <a:tc>
                  <a:txBody>
                    <a:bodyPr/>
                    <a:lstStyle/>
                    <a:p>
                      <a:pPr marL="0" algn="ctr">
                        <a:buClrTx/>
                        <a:buSzTx/>
                        <a:buFontTx/>
                        <a:buNone/>
                      </a:pPr>
                      <a:r>
                        <a:rPr lang="en-US" sz="1200" dirty="0">
                          <a:solidFill>
                            <a:srgbClr val="000000"/>
                          </a:solidFill>
                        </a:rPr>
                        <a:t>3389</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RDP</a:t>
                      </a:r>
                      <a:r>
                        <a:rPr lang="zh-CN" altLang="en-US" sz="1200" dirty="0">
                          <a:solidFill>
                            <a:srgbClr val="000000"/>
                          </a:solidFill>
                        </a:rPr>
                        <a:t>（远程</a:t>
                      </a:r>
                      <a:r>
                        <a:rPr lang="zh-CN" altLang="en-US" sz="1200" dirty="0">
                          <a:solidFill>
                            <a:srgbClr val="000000"/>
                          </a:solidFill>
                        </a:rPr>
                        <a:t>桌面）</a:t>
                      </a:r>
                      <a:endParaRPr lang="zh-CN" alt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algn="ctr">
                        <a:buClrTx/>
                        <a:buSzTx/>
                        <a:buFontTx/>
                        <a:buNone/>
                      </a:pPr>
                      <a:r>
                        <a:rPr lang="en-US" sz="1200" dirty="0">
                          <a:solidFill>
                            <a:srgbClr val="000000"/>
                          </a:solidFill>
                        </a:rPr>
                        <a:t>暴力破解攻击面</a:t>
                      </a:r>
                      <a:endParaRPr lang="en-US" sz="12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恶意代码防范核查</a:t>
            </a:r>
            <a:endParaRPr lang="en-US" sz="2760" dirty="0"/>
          </a:p>
        </p:txBody>
      </p:sp>
      <p:pic>
        <p:nvPicPr>
          <p:cNvPr id="6" name="Image 3" descr="https://test.web.static.jianzeppt.com/ppt-temp-img3/87d19d0006ef48e6f4fe7572c2c3b174.png?x-oss-process=image/resize,w_1440,h_800,m_lfit/format,png"/>
          <p:cNvPicPr>
            <a:picLocks noChangeAspect="1"/>
          </p:cNvPicPr>
          <p:nvPr/>
        </p:nvPicPr>
        <p:blipFill>
          <a:blip r:embed="rId4"/>
          <a:stretch>
            <a:fillRect/>
          </a:stretch>
        </p:blipFill>
        <p:spPr>
          <a:xfrm>
            <a:off x="609600" y="1371600"/>
            <a:ext cx="10972800" cy="1082040"/>
          </a:xfrm>
          <a:prstGeom prst="rect">
            <a:avLst/>
          </a:prstGeom>
        </p:spPr>
      </p:pic>
      <p:sp>
        <p:nvSpPr>
          <p:cNvPr id="7" name="Text 1"/>
          <p:cNvSpPr/>
          <p:nvPr/>
        </p:nvSpPr>
        <p:spPr>
          <a:xfrm>
            <a:off x="807720" y="1554480"/>
            <a:ext cx="10585704" cy="682466"/>
          </a:xfrm>
          <a:prstGeom prst="rect">
            <a:avLst/>
          </a:prstGeom>
          <a:noFill/>
        </p:spPr>
        <p:txBody>
          <a:bodyPr wrap="square" lIns="0" tIns="0" rIns="0" bIns="0" rtlCol="0" anchor="t">
            <a:spAutoFit/>
          </a:bodyPr>
          <a:lstStyle/>
          <a:p>
            <a:pPr marL="0" indent="0" algn="l">
              <a:lnSpc>
                <a:spcPct val="14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GB/T 22239 8.1.4.5:</a:t>
            </a:r>
            <a:r>
              <a:rPr lang="en-US" sz="1920" dirty="0">
                <a:solidFill>
                  <a:srgbClr val="333333"/>
                </a:solidFill>
                <a:latin typeface="思源黑体 CN" pitchFamily="34" charset="0"/>
                <a:ea typeface="思源黑体 CN" pitchFamily="34" charset="-122"/>
                <a:cs typeface="思源黑体 CN" pitchFamily="34" charset="-120"/>
              </a:rPr>
              <a:t>“应采用免受恶意代码攻击的技术措施或主动免疫可信验证机制及时识别入侵和病毒行为，并将其有效阻断。”</a:t>
            </a:r>
            <a:endParaRPr lang="en-US" sz="1920" dirty="0"/>
          </a:p>
        </p:txBody>
      </p:sp>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600" y="2697480"/>
            <a:ext cx="6431280" cy="3566160"/>
          </a:xfrm>
          <a:prstGeom prst="rect">
            <a:avLst/>
          </a:prstGeom>
          <a:effectLst>
            <a:outerShdw blurRad="387096000" dist="193548000" dir="-1" algn="bl" rotWithShape="0">
              <a:srgbClr val="000000">
                <a:alpha val="500000000"/>
              </a:srgbClr>
            </a:outerShdw>
          </a:effectLst>
        </p:spPr>
      </p:pic>
      <p:pic>
        <p:nvPicPr>
          <p:cNvPr id="9" name="Image 5" descr="https://test.web.static.jianzeppt.com/ppt-temp-img3/d197019e3b7c485982461420b0b6d3bf.png?x-oss-process=image/resize,w_1440,h_800,m_lfit/format,png"/>
          <p:cNvPicPr>
            <a:picLocks noChangeAspect="1"/>
          </p:cNvPicPr>
          <p:nvPr/>
        </p:nvPicPr>
        <p:blipFill>
          <a:blip r:embed="rId7"/>
          <a:stretch>
            <a:fillRect/>
          </a:stretch>
        </p:blipFill>
        <p:spPr>
          <a:xfrm>
            <a:off x="624840" y="2712720"/>
            <a:ext cx="6400800" cy="655320"/>
          </a:xfrm>
          <a:prstGeom prst="rect">
            <a:avLst/>
          </a:prstGeom>
        </p:spPr>
      </p:pic>
      <p:pic>
        <p:nvPicPr>
          <p:cNvPr id="10"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7720" y="2880360"/>
            <a:ext cx="304800" cy="304800"/>
          </a:xfrm>
          <a:prstGeom prst="rect">
            <a:avLst/>
          </a:prstGeom>
        </p:spPr>
      </p:pic>
      <p:sp>
        <p:nvSpPr>
          <p:cNvPr id="11" name="Text 2"/>
          <p:cNvSpPr/>
          <p:nvPr/>
        </p:nvSpPr>
        <p:spPr>
          <a:xfrm>
            <a:off x="1234440" y="2834640"/>
            <a:ext cx="1380744" cy="396240"/>
          </a:xfrm>
          <a:prstGeom prst="rect">
            <a:avLst/>
          </a:prstGeom>
          <a:noFill/>
        </p:spPr>
        <p:txBody>
          <a:bodyPr wrap="none" lIns="0" tIns="0" rIns="0" bIns="0" rtlCol="0" anchor="ct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核心检查项</a:t>
            </a:r>
            <a:endParaRPr lang="en-US" sz="2160" dirty="0"/>
          </a:p>
        </p:txBody>
      </p:sp>
      <p:graphicFrame>
        <p:nvGraphicFramePr>
          <p:cNvPr id="14" name="Table 0"/>
          <p:cNvGraphicFramePr>
            <a:graphicFrameLocks noGrp="1"/>
          </p:cNvGraphicFramePr>
          <p:nvPr/>
        </p:nvGraphicFramePr>
        <p:xfrm>
          <a:off x="746760" y="3489960"/>
          <a:ext cx="6156960" cy="2636520"/>
        </p:xfrm>
        <a:graphic>
          <a:graphicData uri="http://schemas.openxmlformats.org/drawingml/2006/table">
            <a:tbl>
              <a:tblPr/>
              <a:tblGrid>
                <a:gridCol w="762000"/>
                <a:gridCol w="1524000"/>
                <a:gridCol w="3870960"/>
              </a:tblGrid>
              <a:tr h="439420">
                <a:tc>
                  <a:txBody>
                    <a:bodyPr/>
                    <a:lstStyle/>
                    <a:p>
                      <a:pPr marL="0" indent="0" algn="ctr">
                        <a:buNone/>
                      </a:pPr>
                      <a:r>
                        <a:rPr lang="en-US" sz="1430" dirty="0">
                          <a:solidFill>
                            <a:srgbClr val="000000"/>
                          </a:solidFill>
                        </a:rPr>
                        <a:t>序号</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检查项</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合规要点</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1</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防病毒软件</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是否安装防病毒软件？</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2</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病毒库更新</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病毒库是否在有效期内？</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3</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定期查杀</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是否配置定期全盘扫描？</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4</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实时防护</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实时监控是否开启？</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39420">
                <a:tc>
                  <a:txBody>
                    <a:bodyPr/>
                    <a:lstStyle/>
                    <a:p>
                      <a:pPr marL="0" indent="0" algn="ctr">
                        <a:buNone/>
                      </a:pPr>
                      <a:r>
                        <a:rPr lang="en-US" sz="1430" dirty="0">
                          <a:solidFill>
                            <a:srgbClr val="000000"/>
                          </a:solidFill>
                        </a:rPr>
                        <a:t>5</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非Win系统</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30" dirty="0">
                          <a:solidFill>
                            <a:srgbClr val="000000"/>
                          </a:solidFill>
                        </a:rPr>
                        <a:t>Linux是否需要防恶意代码措施？</a:t>
                      </a:r>
                      <a:endParaRPr lang="en-US" sz="143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3" name="Image 7" descr="https://test.web.static.jianzeppt.com/ppt-temp-img3/468a740b79ff10d1e270ed6137fdd6dd.png?x-oss-process=image/resize,w_1440,h_800,m_lfit/format,png"/>
          <p:cNvPicPr>
            <a:picLocks noChangeAspect="1"/>
          </p:cNvPicPr>
          <p:nvPr/>
        </p:nvPicPr>
        <p:blipFill>
          <a:blip r:embed="rId10"/>
          <a:stretch>
            <a:fillRect/>
          </a:stretch>
        </p:blipFill>
        <p:spPr>
          <a:xfrm>
            <a:off x="7284720" y="2697480"/>
            <a:ext cx="4297680" cy="3566160"/>
          </a:xfrm>
          <a:prstGeom prst="rect">
            <a:avLst/>
          </a:prstGeom>
        </p:spPr>
      </p:pic>
      <p:pic>
        <p:nvPicPr>
          <p:cNvPr id="12" name="Image 8" descr="https://test.web.static.jianzeppt.com/ppt-temp-img3/cea207b3de03ea4fcb5021d52016fe43.png?x-oss-process=image/resize,w_1440,h_800,m_lfit/format,png"/>
          <p:cNvPicPr>
            <a:picLocks noChangeAspect="1"/>
          </p:cNvPicPr>
          <p:nvPr/>
        </p:nvPicPr>
        <p:blipFill>
          <a:blip r:embed="rId11"/>
          <a:stretch>
            <a:fillRect/>
          </a:stretch>
        </p:blipFill>
        <p:spPr>
          <a:xfrm>
            <a:off x="7299960" y="2712720"/>
            <a:ext cx="4267200" cy="670560"/>
          </a:xfrm>
          <a:prstGeom prst="rect">
            <a:avLst/>
          </a:prstGeom>
        </p:spPr>
      </p:pic>
      <p:pic>
        <p:nvPicPr>
          <p:cNvPr id="15" name="Image 9"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82840" y="2880360"/>
            <a:ext cx="304800" cy="304800"/>
          </a:xfrm>
          <a:prstGeom prst="rect">
            <a:avLst/>
          </a:prstGeom>
        </p:spPr>
      </p:pic>
      <p:sp>
        <p:nvSpPr>
          <p:cNvPr id="16" name="Text 3"/>
          <p:cNvSpPr/>
          <p:nvPr/>
        </p:nvSpPr>
        <p:spPr>
          <a:xfrm>
            <a:off x="7909560" y="2834640"/>
            <a:ext cx="1106424" cy="396240"/>
          </a:xfrm>
          <a:prstGeom prst="rect">
            <a:avLst/>
          </a:prstGeom>
          <a:noFill/>
        </p:spPr>
        <p:txBody>
          <a:bodyPr wrap="none" lIns="0" tIns="0" rIns="0" bIns="0" rtlCol="0" anchor="ctr"/>
          <a:lstStyle/>
          <a:p>
            <a:pPr marL="0" indent="0" algn="l">
              <a:lnSpc>
                <a:spcPct val="150000"/>
              </a:lnSpc>
              <a:buNone/>
            </a:pPr>
            <a:r>
              <a:rPr lang="en-US" sz="2160" b="1" dirty="0">
                <a:solidFill>
                  <a:srgbClr val="E11D3E"/>
                </a:solidFill>
                <a:latin typeface="思源黑体 CN Bold" pitchFamily="34" charset="0"/>
                <a:ea typeface="思源黑体 CN Bold" pitchFamily="34" charset="-122"/>
                <a:cs typeface="思源黑体 CN Bold" pitchFamily="34" charset="-120"/>
              </a:rPr>
              <a:t>常见问题</a:t>
            </a:r>
            <a:endParaRPr lang="en-US" sz="2160" dirty="0"/>
          </a:p>
        </p:txBody>
      </p:sp>
      <p:pic>
        <p:nvPicPr>
          <p:cNvPr id="17" name="Image 10" descr="https://test.web.static.jianzeppt.com/ppt-temp-img3/a34142321ca2619528135d51083e91a8.png?x-oss-process=image/resize,w_1440,h_800,m_lfit/format,png"/>
          <p:cNvPicPr>
            <a:picLocks noChangeAspect="1"/>
          </p:cNvPicPr>
          <p:nvPr/>
        </p:nvPicPr>
        <p:blipFill>
          <a:blip r:embed="rId14"/>
          <a:stretch>
            <a:fillRect/>
          </a:stretch>
        </p:blipFill>
        <p:spPr>
          <a:xfrm>
            <a:off x="7299960" y="3379927"/>
            <a:ext cx="4267200" cy="15240"/>
          </a:xfrm>
          <a:prstGeom prst="rect">
            <a:avLst/>
          </a:prstGeom>
        </p:spPr>
      </p:pic>
      <p:sp>
        <p:nvSpPr>
          <p:cNvPr id="18" name="Text 4"/>
          <p:cNvSpPr/>
          <p:nvPr/>
        </p:nvSpPr>
        <p:spPr>
          <a:xfrm>
            <a:off x="7444740" y="390144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19" name="Text 5"/>
          <p:cNvSpPr/>
          <p:nvPr/>
        </p:nvSpPr>
        <p:spPr>
          <a:xfrm>
            <a:off x="7818120" y="3901440"/>
            <a:ext cx="197510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未安装防病毒软件</a:t>
            </a:r>
            <a:endParaRPr lang="en-US" sz="1920" dirty="0"/>
          </a:p>
        </p:txBody>
      </p:sp>
      <p:sp>
        <p:nvSpPr>
          <p:cNvPr id="20" name="Text 6"/>
          <p:cNvSpPr/>
          <p:nvPr/>
        </p:nvSpPr>
        <p:spPr>
          <a:xfrm>
            <a:off x="7444740" y="438912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1" name="Text 7"/>
          <p:cNvSpPr/>
          <p:nvPr/>
        </p:nvSpPr>
        <p:spPr>
          <a:xfrm>
            <a:off x="7818120" y="4389120"/>
            <a:ext cx="148742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病毒库已过期</a:t>
            </a:r>
            <a:endParaRPr lang="en-US" sz="1920" dirty="0"/>
          </a:p>
        </p:txBody>
      </p:sp>
      <p:sp>
        <p:nvSpPr>
          <p:cNvPr id="22" name="Text 8"/>
          <p:cNvSpPr/>
          <p:nvPr/>
        </p:nvSpPr>
        <p:spPr>
          <a:xfrm>
            <a:off x="7444740" y="487680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3" name="Text 9"/>
          <p:cNvSpPr/>
          <p:nvPr/>
        </p:nvSpPr>
        <p:spPr>
          <a:xfrm>
            <a:off x="7818120" y="4876800"/>
            <a:ext cx="173126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实时监控未开启</a:t>
            </a:r>
            <a:endParaRPr lang="en-US" sz="1920" dirty="0"/>
          </a:p>
        </p:txBody>
      </p:sp>
      <p:sp>
        <p:nvSpPr>
          <p:cNvPr id="24" name="Text 10"/>
          <p:cNvSpPr/>
          <p:nvPr/>
        </p:nvSpPr>
        <p:spPr>
          <a:xfrm>
            <a:off x="7444740" y="5379720"/>
            <a:ext cx="344424" cy="350520"/>
          </a:xfrm>
          <a:prstGeom prst="rect">
            <a:avLst/>
          </a:prstGeom>
          <a:noFill/>
        </p:spPr>
        <p:txBody>
          <a:bodyPr wrap="none" lIns="0" tIns="0" rIns="0" bIns="0" rtlCol="0" anchor="t">
            <a:spAutoFit/>
          </a:bodyPr>
          <a:lstStyle/>
          <a:p>
            <a:pPr marL="0" indent="0" algn="l">
              <a:lnSpc>
                <a:spcPct val="140000"/>
              </a:lnSpc>
              <a:buNone/>
            </a:pPr>
            <a:r>
              <a:rPr lang="en-US" sz="1920" dirty="0">
                <a:solidFill>
                  <a:srgbClr val="E11D3E"/>
                </a:solidFill>
                <a:latin typeface="思源黑体 CN" pitchFamily="34" charset="0"/>
                <a:ea typeface="思源黑体 CN" pitchFamily="34" charset="-122"/>
                <a:cs typeface="思源黑体 CN" pitchFamily="34" charset="-120"/>
              </a:rPr>
              <a:t>❌</a:t>
            </a:r>
            <a:endParaRPr lang="en-US" sz="1920" dirty="0"/>
          </a:p>
        </p:txBody>
      </p:sp>
      <p:sp>
        <p:nvSpPr>
          <p:cNvPr id="25" name="Text 11"/>
          <p:cNvSpPr/>
          <p:nvPr/>
        </p:nvSpPr>
        <p:spPr>
          <a:xfrm>
            <a:off x="7818120" y="5379720"/>
            <a:ext cx="1731264" cy="341233"/>
          </a:xfrm>
          <a:prstGeom prst="rect">
            <a:avLst/>
          </a:prstGeom>
          <a:noFill/>
        </p:spPr>
        <p:txBody>
          <a:bodyPr wrap="none" lIns="0" tIns="0" rIns="0" bIns="0" rtlCol="0" anchor="t">
            <a:spAutoFit/>
          </a:bodyPr>
          <a:lstStyle/>
          <a:p>
            <a:pPr marL="0" indent="0" algn="l">
              <a:lnSpc>
                <a:spcPct val="100000"/>
              </a:lnSpc>
              <a:buNone/>
            </a:pPr>
            <a:r>
              <a:rPr lang="en-US" sz="1920" dirty="0">
                <a:solidFill>
                  <a:srgbClr val="333333"/>
                </a:solidFill>
                <a:latin typeface="思源黑体 CN" pitchFamily="34" charset="0"/>
                <a:ea typeface="思源黑体 CN" pitchFamily="34" charset="-122"/>
                <a:cs typeface="思源黑体 CN" pitchFamily="34" charset="-120"/>
              </a:rPr>
              <a:t>未定期全盘扫描</a:t>
            </a:r>
            <a:endParaRPr lang="en-US" sz="1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用什么查——三件套怎么配合</a:t>
            </a:r>
            <a:endParaRPr lang="en-US" sz="2760" dirty="0"/>
          </a:p>
        </p:txBody>
      </p:sp>
      <p:sp>
        <p:nvSpPr>
          <p:cNvPr id="6" name="Text 1"/>
          <p:cNvSpPr/>
          <p:nvPr/>
        </p:nvSpPr>
        <p:spPr>
          <a:xfrm>
            <a:off x="609600" y="1371600"/>
            <a:ext cx="6409944" cy="411480"/>
          </a:xfrm>
          <a:prstGeom prst="rect">
            <a:avLst/>
          </a:prstGeom>
          <a:noFill/>
        </p:spPr>
        <p:txBody>
          <a:bodyPr wrap="none" lIns="0" tIns="0" rIns="0" bIns="0" rtlCol="0" anchor="t">
            <a:spAutoFit/>
          </a:bodyPr>
          <a:lstStyle/>
          <a:p>
            <a:pPr marL="0" indent="0" algn="l">
              <a:lnSpc>
                <a:spcPct val="100000"/>
              </a:lnSpc>
              <a:buNone/>
            </a:pPr>
            <a:r>
              <a:rPr lang="en-US" sz="2160" b="1" dirty="0">
                <a:solidFill>
                  <a:srgbClr val="333333"/>
                </a:solidFill>
                <a:latin typeface="思源黑体 CN Bold" pitchFamily="34" charset="0"/>
                <a:ea typeface="思源黑体 CN Bold" pitchFamily="34" charset="-122"/>
                <a:cs typeface="思源黑体 CN Bold" pitchFamily="34" charset="-120"/>
              </a:rPr>
              <a:t>西普实验平台 · JSecProbe · 手动命令</a:t>
            </a:r>
            <a:endParaRPr lang="en-US" sz="2160" dirty="0"/>
          </a:p>
        </p:txBody>
      </p:sp>
      <p:grpSp>
        <p:nvGrpSpPr>
          <p:cNvPr id="41" name="组合 40"/>
          <p:cNvGrpSpPr/>
          <p:nvPr/>
        </p:nvGrpSpPr>
        <p:grpSpPr>
          <a:xfrm>
            <a:off x="609600" y="2011680"/>
            <a:ext cx="6164850" cy="1979930"/>
            <a:chOff x="960" y="3168"/>
            <a:chExt cx="10095" cy="4080"/>
          </a:xfrm>
        </p:grpSpPr>
        <p:pic>
          <p:nvPicPr>
            <p:cNvPr id="7" name="Image 3" descr="https://test.web.static.jianzeppt.com/ppt-temp-img3/ab200dc3cbd570f9ed92351155bf876c.png?x-oss-process=image/resize,w_1440,h_800,m_lfit/format,png"/>
            <p:cNvPicPr>
              <a:picLocks noChangeAspect="1"/>
            </p:cNvPicPr>
            <p:nvPr/>
          </p:nvPicPr>
          <p:blipFill>
            <a:blip r:embed="rId4"/>
            <a:stretch>
              <a:fillRect/>
            </a:stretch>
          </p:blipFill>
          <p:spPr>
            <a:xfrm>
              <a:off x="960" y="3168"/>
              <a:ext cx="10080" cy="4080"/>
            </a:xfrm>
            <a:prstGeom prst="rect">
              <a:avLst/>
            </a:prstGeom>
          </p:spPr>
        </p:pic>
        <p:pic>
          <p:nvPicPr>
            <p:cNvPr id="8"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4" y="3624"/>
              <a:ext cx="576" cy="576"/>
            </a:xfrm>
            <a:prstGeom prst="rect">
              <a:avLst/>
            </a:prstGeom>
          </p:spPr>
        </p:pic>
        <p:sp>
          <p:nvSpPr>
            <p:cNvPr id="9" name="Text 2"/>
            <p:cNvSpPr/>
            <p:nvPr/>
          </p:nvSpPr>
          <p:spPr>
            <a:xfrm>
              <a:off x="1536" y="3672"/>
              <a:ext cx="230" cy="48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sp>
          <p:nvSpPr>
            <p:cNvPr id="10" name="Text 3"/>
            <p:cNvSpPr/>
            <p:nvPr/>
          </p:nvSpPr>
          <p:spPr>
            <a:xfrm>
              <a:off x="2112" y="3552"/>
              <a:ext cx="5294" cy="696"/>
            </a:xfrm>
            <a:prstGeom prst="rect">
              <a:avLst/>
            </a:prstGeom>
            <a:noFill/>
          </p:spPr>
          <p:txBody>
            <a:bodyPr wrap="none" lIns="0" tIns="0" rIns="0" bIns="0" rtlCol="0" anchor="ctr"/>
            <a:lstStyle/>
            <a:p>
              <a:pPr marL="0" indent="0" algn="l">
                <a:lnSpc>
                  <a:spcPct val="150000"/>
                </a:lnSpc>
                <a:buNone/>
              </a:pPr>
              <a:r>
                <a:rPr lang="en-US" sz="2400" b="1" dirty="0">
                  <a:solidFill>
                    <a:srgbClr val="143966"/>
                  </a:solidFill>
                  <a:latin typeface="思源黑体 CN Bold" pitchFamily="34" charset="0"/>
                  <a:ea typeface="思源黑体 CN Bold" pitchFamily="34" charset="-122"/>
                  <a:cs typeface="思源黑体 CN Bold" pitchFamily="34" charset="-120"/>
                </a:rPr>
                <a:t>西普实验平台（负责取证）</a:t>
              </a:r>
              <a:endParaRPr lang="en-US" sz="2400" dirty="0"/>
            </a:p>
          </p:txBody>
        </p:sp>
        <p:sp>
          <p:nvSpPr>
            <p:cNvPr id="11" name="Text 4"/>
            <p:cNvSpPr/>
            <p:nvPr/>
          </p:nvSpPr>
          <p:spPr>
            <a:xfrm>
              <a:off x="1368" y="4608"/>
              <a:ext cx="2774" cy="665"/>
            </a:xfrm>
            <a:prstGeom prst="rect">
              <a:avLst/>
            </a:prstGeom>
            <a:noFill/>
          </p:spPr>
          <p:txBody>
            <a:bodyPr wrap="square" lIns="0" tIns="0" rIns="0" bIns="0" rtlCol="0" anchor="t">
              <a:spAutoFit/>
            </a:bodyPr>
            <a:lstStyle/>
            <a:p>
              <a:pPr marL="0" indent="0" algn="l">
                <a:lnSpc>
                  <a:spcPct val="150000"/>
                </a:lnSpc>
                <a:buNone/>
              </a:pPr>
              <a:r>
                <a:rPr lang="en-US" sz="1400" b="1" dirty="0">
                  <a:solidFill>
                    <a:srgbClr val="333333"/>
                  </a:solidFill>
                  <a:latin typeface="思源黑体 CN Bold" pitchFamily="34" charset="0"/>
                  <a:ea typeface="思源黑体 CN Bold" pitchFamily="34" charset="-122"/>
                  <a:cs typeface="思源黑体 CN Bold" pitchFamily="34" charset="-120"/>
                </a:rPr>
                <a:t>给你真机</a:t>
              </a:r>
              <a:endParaRPr lang="en-US" sz="1400" b="1" dirty="0">
                <a:solidFill>
                  <a:srgbClr val="333333"/>
                </a:solidFill>
                <a:latin typeface="思源黑体 CN Bold" pitchFamily="34" charset="0"/>
                <a:ea typeface="思源黑体 CN Bold" pitchFamily="34" charset="-122"/>
                <a:cs typeface="思源黑体 CN Bold" pitchFamily="34" charset="-120"/>
              </a:endParaRPr>
            </a:p>
          </p:txBody>
        </p:sp>
        <p:sp>
          <p:nvSpPr>
            <p:cNvPr id="12" name="Text 5"/>
            <p:cNvSpPr/>
            <p:nvPr/>
          </p:nvSpPr>
          <p:spPr>
            <a:xfrm>
              <a:off x="2781" y="4607"/>
              <a:ext cx="8274" cy="571"/>
            </a:xfrm>
            <a:prstGeom prst="rect">
              <a:avLst/>
            </a:prstGeom>
            <a:noFill/>
          </p:spPr>
          <p:txBody>
            <a:bodyPr wrap="square" lIns="0" tIns="0" rIns="0" bIns="0" rtlCol="0" anchor="t">
              <a:spAutoFit/>
            </a:bodyPr>
            <a:lstStyle/>
            <a:p>
              <a:pPr marL="0" indent="0" algn="l">
                <a:lnSpc>
                  <a:spcPct val="150000"/>
                </a:lnSpc>
                <a:buNone/>
              </a:pPr>
              <a:r>
                <a:rPr lang="en-US" sz="1200" dirty="0">
                  <a:solidFill>
                    <a:srgbClr val="333333"/>
                  </a:solidFill>
                  <a:latin typeface="思源黑体 CN" pitchFamily="34" charset="0"/>
                  <a:ea typeface="思源黑体 CN" pitchFamily="34" charset="-122"/>
                  <a:cs typeface="思源黑体 CN" pitchFamily="34" charset="-120"/>
                </a:rPr>
                <a:t>提供 Windows / Linux 真实（虚拟化）主机，直接在上面查配置、跑命令</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13" name="Image 5" descr="https://test.web.static.jianzeppt.com/ppt-temp-img3/5670dbb1c72bbd35b27ed18044a2451f.png?x-oss-process=image/resize,w_1440,h_800,m_lfit/format,png"/>
            <p:cNvPicPr>
              <a:picLocks noChangeAspect="1"/>
            </p:cNvPicPr>
            <p:nvPr/>
          </p:nvPicPr>
          <p:blipFill>
            <a:blip r:embed="rId7"/>
            <a:stretch>
              <a:fillRect/>
            </a:stretch>
          </p:blipFill>
          <p:spPr>
            <a:xfrm>
              <a:off x="1344" y="5292"/>
              <a:ext cx="9312" cy="24"/>
            </a:xfrm>
            <a:prstGeom prst="rect">
              <a:avLst/>
            </a:prstGeom>
          </p:spPr>
        </p:pic>
        <p:sp>
          <p:nvSpPr>
            <p:cNvPr id="14" name="Text 6"/>
            <p:cNvSpPr/>
            <p:nvPr/>
          </p:nvSpPr>
          <p:spPr>
            <a:xfrm>
              <a:off x="1368" y="5400"/>
              <a:ext cx="2774" cy="665"/>
            </a:xfrm>
            <a:prstGeom prst="rect">
              <a:avLst/>
            </a:prstGeom>
            <a:noFill/>
          </p:spPr>
          <p:txBody>
            <a:bodyPr wrap="square" lIns="0" tIns="0" rIns="0" bIns="0" rtlCol="0" anchor="t">
              <a:spAutoFit/>
            </a:bodyPr>
            <a:lstStyle/>
            <a:p>
              <a:pPr marL="0" indent="0" algn="l">
                <a:lnSpc>
                  <a:spcPct val="150000"/>
                </a:lnSpc>
                <a:buNone/>
              </a:pPr>
              <a:r>
                <a:rPr lang="en-US" sz="1400" b="1" dirty="0">
                  <a:solidFill>
                    <a:srgbClr val="333333"/>
                  </a:solidFill>
                  <a:latin typeface="思源黑体 CN Bold" pitchFamily="34" charset="0"/>
                  <a:ea typeface="思源黑体 CN Bold" pitchFamily="34" charset="-122"/>
                  <a:cs typeface="思源黑体 CN Bold" pitchFamily="34" charset="-120"/>
                </a:rPr>
                <a:t>怎么进</a:t>
              </a:r>
              <a:endParaRPr lang="en-US" sz="1400" b="1" dirty="0">
                <a:solidFill>
                  <a:srgbClr val="333333"/>
                </a:solidFill>
                <a:latin typeface="思源黑体 CN Bold" pitchFamily="34" charset="0"/>
                <a:ea typeface="思源黑体 CN Bold" pitchFamily="34" charset="-122"/>
                <a:cs typeface="思源黑体 CN Bold" pitchFamily="34" charset="-120"/>
              </a:endParaRPr>
            </a:p>
          </p:txBody>
        </p:sp>
        <p:sp>
          <p:nvSpPr>
            <p:cNvPr id="15" name="Text 7"/>
            <p:cNvSpPr/>
            <p:nvPr/>
          </p:nvSpPr>
          <p:spPr>
            <a:xfrm>
              <a:off x="2781" y="5400"/>
              <a:ext cx="8237" cy="571"/>
            </a:xfrm>
            <a:prstGeom prst="rect">
              <a:avLst/>
            </a:prstGeom>
            <a:noFill/>
          </p:spPr>
          <p:txBody>
            <a:bodyPr wrap="square" lIns="0" tIns="0" rIns="0" bIns="0" rtlCol="0" anchor="t">
              <a:spAutoFit/>
            </a:bodyPr>
            <a:lstStyle/>
            <a:p>
              <a:pPr marL="0" indent="0" algn="l">
                <a:lnSpc>
                  <a:spcPct val="150000"/>
                </a:lnSpc>
                <a:buNone/>
              </a:pPr>
              <a:r>
                <a:rPr lang="en-US" sz="1200" dirty="0">
                  <a:solidFill>
                    <a:srgbClr val="333333"/>
                  </a:solidFill>
                  <a:latin typeface="思源黑体 CN" pitchFamily="34" charset="0"/>
                  <a:ea typeface="思源黑体 CN" pitchFamily="34" charset="-122"/>
                  <a:cs typeface="思源黑体 CN" pitchFamily="34" charset="-120"/>
                </a:rPr>
                <a:t>10.11.0.70 →「主机设备基线核查」→「Windows / Linux 系统安全评测」</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16" name="Image 6" descr="https://test.web.static.jianzeppt.com/ppt-temp-img3/5670dbb1c72bbd35b27ed18044a2451f.png?x-oss-process=image/resize,w_1440,h_800,m_lfit/format,png"/>
            <p:cNvPicPr>
              <a:picLocks noChangeAspect="1"/>
            </p:cNvPicPr>
            <p:nvPr/>
          </p:nvPicPr>
          <p:blipFill>
            <a:blip r:embed="rId7"/>
            <a:stretch>
              <a:fillRect/>
            </a:stretch>
          </p:blipFill>
          <p:spPr>
            <a:xfrm>
              <a:off x="1344" y="6084"/>
              <a:ext cx="9312" cy="24"/>
            </a:xfrm>
            <a:prstGeom prst="rect">
              <a:avLst/>
            </a:prstGeom>
          </p:spPr>
        </p:pic>
        <p:sp>
          <p:nvSpPr>
            <p:cNvPr id="17" name="Text 8"/>
            <p:cNvSpPr/>
            <p:nvPr/>
          </p:nvSpPr>
          <p:spPr>
            <a:xfrm>
              <a:off x="1368" y="6192"/>
              <a:ext cx="2774" cy="665"/>
            </a:xfrm>
            <a:prstGeom prst="rect">
              <a:avLst/>
            </a:prstGeom>
            <a:noFill/>
          </p:spPr>
          <p:txBody>
            <a:bodyPr wrap="square" lIns="0" tIns="0" rIns="0" bIns="0" rtlCol="0" anchor="t">
              <a:spAutoFit/>
            </a:bodyPr>
            <a:lstStyle/>
            <a:p>
              <a:pPr marL="0" indent="0" algn="l">
                <a:lnSpc>
                  <a:spcPct val="150000"/>
                </a:lnSpc>
                <a:buNone/>
              </a:pPr>
              <a:r>
                <a:rPr lang="en-US" sz="1400" b="1" dirty="0">
                  <a:solidFill>
                    <a:srgbClr val="333333"/>
                  </a:solidFill>
                  <a:latin typeface="思源黑体 CN Bold" pitchFamily="34" charset="0"/>
                  <a:ea typeface="思源黑体 CN Bold" pitchFamily="34" charset="-122"/>
                  <a:cs typeface="思源黑体 CN Bold" pitchFamily="34" charset="-120"/>
                </a:rPr>
                <a:t>练什么</a:t>
              </a:r>
              <a:endParaRPr lang="en-US" sz="1400" b="1" dirty="0">
                <a:solidFill>
                  <a:srgbClr val="333333"/>
                </a:solidFill>
                <a:latin typeface="思源黑体 CN Bold" pitchFamily="34" charset="0"/>
                <a:ea typeface="思源黑体 CN Bold" pitchFamily="34" charset="-122"/>
                <a:cs typeface="思源黑体 CN Bold" pitchFamily="34" charset="-120"/>
              </a:endParaRPr>
            </a:p>
          </p:txBody>
        </p:sp>
        <p:sp>
          <p:nvSpPr>
            <p:cNvPr id="18" name="Text 9"/>
            <p:cNvSpPr/>
            <p:nvPr/>
          </p:nvSpPr>
          <p:spPr>
            <a:xfrm>
              <a:off x="2780" y="6288"/>
              <a:ext cx="6494" cy="475"/>
            </a:xfrm>
            <a:prstGeom prst="rect">
              <a:avLst/>
            </a:prstGeom>
            <a:noFill/>
          </p:spPr>
          <p:txBody>
            <a:bodyPr wrap="square" lIns="0" tIns="0" rIns="0" bIns="0" rtlCol="0" anchor="t">
              <a:spAutoFit/>
            </a:bodyPr>
            <a:lstStyle/>
            <a:p>
              <a:pPr marL="0" indent="0" algn="l">
                <a:lnSpc>
                  <a:spcPct val="150000"/>
                </a:lnSpc>
                <a:buNone/>
              </a:pPr>
              <a:r>
                <a:rPr lang="en-US" sz="1000" dirty="0">
                  <a:solidFill>
                    <a:srgbClr val="333333"/>
                  </a:solidFill>
                  <a:latin typeface="思源黑体 CN" pitchFamily="34" charset="0"/>
                  <a:ea typeface="思源黑体 CN" pitchFamily="34" charset="-122"/>
                  <a:cs typeface="思源黑体 CN" pitchFamily="34" charset="-120"/>
                </a:rPr>
                <a:t>口令策略、账户权限、审计日志、服务端口四类配置的定位与取证</a:t>
              </a:r>
              <a:endParaRPr lang="en-US" sz="1000" dirty="0">
                <a:solidFill>
                  <a:srgbClr val="333333"/>
                </a:solidFill>
                <a:latin typeface="思源黑体 CN" pitchFamily="34" charset="0"/>
                <a:ea typeface="思源黑体 CN" pitchFamily="34" charset="-122"/>
                <a:cs typeface="思源黑体 CN" pitchFamily="34" charset="-120"/>
              </a:endParaRPr>
            </a:p>
          </p:txBody>
        </p:sp>
      </p:grpSp>
      <p:grpSp>
        <p:nvGrpSpPr>
          <p:cNvPr id="42" name="组合 41"/>
          <p:cNvGrpSpPr/>
          <p:nvPr/>
        </p:nvGrpSpPr>
        <p:grpSpPr>
          <a:xfrm>
            <a:off x="583565" y="4404360"/>
            <a:ext cx="6181725" cy="1909168"/>
            <a:chOff x="960" y="7608"/>
            <a:chExt cx="10078" cy="3311"/>
          </a:xfrm>
        </p:grpSpPr>
        <p:pic>
          <p:nvPicPr>
            <p:cNvPr id="19" name="Image 7" descr="https://test.web.static.jianzeppt.com/ppt-temp-img3/e3530d56d0759697cc3f3bcb2438653e.png?x-oss-process=image/resize,w_1440,h_800,m_lfit/format,png"/>
            <p:cNvPicPr>
              <a:picLocks noChangeAspect="1"/>
            </p:cNvPicPr>
            <p:nvPr/>
          </p:nvPicPr>
          <p:blipFill>
            <a:blip r:embed="rId8"/>
            <a:stretch>
              <a:fillRect/>
            </a:stretch>
          </p:blipFill>
          <p:spPr>
            <a:xfrm>
              <a:off x="960" y="7608"/>
              <a:ext cx="10078" cy="3311"/>
            </a:xfrm>
            <a:prstGeom prst="rect">
              <a:avLst/>
            </a:prstGeom>
          </p:spPr>
        </p:pic>
        <p:pic>
          <p:nvPicPr>
            <p:cNvPr id="20" name="Image 8"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4" y="8064"/>
              <a:ext cx="576" cy="576"/>
            </a:xfrm>
            <a:prstGeom prst="rect">
              <a:avLst/>
            </a:prstGeom>
          </p:spPr>
        </p:pic>
        <p:sp>
          <p:nvSpPr>
            <p:cNvPr id="21" name="Text 10"/>
            <p:cNvSpPr/>
            <p:nvPr/>
          </p:nvSpPr>
          <p:spPr>
            <a:xfrm>
              <a:off x="1536" y="8112"/>
              <a:ext cx="230" cy="463"/>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sp>
          <p:nvSpPr>
            <p:cNvPr id="22" name="Text 11"/>
            <p:cNvSpPr/>
            <p:nvPr/>
          </p:nvSpPr>
          <p:spPr>
            <a:xfrm>
              <a:off x="2112" y="7992"/>
              <a:ext cx="4813" cy="671"/>
            </a:xfrm>
            <a:prstGeom prst="rect">
              <a:avLst/>
            </a:prstGeom>
            <a:noFill/>
          </p:spPr>
          <p:txBody>
            <a:bodyPr wrap="none" lIns="0" tIns="0" rIns="0" bIns="0" rtlCol="0" anchor="ctr"/>
            <a:lstStyle/>
            <a:p>
              <a:pPr marL="0" indent="0" algn="l">
                <a:lnSpc>
                  <a:spcPct val="150000"/>
                </a:lnSpc>
                <a:buNone/>
              </a:pPr>
              <a:r>
                <a:rPr lang="en-US" sz="2400" b="1" dirty="0">
                  <a:solidFill>
                    <a:srgbClr val="143966"/>
                  </a:solidFill>
                  <a:latin typeface="思源黑体 CN Bold" pitchFamily="34" charset="0"/>
                  <a:ea typeface="思源黑体 CN Bold" pitchFamily="34" charset="-122"/>
                  <a:cs typeface="思源黑体 CN Bold" pitchFamily="34" charset="-120"/>
                </a:rPr>
                <a:t>JSecProbe（负责判定与出表）</a:t>
              </a:r>
              <a:endParaRPr lang="en-US" sz="2400" dirty="0"/>
            </a:p>
          </p:txBody>
        </p:sp>
        <p:sp>
          <p:nvSpPr>
            <p:cNvPr id="23" name="Text 12"/>
            <p:cNvSpPr/>
            <p:nvPr/>
          </p:nvSpPr>
          <p:spPr>
            <a:xfrm>
              <a:off x="1368" y="9048"/>
              <a:ext cx="2822" cy="486"/>
            </a:xfrm>
            <a:prstGeom prst="rect">
              <a:avLst/>
            </a:prstGeom>
            <a:noFill/>
          </p:spPr>
          <p:txBody>
            <a:bodyPr wrap="none" lIns="0" tIns="0" rIns="0" bIns="0" rtlCol="0" anchor="t">
              <a:noAutofit/>
            </a:bodyPr>
            <a:lstStyle/>
            <a:p>
              <a:pPr marL="0" indent="0" algn="l">
                <a:lnSpc>
                  <a:spcPct val="150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干什么</a:t>
              </a:r>
              <a:endParaRPr lang="en-US" sz="1680" dirty="0"/>
            </a:p>
          </p:txBody>
        </p:sp>
        <p:sp>
          <p:nvSpPr>
            <p:cNvPr id="24" name="Text 13"/>
            <p:cNvSpPr/>
            <p:nvPr/>
          </p:nvSpPr>
          <p:spPr>
            <a:xfrm>
              <a:off x="4200" y="9048"/>
              <a:ext cx="2438" cy="486"/>
            </a:xfrm>
            <a:prstGeom prst="rect">
              <a:avLst/>
            </a:prstGeom>
            <a:noFill/>
          </p:spPr>
          <p:txBody>
            <a:bodyPr wrap="none" lIns="0" tIns="0" rIns="0" bIns="0" rtlCol="0" anchor="t">
              <a:noAutofit/>
            </a:bodyPr>
            <a:lstStyle/>
            <a:p>
              <a:pPr marL="0" indent="0" algn="l">
                <a:lnSpc>
                  <a:spcPct val="150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在哪</a:t>
              </a:r>
              <a:endParaRPr lang="en-US" sz="1680" dirty="0"/>
            </a:p>
          </p:txBody>
        </p:sp>
        <p:sp>
          <p:nvSpPr>
            <p:cNvPr id="25" name="Text 14"/>
            <p:cNvSpPr/>
            <p:nvPr/>
          </p:nvSpPr>
          <p:spPr>
            <a:xfrm>
              <a:off x="6672" y="9048"/>
              <a:ext cx="3997" cy="486"/>
            </a:xfrm>
            <a:prstGeom prst="rect">
              <a:avLst/>
            </a:prstGeom>
            <a:noFill/>
          </p:spPr>
          <p:txBody>
            <a:bodyPr wrap="none" lIns="0" tIns="0" rIns="0" bIns="0" rtlCol="0" anchor="t">
              <a:noAutofit/>
            </a:bodyPr>
            <a:lstStyle/>
            <a:p>
              <a:pPr marL="0" indent="0" algn="l">
                <a:lnSpc>
                  <a:spcPct val="150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产出</a:t>
              </a:r>
              <a:endParaRPr lang="en-US" sz="1680" dirty="0"/>
            </a:p>
          </p:txBody>
        </p:sp>
        <p:pic>
          <p:nvPicPr>
            <p:cNvPr id="26" name="Image 9" descr="https://test.web.static.jianzeppt.com/ppt-temp-img3/90ca40b8b97ad091365969f14827619c.png?x-oss-process=image/resize,w_1440,h_800,m_lfit/format,png"/>
            <p:cNvPicPr>
              <a:picLocks noChangeAspect="1"/>
            </p:cNvPicPr>
            <p:nvPr/>
          </p:nvPicPr>
          <p:blipFill>
            <a:blip r:embed="rId9"/>
            <a:stretch>
              <a:fillRect/>
            </a:stretch>
          </p:blipFill>
          <p:spPr>
            <a:xfrm>
              <a:off x="1344" y="9660"/>
              <a:ext cx="9310" cy="120"/>
            </a:xfrm>
            <a:prstGeom prst="rect">
              <a:avLst/>
            </a:prstGeom>
          </p:spPr>
        </p:pic>
        <p:sp>
          <p:nvSpPr>
            <p:cNvPr id="27" name="Text 15"/>
            <p:cNvSpPr/>
            <p:nvPr/>
          </p:nvSpPr>
          <p:spPr>
            <a:xfrm>
              <a:off x="1368" y="9768"/>
              <a:ext cx="2449" cy="996"/>
            </a:xfrm>
            <a:prstGeom prst="rect">
              <a:avLst/>
            </a:prstGeom>
            <a:noFill/>
          </p:spPr>
          <p:txBody>
            <a:bodyPr wrap="square" lIns="0" tIns="0" rIns="0" bIns="0" rtlCol="0" anchor="ctr">
              <a:normAutofit/>
            </a:bodyPr>
            <a:lstStyle/>
            <a:p>
              <a:pPr marL="0" indent="0" algn="l">
                <a:lnSpc>
                  <a:spcPct val="150000"/>
                </a:lnSpc>
                <a:buNone/>
              </a:pPr>
              <a:r>
                <a:rPr lang="en-US" sz="1000" dirty="0">
                  <a:solidFill>
                    <a:schemeClr val="tx1"/>
                  </a:solidFill>
                  <a:latin typeface="思源黑体 CN Bold" pitchFamily="34" charset="0"/>
                  <a:ea typeface="思源黑体 CN Bold" pitchFamily="34" charset="-122"/>
                  <a:cs typeface="思源黑体 CN Bold" pitchFamily="34" charset="-120"/>
                </a:rPr>
                <a:t>录入实测值、做符合性判定、生成记录表</a:t>
              </a:r>
              <a:endParaRPr lang="en-US" sz="1000" dirty="0">
                <a:solidFill>
                  <a:schemeClr val="tx1"/>
                </a:solidFill>
                <a:latin typeface="思源黑体 CN Bold" pitchFamily="34" charset="0"/>
                <a:ea typeface="思源黑体 CN Bold" pitchFamily="34" charset="-122"/>
                <a:cs typeface="思源黑体 CN Bold" pitchFamily="34" charset="-120"/>
              </a:endParaRPr>
            </a:p>
          </p:txBody>
        </p:sp>
        <p:sp>
          <p:nvSpPr>
            <p:cNvPr id="28" name="Text 16"/>
            <p:cNvSpPr/>
            <p:nvPr/>
          </p:nvSpPr>
          <p:spPr>
            <a:xfrm>
              <a:off x="4200" y="9768"/>
              <a:ext cx="2438" cy="995"/>
            </a:xfrm>
            <a:prstGeom prst="rect">
              <a:avLst/>
            </a:prstGeom>
            <a:noFill/>
          </p:spPr>
          <p:txBody>
            <a:bodyPr wrap="square" lIns="0" tIns="0" rIns="0" bIns="0" rtlCol="0" anchor="ctr"/>
            <a:lstStyle/>
            <a:p>
              <a:pPr marL="0" indent="0" algn="l">
                <a:lnSpc>
                  <a:spcPct val="150000"/>
                </a:lnSpc>
                <a:buNone/>
              </a:pPr>
              <a:r>
                <a:rPr lang="en-US" sz="1000" dirty="0">
                  <a:solidFill>
                    <a:schemeClr val="tx1"/>
                  </a:solidFill>
                  <a:latin typeface="思源黑体 CN" pitchFamily="34" charset="0"/>
                  <a:ea typeface="思源黑体 CN" pitchFamily="34" charset="-122"/>
                  <a:cs typeface="思源黑体 CN" pitchFamily="34" charset="-120"/>
                </a:rPr>
                <a:t>本机 JSecProbe V2.0.3：测评项目 → 现场核查</a:t>
              </a:r>
              <a:endParaRPr lang="en-US" sz="1000" dirty="0">
                <a:solidFill>
                  <a:schemeClr val="tx1"/>
                </a:solidFill>
                <a:latin typeface="思源黑体 CN" pitchFamily="34" charset="0"/>
                <a:ea typeface="思源黑体 CN" pitchFamily="34" charset="-122"/>
                <a:cs typeface="思源黑体 CN" pitchFamily="34" charset="-120"/>
              </a:endParaRPr>
            </a:p>
          </p:txBody>
        </p:sp>
        <p:sp>
          <p:nvSpPr>
            <p:cNvPr id="29" name="Text 17"/>
            <p:cNvSpPr/>
            <p:nvPr/>
          </p:nvSpPr>
          <p:spPr>
            <a:xfrm>
              <a:off x="6672" y="9768"/>
              <a:ext cx="4286" cy="971"/>
            </a:xfrm>
            <a:prstGeom prst="rect">
              <a:avLst/>
            </a:prstGeom>
            <a:noFill/>
          </p:spPr>
          <p:txBody>
            <a:bodyPr wrap="square" lIns="0" tIns="0" rIns="0" bIns="0" rtlCol="0" anchor="ctr">
              <a:noAutofit/>
            </a:bodyPr>
            <a:lstStyle/>
            <a:p>
              <a:pPr marL="0" indent="0" algn="l">
                <a:lnSpc>
                  <a:spcPct val="150000"/>
                </a:lnSpc>
                <a:buNone/>
              </a:pPr>
              <a:r>
                <a:rPr lang="en-US" sz="1000" dirty="0">
                  <a:solidFill>
                    <a:schemeClr val="tx1"/>
                  </a:solidFill>
                  <a:latin typeface="思源黑体 CN" pitchFamily="34" charset="0"/>
                  <a:ea typeface="思源黑体 CN" pitchFamily="34" charset="-122"/>
                  <a:cs typeface="思源黑体 CN" pitchFamily="34" charset="-120"/>
                </a:rPr>
                <a:t>带四档判定的《主机安全测评记录表》，可直接导出</a:t>
              </a:r>
              <a:endParaRPr lang="en-US" sz="1000" dirty="0">
                <a:solidFill>
                  <a:schemeClr val="tx1"/>
                </a:solidFill>
                <a:latin typeface="思源黑体 CN" pitchFamily="34" charset="0"/>
                <a:ea typeface="思源黑体 CN" pitchFamily="34" charset="-122"/>
                <a:cs typeface="思源黑体 CN" pitchFamily="34" charset="-120"/>
              </a:endParaRPr>
            </a:p>
          </p:txBody>
        </p:sp>
      </p:grpSp>
      <p:pic>
        <p:nvPicPr>
          <p:cNvPr id="36" name="Image 12" descr="https://test.web.static.jianzeppt.com/ppt-temp-img3/7b752027b34391c7983c2b2f778d3388.png?x-oss-process=image/resize,w_1440,h_800,m_lfit/format,png"/>
          <p:cNvPicPr>
            <a:picLocks noChangeAspect="1"/>
          </p:cNvPicPr>
          <p:nvPr/>
        </p:nvPicPr>
        <p:blipFill>
          <a:blip r:embed="rId10"/>
          <a:stretch>
            <a:fillRect/>
          </a:stretch>
        </p:blipFill>
        <p:spPr>
          <a:xfrm>
            <a:off x="7620000" y="4465320"/>
            <a:ext cx="3657600" cy="1737360"/>
          </a:xfrm>
          <a:prstGeom prst="rect">
            <a:avLst/>
          </a:prstGeom>
        </p:spPr>
      </p:pic>
      <p:pic>
        <p:nvPicPr>
          <p:cNvPr id="40" name="Image 14" descr="https://test.web.static.jianzeppt.com/ppt-temp-img3/7095905191a4ea5838997c71e0adaf2b.png?x-oss-process=image/resize,w_1440,h_800,m_lfit/format,png"/>
          <p:cNvPicPr>
            <a:picLocks noChangeAspect="1"/>
          </p:cNvPicPr>
          <p:nvPr/>
        </p:nvPicPr>
        <p:blipFill>
          <a:blip r:embed="rId11">
            <a:alphaModFix amt="80000"/>
          </a:blip>
          <a:stretch>
            <a:fillRect/>
          </a:stretch>
        </p:blipFill>
        <p:spPr>
          <a:xfrm>
            <a:off x="7399020" y="4312920"/>
            <a:ext cx="4236720" cy="1920240"/>
          </a:xfrm>
          <a:prstGeom prst="rect">
            <a:avLst/>
          </a:prstGeom>
        </p:spPr>
      </p:pic>
      <p:grpSp>
        <p:nvGrpSpPr>
          <p:cNvPr id="43" name="组合 42"/>
          <p:cNvGrpSpPr/>
          <p:nvPr/>
        </p:nvGrpSpPr>
        <p:grpSpPr>
          <a:xfrm>
            <a:off x="7315200" y="1371600"/>
            <a:ext cx="4267200" cy="3537585"/>
            <a:chOff x="11520" y="2160"/>
            <a:chExt cx="6720" cy="5571"/>
          </a:xfrm>
        </p:grpSpPr>
        <p:pic>
          <p:nvPicPr>
            <p:cNvPr id="30"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520" y="2160"/>
              <a:ext cx="6720" cy="4248"/>
            </a:xfrm>
            <a:prstGeom prst="rect">
              <a:avLst/>
            </a:prstGeom>
            <a:effectLst>
              <a:outerShdw blurRad="-2147483648" dist="1935480000" dir="-1" algn="bl" rotWithShape="0">
                <a:srgbClr val="000000">
                  <a:alpha val="1000000000"/>
                </a:srgbClr>
              </a:outerShdw>
            </a:effectLst>
          </p:spPr>
        </p:pic>
        <p:pic>
          <p:nvPicPr>
            <p:cNvPr id="31" name="Image 11"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2000" y="3096"/>
              <a:ext cx="552" cy="672"/>
            </a:xfrm>
            <a:prstGeom prst="rect">
              <a:avLst/>
            </a:prstGeom>
          </p:spPr>
        </p:pic>
        <p:sp>
          <p:nvSpPr>
            <p:cNvPr id="32" name="Text 18"/>
            <p:cNvSpPr/>
            <p:nvPr/>
          </p:nvSpPr>
          <p:spPr>
            <a:xfrm>
              <a:off x="12144" y="3144"/>
              <a:ext cx="254" cy="576"/>
            </a:xfrm>
            <a:prstGeom prst="rect">
              <a:avLst/>
            </a:prstGeom>
            <a:noFill/>
          </p:spPr>
          <p:txBody>
            <a:bodyPr wrap="none" lIns="0" tIns="0" rIns="0" bIns="0" rtlCol="0" anchor="ctr"/>
            <a:lstStyle/>
            <a:p>
              <a:pPr marL="0" indent="0" algn="ctr">
                <a:lnSpc>
                  <a:spcPct val="150000"/>
                </a:lnSpc>
                <a:buNone/>
              </a:pPr>
              <a:r>
                <a:rPr lang="en-US" sz="1600" b="1" dirty="0">
                  <a:solidFill>
                    <a:srgbClr val="143966"/>
                  </a:solidFill>
                  <a:latin typeface="思源黑体 CN Bold" pitchFamily="34" charset="0"/>
                  <a:ea typeface="思源黑体 CN Bold" pitchFamily="34" charset="-122"/>
                  <a:cs typeface="思源黑体 CN Bold" pitchFamily="34" charset="-120"/>
                </a:rPr>
                <a:t>3</a:t>
              </a:r>
              <a:endParaRPr lang="en-US" sz="1600" b="1" dirty="0">
                <a:solidFill>
                  <a:srgbClr val="143966"/>
                </a:solidFill>
                <a:latin typeface="思源黑体 CN Bold" pitchFamily="34" charset="0"/>
                <a:ea typeface="思源黑体 CN Bold" pitchFamily="34" charset="-122"/>
                <a:cs typeface="思源黑体 CN Bold" pitchFamily="34" charset="-120"/>
              </a:endParaRPr>
            </a:p>
          </p:txBody>
        </p:sp>
        <p:sp>
          <p:nvSpPr>
            <p:cNvPr id="33" name="Text 19"/>
            <p:cNvSpPr/>
            <p:nvPr/>
          </p:nvSpPr>
          <p:spPr>
            <a:xfrm>
              <a:off x="12720" y="3069"/>
              <a:ext cx="4790" cy="727"/>
            </a:xfrm>
            <a:prstGeom prst="rect">
              <a:avLst/>
            </a:prstGeom>
            <a:noFill/>
          </p:spPr>
          <p:txBody>
            <a:bodyPr wrap="square" lIns="0" tIns="0" rIns="0" bIns="0" rtlCol="0" anchor="ctr">
              <a:spAutoFit/>
            </a:bodyPr>
            <a:lstStyle/>
            <a:p>
              <a:pPr marL="0" indent="0" algn="l">
                <a:lnSpc>
                  <a:spcPct val="150000"/>
                </a:lnSpc>
                <a:buNone/>
              </a:pPr>
              <a:r>
                <a:rPr lang="en-US" sz="2000" b="1" dirty="0">
                  <a:solidFill>
                    <a:srgbClr val="FFFFFF"/>
                  </a:solidFill>
                  <a:latin typeface="思源黑体 CN Bold" pitchFamily="34" charset="0"/>
                  <a:ea typeface="思源黑体 CN Bold" pitchFamily="34" charset="-122"/>
                  <a:cs typeface="思源黑体 CN Bold" pitchFamily="34" charset="-120"/>
                </a:rPr>
                <a:t>手动命令（兜底复核）</a:t>
              </a:r>
              <a:endParaRPr lang="en-US" sz="2000" b="1" dirty="0">
                <a:solidFill>
                  <a:srgbClr val="FFFFFF"/>
                </a:solidFill>
                <a:latin typeface="思源黑体 CN Bold" pitchFamily="34" charset="0"/>
                <a:ea typeface="思源黑体 CN Bold" pitchFamily="34" charset="-122"/>
                <a:cs typeface="思源黑体 CN Bold" pitchFamily="34" charset="-120"/>
              </a:endParaRPr>
            </a:p>
          </p:txBody>
        </p:sp>
        <p:sp>
          <p:nvSpPr>
            <p:cNvPr id="34" name="Text 20"/>
            <p:cNvSpPr/>
            <p:nvPr/>
          </p:nvSpPr>
          <p:spPr>
            <a:xfrm>
              <a:off x="12720" y="3943"/>
              <a:ext cx="3762" cy="387"/>
            </a:xfrm>
            <a:prstGeom prst="rect">
              <a:avLst/>
            </a:prstGeom>
            <a:noFill/>
          </p:spPr>
          <p:txBody>
            <a:bodyPr wrap="none" lIns="0" tIns="0" rIns="0" bIns="0" rtlCol="0" anchor="t">
              <a:spAutoFit/>
            </a:bodyPr>
            <a:lstStyle/>
            <a:p>
              <a:pPr marL="0" indent="0" algn="l">
                <a:lnSpc>
                  <a:spcPct val="100000"/>
                </a:lnSpc>
                <a:buNone/>
              </a:pPr>
              <a:r>
                <a:rPr lang="en-US" sz="1600" b="1" dirty="0">
                  <a:solidFill>
                    <a:srgbClr val="FFE400"/>
                  </a:solidFill>
                  <a:latin typeface="思源黑体 CN Bold" pitchFamily="34" charset="0"/>
                  <a:ea typeface="思源黑体 CN Bold" pitchFamily="34" charset="-122"/>
                  <a:cs typeface="思源黑体 CN Bold" pitchFamily="34" charset="-120"/>
                </a:rPr>
                <a:t>平台截图 ≠ 结论</a:t>
              </a:r>
              <a:endParaRPr lang="en-US" sz="1600" b="1" dirty="0">
                <a:solidFill>
                  <a:srgbClr val="FFE400"/>
                </a:solidFill>
                <a:latin typeface="思源黑体 CN Bold" pitchFamily="34" charset="0"/>
                <a:ea typeface="思源黑体 CN Bold" pitchFamily="34" charset="-122"/>
                <a:cs typeface="思源黑体 CN Bold" pitchFamily="34" charset="-120"/>
              </a:endParaRPr>
            </a:p>
          </p:txBody>
        </p:sp>
        <p:sp>
          <p:nvSpPr>
            <p:cNvPr id="35" name="Text 21"/>
            <p:cNvSpPr/>
            <p:nvPr/>
          </p:nvSpPr>
          <p:spPr>
            <a:xfrm>
              <a:off x="12000" y="4674"/>
              <a:ext cx="5774" cy="1240"/>
            </a:xfrm>
            <a:prstGeom prst="rect">
              <a:avLst/>
            </a:prstGeom>
            <a:noFill/>
          </p:spPr>
          <p:txBody>
            <a:bodyPr wrap="square" lIns="0" tIns="0" rIns="0" bIns="0" rtlCol="0" anchor="t">
              <a:spAutoFit/>
            </a:bodyPr>
            <a:lstStyle/>
            <a:p>
              <a:pPr marL="0" indent="0" algn="l">
                <a:lnSpc>
                  <a:spcPct val="160000"/>
                </a:lnSpc>
                <a:buNone/>
              </a:pPr>
              <a:r>
                <a:rPr lang="en-US" sz="1600" dirty="0">
                  <a:solidFill>
                    <a:srgbClr val="000000"/>
                  </a:solidFill>
                  <a:highlight>
                    <a:srgbClr val="FFFF00"/>
                  </a:highlight>
                  <a:latin typeface="思源黑体 CN" pitchFamily="34" charset="0"/>
                  <a:ea typeface="思源黑体 CN" pitchFamily="34" charset="-122"/>
                  <a:cs typeface="思源黑体 CN" pitchFamily="34" charset="-120"/>
                </a:rPr>
                <a:t>命令回显看得懂，才能在平台截图对不上时自己复核</a:t>
              </a:r>
              <a:endParaRPr lang="en-US" sz="1600" dirty="0">
                <a:solidFill>
                  <a:srgbClr val="000000"/>
                </a:solidFill>
                <a:highlight>
                  <a:srgbClr val="FFFF00"/>
                </a:highlight>
                <a:latin typeface="思源黑体 CN" pitchFamily="34" charset="0"/>
                <a:ea typeface="思源黑体 CN" pitchFamily="34" charset="-122"/>
                <a:cs typeface="思源黑体 CN" pitchFamily="34" charset="-120"/>
              </a:endParaRPr>
            </a:p>
          </p:txBody>
        </p:sp>
        <p:sp>
          <p:nvSpPr>
            <p:cNvPr id="37" name="Text 22"/>
            <p:cNvSpPr/>
            <p:nvPr/>
          </p:nvSpPr>
          <p:spPr>
            <a:xfrm>
              <a:off x="12312" y="7344"/>
              <a:ext cx="1610" cy="387"/>
            </a:xfrm>
            <a:prstGeom prst="rect">
              <a:avLst/>
            </a:prstGeom>
            <a:noFill/>
          </p:spPr>
          <p:txBody>
            <a:bodyPr wrap="none" lIns="0" tIns="0" rIns="0" bIns="0" rtlCol="0" anchor="t">
              <a:spAutoFit/>
            </a:bodyPr>
            <a:lstStyle/>
            <a:p>
              <a:pPr marL="0" indent="0" algn="l">
                <a:lnSpc>
                  <a:spcPct val="100000"/>
                </a:lnSpc>
                <a:buNone/>
              </a:pPr>
              <a:r>
                <a:rPr lang="en-US" sz="1600" b="1" dirty="0">
                  <a:solidFill>
                    <a:schemeClr val="bg1"/>
                  </a:solidFill>
                  <a:latin typeface="思源黑体 CN Bold" pitchFamily="34" charset="0"/>
                  <a:ea typeface="思源黑体 CN Bold" pitchFamily="34" charset="-122"/>
                  <a:cs typeface="思源黑体 CN Bold" pitchFamily="34" charset="-120"/>
                </a:rPr>
                <a:t>记住一句：</a:t>
              </a:r>
              <a:endParaRPr lang="en-US" sz="1600" b="1" dirty="0">
                <a:solidFill>
                  <a:schemeClr val="bg1"/>
                </a:solidFill>
                <a:latin typeface="思源黑体 CN Bold" pitchFamily="34" charset="0"/>
                <a:ea typeface="思源黑体 CN Bold" pitchFamily="34" charset="-122"/>
                <a:cs typeface="思源黑体 CN Bold" pitchFamily="34" charset="-120"/>
              </a:endParaRPr>
            </a:p>
          </p:txBody>
        </p:sp>
      </p:grpSp>
      <p:sp>
        <p:nvSpPr>
          <p:cNvPr id="38" name="Text 23"/>
          <p:cNvSpPr/>
          <p:nvPr/>
        </p:nvSpPr>
        <p:spPr>
          <a:xfrm>
            <a:off x="7848600" y="5034915"/>
            <a:ext cx="3270504" cy="688340"/>
          </a:xfrm>
          <a:prstGeom prst="rect">
            <a:avLst/>
          </a:prstGeom>
          <a:noFill/>
        </p:spPr>
        <p:txBody>
          <a:bodyPr wrap="square" lIns="0" tIns="0" rIns="0" bIns="0" rtlCol="0" anchor="t">
            <a:spAutoFit/>
          </a:bodyPr>
          <a:lstStyle/>
          <a:p>
            <a:pPr marL="0" indent="0" algn="l">
              <a:lnSpc>
                <a:spcPct val="160000"/>
              </a:lnSpc>
              <a:buNone/>
            </a:pPr>
            <a:r>
              <a:rPr lang="en-US" sz="1400" dirty="0">
                <a:solidFill>
                  <a:schemeClr val="bg1"/>
                </a:solidFill>
                <a:latin typeface="思源黑体 CN" pitchFamily="34" charset="0"/>
                <a:ea typeface="思源黑体 CN" pitchFamily="34" charset="-122"/>
                <a:cs typeface="思源黑体 CN" pitchFamily="34" charset="-120"/>
              </a:rPr>
              <a:t>西普出证据 + JSecProbe 出结论 = 一份站得住的记录表。</a:t>
            </a:r>
            <a:endParaRPr lang="en-US" sz="1400" dirty="0">
              <a:solidFill>
                <a:schemeClr val="bg1"/>
              </a:solidFill>
              <a:latin typeface="思源黑体 CN" pitchFamily="34" charset="0"/>
              <a:ea typeface="思源黑体 CN" pitchFamily="34" charset="-122"/>
              <a:cs typeface="思源黑体 CN" pitchFamily="34" charset="-120"/>
            </a:endParaRPr>
          </a:p>
        </p:txBody>
      </p:sp>
      <p:pic>
        <p:nvPicPr>
          <p:cNvPr id="39" name="Image 13" descr="https://test.web.static.jianzeppt.com/ppt-temp-img3/07d933625e0cf10405122b1cb9bda619.png?x-oss-process=image/resize,w_1440,h_800,m_lfit/format,png"/>
          <p:cNvPicPr>
            <a:picLocks noChangeAspect="1"/>
          </p:cNvPicPr>
          <p:nvPr/>
        </p:nvPicPr>
        <p:blipFill>
          <a:blip r:embed="rId16"/>
          <a:stretch>
            <a:fillRect/>
          </a:stretch>
        </p:blipFill>
        <p:spPr>
          <a:xfrm>
            <a:off x="7368540" y="2842895"/>
            <a:ext cx="4267200" cy="1950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Part.03</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动手实验——西普真机取证 + JSecProbe 判定</a:t>
            </a:r>
            <a:endParaRPr lang="en-US" sz="52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两套环境怎么配合</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2316480"/>
          </a:xfrm>
          <a:prstGeom prst="rect">
            <a:avLst/>
          </a:prstGeom>
          <a:effectLst>
            <a:outerShdw blurRad="387096000" dist="193548000" dir="-1" algn="bl" rotWithShape="0">
              <a:srgbClr val="000000">
                <a:alpha val="500000000"/>
              </a:srgbClr>
            </a:outerShdw>
          </a:effectLst>
        </p:spPr>
      </p:pic>
      <p:sp>
        <p:nvSpPr>
          <p:cNvPr id="7" name="Text 1"/>
          <p:cNvSpPr/>
          <p:nvPr/>
        </p:nvSpPr>
        <p:spPr>
          <a:xfrm>
            <a:off x="868680" y="1630680"/>
            <a:ext cx="2540000" cy="245745"/>
          </a:xfrm>
          <a:prstGeom prst="rect">
            <a:avLst/>
          </a:prstGeom>
          <a:noFill/>
        </p:spPr>
        <p:txBody>
          <a:bodyPr wrap="none" lIns="0" tIns="0" rIns="0" bIns="0" rtlCol="0" anchor="t">
            <a:spAutoFit/>
          </a:bodyPr>
          <a:lstStyle/>
          <a:p>
            <a:pPr marL="0" indent="0" algn="l">
              <a:lnSpc>
                <a:spcPct val="100000"/>
              </a:lnSpc>
              <a:buNone/>
            </a:pPr>
            <a:r>
              <a:rPr lang="en-US" sz="1600" dirty="0">
                <a:solidFill>
                  <a:srgbClr val="143966"/>
                </a:solidFill>
                <a:latin typeface="思源黑体 CN Bold" pitchFamily="34" charset="0"/>
                <a:ea typeface="思源黑体 CN Bold" pitchFamily="34" charset="-122"/>
                <a:cs typeface="思源黑体 CN Bold" pitchFamily="34" charset="-120"/>
              </a:rPr>
              <a:t>① 西普实验平台：负责取证</a:t>
            </a:r>
            <a:endParaRPr lang="en-US" sz="1600" dirty="0">
              <a:solidFill>
                <a:srgbClr val="143966"/>
              </a:solidFill>
              <a:latin typeface="思源黑体 CN Bold" pitchFamily="34" charset="0"/>
              <a:ea typeface="思源黑体 CN Bold" pitchFamily="34" charset="-122"/>
              <a:cs typeface="思源黑体 CN Bold" pitchFamily="34" charset="-120"/>
            </a:endParaRPr>
          </a:p>
        </p:txBody>
      </p:sp>
      <p:graphicFrame>
        <p:nvGraphicFramePr>
          <p:cNvPr id="16" name="Table 0"/>
          <p:cNvGraphicFramePr>
            <a:graphicFrameLocks noGrp="1"/>
          </p:cNvGraphicFramePr>
          <p:nvPr/>
        </p:nvGraphicFramePr>
        <p:xfrm>
          <a:off x="3514725" y="1505585"/>
          <a:ext cx="8044815" cy="1953260"/>
        </p:xfrm>
        <a:graphic>
          <a:graphicData uri="http://schemas.openxmlformats.org/drawingml/2006/table">
            <a:tbl>
              <a:tblPr/>
              <a:tblGrid>
                <a:gridCol w="1166495"/>
                <a:gridCol w="6878320"/>
              </a:tblGrid>
              <a:tr h="415290">
                <a:tc>
                  <a:txBody>
                    <a:bodyPr/>
                    <a:lstStyle/>
                    <a:p>
                      <a:pPr marL="0" indent="0" algn="ctr">
                        <a:buNone/>
                      </a:pPr>
                      <a:r>
                        <a:rPr lang="en-US" sz="1200" b="1" dirty="0">
                          <a:solidFill>
                            <a:srgbClr val="000000"/>
                          </a:solidFill>
                        </a:rPr>
                        <a:t>要素</a:t>
                      </a:r>
                      <a:endParaRPr lang="en-US" sz="1200" b="1"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00000"/>
                          </a:solidFill>
                        </a:rPr>
                        <a:t>内容</a:t>
                      </a:r>
                      <a:endParaRPr lang="en-US" sz="1200" b="1"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63220">
                <a:tc>
                  <a:txBody>
                    <a:bodyPr/>
                    <a:lstStyle/>
                    <a:p>
                      <a:pPr marL="0" indent="0" algn="ctr">
                        <a:buNone/>
                      </a:pPr>
                      <a:r>
                        <a:rPr lang="en-US" sz="1200" dirty="0">
                          <a:solidFill>
                            <a:srgbClr val="000000"/>
                          </a:solidFill>
                        </a:rPr>
                        <a:t>平台地址</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http://10.11.0.70（校园网内访问）</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256540">
                <a:tc>
                  <a:txBody>
                    <a:bodyPr/>
                    <a:lstStyle/>
                    <a:p>
                      <a:pPr marL="0" indent="0" algn="ctr">
                        <a:buNone/>
                      </a:pPr>
                      <a:r>
                        <a:rPr lang="en-US" sz="1200" dirty="0">
                          <a:solidFill>
                            <a:srgbClr val="000000"/>
                          </a:solidFill>
                        </a:rPr>
                        <a:t>登录账号</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本人 11 位学号；初始密码 = 学号 + 1q2w（如 20230101001 / 202301010011q2w）</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26720">
                <a:tc>
                  <a:txBody>
                    <a:bodyPr/>
                    <a:lstStyle/>
                    <a:p>
                      <a:pPr marL="0" indent="0" algn="ctr">
                        <a:buNone/>
                      </a:pPr>
                      <a:r>
                        <a:rPr lang="en-US" sz="1200" dirty="0">
                          <a:solidFill>
                            <a:srgbClr val="000000"/>
                          </a:solidFill>
                        </a:rPr>
                        <a:t>实验路径</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「主机设备基线核查」→「Windows / Linux 系统安全评测」→ 选实验 → 启动虚拟机</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26720">
                <a:tc>
                  <a:txBody>
                    <a:bodyPr/>
                    <a:lstStyle/>
                    <a:p>
                      <a:pPr marL="0" indent="0" algn="ctr">
                        <a:buNone/>
                      </a:pPr>
                      <a:r>
                        <a:rPr lang="en-US" sz="1200" dirty="0">
                          <a:solidFill>
                            <a:srgbClr val="000000"/>
                          </a:solidFill>
                        </a:rPr>
                        <a:t>你要拿到</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每条核查项的配置界面或命令回显截图，画面里要能看清主机名、路径或命令</a:t>
                      </a:r>
                      <a:endParaRPr lang="en-US" sz="1200" dirty="0">
                        <a:solidFill>
                          <a:srgbClr val="000000"/>
                        </a:solidFill>
                      </a:endParaRPr>
                    </a:p>
                  </a:txBody>
                  <a:tcPr marL="69112" marR="69112" marT="69112" marB="691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9"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931920"/>
            <a:ext cx="10972800" cy="2316480"/>
          </a:xfrm>
          <a:prstGeom prst="rect">
            <a:avLst/>
          </a:prstGeom>
          <a:effectLst>
            <a:outerShdw blurRad="387096000" dist="193548000" dir="-1" algn="bl" rotWithShape="0">
              <a:srgbClr val="000000">
                <a:alpha val="500000000"/>
              </a:srgbClr>
            </a:outerShdw>
          </a:effectLst>
        </p:spPr>
      </p:pic>
      <p:sp>
        <p:nvSpPr>
          <p:cNvPr id="10" name="Text 2"/>
          <p:cNvSpPr/>
          <p:nvPr/>
        </p:nvSpPr>
        <p:spPr>
          <a:xfrm>
            <a:off x="868680" y="4191000"/>
            <a:ext cx="2844800" cy="245745"/>
          </a:xfrm>
          <a:prstGeom prst="rect">
            <a:avLst/>
          </a:prstGeom>
          <a:noFill/>
        </p:spPr>
        <p:txBody>
          <a:bodyPr wrap="none" lIns="0" tIns="0" rIns="0" bIns="0" rtlCol="0" anchor="t">
            <a:spAutoFit/>
          </a:bodyPr>
          <a:lstStyle/>
          <a:p>
            <a:pPr marL="0" indent="0" algn="l">
              <a:lnSpc>
                <a:spcPct val="100000"/>
              </a:lnSpc>
              <a:buNone/>
            </a:pPr>
            <a:r>
              <a:rPr lang="en-US" sz="1600" dirty="0">
                <a:solidFill>
                  <a:srgbClr val="143966"/>
                </a:solidFill>
                <a:latin typeface="思源黑体 CN Bold" pitchFamily="34" charset="0"/>
                <a:ea typeface="思源黑体 CN Bold" pitchFamily="34" charset="-122"/>
                <a:cs typeface="思源黑体 CN Bold" pitchFamily="34" charset="-120"/>
              </a:rPr>
              <a:t>② JSecProbe：负责判定与出表</a:t>
            </a:r>
            <a:endParaRPr lang="en-US" sz="1600" dirty="0">
              <a:solidFill>
                <a:srgbClr val="143966"/>
              </a:solidFill>
              <a:latin typeface="思源黑体 CN Bold" pitchFamily="34" charset="0"/>
              <a:ea typeface="思源黑体 CN Bold" pitchFamily="34" charset="-122"/>
              <a:cs typeface="思源黑体 CN Bold" pitchFamily="34" charset="-120"/>
            </a:endParaRPr>
          </a:p>
        </p:txBody>
      </p:sp>
      <p:graphicFrame>
        <p:nvGraphicFramePr>
          <p:cNvPr id="31" name="Table 1"/>
          <p:cNvGraphicFramePr>
            <a:graphicFrameLocks noGrp="1"/>
          </p:cNvGraphicFramePr>
          <p:nvPr/>
        </p:nvGraphicFramePr>
        <p:xfrm>
          <a:off x="2644775" y="4511675"/>
          <a:ext cx="8068945" cy="1571625"/>
        </p:xfrm>
        <a:graphic>
          <a:graphicData uri="http://schemas.openxmlformats.org/drawingml/2006/table">
            <a:tbl>
              <a:tblPr/>
              <a:tblGrid>
                <a:gridCol w="552450"/>
                <a:gridCol w="5622925"/>
                <a:gridCol w="1893570"/>
              </a:tblGrid>
              <a:tr h="314325">
                <a:tc>
                  <a:txBody>
                    <a:bodyPr/>
                    <a:lstStyle/>
                    <a:p>
                      <a:pPr marL="0" indent="0" algn="ctr">
                        <a:buNone/>
                      </a:pPr>
                      <a:r>
                        <a:rPr lang="en-US" sz="1000" dirty="0">
                          <a:solidFill>
                            <a:srgbClr val="000000"/>
                          </a:solidFill>
                        </a:rPr>
                        <a:t>步骤</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做什么</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产出</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14325">
                <a:tc>
                  <a:txBody>
                    <a:bodyPr/>
                    <a:lstStyle/>
                    <a:p>
                      <a:pPr marL="0" indent="0" algn="ctr">
                        <a:buNone/>
                      </a:pPr>
                      <a:r>
                        <a:rPr lang="en-US" sz="1000" dirty="0">
                          <a:solidFill>
                            <a:srgbClr val="000000"/>
                          </a:solidFill>
                        </a:rPr>
                        <a:t>1</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打开本项目 →「现场核查」→ 安全计算环境 → 主机/服务器</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本轮的待核查指标清单</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14325">
                <a:tc>
                  <a:txBody>
                    <a:bodyPr/>
                    <a:lstStyle/>
                    <a:p>
                      <a:pPr marL="0" indent="0" algn="ctr">
                        <a:buNone/>
                      </a:pPr>
                      <a:r>
                        <a:rPr lang="en-US" sz="1000" dirty="0">
                          <a:solidFill>
                            <a:srgbClr val="000000"/>
                          </a:solidFill>
                        </a:rPr>
                        <a:t>2</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把西普上查到的实测值逐条录入（如"密码长度最小值 = 6"）</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带证据编号的核查记录</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14325">
                <a:tc>
                  <a:txBody>
                    <a:bodyPr/>
                    <a:lstStyle/>
                    <a:p>
                      <a:pPr marL="0" indent="0" algn="ctr">
                        <a:buNone/>
                      </a:pPr>
                      <a:r>
                        <a:rPr lang="en-US" sz="1000" dirty="0">
                          <a:solidFill>
                            <a:srgbClr val="000000"/>
                          </a:solidFill>
                        </a:rPr>
                        <a:t>3</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对照基线做四档判定：符合 / 部分符合 / 不符合 / 不适用</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逐项判定结果</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14325">
                <a:tc>
                  <a:txBody>
                    <a:bodyPr/>
                    <a:lstStyle/>
                    <a:p>
                      <a:pPr marL="0" indent="0" algn="ctr">
                        <a:buNone/>
                      </a:pPr>
                      <a:r>
                        <a:rPr lang="en-US" sz="1000" dirty="0">
                          <a:solidFill>
                            <a:srgbClr val="000000"/>
                          </a:solidFill>
                        </a:rPr>
                        <a:t>4</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导出《主机安全测评记录表》，补齐问题描述与整改建议</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rPr>
                        <a:t>可直接提交的记录表</a:t>
                      </a:r>
                      <a:endParaRPr lang="en-US" sz="1000" dirty="0">
                        <a:solidFill>
                          <a:srgbClr val="000000"/>
                        </a:solidFill>
                      </a:endParaRPr>
                    </a:p>
                  </a:txBody>
                  <a:tcPr marL="55375" marR="55375" marT="55375" marB="55375"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8" name="对象 7">
            <a:hlinkClick r:id="" action="ppaction://ole?verb="/>
          </p:cNvPr>
          <p:cNvGraphicFramePr>
            <a:graphicFrameLocks noChangeAspect="1"/>
          </p:cNvGraphicFramePr>
          <p:nvPr/>
        </p:nvGraphicFramePr>
        <p:xfrm>
          <a:off x="4721225" y="412750"/>
          <a:ext cx="971550" cy="666750"/>
        </p:xfrm>
        <a:graphic>
          <a:graphicData uri="http://schemas.openxmlformats.org/presentationml/2006/ole">
            <mc:AlternateContent xmlns:mc="http://schemas.openxmlformats.org/markup-compatibility/2006">
              <mc:Choice xmlns:v="urn:schemas-microsoft-com:vml" Requires="v">
                <p:oleObj spid="_x0000_s3073" name="" showAsIcon="1" r:id="rId6" imgW="971550" imgH="666750" progId="Word.Document.12">
                  <p:embed/>
                </p:oleObj>
              </mc:Choice>
              <mc:Fallback>
                <p:oleObj name="" showAsIcon="1" r:id="rId6" imgW="971550" imgH="666750" progId="Word.Document.12">
                  <p:embed/>
                  <p:pic>
                    <p:nvPicPr>
                      <p:cNvPr id="0" name="图片 3072"/>
                      <p:cNvPicPr/>
                      <p:nvPr/>
                    </p:nvPicPr>
                    <p:blipFill>
                      <a:blip r:embed="rId7"/>
                      <a:stretch>
                        <a:fillRect/>
                      </a:stretch>
                    </p:blipFill>
                    <p:spPr>
                      <a:xfrm>
                        <a:off x="4721225" y="412750"/>
                        <a:ext cx="971550" cy="66675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本讲实验：主机安全基线核查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4023360"/>
          </a:xfrm>
          <a:prstGeom prst="rect">
            <a:avLst/>
          </a:prstGeom>
          <a:effectLst>
            <a:outerShdw blurRad="387096000" dist="193548000" dir="-1" algn="bl" rotWithShape="0">
              <a:srgbClr val="000000">
                <a:alpha val="500000000"/>
              </a:srgbClr>
            </a:outerShdw>
          </a:effectLst>
        </p:spPr>
      </p:pic>
      <p:pic>
        <p:nvPicPr>
          <p:cNvPr id="7" name="Image 4" descr="https://test.web.static.jianzeppt.com/ppt-temp-img3/b54040247a8bf7eecc48b65fabd2d0a2.png?x-oss-process=image/resize,w_1440,h_800,m_lfit/format,png"/>
          <p:cNvPicPr>
            <a:picLocks noChangeAspect="1"/>
          </p:cNvPicPr>
          <p:nvPr/>
        </p:nvPicPr>
        <p:blipFill>
          <a:blip r:embed="rId6"/>
          <a:stretch>
            <a:fillRect/>
          </a:stretch>
        </p:blipFill>
        <p:spPr>
          <a:xfrm>
            <a:off x="624840" y="1386840"/>
            <a:ext cx="10942320" cy="563880"/>
          </a:xfrm>
          <a:prstGeom prst="rect">
            <a:avLst/>
          </a:prstGeom>
        </p:spPr>
      </p:pic>
      <p:sp>
        <p:nvSpPr>
          <p:cNvPr id="8" name="Text 1"/>
          <p:cNvSpPr/>
          <p:nvPr/>
        </p:nvSpPr>
        <p:spPr>
          <a:xfrm>
            <a:off x="80772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要素</a:t>
            </a:r>
            <a:endParaRPr lang="en-US" sz="1920" dirty="0"/>
          </a:p>
        </p:txBody>
      </p:sp>
      <p:pic>
        <p:nvPicPr>
          <p:cNvPr id="9" name="Image 5" descr="https://test.web.static.jianzeppt.com/ppt-temp-img3/2c359c76743aabf648ceba022ec8dc96.png?x-oss-process=image/resize,w_1440,h_800,m_lfit/format,png"/>
          <p:cNvPicPr>
            <a:picLocks noChangeAspect="1"/>
          </p:cNvPicPr>
          <p:nvPr/>
        </p:nvPicPr>
        <p:blipFill>
          <a:blip r:embed="rId7"/>
          <a:stretch>
            <a:fillRect/>
          </a:stretch>
        </p:blipFill>
        <p:spPr>
          <a:xfrm>
            <a:off x="624840" y="1943100"/>
            <a:ext cx="2188312" cy="15240"/>
          </a:xfrm>
          <a:prstGeom prst="rect">
            <a:avLst/>
          </a:prstGeom>
        </p:spPr>
      </p:pic>
      <p:sp>
        <p:nvSpPr>
          <p:cNvPr id="10" name="Text 2"/>
          <p:cNvSpPr/>
          <p:nvPr/>
        </p:nvSpPr>
        <p:spPr>
          <a:xfrm>
            <a:off x="300228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内容</a:t>
            </a:r>
            <a:endParaRPr lang="en-US" sz="1920" dirty="0"/>
          </a:p>
        </p:txBody>
      </p:sp>
      <p:pic>
        <p:nvPicPr>
          <p:cNvPr id="11" name="Image 6" descr="https://test.web.static.jianzeppt.com/ppt-temp-img3/c4f68d3066b082dace6fd1ac92d24d2f.png?x-oss-process=image/resize,w_1440,h_800,m_lfit/format,png"/>
          <p:cNvPicPr>
            <a:picLocks noChangeAspect="1"/>
          </p:cNvPicPr>
          <p:nvPr/>
        </p:nvPicPr>
        <p:blipFill>
          <a:blip r:embed="rId8"/>
          <a:stretch>
            <a:fillRect/>
          </a:stretch>
        </p:blipFill>
        <p:spPr>
          <a:xfrm>
            <a:off x="2813152" y="1943100"/>
            <a:ext cx="8754008" cy="15240"/>
          </a:xfrm>
          <a:prstGeom prst="rect">
            <a:avLst/>
          </a:prstGeom>
        </p:spPr>
      </p:pic>
      <p:pic>
        <p:nvPicPr>
          <p:cNvPr id="12" name="Image 7" descr="https://test.web.static.jianzeppt.com/ppt-temp-img3/f24fa1283387ad1306817eda4e33a599.png?x-oss-process=image/resize,w_1440,h_800,m_lfit/format,png"/>
          <p:cNvPicPr>
            <a:picLocks noChangeAspect="1"/>
          </p:cNvPicPr>
          <p:nvPr/>
        </p:nvPicPr>
        <p:blipFill>
          <a:blip r:embed="rId9"/>
          <a:stretch>
            <a:fillRect/>
          </a:stretch>
        </p:blipFill>
        <p:spPr>
          <a:xfrm>
            <a:off x="624840" y="1950720"/>
            <a:ext cx="10942320" cy="472440"/>
          </a:xfrm>
          <a:prstGeom prst="rect">
            <a:avLst/>
          </a:prstGeom>
        </p:spPr>
      </p:pic>
      <p:sp>
        <p:nvSpPr>
          <p:cNvPr id="13" name="Text 3"/>
          <p:cNvSpPr/>
          <p:nvPr/>
        </p:nvSpPr>
        <p:spPr>
          <a:xfrm>
            <a:off x="807720" y="20421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实验名称</a:t>
            </a:r>
            <a:endParaRPr lang="en-US" sz="1680" dirty="0"/>
          </a:p>
        </p:txBody>
      </p:sp>
      <p:sp>
        <p:nvSpPr>
          <p:cNvPr id="14" name="Text 4"/>
          <p:cNvSpPr/>
          <p:nvPr/>
        </p:nvSpPr>
        <p:spPr>
          <a:xfrm>
            <a:off x="3002280" y="204216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主机安全基线核查——西普取证 + JSecProbe 判定</a:t>
            </a:r>
            <a:endParaRPr lang="en-US" sz="1680" dirty="0"/>
          </a:p>
        </p:txBody>
      </p:sp>
      <p:pic>
        <p:nvPicPr>
          <p:cNvPr id="15" name="Image 8"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407920"/>
            <a:ext cx="10942320" cy="15240"/>
          </a:xfrm>
          <a:prstGeom prst="rect">
            <a:avLst/>
          </a:prstGeom>
        </p:spPr>
      </p:pic>
      <p:sp>
        <p:nvSpPr>
          <p:cNvPr id="16" name="Text 5"/>
          <p:cNvSpPr/>
          <p:nvPr/>
        </p:nvSpPr>
        <p:spPr>
          <a:xfrm>
            <a:off x="807720" y="24993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实验环境</a:t>
            </a:r>
            <a:endParaRPr lang="en-US" sz="1680" dirty="0"/>
          </a:p>
        </p:txBody>
      </p:sp>
      <p:sp>
        <p:nvSpPr>
          <p:cNvPr id="17" name="Text 6"/>
          <p:cNvSpPr/>
          <p:nvPr/>
        </p:nvSpPr>
        <p:spPr>
          <a:xfrm>
            <a:off x="3002280" y="249936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西普实验平台（10.11.0.70）Win/Linux 虚拟机 + 本机 JSecProbe V2.0.3 测评项目</a:t>
            </a:r>
            <a:endParaRPr lang="en-US" sz="1680" dirty="0"/>
          </a:p>
        </p:txBody>
      </p:sp>
      <p:pic>
        <p:nvPicPr>
          <p:cNvPr id="18" name="Image 9"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872740"/>
            <a:ext cx="10942320" cy="15240"/>
          </a:xfrm>
          <a:prstGeom prst="rect">
            <a:avLst/>
          </a:prstGeom>
        </p:spPr>
      </p:pic>
      <p:pic>
        <p:nvPicPr>
          <p:cNvPr id="19" name="Image 10" descr="https://test.web.static.jianzeppt.com/ppt-temp-img3/509e1eef55ee571b85000ff775c9634f.png?x-oss-process=image/resize,w_1440,h_800,m_lfit/format,png"/>
          <p:cNvPicPr>
            <a:picLocks noChangeAspect="1"/>
          </p:cNvPicPr>
          <p:nvPr/>
        </p:nvPicPr>
        <p:blipFill>
          <a:blip r:embed="rId11"/>
          <a:stretch>
            <a:fillRect/>
          </a:stretch>
        </p:blipFill>
        <p:spPr>
          <a:xfrm>
            <a:off x="624840" y="2880360"/>
            <a:ext cx="10942320" cy="1127760"/>
          </a:xfrm>
          <a:prstGeom prst="rect">
            <a:avLst/>
          </a:prstGeom>
        </p:spPr>
      </p:pic>
      <p:sp>
        <p:nvSpPr>
          <p:cNvPr id="20" name="Text 7"/>
          <p:cNvSpPr/>
          <p:nvPr/>
        </p:nvSpPr>
        <p:spPr>
          <a:xfrm>
            <a:off x="807720" y="2971800"/>
            <a:ext cx="1837944" cy="944880"/>
          </a:xfrm>
          <a:prstGeom prst="rect">
            <a:avLst/>
          </a:prstGeom>
          <a:noFill/>
        </p:spPr>
        <p:txBody>
          <a:bodyPr wrap="none" lIns="0" tIns="0" rIns="0" bIns="0" rtlCol="0" anchor="ct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实验内容</a:t>
            </a:r>
            <a:endParaRPr lang="en-US" sz="1680" dirty="0"/>
          </a:p>
        </p:txBody>
      </p:sp>
      <p:sp>
        <p:nvSpPr>
          <p:cNvPr id="21" name="Text 8"/>
          <p:cNvSpPr/>
          <p:nvPr/>
        </p:nvSpPr>
        <p:spPr>
          <a:xfrm>
            <a:off x="3002280" y="2971800"/>
            <a:ext cx="43434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① 在西普平台选 4 个实验：Windows 线 2 个 + Linux 线 2 个</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2" name="Text 9"/>
          <p:cNvSpPr/>
          <p:nvPr/>
        </p:nvSpPr>
        <p:spPr>
          <a:xfrm>
            <a:off x="7254240" y="2971800"/>
            <a:ext cx="34290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② 在虚拟机里定位配置项、跑命令、逐条截图取证</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3" name="Text 10"/>
          <p:cNvSpPr/>
          <p:nvPr/>
        </p:nvSpPr>
        <p:spPr>
          <a:xfrm>
            <a:off x="3002280" y="3307080"/>
            <a:ext cx="39624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③ 打开 JSecProbe 本项目「现场核查」，逐条录入实测值</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4" name="Text 11"/>
          <p:cNvSpPr/>
          <p:nvPr/>
        </p:nvSpPr>
        <p:spPr>
          <a:xfrm>
            <a:off x="7254240" y="3307080"/>
            <a:ext cx="26670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④ 对照基线做四档判定，标出不符合项</a:t>
            </a:r>
            <a:endParaRPr lang="en-US" sz="1200" dirty="0">
              <a:solidFill>
                <a:srgbClr val="333333"/>
              </a:solidFill>
              <a:latin typeface="思源黑体 CN" pitchFamily="34" charset="0"/>
              <a:ea typeface="思源黑体 CN" pitchFamily="34" charset="-122"/>
              <a:cs typeface="思源黑体 CN" pitchFamily="34" charset="-120"/>
            </a:endParaRPr>
          </a:p>
        </p:txBody>
      </p:sp>
      <p:sp>
        <p:nvSpPr>
          <p:cNvPr id="25" name="Text 12"/>
          <p:cNvSpPr/>
          <p:nvPr/>
        </p:nvSpPr>
        <p:spPr>
          <a:xfrm>
            <a:off x="3002280" y="3627120"/>
            <a:ext cx="3581400" cy="230505"/>
          </a:xfrm>
          <a:prstGeom prst="rect">
            <a:avLst/>
          </a:prstGeom>
          <a:noFill/>
        </p:spPr>
        <p:txBody>
          <a:bodyPr wrap="none" lIns="0" tIns="0" rIns="0" bIns="0" rtlCol="0" anchor="t">
            <a:spAutoFit/>
          </a:bodyPr>
          <a:lstStyle/>
          <a:p>
            <a:pPr marL="0" indent="0" algn="l">
              <a:lnSpc>
                <a:spcPct val="125000"/>
              </a:lnSpc>
              <a:buNone/>
            </a:pPr>
            <a:r>
              <a:rPr lang="en-US" sz="1200" dirty="0">
                <a:solidFill>
                  <a:srgbClr val="333333"/>
                </a:solidFill>
                <a:latin typeface="思源黑体 CN" pitchFamily="34" charset="0"/>
                <a:ea typeface="思源黑体 CN" pitchFamily="34" charset="-122"/>
                <a:cs typeface="思源黑体 CN" pitchFamily="34" charset="-120"/>
              </a:rPr>
              <a:t>⑤ 导出记录表，补齐问题描述与整改建议，课内提交</a:t>
            </a:r>
            <a:endParaRPr lang="en-US" sz="1200" dirty="0">
              <a:solidFill>
                <a:srgbClr val="333333"/>
              </a:solidFill>
              <a:latin typeface="思源黑体 CN" pitchFamily="34" charset="0"/>
              <a:ea typeface="思源黑体 CN" pitchFamily="34" charset="-122"/>
              <a:cs typeface="思源黑体 CN" pitchFamily="34" charset="-120"/>
            </a:endParaRPr>
          </a:p>
        </p:txBody>
      </p:sp>
      <p:pic>
        <p:nvPicPr>
          <p:cNvPr id="26" name="Image 11"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3992880"/>
            <a:ext cx="10942320" cy="15240"/>
          </a:xfrm>
          <a:prstGeom prst="rect">
            <a:avLst/>
          </a:prstGeom>
        </p:spPr>
      </p:pic>
      <p:sp>
        <p:nvSpPr>
          <p:cNvPr id="27" name="Text 13"/>
          <p:cNvSpPr/>
          <p:nvPr/>
        </p:nvSpPr>
        <p:spPr>
          <a:xfrm>
            <a:off x="807720" y="408432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Windows 取证点</a:t>
            </a:r>
            <a:endParaRPr lang="en-US" sz="1680" dirty="0"/>
          </a:p>
        </p:txBody>
      </p:sp>
      <p:sp>
        <p:nvSpPr>
          <p:cNvPr id="28" name="Text 14"/>
          <p:cNvSpPr/>
          <p:nvPr/>
        </p:nvSpPr>
        <p:spPr>
          <a:xfrm>
            <a:off x="3002280" y="4084320"/>
            <a:ext cx="7721600" cy="307340"/>
          </a:xfrm>
          <a:prstGeom prst="rect">
            <a:avLst/>
          </a:prstGeom>
          <a:noFill/>
        </p:spPr>
        <p:txBody>
          <a:bodyPr wrap="none" lIns="0" tIns="0" rIns="0" bIns="0" rtlCol="0" anchor="t">
            <a:spAutoFit/>
          </a:bodyPr>
          <a:lstStyle/>
          <a:p>
            <a:pPr marL="0" indent="0" algn="l">
              <a:lnSpc>
                <a:spcPct val="125000"/>
              </a:lnSpc>
              <a:buNone/>
            </a:pPr>
            <a:r>
              <a:rPr lang="en-US" sz="1600" dirty="0">
                <a:solidFill>
                  <a:srgbClr val="333333"/>
                </a:solidFill>
                <a:latin typeface="思源黑体 CN" pitchFamily="34" charset="0"/>
                <a:ea typeface="思源黑体 CN" pitchFamily="34" charset="-122"/>
                <a:cs typeface="思源黑体 CN" pitchFamily="34" charset="-120"/>
              </a:rPr>
              <a:t>密码策略、账户锁定策略、审核策略、用户账户、默认共享、服务与端口、防病毒软件</a:t>
            </a:r>
            <a:endParaRPr lang="en-US" sz="1600" dirty="0">
              <a:solidFill>
                <a:srgbClr val="333333"/>
              </a:solidFill>
              <a:latin typeface="思源黑体 CN" pitchFamily="34" charset="0"/>
              <a:ea typeface="思源黑体 CN" pitchFamily="34" charset="-122"/>
              <a:cs typeface="思源黑体 CN" pitchFamily="34" charset="-120"/>
            </a:endParaRPr>
          </a:p>
        </p:txBody>
      </p:sp>
      <p:pic>
        <p:nvPicPr>
          <p:cNvPr id="29" name="Image 12"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4457700"/>
            <a:ext cx="10942320" cy="15240"/>
          </a:xfrm>
          <a:prstGeom prst="rect">
            <a:avLst/>
          </a:prstGeom>
        </p:spPr>
      </p:pic>
      <p:pic>
        <p:nvPicPr>
          <p:cNvPr id="30" name="Image 13" descr="https://test.web.static.jianzeppt.com/ppt-temp-img3/f24fa1283387ad1306817eda4e33a599.png?x-oss-process=image/resize,w_1440,h_800,m_lfit/format,png"/>
          <p:cNvPicPr>
            <a:picLocks noChangeAspect="1"/>
          </p:cNvPicPr>
          <p:nvPr/>
        </p:nvPicPr>
        <p:blipFill>
          <a:blip r:embed="rId9"/>
          <a:stretch>
            <a:fillRect/>
          </a:stretch>
        </p:blipFill>
        <p:spPr>
          <a:xfrm>
            <a:off x="624840" y="4465320"/>
            <a:ext cx="10942320" cy="472440"/>
          </a:xfrm>
          <a:prstGeom prst="rect">
            <a:avLst/>
          </a:prstGeom>
        </p:spPr>
      </p:pic>
      <p:sp>
        <p:nvSpPr>
          <p:cNvPr id="31" name="Text 15"/>
          <p:cNvSpPr/>
          <p:nvPr/>
        </p:nvSpPr>
        <p:spPr>
          <a:xfrm>
            <a:off x="807720" y="45567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Linux 取证点</a:t>
            </a:r>
            <a:endParaRPr lang="en-US" sz="1680" dirty="0"/>
          </a:p>
        </p:txBody>
      </p:sp>
      <p:sp>
        <p:nvSpPr>
          <p:cNvPr id="32" name="Text 16"/>
          <p:cNvSpPr/>
          <p:nvPr/>
        </p:nvSpPr>
        <p:spPr>
          <a:xfrm>
            <a:off x="3002280" y="4556760"/>
            <a:ext cx="6807200" cy="307340"/>
          </a:xfrm>
          <a:prstGeom prst="rect">
            <a:avLst/>
          </a:prstGeom>
          <a:noFill/>
        </p:spPr>
        <p:txBody>
          <a:bodyPr wrap="none" lIns="0" tIns="0" rIns="0" bIns="0" rtlCol="0" anchor="t">
            <a:spAutoFit/>
          </a:bodyPr>
          <a:lstStyle/>
          <a:p>
            <a:pPr marL="0" indent="0" algn="l">
              <a:lnSpc>
                <a:spcPct val="125000"/>
              </a:lnSpc>
              <a:buNone/>
            </a:pPr>
            <a:r>
              <a:rPr lang="en-US" sz="1600" dirty="0">
                <a:solidFill>
                  <a:srgbClr val="333333"/>
                </a:solidFill>
                <a:latin typeface="思源黑体 CN" pitchFamily="34" charset="0"/>
                <a:ea typeface="思源黑体 CN" pitchFamily="34" charset="-122"/>
                <a:cs typeface="思源黑体 CN" pitchFamily="34" charset="-120"/>
              </a:rPr>
              <a:t>/etc/login.defs、/etc/ssh/sshd_config、用户账户、服务与端口、auditd</a:t>
            </a:r>
            <a:endParaRPr lang="en-US" sz="1600" dirty="0">
              <a:solidFill>
                <a:srgbClr val="333333"/>
              </a:solidFill>
              <a:latin typeface="思源黑体 CN" pitchFamily="34" charset="0"/>
              <a:ea typeface="思源黑体 CN" pitchFamily="34" charset="-122"/>
              <a:cs typeface="思源黑体 CN" pitchFamily="34" charset="-120"/>
            </a:endParaRPr>
          </a:p>
        </p:txBody>
      </p:sp>
      <p:pic>
        <p:nvPicPr>
          <p:cNvPr id="33" name="Image 14"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4922520"/>
            <a:ext cx="10942320" cy="15240"/>
          </a:xfrm>
          <a:prstGeom prst="rect">
            <a:avLst/>
          </a:prstGeom>
        </p:spPr>
      </p:pic>
      <p:sp>
        <p:nvSpPr>
          <p:cNvPr id="34" name="Text 17"/>
          <p:cNvSpPr/>
          <p:nvPr/>
        </p:nvSpPr>
        <p:spPr>
          <a:xfrm>
            <a:off x="807720" y="5013960"/>
            <a:ext cx="1837944" cy="27432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建议用时</a:t>
            </a:r>
            <a:endParaRPr lang="en-US" sz="1680" dirty="0"/>
          </a:p>
        </p:txBody>
      </p:sp>
      <p:sp>
        <p:nvSpPr>
          <p:cNvPr id="35" name="Text 18"/>
          <p:cNvSpPr/>
          <p:nvPr/>
        </p:nvSpPr>
        <p:spPr>
          <a:xfrm>
            <a:off x="3002280" y="5013960"/>
            <a:ext cx="7467600" cy="269240"/>
          </a:xfrm>
          <a:prstGeom prst="rect">
            <a:avLst/>
          </a:prstGeom>
          <a:noFill/>
        </p:spPr>
        <p:txBody>
          <a:bodyPr wrap="non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登录与环境熟悉 10 分钟 · Windows 线 25 分钟 · Linux 线 25 分钟 · 录入出表 20 分钟</a:t>
            </a:r>
            <a:endParaRPr lang="en-US" sz="1400" dirty="0">
              <a:solidFill>
                <a:srgbClr val="333333"/>
              </a:solidFill>
              <a:latin typeface="思源黑体 CN" pitchFamily="34" charset="0"/>
              <a:ea typeface="思源黑体 CN" pitchFamily="34" charset="-122"/>
              <a:cs typeface="思源黑体 CN"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实验①选什么——西普平台实验清单（Windows 选 2 + Linux 选 2）</a:t>
            </a:r>
            <a:endParaRPr lang="en-US" sz="2760" dirty="0"/>
          </a:p>
        </p:txBody>
      </p:sp>
      <p:graphicFrame>
        <p:nvGraphicFramePr>
          <p:cNvPr id="20" name="Table 0"/>
          <p:cNvGraphicFramePr>
            <a:graphicFrameLocks noGrp="1"/>
          </p:cNvGraphicFramePr>
          <p:nvPr/>
        </p:nvGraphicFramePr>
        <p:xfrm>
          <a:off x="609600" y="1056005"/>
          <a:ext cx="10972800" cy="5418670"/>
        </p:xfrm>
        <a:graphic>
          <a:graphicData uri="http://schemas.openxmlformats.org/drawingml/2006/table">
            <a:tbl>
              <a:tblPr/>
              <a:tblGrid>
                <a:gridCol w="1151890"/>
                <a:gridCol w="1920240"/>
                <a:gridCol w="7900670"/>
              </a:tblGrid>
              <a:tr h="541867">
                <a:tc>
                  <a:txBody>
                    <a:bodyPr/>
                    <a:lstStyle/>
                    <a:p>
                      <a:pPr marL="0" indent="0" algn="ctr">
                        <a:buNone/>
                      </a:pPr>
                      <a:r>
                        <a:rPr lang="en-US" sz="1600" dirty="0">
                          <a:solidFill>
                            <a:srgbClr val="000000"/>
                          </a:solidFill>
                        </a:rPr>
                        <a:t>编号</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西普平台实验（真实目录）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你要查什么 · 覆盖条款</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W1</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 系统安全评测 →</a:t>
                      </a:r>
                      <a:endParaRPr lang="en-US" sz="1600" dirty="0">
                        <a:solidFill>
                          <a:srgbClr val="000000"/>
                        </a:solidFill>
                      </a:endParaRPr>
                    </a:p>
                    <a:p>
                      <a:pPr marL="0" indent="0" algn="ctr">
                        <a:buNone/>
                      </a:pPr>
                      <a:r>
                        <a:rPr lang="en-US" sz="1600" dirty="0">
                          <a:solidFill>
                            <a:srgbClr val="000000"/>
                          </a:solidFill>
                        </a:rPr>
                        <a:t>Windows身份鉴别</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口令复杂度、最小长度、有效期、历史、账户锁定阈值</a:t>
                      </a:r>
                      <a:endParaRPr lang="en-US" sz="1600" dirty="0">
                        <a:solidFill>
                          <a:srgbClr val="000000"/>
                        </a:solidFill>
                      </a:endParaRPr>
                    </a:p>
                    <a:p>
                      <a:pPr marL="0" indent="0" algn="ctr">
                        <a:buNone/>
                      </a:pPr>
                      <a:r>
                        <a:rPr lang="en-US" sz="1600" dirty="0">
                          <a:solidFill>
                            <a:srgbClr val="000000"/>
                          </a:solidFill>
                        </a:rPr>
                        <a:t>8.1.4.1 a) / b)</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W2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 系统安全评测 →</a:t>
                      </a:r>
                      <a:endParaRPr lang="en-US" sz="1600" dirty="0">
                        <a:solidFill>
                          <a:srgbClr val="000000"/>
                        </a:solidFill>
                      </a:endParaRPr>
                    </a:p>
                    <a:p>
                      <a:pPr marL="0" indent="0" algn="ctr">
                        <a:buNone/>
                      </a:pPr>
                      <a:r>
                        <a:rPr lang="en-US" sz="1600" dirty="0">
                          <a:solidFill>
                            <a:srgbClr val="000000"/>
                          </a:solidFill>
                        </a:rPr>
                        <a:t>Windows安全审计</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审核策略（登录/对象访问/策略变更，成功+失败）、安全日志留存</a:t>
                      </a:r>
                      <a:endParaRPr lang="en-US" sz="1600" dirty="0">
                        <a:solidFill>
                          <a:srgbClr val="000000"/>
                        </a:solidFill>
                      </a:endParaRPr>
                    </a:p>
                    <a:p>
                      <a:pPr marL="0" indent="0" algn="ctr">
                        <a:buNone/>
                      </a:pPr>
                      <a:r>
                        <a:rPr lang="en-US" sz="1600" dirty="0">
                          <a:solidFill>
                            <a:srgbClr val="000000"/>
                          </a:solidFill>
                        </a:rPr>
                        <a:t>8.1.4.3 a)~c)</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W3</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 系统安全评测 →</a:t>
                      </a:r>
                      <a:endParaRPr lang="en-US" sz="1600" dirty="0">
                        <a:solidFill>
                          <a:srgbClr val="000000"/>
                        </a:solidFill>
                      </a:endParaRPr>
                    </a:p>
                    <a:p>
                      <a:pPr marL="0" indent="0" algn="ctr">
                        <a:buNone/>
                      </a:pPr>
                      <a:r>
                        <a:rPr lang="en-US" sz="1600" dirty="0">
                          <a:solidFill>
                            <a:srgbClr val="000000"/>
                          </a:solidFill>
                        </a:rPr>
                        <a:t>Windows入侵防范</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默认共享、Guest 与多余账户、非必要服务、445 等高危端口</a:t>
                      </a:r>
                      <a:endParaRPr lang="en-US" sz="1600" dirty="0">
                        <a:solidFill>
                          <a:srgbClr val="000000"/>
                        </a:solidFill>
                      </a:endParaRPr>
                    </a:p>
                    <a:p>
                      <a:pPr marL="0" indent="0" algn="ctr">
                        <a:buNone/>
                      </a:pPr>
                      <a:r>
                        <a:rPr lang="en-US" sz="1600" dirty="0">
                          <a:solidFill>
                            <a:srgbClr val="000000"/>
                          </a:solidFill>
                        </a:rPr>
                        <a:t>8.1.4.4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W4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 系统安全评测 →</a:t>
                      </a:r>
                      <a:endParaRPr lang="en-US" sz="1600" dirty="0">
                        <a:solidFill>
                          <a:srgbClr val="000000"/>
                        </a:solidFill>
                      </a:endParaRPr>
                    </a:p>
                    <a:p>
                      <a:pPr marL="0" indent="0" algn="ctr">
                        <a:buNone/>
                      </a:pPr>
                      <a:r>
                        <a:rPr lang="en-US" sz="1600" dirty="0">
                          <a:solidFill>
                            <a:srgbClr val="000000"/>
                          </a:solidFill>
                        </a:rPr>
                        <a:t>Windows访问控制</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用户权限分配、关键目录 NTFS 权限（是否 Everyone 可写）</a:t>
                      </a:r>
                      <a:endParaRPr lang="en-US" sz="1600" dirty="0">
                        <a:solidFill>
                          <a:srgbClr val="000000"/>
                        </a:solidFill>
                      </a:endParaRPr>
                    </a:p>
                    <a:p>
                      <a:pPr marL="0" indent="0" algn="ctr">
                        <a:buNone/>
                      </a:pPr>
                      <a:r>
                        <a:rPr lang="en-US" sz="1600" dirty="0">
                          <a:solidFill>
                            <a:srgbClr val="000000"/>
                          </a:solidFill>
                        </a:rPr>
                        <a:t>8.1.4.2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L1</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 系统安全评测 →</a:t>
                      </a:r>
                      <a:endParaRPr lang="en-US" sz="1600" dirty="0">
                        <a:solidFill>
                          <a:srgbClr val="000000"/>
                        </a:solidFill>
                      </a:endParaRPr>
                    </a:p>
                    <a:p>
                      <a:pPr marL="0" indent="0" algn="ctr">
                        <a:buNone/>
                      </a:pPr>
                      <a:r>
                        <a:rPr lang="en-US" sz="1600" dirty="0">
                          <a:solidFill>
                            <a:srgbClr val="000000"/>
                          </a:solidFill>
                        </a:rPr>
                        <a:t>认证人工检查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login.defs、pwquality.conf、system-auth、空口令/弱口令账户</a:t>
                      </a:r>
                      <a:endParaRPr lang="en-US" sz="1600" dirty="0">
                        <a:solidFill>
                          <a:srgbClr val="000000"/>
                        </a:solidFill>
                      </a:endParaRPr>
                    </a:p>
                    <a:p>
                      <a:pPr marL="0" indent="0" algn="ctr">
                        <a:buNone/>
                      </a:pPr>
                      <a:r>
                        <a:rPr lang="en-US" sz="1600" dirty="0">
                          <a:solidFill>
                            <a:srgbClr val="000000"/>
                          </a:solidFill>
                        </a:rPr>
                        <a:t>8.1.4.1 a) / b)</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L2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 系统安全评测 →</a:t>
                      </a:r>
                      <a:endParaRPr lang="en-US" sz="1600" dirty="0">
                        <a:solidFill>
                          <a:srgbClr val="000000"/>
                        </a:solidFill>
                      </a:endParaRPr>
                    </a:p>
                    <a:p>
                      <a:pPr marL="0" indent="0" algn="ctr">
                        <a:buNone/>
                      </a:pPr>
                      <a:r>
                        <a:rPr lang="en-US" sz="1600" dirty="0">
                          <a:solidFill>
                            <a:srgbClr val="000000"/>
                          </a:solidFill>
                        </a:rPr>
                        <a:t>安全审计漏洞人工检查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rsyslog / auditd 状态、/var/log/secure、audit 规则、日志留存</a:t>
                      </a:r>
                      <a:endParaRPr lang="en-US" sz="1600" dirty="0">
                        <a:solidFill>
                          <a:srgbClr val="000000"/>
                        </a:solidFill>
                      </a:endParaRPr>
                    </a:p>
                    <a:p>
                      <a:pPr marL="0" indent="0" algn="l">
                        <a:buNone/>
                      </a:pPr>
                      <a:r>
                        <a:rPr lang="en-US" sz="1600" dirty="0">
                          <a:solidFill>
                            <a:srgbClr val="000000"/>
                          </a:solidFill>
                        </a:rPr>
                        <a:t>8.1.4.3 a)~c)</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L3</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 系统安全评测 →</a:t>
                      </a:r>
                      <a:endParaRPr lang="en-US" sz="1600" dirty="0">
                        <a:solidFill>
                          <a:srgbClr val="000000"/>
                        </a:solidFill>
                      </a:endParaRPr>
                    </a:p>
                    <a:p>
                      <a:pPr marL="0" indent="0" algn="ctr">
                        <a:buNone/>
                      </a:pPr>
                      <a:r>
                        <a:rPr lang="en-US" sz="1600" dirty="0">
                          <a:solidFill>
                            <a:srgbClr val="000000"/>
                          </a:solidFill>
                        </a:rPr>
                        <a:t>系统人工检查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开放端口与非必要服务、系统补丁与已知漏洞</a:t>
                      </a:r>
                      <a:endParaRPr lang="en-US" sz="1600" dirty="0">
                        <a:solidFill>
                          <a:srgbClr val="000000"/>
                        </a:solidFill>
                      </a:endParaRPr>
                    </a:p>
                    <a:p>
                      <a:pPr marL="0" indent="0" algn="ctr">
                        <a:buNone/>
                      </a:pPr>
                      <a:r>
                        <a:rPr lang="en-US" sz="1600" dirty="0">
                          <a:solidFill>
                            <a:srgbClr val="000000"/>
                          </a:solidFill>
                        </a:rPr>
                        <a:t>8.1.4.4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L4</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Linux 系统安全评测 →</a:t>
                      </a:r>
                      <a:endParaRPr lang="en-US" sz="1600" dirty="0">
                        <a:solidFill>
                          <a:srgbClr val="000000"/>
                        </a:solidFill>
                      </a:endParaRPr>
                    </a:p>
                    <a:p>
                      <a:pPr marL="0" indent="0" algn="ctr">
                        <a:buNone/>
                      </a:pPr>
                      <a:r>
                        <a:rPr lang="en-US" sz="1600" dirty="0">
                          <a:solidFill>
                            <a:srgbClr val="000000"/>
                          </a:solidFill>
                        </a:rPr>
                        <a:t>账号人工检查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账户最小化、sudo 权限、关键文件权限</a:t>
                      </a:r>
                      <a:endParaRPr lang="en-US" sz="1600" dirty="0">
                        <a:solidFill>
                          <a:srgbClr val="000000"/>
                        </a:solidFill>
                      </a:endParaRPr>
                    </a:p>
                    <a:p>
                      <a:pPr marL="0" indent="0" algn="l">
                        <a:buNone/>
                      </a:pPr>
                      <a:r>
                        <a:rPr lang="en-US" sz="1600" dirty="0">
                          <a:solidFill>
                            <a:srgbClr val="000000"/>
                          </a:solidFill>
                        </a:rPr>
                        <a:t>8.1.4.2 / 8.1.4.1 b)</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推荐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W1 + W2 + L1 + L2</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口令与审计是等保丢分最多的两项：证据最好取、判定最典型。</a:t>
                      </a:r>
                      <a:endParaRPr lang="en-US" sz="1600" dirty="0">
                        <a:solidFill>
                          <a:srgbClr val="000000"/>
                        </a:solidFill>
                      </a:endParaRPr>
                    </a:p>
                    <a:p>
                      <a:pPr marL="0" indent="0" algn="l">
                        <a:buNone/>
                      </a:pPr>
                      <a:r>
                        <a:rPr lang="en-US" sz="1600" dirty="0">
                          <a:solidFill>
                            <a:srgbClr val="000000"/>
                          </a:solidFill>
                        </a:rPr>
                        <a:t>两条线合起来正好覆盖四个维度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实验②怎么查——Windows 取证步骤（每一步留 1 张截图）</a:t>
            </a:r>
            <a:endParaRPr lang="en-US" sz="2760" dirty="0"/>
          </a:p>
        </p:txBody>
      </p:sp>
      <p:pic>
        <p:nvPicPr>
          <p:cNvPr id="6" name="Image 3" descr="https://test.web.static.jianzeppt.com/ppt-temp-img3/c1258ac7474de4068f335334075b92f9.png?x-oss-process=image/resize,w_1440,h_800,m_lfit/format,png"/>
          <p:cNvPicPr>
            <a:picLocks noChangeAspect="1"/>
          </p:cNvPicPr>
          <p:nvPr/>
        </p:nvPicPr>
        <p:blipFill>
          <a:blip r:embed="rId4"/>
          <a:stretch>
            <a:fillRect/>
          </a:stretch>
        </p:blipFill>
        <p:spPr>
          <a:xfrm>
            <a:off x="609600" y="1371600"/>
            <a:ext cx="10972800" cy="1661160"/>
          </a:xfrm>
          <a:prstGeom prst="rect">
            <a:avLst/>
          </a:prstGeom>
        </p:spPr>
      </p:pic>
      <p:pic>
        <p:nvPicPr>
          <p:cNvPr id="7" name="Image 4" descr="https://test.web.static.jianzeppt.com/ppt-temp-img3/e5b184e7785ac80d03e9b436f7e79ead.png?x-oss-process=image/resize,w_1440,h_800,m_lfit/format,png"/>
          <p:cNvPicPr>
            <a:picLocks noChangeAspect="1"/>
          </p:cNvPicPr>
          <p:nvPr/>
        </p:nvPicPr>
        <p:blipFill>
          <a:blip r:embed="rId5"/>
          <a:stretch>
            <a:fillRect/>
          </a:stretch>
        </p:blipFill>
        <p:spPr>
          <a:xfrm>
            <a:off x="609600" y="1371600"/>
            <a:ext cx="3535680" cy="502920"/>
          </a:xfrm>
          <a:prstGeom prst="rect">
            <a:avLst/>
          </a:prstGeom>
        </p:spPr>
      </p:pic>
      <p:sp>
        <p:nvSpPr>
          <p:cNvPr id="8" name="Text 1"/>
          <p:cNvSpPr/>
          <p:nvPr/>
        </p:nvSpPr>
        <p:spPr>
          <a:xfrm>
            <a:off x="853440" y="1386840"/>
            <a:ext cx="2552700" cy="461645"/>
          </a:xfrm>
          <a:prstGeom prst="rect">
            <a:avLst/>
          </a:prstGeom>
          <a:noFill/>
        </p:spPr>
        <p:txBody>
          <a:bodyPr wrap="none" lIns="0" tIns="0" rIns="0" bIns="0" rtlCol="0" anchor="t">
            <a:spAutoFit/>
          </a:bodyPr>
          <a:lstStyle/>
          <a:p>
            <a:pPr marL="0" indent="0" algn="l">
              <a:lnSpc>
                <a:spcPct val="150000"/>
              </a:lnSpc>
              <a:buNone/>
            </a:pPr>
            <a:r>
              <a:rPr lang="en-US" sz="2000" b="1" dirty="0">
                <a:solidFill>
                  <a:srgbClr val="FFFFFF"/>
                </a:solidFill>
                <a:latin typeface="思源黑体 CN Bold" pitchFamily="34" charset="0"/>
                <a:ea typeface="思源黑体 CN Bold" pitchFamily="34" charset="-122"/>
                <a:cs typeface="思源黑体 CN Bold" pitchFamily="34" charset="-120"/>
              </a:rPr>
              <a:t>步骤一：检查密码策略</a:t>
            </a:r>
            <a:endParaRPr lang="en-US" sz="2000" b="1" dirty="0">
              <a:solidFill>
                <a:srgbClr val="FFFFFF"/>
              </a:solidFill>
              <a:latin typeface="思源黑体 CN Bold" pitchFamily="34" charset="0"/>
              <a:ea typeface="思源黑体 CN Bold" pitchFamily="34" charset="-122"/>
              <a:cs typeface="思源黑体 CN Bold" pitchFamily="34" charset="-120"/>
            </a:endParaRPr>
          </a:p>
        </p:txBody>
      </p:sp>
      <p:sp>
        <p:nvSpPr>
          <p:cNvPr id="9" name="Text 2"/>
          <p:cNvSpPr/>
          <p:nvPr/>
        </p:nvSpPr>
        <p:spPr>
          <a:xfrm>
            <a:off x="792480" y="2042160"/>
            <a:ext cx="6500495" cy="245745"/>
          </a:xfrm>
          <a:prstGeom prst="rect">
            <a:avLst/>
          </a:prstGeom>
          <a:noFill/>
        </p:spPr>
        <p:txBody>
          <a:bodyPr wrap="none" lIns="0" tIns="0" rIns="0" bIns="0" rtlCol="0" anchor="t">
            <a:spAutoFit/>
          </a:bodyPr>
          <a:lstStyle/>
          <a:p>
            <a:pPr marL="0" indent="0" algn="l">
              <a:lnSpc>
                <a:spcPct val="100000"/>
              </a:lnSpc>
              <a:buNone/>
            </a:pPr>
            <a:r>
              <a:rPr lang="en-US" sz="1600" b="1" dirty="0">
                <a:solidFill>
                  <a:srgbClr val="143966"/>
                </a:solidFill>
                <a:latin typeface="思源黑体 CN Bold" pitchFamily="34" charset="0"/>
                <a:ea typeface="思源黑体 CN Bold" pitchFamily="34" charset="-122"/>
                <a:cs typeface="思源黑体 CN Bold" pitchFamily="34" charset="-120"/>
              </a:rPr>
              <a:t>路径：开始 → 运行 → secpol.msc → 安全设置 → 账户策略 → 密码策略</a:t>
            </a:r>
            <a:endParaRPr lang="en-US" sz="1600" b="1" dirty="0">
              <a:solidFill>
                <a:srgbClr val="143966"/>
              </a:solidFill>
              <a:latin typeface="思源黑体 CN Bold" pitchFamily="34" charset="0"/>
              <a:ea typeface="思源黑体 CN Bold" pitchFamily="34" charset="-122"/>
              <a:cs typeface="思源黑体 CN Bold" pitchFamily="34" charset="-120"/>
            </a:endParaRPr>
          </a:p>
        </p:txBody>
      </p:sp>
      <p:sp>
        <p:nvSpPr>
          <p:cNvPr id="10" name="Text 3"/>
          <p:cNvSpPr/>
          <p:nvPr/>
        </p:nvSpPr>
        <p:spPr>
          <a:xfrm>
            <a:off x="792480" y="2392680"/>
            <a:ext cx="320954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密码必须符合复杂性要求：</a:t>
            </a:r>
            <a:r>
              <a:rPr lang="en-US" sz="1400" b="1" dirty="0">
                <a:solidFill>
                  <a:srgbClr val="143966"/>
                </a:solidFill>
                <a:latin typeface="思源黑体 CN Bold" pitchFamily="34" charset="0"/>
                <a:ea typeface="思源黑体 CN Bold" pitchFamily="34" charset="-122"/>
                <a:cs typeface="思源黑体 CN Bold" pitchFamily="34" charset="-120"/>
              </a:rPr>
              <a:t>已启用</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11" name="Text 4"/>
          <p:cNvSpPr/>
          <p:nvPr/>
        </p:nvSpPr>
        <p:spPr>
          <a:xfrm>
            <a:off x="4358640" y="2392680"/>
            <a:ext cx="275234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密码长度最小值：</a:t>
            </a:r>
            <a:r>
              <a:rPr lang="en-US" sz="1400" b="1" dirty="0">
                <a:solidFill>
                  <a:srgbClr val="143966"/>
                </a:solidFill>
                <a:latin typeface="思源黑体 CN Bold" pitchFamily="34" charset="0"/>
                <a:ea typeface="思源黑体 CN Bold" pitchFamily="34" charset="-122"/>
                <a:cs typeface="思源黑体 CN Bold" pitchFamily="34" charset="-120"/>
              </a:rPr>
              <a:t>≥ 8个字符</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12" name="Text 5"/>
          <p:cNvSpPr/>
          <p:nvPr/>
        </p:nvSpPr>
        <p:spPr>
          <a:xfrm>
            <a:off x="7452360" y="2392680"/>
            <a:ext cx="266090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密码最长使用期限：</a:t>
            </a:r>
            <a:r>
              <a:rPr lang="en-US" sz="1400" b="1" dirty="0">
                <a:solidFill>
                  <a:srgbClr val="143966"/>
                </a:solidFill>
                <a:latin typeface="思源黑体 CN Bold" pitchFamily="34" charset="0"/>
                <a:ea typeface="思源黑体 CN Bold" pitchFamily="34" charset="-122"/>
                <a:cs typeface="思源黑体 CN Bold" pitchFamily="34" charset="-120"/>
              </a:rPr>
              <a:t>≤ 90天</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13" name="Text 6"/>
          <p:cNvSpPr/>
          <p:nvPr/>
        </p:nvSpPr>
        <p:spPr>
          <a:xfrm>
            <a:off x="792480" y="2773680"/>
            <a:ext cx="253898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密码最短使用期限：</a:t>
            </a:r>
            <a:r>
              <a:rPr lang="en-US" sz="1400" b="1" dirty="0">
                <a:solidFill>
                  <a:srgbClr val="143966"/>
                </a:solidFill>
                <a:latin typeface="思源黑体 CN Bold" pitchFamily="34" charset="0"/>
                <a:ea typeface="思源黑体 CN Bold" pitchFamily="34" charset="-122"/>
                <a:cs typeface="思源黑体 CN Bold" pitchFamily="34" charset="-120"/>
              </a:rPr>
              <a:t>≥ 1天</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14" name="Text 7"/>
          <p:cNvSpPr/>
          <p:nvPr/>
        </p:nvSpPr>
        <p:spPr>
          <a:xfrm>
            <a:off x="3672840" y="2773680"/>
            <a:ext cx="211226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强制密码历史：</a:t>
            </a:r>
            <a:r>
              <a:rPr lang="en-US" sz="1400" b="1" dirty="0">
                <a:solidFill>
                  <a:srgbClr val="143966"/>
                </a:solidFill>
                <a:latin typeface="思源黑体 CN Bold" pitchFamily="34" charset="0"/>
                <a:ea typeface="思源黑体 CN Bold" pitchFamily="34" charset="-122"/>
                <a:cs typeface="思源黑体 CN Bold" pitchFamily="34" charset="-120"/>
              </a:rPr>
              <a:t>≥ 5个</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pic>
        <p:nvPicPr>
          <p:cNvPr id="15" name="Image 5" descr="https://test.web.static.jianzeppt.com/ppt-temp-img3/f5efaa9bea736468730842ee68dd3ad5.png?x-oss-process=image/resize,w_1440,h_800,m_lfit/format,png"/>
          <p:cNvPicPr>
            <a:picLocks noChangeAspect="1"/>
          </p:cNvPicPr>
          <p:nvPr/>
        </p:nvPicPr>
        <p:blipFill>
          <a:blip r:embed="rId6"/>
          <a:stretch>
            <a:fillRect/>
          </a:stretch>
        </p:blipFill>
        <p:spPr>
          <a:xfrm>
            <a:off x="609600" y="3276600"/>
            <a:ext cx="10972800" cy="1371600"/>
          </a:xfrm>
          <a:prstGeom prst="rect">
            <a:avLst/>
          </a:prstGeom>
        </p:spPr>
      </p:pic>
      <p:pic>
        <p:nvPicPr>
          <p:cNvPr id="16" name="Image 6" descr="https://test.web.static.jianzeppt.com/ppt-temp-img3/9f38f543cf326101f1b903ef8c65f0ca.png?x-oss-process=image/resize,w_1440,h_800,m_lfit/format,png"/>
          <p:cNvPicPr>
            <a:picLocks noChangeAspect="1"/>
          </p:cNvPicPr>
          <p:nvPr/>
        </p:nvPicPr>
        <p:blipFill>
          <a:blip r:embed="rId7"/>
          <a:stretch>
            <a:fillRect/>
          </a:stretch>
        </p:blipFill>
        <p:spPr>
          <a:xfrm>
            <a:off x="609600" y="3276600"/>
            <a:ext cx="4145280" cy="487680"/>
          </a:xfrm>
          <a:prstGeom prst="rect">
            <a:avLst/>
          </a:prstGeom>
        </p:spPr>
      </p:pic>
      <p:sp>
        <p:nvSpPr>
          <p:cNvPr id="17" name="Text 8"/>
          <p:cNvSpPr/>
          <p:nvPr/>
        </p:nvSpPr>
        <p:spPr>
          <a:xfrm>
            <a:off x="853440" y="3307080"/>
            <a:ext cx="3063240" cy="461645"/>
          </a:xfrm>
          <a:prstGeom prst="rect">
            <a:avLst/>
          </a:prstGeom>
          <a:noFill/>
        </p:spPr>
        <p:txBody>
          <a:bodyPr wrap="none" lIns="0" tIns="0" rIns="0" bIns="0" rtlCol="0" anchor="t">
            <a:spAutoFit/>
          </a:bodyPr>
          <a:lstStyle/>
          <a:p>
            <a:pPr marL="0" indent="0" algn="l">
              <a:lnSpc>
                <a:spcPct val="150000"/>
              </a:lnSpc>
              <a:buNone/>
            </a:pPr>
            <a:r>
              <a:rPr lang="en-US" sz="2000" b="1" dirty="0">
                <a:solidFill>
                  <a:srgbClr val="FFFFFF"/>
                </a:solidFill>
                <a:latin typeface="思源黑体 CN Bold" pitchFamily="34" charset="0"/>
                <a:ea typeface="思源黑体 CN Bold" pitchFamily="34" charset="-122"/>
                <a:cs typeface="思源黑体 CN Bold" pitchFamily="34" charset="-120"/>
              </a:rPr>
              <a:t>步骤二：检查账户锁定策略</a:t>
            </a:r>
            <a:endParaRPr lang="en-US" sz="2000" b="1" dirty="0">
              <a:solidFill>
                <a:srgbClr val="FFFFFF"/>
              </a:solidFill>
              <a:latin typeface="思源黑体 CN Bold" pitchFamily="34" charset="0"/>
              <a:ea typeface="思源黑体 CN Bold" pitchFamily="34" charset="-122"/>
              <a:cs typeface="思源黑体 CN Bold" pitchFamily="34" charset="-120"/>
            </a:endParaRPr>
          </a:p>
        </p:txBody>
      </p:sp>
      <p:sp>
        <p:nvSpPr>
          <p:cNvPr id="18" name="Text 9"/>
          <p:cNvSpPr/>
          <p:nvPr/>
        </p:nvSpPr>
        <p:spPr>
          <a:xfrm>
            <a:off x="792480" y="3931920"/>
            <a:ext cx="4378325" cy="245745"/>
          </a:xfrm>
          <a:prstGeom prst="rect">
            <a:avLst/>
          </a:prstGeom>
          <a:noFill/>
        </p:spPr>
        <p:txBody>
          <a:bodyPr wrap="none" lIns="0" tIns="0" rIns="0" bIns="0" rtlCol="0" anchor="t">
            <a:spAutoFit/>
          </a:bodyPr>
          <a:lstStyle/>
          <a:p>
            <a:pPr marL="0" indent="0" algn="l">
              <a:lnSpc>
                <a:spcPct val="100000"/>
              </a:lnSpc>
              <a:buNone/>
            </a:pPr>
            <a:r>
              <a:rPr lang="en-US" sz="1600" b="1" dirty="0">
                <a:solidFill>
                  <a:srgbClr val="143966"/>
                </a:solidFill>
                <a:latin typeface="思源黑体 CN Bold" pitchFamily="34" charset="0"/>
                <a:ea typeface="思源黑体 CN Bold" pitchFamily="34" charset="-122"/>
                <a:cs typeface="思源黑体 CN Bold" pitchFamily="34" charset="-120"/>
              </a:rPr>
              <a:t>路径：secpol.msc → 账户策略 → 账户锁定策略</a:t>
            </a:r>
            <a:endParaRPr lang="en-US" sz="1600" b="1" dirty="0">
              <a:solidFill>
                <a:srgbClr val="143966"/>
              </a:solidFill>
              <a:latin typeface="思源黑体 CN Bold" pitchFamily="34" charset="0"/>
              <a:ea typeface="思源黑体 CN Bold" pitchFamily="34" charset="-122"/>
              <a:cs typeface="思源黑体 CN Bold" pitchFamily="34" charset="-120"/>
            </a:endParaRPr>
          </a:p>
        </p:txBody>
      </p:sp>
      <p:sp>
        <p:nvSpPr>
          <p:cNvPr id="19" name="Text 10"/>
          <p:cNvSpPr/>
          <p:nvPr/>
        </p:nvSpPr>
        <p:spPr>
          <a:xfrm>
            <a:off x="792480" y="4267200"/>
            <a:ext cx="211226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账户锁定阈值：</a:t>
            </a:r>
            <a:r>
              <a:rPr lang="en-US" sz="1400" b="1" dirty="0">
                <a:solidFill>
                  <a:srgbClr val="143966"/>
                </a:solidFill>
                <a:latin typeface="思源黑体 CN Bold" pitchFamily="34" charset="0"/>
                <a:ea typeface="思源黑体 CN Bold" pitchFamily="34" charset="-122"/>
                <a:cs typeface="思源黑体 CN Bold" pitchFamily="34" charset="-120"/>
              </a:rPr>
              <a:t>≤ 5次</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20" name="Text 11"/>
          <p:cNvSpPr/>
          <p:nvPr/>
        </p:nvSpPr>
        <p:spPr>
          <a:xfrm>
            <a:off x="3246120" y="4267200"/>
            <a:ext cx="244754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账户锁定时间：</a:t>
            </a:r>
            <a:r>
              <a:rPr lang="en-US" sz="1400" b="1" dirty="0">
                <a:solidFill>
                  <a:srgbClr val="143966"/>
                </a:solidFill>
                <a:latin typeface="思源黑体 CN Bold" pitchFamily="34" charset="0"/>
                <a:ea typeface="思源黑体 CN Bold" pitchFamily="34" charset="-122"/>
                <a:cs typeface="思源黑体 CN Bold" pitchFamily="34" charset="-120"/>
              </a:rPr>
              <a:t>≥ 15分钟</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sp>
        <p:nvSpPr>
          <p:cNvPr id="21" name="Text 12"/>
          <p:cNvSpPr/>
          <p:nvPr/>
        </p:nvSpPr>
        <p:spPr>
          <a:xfrm>
            <a:off x="6050280" y="4267200"/>
            <a:ext cx="3087624" cy="322580"/>
          </a:xfrm>
          <a:prstGeom prst="rect">
            <a:avLst/>
          </a:prstGeom>
          <a:noFill/>
        </p:spPr>
        <p:txBody>
          <a:bodyPr wrap="square" lIns="0" tIns="0" rIns="0" bIns="0" rtlCol="0" anchor="t">
            <a:spAutoFit/>
          </a:bodyPr>
          <a:lstStyle/>
          <a:p>
            <a:pPr marL="0" indent="0" algn="l">
              <a:lnSpc>
                <a:spcPct val="150000"/>
              </a:lnSpc>
              <a:buNone/>
            </a:pPr>
            <a:r>
              <a:rPr lang="en-US" sz="1400" dirty="0">
                <a:solidFill>
                  <a:srgbClr val="333333"/>
                </a:solidFill>
                <a:latin typeface="思源黑体 CN" pitchFamily="34" charset="0"/>
                <a:ea typeface="思源黑体 CN" pitchFamily="34" charset="-122"/>
                <a:cs typeface="思源黑体 CN" pitchFamily="34" charset="-120"/>
              </a:rPr>
              <a:t>重置账户锁定计数器：</a:t>
            </a:r>
            <a:r>
              <a:rPr lang="en-US" sz="1400" b="1" dirty="0">
                <a:solidFill>
                  <a:srgbClr val="143966"/>
                </a:solidFill>
                <a:latin typeface="思源黑体 CN Bold" pitchFamily="34" charset="0"/>
                <a:ea typeface="思源黑体 CN Bold" pitchFamily="34" charset="-122"/>
                <a:cs typeface="思源黑体 CN Bold" pitchFamily="34" charset="-120"/>
              </a:rPr>
              <a:t>≥ 15分钟</a:t>
            </a:r>
            <a:endParaRPr lang="en-US" sz="1400" b="1" dirty="0">
              <a:solidFill>
                <a:srgbClr val="143966"/>
              </a:solidFill>
              <a:latin typeface="思源黑体 CN Bold" pitchFamily="34" charset="0"/>
              <a:ea typeface="思源黑体 CN Bold" pitchFamily="34" charset="-122"/>
              <a:cs typeface="思源黑体 CN Bold" pitchFamily="34" charset="-120"/>
            </a:endParaRPr>
          </a:p>
        </p:txBody>
      </p:sp>
      <p:pic>
        <p:nvPicPr>
          <p:cNvPr id="22" name="Image 7" descr="https://test.web.static.jianzeppt.com/ppt-temp-img3/f5efaa9bea736468730842ee68dd3ad5.png?x-oss-process=image/resize,w_1440,h_800,m_lfit/format,png"/>
          <p:cNvPicPr>
            <a:picLocks noChangeAspect="1"/>
          </p:cNvPicPr>
          <p:nvPr/>
        </p:nvPicPr>
        <p:blipFill>
          <a:blip r:embed="rId6"/>
          <a:stretch>
            <a:fillRect/>
          </a:stretch>
        </p:blipFill>
        <p:spPr>
          <a:xfrm>
            <a:off x="609600" y="4876800"/>
            <a:ext cx="10972800" cy="1371600"/>
          </a:xfrm>
          <a:prstGeom prst="rect">
            <a:avLst/>
          </a:prstGeom>
        </p:spPr>
      </p:pic>
      <p:pic>
        <p:nvPicPr>
          <p:cNvPr id="23" name="Image 8" descr="https://test.web.static.jianzeppt.com/ppt-temp-img3/70e3900cb937e5d40e1b53bbbad73a9f.png?x-oss-process=image/resize,w_1440,h_800,m_lfit/format,png"/>
          <p:cNvPicPr>
            <a:picLocks noChangeAspect="1"/>
          </p:cNvPicPr>
          <p:nvPr/>
        </p:nvPicPr>
        <p:blipFill>
          <a:blip r:embed="rId8"/>
          <a:stretch>
            <a:fillRect/>
          </a:stretch>
        </p:blipFill>
        <p:spPr>
          <a:xfrm>
            <a:off x="609600" y="4876800"/>
            <a:ext cx="3535680" cy="487680"/>
          </a:xfrm>
          <a:prstGeom prst="rect">
            <a:avLst/>
          </a:prstGeom>
        </p:spPr>
      </p:pic>
      <p:sp>
        <p:nvSpPr>
          <p:cNvPr id="24" name="Text 13"/>
          <p:cNvSpPr/>
          <p:nvPr/>
        </p:nvSpPr>
        <p:spPr>
          <a:xfrm>
            <a:off x="853440" y="4892040"/>
            <a:ext cx="2552700" cy="461645"/>
          </a:xfrm>
          <a:prstGeom prst="rect">
            <a:avLst/>
          </a:prstGeom>
          <a:noFill/>
        </p:spPr>
        <p:txBody>
          <a:bodyPr wrap="none" lIns="0" tIns="0" rIns="0" bIns="0" rtlCol="0" anchor="t">
            <a:spAutoFit/>
          </a:bodyPr>
          <a:lstStyle/>
          <a:p>
            <a:pPr marL="0" indent="0" algn="l">
              <a:lnSpc>
                <a:spcPct val="150000"/>
              </a:lnSpc>
              <a:buNone/>
            </a:pPr>
            <a:r>
              <a:rPr lang="en-US" sz="2000" b="1" dirty="0">
                <a:solidFill>
                  <a:srgbClr val="FFFFFF"/>
                </a:solidFill>
                <a:latin typeface="思源黑体 CN Bold" pitchFamily="34" charset="0"/>
                <a:ea typeface="思源黑体 CN Bold" pitchFamily="34" charset="-122"/>
                <a:cs typeface="思源黑体 CN Bold" pitchFamily="34" charset="-120"/>
              </a:rPr>
              <a:t>步骤三：检查账户管理</a:t>
            </a:r>
            <a:endParaRPr lang="en-US" sz="2000" b="1" dirty="0">
              <a:solidFill>
                <a:srgbClr val="FFFFFF"/>
              </a:solidFill>
              <a:latin typeface="思源黑体 CN Bold" pitchFamily="34" charset="0"/>
              <a:ea typeface="思源黑体 CN Bold" pitchFamily="34" charset="-122"/>
              <a:cs typeface="思源黑体 CN Bold" pitchFamily="34" charset="-120"/>
            </a:endParaRPr>
          </a:p>
        </p:txBody>
      </p:sp>
      <p:sp>
        <p:nvSpPr>
          <p:cNvPr id="25" name="Text 14"/>
          <p:cNvSpPr/>
          <p:nvPr/>
        </p:nvSpPr>
        <p:spPr>
          <a:xfrm>
            <a:off x="792480" y="5547360"/>
            <a:ext cx="3868420" cy="245745"/>
          </a:xfrm>
          <a:prstGeom prst="rect">
            <a:avLst/>
          </a:prstGeom>
          <a:noFill/>
        </p:spPr>
        <p:txBody>
          <a:bodyPr wrap="none" lIns="0" tIns="0" rIns="0" bIns="0" rtlCol="0" anchor="t">
            <a:spAutoFit/>
          </a:bodyPr>
          <a:lstStyle/>
          <a:p>
            <a:pPr marL="0" indent="0" algn="l">
              <a:lnSpc>
                <a:spcPct val="100000"/>
              </a:lnSpc>
              <a:buNone/>
            </a:pPr>
            <a:r>
              <a:rPr lang="en-US" sz="1600" b="1" dirty="0">
                <a:solidFill>
                  <a:srgbClr val="143966"/>
                </a:solidFill>
                <a:latin typeface="思源黑体 CN Bold" pitchFamily="34" charset="0"/>
                <a:ea typeface="思源黑体 CN Bold" pitchFamily="34" charset="-122"/>
                <a:cs typeface="思源黑体 CN Bold" pitchFamily="34" charset="-120"/>
              </a:rPr>
              <a:t>路径：计算机管理 → 本地用户和组 → 用户</a:t>
            </a:r>
            <a:endParaRPr lang="en-US" sz="1600" b="1" dirty="0">
              <a:solidFill>
                <a:srgbClr val="143966"/>
              </a:solidFill>
              <a:latin typeface="思源黑体 CN Bold" pitchFamily="34" charset="0"/>
              <a:ea typeface="思源黑体 CN Bold" pitchFamily="34" charset="-122"/>
              <a:cs typeface="思源黑体 CN Bold" pitchFamily="34" charset="-120"/>
            </a:endParaRPr>
          </a:p>
        </p:txBody>
      </p:sp>
      <p:sp>
        <p:nvSpPr>
          <p:cNvPr id="26" name="Text 15"/>
          <p:cNvSpPr/>
          <p:nvPr/>
        </p:nvSpPr>
        <p:spPr>
          <a:xfrm>
            <a:off x="792480" y="5882640"/>
            <a:ext cx="28742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Administrator是否已重命名？</a:t>
            </a:r>
            <a:endParaRPr lang="en-US" sz="1680" dirty="0"/>
          </a:p>
        </p:txBody>
      </p:sp>
      <p:sp>
        <p:nvSpPr>
          <p:cNvPr id="27" name="Text 16"/>
          <p:cNvSpPr/>
          <p:nvPr/>
        </p:nvSpPr>
        <p:spPr>
          <a:xfrm>
            <a:off x="4023360" y="5882640"/>
            <a:ext cx="22951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Guest账户是否已禁用？</a:t>
            </a:r>
            <a:endParaRPr lang="en-US" sz="1680" dirty="0"/>
          </a:p>
        </p:txBody>
      </p:sp>
      <p:sp>
        <p:nvSpPr>
          <p:cNvPr id="28" name="Text 17"/>
          <p:cNvSpPr/>
          <p:nvPr/>
        </p:nvSpPr>
        <p:spPr>
          <a:xfrm>
            <a:off x="6659880" y="588264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33333"/>
                </a:solidFill>
                <a:latin typeface="思源黑体 CN" pitchFamily="34" charset="0"/>
                <a:ea typeface="思源黑体 CN" pitchFamily="34" charset="-122"/>
                <a:cs typeface="思源黑体 CN" pitchFamily="34" charset="-120"/>
              </a:rPr>
              <a:t>是否存在多余/过期账户？</a:t>
            </a:r>
            <a:endParaRPr lang="en-US" sz="1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实验②怎么查——Linux 取证步骤（每一步留 1 张截图）</a:t>
            </a:r>
            <a:endParaRPr lang="en-US" sz="2760" dirty="0"/>
          </a:p>
        </p:txBody>
      </p:sp>
      <p:pic>
        <p:nvPicPr>
          <p:cNvPr id="6" name="Image 3" descr="https://test.web.static.jianzeppt.com/ppt-temp-img3/c2bb3f31ffbe146dc4bea92f4bc8a708.png?x-oss-process=image/resize,w_1440,h_800,m_lfit/format,png"/>
          <p:cNvPicPr>
            <a:picLocks noChangeAspect="1"/>
          </p:cNvPicPr>
          <p:nvPr/>
        </p:nvPicPr>
        <p:blipFill>
          <a:blip r:embed="rId4"/>
          <a:stretch>
            <a:fillRect/>
          </a:stretch>
        </p:blipFill>
        <p:spPr>
          <a:xfrm>
            <a:off x="609600" y="1371600"/>
            <a:ext cx="10972800" cy="1524000"/>
          </a:xfrm>
          <a:prstGeom prst="rect">
            <a:avLst/>
          </a:prstGeom>
        </p:spPr>
      </p:pic>
      <p:pic>
        <p:nvPicPr>
          <p:cNvPr id="7" name="Image 4" descr="https://test.web.static.jianzeppt.com/ppt-temp-img3/f2620b70d59b58cee4f83242fa7d2bcd.png?x-oss-process=image/resize,w_1440,h_800,m_lfit/format,png"/>
          <p:cNvPicPr>
            <a:picLocks noChangeAspect="1"/>
          </p:cNvPicPr>
          <p:nvPr/>
        </p:nvPicPr>
        <p:blipFill>
          <a:blip r:embed="rId5"/>
          <a:stretch>
            <a:fillRect/>
          </a:stretch>
        </p:blipFill>
        <p:spPr>
          <a:xfrm>
            <a:off x="609600" y="1371600"/>
            <a:ext cx="975360" cy="1524000"/>
          </a:xfrm>
          <a:prstGeom prst="rect">
            <a:avLst/>
          </a:prstGeom>
        </p:spPr>
      </p:pic>
      <p:pic>
        <p:nvPicPr>
          <p:cNvPr id="8"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3440" y="1889760"/>
            <a:ext cx="487680" cy="487680"/>
          </a:xfrm>
          <a:prstGeom prst="rect">
            <a:avLst/>
          </a:prstGeom>
        </p:spPr>
      </p:pic>
      <p:sp>
        <p:nvSpPr>
          <p:cNvPr id="9" name="Text 1"/>
          <p:cNvSpPr/>
          <p:nvPr/>
        </p:nvSpPr>
        <p:spPr>
          <a:xfrm>
            <a:off x="1828800" y="1615440"/>
            <a:ext cx="4414520" cy="276860"/>
          </a:xfrm>
          <a:prstGeom prst="rect">
            <a:avLst/>
          </a:prstGeom>
          <a:noFill/>
        </p:spPr>
        <p:txBody>
          <a:bodyPr wrap="none" lIns="0" tIns="0" rIns="0" bIns="0" rtlCol="0" anchor="t">
            <a:spAutoFit/>
          </a:bodyPr>
          <a:lstStyle/>
          <a:p>
            <a:pPr marL="0" indent="0" algn="l">
              <a:lnSpc>
                <a:spcPct val="100000"/>
              </a:lnSpc>
              <a:buNone/>
            </a:pPr>
            <a:r>
              <a:rPr lang="en-US" b="1" dirty="0">
                <a:solidFill>
                  <a:srgbClr val="143966"/>
                </a:solidFill>
                <a:latin typeface="思源黑体 CN Bold" pitchFamily="34" charset="0"/>
                <a:ea typeface="思源黑体 CN Bold" pitchFamily="34" charset="-122"/>
                <a:cs typeface="思源黑体 CN Bold" pitchFamily="34" charset="-120"/>
              </a:rPr>
              <a:t>步骤一：检查密码策略（/etc/login.defs）</a:t>
            </a:r>
            <a:endParaRPr lang="en-US" b="1" dirty="0">
              <a:solidFill>
                <a:srgbClr val="143966"/>
              </a:solidFill>
              <a:latin typeface="思源黑体 CN Bold" pitchFamily="34" charset="0"/>
              <a:ea typeface="思源黑体 CN Bold" pitchFamily="34" charset="-122"/>
              <a:cs typeface="思源黑体 CN Bold" pitchFamily="34" charset="-120"/>
            </a:endParaRPr>
          </a:p>
        </p:txBody>
      </p:sp>
      <p:pic>
        <p:nvPicPr>
          <p:cNvPr id="10" name="Image 6" descr="https://test.web.static.jianzeppt.com/ppt-temp-img3/3dac7a1f521abd02283a1d0ef9922e08.png?x-oss-process=image/resize,w_1440,h_800,m_lfit/format,png"/>
          <p:cNvPicPr>
            <a:picLocks noChangeAspect="1"/>
          </p:cNvPicPr>
          <p:nvPr/>
        </p:nvPicPr>
        <p:blipFill>
          <a:blip r:embed="rId8"/>
          <a:stretch>
            <a:fillRect/>
          </a:stretch>
        </p:blipFill>
        <p:spPr>
          <a:xfrm>
            <a:off x="1828800" y="2026920"/>
            <a:ext cx="9509760" cy="304800"/>
          </a:xfrm>
          <a:prstGeom prst="rect">
            <a:avLst/>
          </a:prstGeom>
        </p:spPr>
      </p:pic>
      <p:sp>
        <p:nvSpPr>
          <p:cNvPr id="11" name="Text 2"/>
          <p:cNvSpPr/>
          <p:nvPr/>
        </p:nvSpPr>
        <p:spPr>
          <a:xfrm>
            <a:off x="1950720" y="2026920"/>
            <a:ext cx="68366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374051"/>
                </a:solidFill>
              </a:rPr>
              <a:t>cat /etc/login.defs | grep -E "PASS_MAX_DAYS|PASS_MIN_DAYS..."</a:t>
            </a:r>
            <a:endParaRPr lang="en-US" sz="1440" dirty="0"/>
          </a:p>
        </p:txBody>
      </p:sp>
      <p:sp>
        <p:nvSpPr>
          <p:cNvPr id="12" name="Text 3"/>
          <p:cNvSpPr/>
          <p:nvPr/>
        </p:nvSpPr>
        <p:spPr>
          <a:xfrm>
            <a:off x="1828800" y="2438400"/>
            <a:ext cx="174650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MAX_DAYS:</a:t>
            </a:r>
            <a:r>
              <a:rPr lang="en-US" sz="1680" dirty="0">
                <a:solidFill>
                  <a:srgbClr val="4B5463"/>
                </a:solidFill>
                <a:latin typeface="思源黑体 CN" pitchFamily="34" charset="0"/>
                <a:ea typeface="思源黑体 CN" pitchFamily="34" charset="-122"/>
                <a:cs typeface="思源黑体 CN" pitchFamily="34" charset="-120"/>
              </a:rPr>
              <a:t>≤ 90</a:t>
            </a:r>
            <a:endParaRPr lang="en-US" sz="1680" dirty="0"/>
          </a:p>
        </p:txBody>
      </p:sp>
      <p:sp>
        <p:nvSpPr>
          <p:cNvPr id="13" name="Text 4"/>
          <p:cNvSpPr/>
          <p:nvPr/>
        </p:nvSpPr>
        <p:spPr>
          <a:xfrm>
            <a:off x="3794760" y="2438400"/>
            <a:ext cx="1697355" cy="308610"/>
          </a:xfrm>
          <a:prstGeom prst="rect">
            <a:avLst/>
          </a:prstGeom>
          <a:noFill/>
        </p:spPr>
        <p:txBody>
          <a:bodyPr wrap="square" lIns="0" tIns="0" rIns="0" bIns="0" rtlCol="0" anchor="t">
            <a:no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MIN_DAYS:</a:t>
            </a:r>
            <a:r>
              <a:rPr lang="en-US" sz="1680" dirty="0">
                <a:solidFill>
                  <a:srgbClr val="4B5463"/>
                </a:solidFill>
                <a:latin typeface="思源黑体 CN" pitchFamily="34" charset="0"/>
                <a:ea typeface="思源黑体 CN" pitchFamily="34" charset="-122"/>
                <a:cs typeface="思源黑体 CN" pitchFamily="34" charset="-120"/>
              </a:rPr>
              <a:t>≥ 1</a:t>
            </a:r>
            <a:endParaRPr lang="en-US" sz="1680" dirty="0"/>
          </a:p>
        </p:txBody>
      </p:sp>
      <p:sp>
        <p:nvSpPr>
          <p:cNvPr id="14" name="Text 5"/>
          <p:cNvSpPr/>
          <p:nvPr/>
        </p:nvSpPr>
        <p:spPr>
          <a:xfrm>
            <a:off x="5608320" y="2438400"/>
            <a:ext cx="145694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MIN_LEN:</a:t>
            </a:r>
            <a:r>
              <a:rPr lang="en-US" sz="1680" dirty="0">
                <a:solidFill>
                  <a:srgbClr val="4B5463"/>
                </a:solidFill>
                <a:latin typeface="思源黑体 CN" pitchFamily="34" charset="0"/>
                <a:ea typeface="思源黑体 CN" pitchFamily="34" charset="-122"/>
                <a:cs typeface="思源黑体 CN" pitchFamily="34" charset="-120"/>
              </a:rPr>
              <a:t>≥ 8</a:t>
            </a:r>
            <a:endParaRPr lang="en-US" sz="1680" dirty="0"/>
          </a:p>
        </p:txBody>
      </p:sp>
      <p:sp>
        <p:nvSpPr>
          <p:cNvPr id="15" name="Text 6"/>
          <p:cNvSpPr/>
          <p:nvPr/>
        </p:nvSpPr>
        <p:spPr>
          <a:xfrm>
            <a:off x="7299960" y="2438400"/>
            <a:ext cx="168554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WARN_AGE:</a:t>
            </a:r>
            <a:r>
              <a:rPr lang="en-US" sz="1680" dirty="0">
                <a:solidFill>
                  <a:srgbClr val="4B5463"/>
                </a:solidFill>
                <a:latin typeface="思源黑体 CN" pitchFamily="34" charset="0"/>
                <a:ea typeface="思源黑体 CN" pitchFamily="34" charset="-122"/>
                <a:cs typeface="思源黑体 CN" pitchFamily="34" charset="-120"/>
              </a:rPr>
              <a:t>≥ 7</a:t>
            </a:r>
            <a:endParaRPr lang="en-US" sz="1680" dirty="0"/>
          </a:p>
        </p:txBody>
      </p:sp>
      <p:pic>
        <p:nvPicPr>
          <p:cNvPr id="16" name="Image 7" descr="https://test.web.static.jianzeppt.com/ppt-temp-img3/c2bb3f31ffbe146dc4bea92f4bc8a708.png?x-oss-process=image/resize,w_1440,h_800,m_lfit/format,png"/>
          <p:cNvPicPr>
            <a:picLocks noChangeAspect="1"/>
          </p:cNvPicPr>
          <p:nvPr/>
        </p:nvPicPr>
        <p:blipFill>
          <a:blip r:embed="rId4"/>
          <a:stretch>
            <a:fillRect/>
          </a:stretch>
        </p:blipFill>
        <p:spPr>
          <a:xfrm>
            <a:off x="609600" y="3048000"/>
            <a:ext cx="10972800" cy="1524000"/>
          </a:xfrm>
          <a:prstGeom prst="rect">
            <a:avLst/>
          </a:prstGeom>
        </p:spPr>
      </p:pic>
      <p:pic>
        <p:nvPicPr>
          <p:cNvPr id="17" name="Image 8" descr="https://test.web.static.jianzeppt.com/ppt-temp-img3/bf4943d9d5f283b19b23aa75558c6bd4.png?x-oss-process=image/resize,w_1440,h_800,m_lfit/format,png"/>
          <p:cNvPicPr>
            <a:picLocks noChangeAspect="1"/>
          </p:cNvPicPr>
          <p:nvPr/>
        </p:nvPicPr>
        <p:blipFill>
          <a:blip r:embed="rId5"/>
          <a:stretch>
            <a:fillRect/>
          </a:stretch>
        </p:blipFill>
        <p:spPr>
          <a:xfrm>
            <a:off x="609600" y="3048000"/>
            <a:ext cx="975360" cy="1524000"/>
          </a:xfrm>
          <a:prstGeom prst="rect">
            <a:avLst/>
          </a:prstGeom>
        </p:spPr>
      </p:pic>
      <p:pic>
        <p:nvPicPr>
          <p:cNvPr id="18" name="Image 9"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3440" y="3566160"/>
            <a:ext cx="487680" cy="487680"/>
          </a:xfrm>
          <a:prstGeom prst="rect">
            <a:avLst/>
          </a:prstGeom>
        </p:spPr>
      </p:pic>
      <p:sp>
        <p:nvSpPr>
          <p:cNvPr id="19" name="Text 7"/>
          <p:cNvSpPr/>
          <p:nvPr/>
        </p:nvSpPr>
        <p:spPr>
          <a:xfrm>
            <a:off x="1828800" y="3291840"/>
            <a:ext cx="5570220" cy="276860"/>
          </a:xfrm>
          <a:prstGeom prst="rect">
            <a:avLst/>
          </a:prstGeom>
          <a:noFill/>
        </p:spPr>
        <p:txBody>
          <a:bodyPr wrap="none" lIns="0" tIns="0" rIns="0" bIns="0" rtlCol="0" anchor="t">
            <a:spAutoFit/>
          </a:bodyPr>
          <a:lstStyle/>
          <a:p>
            <a:pPr marL="0" indent="0" algn="l">
              <a:lnSpc>
                <a:spcPct val="100000"/>
              </a:lnSpc>
              <a:buNone/>
            </a:pPr>
            <a:r>
              <a:rPr lang="en-US" b="1" dirty="0">
                <a:solidFill>
                  <a:srgbClr val="143966"/>
                </a:solidFill>
                <a:latin typeface="思源黑体 CN Bold" pitchFamily="34" charset="0"/>
                <a:ea typeface="思源黑体 CN Bold" pitchFamily="34" charset="-122"/>
                <a:cs typeface="思源黑体 CN Bold" pitchFamily="34" charset="-120"/>
              </a:rPr>
              <a:t>步骤二：检查SSH安全配置（/etc/ssh/sshd_config）</a:t>
            </a:r>
            <a:endParaRPr lang="en-US" b="1" dirty="0">
              <a:solidFill>
                <a:srgbClr val="143966"/>
              </a:solidFill>
              <a:latin typeface="思源黑体 CN Bold" pitchFamily="34" charset="0"/>
              <a:ea typeface="思源黑体 CN Bold" pitchFamily="34" charset="-122"/>
              <a:cs typeface="思源黑体 CN Bold" pitchFamily="34" charset="-120"/>
            </a:endParaRPr>
          </a:p>
        </p:txBody>
      </p:sp>
      <p:pic>
        <p:nvPicPr>
          <p:cNvPr id="20" name="Image 10" descr="https://test.web.static.jianzeppt.com/ppt-temp-img3/3dac7a1f521abd02283a1d0ef9922e08.png?x-oss-process=image/resize,w_1440,h_800,m_lfit/format,png"/>
          <p:cNvPicPr>
            <a:picLocks noChangeAspect="1"/>
          </p:cNvPicPr>
          <p:nvPr/>
        </p:nvPicPr>
        <p:blipFill>
          <a:blip r:embed="rId8"/>
          <a:stretch>
            <a:fillRect/>
          </a:stretch>
        </p:blipFill>
        <p:spPr>
          <a:xfrm>
            <a:off x="1828800" y="3703320"/>
            <a:ext cx="9509760" cy="304800"/>
          </a:xfrm>
          <a:prstGeom prst="rect">
            <a:avLst/>
          </a:prstGeom>
        </p:spPr>
      </p:pic>
      <p:sp>
        <p:nvSpPr>
          <p:cNvPr id="21" name="Text 8"/>
          <p:cNvSpPr/>
          <p:nvPr/>
        </p:nvSpPr>
        <p:spPr>
          <a:xfrm>
            <a:off x="1950720" y="3703320"/>
            <a:ext cx="70652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374051"/>
                </a:solidFill>
              </a:rPr>
              <a:t>cat /etc/ssh/sshd_config | grep -E "PermitRootLogin|Protocol..."</a:t>
            </a:r>
            <a:endParaRPr lang="en-US" sz="1440" dirty="0"/>
          </a:p>
        </p:txBody>
      </p:sp>
      <p:sp>
        <p:nvSpPr>
          <p:cNvPr id="22" name="Text 9"/>
          <p:cNvSpPr/>
          <p:nvPr/>
        </p:nvSpPr>
        <p:spPr>
          <a:xfrm>
            <a:off x="1828800" y="4114800"/>
            <a:ext cx="218846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PermitRootLogin:</a:t>
            </a:r>
            <a:r>
              <a:rPr lang="en-US" sz="1680" dirty="0">
                <a:solidFill>
                  <a:srgbClr val="4B5463"/>
                </a:solidFill>
                <a:latin typeface="思源黑体 CN" pitchFamily="34" charset="0"/>
                <a:ea typeface="思源黑体 CN" pitchFamily="34" charset="-122"/>
                <a:cs typeface="思源黑体 CN" pitchFamily="34" charset="-120"/>
              </a:rPr>
              <a:t>no</a:t>
            </a:r>
            <a:endParaRPr lang="en-US" sz="1680" dirty="0"/>
          </a:p>
        </p:txBody>
      </p:sp>
      <p:sp>
        <p:nvSpPr>
          <p:cNvPr id="23" name="Text 10"/>
          <p:cNvSpPr/>
          <p:nvPr/>
        </p:nvSpPr>
        <p:spPr>
          <a:xfrm>
            <a:off x="4236720" y="4114800"/>
            <a:ext cx="113690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Protocol:</a:t>
            </a:r>
            <a:r>
              <a:rPr lang="en-US" sz="1680" dirty="0">
                <a:solidFill>
                  <a:srgbClr val="4B5463"/>
                </a:solidFill>
                <a:latin typeface="思源黑体 CN" pitchFamily="34" charset="0"/>
                <a:ea typeface="思源黑体 CN" pitchFamily="34" charset="-122"/>
                <a:cs typeface="思源黑体 CN" pitchFamily="34" charset="-120"/>
              </a:rPr>
              <a:t>2</a:t>
            </a:r>
            <a:endParaRPr lang="en-US" sz="1680" dirty="0"/>
          </a:p>
        </p:txBody>
      </p:sp>
      <p:sp>
        <p:nvSpPr>
          <p:cNvPr id="24" name="Text 11"/>
          <p:cNvSpPr/>
          <p:nvPr/>
        </p:nvSpPr>
        <p:spPr>
          <a:xfrm>
            <a:off x="5608320" y="4114800"/>
            <a:ext cx="3361944" cy="32004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4B5463"/>
                </a:solidFill>
                <a:latin typeface="思源黑体 CN Bold" pitchFamily="34" charset="0"/>
                <a:ea typeface="思源黑体 CN Bold" pitchFamily="34" charset="-122"/>
                <a:cs typeface="思源黑体 CN Bold" pitchFamily="34" charset="-120"/>
              </a:rPr>
              <a:t>PasswordAuthentication:</a:t>
            </a:r>
            <a:r>
              <a:rPr lang="en-US" sz="1680" dirty="0">
                <a:solidFill>
                  <a:srgbClr val="4B5463"/>
                </a:solidFill>
                <a:latin typeface="思源黑体 CN" pitchFamily="34" charset="0"/>
                <a:ea typeface="思源黑体 CN" pitchFamily="34" charset="-122"/>
                <a:cs typeface="思源黑体 CN" pitchFamily="34" charset="-120"/>
              </a:rPr>
              <a:t>依策略</a:t>
            </a:r>
            <a:endParaRPr lang="en-US" sz="1680" dirty="0"/>
          </a:p>
        </p:txBody>
      </p:sp>
      <p:pic>
        <p:nvPicPr>
          <p:cNvPr id="25" name="Image 11" descr="https://test.web.static.jianzeppt.com/ppt-temp-img3/c2bb3f31ffbe146dc4bea92f4bc8a708.png?x-oss-process=image/resize,w_1440,h_800,m_lfit/format,png"/>
          <p:cNvPicPr>
            <a:picLocks noChangeAspect="1"/>
          </p:cNvPicPr>
          <p:nvPr/>
        </p:nvPicPr>
        <p:blipFill>
          <a:blip r:embed="rId4"/>
          <a:stretch>
            <a:fillRect/>
          </a:stretch>
        </p:blipFill>
        <p:spPr>
          <a:xfrm>
            <a:off x="609600" y="4739640"/>
            <a:ext cx="10972800" cy="1524000"/>
          </a:xfrm>
          <a:prstGeom prst="rect">
            <a:avLst/>
          </a:prstGeom>
        </p:spPr>
      </p:pic>
      <p:pic>
        <p:nvPicPr>
          <p:cNvPr id="26" name="Image 12" descr="https://test.web.static.jianzeppt.com/ppt-temp-img3/ba17aa0061db857ff7b88ca2fb5dc52d.png?x-oss-process=image/resize,w_1440,h_800,m_lfit/format,png"/>
          <p:cNvPicPr>
            <a:picLocks noChangeAspect="1"/>
          </p:cNvPicPr>
          <p:nvPr/>
        </p:nvPicPr>
        <p:blipFill>
          <a:blip r:embed="rId5"/>
          <a:stretch>
            <a:fillRect/>
          </a:stretch>
        </p:blipFill>
        <p:spPr>
          <a:xfrm>
            <a:off x="609600" y="4739640"/>
            <a:ext cx="975360" cy="1524000"/>
          </a:xfrm>
          <a:prstGeom prst="rect">
            <a:avLst/>
          </a:prstGeom>
        </p:spPr>
      </p:pic>
      <p:pic>
        <p:nvPicPr>
          <p:cNvPr id="27" name="Image 13"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3440" y="5242560"/>
            <a:ext cx="487680" cy="487680"/>
          </a:xfrm>
          <a:prstGeom prst="rect">
            <a:avLst/>
          </a:prstGeom>
        </p:spPr>
      </p:pic>
      <p:sp>
        <p:nvSpPr>
          <p:cNvPr id="28" name="Text 12"/>
          <p:cNvSpPr/>
          <p:nvPr/>
        </p:nvSpPr>
        <p:spPr>
          <a:xfrm>
            <a:off x="1828800" y="4983480"/>
            <a:ext cx="2298700" cy="276860"/>
          </a:xfrm>
          <a:prstGeom prst="rect">
            <a:avLst/>
          </a:prstGeom>
          <a:noFill/>
        </p:spPr>
        <p:txBody>
          <a:bodyPr wrap="none" lIns="0" tIns="0" rIns="0" bIns="0" rtlCol="0" anchor="t">
            <a:spAutoFit/>
          </a:bodyPr>
          <a:lstStyle/>
          <a:p>
            <a:pPr marL="0" indent="0" algn="l">
              <a:lnSpc>
                <a:spcPct val="100000"/>
              </a:lnSpc>
              <a:buNone/>
            </a:pPr>
            <a:r>
              <a:rPr lang="en-US" b="1" dirty="0">
                <a:solidFill>
                  <a:srgbClr val="143966"/>
                </a:solidFill>
                <a:latin typeface="思源黑体 CN Bold" pitchFamily="34" charset="0"/>
                <a:ea typeface="思源黑体 CN Bold" pitchFamily="34" charset="-122"/>
                <a:cs typeface="思源黑体 CN Bold" pitchFamily="34" charset="-120"/>
              </a:rPr>
              <a:t>步骤三：检查用户账户</a:t>
            </a:r>
            <a:endParaRPr lang="en-US" b="1" dirty="0">
              <a:solidFill>
                <a:srgbClr val="143966"/>
              </a:solidFill>
              <a:latin typeface="思源黑体 CN Bold" pitchFamily="34" charset="0"/>
              <a:ea typeface="思源黑体 CN Bold" pitchFamily="34" charset="-122"/>
              <a:cs typeface="思源黑体 CN Bold" pitchFamily="34" charset="-120"/>
            </a:endParaRPr>
          </a:p>
        </p:txBody>
      </p:sp>
      <p:pic>
        <p:nvPicPr>
          <p:cNvPr id="29" name="Image 14" descr="https://test.web.static.jianzeppt.com/ppt-temp-img3/72fadac0f71b3696406091587ea619c2.png?x-oss-process=image/resize,w_1440,h_800,m_lfit/format,png"/>
          <p:cNvPicPr>
            <a:picLocks noChangeAspect="1"/>
          </p:cNvPicPr>
          <p:nvPr/>
        </p:nvPicPr>
        <p:blipFill>
          <a:blip r:embed="rId13"/>
          <a:stretch>
            <a:fillRect/>
          </a:stretch>
        </p:blipFill>
        <p:spPr>
          <a:xfrm>
            <a:off x="1828800" y="5410200"/>
            <a:ext cx="2910840" cy="609600"/>
          </a:xfrm>
          <a:prstGeom prst="rect">
            <a:avLst/>
          </a:prstGeom>
        </p:spPr>
      </p:pic>
      <p:sp>
        <p:nvSpPr>
          <p:cNvPr id="30" name="Text 13"/>
          <p:cNvSpPr/>
          <p:nvPr/>
        </p:nvSpPr>
        <p:spPr>
          <a:xfrm>
            <a:off x="1950720" y="5440680"/>
            <a:ext cx="26761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374051"/>
                </a:solidFill>
                <a:latin typeface="思源黑体 CN Bold" pitchFamily="34" charset="0"/>
                <a:ea typeface="思源黑体 CN Bold" pitchFamily="34" charset="-122"/>
                <a:cs typeface="思源黑体 CN Bold" pitchFamily="34" charset="-120"/>
              </a:rPr>
              <a:t>所有用户</a:t>
            </a:r>
            <a:endParaRPr lang="en-US" sz="1680" dirty="0"/>
          </a:p>
        </p:txBody>
      </p:sp>
      <p:sp>
        <p:nvSpPr>
          <p:cNvPr id="31" name="Text 14"/>
          <p:cNvSpPr/>
          <p:nvPr/>
        </p:nvSpPr>
        <p:spPr>
          <a:xfrm>
            <a:off x="1950720" y="5821680"/>
            <a:ext cx="267614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4B5463"/>
                </a:solidFill>
              </a:rPr>
              <a:t>cat /etc/passwd</a:t>
            </a:r>
            <a:endParaRPr lang="en-US" sz="1440" dirty="0"/>
          </a:p>
        </p:txBody>
      </p:sp>
      <p:pic>
        <p:nvPicPr>
          <p:cNvPr id="32" name="Image 15" descr="https://test.web.static.jianzeppt.com/ppt-temp-img3/38d9d8fb06c3c0faa7ba125cf3740325.png?x-oss-process=image/resize,w_1440,h_800,m_lfit/format,png"/>
          <p:cNvPicPr>
            <a:picLocks noChangeAspect="1"/>
          </p:cNvPicPr>
          <p:nvPr/>
        </p:nvPicPr>
        <p:blipFill>
          <a:blip r:embed="rId14"/>
          <a:stretch>
            <a:fillRect/>
          </a:stretch>
        </p:blipFill>
        <p:spPr>
          <a:xfrm>
            <a:off x="4968240" y="5410200"/>
            <a:ext cx="3230880" cy="609600"/>
          </a:xfrm>
          <a:prstGeom prst="rect">
            <a:avLst/>
          </a:prstGeom>
        </p:spPr>
      </p:pic>
      <p:sp>
        <p:nvSpPr>
          <p:cNvPr id="33" name="Text 15"/>
          <p:cNvSpPr/>
          <p:nvPr/>
        </p:nvSpPr>
        <p:spPr>
          <a:xfrm>
            <a:off x="5090160" y="5455920"/>
            <a:ext cx="29961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374051"/>
                </a:solidFill>
                <a:latin typeface="思源黑体 CN Bold" pitchFamily="34" charset="0"/>
                <a:ea typeface="思源黑体 CN Bold" pitchFamily="34" charset="-122"/>
                <a:cs typeface="思源黑体 CN Bold" pitchFamily="34" charset="-120"/>
              </a:rPr>
              <a:t>空口令</a:t>
            </a:r>
            <a:endParaRPr lang="en-US" sz="1680" dirty="0"/>
          </a:p>
        </p:txBody>
      </p:sp>
      <p:sp>
        <p:nvSpPr>
          <p:cNvPr id="34" name="Text 16"/>
          <p:cNvSpPr/>
          <p:nvPr/>
        </p:nvSpPr>
        <p:spPr>
          <a:xfrm>
            <a:off x="5090160" y="5806440"/>
            <a:ext cx="299618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4B5463"/>
                </a:solidFill>
              </a:rPr>
              <a:t>cat /etc/shadow | grep "::"</a:t>
            </a:r>
            <a:endParaRPr lang="en-US" sz="1440" dirty="0"/>
          </a:p>
        </p:txBody>
      </p:sp>
      <p:pic>
        <p:nvPicPr>
          <p:cNvPr id="35" name="Image 16" descr="https://test.web.static.jianzeppt.com/ppt-temp-img3/72fadac0f71b3696406091587ea619c2.png?x-oss-process=image/resize,w_1440,h_800,m_lfit/format,png"/>
          <p:cNvPicPr>
            <a:picLocks noChangeAspect="1"/>
          </p:cNvPicPr>
          <p:nvPr/>
        </p:nvPicPr>
        <p:blipFill>
          <a:blip r:embed="rId13"/>
          <a:stretch>
            <a:fillRect/>
          </a:stretch>
        </p:blipFill>
        <p:spPr>
          <a:xfrm>
            <a:off x="8442960" y="5410200"/>
            <a:ext cx="2910840" cy="609600"/>
          </a:xfrm>
          <a:prstGeom prst="rect">
            <a:avLst/>
          </a:prstGeom>
        </p:spPr>
      </p:pic>
      <p:sp>
        <p:nvSpPr>
          <p:cNvPr id="36" name="Text 17"/>
          <p:cNvSpPr/>
          <p:nvPr/>
        </p:nvSpPr>
        <p:spPr>
          <a:xfrm>
            <a:off x="8564880" y="5455920"/>
            <a:ext cx="26761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374051"/>
                </a:solidFill>
                <a:latin typeface="思源黑体 CN Bold" pitchFamily="34" charset="0"/>
                <a:ea typeface="思源黑体 CN Bold" pitchFamily="34" charset="-122"/>
                <a:cs typeface="思源黑体 CN Bold" pitchFamily="34" charset="-120"/>
              </a:rPr>
              <a:t>sudo权限</a:t>
            </a:r>
            <a:endParaRPr lang="en-US" sz="1680" dirty="0"/>
          </a:p>
        </p:txBody>
      </p:sp>
      <p:sp>
        <p:nvSpPr>
          <p:cNvPr id="37" name="Text 18"/>
          <p:cNvSpPr/>
          <p:nvPr/>
        </p:nvSpPr>
        <p:spPr>
          <a:xfrm>
            <a:off x="8564880" y="5821680"/>
            <a:ext cx="267614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4B5463"/>
                </a:solidFill>
              </a:rPr>
              <a:t>cat /etc/sudoers</a:t>
            </a:r>
            <a:endParaRPr lang="en-US" sz="14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《主机安全测评记录表》填写说明</a:t>
            </a:r>
            <a:endParaRPr lang="en-US" sz="2760" dirty="0"/>
          </a:p>
        </p:txBody>
      </p:sp>
      <p:graphicFrame>
        <p:nvGraphicFramePr>
          <p:cNvPr id="20" name="Table 0"/>
          <p:cNvGraphicFramePr>
            <a:graphicFrameLocks noGrp="1"/>
          </p:cNvGraphicFramePr>
          <p:nvPr/>
        </p:nvGraphicFramePr>
        <p:xfrm>
          <a:off x="609600" y="1056005"/>
          <a:ext cx="10972800" cy="5391785"/>
        </p:xfrm>
        <a:graphic>
          <a:graphicData uri="http://schemas.openxmlformats.org/drawingml/2006/table">
            <a:tbl>
              <a:tblPr/>
              <a:tblGrid>
                <a:gridCol w="1151890"/>
                <a:gridCol w="1920240"/>
                <a:gridCol w="7900670"/>
              </a:tblGrid>
              <a:tr h="541867">
                <a:tc>
                  <a:txBody>
                    <a:bodyPr/>
                    <a:lstStyle/>
                    <a:p>
                      <a:pPr marL="0" indent="0" algn="ctr">
                        <a:buNone/>
                      </a:pPr>
                      <a:r>
                        <a:rPr lang="en-US" sz="1600" dirty="0">
                          <a:solidFill>
                            <a:srgbClr val="000000"/>
                          </a:solidFill>
                        </a:rPr>
                        <a:t>字段</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填写要求</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示例</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主机名称/IP</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被检查主机的标识</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WEB-SVR-01/192.168.1.10</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操作系统</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系统版本</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WindowsServer2019/CentOS7.9</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测评项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标准条款编号+名称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8.1.4.1a)身份鉴别-密码复杂度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核查结果</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当前配置状态</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密码必须符合复杂性要求策略未启用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符合性判定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符合/部分符合/不符合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不符合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问题描述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具体、准确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密码策略中密码必须符合复杂性要求未启用，允许用户设置简单密码（如123456），存在弱口令风险</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标准依据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标准编号+条款</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GB/T22239-20198.1.4.1a)</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整改建议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具体、可操作</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在组策略编辑器中，启用密码必须符合复杂性要求策略，设置密码最小长度为8位，强制密码历史为5个，并限令5个工作日内完成整改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实验③怎么判——JSecProbe 录入与四档判定</a:t>
            </a:r>
            <a:endParaRPr lang="en-US" sz="2760" dirty="0"/>
          </a:p>
        </p:txBody>
      </p:sp>
      <p:graphicFrame>
        <p:nvGraphicFramePr>
          <p:cNvPr id="20" name="Table 0"/>
          <p:cNvGraphicFramePr>
            <a:graphicFrameLocks noGrp="1"/>
          </p:cNvGraphicFramePr>
          <p:nvPr/>
        </p:nvGraphicFramePr>
        <p:xfrm>
          <a:off x="609600" y="1056005"/>
          <a:ext cx="10972800" cy="5391785"/>
        </p:xfrm>
        <a:graphic>
          <a:graphicData uri="http://schemas.openxmlformats.org/drawingml/2006/table">
            <a:tbl>
              <a:tblPr/>
              <a:tblGrid>
                <a:gridCol w="1151890"/>
                <a:gridCol w="1920240"/>
                <a:gridCol w="7900670"/>
              </a:tblGrid>
              <a:tr h="541867">
                <a:tc>
                  <a:txBody>
                    <a:bodyPr/>
                    <a:lstStyle/>
                    <a:p>
                      <a:pPr marL="0" indent="0" algn="ctr">
                        <a:buNone/>
                      </a:pPr>
                      <a:r>
                        <a:rPr lang="en-US" sz="1600" dirty="0">
                          <a:solidFill>
                            <a:srgbClr val="000000"/>
                          </a:solidFill>
                        </a:rPr>
                        <a:t>填什么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怎么填（拿 W1 举例）</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示例</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测评项</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选标准条款编号 + 名称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8.1.4.1 a) 身份鉴别-口令复杂度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核查结果</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抄平台上的实测值，只写数据不写结论</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密码长度最小值 = 6（要求 ≥ 8）</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符合性判定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四选一：符合 / 部分符合 / 不符合 / 不适用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不符合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证据编号</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填对应截图的文件名，与截图包一一对应</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W1-01.png</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问题描述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写清"做到哪、差在哪"，不写空话</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已启用复杂度策略，但最小长度 6 位 &lt; 要求的 8 位</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整改建议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具体到操作路径 + 完成期限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secpol.msc → 密码长度最小值改为 8，5 个工作日内完成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实验④交什么——成果与提交前自查</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4023360"/>
          </a:xfrm>
          <a:prstGeom prst="rect">
            <a:avLst/>
          </a:prstGeom>
          <a:effectLst>
            <a:outerShdw blurRad="387096000" dist="193548000" dir="-1" algn="bl" rotWithShape="0">
              <a:srgbClr val="000000">
                <a:alpha val="500000000"/>
              </a:srgbClr>
            </a:outerShdw>
          </a:effectLst>
        </p:spPr>
      </p:pic>
      <p:pic>
        <p:nvPicPr>
          <p:cNvPr id="7" name="Image 4" descr="https://test.web.static.jianzeppt.com/ppt-temp-img3/b54040247a8bf7eecc48b65fabd2d0a2.png?x-oss-process=image/resize,w_1440,h_800,m_lfit/format,png"/>
          <p:cNvPicPr>
            <a:picLocks noChangeAspect="1"/>
          </p:cNvPicPr>
          <p:nvPr/>
        </p:nvPicPr>
        <p:blipFill>
          <a:blip r:embed="rId6"/>
          <a:stretch>
            <a:fillRect/>
          </a:stretch>
        </p:blipFill>
        <p:spPr>
          <a:xfrm>
            <a:off x="624840" y="1386840"/>
            <a:ext cx="10942320" cy="563880"/>
          </a:xfrm>
          <a:prstGeom prst="rect">
            <a:avLst/>
          </a:prstGeom>
        </p:spPr>
      </p:pic>
      <p:sp>
        <p:nvSpPr>
          <p:cNvPr id="8" name="Text 1"/>
          <p:cNvSpPr/>
          <p:nvPr/>
        </p:nvSpPr>
        <p:spPr>
          <a:xfrm>
            <a:off x="80772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要素</a:t>
            </a:r>
            <a:endParaRPr lang="en-US" sz="1920" dirty="0"/>
          </a:p>
        </p:txBody>
      </p:sp>
      <p:pic>
        <p:nvPicPr>
          <p:cNvPr id="9" name="Image 5" descr="https://test.web.static.jianzeppt.com/ppt-temp-img3/2c359c76743aabf648ceba022ec8dc96.png?x-oss-process=image/resize,w_1440,h_800,m_lfit/format,png"/>
          <p:cNvPicPr>
            <a:picLocks noChangeAspect="1"/>
          </p:cNvPicPr>
          <p:nvPr/>
        </p:nvPicPr>
        <p:blipFill>
          <a:blip r:embed="rId7"/>
          <a:stretch>
            <a:fillRect/>
          </a:stretch>
        </p:blipFill>
        <p:spPr>
          <a:xfrm>
            <a:off x="624840" y="1943100"/>
            <a:ext cx="2188312" cy="15240"/>
          </a:xfrm>
          <a:prstGeom prst="rect">
            <a:avLst/>
          </a:prstGeom>
        </p:spPr>
      </p:pic>
      <p:sp>
        <p:nvSpPr>
          <p:cNvPr id="10" name="Text 2"/>
          <p:cNvSpPr/>
          <p:nvPr/>
        </p:nvSpPr>
        <p:spPr>
          <a:xfrm>
            <a:off x="3002280" y="147828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内容</a:t>
            </a:r>
            <a:endParaRPr lang="en-US" sz="1920" dirty="0"/>
          </a:p>
        </p:txBody>
      </p:sp>
      <p:pic>
        <p:nvPicPr>
          <p:cNvPr id="11" name="Image 6" descr="https://test.web.static.jianzeppt.com/ppt-temp-img3/c4f68d3066b082dace6fd1ac92d24d2f.png?x-oss-process=image/resize,w_1440,h_800,m_lfit/format,png"/>
          <p:cNvPicPr>
            <a:picLocks noChangeAspect="1"/>
          </p:cNvPicPr>
          <p:nvPr/>
        </p:nvPicPr>
        <p:blipFill>
          <a:blip r:embed="rId8"/>
          <a:stretch>
            <a:fillRect/>
          </a:stretch>
        </p:blipFill>
        <p:spPr>
          <a:xfrm>
            <a:off x="2813152" y="1943100"/>
            <a:ext cx="8754008" cy="15240"/>
          </a:xfrm>
          <a:prstGeom prst="rect">
            <a:avLst/>
          </a:prstGeom>
        </p:spPr>
      </p:pic>
      <p:pic>
        <p:nvPicPr>
          <p:cNvPr id="12" name="Image 7" descr="https://test.web.static.jianzeppt.com/ppt-temp-img3/f24fa1283387ad1306817eda4e33a599.png?x-oss-process=image/resize,w_1440,h_800,m_lfit/format,png"/>
          <p:cNvPicPr>
            <a:picLocks noChangeAspect="1"/>
          </p:cNvPicPr>
          <p:nvPr/>
        </p:nvPicPr>
        <p:blipFill>
          <a:blip r:embed="rId9"/>
          <a:stretch>
            <a:fillRect/>
          </a:stretch>
        </p:blipFill>
        <p:spPr>
          <a:xfrm>
            <a:off x="624840" y="1950720"/>
            <a:ext cx="10942320" cy="472440"/>
          </a:xfrm>
          <a:prstGeom prst="rect">
            <a:avLst/>
          </a:prstGeom>
        </p:spPr>
      </p:pic>
      <p:sp>
        <p:nvSpPr>
          <p:cNvPr id="13" name="Text 3"/>
          <p:cNvSpPr/>
          <p:nvPr/>
        </p:nvSpPr>
        <p:spPr>
          <a:xfrm>
            <a:off x="807720" y="20421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必交 1</a:t>
            </a:r>
            <a:endParaRPr lang="en-US" sz="1680" dirty="0"/>
          </a:p>
        </p:txBody>
      </p:sp>
      <p:sp>
        <p:nvSpPr>
          <p:cNvPr id="14" name="Text 4"/>
          <p:cNvSpPr/>
          <p:nvPr/>
        </p:nvSpPr>
        <p:spPr>
          <a:xfrm>
            <a:off x="3002280" y="204216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操作截图包：4 个实验 × 3 张 = 12 张，按 W1-01.png 命名，与记录表"证据"列对应</a:t>
            </a:r>
            <a:endParaRPr lang="en-US" sz="1680" dirty="0"/>
          </a:p>
        </p:txBody>
      </p:sp>
      <p:pic>
        <p:nvPicPr>
          <p:cNvPr id="15" name="Image 8"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407920"/>
            <a:ext cx="10942320" cy="15240"/>
          </a:xfrm>
          <a:prstGeom prst="rect">
            <a:avLst/>
          </a:prstGeom>
        </p:spPr>
      </p:pic>
      <p:sp>
        <p:nvSpPr>
          <p:cNvPr id="16" name="Text 5"/>
          <p:cNvSpPr/>
          <p:nvPr/>
        </p:nvSpPr>
        <p:spPr>
          <a:xfrm>
            <a:off x="807720" y="24993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必交 2</a:t>
            </a:r>
            <a:endParaRPr lang="en-US" sz="1680" dirty="0"/>
          </a:p>
        </p:txBody>
      </p:sp>
      <p:sp>
        <p:nvSpPr>
          <p:cNvPr id="17" name="Text 6"/>
          <p:cNvSpPr/>
          <p:nvPr/>
        </p:nvSpPr>
        <p:spPr>
          <a:xfrm>
            <a:off x="3002280" y="249936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《主机安全测评记录表》：12 条核查项全填（实测值 + 四档判定 + 问题描述 + 整改建议）</a:t>
            </a:r>
            <a:endParaRPr lang="en-US" sz="1680" dirty="0"/>
          </a:p>
        </p:txBody>
      </p:sp>
      <p:pic>
        <p:nvPicPr>
          <p:cNvPr id="18" name="Image 9"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2872740"/>
            <a:ext cx="10942320" cy="15240"/>
          </a:xfrm>
          <a:prstGeom prst="rect">
            <a:avLst/>
          </a:prstGeom>
        </p:spPr>
      </p:pic>
      <p:pic>
        <p:nvPicPr>
          <p:cNvPr id="19" name="Image 10" descr="https://test.web.static.jianzeppt.com/ppt-temp-img3/509e1eef55ee571b85000ff775c9634f.png?x-oss-process=image/resize,w_1440,h_800,m_lfit/format,png"/>
          <p:cNvPicPr>
            <a:picLocks noChangeAspect="1"/>
          </p:cNvPicPr>
          <p:nvPr/>
        </p:nvPicPr>
        <p:blipFill>
          <a:blip r:embed="rId11"/>
          <a:stretch>
            <a:fillRect/>
          </a:stretch>
        </p:blipFill>
        <p:spPr>
          <a:xfrm>
            <a:off x="624840" y="2880360"/>
            <a:ext cx="10942320" cy="1127760"/>
          </a:xfrm>
          <a:prstGeom prst="rect">
            <a:avLst/>
          </a:prstGeom>
        </p:spPr>
      </p:pic>
      <p:sp>
        <p:nvSpPr>
          <p:cNvPr id="20" name="Text 7"/>
          <p:cNvSpPr/>
          <p:nvPr/>
        </p:nvSpPr>
        <p:spPr>
          <a:xfrm>
            <a:off x="807720" y="2971800"/>
            <a:ext cx="1837944" cy="944880"/>
          </a:xfrm>
          <a:prstGeom prst="rect">
            <a:avLst/>
          </a:prstGeom>
          <a:noFill/>
        </p:spPr>
        <p:txBody>
          <a:bodyPr wrap="none" lIns="0" tIns="0" rIns="0" bIns="0" rtlCol="0" anchor="ct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必交 3</a:t>
            </a:r>
            <a:endParaRPr lang="en-US" sz="1680" dirty="0"/>
          </a:p>
        </p:txBody>
      </p:sp>
      <p:sp>
        <p:nvSpPr>
          <p:cNvPr id="21" name="Text 8"/>
          <p:cNvSpPr/>
          <p:nvPr/>
        </p:nvSpPr>
        <p:spPr>
          <a:xfrm>
            <a:off x="2004060" y="2971800"/>
            <a:ext cx="4800600" cy="269240"/>
          </a:xfrm>
          <a:prstGeom prst="rect">
            <a:avLst/>
          </a:prstGeom>
          <a:noFill/>
        </p:spPr>
        <p:txBody>
          <a:bodyPr wrap="non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平台登录与实验列表截图：含个人信息、实验名称、完成状态</a:t>
            </a:r>
            <a:endParaRPr lang="en-US" sz="1400" dirty="0">
              <a:solidFill>
                <a:srgbClr val="333333"/>
              </a:solidFill>
              <a:latin typeface="思源黑体 CN" pitchFamily="34" charset="0"/>
              <a:ea typeface="思源黑体 CN" pitchFamily="34" charset="-122"/>
              <a:cs typeface="思源黑体 CN" pitchFamily="34" charset="-120"/>
            </a:endParaRPr>
          </a:p>
        </p:txBody>
      </p:sp>
      <p:sp>
        <p:nvSpPr>
          <p:cNvPr id="22" name="Text 9"/>
          <p:cNvSpPr/>
          <p:nvPr/>
        </p:nvSpPr>
        <p:spPr>
          <a:xfrm>
            <a:off x="7254240" y="2971800"/>
            <a:ext cx="4312920"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文件命名：学号_姓名_实验4.1_截图.zip / 学号_姓名_实验4.1_记录表.docx</a:t>
            </a:r>
            <a:endParaRPr lang="en-US" sz="1400" dirty="0">
              <a:solidFill>
                <a:srgbClr val="333333"/>
              </a:solidFill>
              <a:latin typeface="思源黑体 CN" pitchFamily="34" charset="0"/>
              <a:ea typeface="思源黑体 CN" pitchFamily="34" charset="-122"/>
              <a:cs typeface="思源黑体 CN" pitchFamily="34" charset="-120"/>
            </a:endParaRPr>
          </a:p>
        </p:txBody>
      </p:sp>
      <p:sp>
        <p:nvSpPr>
          <p:cNvPr id="23" name="Text 10"/>
          <p:cNvSpPr/>
          <p:nvPr/>
        </p:nvSpPr>
        <p:spPr>
          <a:xfrm>
            <a:off x="2019300" y="3307080"/>
            <a:ext cx="4978400" cy="269240"/>
          </a:xfrm>
          <a:prstGeom prst="rect">
            <a:avLst/>
          </a:prstGeom>
          <a:noFill/>
        </p:spPr>
        <p:txBody>
          <a:bodyPr wrap="non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提交方式：学习通 → 任务 4.1 → 作业区（课内完成并提交）</a:t>
            </a:r>
            <a:endParaRPr lang="en-US" sz="1400" dirty="0">
              <a:solidFill>
                <a:srgbClr val="333333"/>
              </a:solidFill>
              <a:latin typeface="思源黑体 CN" pitchFamily="34" charset="0"/>
              <a:ea typeface="思源黑体 CN" pitchFamily="34" charset="-122"/>
              <a:cs typeface="思源黑体 CN" pitchFamily="34" charset="-120"/>
            </a:endParaRPr>
          </a:p>
        </p:txBody>
      </p:sp>
      <p:sp>
        <p:nvSpPr>
          <p:cNvPr id="24" name="Text 11"/>
          <p:cNvSpPr/>
          <p:nvPr/>
        </p:nvSpPr>
        <p:spPr>
          <a:xfrm>
            <a:off x="7254240" y="3543300"/>
            <a:ext cx="4205605" cy="538480"/>
          </a:xfrm>
          <a:prstGeom prst="rect">
            <a:avLst/>
          </a:prstGeom>
          <a:noFill/>
        </p:spPr>
        <p:txBody>
          <a:bodyPr wrap="squar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提交前自查：☐ 12 条都有截图且编号对应 ☐ 实测值是具体值不是结论</a:t>
            </a:r>
            <a:endParaRPr lang="en-US" sz="1400" dirty="0">
              <a:solidFill>
                <a:srgbClr val="333333"/>
              </a:solidFill>
              <a:latin typeface="思源黑体 CN" pitchFamily="34" charset="0"/>
              <a:ea typeface="思源黑体 CN" pitchFamily="34" charset="-122"/>
              <a:cs typeface="思源黑体 CN" pitchFamily="34" charset="-120"/>
            </a:endParaRPr>
          </a:p>
        </p:txBody>
      </p:sp>
      <p:sp>
        <p:nvSpPr>
          <p:cNvPr id="25" name="Text 12"/>
          <p:cNvSpPr/>
          <p:nvPr/>
        </p:nvSpPr>
        <p:spPr>
          <a:xfrm>
            <a:off x="2019300" y="3627120"/>
            <a:ext cx="4356100" cy="269240"/>
          </a:xfrm>
          <a:prstGeom prst="rect">
            <a:avLst/>
          </a:prstGeom>
          <a:noFill/>
        </p:spPr>
        <p:txBody>
          <a:bodyPr wrap="none" lIns="0" tIns="0" rIns="0" bIns="0" rtlCol="0" anchor="t">
            <a:spAutoFit/>
          </a:bodyPr>
          <a:lstStyle/>
          <a:p>
            <a:pPr marL="0" indent="0" algn="l">
              <a:lnSpc>
                <a:spcPct val="125000"/>
              </a:lnSpc>
              <a:buNone/>
            </a:pPr>
            <a:r>
              <a:rPr lang="en-US" sz="1400" dirty="0">
                <a:solidFill>
                  <a:srgbClr val="333333"/>
                </a:solidFill>
                <a:latin typeface="思源黑体 CN" pitchFamily="34" charset="0"/>
                <a:ea typeface="思源黑体 CN" pitchFamily="34" charset="-122"/>
                <a:cs typeface="思源黑体 CN" pitchFamily="34" charset="-120"/>
              </a:rPr>
              <a:t>☐ 不符合项写清"差在哪" ☐ 没有用"测一台代表全部"</a:t>
            </a:r>
            <a:endParaRPr lang="en-US" sz="1400" dirty="0">
              <a:solidFill>
                <a:srgbClr val="333333"/>
              </a:solidFill>
              <a:latin typeface="思源黑体 CN" pitchFamily="34" charset="0"/>
              <a:ea typeface="思源黑体 CN" pitchFamily="34" charset="-122"/>
              <a:cs typeface="思源黑体 CN" pitchFamily="34" charset="-120"/>
            </a:endParaRPr>
          </a:p>
        </p:txBody>
      </p:sp>
      <p:pic>
        <p:nvPicPr>
          <p:cNvPr id="26" name="Image 11"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3992880"/>
            <a:ext cx="10942320" cy="15240"/>
          </a:xfrm>
          <a:prstGeom prst="rect">
            <a:avLst/>
          </a:prstGeom>
        </p:spPr>
      </p:pic>
      <p:sp>
        <p:nvSpPr>
          <p:cNvPr id="27" name="Text 13"/>
          <p:cNvSpPr/>
          <p:nvPr/>
        </p:nvSpPr>
        <p:spPr>
          <a:xfrm>
            <a:off x="807720" y="408432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评分看点</a:t>
            </a:r>
            <a:endParaRPr lang="en-US" sz="1680" dirty="0"/>
          </a:p>
        </p:txBody>
      </p:sp>
      <p:sp>
        <p:nvSpPr>
          <p:cNvPr id="28" name="Text 14"/>
          <p:cNvSpPr/>
          <p:nvPr/>
        </p:nvSpPr>
        <p:spPr>
          <a:xfrm>
            <a:off x="3002280" y="408432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平台完成度 30% ＋ 取证质量 25% ＋ 判定与描述 25% ＋ 职业素养 20%</a:t>
            </a:r>
            <a:endParaRPr lang="en-US" sz="1680" dirty="0"/>
          </a:p>
        </p:txBody>
      </p:sp>
      <p:pic>
        <p:nvPicPr>
          <p:cNvPr id="29" name="Image 12"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4457700"/>
            <a:ext cx="10942320" cy="15240"/>
          </a:xfrm>
          <a:prstGeom prst="rect">
            <a:avLst/>
          </a:prstGeom>
        </p:spPr>
      </p:pic>
      <p:pic>
        <p:nvPicPr>
          <p:cNvPr id="30" name="Image 13" descr="https://test.web.static.jianzeppt.com/ppt-temp-img3/f24fa1283387ad1306817eda4e33a599.png?x-oss-process=image/resize,w_1440,h_800,m_lfit/format,png"/>
          <p:cNvPicPr>
            <a:picLocks noChangeAspect="1"/>
          </p:cNvPicPr>
          <p:nvPr/>
        </p:nvPicPr>
        <p:blipFill>
          <a:blip r:embed="rId9"/>
          <a:stretch>
            <a:fillRect/>
          </a:stretch>
        </p:blipFill>
        <p:spPr>
          <a:xfrm>
            <a:off x="624840" y="4465320"/>
            <a:ext cx="10942320" cy="472440"/>
          </a:xfrm>
          <a:prstGeom prst="rect">
            <a:avLst/>
          </a:prstGeom>
        </p:spPr>
      </p:pic>
      <p:sp>
        <p:nvSpPr>
          <p:cNvPr id="31" name="Text 15"/>
          <p:cNvSpPr/>
          <p:nvPr/>
        </p:nvSpPr>
        <p:spPr>
          <a:xfrm>
            <a:off x="807720" y="4556760"/>
            <a:ext cx="1837944" cy="26670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职业素养</a:t>
            </a:r>
            <a:endParaRPr lang="en-US" sz="1680" dirty="0"/>
          </a:p>
        </p:txBody>
      </p:sp>
      <p:sp>
        <p:nvSpPr>
          <p:cNvPr id="32" name="Text 16"/>
          <p:cNvSpPr/>
          <p:nvPr/>
        </p:nvSpPr>
        <p:spPr>
          <a:xfrm>
            <a:off x="3002280" y="4556760"/>
            <a:ext cx="8406384" cy="26670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如实记录、截图不外传、组内每人对 4 个实验独立取证，不共用截图</a:t>
            </a:r>
            <a:endParaRPr lang="en-US" sz="1680" dirty="0"/>
          </a:p>
        </p:txBody>
      </p:sp>
      <p:pic>
        <p:nvPicPr>
          <p:cNvPr id="33" name="Image 14" descr="https://test.web.static.jianzeppt.com/ppt-temp-img3/6f53b9a472d9b557c3939f565e053bf5.png?x-oss-process=image/resize,w_1440,h_800,m_lfit/format,png"/>
          <p:cNvPicPr>
            <a:picLocks noChangeAspect="1"/>
          </p:cNvPicPr>
          <p:nvPr/>
        </p:nvPicPr>
        <p:blipFill>
          <a:blip r:embed="rId10"/>
          <a:stretch>
            <a:fillRect/>
          </a:stretch>
        </p:blipFill>
        <p:spPr>
          <a:xfrm>
            <a:off x="624840" y="4922520"/>
            <a:ext cx="10942320" cy="15240"/>
          </a:xfrm>
          <a:prstGeom prst="rect">
            <a:avLst/>
          </a:prstGeom>
        </p:spPr>
      </p:pic>
      <p:sp>
        <p:nvSpPr>
          <p:cNvPr id="34" name="Text 17"/>
          <p:cNvSpPr/>
          <p:nvPr/>
        </p:nvSpPr>
        <p:spPr>
          <a:xfrm>
            <a:off x="807720" y="5013960"/>
            <a:ext cx="1837944" cy="274320"/>
          </a:xfrm>
          <a:prstGeom prst="rect">
            <a:avLst/>
          </a:prstGeom>
          <a:noFill/>
        </p:spPr>
        <p:txBody>
          <a:bodyPr wrap="none" lIns="0" tIns="0" rIns="0" bIns="0" rtlCol="0" anchor="t">
            <a:spAutoFit/>
          </a:bodyPr>
          <a:lstStyle/>
          <a:p>
            <a:pPr marL="0" indent="0" algn="l">
              <a:lnSpc>
                <a:spcPct val="125000"/>
              </a:lnSpc>
              <a:buNone/>
            </a:pPr>
            <a:r>
              <a:rPr lang="en-US" sz="1680" b="1" dirty="0">
                <a:solidFill>
                  <a:srgbClr val="143966"/>
                </a:solidFill>
                <a:latin typeface="思源黑体 CN Bold" pitchFamily="34" charset="0"/>
                <a:ea typeface="思源黑体 CN Bold" pitchFamily="34" charset="-122"/>
                <a:cs typeface="思源黑体 CN Bold" pitchFamily="34" charset="-120"/>
              </a:rPr>
              <a:t>交不了怎么办</a:t>
            </a:r>
            <a:endParaRPr lang="en-US" sz="1680" dirty="0"/>
          </a:p>
        </p:txBody>
      </p:sp>
      <p:sp>
        <p:nvSpPr>
          <p:cNvPr id="35" name="Text 18"/>
          <p:cNvSpPr/>
          <p:nvPr/>
        </p:nvSpPr>
        <p:spPr>
          <a:xfrm>
            <a:off x="3002280" y="5013960"/>
            <a:ext cx="8406384" cy="274320"/>
          </a:xfrm>
          <a:prstGeom prst="rect">
            <a:avLst/>
          </a:prstGeom>
          <a:noFill/>
        </p:spPr>
        <p:txBody>
          <a:bodyPr wrap="none" lIns="0" tIns="0" rIns="0" bIns="0" rtlCol="0" anchor="t">
            <a:spAutoFit/>
          </a:bodyPr>
          <a:lstStyle/>
          <a:p>
            <a:pPr marL="0" indent="0" algn="l">
              <a:lnSpc>
                <a:spcPct val="125000"/>
              </a:lnSpc>
              <a:buNone/>
            </a:pPr>
            <a:r>
              <a:rPr lang="en-US" sz="1680" dirty="0">
                <a:solidFill>
                  <a:srgbClr val="333333"/>
                </a:solidFill>
                <a:latin typeface="思源黑体 CN" pitchFamily="34" charset="0"/>
                <a:ea typeface="思源黑体 CN" pitchFamily="34" charset="-122"/>
                <a:cs typeface="思源黑体 CN" pitchFamily="34" charset="-120"/>
              </a:rPr>
              <a:t>先提交已完成部分并在记录表注明未完成项，课后补交；不要为了凑数填假数据</a:t>
            </a:r>
            <a:endParaRPr lang="en-US" sz="1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本讲配套素材——什么时候用、用在哪一步</a:t>
            </a:r>
            <a:endParaRPr lang="en-US" sz="2760" dirty="0"/>
          </a:p>
        </p:txBody>
      </p:sp>
      <p:graphicFrame>
        <p:nvGraphicFramePr>
          <p:cNvPr id="20" name="Table 0"/>
          <p:cNvGraphicFramePr>
            <a:graphicFrameLocks noGrp="1"/>
          </p:cNvGraphicFramePr>
          <p:nvPr/>
        </p:nvGraphicFramePr>
        <p:xfrm>
          <a:off x="609600" y="1056005"/>
          <a:ext cx="10972800" cy="5391785"/>
        </p:xfrm>
        <a:graphic>
          <a:graphicData uri="http://schemas.openxmlformats.org/drawingml/2006/table">
            <a:tbl>
              <a:tblPr/>
              <a:tblGrid>
                <a:gridCol w="1151890"/>
                <a:gridCol w="1920240"/>
                <a:gridCol w="7900670"/>
              </a:tblGrid>
              <a:tr h="541867">
                <a:tc>
                  <a:txBody>
                    <a:bodyPr/>
                    <a:lstStyle/>
                    <a:p>
                      <a:pPr marL="0" indent="0" algn="ctr">
                        <a:buNone/>
                      </a:pPr>
                      <a:r>
                        <a:rPr lang="en-US" sz="1600" dirty="0">
                          <a:solidFill>
                            <a:srgbClr val="000000"/>
                          </a:solidFill>
                        </a:rPr>
                        <a:t>素材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用在哪一步</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里面有什么</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素材1：主机安全测评记录表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实验③录入与出表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记录表模板：主机信息、测评项、核查结果、四档判定、整改建议</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素材2：Windows 配置核查检查表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实验②查 Windows</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检查项 — 操作路径 — 合格标准 — 截图要点 四列对照</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素材3：Linux 配置核查检查表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实验②查 Linux</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检查项 — 核查命令 — 合格标准 — 回显要点 四列对照</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素材6：西普平台实验选取清单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实验①选实验</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8 个实验的编号、平台实验名、覆盖维度、关键操作与建议用时</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素材7：等保测评实验记录表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实验②③④全程</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8 实验 × 3 条 = 24 条核查项，已预填基线期望值，只需填所选 12 条</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素材8：JSecProbe 录入与判定操作卡</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实验③判定</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rPr>
                        <a:t>现场核查路径、四档判定口径、证据编号规则、导出步骤</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41867">
                <a:tc>
                  <a:txBody>
                    <a:bodyPr/>
                    <a:lstStyle/>
                    <a:p>
                      <a:pPr marL="0" indent="0" algn="ctr">
                        <a:buNone/>
                      </a:pPr>
                      <a:r>
                        <a:rPr lang="en-US" sz="1600" dirty="0">
                          <a:solidFill>
                            <a:srgbClr val="000000"/>
                          </a:solidFill>
                        </a:rPr>
                        <a:t>素材4：课后作业——主机安全基线分析</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课后</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分析题与提交要求</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4673282" y="897806"/>
            <a:ext cx="2863855" cy="493776"/>
          </a:xfrm>
          <a:prstGeom prst="rect">
            <a:avLst/>
          </a:prstGeom>
          <a:noFill/>
        </p:spPr>
        <p:txBody>
          <a:bodyPr wrap="square" lIns="0" tIns="0" rIns="0" bIns="0" rtlCol="0" anchor="b">
            <a:spAutoFit/>
          </a:bodyPr>
          <a:lstStyle/>
          <a:p>
            <a:pPr marL="0" indent="0" algn="ctr">
              <a:lnSpc>
                <a:spcPct val="120000"/>
              </a:lnSpc>
              <a:buNone/>
            </a:pPr>
            <a:r>
              <a:rPr lang="en-US" sz="3240" dirty="0">
                <a:solidFill>
                  <a:srgbClr val="FFFFFF"/>
                </a:solidFill>
              </a:rPr>
              <a:t>Part.04</a:t>
            </a:r>
            <a:endParaRPr lang="en-US" sz="3240" dirty="0"/>
          </a:p>
        </p:txBody>
      </p:sp>
      <p:sp>
        <p:nvSpPr>
          <p:cNvPr id="4" name="Text 1"/>
          <p:cNvSpPr/>
          <p:nvPr/>
        </p:nvSpPr>
        <p:spPr>
          <a:xfrm>
            <a:off x="771842" y="1617339"/>
            <a:ext cx="10666735" cy="804672"/>
          </a:xfrm>
          <a:prstGeom prst="rect">
            <a:avLst/>
          </a:prstGeom>
          <a:noFill/>
        </p:spPr>
        <p:txBody>
          <a:bodyPr wrap="none" lIns="0" tIns="0" rIns="0" bIns="0" rtlCol="0" anchor="b">
            <a:spAutoFit/>
          </a:bodyPr>
          <a:lstStyle/>
          <a:p>
            <a:pPr marL="0" indent="0" algn="ctr">
              <a:lnSpc>
                <a:spcPct val="100000"/>
              </a:lnSpc>
              <a:buNone/>
            </a:pPr>
            <a:r>
              <a:rPr lang="en-US" sz="5280" dirty="0">
                <a:solidFill>
                  <a:srgbClr val="FFFFFF"/>
                </a:solidFill>
              </a:rPr>
              <a:t>回顾与拓展——易错点、作业与下节预告</a:t>
            </a:r>
            <a:endParaRPr lang="en-US" sz="5280" dirty="0"/>
          </a:p>
        </p:txBody>
      </p:sp>
      <p:sp>
        <p:nvSpPr>
          <p:cNvPr id="5" name="Text 2"/>
          <p:cNvSpPr/>
          <p:nvPr/>
        </p:nvSpPr>
        <p:spPr>
          <a:xfrm>
            <a:off x="775939" y="2612069"/>
            <a:ext cx="10658540" cy="329089"/>
          </a:xfrm>
          <a:prstGeom prst="rect">
            <a:avLst/>
          </a:prstGeom>
          <a:noFill/>
        </p:spPr>
        <p:txBody>
          <a:bodyPr wrap="square" lIns="0" tIns="0" rIns="0" bIns="0" rtlCol="0" anchor="t">
            <a:spAutoFit/>
          </a:bodyPr>
          <a:lstStyle/>
          <a:p>
            <a:pPr marL="0" indent="0" algn="ctr">
              <a:lnSpc>
                <a:spcPct val="120000"/>
              </a:lnSpc>
              <a:buNone/>
            </a:pPr>
            <a:r>
              <a:rPr lang="en-US" sz="2160" dirty="0">
                <a:solidFill>
                  <a:srgbClr val="FFFFFF"/>
                </a:solidFill>
              </a:rPr>
              <a:t>把今天查出来的问题，写成别人能照着做的整改建议</a:t>
            </a:r>
            <a:endParaRPr lang="en-US" sz="21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职业提醒——你写下的每个字都要负责</a:t>
            </a:r>
            <a:endParaRPr lang="en-US" sz="2760" dirty="0"/>
          </a:p>
        </p:txBody>
      </p:sp>
      <p:pic>
        <p:nvPicPr>
          <p:cNvPr id="6" name="Image 3" descr="https://test.web.static.jianzeppt.com/ppt-temp-img3/e213a2527a8bcfe1b5274959e5fb7361.png?x-oss-process=image/resize,w_1440,h_800,m_lfit/format,png"/>
          <p:cNvPicPr>
            <a:picLocks noChangeAspect="1"/>
          </p:cNvPicPr>
          <p:nvPr/>
        </p:nvPicPr>
        <p:blipFill>
          <a:blip r:embed="rId4"/>
          <a:stretch>
            <a:fillRect/>
          </a:stretch>
        </p:blipFill>
        <p:spPr>
          <a:xfrm>
            <a:off x="609600" y="1371600"/>
            <a:ext cx="3413760" cy="4876800"/>
          </a:xfrm>
          <a:prstGeom prst="rect">
            <a:avLst/>
          </a:prstGeom>
        </p:spPr>
      </p:pic>
      <p:sp>
        <p:nvSpPr>
          <p:cNvPr id="7" name="Text 1"/>
          <p:cNvSpPr/>
          <p:nvPr/>
        </p:nvSpPr>
        <p:spPr>
          <a:xfrm>
            <a:off x="929640" y="217932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每一台主机都是一个“节点”，连接起来就是“国家网络”</a:t>
            </a:r>
            <a:endParaRPr lang="en-US" sz="1800" dirty="0"/>
          </a:p>
        </p:txBody>
      </p:sp>
      <p:sp>
        <p:nvSpPr>
          <p:cNvPr id="8" name="Text 2"/>
          <p:cNvSpPr/>
          <p:nvPr/>
        </p:nvSpPr>
        <p:spPr>
          <a:xfrm>
            <a:off x="929640" y="33680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等保标准中的每一个配置项，都是无数安全事故的“血泪教训”总结</a:t>
            </a:r>
            <a:endParaRPr lang="en-US" sz="1800" dirty="0"/>
          </a:p>
        </p:txBody>
      </p:sp>
      <p:sp>
        <p:nvSpPr>
          <p:cNvPr id="9" name="Text 3"/>
          <p:cNvSpPr/>
          <p:nvPr/>
        </p:nvSpPr>
        <p:spPr>
          <a:xfrm>
            <a:off x="929640" y="455676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主机安全基线，是保障国家网络安全“最后一公里”的关键防线</a:t>
            </a:r>
            <a:endParaRPr lang="en-US" sz="1800" dirty="0"/>
          </a:p>
        </p:txBody>
      </p:sp>
      <p:pic>
        <p:nvPicPr>
          <p:cNvPr id="10"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2920" y="1082040"/>
            <a:ext cx="3627120" cy="701040"/>
          </a:xfrm>
          <a:prstGeom prst="rect">
            <a:avLst/>
          </a:prstGeom>
          <a:effectLst>
            <a:outerShdw blurRad="387096000" dist="193548000" dir="-1" algn="bl" rotWithShape="0">
              <a:srgbClr val="000000">
                <a:alpha val="500000000"/>
              </a:srgbClr>
            </a:outerShdw>
          </a:effectLst>
        </p:spPr>
      </p:pic>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7720" y="1249680"/>
            <a:ext cx="365760" cy="365760"/>
          </a:xfrm>
          <a:prstGeom prst="rect">
            <a:avLst/>
          </a:prstGeom>
        </p:spPr>
      </p:pic>
      <p:sp>
        <p:nvSpPr>
          <p:cNvPr id="12" name="Text 4"/>
          <p:cNvSpPr/>
          <p:nvPr/>
        </p:nvSpPr>
        <p:spPr>
          <a:xfrm>
            <a:off x="129540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技术合规 → 国家安全</a:t>
            </a:r>
            <a:endParaRPr lang="en-US" sz="2040" dirty="0"/>
          </a:p>
        </p:txBody>
      </p:sp>
      <p:pic>
        <p:nvPicPr>
          <p:cNvPr id="13" name="Image 6" descr="https://test.web.static.jianzeppt.com/ppt-temp-img3/e213a2527a8bcfe1b5274959e5fb7361.png?x-oss-process=image/resize,w_1440,h_800,m_lfit/format,png"/>
          <p:cNvPicPr>
            <a:picLocks noChangeAspect="1"/>
          </p:cNvPicPr>
          <p:nvPr/>
        </p:nvPicPr>
        <p:blipFill>
          <a:blip r:embed="rId4"/>
          <a:stretch>
            <a:fillRect/>
          </a:stretch>
        </p:blipFill>
        <p:spPr>
          <a:xfrm>
            <a:off x="4389120" y="1371600"/>
            <a:ext cx="3413760" cy="4876800"/>
          </a:xfrm>
          <a:prstGeom prst="rect">
            <a:avLst/>
          </a:prstGeom>
        </p:spPr>
      </p:pic>
      <p:sp>
        <p:nvSpPr>
          <p:cNvPr id="14" name="Text 5"/>
          <p:cNvSpPr/>
          <p:nvPr/>
        </p:nvSpPr>
        <p:spPr>
          <a:xfrm>
            <a:off x="4709160" y="217932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测评不是“走过场”，更不是“做样子”</a:t>
            </a:r>
            <a:endParaRPr lang="en-US" sz="1800" dirty="0"/>
          </a:p>
        </p:txBody>
      </p:sp>
      <p:sp>
        <p:nvSpPr>
          <p:cNvPr id="15" name="Text 6"/>
          <p:cNvSpPr/>
          <p:nvPr/>
        </p:nvSpPr>
        <p:spPr>
          <a:xfrm>
            <a:off x="4709160" y="300228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误判可能掩盖重大隐患，漏判可能导致重大事故</a:t>
            </a:r>
            <a:endParaRPr lang="en-US" sz="1800" dirty="0"/>
          </a:p>
        </p:txBody>
      </p:sp>
      <p:sp>
        <p:nvSpPr>
          <p:cNvPr id="16" name="Text 7"/>
          <p:cNvSpPr/>
          <p:nvPr/>
        </p:nvSpPr>
        <p:spPr>
          <a:xfrm>
            <a:off x="4709160" y="38252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每一份测评记录表都是法律证据，必须真实、客观、可追溯</a:t>
            </a:r>
            <a:endParaRPr lang="en-US" sz="1800" dirty="0"/>
          </a:p>
        </p:txBody>
      </p:sp>
      <p:sp>
        <p:nvSpPr>
          <p:cNvPr id="17" name="Text 8"/>
          <p:cNvSpPr/>
          <p:nvPr/>
        </p:nvSpPr>
        <p:spPr>
          <a:xfrm>
            <a:off x="4709160" y="4968240"/>
            <a:ext cx="2782824" cy="945833"/>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隐瞒问题和伪造数据，不仅要承担行政责任，还可能触犯刑法</a:t>
            </a:r>
            <a:endParaRPr lang="en-US" sz="1800" dirty="0"/>
          </a:p>
        </p:txBody>
      </p:sp>
      <p:pic>
        <p:nvPicPr>
          <p:cNvPr id="18" name="Image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82440" y="1082040"/>
            <a:ext cx="3627120" cy="701040"/>
          </a:xfrm>
          <a:prstGeom prst="rect">
            <a:avLst/>
          </a:prstGeom>
          <a:effectLst>
            <a:outerShdw blurRad="387096000" dist="193548000" dir="-1" algn="bl" rotWithShape="0">
              <a:srgbClr val="000000">
                <a:alpha val="500000000"/>
              </a:srgbClr>
            </a:outerShdw>
          </a:effectLst>
        </p:spPr>
      </p:pic>
      <p:pic>
        <p:nvPicPr>
          <p:cNvPr id="19"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87240" y="1249680"/>
            <a:ext cx="365760" cy="365760"/>
          </a:xfrm>
          <a:prstGeom prst="rect">
            <a:avLst/>
          </a:prstGeom>
        </p:spPr>
      </p:pic>
      <p:sp>
        <p:nvSpPr>
          <p:cNvPr id="20" name="Text 9"/>
          <p:cNvSpPr/>
          <p:nvPr/>
        </p:nvSpPr>
        <p:spPr>
          <a:xfrm>
            <a:off x="507492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客观准确 → 法治精神</a:t>
            </a:r>
            <a:endParaRPr lang="en-US" sz="2040" dirty="0"/>
          </a:p>
        </p:txBody>
      </p:sp>
      <p:pic>
        <p:nvPicPr>
          <p:cNvPr id="21" name="Image 9" descr="https://test.web.static.jianzeppt.com/ppt-temp-img3/e213a2527a8bcfe1b5274959e5fb7361.png?x-oss-process=image/resize,w_1440,h_800,m_lfit/format,png"/>
          <p:cNvPicPr>
            <a:picLocks noChangeAspect="1"/>
          </p:cNvPicPr>
          <p:nvPr/>
        </p:nvPicPr>
        <p:blipFill>
          <a:blip r:embed="rId4"/>
          <a:stretch>
            <a:fillRect/>
          </a:stretch>
        </p:blipFill>
        <p:spPr>
          <a:xfrm>
            <a:off x="8168640" y="1371600"/>
            <a:ext cx="3413760" cy="4876800"/>
          </a:xfrm>
          <a:prstGeom prst="rect">
            <a:avLst/>
          </a:prstGeom>
        </p:spPr>
      </p:pic>
      <p:sp>
        <p:nvSpPr>
          <p:cNvPr id="22" name="Text 10"/>
          <p:cNvSpPr/>
          <p:nvPr/>
        </p:nvSpPr>
        <p:spPr>
          <a:xfrm>
            <a:off x="8488680" y="2179320"/>
            <a:ext cx="278282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333333"/>
                </a:solidFill>
                <a:latin typeface="思源黑体 CN" pitchFamily="34" charset="0"/>
                <a:ea typeface="思源黑体 CN" pitchFamily="34" charset="-122"/>
                <a:cs typeface="思源黑体 CN" pitchFamily="34" charset="-120"/>
              </a:rPr>
              <a:t>你检查的不是“配置”，而是“社会责任”</a:t>
            </a:r>
            <a:endParaRPr lang="en-US" sz="1680" dirty="0"/>
          </a:p>
        </p:txBody>
      </p:sp>
      <p:sp>
        <p:nvSpPr>
          <p:cNvPr id="23" name="Text 11"/>
          <p:cNvSpPr/>
          <p:nvPr/>
        </p:nvSpPr>
        <p:spPr>
          <a:xfrm>
            <a:off x="8488680" y="2941320"/>
            <a:ext cx="2782824" cy="630555"/>
          </a:xfrm>
          <a:prstGeom prst="rect">
            <a:avLst/>
          </a:prstGeom>
          <a:noFill/>
        </p:spPr>
        <p:txBody>
          <a:bodyPr wrap="square" lIns="0" tIns="0" rIns="0" bIns="0" rtlCol="0" anchor="t">
            <a:spAutoFit/>
          </a:bodyPr>
          <a:lstStyle/>
          <a:p>
            <a:pPr marL="0" indent="0" algn="l">
              <a:lnSpc>
                <a:spcPct val="138000"/>
              </a:lnSpc>
              <a:buNone/>
            </a:pPr>
            <a:r>
              <a:rPr lang="en-US" sz="1800" dirty="0">
                <a:solidFill>
                  <a:srgbClr val="333333"/>
                </a:solidFill>
                <a:latin typeface="思源黑体 CN" pitchFamily="34" charset="0"/>
                <a:ea typeface="思源黑体 CN" pitchFamily="34" charset="-122"/>
                <a:cs typeface="思源黑体 CN" pitchFamily="34" charset="-120"/>
              </a:rPr>
              <a:t>一台服务器的配置漏洞，可能影响千万用户的信息安全</a:t>
            </a:r>
            <a:endParaRPr lang="en-US" sz="1800" dirty="0"/>
          </a:p>
        </p:txBody>
      </p:sp>
      <p:sp>
        <p:nvSpPr>
          <p:cNvPr id="24" name="Text 12"/>
          <p:cNvSpPr/>
          <p:nvPr/>
        </p:nvSpPr>
        <p:spPr>
          <a:xfrm>
            <a:off x="8488680" y="3992880"/>
            <a:ext cx="278282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333333"/>
                </a:solidFill>
                <a:latin typeface="思源黑体 CN" pitchFamily="34" charset="0"/>
                <a:ea typeface="思源黑体 CN" pitchFamily="34" charset="-122"/>
                <a:cs typeface="思源黑体 CN" pitchFamily="34" charset="-120"/>
              </a:rPr>
              <a:t>测评师的使命：用精准的检查，守护数字世界的安全底线</a:t>
            </a:r>
            <a:endParaRPr lang="en-US" sz="1680" dirty="0"/>
          </a:p>
        </p:txBody>
      </p:sp>
      <p:sp>
        <p:nvSpPr>
          <p:cNvPr id="25" name="Text 13"/>
          <p:cNvSpPr/>
          <p:nvPr/>
        </p:nvSpPr>
        <p:spPr>
          <a:xfrm>
            <a:off x="8488680" y="4978400"/>
            <a:ext cx="2782824" cy="763905"/>
          </a:xfrm>
          <a:prstGeom prst="rect">
            <a:avLst/>
          </a:prstGeom>
          <a:noFill/>
        </p:spPr>
        <p:txBody>
          <a:bodyPr wrap="square" lIns="0" tIns="0" rIns="0" bIns="0" rtlCol="0" anchor="t">
            <a:spAutoFit/>
          </a:bodyPr>
          <a:lstStyle/>
          <a:p>
            <a:pPr marL="0" indent="0" algn="l">
              <a:lnSpc>
                <a:spcPct val="138000"/>
              </a:lnSpc>
              <a:buNone/>
            </a:pPr>
            <a:r>
              <a:rPr lang="en-US" dirty="0">
                <a:solidFill>
                  <a:srgbClr val="333333"/>
                </a:solidFill>
                <a:latin typeface="思源黑体 CN" pitchFamily="34" charset="0"/>
                <a:ea typeface="思源黑体 CN" pitchFamily="34" charset="-122"/>
                <a:cs typeface="思源黑体 CN" pitchFamily="34" charset="-120"/>
              </a:rPr>
              <a:t>这就是信息安全从业者的“工匠精神”与“家国情怀”</a:t>
            </a:r>
            <a:endParaRPr lang="en-US" dirty="0">
              <a:solidFill>
                <a:srgbClr val="333333"/>
              </a:solidFill>
              <a:latin typeface="思源黑体 CN" pitchFamily="34" charset="0"/>
              <a:ea typeface="思源黑体 CN" pitchFamily="34" charset="-122"/>
              <a:cs typeface="思源黑体 CN" pitchFamily="34" charset="-120"/>
            </a:endParaRPr>
          </a:p>
        </p:txBody>
      </p:sp>
      <p:pic>
        <p:nvPicPr>
          <p:cNvPr id="26"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61960" y="1082040"/>
            <a:ext cx="3627120" cy="701040"/>
          </a:xfrm>
          <a:prstGeom prst="rect">
            <a:avLst/>
          </a:prstGeom>
          <a:effectLst>
            <a:outerShdw blurRad="387096000" dist="193548000" dir="-1" algn="bl" rotWithShape="0">
              <a:srgbClr val="000000">
                <a:alpha val="500000000"/>
              </a:srgbClr>
            </a:outerShdw>
          </a:effectLst>
        </p:spPr>
      </p:pic>
      <p:pic>
        <p:nvPicPr>
          <p:cNvPr id="27"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66760" y="1249680"/>
            <a:ext cx="365760" cy="365760"/>
          </a:xfrm>
          <a:prstGeom prst="rect">
            <a:avLst/>
          </a:prstGeom>
        </p:spPr>
      </p:pic>
      <p:sp>
        <p:nvSpPr>
          <p:cNvPr id="28" name="Text 14"/>
          <p:cNvSpPr/>
          <p:nvPr/>
        </p:nvSpPr>
        <p:spPr>
          <a:xfrm>
            <a:off x="8854440" y="1203960"/>
            <a:ext cx="2538984" cy="388620"/>
          </a:xfrm>
          <a:prstGeom prst="rect">
            <a:avLst/>
          </a:prstGeom>
          <a:noFill/>
        </p:spPr>
        <p:txBody>
          <a:bodyPr wrap="none" lIns="0" tIns="0" rIns="0" bIns="0" rtlCol="0" anchor="t">
            <a:spAutoFit/>
          </a:bodyPr>
          <a:lstStyle/>
          <a:p>
            <a:pPr marL="0" indent="0" algn="ctr">
              <a:lnSpc>
                <a:spcPct val="100000"/>
              </a:lnSpc>
              <a:buNone/>
            </a:pPr>
            <a:r>
              <a:rPr lang="en-US" sz="2040" b="1" dirty="0">
                <a:solidFill>
                  <a:srgbClr val="FFFFFF"/>
                </a:solidFill>
                <a:latin typeface="思源黑体 CN Bold" pitchFamily="34" charset="0"/>
                <a:ea typeface="思源黑体 CN Bold" pitchFamily="34" charset="-122"/>
                <a:cs typeface="思源黑体 CN Bold" pitchFamily="34" charset="-120"/>
              </a:rPr>
              <a:t>职业使命 → 社会担当</a:t>
            </a:r>
            <a:endParaRPr lang="en-US" sz="20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知识点回顾</a:t>
            </a:r>
            <a:endParaRPr lang="en-US" sz="2760" dirty="0"/>
          </a:p>
        </p:txBody>
      </p:sp>
      <p:pic>
        <p:nvPicPr>
          <p:cNvPr id="6" name="Image 3" descr="https://test.web.static.jianzeppt.com/ppt-temp-img3/e1785e3f5cdebe3bef7ed1669cf95f72.png?x-oss-process=image/resize,w_1440,h_800,m_lfit/format,png"/>
          <p:cNvPicPr>
            <a:picLocks noChangeAspect="1"/>
          </p:cNvPicPr>
          <p:nvPr/>
        </p:nvPicPr>
        <p:blipFill>
          <a:blip r:embed="rId4"/>
          <a:stretch>
            <a:fillRect/>
          </a:stretch>
        </p:blipFill>
        <p:spPr>
          <a:xfrm>
            <a:off x="6080760" y="1338580"/>
            <a:ext cx="30480" cy="304800"/>
          </a:xfrm>
          <a:prstGeom prst="rect">
            <a:avLst/>
          </a:prstGeom>
        </p:spPr>
      </p:pic>
      <p:pic>
        <p:nvPicPr>
          <p:cNvPr id="7" name="Image 4" descr="https://test.web.static.jianzeppt.com/ppt-temp-img3/a645b6139d8cd8cfe0a70f252e7b3897.png?x-oss-process=image/resize,w_1440,h_800,m_lfit/format,png"/>
          <p:cNvPicPr>
            <a:picLocks noChangeAspect="1"/>
          </p:cNvPicPr>
          <p:nvPr/>
        </p:nvPicPr>
        <p:blipFill>
          <a:blip r:embed="rId5"/>
          <a:stretch>
            <a:fillRect/>
          </a:stretch>
        </p:blipFill>
        <p:spPr>
          <a:xfrm>
            <a:off x="609600" y="1643380"/>
            <a:ext cx="10972800" cy="30480"/>
          </a:xfrm>
          <a:prstGeom prst="rect">
            <a:avLst/>
          </a:prstGeom>
        </p:spPr>
      </p:pic>
      <p:pic>
        <p:nvPicPr>
          <p:cNvPr id="8"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469900"/>
            <a:ext cx="3794760" cy="929640"/>
          </a:xfrm>
          <a:prstGeom prst="rect">
            <a:avLst/>
          </a:prstGeom>
          <a:effectLst>
            <a:outerShdw blurRad="1161288000" dist="774192000" dir="-1" algn="bl" rotWithShape="0">
              <a:srgbClr val="000000">
                <a:alpha val="1000000000"/>
              </a:srgbClr>
            </a:outerShdw>
          </a:effectLst>
        </p:spPr>
      </p:pic>
      <p:sp>
        <p:nvSpPr>
          <p:cNvPr id="9" name="Text 1"/>
          <p:cNvSpPr/>
          <p:nvPr/>
        </p:nvSpPr>
        <p:spPr>
          <a:xfrm>
            <a:off x="4754880" y="588010"/>
            <a:ext cx="270662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主机安全基线核查</a:t>
            </a:r>
            <a:endParaRPr lang="en-US" sz="2640" dirty="0"/>
          </a:p>
        </p:txBody>
      </p:sp>
      <p:pic>
        <p:nvPicPr>
          <p:cNvPr id="10"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2092325"/>
            <a:ext cx="5242560" cy="914400"/>
          </a:xfrm>
          <a:prstGeom prst="rect">
            <a:avLst/>
          </a:prstGeom>
          <a:effectLst>
            <a:outerShdw blurRad="387096000" dist="193548000" dir="-1" algn="bl" rotWithShape="0">
              <a:srgbClr val="000000">
                <a:alpha val="500000000"/>
              </a:srgbClr>
            </a:outerShdw>
          </a:effectLst>
        </p:spPr>
      </p:pic>
      <p:pic>
        <p:nvPicPr>
          <p:cNvPr id="11"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2259965"/>
            <a:ext cx="304800" cy="304800"/>
          </a:xfrm>
          <a:prstGeom prst="rect">
            <a:avLst/>
          </a:prstGeom>
        </p:spPr>
      </p:pic>
      <p:sp>
        <p:nvSpPr>
          <p:cNvPr id="12" name="Text 2"/>
          <p:cNvSpPr/>
          <p:nvPr/>
        </p:nvSpPr>
        <p:spPr>
          <a:xfrm>
            <a:off x="899160" y="227520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1</a:t>
            </a:r>
            <a:endParaRPr lang="en-US" sz="1440" dirty="0"/>
          </a:p>
        </p:txBody>
      </p:sp>
      <p:sp>
        <p:nvSpPr>
          <p:cNvPr id="13" name="Text 3"/>
          <p:cNvSpPr/>
          <p:nvPr/>
        </p:nvSpPr>
        <p:spPr>
          <a:xfrm>
            <a:off x="1234440" y="2214245"/>
            <a:ext cx="247802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一、安全基线的定义</a:t>
            </a:r>
            <a:endParaRPr lang="en-US" sz="2160" dirty="0"/>
          </a:p>
        </p:txBody>
      </p:sp>
      <p:sp>
        <p:nvSpPr>
          <p:cNvPr id="14" name="Text 4"/>
          <p:cNvSpPr/>
          <p:nvPr/>
        </p:nvSpPr>
        <p:spPr>
          <a:xfrm>
            <a:off x="1234440" y="261048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最低安全配置标准</a:t>
            </a:r>
            <a:endParaRPr lang="en-US" sz="1680" dirty="0"/>
          </a:p>
        </p:txBody>
      </p:sp>
      <p:pic>
        <p:nvPicPr>
          <p:cNvPr id="15" name="Image 8"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3189605"/>
            <a:ext cx="5242560" cy="914400"/>
          </a:xfrm>
          <a:prstGeom prst="rect">
            <a:avLst/>
          </a:prstGeom>
          <a:effectLst>
            <a:outerShdw blurRad="387096000" dist="193548000" dir="-1" algn="bl" rotWithShape="0">
              <a:srgbClr val="000000">
                <a:alpha val="500000000"/>
              </a:srgbClr>
            </a:outerShdw>
          </a:effectLst>
        </p:spPr>
      </p:pic>
      <p:pic>
        <p:nvPicPr>
          <p:cNvPr id="16" name="Image 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3326765"/>
            <a:ext cx="304800" cy="304800"/>
          </a:xfrm>
          <a:prstGeom prst="rect">
            <a:avLst/>
          </a:prstGeom>
        </p:spPr>
      </p:pic>
      <p:sp>
        <p:nvSpPr>
          <p:cNvPr id="17" name="Text 5"/>
          <p:cNvSpPr/>
          <p:nvPr/>
        </p:nvSpPr>
        <p:spPr>
          <a:xfrm>
            <a:off x="899160" y="334200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2</a:t>
            </a:r>
            <a:endParaRPr lang="en-US" sz="1440" dirty="0"/>
          </a:p>
        </p:txBody>
      </p:sp>
      <p:sp>
        <p:nvSpPr>
          <p:cNvPr id="18" name="Text 6"/>
          <p:cNvSpPr/>
          <p:nvPr/>
        </p:nvSpPr>
        <p:spPr>
          <a:xfrm>
            <a:off x="1234440" y="3218180"/>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二、8.1.4.1 身份鉴别</a:t>
            </a:r>
            <a:endParaRPr lang="en-US" sz="2160" dirty="0"/>
          </a:p>
        </p:txBody>
      </p:sp>
      <p:pic>
        <p:nvPicPr>
          <p:cNvPr id="19"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77640" y="3281045"/>
            <a:ext cx="609600" cy="381000"/>
          </a:xfrm>
          <a:prstGeom prst="rect">
            <a:avLst/>
          </a:prstGeom>
        </p:spPr>
      </p:pic>
      <p:sp>
        <p:nvSpPr>
          <p:cNvPr id="20" name="Text 7"/>
          <p:cNvSpPr/>
          <p:nvPr/>
        </p:nvSpPr>
        <p:spPr>
          <a:xfrm>
            <a:off x="4069080" y="3311525"/>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EF4D44"/>
                </a:solidFill>
                <a:latin typeface="思源黑体 CN Bold" pitchFamily="34" charset="0"/>
                <a:ea typeface="思源黑体 CN Bold" pitchFamily="34" charset="-122"/>
                <a:cs typeface="思源黑体 CN Bold" pitchFamily="34" charset="-120"/>
              </a:rPr>
              <a:t>重点</a:t>
            </a:r>
            <a:endParaRPr lang="en-US" sz="1680" dirty="0"/>
          </a:p>
        </p:txBody>
      </p:sp>
      <p:sp>
        <p:nvSpPr>
          <p:cNvPr id="21" name="Text 8"/>
          <p:cNvSpPr/>
          <p:nvPr/>
        </p:nvSpPr>
        <p:spPr>
          <a:xfrm>
            <a:off x="1234440" y="3615690"/>
            <a:ext cx="4428744" cy="492125"/>
          </a:xfrm>
          <a:prstGeom prst="rect">
            <a:avLst/>
          </a:prstGeom>
          <a:noFill/>
        </p:spPr>
        <p:txBody>
          <a:bodyPr wrap="square" lIns="0" tIns="0" rIns="0" bIns="0" rtlCol="0" anchor="t">
            <a:spAutoFit/>
          </a:bodyPr>
          <a:lstStyle/>
          <a:p>
            <a:pPr marL="0" indent="0" algn="l">
              <a:lnSpc>
                <a:spcPct val="100000"/>
              </a:lnSpc>
              <a:buNone/>
            </a:pPr>
            <a:r>
              <a:rPr lang="en-US" sz="1600" dirty="0">
                <a:solidFill>
                  <a:srgbClr val="374051"/>
                </a:solidFill>
                <a:latin typeface="思源黑体 CN" pitchFamily="34" charset="0"/>
                <a:ea typeface="思源黑体 CN" pitchFamily="34" charset="-122"/>
                <a:cs typeface="思源黑体 CN" pitchFamily="34" charset="-120"/>
              </a:rPr>
              <a:t>密码复杂度策略、密码长度与期限、登录失败锁定、远程管理加密</a:t>
            </a:r>
            <a:endParaRPr lang="en-US" sz="1600" dirty="0">
              <a:solidFill>
                <a:srgbClr val="374051"/>
              </a:solidFill>
              <a:latin typeface="思源黑体 CN" pitchFamily="34" charset="0"/>
              <a:ea typeface="思源黑体 CN" pitchFamily="34" charset="-122"/>
              <a:cs typeface="思源黑体 CN" pitchFamily="34" charset="-120"/>
            </a:endParaRPr>
          </a:p>
        </p:txBody>
      </p:sp>
      <p:pic>
        <p:nvPicPr>
          <p:cNvPr id="22" name="Image 11"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286885"/>
            <a:ext cx="5242560" cy="914400"/>
          </a:xfrm>
          <a:prstGeom prst="rect">
            <a:avLst/>
          </a:prstGeom>
          <a:effectLst>
            <a:outerShdw blurRad="387096000" dist="193548000" dir="-1" algn="bl" rotWithShape="0">
              <a:srgbClr val="000000">
                <a:alpha val="500000000"/>
              </a:srgbClr>
            </a:outerShdw>
          </a:effectLst>
        </p:spPr>
      </p:pic>
      <p:pic>
        <p:nvPicPr>
          <p:cNvPr id="23"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4424045"/>
            <a:ext cx="304800" cy="304800"/>
          </a:xfrm>
          <a:prstGeom prst="rect">
            <a:avLst/>
          </a:prstGeom>
        </p:spPr>
      </p:pic>
      <p:sp>
        <p:nvSpPr>
          <p:cNvPr id="24" name="Text 9"/>
          <p:cNvSpPr/>
          <p:nvPr/>
        </p:nvSpPr>
        <p:spPr>
          <a:xfrm>
            <a:off x="899160" y="443928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3</a:t>
            </a:r>
            <a:endParaRPr lang="en-US" sz="1440" dirty="0"/>
          </a:p>
        </p:txBody>
      </p:sp>
      <p:sp>
        <p:nvSpPr>
          <p:cNvPr id="25" name="Text 10"/>
          <p:cNvSpPr/>
          <p:nvPr/>
        </p:nvSpPr>
        <p:spPr>
          <a:xfrm>
            <a:off x="1234440" y="436308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三、8.1.4.2 访问控制</a:t>
            </a:r>
            <a:endParaRPr lang="en-US" sz="2160" dirty="0"/>
          </a:p>
        </p:txBody>
      </p:sp>
      <p:pic>
        <p:nvPicPr>
          <p:cNvPr id="26" name="Image 13"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77640" y="4378325"/>
            <a:ext cx="609600" cy="381000"/>
          </a:xfrm>
          <a:prstGeom prst="rect">
            <a:avLst/>
          </a:prstGeom>
        </p:spPr>
      </p:pic>
      <p:sp>
        <p:nvSpPr>
          <p:cNvPr id="27" name="Text 11"/>
          <p:cNvSpPr/>
          <p:nvPr/>
        </p:nvSpPr>
        <p:spPr>
          <a:xfrm>
            <a:off x="4069080" y="4408805"/>
            <a:ext cx="43586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EF4D44"/>
                </a:solidFill>
                <a:latin typeface="思源黑体 CN Bold" pitchFamily="34" charset="0"/>
                <a:ea typeface="思源黑体 CN Bold" pitchFamily="34" charset="-122"/>
                <a:cs typeface="思源黑体 CN Bold" pitchFamily="34" charset="-120"/>
              </a:rPr>
              <a:t>重点</a:t>
            </a:r>
            <a:endParaRPr lang="en-US" sz="1680" dirty="0"/>
          </a:p>
        </p:txBody>
      </p:sp>
      <p:sp>
        <p:nvSpPr>
          <p:cNvPr id="28" name="Text 12"/>
          <p:cNvSpPr/>
          <p:nvPr/>
        </p:nvSpPr>
        <p:spPr>
          <a:xfrm>
            <a:off x="1234440" y="4728845"/>
            <a:ext cx="4428744" cy="492125"/>
          </a:xfrm>
          <a:prstGeom prst="rect">
            <a:avLst/>
          </a:prstGeom>
          <a:noFill/>
        </p:spPr>
        <p:txBody>
          <a:bodyPr wrap="square" lIns="0" tIns="0" rIns="0" bIns="0" rtlCol="0" anchor="t">
            <a:spAutoFit/>
          </a:bodyPr>
          <a:lstStyle/>
          <a:p>
            <a:pPr marL="0" indent="0" algn="l">
              <a:lnSpc>
                <a:spcPct val="100000"/>
              </a:lnSpc>
              <a:buNone/>
            </a:pPr>
            <a:r>
              <a:rPr lang="en-US" sz="1600" dirty="0">
                <a:solidFill>
                  <a:srgbClr val="374051"/>
                </a:solidFill>
                <a:latin typeface="思源黑体 CN" pitchFamily="34" charset="0"/>
                <a:ea typeface="思源黑体 CN" pitchFamily="34" charset="-122"/>
                <a:cs typeface="思源黑体 CN" pitchFamily="34" charset="-120"/>
              </a:rPr>
              <a:t>默认账户处理、多余账户清理、最小权限原则、权限分离</a:t>
            </a:r>
            <a:endParaRPr lang="en-US" sz="1600" dirty="0">
              <a:solidFill>
                <a:srgbClr val="374051"/>
              </a:solidFill>
              <a:latin typeface="思源黑体 CN" pitchFamily="34" charset="0"/>
              <a:ea typeface="思源黑体 CN" pitchFamily="34" charset="-122"/>
              <a:cs typeface="思源黑体 CN" pitchFamily="34" charset="-120"/>
            </a:endParaRPr>
          </a:p>
        </p:txBody>
      </p:sp>
      <p:pic>
        <p:nvPicPr>
          <p:cNvPr id="29" name="Image 1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5384165"/>
            <a:ext cx="5242560" cy="914400"/>
          </a:xfrm>
          <a:prstGeom prst="rect">
            <a:avLst/>
          </a:prstGeom>
          <a:effectLst>
            <a:outerShdw blurRad="387096000" dist="193548000" dir="-1" algn="bl" rotWithShape="0">
              <a:srgbClr val="000000">
                <a:alpha val="500000000"/>
              </a:srgbClr>
            </a:outerShdw>
          </a:effectLst>
        </p:spPr>
      </p:pic>
      <p:pic>
        <p:nvPicPr>
          <p:cNvPr id="30" name="Image 1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5551805"/>
            <a:ext cx="304800" cy="304800"/>
          </a:xfrm>
          <a:prstGeom prst="rect">
            <a:avLst/>
          </a:prstGeom>
        </p:spPr>
      </p:pic>
      <p:sp>
        <p:nvSpPr>
          <p:cNvPr id="31" name="Text 13"/>
          <p:cNvSpPr/>
          <p:nvPr/>
        </p:nvSpPr>
        <p:spPr>
          <a:xfrm>
            <a:off x="899160" y="556704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4</a:t>
            </a:r>
            <a:endParaRPr lang="en-US" sz="1440" dirty="0"/>
          </a:p>
        </p:txBody>
      </p:sp>
      <p:sp>
        <p:nvSpPr>
          <p:cNvPr id="32" name="Text 14"/>
          <p:cNvSpPr/>
          <p:nvPr/>
        </p:nvSpPr>
        <p:spPr>
          <a:xfrm>
            <a:off x="1234440" y="550608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四、8.1.4.3 安全审计</a:t>
            </a:r>
            <a:endParaRPr lang="en-US" sz="2160" dirty="0"/>
          </a:p>
        </p:txBody>
      </p:sp>
      <p:sp>
        <p:nvSpPr>
          <p:cNvPr id="33" name="Text 15"/>
          <p:cNvSpPr/>
          <p:nvPr/>
        </p:nvSpPr>
        <p:spPr>
          <a:xfrm>
            <a:off x="1234440" y="590232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FFFFFF"/>
                </a:solidFill>
                <a:latin typeface="思源黑体 CN" pitchFamily="34" charset="0"/>
                <a:ea typeface="思源黑体 CN" pitchFamily="34" charset="-122"/>
                <a:cs typeface="思源黑体 CN" pitchFamily="34" charset="-120"/>
              </a:rPr>
              <a:t>审计策略启用、审计日志保护、日志定期备份</a:t>
            </a:r>
            <a:endParaRPr lang="en-US" sz="1680" dirty="0"/>
          </a:p>
        </p:txBody>
      </p:sp>
      <p:pic>
        <p:nvPicPr>
          <p:cNvPr id="34" name="Image 16"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2092325"/>
            <a:ext cx="5242560" cy="1097280"/>
          </a:xfrm>
          <a:prstGeom prst="rect">
            <a:avLst/>
          </a:prstGeom>
          <a:effectLst>
            <a:outerShdw blurRad="387096000" dist="193548000" dir="-1" algn="bl" rotWithShape="0">
              <a:srgbClr val="000000">
                <a:alpha val="500000000"/>
              </a:srgbClr>
            </a:outerShdw>
          </a:effectLst>
        </p:spPr>
      </p:pic>
      <p:pic>
        <p:nvPicPr>
          <p:cNvPr id="35" name="Image 1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2320925"/>
            <a:ext cx="304800" cy="304800"/>
          </a:xfrm>
          <a:prstGeom prst="rect">
            <a:avLst/>
          </a:prstGeom>
        </p:spPr>
      </p:pic>
      <p:sp>
        <p:nvSpPr>
          <p:cNvPr id="36" name="Text 16"/>
          <p:cNvSpPr/>
          <p:nvPr/>
        </p:nvSpPr>
        <p:spPr>
          <a:xfrm>
            <a:off x="6629400" y="233616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5</a:t>
            </a:r>
            <a:endParaRPr lang="en-US" sz="1440" dirty="0"/>
          </a:p>
        </p:txBody>
      </p:sp>
      <p:sp>
        <p:nvSpPr>
          <p:cNvPr id="37" name="Text 17"/>
          <p:cNvSpPr/>
          <p:nvPr/>
        </p:nvSpPr>
        <p:spPr>
          <a:xfrm>
            <a:off x="6964680" y="2259965"/>
            <a:ext cx="26456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五、8.1.4.4 入侵防范</a:t>
            </a:r>
            <a:endParaRPr lang="en-US" sz="2160" dirty="0"/>
          </a:p>
        </p:txBody>
      </p:sp>
      <p:sp>
        <p:nvSpPr>
          <p:cNvPr id="38" name="Text 18"/>
          <p:cNvSpPr/>
          <p:nvPr/>
        </p:nvSpPr>
        <p:spPr>
          <a:xfrm>
            <a:off x="6964680" y="271716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最小安装原则、关闭高危端口、补丁管理</a:t>
            </a:r>
            <a:endParaRPr lang="en-US" sz="1680" dirty="0"/>
          </a:p>
        </p:txBody>
      </p:sp>
      <p:pic>
        <p:nvPicPr>
          <p:cNvPr id="39" name="Image 18"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3372485"/>
            <a:ext cx="5242560" cy="1097280"/>
          </a:xfrm>
          <a:prstGeom prst="rect">
            <a:avLst/>
          </a:prstGeom>
          <a:effectLst>
            <a:outerShdw blurRad="387096000" dist="193548000" dir="-1" algn="bl" rotWithShape="0">
              <a:srgbClr val="000000">
                <a:alpha val="500000000"/>
              </a:srgbClr>
            </a:outerShdw>
          </a:effectLst>
        </p:spPr>
      </p:pic>
      <p:pic>
        <p:nvPicPr>
          <p:cNvPr id="40" name="Image 1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3601085"/>
            <a:ext cx="304800" cy="304800"/>
          </a:xfrm>
          <a:prstGeom prst="rect">
            <a:avLst/>
          </a:prstGeom>
        </p:spPr>
      </p:pic>
      <p:sp>
        <p:nvSpPr>
          <p:cNvPr id="41" name="Text 19"/>
          <p:cNvSpPr/>
          <p:nvPr/>
        </p:nvSpPr>
        <p:spPr>
          <a:xfrm>
            <a:off x="6629400" y="361632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6</a:t>
            </a:r>
            <a:endParaRPr lang="en-US" sz="1440" dirty="0"/>
          </a:p>
        </p:txBody>
      </p:sp>
      <p:sp>
        <p:nvSpPr>
          <p:cNvPr id="42" name="Text 20"/>
          <p:cNvSpPr/>
          <p:nvPr/>
        </p:nvSpPr>
        <p:spPr>
          <a:xfrm>
            <a:off x="6964680" y="3540125"/>
            <a:ext cx="319430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六、8.1.4.5 恶意代码防范</a:t>
            </a:r>
            <a:endParaRPr lang="en-US" sz="2160" dirty="0"/>
          </a:p>
        </p:txBody>
      </p:sp>
      <p:sp>
        <p:nvSpPr>
          <p:cNvPr id="43" name="Text 21"/>
          <p:cNvSpPr/>
          <p:nvPr/>
        </p:nvSpPr>
        <p:spPr>
          <a:xfrm>
            <a:off x="6964680" y="3997325"/>
            <a:ext cx="44287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防病毒软件、病毒库更新</a:t>
            </a:r>
            <a:endParaRPr lang="en-US" sz="1680" dirty="0"/>
          </a:p>
        </p:txBody>
      </p:sp>
      <p:pic>
        <p:nvPicPr>
          <p:cNvPr id="44" name="Image 20"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39840" y="4652645"/>
            <a:ext cx="5242560" cy="1569720"/>
          </a:xfrm>
          <a:prstGeom prst="rect">
            <a:avLst/>
          </a:prstGeom>
          <a:effectLst>
            <a:outerShdw blurRad="387096000" dist="193548000" dir="-1" algn="bl" rotWithShape="0">
              <a:srgbClr val="000000">
                <a:alpha val="500000000"/>
              </a:srgbClr>
            </a:outerShdw>
          </a:effectLst>
        </p:spPr>
      </p:pic>
      <p:pic>
        <p:nvPicPr>
          <p:cNvPr id="45" name="Image 21"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37960" y="4881245"/>
            <a:ext cx="304800" cy="304800"/>
          </a:xfrm>
          <a:prstGeom prst="rect">
            <a:avLst/>
          </a:prstGeom>
        </p:spPr>
      </p:pic>
      <p:sp>
        <p:nvSpPr>
          <p:cNvPr id="46" name="Text 22"/>
          <p:cNvSpPr/>
          <p:nvPr/>
        </p:nvSpPr>
        <p:spPr>
          <a:xfrm>
            <a:off x="6629400" y="4896485"/>
            <a:ext cx="131064" cy="259080"/>
          </a:xfrm>
          <a:prstGeom prst="rect">
            <a:avLst/>
          </a:prstGeom>
          <a:noFill/>
        </p:spPr>
        <p:txBody>
          <a:bodyPr wrap="none" lIns="0" tIns="0" rIns="0" bIns="0" rtlCol="0" anchor="ctr"/>
          <a:lstStyle/>
          <a:p>
            <a:pPr marL="0" indent="0" algn="ctr">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7</a:t>
            </a:r>
            <a:endParaRPr lang="en-US" sz="1440" dirty="0"/>
          </a:p>
        </p:txBody>
      </p:sp>
      <p:sp>
        <p:nvSpPr>
          <p:cNvPr id="47" name="Text 23"/>
          <p:cNvSpPr/>
          <p:nvPr/>
        </p:nvSpPr>
        <p:spPr>
          <a:xfrm>
            <a:off x="6964680" y="4820285"/>
            <a:ext cx="1655064" cy="396240"/>
          </a:xfrm>
          <a:prstGeom prst="rect">
            <a:avLst/>
          </a:prstGeom>
          <a:noFill/>
        </p:spPr>
        <p:txBody>
          <a:bodyPr wrap="none" lIns="0" tIns="0" rIns="0" bIns="0" rtlCol="0" anchor="ctr"/>
          <a:lstStyle/>
          <a:p>
            <a:pPr marL="0" indent="0" algn="l">
              <a:lnSpc>
                <a:spcPct val="150000"/>
              </a:lnSpc>
              <a:buNone/>
            </a:pPr>
            <a:r>
              <a:rPr lang="en-US" sz="2160" b="1" dirty="0">
                <a:solidFill>
                  <a:srgbClr val="143966"/>
                </a:solidFill>
                <a:latin typeface="思源黑体 CN Bold" pitchFamily="34" charset="0"/>
                <a:ea typeface="思源黑体 CN Bold" pitchFamily="34" charset="-122"/>
                <a:cs typeface="思源黑体 CN Bold" pitchFamily="34" charset="-120"/>
              </a:rPr>
              <a:t>七、双环境实操</a:t>
            </a:r>
            <a:endParaRPr lang="en-US" sz="2160" dirty="0"/>
          </a:p>
        </p:txBody>
      </p:sp>
      <p:sp>
        <p:nvSpPr>
          <p:cNvPr id="48" name="Text 24"/>
          <p:cNvSpPr/>
          <p:nvPr/>
        </p:nvSpPr>
        <p:spPr>
          <a:xfrm>
            <a:off x="6964680" y="5277485"/>
            <a:ext cx="4428490" cy="774065"/>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374051"/>
                </a:solidFill>
                <a:latin typeface="思源黑体 CN" pitchFamily="34" charset="0"/>
                <a:ea typeface="思源黑体 CN" pitchFamily="34" charset="-122"/>
                <a:cs typeface="思源黑体 CN" pitchFamily="34" charset="-120"/>
              </a:rPr>
              <a:t>西普平台取证（界面/命令回显）+ JSecProbe 判定与导出记录表</a:t>
            </a: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课后作业</a:t>
            </a:r>
            <a:endParaRPr lang="en-US" sz="2760" dirty="0"/>
          </a:p>
        </p:txBody>
      </p:sp>
      <p:pic>
        <p:nvPicPr>
          <p:cNvPr id="6" name="Image 3" descr="preencoded.png"/>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609600" y="1371600"/>
            <a:ext cx="1173480" cy="548640"/>
          </a:xfrm>
          <a:prstGeom prst="rect">
            <a:avLst/>
          </a:prstGeom>
        </p:spPr>
      </p:pic>
      <p:sp>
        <p:nvSpPr>
          <p:cNvPr id="7" name="Text 1"/>
          <p:cNvSpPr/>
          <p:nvPr>
            <p:custDataLst>
              <p:tags r:id="rId7"/>
            </p:custDataLst>
          </p:nvPr>
        </p:nvSpPr>
        <p:spPr>
          <a:xfrm>
            <a:off x="853440" y="1402080"/>
            <a:ext cx="69494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必做</a:t>
            </a:r>
            <a:endParaRPr lang="en-US" sz="2640" dirty="0"/>
          </a:p>
        </p:txBody>
      </p:sp>
      <p:sp>
        <p:nvSpPr>
          <p:cNvPr id="8" name="Text 2"/>
          <p:cNvSpPr/>
          <p:nvPr>
            <p:custDataLst>
              <p:tags r:id="rId8"/>
            </p:custDataLst>
          </p:nvPr>
        </p:nvSpPr>
        <p:spPr>
          <a:xfrm>
            <a:off x="609600" y="2225040"/>
            <a:ext cx="5312664" cy="877729"/>
          </a:xfrm>
          <a:prstGeom prst="rect">
            <a:avLst/>
          </a:prstGeom>
          <a:noFill/>
        </p:spPr>
        <p:txBody>
          <a:bodyPr wrap="square" lIns="0" tIns="0" rIns="0" bIns="0" rtlCol="0" anchor="t">
            <a:spAutoFit/>
          </a:bodyPr>
          <a:lstStyle/>
          <a:p>
            <a:pPr marL="0" indent="0" algn="l">
              <a:lnSpc>
                <a:spcPct val="160000"/>
              </a:lnSpc>
              <a:buNone/>
            </a:pPr>
            <a:r>
              <a:rPr lang="en-US" sz="2160" dirty="0">
                <a:solidFill>
                  <a:srgbClr val="333333"/>
                </a:solidFill>
                <a:latin typeface="思源黑体 CN" pitchFamily="34" charset="0"/>
                <a:ea typeface="思源黑体 CN" pitchFamily="34" charset="-122"/>
                <a:cs typeface="思源黑体 CN" pitchFamily="34" charset="-120"/>
              </a:rPr>
              <a:t>完成《主机安全测评记录表》（12 条核查项）并连同截图包提交至学习通</a:t>
            </a:r>
            <a:endParaRPr lang="en-US" sz="2160" dirty="0"/>
          </a:p>
        </p:txBody>
      </p:sp>
      <p:pic>
        <p:nvPicPr>
          <p:cNvPr id="9" name="Image 4" descr="preencoded.png"/>
          <p:cNvPicPr>
            <a:picLocks noChangeAspect="1"/>
          </p:cNvPicPr>
          <p:nvPr>
            <p:custDataLst>
              <p:tags r:id="rId9"/>
            </p:custDataLst>
          </p:nvPr>
        </p:nvPicPr>
        <p:blipFill>
          <a:blip r:embed="rId5">
            <a:extLst>
              <a:ext uri="{96DAC541-7B7A-43D3-8B79-37D633B846F1}">
                <asvg:svgBlip xmlns:asvg="http://schemas.microsoft.com/office/drawing/2016/SVG/main" r:embed="rId6"/>
              </a:ext>
            </a:extLst>
          </a:blip>
          <a:stretch>
            <a:fillRect/>
          </a:stretch>
        </p:blipFill>
        <p:spPr>
          <a:xfrm>
            <a:off x="6278880" y="1371600"/>
            <a:ext cx="1173480" cy="548640"/>
          </a:xfrm>
          <a:prstGeom prst="rect">
            <a:avLst/>
          </a:prstGeom>
        </p:spPr>
      </p:pic>
      <p:sp>
        <p:nvSpPr>
          <p:cNvPr id="10" name="Text 3"/>
          <p:cNvSpPr/>
          <p:nvPr>
            <p:custDataLst>
              <p:tags r:id="rId10"/>
            </p:custDataLst>
          </p:nvPr>
        </p:nvSpPr>
        <p:spPr>
          <a:xfrm>
            <a:off x="6522720" y="1402080"/>
            <a:ext cx="69494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必做</a:t>
            </a:r>
            <a:endParaRPr lang="en-US" sz="2640" dirty="0"/>
          </a:p>
        </p:txBody>
      </p:sp>
      <p:sp>
        <p:nvSpPr>
          <p:cNvPr id="11" name="Text 4"/>
          <p:cNvSpPr/>
          <p:nvPr>
            <p:custDataLst>
              <p:tags r:id="rId11"/>
            </p:custDataLst>
          </p:nvPr>
        </p:nvSpPr>
        <p:spPr>
          <a:xfrm>
            <a:off x="6278880" y="2225040"/>
            <a:ext cx="4114800" cy="332105"/>
          </a:xfrm>
          <a:prstGeom prst="rect">
            <a:avLst/>
          </a:prstGeom>
          <a:noFill/>
        </p:spPr>
        <p:txBody>
          <a:bodyPr wrap="none" lIns="0" tIns="0" rIns="0" bIns="0" rtlCol="0" anchor="t">
            <a:spAutoFit/>
          </a:bodyPr>
          <a:lstStyle/>
          <a:p>
            <a:pPr marL="0" indent="0" algn="l">
              <a:lnSpc>
                <a:spcPct val="100000"/>
              </a:lnSpc>
              <a:buNone/>
            </a:pPr>
            <a:r>
              <a:rPr lang="en-US" sz="2160" dirty="0">
                <a:solidFill>
                  <a:srgbClr val="333333"/>
                </a:solidFill>
                <a:latin typeface="思源黑体 CN" pitchFamily="34" charset="0"/>
                <a:ea typeface="思源黑体 CN" pitchFamily="34" charset="-122"/>
                <a:cs typeface="思源黑体 CN" pitchFamily="34" charset="-120"/>
              </a:rPr>
              <a:t>完成作业：4.1 主机安全基线核查</a:t>
            </a:r>
            <a:endParaRPr lang="en-US" sz="2160" dirty="0"/>
          </a:p>
        </p:txBody>
      </p:sp>
      <p:pic>
        <p:nvPicPr>
          <p:cNvPr id="12" name="Image 5" descr="preencoded.png"/>
          <p:cNvPicPr>
            <a:picLocks noChangeAspect="1"/>
          </p:cNvPicPr>
          <p:nvPr>
            <p:custDataLst>
              <p:tags r:id="rId12"/>
            </p:custDataLst>
          </p:nvPr>
        </p:nvPicPr>
        <p:blipFill>
          <a:blip r:embed="rId5">
            <a:extLst>
              <a:ext uri="{96DAC541-7B7A-43D3-8B79-37D633B846F1}">
                <asvg:svgBlip xmlns:asvg="http://schemas.microsoft.com/office/drawing/2016/SVG/main" r:embed="rId6"/>
              </a:ext>
            </a:extLst>
          </a:blip>
          <a:stretch>
            <a:fillRect/>
          </a:stretch>
        </p:blipFill>
        <p:spPr>
          <a:xfrm>
            <a:off x="609600" y="3992880"/>
            <a:ext cx="1173480" cy="548640"/>
          </a:xfrm>
          <a:prstGeom prst="rect">
            <a:avLst/>
          </a:prstGeom>
        </p:spPr>
      </p:pic>
      <p:sp>
        <p:nvSpPr>
          <p:cNvPr id="13" name="Text 5"/>
          <p:cNvSpPr/>
          <p:nvPr>
            <p:custDataLst>
              <p:tags r:id="rId13"/>
            </p:custDataLst>
          </p:nvPr>
        </p:nvSpPr>
        <p:spPr>
          <a:xfrm>
            <a:off x="853440" y="4023360"/>
            <a:ext cx="69494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选做</a:t>
            </a:r>
            <a:endParaRPr lang="en-US" sz="2640" dirty="0"/>
          </a:p>
        </p:txBody>
      </p:sp>
      <p:sp>
        <p:nvSpPr>
          <p:cNvPr id="14" name="Text 6"/>
          <p:cNvSpPr/>
          <p:nvPr>
            <p:custDataLst>
              <p:tags r:id="rId14"/>
            </p:custDataLst>
          </p:nvPr>
        </p:nvSpPr>
        <p:spPr>
          <a:xfrm>
            <a:off x="609600" y="4846320"/>
            <a:ext cx="5312664" cy="877729"/>
          </a:xfrm>
          <a:prstGeom prst="rect">
            <a:avLst/>
          </a:prstGeom>
          <a:noFill/>
        </p:spPr>
        <p:txBody>
          <a:bodyPr wrap="square" lIns="0" tIns="0" rIns="0" bIns="0" rtlCol="0" anchor="t">
            <a:spAutoFit/>
          </a:bodyPr>
          <a:lstStyle/>
          <a:p>
            <a:pPr marL="0" indent="0" algn="l">
              <a:lnSpc>
                <a:spcPct val="160000"/>
              </a:lnSpc>
              <a:buNone/>
            </a:pPr>
            <a:r>
              <a:rPr lang="en-US" sz="2160" dirty="0">
                <a:solidFill>
                  <a:srgbClr val="333333"/>
                </a:solidFill>
                <a:latin typeface="思源黑体 CN" pitchFamily="34" charset="0"/>
                <a:ea typeface="思源黑体 CN" pitchFamily="34" charset="-122"/>
                <a:cs typeface="思源黑体 CN" pitchFamily="34" charset="-120"/>
              </a:rPr>
              <a:t>用素材2/3 给自己的电脑做一次自查，写出 3 条不合规项与整改做法</a:t>
            </a:r>
            <a:endParaRPr lang="en-US" sz="2160" dirty="0"/>
          </a:p>
        </p:txBody>
      </p:sp>
      <p:pic>
        <p:nvPicPr>
          <p:cNvPr id="15" name="Image 6" descr="preencoded.png"/>
          <p:cNvPicPr>
            <a:picLocks noChangeAspect="1"/>
          </p:cNvPicPr>
          <p:nvPr>
            <p:custDataLst>
              <p:tags r:id="rId15"/>
            </p:custDataLst>
          </p:nvPr>
        </p:nvPicPr>
        <p:blipFill>
          <a:blip r:embed="rId5">
            <a:extLst>
              <a:ext uri="{96DAC541-7B7A-43D3-8B79-37D633B846F1}">
                <asvg:svgBlip xmlns:asvg="http://schemas.microsoft.com/office/drawing/2016/SVG/main" r:embed="rId6"/>
              </a:ext>
            </a:extLst>
          </a:blip>
          <a:stretch>
            <a:fillRect/>
          </a:stretch>
        </p:blipFill>
        <p:spPr>
          <a:xfrm>
            <a:off x="6278880" y="3992880"/>
            <a:ext cx="1173480" cy="548640"/>
          </a:xfrm>
          <a:prstGeom prst="rect">
            <a:avLst/>
          </a:prstGeom>
        </p:spPr>
      </p:pic>
      <p:sp>
        <p:nvSpPr>
          <p:cNvPr id="16" name="Text 7"/>
          <p:cNvSpPr/>
          <p:nvPr>
            <p:custDataLst>
              <p:tags r:id="rId16"/>
            </p:custDataLst>
          </p:nvPr>
        </p:nvSpPr>
        <p:spPr>
          <a:xfrm>
            <a:off x="6522720" y="4023360"/>
            <a:ext cx="694944" cy="502920"/>
          </a:xfrm>
          <a:prstGeom prst="rect">
            <a:avLst/>
          </a:prstGeom>
          <a:noFill/>
        </p:spPr>
        <p:txBody>
          <a:bodyPr wrap="none" lIns="0" tIns="0" rIns="0" bIns="0" rtlCol="0" anchor="t">
            <a:spAutoFit/>
          </a:bodyPr>
          <a:lstStyle/>
          <a:p>
            <a:pPr marL="0" indent="0" algn="l">
              <a:lnSpc>
                <a:spcPct val="150000"/>
              </a:lnSpc>
              <a:buNone/>
            </a:pPr>
            <a:r>
              <a:rPr lang="en-US" sz="2640" b="1" dirty="0">
                <a:solidFill>
                  <a:srgbClr val="FFFFFF"/>
                </a:solidFill>
                <a:latin typeface="思源黑体 CN Bold" pitchFamily="34" charset="0"/>
                <a:ea typeface="思源黑体 CN Bold" pitchFamily="34" charset="-122"/>
                <a:cs typeface="思源黑体 CN Bold" pitchFamily="34" charset="-120"/>
              </a:rPr>
              <a:t>预习</a:t>
            </a:r>
            <a:endParaRPr lang="en-US" sz="2640" dirty="0"/>
          </a:p>
        </p:txBody>
      </p:sp>
      <p:sp>
        <p:nvSpPr>
          <p:cNvPr id="17" name="Text 8"/>
          <p:cNvSpPr/>
          <p:nvPr>
            <p:custDataLst>
              <p:tags r:id="rId17"/>
            </p:custDataLst>
          </p:nvPr>
        </p:nvSpPr>
        <p:spPr>
          <a:xfrm>
            <a:off x="6278880" y="4846320"/>
            <a:ext cx="5312664" cy="438864"/>
          </a:xfrm>
          <a:prstGeom prst="rect">
            <a:avLst/>
          </a:prstGeom>
          <a:noFill/>
        </p:spPr>
        <p:txBody>
          <a:bodyPr wrap="none" lIns="0" tIns="0" rIns="0" bIns="0" rtlCol="0" anchor="t">
            <a:spAutoFit/>
          </a:bodyPr>
          <a:lstStyle/>
          <a:p>
            <a:pPr marL="0" indent="0" algn="l">
              <a:lnSpc>
                <a:spcPct val="100000"/>
              </a:lnSpc>
              <a:buNone/>
            </a:pPr>
            <a:r>
              <a:rPr lang="en-US" sz="2160" dirty="0">
                <a:solidFill>
                  <a:srgbClr val="333333"/>
                </a:solidFill>
                <a:latin typeface="思源黑体 CN" pitchFamily="34" charset="0"/>
                <a:ea typeface="思源黑体 CN" pitchFamily="34" charset="-122"/>
                <a:cs typeface="思源黑体 CN" pitchFamily="34" charset="-120"/>
              </a:rPr>
              <a:t>预习4.2“网络设备配置核查”相关内容</a:t>
            </a:r>
            <a:endParaRPr lang="en-US" sz="2160" dirty="0"/>
          </a:p>
        </p:txBody>
      </p:sp>
      <p:graphicFrame>
        <p:nvGraphicFramePr>
          <p:cNvPr id="18" name="对象 17">
            <a:hlinkClick r:id="" action="ppaction://ole?verb="/>
          </p:cNvPr>
          <p:cNvGraphicFramePr>
            <a:graphicFrameLocks noChangeAspect="1"/>
          </p:cNvGraphicFramePr>
          <p:nvPr/>
        </p:nvGraphicFramePr>
        <p:xfrm>
          <a:off x="3118485" y="431800"/>
          <a:ext cx="971550" cy="666750"/>
        </p:xfrm>
        <a:graphic>
          <a:graphicData uri="http://schemas.openxmlformats.org/presentationml/2006/ole">
            <mc:AlternateContent xmlns:mc="http://schemas.openxmlformats.org/markup-compatibility/2006">
              <mc:Choice xmlns:v="urn:schemas-microsoft-com:vml" Requires="v">
                <p:oleObj spid="_x0000_s4097" name="" showAsIcon="1" r:id="rId18" imgW="971550" imgH="666750" progId="Word.Document.12">
                  <p:embed/>
                </p:oleObj>
              </mc:Choice>
              <mc:Fallback>
                <p:oleObj name="" showAsIcon="1" r:id="rId18" imgW="971550" imgH="666750" progId="Word.Document.12">
                  <p:embed/>
                  <p:pic>
                    <p:nvPicPr>
                      <p:cNvPr id="0" name="图片 4096"/>
                      <p:cNvPicPr/>
                      <p:nvPr/>
                    </p:nvPicPr>
                    <p:blipFill>
                      <a:blip r:embed="rId19"/>
                      <a:stretch>
                        <a:fillRect/>
                      </a:stretch>
                    </p:blipFill>
                    <p:spPr>
                      <a:xfrm>
                        <a:off x="3118485" y="431800"/>
                        <a:ext cx="971550" cy="666750"/>
                      </a:xfrm>
                      <a:prstGeom prst="rect">
                        <a:avLst/>
                      </a:prstGeom>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下节课预告</a:t>
            </a:r>
            <a:endParaRPr lang="en-US" sz="2760" dirty="0"/>
          </a:p>
        </p:txBody>
      </p:sp>
      <p:sp>
        <p:nvSpPr>
          <p:cNvPr id="6" name="Text 1"/>
          <p:cNvSpPr/>
          <p:nvPr/>
        </p:nvSpPr>
        <p:spPr>
          <a:xfrm>
            <a:off x="609600" y="1371600"/>
            <a:ext cx="60441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143966"/>
                </a:solidFill>
                <a:latin typeface="思源黑体 CN Bold" pitchFamily="34" charset="0"/>
                <a:ea typeface="思源黑体 CN Bold" pitchFamily="34" charset="-122"/>
                <a:cs typeface="思源黑体 CN Bold" pitchFamily="34" charset="-120"/>
              </a:rPr>
              <a:t>任务4：安全区域边界与计算环境测评（续）</a:t>
            </a:r>
            <a:endParaRPr lang="en-US" sz="2160" dirty="0"/>
          </a:p>
        </p:txBody>
      </p:sp>
      <p:pic>
        <p:nvPicPr>
          <p:cNvPr id="7" name="Image 3" descr="https://test.web.static.jianzeppt.com/ppt-temp-img3/d198a255c03a5b95ef83e7f2657005e6.png?x-oss-process=image/resize,w_1440,h_800,m_lfit/format,png"/>
          <p:cNvPicPr>
            <a:picLocks noChangeAspect="1"/>
          </p:cNvPicPr>
          <p:nvPr/>
        </p:nvPicPr>
        <p:blipFill>
          <a:blip r:embed="rId4"/>
          <a:stretch>
            <a:fillRect/>
          </a:stretch>
        </p:blipFill>
        <p:spPr>
          <a:xfrm>
            <a:off x="609600" y="2026920"/>
            <a:ext cx="6035040" cy="2194560"/>
          </a:xfrm>
          <a:prstGeom prst="rect">
            <a:avLst/>
          </a:prstGeom>
        </p:spPr>
      </p:pic>
      <p:sp>
        <p:nvSpPr>
          <p:cNvPr id="8" name="Text 2"/>
          <p:cNvSpPr/>
          <p:nvPr/>
        </p:nvSpPr>
        <p:spPr>
          <a:xfrm>
            <a:off x="853440" y="2270760"/>
            <a:ext cx="555650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143966"/>
                </a:solidFill>
                <a:latin typeface="思源黑体 CN Bold" pitchFamily="34" charset="0"/>
                <a:ea typeface="思源黑体 CN Bold" pitchFamily="34" charset="-122"/>
                <a:cs typeface="思源黑体 CN Bold" pitchFamily="34" charset="-120"/>
              </a:rPr>
              <a:t>下节课内容：</a:t>
            </a:r>
            <a:endParaRPr lang="en-US" sz="1560" dirty="0"/>
          </a:p>
        </p:txBody>
      </p:sp>
      <p:sp>
        <p:nvSpPr>
          <p:cNvPr id="9" name="Text 3"/>
          <p:cNvSpPr/>
          <p:nvPr/>
        </p:nvSpPr>
        <p:spPr>
          <a:xfrm>
            <a:off x="853440" y="2758440"/>
            <a:ext cx="496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4.2</a:t>
            </a:r>
            <a:endParaRPr lang="en-US" sz="1920" dirty="0"/>
          </a:p>
        </p:txBody>
      </p:sp>
      <p:sp>
        <p:nvSpPr>
          <p:cNvPr id="10" name="Text 4"/>
          <p:cNvSpPr/>
          <p:nvPr/>
        </p:nvSpPr>
        <p:spPr>
          <a:xfrm>
            <a:off x="1524000" y="2758440"/>
            <a:ext cx="392582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1F2837"/>
                </a:solidFill>
                <a:latin typeface="思源黑体 CN" pitchFamily="34" charset="0"/>
                <a:ea typeface="思源黑体 CN" pitchFamily="34" charset="-122"/>
                <a:cs typeface="思源黑体 CN" pitchFamily="34" charset="-120"/>
              </a:rPr>
              <a:t>网络设备配置核查：路由器、防火墙</a:t>
            </a:r>
            <a:endParaRPr lang="en-US" sz="1800" dirty="0"/>
          </a:p>
        </p:txBody>
      </p:sp>
      <p:sp>
        <p:nvSpPr>
          <p:cNvPr id="11" name="Text 5"/>
          <p:cNvSpPr/>
          <p:nvPr/>
        </p:nvSpPr>
        <p:spPr>
          <a:xfrm>
            <a:off x="853440" y="3093720"/>
            <a:ext cx="496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4.3</a:t>
            </a:r>
            <a:endParaRPr lang="en-US" sz="1920" dirty="0"/>
          </a:p>
        </p:txBody>
      </p:sp>
      <p:sp>
        <p:nvSpPr>
          <p:cNvPr id="12" name="Text 6"/>
          <p:cNvSpPr/>
          <p:nvPr/>
        </p:nvSpPr>
        <p:spPr>
          <a:xfrm>
            <a:off x="1524000" y="3093720"/>
            <a:ext cx="441350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1F2837"/>
                </a:solidFill>
                <a:latin typeface="思源黑体 CN" pitchFamily="34" charset="0"/>
                <a:ea typeface="思源黑体 CN" pitchFamily="34" charset="-122"/>
                <a:cs typeface="思源黑体 CN" pitchFamily="34" charset="-120"/>
              </a:rPr>
              <a:t>数据库安全配置核查：账户、权限、审计</a:t>
            </a:r>
            <a:endParaRPr lang="en-US" sz="1800" dirty="0"/>
          </a:p>
        </p:txBody>
      </p:sp>
      <p:sp>
        <p:nvSpPr>
          <p:cNvPr id="13" name="Text 7"/>
          <p:cNvSpPr/>
          <p:nvPr/>
        </p:nvSpPr>
        <p:spPr>
          <a:xfrm>
            <a:off x="853440" y="3429000"/>
            <a:ext cx="496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4.4</a:t>
            </a:r>
            <a:endParaRPr lang="en-US" sz="1920" dirty="0"/>
          </a:p>
        </p:txBody>
      </p:sp>
      <p:sp>
        <p:nvSpPr>
          <p:cNvPr id="14" name="Text 8"/>
          <p:cNvSpPr/>
          <p:nvPr/>
        </p:nvSpPr>
        <p:spPr>
          <a:xfrm>
            <a:off x="1524000" y="3429000"/>
            <a:ext cx="488594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1F2837"/>
                </a:solidFill>
                <a:latin typeface="思源黑体 CN" pitchFamily="34" charset="0"/>
                <a:ea typeface="思源黑体 CN" pitchFamily="34" charset="-122"/>
                <a:cs typeface="思源黑体 CN" pitchFamily="34" charset="-120"/>
              </a:rPr>
              <a:t>应用系统安全功能验证：身份鉴别、访问控制</a:t>
            </a:r>
            <a:endParaRPr lang="en-US" sz="1800" dirty="0"/>
          </a:p>
        </p:txBody>
      </p:sp>
      <p:sp>
        <p:nvSpPr>
          <p:cNvPr id="15" name="Text 9"/>
          <p:cNvSpPr/>
          <p:nvPr/>
        </p:nvSpPr>
        <p:spPr>
          <a:xfrm>
            <a:off x="853440" y="3764280"/>
            <a:ext cx="49682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143966"/>
                </a:solidFill>
                <a:latin typeface="思源黑体 CN Bold" pitchFamily="34" charset="0"/>
                <a:ea typeface="思源黑体 CN Bold" pitchFamily="34" charset="-122"/>
                <a:cs typeface="思源黑体 CN Bold" pitchFamily="34" charset="-120"/>
              </a:rPr>
              <a:t>4.5</a:t>
            </a:r>
            <a:endParaRPr lang="en-US" sz="1920" dirty="0"/>
          </a:p>
        </p:txBody>
      </p:sp>
      <p:sp>
        <p:nvSpPr>
          <p:cNvPr id="16" name="Text 10"/>
          <p:cNvSpPr/>
          <p:nvPr/>
        </p:nvSpPr>
        <p:spPr>
          <a:xfrm>
            <a:off x="1524000" y="3764280"/>
            <a:ext cx="416966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1F2837"/>
                </a:solidFill>
                <a:latin typeface="思源黑体 CN" pitchFamily="34" charset="0"/>
                <a:ea typeface="思源黑体 CN" pitchFamily="34" charset="-122"/>
                <a:cs typeface="思源黑体 CN" pitchFamily="34" charset="-120"/>
              </a:rPr>
              <a:t>漏洞扫描与结果分析：原理与报告解读</a:t>
            </a:r>
            <a:endParaRPr lang="en-US" sz="1800" dirty="0"/>
          </a:p>
        </p:txBody>
      </p:sp>
      <p:pic>
        <p:nvPicPr>
          <p:cNvPr id="17" name="Image 4" descr="https://test.web.static.jianzeppt.com/ppt-temp-img3/d2d2f89b7b631ebc772bc253b7a39f12.png?x-oss-process=image/resize,w_1440,h_800,m_lfit/format,png"/>
          <p:cNvPicPr>
            <a:picLocks noChangeAspect="1"/>
          </p:cNvPicPr>
          <p:nvPr/>
        </p:nvPicPr>
        <p:blipFill>
          <a:blip r:embed="rId5"/>
          <a:stretch>
            <a:fillRect/>
          </a:stretch>
        </p:blipFill>
        <p:spPr>
          <a:xfrm>
            <a:off x="609600" y="4465320"/>
            <a:ext cx="6035040" cy="1783080"/>
          </a:xfrm>
          <a:prstGeom prst="rect">
            <a:avLst/>
          </a:prstGeom>
        </p:spPr>
      </p:pic>
      <p:pic>
        <p:nvPicPr>
          <p:cNvPr id="18"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840" y="4480560"/>
            <a:ext cx="6004560" cy="655320"/>
          </a:xfrm>
          <a:prstGeom prst="rect">
            <a:avLst/>
          </a:prstGeom>
        </p:spPr>
      </p:pic>
      <p:pic>
        <p:nvPicPr>
          <p:cNvPr id="19"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8680" y="4663440"/>
            <a:ext cx="304800" cy="304800"/>
          </a:xfrm>
          <a:prstGeom prst="rect">
            <a:avLst/>
          </a:prstGeom>
        </p:spPr>
      </p:pic>
      <p:sp>
        <p:nvSpPr>
          <p:cNvPr id="20" name="Text 11"/>
          <p:cNvSpPr/>
          <p:nvPr/>
        </p:nvSpPr>
        <p:spPr>
          <a:xfrm>
            <a:off x="1295400" y="4602480"/>
            <a:ext cx="1106424" cy="396240"/>
          </a:xfrm>
          <a:prstGeom prst="rect">
            <a:avLst/>
          </a:prstGeom>
          <a:noFill/>
        </p:spPr>
        <p:txBody>
          <a:bodyPr wrap="none" lIns="0" tIns="0" rIns="0" bIns="0" rtlCol="0" anchor="ct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课前准备</a:t>
            </a:r>
            <a:endParaRPr lang="en-US" sz="2160" dirty="0"/>
          </a:p>
        </p:txBody>
      </p:sp>
      <p:sp>
        <p:nvSpPr>
          <p:cNvPr id="21" name="Text 12"/>
          <p:cNvSpPr/>
          <p:nvPr/>
        </p:nvSpPr>
        <p:spPr>
          <a:xfrm>
            <a:off x="929640" y="5318760"/>
            <a:ext cx="552602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374051"/>
                </a:solidFill>
                <a:latin typeface="思源黑体 CN" pitchFamily="34" charset="0"/>
                <a:ea typeface="思源黑体 CN" pitchFamily="34" charset="-122"/>
                <a:cs typeface="思源黑体 CN" pitchFamily="34" charset="-120"/>
              </a:rPr>
              <a:t>复习“安全区域边界”与“安全计算环境”章节</a:t>
            </a:r>
            <a:endParaRPr lang="en-US" sz="1800" dirty="0"/>
          </a:p>
        </p:txBody>
      </p:sp>
      <p:sp>
        <p:nvSpPr>
          <p:cNvPr id="22" name="Text 13"/>
          <p:cNvSpPr/>
          <p:nvPr/>
        </p:nvSpPr>
        <p:spPr>
          <a:xfrm>
            <a:off x="929640" y="5715000"/>
            <a:ext cx="5526024" cy="315278"/>
          </a:xfrm>
          <a:prstGeom prst="rect">
            <a:avLst/>
          </a:prstGeom>
          <a:noFill/>
        </p:spPr>
        <p:txBody>
          <a:bodyPr wrap="none" lIns="0" tIns="0" rIns="0" bIns="0" rtlCol="0" anchor="t">
            <a:spAutoFit/>
          </a:bodyPr>
          <a:lstStyle/>
          <a:p>
            <a:pPr marL="0" indent="0" algn="l">
              <a:lnSpc>
                <a:spcPct val="100000"/>
              </a:lnSpc>
              <a:buNone/>
            </a:pPr>
            <a:r>
              <a:rPr lang="en-US" sz="1800" dirty="0">
                <a:solidFill>
                  <a:srgbClr val="374051"/>
                </a:solidFill>
                <a:latin typeface="思源黑体 CN" pitchFamily="34" charset="0"/>
                <a:ea typeface="思源黑体 CN" pitchFamily="34" charset="-122"/>
                <a:cs typeface="思源黑体 CN" pitchFamily="34" charset="-120"/>
              </a:rPr>
              <a:t>预习网络设备配置核查方法</a:t>
            </a:r>
            <a:endParaRPr lang="en-US" sz="1800" dirty="0"/>
          </a:p>
        </p:txBody>
      </p:sp>
      <p:pic>
        <p:nvPicPr>
          <p:cNvPr id="23" name="Image 7" descr="https://test.web.static.jianzeppt.com/ppt-temp-img3/1789bc19578a11040f027a03a76da830.png?x-oss-process=image/resize,w_1440,h_800,m_lfit/format,png"/>
          <p:cNvPicPr>
            <a:picLocks noChangeAspect="1"/>
          </p:cNvPicPr>
          <p:nvPr/>
        </p:nvPicPr>
        <p:blipFill>
          <a:blip r:embed="rId10"/>
          <a:stretch>
            <a:fillRect/>
          </a:stretch>
        </p:blipFill>
        <p:spPr>
          <a:xfrm>
            <a:off x="7010400" y="1371600"/>
            <a:ext cx="4572000" cy="48768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sld>
</file>

<file path=ppt/tags/tag1.xml><?xml version="1.0" encoding="utf-8"?>
<p:tagLst xmlns:p="http://schemas.openxmlformats.org/presentationml/2006/main">
  <p:tag name="KSO_WM_DIAGRAM_VIRTUALLY_FRAME" val="{&quot;height&quot;:342.7125196850394,&quot;left&quot;:48,&quot;top&quot;:108,&quot;width&quot;:864.72}"/>
</p:tagLst>
</file>

<file path=ppt/tags/tag2.xml><?xml version="1.0" encoding="utf-8"?>
<p:tagLst xmlns:p="http://schemas.openxmlformats.org/presentationml/2006/main">
  <p:tag name="KSO_WM_DIAGRAM_VIRTUALLY_FRAME" val="{&quot;height&quot;:342.7125196850394,&quot;left&quot;:48,&quot;top&quot;:108,&quot;width&quot;:864.72}"/>
</p:tagLst>
</file>

<file path=ppt/tags/tag3.xml><?xml version="1.0" encoding="utf-8"?>
<p:tagLst xmlns:p="http://schemas.openxmlformats.org/presentationml/2006/main">
  <p:tag name="KSO_WM_DIAGRAM_VIRTUALLY_FRAME" val="{&quot;height&quot;:342.7125196850394,&quot;left&quot;:48,&quot;top&quot;:108,&quot;width&quot;:864.72}"/>
</p:tagLst>
</file>

<file path=ppt/tags/tag4.xml><?xml version="1.0" encoding="utf-8"?>
<p:tagLst xmlns:p="http://schemas.openxmlformats.org/presentationml/2006/main">
  <p:tag name="KSO_WM_DIAGRAM_VIRTUALLY_FRAME" val="{&quot;height&quot;:342.7125196850394,&quot;left&quot;:48,&quot;top&quot;:108,&quot;width&quot;:864.72}"/>
</p:tagLst>
</file>

<file path=ppt/tags/tag5.xml><?xml version="1.0" encoding="utf-8"?>
<p:tagLst xmlns:p="http://schemas.openxmlformats.org/presentationml/2006/main">
  <p:tag name="KSO_WM_DIAGRAM_VIRTUALLY_FRAME" val="{&quot;height&quot;:342.7125196850394,&quot;left&quot;:48,&quot;top&quot;:108,&quot;width&quot;:864.72}"/>
</p:tagLst>
</file>

<file path=ppt/tags/tag6.xml><?xml version="1.0" encoding="utf-8"?>
<p:tagLst xmlns:p="http://schemas.openxmlformats.org/presentationml/2006/main">
  <p:tag name="KSO_WM_DIAGRAM_VIRTUALLY_FRAME" val="{&quot;height&quot;:342.7125196850394,&quot;left&quot;:48,&quot;top&quot;:108,&quot;width&quot;:864.72}"/>
</p:tagLst>
</file>

<file path=ppt/tags/tag7.xml><?xml version="1.0" encoding="utf-8"?>
<p:tagLst xmlns:p="http://schemas.openxmlformats.org/presentationml/2006/main">
  <p:tag name="KSO_WM_DIAGRAM_VIRTUALLY_FRAME" val="{&quot;height&quot;:342.7125196850394,&quot;left&quot;:48,&quot;top&quot;:108,&quot;width&quot;:864.72}"/>
</p:tagLst>
</file>

<file path=ppt/tags/tag8.xml><?xml version="1.0" encoding="utf-8"?>
<p:tagLst xmlns:p="http://schemas.openxmlformats.org/presentationml/2006/main">
  <p:tag name="KSO_WM_DIAGRAM_VIRTUALLY_FRAME" val="{&quot;height&quot;:342.7125196850394,&quot;left&quot;:48,&quot;top&quot;:108,&quot;width&quot;:864.72}"/>
</p:tagLst>
</file>

<file path=ppt/tags/tag9.xml><?xml version="1.0" encoding="utf-8"?>
<p:tagLst xmlns:p="http://schemas.openxmlformats.org/presentationml/2006/main">
  <p:tag name="KSO_WM_DIAGRAM_VIRTUALLY_FRAME" val="{&quot;height&quot;:342.7125196850394,&quot;left&quot;:48,&quot;top&quot;:108,&quot;width&quot;:864.72}"/>
</p:tagLst>
</file>

<file path=ppt/tags/tag10.xml><?xml version="1.0" encoding="utf-8"?>
<p:tagLst xmlns:p="http://schemas.openxmlformats.org/presentationml/2006/main">
  <p:tag name="KSO_WM_DIAGRAM_VIRTUALLY_FRAME" val="{&quot;height&quot;:342.7125196850394,&quot;left&quot;:48,&quot;top&quot;:108,&quot;width&quot;:864.72}"/>
</p:tagLst>
</file>

<file path=ppt/tags/tag11.xml><?xml version="1.0" encoding="utf-8"?>
<p:tagLst xmlns:p="http://schemas.openxmlformats.org/presentationml/2006/main">
  <p:tag name="KSO_WM_DIAGRAM_VIRTUALLY_FRAME" val="{&quot;height&quot;:342.7125196850394,&quot;left&quot;:48,&quot;top&quot;:108,&quot;width&quot;:864.72}"/>
</p:tagLst>
</file>

<file path=ppt/tags/tag12.xml><?xml version="1.0" encoding="utf-8"?>
<p:tagLst xmlns:p="http://schemas.openxmlformats.org/presentationml/2006/main">
  <p:tag name="KSO_WM_DIAGRAM_VIRTUALLY_FRAME" val="{&quot;height&quot;:342.7125196850394,&quot;left&quot;:48,&quot;top&quot;:108,&quot;width&quot;:864.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7985</Words>
  <Application>WPS 演示</Application>
  <PresentationFormat>On-screen Show (16:9)</PresentationFormat>
  <Paragraphs>1250</Paragraphs>
  <Slides>30</Slides>
  <Notes>25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30</vt:i4>
      </vt:variant>
    </vt:vector>
  </HeadingPairs>
  <TitlesOfParts>
    <vt:vector size="50"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Calibri</vt:lpstr>
      <vt:lpstr>微软雅黑</vt:lpstr>
      <vt:lpstr>Arial Unicode MS</vt:lpstr>
      <vt:lpstr>等线</vt:lpstr>
      <vt:lpstr>Office Theme</vt:lpstr>
      <vt:lpstr>Word.Document.12</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202603</cp:lastModifiedBy>
  <cp:revision>14</cp:revision>
  <dcterms:created xsi:type="dcterms:W3CDTF">2026-08-30T03:53:00Z</dcterms:created>
  <dcterms:modified xsi:type="dcterms:W3CDTF">2026-10-08T15:47:34Z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614C6DD1B82D4D4CBD0FD88DA75AF711_12</vt:lpwstr>
  </property>
</Properties>
</file>