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10.svg" ContentType="image/svg+xml"/>
  <Override PartName="/ppt/media/image113.svg" ContentType="image/svg+xml"/>
  <Override PartName="/ppt/media/image116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4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73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185.svg" ContentType="image/svg+xml"/>
  <Override PartName="/ppt/media/image188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9.svg" ContentType="image/svg+xml"/>
  <Override PartName="/ppt/media/image20.svg" ContentType="image/svg+xml"/>
  <Override PartName="/ppt/media/image201.svg" ContentType="image/svg+xml"/>
  <Override PartName="/ppt/media/image206.svg" ContentType="image/svg+xml"/>
  <Override PartName="/ppt/media/image208.svg" ContentType="image/svg+xml"/>
  <Override PartName="/ppt/media/image210.svg" ContentType="image/svg+xml"/>
  <Override PartName="/ppt/media/image213.svg" ContentType="image/svg+xml"/>
  <Override PartName="/ppt/media/image216.svg" ContentType="image/svg+xml"/>
  <Override PartName="/ppt/media/image219.svg" ContentType="image/svg+xml"/>
  <Override PartName="/ppt/media/image221.svg" ContentType="image/svg+xml"/>
  <Override PartName="/ppt/media/image225.svg" ContentType="image/svg+xml"/>
  <Override PartName="/ppt/media/image229.svg" ContentType="image/svg+xml"/>
  <Override PartName="/ppt/media/image23.svg" ContentType="image/svg+xml"/>
  <Override PartName="/ppt/media/image26.svg" ContentType="image/svg+xml"/>
  <Override PartName="/ppt/media/image29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3.svg" ContentType="image/svg+xml"/>
  <Override PartName="/ppt/media/image86.svg" ContentType="image/svg+xml"/>
  <Override PartName="/ppt/media/image88.svg" ContentType="image/svg+xml"/>
  <Override PartName="/ppt/media/image92.svg" ContentType="image/svg+xml"/>
  <Override PartName="/ppt/media/image9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2" r:id="rId22"/>
    <p:sldId id="274" r:id="rId23"/>
    <p:sldId id="275" r:id="rId24"/>
    <p:sldId id="276" r:id="rId25"/>
    <p:sldId id="283" r:id="rId26"/>
    <p:sldId id="284" r:id="rId27"/>
    <p:sldId id="285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wmf"/><Relationship Id="rId1" Type="http://schemas.openxmlformats.org/officeDocument/2006/relationships/image" Target="../media/image15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（One Time Password，</a:t>
            </a:r>
            <a:r>
              <a:rPr lang="zh-CN" altLang="en-US" dirty="0"/>
              <a:t>简称</a:t>
            </a:r>
            <a:r>
              <a:rPr lang="en-US" altLang="zh-CN" dirty="0"/>
              <a:t>OTP），</a:t>
            </a:r>
            <a:r>
              <a:rPr lang="zh-CN" altLang="en-US" dirty="0"/>
              <a:t>又称“一次性口令”，是指只能使用一次的密码。一次性密码是根据专门算法、每隔60秒生成一个不可预测的随机数字组合，</a:t>
            </a:r>
            <a:r>
              <a:rPr lang="en-US" altLang="zh-CN" dirty="0"/>
              <a:t>iKEY</a:t>
            </a:r>
            <a:r>
              <a:rPr lang="zh-CN" altLang="en-US" dirty="0"/>
              <a:t>一次性密码已在金融、电信、网游等领域被广泛应用，有效地保护了用户的安全。</a:t>
            </a:r>
            <a:endParaRPr lang="zh-CN" altLang="en-US" dirty="0"/>
          </a:p>
          <a:p>
            <a:r>
              <a:rPr lang="en-US" altLang="zh-CN"/>
              <a:t>TACACS </a:t>
            </a:r>
            <a:r>
              <a:rPr lang="zh-CN" altLang="en-US"/>
              <a:t>是一套</a:t>
            </a:r>
            <a:r>
              <a:rPr lang="en-US" altLang="zh-CN"/>
              <a:t> AAA</a:t>
            </a:r>
            <a:r>
              <a:rPr lang="zh-CN" altLang="en-US"/>
              <a:t>（认证</a:t>
            </a:r>
            <a:r>
              <a:rPr lang="en-US" altLang="zh-CN"/>
              <a:t> Authentication</a:t>
            </a:r>
            <a:r>
              <a:rPr lang="zh-CN" altLang="en-US"/>
              <a:t>、授权</a:t>
            </a:r>
            <a:r>
              <a:rPr lang="en-US" altLang="zh-CN"/>
              <a:t> Authorization</a:t>
            </a:r>
            <a:r>
              <a:rPr lang="zh-CN" altLang="en-US"/>
              <a:t>、计费</a:t>
            </a:r>
            <a:r>
              <a:rPr lang="en-US" altLang="zh-CN"/>
              <a:t> Accounting</a:t>
            </a:r>
            <a:r>
              <a:rPr lang="zh-CN" altLang="en-US"/>
              <a:t>）网络安全协议，现在生产环境基本使用它的增强版</a:t>
            </a:r>
            <a:r>
              <a:rPr lang="en-US" altLang="zh-CN"/>
              <a:t> TACACS+</a:t>
            </a:r>
            <a:r>
              <a:rPr lang="zh-CN" altLang="en-US"/>
              <a:t>，原始</a:t>
            </a:r>
            <a:r>
              <a:rPr lang="en-US" altLang="zh-CN"/>
              <a:t> TACACS </a:t>
            </a:r>
            <a:r>
              <a:rPr lang="zh-CN" altLang="en-US"/>
              <a:t>已经淘汰。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 Port 23</a:t>
            </a:r>
            <a:r>
              <a:rPr lang="zh-CN" altLang="en-US"/>
              <a:t>（</a:t>
            </a:r>
            <a:r>
              <a:rPr lang="en-US" altLang="zh-CN"/>
              <a:t>TCP 23 </a:t>
            </a:r>
            <a:r>
              <a:rPr lang="zh-CN" altLang="en-US"/>
              <a:t>端口）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**</a:t>
            </a:r>
            <a:r>
              <a:rPr lang="zh-CN" altLang="en-US"/>
              <a:t>服务：</a:t>
            </a:r>
            <a:r>
              <a:rPr lang="en-US" altLang="zh-CN"/>
              <a:t>Telnet</a:t>
            </a:r>
            <a:r>
              <a:rPr lang="zh-CN" altLang="en-US"/>
              <a:t>（</a:t>
            </a:r>
            <a:r>
              <a:rPr lang="en-US" altLang="zh-CN"/>
              <a:t>Terminal Network</a:t>
            </a:r>
            <a:r>
              <a:rPr lang="zh-CN" altLang="en-US"/>
              <a:t>，远程终端协议，</a:t>
            </a:r>
            <a:r>
              <a:rPr lang="en-US" altLang="zh-CN"/>
              <a:t>RFC854</a:t>
            </a:r>
            <a:r>
              <a:rPr lang="zh-CN" altLang="en-US"/>
              <a:t>）</a:t>
            </a:r>
            <a:r>
              <a:rPr lang="en-US" altLang="zh-CN"/>
              <a:t>**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43866"/>
                </a:solidFill>
                <a:sym typeface="+mn-ea"/>
              </a:rPr>
              <a:t>建议用时：读配置 25 分钟 + 取证 20 分钟 + 录入判定 25 分钟</a:t>
            </a:r>
            <a:endParaRPr lang="en-US" b="1" dirty="0">
              <a:solidFill>
                <a:srgbClr val="143866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  <a:sym typeface="+mn-ea"/>
              </a:rPr>
              <a:t>评分看点：配置读解 30% ＋ 取证质量 25% ＋ 判定与描述 25% ＋ 职业素养 20%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网络设备配置核查核心知识导图 知识点回顾（5分钟） 一、网络设备在等保中的定位 ● 安全技术要求 → 安全计算环境 ● 对象：路由器、交换机、防火墙、堡垒机 三、检查流程 登录设备 → 逐项检查 → 记录发现 → 判断合规 → 填写记录表 二、四大核查维度 1 身份鉴别 (8.1.4.1) ▪ 密码策略（长≥8/复杂/期≤90天） ▪ 登录策略（错≤5次/锁≥15分） ▪ 远程管理加密（SSH vs Telnet） ▪ 双因素鉴别（三级） 2 访问控制 (8.1.4.2) ▪ 账户管理（默认/闲置账户） ▪ 最小权限（权限分离） ▪ 安全标记（三级） 3 安全审计 (8.1.4.3) ▪ 日志启用与完整性 ▪ 日志保护与保存期限≥6个月 4 入侵防范 (8.1.4.4) ▪ 服务端口管理（关闭不必要端口） ▪ 管理终端限制（ACL） ▪ 漏洞修补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6" Type="http://schemas.openxmlformats.org/officeDocument/2006/relationships/notesSlide" Target="../notesSlides/notesSlide4.xml"/><Relationship Id="rId25" Type="http://schemas.openxmlformats.org/officeDocument/2006/relationships/vmlDrawing" Target="../drawings/vmlDrawing1.v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31.wmf"/><Relationship Id="rId22" Type="http://schemas.openxmlformats.org/officeDocument/2006/relationships/package" Target="../embeddings/Document1.docx"/><Relationship Id="rId21" Type="http://schemas.openxmlformats.org/officeDocument/2006/relationships/image" Target="../media/image30.png"/><Relationship Id="rId20" Type="http://schemas.openxmlformats.org/officeDocument/2006/relationships/image" Target="../media/image29.svg"/><Relationship Id="rId2" Type="http://schemas.openxmlformats.org/officeDocument/2006/relationships/image" Target="../media/image11.png"/><Relationship Id="rId19" Type="http://schemas.openxmlformats.org/officeDocument/2006/relationships/image" Target="../media/image28.png"/><Relationship Id="rId18" Type="http://schemas.openxmlformats.org/officeDocument/2006/relationships/image" Target="../media/image27.png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tags" Target="../tags/tag2.xml"/><Relationship Id="rId5" Type="http://schemas.openxmlformats.org/officeDocument/2006/relationships/image" Target="../media/image32.png"/><Relationship Id="rId43" Type="http://schemas.openxmlformats.org/officeDocument/2006/relationships/notesSlide" Target="../notesSlides/notesSlide5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31.xml"/><Relationship Id="rId40" Type="http://schemas.openxmlformats.org/officeDocument/2006/relationships/tags" Target="../tags/tag30.xml"/><Relationship Id="rId4" Type="http://schemas.openxmlformats.org/officeDocument/2006/relationships/tags" Target="../tags/tag1.xml"/><Relationship Id="rId39" Type="http://schemas.openxmlformats.org/officeDocument/2006/relationships/tags" Target="../tags/tag29.xml"/><Relationship Id="rId38" Type="http://schemas.openxmlformats.org/officeDocument/2006/relationships/tags" Target="../tags/tag28.xml"/><Relationship Id="rId37" Type="http://schemas.openxmlformats.org/officeDocument/2006/relationships/tags" Target="../tags/tag27.xml"/><Relationship Id="rId36" Type="http://schemas.openxmlformats.org/officeDocument/2006/relationships/tags" Target="../tags/tag26.xml"/><Relationship Id="rId35" Type="http://schemas.openxmlformats.org/officeDocument/2006/relationships/tags" Target="../tags/tag25.xml"/><Relationship Id="rId34" Type="http://schemas.openxmlformats.org/officeDocument/2006/relationships/tags" Target="../tags/tag24.xml"/><Relationship Id="rId33" Type="http://schemas.openxmlformats.org/officeDocument/2006/relationships/tags" Target="../tags/tag23.xml"/><Relationship Id="rId32" Type="http://schemas.openxmlformats.org/officeDocument/2006/relationships/tags" Target="../tags/tag2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2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11.png"/><Relationship Id="rId19" Type="http://schemas.openxmlformats.org/officeDocument/2006/relationships/tags" Target="../tags/tag9.xml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image" Target="../media/image38.svg"/><Relationship Id="rId15" Type="http://schemas.openxmlformats.org/officeDocument/2006/relationships/image" Target="../media/image37.png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55.png"/><Relationship Id="rId2" Type="http://schemas.openxmlformats.org/officeDocument/2006/relationships/image" Target="../media/image11.png"/><Relationship Id="rId19" Type="http://schemas.openxmlformats.org/officeDocument/2006/relationships/image" Target="../media/image54.svg"/><Relationship Id="rId18" Type="http://schemas.openxmlformats.org/officeDocument/2006/relationships/image" Target="../media/image53.png"/><Relationship Id="rId17" Type="http://schemas.openxmlformats.org/officeDocument/2006/relationships/image" Target="../media/image52.svg"/><Relationship Id="rId16" Type="http://schemas.openxmlformats.org/officeDocument/2006/relationships/image" Target="../media/image51.png"/><Relationship Id="rId15" Type="http://schemas.openxmlformats.org/officeDocument/2006/relationships/image" Target="../media/image50.svg"/><Relationship Id="rId14" Type="http://schemas.openxmlformats.org/officeDocument/2006/relationships/image" Target="../media/image49.png"/><Relationship Id="rId13" Type="http://schemas.openxmlformats.org/officeDocument/2006/relationships/image" Target="../media/image48.svg"/><Relationship Id="rId12" Type="http://schemas.openxmlformats.org/officeDocument/2006/relationships/image" Target="../media/image47.png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68.png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image" Target="../media/image65.svg"/><Relationship Id="rId12" Type="http://schemas.openxmlformats.org/officeDocument/2006/relationships/image" Target="../media/image64.png"/><Relationship Id="rId11" Type="http://schemas.openxmlformats.org/officeDocument/2006/relationships/image" Target="../media/image63.svg"/><Relationship Id="rId10" Type="http://schemas.openxmlformats.org/officeDocument/2006/relationships/image" Target="../media/image62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83.svg"/><Relationship Id="rId17" Type="http://schemas.openxmlformats.org/officeDocument/2006/relationships/image" Target="../media/image82.png"/><Relationship Id="rId16" Type="http://schemas.openxmlformats.org/officeDocument/2006/relationships/image" Target="../media/image81.png"/><Relationship Id="rId15" Type="http://schemas.openxmlformats.org/officeDocument/2006/relationships/image" Target="../media/image80.png"/><Relationship Id="rId14" Type="http://schemas.openxmlformats.org/officeDocument/2006/relationships/image" Target="../media/image79.svg"/><Relationship Id="rId13" Type="http://schemas.openxmlformats.org/officeDocument/2006/relationships/image" Target="../media/image78.png"/><Relationship Id="rId12" Type="http://schemas.openxmlformats.org/officeDocument/2006/relationships/image" Target="../media/image77.svg"/><Relationship Id="rId11" Type="http://schemas.openxmlformats.org/officeDocument/2006/relationships/image" Target="../media/image76.png"/><Relationship Id="rId10" Type="http://schemas.openxmlformats.org/officeDocument/2006/relationships/image" Target="../media/image75.sv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0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95.png"/><Relationship Id="rId7" Type="http://schemas.openxmlformats.org/officeDocument/2006/relationships/image" Target="../media/image94.svg"/><Relationship Id="rId6" Type="http://schemas.openxmlformats.org/officeDocument/2006/relationships/image" Target="../media/image93.png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6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sv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18.sv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07.svg"/><Relationship Id="rId14" Type="http://schemas.openxmlformats.org/officeDocument/2006/relationships/image" Target="../media/image106.png"/><Relationship Id="rId13" Type="http://schemas.openxmlformats.org/officeDocument/2006/relationships/image" Target="../media/image105.svg"/><Relationship Id="rId12" Type="http://schemas.openxmlformats.org/officeDocument/2006/relationships/image" Target="../media/image104.png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40.svg"/><Relationship Id="rId7" Type="http://schemas.openxmlformats.org/officeDocument/2006/relationships/image" Target="../media/image9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6.svg"/><Relationship Id="rId13" Type="http://schemas.openxmlformats.org/officeDocument/2006/relationships/image" Target="../media/image115.png"/><Relationship Id="rId12" Type="http://schemas.openxmlformats.org/officeDocument/2006/relationships/image" Target="../media/image114.png"/><Relationship Id="rId11" Type="http://schemas.openxmlformats.org/officeDocument/2006/relationships/image" Target="../media/image113.svg"/><Relationship Id="rId10" Type="http://schemas.openxmlformats.org/officeDocument/2006/relationships/image" Target="../media/image112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png"/><Relationship Id="rId7" Type="http://schemas.openxmlformats.org/officeDocument/2006/relationships/image" Target="../media/image119.png"/><Relationship Id="rId6" Type="http://schemas.openxmlformats.org/officeDocument/2006/relationships/image" Target="../media/image48.sv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29.svg"/><Relationship Id="rId16" Type="http://schemas.openxmlformats.org/officeDocument/2006/relationships/image" Target="../media/image128.png"/><Relationship Id="rId15" Type="http://schemas.openxmlformats.org/officeDocument/2006/relationships/image" Target="../media/image127.svg"/><Relationship Id="rId14" Type="http://schemas.openxmlformats.org/officeDocument/2006/relationships/image" Target="../media/image126.png"/><Relationship Id="rId13" Type="http://schemas.openxmlformats.org/officeDocument/2006/relationships/image" Target="../media/image125.svg"/><Relationship Id="rId12" Type="http://schemas.openxmlformats.org/officeDocument/2006/relationships/image" Target="../media/image124.png"/><Relationship Id="rId11" Type="http://schemas.openxmlformats.org/officeDocument/2006/relationships/image" Target="../media/image123.svg"/><Relationship Id="rId10" Type="http://schemas.openxmlformats.org/officeDocument/2006/relationships/image" Target="../media/image122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tags" Target="../tags/tag32.xml"/><Relationship Id="rId37" Type="http://schemas.openxmlformats.org/officeDocument/2006/relationships/notesSlide" Target="../notesSlides/notesSlide17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143.svg"/><Relationship Id="rId34" Type="http://schemas.openxmlformats.org/officeDocument/2006/relationships/image" Target="../media/image142.png"/><Relationship Id="rId33" Type="http://schemas.openxmlformats.org/officeDocument/2006/relationships/image" Target="../media/image141.svg"/><Relationship Id="rId32" Type="http://schemas.openxmlformats.org/officeDocument/2006/relationships/image" Target="../media/image140.png"/><Relationship Id="rId31" Type="http://schemas.openxmlformats.org/officeDocument/2006/relationships/image" Target="../media/image139.svg"/><Relationship Id="rId30" Type="http://schemas.openxmlformats.org/officeDocument/2006/relationships/image" Target="../media/image138.png"/><Relationship Id="rId3" Type="http://schemas.openxmlformats.org/officeDocument/2006/relationships/image" Target="../media/image12.png"/><Relationship Id="rId29" Type="http://schemas.openxmlformats.org/officeDocument/2006/relationships/image" Target="../media/image137.svg"/><Relationship Id="rId28" Type="http://schemas.openxmlformats.org/officeDocument/2006/relationships/image" Target="../media/image136.png"/><Relationship Id="rId27" Type="http://schemas.openxmlformats.org/officeDocument/2006/relationships/tags" Target="../tags/tag49.xml"/><Relationship Id="rId26" Type="http://schemas.openxmlformats.org/officeDocument/2006/relationships/tags" Target="../tags/tag48.xml"/><Relationship Id="rId25" Type="http://schemas.openxmlformats.org/officeDocument/2006/relationships/image" Target="../media/image135.svg"/><Relationship Id="rId24" Type="http://schemas.openxmlformats.org/officeDocument/2006/relationships/image" Target="../media/image134.png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image" Target="../media/image11.png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image" Target="../media/image133.svg"/><Relationship Id="rId16" Type="http://schemas.openxmlformats.org/officeDocument/2006/relationships/image" Target="../media/image132.png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image" Target="../media/image147.svg"/><Relationship Id="rId6" Type="http://schemas.openxmlformats.org/officeDocument/2006/relationships/image" Target="../media/image146.png"/><Relationship Id="rId5" Type="http://schemas.openxmlformats.org/officeDocument/2006/relationships/image" Target="../media/image145.svg"/><Relationship Id="rId4" Type="http://schemas.openxmlformats.org/officeDocument/2006/relationships/image" Target="../media/image144.png"/><Relationship Id="rId3" Type="http://schemas.openxmlformats.org/officeDocument/2006/relationships/image" Target="../media/image12.png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56.wmf"/><Relationship Id="rId2" Type="http://schemas.openxmlformats.org/officeDocument/2006/relationships/image" Target="../media/image11.png"/><Relationship Id="rId19" Type="http://schemas.openxmlformats.org/officeDocument/2006/relationships/package" Target="../embeddings/Document3.docx"/><Relationship Id="rId18" Type="http://schemas.openxmlformats.org/officeDocument/2006/relationships/image" Target="../media/image155.wmf"/><Relationship Id="rId17" Type="http://schemas.openxmlformats.org/officeDocument/2006/relationships/package" Target="../embeddings/Document2.docx"/><Relationship Id="rId16" Type="http://schemas.openxmlformats.org/officeDocument/2006/relationships/image" Target="../media/image18.svg"/><Relationship Id="rId15" Type="http://schemas.openxmlformats.org/officeDocument/2006/relationships/image" Target="../media/image98.png"/><Relationship Id="rId14" Type="http://schemas.openxmlformats.org/officeDocument/2006/relationships/image" Target="../media/image154.sv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svg"/><Relationship Id="rId10" Type="http://schemas.openxmlformats.org/officeDocument/2006/relationships/image" Target="../media/image150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svg"/><Relationship Id="rId7" Type="http://schemas.openxmlformats.org/officeDocument/2006/relationships/image" Target="../media/image163.png"/><Relationship Id="rId6" Type="http://schemas.openxmlformats.org/officeDocument/2006/relationships/image" Target="../media/image162.svg"/><Relationship Id="rId5" Type="http://schemas.openxmlformats.org/officeDocument/2006/relationships/image" Target="../media/image161.png"/><Relationship Id="rId4" Type="http://schemas.openxmlformats.org/officeDocument/2006/relationships/image" Target="../media/image160.sv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7" Type="http://schemas.openxmlformats.org/officeDocument/2006/relationships/notesSlide" Target="../notesSlides/notesSlide19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71.png"/><Relationship Id="rId14" Type="http://schemas.openxmlformats.org/officeDocument/2006/relationships/image" Target="../media/image170.svg"/><Relationship Id="rId13" Type="http://schemas.openxmlformats.org/officeDocument/2006/relationships/image" Target="../media/image169.png"/><Relationship Id="rId12" Type="http://schemas.openxmlformats.org/officeDocument/2006/relationships/image" Target="../media/image168.svg"/><Relationship Id="rId11" Type="http://schemas.openxmlformats.org/officeDocument/2006/relationships/image" Target="../media/image167.png"/><Relationship Id="rId10" Type="http://schemas.openxmlformats.org/officeDocument/2006/relationships/image" Target="../media/image166.svg"/><Relationship Id="rId1" Type="http://schemas.openxmlformats.org/officeDocument/2006/relationships/image" Target="../media/image157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svg"/><Relationship Id="rId3" Type="http://schemas.openxmlformats.org/officeDocument/2006/relationships/image" Target="../media/image172.png"/><Relationship Id="rId23" Type="http://schemas.openxmlformats.org/officeDocument/2006/relationships/notesSlide" Target="../notesSlides/notesSlide20.xml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55.wmf"/><Relationship Id="rId2" Type="http://schemas.openxmlformats.org/officeDocument/2006/relationships/image" Target="../media/image110.svg"/><Relationship Id="rId19" Type="http://schemas.openxmlformats.org/officeDocument/2006/relationships/package" Target="../embeddings/Document5.docx"/><Relationship Id="rId18" Type="http://schemas.openxmlformats.org/officeDocument/2006/relationships/image" Target="../media/image156.wmf"/><Relationship Id="rId17" Type="http://schemas.openxmlformats.org/officeDocument/2006/relationships/package" Target="../embeddings/Document4.docx"/><Relationship Id="rId16" Type="http://schemas.openxmlformats.org/officeDocument/2006/relationships/image" Target="../media/image185.svg"/><Relationship Id="rId15" Type="http://schemas.openxmlformats.org/officeDocument/2006/relationships/image" Target="../media/image184.png"/><Relationship Id="rId14" Type="http://schemas.openxmlformats.org/officeDocument/2006/relationships/image" Target="../media/image183.png"/><Relationship Id="rId13" Type="http://schemas.openxmlformats.org/officeDocument/2006/relationships/image" Target="../media/image182.svg"/><Relationship Id="rId12" Type="http://schemas.openxmlformats.org/officeDocument/2006/relationships/image" Target="../media/image181.png"/><Relationship Id="rId11" Type="http://schemas.openxmlformats.org/officeDocument/2006/relationships/image" Target="../media/image180.svg"/><Relationship Id="rId10" Type="http://schemas.openxmlformats.org/officeDocument/2006/relationships/image" Target="../media/image179.png"/><Relationship Id="rId1" Type="http://schemas.openxmlformats.org/officeDocument/2006/relationships/image" Target="../media/image10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image" Target="../media/image147.svg"/><Relationship Id="rId6" Type="http://schemas.openxmlformats.org/officeDocument/2006/relationships/image" Target="../media/image146.png"/><Relationship Id="rId5" Type="http://schemas.openxmlformats.org/officeDocument/2006/relationships/image" Target="../media/image145.svg"/><Relationship Id="rId4" Type="http://schemas.openxmlformats.org/officeDocument/2006/relationships/image" Target="../media/image144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21.xml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56.wmf"/><Relationship Id="rId2" Type="http://schemas.openxmlformats.org/officeDocument/2006/relationships/image" Target="../media/image11.png"/><Relationship Id="rId19" Type="http://schemas.openxmlformats.org/officeDocument/2006/relationships/package" Target="../embeddings/Document7.docx"/><Relationship Id="rId18" Type="http://schemas.openxmlformats.org/officeDocument/2006/relationships/image" Target="../media/image155.wmf"/><Relationship Id="rId17" Type="http://schemas.openxmlformats.org/officeDocument/2006/relationships/package" Target="../embeddings/Document6.docx"/><Relationship Id="rId16" Type="http://schemas.openxmlformats.org/officeDocument/2006/relationships/image" Target="../media/image18.svg"/><Relationship Id="rId15" Type="http://schemas.openxmlformats.org/officeDocument/2006/relationships/image" Target="../media/image98.png"/><Relationship Id="rId14" Type="http://schemas.openxmlformats.org/officeDocument/2006/relationships/image" Target="../media/image154.sv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svg"/><Relationship Id="rId10" Type="http://schemas.openxmlformats.org/officeDocument/2006/relationships/image" Target="../media/image150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image" Target="../media/image147.svg"/><Relationship Id="rId6" Type="http://schemas.openxmlformats.org/officeDocument/2006/relationships/image" Target="../media/image146.png"/><Relationship Id="rId5" Type="http://schemas.openxmlformats.org/officeDocument/2006/relationships/image" Target="../media/image145.svg"/><Relationship Id="rId4" Type="http://schemas.openxmlformats.org/officeDocument/2006/relationships/image" Target="../media/image14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2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svg"/><Relationship Id="rId15" Type="http://schemas.openxmlformats.org/officeDocument/2006/relationships/image" Target="../media/image98.png"/><Relationship Id="rId14" Type="http://schemas.openxmlformats.org/officeDocument/2006/relationships/image" Target="../media/image154.sv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svg"/><Relationship Id="rId10" Type="http://schemas.openxmlformats.org/officeDocument/2006/relationships/image" Target="../media/image150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0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190.svg"/><Relationship Id="rId7" Type="http://schemas.openxmlformats.org/officeDocument/2006/relationships/image" Target="../media/image189.png"/><Relationship Id="rId6" Type="http://schemas.openxmlformats.org/officeDocument/2006/relationships/image" Target="../media/image188.sv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2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96.svg"/><Relationship Id="rId13" Type="http://schemas.openxmlformats.org/officeDocument/2006/relationships/image" Target="../media/image195.png"/><Relationship Id="rId12" Type="http://schemas.openxmlformats.org/officeDocument/2006/relationships/image" Target="../media/image194.svg"/><Relationship Id="rId11" Type="http://schemas.openxmlformats.org/officeDocument/2006/relationships/image" Target="../media/image193.png"/><Relationship Id="rId10" Type="http://schemas.openxmlformats.org/officeDocument/2006/relationships/image" Target="../media/image192.sv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2.png"/><Relationship Id="rId8" Type="http://schemas.openxmlformats.org/officeDocument/2006/relationships/image" Target="../media/image201.svg"/><Relationship Id="rId7" Type="http://schemas.openxmlformats.org/officeDocument/2006/relationships/image" Target="../media/image200.png"/><Relationship Id="rId6" Type="http://schemas.openxmlformats.org/officeDocument/2006/relationships/image" Target="../media/image199.svg"/><Relationship Id="rId5" Type="http://schemas.openxmlformats.org/officeDocument/2006/relationships/image" Target="../media/image198.png"/><Relationship Id="rId4" Type="http://schemas.openxmlformats.org/officeDocument/2006/relationships/image" Target="../media/image197.png"/><Relationship Id="rId3" Type="http://schemas.openxmlformats.org/officeDocument/2006/relationships/image" Target="../media/image12.png"/><Relationship Id="rId27" Type="http://schemas.openxmlformats.org/officeDocument/2006/relationships/notesSlide" Target="../notesSlides/notesSlide25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16.svg"/><Relationship Id="rId24" Type="http://schemas.openxmlformats.org/officeDocument/2006/relationships/image" Target="../media/image215.png"/><Relationship Id="rId23" Type="http://schemas.openxmlformats.org/officeDocument/2006/relationships/image" Target="../media/image180.svg"/><Relationship Id="rId22" Type="http://schemas.openxmlformats.org/officeDocument/2006/relationships/image" Target="../media/image179.png"/><Relationship Id="rId21" Type="http://schemas.openxmlformats.org/officeDocument/2006/relationships/image" Target="../media/image214.png"/><Relationship Id="rId20" Type="http://schemas.openxmlformats.org/officeDocument/2006/relationships/image" Target="../media/image213.svg"/><Relationship Id="rId2" Type="http://schemas.openxmlformats.org/officeDocument/2006/relationships/image" Target="../media/image11.png"/><Relationship Id="rId19" Type="http://schemas.openxmlformats.org/officeDocument/2006/relationships/image" Target="../media/image212.png"/><Relationship Id="rId18" Type="http://schemas.openxmlformats.org/officeDocument/2006/relationships/image" Target="../media/image211.png"/><Relationship Id="rId17" Type="http://schemas.openxmlformats.org/officeDocument/2006/relationships/image" Target="../media/image210.svg"/><Relationship Id="rId16" Type="http://schemas.openxmlformats.org/officeDocument/2006/relationships/image" Target="../media/image209.png"/><Relationship Id="rId15" Type="http://schemas.openxmlformats.org/officeDocument/2006/relationships/image" Target="../media/image208.svg"/><Relationship Id="rId14" Type="http://schemas.openxmlformats.org/officeDocument/2006/relationships/image" Target="../media/image207.png"/><Relationship Id="rId13" Type="http://schemas.openxmlformats.org/officeDocument/2006/relationships/image" Target="../media/image206.svg"/><Relationship Id="rId12" Type="http://schemas.openxmlformats.org/officeDocument/2006/relationships/image" Target="../media/image205.png"/><Relationship Id="rId11" Type="http://schemas.openxmlformats.org/officeDocument/2006/relationships/image" Target="../media/image204.png"/><Relationship Id="rId10" Type="http://schemas.openxmlformats.org/officeDocument/2006/relationships/image" Target="../media/image203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0.png"/><Relationship Id="rId8" Type="http://schemas.openxmlformats.org/officeDocument/2006/relationships/image" Target="../media/image219.svg"/><Relationship Id="rId7" Type="http://schemas.openxmlformats.org/officeDocument/2006/relationships/image" Target="../media/image218.png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217.png"/><Relationship Id="rId3" Type="http://schemas.openxmlformats.org/officeDocument/2006/relationships/image" Target="../media/image12.png"/><Relationship Id="rId29" Type="http://schemas.openxmlformats.org/officeDocument/2006/relationships/notesSlide" Target="../notesSlides/notesSlide26.xml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232.wmf"/><Relationship Id="rId25" Type="http://schemas.openxmlformats.org/officeDocument/2006/relationships/package" Target="../embeddings/Document10.docx"/><Relationship Id="rId24" Type="http://schemas.openxmlformats.org/officeDocument/2006/relationships/image" Target="../media/image231.wmf"/><Relationship Id="rId23" Type="http://schemas.openxmlformats.org/officeDocument/2006/relationships/package" Target="../embeddings/Document9.docx"/><Relationship Id="rId22" Type="http://schemas.openxmlformats.org/officeDocument/2006/relationships/image" Target="../media/image230.wmf"/><Relationship Id="rId21" Type="http://schemas.openxmlformats.org/officeDocument/2006/relationships/package" Target="../embeddings/Document8.docx"/><Relationship Id="rId20" Type="http://schemas.openxmlformats.org/officeDocument/2006/relationships/image" Target="../media/image229.svg"/><Relationship Id="rId2" Type="http://schemas.openxmlformats.org/officeDocument/2006/relationships/image" Target="../media/image11.png"/><Relationship Id="rId19" Type="http://schemas.openxmlformats.org/officeDocument/2006/relationships/image" Target="../media/image228.png"/><Relationship Id="rId18" Type="http://schemas.openxmlformats.org/officeDocument/2006/relationships/image" Target="../media/image227.png"/><Relationship Id="rId17" Type="http://schemas.openxmlformats.org/officeDocument/2006/relationships/image" Target="../media/image226.png"/><Relationship Id="rId16" Type="http://schemas.openxmlformats.org/officeDocument/2006/relationships/image" Target="../media/image40.svg"/><Relationship Id="rId15" Type="http://schemas.openxmlformats.org/officeDocument/2006/relationships/image" Target="../media/image95.png"/><Relationship Id="rId14" Type="http://schemas.openxmlformats.org/officeDocument/2006/relationships/image" Target="../media/image225.svg"/><Relationship Id="rId13" Type="http://schemas.openxmlformats.org/officeDocument/2006/relationships/image" Target="../media/image224.png"/><Relationship Id="rId12" Type="http://schemas.openxmlformats.org/officeDocument/2006/relationships/image" Target="../media/image223.png"/><Relationship Id="rId11" Type="http://schemas.openxmlformats.org/officeDocument/2006/relationships/image" Target="../media/image222.png"/><Relationship Id="rId10" Type="http://schemas.openxmlformats.org/officeDocument/2006/relationships/image" Target="../media/image221.sv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4.2 网络设备配置核查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40bc18a4f70cd7b96e4920a20f3d9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41950"/>
            <a:ext cx="4878288" cy="44259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回顾拓展：易错点、作业与下节预告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64048" y="1502943"/>
            <a:ext cx="4878288" cy="8858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案例导入：一条「允许所有」是怎么漏掉的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064048" y="3637727"/>
            <a:ext cx="4878288" cy="8858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动手实验：配置取证 + JSecProbe 判定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064048" y="2627485"/>
            <a:ext cx="4878288" cy="44259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关键知识：四大维度与核查命令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案例导入——一条「允许所有」是怎么漏掉的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先看一场由配置疏漏引发的数据泄露，再明确你要练成的四项本事</a:t>
            </a:r>
            <a:endParaRPr lang="en-US" sz="21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案例导入：防火墙上那条「允许所有」，你能发现吗？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6370320" cy="11887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595274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引入问题：防火墙策略中有一条“允许所有”，你能发现吗？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804160"/>
            <a:ext cx="6370320" cy="1600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680" y="3108960"/>
            <a:ext cx="365760" cy="36576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640" y="316992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356360" y="30632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68680" y="3578860"/>
            <a:ext cx="5861304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某企业发生数据泄露事件，调查发现：攻击者通过互联网扫描发现了该企业防火墙的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22端口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对外开放，且使用了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默认口令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进行暴力破解成功。随后修改了防火墙策略，允许外部IP直接访问内部数据库，导致</a:t>
            </a:r>
            <a:r>
              <a:rPr lang="en-US" sz="120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30万条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客户信息被窃取。</a:t>
            </a:r>
            <a:endParaRPr lang="en-US" sz="1200" dirty="0">
              <a:solidFill>
                <a:srgbClr val="37415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7" descr="https://test.web.static.jianzeppt.com/ppt-temp-img3/24f1acbbeacf40cab04003059c62c953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648200"/>
            <a:ext cx="6370320" cy="16002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68680" y="4907280"/>
            <a:ext cx="3026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事后审计发现的配置问题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868680" y="5577840"/>
            <a:ext cx="2682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•</a:t>
            </a:r>
            <a:endParaRPr lang="en-US" sz="1920" dirty="0"/>
          </a:p>
        </p:txBody>
      </p:sp>
      <p:sp>
        <p:nvSpPr>
          <p:cNvPr id="16" name="Text 6"/>
          <p:cNvSpPr/>
          <p:nvPr/>
        </p:nvSpPr>
        <p:spPr>
          <a:xfrm>
            <a:off x="1234440" y="5516880"/>
            <a:ext cx="3179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管理端口对外开放（22/tcp）</a:t>
            </a:r>
            <a:endParaRPr lang="en-US" sz="192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5680" y="1371600"/>
            <a:ext cx="4251960" cy="48768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8" name="Image 9" descr="https://test.web.static.jianzeppt.com/ppt-temp-img3/bd5f925950b74c4b1c3d0fb37c4259c4.png?x-oss-process=image/resize,w_1440,h_800,m_lfit/format,png"/>
          <p:cNvPicPr>
            <a:picLocks noChangeAspect="1"/>
          </p:cNvPicPr>
          <p:nvPr/>
        </p:nvPicPr>
        <p:blipFill>
          <a:blip r:embed="rId15">
            <a:alphaModFix amt="10000"/>
          </a:blip>
          <a:stretch>
            <a:fillRect/>
          </a:stretch>
        </p:blipFill>
        <p:spPr>
          <a:xfrm>
            <a:off x="9631680" y="975360"/>
            <a:ext cx="2346960" cy="234696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50480" y="1752600"/>
            <a:ext cx="365760" cy="36576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8138160" y="167640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</a:t>
            </a:r>
            <a:endParaRPr lang="en-US" sz="2640" dirty="0"/>
          </a:p>
        </p:txBody>
      </p:sp>
      <p:pic>
        <p:nvPicPr>
          <p:cNvPr id="21" name="Image 11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0480" y="2423160"/>
            <a:ext cx="3642360" cy="109728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265176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7955280" y="271272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1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24" name="Text 9"/>
          <p:cNvSpPr/>
          <p:nvPr/>
        </p:nvSpPr>
        <p:spPr>
          <a:xfrm>
            <a:off x="8397240" y="262128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换你来查这份防火墙配置，你能找出几个问题？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0480" y="3749040"/>
            <a:ext cx="3642360" cy="109728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3977640"/>
            <a:ext cx="365760" cy="36576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7955280" y="403860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2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28" name="Text 11"/>
          <p:cNvSpPr/>
          <p:nvPr/>
        </p:nvSpPr>
        <p:spPr>
          <a:xfrm>
            <a:off x="8397240" y="394716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设备本身没被攻破，为什么数据还是泄露了？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9" name="Image 15" descr="https://test.web.static.jianzeppt.com/ppt-temp-img3/3d4e1dcc581a32261142dd7741e314df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50480" y="5090160"/>
            <a:ext cx="3642360" cy="868680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5318760"/>
            <a:ext cx="365760" cy="36576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7955280" y="536448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3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32" name="Text 13"/>
          <p:cNvSpPr/>
          <p:nvPr/>
        </p:nvSpPr>
        <p:spPr>
          <a:xfrm>
            <a:off x="8397240" y="528828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你觉得等保会要求查哪几项？先猜，再往下看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67330" y="290322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2" imgW="971550" imgH="666750" progId="Word.Document.12">
                  <p:embed/>
                </p:oleObj>
              </mc:Choice>
              <mc:Fallback>
                <p:oleObj name="" showAsIcon="1" r:id="rId22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67330" y="290322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4478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4A4A4A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学完这一节，你应该能做到：</a:t>
            </a:r>
            <a:endParaRPr lang="en-US" sz="2160" dirty="0"/>
          </a:p>
        </p:txBody>
      </p:sp>
      <p:pic>
        <p:nvPicPr>
          <p:cNvPr id="7" name="Image 3" descr="https://test.web.static.jianzeppt.com/ppt-temp-img3/a2d976da778c1e8d243e15875abae658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64920" y="3967480"/>
            <a:ext cx="9662160" cy="304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8077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说清路由器/交换机/防火墙/堡垒机在等保里的位置和核查依据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44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1" name="Text 3"/>
          <p:cNvSpPr/>
          <p:nvPr>
            <p:custDataLst>
              <p:tags r:id="rId13"/>
            </p:custDataLst>
          </p:nvPr>
        </p:nvSpPr>
        <p:spPr>
          <a:xfrm>
            <a:off x="12954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</a:t>
            </a:r>
            <a:endParaRPr lang="en-US" sz="2400" dirty="0"/>
          </a:p>
        </p:txBody>
      </p:sp>
      <p:pic>
        <p:nvPicPr>
          <p:cNvPr id="12" name="Image 6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16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3" name="Text 4"/>
          <p:cNvSpPr/>
          <p:nvPr>
            <p:custDataLst>
              <p:tags r:id="rId17"/>
            </p:custDataLst>
          </p:nvPr>
        </p:nvSpPr>
        <p:spPr>
          <a:xfrm>
            <a:off x="14935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pic>
        <p:nvPicPr>
          <p:cNvPr id="14" name="Image 7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6512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5"/>
          <p:cNvSpPr/>
          <p:nvPr>
            <p:custDataLst>
              <p:tags r:id="rId19"/>
            </p:custDataLst>
          </p:nvPr>
        </p:nvSpPr>
        <p:spPr>
          <a:xfrm>
            <a:off x="306324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记住四大维度的核心指标与合格线：长度≥8、锁≤5次、SSH、日志≥6个月</a:t>
            </a:r>
            <a:endParaRPr lang="en-US" sz="168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8996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7" name="Text 6"/>
          <p:cNvSpPr/>
          <p:nvPr>
            <p:custDataLst>
              <p:tags r:id="rId21"/>
            </p:custDataLst>
          </p:nvPr>
        </p:nvSpPr>
        <p:spPr>
          <a:xfrm>
            <a:off x="355092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4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1188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9" name="Text 7"/>
          <p:cNvSpPr/>
          <p:nvPr>
            <p:custDataLst>
              <p:tags r:id="rId23"/>
            </p:custDataLst>
          </p:nvPr>
        </p:nvSpPr>
        <p:spPr>
          <a:xfrm>
            <a:off x="373380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pic>
        <p:nvPicPr>
          <p:cNvPr id="20" name="Image 10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54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1" name="Text 8"/>
          <p:cNvSpPr/>
          <p:nvPr>
            <p:custDataLst>
              <p:tags r:id="rId25"/>
            </p:custDataLst>
          </p:nvPr>
        </p:nvSpPr>
        <p:spPr>
          <a:xfrm>
            <a:off x="53035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对着一份真实设备配置，逐行找出不合规项并说清依据条款</a:t>
            </a:r>
            <a:endParaRPr lang="en-US" sz="1680" dirty="0"/>
          </a:p>
        </p:txBody>
      </p:sp>
      <p:pic>
        <p:nvPicPr>
          <p:cNvPr id="22" name="Image 11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3" name="Text 9"/>
          <p:cNvSpPr/>
          <p:nvPr>
            <p:custDataLst>
              <p:tags r:id="rId27"/>
            </p:custDataLst>
          </p:nvPr>
        </p:nvSpPr>
        <p:spPr>
          <a:xfrm>
            <a:off x="57912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400" dirty="0"/>
          </a:p>
        </p:txBody>
      </p:sp>
      <p:pic>
        <p:nvPicPr>
          <p:cNvPr id="24" name="Image 12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674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5" name="Text 10"/>
          <p:cNvSpPr/>
          <p:nvPr>
            <p:custDataLst>
              <p:tags r:id="rId29"/>
            </p:custDataLst>
          </p:nvPr>
        </p:nvSpPr>
        <p:spPr>
          <a:xfrm>
            <a:off x="59893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440" dirty="0"/>
          </a:p>
        </p:txBody>
      </p:sp>
      <p:pic>
        <p:nvPicPr>
          <p:cNvPr id="26" name="Image 13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092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7" name="Text 11"/>
          <p:cNvSpPr/>
          <p:nvPr>
            <p:custDataLst>
              <p:tags r:id="rId31"/>
            </p:custDataLst>
          </p:nvPr>
        </p:nvSpPr>
        <p:spPr>
          <a:xfrm>
            <a:off x="7477760" y="4028440"/>
            <a:ext cx="1772920" cy="142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用 JSecProbe 录入核查结果、做四档判定，导出规范的测评记录表</a:t>
            </a:r>
            <a:endParaRPr lang="en-US" sz="1680" dirty="0"/>
          </a:p>
        </p:txBody>
      </p:sp>
      <p:pic>
        <p:nvPicPr>
          <p:cNvPr id="28" name="Image 14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576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9" name="Text 12"/>
          <p:cNvSpPr/>
          <p:nvPr>
            <p:custDataLst>
              <p:tags r:id="rId33"/>
            </p:custDataLst>
          </p:nvPr>
        </p:nvSpPr>
        <p:spPr>
          <a:xfrm>
            <a:off x="804672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400" dirty="0"/>
          </a:p>
        </p:txBody>
      </p:sp>
      <p:pic>
        <p:nvPicPr>
          <p:cNvPr id="30" name="Image 15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0768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1" name="Text 13"/>
          <p:cNvSpPr/>
          <p:nvPr>
            <p:custDataLst>
              <p:tags r:id="rId35"/>
            </p:custDataLst>
          </p:nvPr>
        </p:nvSpPr>
        <p:spPr>
          <a:xfrm>
            <a:off x="822960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440" dirty="0"/>
          </a:p>
        </p:txBody>
      </p:sp>
      <p:pic>
        <p:nvPicPr>
          <p:cNvPr id="32" name="Image 16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4"/>
          <p:cNvSpPr/>
          <p:nvPr>
            <p:custDataLst>
              <p:tags r:id="rId37"/>
            </p:custDataLst>
          </p:nvPr>
        </p:nvSpPr>
        <p:spPr>
          <a:xfrm>
            <a:off x="97993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针对不合规项，写出可以直接下发的整改命令</a:t>
            </a:r>
            <a:endParaRPr lang="en-US" sz="1680" dirty="0"/>
          </a:p>
        </p:txBody>
      </p:sp>
      <p:pic>
        <p:nvPicPr>
          <p:cNvPr id="34" name="Image 17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260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5" name="Text 15"/>
          <p:cNvSpPr/>
          <p:nvPr>
            <p:custDataLst>
              <p:tags r:id="rId39"/>
            </p:custDataLst>
          </p:nvPr>
        </p:nvSpPr>
        <p:spPr>
          <a:xfrm>
            <a:off x="102870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具备</a:t>
            </a:r>
            <a:endParaRPr lang="en-US" sz="2400" dirty="0"/>
          </a:p>
        </p:txBody>
      </p:sp>
      <p:pic>
        <p:nvPicPr>
          <p:cNvPr id="36" name="Image 18" descr="preencoded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632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7" name="Text 16"/>
          <p:cNvSpPr/>
          <p:nvPr>
            <p:custDataLst>
              <p:tags r:id="rId41"/>
            </p:custDataLst>
          </p:nvPr>
        </p:nvSpPr>
        <p:spPr>
          <a:xfrm>
            <a:off x="104851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关键知识——网络设备在等保里归哪一类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先搞清查什么、依据哪一条，再去翻配置</a:t>
            </a:r>
            <a:endParaRPr lang="en-US" sz="2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网络设备在等保测评中的定位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86840"/>
            <a:ext cx="5251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等保标准依据：GB/T 22239-2019</a:t>
            </a:r>
            <a:endParaRPr lang="en-US" sz="21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11680"/>
            <a:ext cx="91440" cy="914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22960" y="188976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所属大类：</a:t>
            </a:r>
            <a:endParaRPr lang="en-US" sz="1680" dirty="0"/>
          </a:p>
        </p:txBody>
      </p:sp>
      <p:sp>
        <p:nvSpPr>
          <p:cNvPr id="9" name="Text 3"/>
          <p:cNvSpPr/>
          <p:nvPr/>
        </p:nvSpPr>
        <p:spPr>
          <a:xfrm>
            <a:off x="2011680" y="1889760"/>
            <a:ext cx="2889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安全技术要求 → 安全计算环境</a:t>
            </a:r>
            <a:endParaRPr lang="en-US" sz="168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423160"/>
            <a:ext cx="91440" cy="914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230124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测评对象：</a:t>
            </a:r>
            <a:endParaRPr lang="en-US" sz="1680" dirty="0"/>
          </a:p>
        </p:txBody>
      </p:sp>
      <p:sp>
        <p:nvSpPr>
          <p:cNvPr id="12" name="Text 5"/>
          <p:cNvSpPr/>
          <p:nvPr/>
        </p:nvSpPr>
        <p:spPr>
          <a:xfrm>
            <a:off x="2011680" y="2301240"/>
            <a:ext cx="34229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路由器、交换机、防火墙、堡垒机等</a:t>
            </a:r>
            <a:endParaRPr lang="en-US" sz="168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834640"/>
            <a:ext cx="91440" cy="914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2960" y="271272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核心关注：</a:t>
            </a:r>
            <a:endParaRPr lang="en-US" sz="1680" dirty="0"/>
          </a:p>
        </p:txBody>
      </p:sp>
      <p:sp>
        <p:nvSpPr>
          <p:cNvPr id="15" name="Text 7"/>
          <p:cNvSpPr/>
          <p:nvPr/>
        </p:nvSpPr>
        <p:spPr>
          <a:xfrm>
            <a:off x="2011680" y="2712720"/>
            <a:ext cx="27828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设备自身的安全配置是否合规</a:t>
            </a:r>
            <a:endParaRPr lang="en-US" sz="1680" dirty="0"/>
          </a:p>
        </p:txBody>
      </p:sp>
      <p:sp>
        <p:nvSpPr>
          <p:cNvPr id="16" name="Text 8"/>
          <p:cNvSpPr/>
          <p:nvPr/>
        </p:nvSpPr>
        <p:spPr>
          <a:xfrm>
            <a:off x="609600" y="33528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为什么网络设备配置核查重要？网络设备是整个信息系统的“交通枢纽”：</a:t>
            </a:r>
            <a:endParaRPr lang="en-US" sz="216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160520"/>
            <a:ext cx="243840" cy="2438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4488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路由器</a:t>
            </a:r>
            <a:endParaRPr lang="en-US" sz="1920" dirty="0"/>
          </a:p>
        </p:txBody>
      </p:sp>
      <p:sp>
        <p:nvSpPr>
          <p:cNvPr id="19" name="Text 10"/>
          <p:cNvSpPr/>
          <p:nvPr/>
        </p:nvSpPr>
        <p:spPr>
          <a:xfrm>
            <a:off x="60960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决定数据包的转发路径，控制网络流量</a:t>
            </a:r>
            <a:endParaRPr lang="en-US" sz="168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916680"/>
            <a:ext cx="2560320" cy="3048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3760" y="4160520"/>
            <a:ext cx="243840" cy="2438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74904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交换机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341376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连接网络节点，划分VLAN隔离区域</a:t>
            </a:r>
            <a:endParaRPr lang="en-US" sz="168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3760" y="3916680"/>
            <a:ext cx="2560320" cy="30480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7920" y="4160520"/>
            <a:ext cx="243840" cy="2438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55320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防火墙</a:t>
            </a:r>
            <a:endParaRPr lang="en-US" sz="1920" dirty="0"/>
          </a:p>
        </p:txBody>
      </p:sp>
      <p:sp>
        <p:nvSpPr>
          <p:cNvPr id="27" name="Text 14"/>
          <p:cNvSpPr/>
          <p:nvPr/>
        </p:nvSpPr>
        <p:spPr>
          <a:xfrm>
            <a:off x="621792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网络安全的第一道防线，控制访问权限</a:t>
            </a:r>
            <a:endParaRPr lang="en-US" sz="168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7920" y="3916680"/>
            <a:ext cx="2560320" cy="30480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22080" y="4160520"/>
            <a:ext cx="243840" cy="24384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35736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堡垒机</a:t>
            </a:r>
            <a:endParaRPr lang="en-US" sz="1920" dirty="0"/>
          </a:p>
        </p:txBody>
      </p:sp>
      <p:sp>
        <p:nvSpPr>
          <p:cNvPr id="31" name="Text 16"/>
          <p:cNvSpPr/>
          <p:nvPr/>
        </p:nvSpPr>
        <p:spPr>
          <a:xfrm>
            <a:off x="9022080" y="4526280"/>
            <a:ext cx="25694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运维管理的“安全入口”</a:t>
            </a:r>
            <a:endParaRPr lang="en-US" sz="168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2080" y="3916680"/>
            <a:ext cx="2560320" cy="30480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5334000"/>
            <a:ext cx="10972800" cy="91440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914400" y="5455920"/>
            <a:ext cx="1043330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一句话：如果网络设备配置不安全，整个系统的安全防线就形同虚设。网络的“交通警察”失守了，整个城市交通就乱套了。</a:t>
            </a:r>
            <a:endParaRPr lang="en-US" sz="192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640" y="1371600"/>
            <a:ext cx="493776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6" name="Image 16" descr="https://test.web.static.jianzeppt.com/ppt-temp-img3/b01585b31d2bde1d2814f8dd223badb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59880" y="1386840"/>
            <a:ext cx="49072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Part.03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关键知识——四大维度怎么查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每个维度都按四步走：标准要求 → 核查命令 → 合格线 → 常见坑</a:t>
            </a:r>
            <a:endParaRPr lang="en-US" sz="2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网络设备配置核查——四大核心维度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对照GB/T 22239安全计算环境要求</a:t>
            </a:r>
            <a:endParaRPr lang="en-US" sz="216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158240" y="2362200"/>
          <a:ext cx="9875520" cy="356616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5273040"/>
                <a:gridCol w="1554480"/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标准对应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核心检查内容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严重程度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8.1.4.1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密码策略、登录限制、远程管理加密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8.1.4.2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账户权限、默认账户、最小权限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8.1.4.3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日志功能、审计记录保护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8.1.4.4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服务端口、远程管理限制、漏洞修补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维度一：身份鉴别（8.1.4.1）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02080"/>
            <a:ext cx="30480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01040" y="14173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a</a:t>
            </a: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1036320" y="135636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身份标识与鉴别：唯一标识，信息具复杂度且定期更换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1402080"/>
            <a:ext cx="304800" cy="3048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370320" y="14173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b</a:t>
            </a:r>
            <a:endParaRPr lang="en-US" sz="1440" dirty="0"/>
          </a:p>
        </p:txBody>
      </p:sp>
      <p:sp>
        <p:nvSpPr>
          <p:cNvPr id="11" name="Text 4"/>
          <p:cNvSpPr/>
          <p:nvPr/>
        </p:nvSpPr>
        <p:spPr>
          <a:xfrm>
            <a:off x="6705600" y="135636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登录失败处理：限非法登录次数、连接超时自动退出等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179320"/>
            <a:ext cx="304800" cy="304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6280" y="2194560"/>
            <a:ext cx="115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c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1036320" y="213360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远程管理加密：采取必要措施防止鉴别信息被窃听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2179320"/>
            <a:ext cx="304800" cy="3048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370320" y="21945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d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6705600" y="213360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双因素鉴别：两种及以上组合鉴别，至少使用密码技术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(三级要求)</a:t>
            </a:r>
            <a:endParaRPr lang="en-US" sz="1680" dirty="0"/>
          </a:p>
        </p:txBody>
      </p:sp>
      <p:pic>
        <p:nvPicPr>
          <p:cNvPr id="18" name="Image 7" descr="https://test.web.static.jianzeppt.com/ppt-temp-img3/88a33d0f6a33f2faeabb3271eccceee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971800"/>
            <a:ext cx="10972800" cy="3276600"/>
          </a:xfrm>
          <a:prstGeom prst="rect">
            <a:avLst/>
          </a:prstGeom>
        </p:spPr>
      </p:pic>
      <p:pic>
        <p:nvPicPr>
          <p:cNvPr id="19" name="Image 8" descr="https://test.web.static.jianzeppt.com/ppt-temp-img3/0eb347a58c04aa1c15a9a0cef62a500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987040"/>
            <a:ext cx="10942320" cy="5486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389120" y="307848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实操检查方法（核心指标对应）</a:t>
            </a:r>
            <a:endParaRPr lang="en-US" sz="1920" dirty="0"/>
          </a:p>
        </p:txBody>
      </p:sp>
      <p:pic>
        <p:nvPicPr>
          <p:cNvPr id="21" name="Image 9" descr="https://test.web.static.jianzeppt.com/ppt-temp-img3/522f1c3b657ac607b8f82ebc2a31af1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535680"/>
            <a:ext cx="10942320" cy="2697480"/>
          </a:xfrm>
          <a:prstGeom prst="rect">
            <a:avLst/>
          </a:prstGeom>
        </p:spPr>
      </p:pic>
      <p:pic>
        <p:nvPicPr>
          <p:cNvPr id="22" name="Image 10" descr="https://test.web.static.jianzeppt.com/ppt-temp-img3/e6ee553b89ee9e7b8697604946498b3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535680"/>
            <a:ext cx="10942320" cy="57912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746760" y="3657600"/>
            <a:ext cx="2508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检查项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3489960" y="3657600"/>
            <a:ext cx="41544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路由器（华为）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7863840" y="3657600"/>
            <a:ext cx="3605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防火墙（华为）</a:t>
            </a:r>
            <a:endParaRPr lang="en-US" sz="168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107180"/>
            <a:ext cx="10942320" cy="1524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46760" y="413004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密码复杂度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3489960" y="413004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password-policy</a:t>
            </a:r>
            <a:endParaRPr lang="en-US" sz="1560" dirty="0"/>
          </a:p>
        </p:txBody>
      </p:sp>
      <p:sp>
        <p:nvSpPr>
          <p:cNvPr id="29" name="Text 15"/>
          <p:cNvSpPr/>
          <p:nvPr/>
        </p:nvSpPr>
        <p:spPr>
          <a:xfrm>
            <a:off x="7863840" y="413004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查看管理员密码策略</a:t>
            </a:r>
            <a:endParaRPr lang="en-US" sz="168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4638751"/>
            <a:ext cx="10942320" cy="15240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632960"/>
            <a:ext cx="10942320" cy="53340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46760" y="46482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登录失败锁定</a:t>
            </a:r>
            <a:endParaRPr lang="en-US" sz="1680" dirty="0"/>
          </a:p>
        </p:txBody>
      </p:sp>
      <p:sp>
        <p:nvSpPr>
          <p:cNvPr id="33" name="Text 17"/>
          <p:cNvSpPr/>
          <p:nvPr/>
        </p:nvSpPr>
        <p:spPr>
          <a:xfrm>
            <a:off x="3489960" y="46482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login-block</a:t>
            </a:r>
            <a:endParaRPr lang="en-US" sz="1560" dirty="0"/>
          </a:p>
        </p:txBody>
      </p:sp>
      <p:sp>
        <p:nvSpPr>
          <p:cNvPr id="34" name="Text 18"/>
          <p:cNvSpPr/>
          <p:nvPr/>
        </p:nvSpPr>
        <p:spPr>
          <a:xfrm>
            <a:off x="7863840" y="46482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查看登录失败锁定策略</a:t>
            </a:r>
            <a:endParaRPr lang="en-US" sz="168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170170"/>
            <a:ext cx="10942320" cy="1524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746760" y="51816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超时退出</a:t>
            </a:r>
            <a:endParaRPr lang="en-US" sz="1680" dirty="0"/>
          </a:p>
        </p:txBody>
      </p:sp>
      <p:sp>
        <p:nvSpPr>
          <p:cNvPr id="37" name="Text 20"/>
          <p:cNvSpPr/>
          <p:nvPr/>
        </p:nvSpPr>
        <p:spPr>
          <a:xfrm>
            <a:off x="3489960" y="51816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user-interface</a:t>
            </a:r>
            <a:endParaRPr lang="en-US" sz="1560" dirty="0"/>
          </a:p>
        </p:txBody>
      </p:sp>
      <p:sp>
        <p:nvSpPr>
          <p:cNvPr id="38" name="Text 21"/>
          <p:cNvSpPr/>
          <p:nvPr/>
        </p:nvSpPr>
        <p:spPr>
          <a:xfrm>
            <a:off x="7863840" y="51816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查看超时配置</a:t>
            </a:r>
            <a:endParaRPr lang="en-US" sz="168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701741"/>
            <a:ext cx="10942320" cy="15240"/>
          </a:xfrm>
          <a:prstGeom prst="rect">
            <a:avLst/>
          </a:prstGeom>
        </p:spPr>
      </p:pic>
      <p:pic>
        <p:nvPicPr>
          <p:cNvPr id="40" name="Image 16" descr="https://test.web.static.jianzeppt.com/ppt-temp-img3/c4257753dc4afc448e68714ac2de61a3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" y="5699760"/>
            <a:ext cx="10942320" cy="533400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746760" y="57150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远程管理加密</a:t>
            </a:r>
            <a:endParaRPr lang="en-US" sz="1680" dirty="0"/>
          </a:p>
        </p:txBody>
      </p:sp>
      <p:sp>
        <p:nvSpPr>
          <p:cNvPr id="42" name="Text 23"/>
          <p:cNvSpPr/>
          <p:nvPr/>
        </p:nvSpPr>
        <p:spPr>
          <a:xfrm>
            <a:off x="3489960" y="57150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查看是否使用SSH而非Telnet</a:t>
            </a:r>
            <a:endParaRPr lang="en-US" sz="1680" dirty="0"/>
          </a:p>
        </p:txBody>
      </p:sp>
      <p:sp>
        <p:nvSpPr>
          <p:cNvPr id="43" name="Text 24"/>
          <p:cNvSpPr/>
          <p:nvPr/>
        </p:nvSpPr>
        <p:spPr>
          <a:xfrm>
            <a:off x="7863840" y="57150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查看管理方式配置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维度一实操演示：身份鉴别检查要点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03520" cy="5943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152400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44880" y="15087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1280160" y="1463040"/>
            <a:ext cx="2478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检查密码复杂度策略</a:t>
            </a:r>
            <a:endParaRPr lang="en-US" sz="2160" dirty="0"/>
          </a:p>
        </p:txBody>
      </p:sp>
      <p:pic>
        <p:nvPicPr>
          <p:cNvPr id="10" name="Image 5" descr="https://test.web.static.jianzeppt.com/ppt-temp-img3/48bdd0db23f8bdf33078f01dd911b294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65960"/>
            <a:ext cx="5303520" cy="443484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720" y="2148840"/>
            <a:ext cx="4907280" cy="8229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05840" y="2286000"/>
            <a:ext cx="452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# 华为路由器/交换机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1005840" y="2590800"/>
            <a:ext cx="4520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display password-policy</a:t>
            </a:r>
            <a:endParaRPr lang="en-US" sz="192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7720" y="3169920"/>
            <a:ext cx="60960" cy="1828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60120" y="3093720"/>
            <a:ext cx="1167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预期结果：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960120" y="3596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203960" y="3520440"/>
            <a:ext cx="1944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密码最小长度 ≥ 8位</a:t>
            </a:r>
            <a:endParaRPr lang="en-US" sz="1680" dirty="0"/>
          </a:p>
        </p:txBody>
      </p:sp>
      <p:sp>
        <p:nvSpPr>
          <p:cNvPr id="18" name="Text 8"/>
          <p:cNvSpPr/>
          <p:nvPr/>
        </p:nvSpPr>
        <p:spPr>
          <a:xfrm>
            <a:off x="960120" y="394716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1203960" y="3870960"/>
            <a:ext cx="3636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大小写字母、数字、特殊字符至少两种</a:t>
            </a:r>
            <a:endParaRPr lang="en-US" sz="1680" dirty="0"/>
          </a:p>
        </p:txBody>
      </p:sp>
      <p:sp>
        <p:nvSpPr>
          <p:cNvPr id="20" name="Text 10"/>
          <p:cNvSpPr/>
          <p:nvPr/>
        </p:nvSpPr>
        <p:spPr>
          <a:xfrm>
            <a:off x="960120" y="429768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1203960" y="4221480"/>
            <a:ext cx="1837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密码有效期 ≤ 90天</a:t>
            </a:r>
            <a:endParaRPr lang="en-US" sz="1680" dirty="0"/>
          </a:p>
        </p:txBody>
      </p:sp>
      <p:sp>
        <p:nvSpPr>
          <p:cNvPr id="22" name="Text 12"/>
          <p:cNvSpPr/>
          <p:nvPr/>
        </p:nvSpPr>
        <p:spPr>
          <a:xfrm>
            <a:off x="960120" y="464820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1203960" y="4572000"/>
            <a:ext cx="1944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历史密码记录 ≥ 5个</a:t>
            </a:r>
            <a:endParaRPr lang="en-US" sz="16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720" y="5013960"/>
            <a:ext cx="4907280" cy="1371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75360" y="5181600"/>
            <a:ext cx="45811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常见不合规情况：</a:t>
            </a:r>
            <a:endParaRPr lang="en-US" sz="1680" dirty="0"/>
          </a:p>
        </p:txBody>
      </p:sp>
      <p:sp>
        <p:nvSpPr>
          <p:cNvPr id="26" name="Text 15"/>
          <p:cNvSpPr/>
          <p:nvPr/>
        </p:nvSpPr>
        <p:spPr>
          <a:xfrm>
            <a:off x="975360" y="5593080"/>
            <a:ext cx="22341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未启用复杂度策略</a:t>
            </a:r>
            <a:endParaRPr lang="en-US" sz="1560" dirty="0"/>
          </a:p>
        </p:txBody>
      </p:sp>
      <p:sp>
        <p:nvSpPr>
          <p:cNvPr id="27" name="Text 16"/>
          <p:cNvSpPr/>
          <p:nvPr/>
        </p:nvSpPr>
        <p:spPr>
          <a:xfrm>
            <a:off x="3322320" y="56540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密码长度小于8位</a:t>
            </a:r>
            <a:endParaRPr lang="en-US" sz="1560" dirty="0"/>
          </a:p>
        </p:txBody>
      </p:sp>
      <p:sp>
        <p:nvSpPr>
          <p:cNvPr id="28" name="Text 17"/>
          <p:cNvSpPr/>
          <p:nvPr/>
        </p:nvSpPr>
        <p:spPr>
          <a:xfrm>
            <a:off x="975360" y="59588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允许使用空口令</a:t>
            </a:r>
            <a:endParaRPr lang="en-US" sz="1560" dirty="0"/>
          </a:p>
        </p:txBody>
      </p:sp>
      <p:sp>
        <p:nvSpPr>
          <p:cNvPr id="29" name="Text 18"/>
          <p:cNvSpPr/>
          <p:nvPr/>
        </p:nvSpPr>
        <p:spPr>
          <a:xfrm>
            <a:off x="3322320" y="59588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使用默认密码</a:t>
            </a:r>
            <a:endParaRPr lang="en-US" sz="1560" dirty="0"/>
          </a:p>
        </p:txBody>
      </p:sp>
      <p:pic>
        <p:nvPicPr>
          <p:cNvPr id="30" name="Image 9" descr="https://test.web.static.jianzeppt.com/ppt-temp-img3/e947323441c21df6d39b599136003830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965960"/>
            <a:ext cx="15240" cy="4434840"/>
          </a:xfrm>
          <a:prstGeom prst="rect">
            <a:avLst/>
          </a:prstGeom>
        </p:spPr>
      </p:pic>
      <p:pic>
        <p:nvPicPr>
          <p:cNvPr id="31" name="Image 10" descr="https://test.web.static.jianzeppt.com/ppt-temp-img3/88533dbfa5cc43b76a27392163fa4cff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7880" y="1965960"/>
            <a:ext cx="15240" cy="4434840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1371600"/>
            <a:ext cx="5303520" cy="594360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2720" y="1524000"/>
            <a:ext cx="304800" cy="30480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614160" y="15087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35" name="Text 20"/>
          <p:cNvSpPr/>
          <p:nvPr/>
        </p:nvSpPr>
        <p:spPr>
          <a:xfrm>
            <a:off x="6949440" y="146304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检查登录失败处理</a:t>
            </a:r>
            <a:endParaRPr lang="en-US" sz="2160" dirty="0"/>
          </a:p>
        </p:txBody>
      </p:sp>
      <p:pic>
        <p:nvPicPr>
          <p:cNvPr id="36" name="Image 13" descr="https://test.web.static.jianzeppt.com/ppt-temp-img3/48bdd0db23f8bdf33078f01dd911b294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880" y="1965960"/>
            <a:ext cx="5303520" cy="4434840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148840"/>
            <a:ext cx="4907280" cy="82296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675120" y="2286000"/>
            <a:ext cx="452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# 华为设备</a:t>
            </a:r>
            <a:endParaRPr lang="en-US" sz="1440" dirty="0"/>
          </a:p>
        </p:txBody>
      </p:sp>
      <p:sp>
        <p:nvSpPr>
          <p:cNvPr id="39" name="Text 22"/>
          <p:cNvSpPr/>
          <p:nvPr/>
        </p:nvSpPr>
        <p:spPr>
          <a:xfrm>
            <a:off x="6675120" y="2590800"/>
            <a:ext cx="4520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display login-block</a:t>
            </a:r>
            <a:endParaRPr lang="en-US" sz="192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169920"/>
            <a:ext cx="60960" cy="18288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629400" y="3093720"/>
            <a:ext cx="1167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预期结果：</a:t>
            </a:r>
            <a:endParaRPr lang="en-US" sz="1800" dirty="0"/>
          </a:p>
        </p:txBody>
      </p:sp>
      <p:sp>
        <p:nvSpPr>
          <p:cNvPr id="42" name="Text 24"/>
          <p:cNvSpPr/>
          <p:nvPr/>
        </p:nvSpPr>
        <p:spPr>
          <a:xfrm>
            <a:off x="6629400" y="3596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43" name="Text 25"/>
          <p:cNvSpPr/>
          <p:nvPr/>
        </p:nvSpPr>
        <p:spPr>
          <a:xfrm>
            <a:off x="6873240" y="3520440"/>
            <a:ext cx="25847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连续失败 ≥ 5次后锁定账户</a:t>
            </a:r>
            <a:endParaRPr lang="en-US" sz="1680" dirty="0"/>
          </a:p>
        </p:txBody>
      </p:sp>
      <p:sp>
        <p:nvSpPr>
          <p:cNvPr id="44" name="Text 26"/>
          <p:cNvSpPr/>
          <p:nvPr/>
        </p:nvSpPr>
        <p:spPr>
          <a:xfrm>
            <a:off x="6629400" y="3977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45" name="Text 27"/>
          <p:cNvSpPr/>
          <p:nvPr/>
        </p:nvSpPr>
        <p:spPr>
          <a:xfrm>
            <a:off x="6873240" y="3901440"/>
            <a:ext cx="1837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锁定时间 ≥ 15分钟</a:t>
            </a:r>
            <a:endParaRPr lang="en-US" sz="168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0" y="4587240"/>
            <a:ext cx="4907280" cy="161544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644640" y="4754880"/>
            <a:ext cx="45811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常见不合规情况：</a:t>
            </a:r>
            <a:endParaRPr lang="en-US" sz="1680" dirty="0"/>
          </a:p>
        </p:txBody>
      </p:sp>
      <p:sp>
        <p:nvSpPr>
          <p:cNvPr id="48" name="Text 29"/>
          <p:cNvSpPr/>
          <p:nvPr/>
        </p:nvSpPr>
        <p:spPr>
          <a:xfrm>
            <a:off x="6644640" y="516636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未启用登录失败锁定</a:t>
            </a:r>
            <a:endParaRPr lang="en-US" sz="1560" dirty="0"/>
          </a:p>
        </p:txBody>
      </p:sp>
      <p:sp>
        <p:nvSpPr>
          <p:cNvPr id="49" name="Text 30"/>
          <p:cNvSpPr/>
          <p:nvPr/>
        </p:nvSpPr>
        <p:spPr>
          <a:xfrm>
            <a:off x="6644640" y="548640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锁定阈值过高（如10次以上）</a:t>
            </a:r>
            <a:endParaRPr lang="en-US" sz="1560" dirty="0"/>
          </a:p>
        </p:txBody>
      </p:sp>
      <p:sp>
        <p:nvSpPr>
          <p:cNvPr id="50" name="Text 31"/>
          <p:cNvSpPr/>
          <p:nvPr/>
        </p:nvSpPr>
        <p:spPr>
          <a:xfrm>
            <a:off x="6644640" y="579120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锁定时间过短（如1分钟）</a:t>
            </a:r>
            <a:endParaRPr lang="en-US" sz="1560" dirty="0"/>
          </a:p>
        </p:txBody>
      </p:sp>
      <p:pic>
        <p:nvPicPr>
          <p:cNvPr id="51" name="Image 17" descr="https://test.web.static.jianzeppt.com/ppt-temp-img3/d675032bd237e699e929b8ef205fd72d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880" y="1965960"/>
            <a:ext cx="15240" cy="4434840"/>
          </a:xfrm>
          <a:prstGeom prst="rect">
            <a:avLst/>
          </a:prstGeom>
        </p:spPr>
      </p:pic>
      <p:pic>
        <p:nvPicPr>
          <p:cNvPr id="52" name="Image 18" descr="https://test.web.static.jianzeppt.com/ppt-temp-img3/b12485d77f6899989d415dc8436402df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67160" y="1965960"/>
            <a:ext cx="15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维度一实操演示：远程管理加密检查</a:t>
            </a:r>
            <a:endParaRPr lang="en-US" sz="2760" dirty="0"/>
          </a:p>
        </p:txBody>
      </p:sp>
      <p:pic>
        <p:nvPicPr>
          <p:cNvPr id="6" name="Image 3" descr="https://test.web.static.jianzeppt.com/ppt-temp-img3/d41d80505448503b6ef6192da35a05b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562600" cy="2590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720" y="1615440"/>
            <a:ext cx="335280" cy="335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14400" y="16459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Text 2"/>
          <p:cNvSpPr/>
          <p:nvPr/>
        </p:nvSpPr>
        <p:spPr>
          <a:xfrm>
            <a:off x="1234440" y="1569720"/>
            <a:ext cx="220370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检查远程管理方式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07720" y="2103120"/>
            <a:ext cx="5175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# 华为设备</a:t>
            </a:r>
            <a:endParaRPr lang="en-US" sz="168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2514600"/>
            <a:ext cx="5166360" cy="12496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99160" y="2606040"/>
            <a:ext cx="4992624" cy="2559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04FF00"/>
                </a:solidFill>
              </a:rPr>
              <a:t>display ssh status # 查SSH启用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899160" y="2926080"/>
            <a:ext cx="4992624" cy="2559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04FF00"/>
                </a:solidFill>
              </a:rPr>
              <a:t>display telnet status # 查Telnet</a:t>
            </a:r>
            <a:endParaRPr lang="en-US" sz="144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16040" y="1371600"/>
          <a:ext cx="5166360" cy="2590800"/>
        </p:xfrm>
        <a:graphic>
          <a:graphicData uri="http://schemas.openxmlformats.org/drawingml/2006/table">
            <a:tbl>
              <a:tblPr/>
              <a:tblGrid>
                <a:gridCol w="1452083"/>
                <a:gridCol w="1650790"/>
                <a:gridCol w="2063487"/>
              </a:tblGrid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管理方式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SSH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加密，安全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Telnet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明文，易截获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HTTP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明文传输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HTTPS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加密，安全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Image 6" descr="https://test.web.static.jianzeppt.com/ppt-temp-img3/2d1f53aeab2c733c15245bd56034155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206240"/>
            <a:ext cx="5364480" cy="20421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92480" y="43891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检查思路</a:t>
            </a:r>
            <a:endParaRPr lang="en-US" sz="2160" dirty="0"/>
          </a:p>
        </p:txBody>
      </p:sp>
      <p:pic>
        <p:nvPicPr>
          <p:cNvPr id="17" name="Image 7" descr="https://test.web.static.jianzeppt.com/ppt-temp-img3/1a389c6838b9eb3ee7c7c09890c9e16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" y="4876800"/>
            <a:ext cx="4998720" cy="152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036320" y="5013960"/>
            <a:ext cx="47640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60000"/>
              </a:lnSpc>
              <a:buSzPct val="100000"/>
              <a:buChar char="•"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查设备是否启用了SSH而非Telnet</a:t>
            </a:r>
            <a:endParaRPr lang="en-US" sz="1680" dirty="0"/>
          </a:p>
          <a:p>
            <a:pPr marL="213360" indent="-213360">
              <a:lnSpc>
                <a:spcPct val="160000"/>
              </a:lnSpc>
              <a:buSzPct val="100000"/>
              <a:buChar char="•"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Web管理是否使用HTTPS而非HTTP</a:t>
            </a:r>
            <a:endParaRPr lang="en-US" sz="1680" dirty="0"/>
          </a:p>
        </p:txBody>
      </p:sp>
      <p:pic>
        <p:nvPicPr>
          <p:cNvPr id="19" name="Image 8" descr="https://test.web.static.jianzeppt.com/ppt-temp-img3/2d1f53aeab2c733c15245bd56034155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206240"/>
            <a:ext cx="5364480" cy="204216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400800" y="438912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</a:t>
            </a:r>
            <a:endParaRPr lang="en-US" sz="2160" dirty="0"/>
          </a:p>
        </p:txBody>
      </p:sp>
      <p:pic>
        <p:nvPicPr>
          <p:cNvPr id="21" name="Image 9" descr="https://test.web.static.jianzeppt.com/ppt-temp-img3/1a389c6838b9eb3ee7c7c09890c9e16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76800"/>
            <a:ext cx="4998720" cy="152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6400800" y="499872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3" name="Text 10"/>
          <p:cNvSpPr/>
          <p:nvPr/>
        </p:nvSpPr>
        <p:spPr>
          <a:xfrm>
            <a:off x="6705600" y="4998720"/>
            <a:ext cx="14874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启用Telnet服务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6400800" y="537972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6705600" y="5379720"/>
            <a:ext cx="162458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管理界面用HTTP</a:t>
            </a:r>
            <a:endParaRPr lang="en-US" sz="1680" dirty="0"/>
          </a:p>
        </p:txBody>
      </p:sp>
      <p:sp>
        <p:nvSpPr>
          <p:cNvPr id="26" name="Text 13"/>
          <p:cNvSpPr/>
          <p:nvPr/>
        </p:nvSpPr>
        <p:spPr>
          <a:xfrm>
            <a:off x="6400800" y="577596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7" name="Text 14"/>
          <p:cNvSpPr/>
          <p:nvPr/>
        </p:nvSpPr>
        <p:spPr>
          <a:xfrm>
            <a:off x="6705600" y="5775960"/>
            <a:ext cx="18684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SSH版本低(应用v2)</a:t>
            </a:r>
            <a:endParaRPr lang="en-US" sz="1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维度一实操演示：双因素鉴别（三级要求）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3868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14400" y="1510030"/>
            <a:ext cx="10433304" cy="1002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第三级要求：</a:t>
            </a: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“应采用口令、密码技术、生物技术等两种或两种以上组合的鉴别技术对用户进行身份鉴别，且其中一种鉴别技术至少应使用密码技术来实现。”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983480"/>
            <a:ext cx="91440" cy="243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22960" y="487680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检查方法：</a:t>
            </a:r>
            <a:endParaRPr lang="en-US" sz="2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560832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66800" y="5455920"/>
            <a:ext cx="372770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查看设备是否启用了RSA/证书认证</a:t>
            </a:r>
            <a:endParaRPr lang="en-US" sz="18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60655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066800" y="5913120"/>
            <a:ext cx="74005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查看是否集成了AAA/RADIUS/TACACS+服务器，并配置了双因素认证</a:t>
            </a:r>
            <a:endParaRPr lang="en-US" sz="1800" dirty="0"/>
          </a:p>
        </p:txBody>
      </p:sp>
      <p:pic>
        <p:nvPicPr>
          <p:cNvPr id="14" name="Image 7" descr="https://test.web.static.jianzeppt.com/ppt-temp-img3/dc28417ca53180cfaa163d0029c32fd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02280"/>
            <a:ext cx="10972800" cy="1599565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900524" y="3017520"/>
          <a:ext cx="10390952" cy="1418264"/>
        </p:xfrm>
        <a:graphic>
          <a:graphicData uri="http://schemas.openxmlformats.org/drawingml/2006/table">
            <a:tbl>
              <a:tblPr/>
              <a:tblGrid>
                <a:gridCol w="3999864"/>
                <a:gridCol w="6391087"/>
              </a:tblGrid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常见实现方式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检查方法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口令+USBKey/数字证书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密码+物理Key，查看是否启用证书认证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口令+动态令牌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密码+OTP动态码，查看是否启用动态口令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口令+指纹/人脸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密码+生物识别，查看生物识别配置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维度二：访问控制（8.1.4.2）——核心指标</a:t>
            </a:r>
            <a:endParaRPr lang="en-US" sz="2760" dirty="0"/>
          </a:p>
        </p:txBody>
      </p:sp>
      <p:pic>
        <p:nvPicPr>
          <p:cNvPr id="6" name="Image 3" descr="https://test.web.static.jianzeppt.com/ppt-temp-img3/053173ba6964fa57d7836ee324f71ae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478536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64592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60120" y="170688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Text 2"/>
          <p:cNvSpPr/>
          <p:nvPr/>
        </p:nvSpPr>
        <p:spPr>
          <a:xfrm>
            <a:off x="1341120" y="158496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账户与权限分配：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应对登录的用户分配账户和权限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2438400"/>
            <a:ext cx="365760" cy="3657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960120" y="2499360"/>
            <a:ext cx="17678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2" name="Text 4"/>
          <p:cNvSpPr/>
          <p:nvPr/>
        </p:nvSpPr>
        <p:spPr>
          <a:xfrm>
            <a:off x="1341120" y="237744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默认账户管理：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应重命名或删除默认账户，修改默认口令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3230880"/>
            <a:ext cx="365760" cy="3657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75360" y="3291840"/>
            <a:ext cx="14630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Text 6"/>
          <p:cNvSpPr/>
          <p:nvPr/>
        </p:nvSpPr>
        <p:spPr>
          <a:xfrm>
            <a:off x="1341120" y="316992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账户清理：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及时删除或停用多余、过期的账户，避免共享账户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023360"/>
            <a:ext cx="365760" cy="3657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60120" y="4084320"/>
            <a:ext cx="17678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1341120" y="396240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最小权限：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授予管理用户所需的最小权限，实现权限分离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815840"/>
            <a:ext cx="365760" cy="36576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60120" y="487680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1" name="Text 10"/>
          <p:cNvSpPr/>
          <p:nvPr/>
        </p:nvSpPr>
        <p:spPr>
          <a:xfrm>
            <a:off x="1341120" y="475488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授权主体：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应由授权主体配置访问控制策略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5608320"/>
            <a:ext cx="365760" cy="36576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90600" y="5669280"/>
            <a:ext cx="11582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4" name="Text 12"/>
          <p:cNvSpPr/>
          <p:nvPr/>
        </p:nvSpPr>
        <p:spPr>
          <a:xfrm>
            <a:off x="1341120" y="554736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访问粒度：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粒度应达到主体为用户级或进程级，客体为文件、数据库表级（三级）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0" descr="https://test.web.static.jianzeppt.com/ppt-temp-img3/cd93c18d1097006a69d3bcd195c3a11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1371600"/>
            <a:ext cx="5836920" cy="4876800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9320" y="1691640"/>
            <a:ext cx="304800" cy="3048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416040" y="1615440"/>
            <a:ext cx="43220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实操检查方法：1. 检查账户管理</a:t>
            </a:r>
            <a:endParaRPr lang="en-US" sz="240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9320" y="2194560"/>
            <a:ext cx="5349240" cy="117348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172200" y="2377440"/>
            <a:ext cx="4992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# 华为设备</a:t>
            </a:r>
            <a:endParaRPr lang="en-US" sz="1680" dirty="0"/>
          </a:p>
        </p:txBody>
      </p:sp>
      <p:sp>
        <p:nvSpPr>
          <p:cNvPr id="30" name="Text 15"/>
          <p:cNvSpPr/>
          <p:nvPr/>
        </p:nvSpPr>
        <p:spPr>
          <a:xfrm>
            <a:off x="6172200" y="2651760"/>
            <a:ext cx="4992624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display local-user</a:t>
            </a:r>
            <a:r>
              <a:rPr lang="en-US" sz="1680" dirty="0">
                <a:solidFill>
                  <a:srgbClr val="888888"/>
                </a:solidFill>
              </a:rPr>
              <a:t># 查看本地用户列表</a:t>
            </a:r>
            <a:endParaRPr lang="en-US" sz="1680" dirty="0"/>
          </a:p>
        </p:txBody>
      </p:sp>
      <p:sp>
        <p:nvSpPr>
          <p:cNvPr id="31" name="Text 16"/>
          <p:cNvSpPr/>
          <p:nvPr/>
        </p:nvSpPr>
        <p:spPr>
          <a:xfrm>
            <a:off x="6172200" y="2910840"/>
            <a:ext cx="4992624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display aaa user</a:t>
            </a:r>
            <a:r>
              <a:rPr lang="en-US" sz="1680" dirty="0">
                <a:solidFill>
                  <a:srgbClr val="888888"/>
                </a:solidFill>
              </a:rPr>
              <a:t># 查看AAA用户</a:t>
            </a:r>
            <a:endParaRPr lang="en-US" sz="1680" dirty="0"/>
          </a:p>
        </p:txBody>
      </p:sp>
      <p:sp>
        <p:nvSpPr>
          <p:cNvPr id="32" name="Text 17"/>
          <p:cNvSpPr/>
          <p:nvPr/>
        </p:nvSpPr>
        <p:spPr>
          <a:xfrm>
            <a:off x="5989320" y="3550920"/>
            <a:ext cx="91948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检查要点</a:t>
            </a:r>
            <a:endParaRPr lang="en-US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92368" y="3864102"/>
            <a:ext cx="2551328" cy="3048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233160" y="4053840"/>
            <a:ext cx="2325624" cy="2215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是否删除默认用户（如admin、root等）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是否存在无用账户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是否修改了默认账户密码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是否一人一账户（避免共享账户）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管理员账户是否合理分配权限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793480" y="3550920"/>
            <a:ext cx="160909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D32F32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</a:t>
            </a:r>
            <a:endParaRPr lang="en-US" b="1" dirty="0">
              <a:solidFill>
                <a:srgbClr val="D32F32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87536" y="3891991"/>
            <a:ext cx="2551024" cy="3048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8793480" y="406908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9067800" y="3998278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设备仍存在默认账户且未修改口令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8793480" y="4733925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9067800" y="4614863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多人共用同一个管理账户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8793480" y="525399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9067800" y="5146993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存在长时间未登录的闲置账户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8793480" y="576199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9067800" y="5654993"/>
            <a:ext cx="235610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所有管理员使用同一权限级别（缺少权限分离）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维度二：访问控制——管理权限分离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57393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权限分离要求（三级）：</a:t>
            </a:r>
            <a:endParaRPr lang="en-US" sz="2400" dirty="0"/>
          </a:p>
        </p:txBody>
      </p:sp>
      <p:pic>
        <p:nvPicPr>
          <p:cNvPr id="7" name="Image 3" descr="https://test.web.static.jianzeppt.com/ppt-temp-img3/23ef8b5f60090186d43bbd4d3ebcbf8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371600"/>
            <a:ext cx="4876800" cy="33070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4680" y="1691640"/>
            <a:ext cx="304800" cy="304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391400" y="16306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检查方法</a:t>
            </a:r>
            <a:endParaRPr lang="en-US" sz="216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231648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178040" y="2225040"/>
            <a:ext cx="3422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查看设备是否配置了多级管理员权限</a:t>
            </a:r>
            <a:endParaRPr lang="en-US" sz="168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27889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178040" y="2697480"/>
            <a:ext cx="25694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查看每个管理员的权限级别</a:t>
            </a:r>
            <a:endParaRPr lang="en-US" sz="168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3261360"/>
            <a:ext cx="91440" cy="914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178040" y="3169920"/>
            <a:ext cx="2782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验证是否实现了“三权分立”</a:t>
            </a:r>
            <a:endParaRPr lang="en-US" sz="1680" dirty="0"/>
          </a:p>
        </p:txBody>
      </p:sp>
      <p:pic>
        <p:nvPicPr>
          <p:cNvPr id="16" name="Image 8" descr="https://test.web.static.jianzeppt.com/ppt-temp-img3/03f397be830af088405ae6e1ced3f890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4922520"/>
            <a:ext cx="4876800" cy="132588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964680" y="5181600"/>
            <a:ext cx="4367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检查思路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6964680" y="5669280"/>
            <a:ext cx="4367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4444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不应所有管理员都使用“超级管理员”权限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2438400"/>
            <a:ext cx="30480" cy="3444240"/>
          </a:xfrm>
          <a:prstGeom prst="rect">
            <a:avLst/>
          </a:prstGeom>
        </p:spPr>
      </p:pic>
      <p:pic>
        <p:nvPicPr>
          <p:cNvPr id="20" name="Image 10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2194560"/>
            <a:ext cx="5059680" cy="117348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1478280" y="239268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系统管理员</a:t>
            </a:r>
            <a:endParaRPr lang="en-US" sz="2160" dirty="0"/>
          </a:p>
        </p:txBody>
      </p:sp>
      <p:sp>
        <p:nvSpPr>
          <p:cNvPr id="22" name="Text 9"/>
          <p:cNvSpPr/>
          <p:nvPr/>
        </p:nvSpPr>
        <p:spPr>
          <a:xfrm>
            <a:off x="1478280" y="286512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系统配置、资源管理，设备配置、策略修改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228600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4" name="Image 12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3581400"/>
            <a:ext cx="5059680" cy="117348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1478280" y="377952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安全管理员</a:t>
            </a:r>
            <a:endParaRPr lang="en-US" sz="2160" dirty="0"/>
          </a:p>
        </p:txBody>
      </p:sp>
      <p:sp>
        <p:nvSpPr>
          <p:cNvPr id="26" name="Text 11"/>
          <p:cNvSpPr/>
          <p:nvPr/>
        </p:nvSpPr>
        <p:spPr>
          <a:xfrm>
            <a:off x="1478280" y="425196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安全策略配置，安全策略、审计策略配置</a:t>
            </a:r>
            <a:endParaRPr lang="en-US" sz="168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367284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4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4953000"/>
            <a:ext cx="5059680" cy="117348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1478280" y="515112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审计管理员</a:t>
            </a:r>
            <a:endParaRPr lang="en-US" sz="2160" dirty="0"/>
          </a:p>
        </p:txBody>
      </p:sp>
      <p:sp>
        <p:nvSpPr>
          <p:cNvPr id="30" name="Text 13"/>
          <p:cNvSpPr/>
          <p:nvPr/>
        </p:nvSpPr>
        <p:spPr>
          <a:xfrm>
            <a:off x="1478280" y="562356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审计日志查看与管理，仅审计日志查看、导出</a:t>
            </a:r>
            <a:endParaRPr lang="en-US" sz="1680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504444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维度三：安全审计（8.1.4.3）</a:t>
            </a:r>
            <a:endParaRPr lang="en-US" sz="2760" dirty="0"/>
          </a:p>
        </p:txBody>
      </p:sp>
      <p:pic>
        <p:nvPicPr>
          <p:cNvPr id="6" name="Image 3" descr="https://test.web.static.jianzeppt.com/ppt-temp-img3/2994d9b6e88878002323020e86fc242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425196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67640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6360" y="1676400"/>
            <a:ext cx="2447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</a:rPr>
              <a:t>安全审计核心要求</a:t>
            </a:r>
            <a:endParaRPr lang="en-US" sz="2400" dirty="0"/>
          </a:p>
        </p:txBody>
      </p:sp>
      <p:pic>
        <p:nvPicPr>
          <p:cNvPr id="9" name="Image 5" descr="https://test.web.static.jianzeppt.com/ppt-temp-img3/893566a80c4529781a8ef369efeca2f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362200"/>
            <a:ext cx="426720" cy="381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960120" y="242316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a)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1417320" y="2331720"/>
            <a:ext cx="3194304" cy="9458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审计功能启用：覆盖每个用户，对重要行为和安全事件审计</a:t>
            </a:r>
            <a:endParaRPr lang="en-US" sz="1800" dirty="0"/>
          </a:p>
        </p:txBody>
      </p:sp>
      <p:pic>
        <p:nvPicPr>
          <p:cNvPr id="12" name="Image 6" descr="https://test.web.static.jianzeppt.com/ppt-temp-img3/787ef5d4480b5407e6fc8bf4045ce97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550920"/>
            <a:ext cx="441960" cy="3810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60120" y="36118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b)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1417320" y="3520440"/>
            <a:ext cx="31790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审计记录内容：包括日期/时间、用户、事件类型及结果</a:t>
            </a:r>
            <a:endParaRPr lang="en-US" sz="1800" dirty="0"/>
          </a:p>
        </p:txBody>
      </p:sp>
      <p:pic>
        <p:nvPicPr>
          <p:cNvPr id="15" name="Image 7" descr="https://test.web.static.jianzeppt.com/ppt-temp-img3/ca3765e27ed04ee7e5b179506d7fcaa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404360"/>
            <a:ext cx="411480" cy="38100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960120" y="4465320"/>
            <a:ext cx="2377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c)</a:t>
            </a:r>
            <a:endParaRPr lang="en-US" sz="1680" dirty="0"/>
          </a:p>
        </p:txBody>
      </p:sp>
      <p:sp>
        <p:nvSpPr>
          <p:cNvPr id="17" name="Text 7"/>
          <p:cNvSpPr/>
          <p:nvPr/>
        </p:nvSpPr>
        <p:spPr>
          <a:xfrm>
            <a:off x="1402080" y="4373880"/>
            <a:ext cx="320954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审计记录保护：定期备份，防未预期删除/修改</a:t>
            </a:r>
            <a:endParaRPr lang="en-US" sz="1800" dirty="0"/>
          </a:p>
        </p:txBody>
      </p:sp>
      <p:pic>
        <p:nvPicPr>
          <p:cNvPr id="18" name="Image 8" descr="https://test.web.static.jianzeppt.com/ppt-temp-img3/787ef5d4480b5407e6fc8bf4045ce97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57800"/>
            <a:ext cx="441960" cy="3810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0120" y="531876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d)</a:t>
            </a:r>
            <a:endParaRPr lang="en-US" sz="1680" dirty="0"/>
          </a:p>
        </p:txBody>
      </p:sp>
      <p:sp>
        <p:nvSpPr>
          <p:cNvPr id="20" name="Text 9"/>
          <p:cNvSpPr/>
          <p:nvPr/>
        </p:nvSpPr>
        <p:spPr>
          <a:xfrm>
            <a:off x="1417320" y="5227320"/>
            <a:ext cx="31790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审计进程保护：防未经授权中断（三级）</a:t>
            </a:r>
            <a:endParaRPr lang="en-US" sz="18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12080" y="1371600"/>
            <a:ext cx="63703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0200" y="1630680"/>
            <a:ext cx="304800" cy="3048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836920" y="1615440"/>
            <a:ext cx="255422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E5E7EB"/>
                </a:solidFill>
              </a:rPr>
              <a:t>实操检查 (华为设备)</a:t>
            </a:r>
            <a:endParaRPr lang="en-US" sz="2160" dirty="0"/>
          </a:p>
        </p:txBody>
      </p:sp>
      <p:sp>
        <p:nvSpPr>
          <p:cNvPr id="24" name="Text 11"/>
          <p:cNvSpPr/>
          <p:nvPr/>
        </p:nvSpPr>
        <p:spPr>
          <a:xfrm>
            <a:off x="5471160" y="214884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logbuffer</a:t>
            </a:r>
            <a:r>
              <a:rPr lang="en-US" sz="1680" dirty="0">
                <a:solidFill>
                  <a:srgbClr val="9CA3AF"/>
                </a:solidFill>
              </a:rPr>
              <a:t># 查看日志缓存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5471160" y="249936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logfile</a:t>
            </a:r>
            <a:r>
              <a:rPr lang="en-US" sz="1680" dirty="0">
                <a:solidFill>
                  <a:srgbClr val="9CA3AF"/>
                </a:solidFill>
              </a:rPr>
              <a:t># 查看日志文件</a:t>
            </a:r>
            <a:endParaRPr lang="en-US" sz="1680" dirty="0"/>
          </a:p>
        </p:txBody>
      </p:sp>
      <p:sp>
        <p:nvSpPr>
          <p:cNvPr id="26" name="Text 13"/>
          <p:cNvSpPr/>
          <p:nvPr/>
        </p:nvSpPr>
        <p:spPr>
          <a:xfrm>
            <a:off x="5471160" y="284988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info-center</a:t>
            </a:r>
            <a:r>
              <a:rPr lang="en-US" sz="1680" dirty="0">
                <a:solidFill>
                  <a:srgbClr val="9CA3AF"/>
                </a:solidFill>
              </a:rPr>
              <a:t># 查看信息中心配置</a:t>
            </a:r>
            <a:endParaRPr lang="en-US" sz="168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2080" y="3520440"/>
            <a:ext cx="3093720" cy="2727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14"/>
          <p:cNvSpPr/>
          <p:nvPr/>
        </p:nvSpPr>
        <p:spPr>
          <a:xfrm>
            <a:off x="5410200" y="37642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</a:rPr>
              <a:t>检查要点</a:t>
            </a:r>
            <a:endParaRPr lang="en-US" sz="2160" dirty="0"/>
          </a:p>
        </p:txBody>
      </p:sp>
      <p:sp>
        <p:nvSpPr>
          <p:cNvPr id="29" name="Text 15"/>
          <p:cNvSpPr/>
          <p:nvPr/>
        </p:nvSpPr>
        <p:spPr>
          <a:xfrm>
            <a:off x="5410200" y="43891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5638800" y="432816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已启用日志记录功能</a:t>
            </a:r>
            <a:endParaRPr lang="en-US" sz="1680" dirty="0"/>
          </a:p>
        </p:txBody>
      </p:sp>
      <p:sp>
        <p:nvSpPr>
          <p:cNvPr id="31" name="Text 17"/>
          <p:cNvSpPr/>
          <p:nvPr/>
        </p:nvSpPr>
        <p:spPr>
          <a:xfrm>
            <a:off x="5410200" y="47244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5638800" y="4663440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包含时间、用户、事件等完整要素</a:t>
            </a:r>
            <a:endParaRPr lang="en-US" sz="1680" dirty="0"/>
          </a:p>
        </p:txBody>
      </p:sp>
      <p:sp>
        <p:nvSpPr>
          <p:cNvPr id="33" name="Text 19"/>
          <p:cNvSpPr/>
          <p:nvPr/>
        </p:nvSpPr>
        <p:spPr>
          <a:xfrm>
            <a:off x="5410200" y="52578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5638800" y="5196840"/>
            <a:ext cx="18531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日志保存至少6个月</a:t>
            </a:r>
            <a:endParaRPr lang="en-US" sz="1680" dirty="0"/>
          </a:p>
        </p:txBody>
      </p:sp>
      <p:sp>
        <p:nvSpPr>
          <p:cNvPr id="35" name="Text 21"/>
          <p:cNvSpPr/>
          <p:nvPr/>
        </p:nvSpPr>
        <p:spPr>
          <a:xfrm>
            <a:off x="5410200" y="557784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5638800" y="5516880"/>
            <a:ext cx="20132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配置保护防篡改/删除</a:t>
            </a:r>
            <a:endParaRPr lang="en-US" sz="1680" dirty="0"/>
          </a:p>
        </p:txBody>
      </p:sp>
      <p:sp>
        <p:nvSpPr>
          <p:cNvPr id="37" name="Text 23"/>
          <p:cNvSpPr/>
          <p:nvPr/>
        </p:nvSpPr>
        <p:spPr>
          <a:xfrm>
            <a:off x="5410200" y="59131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8" name="Text 24"/>
          <p:cNvSpPr/>
          <p:nvPr/>
        </p:nvSpPr>
        <p:spPr>
          <a:xfrm>
            <a:off x="5638800" y="5852160"/>
            <a:ext cx="2142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具备日志定期备份机制</a:t>
            </a:r>
            <a:endParaRPr lang="en-US" sz="168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88680" y="3520440"/>
            <a:ext cx="3093720" cy="2727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25"/>
          <p:cNvSpPr/>
          <p:nvPr/>
        </p:nvSpPr>
        <p:spPr>
          <a:xfrm>
            <a:off x="8686800" y="3764280"/>
            <a:ext cx="1929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B91C1F"/>
                </a:solidFill>
              </a:rPr>
              <a:t>常见不合规情况</a:t>
            </a:r>
            <a:endParaRPr lang="en-US" sz="2160" dirty="0"/>
          </a:p>
        </p:txBody>
      </p:sp>
      <p:sp>
        <p:nvSpPr>
          <p:cNvPr id="41" name="Text 26"/>
          <p:cNvSpPr/>
          <p:nvPr/>
        </p:nvSpPr>
        <p:spPr>
          <a:xfrm>
            <a:off x="8686800" y="435864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2" name="Text 27"/>
          <p:cNvSpPr/>
          <p:nvPr/>
        </p:nvSpPr>
        <p:spPr>
          <a:xfrm>
            <a:off x="8915400" y="432816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未启用日志审计功能</a:t>
            </a:r>
            <a:endParaRPr lang="en-US" sz="1680" dirty="0"/>
          </a:p>
        </p:txBody>
      </p:sp>
      <p:sp>
        <p:nvSpPr>
          <p:cNvPr id="43" name="Text 28"/>
          <p:cNvSpPr/>
          <p:nvPr/>
        </p:nvSpPr>
        <p:spPr>
          <a:xfrm>
            <a:off x="8686800" y="483108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4" name="Text 29"/>
          <p:cNvSpPr/>
          <p:nvPr/>
        </p:nvSpPr>
        <p:spPr>
          <a:xfrm>
            <a:off x="8915400" y="4800600"/>
            <a:ext cx="2310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日志记录不完整(缺要素)</a:t>
            </a:r>
            <a:endParaRPr lang="en-US" sz="1680" dirty="0"/>
          </a:p>
        </p:txBody>
      </p:sp>
      <p:sp>
        <p:nvSpPr>
          <p:cNvPr id="45" name="Text 30"/>
          <p:cNvSpPr/>
          <p:nvPr/>
        </p:nvSpPr>
        <p:spPr>
          <a:xfrm>
            <a:off x="8686800" y="53035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6" name="Text 31"/>
          <p:cNvSpPr/>
          <p:nvPr/>
        </p:nvSpPr>
        <p:spPr>
          <a:xfrm>
            <a:off x="8915400" y="5273040"/>
            <a:ext cx="2142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日志保存时间不足半年</a:t>
            </a:r>
            <a:endParaRPr lang="en-US" sz="1680" dirty="0"/>
          </a:p>
        </p:txBody>
      </p:sp>
      <p:sp>
        <p:nvSpPr>
          <p:cNvPr id="47" name="Text 32"/>
          <p:cNvSpPr/>
          <p:nvPr/>
        </p:nvSpPr>
        <p:spPr>
          <a:xfrm>
            <a:off x="8686800" y="57607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8" name="Text 33"/>
          <p:cNvSpPr/>
          <p:nvPr/>
        </p:nvSpPr>
        <p:spPr>
          <a:xfrm>
            <a:off x="8915400" y="573024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普通用户可删除日志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维度四：入侵防范（8.1.4.4）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47945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入侵防范要求</a:t>
            </a:r>
            <a:endParaRPr lang="en-US" sz="2400" dirty="0"/>
          </a:p>
        </p:txBody>
      </p:sp>
      <p:pic>
        <p:nvPicPr>
          <p:cNvPr id="7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945005"/>
            <a:ext cx="4785360" cy="594360"/>
          </a:xfrm>
          <a:prstGeom prst="rect">
            <a:avLst/>
          </a:prstGeom>
        </p:spPr>
      </p:pic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777240" y="2066925"/>
            <a:ext cx="16383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a)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1173480" y="2000250"/>
            <a:ext cx="410870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最小安装：遵循最小安装的原则，仅安装需要的组件和应用程序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661285"/>
            <a:ext cx="4785360" cy="594360"/>
          </a:xfrm>
          <a:prstGeom prst="rect">
            <a:avLst/>
          </a:prstGeom>
        </p:spPr>
      </p:pic>
      <p:sp>
        <p:nvSpPr>
          <p:cNvPr id="11" name="Text 4"/>
          <p:cNvSpPr/>
          <p:nvPr>
            <p:custDataLst>
              <p:tags r:id="rId10"/>
            </p:custDataLst>
          </p:nvPr>
        </p:nvSpPr>
        <p:spPr>
          <a:xfrm>
            <a:off x="777240" y="2783205"/>
            <a:ext cx="17272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b)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2" name="Text 5"/>
          <p:cNvSpPr/>
          <p:nvPr>
            <p:custDataLst>
              <p:tags r:id="rId11"/>
            </p:custDataLst>
          </p:nvPr>
        </p:nvSpPr>
        <p:spPr>
          <a:xfrm>
            <a:off x="1188720" y="2729865"/>
            <a:ext cx="409346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关闭不需要的服务：关闭不需要的系统服务、默认共享和高危端口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377565"/>
            <a:ext cx="4785360" cy="594360"/>
          </a:xfrm>
          <a:prstGeom prst="rect">
            <a:avLst/>
          </a:prstGeom>
        </p:spPr>
      </p:pic>
      <p:sp>
        <p:nvSpPr>
          <p:cNvPr id="14" name="Text 6"/>
          <p:cNvSpPr/>
          <p:nvPr>
            <p:custDataLst>
              <p:tags r:id="rId13"/>
            </p:custDataLst>
          </p:nvPr>
        </p:nvSpPr>
        <p:spPr>
          <a:xfrm>
            <a:off x="777240" y="3499485"/>
            <a:ext cx="14859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c)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5" name="Text 7"/>
          <p:cNvSpPr/>
          <p:nvPr>
            <p:custDataLst>
              <p:tags r:id="rId14"/>
            </p:custDataLst>
          </p:nvPr>
        </p:nvSpPr>
        <p:spPr>
          <a:xfrm>
            <a:off x="1158240" y="3499485"/>
            <a:ext cx="412394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管理终端限制：通过设定终端接入方式或网络地址范围，对管理终端进行限制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4093845"/>
            <a:ext cx="4785360" cy="487680"/>
          </a:xfrm>
          <a:prstGeom prst="rect">
            <a:avLst/>
          </a:prstGeom>
        </p:spPr>
      </p:pic>
      <p:sp>
        <p:nvSpPr>
          <p:cNvPr id="17" name="Text 8"/>
          <p:cNvSpPr/>
          <p:nvPr>
            <p:custDataLst>
              <p:tags r:id="rId18"/>
            </p:custDataLst>
          </p:nvPr>
        </p:nvSpPr>
        <p:spPr>
          <a:xfrm>
            <a:off x="777240" y="4215765"/>
            <a:ext cx="17272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d)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8" name="Text 9"/>
          <p:cNvSpPr/>
          <p:nvPr>
            <p:custDataLst>
              <p:tags r:id="rId19"/>
            </p:custDataLst>
          </p:nvPr>
        </p:nvSpPr>
        <p:spPr>
          <a:xfrm>
            <a:off x="1188720" y="4282440"/>
            <a:ext cx="3378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数据有效性检验：提供数据有效性检验功能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703445"/>
            <a:ext cx="4785360" cy="594360"/>
          </a:xfrm>
          <a:prstGeom prst="rect">
            <a:avLst/>
          </a:prstGeom>
        </p:spPr>
      </p:pic>
      <p:sp>
        <p:nvSpPr>
          <p:cNvPr id="20" name="Text 10"/>
          <p:cNvSpPr/>
          <p:nvPr>
            <p:custDataLst>
              <p:tags r:id="rId21"/>
            </p:custDataLst>
          </p:nvPr>
        </p:nvSpPr>
        <p:spPr>
          <a:xfrm>
            <a:off x="777240" y="4825365"/>
            <a:ext cx="16573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e)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21" name="Text 11"/>
          <p:cNvSpPr/>
          <p:nvPr>
            <p:custDataLst>
              <p:tags r:id="rId22"/>
            </p:custDataLst>
          </p:nvPr>
        </p:nvSpPr>
        <p:spPr>
          <a:xfrm>
            <a:off x="1173480" y="4825365"/>
            <a:ext cx="410870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漏洞修补：能发现可能存在的已知漏洞，并在经过充分测试评估后及时修补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9600" y="5419725"/>
            <a:ext cx="4785360" cy="777240"/>
          </a:xfrm>
          <a:prstGeom prst="rect">
            <a:avLst/>
          </a:prstGeom>
        </p:spPr>
      </p:pic>
      <p:sp>
        <p:nvSpPr>
          <p:cNvPr id="23" name="Text 12"/>
          <p:cNvSpPr/>
          <p:nvPr>
            <p:custDataLst>
              <p:tags r:id="rId26"/>
            </p:custDataLst>
          </p:nvPr>
        </p:nvSpPr>
        <p:spPr>
          <a:xfrm>
            <a:off x="777240" y="5541645"/>
            <a:ext cx="130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f)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24" name="Text 13"/>
          <p:cNvSpPr/>
          <p:nvPr>
            <p:custDataLst>
              <p:tags r:id="rId27"/>
            </p:custDataLst>
          </p:nvPr>
        </p:nvSpPr>
        <p:spPr>
          <a:xfrm>
            <a:off x="1112520" y="5541645"/>
            <a:ext cx="415442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入侵检测报警：能够检测到对重要节点进行入侵的行为，并在发生严重入侵事件时提供报警（三级）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25" name="Text 14"/>
          <p:cNvSpPr/>
          <p:nvPr/>
        </p:nvSpPr>
        <p:spPr>
          <a:xfrm>
            <a:off x="5745480" y="1371600"/>
            <a:ext cx="5846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</a:t>
            </a:r>
            <a:endParaRPr lang="en-US" sz="168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745480" y="1874520"/>
            <a:ext cx="2804160" cy="23164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43600" y="2072640"/>
            <a:ext cx="241706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1. 检查开启的服务和端口</a:t>
            </a:r>
            <a:endParaRPr lang="en-US" sz="16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89320" y="2539365"/>
            <a:ext cx="2407920" cy="161544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106795" y="2661285"/>
            <a:ext cx="2173224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9CA3AF"/>
                </a:solidFill>
              </a:rPr>
              <a:t># 华为设备</a:t>
            </a:r>
            <a:r>
              <a:rPr lang="en-US" sz="1440" dirty="0">
                <a:solidFill>
                  <a:srgbClr val="F3F4F6"/>
                </a:solidFill>
              </a:rPr>
              <a:t>display tcp status</a:t>
            </a:r>
            <a:r>
              <a:rPr lang="en-US" sz="1440" dirty="0">
                <a:solidFill>
                  <a:srgbClr val="9CA3AF"/>
                </a:solidFill>
              </a:rPr>
              <a:t># 查看TCP连接状态</a:t>
            </a:r>
            <a:r>
              <a:rPr lang="en-US" sz="1440" dirty="0">
                <a:solidFill>
                  <a:srgbClr val="F3F4F6"/>
                </a:solidFill>
              </a:rPr>
              <a:t>display udp status</a:t>
            </a:r>
            <a:r>
              <a:rPr lang="en-US" sz="1440" dirty="0">
                <a:solidFill>
                  <a:srgbClr val="9CA3AF"/>
                </a:solidFill>
              </a:rPr>
              <a:t># 查看UDP连接状态</a:t>
            </a:r>
            <a:endParaRPr lang="en-US" sz="144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793480" y="1874520"/>
            <a:ext cx="2804160" cy="23164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8991600" y="2072640"/>
            <a:ext cx="2417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2. 检查管理终端限制</a:t>
            </a:r>
            <a:endParaRPr lang="en-US" sz="168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991600" y="2453640"/>
            <a:ext cx="2407920" cy="76263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9113520" y="2539365"/>
            <a:ext cx="217322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9CA3AF"/>
                </a:solidFill>
              </a:rPr>
              <a:t># 华为设备</a:t>
            </a:r>
            <a:r>
              <a:rPr lang="en-US" sz="1440" dirty="0">
                <a:solidFill>
                  <a:srgbClr val="F3F4F6"/>
                </a:solidFill>
              </a:rPr>
              <a:t>display acl</a:t>
            </a:r>
            <a:r>
              <a:rPr lang="en-US" sz="1440" dirty="0">
                <a:solidFill>
                  <a:srgbClr val="9CA3AF"/>
                </a:solidFill>
              </a:rPr>
              <a:t># 查看ACL配置</a:t>
            </a:r>
            <a:endParaRPr lang="en-US" sz="1440" dirty="0"/>
          </a:p>
        </p:txBody>
      </p:sp>
      <p:sp>
        <p:nvSpPr>
          <p:cNvPr id="34" name="Text 19"/>
          <p:cNvSpPr/>
          <p:nvPr/>
        </p:nvSpPr>
        <p:spPr>
          <a:xfrm>
            <a:off x="8991600" y="3272790"/>
            <a:ext cx="2416810" cy="781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74151"/>
                </a:solidFill>
              </a:rPr>
              <a:t>合规标准：</a:t>
            </a:r>
            <a:r>
              <a:rPr lang="en-US" sz="1400" dirty="0">
                <a:solidFill>
                  <a:srgbClr val="374151"/>
                </a:solidFill>
              </a:rPr>
              <a:t>- 应通过ACL限制仅允许指定IP地址段访问管理界面- 不应允许任意IP（0.0.0.0）访问管理端口</a:t>
            </a:r>
            <a:endParaRPr lang="en-US" sz="1400" dirty="0">
              <a:solidFill>
                <a:srgbClr val="374151"/>
              </a:solidFill>
            </a:endParaRPr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45480" y="4419600"/>
            <a:ext cx="58369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6004161" y="4448175"/>
          <a:ext cx="5319558" cy="1647527"/>
        </p:xfrm>
        <a:graphic>
          <a:graphicData uri="http://schemas.openxmlformats.org/drawingml/2006/table">
            <a:tbl>
              <a:tblPr/>
              <a:tblGrid>
                <a:gridCol w="1270551"/>
                <a:gridCol w="614332"/>
                <a:gridCol w="3434675"/>
              </a:tblGrid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服务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端口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风险与建议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Telnet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明文传输，建议禁用，使用SSH代替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明文管理，建议禁用，使用HTTPS代替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SNMPv1/v2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161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安全弱，建议升级到SNMPv3或禁用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FTP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明文传输，建议禁用，使用SFTP代替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动手实验——配置取证 + JSecProbe 判定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拿三份真实设备配置练手：查得出、判得准、写得清</a:t>
            </a:r>
            <a:endParaRPr lang="en-US" sz="21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两套环境怎么配合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164592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560" y="176784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61160" y="1539240"/>
            <a:ext cx="2645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 取证：真实设备配置</a:t>
            </a:r>
            <a:endParaRPr lang="en-US" sz="1680" dirty="0"/>
          </a:p>
        </p:txBody>
      </p:sp>
      <p:sp>
        <p:nvSpPr>
          <p:cNvPr id="10" name="Text 2"/>
          <p:cNvSpPr/>
          <p:nvPr/>
        </p:nvSpPr>
        <p:spPr>
          <a:xfrm>
            <a:off x="1661160" y="1920240"/>
            <a:ext cx="422402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素材2 防火墙（USG6650E）/ 素材4 交换机（S5720）/ 素材7 路由器（AR6120）三份脱敏配置导出，选 2 份。若本轮西普平台（10.11.0.70）开放了网络设备实验，则在平台内完成同样的操作</a:t>
            </a:r>
            <a:endParaRPr lang="en-US" sz="1200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16459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17678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269480" y="1432560"/>
            <a:ext cx="4002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 判定：JSecProbe</a:t>
            </a:r>
            <a:endParaRPr lang="en-US" sz="1680" dirty="0"/>
          </a:p>
        </p:txBody>
      </p:sp>
      <p:sp>
        <p:nvSpPr>
          <p:cNvPr id="15" name="Text 4"/>
          <p:cNvSpPr/>
          <p:nvPr/>
        </p:nvSpPr>
        <p:spPr>
          <a:xfrm>
            <a:off x="7269480" y="1826260"/>
            <a:ext cx="4001770" cy="5537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打开本项目 →「现场核查」→ 安全计算环境 → 网络设备，逐条录入实测值并做四档判定</a:t>
            </a:r>
            <a:endParaRPr lang="en-US" sz="12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9" descr="https://test.web.static.jianzeppt.com/ppt-temp-img3/000c238ba9caec68d94d98137afd3a4d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12720"/>
            <a:ext cx="10972800" cy="353568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0" y="3154680"/>
            <a:ext cx="6096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12520" y="30327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四步闭环</a:t>
            </a:r>
            <a:endParaRPr lang="en-US" sz="26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3810000"/>
            <a:ext cx="365760" cy="3657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5156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21" name="Text 7"/>
          <p:cNvSpPr/>
          <p:nvPr/>
        </p:nvSpPr>
        <p:spPr>
          <a:xfrm>
            <a:off x="1478280" y="3779520"/>
            <a:ext cx="4641215" cy="902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1选：从三份配置里选 2 份（推荐 防火墙 + 交换机）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8880" y="381000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40080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24" name="Text 9"/>
          <p:cNvSpPr/>
          <p:nvPr/>
        </p:nvSpPr>
        <p:spPr>
          <a:xfrm>
            <a:off x="6827520" y="3769360"/>
            <a:ext cx="473011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2查：按四大维度逐段读配置，把可疑行标出来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460248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5156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27" name="Text 11"/>
          <p:cNvSpPr/>
          <p:nvPr/>
        </p:nvSpPr>
        <p:spPr>
          <a:xfrm>
            <a:off x="1478280" y="4572000"/>
            <a:ext cx="4558665" cy="902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3证：把可疑行和对应配置原文抄进记录表，注明段落或行号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8880" y="4602480"/>
            <a:ext cx="365760" cy="36576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40080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30" name="Text 13"/>
          <p:cNvSpPr/>
          <p:nvPr/>
        </p:nvSpPr>
        <p:spPr>
          <a:xfrm>
            <a:off x="6827520" y="4572000"/>
            <a:ext cx="4726940" cy="8013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4判：在JSecProbe里逐条做四档判定，写清"做到哪、差在哪"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5410200"/>
            <a:ext cx="365760" cy="36576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1051560" y="54254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680" dirty="0"/>
          </a:p>
        </p:txBody>
      </p:sp>
      <p:sp>
        <p:nvSpPr>
          <p:cNvPr id="33" name="Text 15"/>
          <p:cNvSpPr/>
          <p:nvPr/>
        </p:nvSpPr>
        <p:spPr>
          <a:xfrm>
            <a:off x="1478280" y="5379720"/>
            <a:ext cx="5029200" cy="4508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5交：导出记录表 + 取证清单，课内提交至学习通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75300" y="4406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17" imgW="971550" imgH="666750" progId="Word.Document.12">
                  <p:embed/>
                </p:oleObj>
              </mc:Choice>
              <mc:Fallback>
                <p:oleObj name="" showAsIcon="1" r:id="rId17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75300" y="4406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52570" y="4406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9" imgW="971550" imgH="666750" progId="Word.Document.8">
                  <p:embed/>
                </p:oleObj>
              </mc:Choice>
              <mc:Fallback>
                <p:oleObj name="" showAsIcon="1" r:id="rId19" imgW="971550" imgH="666750" progId="Word.Document.8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52570" y="4406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ec979600e6f86a2363dc686044ace78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5334000" cy="5638800"/>
          </a:xfrm>
          <a:prstGeom prst="rect">
            <a:avLst/>
          </a:prstGeom>
        </p:spPr>
      </p:pic>
      <p:pic>
        <p:nvPicPr>
          <p:cNvPr id="3" name="Image 1" descr="https://test.web.static.jianzeppt.com/ppt-temp-img3/9da1efd93b001fd7e232fa2a47dd2bcc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44880"/>
            <a:ext cx="304800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5400" y="868680"/>
            <a:ext cx="33619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跟着拆一份防火墙配置（节选）</a:t>
            </a:r>
            <a:endParaRPr lang="en-US" sz="24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1575435"/>
            <a:ext cx="4815840" cy="44805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66800" y="1626870"/>
            <a:ext cx="4428744" cy="3412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6B7280"/>
                </a:solidFill>
              </a:rPr>
              <a:t># 1. 密码与登录策略</a:t>
            </a:r>
            <a:endParaRPr lang="en-US" sz="1680" dirty="0"/>
          </a:p>
        </p:txBody>
      </p:sp>
      <p:sp>
        <p:nvSpPr>
          <p:cNvPr id="7" name="Text 2"/>
          <p:cNvSpPr/>
          <p:nvPr/>
        </p:nvSpPr>
        <p:spPr>
          <a:xfrm>
            <a:off x="1188720" y="1962150"/>
            <a:ext cx="4306824" cy="3412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user-policy password</a:t>
            </a:r>
            <a:endParaRPr lang="en-US" sz="1680" dirty="0"/>
          </a:p>
        </p:txBody>
      </p:sp>
      <p:sp>
        <p:nvSpPr>
          <p:cNvPr id="8" name="Text 3"/>
          <p:cNvSpPr/>
          <p:nvPr/>
        </p:nvSpPr>
        <p:spPr>
          <a:xfrm>
            <a:off x="1188720" y="235839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min-length 6   </a:t>
            </a:r>
            <a:r>
              <a:rPr lang="en-US" sz="1680" dirty="0">
                <a:solidFill>
                  <a:srgbClr val="CA8704"/>
                </a:solidFill>
              </a:rPr>
              <a:t># ⚠️ 小于8</a:t>
            </a:r>
            <a:endParaRPr lang="en-US" sz="1680" dirty="0"/>
          </a:p>
        </p:txBody>
      </p:sp>
      <p:sp>
        <p:nvSpPr>
          <p:cNvPr id="9" name="Text 4"/>
          <p:cNvSpPr/>
          <p:nvPr/>
        </p:nvSpPr>
        <p:spPr>
          <a:xfrm>
            <a:off x="1188720" y="269367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complexity disable   </a:t>
            </a:r>
            <a:r>
              <a:rPr lang="en-US" sz="1680" dirty="0">
                <a:solidFill>
                  <a:srgbClr val="EF4447"/>
                </a:solidFill>
              </a:rPr>
              <a:t># ❌ 未启用</a:t>
            </a:r>
            <a:endParaRPr lang="en-US" sz="1680" dirty="0"/>
          </a:p>
        </p:txBody>
      </p:sp>
      <p:sp>
        <p:nvSpPr>
          <p:cNvPr id="10" name="Text 5"/>
          <p:cNvSpPr/>
          <p:nvPr/>
        </p:nvSpPr>
        <p:spPr>
          <a:xfrm>
            <a:off x="1188720" y="304419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lock-duration 5    </a:t>
            </a:r>
            <a:r>
              <a:rPr lang="en-US" sz="1680" dirty="0">
                <a:solidFill>
                  <a:srgbClr val="CA8704"/>
                </a:solidFill>
              </a:rPr>
              <a:t># ⚠️ 过短</a:t>
            </a:r>
            <a:endParaRPr lang="en-US" sz="1680" dirty="0"/>
          </a:p>
        </p:txBody>
      </p:sp>
      <p:sp>
        <p:nvSpPr>
          <p:cNvPr id="11" name="Text 6"/>
          <p:cNvSpPr/>
          <p:nvPr/>
        </p:nvSpPr>
        <p:spPr>
          <a:xfrm>
            <a:off x="1066800" y="3455670"/>
            <a:ext cx="4428744" cy="3412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6B7280"/>
                </a:solidFill>
              </a:rPr>
              <a:t># 2. 用户配置</a:t>
            </a:r>
            <a:endParaRPr lang="en-US" sz="1680" dirty="0"/>
          </a:p>
        </p:txBody>
      </p:sp>
      <p:sp>
        <p:nvSpPr>
          <p:cNvPr id="12" name="Text 7"/>
          <p:cNvSpPr/>
          <p:nvPr/>
        </p:nvSpPr>
        <p:spPr>
          <a:xfrm>
            <a:off x="1188720" y="383667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local-user admin   </a:t>
            </a:r>
            <a:r>
              <a:rPr lang="en-US" sz="1680" dirty="0">
                <a:solidFill>
                  <a:srgbClr val="EF4447"/>
                </a:solidFill>
              </a:rPr>
              <a:t># ❌ 未重命名</a:t>
            </a:r>
            <a:endParaRPr lang="en-US" sz="1680" dirty="0"/>
          </a:p>
        </p:txBody>
      </p:sp>
      <p:sp>
        <p:nvSpPr>
          <p:cNvPr id="13" name="Text 8"/>
          <p:cNvSpPr/>
          <p:nvPr/>
        </p:nvSpPr>
        <p:spPr>
          <a:xfrm>
            <a:off x="1188720" y="418719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service-type telnet    </a:t>
            </a:r>
            <a:r>
              <a:rPr lang="en-US" sz="1680" dirty="0">
                <a:solidFill>
                  <a:srgbClr val="EF4447"/>
                </a:solidFill>
              </a:rPr>
              <a:t># ❌ 明文</a:t>
            </a:r>
            <a:endParaRPr lang="en-US" sz="1680" dirty="0"/>
          </a:p>
        </p:txBody>
      </p:sp>
      <p:sp>
        <p:nvSpPr>
          <p:cNvPr id="14" name="Text 9"/>
          <p:cNvSpPr/>
          <p:nvPr/>
        </p:nvSpPr>
        <p:spPr>
          <a:xfrm>
            <a:off x="1066800" y="4598670"/>
            <a:ext cx="4428744" cy="3412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6B7280"/>
                </a:solidFill>
              </a:rPr>
              <a:t># 3. 审计与访问控制</a:t>
            </a:r>
            <a:endParaRPr lang="en-US" sz="1680" dirty="0"/>
          </a:p>
        </p:txBody>
      </p:sp>
      <p:sp>
        <p:nvSpPr>
          <p:cNvPr id="15" name="Text 10"/>
          <p:cNvSpPr/>
          <p:nvPr/>
        </p:nvSpPr>
        <p:spPr>
          <a:xfrm>
            <a:off x="1188720" y="499491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logfile save-time 30    </a:t>
            </a:r>
            <a:r>
              <a:rPr lang="en-US" sz="1680" dirty="0">
                <a:solidFill>
                  <a:srgbClr val="CA8704"/>
                </a:solidFill>
              </a:rPr>
              <a:t># ⚠️ 不足180天</a:t>
            </a:r>
            <a:endParaRPr lang="en-US" sz="1680" dirty="0"/>
          </a:p>
        </p:txBody>
      </p:sp>
      <p:sp>
        <p:nvSpPr>
          <p:cNvPr id="16" name="Text 11"/>
          <p:cNvSpPr/>
          <p:nvPr/>
        </p:nvSpPr>
        <p:spPr>
          <a:xfrm>
            <a:off x="1188720" y="533019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rule permit source any     </a:t>
            </a:r>
            <a:r>
              <a:rPr lang="en-US" sz="1680" dirty="0">
                <a:solidFill>
                  <a:srgbClr val="EF4447"/>
                </a:solidFill>
              </a:rPr>
              <a:t># ❌ 任意IP</a:t>
            </a:r>
            <a:endParaRPr lang="en-US" sz="1680" dirty="0"/>
          </a:p>
        </p:txBody>
      </p:sp>
      <p:sp>
        <p:nvSpPr>
          <p:cNvPr id="17" name="Text 12"/>
          <p:cNvSpPr/>
          <p:nvPr/>
        </p:nvSpPr>
        <p:spPr>
          <a:xfrm>
            <a:off x="1188720" y="5665470"/>
            <a:ext cx="4306824" cy="4133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port 23 / 80     </a:t>
            </a:r>
            <a:r>
              <a:rPr lang="en-US" sz="1680" dirty="0">
                <a:solidFill>
                  <a:srgbClr val="EF4447"/>
                </a:solidFill>
              </a:rPr>
              <a:t># ❌ 开放风险端口</a:t>
            </a:r>
            <a:endParaRPr lang="en-US" sz="1680" dirty="0"/>
          </a:p>
        </p:txBody>
      </p:sp>
      <p:sp>
        <p:nvSpPr>
          <p:cNvPr id="18" name="Text 13"/>
          <p:cNvSpPr/>
          <p:nvPr/>
        </p:nvSpPr>
        <p:spPr>
          <a:xfrm>
            <a:off x="6248400" y="56388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逐行读法示范</a:t>
            </a:r>
            <a:endParaRPr lang="en-US" sz="264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6080" y="594360"/>
            <a:ext cx="1036320" cy="4419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28960" y="655320"/>
            <a:ext cx="679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找 6 处</a:t>
            </a:r>
            <a:endParaRPr lang="en-US" sz="168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0" y="1173785"/>
            <a:ext cx="5334000" cy="30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48400" y="1295400"/>
            <a:ext cx="534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这份配置里埋了多处不合规——先自己找，再对照右栏</a:t>
            </a:r>
            <a:endParaRPr lang="en-US" sz="144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0" y="1737360"/>
            <a:ext cx="5342255" cy="335407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4" name="Text 16"/>
          <p:cNvSpPr/>
          <p:nvPr/>
        </p:nvSpPr>
        <p:spPr>
          <a:xfrm>
            <a:off x="6446520" y="1935480"/>
            <a:ext cx="97536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读配置的顺序</a:t>
            </a:r>
            <a:endParaRPr lang="en-US" sz="192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6520" y="2380488"/>
            <a:ext cx="4937760" cy="152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46520" y="249936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27" name="Text 18"/>
          <p:cNvSpPr/>
          <p:nvPr/>
        </p:nvSpPr>
        <p:spPr>
          <a:xfrm>
            <a:off x="6812280" y="2499360"/>
            <a:ext cx="288036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 先通读一遍，把账号与口令相关的行全部标出来</a:t>
            </a:r>
            <a:endParaRPr lang="en-US" sz="1680" dirty="0"/>
          </a:p>
        </p:txBody>
      </p:sp>
      <p:sp>
        <p:nvSpPr>
          <p:cNvPr id="28" name="Text 19"/>
          <p:cNvSpPr/>
          <p:nvPr/>
        </p:nvSpPr>
        <p:spPr>
          <a:xfrm>
            <a:off x="6446520" y="292608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29" name="Text 20"/>
          <p:cNvSpPr/>
          <p:nvPr/>
        </p:nvSpPr>
        <p:spPr>
          <a:xfrm>
            <a:off x="6812280" y="2910840"/>
            <a:ext cx="477964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② 口令策略：min-length 6（要求 ≥ 8，不合规）</a:t>
            </a:r>
            <a:endParaRPr lang="en-US" sz="1680" dirty="0"/>
          </a:p>
        </p:txBody>
      </p:sp>
      <p:sp>
        <p:nvSpPr>
          <p:cNvPr id="30" name="Text 21"/>
          <p:cNvSpPr/>
          <p:nvPr/>
        </p:nvSpPr>
        <p:spPr>
          <a:xfrm>
            <a:off x="6446520" y="335280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1" name="Text 22"/>
          <p:cNvSpPr/>
          <p:nvPr/>
        </p:nvSpPr>
        <p:spPr>
          <a:xfrm>
            <a:off x="6812280" y="3352800"/>
            <a:ext cx="394716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③ 登录策略：阈值 10 次、锁定 5 分钟（都不达标）</a:t>
            </a:r>
            <a:endParaRPr lang="en-US" sz="1680" dirty="0"/>
          </a:p>
        </p:txBody>
      </p:sp>
      <p:sp>
        <p:nvSpPr>
          <p:cNvPr id="32" name="Text 23"/>
          <p:cNvSpPr/>
          <p:nvPr/>
        </p:nvSpPr>
        <p:spPr>
          <a:xfrm>
            <a:off x="6446520" y="377952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3" name="Text 24"/>
          <p:cNvSpPr/>
          <p:nvPr/>
        </p:nvSpPr>
        <p:spPr>
          <a:xfrm>
            <a:off x="6812280" y="3779520"/>
            <a:ext cx="52451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④ 账户与管理方式：admin未改名、service-type telnet（明文）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6446520" y="420624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5" name="Text 26"/>
          <p:cNvSpPr/>
          <p:nvPr/>
        </p:nvSpPr>
        <p:spPr>
          <a:xfrm>
            <a:off x="6812280" y="4206240"/>
            <a:ext cx="277368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⑤ 审计：logfile save-time 30（要求 ≥ 180 天）</a:t>
            </a:r>
            <a:endParaRPr lang="en-US" sz="1680" dirty="0"/>
          </a:p>
        </p:txBody>
      </p:sp>
      <p:sp>
        <p:nvSpPr>
          <p:cNvPr id="36" name="Text 27"/>
          <p:cNvSpPr/>
          <p:nvPr/>
        </p:nvSpPr>
        <p:spPr>
          <a:xfrm>
            <a:off x="6446520" y="4632960"/>
            <a:ext cx="85090" cy="294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920" dirty="0"/>
          </a:p>
        </p:txBody>
      </p:sp>
      <p:sp>
        <p:nvSpPr>
          <p:cNvPr id="37" name="Text 28"/>
          <p:cNvSpPr/>
          <p:nvPr/>
        </p:nvSpPr>
        <p:spPr>
          <a:xfrm>
            <a:off x="6812280" y="4632960"/>
            <a:ext cx="277368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⑥ 访问控制：rule permit source any + 开放 23/80</a:t>
            </a:r>
            <a:endParaRPr lang="en-US" sz="168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57290" y="5379720"/>
            <a:ext cx="5334000" cy="1447800"/>
          </a:xfrm>
          <a:prstGeom prst="rect">
            <a:avLst/>
          </a:prstGeom>
        </p:spPr>
      </p:pic>
      <p:pic>
        <p:nvPicPr>
          <p:cNvPr id="39" name="Image 8" descr="https://test.web.static.jianzeppt.com/ppt-temp-img3/05841210e541d8306a01ad541e90ff93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7960" y="5521325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858000" y="548640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你要交的记录</a:t>
            </a:r>
            <a:endParaRPr lang="en-US" sz="1920" dirty="0"/>
          </a:p>
        </p:txBody>
      </p:sp>
      <p:sp>
        <p:nvSpPr>
          <p:cNvPr id="41" name="Text 30"/>
          <p:cNvSpPr/>
          <p:nvPr/>
        </p:nvSpPr>
        <p:spPr>
          <a:xfrm>
            <a:off x="6492240" y="6014085"/>
            <a:ext cx="4916424" cy="627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至少找出 6 处不合规并逐条写进记录表。说得出依据条款，才算真查到。</a:t>
            </a:r>
            <a:endParaRPr lang="en-US" sz="1680" dirty="0"/>
          </a:p>
        </p:txBody>
      </p:sp>
      <p:sp>
        <p:nvSpPr>
          <p:cNvPr id="43" name="矩形 42"/>
          <p:cNvSpPr/>
          <p:nvPr/>
        </p:nvSpPr>
        <p:spPr>
          <a:xfrm>
            <a:off x="2376170" y="2479040"/>
            <a:ext cx="135763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955925" y="2794000"/>
            <a:ext cx="1357630" cy="2597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2597785" y="3168650"/>
            <a:ext cx="135763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740025" y="3968750"/>
            <a:ext cx="135763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2924175" y="4314190"/>
            <a:ext cx="135763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027680" y="5142230"/>
            <a:ext cx="1630045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3299460" y="5466080"/>
            <a:ext cx="1357630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460625" y="5818505"/>
            <a:ext cx="1811655" cy="2374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28" grpId="1"/>
      <p:bldP spid="29" grpId="1"/>
      <p:bldP spid="30" grpId="1"/>
      <p:bldP spid="31" grpId="1"/>
      <p:bldP spid="32" grpId="1"/>
      <p:bldP spid="33" grpId="1"/>
      <p:bldP spid="34" grpId="1"/>
      <p:bldP spid="35" grpId="1"/>
      <p:bldP spid="36" grpId="1"/>
      <p:bldP spid="3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2621280"/>
            <a:ext cx="243840" cy="243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5360" y="2489200"/>
            <a:ext cx="2685415" cy="4425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按这 8 个要点逐条对照：</a:t>
            </a:r>
            <a:endParaRPr lang="en-US" sz="192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304800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777240" y="321564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密码策略</a:t>
            </a:r>
            <a:endParaRPr lang="en-US" sz="1920" dirty="0"/>
          </a:p>
        </p:txBody>
      </p:sp>
      <p:pic>
        <p:nvPicPr>
          <p:cNvPr id="6" name="Image 2" descr="https://test.web.static.jianzeppt.com/ppt-temp-img3/1d89ccce387c2708f6269601616abe83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3215640"/>
            <a:ext cx="1173480" cy="3352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65960" y="3276600"/>
            <a:ext cx="999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a)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777240" y="367284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长度≥8, 复杂度启用</a:t>
            </a:r>
            <a:r>
              <a:rPr lang="en-US" sz="1680" dirty="0">
                <a:solidFill>
                  <a:srgbClr val="4B5563"/>
                </a:solidFill>
              </a:rPr>
              <a:t>有效期≤90天</a:t>
            </a:r>
            <a:endParaRPr lang="en-US" sz="168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520" y="304800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0" name="Text 4"/>
          <p:cNvSpPr/>
          <p:nvPr/>
        </p:nvSpPr>
        <p:spPr>
          <a:xfrm>
            <a:off x="3566160" y="321564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登录策略</a:t>
            </a:r>
            <a:endParaRPr lang="en-US" sz="1920" dirty="0"/>
          </a:p>
        </p:txBody>
      </p:sp>
      <p:pic>
        <p:nvPicPr>
          <p:cNvPr id="11" name="Image 4" descr="https://test.web.static.jianzeppt.com/ppt-temp-img3/f7bdcc0b9705f1ec5c90f40a327b1c4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215640"/>
            <a:ext cx="1188720" cy="3352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54880" y="327660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b)</a:t>
            </a:r>
            <a:endParaRPr lang="en-US" sz="1440" dirty="0"/>
          </a:p>
        </p:txBody>
      </p:sp>
      <p:sp>
        <p:nvSpPr>
          <p:cNvPr id="13" name="Text 6"/>
          <p:cNvSpPr/>
          <p:nvPr/>
        </p:nvSpPr>
        <p:spPr>
          <a:xfrm>
            <a:off x="3566160" y="367284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失败锁定阈值≤5次</a:t>
            </a:r>
            <a:r>
              <a:rPr lang="en-US" sz="1680" dirty="0">
                <a:solidFill>
                  <a:srgbClr val="4B5563"/>
                </a:solidFill>
              </a:rPr>
              <a:t>锁定时间≥15分钟</a:t>
            </a:r>
            <a:endParaRPr lang="en-US" sz="168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40" y="304800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7"/>
          <p:cNvSpPr/>
          <p:nvPr/>
        </p:nvSpPr>
        <p:spPr>
          <a:xfrm>
            <a:off x="6355080" y="321564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管理方式</a:t>
            </a:r>
            <a:endParaRPr lang="en-US" sz="1920" dirty="0"/>
          </a:p>
        </p:txBody>
      </p:sp>
      <p:pic>
        <p:nvPicPr>
          <p:cNvPr id="16" name="Image 6" descr="https://test.web.static.jianzeppt.com/ppt-temp-img3/e87a5dfca75e5d36fa30482cd83d3ea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3215640"/>
            <a:ext cx="1158240" cy="3352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559040" y="3276600"/>
            <a:ext cx="984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c)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6355080" y="367284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仅使用SSH</a:t>
            </a:r>
            <a:r>
              <a:rPr lang="en-US" sz="1680" dirty="0">
                <a:solidFill>
                  <a:srgbClr val="4B5563"/>
                </a:solidFill>
              </a:rPr>
              <a:t>仅使用HTTPS</a:t>
            </a:r>
            <a:endParaRPr lang="en-US" sz="168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6360" y="304800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0" name="Text 10"/>
          <p:cNvSpPr/>
          <p:nvPr/>
        </p:nvSpPr>
        <p:spPr>
          <a:xfrm>
            <a:off x="9144000" y="321564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账户管理</a:t>
            </a:r>
            <a:endParaRPr lang="en-US" sz="1920" dirty="0"/>
          </a:p>
        </p:txBody>
      </p:sp>
      <p:pic>
        <p:nvPicPr>
          <p:cNvPr id="21" name="Image 8" descr="https://test.web.static.jianzeppt.com/ppt-temp-img3/f7bdcc0b9705f1ec5c90f40a327b1c4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3215640"/>
            <a:ext cx="1188720" cy="3352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332720" y="327660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8.1.4.2 b)</a:t>
            </a:r>
            <a:endParaRPr lang="en-US" sz="1440" dirty="0"/>
          </a:p>
        </p:txBody>
      </p:sp>
      <p:sp>
        <p:nvSpPr>
          <p:cNvPr id="23" name="Text 12"/>
          <p:cNvSpPr/>
          <p:nvPr/>
        </p:nvSpPr>
        <p:spPr>
          <a:xfrm>
            <a:off x="9144000" y="367284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默认账户重命名/删除</a:t>
            </a:r>
            <a:r>
              <a:rPr lang="en-US" sz="1680" dirty="0">
                <a:solidFill>
                  <a:srgbClr val="4B5563"/>
                </a:solidFill>
              </a:rPr>
              <a:t>默认口令已修改</a:t>
            </a:r>
            <a:endParaRPr lang="en-US" sz="168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473964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5" name="Text 13"/>
          <p:cNvSpPr/>
          <p:nvPr/>
        </p:nvSpPr>
        <p:spPr>
          <a:xfrm>
            <a:off x="777240" y="4907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权限分离</a:t>
            </a:r>
            <a:endParaRPr lang="en-US" sz="1920" dirty="0"/>
          </a:p>
        </p:txBody>
      </p:sp>
      <p:pic>
        <p:nvPicPr>
          <p:cNvPr id="26" name="Image 10" descr="https://test.web.static.jianzeppt.com/ppt-temp-img3/f7bdcc0b9705f1ec5c90f40a327b1c4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907280"/>
            <a:ext cx="1188720" cy="33528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1965960" y="496824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8.1.4.2 d)</a:t>
            </a:r>
            <a:endParaRPr lang="en-US" sz="1440" dirty="0"/>
          </a:p>
        </p:txBody>
      </p:sp>
      <p:sp>
        <p:nvSpPr>
          <p:cNvPr id="28" name="Text 15"/>
          <p:cNvSpPr/>
          <p:nvPr/>
        </p:nvSpPr>
        <p:spPr>
          <a:xfrm>
            <a:off x="777240" y="536448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不同管理员不同权限</a:t>
            </a:r>
            <a:r>
              <a:rPr lang="en-US" sz="1680" dirty="0">
                <a:solidFill>
                  <a:srgbClr val="4B5563"/>
                </a:solidFill>
              </a:rPr>
              <a:t>遵循最小权限原则</a:t>
            </a:r>
            <a:endParaRPr lang="en-US" sz="168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520" y="473964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0" name="Text 16"/>
          <p:cNvSpPr/>
          <p:nvPr/>
        </p:nvSpPr>
        <p:spPr>
          <a:xfrm>
            <a:off x="3566160" y="4907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审计日志</a:t>
            </a:r>
            <a:endParaRPr lang="en-US" sz="1920" dirty="0"/>
          </a:p>
        </p:txBody>
      </p:sp>
      <p:pic>
        <p:nvPicPr>
          <p:cNvPr id="31" name="Image 12" descr="https://test.web.static.jianzeppt.com/ppt-temp-img3/2f073d6830c0ff19c2efdd8fff5e58dd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907280"/>
            <a:ext cx="914400" cy="33528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029200" y="4968240"/>
            <a:ext cx="740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8.1.4.3</a:t>
            </a:r>
            <a:endParaRPr lang="en-US" sz="1440" dirty="0"/>
          </a:p>
        </p:txBody>
      </p:sp>
      <p:sp>
        <p:nvSpPr>
          <p:cNvPr id="33" name="Text 18"/>
          <p:cNvSpPr/>
          <p:nvPr/>
        </p:nvSpPr>
        <p:spPr>
          <a:xfrm>
            <a:off x="3566160" y="536448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日志启用且内容完整</a:t>
            </a:r>
            <a:r>
              <a:rPr lang="en-US" sz="1680" dirty="0">
                <a:solidFill>
                  <a:srgbClr val="4B5563"/>
                </a:solidFill>
              </a:rPr>
              <a:t>保存期限≥6个月</a:t>
            </a:r>
            <a:endParaRPr lang="en-US" sz="168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40" y="473964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5" name="Text 19"/>
          <p:cNvSpPr/>
          <p:nvPr/>
        </p:nvSpPr>
        <p:spPr>
          <a:xfrm>
            <a:off x="6355080" y="4907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服务端口</a:t>
            </a:r>
            <a:endParaRPr lang="en-US" sz="1920" dirty="0"/>
          </a:p>
        </p:txBody>
      </p:sp>
      <p:pic>
        <p:nvPicPr>
          <p:cNvPr id="36" name="Image 14" descr="https://test.web.static.jianzeppt.com/ppt-temp-img3/f7bdcc0b9705f1ec5c90f40a327b1c4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4907280"/>
            <a:ext cx="1188720" cy="33528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7543800" y="496824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8.1.4.4 b)</a:t>
            </a:r>
            <a:endParaRPr lang="en-US" sz="1440" dirty="0"/>
          </a:p>
        </p:txBody>
      </p:sp>
      <p:sp>
        <p:nvSpPr>
          <p:cNvPr id="38" name="Text 21"/>
          <p:cNvSpPr/>
          <p:nvPr/>
        </p:nvSpPr>
        <p:spPr>
          <a:xfrm>
            <a:off x="6355080" y="536448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已关闭不必要的</a:t>
            </a:r>
            <a:r>
              <a:rPr lang="en-US" sz="1680" dirty="0">
                <a:solidFill>
                  <a:srgbClr val="4B5563"/>
                </a:solidFill>
              </a:rPr>
              <a:t>服务和端口</a:t>
            </a:r>
            <a:endParaRPr lang="en-US" sz="168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6360" y="473964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22"/>
          <p:cNvSpPr/>
          <p:nvPr/>
        </p:nvSpPr>
        <p:spPr>
          <a:xfrm>
            <a:off x="9144000" y="4907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管理限制</a:t>
            </a:r>
            <a:endParaRPr lang="en-US" sz="1920" dirty="0"/>
          </a:p>
        </p:txBody>
      </p:sp>
      <p:pic>
        <p:nvPicPr>
          <p:cNvPr id="41" name="Image 16" descr="https://test.web.static.jianzeppt.com/ppt-temp-img3/e87a5dfca75e5d36fa30482cd83d3ea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520" y="4907280"/>
            <a:ext cx="1158240" cy="33528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10347960" y="4968240"/>
            <a:ext cx="984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8.1.4.4 c)</a:t>
            </a:r>
            <a:endParaRPr lang="en-US" sz="1440" dirty="0"/>
          </a:p>
        </p:txBody>
      </p:sp>
      <p:sp>
        <p:nvSpPr>
          <p:cNvPr id="43" name="Text 24"/>
          <p:cNvSpPr/>
          <p:nvPr/>
        </p:nvSpPr>
        <p:spPr>
          <a:xfrm>
            <a:off x="9144000" y="536448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使用ACL策略</a:t>
            </a:r>
            <a:r>
              <a:rPr lang="en-US" sz="1680" dirty="0">
                <a:solidFill>
                  <a:srgbClr val="4B5563"/>
                </a:solidFill>
              </a:rPr>
              <a:t>限制管理IP来源</a:t>
            </a:r>
            <a:endParaRPr lang="en-US" sz="1680" dirty="0"/>
          </a:p>
        </p:txBody>
      </p:sp>
      <p:pic>
        <p:nvPicPr>
          <p:cNvPr id="44" name="Image 17" descr="https://test.web.static.jianzeppt.com/ppt-temp-img3/68651b495ea1bb6a87ef6659466fc2b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609600"/>
            <a:ext cx="10972800" cy="1706880"/>
          </a:xfrm>
          <a:prstGeom prst="rect">
            <a:avLst/>
          </a:prstGeom>
        </p:spPr>
      </p:pic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640" y="807720"/>
            <a:ext cx="487680" cy="487680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1560" y="929640"/>
            <a:ext cx="243840" cy="24384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1539240" y="767080"/>
            <a:ext cx="4322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</a:rPr>
              <a:t>实验①做什么——本讲实验任务</a:t>
            </a:r>
            <a:endParaRPr lang="en-US" sz="2160" dirty="0"/>
          </a:p>
        </p:txBody>
      </p:sp>
      <p:pic>
        <p:nvPicPr>
          <p:cNvPr id="48" name="Image 20" descr="https://test.web.static.jianzeppt.com/ppt-temp-img3/b1364d4dbca662de185e4209d7799808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8800" y="838200"/>
            <a:ext cx="1950720" cy="441960"/>
          </a:xfrm>
          <a:prstGeom prst="rect">
            <a:avLst/>
          </a:prstGeom>
        </p:spPr>
      </p:pic>
      <p:sp>
        <p:nvSpPr>
          <p:cNvPr id="50" name="Text 27"/>
          <p:cNvSpPr/>
          <p:nvPr/>
        </p:nvSpPr>
        <p:spPr>
          <a:xfrm>
            <a:off x="929640" y="1417320"/>
            <a:ext cx="102235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6B7280"/>
                </a:solidFill>
              </a:rPr>
              <a:t>实验环境：</a:t>
            </a:r>
            <a:endParaRPr lang="en-US" sz="1600" b="1" dirty="0">
              <a:solidFill>
                <a:srgbClr val="6B7280"/>
              </a:solidFill>
            </a:endParaRPr>
          </a:p>
        </p:txBody>
      </p:sp>
      <p:sp>
        <p:nvSpPr>
          <p:cNvPr id="51" name="Text 28"/>
          <p:cNvSpPr/>
          <p:nvPr/>
        </p:nvSpPr>
        <p:spPr>
          <a:xfrm>
            <a:off x="2118360" y="1457960"/>
            <a:ext cx="6363335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素材2/4/7 三份真实设备配置导出（脱敏）选 2 份 + 本机 JSecProbe V2.0.3 测评项目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52" name="Text 29"/>
          <p:cNvSpPr/>
          <p:nvPr/>
        </p:nvSpPr>
        <p:spPr>
          <a:xfrm>
            <a:off x="929640" y="1798320"/>
            <a:ext cx="102235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6B7280"/>
                </a:solidFill>
              </a:rPr>
              <a:t>实验内容：</a:t>
            </a:r>
            <a:endParaRPr lang="en-US" sz="1600" b="1" dirty="0">
              <a:solidFill>
                <a:srgbClr val="6B7280"/>
              </a:solidFill>
            </a:endParaRPr>
          </a:p>
        </p:txBody>
      </p:sp>
      <p:sp>
        <p:nvSpPr>
          <p:cNvPr id="53" name="Text 30"/>
          <p:cNvSpPr/>
          <p:nvPr/>
        </p:nvSpPr>
        <p:spPr>
          <a:xfrm>
            <a:off x="2118360" y="1838960"/>
            <a:ext cx="9410065" cy="2965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① 选 2 份配置 ② 逐段读配置、标出可疑行 ③ 抄原文取证并注明段落④ JSecProbe 四档判定 ⑤ 导出记录表课内提交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4840" y="624840"/>
            <a:ext cx="60960" cy="1676400"/>
          </a:xfrm>
          <a:prstGeom prst="rect">
            <a:avLst/>
          </a:prstGeom>
        </p:spPr>
      </p:pic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04560" y="7505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7" imgW="971550" imgH="666750" progId="Word.Document.8">
                  <p:embed/>
                </p:oleObj>
              </mc:Choice>
              <mc:Fallback>
                <p:oleObj name="" showAsIcon="1" r:id="rId17" imgW="971550" imgH="666750" progId="Word.Document.8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04560" y="7505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75195" y="79121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19" imgW="971550" imgH="666750" progId="Word.Document.12">
                  <p:embed/>
                </p:oleObj>
              </mc:Choice>
              <mc:Fallback>
                <p:oleObj name="" showAsIcon="1" r:id="rId19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75195" y="79121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实验②选什么——三份配置选 2 份（要覆盖四个维度）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164592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560" y="176784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61160" y="1539240"/>
            <a:ext cx="2645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素材2</a:t>
            </a:r>
            <a:endParaRPr lang="en-US" sz="1680" dirty="0"/>
          </a:p>
        </p:txBody>
      </p:sp>
      <p:sp>
        <p:nvSpPr>
          <p:cNvPr id="10" name="Text 2"/>
          <p:cNvSpPr/>
          <p:nvPr/>
        </p:nvSpPr>
        <p:spPr>
          <a:xfrm>
            <a:off x="1661160" y="1993265"/>
            <a:ext cx="346837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华为 USG6650E 防火墙配置导出：口令策略、账户、管理方式、ACL、日志</a:t>
            </a:r>
            <a:endParaRPr lang="en-US" sz="1400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16459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17678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269480" y="1503680"/>
            <a:ext cx="4002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素材4</a:t>
            </a:r>
            <a:endParaRPr lang="en-US" sz="1680" dirty="0"/>
          </a:p>
        </p:txBody>
      </p:sp>
      <p:sp>
        <p:nvSpPr>
          <p:cNvPr id="15" name="Text 4"/>
          <p:cNvSpPr/>
          <p:nvPr/>
        </p:nvSpPr>
        <p:spPr>
          <a:xfrm>
            <a:off x="7269480" y="1979295"/>
            <a:ext cx="4002024" cy="4305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华为 S5720-28X-SI 交换机配置导出：VLAN 划分、端口、账户与远程管理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9" descr="https://test.web.static.jianzeppt.com/ppt-temp-img3/000c238ba9caec68d94d98137afd3a4d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12720"/>
            <a:ext cx="10972800" cy="353568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17800" y="3154680"/>
            <a:ext cx="6096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12520" y="30327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达标要求</a:t>
            </a:r>
            <a:endParaRPr lang="en-US" sz="26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280" y="3810000"/>
            <a:ext cx="365760" cy="3657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9220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518920" y="3779520"/>
            <a:ext cx="4889500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素材7：华为 AR6120 路由器配置导出（第三份，选做或替换）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19520" y="381000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44144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868160" y="3779520"/>
            <a:ext cx="4356100" cy="701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推荐组合：防火墙 + 交换机——身份鉴别、访问控制、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审计、端口四类问题最好找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280" y="460248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9220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518920" y="4572000"/>
            <a:ext cx="4800600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每份配置至少找出 5 处不合规，两份合起来覆盖 ≥3 个维度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19520" y="4602480"/>
            <a:ext cx="365760" cy="36576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44144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868160" y="4572000"/>
            <a:ext cx="4445000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取证要求：每条判定都要能指到配置里的具体一行或一段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280" y="5410200"/>
            <a:ext cx="365760" cy="36576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1092200" y="54254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1518920" y="5379720"/>
            <a:ext cx="5067300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判定要求：四选一；部分符合/不符合必须写清"做到哪、差在哪"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65410" y="41973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17" imgW="971550" imgH="666750" progId="Word.Document.12">
                  <p:embed/>
                </p:oleObj>
              </mc:Choice>
              <mc:Fallback>
                <p:oleObj name="" showAsIcon="1" r:id="rId17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265410" y="41973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22410" y="41973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9" imgW="971550" imgH="666750" progId="Word.Document.8">
                  <p:embed/>
                </p:oleObj>
              </mc:Choice>
              <mc:Fallback>
                <p:oleObj name="" showAsIcon="1" r:id="rId19" imgW="971550" imgH="666750" progId="Word.Document.8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22410" y="41973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实验③怎么判——JSecProbe 录入与四档判定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拿防火墙那行 min-length 6 举例</a:t>
            </a:r>
            <a:endParaRPr lang="en-US" sz="216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250950" y="1889125"/>
          <a:ext cx="9875520" cy="4235450"/>
        </p:xfrm>
        <a:graphic>
          <a:graphicData uri="http://schemas.openxmlformats.org/drawingml/2006/table">
            <a:tbl>
              <a:tblPr/>
              <a:tblGrid>
                <a:gridCol w="1215390"/>
                <a:gridCol w="3087370"/>
                <a:gridCol w="4429760"/>
                <a:gridCol w="1143000"/>
              </a:tblGrid>
              <a:tr h="4044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填什么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怎么填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示例（防火墙 FW-01）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严重程度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测评对象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 + 型号 + 管理 IP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FW-01 / USG6650E / 10.0.0.1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测评项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条款编号 + 名称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8.1.4.1 a) 身份鉴别-口令复杂度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核查结果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抄配置原文，只写事实不写结论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user-policy password min-length 6（要求 ≥ 8）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证据位置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写清配置段落或行号，方便复核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 2 段「密码与登录策略」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8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符合性判定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四选一：符合 / 部分符合 / 不符合 / 不适用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不符合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问题描述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写清"做到哪、差在哪"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已配置口令策略，但最小长度 6 位 &lt; 要求的 8 位，且未启用复杂度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整改建议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给出可直接下发的命令 + 完成期限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user-policy password min-length 8；complexity enable；5 个工作日内完成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实验④交什么——成果与提交前自查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164592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560" y="176784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61160" y="1539240"/>
            <a:ext cx="26456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必交 1</a:t>
            </a:r>
            <a:endParaRPr lang="en-US" sz="1680" dirty="0"/>
          </a:p>
        </p:txBody>
      </p:sp>
      <p:sp>
        <p:nvSpPr>
          <p:cNvPr id="10" name="Text 2"/>
          <p:cNvSpPr/>
          <p:nvPr/>
        </p:nvSpPr>
        <p:spPr>
          <a:xfrm>
            <a:off x="1508760" y="1960880"/>
            <a:ext cx="46228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《网络设备安全测评记录表》：2 份设备 × 每条判定齐全</a:t>
            </a:r>
            <a:endParaRPr lang="en-US" sz="1400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indent="0" algn="l" fontAlgn="auto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（实测原文 + 四档判定 + 整改建议）</a:t>
            </a:r>
            <a:endParaRPr lang="en-US" sz="1400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16459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17678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269480" y="1432560"/>
            <a:ext cx="4002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必交 2</a:t>
            </a:r>
            <a:endParaRPr lang="en-US" sz="1680" dirty="0"/>
          </a:p>
        </p:txBody>
      </p:sp>
      <p:sp>
        <p:nvSpPr>
          <p:cNvPr id="15" name="Text 4"/>
          <p:cNvSpPr/>
          <p:nvPr/>
        </p:nvSpPr>
        <p:spPr>
          <a:xfrm>
            <a:off x="7269480" y="1898015"/>
            <a:ext cx="4002024" cy="4305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取证清单：每条判定对应的配置原文与段落/行号，与记录表一一对应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9" descr="https://test.web.static.jianzeppt.com/ppt-temp-img3/000c238ba9caec68d94d98137afd3a4d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12720"/>
            <a:ext cx="10972800" cy="353568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0" y="3154680"/>
            <a:ext cx="6096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12520" y="303276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别忘了</a:t>
            </a:r>
            <a:endParaRPr lang="en-US" sz="26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3810000"/>
            <a:ext cx="365760" cy="3657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5156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2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478280" y="3779520"/>
            <a:ext cx="3251200" cy="801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必交 3：JSecProbe 判定结果导出页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（含项目名称与本人账号）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8880" y="381000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40080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2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4" name="Text 9"/>
          <p:cNvSpPr/>
          <p:nvPr/>
        </p:nvSpPr>
        <p:spPr>
          <a:xfrm>
            <a:off x="6827520" y="3779520"/>
            <a:ext cx="4064000" cy="801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文件命名：学号_姓名_实验4.2_记录表.docx 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/ 学号_姓名_实验4.2_取证清单.docx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483108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51560" y="48615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2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478280" y="4800600"/>
            <a:ext cx="8417560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提交方式：学习通 → 任务 4.2 → 作业区（课内完成并提交）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29640" y="5486400"/>
            <a:ext cx="365760" cy="365760"/>
            <a:chOff x="9888" y="7248"/>
            <a:chExt cx="576" cy="576"/>
          </a:xfrm>
        </p:grpSpPr>
        <p:pic>
          <p:nvPicPr>
            <p:cNvPr id="28" name="Image 14" descr="preencoded.png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888" y="7248"/>
              <a:ext cx="576" cy="576"/>
            </a:xfrm>
            <a:prstGeom prst="rect">
              <a:avLst/>
            </a:prstGeom>
          </p:spPr>
        </p:pic>
        <p:sp>
          <p:nvSpPr>
            <p:cNvPr id="29" name="Text 12"/>
            <p:cNvSpPr/>
            <p:nvPr/>
          </p:nvSpPr>
          <p:spPr>
            <a:xfrm>
              <a:off x="10080" y="7296"/>
              <a:ext cx="230" cy="48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2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  <p:sp>
        <p:nvSpPr>
          <p:cNvPr id="30" name="Text 13"/>
          <p:cNvSpPr/>
          <p:nvPr/>
        </p:nvSpPr>
        <p:spPr>
          <a:xfrm>
            <a:off x="1483360" y="5459730"/>
            <a:ext cx="9774555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自查：☐ 每条判定都指得到配置原文 ☐ 整改建议是可直接执行的命令 ☐ 覆盖 ≥3 个维度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本讲配套素材——什么时候用、用在哪一步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3433572" y="1371600"/>
            <a:ext cx="5334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打钩确认：进实验前把要用的素材先下载到本机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25755" y="1810385"/>
          <a:ext cx="11415395" cy="3996690"/>
        </p:xfrm>
        <a:graphic>
          <a:graphicData uri="http://schemas.openxmlformats.org/drawingml/2006/table">
            <a:tbl>
              <a:tblPr/>
              <a:tblGrid>
                <a:gridCol w="3211830"/>
                <a:gridCol w="2276475"/>
                <a:gridCol w="4859655"/>
                <a:gridCol w="1067435"/>
              </a:tblGrid>
              <a:tr h="394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素材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用在哪一步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里面有什么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严重程度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素材1：案例导入文字材料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课堂导入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数据泄露事件经过与事后审计发现的配置问题清单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素材2：防火墙配置导出（USG6650E）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实验②取证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真实设备配置（脱敏），含合规项与不合规项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素材3：《网络设备安全测评记录表》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实验③④判定与出表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设备信息、测评项、核查结果、四档判定、整改建议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素材4：交换机配置导出（S5720）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实验②取证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VLAN 划分、端口、账户与远程管理配置片段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素材7：路由器配置导出（AR6120）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实验②取证（第三份）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路由与远程管理相关配置，用于加练或替换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素材8：基于导出配置的记录表填写范例（FW-01）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实验③判定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一份填好的完整范例，写着看、对着填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素材5：快速检查表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全流程速查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检查项 — 核查命令 — 合格标准 三列对照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素材6：课后作业 / 参考答案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课后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作业题与参考判定，提交后再对照自查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Part.05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回顾与拓展——易错点、作业与下节预告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把今天读配置的顺序，变成下次自己上手时的肌肉记忆</a:t>
            </a:r>
            <a:endParaRPr lang="en-US" sz="21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职业提醒——一条 permit any 的代价</a:t>
            </a:r>
            <a:endParaRPr lang="en-US" sz="2760" dirty="0"/>
          </a:p>
        </p:txBody>
      </p:sp>
      <p:pic>
        <p:nvPicPr>
          <p:cNvPr id="6" name="Image 3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3505200" cy="3505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7400" y="155448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9800" y="170688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0574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严谨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86868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117348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网络设备配置核查，一个参数、端口都不能漏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86868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3" name="Text 5"/>
          <p:cNvSpPr/>
          <p:nvPr/>
        </p:nvSpPr>
        <p:spPr>
          <a:xfrm>
            <a:off x="117348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一个“允许所有”策略，可能导致全盘失守</a:t>
            </a:r>
            <a:endParaRPr lang="en-US" sz="1680" dirty="0"/>
          </a:p>
        </p:txBody>
      </p:sp>
      <p:pic>
        <p:nvPicPr>
          <p:cNvPr id="14" name="Image 6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95400"/>
            <a:ext cx="3505200" cy="35052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1554480"/>
            <a:ext cx="609600" cy="609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3600" y="1706880"/>
            <a:ext cx="304800" cy="3048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7912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规范</a:t>
            </a:r>
            <a:endParaRPr lang="en-US" sz="2400" dirty="0"/>
          </a:p>
        </p:txBody>
      </p:sp>
      <p:sp>
        <p:nvSpPr>
          <p:cNvPr id="18" name="Text 7"/>
          <p:cNvSpPr/>
          <p:nvPr/>
        </p:nvSpPr>
        <p:spPr>
          <a:xfrm>
            <a:off x="460248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9" name="Text 8"/>
          <p:cNvSpPr/>
          <p:nvPr/>
        </p:nvSpPr>
        <p:spPr>
          <a:xfrm>
            <a:off x="490728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标准白纸黑字，执行必须不打折扣</a:t>
            </a:r>
            <a:endParaRPr lang="en-US" sz="1680" dirty="0"/>
          </a:p>
        </p:txBody>
      </p:sp>
      <p:sp>
        <p:nvSpPr>
          <p:cNvPr id="20" name="Text 9"/>
          <p:cNvSpPr/>
          <p:nvPr/>
        </p:nvSpPr>
        <p:spPr>
          <a:xfrm>
            <a:off x="460248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1" name="Text 10"/>
          <p:cNvSpPr/>
          <p:nvPr/>
        </p:nvSpPr>
        <p:spPr>
          <a:xfrm>
            <a:off x="490728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密码少一位就是不合规，没有“差不多”</a:t>
            </a:r>
            <a:endParaRPr lang="en-US" sz="1680" dirty="0"/>
          </a:p>
        </p:txBody>
      </p:sp>
      <p:pic>
        <p:nvPicPr>
          <p:cNvPr id="22" name="Image 9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295400"/>
            <a:ext cx="3505200" cy="350520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1554480"/>
            <a:ext cx="609600" cy="60960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7400" y="1706880"/>
            <a:ext cx="304800" cy="3048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95250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400" dirty="0"/>
          </a:p>
        </p:txBody>
      </p:sp>
      <p:sp>
        <p:nvSpPr>
          <p:cNvPr id="26" name="Text 12"/>
          <p:cNvSpPr/>
          <p:nvPr/>
        </p:nvSpPr>
        <p:spPr>
          <a:xfrm>
            <a:off x="835152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7" name="Text 13"/>
          <p:cNvSpPr/>
          <p:nvPr/>
        </p:nvSpPr>
        <p:spPr>
          <a:xfrm>
            <a:off x="865632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网络设备是信息系统的“关卡”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835152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9" name="Text 15"/>
          <p:cNvSpPr/>
          <p:nvPr/>
        </p:nvSpPr>
        <p:spPr>
          <a:xfrm>
            <a:off x="865632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测评每一次核查，都在守护数据流通的“国门”</a:t>
            </a:r>
            <a:endParaRPr lang="en-US" sz="168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5267325"/>
            <a:ext cx="10972800" cy="67056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090930" y="5453380"/>
            <a:ext cx="10037064" cy="29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</a:t>
            </a: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网络设备配置核查，查的是配置，守的是防线。一丝不苟，是对国家网络空间安全的责任与担当。</a:t>
            </a:r>
            <a:endParaRPr lang="en-US" sz="16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网络设备配置核查核心知识导图</a:t>
            </a:r>
            <a:endParaRPr lang="en-US" sz="2760" dirty="0"/>
          </a:p>
        </p:txBody>
      </p:sp>
      <p:pic>
        <p:nvPicPr>
          <p:cNvPr id="6" name="Image 3" descr="https://test.web.static.jianzeppt.com/ppt-temp-img3/b75161b64b4e82f454ce5f1a90c6fc5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0" y="1524000"/>
            <a:ext cx="57912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524000"/>
            <a:ext cx="3352800" cy="2560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8" name="Text 1"/>
          <p:cNvSpPr/>
          <p:nvPr/>
        </p:nvSpPr>
        <p:spPr>
          <a:xfrm>
            <a:off x="914400" y="1767840"/>
            <a:ext cx="3082925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一、</a:t>
            </a: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网络设备</a:t>
            </a: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在等保中的</a:t>
            </a: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定位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9" name="Text 2"/>
          <p:cNvSpPr/>
          <p:nvPr/>
        </p:nvSpPr>
        <p:spPr>
          <a:xfrm>
            <a:off x="914400" y="2385695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1219200" y="2409508"/>
            <a:ext cx="2508504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安全技术要求 → 安全计算环境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914400" y="3132455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440" dirty="0"/>
          </a:p>
        </p:txBody>
      </p:sp>
      <p:sp>
        <p:nvSpPr>
          <p:cNvPr id="12" name="Text 5"/>
          <p:cNvSpPr/>
          <p:nvPr/>
        </p:nvSpPr>
        <p:spPr>
          <a:xfrm>
            <a:off x="1219200" y="3129598"/>
            <a:ext cx="2508504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对象：路由器、交换机、防火墙、堡垒机</a:t>
            </a:r>
            <a:endParaRPr lang="en-US" sz="168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328160"/>
            <a:ext cx="3352800" cy="2087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4" name="Text 6"/>
          <p:cNvSpPr/>
          <p:nvPr/>
        </p:nvSpPr>
        <p:spPr>
          <a:xfrm>
            <a:off x="914400" y="4572000"/>
            <a:ext cx="137922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三、检查流程</a:t>
            </a:r>
            <a:endParaRPr lang="en-US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5" name="Image 6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074920"/>
            <a:ext cx="1021080" cy="396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51560" y="513588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登录设备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1981200" y="512064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18" name="Image 7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5040" y="5074920"/>
            <a:ext cx="1021080" cy="3962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362200" y="513588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逐项检查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3291840" y="512064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1" name="Image 8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16880"/>
            <a:ext cx="1021080" cy="3962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51560" y="557784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记录发现</a:t>
            </a:r>
            <a:endParaRPr lang="en-US" sz="1440" dirty="0"/>
          </a:p>
        </p:txBody>
      </p:sp>
      <p:sp>
        <p:nvSpPr>
          <p:cNvPr id="23" name="Text 12"/>
          <p:cNvSpPr/>
          <p:nvPr/>
        </p:nvSpPr>
        <p:spPr>
          <a:xfrm>
            <a:off x="1981200" y="556260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4" name="Image 9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5040" y="5516880"/>
            <a:ext cx="1021080" cy="39624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2362200" y="557784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判断合规</a:t>
            </a:r>
            <a:endParaRPr lang="en-US" sz="1440" dirty="0"/>
          </a:p>
        </p:txBody>
      </p:sp>
      <p:sp>
        <p:nvSpPr>
          <p:cNvPr id="26" name="Text 14"/>
          <p:cNvSpPr/>
          <p:nvPr/>
        </p:nvSpPr>
        <p:spPr>
          <a:xfrm>
            <a:off x="3291840" y="556260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7" name="Image 10" descr="https://test.web.static.jianzeppt.com/ppt-temp-img3/69125780573aea69d00412fe9fee5ad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958840"/>
            <a:ext cx="1203960" cy="39624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51560" y="6019800"/>
            <a:ext cx="9387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填写记录表</a:t>
            </a:r>
            <a:endParaRPr lang="en-US" sz="1440" dirty="0"/>
          </a:p>
        </p:txBody>
      </p:sp>
      <p:pic>
        <p:nvPicPr>
          <p:cNvPr id="29" name="Image 11" descr="https://test.web.static.jianzeppt.com/ppt-temp-img3/ff7715341f40e73dfe65117848e97095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6240" y="1524000"/>
            <a:ext cx="30480" cy="4876800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0560" y="1143000"/>
            <a:ext cx="2316480" cy="411480"/>
          </a:xfrm>
          <a:prstGeom prst="rect">
            <a:avLst/>
          </a:prstGeom>
        </p:spPr>
      </p:pic>
      <p:sp>
        <p:nvSpPr>
          <p:cNvPr id="89" name="圆角矩形 88"/>
          <p:cNvSpPr/>
          <p:nvPr/>
        </p:nvSpPr>
        <p:spPr>
          <a:xfrm>
            <a:off x="4318000" y="982980"/>
            <a:ext cx="7504430" cy="57016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31" name="Text 16"/>
          <p:cNvSpPr/>
          <p:nvPr/>
        </p:nvSpPr>
        <p:spPr>
          <a:xfrm>
            <a:off x="4987290" y="98298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二、四大核查维度</a:t>
            </a:r>
            <a:endParaRPr lang="en-US" sz="216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80560" y="1524000"/>
            <a:ext cx="3459480" cy="2499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78680" y="1737360"/>
            <a:ext cx="304800" cy="33528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4770120" y="176784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35" name="Text 18"/>
          <p:cNvSpPr/>
          <p:nvPr/>
        </p:nvSpPr>
        <p:spPr>
          <a:xfrm>
            <a:off x="5090160" y="172212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 (8.1.4.1)</a:t>
            </a:r>
            <a:endParaRPr lang="en-US" sz="1920" dirty="0"/>
          </a:p>
        </p:txBody>
      </p:sp>
      <p:sp>
        <p:nvSpPr>
          <p:cNvPr id="36" name="Text 19"/>
          <p:cNvSpPr/>
          <p:nvPr/>
        </p:nvSpPr>
        <p:spPr>
          <a:xfrm>
            <a:off x="4739640" y="2240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4953000" y="2327275"/>
            <a:ext cx="80010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密码策略</a:t>
            </a:r>
            <a:endParaRPr lang="en-US" sz="1560" dirty="0"/>
          </a:p>
        </p:txBody>
      </p:sp>
      <p:sp>
        <p:nvSpPr>
          <p:cNvPr id="38" name="Text 21"/>
          <p:cNvSpPr/>
          <p:nvPr/>
        </p:nvSpPr>
        <p:spPr>
          <a:xfrm>
            <a:off x="5760720" y="2209800"/>
            <a:ext cx="199034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（长≥8/复杂/期≤90天）</a:t>
            </a:r>
            <a:endParaRPr lang="en-US" sz="1440" dirty="0"/>
          </a:p>
        </p:txBody>
      </p:sp>
      <p:sp>
        <p:nvSpPr>
          <p:cNvPr id="39" name="Text 22"/>
          <p:cNvSpPr/>
          <p:nvPr/>
        </p:nvSpPr>
        <p:spPr>
          <a:xfrm>
            <a:off x="4739640" y="28956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0" name="Text 23"/>
          <p:cNvSpPr/>
          <p:nvPr/>
        </p:nvSpPr>
        <p:spPr>
          <a:xfrm>
            <a:off x="4953000" y="286512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登录策略</a:t>
            </a:r>
            <a:endParaRPr lang="en-US" sz="1560" dirty="0"/>
          </a:p>
        </p:txBody>
      </p:sp>
      <p:sp>
        <p:nvSpPr>
          <p:cNvPr id="41" name="Text 24"/>
          <p:cNvSpPr/>
          <p:nvPr/>
        </p:nvSpPr>
        <p:spPr>
          <a:xfrm>
            <a:off x="5806440" y="2865120"/>
            <a:ext cx="1853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（错≤5次/锁≥15分）</a:t>
            </a:r>
            <a:endParaRPr lang="en-US" sz="1440" dirty="0"/>
          </a:p>
        </p:txBody>
      </p:sp>
      <p:sp>
        <p:nvSpPr>
          <p:cNvPr id="42" name="Text 25"/>
          <p:cNvSpPr/>
          <p:nvPr/>
        </p:nvSpPr>
        <p:spPr>
          <a:xfrm>
            <a:off x="4739640" y="32613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3" name="Text 26"/>
          <p:cNvSpPr/>
          <p:nvPr/>
        </p:nvSpPr>
        <p:spPr>
          <a:xfrm>
            <a:off x="4953000" y="3230880"/>
            <a:ext cx="12131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远程管理加密</a:t>
            </a:r>
            <a:endParaRPr lang="en-US" sz="1560" dirty="0"/>
          </a:p>
        </p:txBody>
      </p:sp>
      <p:sp>
        <p:nvSpPr>
          <p:cNvPr id="44" name="Text 27"/>
          <p:cNvSpPr/>
          <p:nvPr/>
        </p:nvSpPr>
        <p:spPr>
          <a:xfrm>
            <a:off x="6202680" y="3230880"/>
            <a:ext cx="1517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（SSH vs Telnet）</a:t>
            </a:r>
            <a:endParaRPr lang="en-US" sz="1440" dirty="0"/>
          </a:p>
        </p:txBody>
      </p:sp>
      <p:sp>
        <p:nvSpPr>
          <p:cNvPr id="45" name="Text 28"/>
          <p:cNvSpPr/>
          <p:nvPr/>
        </p:nvSpPr>
        <p:spPr>
          <a:xfrm>
            <a:off x="4739640" y="36118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6" name="Text 29"/>
          <p:cNvSpPr/>
          <p:nvPr/>
        </p:nvSpPr>
        <p:spPr>
          <a:xfrm>
            <a:off x="4953000" y="3581400"/>
            <a:ext cx="10149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双因素鉴别</a:t>
            </a:r>
            <a:endParaRPr lang="en-US" sz="1560" dirty="0"/>
          </a:p>
        </p:txBody>
      </p:sp>
      <p:sp>
        <p:nvSpPr>
          <p:cNvPr id="47" name="Text 30"/>
          <p:cNvSpPr/>
          <p:nvPr/>
        </p:nvSpPr>
        <p:spPr>
          <a:xfrm>
            <a:off x="6004560" y="3581400"/>
            <a:ext cx="755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（三级）</a:t>
            </a:r>
            <a:endParaRPr lang="en-US" sz="1440" dirty="0"/>
          </a:p>
        </p:txBody>
      </p:sp>
      <p:pic>
        <p:nvPicPr>
          <p:cNvPr id="48" name="Image 15" descr="https://test.web.static.jianzeppt.com/ppt-temp-img3/4a1f22402bdc29a6092d36b915f07f9a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5800" y="1539240"/>
            <a:ext cx="60960" cy="2468880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22920" y="1524000"/>
            <a:ext cx="3459480" cy="2499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1040" y="1737360"/>
            <a:ext cx="304800" cy="33528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8412480" y="176784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52" name="Text 32"/>
          <p:cNvSpPr/>
          <p:nvPr/>
        </p:nvSpPr>
        <p:spPr>
          <a:xfrm>
            <a:off x="8732520" y="172212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 (8.1.4.2)</a:t>
            </a:r>
            <a:endParaRPr lang="en-US" sz="1920" dirty="0"/>
          </a:p>
        </p:txBody>
      </p:sp>
      <p:sp>
        <p:nvSpPr>
          <p:cNvPr id="53" name="Text 33"/>
          <p:cNvSpPr/>
          <p:nvPr/>
        </p:nvSpPr>
        <p:spPr>
          <a:xfrm>
            <a:off x="8382000" y="2240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54" name="Text 34"/>
          <p:cNvSpPr/>
          <p:nvPr/>
        </p:nvSpPr>
        <p:spPr>
          <a:xfrm>
            <a:off x="8595360" y="220980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账户管理</a:t>
            </a:r>
            <a:endParaRPr lang="en-US" sz="1560" dirty="0"/>
          </a:p>
        </p:txBody>
      </p:sp>
      <p:sp>
        <p:nvSpPr>
          <p:cNvPr id="55" name="Text 35"/>
          <p:cNvSpPr/>
          <p:nvPr/>
        </p:nvSpPr>
        <p:spPr>
          <a:xfrm>
            <a:off x="9448800" y="2209800"/>
            <a:ext cx="15483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（默认/闲置账户）</a:t>
            </a:r>
            <a:endParaRPr lang="en-US" sz="1440" dirty="0"/>
          </a:p>
        </p:txBody>
      </p:sp>
      <p:sp>
        <p:nvSpPr>
          <p:cNvPr id="56" name="Text 36"/>
          <p:cNvSpPr/>
          <p:nvPr/>
        </p:nvSpPr>
        <p:spPr>
          <a:xfrm>
            <a:off x="8382000" y="260604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57" name="Text 37"/>
          <p:cNvSpPr/>
          <p:nvPr/>
        </p:nvSpPr>
        <p:spPr>
          <a:xfrm>
            <a:off x="8595360" y="257556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最小权限</a:t>
            </a:r>
            <a:endParaRPr lang="en-US" sz="1560" dirty="0"/>
          </a:p>
        </p:txBody>
      </p:sp>
      <p:sp>
        <p:nvSpPr>
          <p:cNvPr id="58" name="Text 38"/>
          <p:cNvSpPr/>
          <p:nvPr/>
        </p:nvSpPr>
        <p:spPr>
          <a:xfrm>
            <a:off x="9448800" y="257556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（权限分离）</a:t>
            </a:r>
            <a:endParaRPr lang="en-US" sz="1440" dirty="0"/>
          </a:p>
        </p:txBody>
      </p:sp>
      <p:sp>
        <p:nvSpPr>
          <p:cNvPr id="59" name="Text 39"/>
          <p:cNvSpPr/>
          <p:nvPr/>
        </p:nvSpPr>
        <p:spPr>
          <a:xfrm>
            <a:off x="8382000" y="29565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60" name="Text 40"/>
          <p:cNvSpPr/>
          <p:nvPr/>
        </p:nvSpPr>
        <p:spPr>
          <a:xfrm>
            <a:off x="8595360" y="292608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安全标记</a:t>
            </a:r>
            <a:endParaRPr lang="en-US" sz="1560" dirty="0"/>
          </a:p>
        </p:txBody>
      </p:sp>
      <p:sp>
        <p:nvSpPr>
          <p:cNvPr id="61" name="Text 41"/>
          <p:cNvSpPr/>
          <p:nvPr/>
        </p:nvSpPr>
        <p:spPr>
          <a:xfrm>
            <a:off x="9448800" y="2926080"/>
            <a:ext cx="755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（三级）</a:t>
            </a:r>
            <a:endParaRPr lang="en-US" sz="1440" dirty="0"/>
          </a:p>
        </p:txBody>
      </p:sp>
      <p:pic>
        <p:nvPicPr>
          <p:cNvPr id="62" name="Image 18" descr="https://test.web.static.jianzeppt.com/ppt-temp-img3/190dcf75b1f6de2f7e726ddbf4456ca7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8160" y="1539240"/>
            <a:ext cx="60960" cy="2468880"/>
          </a:xfrm>
          <a:prstGeom prst="rect">
            <a:avLst/>
          </a:prstGeom>
        </p:spPr>
      </p:pic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80560" y="4206240"/>
            <a:ext cx="3459480" cy="2194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78680" y="4419600"/>
            <a:ext cx="304800" cy="335280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4770120" y="445008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66" name="Text 43"/>
          <p:cNvSpPr/>
          <p:nvPr/>
        </p:nvSpPr>
        <p:spPr>
          <a:xfrm>
            <a:off x="5090160" y="440436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 (8.1.4.3)</a:t>
            </a:r>
            <a:endParaRPr lang="en-US" sz="1920" dirty="0"/>
          </a:p>
        </p:txBody>
      </p:sp>
      <p:sp>
        <p:nvSpPr>
          <p:cNvPr id="67" name="Text 44"/>
          <p:cNvSpPr/>
          <p:nvPr/>
        </p:nvSpPr>
        <p:spPr>
          <a:xfrm>
            <a:off x="4739640" y="4922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68" name="Text 45"/>
          <p:cNvSpPr/>
          <p:nvPr/>
        </p:nvSpPr>
        <p:spPr>
          <a:xfrm>
            <a:off x="4953000" y="4892040"/>
            <a:ext cx="160934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日志启用与完整性</a:t>
            </a:r>
            <a:endParaRPr lang="en-US" sz="1560" dirty="0"/>
          </a:p>
        </p:txBody>
      </p:sp>
      <p:sp>
        <p:nvSpPr>
          <p:cNvPr id="69" name="Text 46"/>
          <p:cNvSpPr/>
          <p:nvPr/>
        </p:nvSpPr>
        <p:spPr>
          <a:xfrm>
            <a:off x="4739640" y="5288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70" name="Text 47"/>
          <p:cNvSpPr/>
          <p:nvPr/>
        </p:nvSpPr>
        <p:spPr>
          <a:xfrm>
            <a:off x="4953000" y="5257800"/>
            <a:ext cx="25085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日志保护与保存期限≥6个月</a:t>
            </a:r>
            <a:endParaRPr lang="en-US" sz="1560" dirty="0"/>
          </a:p>
        </p:txBody>
      </p:sp>
      <p:pic>
        <p:nvPicPr>
          <p:cNvPr id="71" name="Image 21" descr="https://test.web.static.jianzeppt.com/ppt-temp-img3/a3df8fcebd703888c62639938309b8c8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800" y="4221480"/>
            <a:ext cx="60960" cy="2164080"/>
          </a:xfrm>
          <a:prstGeom prst="rect">
            <a:avLst/>
          </a:prstGeom>
        </p:spPr>
      </p:pic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22920" y="4206240"/>
            <a:ext cx="3459480" cy="2194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1040" y="4419600"/>
            <a:ext cx="304800" cy="335280"/>
          </a:xfrm>
          <a:prstGeom prst="rect">
            <a:avLst/>
          </a:prstGeom>
        </p:spPr>
      </p:pic>
      <p:sp>
        <p:nvSpPr>
          <p:cNvPr id="74" name="Text 48"/>
          <p:cNvSpPr/>
          <p:nvPr/>
        </p:nvSpPr>
        <p:spPr>
          <a:xfrm>
            <a:off x="8412480" y="445008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40" dirty="0"/>
          </a:p>
        </p:txBody>
      </p:sp>
      <p:sp>
        <p:nvSpPr>
          <p:cNvPr id="75" name="Text 49"/>
          <p:cNvSpPr/>
          <p:nvPr/>
        </p:nvSpPr>
        <p:spPr>
          <a:xfrm>
            <a:off x="8732520" y="440436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 (8.1.4.4)</a:t>
            </a:r>
            <a:endParaRPr lang="en-US" sz="1920" dirty="0"/>
          </a:p>
        </p:txBody>
      </p:sp>
      <p:sp>
        <p:nvSpPr>
          <p:cNvPr id="76" name="Text 50"/>
          <p:cNvSpPr/>
          <p:nvPr/>
        </p:nvSpPr>
        <p:spPr>
          <a:xfrm>
            <a:off x="8382000" y="4922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77" name="Text 51"/>
          <p:cNvSpPr/>
          <p:nvPr/>
        </p:nvSpPr>
        <p:spPr>
          <a:xfrm>
            <a:off x="8595360" y="4876165"/>
            <a:ext cx="127254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服务端口管理</a:t>
            </a:r>
            <a:endParaRPr lang="en-US" sz="1560" dirty="0"/>
          </a:p>
        </p:txBody>
      </p:sp>
      <p:sp>
        <p:nvSpPr>
          <p:cNvPr id="78" name="Text 52"/>
          <p:cNvSpPr/>
          <p:nvPr/>
        </p:nvSpPr>
        <p:spPr>
          <a:xfrm>
            <a:off x="9799320" y="4892040"/>
            <a:ext cx="1655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（关闭不必要端口）</a:t>
            </a:r>
            <a:endParaRPr lang="en-US" sz="1440" dirty="0"/>
          </a:p>
        </p:txBody>
      </p:sp>
      <p:sp>
        <p:nvSpPr>
          <p:cNvPr id="79" name="Text 53"/>
          <p:cNvSpPr/>
          <p:nvPr/>
        </p:nvSpPr>
        <p:spPr>
          <a:xfrm>
            <a:off x="8329930" y="53187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80" name="Text 54"/>
          <p:cNvSpPr/>
          <p:nvPr/>
        </p:nvSpPr>
        <p:spPr>
          <a:xfrm>
            <a:off x="8543290" y="5288280"/>
            <a:ext cx="12131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管理终端限制</a:t>
            </a:r>
            <a:endParaRPr lang="en-US" sz="1560" dirty="0"/>
          </a:p>
        </p:txBody>
      </p:sp>
      <p:sp>
        <p:nvSpPr>
          <p:cNvPr id="81" name="Text 55"/>
          <p:cNvSpPr/>
          <p:nvPr/>
        </p:nvSpPr>
        <p:spPr>
          <a:xfrm>
            <a:off x="9792970" y="5288280"/>
            <a:ext cx="71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（ACL）</a:t>
            </a:r>
            <a:endParaRPr lang="en-US" sz="1440" dirty="0"/>
          </a:p>
        </p:txBody>
      </p:sp>
      <p:sp>
        <p:nvSpPr>
          <p:cNvPr id="82" name="Text 56"/>
          <p:cNvSpPr/>
          <p:nvPr/>
        </p:nvSpPr>
        <p:spPr>
          <a:xfrm>
            <a:off x="8329930" y="5684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83" name="Text 57"/>
          <p:cNvSpPr/>
          <p:nvPr/>
        </p:nvSpPr>
        <p:spPr>
          <a:xfrm>
            <a:off x="8543290" y="565404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漏洞修补</a:t>
            </a:r>
            <a:endParaRPr lang="en-US" sz="1560" dirty="0"/>
          </a:p>
        </p:txBody>
      </p:sp>
      <p:pic>
        <p:nvPicPr>
          <p:cNvPr id="84" name="Image 24" descr="https://test.web.static.jianzeppt.com/ppt-temp-img3/a357cf822698fe1c5821cf4e49932160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8160" y="4221480"/>
            <a:ext cx="60960" cy="2164080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207010" y="939800"/>
            <a:ext cx="614680" cy="614680"/>
            <a:chOff x="998" y="634"/>
            <a:chExt cx="968" cy="968"/>
          </a:xfrm>
        </p:grpSpPr>
        <p:pic>
          <p:nvPicPr>
            <p:cNvPr id="85" name="Image 25" descr="preencoded.png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98" y="634"/>
              <a:ext cx="968" cy="968"/>
            </a:xfrm>
            <a:prstGeom prst="rect">
              <a:avLst/>
            </a:prstGeom>
          </p:spPr>
        </p:pic>
        <p:pic>
          <p:nvPicPr>
            <p:cNvPr id="86" name="Image 26" descr="preencoded.png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52" y="702"/>
              <a:ext cx="579" cy="579"/>
            </a:xfrm>
            <a:prstGeom prst="rect">
              <a:avLst/>
            </a:prstGeom>
          </p:spPr>
        </p:pic>
      </p:grpSp>
      <p:sp>
        <p:nvSpPr>
          <p:cNvPr id="87" name="Text 58"/>
          <p:cNvSpPr/>
          <p:nvPr/>
        </p:nvSpPr>
        <p:spPr>
          <a:xfrm>
            <a:off x="914400" y="1143000"/>
            <a:ext cx="2051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chemeClr val="tx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知识点回顾</a:t>
            </a:r>
            <a:endParaRPr lang="en-US" sz="1680" dirty="0">
              <a:solidFill>
                <a:schemeClr val="tx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课后作业与下节课预告</a:t>
            </a:r>
            <a:endParaRPr lang="en-US" sz="2760" dirty="0"/>
          </a:p>
        </p:txBody>
      </p:sp>
      <p:pic>
        <p:nvPicPr>
          <p:cNvPr id="6" name="Image 3" descr="https://test.web.static.jianzeppt.com/ppt-temp-img3/1d5d31e43a640829eb0fe7b62d76a1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3400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1691640"/>
            <a:ext cx="487680" cy="48768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320" y="1813560"/>
            <a:ext cx="243840" cy="24384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584960" y="16764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课后作业</a:t>
            </a:r>
            <a:endParaRPr lang="en-US" sz="264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2453640"/>
            <a:ext cx="487680" cy="3048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975360" y="246888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440" dirty="0"/>
          </a:p>
        </p:txBody>
      </p:sp>
      <p:sp>
        <p:nvSpPr>
          <p:cNvPr id="12" name="Text 3"/>
          <p:cNvSpPr/>
          <p:nvPr/>
        </p:nvSpPr>
        <p:spPr>
          <a:xfrm>
            <a:off x="1524000" y="2423160"/>
            <a:ext cx="412394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完成实践任务《网络设备安全测评记录表》</a:t>
            </a:r>
            <a:endParaRPr lang="en-US" sz="18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3307080"/>
            <a:ext cx="487680" cy="3048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975360" y="332232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440" dirty="0"/>
          </a:p>
        </p:txBody>
      </p:sp>
      <p:sp>
        <p:nvSpPr>
          <p:cNvPr id="15" name="Text 5"/>
          <p:cNvSpPr/>
          <p:nvPr/>
        </p:nvSpPr>
        <p:spPr>
          <a:xfrm>
            <a:off x="1524000" y="3276600"/>
            <a:ext cx="3712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完成作业：04.2 网络设备配置核查</a:t>
            </a:r>
            <a:endParaRPr lang="en-US" sz="1800" dirty="0"/>
          </a:p>
        </p:txBody>
      </p:sp>
      <p:pic>
        <p:nvPicPr>
          <p:cNvPr id="16" name="Image 8" descr="https://test.web.static.jianzeppt.com/ppt-temp-img3/135a0ee5f2a1fcbafd267847151abe89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825240"/>
            <a:ext cx="487680" cy="3048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975360" y="384048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1440" dirty="0"/>
          </a:p>
        </p:txBody>
      </p:sp>
      <p:sp>
        <p:nvSpPr>
          <p:cNvPr id="18" name="Text 7"/>
          <p:cNvSpPr/>
          <p:nvPr/>
        </p:nvSpPr>
        <p:spPr>
          <a:xfrm>
            <a:off x="1524000" y="3794760"/>
            <a:ext cx="412394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用素材7（路由器配置）再练一份，把判定写进记录表</a:t>
            </a:r>
            <a:endParaRPr lang="en-US" sz="1800" dirty="0"/>
          </a:p>
        </p:txBody>
      </p:sp>
      <p:pic>
        <p:nvPicPr>
          <p:cNvPr id="19" name="Image 9" descr="https://test.web.static.jianzeppt.com/ppt-temp-img3/e1e039091990e8bc55e2756fc858a41e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678680"/>
            <a:ext cx="487680" cy="30480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975360" y="469392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1524000" y="4648200"/>
            <a:ext cx="4123944" cy="632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预习活动4.3“数据库安全配置核查”内容</a:t>
            </a:r>
            <a:endParaRPr lang="en-US" sz="1800" dirty="0"/>
          </a:p>
        </p:txBody>
      </p:sp>
      <p:pic>
        <p:nvPicPr>
          <p:cNvPr id="22" name="Image 10" descr="https://test.web.static.jianzeppt.com/ppt-temp-img3/1d5d31e43a640829eb0fe7b62d76a1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371600"/>
            <a:ext cx="5334000" cy="48768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200" y="1676400"/>
            <a:ext cx="487680" cy="487680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0" y="1798320"/>
            <a:ext cx="243840" cy="24384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7223760" y="1691640"/>
            <a:ext cx="39715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下节课：数据库安全配置核查</a:t>
            </a:r>
            <a:endParaRPr lang="en-US" sz="2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3200" y="2545080"/>
            <a:ext cx="91440" cy="91440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6766560" y="2407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1920" dirty="0"/>
          </a:p>
        </p:txBody>
      </p:sp>
      <p:pic>
        <p:nvPicPr>
          <p:cNvPr id="28" name="Image 14" descr="https://test.web.static.jianzeppt.com/ppt-temp-img3/19cc6515e5b6349f70b9c9433548a603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8920" y="2895600"/>
            <a:ext cx="30480" cy="109728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53200" y="4373880"/>
            <a:ext cx="91440" cy="9144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766560" y="42367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1920" dirty="0"/>
          </a:p>
        </p:txBody>
      </p:sp>
      <p:pic>
        <p:nvPicPr>
          <p:cNvPr id="31" name="Image 16" descr="https://test.web.static.jianzeppt.com/ppt-temp-img3/b3ee56664a1da027d89e9e6b8d392271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8920" y="4724400"/>
            <a:ext cx="30480" cy="70104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6964680" y="286512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账户管理与权限配置核查</a:t>
            </a:r>
            <a:endParaRPr lang="en-US" sz="192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2280" y="3017520"/>
            <a:ext cx="60960" cy="6096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6964680" y="326136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审计日志与备份策略核查</a:t>
            </a:r>
            <a:endParaRPr lang="en-US" sz="192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2280" y="3413760"/>
            <a:ext cx="60960" cy="6096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6964680" y="365760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常见数据库安全隐患识别</a:t>
            </a:r>
            <a:endParaRPr lang="en-US" sz="1920" dirty="0"/>
          </a:p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2280" y="3810000"/>
            <a:ext cx="60960" cy="60960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6964680" y="4693920"/>
            <a:ext cx="37581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复习“安全计算环境-数据库”要求</a:t>
            </a:r>
            <a:endParaRPr lang="en-US" sz="192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2280" y="4846320"/>
            <a:ext cx="60960" cy="60960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6964680" y="5090160"/>
            <a:ext cx="24627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准备相关的数据库环境</a:t>
            </a:r>
            <a:endParaRPr lang="en-US" sz="1920" dirty="0"/>
          </a:p>
        </p:txBody>
      </p:sp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12280" y="5242560"/>
            <a:ext cx="60960" cy="60960"/>
          </a:xfrm>
          <a:prstGeom prst="rect">
            <a:avLst/>
          </a:prstGeom>
        </p:spPr>
      </p:pic>
      <p:graphicFrame>
        <p:nvGraphicFramePr>
          <p:cNvPr id="42" name="对象 4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34055" y="15125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21" imgW="971550" imgH="666750" progId="Word.Document.12">
                  <p:embed/>
                </p:oleObj>
              </mc:Choice>
              <mc:Fallback>
                <p:oleObj name="" showAsIcon="1" r:id="rId21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34055" y="15125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88485" y="15125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showAsIcon="1" r:id="rId23" imgW="971550" imgH="666750" progId="Word.Document.12">
                  <p:embed/>
                </p:oleObj>
              </mc:Choice>
              <mc:Fallback>
                <p:oleObj name="" showAsIcon="1" r:id="rId23" imgW="971550" imgH="666750" progId="Word.Document.12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88485" y="15125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97820" y="53949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" showAsIcon="1" r:id="rId25" imgW="971550" imgH="666750" progId="Word.Document.12">
                  <p:embed/>
                </p:oleObj>
              </mc:Choice>
              <mc:Fallback>
                <p:oleObj name="" showAsIcon="1" r:id="rId25" imgW="971550" imgH="666750" progId="Word.Document.12">
                  <p:embed/>
                  <p:pic>
                    <p:nvPicPr>
                      <p:cNvPr id="0" name="图片 409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497820" y="53949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2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3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4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5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6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7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8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9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0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1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2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3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4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5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6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7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8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9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50.xml><?xml version="1.0" encoding="utf-8"?>
<p:tagLst xmlns:p="http://schemas.openxmlformats.org/presentationml/2006/main">
  <p:tag name="TABLE_ENDDRAG_ORIGIN_RECT" val="898*514"/>
  <p:tag name="TABLE_ENDDRAG_RECT" val="25*142*898*51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7035</Words>
  <Application>WPS 演示</Application>
  <PresentationFormat>On-screen Show (16:9)</PresentationFormat>
  <Paragraphs>1139</Paragraphs>
  <Slides>30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30</vt:i4>
      </vt:variant>
    </vt:vector>
  </HeadingPairs>
  <TitlesOfParts>
    <vt:vector size="60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等线</vt:lpstr>
      <vt:lpstr>微软雅黑</vt:lpstr>
      <vt:lpstr>Arial Unicode MS</vt:lpstr>
      <vt:lpstr>仿宋</vt:lpstr>
      <vt:lpstr>标准粗黑</vt:lpstr>
      <vt:lpstr>方正仿宋_GB2312</vt:lpstr>
      <vt:lpstr>华文楷体</vt:lpstr>
      <vt:lpstr>华文中宋</vt:lpstr>
      <vt:lpstr>Office Theme</vt:lpstr>
      <vt:lpstr>Word.Document.12</vt:lpstr>
      <vt:lpstr>Word.Document.12</vt:lpstr>
      <vt:lpstr>Word.Document.12</vt:lpstr>
      <vt:lpstr>Word.Document.8</vt:lpstr>
      <vt:lpstr>Word.Document.8</vt:lpstr>
      <vt:lpstr>Word.Document.12</vt:lpstr>
      <vt:lpstr>Word.Document.12</vt:lpstr>
      <vt:lpstr>Word.Document.8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12</cp:revision>
  <dcterms:created xsi:type="dcterms:W3CDTF">2026-08-30T07:33:00Z</dcterms:created>
  <dcterms:modified xsi:type="dcterms:W3CDTF">2026-10-09T02:05:08Z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F361E6DA86D8434CBC4D6E2657D640F8_12</vt:lpwstr>
  </property>
</Properties>
</file>