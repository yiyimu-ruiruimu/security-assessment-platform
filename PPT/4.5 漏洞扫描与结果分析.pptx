
<file path=[Content_Types].xml><?xml version="1.0" encoding="utf-8"?>
<Types xmlns="http://schemas.openxmlformats.org/package/2006/content-types">
  <Default Extension="vml" ContentType="application/vnd.openxmlformats-officedocument.vmlDrawing"/>
  <Default Extension="docx" ContentType="application/vnd.openxmlformats-officedocument.wordprocessingml.documen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0.svg" ContentType="image/svg+xml"/>
  <Override PartName="/ppt/media/image102.svg" ContentType="image/svg+xml"/>
  <Override PartName="/ppt/media/image104.svg" ContentType="image/svg+xml"/>
  <Override PartName="/ppt/media/image116.svg" ContentType="image/svg+xml"/>
  <Override PartName="/ppt/media/image129.svg" ContentType="image/svg+xml"/>
  <Override PartName="/ppt/media/image133.svg" ContentType="image/svg+xml"/>
  <Override PartName="/ppt/media/image139.svg" ContentType="image/svg+xml"/>
  <Override PartName="/ppt/media/image14.svg" ContentType="image/svg+xml"/>
  <Override PartName="/ppt/media/image142.svg" ContentType="image/svg+xml"/>
  <Override PartName="/ppt/media/image156.svg" ContentType="image/svg+xml"/>
  <Override PartName="/ppt/media/image158.svg" ContentType="image/svg+xml"/>
  <Override PartName="/ppt/media/image160.svg" ContentType="image/svg+xml"/>
  <Override PartName="/ppt/media/image162.svg" ContentType="image/svg+xml"/>
  <Override PartName="/ppt/media/image166.svg" ContentType="image/svg+xml"/>
  <Override PartName="/ppt/media/image168.svg" ContentType="image/svg+xml"/>
  <Override PartName="/ppt/media/image17.svg" ContentType="image/svg+xml"/>
  <Override PartName="/ppt/media/image170.svg" ContentType="image/svg+xml"/>
  <Override PartName="/ppt/media/image172.svg" ContentType="image/svg+xml"/>
  <Override PartName="/ppt/media/image175.svg" ContentType="image/svg+xml"/>
  <Override PartName="/ppt/media/image177.svg" ContentType="image/svg+xml"/>
  <Override PartName="/ppt/media/image179.svg" ContentType="image/svg+xml"/>
  <Override PartName="/ppt/media/image19.svg" ContentType="image/svg+xml"/>
  <Override PartName="/ppt/media/image191.svg" ContentType="image/svg+xml"/>
  <Override PartName="/ppt/media/image202.svg" ContentType="image/svg+xml"/>
  <Override PartName="/ppt/media/image207.svg" ContentType="image/svg+xml"/>
  <Override PartName="/ppt/media/image21.svg" ContentType="image/svg+xml"/>
  <Override PartName="/ppt/media/image212.svg" ContentType="image/svg+xml"/>
  <Override PartName="/ppt/media/image215.svg" ContentType="image/svg+xml"/>
  <Override PartName="/ppt/media/image219.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4.svg" ContentType="image/svg+xml"/>
  <Override PartName="/ppt/media/image36.svg" ContentType="image/svg+xml"/>
  <Override PartName="/ppt/media/image38.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52.svg" ContentType="image/svg+xml"/>
  <Override PartName="/ppt/media/image56.svg" ContentType="image/svg+xml"/>
  <Override PartName="/ppt/media/image59.svg" ContentType="image/svg+xml"/>
  <Override PartName="/ppt/media/image61.svg" ContentType="image/svg+xml"/>
  <Override PartName="/ppt/media/image63.svg" ContentType="image/svg+xml"/>
  <Override PartName="/ppt/media/image72.svg" ContentType="image/svg+xml"/>
  <Override PartName="/ppt/media/image75.svg" ContentType="image/svg+xml"/>
  <Override PartName="/ppt/media/image78.svg" ContentType="image/svg+xml"/>
  <Override PartName="/ppt/media/image80.svg" ContentType="image/svg+xml"/>
  <Override PartName="/ppt/media/image85.svg" ContentType="image/svg+xml"/>
  <Override PartName="/ppt/media/image87.svg" ContentType="image/svg+xml"/>
  <Override PartName="/ppt/media/image89.svg" ContentType="image/svg+xml"/>
  <Override PartName="/ppt/media/image9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69.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06.w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40.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05.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0" Type="http://schemas.openxmlformats.org/officeDocument/2006/relationships/notesSlide" Target="../notesSlides/notesSlide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10.png"/><Relationship Id="rId1" Type="http://schemas.openxmlformats.org/officeDocument/2006/relationships/image" Target="../media/image9.png"/></Relationships>
</file>

<file path=ppt/slides/_rels/slide3.xml.rels><?xml version="1.0" encoding="UTF-8" standalone="yes"?>
<Relationships xmlns="http://schemas.openxmlformats.org/package/2006/relationships"><Relationship Id="rId9" Type="http://schemas.openxmlformats.org/officeDocument/2006/relationships/image" Target="../media/image18.png"/><Relationship Id="rId8" Type="http://schemas.openxmlformats.org/officeDocument/2006/relationships/image" Target="../media/image17.svg"/><Relationship Id="rId7" Type="http://schemas.openxmlformats.org/officeDocument/2006/relationships/image" Target="../media/image16.png"/><Relationship Id="rId6" Type="http://schemas.openxmlformats.org/officeDocument/2006/relationships/image" Target="../media/image15.png"/><Relationship Id="rId5" Type="http://schemas.openxmlformats.org/officeDocument/2006/relationships/image" Target="../media/image14.svg"/><Relationship Id="rId4" Type="http://schemas.openxmlformats.org/officeDocument/2006/relationships/image" Target="../media/image13.png"/><Relationship Id="rId3" Type="http://schemas.openxmlformats.org/officeDocument/2006/relationships/image" Target="../media/image12.png"/><Relationship Id="rId20" Type="http://schemas.openxmlformats.org/officeDocument/2006/relationships/notesSlide" Target="../notesSlides/notesSlide3.xml"/><Relationship Id="rId2" Type="http://schemas.openxmlformats.org/officeDocument/2006/relationships/image" Target="../media/image11.png"/><Relationship Id="rId19" Type="http://schemas.openxmlformats.org/officeDocument/2006/relationships/slideLayout" Target="../slideLayouts/slideLayout1.xml"/><Relationship Id="rId18" Type="http://schemas.openxmlformats.org/officeDocument/2006/relationships/image" Target="../media/image27.svg"/><Relationship Id="rId17" Type="http://schemas.openxmlformats.org/officeDocument/2006/relationships/image" Target="../media/image26.png"/><Relationship Id="rId16" Type="http://schemas.openxmlformats.org/officeDocument/2006/relationships/image" Target="../media/image25.svg"/><Relationship Id="rId15" Type="http://schemas.openxmlformats.org/officeDocument/2006/relationships/image" Target="../media/image24.png"/><Relationship Id="rId14" Type="http://schemas.openxmlformats.org/officeDocument/2006/relationships/image" Target="../media/image23.svg"/><Relationship Id="rId13" Type="http://schemas.openxmlformats.org/officeDocument/2006/relationships/image" Target="../media/image22.png"/><Relationship Id="rId12" Type="http://schemas.openxmlformats.org/officeDocument/2006/relationships/image" Target="../media/image21.svg"/><Relationship Id="rId11" Type="http://schemas.openxmlformats.org/officeDocument/2006/relationships/image" Target="../media/image20.png"/><Relationship Id="rId10" Type="http://schemas.openxmlformats.org/officeDocument/2006/relationships/image" Target="../media/image19.svg"/><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9" Type="http://schemas.openxmlformats.org/officeDocument/2006/relationships/image" Target="../media/image33.png"/><Relationship Id="rId8" Type="http://schemas.openxmlformats.org/officeDocument/2006/relationships/image" Target="../media/image32.png"/><Relationship Id="rId7" Type="http://schemas.openxmlformats.org/officeDocument/2006/relationships/image" Target="../media/image31.svg"/><Relationship Id="rId6" Type="http://schemas.openxmlformats.org/officeDocument/2006/relationships/image" Target="../media/image30.png"/><Relationship Id="rId5" Type="http://schemas.openxmlformats.org/officeDocument/2006/relationships/image" Target="../media/image29.svg"/><Relationship Id="rId4" Type="http://schemas.openxmlformats.org/officeDocument/2006/relationships/image" Target="../media/image28.png"/><Relationship Id="rId3" Type="http://schemas.openxmlformats.org/officeDocument/2006/relationships/image" Target="../media/image12.png"/><Relationship Id="rId2" Type="http://schemas.openxmlformats.org/officeDocument/2006/relationships/image" Target="../media/image11.png"/><Relationship Id="rId18" Type="http://schemas.openxmlformats.org/officeDocument/2006/relationships/notesSlide" Target="../notesSlides/notesSlide4.xml"/><Relationship Id="rId17" Type="http://schemas.openxmlformats.org/officeDocument/2006/relationships/slideLayout" Target="../slideLayouts/slideLayout1.xml"/><Relationship Id="rId16" Type="http://schemas.openxmlformats.org/officeDocument/2006/relationships/image" Target="../media/image40.svg"/><Relationship Id="rId15" Type="http://schemas.openxmlformats.org/officeDocument/2006/relationships/image" Target="../media/image39.png"/><Relationship Id="rId14" Type="http://schemas.openxmlformats.org/officeDocument/2006/relationships/image" Target="../media/image38.svg"/><Relationship Id="rId13" Type="http://schemas.openxmlformats.org/officeDocument/2006/relationships/image" Target="../media/image37.png"/><Relationship Id="rId12" Type="http://schemas.openxmlformats.org/officeDocument/2006/relationships/image" Target="../media/image36.svg"/><Relationship Id="rId11" Type="http://schemas.openxmlformats.org/officeDocument/2006/relationships/image" Target="../media/image35.png"/><Relationship Id="rId10" Type="http://schemas.openxmlformats.org/officeDocument/2006/relationships/image" Target="../media/image34.svg"/><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9" Type="http://schemas.openxmlformats.org/officeDocument/2006/relationships/image" Target="../media/image46.svg"/><Relationship Id="rId8" Type="http://schemas.openxmlformats.org/officeDocument/2006/relationships/image" Target="../media/image45.png"/><Relationship Id="rId7" Type="http://schemas.openxmlformats.org/officeDocument/2006/relationships/image" Target="../media/image44.svg"/><Relationship Id="rId6" Type="http://schemas.openxmlformats.org/officeDocument/2006/relationships/image" Target="../media/image43.png"/><Relationship Id="rId5" Type="http://schemas.openxmlformats.org/officeDocument/2006/relationships/image" Target="../media/image42.svg"/><Relationship Id="rId4" Type="http://schemas.openxmlformats.org/officeDocument/2006/relationships/image" Target="../media/image41.png"/><Relationship Id="rId3" Type="http://schemas.openxmlformats.org/officeDocument/2006/relationships/image" Target="../media/image12.png"/><Relationship Id="rId2" Type="http://schemas.openxmlformats.org/officeDocument/2006/relationships/image" Target="../media/image11.png"/><Relationship Id="rId15" Type="http://schemas.openxmlformats.org/officeDocument/2006/relationships/notesSlide" Target="../notesSlides/notesSlide5.xml"/><Relationship Id="rId14" Type="http://schemas.openxmlformats.org/officeDocument/2006/relationships/slideLayout" Target="../slideLayouts/slideLayout1.xml"/><Relationship Id="rId13" Type="http://schemas.openxmlformats.org/officeDocument/2006/relationships/image" Target="../media/image25.svg"/><Relationship Id="rId12" Type="http://schemas.openxmlformats.org/officeDocument/2006/relationships/image" Target="../media/image24.png"/><Relationship Id="rId11" Type="http://schemas.openxmlformats.org/officeDocument/2006/relationships/image" Target="../media/image48.png"/><Relationship Id="rId10" Type="http://schemas.openxmlformats.org/officeDocument/2006/relationships/image" Target="../media/image47.png"/><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9" Type="http://schemas.openxmlformats.org/officeDocument/2006/relationships/image" Target="../media/image54.png"/><Relationship Id="rId8" Type="http://schemas.openxmlformats.org/officeDocument/2006/relationships/image" Target="../media/image53.png"/><Relationship Id="rId7" Type="http://schemas.openxmlformats.org/officeDocument/2006/relationships/image" Target="../media/image52.svg"/><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 Id="rId3" Type="http://schemas.openxmlformats.org/officeDocument/2006/relationships/image" Target="../media/image12.png"/><Relationship Id="rId2" Type="http://schemas.openxmlformats.org/officeDocument/2006/relationships/image" Target="../media/image11.png"/><Relationship Id="rId18" Type="http://schemas.openxmlformats.org/officeDocument/2006/relationships/notesSlide" Target="../notesSlides/notesSlide6.xml"/><Relationship Id="rId17" Type="http://schemas.openxmlformats.org/officeDocument/2006/relationships/slideLayout" Target="../slideLayouts/slideLayout1.xml"/><Relationship Id="rId16" Type="http://schemas.openxmlformats.org/officeDocument/2006/relationships/image" Target="../media/image61.svg"/><Relationship Id="rId15" Type="http://schemas.openxmlformats.org/officeDocument/2006/relationships/image" Target="../media/image60.png"/><Relationship Id="rId14" Type="http://schemas.openxmlformats.org/officeDocument/2006/relationships/image" Target="../media/image59.svg"/><Relationship Id="rId13" Type="http://schemas.openxmlformats.org/officeDocument/2006/relationships/image" Target="../media/image58.png"/><Relationship Id="rId12" Type="http://schemas.openxmlformats.org/officeDocument/2006/relationships/image" Target="../media/image57.png"/><Relationship Id="rId11" Type="http://schemas.openxmlformats.org/officeDocument/2006/relationships/image" Target="../media/image56.svg"/><Relationship Id="rId10" Type="http://schemas.openxmlformats.org/officeDocument/2006/relationships/image" Target="../media/image55.png"/><Relationship Id="rId1" Type="http://schemas.openxmlformats.org/officeDocument/2006/relationships/image" Target="../media/image9.png"/></Relationships>
</file>

<file path=ppt/slides/_rels/slide7.xml.rels><?xml version="1.0" encoding="UTF-8" standalone="yes"?>
<Relationships xmlns="http://schemas.openxmlformats.org/package/2006/relationships"><Relationship Id="rId9" Type="http://schemas.openxmlformats.org/officeDocument/2006/relationships/image" Target="../media/image67.png"/><Relationship Id="rId8" Type="http://schemas.openxmlformats.org/officeDocument/2006/relationships/image" Target="../media/image66.png"/><Relationship Id="rId7" Type="http://schemas.openxmlformats.org/officeDocument/2006/relationships/image" Target="../media/image65.png"/><Relationship Id="rId6" Type="http://schemas.openxmlformats.org/officeDocument/2006/relationships/image" Target="../media/image64.png"/><Relationship Id="rId5" Type="http://schemas.openxmlformats.org/officeDocument/2006/relationships/image" Target="../media/image63.svg"/><Relationship Id="rId4" Type="http://schemas.openxmlformats.org/officeDocument/2006/relationships/image" Target="../media/image62.png"/><Relationship Id="rId3" Type="http://schemas.openxmlformats.org/officeDocument/2006/relationships/image" Target="../media/image12.png"/><Relationship Id="rId2" Type="http://schemas.openxmlformats.org/officeDocument/2006/relationships/image" Target="../media/image11.png"/><Relationship Id="rId15" Type="http://schemas.openxmlformats.org/officeDocument/2006/relationships/notesSlide" Target="../notesSlides/notesSlide7.xml"/><Relationship Id="rId14" Type="http://schemas.openxmlformats.org/officeDocument/2006/relationships/vmlDrawing" Target="../drawings/vmlDrawing1.vml"/><Relationship Id="rId13" Type="http://schemas.openxmlformats.org/officeDocument/2006/relationships/slideLayout" Target="../slideLayouts/slideLayout1.xml"/><Relationship Id="rId12" Type="http://schemas.openxmlformats.org/officeDocument/2006/relationships/image" Target="../media/image69.wmf"/><Relationship Id="rId11" Type="http://schemas.openxmlformats.org/officeDocument/2006/relationships/package" Target="../embeddings/Document1.docx"/><Relationship Id="rId10" Type="http://schemas.openxmlformats.org/officeDocument/2006/relationships/image" Target="../media/image68.png"/><Relationship Id="rId1" Type="http://schemas.openxmlformats.org/officeDocument/2006/relationships/image" Target="../media/image9.png"/></Relationships>
</file>

<file path=ppt/slides/_rels/slide8.xml.rels><?xml version="1.0" encoding="UTF-8" standalone="yes"?>
<Relationships xmlns="http://schemas.openxmlformats.org/package/2006/relationships"><Relationship Id="rId9" Type="http://schemas.openxmlformats.org/officeDocument/2006/relationships/image" Target="../media/image75.svg"/><Relationship Id="rId8" Type="http://schemas.openxmlformats.org/officeDocument/2006/relationships/image" Target="../media/image74.png"/><Relationship Id="rId7" Type="http://schemas.openxmlformats.org/officeDocument/2006/relationships/image" Target="../media/image73.png"/><Relationship Id="rId6" Type="http://schemas.openxmlformats.org/officeDocument/2006/relationships/image" Target="../media/image72.svg"/><Relationship Id="rId5" Type="http://schemas.openxmlformats.org/officeDocument/2006/relationships/image" Target="../media/image71.png"/><Relationship Id="rId4" Type="http://schemas.openxmlformats.org/officeDocument/2006/relationships/image" Target="../media/image70.png"/><Relationship Id="rId3" Type="http://schemas.openxmlformats.org/officeDocument/2006/relationships/image" Target="../media/image12.png"/><Relationship Id="rId25" Type="http://schemas.openxmlformats.org/officeDocument/2006/relationships/notesSlide" Target="../notesSlides/notesSlide8.xml"/><Relationship Id="rId24" Type="http://schemas.openxmlformats.org/officeDocument/2006/relationships/slideLayout" Target="../slideLayouts/slideLayout1.xml"/><Relationship Id="rId23" Type="http://schemas.openxmlformats.org/officeDocument/2006/relationships/image" Target="../media/image89.svg"/><Relationship Id="rId22" Type="http://schemas.openxmlformats.org/officeDocument/2006/relationships/image" Target="../media/image88.png"/><Relationship Id="rId21" Type="http://schemas.openxmlformats.org/officeDocument/2006/relationships/image" Target="../media/image87.svg"/><Relationship Id="rId20" Type="http://schemas.openxmlformats.org/officeDocument/2006/relationships/image" Target="../media/image86.png"/><Relationship Id="rId2" Type="http://schemas.openxmlformats.org/officeDocument/2006/relationships/image" Target="../media/image11.png"/><Relationship Id="rId19" Type="http://schemas.openxmlformats.org/officeDocument/2006/relationships/image" Target="../media/image85.svg"/><Relationship Id="rId18" Type="http://schemas.openxmlformats.org/officeDocument/2006/relationships/image" Target="../media/image84.png"/><Relationship Id="rId17" Type="http://schemas.openxmlformats.org/officeDocument/2006/relationships/image" Target="../media/image83.png"/><Relationship Id="rId16" Type="http://schemas.openxmlformats.org/officeDocument/2006/relationships/image" Target="../media/image82.png"/><Relationship Id="rId15" Type="http://schemas.openxmlformats.org/officeDocument/2006/relationships/image" Target="../media/image81.png"/><Relationship Id="rId14" Type="http://schemas.openxmlformats.org/officeDocument/2006/relationships/image" Target="../media/image80.svg"/><Relationship Id="rId13" Type="http://schemas.openxmlformats.org/officeDocument/2006/relationships/image" Target="../media/image79.png"/><Relationship Id="rId12" Type="http://schemas.openxmlformats.org/officeDocument/2006/relationships/image" Target="../media/image78.svg"/><Relationship Id="rId11" Type="http://schemas.openxmlformats.org/officeDocument/2006/relationships/image" Target="../media/image77.png"/><Relationship Id="rId10" Type="http://schemas.openxmlformats.org/officeDocument/2006/relationships/image" Target="../media/image76.png"/><Relationship Id="rId1" Type="http://schemas.openxmlformats.org/officeDocument/2006/relationships/image" Target="../media/image9.png"/></Relationships>
</file>

<file path=ppt/slides/_rels/slide9.xml.rels><?xml version="1.0" encoding="UTF-8" standalone="yes"?>
<Relationships xmlns="http://schemas.openxmlformats.org/package/2006/relationships"><Relationship Id="rId9" Type="http://schemas.openxmlformats.org/officeDocument/2006/relationships/image" Target="../media/image94.png"/><Relationship Id="rId8" Type="http://schemas.openxmlformats.org/officeDocument/2006/relationships/image" Target="../media/image93.png"/><Relationship Id="rId7" Type="http://schemas.openxmlformats.org/officeDocument/2006/relationships/image" Target="../media/image92.png"/><Relationship Id="rId6" Type="http://schemas.openxmlformats.org/officeDocument/2006/relationships/image" Target="../media/image32.png"/><Relationship Id="rId5" Type="http://schemas.openxmlformats.org/officeDocument/2006/relationships/image" Target="../media/image91.png"/><Relationship Id="rId4" Type="http://schemas.openxmlformats.org/officeDocument/2006/relationships/image" Target="../media/image90.png"/><Relationship Id="rId3" Type="http://schemas.openxmlformats.org/officeDocument/2006/relationships/image" Target="../media/image12.png"/><Relationship Id="rId25" Type="http://schemas.openxmlformats.org/officeDocument/2006/relationships/notesSlide" Target="../notesSlides/notesSlide9.xml"/><Relationship Id="rId24" Type="http://schemas.openxmlformats.org/officeDocument/2006/relationships/vmlDrawing" Target="../drawings/vmlDrawing2.vml"/><Relationship Id="rId23" Type="http://schemas.openxmlformats.org/officeDocument/2006/relationships/slideLayout" Target="../slideLayouts/slideLayout1.xml"/><Relationship Id="rId22" Type="http://schemas.openxmlformats.org/officeDocument/2006/relationships/image" Target="../media/image106.wmf"/><Relationship Id="rId21" Type="http://schemas.openxmlformats.org/officeDocument/2006/relationships/package" Target="../embeddings/Document2.docx"/><Relationship Id="rId20" Type="http://schemas.openxmlformats.org/officeDocument/2006/relationships/image" Target="../media/image105.png"/><Relationship Id="rId2" Type="http://schemas.openxmlformats.org/officeDocument/2006/relationships/image" Target="../media/image11.png"/><Relationship Id="rId19" Type="http://schemas.openxmlformats.org/officeDocument/2006/relationships/image" Target="../media/image104.svg"/><Relationship Id="rId18" Type="http://schemas.openxmlformats.org/officeDocument/2006/relationships/image" Target="../media/image103.png"/><Relationship Id="rId17" Type="http://schemas.openxmlformats.org/officeDocument/2006/relationships/image" Target="../media/image102.svg"/><Relationship Id="rId16" Type="http://schemas.openxmlformats.org/officeDocument/2006/relationships/image" Target="../media/image101.png"/><Relationship Id="rId15" Type="http://schemas.openxmlformats.org/officeDocument/2006/relationships/image" Target="../media/image100.svg"/><Relationship Id="rId14" Type="http://schemas.openxmlformats.org/officeDocument/2006/relationships/image" Target="../media/image99.png"/><Relationship Id="rId13" Type="http://schemas.openxmlformats.org/officeDocument/2006/relationships/image" Target="../media/image98.png"/><Relationship Id="rId12" Type="http://schemas.openxmlformats.org/officeDocument/2006/relationships/image" Target="../media/image97.png"/><Relationship Id="rId11" Type="http://schemas.openxmlformats.org/officeDocument/2006/relationships/image" Target="../media/image96.svg"/><Relationship Id="rId10" Type="http://schemas.openxmlformats.org/officeDocument/2006/relationships/image" Target="../media/image95.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9" Type="http://schemas.openxmlformats.org/officeDocument/2006/relationships/tags" Target="../tags/tag5.xml"/><Relationship Id="rId8" Type="http://schemas.openxmlformats.org/officeDocument/2006/relationships/tags" Target="../tags/tag4.xml"/><Relationship Id="rId7" Type="http://schemas.openxmlformats.org/officeDocument/2006/relationships/tags" Target="../tags/tag3.xml"/><Relationship Id="rId6" Type="http://schemas.openxmlformats.org/officeDocument/2006/relationships/tags" Target="../tags/tag2.xml"/><Relationship Id="rId5" Type="http://schemas.openxmlformats.org/officeDocument/2006/relationships/image" Target="../media/image107.png"/><Relationship Id="rId4" Type="http://schemas.openxmlformats.org/officeDocument/2006/relationships/tags" Target="../tags/tag1.xml"/><Relationship Id="rId3" Type="http://schemas.openxmlformats.org/officeDocument/2006/relationships/image" Target="../media/image12.png"/><Relationship Id="rId26" Type="http://schemas.openxmlformats.org/officeDocument/2006/relationships/notesSlide" Target="../notesSlides/notesSlide11.xml"/><Relationship Id="rId25" Type="http://schemas.openxmlformats.org/officeDocument/2006/relationships/slideLayout" Target="../slideLayouts/slideLayout1.xml"/><Relationship Id="rId24" Type="http://schemas.openxmlformats.org/officeDocument/2006/relationships/image" Target="../media/image111.png"/><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image" Target="../media/image110.png"/><Relationship Id="rId2" Type="http://schemas.openxmlformats.org/officeDocument/2006/relationships/image" Target="../media/image11.png"/><Relationship Id="rId19" Type="http://schemas.openxmlformats.org/officeDocument/2006/relationships/tags" Target="../tags/tag13.xml"/><Relationship Id="rId18" Type="http://schemas.openxmlformats.org/officeDocument/2006/relationships/tags" Target="../tags/tag12.xml"/><Relationship Id="rId17" Type="http://schemas.openxmlformats.org/officeDocument/2006/relationships/tags" Target="../tags/tag11.xml"/><Relationship Id="rId16" Type="http://schemas.openxmlformats.org/officeDocument/2006/relationships/tags" Target="../tags/tag10.xml"/><Relationship Id="rId15" Type="http://schemas.openxmlformats.org/officeDocument/2006/relationships/image" Target="../media/image109.png"/><Relationship Id="rId14" Type="http://schemas.openxmlformats.org/officeDocument/2006/relationships/tags" Target="../tags/tag9.xml"/><Relationship Id="rId13" Type="http://schemas.openxmlformats.org/officeDocument/2006/relationships/tags" Target="../tags/tag8.xml"/><Relationship Id="rId12" Type="http://schemas.openxmlformats.org/officeDocument/2006/relationships/tags" Target="../tags/tag7.xml"/><Relationship Id="rId11" Type="http://schemas.openxmlformats.org/officeDocument/2006/relationships/tags" Target="../tags/tag6.xml"/><Relationship Id="rId10" Type="http://schemas.openxmlformats.org/officeDocument/2006/relationships/image" Target="../media/image108.png"/><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9" Type="http://schemas.openxmlformats.org/officeDocument/2006/relationships/image" Target="../media/image117.png"/><Relationship Id="rId8" Type="http://schemas.openxmlformats.org/officeDocument/2006/relationships/image" Target="../media/image116.svg"/><Relationship Id="rId7" Type="http://schemas.openxmlformats.org/officeDocument/2006/relationships/image" Target="../media/image115.png"/><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 Id="rId3" Type="http://schemas.openxmlformats.org/officeDocument/2006/relationships/image" Target="../media/image12.png"/><Relationship Id="rId2" Type="http://schemas.openxmlformats.org/officeDocument/2006/relationships/image" Target="../media/image11.png"/><Relationship Id="rId12" Type="http://schemas.openxmlformats.org/officeDocument/2006/relationships/notesSlide" Target="../notesSlides/notesSlide12.xml"/><Relationship Id="rId11" Type="http://schemas.openxmlformats.org/officeDocument/2006/relationships/slideLayout" Target="../slideLayouts/slideLayout1.xml"/><Relationship Id="rId10" Type="http://schemas.openxmlformats.org/officeDocument/2006/relationships/image" Target="../media/image118.png"/><Relationship Id="rId1" Type="http://schemas.openxmlformats.org/officeDocument/2006/relationships/image" Target="../media/image9.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xml"/><Relationship Id="rId4" Type="http://schemas.openxmlformats.org/officeDocument/2006/relationships/image" Target="../media/image119.png"/><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image" Target="../media/image9.png"/></Relationships>
</file>

<file path=ppt/slides/_rels/slide14.xml.rels><?xml version="1.0" encoding="UTF-8" standalone="yes"?>
<Relationships xmlns="http://schemas.openxmlformats.org/package/2006/relationships"><Relationship Id="rId9" Type="http://schemas.openxmlformats.org/officeDocument/2006/relationships/image" Target="../media/image125.png"/><Relationship Id="rId8" Type="http://schemas.openxmlformats.org/officeDocument/2006/relationships/image" Target="../media/image124.png"/><Relationship Id="rId7" Type="http://schemas.openxmlformats.org/officeDocument/2006/relationships/image" Target="../media/image123.png"/><Relationship Id="rId6" Type="http://schemas.openxmlformats.org/officeDocument/2006/relationships/image" Target="../media/image122.png"/><Relationship Id="rId5" Type="http://schemas.openxmlformats.org/officeDocument/2006/relationships/image" Target="../media/image121.png"/><Relationship Id="rId4" Type="http://schemas.openxmlformats.org/officeDocument/2006/relationships/image" Target="../media/image120.png"/><Relationship Id="rId3" Type="http://schemas.openxmlformats.org/officeDocument/2006/relationships/image" Target="../media/image12.png"/><Relationship Id="rId28" Type="http://schemas.openxmlformats.org/officeDocument/2006/relationships/notesSlide" Target="../notesSlides/notesSlide14.xml"/><Relationship Id="rId27" Type="http://schemas.openxmlformats.org/officeDocument/2006/relationships/vmlDrawing" Target="../drawings/vmlDrawing3.vml"/><Relationship Id="rId26" Type="http://schemas.openxmlformats.org/officeDocument/2006/relationships/slideLayout" Target="../slideLayouts/slideLayout1.xml"/><Relationship Id="rId25" Type="http://schemas.openxmlformats.org/officeDocument/2006/relationships/image" Target="../media/image140.wmf"/><Relationship Id="rId24" Type="http://schemas.openxmlformats.org/officeDocument/2006/relationships/package" Target="../embeddings/Document3.docx"/><Relationship Id="rId23" Type="http://schemas.openxmlformats.org/officeDocument/2006/relationships/image" Target="../media/image139.svg"/><Relationship Id="rId22" Type="http://schemas.openxmlformats.org/officeDocument/2006/relationships/image" Target="../media/image138.png"/><Relationship Id="rId21" Type="http://schemas.openxmlformats.org/officeDocument/2006/relationships/image" Target="../media/image137.png"/><Relationship Id="rId20" Type="http://schemas.openxmlformats.org/officeDocument/2006/relationships/image" Target="../media/image136.png"/><Relationship Id="rId2" Type="http://schemas.openxmlformats.org/officeDocument/2006/relationships/image" Target="../media/image11.png"/><Relationship Id="rId19" Type="http://schemas.openxmlformats.org/officeDocument/2006/relationships/image" Target="../media/image135.png"/><Relationship Id="rId18" Type="http://schemas.openxmlformats.org/officeDocument/2006/relationships/image" Target="../media/image134.png"/><Relationship Id="rId17" Type="http://schemas.openxmlformats.org/officeDocument/2006/relationships/image" Target="../media/image133.svg"/><Relationship Id="rId16" Type="http://schemas.openxmlformats.org/officeDocument/2006/relationships/image" Target="../media/image132.png"/><Relationship Id="rId15" Type="http://schemas.openxmlformats.org/officeDocument/2006/relationships/image" Target="../media/image131.png"/><Relationship Id="rId14" Type="http://schemas.openxmlformats.org/officeDocument/2006/relationships/image" Target="../media/image130.png"/><Relationship Id="rId13" Type="http://schemas.openxmlformats.org/officeDocument/2006/relationships/image" Target="../media/image129.svg"/><Relationship Id="rId12" Type="http://schemas.openxmlformats.org/officeDocument/2006/relationships/image" Target="../media/image128.png"/><Relationship Id="rId11" Type="http://schemas.openxmlformats.org/officeDocument/2006/relationships/image" Target="../media/image127.png"/><Relationship Id="rId10" Type="http://schemas.openxmlformats.org/officeDocument/2006/relationships/image" Target="../media/image126.png"/><Relationship Id="rId1" Type="http://schemas.openxmlformats.org/officeDocument/2006/relationships/image" Target="../media/image9.png"/></Relationships>
</file>

<file path=ppt/slides/_rels/slide15.xml.rels><?xml version="1.0" encoding="UTF-8" standalone="yes"?>
<Relationships xmlns="http://schemas.openxmlformats.org/package/2006/relationships"><Relationship Id="rId9" Type="http://schemas.openxmlformats.org/officeDocument/2006/relationships/tags" Target="../tags/tag19.xml"/><Relationship Id="rId8" Type="http://schemas.openxmlformats.org/officeDocument/2006/relationships/tags" Target="../tags/tag18.xml"/><Relationship Id="rId7" Type="http://schemas.openxmlformats.org/officeDocument/2006/relationships/image" Target="../media/image143.png"/><Relationship Id="rId6" Type="http://schemas.openxmlformats.org/officeDocument/2006/relationships/tags" Target="../tags/tag17.xml"/><Relationship Id="rId52" Type="http://schemas.openxmlformats.org/officeDocument/2006/relationships/notesSlide" Target="../notesSlides/notesSlide15.xml"/><Relationship Id="rId51" Type="http://schemas.openxmlformats.org/officeDocument/2006/relationships/slideLayout" Target="../slideLayouts/slideLayout1.xml"/><Relationship Id="rId50" Type="http://schemas.openxmlformats.org/officeDocument/2006/relationships/image" Target="../media/image89.svg"/><Relationship Id="rId5" Type="http://schemas.openxmlformats.org/officeDocument/2006/relationships/image" Target="../media/image142.svg"/><Relationship Id="rId49" Type="http://schemas.openxmlformats.org/officeDocument/2006/relationships/image" Target="../media/image152.png"/><Relationship Id="rId48" Type="http://schemas.openxmlformats.org/officeDocument/2006/relationships/tags" Target="../tags/tag49.xml"/><Relationship Id="rId47" Type="http://schemas.openxmlformats.org/officeDocument/2006/relationships/image" Target="../media/image151.png"/><Relationship Id="rId46" Type="http://schemas.openxmlformats.org/officeDocument/2006/relationships/tags" Target="../tags/tag48.xml"/><Relationship Id="rId45" Type="http://schemas.openxmlformats.org/officeDocument/2006/relationships/image" Target="../media/image150.png"/><Relationship Id="rId44" Type="http://schemas.openxmlformats.org/officeDocument/2006/relationships/tags" Target="../tags/tag47.xml"/><Relationship Id="rId43" Type="http://schemas.openxmlformats.org/officeDocument/2006/relationships/tags" Target="../tags/tag46.xml"/><Relationship Id="rId42" Type="http://schemas.openxmlformats.org/officeDocument/2006/relationships/image" Target="../media/image149.png"/><Relationship Id="rId41" Type="http://schemas.openxmlformats.org/officeDocument/2006/relationships/tags" Target="../tags/tag45.xml"/><Relationship Id="rId40" Type="http://schemas.openxmlformats.org/officeDocument/2006/relationships/tags" Target="../tags/tag44.xml"/><Relationship Id="rId4" Type="http://schemas.openxmlformats.org/officeDocument/2006/relationships/image" Target="../media/image141.png"/><Relationship Id="rId39" Type="http://schemas.openxmlformats.org/officeDocument/2006/relationships/tags" Target="../tags/tag43.xml"/><Relationship Id="rId38" Type="http://schemas.openxmlformats.org/officeDocument/2006/relationships/tags" Target="../tags/tag42.xml"/><Relationship Id="rId37" Type="http://schemas.openxmlformats.org/officeDocument/2006/relationships/tags" Target="../tags/tag41.xml"/><Relationship Id="rId36" Type="http://schemas.openxmlformats.org/officeDocument/2006/relationships/image" Target="../media/image148.png"/><Relationship Id="rId35" Type="http://schemas.openxmlformats.org/officeDocument/2006/relationships/tags" Target="../tags/tag40.xml"/><Relationship Id="rId34" Type="http://schemas.openxmlformats.org/officeDocument/2006/relationships/tags" Target="../tags/tag39.xml"/><Relationship Id="rId33" Type="http://schemas.openxmlformats.org/officeDocument/2006/relationships/tags" Target="../tags/tag38.xml"/><Relationship Id="rId32" Type="http://schemas.openxmlformats.org/officeDocument/2006/relationships/tags" Target="../tags/tag37.xml"/><Relationship Id="rId31" Type="http://schemas.openxmlformats.org/officeDocument/2006/relationships/tags" Target="../tags/tag36.xml"/><Relationship Id="rId30" Type="http://schemas.openxmlformats.org/officeDocument/2006/relationships/image" Target="../media/image147.png"/><Relationship Id="rId3" Type="http://schemas.openxmlformats.org/officeDocument/2006/relationships/image" Target="../media/image12.png"/><Relationship Id="rId29" Type="http://schemas.openxmlformats.org/officeDocument/2006/relationships/tags" Target="../tags/tag35.xml"/><Relationship Id="rId28" Type="http://schemas.openxmlformats.org/officeDocument/2006/relationships/tags" Target="../tags/tag34.xml"/><Relationship Id="rId27" Type="http://schemas.openxmlformats.org/officeDocument/2006/relationships/tags" Target="../tags/tag33.xml"/><Relationship Id="rId26" Type="http://schemas.openxmlformats.org/officeDocument/2006/relationships/tags" Target="../tags/tag32.xml"/><Relationship Id="rId25" Type="http://schemas.openxmlformats.org/officeDocument/2006/relationships/tags" Target="../tags/tag31.xml"/><Relationship Id="rId24" Type="http://schemas.openxmlformats.org/officeDocument/2006/relationships/image" Target="../media/image146.png"/><Relationship Id="rId23" Type="http://schemas.openxmlformats.org/officeDocument/2006/relationships/tags" Target="../tags/tag30.xml"/><Relationship Id="rId22" Type="http://schemas.openxmlformats.org/officeDocument/2006/relationships/tags" Target="../tags/tag29.xml"/><Relationship Id="rId21" Type="http://schemas.openxmlformats.org/officeDocument/2006/relationships/tags" Target="../tags/tag28.xml"/><Relationship Id="rId20" Type="http://schemas.openxmlformats.org/officeDocument/2006/relationships/tags" Target="../tags/tag27.xml"/><Relationship Id="rId2" Type="http://schemas.openxmlformats.org/officeDocument/2006/relationships/image" Target="../media/image11.png"/><Relationship Id="rId19" Type="http://schemas.openxmlformats.org/officeDocument/2006/relationships/tags" Target="../tags/tag26.xml"/><Relationship Id="rId18" Type="http://schemas.openxmlformats.org/officeDocument/2006/relationships/image" Target="../media/image145.png"/><Relationship Id="rId17" Type="http://schemas.openxmlformats.org/officeDocument/2006/relationships/tags" Target="../tags/tag25.xml"/><Relationship Id="rId16" Type="http://schemas.openxmlformats.org/officeDocument/2006/relationships/tags" Target="../tags/tag24.xml"/><Relationship Id="rId15" Type="http://schemas.openxmlformats.org/officeDocument/2006/relationships/tags" Target="../tags/tag23.xml"/><Relationship Id="rId14" Type="http://schemas.openxmlformats.org/officeDocument/2006/relationships/tags" Target="../tags/tag22.xml"/><Relationship Id="rId13" Type="http://schemas.openxmlformats.org/officeDocument/2006/relationships/tags" Target="../tags/tag21.xml"/><Relationship Id="rId12" Type="http://schemas.openxmlformats.org/officeDocument/2006/relationships/image" Target="../media/image116.svg"/><Relationship Id="rId11" Type="http://schemas.openxmlformats.org/officeDocument/2006/relationships/image" Target="../media/image144.png"/><Relationship Id="rId10" Type="http://schemas.openxmlformats.org/officeDocument/2006/relationships/tags" Target="../tags/tag20.xml"/><Relationship Id="rId1" Type="http://schemas.openxmlformats.org/officeDocument/2006/relationships/image" Target="../media/image9.png"/></Relationships>
</file>

<file path=ppt/slides/_rels/slide16.xml.rels><?xml version="1.0" encoding="UTF-8" standalone="yes"?>
<Relationships xmlns="http://schemas.openxmlformats.org/package/2006/relationships"><Relationship Id="rId9" Type="http://schemas.openxmlformats.org/officeDocument/2006/relationships/image" Target="../media/image158.svg"/><Relationship Id="rId8" Type="http://schemas.openxmlformats.org/officeDocument/2006/relationships/image" Target="../media/image157.png"/><Relationship Id="rId7" Type="http://schemas.openxmlformats.org/officeDocument/2006/relationships/image" Target="../media/image156.svg"/><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 Id="rId3" Type="http://schemas.openxmlformats.org/officeDocument/2006/relationships/image" Target="../media/image12.png"/><Relationship Id="rId25" Type="http://schemas.openxmlformats.org/officeDocument/2006/relationships/notesSlide" Target="../notesSlides/notesSlide16.xml"/><Relationship Id="rId24" Type="http://schemas.openxmlformats.org/officeDocument/2006/relationships/slideLayout" Target="../slideLayouts/slideLayout1.xml"/><Relationship Id="rId23" Type="http://schemas.openxmlformats.org/officeDocument/2006/relationships/image" Target="../media/image172.svg"/><Relationship Id="rId22" Type="http://schemas.openxmlformats.org/officeDocument/2006/relationships/image" Target="../media/image171.png"/><Relationship Id="rId21" Type="http://schemas.openxmlformats.org/officeDocument/2006/relationships/image" Target="../media/image170.svg"/><Relationship Id="rId20" Type="http://schemas.openxmlformats.org/officeDocument/2006/relationships/image" Target="../media/image169.png"/><Relationship Id="rId2" Type="http://schemas.openxmlformats.org/officeDocument/2006/relationships/image" Target="../media/image11.png"/><Relationship Id="rId19" Type="http://schemas.openxmlformats.org/officeDocument/2006/relationships/image" Target="../media/image168.svg"/><Relationship Id="rId18" Type="http://schemas.openxmlformats.org/officeDocument/2006/relationships/image" Target="../media/image167.png"/><Relationship Id="rId17" Type="http://schemas.openxmlformats.org/officeDocument/2006/relationships/image" Target="../media/image166.svg"/><Relationship Id="rId16" Type="http://schemas.openxmlformats.org/officeDocument/2006/relationships/image" Target="../media/image165.png"/><Relationship Id="rId15" Type="http://schemas.openxmlformats.org/officeDocument/2006/relationships/image" Target="../media/image164.png"/><Relationship Id="rId14" Type="http://schemas.openxmlformats.org/officeDocument/2006/relationships/image" Target="../media/image163.png"/><Relationship Id="rId13" Type="http://schemas.openxmlformats.org/officeDocument/2006/relationships/image" Target="../media/image162.svg"/><Relationship Id="rId12" Type="http://schemas.openxmlformats.org/officeDocument/2006/relationships/image" Target="../media/image161.png"/><Relationship Id="rId11" Type="http://schemas.openxmlformats.org/officeDocument/2006/relationships/image" Target="../media/image160.svg"/><Relationship Id="rId10" Type="http://schemas.openxmlformats.org/officeDocument/2006/relationships/image" Target="../media/image159.png"/><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9" Type="http://schemas.openxmlformats.org/officeDocument/2006/relationships/image" Target="../media/image178.png"/><Relationship Id="rId8" Type="http://schemas.openxmlformats.org/officeDocument/2006/relationships/image" Target="../media/image177.svg"/><Relationship Id="rId7" Type="http://schemas.openxmlformats.org/officeDocument/2006/relationships/image" Target="../media/image176.png"/><Relationship Id="rId6" Type="http://schemas.openxmlformats.org/officeDocument/2006/relationships/image" Target="../media/image175.svg"/><Relationship Id="rId5" Type="http://schemas.openxmlformats.org/officeDocument/2006/relationships/image" Target="../media/image174.png"/><Relationship Id="rId4" Type="http://schemas.openxmlformats.org/officeDocument/2006/relationships/image" Target="../media/image173.png"/><Relationship Id="rId3" Type="http://schemas.openxmlformats.org/officeDocument/2006/relationships/image" Target="../media/image12.png"/><Relationship Id="rId24" Type="http://schemas.openxmlformats.org/officeDocument/2006/relationships/notesSlide" Target="../notesSlides/notesSlide17.xml"/><Relationship Id="rId23" Type="http://schemas.openxmlformats.org/officeDocument/2006/relationships/slideLayout" Target="../slideLayouts/slideLayout1.xml"/><Relationship Id="rId22" Type="http://schemas.openxmlformats.org/officeDocument/2006/relationships/image" Target="../media/image191.svg"/><Relationship Id="rId21" Type="http://schemas.openxmlformats.org/officeDocument/2006/relationships/image" Target="../media/image190.png"/><Relationship Id="rId20" Type="http://schemas.openxmlformats.org/officeDocument/2006/relationships/image" Target="../media/image189.png"/><Relationship Id="rId2" Type="http://schemas.openxmlformats.org/officeDocument/2006/relationships/image" Target="../media/image11.png"/><Relationship Id="rId19" Type="http://schemas.openxmlformats.org/officeDocument/2006/relationships/image" Target="../media/image188.png"/><Relationship Id="rId18" Type="http://schemas.openxmlformats.org/officeDocument/2006/relationships/image" Target="../media/image187.png"/><Relationship Id="rId17" Type="http://schemas.openxmlformats.org/officeDocument/2006/relationships/image" Target="../media/image186.png"/><Relationship Id="rId16" Type="http://schemas.openxmlformats.org/officeDocument/2006/relationships/image" Target="../media/image185.png"/><Relationship Id="rId15" Type="http://schemas.openxmlformats.org/officeDocument/2006/relationships/image" Target="../media/image184.png"/><Relationship Id="rId14" Type="http://schemas.openxmlformats.org/officeDocument/2006/relationships/image" Target="../media/image183.png"/><Relationship Id="rId13" Type="http://schemas.openxmlformats.org/officeDocument/2006/relationships/image" Target="../media/image182.png"/><Relationship Id="rId12" Type="http://schemas.openxmlformats.org/officeDocument/2006/relationships/image" Target="../media/image181.png"/><Relationship Id="rId11" Type="http://schemas.openxmlformats.org/officeDocument/2006/relationships/image" Target="../media/image180.png"/><Relationship Id="rId10" Type="http://schemas.openxmlformats.org/officeDocument/2006/relationships/image" Target="../media/image179.svg"/><Relationship Id="rId1" Type="http://schemas.openxmlformats.org/officeDocument/2006/relationships/image" Target="../media/image9.png"/></Relationships>
</file>

<file path=ppt/slides/_rels/slide18.xml.rels><?xml version="1.0" encoding="UTF-8" standalone="yes"?>
<Relationships xmlns="http://schemas.openxmlformats.org/package/2006/relationships"><Relationship Id="rId9" Type="http://schemas.openxmlformats.org/officeDocument/2006/relationships/image" Target="../media/image197.png"/><Relationship Id="rId8" Type="http://schemas.openxmlformats.org/officeDocument/2006/relationships/image" Target="../media/image196.png"/><Relationship Id="rId7" Type="http://schemas.openxmlformats.org/officeDocument/2006/relationships/image" Target="../media/image195.png"/><Relationship Id="rId6" Type="http://schemas.openxmlformats.org/officeDocument/2006/relationships/image" Target="../media/image194.png"/><Relationship Id="rId5" Type="http://schemas.openxmlformats.org/officeDocument/2006/relationships/image" Target="../media/image193.png"/><Relationship Id="rId4" Type="http://schemas.openxmlformats.org/officeDocument/2006/relationships/image" Target="../media/image192.png"/><Relationship Id="rId3" Type="http://schemas.openxmlformats.org/officeDocument/2006/relationships/image" Target="../media/image12.png"/><Relationship Id="rId2" Type="http://schemas.openxmlformats.org/officeDocument/2006/relationships/image" Target="../media/image11.png"/><Relationship Id="rId16" Type="http://schemas.openxmlformats.org/officeDocument/2006/relationships/notesSlide" Target="../notesSlides/notesSlide18.xml"/><Relationship Id="rId15" Type="http://schemas.openxmlformats.org/officeDocument/2006/relationships/slideLayout" Target="../slideLayouts/slideLayout1.xml"/><Relationship Id="rId14" Type="http://schemas.openxmlformats.org/officeDocument/2006/relationships/image" Target="../media/image202.svg"/><Relationship Id="rId13" Type="http://schemas.openxmlformats.org/officeDocument/2006/relationships/image" Target="../media/image201.png"/><Relationship Id="rId12" Type="http://schemas.openxmlformats.org/officeDocument/2006/relationships/image" Target="../media/image200.png"/><Relationship Id="rId11" Type="http://schemas.openxmlformats.org/officeDocument/2006/relationships/image" Target="../media/image199.png"/><Relationship Id="rId10" Type="http://schemas.openxmlformats.org/officeDocument/2006/relationships/image" Target="../media/image198.png"/><Relationship Id="rId1" Type="http://schemas.openxmlformats.org/officeDocument/2006/relationships/image" Target="../media/image9.png"/></Relationships>
</file>

<file path=ppt/slides/_rels/slide19.xml.rels><?xml version="1.0" encoding="UTF-8" standalone="yes"?>
<Relationships xmlns="http://schemas.openxmlformats.org/package/2006/relationships"><Relationship Id="rId9" Type="http://schemas.openxmlformats.org/officeDocument/2006/relationships/vmlDrawing" Target="../drawings/vmlDrawing4.vml"/><Relationship Id="rId8" Type="http://schemas.openxmlformats.org/officeDocument/2006/relationships/slideLayout" Target="../slideLayouts/slideLayout1.xml"/><Relationship Id="rId7" Type="http://schemas.openxmlformats.org/officeDocument/2006/relationships/image" Target="../media/image205.wmf"/><Relationship Id="rId6" Type="http://schemas.openxmlformats.org/officeDocument/2006/relationships/package" Target="../embeddings/Document4.docx"/><Relationship Id="rId5" Type="http://schemas.openxmlformats.org/officeDocument/2006/relationships/image" Target="../media/image204.png"/><Relationship Id="rId4" Type="http://schemas.openxmlformats.org/officeDocument/2006/relationships/image" Target="../media/image203.png"/><Relationship Id="rId3" Type="http://schemas.openxmlformats.org/officeDocument/2006/relationships/image" Target="../media/image12.png"/><Relationship Id="rId2" Type="http://schemas.openxmlformats.org/officeDocument/2006/relationships/image" Target="../media/image11.png"/><Relationship Id="rId10" Type="http://schemas.openxmlformats.org/officeDocument/2006/relationships/notesSlide" Target="../notesSlides/notesSlide19.xml"/><Relationship Id="rId1" Type="http://schemas.openxmlformats.org/officeDocument/2006/relationships/image" Target="../media/image9.png"/></Relationships>
</file>

<file path=ppt/slides/_rels/slide20.xml.rels><?xml version="1.0" encoding="UTF-8" standalone="yes"?>
<Relationships xmlns="http://schemas.openxmlformats.org/package/2006/relationships"><Relationship Id="rId9" Type="http://schemas.openxmlformats.org/officeDocument/2006/relationships/image" Target="../media/image211.png"/><Relationship Id="rId8" Type="http://schemas.openxmlformats.org/officeDocument/2006/relationships/image" Target="../media/image210.png"/><Relationship Id="rId7" Type="http://schemas.openxmlformats.org/officeDocument/2006/relationships/image" Target="../media/image209.png"/><Relationship Id="rId6" Type="http://schemas.openxmlformats.org/officeDocument/2006/relationships/image" Target="../media/image208.png"/><Relationship Id="rId5" Type="http://schemas.openxmlformats.org/officeDocument/2006/relationships/image" Target="../media/image207.svg"/><Relationship Id="rId4" Type="http://schemas.openxmlformats.org/officeDocument/2006/relationships/image" Target="../media/image206.png"/><Relationship Id="rId3" Type="http://schemas.openxmlformats.org/officeDocument/2006/relationships/image" Target="../media/image12.png"/><Relationship Id="rId2" Type="http://schemas.openxmlformats.org/officeDocument/2006/relationships/image" Target="../media/image11.png"/><Relationship Id="rId15" Type="http://schemas.openxmlformats.org/officeDocument/2006/relationships/notesSlide" Target="../notesSlides/notesSlide20.xml"/><Relationship Id="rId14" Type="http://schemas.openxmlformats.org/officeDocument/2006/relationships/slideLayout" Target="../slideLayouts/slideLayout1.xml"/><Relationship Id="rId13" Type="http://schemas.openxmlformats.org/officeDocument/2006/relationships/image" Target="../media/image215.svg"/><Relationship Id="rId12" Type="http://schemas.openxmlformats.org/officeDocument/2006/relationships/image" Target="../media/image214.png"/><Relationship Id="rId11" Type="http://schemas.openxmlformats.org/officeDocument/2006/relationships/image" Target="../media/image213.png"/><Relationship Id="rId10" Type="http://schemas.openxmlformats.org/officeDocument/2006/relationships/image" Target="../media/image212.svg"/><Relationship Id="rId1" Type="http://schemas.openxmlformats.org/officeDocument/2006/relationships/image" Target="../media/image9.png"/></Relationships>
</file>

<file path=ppt/slides/_rels/slide21.xml.rels><?xml version="1.0" encoding="UTF-8" standalone="yes"?>
<Relationships xmlns="http://schemas.openxmlformats.org/package/2006/relationships"><Relationship Id="rId9" Type="http://schemas.openxmlformats.org/officeDocument/2006/relationships/image" Target="../media/image221.png"/><Relationship Id="rId8" Type="http://schemas.openxmlformats.org/officeDocument/2006/relationships/image" Target="../media/image220.png"/><Relationship Id="rId7" Type="http://schemas.openxmlformats.org/officeDocument/2006/relationships/image" Target="../media/image219.svg"/><Relationship Id="rId6" Type="http://schemas.openxmlformats.org/officeDocument/2006/relationships/image" Target="../media/image218.png"/><Relationship Id="rId5" Type="http://schemas.openxmlformats.org/officeDocument/2006/relationships/image" Target="../media/image217.png"/><Relationship Id="rId4" Type="http://schemas.openxmlformats.org/officeDocument/2006/relationships/image" Target="../media/image216.png"/><Relationship Id="rId3" Type="http://schemas.openxmlformats.org/officeDocument/2006/relationships/image" Target="../media/image12.png"/><Relationship Id="rId2" Type="http://schemas.openxmlformats.org/officeDocument/2006/relationships/image" Target="../media/image11.png"/><Relationship Id="rId11" Type="http://schemas.openxmlformats.org/officeDocument/2006/relationships/notesSlide" Target="../notesSlides/notesSlide21.xml"/><Relationship Id="rId10" Type="http://schemas.openxmlformats.org/officeDocument/2006/relationships/slideLayout" Target="../slideLayouts/slideLayout1.xml"/><Relationship Id="rId1"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1.xml"/><Relationship Id="rId1"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5E9D"/>
        </a:solidFill>
        <a:effectLst/>
      </p:bgPr>
    </p:bg>
    <p:spTree>
      <p:nvGrpSpPr>
        <p:cNvPr id="1" name=""/>
        <p:cNvGrpSpPr/>
        <p:nvPr/>
      </p:nvGrpSpPr>
      <p:grpSpPr>
        <a:xfrm>
          <a:off x="0" y="0"/>
          <a:ext cx="0" cy="0"/>
          <a:chOff x="0" y="0"/>
          <a:chExt cx="0" cy="0"/>
        </a:xfrm>
      </p:grpSpPr>
      <p:pic>
        <p:nvPicPr>
          <p:cNvPr id="2" name="Image 0" descr="https://test.web.static.jianzeppt.com/ppt-temp-img3/4bbf78d39a1ae7d50fa38e3b11fcab97.png"/>
          <p:cNvPicPr>
            <a:picLocks noChangeAspect="1"/>
          </p:cNvPicPr>
          <p:nvPr/>
        </p:nvPicPr>
        <p:blipFill>
          <a:blip r:embed="rId1"/>
          <a:stretch>
            <a:fillRect/>
          </a:stretch>
        </p:blipFill>
        <p:spPr>
          <a:xfrm>
            <a:off x="0" y="0"/>
            <a:ext cx="12192000" cy="6858000"/>
          </a:xfrm>
          <a:prstGeom prst="rect">
            <a:avLst/>
          </a:prstGeom>
        </p:spPr>
      </p:pic>
      <p:pic>
        <p:nvPicPr>
          <p:cNvPr id="3" name="Image 1" descr="https://test.web.static.jianzeppt.com/ppt-temp-img3/53c8b2a610a31b616cbf03a52510cc95.png"/>
          <p:cNvPicPr>
            <a:picLocks noChangeAspect="1"/>
          </p:cNvPicPr>
          <p:nvPr/>
        </p:nvPicPr>
        <p:blipFill>
          <a:blip r:embed="rId2"/>
          <a:stretch>
            <a:fillRect/>
          </a:stretch>
        </p:blipFill>
        <p:spPr>
          <a:xfrm>
            <a:off x="4157596" y="-13894"/>
            <a:ext cx="8051010" cy="6858000"/>
          </a:xfrm>
          <a:prstGeom prst="rect">
            <a:avLst/>
          </a:prstGeom>
        </p:spPr>
      </p:pic>
      <p:pic>
        <p:nvPicPr>
          <p:cNvPr id="4" name="Image 2" descr="https://test.web.static.jianzeppt.com/ppt-temp-img3/eaa44f0a61b44187c8898f2fb3b10ead.png"/>
          <p:cNvPicPr>
            <a:picLocks noChangeAspect="1"/>
          </p:cNvPicPr>
          <p:nvPr/>
        </p:nvPicPr>
        <p:blipFill>
          <a:blip r:embed="rId3"/>
          <a:stretch>
            <a:fillRect/>
          </a:stretch>
        </p:blipFill>
        <p:spPr>
          <a:xfrm>
            <a:off x="0" y="-2"/>
            <a:ext cx="1799718" cy="1829017"/>
          </a:xfrm>
          <a:prstGeom prst="rect">
            <a:avLst/>
          </a:prstGeom>
        </p:spPr>
      </p:pic>
      <p:pic>
        <p:nvPicPr>
          <p:cNvPr id="5" name="Image 3" descr="https://test.web.static.jianzeppt.com/ppt-temp-img3/d51ae2a74993343c0d3360504948edf8.png"/>
          <p:cNvPicPr>
            <a:picLocks noChangeAspect="1"/>
          </p:cNvPicPr>
          <p:nvPr/>
        </p:nvPicPr>
        <p:blipFill>
          <a:blip r:embed="rId4"/>
          <a:stretch>
            <a:fillRect/>
          </a:stretch>
        </p:blipFill>
        <p:spPr>
          <a:xfrm>
            <a:off x="0" y="808901"/>
            <a:ext cx="961132" cy="1724746"/>
          </a:xfrm>
          <a:prstGeom prst="rect">
            <a:avLst/>
          </a:prstGeom>
        </p:spPr>
      </p:pic>
      <p:pic>
        <p:nvPicPr>
          <p:cNvPr id="6" name="Image 4" descr="https://test.web.static.jianzeppt.com/ppt-temp-img3/b3f94c3112269735e7d84215f42c9738.png"/>
          <p:cNvPicPr>
            <a:picLocks noChangeAspect="1"/>
          </p:cNvPicPr>
          <p:nvPr/>
        </p:nvPicPr>
        <p:blipFill>
          <a:blip r:embed="rId5"/>
          <a:stretch>
            <a:fillRect/>
          </a:stretch>
        </p:blipFill>
        <p:spPr>
          <a:xfrm>
            <a:off x="487069" y="4530971"/>
            <a:ext cx="3482974" cy="637829"/>
          </a:xfrm>
          <a:prstGeom prst="rect">
            <a:avLst/>
          </a:prstGeom>
        </p:spPr>
      </p:pic>
      <p:pic>
        <p:nvPicPr>
          <p:cNvPr id="7" name="Image 5" descr="https://test.web.static.jianzeppt.com/ppt-temp-img3/c7fcd71bde55d7089a0a7c912de83d8a.png"/>
          <p:cNvPicPr>
            <a:picLocks noChangeAspect="1"/>
          </p:cNvPicPr>
          <p:nvPr/>
        </p:nvPicPr>
        <p:blipFill>
          <a:blip r:embed="rId6"/>
          <a:stretch>
            <a:fillRect/>
          </a:stretch>
        </p:blipFill>
        <p:spPr>
          <a:xfrm>
            <a:off x="10101383" y="2273111"/>
            <a:ext cx="2105868" cy="4595809"/>
          </a:xfrm>
          <a:prstGeom prst="rect">
            <a:avLst/>
          </a:prstGeom>
        </p:spPr>
      </p:pic>
      <p:pic>
        <p:nvPicPr>
          <p:cNvPr id="8" name="Image 6" descr="https://test.web.static.jianzeppt.com/ppt-temp-img3/785b4c7764742237954fb25c8a197f91.png"/>
          <p:cNvPicPr>
            <a:picLocks noChangeAspect="1"/>
          </p:cNvPicPr>
          <p:nvPr/>
        </p:nvPicPr>
        <p:blipFill>
          <a:blip r:embed="rId7"/>
          <a:stretch>
            <a:fillRect/>
          </a:stretch>
        </p:blipFill>
        <p:spPr>
          <a:xfrm>
            <a:off x="3782024" y="3802120"/>
            <a:ext cx="2104426" cy="3069770"/>
          </a:xfrm>
          <a:prstGeom prst="rect">
            <a:avLst/>
          </a:prstGeom>
        </p:spPr>
      </p:pic>
      <p:pic>
        <p:nvPicPr>
          <p:cNvPr id="9" name="Image 7" descr="https://test.web.static.jianzeppt.com/ppt-temp-img3/d6b73fd749a971aade8e0c5073b66807.png"/>
          <p:cNvPicPr>
            <a:picLocks noChangeAspect="1"/>
          </p:cNvPicPr>
          <p:nvPr/>
        </p:nvPicPr>
        <p:blipFill>
          <a:blip r:embed="rId8"/>
          <a:stretch>
            <a:fillRect/>
          </a:stretch>
        </p:blipFill>
        <p:spPr>
          <a:xfrm>
            <a:off x="9613224" y="2284033"/>
            <a:ext cx="2578776" cy="4584889"/>
          </a:xfrm>
          <a:prstGeom prst="rect">
            <a:avLst/>
          </a:prstGeom>
        </p:spPr>
      </p:pic>
      <p:sp>
        <p:nvSpPr>
          <p:cNvPr id="10" name="Text 0"/>
          <p:cNvSpPr/>
          <p:nvPr/>
        </p:nvSpPr>
        <p:spPr>
          <a:xfrm>
            <a:off x="577080" y="4577763"/>
            <a:ext cx="3321262" cy="544228"/>
          </a:xfrm>
          <a:prstGeom prst="rect">
            <a:avLst/>
          </a:prstGeom>
          <a:noFill/>
        </p:spPr>
        <p:txBody>
          <a:bodyPr wrap="square" lIns="0" tIns="0" rIns="0" bIns="0" rtlCol="0" anchor="ctr"/>
          <a:lstStyle/>
          <a:p>
            <a:pPr marL="0" indent="0" algn="ctr">
              <a:lnSpc>
                <a:spcPct val="120000"/>
              </a:lnSpc>
              <a:buNone/>
            </a:pPr>
            <a:r>
              <a:rPr lang="en-US" sz="2040" dirty="0">
                <a:solidFill>
                  <a:srgbClr val="000000"/>
                </a:solidFill>
              </a:rPr>
              <a:t>授课教师：杨迎</a:t>
            </a:r>
            <a:endParaRPr lang="en-US" sz="2040" dirty="0"/>
          </a:p>
        </p:txBody>
      </p:sp>
      <p:sp>
        <p:nvSpPr>
          <p:cNvPr id="11" name="Text 1"/>
          <p:cNvSpPr/>
          <p:nvPr/>
        </p:nvSpPr>
        <p:spPr>
          <a:xfrm>
            <a:off x="577068" y="1683313"/>
            <a:ext cx="5490553" cy="1828800"/>
          </a:xfrm>
          <a:prstGeom prst="rect">
            <a:avLst/>
          </a:prstGeom>
          <a:noFill/>
        </p:spPr>
        <p:txBody>
          <a:bodyPr wrap="square" lIns="0" tIns="0" rIns="0" bIns="0" rtlCol="0" anchor="b">
            <a:spAutoFit/>
          </a:bodyPr>
          <a:lstStyle/>
          <a:p>
            <a:pPr marL="0" indent="0" algn="l">
              <a:lnSpc>
                <a:spcPct val="120000"/>
              </a:lnSpc>
              <a:buNone/>
            </a:pPr>
            <a:r>
              <a:rPr lang="en-US" sz="6000" dirty="0">
                <a:solidFill>
                  <a:srgbClr val="FFFFFF"/>
                </a:solidFill>
              </a:rPr>
              <a:t>信息安全测评与风险评估</a:t>
            </a:r>
            <a:endParaRPr lang="en-US" sz="6000" dirty="0"/>
          </a:p>
        </p:txBody>
      </p:sp>
      <p:sp>
        <p:nvSpPr>
          <p:cNvPr id="12" name="Text 2"/>
          <p:cNvSpPr/>
          <p:nvPr/>
        </p:nvSpPr>
        <p:spPr>
          <a:xfrm>
            <a:off x="577068" y="3867726"/>
            <a:ext cx="4339657" cy="259080"/>
          </a:xfrm>
          <a:prstGeom prst="rect">
            <a:avLst/>
          </a:prstGeom>
          <a:noFill/>
        </p:spPr>
        <p:txBody>
          <a:bodyPr wrap="square" lIns="0" tIns="0" rIns="0" bIns="0" rtlCol="0" anchor="t">
            <a:spAutoFit/>
          </a:bodyPr>
          <a:lstStyle/>
          <a:p>
            <a:pPr marL="0" indent="0" algn="l">
              <a:lnSpc>
                <a:spcPct val="120000"/>
              </a:lnSpc>
              <a:buNone/>
            </a:pPr>
            <a:r>
              <a:rPr lang="en-US" sz="1680" dirty="0">
                <a:solidFill>
                  <a:srgbClr val="FFFFFF"/>
                </a:solidFill>
                <a:latin typeface="思源黑体 CN" pitchFamily="34" charset="0"/>
                <a:ea typeface="思源黑体 CN" pitchFamily="34" charset="-122"/>
                <a:cs typeface="思源黑体 CN" pitchFamily="34" charset="-120"/>
              </a:rPr>
              <a:t>等保2.0标准体系框架学习</a:t>
            </a:r>
            <a:endParaRPr lang="en-US" sz="16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3d7a216c70ecba8f9c09a39add3fad53_6317120.png?x-oss-process=image/resize,w_1440,h_800,m_lfit/format,png"/>
          <p:cNvPicPr>
            <a:picLocks noChangeAspect="1"/>
          </p:cNvPicPr>
          <p:nvPr/>
        </p:nvPicPr>
        <p:blipFill>
          <a:blip r:embed="rId2"/>
          <a:stretch>
            <a:fillRect/>
          </a:stretch>
        </p:blipFill>
        <p:spPr>
          <a:xfrm>
            <a:off x="194345" y="245378"/>
            <a:ext cx="11803310" cy="6367244"/>
          </a:xfrm>
          <a:prstGeom prst="rect">
            <a:avLst/>
          </a:prstGeom>
        </p:spPr>
      </p:pic>
      <p:sp>
        <p:nvSpPr>
          <p:cNvPr id="4" name="Text 0"/>
          <p:cNvSpPr/>
          <p:nvPr/>
        </p:nvSpPr>
        <p:spPr>
          <a:xfrm>
            <a:off x="5769119" y="1653024"/>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01</a:t>
            </a:r>
            <a:endParaRPr lang="en-US" sz="3360" dirty="0"/>
          </a:p>
        </p:txBody>
      </p:sp>
      <p:sp>
        <p:nvSpPr>
          <p:cNvPr id="5" name="Text 1"/>
          <p:cNvSpPr/>
          <p:nvPr/>
        </p:nvSpPr>
        <p:spPr>
          <a:xfrm>
            <a:off x="5769119" y="2669616"/>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02</a:t>
            </a:r>
            <a:endParaRPr lang="en-US" sz="3360" dirty="0"/>
          </a:p>
        </p:txBody>
      </p:sp>
      <p:sp>
        <p:nvSpPr>
          <p:cNvPr id="6" name="Text 2"/>
          <p:cNvSpPr/>
          <p:nvPr/>
        </p:nvSpPr>
        <p:spPr>
          <a:xfrm>
            <a:off x="5769119" y="3686208"/>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03</a:t>
            </a:r>
            <a:endParaRPr lang="en-US" sz="3360" dirty="0"/>
          </a:p>
        </p:txBody>
      </p:sp>
      <p:sp>
        <p:nvSpPr>
          <p:cNvPr id="7" name="Text 3"/>
          <p:cNvSpPr/>
          <p:nvPr/>
        </p:nvSpPr>
        <p:spPr>
          <a:xfrm>
            <a:off x="5769119" y="4702801"/>
            <a:ext cx="1267993" cy="512064"/>
          </a:xfrm>
          <a:prstGeom prst="rect">
            <a:avLst/>
          </a:prstGeom>
          <a:noFill/>
        </p:spPr>
        <p:txBody>
          <a:bodyPr wrap="square" lIns="0" tIns="0" rIns="0" bIns="0" rtlCol="0" anchor="b">
            <a:spAutoFit/>
          </a:bodyPr>
          <a:lstStyle/>
          <a:p>
            <a:pPr marL="0" indent="0" algn="ctr">
              <a:lnSpc>
                <a:spcPct val="120000"/>
              </a:lnSpc>
              <a:buNone/>
            </a:pPr>
            <a:r>
              <a:rPr lang="en-US" sz="3360" dirty="0">
                <a:solidFill>
                  <a:srgbClr val="000000"/>
                </a:solidFill>
              </a:rPr>
              <a:t>04</a:t>
            </a:r>
            <a:endParaRPr lang="en-US" sz="3360" dirty="0"/>
          </a:p>
        </p:txBody>
      </p:sp>
      <p:sp>
        <p:nvSpPr>
          <p:cNvPr id="8" name="Text 4"/>
          <p:cNvSpPr/>
          <p:nvPr/>
        </p:nvSpPr>
        <p:spPr>
          <a:xfrm>
            <a:off x="965498" y="2799393"/>
            <a:ext cx="1769654" cy="731520"/>
          </a:xfrm>
          <a:prstGeom prst="rect">
            <a:avLst/>
          </a:prstGeom>
          <a:noFill/>
        </p:spPr>
        <p:txBody>
          <a:bodyPr wrap="square" lIns="0" tIns="0" rIns="0" bIns="0" rtlCol="0" anchor="b">
            <a:spAutoFit/>
          </a:bodyPr>
          <a:lstStyle/>
          <a:p>
            <a:pPr marL="0" indent="0" algn="l">
              <a:lnSpc>
                <a:spcPct val="120000"/>
              </a:lnSpc>
              <a:buNone/>
            </a:pPr>
            <a:r>
              <a:rPr lang="en-US" sz="4800" dirty="0">
                <a:solidFill>
                  <a:srgbClr val="000000"/>
                </a:solidFill>
              </a:rPr>
              <a:t>目录</a:t>
            </a:r>
            <a:endParaRPr lang="en-US" sz="4800" dirty="0"/>
          </a:p>
        </p:txBody>
      </p:sp>
      <p:sp>
        <p:nvSpPr>
          <p:cNvPr id="9" name="Text 5"/>
          <p:cNvSpPr/>
          <p:nvPr/>
        </p:nvSpPr>
        <p:spPr>
          <a:xfrm>
            <a:off x="953110" y="3733353"/>
            <a:ext cx="3150109" cy="310896"/>
          </a:xfrm>
          <a:prstGeom prst="rect">
            <a:avLst/>
          </a:prstGeom>
          <a:noFill/>
        </p:spPr>
        <p:txBody>
          <a:bodyPr wrap="square" lIns="0" tIns="0" rIns="0" bIns="0" rtlCol="0" anchor="ctr">
            <a:spAutoFit/>
          </a:bodyPr>
          <a:lstStyle/>
          <a:p>
            <a:pPr marL="0" indent="0" algn="l">
              <a:lnSpc>
                <a:spcPct val="120000"/>
              </a:lnSpc>
              <a:buNone/>
            </a:pPr>
            <a:r>
              <a:rPr lang="en-US" sz="2040" dirty="0">
                <a:solidFill>
                  <a:srgbClr val="000000"/>
                </a:solidFill>
              </a:rPr>
              <a:t>CONTENTS</a:t>
            </a:r>
            <a:endParaRPr lang="en-US" sz="2040" dirty="0"/>
          </a:p>
        </p:txBody>
      </p:sp>
      <p:sp>
        <p:nvSpPr>
          <p:cNvPr id="10" name="Text 6"/>
          <p:cNvSpPr/>
          <p:nvPr/>
        </p:nvSpPr>
        <p:spPr>
          <a:xfrm>
            <a:off x="7064048" y="4727345"/>
            <a:ext cx="4878288" cy="4572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漏洞扫描的核心原理</a:t>
            </a:r>
            <a:endParaRPr lang="en-US" sz="3000" dirty="0"/>
          </a:p>
        </p:txBody>
      </p:sp>
      <p:sp>
        <p:nvSpPr>
          <p:cNvPr id="11" name="Text 7"/>
          <p:cNvSpPr/>
          <p:nvPr/>
        </p:nvSpPr>
        <p:spPr>
          <a:xfrm>
            <a:off x="7064048" y="1677568"/>
            <a:ext cx="4878288" cy="9144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案例导入——“一次扫描引发的连锁反应”</a:t>
            </a:r>
            <a:endParaRPr lang="en-US" sz="3000" dirty="0"/>
          </a:p>
        </p:txBody>
      </p:sp>
      <p:sp>
        <p:nvSpPr>
          <p:cNvPr id="12" name="Text 8"/>
          <p:cNvSpPr/>
          <p:nvPr/>
        </p:nvSpPr>
        <p:spPr>
          <a:xfrm>
            <a:off x="7064048" y="3710752"/>
            <a:ext cx="4878288" cy="9144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漏洞扫描——在等保测评中的定位</a:t>
            </a:r>
            <a:endParaRPr lang="en-US" sz="3000" dirty="0"/>
          </a:p>
        </p:txBody>
      </p:sp>
      <p:sp>
        <p:nvSpPr>
          <p:cNvPr id="13" name="Text 9"/>
          <p:cNvSpPr/>
          <p:nvPr/>
        </p:nvSpPr>
        <p:spPr>
          <a:xfrm>
            <a:off x="7064048" y="2694160"/>
            <a:ext cx="4878288" cy="457200"/>
          </a:xfrm>
          <a:prstGeom prst="rect">
            <a:avLst/>
          </a:prstGeom>
          <a:noFill/>
        </p:spPr>
        <p:txBody>
          <a:bodyPr wrap="square" lIns="0" tIns="0" rIns="0" bIns="0" rtlCol="0" anchor="b">
            <a:spAutoFit/>
          </a:bodyPr>
          <a:lstStyle/>
          <a:p>
            <a:pPr marL="0" indent="0" algn="l">
              <a:lnSpc>
                <a:spcPct val="120000"/>
              </a:lnSpc>
              <a:buNone/>
            </a:pPr>
            <a:r>
              <a:rPr lang="en-US" sz="3000" dirty="0">
                <a:solidFill>
                  <a:srgbClr val="000000"/>
                </a:solidFill>
              </a:rPr>
              <a:t>学习目标</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案例导入——“一次扫描引发的连锁反应”</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5836920" cy="1097280"/>
          </a:xfrm>
          <a:prstGeom prst="rect">
            <a:avLst/>
          </a:prstGeom>
        </p:spPr>
      </p:pic>
      <p:sp>
        <p:nvSpPr>
          <p:cNvPr id="7" name="Text 1"/>
          <p:cNvSpPr/>
          <p:nvPr/>
        </p:nvSpPr>
        <p:spPr>
          <a:xfrm>
            <a:off x="914400" y="1554480"/>
            <a:ext cx="5358384" cy="731520"/>
          </a:xfrm>
          <a:prstGeom prst="rect">
            <a:avLst/>
          </a:prstGeom>
          <a:noFill/>
        </p:spPr>
        <p:txBody>
          <a:bodyPr wrap="square" lIns="0" tIns="0" rIns="0" bIns="0" rtlCol="0" anchor="t">
            <a:spAutoFit/>
          </a:bodyPr>
          <a:lstStyle/>
          <a:p>
            <a:pPr marL="0" indent="0" algn="l">
              <a:lnSpc>
                <a:spcPct val="150000"/>
              </a:lnSpc>
              <a:buNone/>
            </a:pPr>
            <a:r>
              <a:rPr lang="en-US" sz="1920" dirty="0">
                <a:solidFill>
                  <a:srgbClr val="666666"/>
                </a:solidFill>
                <a:latin typeface="思源黑体 CN Bold" pitchFamily="34" charset="0"/>
                <a:ea typeface="思源黑体 CN Bold" pitchFamily="34" charset="-122"/>
                <a:cs typeface="思源黑体 CN Bold" pitchFamily="34" charset="-120"/>
              </a:rPr>
              <a:t>引入问题：漏洞扫描就是在系统上“逛一圈”，发现问题就出报告吗？</a:t>
            </a:r>
            <a:endParaRPr lang="en-US" sz="1920" dirty="0"/>
          </a:p>
        </p:txBody>
      </p:sp>
      <p:sp>
        <p:nvSpPr>
          <p:cNvPr id="8" name="Text 2"/>
          <p:cNvSpPr/>
          <p:nvPr/>
        </p:nvSpPr>
        <p:spPr>
          <a:xfrm>
            <a:off x="609600" y="2712720"/>
            <a:ext cx="5846064" cy="701040"/>
          </a:xfrm>
          <a:prstGeom prst="rect">
            <a:avLst/>
          </a:prstGeom>
          <a:noFill/>
        </p:spPr>
        <p:txBody>
          <a:bodyPr wrap="square" lIns="0" tIns="0" rIns="0" bIns="0" rtlCol="0" anchor="ctr">
            <a:spAutoFit/>
          </a:bodyPr>
          <a:lstStyle/>
          <a:p>
            <a:pPr marL="0" indent="0" algn="l">
              <a:lnSpc>
                <a:spcPct val="163000"/>
              </a:lnSpc>
              <a:buNone/>
            </a:pPr>
            <a:r>
              <a:rPr lang="en-US" sz="1680" dirty="0">
                <a:solidFill>
                  <a:srgbClr val="747474"/>
                </a:solidFill>
                <a:latin typeface="思源黑体 CN Regular" pitchFamily="34" charset="0"/>
                <a:ea typeface="思源黑体 CN Regular" pitchFamily="34" charset="-122"/>
                <a:cs typeface="思源黑体 CN Regular" pitchFamily="34" charset="-120"/>
              </a:rPr>
              <a:t>某政务服务平台在等保测评前，自行使用漏洞扫描工具进行了一次“全面扫描”。结果如下：</a:t>
            </a:r>
            <a:endParaRPr lang="en-US" sz="1680" dirty="0"/>
          </a:p>
        </p:txBody>
      </p:sp>
      <p:pic>
        <p:nvPicPr>
          <p:cNvPr id="9" name="Image 4" descr="https://test.web.static.jianzeppt.com/ppt-temp-img3/80bc8eec43e92f1ff8b41b8ec78d6893.png?x-oss-process=image/resize,w_1440,h_800,m_lfit/format,png"/>
          <p:cNvPicPr>
            <a:picLocks noChangeAspect="1"/>
          </p:cNvPicPr>
          <p:nvPr/>
        </p:nvPicPr>
        <p:blipFill>
          <a:blip r:embed="rId6"/>
          <a:stretch>
            <a:fillRect/>
          </a:stretch>
        </p:blipFill>
        <p:spPr>
          <a:xfrm>
            <a:off x="914400" y="3931920"/>
            <a:ext cx="30480" cy="2484120"/>
          </a:xfrm>
          <a:prstGeom prst="rect">
            <a:avLst/>
          </a:prstGeom>
        </p:spPr>
      </p:pic>
      <p:sp>
        <p:nvSpPr>
          <p:cNvPr id="10" name="Text 3"/>
          <p:cNvSpPr/>
          <p:nvPr/>
        </p:nvSpPr>
        <p:spPr>
          <a:xfrm>
            <a:off x="1341120" y="3779520"/>
            <a:ext cx="5114544" cy="36576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757575"/>
                </a:solidFill>
                <a:latin typeface="思源黑体 CN Regular" pitchFamily="34" charset="0"/>
                <a:ea typeface="思源黑体 CN Regular" pitchFamily="34" charset="-122"/>
                <a:cs typeface="思源黑体 CN Regular" pitchFamily="34" charset="-120"/>
              </a:rPr>
              <a:t>扫描发现“高危漏洞”</a:t>
            </a:r>
            <a:r>
              <a:rPr lang="en-US" sz="1920" dirty="0">
                <a:solidFill>
                  <a:srgbClr val="FF574D"/>
                </a:solidFill>
                <a:latin typeface="思源黑体 CN Bold" pitchFamily="34" charset="0"/>
                <a:ea typeface="思源黑体 CN Bold" pitchFamily="34" charset="-122"/>
                <a:cs typeface="思源黑体 CN Bold" pitchFamily="34" charset="-120"/>
              </a:rPr>
              <a:t>15</a:t>
            </a:r>
            <a:r>
              <a:rPr lang="en-US" sz="1680" dirty="0">
                <a:solidFill>
                  <a:srgbClr val="757575"/>
                </a:solidFill>
                <a:latin typeface="思源黑体 CN Regular" pitchFamily="34" charset="0"/>
                <a:ea typeface="思源黑体 CN Regular" pitchFamily="34" charset="-122"/>
                <a:cs typeface="思源黑体 CN Regular" pitchFamily="34" charset="-120"/>
              </a:rPr>
              <a:t>个，“中危漏洞”</a:t>
            </a:r>
            <a:r>
              <a:rPr lang="en-US" sz="1920" dirty="0">
                <a:solidFill>
                  <a:srgbClr val="97710C"/>
                </a:solidFill>
                <a:latin typeface="思源黑体 CN Bold" pitchFamily="34" charset="0"/>
                <a:ea typeface="思源黑体 CN Bold" pitchFamily="34" charset="-122"/>
                <a:cs typeface="思源黑体 CN Bold" pitchFamily="34" charset="-120"/>
              </a:rPr>
              <a:t>42</a:t>
            </a:r>
            <a:r>
              <a:rPr lang="en-US" sz="1680" dirty="0">
                <a:solidFill>
                  <a:srgbClr val="757575"/>
                </a:solidFill>
                <a:latin typeface="思源黑体 CN Regular" pitchFamily="34" charset="0"/>
                <a:ea typeface="思源黑体 CN Regular" pitchFamily="34" charset="-122"/>
                <a:cs typeface="思源黑体 CN Regular" pitchFamily="34" charset="-120"/>
              </a:rPr>
              <a:t>个</a:t>
            </a:r>
            <a:endParaRPr lang="en-US" sz="1680" dirty="0"/>
          </a:p>
        </p:txBody>
      </p:sp>
      <p:pic>
        <p:nvPicPr>
          <p:cNvPr id="11"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2960" y="3870960"/>
            <a:ext cx="182880" cy="182880"/>
          </a:xfrm>
          <a:prstGeom prst="rect">
            <a:avLst/>
          </a:prstGeom>
        </p:spPr>
      </p:pic>
      <p:sp>
        <p:nvSpPr>
          <p:cNvPr id="12" name="Text 4"/>
          <p:cNvSpPr/>
          <p:nvPr/>
        </p:nvSpPr>
        <p:spPr>
          <a:xfrm>
            <a:off x="1341120" y="4450080"/>
            <a:ext cx="51145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Regular" pitchFamily="34" charset="0"/>
                <a:ea typeface="思源黑体 CN Regular" pitchFamily="34" charset="-122"/>
                <a:cs typeface="思源黑体 CN Regular" pitchFamily="34" charset="-120"/>
              </a:rPr>
              <a:t>安全负责人看到报告后，按照CVSS评分最高开始修复</a:t>
            </a:r>
            <a:endParaRPr lang="en-US" sz="1680" dirty="0"/>
          </a:p>
        </p:txBody>
      </p:sp>
      <p:pic>
        <p:nvPicPr>
          <p:cNvPr id="13" name="Image 6"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22960" y="4541520"/>
            <a:ext cx="182880" cy="182880"/>
          </a:xfrm>
          <a:prstGeom prst="rect">
            <a:avLst/>
          </a:prstGeom>
        </p:spPr>
      </p:pic>
      <p:sp>
        <p:nvSpPr>
          <p:cNvPr id="14" name="Text 5"/>
          <p:cNvSpPr/>
          <p:nvPr/>
        </p:nvSpPr>
        <p:spPr>
          <a:xfrm>
            <a:off x="1341120" y="4885055"/>
            <a:ext cx="4932680" cy="774065"/>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97710C"/>
                </a:solidFill>
                <a:latin typeface="思源黑体 CN Bold" pitchFamily="34" charset="0"/>
                <a:ea typeface="思源黑体 CN Bold" pitchFamily="34" charset="-122"/>
                <a:cs typeface="思源黑体 CN Bold" pitchFamily="34" charset="-120"/>
              </a:rPr>
              <a:t>修复了3个“高危漏洞”后，业务系统出现异常——无法正常登录</a:t>
            </a:r>
            <a:endParaRPr lang="en-US" sz="1680" dirty="0"/>
          </a:p>
        </p:txBody>
      </p:sp>
      <p:pic>
        <p:nvPicPr>
          <p:cNvPr id="15" name="Image 7"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22960" y="5166360"/>
            <a:ext cx="182880" cy="182880"/>
          </a:xfrm>
          <a:prstGeom prst="rect">
            <a:avLst/>
          </a:prstGeom>
        </p:spPr>
      </p:pic>
      <p:sp>
        <p:nvSpPr>
          <p:cNvPr id="16" name="Text 6"/>
          <p:cNvSpPr/>
          <p:nvPr/>
        </p:nvSpPr>
        <p:spPr>
          <a:xfrm>
            <a:off x="1321435" y="5701030"/>
            <a:ext cx="5114544" cy="640080"/>
          </a:xfrm>
          <a:prstGeom prst="rect">
            <a:avLst/>
          </a:prstGeom>
          <a:noFill/>
        </p:spPr>
        <p:txBody>
          <a:bodyPr wrap="square" lIns="0" tIns="0" rIns="0" bIns="0" rtlCol="0" anchor="t">
            <a:spAutoFit/>
          </a:bodyPr>
          <a:lstStyle/>
          <a:p>
            <a:pPr marL="0" indent="0" algn="l">
              <a:lnSpc>
                <a:spcPct val="150000"/>
              </a:lnSpc>
              <a:buNone/>
            </a:pPr>
            <a:r>
              <a:rPr lang="en-US" sz="1680" dirty="0">
                <a:solidFill>
                  <a:srgbClr val="FF0000"/>
                </a:solidFill>
                <a:latin typeface="思源黑体 CN Bold" pitchFamily="34" charset="0"/>
                <a:ea typeface="思源黑体 CN Bold" pitchFamily="34" charset="-122"/>
                <a:cs typeface="思源黑体 CN Bold" pitchFamily="34" charset="-120"/>
              </a:rPr>
              <a:t>紧急回滚后，测评机构进场，发现那3个被修复的“漏洞”其实是扫描工具的误报</a:t>
            </a:r>
            <a:endParaRPr lang="en-US" sz="1680" dirty="0">
              <a:solidFill>
                <a:srgbClr val="FF0000"/>
              </a:solidFill>
              <a:latin typeface="思源黑体 CN Bold" pitchFamily="34" charset="0"/>
              <a:ea typeface="思源黑体 CN Bold" pitchFamily="34" charset="-122"/>
              <a:cs typeface="思源黑体 CN Bold" pitchFamily="34" charset="-120"/>
            </a:endParaRPr>
          </a:p>
        </p:txBody>
      </p:sp>
      <p:pic>
        <p:nvPicPr>
          <p:cNvPr id="17" name="Image 8"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22960" y="6111240"/>
            <a:ext cx="182880" cy="182880"/>
          </a:xfrm>
          <a:prstGeom prst="rect">
            <a:avLst/>
          </a:prstGeom>
        </p:spPr>
      </p:pic>
      <p:pic>
        <p:nvPicPr>
          <p:cNvPr id="18" name="Image 9"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812280" y="1859280"/>
            <a:ext cx="4785360" cy="1508760"/>
          </a:xfrm>
          <a:prstGeom prst="rect">
            <a:avLst/>
          </a:prstGeom>
          <a:effectLst>
            <a:outerShdw blurRad="-2147483648" dist="774192000" dir="-1" algn="bl" rotWithShape="0">
              <a:srgbClr val="000000">
                <a:alpha val="2000000000"/>
              </a:srgbClr>
            </a:outerShdw>
          </a:effectLst>
        </p:spPr>
      </p:pic>
      <p:pic>
        <p:nvPicPr>
          <p:cNvPr id="19" name="Image 10"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71360" y="2179320"/>
            <a:ext cx="426720" cy="426720"/>
          </a:xfrm>
          <a:prstGeom prst="rect">
            <a:avLst/>
          </a:prstGeom>
        </p:spPr>
      </p:pic>
      <p:sp>
        <p:nvSpPr>
          <p:cNvPr id="20" name="Text 7"/>
          <p:cNvSpPr/>
          <p:nvPr/>
        </p:nvSpPr>
        <p:spPr>
          <a:xfrm>
            <a:off x="7132320" y="2240280"/>
            <a:ext cx="31394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Q1</a:t>
            </a:r>
            <a:endParaRPr lang="en-US" sz="1680" dirty="0"/>
          </a:p>
        </p:txBody>
      </p:sp>
      <p:sp>
        <p:nvSpPr>
          <p:cNvPr id="21" name="Text 8"/>
          <p:cNvSpPr/>
          <p:nvPr/>
        </p:nvSpPr>
        <p:spPr>
          <a:xfrm>
            <a:off x="7680960" y="2118360"/>
            <a:ext cx="36667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Bold" pitchFamily="34" charset="0"/>
                <a:ea typeface="思源黑体 CN Bold" pitchFamily="34" charset="-122"/>
                <a:cs typeface="思源黑体 CN Bold" pitchFamily="34" charset="-120"/>
              </a:rPr>
              <a:t>为什么扫描工具会报告“误报”？</a:t>
            </a:r>
            <a:endParaRPr lang="en-US" sz="1680" dirty="0"/>
          </a:p>
        </p:txBody>
      </p:sp>
      <p:sp>
        <p:nvSpPr>
          <p:cNvPr id="22" name="Text 9"/>
          <p:cNvSpPr/>
          <p:nvPr/>
        </p:nvSpPr>
        <p:spPr>
          <a:xfrm>
            <a:off x="7680960" y="2560320"/>
            <a:ext cx="3666744" cy="738505"/>
          </a:xfrm>
          <a:prstGeom prst="rect">
            <a:avLst/>
          </a:prstGeom>
          <a:noFill/>
        </p:spPr>
        <p:txBody>
          <a:bodyPr wrap="square" lIns="0" tIns="0" rIns="0" bIns="0" rtlCol="0" anchor="t">
            <a:spAutoFit/>
          </a:bodyPr>
          <a:lstStyle/>
          <a:p>
            <a:pPr marL="0" indent="0" algn="l">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（基于规则匹配的特征码扫描，难免与正常配置“撞车”）</a:t>
            </a:r>
            <a:endParaRPr lang="en-US" sz="1600" dirty="0">
              <a:solidFill>
                <a:srgbClr val="000000"/>
              </a:solidFill>
              <a:latin typeface="思源黑体 CN Regular" pitchFamily="34" charset="0"/>
              <a:ea typeface="思源黑体 CN Regular" pitchFamily="34" charset="-122"/>
              <a:cs typeface="思源黑体 CN Regular" pitchFamily="34" charset="-120"/>
            </a:endParaRPr>
          </a:p>
        </p:txBody>
      </p:sp>
      <p:pic>
        <p:nvPicPr>
          <p:cNvPr id="23" name="Image 11" descr="preencoded.png"/>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6812280" y="3611880"/>
            <a:ext cx="4785360" cy="1005840"/>
          </a:xfrm>
          <a:prstGeom prst="rect">
            <a:avLst/>
          </a:prstGeom>
          <a:effectLst>
            <a:outerShdw blurRad="-2147483648" dist="774192000" dir="-1" algn="bl" rotWithShape="0">
              <a:srgbClr val="000000">
                <a:alpha val="2000000000"/>
              </a:srgbClr>
            </a:outerShdw>
          </a:effectLst>
        </p:spPr>
      </p:pic>
      <p:pic>
        <p:nvPicPr>
          <p:cNvPr id="24" name="Image 12"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71360" y="3931920"/>
            <a:ext cx="426720" cy="426720"/>
          </a:xfrm>
          <a:prstGeom prst="rect">
            <a:avLst/>
          </a:prstGeom>
        </p:spPr>
      </p:pic>
      <p:sp>
        <p:nvSpPr>
          <p:cNvPr id="25" name="Text 10"/>
          <p:cNvSpPr/>
          <p:nvPr/>
        </p:nvSpPr>
        <p:spPr>
          <a:xfrm>
            <a:off x="7132320" y="3992880"/>
            <a:ext cx="31394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Q2</a:t>
            </a:r>
            <a:endParaRPr lang="en-US" sz="1680" dirty="0"/>
          </a:p>
        </p:txBody>
      </p:sp>
      <p:sp>
        <p:nvSpPr>
          <p:cNvPr id="26" name="Text 11"/>
          <p:cNvSpPr/>
          <p:nvPr/>
        </p:nvSpPr>
        <p:spPr>
          <a:xfrm>
            <a:off x="7680960" y="3959860"/>
            <a:ext cx="342290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Bold" pitchFamily="34" charset="0"/>
                <a:ea typeface="思源黑体 CN Bold" pitchFamily="34" charset="-122"/>
                <a:cs typeface="思源黑体 CN Bold" pitchFamily="34" charset="-120"/>
              </a:rPr>
              <a:t>如何区分“真漏洞”和“假漏洞”？</a:t>
            </a:r>
            <a:endParaRPr lang="en-US" sz="1680" dirty="0"/>
          </a:p>
        </p:txBody>
      </p:sp>
      <p:pic>
        <p:nvPicPr>
          <p:cNvPr id="27" name="Image 13" descr="preencoded.png"/>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6812280" y="4861560"/>
            <a:ext cx="4785360" cy="1005840"/>
          </a:xfrm>
          <a:prstGeom prst="rect">
            <a:avLst/>
          </a:prstGeom>
          <a:effectLst>
            <a:outerShdw blurRad="-2147483648" dist="774192000" dir="-1" algn="bl" rotWithShape="0">
              <a:srgbClr val="000000">
                <a:alpha val="2000000000"/>
              </a:srgbClr>
            </a:outerShdw>
          </a:effectLst>
        </p:spPr>
      </p:pic>
      <p:pic>
        <p:nvPicPr>
          <p:cNvPr id="28" name="Image 14"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071360" y="5181600"/>
            <a:ext cx="426720" cy="426720"/>
          </a:xfrm>
          <a:prstGeom prst="rect">
            <a:avLst/>
          </a:prstGeom>
        </p:spPr>
      </p:pic>
      <p:sp>
        <p:nvSpPr>
          <p:cNvPr id="29" name="Text 12"/>
          <p:cNvSpPr/>
          <p:nvPr/>
        </p:nvSpPr>
        <p:spPr>
          <a:xfrm>
            <a:off x="7132320" y="5242560"/>
            <a:ext cx="31394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Q3</a:t>
            </a:r>
            <a:endParaRPr lang="en-US" sz="1680" dirty="0"/>
          </a:p>
        </p:txBody>
      </p:sp>
      <p:sp>
        <p:nvSpPr>
          <p:cNvPr id="30" name="Text 13"/>
          <p:cNvSpPr/>
          <p:nvPr/>
        </p:nvSpPr>
        <p:spPr>
          <a:xfrm>
            <a:off x="7680960" y="5224145"/>
            <a:ext cx="363626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57575"/>
                </a:solidFill>
                <a:latin typeface="思源黑体 CN Bold" pitchFamily="34" charset="0"/>
                <a:ea typeface="思源黑体 CN Bold" pitchFamily="34" charset="-122"/>
                <a:cs typeface="思源黑体 CN Bold" pitchFamily="34" charset="-120"/>
              </a:rPr>
              <a:t>看到扫描报告后，第一步应该做什么？</a:t>
            </a:r>
            <a:endParaRPr lang="en-US" sz="1680" dirty="0"/>
          </a:p>
        </p:txBody>
      </p:sp>
      <p:sp>
        <p:nvSpPr>
          <p:cNvPr id="31" name="Text 14"/>
          <p:cNvSpPr/>
          <p:nvPr/>
        </p:nvSpPr>
        <p:spPr>
          <a:xfrm>
            <a:off x="6812280" y="1371600"/>
            <a:ext cx="1106424" cy="411480"/>
          </a:xfrm>
          <a:prstGeom prst="rect">
            <a:avLst/>
          </a:prstGeom>
          <a:noFill/>
        </p:spPr>
        <p:txBody>
          <a:bodyPr wrap="none" lIns="0" tIns="0" rIns="0" bIns="0" rtlCol="0" anchor="t">
            <a:spAutoFit/>
          </a:bodyPr>
          <a:lstStyle/>
          <a:p>
            <a:pPr marL="0" indent="0" algn="l">
              <a:lnSpc>
                <a:spcPct val="150000"/>
              </a:lnSpc>
              <a:buNone/>
            </a:pPr>
            <a:r>
              <a:rPr lang="en-US" sz="2160" dirty="0">
                <a:solidFill>
                  <a:srgbClr val="000000"/>
                </a:solidFill>
                <a:latin typeface="思源黑体 CN Bold" pitchFamily="34" charset="0"/>
                <a:ea typeface="思源黑体 CN Bold" pitchFamily="34" charset="-122"/>
                <a:cs typeface="思源黑体 CN Bold" pitchFamily="34" charset="-120"/>
              </a:rPr>
              <a:t>问题讨论</a:t>
            </a:r>
            <a:endParaRPr lang="en-US" sz="21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学习目标</a:t>
            </a:r>
            <a:endParaRPr lang="en-US" sz="2760" dirty="0"/>
          </a:p>
        </p:txBody>
      </p:sp>
      <p:sp>
        <p:nvSpPr>
          <p:cNvPr id="6" name="Text 1"/>
          <p:cNvSpPr/>
          <p:nvPr/>
        </p:nvSpPr>
        <p:spPr>
          <a:xfrm>
            <a:off x="609600" y="1371600"/>
            <a:ext cx="1098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Regular" pitchFamily="34" charset="0"/>
                <a:ea typeface="思源黑体 CN Regular" pitchFamily="34" charset="-122"/>
                <a:cs typeface="思源黑体 CN Regular" pitchFamily="34" charset="-120"/>
              </a:rPr>
              <a:t>通过本课学习，你将能够：</a:t>
            </a:r>
            <a:endParaRPr lang="en-US" sz="1680" dirty="0"/>
          </a:p>
        </p:txBody>
      </p:sp>
      <p:pic>
        <p:nvPicPr>
          <p:cNvPr id="7"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813560"/>
            <a:ext cx="609600" cy="609600"/>
          </a:xfrm>
          <a:prstGeom prst="rect">
            <a:avLst/>
          </a:prstGeom>
        </p:spPr>
      </p:pic>
      <p:pic>
        <p:nvPicPr>
          <p:cNvPr id="8"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31520" y="1935480"/>
            <a:ext cx="365760" cy="365760"/>
          </a:xfrm>
          <a:prstGeom prst="rect">
            <a:avLst/>
          </a:prstGeom>
        </p:spPr>
      </p:pic>
      <p:sp>
        <p:nvSpPr>
          <p:cNvPr id="9" name="Text 2"/>
          <p:cNvSpPr/>
          <p:nvPr/>
        </p:nvSpPr>
        <p:spPr>
          <a:xfrm>
            <a:off x="1463040" y="192024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理解</a:t>
            </a:r>
            <a:endParaRPr lang="en-US" sz="2160" dirty="0"/>
          </a:p>
        </p:txBody>
      </p:sp>
      <p:sp>
        <p:nvSpPr>
          <p:cNvPr id="10" name="Text 3"/>
          <p:cNvSpPr/>
          <p:nvPr/>
        </p:nvSpPr>
        <p:spPr>
          <a:xfrm>
            <a:off x="2194560" y="1996440"/>
            <a:ext cx="448970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漏洞扫描的基本原理（基于漏洞库的特征匹配）</a:t>
            </a:r>
            <a:endParaRPr lang="en-US" sz="1680" dirty="0"/>
          </a:p>
        </p:txBody>
      </p:sp>
      <p:pic>
        <p:nvPicPr>
          <p:cNvPr id="11" name="Image 5"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2560320"/>
            <a:ext cx="10972800" cy="15240"/>
          </a:xfrm>
          <a:prstGeom prst="rect">
            <a:avLst/>
          </a:prstGeom>
        </p:spPr>
      </p:pic>
      <p:pic>
        <p:nvPicPr>
          <p:cNvPr id="12" name="Image 6"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2682240"/>
            <a:ext cx="609600" cy="609600"/>
          </a:xfrm>
          <a:prstGeom prst="rect">
            <a:avLst/>
          </a:prstGeom>
        </p:spPr>
      </p:pic>
      <p:pic>
        <p:nvPicPr>
          <p:cNvPr id="13" name="Image 7"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31520" y="2804160"/>
            <a:ext cx="365760" cy="365760"/>
          </a:xfrm>
          <a:prstGeom prst="rect">
            <a:avLst/>
          </a:prstGeom>
        </p:spPr>
      </p:pic>
      <p:sp>
        <p:nvSpPr>
          <p:cNvPr id="14" name="Text 4"/>
          <p:cNvSpPr/>
          <p:nvPr/>
        </p:nvSpPr>
        <p:spPr>
          <a:xfrm>
            <a:off x="1463040" y="278892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掌握</a:t>
            </a:r>
            <a:endParaRPr lang="en-US" sz="2160" dirty="0"/>
          </a:p>
        </p:txBody>
      </p:sp>
      <p:sp>
        <p:nvSpPr>
          <p:cNvPr id="15" name="Text 5"/>
          <p:cNvSpPr/>
          <p:nvPr/>
        </p:nvSpPr>
        <p:spPr>
          <a:xfrm>
            <a:off x="2194560" y="2865120"/>
            <a:ext cx="53431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常见漏洞扫描工具（Nessus/OpenVAS）的基本使用方法</a:t>
            </a:r>
            <a:endParaRPr lang="en-US" sz="1680" dirty="0"/>
          </a:p>
        </p:txBody>
      </p:sp>
      <p:pic>
        <p:nvPicPr>
          <p:cNvPr id="16" name="Image 8"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3429000"/>
            <a:ext cx="10972800" cy="15240"/>
          </a:xfrm>
          <a:prstGeom prst="rect">
            <a:avLst/>
          </a:prstGeom>
        </p:spPr>
      </p:pic>
      <p:pic>
        <p:nvPicPr>
          <p:cNvPr id="17" name="Image 9"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3550920"/>
            <a:ext cx="609600" cy="609600"/>
          </a:xfrm>
          <a:prstGeom prst="rect">
            <a:avLst/>
          </a:prstGeom>
        </p:spPr>
      </p:pic>
      <p:pic>
        <p:nvPicPr>
          <p:cNvPr id="18" name="Image 10"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31520" y="3672840"/>
            <a:ext cx="365760" cy="365760"/>
          </a:xfrm>
          <a:prstGeom prst="rect">
            <a:avLst/>
          </a:prstGeom>
        </p:spPr>
      </p:pic>
      <p:sp>
        <p:nvSpPr>
          <p:cNvPr id="19" name="Text 6"/>
          <p:cNvSpPr/>
          <p:nvPr/>
        </p:nvSpPr>
        <p:spPr>
          <a:xfrm>
            <a:off x="1463040" y="365760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能够</a:t>
            </a:r>
            <a:endParaRPr lang="en-US" sz="2160" dirty="0"/>
          </a:p>
        </p:txBody>
      </p:sp>
      <p:sp>
        <p:nvSpPr>
          <p:cNvPr id="20" name="Text 7"/>
          <p:cNvSpPr/>
          <p:nvPr/>
        </p:nvSpPr>
        <p:spPr>
          <a:xfrm>
            <a:off x="2194560" y="3733800"/>
            <a:ext cx="491642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正确解读漏洞扫描报告（区分风险等级、识别误报）</a:t>
            </a:r>
            <a:endParaRPr lang="en-US" sz="1680" dirty="0"/>
          </a:p>
        </p:txBody>
      </p:sp>
      <p:pic>
        <p:nvPicPr>
          <p:cNvPr id="21" name="Image 11"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4297680"/>
            <a:ext cx="10972800" cy="15240"/>
          </a:xfrm>
          <a:prstGeom prst="rect">
            <a:avLst/>
          </a:prstGeom>
        </p:spPr>
      </p:pic>
      <p:pic>
        <p:nvPicPr>
          <p:cNvPr id="22" name="Image 12"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4419600"/>
            <a:ext cx="609600" cy="609600"/>
          </a:xfrm>
          <a:prstGeom prst="rect">
            <a:avLst/>
          </a:prstGeom>
        </p:spPr>
      </p:pic>
      <p:pic>
        <p:nvPicPr>
          <p:cNvPr id="23" name="Image 13"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31520" y="4541520"/>
            <a:ext cx="365760" cy="365760"/>
          </a:xfrm>
          <a:prstGeom prst="rect">
            <a:avLst/>
          </a:prstGeom>
        </p:spPr>
      </p:pic>
      <p:sp>
        <p:nvSpPr>
          <p:cNvPr id="24" name="Text 8"/>
          <p:cNvSpPr/>
          <p:nvPr/>
        </p:nvSpPr>
        <p:spPr>
          <a:xfrm>
            <a:off x="1463040" y="452628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能够</a:t>
            </a:r>
            <a:endParaRPr lang="en-US" sz="2160" dirty="0"/>
          </a:p>
        </p:txBody>
      </p:sp>
      <p:sp>
        <p:nvSpPr>
          <p:cNvPr id="25" name="Text 9"/>
          <p:cNvSpPr/>
          <p:nvPr/>
        </p:nvSpPr>
        <p:spPr>
          <a:xfrm>
            <a:off x="2194560" y="4602480"/>
            <a:ext cx="598322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将扫描结果与等保测评指标关联，填写《漏洞扫描结果分析表》</a:t>
            </a:r>
            <a:endParaRPr lang="en-US" sz="1680" dirty="0"/>
          </a:p>
        </p:txBody>
      </p:sp>
      <p:pic>
        <p:nvPicPr>
          <p:cNvPr id="26" name="Image 14" descr="https://test.web.static.jianzeppt.com/ppt-temp-img3/deb11580cd2d55353c4f98cacf301c66.png?x-oss-process=image/resize,w_1440,h_800,m_lfit/format,png"/>
          <p:cNvPicPr>
            <a:picLocks noChangeAspect="1"/>
          </p:cNvPicPr>
          <p:nvPr/>
        </p:nvPicPr>
        <p:blipFill>
          <a:blip r:embed="rId8"/>
          <a:stretch>
            <a:fillRect/>
          </a:stretch>
        </p:blipFill>
        <p:spPr>
          <a:xfrm>
            <a:off x="609600" y="5166360"/>
            <a:ext cx="10972800" cy="15240"/>
          </a:xfrm>
          <a:prstGeom prst="rect">
            <a:avLst/>
          </a:prstGeom>
        </p:spPr>
      </p:pic>
      <p:pic>
        <p:nvPicPr>
          <p:cNvPr id="27" name="Image 15"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5288280"/>
            <a:ext cx="609600" cy="609600"/>
          </a:xfrm>
          <a:prstGeom prst="rect">
            <a:avLst/>
          </a:prstGeom>
        </p:spPr>
      </p:pic>
      <p:pic>
        <p:nvPicPr>
          <p:cNvPr id="28" name="Image 16"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731520" y="5410200"/>
            <a:ext cx="365760" cy="365760"/>
          </a:xfrm>
          <a:prstGeom prst="rect">
            <a:avLst/>
          </a:prstGeom>
        </p:spPr>
      </p:pic>
      <p:sp>
        <p:nvSpPr>
          <p:cNvPr id="29" name="Text 10"/>
          <p:cNvSpPr/>
          <p:nvPr/>
        </p:nvSpPr>
        <p:spPr>
          <a:xfrm>
            <a:off x="1463040" y="5394960"/>
            <a:ext cx="5577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0E4D96"/>
                </a:solidFill>
                <a:latin typeface="思源黑体 CN Bold" pitchFamily="34" charset="0"/>
                <a:ea typeface="思源黑体 CN Bold" pitchFamily="34" charset="-122"/>
                <a:cs typeface="思源黑体 CN Bold" pitchFamily="34" charset="-120"/>
              </a:rPr>
              <a:t>具备</a:t>
            </a:r>
            <a:endParaRPr lang="en-US" sz="2160" dirty="0"/>
          </a:p>
        </p:txBody>
      </p:sp>
      <p:sp>
        <p:nvSpPr>
          <p:cNvPr id="30" name="Text 11"/>
          <p:cNvSpPr/>
          <p:nvPr/>
        </p:nvSpPr>
        <p:spPr>
          <a:xfrm>
            <a:off x="2194560" y="5471160"/>
            <a:ext cx="25694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脆弱性分析与风险判断能力</a:t>
            </a:r>
            <a:endParaRPr lang="en-US" sz="16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漏洞扫描——在等保测评中的定位</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1066800"/>
          </a:xfrm>
          <a:prstGeom prst="rect">
            <a:avLst/>
          </a:prstGeom>
        </p:spPr>
      </p:pic>
      <p:sp>
        <p:nvSpPr>
          <p:cNvPr id="7" name="Text 1"/>
          <p:cNvSpPr/>
          <p:nvPr/>
        </p:nvSpPr>
        <p:spPr>
          <a:xfrm>
            <a:off x="975360" y="1569720"/>
            <a:ext cx="10311384" cy="695325"/>
          </a:xfrm>
          <a:prstGeom prst="rect">
            <a:avLst/>
          </a:prstGeom>
          <a:noFill/>
        </p:spPr>
        <p:txBody>
          <a:bodyPr wrap="square" lIns="0" tIns="0" rIns="0" bIns="0" rtlCol="0" anchor="t">
            <a:spAutoFit/>
          </a:bodyPr>
          <a:lstStyle/>
          <a:p>
            <a:pPr marL="0" indent="0" algn="l">
              <a:lnSpc>
                <a:spcPct val="163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GB/T 22239-2019 8.1.4.4 e) 安全计算环境——入侵防范：</a:t>
            </a:r>
            <a:r>
              <a:rPr lang="en-US" sz="1680" b="1" dirty="0">
                <a:solidFill>
                  <a:srgbClr val="0E4D96"/>
                </a:solidFill>
                <a:latin typeface="思源黑体 CN Bold" pitchFamily="34" charset="0"/>
                <a:ea typeface="思源黑体 CN Bold" pitchFamily="34" charset="-122"/>
                <a:cs typeface="思源黑体 CN Bold" pitchFamily="34" charset="-120"/>
              </a:rPr>
              <a:t>应能发现可能存在的已知漏洞，并在经过充分测试评估后，及时修补漏洞。</a:t>
            </a:r>
            <a:endParaRPr lang="en-US" sz="1680" dirty="0"/>
          </a:p>
        </p:txBody>
      </p:sp>
      <p:pic>
        <p:nvPicPr>
          <p:cNvPr id="8" name="Image 4"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9600" y="2743200"/>
            <a:ext cx="91440" cy="228600"/>
          </a:xfrm>
          <a:prstGeom prst="rect">
            <a:avLst/>
          </a:prstGeom>
        </p:spPr>
      </p:pic>
      <p:sp>
        <p:nvSpPr>
          <p:cNvPr id="9" name="Text 2"/>
          <p:cNvSpPr/>
          <p:nvPr/>
        </p:nvSpPr>
        <p:spPr>
          <a:xfrm>
            <a:off x="822960" y="2667000"/>
            <a:ext cx="2950464" cy="365760"/>
          </a:xfrm>
          <a:prstGeom prst="rect">
            <a:avLst/>
          </a:prstGeom>
          <a:noFill/>
        </p:spPr>
        <p:txBody>
          <a:bodyPr wrap="none" lIns="0" tIns="0" rIns="0" bIns="0" rtlCol="0" anchor="ct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等保测评中的三种技术手段</a:t>
            </a:r>
            <a:endParaRPr lang="en-US" sz="1920" dirty="0"/>
          </a:p>
        </p:txBody>
      </p:sp>
      <p:graphicFrame>
        <p:nvGraphicFramePr>
          <p:cNvPr id="10" name="Table 0"/>
          <p:cNvGraphicFramePr>
            <a:graphicFrameLocks noGrp="1"/>
          </p:cNvGraphicFramePr>
          <p:nvPr/>
        </p:nvGraphicFramePr>
        <p:xfrm>
          <a:off x="4235450" y="2742565"/>
          <a:ext cx="7012305" cy="1102360"/>
        </p:xfrm>
        <a:graphic>
          <a:graphicData uri="http://schemas.openxmlformats.org/drawingml/2006/table">
            <a:tbl>
              <a:tblPr/>
              <a:tblGrid>
                <a:gridCol w="1706245"/>
                <a:gridCol w="2566035"/>
                <a:gridCol w="2740025"/>
              </a:tblGrid>
              <a:tr h="0">
                <a:tc>
                  <a:txBody>
                    <a:bodyPr/>
                    <a:lstStyle/>
                    <a:p>
                      <a:pPr marL="0" indent="0" algn="ctr">
                        <a:buNone/>
                      </a:pPr>
                      <a:r>
                        <a:rPr lang="en-US" sz="1400" b="1" dirty="0">
                          <a:solidFill>
                            <a:srgbClr val="000000"/>
                          </a:solidFill>
                        </a:rPr>
                        <a:t>方法</a:t>
                      </a:r>
                      <a:endParaRPr lang="en-US" sz="1400" b="1"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00000"/>
                          </a:solidFill>
                        </a:rPr>
                        <a:t>定义</a:t>
                      </a:r>
                      <a:endParaRPr lang="en-US" sz="1400" b="1"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b="1" dirty="0">
                          <a:solidFill>
                            <a:srgbClr val="000000"/>
                          </a:solidFill>
                        </a:rPr>
                        <a:t>在等保测评中的作用</a:t>
                      </a:r>
                      <a:endParaRPr lang="en-US" sz="1400" b="1"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0">
                <a:tc>
                  <a:txBody>
                    <a:bodyPr/>
                    <a:lstStyle/>
                    <a:p>
                      <a:pPr marL="0" indent="0" algn="ctr">
                        <a:buNone/>
                      </a:pPr>
                      <a:r>
                        <a:rPr lang="en-US" sz="1400" dirty="0">
                          <a:solidFill>
                            <a:srgbClr val="000000"/>
                          </a:solidFill>
                        </a:rPr>
                        <a:t>访谈</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与管理人员交流，获取证据</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了解安全管理制度、人员配置</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0">
                <a:tc>
                  <a:txBody>
                    <a:bodyPr/>
                    <a:lstStyle/>
                    <a:p>
                      <a:pPr marL="0" indent="0" algn="ctr">
                        <a:buNone/>
                      </a:pPr>
                      <a:r>
                        <a:rPr lang="en-US" sz="1400" dirty="0">
                          <a:solidFill>
                            <a:srgbClr val="000000"/>
                          </a:solidFill>
                        </a:rPr>
                        <a:t>核查</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查验文档、设备配置</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验证配置是否符合基线</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0">
                <a:tc>
                  <a:txBody>
                    <a:bodyPr/>
                    <a:lstStyle/>
                    <a:p>
                      <a:pPr marL="0" indent="0" algn="ctr">
                        <a:buNone/>
                      </a:pPr>
                      <a:r>
                        <a:rPr lang="en-US" sz="1400" dirty="0">
                          <a:solidFill>
                            <a:srgbClr val="000000"/>
                          </a:solidFill>
                        </a:rPr>
                        <a:t>测试（含漏洞扫描）</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使用工具产生结果，与预期比对</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000000"/>
                          </a:solidFill>
                        </a:rPr>
                        <a:t>发现脆弱性、验证安全措施有效性</a:t>
                      </a:r>
                      <a:endParaRPr lang="en-US" sz="1400" dirty="0">
                        <a:solidFill>
                          <a:srgbClr val="000000"/>
                        </a:solidFill>
                      </a:endParaRPr>
                    </a:p>
                  </a:txBody>
                  <a:tcPr marL="31012" marR="31012" marT="31012" marB="31012"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11" name="Image 5"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09600" y="4023360"/>
            <a:ext cx="91440" cy="243840"/>
          </a:xfrm>
          <a:prstGeom prst="rect">
            <a:avLst/>
          </a:prstGeom>
        </p:spPr>
      </p:pic>
      <p:sp>
        <p:nvSpPr>
          <p:cNvPr id="12" name="Text 3"/>
          <p:cNvSpPr/>
          <p:nvPr/>
        </p:nvSpPr>
        <p:spPr>
          <a:xfrm>
            <a:off x="822960" y="3962400"/>
            <a:ext cx="3194304" cy="365760"/>
          </a:xfrm>
          <a:prstGeom prst="rect">
            <a:avLst/>
          </a:prstGeom>
          <a:noFill/>
        </p:spPr>
        <p:txBody>
          <a:bodyPr wrap="none" lIns="0" tIns="0" rIns="0" bIns="0" rtlCol="0" anchor="ct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漏洞扫描在测评中的具体位置</a:t>
            </a:r>
            <a:endParaRPr lang="en-US" sz="1920" dirty="0"/>
          </a:p>
        </p:txBody>
      </p:sp>
      <p:pic>
        <p:nvPicPr>
          <p:cNvPr id="13" name="Image 6" descr="https://test.web.static.jianzeppt.com/ppt-temp-img3/15a03001d536f7276a3d0eb16af68d1c.png?x-oss-process=image/resize,w_1440,h_800,m_lfit/format,png"/>
          <p:cNvPicPr>
            <a:picLocks noChangeAspect="1"/>
          </p:cNvPicPr>
          <p:nvPr/>
        </p:nvPicPr>
        <p:blipFill>
          <a:blip r:embed="rId10"/>
          <a:stretch>
            <a:fillRect/>
          </a:stretch>
        </p:blipFill>
        <p:spPr>
          <a:xfrm>
            <a:off x="609600" y="4511040"/>
            <a:ext cx="10972800" cy="2042160"/>
          </a:xfrm>
          <a:prstGeom prst="rect">
            <a:avLst/>
          </a:prstGeom>
        </p:spPr>
      </p:pic>
      <p:sp>
        <p:nvSpPr>
          <p:cNvPr id="14" name="Text 4"/>
          <p:cNvSpPr/>
          <p:nvPr/>
        </p:nvSpPr>
        <p:spPr>
          <a:xfrm>
            <a:off x="7833360" y="5334000"/>
            <a:ext cx="3499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输出物</a:t>
            </a:r>
            <a:endParaRPr lang="en-US" sz="1440" dirty="0"/>
          </a:p>
        </p:txBody>
      </p:sp>
      <p:sp>
        <p:nvSpPr>
          <p:cNvPr id="15" name="Text 5"/>
          <p:cNvSpPr/>
          <p:nvPr/>
        </p:nvSpPr>
        <p:spPr>
          <a:xfrm>
            <a:off x="7833360" y="5669280"/>
            <a:ext cx="349910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《漏洞扫描报告》</a:t>
            </a:r>
            <a:endParaRPr lang="en-US" sz="1680" dirty="0"/>
          </a:p>
        </p:txBody>
      </p:sp>
      <p:sp>
        <p:nvSpPr>
          <p:cNvPr id="16" name="Text 6"/>
          <p:cNvSpPr/>
          <p:nvPr/>
        </p:nvSpPr>
        <p:spPr>
          <a:xfrm>
            <a:off x="7833360" y="6019800"/>
            <a:ext cx="3499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(每个系统1份，含主机+Web)</a:t>
            </a:r>
            <a:endParaRPr lang="en-US" sz="1440" dirty="0"/>
          </a:p>
        </p:txBody>
      </p:sp>
      <p:pic>
        <p:nvPicPr>
          <p:cNvPr id="17" name="Image 7" descr="https://test.web.static.jianzeppt.com/ppt-temp-img3/ebb98878d445e0a2a6654ce69a2f92ad.png?x-oss-process=image/resize,w_1440,h_800,m_lfit/format,png"/>
          <p:cNvPicPr>
            <a:picLocks noChangeAspect="1"/>
          </p:cNvPicPr>
          <p:nvPr/>
        </p:nvPicPr>
        <p:blipFill>
          <a:blip r:embed="rId11"/>
          <a:stretch>
            <a:fillRect/>
          </a:stretch>
        </p:blipFill>
        <p:spPr>
          <a:xfrm>
            <a:off x="1082040" y="5135880"/>
            <a:ext cx="3276600" cy="30480"/>
          </a:xfrm>
          <a:prstGeom prst="rect">
            <a:avLst/>
          </a:prstGeom>
        </p:spPr>
      </p:pic>
      <p:sp>
        <p:nvSpPr>
          <p:cNvPr id="18" name="Text 7"/>
          <p:cNvSpPr/>
          <p:nvPr/>
        </p:nvSpPr>
        <p:spPr>
          <a:xfrm>
            <a:off x="868680" y="5486400"/>
            <a:ext cx="325526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测评阶段</a:t>
            </a:r>
            <a:endParaRPr lang="en-US" sz="1440" dirty="0"/>
          </a:p>
        </p:txBody>
      </p:sp>
      <p:sp>
        <p:nvSpPr>
          <p:cNvPr id="19" name="Text 8"/>
          <p:cNvSpPr/>
          <p:nvPr/>
        </p:nvSpPr>
        <p:spPr>
          <a:xfrm>
            <a:off x="868680" y="5821680"/>
            <a:ext cx="325526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现场测评 → 技术测试环节</a:t>
            </a:r>
            <a:endParaRPr lang="en-US" sz="1680" dirty="0"/>
          </a:p>
        </p:txBody>
      </p:sp>
      <p:pic>
        <p:nvPicPr>
          <p:cNvPr id="20" name="Image 8"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68680" y="4937760"/>
            <a:ext cx="426720" cy="426720"/>
          </a:xfrm>
          <a:prstGeom prst="rect">
            <a:avLst/>
          </a:prstGeom>
          <a:effectLst>
            <a:outerShdw blurRad="1935480000" dist="645160000" dir="-1" algn="bl" rotWithShape="0">
              <a:srgbClr val="0E5696">
                <a:alpha val="-2147483648"/>
              </a:srgbClr>
            </a:outerShdw>
          </a:effectLst>
        </p:spPr>
      </p:pic>
      <p:sp>
        <p:nvSpPr>
          <p:cNvPr id="21" name="Text 9"/>
          <p:cNvSpPr/>
          <p:nvPr/>
        </p:nvSpPr>
        <p:spPr>
          <a:xfrm>
            <a:off x="1021080" y="4983480"/>
            <a:ext cx="14630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1</a:t>
            </a:r>
            <a:endParaRPr lang="en-US" sz="1680" dirty="0"/>
          </a:p>
        </p:txBody>
      </p:sp>
      <p:pic>
        <p:nvPicPr>
          <p:cNvPr id="22" name="Image 9" descr="https://test.web.static.jianzeppt.com/ppt-temp-img3/ebb98878d445e0a2a6654ce69a2f92ad.png?x-oss-process=image/resize,w_1440,h_800,m_lfit/format,png"/>
          <p:cNvPicPr>
            <a:picLocks noChangeAspect="1"/>
          </p:cNvPicPr>
          <p:nvPr/>
        </p:nvPicPr>
        <p:blipFill>
          <a:blip r:embed="rId11"/>
          <a:stretch>
            <a:fillRect/>
          </a:stretch>
        </p:blipFill>
        <p:spPr>
          <a:xfrm>
            <a:off x="4572000" y="4968240"/>
            <a:ext cx="3276600" cy="30480"/>
          </a:xfrm>
          <a:prstGeom prst="rect">
            <a:avLst/>
          </a:prstGeom>
        </p:spPr>
      </p:pic>
      <p:sp>
        <p:nvSpPr>
          <p:cNvPr id="23" name="Text 10"/>
          <p:cNvSpPr/>
          <p:nvPr/>
        </p:nvSpPr>
        <p:spPr>
          <a:xfrm>
            <a:off x="4358640" y="5318760"/>
            <a:ext cx="325526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对应标准</a:t>
            </a:r>
            <a:endParaRPr lang="en-US" sz="1440" dirty="0"/>
          </a:p>
        </p:txBody>
      </p:sp>
      <p:sp>
        <p:nvSpPr>
          <p:cNvPr id="24" name="Text 11"/>
          <p:cNvSpPr/>
          <p:nvPr/>
        </p:nvSpPr>
        <p:spPr>
          <a:xfrm>
            <a:off x="4358640" y="5654040"/>
            <a:ext cx="3255264" cy="640080"/>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GB/T 22239</a:t>
            </a:r>
            <a:r>
              <a:rPr lang="en-US" sz="1680" b="1" dirty="0">
                <a:solidFill>
                  <a:srgbClr val="000000"/>
                </a:solidFill>
                <a:latin typeface="思源黑体 CN Bold" pitchFamily="34" charset="0"/>
                <a:ea typeface="思源黑体 CN Bold" pitchFamily="34" charset="-122"/>
                <a:cs typeface="思源黑体 CN Bold" pitchFamily="34" charset="-120"/>
              </a:rPr>
              <a:t>安全计算环境 → 入侵防范</a:t>
            </a:r>
            <a:endParaRPr lang="en-US" sz="1680" dirty="0"/>
          </a:p>
        </p:txBody>
      </p:sp>
      <p:pic>
        <p:nvPicPr>
          <p:cNvPr id="25" name="Image 10"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358640" y="4770120"/>
            <a:ext cx="426720" cy="426720"/>
          </a:xfrm>
          <a:prstGeom prst="rect">
            <a:avLst/>
          </a:prstGeom>
          <a:effectLst>
            <a:outerShdw blurRad="1935480000" dist="645160000" dir="-1" algn="bl" rotWithShape="0">
              <a:srgbClr val="0E5696">
                <a:alpha val="-2147483648"/>
              </a:srgbClr>
            </a:outerShdw>
          </a:effectLst>
        </p:spPr>
      </p:pic>
      <p:sp>
        <p:nvSpPr>
          <p:cNvPr id="26" name="Text 12"/>
          <p:cNvSpPr/>
          <p:nvPr/>
        </p:nvSpPr>
        <p:spPr>
          <a:xfrm>
            <a:off x="4511040" y="4831080"/>
            <a:ext cx="14630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2</a:t>
            </a:r>
            <a:endParaRPr lang="en-US" sz="1680" dirty="0"/>
          </a:p>
        </p:txBody>
      </p:sp>
      <p:pic>
        <p:nvPicPr>
          <p:cNvPr id="27" name="Image 11"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833360" y="4785360"/>
            <a:ext cx="426720" cy="426720"/>
          </a:xfrm>
          <a:prstGeom prst="rect">
            <a:avLst/>
          </a:prstGeom>
          <a:effectLst>
            <a:outerShdw blurRad="1935480000" dist="645160000" dir="-1" algn="bl" rotWithShape="0">
              <a:srgbClr val="0E5696">
                <a:alpha val="-2147483648"/>
              </a:srgbClr>
            </a:outerShdw>
          </a:effectLst>
        </p:spPr>
      </p:pic>
      <p:sp>
        <p:nvSpPr>
          <p:cNvPr id="28" name="Text 13"/>
          <p:cNvSpPr/>
          <p:nvPr/>
        </p:nvSpPr>
        <p:spPr>
          <a:xfrm>
            <a:off x="7985760" y="4831080"/>
            <a:ext cx="146304" cy="304800"/>
          </a:xfrm>
          <a:prstGeom prst="rect">
            <a:avLst/>
          </a:prstGeom>
          <a:noFill/>
        </p:spPr>
        <p:txBody>
          <a:bodyPr wrap="none" lIns="0" tIns="0" rIns="0" bIns="0" rtlCol="0" anchor="ct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3</a:t>
            </a:r>
            <a:endParaRPr lang="en-US" sz="1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漏洞扫描的核心原理</a:t>
            </a:r>
            <a:endParaRPr lang="en-US" sz="2760" dirty="0"/>
          </a:p>
        </p:txBody>
      </p:sp>
      <p:pic>
        <p:nvPicPr>
          <p:cNvPr id="6" name="Image 3" descr="https://test.web.static.jianzeppt.com/ppt-temp-img3/6b3bdbfac7bdd30afc453580a418a496.png?x-oss-process=image/resize,w_1440,h_800,m_lfit/format,png"/>
          <p:cNvPicPr>
            <a:picLocks noChangeAspect="1"/>
          </p:cNvPicPr>
          <p:nvPr/>
        </p:nvPicPr>
        <p:blipFill>
          <a:blip r:embed="rId4"/>
          <a:stretch>
            <a:fillRect/>
          </a:stretch>
        </p:blipFill>
        <p:spPr>
          <a:xfrm>
            <a:off x="609600" y="1371600"/>
            <a:ext cx="5379720" cy="1417320"/>
          </a:xfrm>
          <a:prstGeom prst="rect">
            <a:avLst/>
          </a:prstGeom>
        </p:spPr>
      </p:pic>
      <p:sp>
        <p:nvSpPr>
          <p:cNvPr id="7" name="Text 1"/>
          <p:cNvSpPr/>
          <p:nvPr/>
        </p:nvSpPr>
        <p:spPr>
          <a:xfrm>
            <a:off x="807720" y="1600200"/>
            <a:ext cx="499262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核心定义</a:t>
            </a:r>
            <a:endParaRPr lang="en-US" sz="1920" dirty="0"/>
          </a:p>
        </p:txBody>
      </p:sp>
      <p:sp>
        <p:nvSpPr>
          <p:cNvPr id="8" name="Text 2"/>
          <p:cNvSpPr/>
          <p:nvPr/>
        </p:nvSpPr>
        <p:spPr>
          <a:xfrm>
            <a:off x="807720" y="2026920"/>
            <a:ext cx="4992624" cy="548640"/>
          </a:xfrm>
          <a:prstGeom prst="rect">
            <a:avLst/>
          </a:prstGeom>
          <a:noFill/>
        </p:spPr>
        <p:txBody>
          <a:bodyPr wrap="squar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漏洞扫描是基于已知的漏洞数据库，通过模拟攻击行为检测目标系统是否存在可被利用的缺陷的自动化过程。</a:t>
            </a:r>
            <a:endParaRPr lang="en-US" sz="1440" dirty="0"/>
          </a:p>
        </p:txBody>
      </p:sp>
      <p:pic>
        <p:nvPicPr>
          <p:cNvPr id="9" name="Image 4" descr="https://test.web.static.jianzeppt.com/ppt-temp-img3/6b3bdbfac7bdd30afc453580a418a496.png?x-oss-process=image/resize,w_1440,h_800,m_lfit/format,png"/>
          <p:cNvPicPr>
            <a:picLocks noChangeAspect="1"/>
          </p:cNvPicPr>
          <p:nvPr/>
        </p:nvPicPr>
        <p:blipFill>
          <a:blip r:embed="rId4"/>
          <a:stretch>
            <a:fillRect/>
          </a:stretch>
        </p:blipFill>
        <p:spPr>
          <a:xfrm>
            <a:off x="6217920" y="1371600"/>
            <a:ext cx="5379720" cy="1417320"/>
          </a:xfrm>
          <a:prstGeom prst="rect">
            <a:avLst/>
          </a:prstGeom>
        </p:spPr>
      </p:pic>
      <p:sp>
        <p:nvSpPr>
          <p:cNvPr id="10" name="Text 3"/>
          <p:cNvSpPr/>
          <p:nvPr/>
        </p:nvSpPr>
        <p:spPr>
          <a:xfrm>
            <a:off x="6416040" y="1569720"/>
            <a:ext cx="499262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关键点</a:t>
            </a:r>
            <a:endParaRPr lang="en-US" sz="1920" dirty="0"/>
          </a:p>
        </p:txBody>
      </p:sp>
      <p:sp>
        <p:nvSpPr>
          <p:cNvPr id="11" name="Text 4"/>
          <p:cNvSpPr/>
          <p:nvPr/>
        </p:nvSpPr>
        <p:spPr>
          <a:xfrm>
            <a:off x="6416040" y="1996440"/>
            <a:ext cx="4992624" cy="594360"/>
          </a:xfrm>
          <a:prstGeom prst="rect">
            <a:avLst/>
          </a:prstGeom>
          <a:noFill/>
        </p:spPr>
        <p:txBody>
          <a:bodyPr wrap="squar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漏洞扫描是“基于特征码的匹配”——工具只能发现已知漏洞，无法发现</a:t>
            </a:r>
            <a:r>
              <a:rPr lang="en-US" sz="1680" dirty="0">
                <a:solidFill>
                  <a:srgbClr val="000000"/>
                </a:solidFill>
                <a:latin typeface="思源黑体 CN Bold" pitchFamily="34" charset="0"/>
                <a:ea typeface="思源黑体 CN Bold" pitchFamily="34" charset="-122"/>
                <a:cs typeface="思源黑体 CN Bold" pitchFamily="34" charset="-120"/>
              </a:rPr>
              <a:t>0day</a:t>
            </a:r>
            <a:r>
              <a:rPr lang="en-US" sz="1440" dirty="0">
                <a:solidFill>
                  <a:srgbClr val="000000"/>
                </a:solidFill>
                <a:latin typeface="思源黑体 CN Regular" pitchFamily="34" charset="0"/>
                <a:ea typeface="思源黑体 CN Regular" pitchFamily="34" charset="-122"/>
                <a:cs typeface="思源黑体 CN Regular" pitchFamily="34" charset="-120"/>
              </a:rPr>
              <a:t>。</a:t>
            </a:r>
            <a:endParaRPr lang="en-US" sz="1440" dirty="0"/>
          </a:p>
        </p:txBody>
      </p:sp>
      <p:sp>
        <p:nvSpPr>
          <p:cNvPr id="12" name="Text 5"/>
          <p:cNvSpPr/>
          <p:nvPr/>
        </p:nvSpPr>
        <p:spPr>
          <a:xfrm>
            <a:off x="609600" y="3017520"/>
            <a:ext cx="10981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技术原理三步走</a:t>
            </a:r>
            <a:endParaRPr lang="en-US" sz="1920" dirty="0"/>
          </a:p>
        </p:txBody>
      </p:sp>
      <p:pic>
        <p:nvPicPr>
          <p:cNvPr id="13" name="Image 5" descr="https://test.web.static.jianzeppt.com/ppt-temp-img3/b2051d8aa9ee85ffb1049155c46a8994.png?x-oss-process=image/resize,w_1440,h_800,m_lfit/format,png"/>
          <p:cNvPicPr>
            <a:picLocks noChangeAspect="1"/>
          </p:cNvPicPr>
          <p:nvPr/>
        </p:nvPicPr>
        <p:blipFill>
          <a:blip r:embed="rId5"/>
          <a:stretch>
            <a:fillRect/>
          </a:stretch>
        </p:blipFill>
        <p:spPr>
          <a:xfrm>
            <a:off x="609600" y="3505200"/>
            <a:ext cx="10972800" cy="1371600"/>
          </a:xfrm>
          <a:prstGeom prst="rect">
            <a:avLst/>
          </a:prstGeom>
        </p:spPr>
      </p:pic>
      <p:pic>
        <p:nvPicPr>
          <p:cNvPr id="14" name="Image 6"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133600" y="3535680"/>
            <a:ext cx="457200" cy="457200"/>
          </a:xfrm>
          <a:prstGeom prst="rect">
            <a:avLst/>
          </a:prstGeom>
        </p:spPr>
      </p:pic>
      <p:sp>
        <p:nvSpPr>
          <p:cNvPr id="15" name="Text 6"/>
          <p:cNvSpPr/>
          <p:nvPr/>
        </p:nvSpPr>
        <p:spPr>
          <a:xfrm>
            <a:off x="2301240" y="359664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1</a:t>
            </a:r>
            <a:endParaRPr lang="en-US" sz="1680" dirty="0"/>
          </a:p>
        </p:txBody>
      </p:sp>
      <p:sp>
        <p:nvSpPr>
          <p:cNvPr id="16" name="Text 7"/>
          <p:cNvSpPr/>
          <p:nvPr/>
        </p:nvSpPr>
        <p:spPr>
          <a:xfrm>
            <a:off x="1935480" y="40538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端口扫描</a:t>
            </a:r>
            <a:endParaRPr lang="en-US" sz="1680" dirty="0"/>
          </a:p>
        </p:txBody>
      </p:sp>
      <p:sp>
        <p:nvSpPr>
          <p:cNvPr id="17" name="Text 8"/>
          <p:cNvSpPr/>
          <p:nvPr/>
        </p:nvSpPr>
        <p:spPr>
          <a:xfrm>
            <a:off x="1752600" y="4404360"/>
            <a:ext cx="1228344" cy="368935"/>
          </a:xfrm>
          <a:prstGeom prst="rect">
            <a:avLst/>
          </a:prstGeom>
          <a:noFill/>
        </p:spPr>
        <p:txBody>
          <a:bodyPr wrap="square" lIns="0" tIns="0" rIns="0" bIns="0" rtlCol="0" anchor="t">
            <a:spAutoFit/>
          </a:bodyPr>
          <a:lstStyle/>
          <a:p>
            <a:pPr marL="0" indent="0" algn="ctr">
              <a:lnSpc>
                <a:spcPct val="100000"/>
              </a:lnSpc>
              <a:buNone/>
            </a:pPr>
            <a:r>
              <a:rPr lang="en-US" sz="1200" dirty="0">
                <a:solidFill>
                  <a:srgbClr val="6B6C70"/>
                </a:solidFill>
                <a:latin typeface="思源黑体 CN Regular" pitchFamily="34" charset="0"/>
                <a:ea typeface="思源黑体 CN Regular" pitchFamily="34" charset="-122"/>
                <a:cs typeface="思源黑体 CN Regular" pitchFamily="34" charset="-120"/>
              </a:rPr>
              <a:t>探测目标开放端口</a:t>
            </a:r>
            <a:r>
              <a:rPr lang="en-US" sz="1200" dirty="0">
                <a:solidFill>
                  <a:srgbClr val="6B6C70"/>
                </a:solidFill>
                <a:latin typeface="思源黑体 CN Regular" pitchFamily="34" charset="0"/>
                <a:ea typeface="思源黑体 CN Regular" pitchFamily="34" charset="-122"/>
                <a:cs typeface="思源黑体 CN Regular" pitchFamily="34" charset="-120"/>
              </a:rPr>
              <a:t>使用Nmap等工具</a:t>
            </a:r>
            <a:endParaRPr lang="en-US" sz="1200" dirty="0"/>
          </a:p>
        </p:txBody>
      </p:sp>
      <p:pic>
        <p:nvPicPr>
          <p:cNvPr id="18" name="Image 7" descr="https://test.web.static.jianzeppt.com/ppt-temp-img3/bebf73fb837a82d6fc1f8b7359383f3f.png?x-oss-process=image/resize,w_1440,h_800,m_lfit/format,png"/>
          <p:cNvPicPr>
            <a:picLocks noChangeAspect="1"/>
          </p:cNvPicPr>
          <p:nvPr/>
        </p:nvPicPr>
        <p:blipFill>
          <a:blip r:embed="rId8"/>
          <a:stretch>
            <a:fillRect/>
          </a:stretch>
        </p:blipFill>
        <p:spPr>
          <a:xfrm>
            <a:off x="4008120" y="3992880"/>
            <a:ext cx="426720" cy="396240"/>
          </a:xfrm>
          <a:prstGeom prst="rect">
            <a:avLst/>
          </a:prstGeom>
        </p:spPr>
      </p:pic>
      <p:pic>
        <p:nvPicPr>
          <p:cNvPr id="19" name="Image 8"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67400" y="3535680"/>
            <a:ext cx="457200" cy="457200"/>
          </a:xfrm>
          <a:prstGeom prst="rect">
            <a:avLst/>
          </a:prstGeom>
        </p:spPr>
      </p:pic>
      <p:sp>
        <p:nvSpPr>
          <p:cNvPr id="20" name="Text 9"/>
          <p:cNvSpPr/>
          <p:nvPr/>
        </p:nvSpPr>
        <p:spPr>
          <a:xfrm>
            <a:off x="6035040" y="359664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2</a:t>
            </a:r>
            <a:endParaRPr lang="en-US" sz="1680" dirty="0"/>
          </a:p>
        </p:txBody>
      </p:sp>
      <p:sp>
        <p:nvSpPr>
          <p:cNvPr id="21" name="Text 10"/>
          <p:cNvSpPr/>
          <p:nvPr/>
        </p:nvSpPr>
        <p:spPr>
          <a:xfrm>
            <a:off x="5669280" y="40538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服务识别</a:t>
            </a:r>
            <a:endParaRPr lang="en-US" sz="1680" dirty="0"/>
          </a:p>
        </p:txBody>
      </p:sp>
      <p:sp>
        <p:nvSpPr>
          <p:cNvPr id="22" name="Text 11"/>
          <p:cNvSpPr/>
          <p:nvPr/>
        </p:nvSpPr>
        <p:spPr>
          <a:xfrm>
            <a:off x="5334000" y="4404360"/>
            <a:ext cx="1533144" cy="368935"/>
          </a:xfrm>
          <a:prstGeom prst="rect">
            <a:avLst/>
          </a:prstGeom>
          <a:noFill/>
        </p:spPr>
        <p:txBody>
          <a:bodyPr wrap="square" lIns="0" tIns="0" rIns="0" bIns="0" rtlCol="0" anchor="t">
            <a:spAutoFit/>
          </a:bodyPr>
          <a:lstStyle/>
          <a:p>
            <a:pPr marL="0" indent="0" algn="ctr">
              <a:lnSpc>
                <a:spcPct val="100000"/>
              </a:lnSpc>
              <a:buNone/>
            </a:pPr>
            <a:r>
              <a:rPr lang="en-US" sz="1200" dirty="0">
                <a:solidFill>
                  <a:srgbClr val="6B6C70"/>
                </a:solidFill>
                <a:latin typeface="思源黑体 CN Regular" pitchFamily="34" charset="0"/>
                <a:ea typeface="思源黑体 CN Regular" pitchFamily="34" charset="-122"/>
                <a:cs typeface="思源黑体 CN Regular" pitchFamily="34" charset="-120"/>
              </a:rPr>
              <a:t>通过协议特征判断版本</a:t>
            </a:r>
            <a:r>
              <a:rPr lang="en-US" sz="1200" dirty="0">
                <a:solidFill>
                  <a:srgbClr val="6B6C70"/>
                </a:solidFill>
                <a:latin typeface="思源黑体 CN Regular" pitchFamily="34" charset="0"/>
                <a:ea typeface="思源黑体 CN Regular" pitchFamily="34" charset="-122"/>
                <a:cs typeface="思源黑体 CN Regular" pitchFamily="34" charset="-120"/>
              </a:rPr>
              <a:t>例：OpenSSH 7.4</a:t>
            </a:r>
            <a:endParaRPr lang="en-US" sz="1200" dirty="0"/>
          </a:p>
        </p:txBody>
      </p:sp>
      <p:pic>
        <p:nvPicPr>
          <p:cNvPr id="23" name="Image 9" descr="https://test.web.static.jianzeppt.com/ppt-temp-img3/bebf73fb837a82d6fc1f8b7359383f3f.png?x-oss-process=image/resize,w_1440,h_800,m_lfit/format,png"/>
          <p:cNvPicPr>
            <a:picLocks noChangeAspect="1"/>
          </p:cNvPicPr>
          <p:nvPr/>
        </p:nvPicPr>
        <p:blipFill>
          <a:blip r:embed="rId8"/>
          <a:stretch>
            <a:fillRect/>
          </a:stretch>
        </p:blipFill>
        <p:spPr>
          <a:xfrm>
            <a:off x="7757160" y="3992880"/>
            <a:ext cx="426720" cy="396240"/>
          </a:xfrm>
          <a:prstGeom prst="rect">
            <a:avLst/>
          </a:prstGeom>
        </p:spPr>
      </p:pic>
      <p:pic>
        <p:nvPicPr>
          <p:cNvPr id="24" name="Image 10"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601200" y="3535680"/>
            <a:ext cx="457200" cy="457200"/>
          </a:xfrm>
          <a:prstGeom prst="rect">
            <a:avLst/>
          </a:prstGeom>
        </p:spPr>
      </p:pic>
      <p:sp>
        <p:nvSpPr>
          <p:cNvPr id="25" name="Text 12"/>
          <p:cNvSpPr/>
          <p:nvPr/>
        </p:nvSpPr>
        <p:spPr>
          <a:xfrm>
            <a:off x="9768840" y="359664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3</a:t>
            </a:r>
            <a:endParaRPr lang="en-US" sz="1680" dirty="0"/>
          </a:p>
        </p:txBody>
      </p:sp>
      <p:sp>
        <p:nvSpPr>
          <p:cNvPr id="26" name="Text 13"/>
          <p:cNvSpPr/>
          <p:nvPr/>
        </p:nvSpPr>
        <p:spPr>
          <a:xfrm>
            <a:off x="9403080" y="40538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漏洞匹配</a:t>
            </a:r>
            <a:endParaRPr lang="en-US" sz="1680" dirty="0"/>
          </a:p>
        </p:txBody>
      </p:sp>
      <p:sp>
        <p:nvSpPr>
          <p:cNvPr id="27" name="Text 14"/>
          <p:cNvSpPr/>
          <p:nvPr/>
        </p:nvSpPr>
        <p:spPr>
          <a:xfrm>
            <a:off x="9052560" y="4404360"/>
            <a:ext cx="1563624" cy="368935"/>
          </a:xfrm>
          <a:prstGeom prst="rect">
            <a:avLst/>
          </a:prstGeom>
          <a:noFill/>
        </p:spPr>
        <p:txBody>
          <a:bodyPr wrap="square" lIns="0" tIns="0" rIns="0" bIns="0" rtlCol="0" anchor="t">
            <a:spAutoFit/>
          </a:bodyPr>
          <a:lstStyle/>
          <a:p>
            <a:pPr marL="0" indent="0" algn="l">
              <a:lnSpc>
                <a:spcPct val="100000"/>
              </a:lnSpc>
              <a:buNone/>
            </a:pPr>
            <a:r>
              <a:rPr lang="en-US" sz="1200" dirty="0">
                <a:solidFill>
                  <a:srgbClr val="6B6C70"/>
                </a:solidFill>
                <a:latin typeface="思源黑体 CN Regular" pitchFamily="34" charset="0"/>
                <a:ea typeface="思源黑体 CN Regular" pitchFamily="34" charset="-122"/>
                <a:cs typeface="思源黑体 CN Regular" pitchFamily="34" charset="-120"/>
              </a:rPr>
              <a:t>与CVE/NVD漏洞库对比</a:t>
            </a:r>
            <a:r>
              <a:rPr lang="en-US" sz="1200" dirty="0">
                <a:solidFill>
                  <a:srgbClr val="6B6C70"/>
                </a:solidFill>
                <a:latin typeface="思源黑体 CN Regular" pitchFamily="34" charset="0"/>
                <a:ea typeface="思源黑体 CN Regular" pitchFamily="34" charset="-122"/>
                <a:cs typeface="思源黑体 CN Regular" pitchFamily="34" charset="-120"/>
              </a:rPr>
              <a:t>生成报告</a:t>
            </a:r>
            <a:endParaRPr lang="en-US" sz="1200" dirty="0"/>
          </a:p>
        </p:txBody>
      </p:sp>
      <p:sp>
        <p:nvSpPr>
          <p:cNvPr id="28" name="Text 15"/>
          <p:cNvSpPr/>
          <p:nvPr/>
        </p:nvSpPr>
        <p:spPr>
          <a:xfrm>
            <a:off x="609600" y="5105400"/>
            <a:ext cx="1098194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Bold" pitchFamily="34" charset="0"/>
                <a:ea typeface="思源黑体 CN Bold" pitchFamily="34" charset="-122"/>
                <a:cs typeface="思源黑体 CN Bold" pitchFamily="34" charset="-120"/>
              </a:rPr>
              <a:t>常见扫描类型</a:t>
            </a:r>
            <a:endParaRPr lang="en-US" sz="1440" dirty="0"/>
          </a:p>
        </p:txBody>
      </p:sp>
      <p:pic>
        <p:nvPicPr>
          <p:cNvPr id="29" name="Image 11" descr="https://test.web.static.jianzeppt.com/ppt-temp-img3/bd73deb5ef22b40588e57ee5576501b8.png?x-oss-process=image/resize,w_1440,h_800,m_lfit/format,png"/>
          <p:cNvPicPr>
            <a:picLocks noChangeAspect="1"/>
          </p:cNvPicPr>
          <p:nvPr/>
        </p:nvPicPr>
        <p:blipFill>
          <a:blip r:embed="rId9"/>
          <a:stretch>
            <a:fillRect/>
          </a:stretch>
        </p:blipFill>
        <p:spPr>
          <a:xfrm>
            <a:off x="609600" y="5297170"/>
            <a:ext cx="3505200" cy="1066800"/>
          </a:xfrm>
          <a:prstGeom prst="rect">
            <a:avLst/>
          </a:prstGeom>
        </p:spPr>
      </p:pic>
      <p:pic>
        <p:nvPicPr>
          <p:cNvPr id="30" name="Image 12"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807720" y="5495290"/>
            <a:ext cx="304800" cy="304800"/>
          </a:xfrm>
          <a:prstGeom prst="rect">
            <a:avLst/>
          </a:prstGeom>
        </p:spPr>
      </p:pic>
      <p:sp>
        <p:nvSpPr>
          <p:cNvPr id="31" name="Text 16"/>
          <p:cNvSpPr/>
          <p:nvPr/>
        </p:nvSpPr>
        <p:spPr>
          <a:xfrm>
            <a:off x="1234440" y="5495290"/>
            <a:ext cx="128930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Bold" pitchFamily="34" charset="0"/>
                <a:ea typeface="思源黑体 CN Bold" pitchFamily="34" charset="-122"/>
                <a:cs typeface="思源黑体 CN Bold" pitchFamily="34" charset="-120"/>
              </a:rPr>
              <a:t>主机漏洞扫描</a:t>
            </a:r>
            <a:endParaRPr lang="en-US" sz="1680" dirty="0"/>
          </a:p>
        </p:txBody>
      </p:sp>
      <p:sp>
        <p:nvSpPr>
          <p:cNvPr id="32" name="Text 17"/>
          <p:cNvSpPr/>
          <p:nvPr/>
        </p:nvSpPr>
        <p:spPr>
          <a:xfrm>
            <a:off x="807720" y="5906770"/>
            <a:ext cx="3118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727478"/>
                </a:solidFill>
                <a:latin typeface="思源黑体 CN Regular" pitchFamily="34" charset="0"/>
                <a:ea typeface="思源黑体 CN Regular" pitchFamily="34" charset="-122"/>
                <a:cs typeface="思源黑体 CN Regular" pitchFamily="34" charset="-120"/>
              </a:rPr>
              <a:t>检查操作系统补丁、配置错误</a:t>
            </a:r>
            <a:endParaRPr lang="en-US" sz="1440" dirty="0"/>
          </a:p>
        </p:txBody>
      </p:sp>
      <p:sp>
        <p:nvSpPr>
          <p:cNvPr id="33" name="Text 18"/>
          <p:cNvSpPr/>
          <p:nvPr/>
        </p:nvSpPr>
        <p:spPr>
          <a:xfrm>
            <a:off x="807720" y="6089650"/>
            <a:ext cx="1487424" cy="228600"/>
          </a:xfrm>
          <a:prstGeom prst="rect">
            <a:avLst/>
          </a:prstGeom>
          <a:noFill/>
        </p:spPr>
        <p:txBody>
          <a:bodyPr wrap="none" lIns="0" tIns="0" rIns="0" bIns="0" rtlCol="0" anchor="t">
            <a:spAutoFit/>
          </a:bodyPr>
          <a:lstStyle/>
          <a:p>
            <a:pPr marL="0" indent="0" algn="l">
              <a:lnSpc>
                <a:spcPct val="150000"/>
              </a:lnSpc>
              <a:buNone/>
            </a:pPr>
            <a:r>
              <a:rPr lang="en-US" sz="1200" dirty="0">
                <a:solidFill>
                  <a:srgbClr val="000000"/>
                </a:solidFill>
                <a:latin typeface="思源黑体 CN Regular" pitchFamily="34" charset="0"/>
                <a:ea typeface="思源黑体 CN Regular" pitchFamily="34" charset="-122"/>
                <a:cs typeface="思源黑体 CN Regular" pitchFamily="34" charset="-120"/>
              </a:rPr>
              <a:t>工具：Nessus、Lynis</a:t>
            </a:r>
            <a:endParaRPr lang="en-US" sz="1200" dirty="0"/>
          </a:p>
        </p:txBody>
      </p:sp>
      <p:pic>
        <p:nvPicPr>
          <p:cNvPr id="34" name="Image 13" descr="https://test.web.static.jianzeppt.com/ppt-temp-img3/7035cc752041ba8d6df2c774820b2138.png?x-oss-process=image/resize,w_1440,h_800,m_lfit/format,png"/>
          <p:cNvPicPr>
            <a:picLocks noChangeAspect="1"/>
          </p:cNvPicPr>
          <p:nvPr/>
        </p:nvPicPr>
        <p:blipFill>
          <a:blip r:embed="rId12"/>
          <a:stretch>
            <a:fillRect/>
          </a:stretch>
        </p:blipFill>
        <p:spPr>
          <a:xfrm>
            <a:off x="807720" y="5867298"/>
            <a:ext cx="3108960" cy="15240"/>
          </a:xfrm>
          <a:prstGeom prst="rect">
            <a:avLst/>
          </a:prstGeom>
        </p:spPr>
      </p:pic>
      <p:pic>
        <p:nvPicPr>
          <p:cNvPr id="35" name="Image 14" descr="https://test.web.static.jianzeppt.com/ppt-temp-img3/bd73deb5ef22b40588e57ee5576501b8.png?x-oss-process=image/resize,w_1440,h_800,m_lfit/format,png"/>
          <p:cNvPicPr>
            <a:picLocks noChangeAspect="1"/>
          </p:cNvPicPr>
          <p:nvPr/>
        </p:nvPicPr>
        <p:blipFill>
          <a:blip r:embed="rId9"/>
          <a:stretch>
            <a:fillRect/>
          </a:stretch>
        </p:blipFill>
        <p:spPr>
          <a:xfrm>
            <a:off x="4343400" y="5297170"/>
            <a:ext cx="3505200" cy="1066800"/>
          </a:xfrm>
          <a:prstGeom prst="rect">
            <a:avLst/>
          </a:prstGeom>
        </p:spPr>
      </p:pic>
      <p:pic>
        <p:nvPicPr>
          <p:cNvPr id="36" name="Image 15"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541520" y="5495290"/>
            <a:ext cx="304800" cy="304800"/>
          </a:xfrm>
          <a:prstGeom prst="rect">
            <a:avLst/>
          </a:prstGeom>
        </p:spPr>
      </p:pic>
      <p:sp>
        <p:nvSpPr>
          <p:cNvPr id="37" name="Text 19"/>
          <p:cNvSpPr/>
          <p:nvPr/>
        </p:nvSpPr>
        <p:spPr>
          <a:xfrm>
            <a:off x="4968240" y="5495290"/>
            <a:ext cx="1304544" cy="297180"/>
          </a:xfrm>
          <a:prstGeom prst="rect">
            <a:avLst/>
          </a:prstGeom>
          <a:noFill/>
        </p:spPr>
        <p:txBody>
          <a:bodyPr wrap="none" lIns="0" tIns="0" rIns="0" bIns="0" rtlCol="0" anchor="t">
            <a:spAutoFit/>
          </a:bodyPr>
          <a:lstStyle/>
          <a:p>
            <a:pPr marL="0" indent="0" algn="l">
              <a:lnSpc>
                <a:spcPct val="100000"/>
              </a:lnSpc>
              <a:buNone/>
            </a:pPr>
            <a:r>
              <a:rPr lang="en-US" sz="1560" dirty="0">
                <a:solidFill>
                  <a:srgbClr val="000000"/>
                </a:solidFill>
                <a:latin typeface="思源黑体 CN Bold" pitchFamily="34" charset="0"/>
                <a:ea typeface="思源黑体 CN Bold" pitchFamily="34" charset="-122"/>
                <a:cs typeface="思源黑体 CN Bold" pitchFamily="34" charset="-120"/>
              </a:rPr>
              <a:t>Web应用扫描</a:t>
            </a:r>
            <a:endParaRPr lang="en-US" sz="1560" dirty="0"/>
          </a:p>
        </p:txBody>
      </p:sp>
      <p:sp>
        <p:nvSpPr>
          <p:cNvPr id="38" name="Text 20"/>
          <p:cNvSpPr/>
          <p:nvPr/>
        </p:nvSpPr>
        <p:spPr>
          <a:xfrm>
            <a:off x="4541520" y="5906770"/>
            <a:ext cx="3118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727478"/>
                </a:solidFill>
                <a:latin typeface="思源黑体 CN Regular" pitchFamily="34" charset="0"/>
                <a:ea typeface="思源黑体 CN Regular" pitchFamily="34" charset="-122"/>
                <a:cs typeface="思源黑体 CN Regular" pitchFamily="34" charset="-120"/>
              </a:rPr>
              <a:t>模拟SQL注入、XSS攻击</a:t>
            </a:r>
            <a:endParaRPr lang="en-US" sz="1440" dirty="0"/>
          </a:p>
        </p:txBody>
      </p:sp>
      <p:sp>
        <p:nvSpPr>
          <p:cNvPr id="39" name="Text 21"/>
          <p:cNvSpPr/>
          <p:nvPr/>
        </p:nvSpPr>
        <p:spPr>
          <a:xfrm>
            <a:off x="4541520" y="6089650"/>
            <a:ext cx="1776984" cy="228600"/>
          </a:xfrm>
          <a:prstGeom prst="rect">
            <a:avLst/>
          </a:prstGeom>
          <a:noFill/>
        </p:spPr>
        <p:txBody>
          <a:bodyPr wrap="none" lIns="0" tIns="0" rIns="0" bIns="0" rtlCol="0" anchor="t">
            <a:spAutoFit/>
          </a:bodyPr>
          <a:lstStyle/>
          <a:p>
            <a:pPr marL="0" indent="0" algn="l">
              <a:lnSpc>
                <a:spcPct val="150000"/>
              </a:lnSpc>
              <a:buNone/>
            </a:pPr>
            <a:r>
              <a:rPr lang="en-US" sz="1200" dirty="0">
                <a:solidFill>
                  <a:srgbClr val="000000"/>
                </a:solidFill>
                <a:latin typeface="思源黑体 CN Regular" pitchFamily="34" charset="0"/>
                <a:ea typeface="思源黑体 CN Regular" pitchFamily="34" charset="-122"/>
                <a:cs typeface="思源黑体 CN Regular" pitchFamily="34" charset="-120"/>
              </a:rPr>
              <a:t>工具：AWVS、Burp Suite</a:t>
            </a:r>
            <a:endParaRPr lang="en-US" sz="1200" dirty="0"/>
          </a:p>
        </p:txBody>
      </p:sp>
      <p:pic>
        <p:nvPicPr>
          <p:cNvPr id="40" name="Image 16" descr="https://test.web.static.jianzeppt.com/ppt-temp-img3/7035cc752041ba8d6df2c774820b2138.png?x-oss-process=image/resize,w_1440,h_800,m_lfit/format,png"/>
          <p:cNvPicPr>
            <a:picLocks noChangeAspect="1"/>
          </p:cNvPicPr>
          <p:nvPr/>
        </p:nvPicPr>
        <p:blipFill>
          <a:blip r:embed="rId12"/>
          <a:stretch>
            <a:fillRect/>
          </a:stretch>
        </p:blipFill>
        <p:spPr>
          <a:xfrm>
            <a:off x="4541520" y="5867298"/>
            <a:ext cx="3108960" cy="15240"/>
          </a:xfrm>
          <a:prstGeom prst="rect">
            <a:avLst/>
          </a:prstGeom>
        </p:spPr>
      </p:pic>
      <p:pic>
        <p:nvPicPr>
          <p:cNvPr id="41" name="Image 17" descr="https://test.web.static.jianzeppt.com/ppt-temp-img3/bd73deb5ef22b40588e57ee5576501b8.png?x-oss-process=image/resize,w_1440,h_800,m_lfit/format,png"/>
          <p:cNvPicPr>
            <a:picLocks noChangeAspect="1"/>
          </p:cNvPicPr>
          <p:nvPr/>
        </p:nvPicPr>
        <p:blipFill>
          <a:blip r:embed="rId9"/>
          <a:stretch>
            <a:fillRect/>
          </a:stretch>
        </p:blipFill>
        <p:spPr>
          <a:xfrm>
            <a:off x="8077200" y="5297170"/>
            <a:ext cx="3505200" cy="1066800"/>
          </a:xfrm>
          <a:prstGeom prst="rect">
            <a:avLst/>
          </a:prstGeom>
        </p:spPr>
      </p:pic>
      <p:pic>
        <p:nvPicPr>
          <p:cNvPr id="42" name="Image 18" descr="preencoded.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275320" y="5495290"/>
            <a:ext cx="304800" cy="304800"/>
          </a:xfrm>
          <a:prstGeom prst="rect">
            <a:avLst/>
          </a:prstGeom>
        </p:spPr>
      </p:pic>
      <p:sp>
        <p:nvSpPr>
          <p:cNvPr id="43" name="Text 22"/>
          <p:cNvSpPr/>
          <p:nvPr/>
        </p:nvSpPr>
        <p:spPr>
          <a:xfrm>
            <a:off x="8702040" y="5495290"/>
            <a:ext cx="10759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数据库扫描</a:t>
            </a:r>
            <a:endParaRPr lang="en-US" sz="1680" dirty="0"/>
          </a:p>
        </p:txBody>
      </p:sp>
      <p:sp>
        <p:nvSpPr>
          <p:cNvPr id="44" name="Text 23"/>
          <p:cNvSpPr/>
          <p:nvPr/>
        </p:nvSpPr>
        <p:spPr>
          <a:xfrm>
            <a:off x="8275320" y="5906770"/>
            <a:ext cx="3118104" cy="274320"/>
          </a:xfrm>
          <a:prstGeom prst="rect">
            <a:avLst/>
          </a:prstGeom>
          <a:noFill/>
        </p:spPr>
        <p:txBody>
          <a:bodyPr wrap="none" lIns="0" tIns="0" rIns="0" bIns="0" rtlCol="0" anchor="t">
            <a:spAutoFit/>
          </a:bodyPr>
          <a:lstStyle/>
          <a:p>
            <a:pPr marL="0" indent="0" algn="l">
              <a:lnSpc>
                <a:spcPct val="100000"/>
              </a:lnSpc>
              <a:buNone/>
            </a:pPr>
            <a:r>
              <a:rPr lang="en-US" sz="1440" dirty="0">
                <a:solidFill>
                  <a:srgbClr val="727478"/>
                </a:solidFill>
                <a:latin typeface="思源黑体 CN Regular" pitchFamily="34" charset="0"/>
                <a:ea typeface="思源黑体 CN Regular" pitchFamily="34" charset="-122"/>
                <a:cs typeface="思源黑体 CN Regular" pitchFamily="34" charset="-120"/>
              </a:rPr>
              <a:t>检查权限配置、弱密码</a:t>
            </a:r>
            <a:endParaRPr lang="en-US" sz="1440" dirty="0"/>
          </a:p>
        </p:txBody>
      </p:sp>
      <p:sp>
        <p:nvSpPr>
          <p:cNvPr id="45" name="Text 24"/>
          <p:cNvSpPr/>
          <p:nvPr/>
        </p:nvSpPr>
        <p:spPr>
          <a:xfrm>
            <a:off x="8275320" y="6089650"/>
            <a:ext cx="1014984" cy="228600"/>
          </a:xfrm>
          <a:prstGeom prst="rect">
            <a:avLst/>
          </a:prstGeom>
          <a:noFill/>
        </p:spPr>
        <p:txBody>
          <a:bodyPr wrap="none" lIns="0" tIns="0" rIns="0" bIns="0" rtlCol="0" anchor="t">
            <a:spAutoFit/>
          </a:bodyPr>
          <a:lstStyle/>
          <a:p>
            <a:pPr marL="0" indent="0" algn="l">
              <a:lnSpc>
                <a:spcPct val="150000"/>
              </a:lnSpc>
              <a:buNone/>
            </a:pPr>
            <a:r>
              <a:rPr lang="en-US" sz="1200" dirty="0">
                <a:solidFill>
                  <a:srgbClr val="000000"/>
                </a:solidFill>
                <a:latin typeface="思源黑体 CN Regular" pitchFamily="34" charset="0"/>
                <a:ea typeface="思源黑体 CN Regular" pitchFamily="34" charset="-122"/>
                <a:cs typeface="思源黑体 CN Regular" pitchFamily="34" charset="-120"/>
              </a:rPr>
              <a:t>工具：DBScan</a:t>
            </a:r>
            <a:endParaRPr lang="en-US" sz="1200" dirty="0"/>
          </a:p>
        </p:txBody>
      </p:sp>
      <p:pic>
        <p:nvPicPr>
          <p:cNvPr id="46" name="Image 19" descr="https://test.web.static.jianzeppt.com/ppt-temp-img3/7035cc752041ba8d6df2c774820b2138.png?x-oss-process=image/resize,w_1440,h_800,m_lfit/format,png"/>
          <p:cNvPicPr>
            <a:picLocks noChangeAspect="1"/>
          </p:cNvPicPr>
          <p:nvPr/>
        </p:nvPicPr>
        <p:blipFill>
          <a:blip r:embed="rId12"/>
          <a:stretch>
            <a:fillRect/>
          </a:stretch>
        </p:blipFill>
        <p:spPr>
          <a:xfrm>
            <a:off x="8275320" y="5867298"/>
            <a:ext cx="3108960" cy="15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常见漏洞扫描工具介绍</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371600"/>
            <a:ext cx="10972800" cy="3794760"/>
          </a:xfrm>
          <a:prstGeom prst="rect">
            <a:avLst/>
          </a:prstGeom>
          <a:effectLst>
            <a:outerShdw blurRad="-2147483648" dist="1935480000" dir="-1" algn="bl" rotWithShape="0">
              <a:srgbClr val="000000">
                <a:alpha val="1000000000"/>
              </a:srgbClr>
            </a:outerShdw>
          </a:effectLst>
        </p:spPr>
      </p:pic>
      <p:pic>
        <p:nvPicPr>
          <p:cNvPr id="7" name="Image 4" descr="https://test.web.static.jianzeppt.com/ppt-temp-img3/9b6c5698b8539ed323f840f537d7ef06.png?x-oss-process=image/resize,w_1440,h_800,m_lfit/format,png"/>
          <p:cNvPicPr>
            <a:picLocks noChangeAspect="1"/>
          </p:cNvPicPr>
          <p:nvPr/>
        </p:nvPicPr>
        <p:blipFill>
          <a:blip r:embed="rId6"/>
          <a:stretch>
            <a:fillRect/>
          </a:stretch>
        </p:blipFill>
        <p:spPr>
          <a:xfrm>
            <a:off x="624840" y="1386840"/>
            <a:ext cx="10942320" cy="899160"/>
          </a:xfrm>
          <a:prstGeom prst="rect">
            <a:avLst/>
          </a:prstGeom>
        </p:spPr>
      </p:pic>
      <p:sp>
        <p:nvSpPr>
          <p:cNvPr id="8" name="Text 1"/>
          <p:cNvSpPr/>
          <p:nvPr/>
        </p:nvSpPr>
        <p:spPr>
          <a:xfrm>
            <a:off x="868680" y="1630680"/>
            <a:ext cx="150266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工具</a:t>
            </a:r>
            <a:endParaRPr lang="en-US" sz="2160" dirty="0"/>
          </a:p>
        </p:txBody>
      </p:sp>
      <p:sp>
        <p:nvSpPr>
          <p:cNvPr id="9" name="Text 2"/>
          <p:cNvSpPr/>
          <p:nvPr/>
        </p:nvSpPr>
        <p:spPr>
          <a:xfrm>
            <a:off x="2834640" y="1630680"/>
            <a:ext cx="192938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类型</a:t>
            </a:r>
            <a:endParaRPr lang="en-US" sz="2160" dirty="0"/>
          </a:p>
        </p:txBody>
      </p:sp>
      <p:sp>
        <p:nvSpPr>
          <p:cNvPr id="10" name="Text 3"/>
          <p:cNvSpPr/>
          <p:nvPr/>
        </p:nvSpPr>
        <p:spPr>
          <a:xfrm>
            <a:off x="5242560" y="1630680"/>
            <a:ext cx="336194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特点</a:t>
            </a:r>
            <a:endParaRPr lang="en-US" sz="2160" dirty="0"/>
          </a:p>
        </p:txBody>
      </p:sp>
      <p:sp>
        <p:nvSpPr>
          <p:cNvPr id="11" name="Text 4"/>
          <p:cNvSpPr/>
          <p:nvPr/>
        </p:nvSpPr>
        <p:spPr>
          <a:xfrm>
            <a:off x="9067800" y="1630680"/>
            <a:ext cx="2264664" cy="411480"/>
          </a:xfrm>
          <a:prstGeom prst="rect">
            <a:avLst/>
          </a:prstGeom>
          <a:noFill/>
        </p:spPr>
        <p:txBody>
          <a:bodyPr wrap="none" lIns="0" tIns="0" rIns="0" bIns="0" rtlCol="0" anchor="t">
            <a:spAutoFit/>
          </a:bodyPr>
          <a:lstStyle/>
          <a:p>
            <a:pPr marL="0" indent="0" algn="l">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适用场景</a:t>
            </a:r>
            <a:endParaRPr lang="en-US" sz="2160" dirty="0"/>
          </a:p>
        </p:txBody>
      </p:sp>
      <p:pic>
        <p:nvPicPr>
          <p:cNvPr id="12" name="Image 5" descr="https://test.web.static.jianzeppt.com/ppt-temp-img3/08ac002a732cc515bd20af7599fdf0d7.png?x-oss-process=image/resize,w_1440,h_800,m_lfit/format,png"/>
          <p:cNvPicPr>
            <a:picLocks noChangeAspect="1"/>
          </p:cNvPicPr>
          <p:nvPr/>
        </p:nvPicPr>
        <p:blipFill>
          <a:blip r:embed="rId7"/>
          <a:stretch>
            <a:fillRect/>
          </a:stretch>
        </p:blipFill>
        <p:spPr>
          <a:xfrm>
            <a:off x="624840" y="2286000"/>
            <a:ext cx="10942320" cy="1143000"/>
          </a:xfrm>
          <a:prstGeom prst="rect">
            <a:avLst/>
          </a:prstGeom>
        </p:spPr>
      </p:pic>
      <p:sp>
        <p:nvSpPr>
          <p:cNvPr id="13" name="Text 5"/>
          <p:cNvSpPr/>
          <p:nvPr/>
        </p:nvSpPr>
        <p:spPr>
          <a:xfrm>
            <a:off x="868680" y="2529840"/>
            <a:ext cx="1502664" cy="655320"/>
          </a:xfrm>
          <a:prstGeom prst="rect">
            <a:avLst/>
          </a:prstGeom>
          <a:noFill/>
        </p:spPr>
        <p:txBody>
          <a:bodyPr wrap="none" lIns="0" tIns="0" rIns="0" bIns="0" rtlCol="0" anchor="ctr"/>
          <a:lstStyle/>
          <a:p>
            <a:pPr marL="0" indent="0" algn="l">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Nessus</a:t>
            </a:r>
            <a:endParaRPr lang="en-US" sz="1680" dirty="0"/>
          </a:p>
        </p:txBody>
      </p:sp>
      <p:sp>
        <p:nvSpPr>
          <p:cNvPr id="14" name="Text 6"/>
          <p:cNvSpPr/>
          <p:nvPr/>
        </p:nvSpPr>
        <p:spPr>
          <a:xfrm>
            <a:off x="2834640" y="2529840"/>
            <a:ext cx="1929384" cy="655320"/>
          </a:xfrm>
          <a:prstGeom prst="rect">
            <a:avLst/>
          </a:prstGeom>
          <a:noFill/>
        </p:spPr>
        <p:txBody>
          <a:bodyPr wrap="none" lIns="0" tIns="0" rIns="0" bIns="0" rtlCol="0" anchor="ct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商业（有免费版）</a:t>
            </a:r>
            <a:endParaRPr lang="en-US" sz="1680" dirty="0"/>
          </a:p>
        </p:txBody>
      </p:sp>
      <p:sp>
        <p:nvSpPr>
          <p:cNvPr id="15" name="Text 7"/>
          <p:cNvSpPr/>
          <p:nvPr/>
        </p:nvSpPr>
        <p:spPr>
          <a:xfrm>
            <a:off x="5242560" y="2529840"/>
            <a:ext cx="336194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漏洞库更新快、覆盖面广、界面友好、报告能力强</a:t>
            </a:r>
            <a:endParaRPr lang="en-US" sz="1680" dirty="0"/>
          </a:p>
        </p:txBody>
      </p:sp>
      <p:sp>
        <p:nvSpPr>
          <p:cNvPr id="16" name="Text 8"/>
          <p:cNvSpPr/>
          <p:nvPr/>
        </p:nvSpPr>
        <p:spPr>
          <a:xfrm>
            <a:off x="9067800" y="2529840"/>
            <a:ext cx="2264664" cy="655320"/>
          </a:xfrm>
          <a:prstGeom prst="rect">
            <a:avLst/>
          </a:prstGeom>
          <a:noFill/>
        </p:spPr>
        <p:txBody>
          <a:bodyPr wrap="none" lIns="0" tIns="0" rIns="0" bIns="0" rtlCol="0" anchor="ct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企业级、合规要求高</a:t>
            </a:r>
            <a:endParaRPr lang="en-US" sz="1680" dirty="0"/>
          </a:p>
        </p:txBody>
      </p:sp>
      <p:pic>
        <p:nvPicPr>
          <p:cNvPr id="17" name="Image 6" descr="https://test.web.static.jianzeppt.com/ppt-temp-img3/c4e8edfe9f5a1d127623bea7bf3e458d.png?x-oss-process=image/resize,w_1440,h_800,m_lfit/format,png"/>
          <p:cNvPicPr>
            <a:picLocks noChangeAspect="1"/>
          </p:cNvPicPr>
          <p:nvPr/>
        </p:nvPicPr>
        <p:blipFill>
          <a:blip r:embed="rId8"/>
          <a:stretch>
            <a:fillRect/>
          </a:stretch>
        </p:blipFill>
        <p:spPr>
          <a:xfrm>
            <a:off x="624840" y="3421380"/>
            <a:ext cx="10942320" cy="15240"/>
          </a:xfrm>
          <a:prstGeom prst="rect">
            <a:avLst/>
          </a:prstGeom>
        </p:spPr>
      </p:pic>
      <p:pic>
        <p:nvPicPr>
          <p:cNvPr id="18" name="Image 7" descr="https://test.web.static.jianzeppt.com/ppt-temp-img3/08ac002a732cc515bd20af7599fdf0d7.png?x-oss-process=image/resize,w_1440,h_800,m_lfit/format,png"/>
          <p:cNvPicPr>
            <a:picLocks noChangeAspect="1"/>
          </p:cNvPicPr>
          <p:nvPr/>
        </p:nvPicPr>
        <p:blipFill>
          <a:blip r:embed="rId7"/>
          <a:stretch>
            <a:fillRect/>
          </a:stretch>
        </p:blipFill>
        <p:spPr>
          <a:xfrm>
            <a:off x="624840" y="3429000"/>
            <a:ext cx="10942320" cy="1143000"/>
          </a:xfrm>
          <a:prstGeom prst="rect">
            <a:avLst/>
          </a:prstGeom>
        </p:spPr>
      </p:pic>
      <p:sp>
        <p:nvSpPr>
          <p:cNvPr id="19" name="Text 9"/>
          <p:cNvSpPr/>
          <p:nvPr/>
        </p:nvSpPr>
        <p:spPr>
          <a:xfrm>
            <a:off x="868680" y="3672840"/>
            <a:ext cx="1502664" cy="655320"/>
          </a:xfrm>
          <a:prstGeom prst="rect">
            <a:avLst/>
          </a:prstGeom>
          <a:noFill/>
        </p:spPr>
        <p:txBody>
          <a:bodyPr wrap="none" lIns="0" tIns="0" rIns="0" bIns="0" rtlCol="0" anchor="ctr"/>
          <a:lstStyle/>
          <a:p>
            <a:pPr marL="0" indent="0" algn="l">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OpenVAS</a:t>
            </a:r>
            <a:endParaRPr lang="en-US" sz="1680" dirty="0"/>
          </a:p>
        </p:txBody>
      </p:sp>
      <p:sp>
        <p:nvSpPr>
          <p:cNvPr id="20" name="Text 10"/>
          <p:cNvSpPr/>
          <p:nvPr/>
        </p:nvSpPr>
        <p:spPr>
          <a:xfrm>
            <a:off x="2834640" y="3672840"/>
            <a:ext cx="1929384" cy="655320"/>
          </a:xfrm>
          <a:prstGeom prst="rect">
            <a:avLst/>
          </a:prstGeom>
          <a:noFill/>
        </p:spPr>
        <p:txBody>
          <a:bodyPr wrap="none" lIns="0" tIns="0" rIns="0" bIns="0" rtlCol="0" anchor="ct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完全开源</a:t>
            </a:r>
            <a:endParaRPr lang="en-US" sz="1680" dirty="0"/>
          </a:p>
        </p:txBody>
      </p:sp>
      <p:sp>
        <p:nvSpPr>
          <p:cNvPr id="21" name="Text 11"/>
          <p:cNvSpPr/>
          <p:nvPr/>
        </p:nvSpPr>
        <p:spPr>
          <a:xfrm>
            <a:off x="5242560" y="3672840"/>
            <a:ext cx="336194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无授权费用、社区活跃、支持大规模扫描</a:t>
            </a:r>
            <a:endParaRPr lang="en-US" sz="1680" dirty="0"/>
          </a:p>
        </p:txBody>
      </p:sp>
      <p:sp>
        <p:nvSpPr>
          <p:cNvPr id="22" name="Text 12"/>
          <p:cNvSpPr/>
          <p:nvPr/>
        </p:nvSpPr>
        <p:spPr>
          <a:xfrm>
            <a:off x="9067800" y="3672840"/>
            <a:ext cx="226466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E5E7EB"/>
                </a:solidFill>
                <a:latin typeface="思源黑体 CN Regular" pitchFamily="34" charset="0"/>
                <a:ea typeface="思源黑体 CN Regular" pitchFamily="34" charset="-122"/>
                <a:cs typeface="思源黑体 CN Regular" pitchFamily="34" charset="-120"/>
              </a:rPr>
              <a:t>成本敏感、教育/实验环境</a:t>
            </a:r>
            <a:endParaRPr lang="en-US" sz="1680" dirty="0"/>
          </a:p>
        </p:txBody>
      </p:sp>
      <p:pic>
        <p:nvPicPr>
          <p:cNvPr id="23" name="Image 8" descr="https://test.web.static.jianzeppt.com/ppt-temp-img3/c4e8edfe9f5a1d127623bea7bf3e458d.png?x-oss-process=image/resize,w_1440,h_800,m_lfit/format,png"/>
          <p:cNvPicPr>
            <a:picLocks noChangeAspect="1"/>
          </p:cNvPicPr>
          <p:nvPr/>
        </p:nvPicPr>
        <p:blipFill>
          <a:blip r:embed="rId8"/>
          <a:stretch>
            <a:fillRect/>
          </a:stretch>
        </p:blipFill>
        <p:spPr>
          <a:xfrm>
            <a:off x="624840" y="4564380"/>
            <a:ext cx="10942320" cy="15240"/>
          </a:xfrm>
          <a:prstGeom prst="rect">
            <a:avLst/>
          </a:prstGeom>
        </p:spPr>
      </p:pic>
      <p:sp>
        <p:nvSpPr>
          <p:cNvPr id="24" name="Text 13"/>
          <p:cNvSpPr/>
          <p:nvPr/>
        </p:nvSpPr>
        <p:spPr>
          <a:xfrm>
            <a:off x="868680" y="4815840"/>
            <a:ext cx="15026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D1D4DB"/>
                </a:solidFill>
                <a:latin typeface="思源黑体 CN Regular" pitchFamily="34" charset="0"/>
                <a:ea typeface="思源黑体 CN Regular" pitchFamily="34" charset="-122"/>
                <a:cs typeface="思源黑体 CN Regular" pitchFamily="34" charset="-120"/>
              </a:rPr>
              <a:t>Nmap</a:t>
            </a:r>
            <a:endParaRPr lang="en-US" sz="1680" dirty="0"/>
          </a:p>
        </p:txBody>
      </p:sp>
      <p:sp>
        <p:nvSpPr>
          <p:cNvPr id="25" name="Text 14"/>
          <p:cNvSpPr/>
          <p:nvPr/>
        </p:nvSpPr>
        <p:spPr>
          <a:xfrm>
            <a:off x="2834640" y="4815840"/>
            <a:ext cx="19293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9CA2AF"/>
                </a:solidFill>
                <a:latin typeface="思源黑体 CN Regular" pitchFamily="34" charset="0"/>
                <a:ea typeface="思源黑体 CN Regular" pitchFamily="34" charset="-122"/>
                <a:cs typeface="思源黑体 CN Regular" pitchFamily="34" charset="-120"/>
              </a:rPr>
              <a:t>开源</a:t>
            </a:r>
            <a:endParaRPr lang="en-US" sz="1680" dirty="0"/>
          </a:p>
        </p:txBody>
      </p:sp>
      <p:sp>
        <p:nvSpPr>
          <p:cNvPr id="26" name="Text 15"/>
          <p:cNvSpPr/>
          <p:nvPr/>
        </p:nvSpPr>
        <p:spPr>
          <a:xfrm>
            <a:off x="5242560" y="4815840"/>
            <a:ext cx="336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9CA2AF"/>
                </a:solidFill>
                <a:latin typeface="思源黑体 CN Regular" pitchFamily="34" charset="0"/>
                <a:ea typeface="思源黑体 CN Regular" pitchFamily="34" charset="-122"/>
                <a:cs typeface="思源黑体 CN Regular" pitchFamily="34" charset="-120"/>
              </a:rPr>
              <a:t>网络发现、端口扫描、服务识别</a:t>
            </a:r>
            <a:endParaRPr lang="en-US" sz="1680" dirty="0"/>
          </a:p>
        </p:txBody>
      </p:sp>
      <p:sp>
        <p:nvSpPr>
          <p:cNvPr id="27" name="Text 16"/>
          <p:cNvSpPr/>
          <p:nvPr/>
        </p:nvSpPr>
        <p:spPr>
          <a:xfrm>
            <a:off x="9067800" y="4815840"/>
            <a:ext cx="226466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9CA2AF"/>
                </a:solidFill>
                <a:latin typeface="思源黑体 CN Regular" pitchFamily="34" charset="0"/>
                <a:ea typeface="思源黑体 CN Regular" pitchFamily="34" charset="-122"/>
                <a:cs typeface="思源黑体 CN Regular" pitchFamily="34" charset="-120"/>
              </a:rPr>
              <a:t>信息收集、资产发现</a:t>
            </a:r>
            <a:endParaRPr lang="en-US" sz="1680" dirty="0"/>
          </a:p>
        </p:txBody>
      </p:sp>
      <p:pic>
        <p:nvPicPr>
          <p:cNvPr id="28" name="Image 9" descr="https://test.web.static.jianzeppt.com/ppt-temp-img3/8d7ff5c415772c7136d969d08909254d.png?x-oss-process=image/resize,w_1440,h_800,m_lfit/format,png"/>
          <p:cNvPicPr>
            <a:picLocks noChangeAspect="1"/>
          </p:cNvPicPr>
          <p:nvPr/>
        </p:nvPicPr>
        <p:blipFill>
          <a:blip r:embed="rId9"/>
          <a:stretch>
            <a:fillRect/>
          </a:stretch>
        </p:blipFill>
        <p:spPr>
          <a:xfrm>
            <a:off x="609600" y="5366385"/>
            <a:ext cx="10972800" cy="1082040"/>
          </a:xfrm>
          <a:prstGeom prst="rect">
            <a:avLst/>
          </a:prstGeom>
        </p:spPr>
      </p:pic>
      <p:pic>
        <p:nvPicPr>
          <p:cNvPr id="29" name="Image 10" descr="https://test.web.static.jianzeppt.com/ppt-temp-img3/9c41cecaa99d76e83a87c8cbf97554ab.png?x-oss-process=image/resize,w_1440,h_800,m_lfit/format,png"/>
          <p:cNvPicPr>
            <a:picLocks noChangeAspect="1"/>
          </p:cNvPicPr>
          <p:nvPr/>
        </p:nvPicPr>
        <p:blipFill>
          <a:blip r:embed="rId10"/>
          <a:stretch>
            <a:fillRect/>
          </a:stretch>
        </p:blipFill>
        <p:spPr>
          <a:xfrm>
            <a:off x="1798320" y="5745480"/>
            <a:ext cx="396240" cy="396240"/>
          </a:xfrm>
          <a:prstGeom prst="rect">
            <a:avLst/>
          </a:prstGeom>
        </p:spPr>
      </p:pic>
      <p:sp>
        <p:nvSpPr>
          <p:cNvPr id="30" name="Text 17"/>
          <p:cNvSpPr/>
          <p:nvPr/>
        </p:nvSpPr>
        <p:spPr>
          <a:xfrm>
            <a:off x="2362200" y="5715000"/>
            <a:ext cx="8147304" cy="457200"/>
          </a:xfrm>
          <a:prstGeom prst="rect">
            <a:avLst/>
          </a:prstGeom>
          <a:noFill/>
        </p:spPr>
        <p:txBody>
          <a:bodyPr wrap="none" lIns="0" tIns="0" rIns="0" bIns="0" rtlCol="0" anchor="t">
            <a:spAutoFit/>
          </a:bodyPr>
          <a:lstStyle/>
          <a:p>
            <a:pPr marL="0" indent="0" algn="l">
              <a:lnSpc>
                <a:spcPct val="150000"/>
              </a:lnSpc>
              <a:buNone/>
            </a:pPr>
            <a:r>
              <a:rPr lang="en-US" sz="2400" kern="0" spc="80" dirty="0">
                <a:solidFill>
                  <a:srgbClr val="FFFFFF"/>
                </a:solidFill>
                <a:latin typeface="思源黑体 CN Bold" pitchFamily="34" charset="0"/>
                <a:ea typeface="思源黑体 CN Bold" pitchFamily="34" charset="-122"/>
                <a:cs typeface="思源黑体 CN Bold" pitchFamily="34" charset="-120"/>
              </a:rPr>
              <a:t>本课重点工具： Nessus（演示） 和 OpenVAS（实践） 。</a:t>
            </a:r>
            <a:endParaRPr lang="en-US" sz="2400" dirty="0"/>
          </a:p>
        </p:txBody>
      </p:sp>
      <p:graphicFrame>
        <p:nvGraphicFramePr>
          <p:cNvPr id="31" name="对象 30">
            <a:hlinkClick r:id="" action="ppaction://ole?verb="/>
          </p:cNvPr>
          <p:cNvGraphicFramePr>
            <a:graphicFrameLocks noChangeAspect="1"/>
          </p:cNvGraphicFramePr>
          <p:nvPr/>
        </p:nvGraphicFramePr>
        <p:xfrm>
          <a:off x="10172700" y="527685"/>
          <a:ext cx="971550" cy="666750"/>
        </p:xfrm>
        <a:graphic>
          <a:graphicData uri="http://schemas.openxmlformats.org/presentationml/2006/ole">
            <mc:AlternateContent xmlns:mc="http://schemas.openxmlformats.org/markup-compatibility/2006">
              <mc:Choice xmlns:v="urn:schemas-microsoft-com:vml" Requires="v">
                <p:oleObj spid="_x0000_s4097" name="" showAsIcon="1" r:id="rId11" imgW="971550" imgH="666750" progId="Word.Document.12">
                  <p:embed/>
                </p:oleObj>
              </mc:Choice>
              <mc:Fallback>
                <p:oleObj name="" showAsIcon="1" r:id="rId11" imgW="971550" imgH="666750" progId="Word.Document.12">
                  <p:embed/>
                  <p:pic>
                    <p:nvPicPr>
                      <p:cNvPr id="0" name="图片 4096"/>
                      <p:cNvPicPr/>
                      <p:nvPr/>
                    </p:nvPicPr>
                    <p:blipFill>
                      <a:blip r:embed="rId12"/>
                      <a:stretch>
                        <a:fillRect/>
                      </a:stretch>
                    </p:blipFill>
                    <p:spPr>
                      <a:xfrm>
                        <a:off x="10172700" y="527685"/>
                        <a:ext cx="971550" cy="666750"/>
                      </a:xfrm>
                      <a:prstGeom prst="rect">
                        <a:avLst/>
                      </a:prstGeom>
                    </p:spPr>
                  </p:pic>
                </p:oleObj>
              </mc:Fallback>
            </mc:AlternateContent>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教师演示——Nessus漏洞扫描（15分钟）</a:t>
            </a:r>
            <a:endParaRPr lang="en-US" sz="2760" dirty="0"/>
          </a:p>
        </p:txBody>
      </p:sp>
      <p:pic>
        <p:nvPicPr>
          <p:cNvPr id="6" name="Image 3" descr="https://test.web.static.jianzeppt.com/ppt-temp-img3/bc75153e78bb5b1ccfcd40ba958a2bf2.png?x-oss-process=image/resize,w_1440,h_800,m_lfit/format,png"/>
          <p:cNvPicPr>
            <a:picLocks noChangeAspect="1"/>
          </p:cNvPicPr>
          <p:nvPr/>
        </p:nvPicPr>
        <p:blipFill>
          <a:blip r:embed="rId4"/>
          <a:stretch>
            <a:fillRect/>
          </a:stretch>
        </p:blipFill>
        <p:spPr>
          <a:xfrm>
            <a:off x="609600" y="1371600"/>
            <a:ext cx="3413760" cy="48768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07720" y="1478280"/>
            <a:ext cx="746760" cy="274320"/>
          </a:xfrm>
          <a:prstGeom prst="rect">
            <a:avLst/>
          </a:prstGeom>
        </p:spPr>
      </p:pic>
      <p:sp>
        <p:nvSpPr>
          <p:cNvPr id="8" name="Text 1"/>
          <p:cNvSpPr/>
          <p:nvPr/>
        </p:nvSpPr>
        <p:spPr>
          <a:xfrm>
            <a:off x="899160" y="1434465"/>
            <a:ext cx="57302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E4D96"/>
                </a:solidFill>
                <a:latin typeface="思源黑体 CN Bold" pitchFamily="34" charset="0"/>
                <a:ea typeface="思源黑体 CN Bold" pitchFamily="34" charset="-122"/>
                <a:cs typeface="思源黑体 CN Bold" pitchFamily="34" charset="-120"/>
              </a:rPr>
              <a:t>攻击机</a:t>
            </a:r>
            <a:endParaRPr lang="en-US" sz="1440" dirty="0"/>
          </a:p>
        </p:txBody>
      </p:sp>
      <p:sp>
        <p:nvSpPr>
          <p:cNvPr id="9" name="Text 2"/>
          <p:cNvSpPr/>
          <p:nvPr/>
        </p:nvSpPr>
        <p:spPr>
          <a:xfrm>
            <a:off x="1661160" y="1478280"/>
            <a:ext cx="217322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Kali Linux（安装Nessus）</a:t>
            </a:r>
            <a:endParaRPr lang="en-US" sz="1440" dirty="0"/>
          </a:p>
        </p:txBody>
      </p:sp>
      <p:pic>
        <p:nvPicPr>
          <p:cNvPr id="10" name="Image 5" descr="https://test.web.static.jianzeppt.com/ppt-temp-img3/1e3489dbbaa88dc675f7c0cee0fb1a56.png?x-oss-process=image/resize,w_1440,h_800,m_lfit/format,png"/>
          <p:cNvPicPr>
            <a:picLocks noChangeAspect="1"/>
          </p:cNvPicPr>
          <p:nvPr/>
        </p:nvPicPr>
        <p:blipFill>
          <a:blip r:embed="rId7"/>
          <a:stretch>
            <a:fillRect/>
          </a:stretch>
        </p:blipFill>
        <p:spPr>
          <a:xfrm>
            <a:off x="4267200" y="1371600"/>
            <a:ext cx="3688080" cy="487680"/>
          </a:xfrm>
          <a:prstGeom prst="rect">
            <a:avLst/>
          </a:prstGeom>
        </p:spPr>
      </p:pic>
      <p:pic>
        <p:nvPicPr>
          <p:cNvPr id="11"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465320" y="1478280"/>
            <a:ext cx="563880" cy="274320"/>
          </a:xfrm>
          <a:prstGeom prst="rect">
            <a:avLst/>
          </a:prstGeom>
        </p:spPr>
      </p:pic>
      <p:sp>
        <p:nvSpPr>
          <p:cNvPr id="12" name="Text 3"/>
          <p:cNvSpPr/>
          <p:nvPr/>
        </p:nvSpPr>
        <p:spPr>
          <a:xfrm>
            <a:off x="4556760" y="1449070"/>
            <a:ext cx="39014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E4D96"/>
                </a:solidFill>
                <a:latin typeface="思源黑体 CN Bold" pitchFamily="34" charset="0"/>
                <a:ea typeface="思源黑体 CN Bold" pitchFamily="34" charset="-122"/>
                <a:cs typeface="思源黑体 CN Bold" pitchFamily="34" charset="-120"/>
              </a:rPr>
              <a:t>靶机</a:t>
            </a:r>
            <a:endParaRPr lang="en-US" sz="1440" dirty="0"/>
          </a:p>
        </p:txBody>
      </p:sp>
      <p:sp>
        <p:nvSpPr>
          <p:cNvPr id="13" name="Text 4"/>
          <p:cNvSpPr/>
          <p:nvPr/>
        </p:nvSpPr>
        <p:spPr>
          <a:xfrm>
            <a:off x="5135880" y="1478280"/>
            <a:ext cx="263042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Metasploitable2 / 预置漏洞主机</a:t>
            </a:r>
            <a:endParaRPr lang="en-US" sz="1440" dirty="0"/>
          </a:p>
        </p:txBody>
      </p:sp>
      <p:pic>
        <p:nvPicPr>
          <p:cNvPr id="14" name="Image 7" descr="https://test.web.static.jianzeppt.com/ppt-temp-img3/15e0d202e649f7368807f52d0ec6550c.png?x-oss-process=image/resize,w_1440,h_800,m_lfit/format,png"/>
          <p:cNvPicPr>
            <a:picLocks noChangeAspect="1"/>
          </p:cNvPicPr>
          <p:nvPr/>
        </p:nvPicPr>
        <p:blipFill>
          <a:blip r:embed="rId10"/>
          <a:stretch>
            <a:fillRect/>
          </a:stretch>
        </p:blipFill>
        <p:spPr>
          <a:xfrm>
            <a:off x="609600" y="2103120"/>
            <a:ext cx="10972800" cy="2225040"/>
          </a:xfrm>
          <a:prstGeom prst="rect">
            <a:avLst/>
          </a:prstGeom>
        </p:spPr>
      </p:pic>
      <p:sp>
        <p:nvSpPr>
          <p:cNvPr id="15" name="Text 5"/>
          <p:cNvSpPr/>
          <p:nvPr/>
        </p:nvSpPr>
        <p:spPr>
          <a:xfrm>
            <a:off x="-591185" y="2362200"/>
            <a:ext cx="13729970" cy="165735"/>
          </a:xfrm>
          <a:prstGeom prst="rect">
            <a:avLst/>
          </a:prstGeom>
          <a:noFill/>
        </p:spPr>
        <p:txBody>
          <a:bodyPr wrap="square" lIns="0" tIns="0" rIns="0" bIns="0" rtlCol="0" anchor="t">
            <a:spAutoFit/>
          </a:bodyPr>
          <a:lstStyle/>
          <a:p>
            <a:pPr marL="0" indent="0" algn="l">
              <a:lnSpc>
                <a:spcPct val="100000"/>
              </a:lnSpc>
              <a:buNone/>
            </a:pPr>
            <a:r>
              <a:rPr lang="en-US" sz="1080" b="1" dirty="0">
                <a:solidFill>
                  <a:srgbClr val="000000"/>
                </a:solidFill>
                <a:latin typeface="思源黑体 CN Bold" pitchFamily="34" charset="0"/>
                <a:ea typeface="思源黑体 CN Bold" pitchFamily="34" charset="-122"/>
                <a:cs typeface="思源黑体 CN Bold" pitchFamily="34" charset="-120"/>
              </a:rPr>
              <a:t>演示步骤</a:t>
            </a:r>
            <a:endParaRPr lang="en-US" sz="1080" dirty="0"/>
          </a:p>
        </p:txBody>
      </p:sp>
      <p:pic>
        <p:nvPicPr>
          <p:cNvPr id="16" name="Image 8"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5775" y="2606040"/>
            <a:ext cx="3599815" cy="769620"/>
          </a:xfrm>
          <a:prstGeom prst="rect">
            <a:avLst/>
          </a:prstGeom>
        </p:spPr>
      </p:pic>
      <p:pic>
        <p:nvPicPr>
          <p:cNvPr id="17" name="Image 9"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24890" y="2758440"/>
            <a:ext cx="539115" cy="335280"/>
          </a:xfrm>
          <a:prstGeom prst="rect">
            <a:avLst/>
          </a:prstGeom>
        </p:spPr>
      </p:pic>
      <p:sp>
        <p:nvSpPr>
          <p:cNvPr id="18" name="Text 6"/>
          <p:cNvSpPr/>
          <p:nvPr/>
        </p:nvSpPr>
        <p:spPr>
          <a:xfrm>
            <a:off x="1140460" y="278892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01</a:t>
            </a:r>
            <a:endParaRPr lang="en-US" sz="1440" dirty="0"/>
          </a:p>
        </p:txBody>
      </p:sp>
      <p:sp>
        <p:nvSpPr>
          <p:cNvPr id="19" name="Text 7"/>
          <p:cNvSpPr/>
          <p:nvPr/>
        </p:nvSpPr>
        <p:spPr>
          <a:xfrm>
            <a:off x="1726565" y="2758440"/>
            <a:ext cx="2110740"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启动Nessus服务</a:t>
            </a:r>
            <a:endParaRPr lang="en-US" sz="1680" dirty="0"/>
          </a:p>
        </p:txBody>
      </p:sp>
      <p:sp>
        <p:nvSpPr>
          <p:cNvPr id="20" name="Text 8"/>
          <p:cNvSpPr/>
          <p:nvPr/>
        </p:nvSpPr>
        <p:spPr>
          <a:xfrm>
            <a:off x="749300" y="315468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访问 https://:8834</a:t>
            </a:r>
            <a:endParaRPr lang="en-US" sz="1440" dirty="0"/>
          </a:p>
        </p:txBody>
      </p:sp>
      <p:pic>
        <p:nvPicPr>
          <p:cNvPr id="21" name="Image 10" descr="https://test.web.static.jianzeppt.com/ppt-temp-img3/14f31419453261bb3a9434baeed418c4.png?x-oss-process=image/resize,w_1440,h_800,m_lfit/format,png"/>
          <p:cNvPicPr>
            <a:picLocks noChangeAspect="1"/>
          </p:cNvPicPr>
          <p:nvPr/>
        </p:nvPicPr>
        <p:blipFill>
          <a:blip r:embed="rId15"/>
          <a:stretch>
            <a:fillRect/>
          </a:stretch>
        </p:blipFill>
        <p:spPr>
          <a:xfrm>
            <a:off x="3922395" y="2865120"/>
            <a:ext cx="519430" cy="426720"/>
          </a:xfrm>
          <a:prstGeom prst="rect">
            <a:avLst/>
          </a:prstGeom>
        </p:spPr>
      </p:pic>
      <p:pic>
        <p:nvPicPr>
          <p:cNvPr id="22" name="Image 11"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341495" y="2606040"/>
            <a:ext cx="3599815" cy="790575"/>
          </a:xfrm>
          <a:prstGeom prst="rect">
            <a:avLst/>
          </a:prstGeom>
        </p:spPr>
      </p:pic>
      <p:pic>
        <p:nvPicPr>
          <p:cNvPr id="23" name="Image 12"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880610" y="2758440"/>
            <a:ext cx="539115" cy="335280"/>
          </a:xfrm>
          <a:prstGeom prst="rect">
            <a:avLst/>
          </a:prstGeom>
        </p:spPr>
      </p:pic>
      <p:sp>
        <p:nvSpPr>
          <p:cNvPr id="24" name="Text 9"/>
          <p:cNvSpPr/>
          <p:nvPr/>
        </p:nvSpPr>
        <p:spPr>
          <a:xfrm>
            <a:off x="4996180" y="278892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02</a:t>
            </a:r>
            <a:endParaRPr lang="en-US" sz="1440" dirty="0"/>
          </a:p>
        </p:txBody>
      </p:sp>
      <p:sp>
        <p:nvSpPr>
          <p:cNvPr id="25" name="Text 10"/>
          <p:cNvSpPr/>
          <p:nvPr/>
        </p:nvSpPr>
        <p:spPr>
          <a:xfrm>
            <a:off x="5568315" y="2714625"/>
            <a:ext cx="169100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创建扫描任务</a:t>
            </a:r>
            <a:endParaRPr lang="en-US" sz="1680" dirty="0"/>
          </a:p>
        </p:txBody>
      </p:sp>
      <p:sp>
        <p:nvSpPr>
          <p:cNvPr id="26" name="Text 11"/>
          <p:cNvSpPr/>
          <p:nvPr/>
        </p:nvSpPr>
        <p:spPr>
          <a:xfrm>
            <a:off x="4599940" y="3154680"/>
            <a:ext cx="3180715"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选择“Basic Network Scan”</a:t>
            </a:r>
            <a:endParaRPr lang="en-US" sz="1440" dirty="0"/>
          </a:p>
        </p:txBody>
      </p:sp>
      <p:pic>
        <p:nvPicPr>
          <p:cNvPr id="27" name="Image 13" descr="https://test.web.static.jianzeppt.com/ppt-temp-img3/14f31419453261bb3a9434baeed418c4.png?x-oss-process=image/resize,w_1440,h_800,m_lfit/format,png"/>
          <p:cNvPicPr>
            <a:picLocks noChangeAspect="1"/>
          </p:cNvPicPr>
          <p:nvPr/>
        </p:nvPicPr>
        <p:blipFill>
          <a:blip r:embed="rId15"/>
          <a:stretch>
            <a:fillRect/>
          </a:stretch>
        </p:blipFill>
        <p:spPr>
          <a:xfrm>
            <a:off x="7778115" y="2865120"/>
            <a:ext cx="519430" cy="426720"/>
          </a:xfrm>
          <a:prstGeom prst="rect">
            <a:avLst/>
          </a:prstGeom>
        </p:spPr>
      </p:pic>
      <p:pic>
        <p:nvPicPr>
          <p:cNvPr id="28" name="Image 14"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197215" y="2606040"/>
            <a:ext cx="3599815" cy="758190"/>
          </a:xfrm>
          <a:prstGeom prst="rect">
            <a:avLst/>
          </a:prstGeom>
        </p:spPr>
      </p:pic>
      <p:pic>
        <p:nvPicPr>
          <p:cNvPr id="29" name="Image 15"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736330" y="2758440"/>
            <a:ext cx="539115" cy="335280"/>
          </a:xfrm>
          <a:prstGeom prst="rect">
            <a:avLst/>
          </a:prstGeom>
        </p:spPr>
      </p:pic>
      <p:sp>
        <p:nvSpPr>
          <p:cNvPr id="30" name="Text 12"/>
          <p:cNvSpPr/>
          <p:nvPr/>
        </p:nvSpPr>
        <p:spPr>
          <a:xfrm>
            <a:off x="8851900" y="278892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03</a:t>
            </a:r>
            <a:endParaRPr lang="en-US" sz="1440" dirty="0"/>
          </a:p>
        </p:txBody>
      </p:sp>
      <p:sp>
        <p:nvSpPr>
          <p:cNvPr id="31" name="Text 13"/>
          <p:cNvSpPr/>
          <p:nvPr/>
        </p:nvSpPr>
        <p:spPr>
          <a:xfrm>
            <a:off x="9366885" y="2714625"/>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配置目标</a:t>
            </a:r>
            <a:endParaRPr lang="en-US" sz="1680" dirty="0"/>
          </a:p>
        </p:txBody>
      </p:sp>
      <p:sp>
        <p:nvSpPr>
          <p:cNvPr id="32" name="Text 14"/>
          <p:cNvSpPr/>
          <p:nvPr/>
        </p:nvSpPr>
        <p:spPr>
          <a:xfrm>
            <a:off x="8460740" y="315468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输入靶机IP地址</a:t>
            </a:r>
            <a:endParaRPr lang="en-US" sz="1440" dirty="0"/>
          </a:p>
        </p:txBody>
      </p:sp>
      <p:pic>
        <p:nvPicPr>
          <p:cNvPr id="33" name="Image 16"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85775" y="3427095"/>
            <a:ext cx="3599815" cy="664845"/>
          </a:xfrm>
          <a:prstGeom prst="rect">
            <a:avLst/>
          </a:prstGeom>
        </p:spPr>
      </p:pic>
      <p:pic>
        <p:nvPicPr>
          <p:cNvPr id="34" name="Image 17"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1024890" y="3474720"/>
            <a:ext cx="539115" cy="335280"/>
          </a:xfrm>
          <a:prstGeom prst="rect">
            <a:avLst/>
          </a:prstGeom>
        </p:spPr>
      </p:pic>
      <p:sp>
        <p:nvSpPr>
          <p:cNvPr id="35" name="Text 15"/>
          <p:cNvSpPr/>
          <p:nvPr/>
        </p:nvSpPr>
        <p:spPr>
          <a:xfrm>
            <a:off x="1140460" y="350520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04</a:t>
            </a:r>
            <a:endParaRPr lang="en-US" sz="1440" dirty="0"/>
          </a:p>
        </p:txBody>
      </p:sp>
      <p:sp>
        <p:nvSpPr>
          <p:cNvPr id="36" name="Text 16"/>
          <p:cNvSpPr/>
          <p:nvPr/>
        </p:nvSpPr>
        <p:spPr>
          <a:xfrm>
            <a:off x="1699260" y="3489960"/>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执行扫描</a:t>
            </a:r>
            <a:endParaRPr lang="en-US" sz="1680" dirty="0"/>
          </a:p>
        </p:txBody>
      </p:sp>
      <p:sp>
        <p:nvSpPr>
          <p:cNvPr id="37" name="Text 17"/>
          <p:cNvSpPr/>
          <p:nvPr/>
        </p:nvSpPr>
        <p:spPr>
          <a:xfrm>
            <a:off x="749300" y="387096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观察进度，约5-10分钟</a:t>
            </a:r>
            <a:endParaRPr lang="en-US" sz="1440" dirty="0"/>
          </a:p>
        </p:txBody>
      </p:sp>
      <p:pic>
        <p:nvPicPr>
          <p:cNvPr id="38" name="Image 18" descr="https://test.web.static.jianzeppt.com/ppt-temp-img3/59d8cd21f4ad295cfa6015cd625e3bfb.png?x-oss-process=image/resize,w_1440,h_800,m_lfit/format,png"/>
          <p:cNvPicPr>
            <a:picLocks noChangeAspect="1"/>
          </p:cNvPicPr>
          <p:nvPr/>
        </p:nvPicPr>
        <p:blipFill>
          <a:blip r:embed="rId16"/>
          <a:stretch>
            <a:fillRect/>
          </a:stretch>
        </p:blipFill>
        <p:spPr>
          <a:xfrm>
            <a:off x="3922395" y="3596640"/>
            <a:ext cx="519430" cy="396240"/>
          </a:xfrm>
          <a:prstGeom prst="rect">
            <a:avLst/>
          </a:prstGeom>
        </p:spPr>
      </p:pic>
      <p:pic>
        <p:nvPicPr>
          <p:cNvPr id="39" name="Image 19"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341495" y="3441700"/>
            <a:ext cx="3599815" cy="668655"/>
          </a:xfrm>
          <a:prstGeom prst="rect">
            <a:avLst/>
          </a:prstGeom>
        </p:spPr>
      </p:pic>
      <p:pic>
        <p:nvPicPr>
          <p:cNvPr id="40" name="Image 20"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4880610" y="3474720"/>
            <a:ext cx="539115" cy="335280"/>
          </a:xfrm>
          <a:prstGeom prst="rect">
            <a:avLst/>
          </a:prstGeom>
        </p:spPr>
      </p:pic>
      <p:sp>
        <p:nvSpPr>
          <p:cNvPr id="41" name="Text 18"/>
          <p:cNvSpPr/>
          <p:nvPr/>
        </p:nvSpPr>
        <p:spPr>
          <a:xfrm>
            <a:off x="4996180" y="350520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05</a:t>
            </a:r>
            <a:endParaRPr lang="en-US" sz="1440" dirty="0"/>
          </a:p>
        </p:txBody>
      </p:sp>
      <p:sp>
        <p:nvSpPr>
          <p:cNvPr id="42" name="Text 19"/>
          <p:cNvSpPr/>
          <p:nvPr/>
        </p:nvSpPr>
        <p:spPr>
          <a:xfrm>
            <a:off x="5569585" y="3446145"/>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查看结果</a:t>
            </a:r>
            <a:endParaRPr lang="en-US" sz="1680" dirty="0"/>
          </a:p>
        </p:txBody>
      </p:sp>
      <p:sp>
        <p:nvSpPr>
          <p:cNvPr id="43" name="Text 20"/>
          <p:cNvSpPr/>
          <p:nvPr/>
        </p:nvSpPr>
        <p:spPr>
          <a:xfrm>
            <a:off x="4605020" y="387096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按风险等级分类</a:t>
            </a:r>
            <a:endParaRPr lang="en-US" sz="1440" dirty="0"/>
          </a:p>
        </p:txBody>
      </p:sp>
      <p:pic>
        <p:nvPicPr>
          <p:cNvPr id="44" name="Image 21" descr="https://test.web.static.jianzeppt.com/ppt-temp-img3/59d8cd21f4ad295cfa6015cd625e3bfb.png?x-oss-process=image/resize,w_1440,h_800,m_lfit/format,png"/>
          <p:cNvPicPr>
            <a:picLocks noChangeAspect="1"/>
          </p:cNvPicPr>
          <p:nvPr/>
        </p:nvPicPr>
        <p:blipFill>
          <a:blip r:embed="rId16"/>
          <a:stretch>
            <a:fillRect/>
          </a:stretch>
        </p:blipFill>
        <p:spPr>
          <a:xfrm>
            <a:off x="7778115" y="3596640"/>
            <a:ext cx="519430" cy="396240"/>
          </a:xfrm>
          <a:prstGeom prst="rect">
            <a:avLst/>
          </a:prstGeom>
        </p:spPr>
      </p:pic>
      <p:pic>
        <p:nvPicPr>
          <p:cNvPr id="45" name="Image 22" descr="preencoded.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197215" y="3423285"/>
            <a:ext cx="3599815" cy="668655"/>
          </a:xfrm>
          <a:prstGeom prst="rect">
            <a:avLst/>
          </a:prstGeom>
        </p:spPr>
      </p:pic>
      <p:pic>
        <p:nvPicPr>
          <p:cNvPr id="46" name="Image 23"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736330" y="3474720"/>
            <a:ext cx="539115" cy="335280"/>
          </a:xfrm>
          <a:prstGeom prst="rect">
            <a:avLst/>
          </a:prstGeom>
        </p:spPr>
      </p:pic>
      <p:sp>
        <p:nvSpPr>
          <p:cNvPr id="47" name="Text 21"/>
          <p:cNvSpPr/>
          <p:nvPr/>
        </p:nvSpPr>
        <p:spPr>
          <a:xfrm>
            <a:off x="8851900" y="3505200"/>
            <a:ext cx="311150" cy="332105"/>
          </a:xfrm>
          <a:prstGeom prst="rect">
            <a:avLst/>
          </a:prstGeom>
          <a:noFill/>
        </p:spPr>
        <p:txBody>
          <a:bodyPr wrap="squar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06</a:t>
            </a:r>
            <a:endParaRPr lang="en-US" sz="1440" dirty="0"/>
          </a:p>
        </p:txBody>
      </p:sp>
      <p:sp>
        <p:nvSpPr>
          <p:cNvPr id="48" name="Text 22"/>
          <p:cNvSpPr/>
          <p:nvPr/>
        </p:nvSpPr>
        <p:spPr>
          <a:xfrm>
            <a:off x="9396095" y="3446145"/>
            <a:ext cx="1130935" cy="386715"/>
          </a:xfrm>
          <a:prstGeom prst="rect">
            <a:avLst/>
          </a:prstGeom>
          <a:noFill/>
        </p:spPr>
        <p:txBody>
          <a:bodyPr wrap="squar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导出报告</a:t>
            </a:r>
            <a:endParaRPr lang="en-US" sz="1680" dirty="0"/>
          </a:p>
        </p:txBody>
      </p:sp>
      <p:sp>
        <p:nvSpPr>
          <p:cNvPr id="49" name="Text 23"/>
          <p:cNvSpPr/>
          <p:nvPr/>
        </p:nvSpPr>
        <p:spPr>
          <a:xfrm>
            <a:off x="8460740" y="3870960"/>
            <a:ext cx="3130550" cy="220980"/>
          </a:xfrm>
          <a:prstGeom prst="rect">
            <a:avLst/>
          </a:prstGeom>
          <a:noFill/>
        </p:spPr>
        <p:txBody>
          <a:bodyPr wrap="squar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PDF/HTML格式</a:t>
            </a:r>
            <a:endParaRPr lang="en-US" sz="1440" dirty="0"/>
          </a:p>
        </p:txBody>
      </p:sp>
      <p:pic>
        <p:nvPicPr>
          <p:cNvPr id="50" name="Image 24" descr="https://test.web.static.jianzeppt.com/ppt-temp-img3/68380c30826c794347f2b937337cd44d.png?x-oss-process=image/resize,w_1440,h_800,m_lfit/format,png"/>
          <p:cNvPicPr>
            <a:picLocks noChangeAspect="1"/>
          </p:cNvPicPr>
          <p:nvPr/>
        </p:nvPicPr>
        <p:blipFill>
          <a:blip r:embed="rId17"/>
          <a:stretch>
            <a:fillRect/>
          </a:stretch>
        </p:blipFill>
        <p:spPr>
          <a:xfrm>
            <a:off x="609600" y="4572000"/>
            <a:ext cx="1844040" cy="487680"/>
          </a:xfrm>
          <a:prstGeom prst="rect">
            <a:avLst/>
          </a:prstGeom>
        </p:spPr>
      </p:pic>
      <p:sp>
        <p:nvSpPr>
          <p:cNvPr id="51" name="Text 24"/>
          <p:cNvSpPr/>
          <p:nvPr/>
        </p:nvSpPr>
        <p:spPr>
          <a:xfrm>
            <a:off x="792480" y="4632960"/>
            <a:ext cx="148742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教师重点演示</a:t>
            </a:r>
            <a:endParaRPr lang="en-US" sz="1920" dirty="0"/>
          </a:p>
        </p:txBody>
      </p:sp>
      <p:pic>
        <p:nvPicPr>
          <p:cNvPr id="52" name="Image 25"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09600" y="5181600"/>
            <a:ext cx="3505200" cy="1311910"/>
          </a:xfrm>
          <a:prstGeom prst="rect">
            <a:avLst/>
          </a:prstGeom>
          <a:effectLst>
            <a:outerShdw blurRad="-2147483648" dist="1935480000" dir="-1" algn="bl" rotWithShape="0">
              <a:srgbClr val="000000">
                <a:alpha val="1000000000"/>
              </a:srgbClr>
            </a:outerShdw>
          </a:effectLst>
        </p:spPr>
      </p:pic>
      <p:sp>
        <p:nvSpPr>
          <p:cNvPr id="53" name="Text 25"/>
          <p:cNvSpPr/>
          <p:nvPr/>
        </p:nvSpPr>
        <p:spPr>
          <a:xfrm>
            <a:off x="792480" y="5394960"/>
            <a:ext cx="314858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区分等级</a:t>
            </a:r>
            <a:endParaRPr lang="en-US" sz="1680" dirty="0"/>
          </a:p>
        </p:txBody>
      </p:sp>
      <p:sp>
        <p:nvSpPr>
          <p:cNvPr id="54" name="Text 26"/>
          <p:cNvSpPr/>
          <p:nvPr/>
        </p:nvSpPr>
        <p:spPr>
          <a:xfrm>
            <a:off x="792480" y="5688330"/>
            <a:ext cx="3148584" cy="546259"/>
          </a:xfrm>
          <a:prstGeom prst="rect">
            <a:avLst/>
          </a:prstGeom>
          <a:noFill/>
        </p:spPr>
        <p:txBody>
          <a:bodyPr wrap="square" lIns="0" tIns="0" rIns="0" bIns="0" rtlCol="0" anchor="t">
            <a:spAutoFit/>
          </a:bodyPr>
          <a:lstStyle/>
          <a:p>
            <a:pPr marL="0" indent="0" algn="l">
              <a:lnSpc>
                <a:spcPct val="163000"/>
              </a:lnSpc>
              <a:buNone/>
            </a:pPr>
            <a:r>
              <a:rPr lang="en-US" sz="1320" dirty="0">
                <a:solidFill>
                  <a:srgbClr val="000000"/>
                </a:solidFill>
                <a:latin typeface="思源黑体 CN Regular" pitchFamily="34" charset="0"/>
                <a:ea typeface="思源黑体 CN Regular" pitchFamily="34" charset="-122"/>
                <a:cs typeface="思源黑体 CN Regular" pitchFamily="34" charset="-120"/>
              </a:rPr>
              <a:t>如何区分Critical（严重）和High（高危）漏洞</a:t>
            </a:r>
            <a:endParaRPr lang="en-US" sz="1320" dirty="0"/>
          </a:p>
        </p:txBody>
      </p:sp>
      <p:pic>
        <p:nvPicPr>
          <p:cNvPr id="55" name="Image 26" descr="preencoded.png"/>
          <p:cNvPicPr>
            <a:picLocks noChangeAspect="1"/>
          </p:cNvPicPr>
          <p:nvPr/>
        </p:nvPicPr>
        <p:blipFill>
          <a:blip r:embed="rId20">
            <a:alphaModFix amt="50000"/>
            <a:extLst>
              <a:ext uri="{96DAC541-7B7A-43D3-8B79-37D633B846F1}">
                <asvg:svgBlip xmlns:asvg="http://schemas.microsoft.com/office/drawing/2016/SVG/main" r:embed="rId21"/>
              </a:ext>
            </a:extLst>
          </a:blip>
          <a:stretch>
            <a:fillRect/>
          </a:stretch>
        </p:blipFill>
        <p:spPr>
          <a:xfrm>
            <a:off x="3550920" y="5394960"/>
            <a:ext cx="365760" cy="365760"/>
          </a:xfrm>
          <a:prstGeom prst="rect">
            <a:avLst/>
          </a:prstGeom>
        </p:spPr>
      </p:pic>
      <p:pic>
        <p:nvPicPr>
          <p:cNvPr id="56" name="Image 27"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343400" y="5181600"/>
            <a:ext cx="3505200" cy="1311910"/>
          </a:xfrm>
          <a:prstGeom prst="rect">
            <a:avLst/>
          </a:prstGeom>
          <a:effectLst>
            <a:outerShdw blurRad="-2147483648" dist="1935480000" dir="-1" algn="bl" rotWithShape="0">
              <a:srgbClr val="000000">
                <a:alpha val="1000000000"/>
              </a:srgbClr>
            </a:outerShdw>
          </a:effectLst>
        </p:spPr>
      </p:pic>
      <p:sp>
        <p:nvSpPr>
          <p:cNvPr id="57" name="Text 27"/>
          <p:cNvSpPr/>
          <p:nvPr/>
        </p:nvSpPr>
        <p:spPr>
          <a:xfrm>
            <a:off x="4526280" y="5394960"/>
            <a:ext cx="314858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查看详情</a:t>
            </a:r>
            <a:endParaRPr lang="en-US" sz="1680" dirty="0"/>
          </a:p>
        </p:txBody>
      </p:sp>
      <p:sp>
        <p:nvSpPr>
          <p:cNvPr id="58" name="Text 28"/>
          <p:cNvSpPr/>
          <p:nvPr/>
        </p:nvSpPr>
        <p:spPr>
          <a:xfrm>
            <a:off x="4526280" y="5761355"/>
            <a:ext cx="3148584" cy="273129"/>
          </a:xfrm>
          <a:prstGeom prst="rect">
            <a:avLst/>
          </a:prstGeom>
          <a:noFill/>
        </p:spPr>
        <p:txBody>
          <a:bodyPr wrap="square" lIns="0" tIns="0" rIns="0" bIns="0" rtlCol="0" anchor="t">
            <a:spAutoFit/>
          </a:bodyPr>
          <a:lstStyle/>
          <a:p>
            <a:pPr marL="0" indent="0" algn="l">
              <a:lnSpc>
                <a:spcPct val="163000"/>
              </a:lnSpc>
              <a:buNone/>
            </a:pPr>
            <a:r>
              <a:rPr lang="en-US" sz="1320" dirty="0">
                <a:solidFill>
                  <a:srgbClr val="000000"/>
                </a:solidFill>
                <a:latin typeface="思源黑体 CN Regular" pitchFamily="34" charset="0"/>
                <a:ea typeface="思源黑体 CN Regular" pitchFamily="34" charset="-122"/>
                <a:cs typeface="思源黑体 CN Regular" pitchFamily="34" charset="-120"/>
              </a:rPr>
              <a:t>如何查看漏洞描述、影响范围、修复建议</a:t>
            </a:r>
            <a:endParaRPr lang="en-US" sz="1320" dirty="0"/>
          </a:p>
        </p:txBody>
      </p:sp>
      <p:pic>
        <p:nvPicPr>
          <p:cNvPr id="59" name="Image 28" descr="preencoded.png"/>
          <p:cNvPicPr>
            <a:picLocks noChangeAspect="1"/>
          </p:cNvPicPr>
          <p:nvPr/>
        </p:nvPicPr>
        <p:blipFill>
          <a:blip r:embed="rId22">
            <a:alphaModFix amt="50000"/>
            <a:extLst>
              <a:ext uri="{96DAC541-7B7A-43D3-8B79-37D633B846F1}">
                <asvg:svgBlip xmlns:asvg="http://schemas.microsoft.com/office/drawing/2016/SVG/main" r:embed="rId23"/>
              </a:ext>
            </a:extLst>
          </a:blip>
          <a:stretch>
            <a:fillRect/>
          </a:stretch>
        </p:blipFill>
        <p:spPr>
          <a:xfrm>
            <a:off x="7299960" y="5394960"/>
            <a:ext cx="365760" cy="365760"/>
          </a:xfrm>
          <a:prstGeom prst="rect">
            <a:avLst/>
          </a:prstGeom>
        </p:spPr>
      </p:pic>
      <p:pic>
        <p:nvPicPr>
          <p:cNvPr id="60" name="Image 29"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092440" y="5181600"/>
            <a:ext cx="3505200" cy="1296670"/>
          </a:xfrm>
          <a:prstGeom prst="rect">
            <a:avLst/>
          </a:prstGeom>
          <a:effectLst>
            <a:outerShdw blurRad="-2147483648" dist="1935480000" dir="-1" algn="bl" rotWithShape="0">
              <a:srgbClr val="000000">
                <a:alpha val="1000000000"/>
              </a:srgbClr>
            </a:outerShdw>
          </a:effectLst>
        </p:spPr>
      </p:pic>
      <p:sp>
        <p:nvSpPr>
          <p:cNvPr id="61" name="Text 29"/>
          <p:cNvSpPr/>
          <p:nvPr/>
        </p:nvSpPr>
        <p:spPr>
          <a:xfrm>
            <a:off x="8275320" y="5394960"/>
            <a:ext cx="3148584" cy="320040"/>
          </a:xfrm>
          <a:prstGeom prst="rect">
            <a:avLst/>
          </a:prstGeom>
          <a:noFill/>
        </p:spPr>
        <p:txBody>
          <a:bodyPr wrap="none" lIns="0" tIns="0" rIns="0" bIns="0" rtlCol="0" anchor="t">
            <a:spAutoFit/>
          </a:bodyPr>
          <a:lstStyle/>
          <a:p>
            <a:pPr marL="0" indent="0" algn="l">
              <a:lnSpc>
                <a:spcPct val="10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识别误报</a:t>
            </a:r>
            <a:endParaRPr lang="en-US" sz="1680" dirty="0"/>
          </a:p>
        </p:txBody>
      </p:sp>
      <p:sp>
        <p:nvSpPr>
          <p:cNvPr id="62" name="Text 30"/>
          <p:cNvSpPr/>
          <p:nvPr/>
        </p:nvSpPr>
        <p:spPr>
          <a:xfrm>
            <a:off x="8275320" y="5761355"/>
            <a:ext cx="3148584" cy="297894"/>
          </a:xfrm>
          <a:prstGeom prst="rect">
            <a:avLst/>
          </a:prstGeom>
          <a:noFill/>
        </p:spPr>
        <p:txBody>
          <a:bodyPr wrap="none" lIns="0" tIns="0" rIns="0" bIns="0" rtlCol="0" anchor="t">
            <a:spAutoFit/>
          </a:bodyPr>
          <a:lstStyle/>
          <a:p>
            <a:pPr marL="0" indent="0" algn="l">
              <a:lnSpc>
                <a:spcPct val="10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识别特征匹配导致的假阳性漏洞误报</a:t>
            </a:r>
            <a:endParaRPr lang="en-US" sz="1440" dirty="0"/>
          </a:p>
        </p:txBody>
      </p:sp>
      <p:pic>
        <p:nvPicPr>
          <p:cNvPr id="63" name="Image 30" descr="preencoded.png"/>
          <p:cNvPicPr>
            <a:picLocks noChangeAspect="1"/>
          </p:cNvPicPr>
          <p:nvPr/>
        </p:nvPicPr>
        <p:blipFill>
          <a:blip r:embed="rId22">
            <a:alphaModFix amt="50000"/>
            <a:extLst>
              <a:ext uri="{96DAC541-7B7A-43D3-8B79-37D633B846F1}">
                <asvg:svgBlip xmlns:asvg="http://schemas.microsoft.com/office/drawing/2016/SVG/main" r:embed="rId23"/>
              </a:ext>
            </a:extLst>
          </a:blip>
          <a:stretch>
            <a:fillRect/>
          </a:stretch>
        </p:blipFill>
        <p:spPr>
          <a:xfrm>
            <a:off x="11033760" y="5394960"/>
            <a:ext cx="365760" cy="3657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实践任务1——OpenVAS漏洞扫描操作（20分钟）</a:t>
            </a:r>
            <a:endParaRPr lang="en-US" sz="2760" dirty="0"/>
          </a:p>
        </p:txBody>
      </p:sp>
      <p:pic>
        <p:nvPicPr>
          <p:cNvPr id="6" name="Image 3" descr="https://test.web.static.jianzeppt.com/ppt-temp-img3/9ddbafb3e5ab1f243d7b8738c366fbfe.png?x-oss-process=image/resize,w_1440,h_800,m_lfit/format,png"/>
          <p:cNvPicPr>
            <a:picLocks noChangeAspect="1"/>
          </p:cNvPicPr>
          <p:nvPr/>
        </p:nvPicPr>
        <p:blipFill>
          <a:blip r:embed="rId4"/>
          <a:stretch>
            <a:fillRect/>
          </a:stretch>
        </p:blipFill>
        <p:spPr>
          <a:xfrm>
            <a:off x="609600" y="1661160"/>
            <a:ext cx="10972800" cy="4617720"/>
          </a:xfrm>
          <a:prstGeom prst="rect">
            <a:avLst/>
          </a:prstGeom>
        </p:spPr>
      </p:pic>
      <p:pic>
        <p:nvPicPr>
          <p:cNvPr id="7" name="Image 4" descr="https://test.web.static.jianzeppt.com/ppt-temp-img3/ccceec788d07dfc506e65694a0e5160d.png?x-oss-process=image/resize,w_1440,h_800,m_lfit/format,png"/>
          <p:cNvPicPr>
            <a:picLocks noChangeAspect="1"/>
          </p:cNvPicPr>
          <p:nvPr/>
        </p:nvPicPr>
        <p:blipFill>
          <a:blip r:embed="rId5"/>
          <a:stretch>
            <a:fillRect/>
          </a:stretch>
        </p:blipFill>
        <p:spPr>
          <a:xfrm>
            <a:off x="624840" y="1676400"/>
            <a:ext cx="10942320" cy="746760"/>
          </a:xfrm>
          <a:prstGeom prst="rect">
            <a:avLst/>
          </a:prstGeom>
        </p:spPr>
      </p:pic>
      <p:sp>
        <p:nvSpPr>
          <p:cNvPr id="8" name="Text 1"/>
          <p:cNvSpPr/>
          <p:nvPr/>
        </p:nvSpPr>
        <p:spPr>
          <a:xfrm>
            <a:off x="868680" y="1859280"/>
            <a:ext cx="13502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要素</a:t>
            </a:r>
            <a:endParaRPr lang="en-US" sz="1920" dirty="0"/>
          </a:p>
        </p:txBody>
      </p:sp>
      <p:sp>
        <p:nvSpPr>
          <p:cNvPr id="9" name="Text 2"/>
          <p:cNvSpPr/>
          <p:nvPr/>
        </p:nvSpPr>
        <p:spPr>
          <a:xfrm>
            <a:off x="2697480" y="1859280"/>
            <a:ext cx="863498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000000"/>
                </a:solidFill>
                <a:latin typeface="思源黑体 CN Bold" pitchFamily="34" charset="0"/>
                <a:ea typeface="思源黑体 CN Bold" pitchFamily="34" charset="-122"/>
                <a:cs typeface="思源黑体 CN Bold" pitchFamily="34" charset="-120"/>
              </a:rPr>
              <a:t>内容</a:t>
            </a:r>
            <a:endParaRPr lang="en-US" sz="1920" dirty="0"/>
          </a:p>
        </p:txBody>
      </p:sp>
      <p:pic>
        <p:nvPicPr>
          <p:cNvPr id="10" name="Image 5" descr="https://test.web.static.jianzeppt.com/ppt-temp-img3/65542e5587d11f3b168fb2604f430d55.png?x-oss-process=image/resize,w_1440,h_800,m_lfit/format,png"/>
          <p:cNvPicPr>
            <a:picLocks noChangeAspect="1"/>
          </p:cNvPicPr>
          <p:nvPr/>
        </p:nvPicPr>
        <p:blipFill>
          <a:blip r:embed="rId6"/>
          <a:stretch>
            <a:fillRect/>
          </a:stretch>
        </p:blipFill>
        <p:spPr>
          <a:xfrm>
            <a:off x="624840" y="2413711"/>
            <a:ext cx="10942320" cy="15240"/>
          </a:xfrm>
          <a:prstGeom prst="rect">
            <a:avLst/>
          </a:prstGeom>
        </p:spPr>
      </p:pic>
      <p:pic>
        <p:nvPicPr>
          <p:cNvPr id="11" name="Image 6" descr="https://test.web.static.jianzeppt.com/ppt-temp-img3/53a67d341047a0a4eb9e2a8963b554cf.png?x-oss-process=image/resize,w_1440,h_800,m_lfit/format,png"/>
          <p:cNvPicPr>
            <a:picLocks noChangeAspect="1"/>
          </p:cNvPicPr>
          <p:nvPr/>
        </p:nvPicPr>
        <p:blipFill>
          <a:blip r:embed="rId7"/>
          <a:stretch>
            <a:fillRect/>
          </a:stretch>
        </p:blipFill>
        <p:spPr>
          <a:xfrm>
            <a:off x="624840" y="2407920"/>
            <a:ext cx="1828800" cy="731520"/>
          </a:xfrm>
          <a:prstGeom prst="rect">
            <a:avLst/>
          </a:prstGeom>
        </p:spPr>
      </p:pic>
      <p:sp>
        <p:nvSpPr>
          <p:cNvPr id="12" name="Text 3"/>
          <p:cNvSpPr/>
          <p:nvPr/>
        </p:nvSpPr>
        <p:spPr>
          <a:xfrm>
            <a:off x="868680" y="260604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任务名称</a:t>
            </a:r>
            <a:endParaRPr lang="en-US" sz="1680" dirty="0"/>
          </a:p>
        </p:txBody>
      </p:sp>
      <p:sp>
        <p:nvSpPr>
          <p:cNvPr id="13" name="Text 4"/>
          <p:cNvSpPr/>
          <p:nvPr/>
        </p:nvSpPr>
        <p:spPr>
          <a:xfrm>
            <a:off x="2697480" y="259080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使用OpenVAS对靶机进行漏洞扫描</a:t>
            </a:r>
            <a:endParaRPr lang="en-US" sz="1680" dirty="0"/>
          </a:p>
        </p:txBody>
      </p:sp>
      <p:pic>
        <p:nvPicPr>
          <p:cNvPr id="14" name="Image 7"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3141421"/>
            <a:ext cx="10942320" cy="15240"/>
          </a:xfrm>
          <a:prstGeom prst="rect">
            <a:avLst/>
          </a:prstGeom>
        </p:spPr>
      </p:pic>
      <p:pic>
        <p:nvPicPr>
          <p:cNvPr id="15" name="Image 8" descr="https://test.web.static.jianzeppt.com/ppt-temp-img3/53a67d341047a0a4eb9e2a8963b554cf.png?x-oss-process=image/resize,w_1440,h_800,m_lfit/format,png"/>
          <p:cNvPicPr>
            <a:picLocks noChangeAspect="1"/>
          </p:cNvPicPr>
          <p:nvPr/>
        </p:nvPicPr>
        <p:blipFill>
          <a:blip r:embed="rId7"/>
          <a:stretch>
            <a:fillRect/>
          </a:stretch>
        </p:blipFill>
        <p:spPr>
          <a:xfrm>
            <a:off x="624840" y="3139440"/>
            <a:ext cx="1828800" cy="731520"/>
          </a:xfrm>
          <a:prstGeom prst="rect">
            <a:avLst/>
          </a:prstGeom>
        </p:spPr>
      </p:pic>
      <p:sp>
        <p:nvSpPr>
          <p:cNvPr id="16" name="Text 5"/>
          <p:cNvSpPr/>
          <p:nvPr/>
        </p:nvSpPr>
        <p:spPr>
          <a:xfrm>
            <a:off x="868680" y="333756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任务环境</a:t>
            </a:r>
            <a:endParaRPr lang="en-US" sz="1680" dirty="0"/>
          </a:p>
        </p:txBody>
      </p:sp>
      <p:sp>
        <p:nvSpPr>
          <p:cNvPr id="17" name="Text 6"/>
          <p:cNvSpPr/>
          <p:nvPr/>
        </p:nvSpPr>
        <p:spPr>
          <a:xfrm>
            <a:off x="2697480" y="332232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Kali Linux（已安装OpenVAS）+ Metasploitable2靶机</a:t>
            </a:r>
            <a:endParaRPr lang="en-US" sz="1680" dirty="0"/>
          </a:p>
        </p:txBody>
      </p:sp>
      <p:pic>
        <p:nvPicPr>
          <p:cNvPr id="18" name="Image 9"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3869131"/>
            <a:ext cx="10942320" cy="15240"/>
          </a:xfrm>
          <a:prstGeom prst="rect">
            <a:avLst/>
          </a:prstGeom>
        </p:spPr>
      </p:pic>
      <p:pic>
        <p:nvPicPr>
          <p:cNvPr id="19" name="Image 10" descr="https://test.web.static.jianzeppt.com/ppt-temp-img3/be65787a8704fe4c39f682b043e27a5c.png?x-oss-process=image/resize,w_1440,h_800,m_lfit/format,png"/>
          <p:cNvPicPr>
            <a:picLocks noChangeAspect="1"/>
          </p:cNvPicPr>
          <p:nvPr/>
        </p:nvPicPr>
        <p:blipFill>
          <a:blip r:embed="rId9"/>
          <a:stretch>
            <a:fillRect/>
          </a:stretch>
        </p:blipFill>
        <p:spPr>
          <a:xfrm>
            <a:off x="624840" y="3870960"/>
            <a:ext cx="1828800" cy="1661160"/>
          </a:xfrm>
          <a:prstGeom prst="rect">
            <a:avLst/>
          </a:prstGeom>
        </p:spPr>
      </p:pic>
      <p:sp>
        <p:nvSpPr>
          <p:cNvPr id="20" name="Text 7"/>
          <p:cNvSpPr/>
          <p:nvPr/>
        </p:nvSpPr>
        <p:spPr>
          <a:xfrm>
            <a:off x="868680" y="454152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操作步骤</a:t>
            </a:r>
            <a:endParaRPr lang="en-US" sz="1680" dirty="0"/>
          </a:p>
        </p:txBody>
      </p:sp>
      <p:pic>
        <p:nvPicPr>
          <p:cNvPr id="21" name="Image 11"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2697480" y="4114800"/>
            <a:ext cx="2712720" cy="487680"/>
          </a:xfrm>
          <a:prstGeom prst="rect">
            <a:avLst/>
          </a:prstGeom>
        </p:spPr>
      </p:pic>
      <p:pic>
        <p:nvPicPr>
          <p:cNvPr id="22" name="Image 12" descr="https://test.web.static.jianzeppt.com/ppt-temp-img3/f0606bf284e6889b92a2ba364620ce2e.png?x-oss-process=image/resize,w_1440,h_800,m_lfit/format,png"/>
          <p:cNvPicPr>
            <a:picLocks noChangeAspect="1"/>
          </p:cNvPicPr>
          <p:nvPr/>
        </p:nvPicPr>
        <p:blipFill>
          <a:blip r:embed="rId12"/>
          <a:stretch>
            <a:fillRect/>
          </a:stretch>
        </p:blipFill>
        <p:spPr>
          <a:xfrm>
            <a:off x="2880360" y="4206240"/>
            <a:ext cx="304800" cy="304800"/>
          </a:xfrm>
          <a:prstGeom prst="rect">
            <a:avLst/>
          </a:prstGeom>
        </p:spPr>
      </p:pic>
      <p:sp>
        <p:nvSpPr>
          <p:cNvPr id="23" name="Text 8"/>
          <p:cNvSpPr/>
          <p:nvPr/>
        </p:nvSpPr>
        <p:spPr>
          <a:xfrm>
            <a:off x="2987040" y="422148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1</a:t>
            </a:r>
            <a:endParaRPr lang="en-US" sz="1440" dirty="0"/>
          </a:p>
        </p:txBody>
      </p:sp>
      <p:sp>
        <p:nvSpPr>
          <p:cNvPr id="24" name="Text 9"/>
          <p:cNvSpPr/>
          <p:nvPr/>
        </p:nvSpPr>
        <p:spPr>
          <a:xfrm>
            <a:off x="3276600" y="4221480"/>
            <a:ext cx="19598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openvas-start 启动服务</a:t>
            </a:r>
            <a:endParaRPr lang="en-US" sz="1440" dirty="0"/>
          </a:p>
        </p:txBody>
      </p:sp>
      <p:pic>
        <p:nvPicPr>
          <p:cNvPr id="25" name="Image 13" descr="https://test.web.static.jianzeppt.com/ppt-temp-img3/b6dfbf52b5d4315a829089da1e4c0aa1.png?x-oss-process=image/resize,w_1440,h_800,m_lfit/format,png"/>
          <p:cNvPicPr>
            <a:picLocks noChangeAspect="1"/>
          </p:cNvPicPr>
          <p:nvPr/>
        </p:nvPicPr>
        <p:blipFill>
          <a:blip r:embed="rId13"/>
          <a:stretch>
            <a:fillRect/>
          </a:stretch>
        </p:blipFill>
        <p:spPr>
          <a:xfrm>
            <a:off x="5516880" y="4221480"/>
            <a:ext cx="274320" cy="274320"/>
          </a:xfrm>
          <a:prstGeom prst="rect">
            <a:avLst/>
          </a:prstGeom>
        </p:spPr>
      </p:pic>
      <p:pic>
        <p:nvPicPr>
          <p:cNvPr id="26" name="Image 14" descr="preencoded.png"/>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897880" y="4114800"/>
            <a:ext cx="3779520" cy="487680"/>
          </a:xfrm>
          <a:prstGeom prst="rect">
            <a:avLst/>
          </a:prstGeom>
        </p:spPr>
      </p:pic>
      <p:pic>
        <p:nvPicPr>
          <p:cNvPr id="27" name="Image 15" descr="https://test.web.static.jianzeppt.com/ppt-temp-img3/f0606bf284e6889b92a2ba364620ce2e.png?x-oss-process=image/resize,w_1440,h_800,m_lfit/format,png"/>
          <p:cNvPicPr>
            <a:picLocks noChangeAspect="1"/>
          </p:cNvPicPr>
          <p:nvPr/>
        </p:nvPicPr>
        <p:blipFill>
          <a:blip r:embed="rId12"/>
          <a:stretch>
            <a:fillRect/>
          </a:stretch>
        </p:blipFill>
        <p:spPr>
          <a:xfrm>
            <a:off x="6080760" y="4206240"/>
            <a:ext cx="304800" cy="304800"/>
          </a:xfrm>
          <a:prstGeom prst="rect">
            <a:avLst/>
          </a:prstGeom>
        </p:spPr>
      </p:pic>
      <p:sp>
        <p:nvSpPr>
          <p:cNvPr id="28" name="Text 10"/>
          <p:cNvSpPr/>
          <p:nvPr/>
        </p:nvSpPr>
        <p:spPr>
          <a:xfrm>
            <a:off x="6172200" y="422148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2</a:t>
            </a:r>
            <a:endParaRPr lang="en-US" sz="1440" dirty="0"/>
          </a:p>
        </p:txBody>
      </p:sp>
      <p:sp>
        <p:nvSpPr>
          <p:cNvPr id="29" name="Text 11"/>
          <p:cNvSpPr/>
          <p:nvPr/>
        </p:nvSpPr>
        <p:spPr>
          <a:xfrm>
            <a:off x="6477000" y="4221480"/>
            <a:ext cx="30266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访问Web界面 https://127.0.0.1:9392</a:t>
            </a:r>
            <a:endParaRPr lang="en-US" sz="1440" dirty="0"/>
          </a:p>
        </p:txBody>
      </p:sp>
      <p:pic>
        <p:nvPicPr>
          <p:cNvPr id="30" name="Image 16" descr="https://test.web.static.jianzeppt.com/ppt-temp-img3/b6dfbf52b5d4315a829089da1e4c0aa1.png?x-oss-process=image/resize,w_1440,h_800,m_lfit/format,png"/>
          <p:cNvPicPr>
            <a:picLocks noChangeAspect="1"/>
          </p:cNvPicPr>
          <p:nvPr/>
        </p:nvPicPr>
        <p:blipFill>
          <a:blip r:embed="rId13"/>
          <a:stretch>
            <a:fillRect/>
          </a:stretch>
        </p:blipFill>
        <p:spPr>
          <a:xfrm>
            <a:off x="9768840" y="4221480"/>
            <a:ext cx="274320" cy="274320"/>
          </a:xfrm>
          <a:prstGeom prst="rect">
            <a:avLst/>
          </a:prstGeom>
        </p:spPr>
      </p:pic>
      <p:pic>
        <p:nvPicPr>
          <p:cNvPr id="31" name="Image 17"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697480" y="4785360"/>
            <a:ext cx="1874520" cy="487680"/>
          </a:xfrm>
          <a:prstGeom prst="rect">
            <a:avLst/>
          </a:prstGeom>
        </p:spPr>
      </p:pic>
      <p:pic>
        <p:nvPicPr>
          <p:cNvPr id="32" name="Image 18" descr="https://test.web.static.jianzeppt.com/ppt-temp-img3/f0606bf284e6889b92a2ba364620ce2e.png?x-oss-process=image/resize,w_1440,h_800,m_lfit/format,png"/>
          <p:cNvPicPr>
            <a:picLocks noChangeAspect="1"/>
          </p:cNvPicPr>
          <p:nvPr/>
        </p:nvPicPr>
        <p:blipFill>
          <a:blip r:embed="rId12"/>
          <a:stretch>
            <a:fillRect/>
          </a:stretch>
        </p:blipFill>
        <p:spPr>
          <a:xfrm>
            <a:off x="2880360" y="4876800"/>
            <a:ext cx="304800" cy="304800"/>
          </a:xfrm>
          <a:prstGeom prst="rect">
            <a:avLst/>
          </a:prstGeom>
        </p:spPr>
      </p:pic>
      <p:sp>
        <p:nvSpPr>
          <p:cNvPr id="33" name="Text 12"/>
          <p:cNvSpPr/>
          <p:nvPr/>
        </p:nvSpPr>
        <p:spPr>
          <a:xfrm>
            <a:off x="298704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3</a:t>
            </a:r>
            <a:endParaRPr lang="en-US" sz="1440" dirty="0"/>
          </a:p>
        </p:txBody>
      </p:sp>
      <p:sp>
        <p:nvSpPr>
          <p:cNvPr id="34" name="Text 13"/>
          <p:cNvSpPr/>
          <p:nvPr/>
        </p:nvSpPr>
        <p:spPr>
          <a:xfrm>
            <a:off x="3276600" y="4892040"/>
            <a:ext cx="112166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创建扫描任务</a:t>
            </a:r>
            <a:endParaRPr lang="en-US" sz="1440" dirty="0"/>
          </a:p>
        </p:txBody>
      </p:sp>
      <p:pic>
        <p:nvPicPr>
          <p:cNvPr id="35" name="Image 19" descr="https://test.web.static.jianzeppt.com/ppt-temp-img3/b6dfbf52b5d4315a829089da1e4c0aa1.png?x-oss-process=image/resize,w_1440,h_800,m_lfit/format,png"/>
          <p:cNvPicPr>
            <a:picLocks noChangeAspect="1"/>
          </p:cNvPicPr>
          <p:nvPr/>
        </p:nvPicPr>
        <p:blipFill>
          <a:blip r:embed="rId13"/>
          <a:stretch>
            <a:fillRect/>
          </a:stretch>
        </p:blipFill>
        <p:spPr>
          <a:xfrm>
            <a:off x="4663440" y="4892040"/>
            <a:ext cx="274320" cy="274320"/>
          </a:xfrm>
          <a:prstGeom prst="rect">
            <a:avLst/>
          </a:prstGeom>
        </p:spPr>
      </p:pic>
      <p:pic>
        <p:nvPicPr>
          <p:cNvPr id="36" name="Image 20"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5044440" y="4785360"/>
            <a:ext cx="1508760" cy="487680"/>
          </a:xfrm>
          <a:prstGeom prst="rect">
            <a:avLst/>
          </a:prstGeom>
        </p:spPr>
      </p:pic>
      <p:pic>
        <p:nvPicPr>
          <p:cNvPr id="37" name="Image 21" descr="https://test.web.static.jianzeppt.com/ppt-temp-img3/f0606bf284e6889b92a2ba364620ce2e.png?x-oss-process=image/resize,w_1440,h_800,m_lfit/format,png"/>
          <p:cNvPicPr>
            <a:picLocks noChangeAspect="1"/>
          </p:cNvPicPr>
          <p:nvPr/>
        </p:nvPicPr>
        <p:blipFill>
          <a:blip r:embed="rId12"/>
          <a:stretch>
            <a:fillRect/>
          </a:stretch>
        </p:blipFill>
        <p:spPr>
          <a:xfrm>
            <a:off x="5227320" y="4876800"/>
            <a:ext cx="304800" cy="304800"/>
          </a:xfrm>
          <a:prstGeom prst="rect">
            <a:avLst/>
          </a:prstGeom>
        </p:spPr>
      </p:pic>
      <p:sp>
        <p:nvSpPr>
          <p:cNvPr id="38" name="Text 14"/>
          <p:cNvSpPr/>
          <p:nvPr/>
        </p:nvSpPr>
        <p:spPr>
          <a:xfrm>
            <a:off x="533400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4</a:t>
            </a:r>
            <a:endParaRPr lang="en-US" sz="1440" dirty="0"/>
          </a:p>
        </p:txBody>
      </p:sp>
      <p:sp>
        <p:nvSpPr>
          <p:cNvPr id="39" name="Text 15"/>
          <p:cNvSpPr/>
          <p:nvPr/>
        </p:nvSpPr>
        <p:spPr>
          <a:xfrm>
            <a:off x="5623560" y="4892040"/>
            <a:ext cx="75590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执行扫描</a:t>
            </a:r>
            <a:endParaRPr lang="en-US" sz="1440" dirty="0"/>
          </a:p>
        </p:txBody>
      </p:sp>
      <p:pic>
        <p:nvPicPr>
          <p:cNvPr id="40" name="Image 22" descr="https://test.web.static.jianzeppt.com/ppt-temp-img3/b6dfbf52b5d4315a829089da1e4c0aa1.png?x-oss-process=image/resize,w_1440,h_800,m_lfit/format,png"/>
          <p:cNvPicPr>
            <a:picLocks noChangeAspect="1"/>
          </p:cNvPicPr>
          <p:nvPr/>
        </p:nvPicPr>
        <p:blipFill>
          <a:blip r:embed="rId13"/>
          <a:stretch>
            <a:fillRect/>
          </a:stretch>
        </p:blipFill>
        <p:spPr>
          <a:xfrm>
            <a:off x="6644640" y="4892040"/>
            <a:ext cx="274320" cy="274320"/>
          </a:xfrm>
          <a:prstGeom prst="rect">
            <a:avLst/>
          </a:prstGeom>
        </p:spPr>
      </p:pic>
      <p:pic>
        <p:nvPicPr>
          <p:cNvPr id="41" name="Image 23"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7025640" y="4785360"/>
            <a:ext cx="1508760" cy="487680"/>
          </a:xfrm>
          <a:prstGeom prst="rect">
            <a:avLst/>
          </a:prstGeom>
        </p:spPr>
      </p:pic>
      <p:pic>
        <p:nvPicPr>
          <p:cNvPr id="42" name="Image 24" descr="https://test.web.static.jianzeppt.com/ppt-temp-img3/f0606bf284e6889b92a2ba364620ce2e.png?x-oss-process=image/resize,w_1440,h_800,m_lfit/format,png"/>
          <p:cNvPicPr>
            <a:picLocks noChangeAspect="1"/>
          </p:cNvPicPr>
          <p:nvPr/>
        </p:nvPicPr>
        <p:blipFill>
          <a:blip r:embed="rId12"/>
          <a:stretch>
            <a:fillRect/>
          </a:stretch>
        </p:blipFill>
        <p:spPr>
          <a:xfrm>
            <a:off x="7208520" y="4876800"/>
            <a:ext cx="304800" cy="304800"/>
          </a:xfrm>
          <a:prstGeom prst="rect">
            <a:avLst/>
          </a:prstGeom>
        </p:spPr>
      </p:pic>
      <p:sp>
        <p:nvSpPr>
          <p:cNvPr id="43" name="Text 16"/>
          <p:cNvSpPr/>
          <p:nvPr/>
        </p:nvSpPr>
        <p:spPr>
          <a:xfrm>
            <a:off x="7315200" y="4892040"/>
            <a:ext cx="11582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5</a:t>
            </a:r>
            <a:endParaRPr lang="en-US" sz="1440" dirty="0"/>
          </a:p>
        </p:txBody>
      </p:sp>
      <p:sp>
        <p:nvSpPr>
          <p:cNvPr id="44" name="Text 17"/>
          <p:cNvSpPr/>
          <p:nvPr/>
        </p:nvSpPr>
        <p:spPr>
          <a:xfrm>
            <a:off x="7604760" y="4892040"/>
            <a:ext cx="755904" cy="259080"/>
          </a:xfrm>
          <a:prstGeom prst="rect">
            <a:avLst/>
          </a:prstGeom>
          <a:noFill/>
        </p:spPr>
        <p:txBody>
          <a:bodyPr wrap="none" lIns="0" tIns="0" rIns="0" bIns="0" rtlCol="0" anchor="ctr"/>
          <a:lstStyle/>
          <a:p>
            <a:pPr marL="0" indent="0" algn="l">
              <a:lnSpc>
                <a:spcPct val="150000"/>
              </a:lnSpc>
              <a:buNone/>
            </a:pPr>
            <a:r>
              <a:rPr lang="en-US" sz="1440" dirty="0">
                <a:solidFill>
                  <a:srgbClr val="FFFFFF">
                    <a:alpha val="90000"/>
                  </a:srgbClr>
                </a:solidFill>
                <a:latin typeface="思源黑体 CN Bold" pitchFamily="34" charset="0"/>
                <a:ea typeface="思源黑体 CN Bold" pitchFamily="34" charset="-122"/>
                <a:cs typeface="思源黑体 CN Bold" pitchFamily="34" charset="-120"/>
              </a:rPr>
              <a:t>查看结果</a:t>
            </a:r>
            <a:endParaRPr lang="en-US" sz="1440" dirty="0"/>
          </a:p>
        </p:txBody>
      </p:sp>
      <p:pic>
        <p:nvPicPr>
          <p:cNvPr id="45" name="Image 25" descr="https://test.web.static.jianzeppt.com/ppt-temp-img3/f07cc857527605928866fe5825d87123.png?x-oss-process=image/resize,w_1440,h_800,m_lfit/format,png"/>
          <p:cNvPicPr>
            <a:picLocks noChangeAspect="1"/>
          </p:cNvPicPr>
          <p:nvPr/>
        </p:nvPicPr>
        <p:blipFill>
          <a:blip r:embed="rId8"/>
          <a:stretch>
            <a:fillRect/>
          </a:stretch>
        </p:blipFill>
        <p:spPr>
          <a:xfrm>
            <a:off x="624840" y="5530291"/>
            <a:ext cx="10942320" cy="15240"/>
          </a:xfrm>
          <a:prstGeom prst="rect">
            <a:avLst/>
          </a:prstGeom>
        </p:spPr>
      </p:pic>
      <p:pic>
        <p:nvPicPr>
          <p:cNvPr id="46" name="Image 26" descr="https://test.web.static.jianzeppt.com/ppt-temp-img3/7c688fed39a329a36b58257e71262c7d.png?x-oss-process=image/resize,w_1440,h_800,m_lfit/format,png"/>
          <p:cNvPicPr>
            <a:picLocks noChangeAspect="1"/>
          </p:cNvPicPr>
          <p:nvPr/>
        </p:nvPicPr>
        <p:blipFill>
          <a:blip r:embed="rId20"/>
          <a:stretch>
            <a:fillRect/>
          </a:stretch>
        </p:blipFill>
        <p:spPr>
          <a:xfrm>
            <a:off x="624840" y="5532120"/>
            <a:ext cx="1828800" cy="731520"/>
          </a:xfrm>
          <a:prstGeom prst="rect">
            <a:avLst/>
          </a:prstGeom>
        </p:spPr>
      </p:pic>
      <p:sp>
        <p:nvSpPr>
          <p:cNvPr id="47" name="Text 18"/>
          <p:cNvSpPr/>
          <p:nvPr/>
        </p:nvSpPr>
        <p:spPr>
          <a:xfrm>
            <a:off x="868680" y="5715000"/>
            <a:ext cx="8625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Bold" pitchFamily="34" charset="0"/>
                <a:ea typeface="思源黑体 CN Bold" pitchFamily="34" charset="-122"/>
                <a:cs typeface="思源黑体 CN Bold" pitchFamily="34" charset="-120"/>
              </a:rPr>
              <a:t>任务产出</a:t>
            </a:r>
            <a:endParaRPr lang="en-US" sz="1680" dirty="0"/>
          </a:p>
        </p:txBody>
      </p:sp>
      <p:sp>
        <p:nvSpPr>
          <p:cNvPr id="48" name="Text 19"/>
          <p:cNvSpPr/>
          <p:nvPr/>
        </p:nvSpPr>
        <p:spPr>
          <a:xfrm>
            <a:off x="2697480" y="5715000"/>
            <a:ext cx="8634984" cy="350520"/>
          </a:xfrm>
          <a:prstGeom prst="rect">
            <a:avLst/>
          </a:prstGeom>
          <a:noFill/>
        </p:spPr>
        <p:txBody>
          <a:bodyPr wrap="none" lIns="0" tIns="0" rIns="0" bIns="0" rtlCol="0" anchor="t">
            <a:spAutoFit/>
          </a:bodyPr>
          <a:lstStyle/>
          <a:p>
            <a:pPr marL="0" indent="0" algn="l">
              <a:lnSpc>
                <a:spcPct val="163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截图保存扫描结果（高危漏洞列表）</a:t>
            </a:r>
            <a:endParaRPr lang="en-US" sz="1680" dirty="0"/>
          </a:p>
        </p:txBody>
      </p:sp>
      <p:graphicFrame>
        <p:nvGraphicFramePr>
          <p:cNvPr id="49" name="对象 48">
            <a:hlinkClick r:id="" action="ppaction://ole?verb="/>
          </p:cNvPr>
          <p:cNvGraphicFramePr>
            <a:graphicFrameLocks noChangeAspect="1"/>
          </p:cNvGraphicFramePr>
          <p:nvPr/>
        </p:nvGraphicFramePr>
        <p:xfrm>
          <a:off x="10360660" y="1676400"/>
          <a:ext cx="971550" cy="666750"/>
        </p:xfrm>
        <a:graphic>
          <a:graphicData uri="http://schemas.openxmlformats.org/presentationml/2006/ole">
            <mc:AlternateContent xmlns:mc="http://schemas.openxmlformats.org/markup-compatibility/2006">
              <mc:Choice xmlns:v="urn:schemas-microsoft-com:vml" Requires="v">
                <p:oleObj spid="_x0000_s1025" name="" showAsIcon="1" r:id="rId21" imgW="971550" imgH="666750" progId="Word.Document.12">
                  <p:embed/>
                </p:oleObj>
              </mc:Choice>
              <mc:Fallback>
                <p:oleObj name="" showAsIcon="1" r:id="rId21" imgW="971550" imgH="666750" progId="Word.Document.12">
                  <p:embed/>
                  <p:pic>
                    <p:nvPicPr>
                      <p:cNvPr id="0" name="图片 1024"/>
                      <p:cNvPicPr/>
                      <p:nvPr/>
                    </p:nvPicPr>
                    <p:blipFill>
                      <a:blip r:embed="rId22"/>
                      <a:stretch>
                        <a:fillRect/>
                      </a:stretch>
                    </p:blipFill>
                    <p:spPr>
                      <a:xfrm>
                        <a:off x="10360660" y="1676400"/>
                        <a:ext cx="971550" cy="66675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实践任务1——常见OpenVAS操作问题</a:t>
            </a:r>
            <a:endParaRPr lang="en-US" sz="2760" dirty="0"/>
          </a:p>
        </p:txBody>
      </p:sp>
      <p:graphicFrame>
        <p:nvGraphicFramePr>
          <p:cNvPr id="11" name="Table 0"/>
          <p:cNvGraphicFramePr>
            <a:graphicFrameLocks noGrp="1"/>
          </p:cNvGraphicFramePr>
          <p:nvPr/>
        </p:nvGraphicFramePr>
        <p:xfrm>
          <a:off x="609600" y="1371600"/>
          <a:ext cx="10972800" cy="4727575"/>
        </p:xfrm>
        <a:graphic>
          <a:graphicData uri="http://schemas.openxmlformats.org/drawingml/2006/table">
            <a:tbl>
              <a:tblPr/>
              <a:tblGrid>
                <a:gridCol w="2655570"/>
                <a:gridCol w="8317230"/>
              </a:tblGrid>
              <a:tr h="945515">
                <a:tc>
                  <a:txBody>
                    <a:bodyPr/>
                    <a:lstStyle/>
                    <a:p>
                      <a:pPr marL="0" indent="0" algn="ctr">
                        <a:buNone/>
                      </a:pPr>
                      <a:r>
                        <a:rPr lang="en-US" sz="1800" b="1" dirty="0">
                          <a:solidFill>
                            <a:srgbClr val="000000"/>
                          </a:solidFill>
                        </a:rPr>
                        <a:t>问题</a:t>
                      </a:r>
                      <a:endParaRPr lang="en-US" sz="18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b="1" dirty="0">
                          <a:solidFill>
                            <a:srgbClr val="000000"/>
                          </a:solidFill>
                        </a:rPr>
                        <a:t>解决方法</a:t>
                      </a:r>
                      <a:endParaRPr lang="en-US" sz="18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OpenVAS无法启动</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检查服务状态：openvas-check-setup</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登录密码忘记</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重置密码：openvasmd--user=admin--new-password=新密码</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漏洞库过期</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更新：openvas-feed-update</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945515">
                <a:tc>
                  <a:txBody>
                    <a:bodyPr/>
                    <a:lstStyle/>
                    <a:p>
                      <a:pPr marL="0" indent="0" algn="ctr">
                        <a:buNone/>
                      </a:pPr>
                      <a:r>
                        <a:rPr lang="en-US" sz="1800" dirty="0">
                          <a:solidFill>
                            <a:srgbClr val="000000"/>
                          </a:solidFill>
                        </a:rPr>
                        <a:t>扫描速度过慢</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800" dirty="0">
                          <a:solidFill>
                            <a:srgbClr val="000000"/>
                          </a:solidFill>
                        </a:rPr>
                        <a:t>减少并发数，或使用FullandFast配置</a:t>
                      </a:r>
                      <a:endParaRPr lang="en-US" sz="18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7010" y="209550"/>
            <a:ext cx="11777980" cy="6308725"/>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如何正确解读漏洞扫描报告（10分钟）</a:t>
            </a:r>
            <a:endParaRPr lang="en-US" sz="2760" dirty="0"/>
          </a:p>
        </p:txBody>
      </p:sp>
      <p:sp>
        <p:nvSpPr>
          <p:cNvPr id="6" name="Text 1"/>
          <p:cNvSpPr/>
          <p:nvPr/>
        </p:nvSpPr>
        <p:spPr>
          <a:xfrm>
            <a:off x="609600" y="1371600"/>
            <a:ext cx="109819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风险等级分类（CVSS评分体系）：</a:t>
            </a:r>
            <a:endParaRPr lang="en-US" sz="2160" dirty="0"/>
          </a:p>
        </p:txBody>
      </p:sp>
      <p:pic>
        <p:nvPicPr>
          <p:cNvPr id="7" name="Image 3" descr="https://test.web.static.jianzeppt.com/ppt-temp-img3/9f526dfb1bfa971f381a3d12bc5b467b.png?x-oss-process=image/resize,w_1440,h_800,m_lfit/format,png"/>
          <p:cNvPicPr>
            <a:picLocks noChangeAspect="1"/>
          </p:cNvPicPr>
          <p:nvPr>
            <p:custDataLst>
              <p:tags r:id="rId4"/>
            </p:custDataLst>
          </p:nvPr>
        </p:nvPicPr>
        <p:blipFill>
          <a:blip r:embed="rId5"/>
          <a:stretch>
            <a:fillRect/>
          </a:stretch>
        </p:blipFill>
        <p:spPr>
          <a:xfrm>
            <a:off x="609600" y="1905000"/>
            <a:ext cx="2606040" cy="1661160"/>
          </a:xfrm>
          <a:prstGeom prst="rect">
            <a:avLst/>
          </a:prstGeom>
        </p:spPr>
      </p:pic>
      <p:sp>
        <p:nvSpPr>
          <p:cNvPr id="8" name="Text 2"/>
          <p:cNvSpPr/>
          <p:nvPr/>
        </p:nvSpPr>
        <p:spPr>
          <a:xfrm>
            <a:off x="89484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9" name="Text 3"/>
          <p:cNvSpPr/>
          <p:nvPr>
            <p:custDataLst>
              <p:tags r:id="rId6"/>
            </p:custDataLst>
          </p:nvPr>
        </p:nvSpPr>
        <p:spPr>
          <a:xfrm>
            <a:off x="1231710" y="2148840"/>
            <a:ext cx="173672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EF4F44"/>
                </a:solidFill>
                <a:latin typeface="思源黑体 CN Bold" pitchFamily="34" charset="0"/>
                <a:ea typeface="思源黑体 CN Bold" pitchFamily="34" charset="-122"/>
                <a:cs typeface="思源黑体 CN Bold" pitchFamily="34" charset="-120"/>
              </a:rPr>
              <a:t>Critical（严重）</a:t>
            </a:r>
            <a:endParaRPr lang="en-US" b="1" dirty="0">
              <a:solidFill>
                <a:srgbClr val="EF4F44"/>
              </a:solidFill>
              <a:latin typeface="思源黑体 CN Bold" pitchFamily="34" charset="0"/>
              <a:ea typeface="思源黑体 CN Bold" pitchFamily="34" charset="-122"/>
              <a:cs typeface="思源黑体 CN Bold" pitchFamily="34" charset="-120"/>
            </a:endParaRPr>
          </a:p>
        </p:txBody>
      </p:sp>
      <p:sp>
        <p:nvSpPr>
          <p:cNvPr id="10" name="Text 4"/>
          <p:cNvSpPr/>
          <p:nvPr>
            <p:custDataLst>
              <p:tags r:id="rId7"/>
            </p:custDataLst>
          </p:nvPr>
        </p:nvSpPr>
        <p:spPr>
          <a:xfrm>
            <a:off x="975360" y="2621280"/>
            <a:ext cx="189890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EF4F44"/>
                </a:solidFill>
                <a:latin typeface="思源黑体 CN Bold" pitchFamily="34" charset="0"/>
                <a:ea typeface="思源黑体 CN Bold" pitchFamily="34" charset="-122"/>
                <a:cs typeface="思源黑体 CN Bold" pitchFamily="34" charset="-120"/>
              </a:rPr>
              <a:t>9.0-10</a:t>
            </a:r>
            <a:endParaRPr lang="en-US" sz="2000" b="1" dirty="0">
              <a:solidFill>
                <a:srgbClr val="EF4F44"/>
              </a:solidFill>
              <a:latin typeface="思源黑体 CN Bold" pitchFamily="34" charset="0"/>
              <a:ea typeface="思源黑体 CN Bold" pitchFamily="34" charset="-122"/>
              <a:cs typeface="思源黑体 CN Bold" pitchFamily="34" charset="-120"/>
            </a:endParaRPr>
          </a:p>
        </p:txBody>
      </p:sp>
      <p:sp>
        <p:nvSpPr>
          <p:cNvPr id="11" name="Text 5"/>
          <p:cNvSpPr/>
          <p:nvPr>
            <p:custDataLst>
              <p:tags r:id="rId8"/>
            </p:custDataLst>
          </p:nvPr>
        </p:nvSpPr>
        <p:spPr>
          <a:xfrm>
            <a:off x="1082040" y="3093720"/>
            <a:ext cx="167030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24-48小时</a:t>
            </a:r>
            <a:endParaRPr lang="en-US" sz="1440" dirty="0"/>
          </a:p>
        </p:txBody>
      </p:sp>
      <p:pic>
        <p:nvPicPr>
          <p:cNvPr id="12" name="Image 4" descr="https://test.web.static.jianzeppt.com/ppt-temp-img3/9c56131c4dc0d8dece352ca3a28b6a5c.png?x-oss-process=image/resize,w_1440,h_800,m_lfit/format,png"/>
          <p:cNvPicPr>
            <a:picLocks noChangeAspect="1"/>
          </p:cNvPicPr>
          <p:nvPr>
            <p:custDataLst>
              <p:tags r:id="rId9"/>
            </p:custDataLst>
          </p:nvPr>
        </p:nvPicPr>
        <p:blipFill>
          <a:blip r:embed="rId10"/>
          <a:stretch>
            <a:fillRect/>
          </a:stretch>
        </p:blipFill>
        <p:spPr>
          <a:xfrm>
            <a:off x="3398520" y="1905000"/>
            <a:ext cx="2606040" cy="1661160"/>
          </a:xfrm>
          <a:prstGeom prst="rect">
            <a:avLst/>
          </a:prstGeom>
        </p:spPr>
      </p:pic>
      <p:sp>
        <p:nvSpPr>
          <p:cNvPr id="13" name="Text 6"/>
          <p:cNvSpPr/>
          <p:nvPr/>
        </p:nvSpPr>
        <p:spPr>
          <a:xfrm>
            <a:off x="383616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14" name="Text 7"/>
          <p:cNvSpPr/>
          <p:nvPr>
            <p:custDataLst>
              <p:tags r:id="rId11"/>
            </p:custDataLst>
          </p:nvPr>
        </p:nvSpPr>
        <p:spPr>
          <a:xfrm>
            <a:off x="4165410" y="2148840"/>
            <a:ext cx="144716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High（高危）</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15" name="Text 8"/>
          <p:cNvSpPr/>
          <p:nvPr>
            <p:custDataLst>
              <p:tags r:id="rId12"/>
            </p:custDataLst>
          </p:nvPr>
        </p:nvSpPr>
        <p:spPr>
          <a:xfrm>
            <a:off x="3718560" y="2621280"/>
            <a:ext cx="199034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000000"/>
                </a:solidFill>
                <a:latin typeface="思源黑体 CN Bold" pitchFamily="34" charset="0"/>
                <a:ea typeface="思源黑体 CN Bold" pitchFamily="34" charset="-122"/>
                <a:cs typeface="思源黑体 CN Bold" pitchFamily="34" charset="-120"/>
              </a:rPr>
              <a:t>7.0-8.9</a:t>
            </a:r>
            <a:endParaRPr lang="en-US" sz="2000" b="1" dirty="0">
              <a:solidFill>
                <a:srgbClr val="000000"/>
              </a:solidFill>
              <a:latin typeface="思源黑体 CN Bold" pitchFamily="34" charset="0"/>
              <a:ea typeface="思源黑体 CN Bold" pitchFamily="34" charset="-122"/>
              <a:cs typeface="思源黑体 CN Bold" pitchFamily="34" charset="-120"/>
            </a:endParaRPr>
          </a:p>
        </p:txBody>
      </p:sp>
      <p:sp>
        <p:nvSpPr>
          <p:cNvPr id="16" name="Text 9"/>
          <p:cNvSpPr/>
          <p:nvPr>
            <p:custDataLst>
              <p:tags r:id="rId13"/>
            </p:custDataLst>
          </p:nvPr>
        </p:nvSpPr>
        <p:spPr>
          <a:xfrm>
            <a:off x="4069080" y="3093720"/>
            <a:ext cx="128930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3-7天</a:t>
            </a:r>
            <a:endParaRPr lang="en-US" sz="1440" dirty="0"/>
          </a:p>
        </p:txBody>
      </p:sp>
      <p:pic>
        <p:nvPicPr>
          <p:cNvPr id="17" name="Image 5" descr="https://test.web.static.jianzeppt.com/ppt-temp-img3/a3f0287be4755dc4db41d9998ed6da2d.png?x-oss-process=image/resize,w_1440,h_800,m_lfit/format,png"/>
          <p:cNvPicPr>
            <a:picLocks noChangeAspect="1"/>
          </p:cNvPicPr>
          <p:nvPr>
            <p:custDataLst>
              <p:tags r:id="rId14"/>
            </p:custDataLst>
          </p:nvPr>
        </p:nvPicPr>
        <p:blipFill>
          <a:blip r:embed="rId15"/>
          <a:stretch>
            <a:fillRect/>
          </a:stretch>
        </p:blipFill>
        <p:spPr>
          <a:xfrm>
            <a:off x="6187440" y="1905000"/>
            <a:ext cx="2606040" cy="1661160"/>
          </a:xfrm>
          <a:prstGeom prst="rect">
            <a:avLst/>
          </a:prstGeom>
        </p:spPr>
      </p:pic>
      <p:sp>
        <p:nvSpPr>
          <p:cNvPr id="18" name="Text 10"/>
          <p:cNvSpPr/>
          <p:nvPr/>
        </p:nvSpPr>
        <p:spPr>
          <a:xfrm>
            <a:off x="647268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19" name="Text 11"/>
          <p:cNvSpPr/>
          <p:nvPr>
            <p:custDataLst>
              <p:tags r:id="rId16"/>
            </p:custDataLst>
          </p:nvPr>
        </p:nvSpPr>
        <p:spPr>
          <a:xfrm>
            <a:off x="6814630" y="2148840"/>
            <a:ext cx="183324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877005"/>
                </a:solidFill>
                <a:latin typeface="思源黑体 CN Bold" pitchFamily="34" charset="0"/>
                <a:ea typeface="思源黑体 CN Bold" pitchFamily="34" charset="-122"/>
                <a:cs typeface="思源黑体 CN Bold" pitchFamily="34" charset="-120"/>
              </a:rPr>
              <a:t>Medium（中危）</a:t>
            </a:r>
            <a:endParaRPr lang="en-US" b="1" dirty="0">
              <a:solidFill>
                <a:srgbClr val="877005"/>
              </a:solidFill>
              <a:latin typeface="思源黑体 CN Bold" pitchFamily="34" charset="0"/>
              <a:ea typeface="思源黑体 CN Bold" pitchFamily="34" charset="-122"/>
              <a:cs typeface="思源黑体 CN Bold" pitchFamily="34" charset="-120"/>
            </a:endParaRPr>
          </a:p>
        </p:txBody>
      </p:sp>
      <p:sp>
        <p:nvSpPr>
          <p:cNvPr id="20" name="Text 12"/>
          <p:cNvSpPr/>
          <p:nvPr>
            <p:custDataLst>
              <p:tags r:id="rId17"/>
            </p:custDataLst>
          </p:nvPr>
        </p:nvSpPr>
        <p:spPr>
          <a:xfrm>
            <a:off x="6507480" y="2621280"/>
            <a:ext cx="199034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877005"/>
                </a:solidFill>
                <a:latin typeface="思源黑体 CN Bold" pitchFamily="34" charset="0"/>
                <a:ea typeface="思源黑体 CN Bold" pitchFamily="34" charset="-122"/>
                <a:cs typeface="思源黑体 CN Bold" pitchFamily="34" charset="-120"/>
              </a:rPr>
              <a:t>4.0-6.9</a:t>
            </a:r>
            <a:endParaRPr lang="en-US" sz="2000" b="1" dirty="0">
              <a:solidFill>
                <a:srgbClr val="877005"/>
              </a:solidFill>
              <a:latin typeface="思源黑体 CN Bold" pitchFamily="34" charset="0"/>
              <a:ea typeface="思源黑体 CN Bold" pitchFamily="34" charset="-122"/>
              <a:cs typeface="思源黑体 CN Bold" pitchFamily="34" charset="-120"/>
            </a:endParaRPr>
          </a:p>
        </p:txBody>
      </p:sp>
      <p:sp>
        <p:nvSpPr>
          <p:cNvPr id="21" name="Text 13"/>
          <p:cNvSpPr/>
          <p:nvPr>
            <p:custDataLst>
              <p:tags r:id="rId18"/>
            </p:custDataLst>
          </p:nvPr>
        </p:nvSpPr>
        <p:spPr>
          <a:xfrm>
            <a:off x="6797040" y="3093720"/>
            <a:ext cx="139598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7-30天</a:t>
            </a:r>
            <a:endParaRPr lang="en-US" sz="1440" dirty="0"/>
          </a:p>
        </p:txBody>
      </p:sp>
      <p:pic>
        <p:nvPicPr>
          <p:cNvPr id="22" name="Image 6" descr="https://test.web.static.jianzeppt.com/ppt-temp-img3/9c781d894e6a1b6e656e171f9e810f85.png?x-oss-process=image/resize,w_1440,h_800,m_lfit/format,png"/>
          <p:cNvPicPr>
            <a:picLocks noChangeAspect="1"/>
          </p:cNvPicPr>
          <p:nvPr>
            <p:custDataLst>
              <p:tags r:id="rId19"/>
            </p:custDataLst>
          </p:nvPr>
        </p:nvPicPr>
        <p:blipFill>
          <a:blip r:embed="rId20"/>
          <a:stretch>
            <a:fillRect/>
          </a:stretch>
        </p:blipFill>
        <p:spPr>
          <a:xfrm>
            <a:off x="8976360" y="1905000"/>
            <a:ext cx="2606040" cy="1661160"/>
          </a:xfrm>
          <a:prstGeom prst="rect">
            <a:avLst/>
          </a:prstGeom>
        </p:spPr>
      </p:pic>
      <p:sp>
        <p:nvSpPr>
          <p:cNvPr id="23" name="Text 14"/>
          <p:cNvSpPr/>
          <p:nvPr/>
        </p:nvSpPr>
        <p:spPr>
          <a:xfrm>
            <a:off x="9444482" y="2103120"/>
            <a:ext cx="254000" cy="461645"/>
          </a:xfrm>
          <a:prstGeom prst="rect">
            <a:avLst/>
          </a:prstGeom>
          <a:noFill/>
        </p:spPr>
        <p:txBody>
          <a:bodyPr wrap="none" lIns="0" tIns="0" rIns="0" bIns="0" rtlCol="0" anchor="t">
            <a:spAutoFit/>
          </a:bodyPr>
          <a:lstStyle/>
          <a:p>
            <a:pPr marL="0" indent="0" algn="ctr">
              <a:lnSpc>
                <a:spcPct val="150000"/>
              </a:lnSpc>
              <a:buNone/>
            </a:pPr>
            <a:r>
              <a:rPr lang="en-US" sz="2000" dirty="0">
                <a:solidFill>
                  <a:srgbClr val="000000"/>
                </a:solidFill>
                <a:latin typeface="思源黑体 CN Regular" pitchFamily="34" charset="0"/>
                <a:ea typeface="思源黑体 CN Regular" pitchFamily="34" charset="-122"/>
                <a:cs typeface="思源黑体 CN Regular" pitchFamily="34" charset="-120"/>
              </a:rPr>
              <a:t>🟢</a:t>
            </a:r>
            <a:endParaRPr lang="en-US" sz="2000" dirty="0">
              <a:solidFill>
                <a:srgbClr val="000000"/>
              </a:solidFill>
              <a:latin typeface="思源黑体 CN Regular" pitchFamily="34" charset="0"/>
              <a:ea typeface="思源黑体 CN Regular" pitchFamily="34" charset="-122"/>
              <a:cs typeface="思源黑体 CN Regular" pitchFamily="34" charset="-120"/>
            </a:endParaRPr>
          </a:p>
        </p:txBody>
      </p:sp>
      <p:sp>
        <p:nvSpPr>
          <p:cNvPr id="24" name="Text 15"/>
          <p:cNvSpPr/>
          <p:nvPr>
            <p:custDataLst>
              <p:tags r:id="rId21"/>
            </p:custDataLst>
          </p:nvPr>
        </p:nvSpPr>
        <p:spPr>
          <a:xfrm>
            <a:off x="9769920" y="2148840"/>
            <a:ext cx="1393825" cy="415290"/>
          </a:xfrm>
          <a:prstGeom prst="rect">
            <a:avLst/>
          </a:prstGeom>
          <a:noFill/>
        </p:spPr>
        <p:txBody>
          <a:bodyPr wrap="none" lIns="0" tIns="0" rIns="0" bIns="0" rtlCol="0" anchor="t">
            <a:spAutoFit/>
          </a:bodyPr>
          <a:lstStyle/>
          <a:p>
            <a:pPr marL="0" indent="0" algn="ctr">
              <a:lnSpc>
                <a:spcPct val="150000"/>
              </a:lnSpc>
              <a:buNone/>
            </a:pPr>
            <a:r>
              <a:rPr lang="en-US" b="1" dirty="0">
                <a:solidFill>
                  <a:srgbClr val="168044"/>
                </a:solidFill>
                <a:latin typeface="思源黑体 CN Bold" pitchFamily="34" charset="0"/>
                <a:ea typeface="思源黑体 CN Bold" pitchFamily="34" charset="-122"/>
                <a:cs typeface="思源黑体 CN Bold" pitchFamily="34" charset="-120"/>
              </a:rPr>
              <a:t>Low（低危）</a:t>
            </a:r>
            <a:endParaRPr lang="en-US" b="1" dirty="0">
              <a:solidFill>
                <a:srgbClr val="168044"/>
              </a:solidFill>
              <a:latin typeface="思源黑体 CN Bold" pitchFamily="34" charset="0"/>
              <a:ea typeface="思源黑体 CN Bold" pitchFamily="34" charset="-122"/>
              <a:cs typeface="思源黑体 CN Bold" pitchFamily="34" charset="-120"/>
            </a:endParaRPr>
          </a:p>
        </p:txBody>
      </p:sp>
      <p:sp>
        <p:nvSpPr>
          <p:cNvPr id="25" name="Text 16"/>
          <p:cNvSpPr/>
          <p:nvPr>
            <p:custDataLst>
              <p:tags r:id="rId22"/>
            </p:custDataLst>
          </p:nvPr>
        </p:nvSpPr>
        <p:spPr>
          <a:xfrm>
            <a:off x="9296400" y="2621280"/>
            <a:ext cx="1990344" cy="461645"/>
          </a:xfrm>
          <a:prstGeom prst="rect">
            <a:avLst/>
          </a:prstGeom>
          <a:noFill/>
        </p:spPr>
        <p:txBody>
          <a:bodyPr wrap="square" lIns="0" tIns="0" rIns="0" bIns="0" rtlCol="0" anchor="t">
            <a:spAutoFit/>
          </a:bodyPr>
          <a:lstStyle/>
          <a:p>
            <a:pPr marL="0" indent="0" algn="ctr">
              <a:lnSpc>
                <a:spcPct val="150000"/>
              </a:lnSpc>
              <a:buNone/>
            </a:pPr>
            <a:r>
              <a:rPr lang="en-US" sz="1600" dirty="0">
                <a:solidFill>
                  <a:srgbClr val="000000"/>
                </a:solidFill>
                <a:latin typeface="思源黑体 CN Regular" pitchFamily="34" charset="0"/>
                <a:ea typeface="思源黑体 CN Regular" pitchFamily="34" charset="-122"/>
                <a:cs typeface="思源黑体 CN Regular" pitchFamily="34" charset="-120"/>
              </a:rPr>
              <a:t>CVSS分值:</a:t>
            </a:r>
            <a:r>
              <a:rPr lang="en-US" sz="2000" b="1" dirty="0">
                <a:solidFill>
                  <a:srgbClr val="168044"/>
                </a:solidFill>
                <a:latin typeface="思源黑体 CN Bold" pitchFamily="34" charset="0"/>
                <a:ea typeface="思源黑体 CN Bold" pitchFamily="34" charset="-122"/>
                <a:cs typeface="思源黑体 CN Bold" pitchFamily="34" charset="-120"/>
              </a:rPr>
              <a:t>0.1-3.9</a:t>
            </a:r>
            <a:endParaRPr lang="en-US" sz="2000" b="1" dirty="0">
              <a:solidFill>
                <a:srgbClr val="168044"/>
              </a:solidFill>
              <a:latin typeface="思源黑体 CN Bold" pitchFamily="34" charset="0"/>
              <a:ea typeface="思源黑体 CN Bold" pitchFamily="34" charset="-122"/>
              <a:cs typeface="思源黑体 CN Bold" pitchFamily="34" charset="-120"/>
            </a:endParaRPr>
          </a:p>
        </p:txBody>
      </p:sp>
      <p:sp>
        <p:nvSpPr>
          <p:cNvPr id="26" name="Text 17"/>
          <p:cNvSpPr/>
          <p:nvPr>
            <p:custDataLst>
              <p:tags r:id="rId23"/>
            </p:custDataLst>
          </p:nvPr>
        </p:nvSpPr>
        <p:spPr>
          <a:xfrm>
            <a:off x="9540240" y="3093720"/>
            <a:ext cx="1487424" cy="274320"/>
          </a:xfrm>
          <a:prstGeom prst="rect">
            <a:avLst/>
          </a:prstGeom>
          <a:noFill/>
        </p:spPr>
        <p:txBody>
          <a:bodyPr wrap="none" lIns="0" tIns="0" rIns="0" bIns="0" rtlCol="0" anchor="t">
            <a:spAutoFit/>
          </a:bodyPr>
          <a:lstStyle/>
          <a:p>
            <a:pPr marL="0" indent="0" algn="ctr">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建议时限: 30-90天</a:t>
            </a:r>
            <a:endParaRPr lang="en-US" sz="1440" dirty="0"/>
          </a:p>
        </p:txBody>
      </p:sp>
      <p:sp>
        <p:nvSpPr>
          <p:cNvPr id="27" name="Text 18"/>
          <p:cNvSpPr/>
          <p:nvPr/>
        </p:nvSpPr>
        <p:spPr>
          <a:xfrm>
            <a:off x="609600" y="3810000"/>
            <a:ext cx="109819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报告关键字段解读：</a:t>
            </a:r>
            <a:endParaRPr lang="en-US" sz="2160" dirty="0"/>
          </a:p>
        </p:txBody>
      </p:sp>
      <p:pic>
        <p:nvPicPr>
          <p:cNvPr id="28" name="Image 7" descr="https://test.web.static.jianzeppt.com/ppt-temp-img3/1b4e7aab446b3e93655ae00b2afb200b.png?x-oss-process=image/resize,w_1440,h_800,m_lfit/format,png"/>
          <p:cNvPicPr>
            <a:picLocks noChangeAspect="1"/>
          </p:cNvPicPr>
          <p:nvPr/>
        </p:nvPicPr>
        <p:blipFill>
          <a:blip r:embed="rId24"/>
          <a:stretch>
            <a:fillRect/>
          </a:stretch>
        </p:blipFill>
        <p:spPr>
          <a:xfrm>
            <a:off x="609600" y="4196080"/>
            <a:ext cx="10972800" cy="2321560"/>
          </a:xfrm>
          <a:prstGeom prst="rect">
            <a:avLst/>
          </a:prstGeom>
        </p:spPr>
      </p:pic>
      <p:graphicFrame>
        <p:nvGraphicFramePr>
          <p:cNvPr id="29" name="Table 0"/>
          <p:cNvGraphicFramePr>
            <a:graphicFrameLocks noGrp="1"/>
          </p:cNvGraphicFramePr>
          <p:nvPr/>
        </p:nvGraphicFramePr>
        <p:xfrm>
          <a:off x="1028700" y="4197985"/>
          <a:ext cx="10134600" cy="2293620"/>
        </p:xfrm>
        <a:graphic>
          <a:graphicData uri="http://schemas.openxmlformats.org/drawingml/2006/table">
            <a:tbl>
              <a:tblPr/>
              <a:tblGrid>
                <a:gridCol w="1599565"/>
                <a:gridCol w="3297555"/>
                <a:gridCol w="5237480"/>
              </a:tblGrid>
              <a:tr h="382270">
                <a:tc>
                  <a:txBody>
                    <a:bodyPr/>
                    <a:lstStyle/>
                    <a:p>
                      <a:pPr marL="0" indent="0" algn="ctr">
                        <a:lnSpc>
                          <a:spcPct val="100000"/>
                        </a:lnSpc>
                        <a:buNone/>
                      </a:pPr>
                      <a:r>
                        <a:rPr lang="en-US" sz="1400" b="1" dirty="0">
                          <a:solidFill>
                            <a:srgbClr val="000000"/>
                          </a:solidFill>
                        </a:rPr>
                        <a:t>字段</a:t>
                      </a:r>
                      <a:endParaRPr lang="en-US" sz="1400" b="1"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b="1" dirty="0">
                          <a:solidFill>
                            <a:srgbClr val="000000"/>
                          </a:solidFill>
                        </a:rPr>
                        <a:t>含义</a:t>
                      </a:r>
                      <a:endParaRPr lang="en-US" sz="1400" b="1"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b="1" dirty="0">
                          <a:solidFill>
                            <a:srgbClr val="000000"/>
                          </a:solidFill>
                        </a:rPr>
                        <a:t>关注要点</a:t>
                      </a:r>
                      <a:endParaRPr lang="en-US" sz="1400" b="1"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漏洞名称</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漏洞的CVE编号/描述</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确认是否知名漏洞（如永恒之蓝）</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影响主机</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哪些IP/系统受影响</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判断是单点问题还是共性问题</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风险等级</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CVSS评分</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确定修复优先级</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漏洞描述</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漏洞的技术细节</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理解漏洞原理</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382270">
                <a:tc>
                  <a:txBody>
                    <a:bodyPr/>
                    <a:lstStyle/>
                    <a:p>
                      <a:pPr marL="0" indent="0" algn="ctr">
                        <a:lnSpc>
                          <a:spcPct val="100000"/>
                        </a:lnSpc>
                        <a:buNone/>
                      </a:pPr>
                      <a:r>
                        <a:rPr lang="en-US" sz="1400" dirty="0">
                          <a:solidFill>
                            <a:srgbClr val="000000"/>
                          </a:solidFill>
                        </a:rPr>
                        <a:t>修复建议</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推荐的修复方法</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lnSpc>
                          <a:spcPct val="100000"/>
                        </a:lnSpc>
                        <a:buNone/>
                      </a:pPr>
                      <a:r>
                        <a:rPr lang="en-US" sz="1400" dirty="0">
                          <a:solidFill>
                            <a:srgbClr val="000000"/>
                          </a:solidFill>
                        </a:rPr>
                        <a:t>判断是否可操作</a:t>
                      </a:r>
                      <a:endParaRPr lang="en-US" sz="1400" dirty="0">
                        <a:solidFill>
                          <a:srgbClr val="000000"/>
                        </a:solidFill>
                      </a:endParaRPr>
                    </a:p>
                  </a:txBody>
                  <a:tcPr marL="84688" marR="84688" marT="84688" marB="8468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如何识别和验证误报（10分钟）</a:t>
            </a:r>
            <a:endParaRPr lang="en-US" sz="2760" dirty="0"/>
          </a:p>
        </p:txBody>
      </p:sp>
      <p:pic>
        <p:nvPicPr>
          <p:cNvPr id="6" name="Image 3" descr="https://test.web.static.jianzeppt.com/ppt-temp-img3/ecb436f3b44d9743f299b0bd837154de.png?x-oss-process=image/resize,w_1440,h_800,m_lfit/format,png"/>
          <p:cNvPicPr>
            <a:picLocks noChangeAspect="1"/>
          </p:cNvPicPr>
          <p:nvPr/>
        </p:nvPicPr>
        <p:blipFill>
          <a:blip r:embed="rId4"/>
          <a:stretch>
            <a:fillRect/>
          </a:stretch>
        </p:blipFill>
        <p:spPr>
          <a:xfrm>
            <a:off x="609600" y="1371600"/>
            <a:ext cx="6583680" cy="5181600"/>
          </a:xfrm>
          <a:prstGeom prst="rect">
            <a:avLst/>
          </a:prstGeom>
        </p:spPr>
      </p:pic>
      <p:sp>
        <p:nvSpPr>
          <p:cNvPr id="7" name="Text 1"/>
          <p:cNvSpPr/>
          <p:nvPr/>
        </p:nvSpPr>
        <p:spPr>
          <a:xfrm>
            <a:off x="929640" y="1691640"/>
            <a:ext cx="59527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误报的常见原因</a:t>
            </a:r>
            <a:endParaRPr lang="en-US" sz="2160" dirty="0"/>
          </a:p>
        </p:txBody>
      </p:sp>
      <p:graphicFrame>
        <p:nvGraphicFramePr>
          <p:cNvPr id="13" name="Table 0"/>
          <p:cNvGraphicFramePr>
            <a:graphicFrameLocks noGrp="1"/>
          </p:cNvGraphicFramePr>
          <p:nvPr/>
        </p:nvGraphicFramePr>
        <p:xfrm>
          <a:off x="929640" y="2346960"/>
          <a:ext cx="5943600" cy="3886200"/>
        </p:xfrm>
        <a:graphic>
          <a:graphicData uri="http://schemas.openxmlformats.org/drawingml/2006/table">
            <a:tbl>
              <a:tblPr/>
              <a:tblGrid>
                <a:gridCol w="1879339"/>
                <a:gridCol w="2184922"/>
                <a:gridCol w="1879339"/>
              </a:tblGrid>
              <a:tr h="777240">
                <a:tc>
                  <a:txBody>
                    <a:bodyPr/>
                    <a:lstStyle/>
                    <a:p>
                      <a:pPr marL="0" indent="0" algn="ctr">
                        <a:buNone/>
                      </a:pPr>
                      <a:r>
                        <a:rPr lang="en-US" sz="1600" b="1" dirty="0">
                          <a:solidFill>
                            <a:srgbClr val="000000"/>
                          </a:solidFill>
                        </a:rPr>
                        <a:t>原因</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示例</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00000"/>
                          </a:solidFill>
                        </a:rPr>
                        <a:t>验证方法</a:t>
                      </a:r>
                      <a:endParaRPr lang="en-US" sz="160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版本号误判</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基于banner识别版本，与实际不符</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登录系统确认实际版本</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配置误判</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扫描工具认为默认配置=不安全</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检查实际配置是否有补偿措施</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网络环境干扰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防火墙、IDS导致响应异常</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在本地网络重新扫描</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777240">
                <a:tc>
                  <a:txBody>
                    <a:bodyPr/>
                    <a:lstStyle/>
                    <a:p>
                      <a:pPr marL="0" indent="0" algn="ctr">
                        <a:buNone/>
                      </a:pPr>
                      <a:r>
                        <a:rPr lang="en-US" sz="1600" dirty="0">
                          <a:solidFill>
                            <a:srgbClr val="000000"/>
                          </a:solidFill>
                        </a:rPr>
                        <a:t>漏洞已修复但未更新扫描缓存</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补丁已安装但扫描库未及时更新</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000000"/>
                          </a:solidFill>
                        </a:rPr>
                        <a:t>对比补丁安装记录</a:t>
                      </a:r>
                      <a:endParaRPr lang="en-US" sz="1600"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pic>
        <p:nvPicPr>
          <p:cNvPr id="9" name="Image 4" descr="https://test.web.static.jianzeppt.com/ppt-temp-img3/eb1842b4523720baac55c48f2bee07dd.png?x-oss-process=image/resize,w_1440,h_800,m_lfit/format,png"/>
          <p:cNvPicPr>
            <a:picLocks noChangeAspect="1"/>
          </p:cNvPicPr>
          <p:nvPr/>
        </p:nvPicPr>
        <p:blipFill>
          <a:blip r:embed="rId5"/>
          <a:stretch>
            <a:fillRect/>
          </a:stretch>
        </p:blipFill>
        <p:spPr>
          <a:xfrm>
            <a:off x="7741920" y="1371600"/>
            <a:ext cx="3840480" cy="5181600"/>
          </a:xfrm>
          <a:prstGeom prst="rect">
            <a:avLst/>
          </a:prstGeom>
        </p:spPr>
      </p:pic>
      <p:sp>
        <p:nvSpPr>
          <p:cNvPr id="10" name="Text 2"/>
          <p:cNvSpPr/>
          <p:nvPr/>
        </p:nvSpPr>
        <p:spPr>
          <a:xfrm>
            <a:off x="8061960" y="1691640"/>
            <a:ext cx="320954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E4D96"/>
                </a:solidFill>
                <a:latin typeface="思源黑体 CN Bold" pitchFamily="34" charset="0"/>
                <a:ea typeface="思源黑体 CN Bold" pitchFamily="34" charset="-122"/>
                <a:cs typeface="思源黑体 CN Bold" pitchFamily="34" charset="-120"/>
              </a:rPr>
              <a:t>验证误报的三步法</a:t>
            </a:r>
            <a:endParaRPr lang="en-US" sz="2160" dirty="0"/>
          </a:p>
        </p:txBody>
      </p:sp>
      <p:pic>
        <p:nvPicPr>
          <p:cNvPr id="11" name="Image 5" descr="https://test.web.static.jianzeppt.com/ppt-temp-img3/30b7ab85bd52bb7dc372afd10320a193.png?x-oss-process=image/resize,w_1440,h_800,m_lfit/format,png"/>
          <p:cNvPicPr>
            <a:picLocks noChangeAspect="1"/>
          </p:cNvPicPr>
          <p:nvPr/>
        </p:nvPicPr>
        <p:blipFill>
          <a:blip r:embed="rId6"/>
          <a:stretch>
            <a:fillRect/>
          </a:stretch>
        </p:blipFill>
        <p:spPr>
          <a:xfrm>
            <a:off x="8290560" y="2773680"/>
            <a:ext cx="30480" cy="3154680"/>
          </a:xfrm>
          <a:prstGeom prst="rect">
            <a:avLst/>
          </a:prstGeom>
        </p:spPr>
      </p:pic>
      <p:pic>
        <p:nvPicPr>
          <p:cNvPr id="12" name="Image 6"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061960" y="2529840"/>
            <a:ext cx="487680" cy="487680"/>
          </a:xfrm>
          <a:prstGeom prst="rect">
            <a:avLst/>
          </a:prstGeom>
        </p:spPr>
      </p:pic>
      <p:sp>
        <p:nvSpPr>
          <p:cNvPr id="8" name="Text 3"/>
          <p:cNvSpPr/>
          <p:nvPr/>
        </p:nvSpPr>
        <p:spPr>
          <a:xfrm>
            <a:off x="8229600" y="2590800"/>
            <a:ext cx="161544" cy="365760"/>
          </a:xfrm>
          <a:prstGeom prst="rect">
            <a:avLst/>
          </a:prstGeom>
          <a:noFill/>
        </p:spPr>
        <p:txBody>
          <a:bodyPr wrap="none" lIns="0" tIns="0" rIns="0" bIns="0" rtlCol="0" anchor="ctr"/>
          <a:lstStyle/>
          <a:p>
            <a:pPr marL="0" indent="0" algn="ctr">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1</a:t>
            </a:r>
            <a:endParaRPr lang="en-US" sz="1920" dirty="0"/>
          </a:p>
        </p:txBody>
      </p:sp>
      <p:sp>
        <p:nvSpPr>
          <p:cNvPr id="14" name="Text 4"/>
          <p:cNvSpPr/>
          <p:nvPr/>
        </p:nvSpPr>
        <p:spPr>
          <a:xfrm>
            <a:off x="8793480" y="2468880"/>
            <a:ext cx="24780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查看漏洞详情</a:t>
            </a:r>
            <a:endParaRPr lang="en-US" sz="1920" dirty="0"/>
          </a:p>
        </p:txBody>
      </p:sp>
      <p:sp>
        <p:nvSpPr>
          <p:cNvPr id="15" name="Text 5"/>
          <p:cNvSpPr/>
          <p:nvPr/>
        </p:nvSpPr>
        <p:spPr>
          <a:xfrm>
            <a:off x="8793480" y="2895600"/>
            <a:ext cx="2478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6B6C70"/>
                </a:solidFill>
                <a:latin typeface="思源黑体 CN Regular" pitchFamily="34" charset="0"/>
                <a:ea typeface="思源黑体 CN Regular" pitchFamily="34" charset="-122"/>
                <a:cs typeface="思源黑体 CN Regular" pitchFamily="34" charset="-120"/>
              </a:rPr>
              <a:t>阅读扫描报告中的“漏洞描述”和“验证方法”</a:t>
            </a:r>
            <a:endParaRPr lang="en-US" sz="1680" dirty="0"/>
          </a:p>
        </p:txBody>
      </p:sp>
      <p:pic>
        <p:nvPicPr>
          <p:cNvPr id="16" name="Image 7" descr="preencoded.png"/>
          <p:cNvPicPr>
            <a:picLocks noChangeAspect="1"/>
          </p:cNvPicPr>
          <p:nvPr/>
        </p:nvPicPr>
        <p:blipFill>
          <a:blip r:embed="rId9">
            <a:extLst>
              <a:ext uri="{96DAC541-7B7A-43D3-8B79-37D633B846F1}">
                <asvg:svgBlip xmlns:asvg="http://schemas.microsoft.com/office/drawing/2016/SVG/main" r:embed="rId8"/>
              </a:ext>
            </a:extLst>
          </a:blip>
          <a:stretch>
            <a:fillRect/>
          </a:stretch>
        </p:blipFill>
        <p:spPr>
          <a:xfrm>
            <a:off x="8061960" y="3886200"/>
            <a:ext cx="487680" cy="487680"/>
          </a:xfrm>
          <a:prstGeom prst="rect">
            <a:avLst/>
          </a:prstGeom>
        </p:spPr>
      </p:pic>
      <p:sp>
        <p:nvSpPr>
          <p:cNvPr id="17" name="Text 6"/>
          <p:cNvSpPr/>
          <p:nvPr/>
        </p:nvSpPr>
        <p:spPr>
          <a:xfrm>
            <a:off x="8229600" y="3947160"/>
            <a:ext cx="161544" cy="365760"/>
          </a:xfrm>
          <a:prstGeom prst="rect">
            <a:avLst/>
          </a:prstGeom>
          <a:noFill/>
        </p:spPr>
        <p:txBody>
          <a:bodyPr wrap="none" lIns="0" tIns="0" rIns="0" bIns="0" rtlCol="0" anchor="ctr"/>
          <a:lstStyle/>
          <a:p>
            <a:pPr marL="0" indent="0" algn="ctr">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2</a:t>
            </a:r>
            <a:endParaRPr lang="en-US" sz="1920" dirty="0"/>
          </a:p>
        </p:txBody>
      </p:sp>
      <p:sp>
        <p:nvSpPr>
          <p:cNvPr id="18" name="Text 7"/>
          <p:cNvSpPr/>
          <p:nvPr/>
        </p:nvSpPr>
        <p:spPr>
          <a:xfrm>
            <a:off x="8793480" y="3825240"/>
            <a:ext cx="24780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手动验证</a:t>
            </a:r>
            <a:endParaRPr lang="en-US" sz="1920" dirty="0"/>
          </a:p>
        </p:txBody>
      </p:sp>
      <p:sp>
        <p:nvSpPr>
          <p:cNvPr id="19" name="Text 8"/>
          <p:cNvSpPr/>
          <p:nvPr/>
        </p:nvSpPr>
        <p:spPr>
          <a:xfrm>
            <a:off x="8793480" y="4251960"/>
            <a:ext cx="2478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6B6C70"/>
                </a:solidFill>
                <a:latin typeface="思源黑体 CN Regular" pitchFamily="34" charset="0"/>
                <a:ea typeface="思源黑体 CN Regular" pitchFamily="34" charset="-122"/>
                <a:cs typeface="思源黑体 CN Regular" pitchFamily="34" charset="-120"/>
              </a:rPr>
              <a:t>登录目标系统，检查配置文件/补丁状态</a:t>
            </a:r>
            <a:endParaRPr lang="en-US" sz="1680" dirty="0"/>
          </a:p>
        </p:txBody>
      </p:sp>
      <p:pic>
        <p:nvPicPr>
          <p:cNvPr id="20" name="Image 8" descr="preencoded.png"/>
          <p:cNvPicPr>
            <a:picLocks noChangeAspect="1"/>
          </p:cNvPicPr>
          <p:nvPr/>
        </p:nvPicPr>
        <p:blipFill>
          <a:blip r:embed="rId10">
            <a:extLst>
              <a:ext uri="{96DAC541-7B7A-43D3-8B79-37D633B846F1}">
                <asvg:svgBlip xmlns:asvg="http://schemas.microsoft.com/office/drawing/2016/SVG/main" r:embed="rId8"/>
              </a:ext>
            </a:extLst>
          </a:blip>
          <a:stretch>
            <a:fillRect/>
          </a:stretch>
        </p:blipFill>
        <p:spPr>
          <a:xfrm>
            <a:off x="8061960" y="5227320"/>
            <a:ext cx="487680" cy="487680"/>
          </a:xfrm>
          <a:prstGeom prst="rect">
            <a:avLst/>
          </a:prstGeom>
        </p:spPr>
      </p:pic>
      <p:sp>
        <p:nvSpPr>
          <p:cNvPr id="21" name="Text 9"/>
          <p:cNvSpPr/>
          <p:nvPr/>
        </p:nvSpPr>
        <p:spPr>
          <a:xfrm>
            <a:off x="8229600" y="5288280"/>
            <a:ext cx="161544" cy="365760"/>
          </a:xfrm>
          <a:prstGeom prst="rect">
            <a:avLst/>
          </a:prstGeom>
          <a:noFill/>
        </p:spPr>
        <p:txBody>
          <a:bodyPr wrap="none" lIns="0" tIns="0" rIns="0" bIns="0" rtlCol="0" anchor="ctr"/>
          <a:lstStyle/>
          <a:p>
            <a:pPr marL="0" indent="0" algn="ctr">
              <a:lnSpc>
                <a:spcPct val="150000"/>
              </a:lnSpc>
              <a:buNone/>
            </a:pPr>
            <a:r>
              <a:rPr lang="en-US" sz="1920" b="1" dirty="0">
                <a:solidFill>
                  <a:srgbClr val="FFFFFF"/>
                </a:solidFill>
                <a:latin typeface="思源黑体 CN Bold" pitchFamily="34" charset="0"/>
                <a:ea typeface="思源黑体 CN Bold" pitchFamily="34" charset="-122"/>
                <a:cs typeface="思源黑体 CN Bold" pitchFamily="34" charset="-120"/>
              </a:rPr>
              <a:t>3</a:t>
            </a:r>
            <a:endParaRPr lang="en-US" sz="1920" dirty="0"/>
          </a:p>
        </p:txBody>
      </p:sp>
      <p:sp>
        <p:nvSpPr>
          <p:cNvPr id="22" name="Text 10"/>
          <p:cNvSpPr/>
          <p:nvPr/>
        </p:nvSpPr>
        <p:spPr>
          <a:xfrm>
            <a:off x="8793480" y="5166360"/>
            <a:ext cx="24780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对比确认</a:t>
            </a:r>
            <a:endParaRPr lang="en-US" sz="1920" dirty="0"/>
          </a:p>
        </p:txBody>
      </p:sp>
      <p:sp>
        <p:nvSpPr>
          <p:cNvPr id="23" name="Text 11"/>
          <p:cNvSpPr/>
          <p:nvPr/>
        </p:nvSpPr>
        <p:spPr>
          <a:xfrm>
            <a:off x="8793480" y="5593080"/>
            <a:ext cx="2478024" cy="640080"/>
          </a:xfrm>
          <a:prstGeom prst="rect">
            <a:avLst/>
          </a:prstGeom>
          <a:noFill/>
        </p:spPr>
        <p:txBody>
          <a:bodyPr wrap="square" lIns="0" tIns="0" rIns="0" bIns="0" rtlCol="0" anchor="ctr">
            <a:spAutoFit/>
          </a:bodyPr>
          <a:lstStyle/>
          <a:p>
            <a:pPr marL="0" indent="0" algn="l">
              <a:lnSpc>
                <a:spcPct val="150000"/>
              </a:lnSpc>
              <a:buNone/>
            </a:pPr>
            <a:r>
              <a:rPr lang="en-US" sz="1680" dirty="0">
                <a:solidFill>
                  <a:srgbClr val="6B6C70"/>
                </a:solidFill>
                <a:latin typeface="思源黑体 CN Regular" pitchFamily="34" charset="0"/>
                <a:ea typeface="思源黑体 CN Regular" pitchFamily="34" charset="-122"/>
                <a:cs typeface="思源黑体 CN Regular" pitchFamily="34" charset="-120"/>
              </a:rPr>
              <a:t>使用另一款工具交叉验证，或咨询运维人员</a:t>
            </a:r>
            <a:endParaRPr lang="en-US" sz="1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扫描结果与等保测评的对应关系</a:t>
            </a:r>
            <a:endParaRPr lang="en-US" sz="2760" dirty="0"/>
          </a:p>
        </p:txBody>
      </p:sp>
      <p:sp>
        <p:nvSpPr>
          <p:cNvPr id="6" name="Text 1"/>
          <p:cNvSpPr/>
          <p:nvPr/>
        </p:nvSpPr>
        <p:spPr>
          <a:xfrm>
            <a:off x="609600" y="1371600"/>
            <a:ext cx="1098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等保测评中漏洞扫描结果的应用场景：</a:t>
            </a:r>
            <a:endParaRPr lang="en-US" sz="1680" dirty="0"/>
          </a:p>
        </p:txBody>
      </p:sp>
      <p:pic>
        <p:nvPicPr>
          <p:cNvPr id="7" name="Image 3" descr="https://test.web.static.jianzeppt.com/ppt-temp-img3/48233c083a2495892137126f21abf970.png?x-oss-process=image/resize,w_1440,h_800,m_lfit/format,png"/>
          <p:cNvPicPr>
            <a:picLocks noChangeAspect="1"/>
          </p:cNvPicPr>
          <p:nvPr/>
        </p:nvPicPr>
        <p:blipFill>
          <a:blip r:embed="rId4"/>
          <a:stretch>
            <a:fillRect/>
          </a:stretch>
        </p:blipFill>
        <p:spPr>
          <a:xfrm>
            <a:off x="609600" y="5120640"/>
            <a:ext cx="10972800" cy="1242695"/>
          </a:xfrm>
          <a:prstGeom prst="rect">
            <a:avLst/>
          </a:prstGeom>
        </p:spPr>
      </p:pic>
      <p:sp>
        <p:nvSpPr>
          <p:cNvPr id="8" name="Text 2"/>
          <p:cNvSpPr/>
          <p:nvPr/>
        </p:nvSpPr>
        <p:spPr>
          <a:xfrm>
            <a:off x="868680" y="5379720"/>
            <a:ext cx="10463784" cy="457200"/>
          </a:xfrm>
          <a:prstGeom prst="rect">
            <a:avLst/>
          </a:prstGeom>
          <a:noFill/>
        </p:spPr>
        <p:txBody>
          <a:bodyPr wrap="square" lIns="0" tIns="0" rIns="0" bIns="0" rtlCol="0" anchor="t">
            <a:spAutoFit/>
          </a:bodyPr>
          <a:lstStyle/>
          <a:p>
            <a:pPr marL="0" indent="0" algn="ctr">
              <a:lnSpc>
                <a:spcPct val="150000"/>
              </a:lnSpc>
              <a:buNone/>
            </a:pPr>
            <a:r>
              <a:rPr lang="en-US" sz="2160" dirty="0">
                <a:solidFill>
                  <a:srgbClr val="000000"/>
                </a:solidFill>
                <a:latin typeface="思源黑体 CN Regular" pitchFamily="34" charset="0"/>
                <a:ea typeface="思源黑体 CN Regular" pitchFamily="34" charset="-122"/>
                <a:cs typeface="思源黑体 CN Regular" pitchFamily="34" charset="-120"/>
              </a:rPr>
              <a:t>关键认识： 漏洞扫描报告中的高危漏洞，通常直接对应等保测评中的</a:t>
            </a:r>
            <a:r>
              <a:rPr lang="en-US" sz="2400" dirty="0">
                <a:solidFill>
                  <a:srgbClr val="000000"/>
                </a:solidFill>
                <a:highlight>
                  <a:srgbClr val="FFFFFF"/>
                </a:highlight>
                <a:latin typeface="思源黑体 CN Bold" pitchFamily="34" charset="0"/>
                <a:ea typeface="思源黑体 CN Bold" pitchFamily="34" charset="-122"/>
                <a:cs typeface="思源黑体 CN Bold" pitchFamily="34" charset="-120"/>
              </a:rPr>
              <a:t>“不符合项”</a:t>
            </a:r>
            <a:r>
              <a:rPr lang="en-US" sz="2160" dirty="0">
                <a:solidFill>
                  <a:srgbClr val="000000"/>
                </a:solidFill>
                <a:latin typeface="思源黑体 CN Regular" pitchFamily="34" charset="0"/>
                <a:ea typeface="思源黑体 CN Regular" pitchFamily="34" charset="-122"/>
                <a:cs typeface="思源黑体 CN Regular" pitchFamily="34" charset="-120"/>
              </a:rPr>
              <a:t>。</a:t>
            </a:r>
            <a:endParaRPr lang="en-US" sz="2160" dirty="0"/>
          </a:p>
        </p:txBody>
      </p:sp>
      <p:graphicFrame>
        <p:nvGraphicFramePr>
          <p:cNvPr id="14" name="Table 0"/>
          <p:cNvGraphicFramePr>
            <a:graphicFrameLocks noGrp="1"/>
          </p:cNvGraphicFramePr>
          <p:nvPr/>
        </p:nvGraphicFramePr>
        <p:xfrm>
          <a:off x="609600" y="1935480"/>
          <a:ext cx="10972800" cy="2941320"/>
        </p:xfrm>
        <a:graphic>
          <a:graphicData uri="http://schemas.openxmlformats.org/drawingml/2006/table">
            <a:tbl>
              <a:tblPr/>
              <a:tblGrid>
                <a:gridCol w="3169920"/>
                <a:gridCol w="4251960"/>
                <a:gridCol w="3550920"/>
              </a:tblGrid>
              <a:tr h="588264">
                <a:tc>
                  <a:txBody>
                    <a:bodyPr/>
                    <a:lstStyle/>
                    <a:p>
                      <a:pPr marL="0" indent="0" algn="ctr">
                        <a:buNone/>
                      </a:pPr>
                      <a:r>
                        <a:rPr lang="en-US" sz="1680" b="1" dirty="0">
                          <a:solidFill>
                            <a:srgbClr val="000000"/>
                          </a:solidFill>
                        </a:rPr>
                        <a:t>等保测评维度</a:t>
                      </a:r>
                      <a:endParaRPr lang="en-US" sz="168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b="1" dirty="0">
                          <a:solidFill>
                            <a:srgbClr val="000000"/>
                          </a:solidFill>
                        </a:rPr>
                        <a:t>漏洞扫描发现的对应问题</a:t>
                      </a:r>
                      <a:endParaRPr lang="en-US" sz="168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b="1" dirty="0">
                          <a:solidFill>
                            <a:srgbClr val="000000"/>
                          </a:solidFill>
                        </a:rPr>
                        <a:t>测评判定</a:t>
                      </a:r>
                      <a:endParaRPr lang="en-US" sz="1680" b="1" dirty="0">
                        <a:solidFill>
                          <a:srgbClr val="000000"/>
                        </a:solidFill>
                      </a:endParaRPr>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安全计算环境-身份鉴别</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存在弱口令漏洞</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影响身份鉴别合规性</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安全计算环境-入侵防范</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存在未修复的高危漏洞</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直接导致入侵防范不符合</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安全区域边界-访问控制</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开放了高危端口（如3389、22）</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边界防护策略不严</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r h="588264">
                <a:tc>
                  <a:txBody>
                    <a:bodyPr/>
                    <a:lstStyle/>
                    <a:p>
                      <a:pPr marL="0" indent="0" algn="ctr">
                        <a:buNone/>
                      </a:pPr>
                      <a:r>
                        <a:rPr lang="en-US" sz="1680" dirty="0">
                          <a:solidFill>
                            <a:srgbClr val="000000"/>
                          </a:solidFill>
                        </a:rPr>
                        <a:t>安全区域边界-入侵防范</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扫描发现可利用漏洞</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c>
                  <a:txBody>
                    <a:bodyPr/>
                    <a:lstStyle/>
                    <a:p>
                      <a:pPr marL="0" indent="0" algn="ctr">
                        <a:buNone/>
                      </a:pPr>
                      <a:r>
                        <a:rPr lang="en-US" sz="1680" dirty="0">
                          <a:solidFill>
                            <a:srgbClr val="000000"/>
                          </a:solidFill>
                        </a:rPr>
                        <a:t>说明入侵防范能力不足</a:t>
                      </a:r>
                      <a:endParaRPr lang="en-US" sz="1680" dirty="0"/>
                    </a:p>
                  </a:txBody>
                  <a:tcPr marT="91440" marB="9144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实践任务2——漏洞扫描结果分析表填写（15分钟）</a:t>
            </a:r>
            <a:endParaRPr lang="en-US" sz="2760" dirty="0"/>
          </a:p>
        </p:txBody>
      </p:sp>
      <p:pic>
        <p:nvPicPr>
          <p:cNvPr id="6" name="Image 3" descr="https://test.web.static.jianzeppt.com/ppt-temp-img3/e16e36116ae2ec97b361d042658f6734.png?x-oss-process=image/resize,w_1440,h_800,m_lfit/format,png"/>
          <p:cNvPicPr>
            <a:picLocks noChangeAspect="1"/>
          </p:cNvPicPr>
          <p:nvPr/>
        </p:nvPicPr>
        <p:blipFill>
          <a:blip r:embed="rId4"/>
          <a:stretch>
            <a:fillRect/>
          </a:stretch>
        </p:blipFill>
        <p:spPr>
          <a:xfrm>
            <a:off x="609600" y="1371600"/>
            <a:ext cx="10972800" cy="2164080"/>
          </a:xfrm>
          <a:prstGeom prst="rect">
            <a:avLst/>
          </a:prstGeom>
        </p:spPr>
      </p:pic>
      <p:pic>
        <p:nvPicPr>
          <p:cNvPr id="7" name="Image 4" descr="https://test.web.static.jianzeppt.com/ppt-temp-img3/23e993e135068c3c377a1ffa4b9688c5.png?x-oss-process=image/resize,w_1440,h_800,m_lfit/format,png"/>
          <p:cNvPicPr>
            <a:picLocks noChangeAspect="1"/>
          </p:cNvPicPr>
          <p:nvPr/>
        </p:nvPicPr>
        <p:blipFill>
          <a:blip r:embed="rId5"/>
          <a:stretch>
            <a:fillRect/>
          </a:stretch>
        </p:blipFill>
        <p:spPr>
          <a:xfrm>
            <a:off x="624840" y="1386840"/>
            <a:ext cx="10942320" cy="746760"/>
          </a:xfrm>
          <a:prstGeom prst="rect">
            <a:avLst/>
          </a:prstGeom>
        </p:spPr>
      </p:pic>
      <p:sp>
        <p:nvSpPr>
          <p:cNvPr id="8" name="Text 1"/>
          <p:cNvSpPr/>
          <p:nvPr/>
        </p:nvSpPr>
        <p:spPr>
          <a:xfrm>
            <a:off x="990600" y="160020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rPr>
              <a:t>要素</a:t>
            </a:r>
            <a:endParaRPr lang="en-US" sz="1920" dirty="0"/>
          </a:p>
        </p:txBody>
      </p:sp>
      <p:pic>
        <p:nvPicPr>
          <p:cNvPr id="9" name="Image 5" descr="https://test.web.static.jianzeppt.com/ppt-temp-img3/624308defef0065b02fe38e1eb20d19b.png?x-oss-process=image/resize,w_1440,h_800,m_lfit/format,png"/>
          <p:cNvPicPr>
            <a:picLocks noChangeAspect="1"/>
          </p:cNvPicPr>
          <p:nvPr/>
        </p:nvPicPr>
        <p:blipFill>
          <a:blip r:embed="rId6"/>
          <a:stretch>
            <a:fillRect/>
          </a:stretch>
        </p:blipFill>
        <p:spPr>
          <a:xfrm>
            <a:off x="624840" y="2125980"/>
            <a:ext cx="2735580" cy="15240"/>
          </a:xfrm>
          <a:prstGeom prst="rect">
            <a:avLst/>
          </a:prstGeom>
        </p:spPr>
      </p:pic>
      <p:sp>
        <p:nvSpPr>
          <p:cNvPr id="10" name="Text 2"/>
          <p:cNvSpPr/>
          <p:nvPr/>
        </p:nvSpPr>
        <p:spPr>
          <a:xfrm>
            <a:off x="3733800" y="1600200"/>
            <a:ext cx="512064" cy="365760"/>
          </a:xfrm>
          <a:prstGeom prst="rect">
            <a:avLst/>
          </a:prstGeom>
          <a:noFill/>
        </p:spPr>
        <p:txBody>
          <a:bodyPr wrap="none" lIns="0" tIns="0" rIns="0" bIns="0" rtlCol="0" anchor="t">
            <a:spAutoFit/>
          </a:bodyPr>
          <a:lstStyle/>
          <a:p>
            <a:pPr marL="0" indent="0" algn="l">
              <a:lnSpc>
                <a:spcPct val="150000"/>
              </a:lnSpc>
              <a:buNone/>
            </a:pPr>
            <a:r>
              <a:rPr lang="en-US" sz="1920" b="1" dirty="0">
                <a:solidFill>
                  <a:srgbClr val="FFFFFF"/>
                </a:solidFill>
              </a:rPr>
              <a:t>内容</a:t>
            </a:r>
            <a:endParaRPr lang="en-US" sz="1920" dirty="0"/>
          </a:p>
        </p:txBody>
      </p:sp>
      <p:pic>
        <p:nvPicPr>
          <p:cNvPr id="11" name="Image 6" descr="https://test.web.static.jianzeppt.com/ppt-temp-img3/4aba60c62445983e55bbcd44926519c4.png?x-oss-process=image/resize,w_1440,h_800,m_lfit/format,png"/>
          <p:cNvPicPr>
            <a:picLocks noChangeAspect="1"/>
          </p:cNvPicPr>
          <p:nvPr/>
        </p:nvPicPr>
        <p:blipFill>
          <a:blip r:embed="rId7"/>
          <a:stretch>
            <a:fillRect/>
          </a:stretch>
        </p:blipFill>
        <p:spPr>
          <a:xfrm>
            <a:off x="3360420" y="2125980"/>
            <a:ext cx="8206740" cy="15240"/>
          </a:xfrm>
          <a:prstGeom prst="rect">
            <a:avLst/>
          </a:prstGeom>
        </p:spPr>
      </p:pic>
      <p:pic>
        <p:nvPicPr>
          <p:cNvPr id="12" name="Image 7" descr="https://test.web.static.jianzeppt.com/ppt-temp-img3/011e2217fd4e60960d08563b2f03fede.png?x-oss-process=image/resize,w_1440,h_800,m_lfit/format,png"/>
          <p:cNvPicPr>
            <a:picLocks noChangeAspect="1"/>
          </p:cNvPicPr>
          <p:nvPr/>
        </p:nvPicPr>
        <p:blipFill>
          <a:blip r:embed="rId8"/>
          <a:stretch>
            <a:fillRect/>
          </a:stretch>
        </p:blipFill>
        <p:spPr>
          <a:xfrm>
            <a:off x="624840" y="2133600"/>
            <a:ext cx="2743200" cy="701040"/>
          </a:xfrm>
          <a:prstGeom prst="rect">
            <a:avLst/>
          </a:prstGeom>
        </p:spPr>
      </p:pic>
      <p:sp>
        <p:nvSpPr>
          <p:cNvPr id="13" name="Text 3"/>
          <p:cNvSpPr/>
          <p:nvPr/>
        </p:nvSpPr>
        <p:spPr>
          <a:xfrm>
            <a:off x="990600" y="234696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rPr>
              <a:t>任务名称</a:t>
            </a:r>
            <a:endParaRPr lang="en-US" sz="1680" dirty="0"/>
          </a:p>
        </p:txBody>
      </p:sp>
      <p:sp>
        <p:nvSpPr>
          <p:cNvPr id="14" name="Text 4"/>
          <p:cNvSpPr/>
          <p:nvPr/>
        </p:nvSpPr>
        <p:spPr>
          <a:xfrm>
            <a:off x="3733800" y="2316480"/>
            <a:ext cx="74919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rPr>
              <a:t>填写《漏洞扫描结果分析表》（模板见素材）</a:t>
            </a:r>
            <a:endParaRPr lang="en-US" sz="1680" dirty="0"/>
          </a:p>
        </p:txBody>
      </p:sp>
      <p:pic>
        <p:nvPicPr>
          <p:cNvPr id="15" name="Image 8" descr="https://test.web.static.jianzeppt.com/ppt-temp-img3/c7646540a035fea593be34d7f5a5212c.png?x-oss-process=image/resize,w_1440,h_800,m_lfit/format,png"/>
          <p:cNvPicPr>
            <a:picLocks noChangeAspect="1"/>
          </p:cNvPicPr>
          <p:nvPr/>
        </p:nvPicPr>
        <p:blipFill>
          <a:blip r:embed="rId9"/>
          <a:stretch>
            <a:fillRect/>
          </a:stretch>
        </p:blipFill>
        <p:spPr>
          <a:xfrm>
            <a:off x="624840" y="2827020"/>
            <a:ext cx="10942320" cy="15240"/>
          </a:xfrm>
          <a:prstGeom prst="rect">
            <a:avLst/>
          </a:prstGeom>
        </p:spPr>
      </p:pic>
      <p:pic>
        <p:nvPicPr>
          <p:cNvPr id="16" name="Image 9" descr="https://test.web.static.jianzeppt.com/ppt-temp-img3/9053a0cc9dea10490cb9ce4ec252f8c2.png?x-oss-process=image/resize,w_1440,h_800,m_lfit/format,png"/>
          <p:cNvPicPr>
            <a:picLocks noChangeAspect="1"/>
          </p:cNvPicPr>
          <p:nvPr/>
        </p:nvPicPr>
        <p:blipFill>
          <a:blip r:embed="rId10"/>
          <a:stretch>
            <a:fillRect/>
          </a:stretch>
        </p:blipFill>
        <p:spPr>
          <a:xfrm>
            <a:off x="624840" y="2834640"/>
            <a:ext cx="2743200" cy="701040"/>
          </a:xfrm>
          <a:prstGeom prst="rect">
            <a:avLst/>
          </a:prstGeom>
        </p:spPr>
      </p:pic>
      <p:sp>
        <p:nvSpPr>
          <p:cNvPr id="17" name="Text 5"/>
          <p:cNvSpPr/>
          <p:nvPr/>
        </p:nvSpPr>
        <p:spPr>
          <a:xfrm>
            <a:off x="990600" y="3048000"/>
            <a:ext cx="86258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rPr>
              <a:t>任务场景</a:t>
            </a:r>
            <a:endParaRPr lang="en-US" sz="1680" dirty="0"/>
          </a:p>
        </p:txBody>
      </p:sp>
      <p:sp>
        <p:nvSpPr>
          <p:cNvPr id="18" name="Text 6"/>
          <p:cNvSpPr/>
          <p:nvPr/>
        </p:nvSpPr>
        <p:spPr>
          <a:xfrm>
            <a:off x="3733800" y="3017520"/>
            <a:ext cx="749198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rPr>
              <a:t>教师提供一份模拟漏洞扫描报告（脱敏数据）</a:t>
            </a:r>
            <a:endParaRPr lang="en-US" sz="1680" dirty="0"/>
          </a:p>
        </p:txBody>
      </p:sp>
      <p:pic>
        <p:nvPicPr>
          <p:cNvPr id="19" name="Image 10" descr="https://test.web.static.jianzeppt.com/ppt-temp-img3/1ca467b1a1bd5420ad4922ba88111964.png?x-oss-process=image/resize,w_1440,h_800,m_lfit/format,png"/>
          <p:cNvPicPr>
            <a:picLocks noChangeAspect="1"/>
          </p:cNvPicPr>
          <p:nvPr/>
        </p:nvPicPr>
        <p:blipFill>
          <a:blip r:embed="rId11"/>
          <a:stretch>
            <a:fillRect/>
          </a:stretch>
        </p:blipFill>
        <p:spPr>
          <a:xfrm>
            <a:off x="609600" y="3901440"/>
            <a:ext cx="10972800" cy="2651760"/>
          </a:xfrm>
          <a:prstGeom prst="rect">
            <a:avLst/>
          </a:prstGeom>
        </p:spPr>
      </p:pic>
      <p:pic>
        <p:nvPicPr>
          <p:cNvPr id="20" name="Image 11"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929640" y="4343400"/>
            <a:ext cx="121920" cy="121920"/>
          </a:xfrm>
          <a:prstGeom prst="rect">
            <a:avLst/>
          </a:prstGeom>
        </p:spPr>
      </p:pic>
      <p:sp>
        <p:nvSpPr>
          <p:cNvPr id="21" name="Text 7"/>
          <p:cNvSpPr/>
          <p:nvPr/>
        </p:nvSpPr>
        <p:spPr>
          <a:xfrm>
            <a:off x="1173480" y="4251960"/>
            <a:ext cx="999744" cy="289560"/>
          </a:xfrm>
          <a:prstGeom prst="rect">
            <a:avLst/>
          </a:prstGeom>
          <a:noFill/>
        </p:spPr>
        <p:txBody>
          <a:bodyPr wrap="none" lIns="0" tIns="0" rIns="0" bIns="0" rtlCol="0" anchor="ctr"/>
          <a:lstStyle/>
          <a:p>
            <a:pPr marL="0" indent="0" algn="l">
              <a:lnSpc>
                <a:spcPct val="150000"/>
              </a:lnSpc>
              <a:buNone/>
            </a:pPr>
            <a:r>
              <a:rPr lang="en-US" sz="1920" b="1" dirty="0">
                <a:solidFill>
                  <a:srgbClr val="000000"/>
                </a:solidFill>
              </a:rPr>
              <a:t>任务内容</a:t>
            </a:r>
            <a:endParaRPr lang="en-US" sz="1920" dirty="0"/>
          </a:p>
        </p:txBody>
      </p:sp>
      <p:pic>
        <p:nvPicPr>
          <p:cNvPr id="22" name="Image 12" descr="https://test.web.static.jianzeppt.com/ppt-temp-img3/c582cafce06f803b61a2687079e4ce1a.png?x-oss-process=image/resize,w_1440,h_800,m_lfit/format,png"/>
          <p:cNvPicPr>
            <a:picLocks noChangeAspect="1"/>
          </p:cNvPicPr>
          <p:nvPr/>
        </p:nvPicPr>
        <p:blipFill>
          <a:blip r:embed="rId14"/>
          <a:stretch>
            <a:fillRect/>
          </a:stretch>
        </p:blipFill>
        <p:spPr>
          <a:xfrm>
            <a:off x="3276600" y="4937760"/>
            <a:ext cx="411480" cy="243840"/>
          </a:xfrm>
          <a:prstGeom prst="rect">
            <a:avLst/>
          </a:prstGeom>
        </p:spPr>
      </p:pic>
      <p:pic>
        <p:nvPicPr>
          <p:cNvPr id="23" name="Image 13" descr="https://test.web.static.jianzeppt.com/ppt-temp-img3/c582cafce06f803b61a2687079e4ce1a.png?x-oss-process=image/resize,w_1440,h_800,m_lfit/format,png"/>
          <p:cNvPicPr>
            <a:picLocks noChangeAspect="1"/>
          </p:cNvPicPr>
          <p:nvPr/>
        </p:nvPicPr>
        <p:blipFill>
          <a:blip r:embed="rId14"/>
          <a:stretch>
            <a:fillRect/>
          </a:stretch>
        </p:blipFill>
        <p:spPr>
          <a:xfrm>
            <a:off x="5897880" y="4937760"/>
            <a:ext cx="411480" cy="243840"/>
          </a:xfrm>
          <a:prstGeom prst="rect">
            <a:avLst/>
          </a:prstGeom>
        </p:spPr>
      </p:pic>
      <p:pic>
        <p:nvPicPr>
          <p:cNvPr id="24" name="Image 14" descr="https://test.web.static.jianzeppt.com/ppt-temp-img3/c582cafce06f803b61a2687079e4ce1a.png?x-oss-process=image/resize,w_1440,h_800,m_lfit/format,png"/>
          <p:cNvPicPr>
            <a:picLocks noChangeAspect="1"/>
          </p:cNvPicPr>
          <p:nvPr/>
        </p:nvPicPr>
        <p:blipFill>
          <a:blip r:embed="rId14"/>
          <a:stretch>
            <a:fillRect/>
          </a:stretch>
        </p:blipFill>
        <p:spPr>
          <a:xfrm>
            <a:off x="8519160" y="4937760"/>
            <a:ext cx="411480" cy="243840"/>
          </a:xfrm>
          <a:prstGeom prst="rect">
            <a:avLst/>
          </a:prstGeom>
        </p:spPr>
      </p:pic>
      <p:pic>
        <p:nvPicPr>
          <p:cNvPr id="25" name="Image 15" descr="https://test.web.static.jianzeppt.com/ppt-temp-img3/e99898c0be76831828f13f6f118907a4.png?x-oss-process=image/resize,w_1440,h_800,m_lfit/format,png"/>
          <p:cNvPicPr>
            <a:picLocks noChangeAspect="1"/>
          </p:cNvPicPr>
          <p:nvPr/>
        </p:nvPicPr>
        <p:blipFill>
          <a:blip r:embed="rId15"/>
          <a:stretch>
            <a:fillRect/>
          </a:stretch>
        </p:blipFill>
        <p:spPr>
          <a:xfrm>
            <a:off x="2072640" y="5143500"/>
            <a:ext cx="8061960" cy="30480"/>
          </a:xfrm>
          <a:prstGeom prst="rect">
            <a:avLst/>
          </a:prstGeom>
        </p:spPr>
      </p:pic>
      <p:pic>
        <p:nvPicPr>
          <p:cNvPr id="26" name="Image 16"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1798320" y="4617720"/>
            <a:ext cx="731520" cy="731520"/>
          </a:xfrm>
          <a:prstGeom prst="rect">
            <a:avLst/>
          </a:prstGeom>
          <a:effectLst>
            <a:outerShdw blurRad="-2147483648" dist="1935480000" dir="-1" algn="bl" rotWithShape="0">
              <a:srgbClr val="000000">
                <a:alpha val="1000000000"/>
              </a:srgbClr>
            </a:outerShdw>
          </a:effectLst>
        </p:spPr>
      </p:pic>
      <p:sp>
        <p:nvSpPr>
          <p:cNvPr id="27" name="Text 8"/>
          <p:cNvSpPr/>
          <p:nvPr/>
        </p:nvSpPr>
        <p:spPr>
          <a:xfrm>
            <a:off x="196596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01</a:t>
            </a:r>
            <a:endParaRPr lang="en-US" sz="2160" dirty="0"/>
          </a:p>
        </p:txBody>
      </p:sp>
      <p:pic>
        <p:nvPicPr>
          <p:cNvPr id="28" name="Image 17" descr="https://test.web.static.jianzeppt.com/ppt-temp-img3/5905c1dc719e60e96e6cb45bbb559218.png?x-oss-process=image/resize,w_1440,h_800,m_lfit/format,png"/>
          <p:cNvPicPr>
            <a:picLocks noChangeAspect="1"/>
          </p:cNvPicPr>
          <p:nvPr/>
        </p:nvPicPr>
        <p:blipFill>
          <a:blip r:embed="rId18"/>
          <a:stretch>
            <a:fillRect/>
          </a:stretch>
        </p:blipFill>
        <p:spPr>
          <a:xfrm>
            <a:off x="929640" y="5298440"/>
            <a:ext cx="2346960" cy="1036320"/>
          </a:xfrm>
          <a:prstGeom prst="rect">
            <a:avLst/>
          </a:prstGeom>
        </p:spPr>
      </p:pic>
      <p:sp>
        <p:nvSpPr>
          <p:cNvPr id="29" name="Text 9"/>
          <p:cNvSpPr/>
          <p:nvPr/>
        </p:nvSpPr>
        <p:spPr>
          <a:xfrm>
            <a:off x="1453515" y="5527040"/>
            <a:ext cx="1359535"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从报告中提取</a:t>
            </a:r>
            <a:r>
              <a:rPr lang="en-US" sz="1680" dirty="0">
                <a:solidFill>
                  <a:srgbClr val="000000"/>
                </a:solidFill>
              </a:rPr>
              <a:t>漏洞信息</a:t>
            </a:r>
            <a:endParaRPr lang="en-US" sz="1680" dirty="0"/>
          </a:p>
        </p:txBody>
      </p:sp>
      <p:pic>
        <p:nvPicPr>
          <p:cNvPr id="30" name="Image 18" descr="preencoded.png"/>
          <p:cNvPicPr>
            <a:picLocks noChangeAspect="1"/>
          </p:cNvPicPr>
          <p:nvPr/>
        </p:nvPicPr>
        <p:blipFill>
          <a:blip r:embed="rId19">
            <a:extLst>
              <a:ext uri="{96DAC541-7B7A-43D3-8B79-37D633B846F1}">
                <asvg:svgBlip xmlns:asvg="http://schemas.microsoft.com/office/drawing/2016/SVG/main" r:embed="rId17"/>
              </a:ext>
            </a:extLst>
          </a:blip>
          <a:stretch>
            <a:fillRect/>
          </a:stretch>
        </p:blipFill>
        <p:spPr>
          <a:xfrm>
            <a:off x="4419600" y="4617720"/>
            <a:ext cx="731520" cy="731520"/>
          </a:xfrm>
          <a:prstGeom prst="rect">
            <a:avLst/>
          </a:prstGeom>
          <a:effectLst>
            <a:outerShdw blurRad="-2147483648" dist="1935480000" dir="-1" algn="bl" rotWithShape="0">
              <a:srgbClr val="000000">
                <a:alpha val="1000000000"/>
              </a:srgbClr>
            </a:outerShdw>
          </a:effectLst>
        </p:spPr>
      </p:pic>
      <p:sp>
        <p:nvSpPr>
          <p:cNvPr id="31" name="Text 10"/>
          <p:cNvSpPr/>
          <p:nvPr/>
        </p:nvSpPr>
        <p:spPr>
          <a:xfrm>
            <a:off x="458724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02</a:t>
            </a:r>
            <a:endParaRPr lang="en-US" sz="2160" dirty="0"/>
          </a:p>
        </p:txBody>
      </p:sp>
      <p:pic>
        <p:nvPicPr>
          <p:cNvPr id="32" name="Image 19" descr="https://test.web.static.jianzeppt.com/ppt-temp-img3/5905c1dc719e60e96e6cb45bbb559218.png?x-oss-process=image/resize,w_1440,h_800,m_lfit/format,png"/>
          <p:cNvPicPr>
            <a:picLocks noChangeAspect="1"/>
          </p:cNvPicPr>
          <p:nvPr/>
        </p:nvPicPr>
        <p:blipFill>
          <a:blip r:embed="rId18"/>
          <a:stretch>
            <a:fillRect/>
          </a:stretch>
        </p:blipFill>
        <p:spPr>
          <a:xfrm>
            <a:off x="3550920" y="5298440"/>
            <a:ext cx="2346960" cy="1036320"/>
          </a:xfrm>
          <a:prstGeom prst="rect">
            <a:avLst/>
          </a:prstGeom>
        </p:spPr>
      </p:pic>
      <p:sp>
        <p:nvSpPr>
          <p:cNvPr id="33" name="Text 11"/>
          <p:cNvSpPr/>
          <p:nvPr/>
        </p:nvSpPr>
        <p:spPr>
          <a:xfrm>
            <a:off x="4192905" y="5527040"/>
            <a:ext cx="1134745"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按风险等级</a:t>
            </a:r>
            <a:r>
              <a:rPr lang="en-US" sz="1680" dirty="0">
                <a:solidFill>
                  <a:srgbClr val="000000"/>
                </a:solidFill>
              </a:rPr>
              <a:t>分类</a:t>
            </a:r>
            <a:endParaRPr lang="en-US" sz="1680" dirty="0"/>
          </a:p>
        </p:txBody>
      </p:sp>
      <p:pic>
        <p:nvPicPr>
          <p:cNvPr id="34" name="Image 20" descr="preencoded.png"/>
          <p:cNvPicPr>
            <a:picLocks noChangeAspect="1"/>
          </p:cNvPicPr>
          <p:nvPr/>
        </p:nvPicPr>
        <p:blipFill>
          <a:blip r:embed="rId20">
            <a:extLst>
              <a:ext uri="{96DAC541-7B7A-43D3-8B79-37D633B846F1}">
                <asvg:svgBlip xmlns:asvg="http://schemas.microsoft.com/office/drawing/2016/SVG/main" r:embed="rId17"/>
              </a:ext>
            </a:extLst>
          </a:blip>
          <a:stretch>
            <a:fillRect/>
          </a:stretch>
        </p:blipFill>
        <p:spPr>
          <a:xfrm>
            <a:off x="7040880" y="4617720"/>
            <a:ext cx="731520" cy="731520"/>
          </a:xfrm>
          <a:prstGeom prst="rect">
            <a:avLst/>
          </a:prstGeom>
          <a:effectLst>
            <a:outerShdw blurRad="-2147483648" dist="1935480000" dir="-1" algn="bl" rotWithShape="0">
              <a:srgbClr val="000000">
                <a:alpha val="1000000000"/>
              </a:srgbClr>
            </a:outerShdw>
          </a:effectLst>
        </p:spPr>
      </p:pic>
      <p:sp>
        <p:nvSpPr>
          <p:cNvPr id="35" name="Text 12"/>
          <p:cNvSpPr/>
          <p:nvPr/>
        </p:nvSpPr>
        <p:spPr>
          <a:xfrm>
            <a:off x="722376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03</a:t>
            </a:r>
            <a:endParaRPr lang="en-US" sz="2160" dirty="0"/>
          </a:p>
        </p:txBody>
      </p:sp>
      <p:pic>
        <p:nvPicPr>
          <p:cNvPr id="36" name="Image 21" descr="https://test.web.static.jianzeppt.com/ppt-temp-img3/5905c1dc719e60e96e6cb45bbb559218.png?x-oss-process=image/resize,w_1440,h_800,m_lfit/format,png"/>
          <p:cNvPicPr>
            <a:picLocks noChangeAspect="1"/>
          </p:cNvPicPr>
          <p:nvPr/>
        </p:nvPicPr>
        <p:blipFill>
          <a:blip r:embed="rId18"/>
          <a:stretch>
            <a:fillRect/>
          </a:stretch>
        </p:blipFill>
        <p:spPr>
          <a:xfrm>
            <a:off x="6172200" y="5298440"/>
            <a:ext cx="2346960" cy="1036320"/>
          </a:xfrm>
          <a:prstGeom prst="rect">
            <a:avLst/>
          </a:prstGeom>
        </p:spPr>
      </p:pic>
      <p:sp>
        <p:nvSpPr>
          <p:cNvPr id="37" name="Text 13"/>
          <p:cNvSpPr/>
          <p:nvPr/>
        </p:nvSpPr>
        <p:spPr>
          <a:xfrm>
            <a:off x="6696075" y="5527040"/>
            <a:ext cx="1359535"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判断是否影响</a:t>
            </a:r>
            <a:r>
              <a:rPr lang="en-US" sz="1680" dirty="0">
                <a:solidFill>
                  <a:srgbClr val="000000"/>
                </a:solidFill>
              </a:rPr>
              <a:t>等保合规</a:t>
            </a:r>
            <a:endParaRPr lang="en-US" sz="1680" dirty="0"/>
          </a:p>
        </p:txBody>
      </p:sp>
      <p:pic>
        <p:nvPicPr>
          <p:cNvPr id="38" name="Image 22" descr="preencoded.png"/>
          <p:cNvPicPr>
            <a:picLocks noChangeAspect="1"/>
          </p:cNvPicPr>
          <p:nvPr/>
        </p:nvPicPr>
        <p:blipFill>
          <a:blip r:embed="rId21">
            <a:extLst>
              <a:ext uri="{96DAC541-7B7A-43D3-8B79-37D633B846F1}">
                <asvg:svgBlip xmlns:asvg="http://schemas.microsoft.com/office/drawing/2016/SVG/main" r:embed="rId17"/>
              </a:ext>
            </a:extLst>
          </a:blip>
          <a:stretch>
            <a:fillRect/>
          </a:stretch>
        </p:blipFill>
        <p:spPr>
          <a:xfrm>
            <a:off x="9662160" y="4617720"/>
            <a:ext cx="731520" cy="731520"/>
          </a:xfrm>
          <a:prstGeom prst="rect">
            <a:avLst/>
          </a:prstGeom>
          <a:effectLst>
            <a:outerShdw blurRad="-2147483648" dist="1935480000" dir="-1" algn="bl" rotWithShape="0">
              <a:srgbClr val="000000">
                <a:alpha val="1000000000"/>
              </a:srgbClr>
            </a:outerShdw>
          </a:effectLst>
        </p:spPr>
      </p:pic>
      <p:sp>
        <p:nvSpPr>
          <p:cNvPr id="39" name="Text 14"/>
          <p:cNvSpPr/>
          <p:nvPr/>
        </p:nvSpPr>
        <p:spPr>
          <a:xfrm>
            <a:off x="9845040" y="4831080"/>
            <a:ext cx="405384" cy="3200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rPr>
              <a:t>04</a:t>
            </a:r>
            <a:endParaRPr lang="en-US" sz="2160" dirty="0"/>
          </a:p>
        </p:txBody>
      </p:sp>
      <p:pic>
        <p:nvPicPr>
          <p:cNvPr id="40" name="Image 23" descr="https://test.web.static.jianzeppt.com/ppt-temp-img3/5905c1dc719e60e96e6cb45bbb559218.png?x-oss-process=image/resize,w_1440,h_800,m_lfit/format,png"/>
          <p:cNvPicPr>
            <a:picLocks noChangeAspect="1"/>
          </p:cNvPicPr>
          <p:nvPr/>
        </p:nvPicPr>
        <p:blipFill>
          <a:blip r:embed="rId18"/>
          <a:stretch>
            <a:fillRect/>
          </a:stretch>
        </p:blipFill>
        <p:spPr>
          <a:xfrm>
            <a:off x="8793480" y="5298440"/>
            <a:ext cx="2346960" cy="1036320"/>
          </a:xfrm>
          <a:prstGeom prst="rect">
            <a:avLst/>
          </a:prstGeom>
        </p:spPr>
      </p:pic>
      <p:sp>
        <p:nvSpPr>
          <p:cNvPr id="41" name="Text 15"/>
          <p:cNvSpPr/>
          <p:nvPr/>
        </p:nvSpPr>
        <p:spPr>
          <a:xfrm>
            <a:off x="9198610" y="5527040"/>
            <a:ext cx="1584960" cy="774065"/>
          </a:xfrm>
          <a:prstGeom prst="rect">
            <a:avLst/>
          </a:prstGeom>
          <a:noFill/>
        </p:spPr>
        <p:txBody>
          <a:bodyPr wrap="square" lIns="0" tIns="0" rIns="0" bIns="0" rtlCol="0" anchor="t">
            <a:spAutoFit/>
          </a:bodyPr>
          <a:lstStyle/>
          <a:p>
            <a:pPr marL="0" indent="0" algn="ctr">
              <a:lnSpc>
                <a:spcPct val="150000"/>
              </a:lnSpc>
              <a:buNone/>
            </a:pPr>
            <a:r>
              <a:rPr lang="en-US" sz="1680" dirty="0">
                <a:solidFill>
                  <a:srgbClr val="000000"/>
                </a:solidFill>
              </a:rPr>
              <a:t>提出整改优先级</a:t>
            </a:r>
            <a:r>
              <a:rPr lang="en-US" sz="1680" dirty="0">
                <a:solidFill>
                  <a:srgbClr val="000000"/>
                </a:solidFill>
              </a:rPr>
              <a:t>建议</a:t>
            </a:r>
            <a:endParaRPr lang="en-US" sz="1680" dirty="0"/>
          </a:p>
        </p:txBody>
      </p:sp>
      <p:pic>
        <p:nvPicPr>
          <p:cNvPr id="42" name="Image 24" descr="preencoded.png"/>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609600" y="624840"/>
            <a:ext cx="121920" cy="365760"/>
          </a:xfrm>
          <a:prstGeom prst="rect">
            <a:avLst/>
          </a:prstGeom>
        </p:spPr>
      </p:pic>
      <p:graphicFrame>
        <p:nvGraphicFramePr>
          <p:cNvPr id="43" name="对象 42">
            <a:hlinkClick r:id="" action="ppaction://ole?verb="/>
          </p:cNvPr>
          <p:cNvGraphicFramePr>
            <a:graphicFrameLocks noChangeAspect="1"/>
          </p:cNvGraphicFramePr>
          <p:nvPr/>
        </p:nvGraphicFramePr>
        <p:xfrm>
          <a:off x="10393680" y="1386840"/>
          <a:ext cx="971550" cy="666750"/>
        </p:xfrm>
        <a:graphic>
          <a:graphicData uri="http://schemas.openxmlformats.org/presentationml/2006/ole">
            <mc:AlternateContent xmlns:mc="http://schemas.openxmlformats.org/markup-compatibility/2006">
              <mc:Choice xmlns:v="urn:schemas-microsoft-com:vml" Requires="v">
                <p:oleObj spid="_x0000_s3073" name="" showAsIcon="1" r:id="rId24" imgW="971550" imgH="666750" progId="Word.Document.12">
                  <p:embed/>
                </p:oleObj>
              </mc:Choice>
              <mc:Fallback>
                <p:oleObj name="" showAsIcon="1" r:id="rId24" imgW="971550" imgH="666750" progId="Word.Document.12">
                  <p:embed/>
                  <p:pic>
                    <p:nvPicPr>
                      <p:cNvPr id="0" name="图片 3072"/>
                      <p:cNvPicPr/>
                      <p:nvPr/>
                    </p:nvPicPr>
                    <p:blipFill>
                      <a:blip r:embed="rId25"/>
                      <a:stretch>
                        <a:fillRect/>
                      </a:stretch>
                    </p:blipFill>
                    <p:spPr>
                      <a:xfrm>
                        <a:off x="10393680" y="1386840"/>
                        <a:ext cx="971550" cy="666750"/>
                      </a:xfrm>
                      <a:prstGeom prst="rect">
                        <a:avLst/>
                      </a:prstGeom>
                    </p:spPr>
                  </p:pic>
                </p:oleObj>
              </mc:Fallback>
            </mc:AlternateContent>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漏洞管理闭环（拓展知识）</a:t>
            </a:r>
            <a:endParaRPr lang="en-US" sz="2760" dirty="0"/>
          </a:p>
        </p:txBody>
      </p:sp>
      <p:sp>
        <p:nvSpPr>
          <p:cNvPr id="6" name="Text 1"/>
          <p:cNvSpPr/>
          <p:nvPr/>
        </p:nvSpPr>
        <p:spPr>
          <a:xfrm>
            <a:off x="609600" y="1219200"/>
            <a:ext cx="10981944" cy="320040"/>
          </a:xfrm>
          <a:prstGeom prst="rect">
            <a:avLst/>
          </a:prstGeom>
          <a:noFill/>
        </p:spPr>
        <p:txBody>
          <a:bodyPr wrap="none" lIns="0" tIns="0" rIns="0" bIns="0" rtlCol="0" anchor="t">
            <a:spAutoFit/>
          </a:bodyPr>
          <a:lstStyle/>
          <a:p>
            <a:pPr marL="0" indent="0" algn="ctr">
              <a:lnSpc>
                <a:spcPct val="100000"/>
              </a:lnSpc>
              <a:buNone/>
            </a:pPr>
            <a:r>
              <a:rPr lang="en-US" sz="1680" dirty="0">
                <a:solidFill>
                  <a:srgbClr val="727478"/>
                </a:solidFill>
                <a:latin typeface="思源黑体 CN Regular" pitchFamily="34" charset="0"/>
                <a:ea typeface="思源黑体 CN Regular" pitchFamily="34" charset="-122"/>
                <a:cs typeface="思源黑体 CN Regular" pitchFamily="34" charset="-120"/>
              </a:rPr>
              <a:t>漏洞扫描只是起点，完整的漏洞管理需要形成闭环。漏洞管理六步法：</a:t>
            </a:r>
            <a:endParaRPr lang="en-US" sz="1680" dirty="0"/>
          </a:p>
        </p:txBody>
      </p:sp>
      <p:pic>
        <p:nvPicPr>
          <p:cNvPr id="7"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5364480"/>
            <a:ext cx="10972800" cy="1056640"/>
          </a:xfrm>
          <a:prstGeom prst="rect">
            <a:avLst/>
          </a:prstGeom>
        </p:spPr>
      </p:pic>
      <p:sp>
        <p:nvSpPr>
          <p:cNvPr id="8" name="Text 2"/>
          <p:cNvSpPr/>
          <p:nvPr/>
        </p:nvSpPr>
        <p:spPr>
          <a:xfrm>
            <a:off x="914400" y="5608320"/>
            <a:ext cx="1043330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等保2.0要求：</a:t>
            </a:r>
            <a:endParaRPr lang="en-US" sz="1680" dirty="0"/>
          </a:p>
        </p:txBody>
      </p:sp>
      <p:sp>
        <p:nvSpPr>
          <p:cNvPr id="9" name="Text 3"/>
          <p:cNvSpPr/>
          <p:nvPr/>
        </p:nvSpPr>
        <p:spPr>
          <a:xfrm>
            <a:off x="914400" y="5989320"/>
            <a:ext cx="1043330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应定期开展安全测评，发现的安全漏洞应及时修补或采取其他有效补救措施。</a:t>
            </a:r>
            <a:endParaRPr lang="en-US" sz="1680" dirty="0"/>
          </a:p>
        </p:txBody>
      </p:sp>
      <p:pic>
        <p:nvPicPr>
          <p:cNvPr id="10" name="Image 4" descr="https://test.web.static.jianzeppt.com/ppt-temp-img3/bb9caaa5a26c26989be40c4c4b828660.png?x-oss-process=image/resize,w_1440,h_800,m_lfit/format,png"/>
          <p:cNvPicPr>
            <a:picLocks noChangeAspect="1"/>
          </p:cNvPicPr>
          <p:nvPr>
            <p:custDataLst>
              <p:tags r:id="rId6"/>
            </p:custDataLst>
          </p:nvPr>
        </p:nvPicPr>
        <p:blipFill>
          <a:blip r:embed="rId7"/>
          <a:stretch>
            <a:fillRect/>
          </a:stretch>
        </p:blipFill>
        <p:spPr>
          <a:xfrm>
            <a:off x="4876800" y="2331720"/>
            <a:ext cx="2438400" cy="701040"/>
          </a:xfrm>
          <a:prstGeom prst="rect">
            <a:avLst/>
          </a:prstGeom>
        </p:spPr>
      </p:pic>
      <p:sp>
        <p:nvSpPr>
          <p:cNvPr id="11" name="Text 4"/>
          <p:cNvSpPr/>
          <p:nvPr>
            <p:custDataLst>
              <p:tags r:id="rId8"/>
            </p:custDataLst>
          </p:nvPr>
        </p:nvSpPr>
        <p:spPr>
          <a:xfrm>
            <a:off x="5013960" y="240792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资产识别</a:t>
            </a:r>
            <a:endParaRPr lang="en-US" sz="1680" dirty="0"/>
          </a:p>
        </p:txBody>
      </p:sp>
      <p:sp>
        <p:nvSpPr>
          <p:cNvPr id="12" name="Text 5"/>
          <p:cNvSpPr/>
          <p:nvPr>
            <p:custDataLst>
              <p:tags r:id="rId9"/>
            </p:custDataLst>
          </p:nvPr>
        </p:nvSpPr>
        <p:spPr>
          <a:xfrm>
            <a:off x="5013960" y="275844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明确哪些系统需要扫描</a:t>
            </a:r>
            <a:endParaRPr lang="en-US" sz="1200" dirty="0"/>
          </a:p>
        </p:txBody>
      </p:sp>
      <p:pic>
        <p:nvPicPr>
          <p:cNvPr id="13" name="Image 5" descr="preencoded.png"/>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tretch>
            <a:fillRect/>
          </a:stretch>
        </p:blipFill>
        <p:spPr>
          <a:xfrm>
            <a:off x="5852160" y="1783080"/>
            <a:ext cx="487680" cy="487680"/>
          </a:xfrm>
          <a:prstGeom prst="rect">
            <a:avLst/>
          </a:prstGeom>
        </p:spPr>
      </p:pic>
      <p:sp>
        <p:nvSpPr>
          <p:cNvPr id="14" name="Text 6"/>
          <p:cNvSpPr/>
          <p:nvPr>
            <p:custDataLst>
              <p:tags r:id="rId13"/>
            </p:custDataLst>
          </p:nvPr>
        </p:nvSpPr>
        <p:spPr>
          <a:xfrm>
            <a:off x="6035040" y="185928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1</a:t>
            </a:r>
            <a:endParaRPr lang="en-US" sz="1680" dirty="0"/>
          </a:p>
        </p:txBody>
      </p:sp>
      <p:pic>
        <p:nvPicPr>
          <p:cNvPr id="15" name="Image 6" descr="https://test.web.static.jianzeppt.com/ppt-temp-img3/bb9caaa5a26c26989be40c4c4b828660.png?x-oss-process=image/resize,w_1440,h_800,m_lfit/format,png"/>
          <p:cNvPicPr>
            <a:picLocks noChangeAspect="1"/>
          </p:cNvPicPr>
          <p:nvPr>
            <p:custDataLst>
              <p:tags r:id="rId14"/>
            </p:custDataLst>
          </p:nvPr>
        </p:nvPicPr>
        <p:blipFill>
          <a:blip r:embed="rId7"/>
          <a:stretch>
            <a:fillRect/>
          </a:stretch>
        </p:blipFill>
        <p:spPr>
          <a:xfrm>
            <a:off x="8229600" y="2865120"/>
            <a:ext cx="2438400" cy="701040"/>
          </a:xfrm>
          <a:prstGeom prst="rect">
            <a:avLst/>
          </a:prstGeom>
        </p:spPr>
      </p:pic>
      <p:sp>
        <p:nvSpPr>
          <p:cNvPr id="16" name="Text 7"/>
          <p:cNvSpPr/>
          <p:nvPr>
            <p:custDataLst>
              <p:tags r:id="rId15"/>
            </p:custDataLst>
          </p:nvPr>
        </p:nvSpPr>
        <p:spPr>
          <a:xfrm>
            <a:off x="8366760" y="294132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漏洞扫描</a:t>
            </a:r>
            <a:endParaRPr lang="en-US" sz="1680" dirty="0"/>
          </a:p>
        </p:txBody>
      </p:sp>
      <p:sp>
        <p:nvSpPr>
          <p:cNvPr id="17" name="Text 8"/>
          <p:cNvSpPr/>
          <p:nvPr>
            <p:custDataLst>
              <p:tags r:id="rId16"/>
            </p:custDataLst>
          </p:nvPr>
        </p:nvSpPr>
        <p:spPr>
          <a:xfrm>
            <a:off x="8366760" y="329184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使用Nessus/OpenVAS执行</a:t>
            </a:r>
            <a:endParaRPr lang="en-US" sz="1200" dirty="0"/>
          </a:p>
        </p:txBody>
      </p:sp>
      <p:pic>
        <p:nvPicPr>
          <p:cNvPr id="18" name="Image 7" descr="preencoded.png"/>
          <p:cNvPicPr>
            <a:picLocks noChangeAspect="1"/>
          </p:cNvPicPr>
          <p:nvPr>
            <p:custDataLst>
              <p:tags r:id="rId17"/>
            </p:custDataLst>
          </p:nvPr>
        </p:nvPicPr>
        <p:blipFill>
          <a:blip r:embed="rId18">
            <a:extLst>
              <a:ext uri="{96DAC541-7B7A-43D3-8B79-37D633B846F1}">
                <asvg:svgBlip xmlns:asvg="http://schemas.microsoft.com/office/drawing/2016/SVG/main" r:embed="rId12"/>
              </a:ext>
            </a:extLst>
          </a:blip>
          <a:stretch>
            <a:fillRect/>
          </a:stretch>
        </p:blipFill>
        <p:spPr>
          <a:xfrm>
            <a:off x="9204960" y="2316480"/>
            <a:ext cx="487680" cy="487680"/>
          </a:xfrm>
          <a:prstGeom prst="rect">
            <a:avLst/>
          </a:prstGeom>
        </p:spPr>
      </p:pic>
      <p:sp>
        <p:nvSpPr>
          <p:cNvPr id="19" name="Text 9"/>
          <p:cNvSpPr/>
          <p:nvPr>
            <p:custDataLst>
              <p:tags r:id="rId19"/>
            </p:custDataLst>
          </p:nvPr>
        </p:nvSpPr>
        <p:spPr>
          <a:xfrm>
            <a:off x="9387840" y="239268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2</a:t>
            </a:r>
            <a:endParaRPr lang="en-US" sz="1680" dirty="0"/>
          </a:p>
        </p:txBody>
      </p:sp>
      <p:pic>
        <p:nvPicPr>
          <p:cNvPr id="20" name="Image 8" descr="https://test.web.static.jianzeppt.com/ppt-temp-img3/bb9caaa5a26c26989be40c4c4b828660.png?x-oss-process=image/resize,w_1440,h_800,m_lfit/format,png"/>
          <p:cNvPicPr>
            <a:picLocks noChangeAspect="1"/>
          </p:cNvPicPr>
          <p:nvPr>
            <p:custDataLst>
              <p:tags r:id="rId20"/>
            </p:custDataLst>
          </p:nvPr>
        </p:nvPicPr>
        <p:blipFill>
          <a:blip r:embed="rId7"/>
          <a:stretch>
            <a:fillRect/>
          </a:stretch>
        </p:blipFill>
        <p:spPr>
          <a:xfrm>
            <a:off x="8229600" y="3901440"/>
            <a:ext cx="2438400" cy="701040"/>
          </a:xfrm>
          <a:prstGeom prst="rect">
            <a:avLst/>
          </a:prstGeom>
        </p:spPr>
      </p:pic>
      <p:sp>
        <p:nvSpPr>
          <p:cNvPr id="21" name="Text 10"/>
          <p:cNvSpPr/>
          <p:nvPr>
            <p:custDataLst>
              <p:tags r:id="rId21"/>
            </p:custDataLst>
          </p:nvPr>
        </p:nvSpPr>
        <p:spPr>
          <a:xfrm>
            <a:off x="8366760" y="397764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漏洞分析</a:t>
            </a:r>
            <a:endParaRPr lang="en-US" sz="1680" dirty="0"/>
          </a:p>
        </p:txBody>
      </p:sp>
      <p:sp>
        <p:nvSpPr>
          <p:cNvPr id="22" name="Text 11"/>
          <p:cNvSpPr/>
          <p:nvPr>
            <p:custDataLst>
              <p:tags r:id="rId22"/>
            </p:custDataLst>
          </p:nvPr>
        </p:nvSpPr>
        <p:spPr>
          <a:xfrm>
            <a:off x="8366760" y="432816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结合CVSS和业务重要性评估</a:t>
            </a:r>
            <a:endParaRPr lang="en-US" sz="1200" dirty="0"/>
          </a:p>
        </p:txBody>
      </p:sp>
      <p:pic>
        <p:nvPicPr>
          <p:cNvPr id="23" name="Image 9" descr="preencoded.png"/>
          <p:cNvPicPr>
            <a:picLocks noChangeAspect="1"/>
          </p:cNvPicPr>
          <p:nvPr>
            <p:custDataLst>
              <p:tags r:id="rId23"/>
            </p:custDataLst>
          </p:nvPr>
        </p:nvPicPr>
        <p:blipFill>
          <a:blip r:embed="rId24">
            <a:extLst>
              <a:ext uri="{96DAC541-7B7A-43D3-8B79-37D633B846F1}">
                <asvg:svgBlip xmlns:asvg="http://schemas.microsoft.com/office/drawing/2016/SVG/main" r:embed="rId12"/>
              </a:ext>
            </a:extLst>
          </a:blip>
          <a:stretch>
            <a:fillRect/>
          </a:stretch>
        </p:blipFill>
        <p:spPr>
          <a:xfrm>
            <a:off x="9204960" y="3352800"/>
            <a:ext cx="487680" cy="487680"/>
          </a:xfrm>
          <a:prstGeom prst="rect">
            <a:avLst/>
          </a:prstGeom>
        </p:spPr>
      </p:pic>
      <p:sp>
        <p:nvSpPr>
          <p:cNvPr id="24" name="Text 12"/>
          <p:cNvSpPr/>
          <p:nvPr>
            <p:custDataLst>
              <p:tags r:id="rId25"/>
            </p:custDataLst>
          </p:nvPr>
        </p:nvSpPr>
        <p:spPr>
          <a:xfrm>
            <a:off x="9387840" y="342900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3</a:t>
            </a:r>
            <a:endParaRPr lang="en-US" sz="1680" dirty="0"/>
          </a:p>
        </p:txBody>
      </p:sp>
      <p:pic>
        <p:nvPicPr>
          <p:cNvPr id="25" name="Image 10" descr="https://test.web.static.jianzeppt.com/ppt-temp-img3/bb9caaa5a26c26989be40c4c4b828660.png?x-oss-process=image/resize,w_1440,h_800,m_lfit/format,png"/>
          <p:cNvPicPr>
            <a:picLocks noChangeAspect="1"/>
          </p:cNvPicPr>
          <p:nvPr>
            <p:custDataLst>
              <p:tags r:id="rId26"/>
            </p:custDataLst>
          </p:nvPr>
        </p:nvPicPr>
        <p:blipFill>
          <a:blip r:embed="rId7"/>
          <a:stretch>
            <a:fillRect/>
          </a:stretch>
        </p:blipFill>
        <p:spPr>
          <a:xfrm>
            <a:off x="4876800" y="4434840"/>
            <a:ext cx="2438400" cy="701040"/>
          </a:xfrm>
          <a:prstGeom prst="rect">
            <a:avLst/>
          </a:prstGeom>
        </p:spPr>
      </p:pic>
      <p:sp>
        <p:nvSpPr>
          <p:cNvPr id="26" name="Text 13"/>
          <p:cNvSpPr/>
          <p:nvPr>
            <p:custDataLst>
              <p:tags r:id="rId27"/>
            </p:custDataLst>
          </p:nvPr>
        </p:nvSpPr>
        <p:spPr>
          <a:xfrm>
            <a:off x="5013960" y="451104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修复与加固</a:t>
            </a:r>
            <a:endParaRPr lang="en-US" sz="1680" dirty="0"/>
          </a:p>
        </p:txBody>
      </p:sp>
      <p:sp>
        <p:nvSpPr>
          <p:cNvPr id="27" name="Text 14"/>
          <p:cNvSpPr/>
          <p:nvPr>
            <p:custDataLst>
              <p:tags r:id="rId28"/>
            </p:custDataLst>
          </p:nvPr>
        </p:nvSpPr>
        <p:spPr>
          <a:xfrm>
            <a:off x="5013960" y="486156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补丁、配置加固、替换组件</a:t>
            </a:r>
            <a:endParaRPr lang="en-US" sz="1200" dirty="0"/>
          </a:p>
        </p:txBody>
      </p:sp>
      <p:pic>
        <p:nvPicPr>
          <p:cNvPr id="28" name="Image 11" descr="preencoded.png"/>
          <p:cNvPicPr>
            <a:picLocks noChangeAspect="1"/>
          </p:cNvPicPr>
          <p:nvPr>
            <p:custDataLst>
              <p:tags r:id="rId29"/>
            </p:custDataLst>
          </p:nvPr>
        </p:nvPicPr>
        <p:blipFill>
          <a:blip r:embed="rId30">
            <a:extLst>
              <a:ext uri="{96DAC541-7B7A-43D3-8B79-37D633B846F1}">
                <asvg:svgBlip xmlns:asvg="http://schemas.microsoft.com/office/drawing/2016/SVG/main" r:embed="rId12"/>
              </a:ext>
            </a:extLst>
          </a:blip>
          <a:stretch>
            <a:fillRect/>
          </a:stretch>
        </p:blipFill>
        <p:spPr>
          <a:xfrm>
            <a:off x="5852160" y="3886200"/>
            <a:ext cx="487680" cy="487680"/>
          </a:xfrm>
          <a:prstGeom prst="rect">
            <a:avLst/>
          </a:prstGeom>
        </p:spPr>
      </p:pic>
      <p:sp>
        <p:nvSpPr>
          <p:cNvPr id="29" name="Text 15"/>
          <p:cNvSpPr/>
          <p:nvPr>
            <p:custDataLst>
              <p:tags r:id="rId31"/>
            </p:custDataLst>
          </p:nvPr>
        </p:nvSpPr>
        <p:spPr>
          <a:xfrm>
            <a:off x="6035040" y="396240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4</a:t>
            </a:r>
            <a:endParaRPr lang="en-US" sz="1680" dirty="0"/>
          </a:p>
        </p:txBody>
      </p:sp>
      <p:pic>
        <p:nvPicPr>
          <p:cNvPr id="30" name="Image 12" descr="https://test.web.static.jianzeppt.com/ppt-temp-img3/bb9caaa5a26c26989be40c4c4b828660.png?x-oss-process=image/resize,w_1440,h_800,m_lfit/format,png"/>
          <p:cNvPicPr>
            <a:picLocks noChangeAspect="1"/>
          </p:cNvPicPr>
          <p:nvPr>
            <p:custDataLst>
              <p:tags r:id="rId32"/>
            </p:custDataLst>
          </p:nvPr>
        </p:nvPicPr>
        <p:blipFill>
          <a:blip r:embed="rId7"/>
          <a:stretch>
            <a:fillRect/>
          </a:stretch>
        </p:blipFill>
        <p:spPr>
          <a:xfrm>
            <a:off x="1524000" y="3901440"/>
            <a:ext cx="2438400" cy="701040"/>
          </a:xfrm>
          <a:prstGeom prst="rect">
            <a:avLst/>
          </a:prstGeom>
        </p:spPr>
      </p:pic>
      <p:sp>
        <p:nvSpPr>
          <p:cNvPr id="31" name="Text 16"/>
          <p:cNvSpPr/>
          <p:nvPr>
            <p:custDataLst>
              <p:tags r:id="rId33"/>
            </p:custDataLst>
          </p:nvPr>
        </p:nvSpPr>
        <p:spPr>
          <a:xfrm>
            <a:off x="1661160" y="397764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验证与复扫</a:t>
            </a:r>
            <a:endParaRPr lang="en-US" sz="1680" dirty="0"/>
          </a:p>
        </p:txBody>
      </p:sp>
      <p:sp>
        <p:nvSpPr>
          <p:cNvPr id="32" name="Text 17"/>
          <p:cNvSpPr/>
          <p:nvPr>
            <p:custDataLst>
              <p:tags r:id="rId34"/>
            </p:custDataLst>
          </p:nvPr>
        </p:nvSpPr>
        <p:spPr>
          <a:xfrm>
            <a:off x="1661160" y="432816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修复后再次扫描验证关闭</a:t>
            </a:r>
            <a:endParaRPr lang="en-US" sz="1200" dirty="0"/>
          </a:p>
        </p:txBody>
      </p:sp>
      <p:pic>
        <p:nvPicPr>
          <p:cNvPr id="33" name="Image 13" descr="preencoded.png"/>
          <p:cNvPicPr>
            <a:picLocks noChangeAspect="1"/>
          </p:cNvPicPr>
          <p:nvPr>
            <p:custDataLst>
              <p:tags r:id="rId35"/>
            </p:custDataLst>
          </p:nvPr>
        </p:nvPicPr>
        <p:blipFill>
          <a:blip r:embed="rId36">
            <a:extLst>
              <a:ext uri="{96DAC541-7B7A-43D3-8B79-37D633B846F1}">
                <asvg:svgBlip xmlns:asvg="http://schemas.microsoft.com/office/drawing/2016/SVG/main" r:embed="rId12"/>
              </a:ext>
            </a:extLst>
          </a:blip>
          <a:stretch>
            <a:fillRect/>
          </a:stretch>
        </p:blipFill>
        <p:spPr>
          <a:xfrm>
            <a:off x="2499360" y="3352800"/>
            <a:ext cx="487680" cy="487680"/>
          </a:xfrm>
          <a:prstGeom prst="rect">
            <a:avLst/>
          </a:prstGeom>
        </p:spPr>
      </p:pic>
      <p:sp>
        <p:nvSpPr>
          <p:cNvPr id="34" name="Text 18"/>
          <p:cNvSpPr/>
          <p:nvPr>
            <p:custDataLst>
              <p:tags r:id="rId37"/>
            </p:custDataLst>
          </p:nvPr>
        </p:nvSpPr>
        <p:spPr>
          <a:xfrm>
            <a:off x="2682240" y="342900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5</a:t>
            </a:r>
            <a:endParaRPr lang="en-US" sz="1680" dirty="0"/>
          </a:p>
        </p:txBody>
      </p:sp>
      <p:pic>
        <p:nvPicPr>
          <p:cNvPr id="35" name="Image 14" descr="https://test.web.static.jianzeppt.com/ppt-temp-img3/bb9caaa5a26c26989be40c4c4b828660.png?x-oss-process=image/resize,w_1440,h_800,m_lfit/format,png"/>
          <p:cNvPicPr>
            <a:picLocks noChangeAspect="1"/>
          </p:cNvPicPr>
          <p:nvPr>
            <p:custDataLst>
              <p:tags r:id="rId38"/>
            </p:custDataLst>
          </p:nvPr>
        </p:nvPicPr>
        <p:blipFill>
          <a:blip r:embed="rId7"/>
          <a:stretch>
            <a:fillRect/>
          </a:stretch>
        </p:blipFill>
        <p:spPr>
          <a:xfrm>
            <a:off x="1524000" y="2865120"/>
            <a:ext cx="2438400" cy="701040"/>
          </a:xfrm>
          <a:prstGeom prst="rect">
            <a:avLst/>
          </a:prstGeom>
        </p:spPr>
      </p:pic>
      <p:sp>
        <p:nvSpPr>
          <p:cNvPr id="36" name="Text 19"/>
          <p:cNvSpPr/>
          <p:nvPr>
            <p:custDataLst>
              <p:tags r:id="rId39"/>
            </p:custDataLst>
          </p:nvPr>
        </p:nvSpPr>
        <p:spPr>
          <a:xfrm>
            <a:off x="1661160" y="2941320"/>
            <a:ext cx="21732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报告与持续改进</a:t>
            </a:r>
            <a:endParaRPr lang="en-US" sz="1680" dirty="0"/>
          </a:p>
        </p:txBody>
      </p:sp>
      <p:sp>
        <p:nvSpPr>
          <p:cNvPr id="37" name="Text 20"/>
          <p:cNvSpPr/>
          <p:nvPr>
            <p:custDataLst>
              <p:tags r:id="rId40"/>
            </p:custDataLst>
          </p:nvPr>
        </p:nvSpPr>
        <p:spPr>
          <a:xfrm>
            <a:off x="1661160" y="3291840"/>
            <a:ext cx="2173224" cy="198120"/>
          </a:xfrm>
          <a:prstGeom prst="rect">
            <a:avLst/>
          </a:prstGeom>
          <a:noFill/>
        </p:spPr>
        <p:txBody>
          <a:bodyPr wrap="none" lIns="0" tIns="0" rIns="0" bIns="0" rtlCol="0" anchor="t">
            <a:spAutoFit/>
          </a:bodyPr>
          <a:lstStyle/>
          <a:p>
            <a:pPr marL="0" indent="0" algn="ctr">
              <a:lnSpc>
                <a:spcPct val="125000"/>
              </a:lnSpc>
              <a:buNone/>
            </a:pPr>
            <a:r>
              <a:rPr lang="en-US" sz="1200" dirty="0">
                <a:solidFill>
                  <a:srgbClr val="727478"/>
                </a:solidFill>
                <a:latin typeface="思源黑体 CN Regular" pitchFamily="34" charset="0"/>
                <a:ea typeface="思源黑体 CN Regular" pitchFamily="34" charset="-122"/>
                <a:cs typeface="思源黑体 CN Regular" pitchFamily="34" charset="-120"/>
              </a:rPr>
              <a:t>输出报告、优化流程</a:t>
            </a:r>
            <a:endParaRPr lang="en-US" sz="1200" dirty="0"/>
          </a:p>
        </p:txBody>
      </p:sp>
      <p:pic>
        <p:nvPicPr>
          <p:cNvPr id="38" name="Image 15" descr="preencoded.png"/>
          <p:cNvPicPr>
            <a:picLocks noChangeAspect="1"/>
          </p:cNvPicPr>
          <p:nvPr>
            <p:custDataLst>
              <p:tags r:id="rId41"/>
            </p:custDataLst>
          </p:nvPr>
        </p:nvPicPr>
        <p:blipFill>
          <a:blip r:embed="rId42">
            <a:extLst>
              <a:ext uri="{96DAC541-7B7A-43D3-8B79-37D633B846F1}">
                <asvg:svgBlip xmlns:asvg="http://schemas.microsoft.com/office/drawing/2016/SVG/main" r:embed="rId12"/>
              </a:ext>
            </a:extLst>
          </a:blip>
          <a:stretch>
            <a:fillRect/>
          </a:stretch>
        </p:blipFill>
        <p:spPr>
          <a:xfrm>
            <a:off x="2499360" y="2316480"/>
            <a:ext cx="487680" cy="487680"/>
          </a:xfrm>
          <a:prstGeom prst="rect">
            <a:avLst/>
          </a:prstGeom>
        </p:spPr>
      </p:pic>
      <p:sp>
        <p:nvSpPr>
          <p:cNvPr id="39" name="Text 21"/>
          <p:cNvSpPr/>
          <p:nvPr>
            <p:custDataLst>
              <p:tags r:id="rId43"/>
            </p:custDataLst>
          </p:nvPr>
        </p:nvSpPr>
        <p:spPr>
          <a:xfrm>
            <a:off x="2682240" y="2392680"/>
            <a:ext cx="131064" cy="304800"/>
          </a:xfrm>
          <a:prstGeom prst="rect">
            <a:avLst/>
          </a:prstGeom>
          <a:noFill/>
        </p:spPr>
        <p:txBody>
          <a:bodyPr wrap="none" lIns="0" tIns="0" rIns="0" bIns="0" rtlCol="0" anchor="ctr"/>
          <a:lstStyle/>
          <a:p>
            <a:pPr marL="0" indent="0" algn="ctr">
              <a:lnSpc>
                <a:spcPct val="150000"/>
              </a:lnSpc>
              <a:buNone/>
            </a:pPr>
            <a:r>
              <a:rPr lang="en-US" sz="1680" dirty="0">
                <a:solidFill>
                  <a:srgbClr val="FFFFFF"/>
                </a:solidFill>
                <a:latin typeface="思源黑体 CN Bold" pitchFamily="34" charset="0"/>
                <a:ea typeface="思源黑体 CN Bold" pitchFamily="34" charset="-122"/>
                <a:cs typeface="思源黑体 CN Bold" pitchFamily="34" charset="-120"/>
              </a:rPr>
              <a:t>6</a:t>
            </a:r>
            <a:endParaRPr lang="en-US" sz="1680" dirty="0"/>
          </a:p>
        </p:txBody>
      </p:sp>
      <p:pic>
        <p:nvPicPr>
          <p:cNvPr id="40" name="Image 16" descr="https://test.web.static.jianzeppt.com/ppt-temp-img3/9e537e9bbe33ea4cb5878cde0f829ce7.png?x-oss-process=image/resize,w_1440,h_800,m_lfit/format,png"/>
          <p:cNvPicPr>
            <a:picLocks noChangeAspect="1"/>
          </p:cNvPicPr>
          <p:nvPr>
            <p:custDataLst>
              <p:tags r:id="rId44"/>
            </p:custDataLst>
          </p:nvPr>
        </p:nvPicPr>
        <p:blipFill>
          <a:blip r:embed="rId45">
            <a:alphaModFix amt="20000"/>
          </a:blip>
          <a:stretch>
            <a:fillRect/>
          </a:stretch>
        </p:blipFill>
        <p:spPr>
          <a:xfrm>
            <a:off x="609600" y="1783080"/>
            <a:ext cx="10972800" cy="3352800"/>
          </a:xfrm>
          <a:prstGeom prst="rect">
            <a:avLst/>
          </a:prstGeom>
        </p:spPr>
      </p:pic>
      <p:pic>
        <p:nvPicPr>
          <p:cNvPr id="41" name="Image 17" descr="https://test.web.static.jianzeppt.com/ppt-temp-img3/4e091a47f141fd2b6dfe760fbcf79a2f.png?x-oss-process=image/resize,w_1440,h_800,m_lfit/format,png"/>
          <p:cNvPicPr>
            <a:picLocks noChangeAspect="1"/>
          </p:cNvPicPr>
          <p:nvPr>
            <p:custDataLst>
              <p:tags r:id="rId46"/>
            </p:custDataLst>
          </p:nvPr>
        </p:nvPicPr>
        <p:blipFill>
          <a:blip r:embed="rId47"/>
          <a:stretch>
            <a:fillRect/>
          </a:stretch>
        </p:blipFill>
        <p:spPr>
          <a:xfrm>
            <a:off x="5486400" y="2849880"/>
            <a:ext cx="1219200" cy="1219200"/>
          </a:xfrm>
          <a:prstGeom prst="rect">
            <a:avLst/>
          </a:prstGeom>
        </p:spPr>
      </p:pic>
      <p:pic>
        <p:nvPicPr>
          <p:cNvPr id="42" name="Image 18" descr="preencoded.png"/>
          <p:cNvPicPr>
            <a:picLocks noChangeAspect="1"/>
          </p:cNvPicPr>
          <p:nvPr>
            <p:custDataLst>
              <p:tags r:id="rId48"/>
            </p:custDataLst>
          </p:nvPr>
        </p:nvPicPr>
        <p:blipFill>
          <a:blip r:embed="rId49">
            <a:alphaModFix amt="70000"/>
            <a:extLst>
              <a:ext uri="{96DAC541-7B7A-43D3-8B79-37D633B846F1}">
                <asvg:svgBlip xmlns:asvg="http://schemas.microsoft.com/office/drawing/2016/SVG/main" r:embed="rId50"/>
              </a:ext>
            </a:extLst>
          </a:blip>
          <a:stretch>
            <a:fillRect/>
          </a:stretch>
        </p:blipFill>
        <p:spPr>
          <a:xfrm>
            <a:off x="5791200" y="3154680"/>
            <a:ext cx="609600" cy="6096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漏洞修复优先级判断</a:t>
            </a:r>
            <a:endParaRPr lang="en-US" sz="2760" dirty="0"/>
          </a:p>
        </p:txBody>
      </p:sp>
      <p:sp>
        <p:nvSpPr>
          <p:cNvPr id="6" name="Text 1"/>
          <p:cNvSpPr/>
          <p:nvPr/>
        </p:nvSpPr>
        <p:spPr>
          <a:xfrm>
            <a:off x="609600" y="1371600"/>
            <a:ext cx="109819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不是所有漏洞都需要立即修复——要结合CVSS评分 + 业务重要性。</a:t>
            </a:r>
            <a:endParaRPr lang="en-US" sz="1680" dirty="0"/>
          </a:p>
        </p:txBody>
      </p:sp>
      <p:sp>
        <p:nvSpPr>
          <p:cNvPr id="7" name="Text 2"/>
          <p:cNvSpPr/>
          <p:nvPr/>
        </p:nvSpPr>
        <p:spPr>
          <a:xfrm>
            <a:off x="609600" y="1996440"/>
            <a:ext cx="10981944" cy="411480"/>
          </a:xfrm>
          <a:prstGeom prst="rect">
            <a:avLst/>
          </a:prstGeom>
          <a:noFill/>
        </p:spPr>
        <p:txBody>
          <a:bodyPr wrap="none" lIns="0" tIns="0" rIns="0" bIns="0" rtlCol="0" anchor="t">
            <a:spAutoFit/>
          </a:bodyPr>
          <a:lstStyle/>
          <a:p>
            <a:pPr marL="0" indent="0" algn="l">
              <a:lnSpc>
                <a:spcPct val="150000"/>
              </a:lnSpc>
              <a:buNone/>
            </a:pPr>
            <a:r>
              <a:rPr lang="en-US" sz="2160" dirty="0">
                <a:solidFill>
                  <a:srgbClr val="0E4D96"/>
                </a:solidFill>
                <a:latin typeface="思源黑体 CN Bold" pitchFamily="34" charset="0"/>
                <a:ea typeface="思源黑体 CN Bold" pitchFamily="34" charset="-122"/>
                <a:cs typeface="思源黑体 CN Bold" pitchFamily="34" charset="-120"/>
              </a:rPr>
              <a:t>优先级判断矩阵：</a:t>
            </a:r>
            <a:endParaRPr lang="en-US" sz="2160" dirty="0"/>
          </a:p>
        </p:txBody>
      </p:sp>
      <p:pic>
        <p:nvPicPr>
          <p:cNvPr id="8" name="Image 3" descr="https://test.web.static.jianzeppt.com/ppt-temp-img3/22ae792cde684d49dc3dbe1f7569fc77.png?x-oss-process=image/resize,w_1440,h_800,m_lfit/format,png"/>
          <p:cNvPicPr>
            <a:picLocks noChangeAspect="1"/>
          </p:cNvPicPr>
          <p:nvPr/>
        </p:nvPicPr>
        <p:blipFill>
          <a:blip r:embed="rId4"/>
          <a:stretch>
            <a:fillRect/>
          </a:stretch>
        </p:blipFill>
        <p:spPr>
          <a:xfrm>
            <a:off x="609600" y="2788920"/>
            <a:ext cx="10972800" cy="3764280"/>
          </a:xfrm>
          <a:prstGeom prst="rect">
            <a:avLst/>
          </a:prstGeom>
        </p:spPr>
      </p:pic>
      <p:sp>
        <p:nvSpPr>
          <p:cNvPr id="9" name="Text 3"/>
          <p:cNvSpPr/>
          <p:nvPr/>
        </p:nvSpPr>
        <p:spPr>
          <a:xfrm>
            <a:off x="85344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漏洞等级</a:t>
            </a:r>
            <a:endParaRPr lang="en-US" sz="1680" dirty="0"/>
          </a:p>
        </p:txBody>
      </p:sp>
      <p:sp>
        <p:nvSpPr>
          <p:cNvPr id="10" name="Text 4"/>
          <p:cNvSpPr/>
          <p:nvPr/>
        </p:nvSpPr>
        <p:spPr>
          <a:xfrm>
            <a:off x="353568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资产重要性</a:t>
            </a:r>
            <a:endParaRPr lang="en-US" sz="1680" dirty="0"/>
          </a:p>
        </p:txBody>
      </p:sp>
      <p:sp>
        <p:nvSpPr>
          <p:cNvPr id="11" name="Text 5"/>
          <p:cNvSpPr/>
          <p:nvPr/>
        </p:nvSpPr>
        <p:spPr>
          <a:xfrm>
            <a:off x="621792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修复优先级</a:t>
            </a:r>
            <a:endParaRPr lang="en-US" sz="1680" dirty="0"/>
          </a:p>
        </p:txBody>
      </p:sp>
      <p:sp>
        <p:nvSpPr>
          <p:cNvPr id="12" name="Text 6"/>
          <p:cNvSpPr/>
          <p:nvPr/>
        </p:nvSpPr>
        <p:spPr>
          <a:xfrm>
            <a:off x="8900160" y="3032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727478"/>
                </a:solidFill>
                <a:latin typeface="思源黑体 CN Bold" pitchFamily="34" charset="0"/>
                <a:ea typeface="思源黑体 CN Bold" pitchFamily="34" charset="-122"/>
                <a:cs typeface="思源黑体 CN Bold" pitchFamily="34" charset="-120"/>
              </a:rPr>
              <a:t>建议时限</a:t>
            </a:r>
            <a:endParaRPr lang="en-US" sz="1680" dirty="0"/>
          </a:p>
        </p:txBody>
      </p:sp>
      <p:pic>
        <p:nvPicPr>
          <p:cNvPr id="13" name="Image 4" descr="https://test.web.static.jianzeppt.com/ppt-temp-img3/af2c70337eb711ba8bf5560b95bb4870.png?x-oss-process=image/resize,w_1440,h_800,m_lfit/format,png"/>
          <p:cNvPicPr>
            <a:picLocks noChangeAspect="1"/>
          </p:cNvPicPr>
          <p:nvPr/>
        </p:nvPicPr>
        <p:blipFill>
          <a:blip r:embed="rId5"/>
          <a:stretch>
            <a:fillRect/>
          </a:stretch>
        </p:blipFill>
        <p:spPr>
          <a:xfrm>
            <a:off x="853440" y="3520440"/>
            <a:ext cx="10485120" cy="15240"/>
          </a:xfrm>
          <a:prstGeom prst="rect">
            <a:avLst/>
          </a:prstGeom>
        </p:spPr>
      </p:pic>
      <p:sp>
        <p:nvSpPr>
          <p:cNvPr id="14" name="Text 7"/>
          <p:cNvSpPr/>
          <p:nvPr/>
        </p:nvSpPr>
        <p:spPr>
          <a:xfrm>
            <a:off x="853440" y="379476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000000"/>
                </a:solidFill>
                <a:latin typeface="思源黑体 CN Bold" pitchFamily="34" charset="0"/>
                <a:ea typeface="思源黑体 CN Bold" pitchFamily="34" charset="-122"/>
                <a:cs typeface="思源黑体 CN Bold" pitchFamily="34" charset="-120"/>
              </a:rPr>
              <a:t>Critical</a:t>
            </a:r>
            <a:endParaRPr lang="en-US" sz="1680" dirty="0"/>
          </a:p>
        </p:txBody>
      </p:sp>
      <p:sp>
        <p:nvSpPr>
          <p:cNvPr id="15" name="Text 8"/>
          <p:cNvSpPr/>
          <p:nvPr/>
        </p:nvSpPr>
        <p:spPr>
          <a:xfrm>
            <a:off x="3535680" y="37947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核心系统</a:t>
            </a:r>
            <a:endParaRPr lang="en-US" sz="1680" dirty="0"/>
          </a:p>
        </p:txBody>
      </p:sp>
      <p:pic>
        <p:nvPicPr>
          <p:cNvPr id="16"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17920" y="3870960"/>
            <a:ext cx="182880" cy="182880"/>
          </a:xfrm>
          <a:prstGeom prst="rect">
            <a:avLst/>
          </a:prstGeom>
        </p:spPr>
      </p:pic>
      <p:pic>
        <p:nvPicPr>
          <p:cNvPr id="17" name="Image 6"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492240" y="3794760"/>
            <a:ext cx="624840" cy="335280"/>
          </a:xfrm>
          <a:prstGeom prst="rect">
            <a:avLst/>
          </a:prstGeom>
        </p:spPr>
      </p:pic>
      <p:sp>
        <p:nvSpPr>
          <p:cNvPr id="18" name="Text 9"/>
          <p:cNvSpPr/>
          <p:nvPr/>
        </p:nvSpPr>
        <p:spPr>
          <a:xfrm>
            <a:off x="6614160" y="3825240"/>
            <a:ext cx="39014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FFFFFF"/>
                </a:solidFill>
                <a:latin typeface="思源黑体 CN Bold" pitchFamily="34" charset="0"/>
                <a:ea typeface="思源黑体 CN Bold" pitchFamily="34" charset="-122"/>
                <a:cs typeface="思源黑体 CN Bold" pitchFamily="34" charset="-120"/>
              </a:rPr>
              <a:t>最高</a:t>
            </a:r>
            <a:endParaRPr lang="en-US" sz="1440" dirty="0"/>
          </a:p>
        </p:txBody>
      </p:sp>
      <p:sp>
        <p:nvSpPr>
          <p:cNvPr id="19" name="Text 10"/>
          <p:cNvSpPr/>
          <p:nvPr/>
        </p:nvSpPr>
        <p:spPr>
          <a:xfrm>
            <a:off x="8900160" y="3675380"/>
            <a:ext cx="730250"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24小时</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20" name="Text 11"/>
          <p:cNvSpPr/>
          <p:nvPr/>
        </p:nvSpPr>
        <p:spPr>
          <a:xfrm>
            <a:off x="853440" y="435864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A76A28"/>
                </a:solidFill>
                <a:latin typeface="思源黑体 CN Bold" pitchFamily="34" charset="0"/>
                <a:ea typeface="思源黑体 CN Bold" pitchFamily="34" charset="-122"/>
                <a:cs typeface="思源黑体 CN Bold" pitchFamily="34" charset="-120"/>
              </a:rPr>
              <a:t>Critical</a:t>
            </a:r>
            <a:endParaRPr lang="en-US" sz="1680" dirty="0"/>
          </a:p>
        </p:txBody>
      </p:sp>
      <p:sp>
        <p:nvSpPr>
          <p:cNvPr id="21" name="Text 12"/>
          <p:cNvSpPr/>
          <p:nvPr/>
        </p:nvSpPr>
        <p:spPr>
          <a:xfrm>
            <a:off x="3535680" y="435864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非核心系统</a:t>
            </a:r>
            <a:endParaRPr lang="en-US" sz="1680" dirty="0"/>
          </a:p>
        </p:txBody>
      </p:sp>
      <p:pic>
        <p:nvPicPr>
          <p:cNvPr id="22" name="Image 7" descr="preencoded.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217920" y="4434840"/>
            <a:ext cx="182880" cy="182880"/>
          </a:xfrm>
          <a:prstGeom prst="rect">
            <a:avLst/>
          </a:prstGeom>
        </p:spPr>
      </p:pic>
      <p:pic>
        <p:nvPicPr>
          <p:cNvPr id="23" name="Image 8"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492240" y="4358640"/>
            <a:ext cx="441960" cy="335280"/>
          </a:xfrm>
          <a:prstGeom prst="rect">
            <a:avLst/>
          </a:prstGeom>
        </p:spPr>
      </p:pic>
      <p:sp>
        <p:nvSpPr>
          <p:cNvPr id="24" name="Text 13"/>
          <p:cNvSpPr/>
          <p:nvPr/>
        </p:nvSpPr>
        <p:spPr>
          <a:xfrm>
            <a:off x="6614160" y="438912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高</a:t>
            </a:r>
            <a:endParaRPr lang="en-US" sz="1440" dirty="0"/>
          </a:p>
        </p:txBody>
      </p:sp>
      <p:sp>
        <p:nvSpPr>
          <p:cNvPr id="25" name="Text 14"/>
          <p:cNvSpPr/>
          <p:nvPr/>
        </p:nvSpPr>
        <p:spPr>
          <a:xfrm>
            <a:off x="8900160" y="4239260"/>
            <a:ext cx="365125"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3天</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26" name="Text 15"/>
          <p:cNvSpPr/>
          <p:nvPr/>
        </p:nvSpPr>
        <p:spPr>
          <a:xfrm>
            <a:off x="853440" y="492252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A76A28"/>
                </a:solidFill>
                <a:latin typeface="思源黑体 CN Bold" pitchFamily="34" charset="0"/>
                <a:ea typeface="思源黑体 CN Bold" pitchFamily="34" charset="-122"/>
                <a:cs typeface="思源黑体 CN Bold" pitchFamily="34" charset="-120"/>
              </a:rPr>
              <a:t>High</a:t>
            </a:r>
            <a:endParaRPr lang="en-US" sz="1680" dirty="0"/>
          </a:p>
        </p:txBody>
      </p:sp>
      <p:sp>
        <p:nvSpPr>
          <p:cNvPr id="27" name="Text 16"/>
          <p:cNvSpPr/>
          <p:nvPr/>
        </p:nvSpPr>
        <p:spPr>
          <a:xfrm>
            <a:off x="3535680" y="492252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核心系统</a:t>
            </a:r>
            <a:endParaRPr lang="en-US" sz="1680" dirty="0"/>
          </a:p>
        </p:txBody>
      </p:sp>
      <p:pic>
        <p:nvPicPr>
          <p:cNvPr id="28" name="Image 9" descr="preencoded.png"/>
          <p:cNvPicPr>
            <a:picLocks noChangeAspect="1"/>
          </p:cNvPicPr>
          <p:nvPr/>
        </p:nvPicPr>
        <p:blipFill>
          <a:blip r:embed="rId14">
            <a:extLst>
              <a:ext uri="{96DAC541-7B7A-43D3-8B79-37D633B846F1}">
                <asvg:svgBlip xmlns:asvg="http://schemas.microsoft.com/office/drawing/2016/SVG/main" r:embed="rId11"/>
              </a:ext>
            </a:extLst>
          </a:blip>
          <a:stretch>
            <a:fillRect/>
          </a:stretch>
        </p:blipFill>
        <p:spPr>
          <a:xfrm>
            <a:off x="6217920" y="4998720"/>
            <a:ext cx="182880" cy="182880"/>
          </a:xfrm>
          <a:prstGeom prst="rect">
            <a:avLst/>
          </a:prstGeom>
        </p:spPr>
      </p:pic>
      <p:pic>
        <p:nvPicPr>
          <p:cNvPr id="29" name="Image 10" descr="preencoded.png"/>
          <p:cNvPicPr>
            <a:picLocks noChangeAspect="1"/>
          </p:cNvPicPr>
          <p:nvPr/>
        </p:nvPicPr>
        <p:blipFill>
          <a:blip r:embed="rId15">
            <a:extLst>
              <a:ext uri="{96DAC541-7B7A-43D3-8B79-37D633B846F1}">
                <asvg:svgBlip xmlns:asvg="http://schemas.microsoft.com/office/drawing/2016/SVG/main" r:embed="rId13"/>
              </a:ext>
            </a:extLst>
          </a:blip>
          <a:stretch>
            <a:fillRect/>
          </a:stretch>
        </p:blipFill>
        <p:spPr>
          <a:xfrm>
            <a:off x="6492240" y="4922520"/>
            <a:ext cx="441960" cy="335280"/>
          </a:xfrm>
          <a:prstGeom prst="rect">
            <a:avLst/>
          </a:prstGeom>
        </p:spPr>
      </p:pic>
      <p:sp>
        <p:nvSpPr>
          <p:cNvPr id="30" name="Text 17"/>
          <p:cNvSpPr/>
          <p:nvPr/>
        </p:nvSpPr>
        <p:spPr>
          <a:xfrm>
            <a:off x="6614160" y="495300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高</a:t>
            </a:r>
            <a:endParaRPr lang="en-US" sz="1440" dirty="0"/>
          </a:p>
        </p:txBody>
      </p:sp>
      <p:sp>
        <p:nvSpPr>
          <p:cNvPr id="31" name="Text 18"/>
          <p:cNvSpPr/>
          <p:nvPr/>
        </p:nvSpPr>
        <p:spPr>
          <a:xfrm>
            <a:off x="8900160" y="4803140"/>
            <a:ext cx="365125"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3天</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32" name="Text 19"/>
          <p:cNvSpPr/>
          <p:nvPr/>
        </p:nvSpPr>
        <p:spPr>
          <a:xfrm>
            <a:off x="853440" y="548640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87760B"/>
                </a:solidFill>
                <a:latin typeface="思源黑体 CN Bold" pitchFamily="34" charset="0"/>
                <a:ea typeface="思源黑体 CN Bold" pitchFamily="34" charset="-122"/>
                <a:cs typeface="思源黑体 CN Bold" pitchFamily="34" charset="-120"/>
              </a:rPr>
              <a:t>High</a:t>
            </a:r>
            <a:endParaRPr lang="en-US" sz="1680" dirty="0"/>
          </a:p>
        </p:txBody>
      </p:sp>
      <p:sp>
        <p:nvSpPr>
          <p:cNvPr id="33" name="Text 20"/>
          <p:cNvSpPr/>
          <p:nvPr/>
        </p:nvSpPr>
        <p:spPr>
          <a:xfrm>
            <a:off x="3535680" y="548640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非核心系统</a:t>
            </a:r>
            <a:endParaRPr lang="en-US" sz="1680" dirty="0"/>
          </a:p>
        </p:txBody>
      </p:sp>
      <p:pic>
        <p:nvPicPr>
          <p:cNvPr id="34" name="Image 11" descr="preencoded.png"/>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6217920" y="5562600"/>
            <a:ext cx="182880" cy="182880"/>
          </a:xfrm>
          <a:prstGeom prst="rect">
            <a:avLst/>
          </a:prstGeom>
        </p:spPr>
      </p:pic>
      <p:pic>
        <p:nvPicPr>
          <p:cNvPr id="35" name="Image 12" descr="preencoded.png"/>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492240" y="5486400"/>
            <a:ext cx="441960" cy="335280"/>
          </a:xfrm>
          <a:prstGeom prst="rect">
            <a:avLst/>
          </a:prstGeom>
        </p:spPr>
      </p:pic>
      <p:sp>
        <p:nvSpPr>
          <p:cNvPr id="36" name="Text 21"/>
          <p:cNvSpPr/>
          <p:nvPr/>
        </p:nvSpPr>
        <p:spPr>
          <a:xfrm>
            <a:off x="6614160" y="551688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中</a:t>
            </a:r>
            <a:endParaRPr lang="en-US" sz="1440" dirty="0"/>
          </a:p>
        </p:txBody>
      </p:sp>
      <p:sp>
        <p:nvSpPr>
          <p:cNvPr id="37" name="Text 22"/>
          <p:cNvSpPr/>
          <p:nvPr/>
        </p:nvSpPr>
        <p:spPr>
          <a:xfrm>
            <a:off x="8900160" y="5367020"/>
            <a:ext cx="365125" cy="415290"/>
          </a:xfrm>
          <a:prstGeom prst="rect">
            <a:avLst/>
          </a:prstGeom>
          <a:noFill/>
        </p:spPr>
        <p:txBody>
          <a:bodyPr wrap="none" lIns="0" tIns="0" rIns="0" bIns="0" rtlCol="0" anchor="t">
            <a:spAutoFit/>
          </a:bodyPr>
          <a:lstStyle/>
          <a:p>
            <a:pPr marL="0" indent="0" algn="l">
              <a:lnSpc>
                <a:spcPct val="150000"/>
              </a:lnSpc>
              <a:buNone/>
            </a:pPr>
            <a:r>
              <a:rPr lang="en-US" b="1" dirty="0">
                <a:solidFill>
                  <a:srgbClr val="000000"/>
                </a:solidFill>
                <a:latin typeface="思源黑体 CN Bold" pitchFamily="34" charset="0"/>
                <a:ea typeface="思源黑体 CN Bold" pitchFamily="34" charset="-122"/>
                <a:cs typeface="思源黑体 CN Bold" pitchFamily="34" charset="-120"/>
              </a:rPr>
              <a:t>7天</a:t>
            </a:r>
            <a:endParaRPr lang="en-US" b="1" dirty="0">
              <a:solidFill>
                <a:srgbClr val="000000"/>
              </a:solidFill>
              <a:latin typeface="思源黑体 CN Bold" pitchFamily="34" charset="0"/>
              <a:ea typeface="思源黑体 CN Bold" pitchFamily="34" charset="-122"/>
              <a:cs typeface="思源黑体 CN Bold" pitchFamily="34" charset="-120"/>
            </a:endParaRPr>
          </a:p>
        </p:txBody>
      </p:sp>
      <p:sp>
        <p:nvSpPr>
          <p:cNvPr id="38" name="Text 23"/>
          <p:cNvSpPr/>
          <p:nvPr/>
        </p:nvSpPr>
        <p:spPr>
          <a:xfrm>
            <a:off x="853440" y="6004560"/>
            <a:ext cx="2447544" cy="320040"/>
          </a:xfrm>
          <a:prstGeom prst="rect">
            <a:avLst/>
          </a:prstGeom>
          <a:noFill/>
        </p:spPr>
        <p:txBody>
          <a:bodyPr wrap="none" lIns="0" tIns="0" rIns="0" bIns="0" rtlCol="0" anchor="t">
            <a:spAutoFit/>
          </a:bodyPr>
          <a:lstStyle/>
          <a:p>
            <a:pPr marL="0" indent="0" algn="l">
              <a:lnSpc>
                <a:spcPct val="150000"/>
              </a:lnSpc>
              <a:buNone/>
            </a:pPr>
            <a:r>
              <a:rPr lang="en-US" sz="1680" b="1" dirty="0">
                <a:solidFill>
                  <a:srgbClr val="2E8A56"/>
                </a:solidFill>
                <a:latin typeface="思源黑体 CN Bold" pitchFamily="34" charset="0"/>
                <a:ea typeface="思源黑体 CN Bold" pitchFamily="34" charset="-122"/>
                <a:cs typeface="思源黑体 CN Bold" pitchFamily="34" charset="-120"/>
              </a:rPr>
              <a:t>Medium/Low</a:t>
            </a:r>
            <a:endParaRPr lang="en-US" sz="1680" dirty="0"/>
          </a:p>
        </p:txBody>
      </p:sp>
      <p:sp>
        <p:nvSpPr>
          <p:cNvPr id="39" name="Text 24"/>
          <p:cNvSpPr/>
          <p:nvPr/>
        </p:nvSpPr>
        <p:spPr>
          <a:xfrm>
            <a:off x="3535680" y="6004560"/>
            <a:ext cx="2447544" cy="320040"/>
          </a:xfrm>
          <a:prstGeom prst="rect">
            <a:avLst/>
          </a:prstGeom>
          <a:noFill/>
        </p:spPr>
        <p:txBody>
          <a:bodyPr wrap="none" lIns="0" tIns="0" rIns="0" bIns="0" rtlCol="0" anchor="t">
            <a:spAutoFit/>
          </a:bodyPr>
          <a:lstStyle/>
          <a:p>
            <a:pPr marL="0" indent="0" algn="l">
              <a:lnSpc>
                <a:spcPct val="15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任意</a:t>
            </a:r>
            <a:endParaRPr lang="en-US" sz="1680" dirty="0"/>
          </a:p>
        </p:txBody>
      </p:sp>
      <p:pic>
        <p:nvPicPr>
          <p:cNvPr id="40" name="Image 13" descr="preencoded.png"/>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6217920" y="6065520"/>
            <a:ext cx="182880" cy="182880"/>
          </a:xfrm>
          <a:prstGeom prst="rect">
            <a:avLst/>
          </a:prstGeom>
        </p:spPr>
      </p:pic>
      <p:pic>
        <p:nvPicPr>
          <p:cNvPr id="41" name="Image 14" descr="preencoded.png"/>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6492240" y="5989320"/>
            <a:ext cx="441960" cy="335280"/>
          </a:xfrm>
          <a:prstGeom prst="rect">
            <a:avLst/>
          </a:prstGeom>
        </p:spPr>
      </p:pic>
      <p:sp>
        <p:nvSpPr>
          <p:cNvPr id="42" name="Text 25"/>
          <p:cNvSpPr/>
          <p:nvPr/>
        </p:nvSpPr>
        <p:spPr>
          <a:xfrm>
            <a:off x="6614160" y="6019800"/>
            <a:ext cx="2072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低</a:t>
            </a:r>
            <a:endParaRPr lang="en-US" sz="1440" dirty="0"/>
          </a:p>
        </p:txBody>
      </p:sp>
      <p:sp>
        <p:nvSpPr>
          <p:cNvPr id="43" name="Text 26"/>
          <p:cNvSpPr/>
          <p:nvPr/>
        </p:nvSpPr>
        <p:spPr>
          <a:xfrm>
            <a:off x="8900160" y="5946140"/>
            <a:ext cx="716280" cy="322580"/>
          </a:xfrm>
          <a:prstGeom prst="rect">
            <a:avLst/>
          </a:prstGeom>
          <a:noFill/>
        </p:spPr>
        <p:txBody>
          <a:bodyPr wrap="none" lIns="0" tIns="0" rIns="0" bIns="0" rtlCol="0" anchor="t">
            <a:spAutoFit/>
          </a:bodyPr>
          <a:lstStyle/>
          <a:p>
            <a:pPr marL="0" indent="0" algn="l">
              <a:lnSpc>
                <a:spcPct val="150000"/>
              </a:lnSpc>
              <a:buNone/>
            </a:pPr>
            <a:r>
              <a:rPr lang="en-US" sz="1400" b="1" dirty="0">
                <a:solidFill>
                  <a:srgbClr val="000000"/>
                </a:solidFill>
                <a:latin typeface="思源黑体 CN Bold" pitchFamily="34" charset="0"/>
                <a:ea typeface="思源黑体 CN Bold" pitchFamily="34" charset="-122"/>
                <a:cs typeface="思源黑体 CN Bold" pitchFamily="34" charset="-120"/>
              </a:rPr>
              <a:t>纳入计划</a:t>
            </a:r>
            <a:endParaRPr lang="en-US" sz="1400" b="1" dirty="0">
              <a:solidFill>
                <a:srgbClr val="000000"/>
              </a:solidFill>
              <a:latin typeface="思源黑体 CN Bold" pitchFamily="34" charset="0"/>
              <a:ea typeface="思源黑体 CN Bold" pitchFamily="34" charset="-122"/>
              <a:cs typeface="思源黑体 CN Bold" pitchFamily="34" charset="-12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思政融入——漏洞扫描中的职业道德</a:t>
            </a:r>
            <a:endParaRPr lang="en-US" sz="2760" dirty="0"/>
          </a:p>
        </p:txBody>
      </p:sp>
      <p:pic>
        <p:nvPicPr>
          <p:cNvPr id="6" name="Image 3" descr="https://test.web.static.jianzeppt.com/ppt-temp-img3/67d3b9000678eb244b40f019e61aba63.png?x-oss-process=image/resize,w_1440,h_800,m_lfit/format,png"/>
          <p:cNvPicPr>
            <a:picLocks noChangeAspect="1"/>
          </p:cNvPicPr>
          <p:nvPr/>
        </p:nvPicPr>
        <p:blipFill>
          <a:blip r:embed="rId4"/>
          <a:stretch>
            <a:fillRect/>
          </a:stretch>
        </p:blipFill>
        <p:spPr>
          <a:xfrm>
            <a:off x="609600" y="1371600"/>
            <a:ext cx="3459480" cy="3992880"/>
          </a:xfrm>
          <a:prstGeom prst="rect">
            <a:avLst/>
          </a:prstGeom>
        </p:spPr>
      </p:pic>
      <p:pic>
        <p:nvPicPr>
          <p:cNvPr id="7" name="Image 4" descr="preencoded.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950720" y="1676400"/>
            <a:ext cx="762000" cy="762000"/>
          </a:xfrm>
          <a:prstGeom prst="rect">
            <a:avLst/>
          </a:prstGeom>
        </p:spPr>
      </p:pic>
      <p:pic>
        <p:nvPicPr>
          <p:cNvPr id="8" name="Image 5" descr="preencoded.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118360" y="1844040"/>
            <a:ext cx="426720" cy="426720"/>
          </a:xfrm>
          <a:prstGeom prst="rect">
            <a:avLst/>
          </a:prstGeom>
        </p:spPr>
      </p:pic>
      <p:sp>
        <p:nvSpPr>
          <p:cNvPr id="9" name="Text 1"/>
          <p:cNvSpPr/>
          <p:nvPr/>
        </p:nvSpPr>
        <p:spPr>
          <a:xfrm>
            <a:off x="2057400" y="2621280"/>
            <a:ext cx="55778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授权</a:t>
            </a:r>
            <a:endParaRPr lang="en-US" sz="1920" dirty="0"/>
          </a:p>
        </p:txBody>
      </p:sp>
      <p:pic>
        <p:nvPicPr>
          <p:cNvPr id="10" name="Image 6"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14400" y="3307080"/>
            <a:ext cx="91440" cy="91440"/>
          </a:xfrm>
          <a:prstGeom prst="rect">
            <a:avLst/>
          </a:prstGeom>
        </p:spPr>
      </p:pic>
      <p:sp>
        <p:nvSpPr>
          <p:cNvPr id="11" name="Text 2"/>
          <p:cNvSpPr/>
          <p:nvPr/>
        </p:nvSpPr>
        <p:spPr>
          <a:xfrm>
            <a:off x="1158240" y="32156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进行漏洞扫描必须先获得授权（书面）</a:t>
            </a:r>
            <a:endParaRPr lang="en-US" sz="1680" dirty="0"/>
          </a:p>
        </p:txBody>
      </p:sp>
      <p:pic>
        <p:nvPicPr>
          <p:cNvPr id="12" name="Image 7" descr="preencoded.png"/>
          <p:cNvPicPr>
            <a:picLocks noChangeAspect="1"/>
          </p:cNvPicPr>
          <p:nvPr/>
        </p:nvPicPr>
        <p:blipFill>
          <a:blip r:embed="rId11">
            <a:extLst>
              <a:ext uri="{96DAC541-7B7A-43D3-8B79-37D633B846F1}">
                <asvg:svgBlip xmlns:asvg="http://schemas.microsoft.com/office/drawing/2016/SVG/main" r:embed="rId10"/>
              </a:ext>
            </a:extLst>
          </a:blip>
          <a:stretch>
            <a:fillRect/>
          </a:stretch>
        </p:blipFill>
        <p:spPr>
          <a:xfrm>
            <a:off x="914400" y="3992880"/>
            <a:ext cx="91440" cy="91440"/>
          </a:xfrm>
          <a:prstGeom prst="rect">
            <a:avLst/>
          </a:prstGeom>
        </p:spPr>
      </p:pic>
      <p:sp>
        <p:nvSpPr>
          <p:cNvPr id="13" name="Text 3"/>
          <p:cNvSpPr/>
          <p:nvPr/>
        </p:nvSpPr>
        <p:spPr>
          <a:xfrm>
            <a:off x="1158240" y="39014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未经授权扫描他人系统属于违法行为</a:t>
            </a:r>
            <a:endParaRPr lang="en-US" sz="1680" dirty="0"/>
          </a:p>
        </p:txBody>
      </p:sp>
      <p:pic>
        <p:nvPicPr>
          <p:cNvPr id="14" name="Image 8" descr="preencoded.png"/>
          <p:cNvPicPr>
            <a:picLocks noChangeAspect="1"/>
          </p:cNvPicPr>
          <p:nvPr/>
        </p:nvPicPr>
        <p:blipFill>
          <a:blip r:embed="rId12">
            <a:extLst>
              <a:ext uri="{96DAC541-7B7A-43D3-8B79-37D633B846F1}">
                <asvg:svgBlip xmlns:asvg="http://schemas.microsoft.com/office/drawing/2016/SVG/main" r:embed="rId10"/>
              </a:ext>
            </a:extLst>
          </a:blip>
          <a:stretch>
            <a:fillRect/>
          </a:stretch>
        </p:blipFill>
        <p:spPr>
          <a:xfrm>
            <a:off x="914400" y="4663440"/>
            <a:ext cx="91440" cy="91440"/>
          </a:xfrm>
          <a:prstGeom prst="rect">
            <a:avLst/>
          </a:prstGeom>
        </p:spPr>
      </p:pic>
      <p:sp>
        <p:nvSpPr>
          <p:cNvPr id="15" name="Text 4"/>
          <p:cNvSpPr/>
          <p:nvPr/>
        </p:nvSpPr>
        <p:spPr>
          <a:xfrm>
            <a:off x="1158240" y="457200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等保测评中的扫描必须在授权范围内进行</a:t>
            </a:r>
            <a:endParaRPr lang="en-US" sz="1680" dirty="0"/>
          </a:p>
        </p:txBody>
      </p:sp>
      <p:pic>
        <p:nvPicPr>
          <p:cNvPr id="16" name="Image 9" descr="https://test.web.static.jianzeppt.com/ppt-temp-img3/67d3b9000678eb244b40f019e61aba63.png?x-oss-process=image/resize,w_1440,h_800,m_lfit/format,png"/>
          <p:cNvPicPr>
            <a:picLocks noChangeAspect="1"/>
          </p:cNvPicPr>
          <p:nvPr/>
        </p:nvPicPr>
        <p:blipFill>
          <a:blip r:embed="rId4"/>
          <a:stretch>
            <a:fillRect/>
          </a:stretch>
        </p:blipFill>
        <p:spPr>
          <a:xfrm>
            <a:off x="4373880" y="1371600"/>
            <a:ext cx="3459480" cy="3992880"/>
          </a:xfrm>
          <a:prstGeom prst="rect">
            <a:avLst/>
          </a:prstGeom>
        </p:spPr>
      </p:pic>
      <p:pic>
        <p:nvPicPr>
          <p:cNvPr id="17" name="Image 10" descr="preencoded.png"/>
          <p:cNvPicPr>
            <a:picLocks noChangeAspect="1"/>
          </p:cNvPicPr>
          <p:nvPr/>
        </p:nvPicPr>
        <p:blipFill>
          <a:blip r:embed="rId13">
            <a:extLst>
              <a:ext uri="{96DAC541-7B7A-43D3-8B79-37D633B846F1}">
                <asvg:svgBlip xmlns:asvg="http://schemas.microsoft.com/office/drawing/2016/SVG/main" r:embed="rId6"/>
              </a:ext>
            </a:extLst>
          </a:blip>
          <a:stretch>
            <a:fillRect/>
          </a:stretch>
        </p:blipFill>
        <p:spPr>
          <a:xfrm>
            <a:off x="5715000" y="1676400"/>
            <a:ext cx="762000" cy="762000"/>
          </a:xfrm>
          <a:prstGeom prst="rect">
            <a:avLst/>
          </a:prstGeom>
        </p:spPr>
      </p:pic>
      <p:pic>
        <p:nvPicPr>
          <p:cNvPr id="18" name="Image 11" descr="preencoded.png"/>
          <p:cNvPicPr>
            <a:picLocks noChangeAspect="1"/>
          </p:cNvPicPr>
          <p:nvPr/>
        </p:nvPicPr>
        <p:blipFill>
          <a:blip r:embed="rId14">
            <a:extLst>
              <a:ext uri="{96DAC541-7B7A-43D3-8B79-37D633B846F1}">
                <asvg:svgBlip xmlns:asvg="http://schemas.microsoft.com/office/drawing/2016/SVG/main" r:embed="rId8"/>
              </a:ext>
            </a:extLst>
          </a:blip>
          <a:stretch>
            <a:fillRect/>
          </a:stretch>
        </p:blipFill>
        <p:spPr>
          <a:xfrm>
            <a:off x="5882640" y="1844040"/>
            <a:ext cx="426720" cy="426720"/>
          </a:xfrm>
          <a:prstGeom prst="rect">
            <a:avLst/>
          </a:prstGeom>
        </p:spPr>
      </p:pic>
      <p:sp>
        <p:nvSpPr>
          <p:cNvPr id="19" name="Text 5"/>
          <p:cNvSpPr/>
          <p:nvPr/>
        </p:nvSpPr>
        <p:spPr>
          <a:xfrm>
            <a:off x="5821680" y="2621280"/>
            <a:ext cx="55778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00000"/>
                </a:solidFill>
                <a:latin typeface="思源黑体 CN Bold" pitchFamily="34" charset="0"/>
                <a:ea typeface="思源黑体 CN Bold" pitchFamily="34" charset="-122"/>
                <a:cs typeface="思源黑体 CN Bold" pitchFamily="34" charset="-120"/>
              </a:rPr>
              <a:t>客观</a:t>
            </a:r>
            <a:endParaRPr lang="en-US" sz="2160" dirty="0"/>
          </a:p>
        </p:txBody>
      </p:sp>
      <p:pic>
        <p:nvPicPr>
          <p:cNvPr id="20" name="Image 12" descr="preencoded.png"/>
          <p:cNvPicPr>
            <a:picLocks noChangeAspect="1"/>
          </p:cNvPicPr>
          <p:nvPr/>
        </p:nvPicPr>
        <p:blipFill>
          <a:blip r:embed="rId15">
            <a:extLst>
              <a:ext uri="{96DAC541-7B7A-43D3-8B79-37D633B846F1}">
                <asvg:svgBlip xmlns:asvg="http://schemas.microsoft.com/office/drawing/2016/SVG/main" r:embed="rId10"/>
              </a:ext>
            </a:extLst>
          </a:blip>
          <a:stretch>
            <a:fillRect/>
          </a:stretch>
        </p:blipFill>
        <p:spPr>
          <a:xfrm>
            <a:off x="4678680" y="3368040"/>
            <a:ext cx="91440" cy="91440"/>
          </a:xfrm>
          <a:prstGeom prst="rect">
            <a:avLst/>
          </a:prstGeom>
        </p:spPr>
      </p:pic>
      <p:sp>
        <p:nvSpPr>
          <p:cNvPr id="21" name="Text 6"/>
          <p:cNvSpPr/>
          <p:nvPr/>
        </p:nvSpPr>
        <p:spPr>
          <a:xfrm>
            <a:off x="4922520" y="3276600"/>
            <a:ext cx="1716024" cy="294323"/>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如实记录扫描结果</a:t>
            </a:r>
            <a:endParaRPr lang="en-US" sz="1680" dirty="0"/>
          </a:p>
        </p:txBody>
      </p:sp>
      <p:pic>
        <p:nvPicPr>
          <p:cNvPr id="22" name="Image 13" descr="preencoded.png"/>
          <p:cNvPicPr>
            <a:picLocks noChangeAspect="1"/>
          </p:cNvPicPr>
          <p:nvPr/>
        </p:nvPicPr>
        <p:blipFill>
          <a:blip r:embed="rId16">
            <a:extLst>
              <a:ext uri="{96DAC541-7B7A-43D3-8B79-37D633B846F1}">
                <asvg:svgBlip xmlns:asvg="http://schemas.microsoft.com/office/drawing/2016/SVG/main" r:embed="rId10"/>
              </a:ext>
            </a:extLst>
          </a:blip>
          <a:stretch>
            <a:fillRect/>
          </a:stretch>
        </p:blipFill>
        <p:spPr>
          <a:xfrm>
            <a:off x="4678680" y="3840480"/>
            <a:ext cx="91440" cy="91440"/>
          </a:xfrm>
          <a:prstGeom prst="rect">
            <a:avLst/>
          </a:prstGeom>
        </p:spPr>
      </p:pic>
      <p:sp>
        <p:nvSpPr>
          <p:cNvPr id="23" name="Text 7"/>
          <p:cNvSpPr/>
          <p:nvPr/>
        </p:nvSpPr>
        <p:spPr>
          <a:xfrm>
            <a:off x="4922520" y="37490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不隐瞒高危漏洞，不夸大风险等级</a:t>
            </a:r>
            <a:endParaRPr lang="en-US" sz="1680" dirty="0"/>
          </a:p>
        </p:txBody>
      </p:sp>
      <p:pic>
        <p:nvPicPr>
          <p:cNvPr id="24" name="Image 14" descr="https://test.web.static.jianzeppt.com/ppt-temp-img3/67d3b9000678eb244b40f019e61aba63.png?x-oss-process=image/resize,w_1440,h_800,m_lfit/format,png"/>
          <p:cNvPicPr>
            <a:picLocks noChangeAspect="1"/>
          </p:cNvPicPr>
          <p:nvPr/>
        </p:nvPicPr>
        <p:blipFill>
          <a:blip r:embed="rId4"/>
          <a:stretch>
            <a:fillRect/>
          </a:stretch>
        </p:blipFill>
        <p:spPr>
          <a:xfrm>
            <a:off x="8122920" y="1371600"/>
            <a:ext cx="3459480" cy="3992880"/>
          </a:xfrm>
          <a:prstGeom prst="rect">
            <a:avLst/>
          </a:prstGeom>
        </p:spPr>
      </p:pic>
      <p:pic>
        <p:nvPicPr>
          <p:cNvPr id="25" name="Image 15" descr="preencoded.png"/>
          <p:cNvPicPr>
            <a:picLocks noChangeAspect="1"/>
          </p:cNvPicPr>
          <p:nvPr/>
        </p:nvPicPr>
        <p:blipFill>
          <a:blip r:embed="rId17">
            <a:extLst>
              <a:ext uri="{96DAC541-7B7A-43D3-8B79-37D633B846F1}">
                <asvg:svgBlip xmlns:asvg="http://schemas.microsoft.com/office/drawing/2016/SVG/main" r:embed="rId6"/>
              </a:ext>
            </a:extLst>
          </a:blip>
          <a:stretch>
            <a:fillRect/>
          </a:stretch>
        </p:blipFill>
        <p:spPr>
          <a:xfrm>
            <a:off x="9479280" y="1676400"/>
            <a:ext cx="762000" cy="762000"/>
          </a:xfrm>
          <a:prstGeom prst="rect">
            <a:avLst/>
          </a:prstGeom>
        </p:spPr>
      </p:pic>
      <p:pic>
        <p:nvPicPr>
          <p:cNvPr id="26" name="Image 16" descr="preencoded.png"/>
          <p:cNvPicPr>
            <a:picLocks noChangeAspect="1"/>
          </p:cNvPicPr>
          <p:nvPr/>
        </p:nvPicPr>
        <p:blipFill>
          <a:blip r:embed="rId18">
            <a:extLst>
              <a:ext uri="{96DAC541-7B7A-43D3-8B79-37D633B846F1}">
                <asvg:svgBlip xmlns:asvg="http://schemas.microsoft.com/office/drawing/2016/SVG/main" r:embed="rId8"/>
              </a:ext>
            </a:extLst>
          </a:blip>
          <a:stretch>
            <a:fillRect/>
          </a:stretch>
        </p:blipFill>
        <p:spPr>
          <a:xfrm>
            <a:off x="9646920" y="1844040"/>
            <a:ext cx="426720" cy="426720"/>
          </a:xfrm>
          <a:prstGeom prst="rect">
            <a:avLst/>
          </a:prstGeom>
        </p:spPr>
      </p:pic>
      <p:sp>
        <p:nvSpPr>
          <p:cNvPr id="27" name="Text 8"/>
          <p:cNvSpPr/>
          <p:nvPr/>
        </p:nvSpPr>
        <p:spPr>
          <a:xfrm>
            <a:off x="9585960" y="2621280"/>
            <a:ext cx="557784" cy="411480"/>
          </a:xfrm>
          <a:prstGeom prst="rect">
            <a:avLst/>
          </a:prstGeom>
          <a:noFill/>
        </p:spPr>
        <p:txBody>
          <a:bodyPr wrap="none" lIns="0" tIns="0" rIns="0" bIns="0" rtlCol="0" anchor="t">
            <a:spAutoFit/>
          </a:bodyPr>
          <a:lstStyle/>
          <a:p>
            <a:pPr marL="0" indent="0" algn="l">
              <a:lnSpc>
                <a:spcPct val="100000"/>
              </a:lnSpc>
              <a:buNone/>
            </a:pPr>
            <a:r>
              <a:rPr lang="en-US" sz="2160" dirty="0">
                <a:solidFill>
                  <a:srgbClr val="000000"/>
                </a:solidFill>
                <a:latin typeface="思源黑体 CN Bold" pitchFamily="34" charset="0"/>
                <a:ea typeface="思源黑体 CN Bold" pitchFamily="34" charset="-122"/>
                <a:cs typeface="思源黑体 CN Bold" pitchFamily="34" charset="-120"/>
              </a:rPr>
              <a:t>负责</a:t>
            </a:r>
            <a:endParaRPr lang="en-US" sz="2160" dirty="0"/>
          </a:p>
        </p:txBody>
      </p:sp>
      <p:pic>
        <p:nvPicPr>
          <p:cNvPr id="28" name="Image 17" descr="preencoded.png"/>
          <p:cNvPicPr>
            <a:picLocks noChangeAspect="1"/>
          </p:cNvPicPr>
          <p:nvPr/>
        </p:nvPicPr>
        <p:blipFill>
          <a:blip r:embed="rId19">
            <a:extLst>
              <a:ext uri="{96DAC541-7B7A-43D3-8B79-37D633B846F1}">
                <asvg:svgBlip xmlns:asvg="http://schemas.microsoft.com/office/drawing/2016/SVG/main" r:embed="rId10"/>
              </a:ext>
            </a:extLst>
          </a:blip>
          <a:stretch>
            <a:fillRect/>
          </a:stretch>
        </p:blipFill>
        <p:spPr>
          <a:xfrm>
            <a:off x="8427720" y="3368040"/>
            <a:ext cx="91440" cy="91440"/>
          </a:xfrm>
          <a:prstGeom prst="rect">
            <a:avLst/>
          </a:prstGeom>
        </p:spPr>
      </p:pic>
      <p:sp>
        <p:nvSpPr>
          <p:cNvPr id="29" name="Text 9"/>
          <p:cNvSpPr/>
          <p:nvPr/>
        </p:nvSpPr>
        <p:spPr>
          <a:xfrm>
            <a:off x="8671560" y="327660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扫描结果直接影响客户的安全判断</a:t>
            </a:r>
            <a:endParaRPr lang="en-US" sz="1680" dirty="0"/>
          </a:p>
        </p:txBody>
      </p:sp>
      <p:pic>
        <p:nvPicPr>
          <p:cNvPr id="30" name="Image 18" descr="preencoded.png"/>
          <p:cNvPicPr>
            <a:picLocks noChangeAspect="1"/>
          </p:cNvPicPr>
          <p:nvPr/>
        </p:nvPicPr>
        <p:blipFill>
          <a:blip r:embed="rId20">
            <a:extLst>
              <a:ext uri="{96DAC541-7B7A-43D3-8B79-37D633B846F1}">
                <asvg:svgBlip xmlns:asvg="http://schemas.microsoft.com/office/drawing/2016/SVG/main" r:embed="rId10"/>
              </a:ext>
            </a:extLst>
          </a:blip>
          <a:stretch>
            <a:fillRect/>
          </a:stretch>
        </p:blipFill>
        <p:spPr>
          <a:xfrm>
            <a:off x="8427720" y="4145280"/>
            <a:ext cx="91440" cy="91440"/>
          </a:xfrm>
          <a:prstGeom prst="rect">
            <a:avLst/>
          </a:prstGeom>
        </p:spPr>
      </p:pic>
      <p:sp>
        <p:nvSpPr>
          <p:cNvPr id="31" name="Text 10"/>
          <p:cNvSpPr/>
          <p:nvPr/>
        </p:nvSpPr>
        <p:spPr>
          <a:xfrm>
            <a:off x="8671560" y="4053840"/>
            <a:ext cx="2615184" cy="588645"/>
          </a:xfrm>
          <a:prstGeom prst="rect">
            <a:avLst/>
          </a:prstGeom>
          <a:noFill/>
        </p:spPr>
        <p:txBody>
          <a:bodyPr wrap="square" lIns="0" tIns="0" rIns="0" bIns="0" rtlCol="0" anchor="t">
            <a:spAutoFit/>
          </a:bodyPr>
          <a:lstStyle/>
          <a:p>
            <a:pPr marL="0" indent="0" algn="l">
              <a:lnSpc>
                <a:spcPct val="138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误报的识别和解释，体现测评师的专业水准</a:t>
            </a:r>
            <a:endParaRPr lang="en-US" sz="1680" dirty="0"/>
          </a:p>
        </p:txBody>
      </p:sp>
      <p:pic>
        <p:nvPicPr>
          <p:cNvPr id="32" name="Image 19" descr="preencoded.png"/>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609600" y="5608320"/>
            <a:ext cx="10972800" cy="848360"/>
          </a:xfrm>
          <a:prstGeom prst="rect">
            <a:avLst/>
          </a:prstGeom>
          <a:effectLst>
            <a:outerShdw blurRad="1161288000" dist="774192000" dir="-1" algn="bl" rotWithShape="0">
              <a:srgbClr val="000000">
                <a:alpha val="1000000000"/>
              </a:srgbClr>
            </a:outerShdw>
          </a:effectLst>
        </p:spPr>
      </p:pic>
      <p:sp>
        <p:nvSpPr>
          <p:cNvPr id="33" name="Text 11"/>
          <p:cNvSpPr/>
          <p:nvPr/>
        </p:nvSpPr>
        <p:spPr>
          <a:xfrm>
            <a:off x="1493520" y="5852160"/>
            <a:ext cx="9229344" cy="457200"/>
          </a:xfrm>
          <a:prstGeom prst="rect">
            <a:avLst/>
          </a:prstGeom>
          <a:noFill/>
        </p:spPr>
        <p:txBody>
          <a:bodyPr wrap="none" lIns="0" tIns="0" rIns="0" bIns="0" rtlCol="0" anchor="t">
            <a:spAutoFit/>
          </a:bodyPr>
          <a:lstStyle/>
          <a:p>
            <a:pPr marL="0" indent="0" algn="ctr">
              <a:lnSpc>
                <a:spcPct val="100000"/>
              </a:lnSpc>
              <a:buNone/>
            </a:pPr>
            <a:r>
              <a:rPr lang="en-US" sz="2400" kern="0" spc="80" dirty="0">
                <a:solidFill>
                  <a:srgbClr val="FFFFFF"/>
                </a:solidFill>
                <a:latin typeface="思源黑体 CN Bold" pitchFamily="34" charset="0"/>
                <a:ea typeface="思源黑体 CN Bold" pitchFamily="34" charset="-122"/>
                <a:cs typeface="思源黑体 CN Bold" pitchFamily="34" charset="-120"/>
              </a:rPr>
              <a:t>漏洞扫描报告不仅是技术文件，更是测评师职业操守的“照妖镜”。</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知识点回顾（5分钟）</a:t>
            </a:r>
            <a:endParaRPr lang="en-US" sz="2760" dirty="0"/>
          </a:p>
        </p:txBody>
      </p:sp>
      <p:pic>
        <p:nvPicPr>
          <p:cNvPr id="6" name="Image 3" descr="https://test.web.static.jianzeppt.com/ppt-temp-img3/897a38c67adc00b82204d0afacb96071.png?x-oss-process=image/resize,w_1440,h_800,m_lfit/format,png"/>
          <p:cNvPicPr>
            <a:picLocks noChangeAspect="1"/>
          </p:cNvPicPr>
          <p:nvPr/>
        </p:nvPicPr>
        <p:blipFill>
          <a:blip r:embed="rId4"/>
          <a:stretch>
            <a:fillRect/>
          </a:stretch>
        </p:blipFill>
        <p:spPr>
          <a:xfrm>
            <a:off x="609600" y="1371600"/>
            <a:ext cx="10972800" cy="5181600"/>
          </a:xfrm>
          <a:prstGeom prst="rect">
            <a:avLst/>
          </a:prstGeom>
        </p:spPr>
      </p:pic>
      <p:pic>
        <p:nvPicPr>
          <p:cNvPr id="7" name="Image 4" descr="https://test.web.static.jianzeppt.com/ppt-temp-img3/a20d3356e203aa72933684365bb95db4.png?x-oss-process=image/resize,w_1440,h_800,m_lfit/format,png"/>
          <p:cNvPicPr>
            <a:picLocks noChangeAspect="1"/>
          </p:cNvPicPr>
          <p:nvPr/>
        </p:nvPicPr>
        <p:blipFill>
          <a:blip r:embed="rId5"/>
          <a:stretch>
            <a:fillRect/>
          </a:stretch>
        </p:blipFill>
        <p:spPr>
          <a:xfrm>
            <a:off x="7147560" y="1493520"/>
            <a:ext cx="487680" cy="838200"/>
          </a:xfrm>
          <a:prstGeom prst="rect">
            <a:avLst/>
          </a:prstGeom>
        </p:spPr>
      </p:pic>
      <p:pic>
        <p:nvPicPr>
          <p:cNvPr id="8" name="Image 5"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1615440"/>
            <a:ext cx="2438400" cy="594360"/>
          </a:xfrm>
          <a:prstGeom prst="rect">
            <a:avLst/>
          </a:prstGeom>
        </p:spPr>
      </p:pic>
      <p:sp>
        <p:nvSpPr>
          <p:cNvPr id="9" name="Text 1"/>
          <p:cNvSpPr/>
          <p:nvPr/>
        </p:nvSpPr>
        <p:spPr>
          <a:xfrm>
            <a:off x="5090160" y="1752600"/>
            <a:ext cx="17160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一、漏洞扫描原理</a:t>
            </a:r>
            <a:endParaRPr lang="en-US" sz="1680" dirty="0"/>
          </a:p>
        </p:txBody>
      </p:sp>
      <p:pic>
        <p:nvPicPr>
          <p:cNvPr id="10" name="Image 6"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1463040"/>
            <a:ext cx="3657600" cy="426720"/>
          </a:xfrm>
          <a:prstGeom prst="rect">
            <a:avLst/>
          </a:prstGeom>
        </p:spPr>
      </p:pic>
      <p:sp>
        <p:nvSpPr>
          <p:cNvPr id="11" name="Text 2"/>
          <p:cNvSpPr/>
          <p:nvPr/>
        </p:nvSpPr>
        <p:spPr>
          <a:xfrm>
            <a:off x="7757160" y="1539240"/>
            <a:ext cx="185318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基于漏洞库的特征匹配</a:t>
            </a:r>
            <a:endParaRPr lang="en-US" sz="1440" dirty="0"/>
          </a:p>
        </p:txBody>
      </p:sp>
      <p:pic>
        <p:nvPicPr>
          <p:cNvPr id="12" name="Image 7"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1950720"/>
            <a:ext cx="3657600" cy="426720"/>
          </a:xfrm>
          <a:prstGeom prst="rect">
            <a:avLst/>
          </a:prstGeom>
        </p:spPr>
      </p:pic>
      <p:sp>
        <p:nvSpPr>
          <p:cNvPr id="13" name="Text 3"/>
          <p:cNvSpPr/>
          <p:nvPr/>
        </p:nvSpPr>
        <p:spPr>
          <a:xfrm>
            <a:off x="7757160" y="2026920"/>
            <a:ext cx="237134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类型：主机/Web/数据库扫描</a:t>
            </a:r>
            <a:endParaRPr lang="en-US" sz="1440" dirty="0"/>
          </a:p>
        </p:txBody>
      </p:sp>
      <p:pic>
        <p:nvPicPr>
          <p:cNvPr id="14" name="Image 8" descr="https://test.web.static.jianzeppt.com/ppt-temp-img3/a20d3356e203aa72933684365bb95db4.png?x-oss-process=image/resize,w_1440,h_800,m_lfit/format,png"/>
          <p:cNvPicPr>
            <a:picLocks noChangeAspect="1"/>
          </p:cNvPicPr>
          <p:nvPr/>
        </p:nvPicPr>
        <p:blipFill>
          <a:blip r:embed="rId5"/>
          <a:stretch>
            <a:fillRect/>
          </a:stretch>
        </p:blipFill>
        <p:spPr>
          <a:xfrm>
            <a:off x="7147560" y="2545080"/>
            <a:ext cx="487680" cy="838200"/>
          </a:xfrm>
          <a:prstGeom prst="rect">
            <a:avLst/>
          </a:prstGeom>
        </p:spPr>
      </p:pic>
      <p:pic>
        <p:nvPicPr>
          <p:cNvPr id="15" name="Image 9"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2667000"/>
            <a:ext cx="2438400" cy="594360"/>
          </a:xfrm>
          <a:prstGeom prst="rect">
            <a:avLst/>
          </a:prstGeom>
        </p:spPr>
      </p:pic>
      <p:sp>
        <p:nvSpPr>
          <p:cNvPr id="16" name="Text 4"/>
          <p:cNvSpPr/>
          <p:nvPr/>
        </p:nvSpPr>
        <p:spPr>
          <a:xfrm>
            <a:off x="5303520" y="2804160"/>
            <a:ext cx="128930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二、常用工具</a:t>
            </a:r>
            <a:endParaRPr lang="en-US" sz="1680" dirty="0"/>
          </a:p>
        </p:txBody>
      </p:sp>
      <p:pic>
        <p:nvPicPr>
          <p:cNvPr id="17" name="Image 10"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2499360"/>
            <a:ext cx="3657600" cy="426720"/>
          </a:xfrm>
          <a:prstGeom prst="rect">
            <a:avLst/>
          </a:prstGeom>
        </p:spPr>
      </p:pic>
      <p:sp>
        <p:nvSpPr>
          <p:cNvPr id="18" name="Text 5"/>
          <p:cNvSpPr/>
          <p:nvPr/>
        </p:nvSpPr>
        <p:spPr>
          <a:xfrm>
            <a:off x="7757160" y="2575560"/>
            <a:ext cx="208178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Nessus（商业，功能强）</a:t>
            </a:r>
            <a:endParaRPr lang="en-US" sz="1440" dirty="0"/>
          </a:p>
        </p:txBody>
      </p:sp>
      <p:pic>
        <p:nvPicPr>
          <p:cNvPr id="19" name="Image 11"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2987040"/>
            <a:ext cx="3657600" cy="426720"/>
          </a:xfrm>
          <a:prstGeom prst="rect">
            <a:avLst/>
          </a:prstGeom>
        </p:spPr>
      </p:pic>
      <p:sp>
        <p:nvSpPr>
          <p:cNvPr id="20" name="Text 6"/>
          <p:cNvSpPr/>
          <p:nvPr/>
        </p:nvSpPr>
        <p:spPr>
          <a:xfrm>
            <a:off x="7757160" y="3063240"/>
            <a:ext cx="22646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OpenVAS（开源，成本低）</a:t>
            </a:r>
            <a:endParaRPr lang="en-US" sz="1440" dirty="0"/>
          </a:p>
        </p:txBody>
      </p:sp>
      <p:pic>
        <p:nvPicPr>
          <p:cNvPr id="21" name="Image 12" descr="https://test.web.static.jianzeppt.com/ppt-temp-img3/58aac6f7b07dfe4e6e0627b0dff0b480.png?x-oss-process=image/resize,w_1440,h_800,m_lfit/format,png"/>
          <p:cNvPicPr>
            <a:picLocks noChangeAspect="1"/>
          </p:cNvPicPr>
          <p:nvPr/>
        </p:nvPicPr>
        <p:blipFill>
          <a:blip r:embed="rId8"/>
          <a:stretch>
            <a:fillRect/>
          </a:stretch>
        </p:blipFill>
        <p:spPr>
          <a:xfrm>
            <a:off x="7147560" y="3581400"/>
            <a:ext cx="487680" cy="1066800"/>
          </a:xfrm>
          <a:prstGeom prst="rect">
            <a:avLst/>
          </a:prstGeom>
        </p:spPr>
      </p:pic>
      <p:pic>
        <p:nvPicPr>
          <p:cNvPr id="22" name="Image 13"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3825240"/>
            <a:ext cx="2438400" cy="594360"/>
          </a:xfrm>
          <a:prstGeom prst="rect">
            <a:avLst/>
          </a:prstGeom>
        </p:spPr>
      </p:pic>
      <p:sp>
        <p:nvSpPr>
          <p:cNvPr id="23" name="Text 7"/>
          <p:cNvSpPr/>
          <p:nvPr/>
        </p:nvSpPr>
        <p:spPr>
          <a:xfrm>
            <a:off x="5303520" y="3962400"/>
            <a:ext cx="128930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三、报告解读</a:t>
            </a:r>
            <a:endParaRPr lang="en-US" sz="1680" dirty="0"/>
          </a:p>
        </p:txBody>
      </p:sp>
      <p:pic>
        <p:nvPicPr>
          <p:cNvPr id="24" name="Image 14" descr="https://test.web.static.jianzeppt.com/ppt-temp-img3/dfb533ea43a3892b7830502db7defa64.png?x-oss-process=image/resize,w_1440,h_800,m_lfit/format,png"/>
          <p:cNvPicPr>
            <a:picLocks noChangeAspect="1"/>
          </p:cNvPicPr>
          <p:nvPr/>
        </p:nvPicPr>
        <p:blipFill>
          <a:blip r:embed="rId9"/>
          <a:stretch>
            <a:fillRect/>
          </a:stretch>
        </p:blipFill>
        <p:spPr>
          <a:xfrm>
            <a:off x="7620000" y="3413760"/>
            <a:ext cx="3962400" cy="426720"/>
          </a:xfrm>
          <a:prstGeom prst="rect">
            <a:avLst/>
          </a:prstGeom>
        </p:spPr>
      </p:pic>
      <p:sp>
        <p:nvSpPr>
          <p:cNvPr id="25" name="Text 8"/>
          <p:cNvSpPr/>
          <p:nvPr/>
        </p:nvSpPr>
        <p:spPr>
          <a:xfrm>
            <a:off x="7757160" y="3489960"/>
            <a:ext cx="269138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CVSS风险等级（Critical→Low）</a:t>
            </a:r>
            <a:endParaRPr lang="en-US" sz="1440" dirty="0"/>
          </a:p>
        </p:txBody>
      </p:sp>
      <p:pic>
        <p:nvPicPr>
          <p:cNvPr id="26" name="Image 15" descr="https://test.web.static.jianzeppt.com/ppt-temp-img3/dfb533ea43a3892b7830502db7defa64.png?x-oss-process=image/resize,w_1440,h_800,m_lfit/format,png"/>
          <p:cNvPicPr>
            <a:picLocks noChangeAspect="1"/>
          </p:cNvPicPr>
          <p:nvPr/>
        </p:nvPicPr>
        <p:blipFill>
          <a:blip r:embed="rId9"/>
          <a:stretch>
            <a:fillRect/>
          </a:stretch>
        </p:blipFill>
        <p:spPr>
          <a:xfrm>
            <a:off x="7620000" y="3901440"/>
            <a:ext cx="3962400" cy="426720"/>
          </a:xfrm>
          <a:prstGeom prst="rect">
            <a:avLst/>
          </a:prstGeom>
        </p:spPr>
      </p:pic>
      <p:sp>
        <p:nvSpPr>
          <p:cNvPr id="27" name="Text 9"/>
          <p:cNvSpPr/>
          <p:nvPr/>
        </p:nvSpPr>
        <p:spPr>
          <a:xfrm>
            <a:off x="7757160" y="3977640"/>
            <a:ext cx="27980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名称/影响主机/风险等级/修复建议</a:t>
            </a:r>
            <a:endParaRPr lang="en-US" sz="1440" dirty="0"/>
          </a:p>
        </p:txBody>
      </p:sp>
      <p:pic>
        <p:nvPicPr>
          <p:cNvPr id="28" name="Image 16" descr="https://test.web.static.jianzeppt.com/ppt-temp-img3/dfb533ea43a3892b7830502db7defa64.png?x-oss-process=image/resize,w_1440,h_800,m_lfit/format,png"/>
          <p:cNvPicPr>
            <a:picLocks noChangeAspect="1"/>
          </p:cNvPicPr>
          <p:nvPr/>
        </p:nvPicPr>
        <p:blipFill>
          <a:blip r:embed="rId9"/>
          <a:stretch>
            <a:fillRect/>
          </a:stretch>
        </p:blipFill>
        <p:spPr>
          <a:xfrm>
            <a:off x="7620000" y="4389120"/>
            <a:ext cx="3962400" cy="426720"/>
          </a:xfrm>
          <a:prstGeom prst="rect">
            <a:avLst/>
          </a:prstGeom>
        </p:spPr>
      </p:pic>
      <p:sp>
        <p:nvSpPr>
          <p:cNvPr id="29" name="Text 10"/>
          <p:cNvSpPr/>
          <p:nvPr/>
        </p:nvSpPr>
        <p:spPr>
          <a:xfrm>
            <a:off x="7757160" y="4465320"/>
            <a:ext cx="258470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误报识别：版本误判、配置误判</a:t>
            </a:r>
            <a:endParaRPr lang="en-US" sz="1440" dirty="0"/>
          </a:p>
        </p:txBody>
      </p:sp>
      <p:pic>
        <p:nvPicPr>
          <p:cNvPr id="30" name="Image 17" descr="https://test.web.static.jianzeppt.com/ppt-temp-img3/a20d3356e203aa72933684365bb95db4.png?x-oss-process=image/resize,w_1440,h_800,m_lfit/format,png"/>
          <p:cNvPicPr>
            <a:picLocks noChangeAspect="1"/>
          </p:cNvPicPr>
          <p:nvPr/>
        </p:nvPicPr>
        <p:blipFill>
          <a:blip r:embed="rId5"/>
          <a:stretch>
            <a:fillRect/>
          </a:stretch>
        </p:blipFill>
        <p:spPr>
          <a:xfrm>
            <a:off x="7147560" y="4861560"/>
            <a:ext cx="487680" cy="838200"/>
          </a:xfrm>
          <a:prstGeom prst="rect">
            <a:avLst/>
          </a:prstGeom>
        </p:spPr>
      </p:pic>
      <p:pic>
        <p:nvPicPr>
          <p:cNvPr id="31" name="Image 18" descr="https://test.web.static.jianzeppt.com/ppt-temp-img3/c68a313057ff28f11e06af278fd84bd7.png?x-oss-process=image/resize,w_1440,h_800,m_lfit/format,png"/>
          <p:cNvPicPr>
            <a:picLocks noChangeAspect="1"/>
          </p:cNvPicPr>
          <p:nvPr/>
        </p:nvPicPr>
        <p:blipFill>
          <a:blip r:embed="rId6"/>
          <a:stretch>
            <a:fillRect/>
          </a:stretch>
        </p:blipFill>
        <p:spPr>
          <a:xfrm>
            <a:off x="4724400" y="4983480"/>
            <a:ext cx="2438400" cy="594360"/>
          </a:xfrm>
          <a:prstGeom prst="rect">
            <a:avLst/>
          </a:prstGeom>
        </p:spPr>
      </p:pic>
      <p:sp>
        <p:nvSpPr>
          <p:cNvPr id="32" name="Text 11"/>
          <p:cNvSpPr/>
          <p:nvPr/>
        </p:nvSpPr>
        <p:spPr>
          <a:xfrm>
            <a:off x="4876800" y="5120640"/>
            <a:ext cx="214274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四、与等保测评的关联</a:t>
            </a:r>
            <a:endParaRPr lang="en-US" sz="1680" dirty="0"/>
          </a:p>
        </p:txBody>
      </p:sp>
      <p:pic>
        <p:nvPicPr>
          <p:cNvPr id="33" name="Image 19"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4815840"/>
            <a:ext cx="3657600" cy="426720"/>
          </a:xfrm>
          <a:prstGeom prst="rect">
            <a:avLst/>
          </a:prstGeom>
        </p:spPr>
      </p:pic>
      <p:sp>
        <p:nvSpPr>
          <p:cNvPr id="34" name="Text 12"/>
          <p:cNvSpPr/>
          <p:nvPr/>
        </p:nvSpPr>
        <p:spPr>
          <a:xfrm>
            <a:off x="7757160" y="4892040"/>
            <a:ext cx="22646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对应标准：8.1.4.4 入侵防范</a:t>
            </a:r>
            <a:endParaRPr lang="en-US" sz="1440" dirty="0"/>
          </a:p>
        </p:txBody>
      </p:sp>
      <p:pic>
        <p:nvPicPr>
          <p:cNvPr id="35" name="Image 20" descr="https://test.web.static.jianzeppt.com/ppt-temp-img3/0e4e2b6e12774a6c3c114fdf39467eef.png?x-oss-process=image/resize,w_1440,h_800,m_lfit/format,png"/>
          <p:cNvPicPr>
            <a:picLocks noChangeAspect="1"/>
          </p:cNvPicPr>
          <p:nvPr/>
        </p:nvPicPr>
        <p:blipFill>
          <a:blip r:embed="rId7"/>
          <a:stretch>
            <a:fillRect/>
          </a:stretch>
        </p:blipFill>
        <p:spPr>
          <a:xfrm>
            <a:off x="7620000" y="5303520"/>
            <a:ext cx="3657600" cy="426720"/>
          </a:xfrm>
          <a:prstGeom prst="rect">
            <a:avLst/>
          </a:prstGeom>
        </p:spPr>
      </p:pic>
      <p:sp>
        <p:nvSpPr>
          <p:cNvPr id="36" name="Text 13"/>
          <p:cNvSpPr/>
          <p:nvPr/>
        </p:nvSpPr>
        <p:spPr>
          <a:xfrm>
            <a:off x="7757160" y="5379720"/>
            <a:ext cx="2036064" cy="274320"/>
          </a:xfrm>
          <a:prstGeom prst="rect">
            <a:avLst/>
          </a:prstGeom>
          <a:noFill/>
        </p:spPr>
        <p:txBody>
          <a:bodyPr wrap="none" lIns="0" tIns="0" rIns="0" bIns="0" rtlCol="0" anchor="t">
            <a:spAutoFit/>
          </a:bodyPr>
          <a:lstStyle/>
          <a:p>
            <a:pPr marL="0" indent="0" algn="l">
              <a:lnSpc>
                <a:spcPct val="150000"/>
              </a:lnSpc>
              <a:buNone/>
            </a:pPr>
            <a:r>
              <a:rPr lang="en-US" sz="1440" dirty="0">
                <a:solidFill>
                  <a:srgbClr val="000000"/>
                </a:solidFill>
                <a:latin typeface="思源黑体 CN Regular" pitchFamily="34" charset="0"/>
                <a:ea typeface="思源黑体 CN Regular" pitchFamily="34" charset="-122"/>
                <a:cs typeface="思源黑体 CN Regular" pitchFamily="34" charset="-120"/>
              </a:rPr>
              <a:t>高危漏洞→等保不符合项</a:t>
            </a:r>
            <a:endParaRPr lang="en-US" sz="1440" dirty="0"/>
          </a:p>
        </p:txBody>
      </p:sp>
      <p:pic>
        <p:nvPicPr>
          <p:cNvPr id="37" name="Image 21" descr="https://test.web.static.jianzeppt.com/ppt-temp-img3/a98e09d3b673e9903089eb32ad8c9a48.png?x-oss-process=image/resize,w_1440,h_800,m_lfit/format,png"/>
          <p:cNvPicPr>
            <a:picLocks noChangeAspect="1"/>
          </p:cNvPicPr>
          <p:nvPr/>
        </p:nvPicPr>
        <p:blipFill>
          <a:blip r:embed="rId10"/>
          <a:stretch>
            <a:fillRect/>
          </a:stretch>
        </p:blipFill>
        <p:spPr>
          <a:xfrm>
            <a:off x="7147560" y="5897880"/>
            <a:ext cx="487680" cy="533400"/>
          </a:xfrm>
          <a:prstGeom prst="rect">
            <a:avLst/>
          </a:prstGeom>
        </p:spPr>
      </p:pic>
      <p:pic>
        <p:nvPicPr>
          <p:cNvPr id="38" name="Image 22" descr="https://test.web.static.jianzeppt.com/ppt-temp-img3/f2380a72359b645498c22a66740209f0.png?x-oss-process=image/resize,w_1440,h_800,m_lfit/format,png"/>
          <p:cNvPicPr>
            <a:picLocks noChangeAspect="1"/>
          </p:cNvPicPr>
          <p:nvPr/>
        </p:nvPicPr>
        <p:blipFill>
          <a:blip r:embed="rId11"/>
          <a:stretch>
            <a:fillRect/>
          </a:stretch>
        </p:blipFill>
        <p:spPr>
          <a:xfrm>
            <a:off x="4724400" y="5867400"/>
            <a:ext cx="2118360" cy="594360"/>
          </a:xfrm>
          <a:prstGeom prst="rect">
            <a:avLst/>
          </a:prstGeom>
        </p:spPr>
      </p:pic>
      <p:sp>
        <p:nvSpPr>
          <p:cNvPr id="39" name="Text 14"/>
          <p:cNvSpPr/>
          <p:nvPr/>
        </p:nvSpPr>
        <p:spPr>
          <a:xfrm>
            <a:off x="4922520" y="6004560"/>
            <a:ext cx="1716024" cy="320040"/>
          </a:xfrm>
          <a:prstGeom prst="rect">
            <a:avLst/>
          </a:prstGeom>
          <a:noFill/>
        </p:spPr>
        <p:txBody>
          <a:bodyPr wrap="none" lIns="0" tIns="0" rIns="0" bIns="0" rtlCol="0" anchor="t">
            <a:spAutoFit/>
          </a:bodyPr>
          <a:lstStyle/>
          <a:p>
            <a:pPr marL="0" indent="0" algn="ctr">
              <a:lnSpc>
                <a:spcPct val="150000"/>
              </a:lnSpc>
              <a:buNone/>
            </a:pPr>
            <a:r>
              <a:rPr lang="en-US" sz="1680" b="1" dirty="0">
                <a:solidFill>
                  <a:srgbClr val="FFFFFF"/>
                </a:solidFill>
                <a:latin typeface="思源黑体 CN Bold" pitchFamily="34" charset="0"/>
                <a:ea typeface="思源黑体 CN Bold" pitchFamily="34" charset="-122"/>
                <a:cs typeface="思源黑体 CN Bold" pitchFamily="34" charset="-120"/>
              </a:rPr>
              <a:t>五、漏洞管理闭环</a:t>
            </a:r>
            <a:endParaRPr lang="en-US" sz="1680" dirty="0"/>
          </a:p>
        </p:txBody>
      </p:sp>
      <p:pic>
        <p:nvPicPr>
          <p:cNvPr id="40" name="Image 23" descr="https://test.web.static.jianzeppt.com/ppt-temp-img3/1714471b088babac6bf09d5941e9b427.png?x-oss-process=image/resize,w_1440,h_800,m_lfit/format,png"/>
          <p:cNvPicPr>
            <a:picLocks noChangeAspect="1"/>
          </p:cNvPicPr>
          <p:nvPr/>
        </p:nvPicPr>
        <p:blipFill>
          <a:blip r:embed="rId12"/>
          <a:stretch>
            <a:fillRect/>
          </a:stretch>
        </p:blipFill>
        <p:spPr>
          <a:xfrm>
            <a:off x="7299960" y="5928360"/>
            <a:ext cx="4441190" cy="487680"/>
          </a:xfrm>
          <a:prstGeom prst="rect">
            <a:avLst/>
          </a:prstGeom>
        </p:spPr>
      </p:pic>
      <p:sp>
        <p:nvSpPr>
          <p:cNvPr id="41" name="Text 15"/>
          <p:cNvSpPr/>
          <p:nvPr/>
        </p:nvSpPr>
        <p:spPr>
          <a:xfrm>
            <a:off x="7293610" y="5991225"/>
            <a:ext cx="4354830" cy="368935"/>
          </a:xfrm>
          <a:prstGeom prst="rect">
            <a:avLst/>
          </a:prstGeom>
          <a:noFill/>
        </p:spPr>
        <p:txBody>
          <a:bodyPr wrap="none" lIns="0" tIns="0" rIns="0" bIns="0" rtlCol="0" anchor="t">
            <a:spAutoFit/>
          </a:bodyPr>
          <a:lstStyle/>
          <a:p>
            <a:pPr marL="0" indent="0" algn="l">
              <a:lnSpc>
                <a:spcPct val="150000"/>
              </a:lnSpc>
              <a:buNone/>
            </a:pPr>
            <a:r>
              <a:rPr lang="en-US" sz="1600" b="1" dirty="0">
                <a:solidFill>
                  <a:srgbClr val="000000"/>
                </a:solidFill>
                <a:latin typeface="思源黑体 CN Bold" pitchFamily="34" charset="0"/>
                <a:ea typeface="思源黑体 CN Bold" pitchFamily="34" charset="-122"/>
                <a:cs typeface="思源黑体 CN Bold" pitchFamily="34" charset="-120"/>
              </a:rPr>
              <a:t>资产识别 → 扫描 → 分析 → 修复 → 验证 → 报告</a:t>
            </a:r>
            <a:endParaRPr lang="en-US" sz="1600" b="1" dirty="0">
              <a:solidFill>
                <a:srgbClr val="000000"/>
              </a:solidFill>
              <a:latin typeface="思源黑体 CN Bold" pitchFamily="34" charset="0"/>
              <a:ea typeface="思源黑体 CN Bold" pitchFamily="34" charset="-122"/>
              <a:cs typeface="思源黑体 CN Bold" pitchFamily="34" charset="-120"/>
            </a:endParaRPr>
          </a:p>
        </p:txBody>
      </p:sp>
      <p:pic>
        <p:nvPicPr>
          <p:cNvPr id="42" name="Image 24" descr="preencoded.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62000" y="3413760"/>
            <a:ext cx="2743200" cy="1112520"/>
          </a:xfrm>
          <a:prstGeom prst="rect">
            <a:avLst/>
          </a:prstGeom>
          <a:effectLst>
            <a:outerShdw blurRad="-2147483648" dist="1935480000" dir="-1" algn="bl" rotWithShape="0">
              <a:srgbClr val="000000">
                <a:alpha val="1000000000"/>
              </a:srgbClr>
            </a:outerShdw>
          </a:effectLst>
        </p:spPr>
      </p:pic>
      <p:sp>
        <p:nvSpPr>
          <p:cNvPr id="43" name="Text 16"/>
          <p:cNvSpPr/>
          <p:nvPr/>
        </p:nvSpPr>
        <p:spPr>
          <a:xfrm>
            <a:off x="873125" y="3729355"/>
            <a:ext cx="2529205" cy="415290"/>
          </a:xfrm>
          <a:prstGeom prst="rect">
            <a:avLst/>
          </a:prstGeom>
          <a:noFill/>
        </p:spPr>
        <p:txBody>
          <a:bodyPr wrap="square" lIns="0" tIns="0" rIns="0" bIns="0" rtlCol="0" anchor="t">
            <a:spAutoFit/>
          </a:bodyPr>
          <a:lstStyle/>
          <a:p>
            <a:pPr marL="0" indent="0" algn="ctr">
              <a:lnSpc>
                <a:spcPct val="125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漏洞扫描与结果分析</a:t>
            </a:r>
            <a:endParaRPr lang="en-US" sz="21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课后作业</a:t>
            </a:r>
            <a:endParaRPr lang="en-US" sz="2760" dirty="0"/>
          </a:p>
        </p:txBody>
      </p:sp>
      <p:pic>
        <p:nvPicPr>
          <p:cNvPr id="6" name="Image 3"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1463040"/>
            <a:ext cx="10972800" cy="975360"/>
          </a:xfrm>
          <a:prstGeom prst="rect">
            <a:avLst/>
          </a:prstGeom>
        </p:spPr>
      </p:pic>
      <p:pic>
        <p:nvPicPr>
          <p:cNvPr id="7" name="Image 4" descr="https://test.web.static.jianzeppt.com/ppt-temp-img3/de80775f8920f0cae47a5850b9a1c5d9.png?x-oss-process=image/resize,w_1440,h_800,m_lfit/format,png"/>
          <p:cNvPicPr>
            <a:picLocks noChangeAspect="1"/>
          </p:cNvPicPr>
          <p:nvPr/>
        </p:nvPicPr>
        <p:blipFill>
          <a:blip r:embed="rId5"/>
          <a:stretch>
            <a:fillRect/>
          </a:stretch>
        </p:blipFill>
        <p:spPr>
          <a:xfrm>
            <a:off x="624840" y="1478280"/>
            <a:ext cx="1524000" cy="944880"/>
          </a:xfrm>
          <a:prstGeom prst="rect">
            <a:avLst/>
          </a:prstGeom>
        </p:spPr>
      </p:pic>
      <p:sp>
        <p:nvSpPr>
          <p:cNvPr id="8" name="Text 1"/>
          <p:cNvSpPr/>
          <p:nvPr/>
        </p:nvSpPr>
        <p:spPr>
          <a:xfrm>
            <a:off x="1112520" y="175260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必做</a:t>
            </a:r>
            <a:endParaRPr lang="en-US" sz="2160" dirty="0"/>
          </a:p>
        </p:txBody>
      </p:sp>
      <p:sp>
        <p:nvSpPr>
          <p:cNvPr id="9" name="Text 2"/>
          <p:cNvSpPr/>
          <p:nvPr/>
        </p:nvSpPr>
        <p:spPr>
          <a:xfrm>
            <a:off x="2514600" y="1584960"/>
            <a:ext cx="9083675" cy="442595"/>
          </a:xfrm>
          <a:prstGeom prst="rect">
            <a:avLst/>
          </a:prstGeom>
          <a:noFill/>
        </p:spPr>
        <p:txBody>
          <a:bodyPr wrap="square" lIns="0" tIns="0" rIns="0" bIns="0" rtlCol="0" anchor="t">
            <a:spAutoFit/>
          </a:bodyPr>
          <a:lstStyle/>
          <a:p>
            <a:pPr marL="0" indent="0" algn="l">
              <a:lnSpc>
                <a:spcPct val="15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完成《漏洞扫描结果分析表》（基于课堂提供的模拟扫描报告），提交至学习通平台</a:t>
            </a:r>
            <a:endParaRPr lang="en-US" sz="1920" dirty="0"/>
          </a:p>
        </p:txBody>
      </p:sp>
      <p:pic>
        <p:nvPicPr>
          <p:cNvPr id="10" name="Image 5"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2804160"/>
            <a:ext cx="10972800" cy="975360"/>
          </a:xfrm>
          <a:prstGeom prst="rect">
            <a:avLst/>
          </a:prstGeom>
        </p:spPr>
      </p:pic>
      <p:pic>
        <p:nvPicPr>
          <p:cNvPr id="11" name="Image 6" descr="https://test.web.static.jianzeppt.com/ppt-temp-img3/934c019a8cf176537fd2a1e4048fe4d5.png?x-oss-process=image/resize,w_1440,h_800,m_lfit/format,png"/>
          <p:cNvPicPr>
            <a:picLocks noChangeAspect="1"/>
          </p:cNvPicPr>
          <p:nvPr/>
        </p:nvPicPr>
        <p:blipFill>
          <a:blip r:embed="rId5"/>
          <a:stretch>
            <a:fillRect/>
          </a:stretch>
        </p:blipFill>
        <p:spPr>
          <a:xfrm>
            <a:off x="624840" y="2819400"/>
            <a:ext cx="1524000" cy="944880"/>
          </a:xfrm>
          <a:prstGeom prst="rect">
            <a:avLst/>
          </a:prstGeom>
        </p:spPr>
      </p:pic>
      <p:sp>
        <p:nvSpPr>
          <p:cNvPr id="12" name="Text 3"/>
          <p:cNvSpPr/>
          <p:nvPr/>
        </p:nvSpPr>
        <p:spPr>
          <a:xfrm>
            <a:off x="1112520" y="309372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必做</a:t>
            </a:r>
            <a:endParaRPr lang="en-US" sz="2160" dirty="0"/>
          </a:p>
        </p:txBody>
      </p:sp>
      <p:sp>
        <p:nvSpPr>
          <p:cNvPr id="13" name="Text 4"/>
          <p:cNvSpPr/>
          <p:nvPr/>
        </p:nvSpPr>
        <p:spPr>
          <a:xfrm>
            <a:off x="2514600" y="3108960"/>
            <a:ext cx="8695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完成项目4.5在线测试（选择题+判断题，共20题）</a:t>
            </a:r>
            <a:endParaRPr lang="en-US" sz="1920" dirty="0"/>
          </a:p>
        </p:txBody>
      </p:sp>
      <p:pic>
        <p:nvPicPr>
          <p:cNvPr id="14" name="Image 7"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4145280"/>
            <a:ext cx="10972800" cy="975360"/>
          </a:xfrm>
          <a:prstGeom prst="rect">
            <a:avLst/>
          </a:prstGeom>
        </p:spPr>
      </p:pic>
      <p:pic>
        <p:nvPicPr>
          <p:cNvPr id="15" name="Image 8" descr="https://test.web.static.jianzeppt.com/ppt-temp-img3/2731e773cedcec0b7f0403a704eb99ad.png?x-oss-process=image/resize,w_1440,h_800,m_lfit/format,png"/>
          <p:cNvPicPr>
            <a:picLocks noChangeAspect="1"/>
          </p:cNvPicPr>
          <p:nvPr/>
        </p:nvPicPr>
        <p:blipFill>
          <a:blip r:embed="rId5"/>
          <a:stretch>
            <a:fillRect/>
          </a:stretch>
        </p:blipFill>
        <p:spPr>
          <a:xfrm>
            <a:off x="624840" y="4160520"/>
            <a:ext cx="1524000" cy="944880"/>
          </a:xfrm>
          <a:prstGeom prst="rect">
            <a:avLst/>
          </a:prstGeom>
        </p:spPr>
      </p:pic>
      <p:sp>
        <p:nvSpPr>
          <p:cNvPr id="16" name="Text 5"/>
          <p:cNvSpPr/>
          <p:nvPr/>
        </p:nvSpPr>
        <p:spPr>
          <a:xfrm>
            <a:off x="1112520" y="443484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选做</a:t>
            </a:r>
            <a:endParaRPr lang="en-US" sz="2160" dirty="0"/>
          </a:p>
        </p:txBody>
      </p:sp>
      <p:sp>
        <p:nvSpPr>
          <p:cNvPr id="17" name="Text 6"/>
          <p:cNvSpPr/>
          <p:nvPr/>
        </p:nvSpPr>
        <p:spPr>
          <a:xfrm>
            <a:off x="2514600" y="4450080"/>
            <a:ext cx="8695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在自己的Kali Linux环境中独立完成一次OpenVAS漏洞扫描（可录屏或截图）</a:t>
            </a:r>
            <a:endParaRPr lang="en-US" sz="1920" dirty="0"/>
          </a:p>
        </p:txBody>
      </p:sp>
      <p:pic>
        <p:nvPicPr>
          <p:cNvPr id="18" name="Image 9" descr="https://test.web.static.jianzeppt.com/ppt-temp-img3/042b5906f1ab1e641e06276e48d97d42.png?x-oss-process=image/resize,w_1440,h_800,m_lfit/format,png"/>
          <p:cNvPicPr>
            <a:picLocks noChangeAspect="1"/>
          </p:cNvPicPr>
          <p:nvPr/>
        </p:nvPicPr>
        <p:blipFill>
          <a:blip r:embed="rId4"/>
          <a:stretch>
            <a:fillRect/>
          </a:stretch>
        </p:blipFill>
        <p:spPr>
          <a:xfrm>
            <a:off x="609600" y="5486400"/>
            <a:ext cx="10972800" cy="975360"/>
          </a:xfrm>
          <a:prstGeom prst="rect">
            <a:avLst/>
          </a:prstGeom>
        </p:spPr>
      </p:pic>
      <p:pic>
        <p:nvPicPr>
          <p:cNvPr id="19" name="Image 10" descr="https://test.web.static.jianzeppt.com/ppt-temp-img3/61d834d29e69ad60d3f69eca3f5d7c76.png?x-oss-process=image/resize,w_1440,h_800,m_lfit/format,png"/>
          <p:cNvPicPr>
            <a:picLocks noChangeAspect="1"/>
          </p:cNvPicPr>
          <p:nvPr/>
        </p:nvPicPr>
        <p:blipFill>
          <a:blip r:embed="rId5"/>
          <a:stretch>
            <a:fillRect/>
          </a:stretch>
        </p:blipFill>
        <p:spPr>
          <a:xfrm>
            <a:off x="624840" y="5501640"/>
            <a:ext cx="1524000" cy="944880"/>
          </a:xfrm>
          <a:prstGeom prst="rect">
            <a:avLst/>
          </a:prstGeom>
        </p:spPr>
      </p:pic>
      <p:sp>
        <p:nvSpPr>
          <p:cNvPr id="20" name="Text 7"/>
          <p:cNvSpPr/>
          <p:nvPr/>
        </p:nvSpPr>
        <p:spPr>
          <a:xfrm>
            <a:off x="1112520" y="5775960"/>
            <a:ext cx="557784" cy="396240"/>
          </a:xfrm>
          <a:prstGeom prst="rect">
            <a:avLst/>
          </a:prstGeom>
          <a:noFill/>
        </p:spPr>
        <p:txBody>
          <a:bodyPr wrap="none" lIns="0" tIns="0" rIns="0" bIns="0" rtlCol="0" anchor="ctr"/>
          <a:lstStyle/>
          <a:p>
            <a:pPr marL="0" indent="0" algn="ctr">
              <a:lnSpc>
                <a:spcPct val="150000"/>
              </a:lnSpc>
              <a:buNone/>
            </a:pPr>
            <a:r>
              <a:rPr lang="en-US" sz="2160" b="1" dirty="0">
                <a:solidFill>
                  <a:srgbClr val="FFFFFF"/>
                </a:solidFill>
                <a:latin typeface="思源黑体 CN Bold" pitchFamily="34" charset="0"/>
                <a:ea typeface="思源黑体 CN Bold" pitchFamily="34" charset="-122"/>
                <a:cs typeface="思源黑体 CN Bold" pitchFamily="34" charset="-120"/>
              </a:rPr>
              <a:t>预习</a:t>
            </a:r>
            <a:endParaRPr lang="en-US" sz="2160" dirty="0"/>
          </a:p>
        </p:txBody>
      </p:sp>
      <p:sp>
        <p:nvSpPr>
          <p:cNvPr id="21" name="Text 8"/>
          <p:cNvSpPr/>
          <p:nvPr/>
        </p:nvSpPr>
        <p:spPr>
          <a:xfrm>
            <a:off x="2514600" y="5791200"/>
            <a:ext cx="8695944" cy="365760"/>
          </a:xfrm>
          <a:prstGeom prst="rect">
            <a:avLst/>
          </a:prstGeom>
          <a:noFill/>
        </p:spPr>
        <p:txBody>
          <a:bodyPr wrap="none" lIns="0" tIns="0" rIns="0" bIns="0" rtlCol="0" anchor="t">
            <a:spAutoFit/>
          </a:bodyPr>
          <a:lstStyle/>
          <a:p>
            <a:pPr marL="0" indent="0" algn="l">
              <a:lnSpc>
                <a:spcPct val="100000"/>
              </a:lnSpc>
              <a:buNone/>
            </a:pPr>
            <a:r>
              <a:rPr lang="en-US" sz="1920" dirty="0">
                <a:solidFill>
                  <a:srgbClr val="000000"/>
                </a:solidFill>
                <a:latin typeface="思源黑体 CN Regular" pitchFamily="34" charset="0"/>
                <a:ea typeface="思源黑体 CN Regular" pitchFamily="34" charset="-122"/>
                <a:cs typeface="思源黑体 CN Regular" pitchFamily="34" charset="-120"/>
              </a:rPr>
              <a:t>预习任务5“安全管理测评”相关内容</a:t>
            </a:r>
            <a:endParaRPr lang="en-US" sz="1920" dirty="0"/>
          </a:p>
        </p:txBody>
      </p:sp>
      <p:graphicFrame>
        <p:nvGraphicFramePr>
          <p:cNvPr id="22" name="对象 21">
            <a:hlinkClick r:id="" action="ppaction://ole?verb="/>
          </p:cNvPr>
          <p:cNvGraphicFramePr>
            <a:graphicFrameLocks noChangeAspect="1"/>
          </p:cNvGraphicFramePr>
          <p:nvPr/>
        </p:nvGraphicFramePr>
        <p:xfrm>
          <a:off x="2719705" y="415290"/>
          <a:ext cx="971550" cy="666750"/>
        </p:xfrm>
        <a:graphic>
          <a:graphicData uri="http://schemas.openxmlformats.org/presentationml/2006/ole">
            <mc:AlternateContent xmlns:mc="http://schemas.openxmlformats.org/markup-compatibility/2006">
              <mc:Choice xmlns:v="urn:schemas-microsoft-com:vml" Requires="v">
                <p:oleObj spid="_x0000_s2049" name="" showAsIcon="1" r:id="rId6" imgW="971550" imgH="666750" progId="Word.Document.12">
                  <p:embed/>
                </p:oleObj>
              </mc:Choice>
              <mc:Fallback>
                <p:oleObj name="" showAsIcon="1" r:id="rId6" imgW="971550" imgH="666750" progId="Word.Document.12">
                  <p:embed/>
                  <p:pic>
                    <p:nvPicPr>
                      <p:cNvPr id="0" name="图片 2048"/>
                      <p:cNvPicPr/>
                      <p:nvPr/>
                    </p:nvPicPr>
                    <p:blipFill>
                      <a:blip r:embed="rId7"/>
                      <a:stretch>
                        <a:fillRect/>
                      </a:stretch>
                    </p:blipFill>
                    <p:spPr>
                      <a:xfrm>
                        <a:off x="2719705" y="415290"/>
                        <a:ext cx="971550" cy="666750"/>
                      </a:xfrm>
                      <a:prstGeom prst="rect">
                        <a:avLst/>
                      </a:prstGeom>
                    </p:spPr>
                  </p:pic>
                </p:oleObj>
              </mc:Fallback>
            </mc:AlternateContent>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sp>
        <p:nvSpPr>
          <p:cNvPr id="5" name="Text 0"/>
          <p:cNvSpPr/>
          <p:nvPr/>
        </p:nvSpPr>
        <p:spPr>
          <a:xfrm>
            <a:off x="822497" y="529635"/>
            <a:ext cx="10918068" cy="426482"/>
          </a:xfrm>
          <a:prstGeom prst="rect">
            <a:avLst/>
          </a:prstGeom>
          <a:noFill/>
        </p:spPr>
        <p:txBody>
          <a:bodyPr wrap="none" lIns="0" tIns="0" rIns="0" bIns="0" rtlCol="0" anchor="b">
            <a:spAutoFit/>
          </a:bodyPr>
          <a:lstStyle/>
          <a:p>
            <a:pPr marL="0" indent="0" algn="l">
              <a:lnSpc>
                <a:spcPct val="100000"/>
              </a:lnSpc>
              <a:buNone/>
            </a:pPr>
            <a:r>
              <a:rPr lang="en-US" sz="2760" dirty="0">
                <a:solidFill>
                  <a:srgbClr val="1E1E1E"/>
                </a:solidFill>
              </a:rPr>
              <a:t>下节课预告：任务5：安全管理测评</a:t>
            </a:r>
            <a:endParaRPr lang="en-US" sz="2760" dirty="0"/>
          </a:p>
        </p:txBody>
      </p:sp>
      <p:pic>
        <p:nvPicPr>
          <p:cNvPr id="6" name="Image 3"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9600" y="1463040"/>
            <a:ext cx="91440" cy="243840"/>
          </a:xfrm>
          <a:prstGeom prst="rect">
            <a:avLst/>
          </a:prstGeom>
        </p:spPr>
      </p:pic>
      <p:sp>
        <p:nvSpPr>
          <p:cNvPr id="7" name="Text 1"/>
          <p:cNvSpPr/>
          <p:nvPr/>
        </p:nvSpPr>
        <p:spPr>
          <a:xfrm>
            <a:off x="822960" y="1371600"/>
            <a:ext cx="1106424" cy="396240"/>
          </a:xfrm>
          <a:prstGeom prst="rect">
            <a:avLst/>
          </a:prstGeom>
          <a:noFill/>
        </p:spPr>
        <p:txBody>
          <a:bodyPr wrap="none" lIns="0" tIns="0" rIns="0" bIns="0" rtlCol="0" anchor="ctr"/>
          <a:lstStyle/>
          <a:p>
            <a:pPr marL="0" indent="0" algn="l">
              <a:lnSpc>
                <a:spcPct val="150000"/>
              </a:lnSpc>
              <a:buNone/>
            </a:pPr>
            <a:r>
              <a:rPr lang="en-US" sz="2160" dirty="0">
                <a:solidFill>
                  <a:srgbClr val="0E4D96"/>
                </a:solidFill>
                <a:latin typeface="思源黑体 CN Bold" pitchFamily="34" charset="0"/>
                <a:ea typeface="思源黑体 CN Bold" pitchFamily="34" charset="-122"/>
                <a:cs typeface="思源黑体 CN Bold" pitchFamily="34" charset="-120"/>
              </a:rPr>
              <a:t>预告内容</a:t>
            </a:r>
            <a:endParaRPr lang="en-US" sz="2160" dirty="0"/>
          </a:p>
        </p:txBody>
      </p:sp>
      <p:pic>
        <p:nvPicPr>
          <p:cNvPr id="8" name="Image 4" descr="https://test.web.static.jianzeppt.com/ppt-temp-img3/b61f1032d70d94493db1339ff50e0d47.png?x-oss-process=image/resize,w_1440,h_800,m_lfit/format,png"/>
          <p:cNvPicPr>
            <a:picLocks noChangeAspect="1"/>
          </p:cNvPicPr>
          <p:nvPr/>
        </p:nvPicPr>
        <p:blipFill>
          <a:blip r:embed="rId6"/>
          <a:stretch>
            <a:fillRect/>
          </a:stretch>
        </p:blipFill>
        <p:spPr>
          <a:xfrm>
            <a:off x="609600" y="2118360"/>
            <a:ext cx="365760" cy="365760"/>
          </a:xfrm>
          <a:prstGeom prst="rect">
            <a:avLst/>
          </a:prstGeom>
        </p:spPr>
      </p:pic>
      <p:sp>
        <p:nvSpPr>
          <p:cNvPr id="9" name="Text 2"/>
          <p:cNvSpPr/>
          <p:nvPr/>
        </p:nvSpPr>
        <p:spPr>
          <a:xfrm>
            <a:off x="731520" y="2164080"/>
            <a:ext cx="1310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1</a:t>
            </a:r>
            <a:endParaRPr lang="en-US" sz="1440" dirty="0"/>
          </a:p>
        </p:txBody>
      </p:sp>
      <p:sp>
        <p:nvSpPr>
          <p:cNvPr id="10" name="Text 3"/>
          <p:cNvSpPr/>
          <p:nvPr/>
        </p:nvSpPr>
        <p:spPr>
          <a:xfrm>
            <a:off x="1158240" y="2087880"/>
            <a:ext cx="295046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安全管理测评五个核心维度</a:t>
            </a:r>
            <a:endParaRPr lang="en-US" sz="1920" dirty="0"/>
          </a:p>
        </p:txBody>
      </p:sp>
      <p:sp>
        <p:nvSpPr>
          <p:cNvPr id="11" name="Text 4"/>
          <p:cNvSpPr/>
          <p:nvPr/>
        </p:nvSpPr>
        <p:spPr>
          <a:xfrm>
            <a:off x="1158240" y="2514600"/>
            <a:ext cx="299618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727478"/>
                </a:solidFill>
                <a:latin typeface="思源黑体 CN Regular" pitchFamily="34" charset="0"/>
                <a:ea typeface="思源黑体 CN Regular" pitchFamily="34" charset="-122"/>
                <a:cs typeface="思源黑体 CN Regular" pitchFamily="34" charset="-120"/>
              </a:rPr>
              <a:t>制度、机构、人员、建设、运维</a:t>
            </a:r>
            <a:endParaRPr lang="en-US" sz="1680" dirty="0"/>
          </a:p>
        </p:txBody>
      </p:sp>
      <p:pic>
        <p:nvPicPr>
          <p:cNvPr id="12" name="Image 5" descr="https://test.web.static.jianzeppt.com/ppt-temp-img3/b61f1032d70d94493db1339ff50e0d47.png?x-oss-process=image/resize,w_1440,h_800,m_lfit/format,png"/>
          <p:cNvPicPr>
            <a:picLocks noChangeAspect="1"/>
          </p:cNvPicPr>
          <p:nvPr/>
        </p:nvPicPr>
        <p:blipFill>
          <a:blip r:embed="rId6"/>
          <a:stretch>
            <a:fillRect/>
          </a:stretch>
        </p:blipFill>
        <p:spPr>
          <a:xfrm>
            <a:off x="609600" y="3108960"/>
            <a:ext cx="365760" cy="365760"/>
          </a:xfrm>
          <a:prstGeom prst="rect">
            <a:avLst/>
          </a:prstGeom>
        </p:spPr>
      </p:pic>
      <p:sp>
        <p:nvSpPr>
          <p:cNvPr id="13" name="Text 5"/>
          <p:cNvSpPr/>
          <p:nvPr/>
        </p:nvSpPr>
        <p:spPr>
          <a:xfrm>
            <a:off x="731520" y="3154680"/>
            <a:ext cx="1310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2</a:t>
            </a:r>
            <a:endParaRPr lang="en-US" sz="1440" dirty="0"/>
          </a:p>
        </p:txBody>
      </p:sp>
      <p:sp>
        <p:nvSpPr>
          <p:cNvPr id="14" name="Text 6"/>
          <p:cNvSpPr/>
          <p:nvPr/>
        </p:nvSpPr>
        <p:spPr>
          <a:xfrm>
            <a:off x="1158240" y="3078480"/>
            <a:ext cx="1487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文档核查方法</a:t>
            </a:r>
            <a:endParaRPr lang="en-US" sz="1920" dirty="0"/>
          </a:p>
        </p:txBody>
      </p:sp>
      <p:pic>
        <p:nvPicPr>
          <p:cNvPr id="15" name="Image 6" descr="https://test.web.static.jianzeppt.com/ppt-temp-img3/b61f1032d70d94493db1339ff50e0d47.png?x-oss-process=image/resize,w_1440,h_800,m_lfit/format,png"/>
          <p:cNvPicPr>
            <a:picLocks noChangeAspect="1"/>
          </p:cNvPicPr>
          <p:nvPr/>
        </p:nvPicPr>
        <p:blipFill>
          <a:blip r:embed="rId6"/>
          <a:stretch>
            <a:fillRect/>
          </a:stretch>
        </p:blipFill>
        <p:spPr>
          <a:xfrm>
            <a:off x="609600" y="3749040"/>
            <a:ext cx="365760" cy="365760"/>
          </a:xfrm>
          <a:prstGeom prst="rect">
            <a:avLst/>
          </a:prstGeom>
        </p:spPr>
      </p:pic>
      <p:sp>
        <p:nvSpPr>
          <p:cNvPr id="16" name="Text 7"/>
          <p:cNvSpPr/>
          <p:nvPr/>
        </p:nvSpPr>
        <p:spPr>
          <a:xfrm>
            <a:off x="731520" y="3794760"/>
            <a:ext cx="131064" cy="274320"/>
          </a:xfrm>
          <a:prstGeom prst="rect">
            <a:avLst/>
          </a:prstGeom>
          <a:noFill/>
        </p:spPr>
        <p:txBody>
          <a:bodyPr wrap="none" lIns="0" tIns="0" rIns="0" bIns="0" rtlCol="0" anchor="t">
            <a:spAutoFit/>
          </a:bodyPr>
          <a:lstStyle/>
          <a:p>
            <a:pPr marL="0" indent="0" algn="l">
              <a:lnSpc>
                <a:spcPct val="150000"/>
              </a:lnSpc>
              <a:buNone/>
            </a:pPr>
            <a:r>
              <a:rPr lang="en-US" sz="1440" b="1" dirty="0">
                <a:solidFill>
                  <a:srgbClr val="000000"/>
                </a:solidFill>
                <a:latin typeface="思源黑体 CN Bold" pitchFamily="34" charset="0"/>
                <a:ea typeface="思源黑体 CN Bold" pitchFamily="34" charset="-122"/>
                <a:cs typeface="思源黑体 CN Bold" pitchFamily="34" charset="-120"/>
              </a:rPr>
              <a:t>3</a:t>
            </a:r>
            <a:endParaRPr lang="en-US" sz="1440" dirty="0"/>
          </a:p>
        </p:txBody>
      </p:sp>
      <p:sp>
        <p:nvSpPr>
          <p:cNvPr id="17" name="Text 8"/>
          <p:cNvSpPr/>
          <p:nvPr/>
        </p:nvSpPr>
        <p:spPr>
          <a:xfrm>
            <a:off x="1158240" y="3718560"/>
            <a:ext cx="1487424" cy="365760"/>
          </a:xfrm>
          <a:prstGeom prst="rect">
            <a:avLst/>
          </a:prstGeom>
          <a:noFill/>
        </p:spPr>
        <p:txBody>
          <a:bodyPr wrap="none" lIns="0" tIns="0" rIns="0" bIns="0" rtlCol="0" anchor="t">
            <a:spAutoFit/>
          </a:bodyPr>
          <a:lstStyle/>
          <a:p>
            <a:pPr marL="0" indent="0" algn="l">
              <a:lnSpc>
                <a:spcPct val="150000"/>
              </a:lnSpc>
              <a:buNone/>
            </a:pPr>
            <a:r>
              <a:rPr lang="en-US" sz="1920" dirty="0">
                <a:solidFill>
                  <a:srgbClr val="000000"/>
                </a:solidFill>
                <a:latin typeface="思源黑体 CN Bold" pitchFamily="34" charset="0"/>
                <a:ea typeface="思源黑体 CN Bold" pitchFamily="34" charset="-122"/>
                <a:cs typeface="思源黑体 CN Bold" pitchFamily="34" charset="-120"/>
              </a:rPr>
              <a:t>模拟人员访谈</a:t>
            </a:r>
            <a:endParaRPr lang="en-US" sz="1920" dirty="0"/>
          </a:p>
        </p:txBody>
      </p:sp>
      <p:pic>
        <p:nvPicPr>
          <p:cNvPr id="18" name="Image 7" descr="preencoded.png"/>
          <p:cNvPicPr>
            <a:picLocks noChangeAspect="1"/>
          </p:cNvPicPr>
          <p:nvPr/>
        </p:nvPicPr>
        <p:blipFill>
          <a:blip r:embed="rId7">
            <a:extLst>
              <a:ext uri="{96DAC541-7B7A-43D3-8B79-37D633B846F1}">
                <asvg:svgBlip xmlns:asvg="http://schemas.microsoft.com/office/drawing/2016/SVG/main" r:embed="rId5"/>
              </a:ext>
            </a:extLst>
          </a:blip>
          <a:stretch>
            <a:fillRect/>
          </a:stretch>
        </p:blipFill>
        <p:spPr>
          <a:xfrm>
            <a:off x="6918960" y="1463040"/>
            <a:ext cx="91440" cy="243840"/>
          </a:xfrm>
          <a:prstGeom prst="rect">
            <a:avLst/>
          </a:prstGeom>
        </p:spPr>
      </p:pic>
      <p:sp>
        <p:nvSpPr>
          <p:cNvPr id="19" name="Text 9"/>
          <p:cNvSpPr/>
          <p:nvPr/>
        </p:nvSpPr>
        <p:spPr>
          <a:xfrm>
            <a:off x="7132320" y="1371600"/>
            <a:ext cx="1106424" cy="396240"/>
          </a:xfrm>
          <a:prstGeom prst="rect">
            <a:avLst/>
          </a:prstGeom>
          <a:noFill/>
        </p:spPr>
        <p:txBody>
          <a:bodyPr wrap="none" lIns="0" tIns="0" rIns="0" bIns="0" rtlCol="0" anchor="ctr"/>
          <a:lstStyle/>
          <a:p>
            <a:pPr marL="0" indent="0" algn="l">
              <a:lnSpc>
                <a:spcPct val="150000"/>
              </a:lnSpc>
              <a:buNone/>
            </a:pPr>
            <a:r>
              <a:rPr lang="en-US" sz="2160" dirty="0">
                <a:solidFill>
                  <a:srgbClr val="0E4D96"/>
                </a:solidFill>
                <a:latin typeface="思源黑体 CN Bold" pitchFamily="34" charset="0"/>
                <a:ea typeface="思源黑体 CN Bold" pitchFamily="34" charset="-122"/>
                <a:cs typeface="思源黑体 CN Bold" pitchFamily="34" charset="-120"/>
              </a:rPr>
              <a:t>课前准备</a:t>
            </a:r>
            <a:endParaRPr lang="en-US" sz="2160" dirty="0"/>
          </a:p>
        </p:txBody>
      </p:sp>
      <p:pic>
        <p:nvPicPr>
          <p:cNvPr id="20" name="Image 8" descr="https://test.web.static.jianzeppt.com/ppt-temp-img3/6b1046873d0fec2b781ad8974354911e.png?x-oss-process=image/resize,w_1440,h_800,m_lfit/format,png"/>
          <p:cNvPicPr>
            <a:picLocks noChangeAspect="1"/>
          </p:cNvPicPr>
          <p:nvPr/>
        </p:nvPicPr>
        <p:blipFill>
          <a:blip r:embed="rId8"/>
          <a:stretch>
            <a:fillRect/>
          </a:stretch>
        </p:blipFill>
        <p:spPr>
          <a:xfrm>
            <a:off x="6918960" y="2087880"/>
            <a:ext cx="4663440" cy="1813560"/>
          </a:xfrm>
          <a:prstGeom prst="rect">
            <a:avLst/>
          </a:prstGeom>
        </p:spPr>
      </p:pic>
      <p:pic>
        <p:nvPicPr>
          <p:cNvPr id="21" name="Image 9" descr="preencoded.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239000" y="2438400"/>
            <a:ext cx="304800" cy="304800"/>
          </a:xfrm>
          <a:prstGeom prst="rect">
            <a:avLst/>
          </a:prstGeom>
        </p:spPr>
      </p:pic>
      <p:sp>
        <p:nvSpPr>
          <p:cNvPr id="22" name="Text 10"/>
          <p:cNvSpPr/>
          <p:nvPr/>
        </p:nvSpPr>
        <p:spPr>
          <a:xfrm>
            <a:off x="7726680" y="2407920"/>
            <a:ext cx="328574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复习GB/T 22239“安全管理”章节</a:t>
            </a:r>
            <a:endParaRPr lang="en-US" sz="1680" dirty="0"/>
          </a:p>
        </p:txBody>
      </p:sp>
      <p:pic>
        <p:nvPicPr>
          <p:cNvPr id="23" name="Image 10" descr="https://test.web.static.jianzeppt.com/ppt-temp-img3/9e3b64a2bfaff4ade1896dd33980334b.png?x-oss-process=image/resize,w_1440,h_800,m_lfit/format,png"/>
          <p:cNvPicPr>
            <a:picLocks noChangeAspect="1"/>
          </p:cNvPicPr>
          <p:nvPr/>
        </p:nvPicPr>
        <p:blipFill>
          <a:blip r:embed="rId11"/>
          <a:stretch>
            <a:fillRect/>
          </a:stretch>
        </p:blipFill>
        <p:spPr>
          <a:xfrm>
            <a:off x="7239000" y="2987040"/>
            <a:ext cx="4023360" cy="15240"/>
          </a:xfrm>
          <a:prstGeom prst="rect">
            <a:avLst/>
          </a:prstGeom>
        </p:spPr>
      </p:pic>
      <p:pic>
        <p:nvPicPr>
          <p:cNvPr id="24" name="Image 11" descr="preencoded.png"/>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7239000" y="3276600"/>
            <a:ext cx="304800" cy="304800"/>
          </a:xfrm>
          <a:prstGeom prst="rect">
            <a:avLst/>
          </a:prstGeom>
        </p:spPr>
      </p:pic>
      <p:sp>
        <p:nvSpPr>
          <p:cNvPr id="25" name="Text 11"/>
          <p:cNvSpPr/>
          <p:nvPr/>
        </p:nvSpPr>
        <p:spPr>
          <a:xfrm>
            <a:off x="7726680" y="3246120"/>
            <a:ext cx="2996184" cy="320040"/>
          </a:xfrm>
          <a:prstGeom prst="rect">
            <a:avLst/>
          </a:prstGeom>
          <a:noFill/>
        </p:spPr>
        <p:txBody>
          <a:bodyPr wrap="none" lIns="0" tIns="0" rIns="0" bIns="0" rtlCol="0" anchor="t">
            <a:spAutoFit/>
          </a:bodyPr>
          <a:lstStyle/>
          <a:p>
            <a:pPr marL="0" indent="0" algn="l">
              <a:lnSpc>
                <a:spcPct val="100000"/>
              </a:lnSpc>
              <a:buNone/>
            </a:pPr>
            <a:r>
              <a:rPr lang="en-US" sz="1680" dirty="0">
                <a:solidFill>
                  <a:srgbClr val="000000"/>
                </a:solidFill>
                <a:latin typeface="思源黑体 CN Regular" pitchFamily="34" charset="0"/>
                <a:ea typeface="思源黑体 CN Regular" pitchFamily="34" charset="-122"/>
                <a:cs typeface="思源黑体 CN Regular" pitchFamily="34" charset="-120"/>
              </a:rPr>
              <a:t>阅读安全管理相关制度文件示例</a:t>
            </a:r>
            <a:endParaRPr lang="en-US" sz="16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pic>
        <p:nvPicPr>
          <p:cNvPr id="3" name="Image 1" descr="https://oss.jianzeppt.com/editablePptPic/isIllustration_2_isShadow_0/963919ed-6c17-4175-b7cd-9f6f68e9281a_image_07a8056c7e2e5d5ef6e9d1784e394b53_6317120.png?x-oss-process=image/resize,w_1440,h_800,m_lfit/format,png"/>
          <p:cNvPicPr>
            <a:picLocks noChangeAspect="1"/>
          </p:cNvPicPr>
          <p:nvPr/>
        </p:nvPicPr>
        <p:blipFill>
          <a:blip r:embed="rId2"/>
          <a:stretch>
            <a:fillRect/>
          </a:stretch>
        </p:blipFill>
        <p:spPr>
          <a:xfrm>
            <a:off x="206948" y="209725"/>
            <a:ext cx="11778103" cy="6283330"/>
          </a:xfrm>
          <a:prstGeom prst="rect">
            <a:avLst/>
          </a:prstGeom>
        </p:spPr>
      </p:pic>
      <p:pic>
        <p:nvPicPr>
          <p:cNvPr id="4" name="Image 2" descr="https://oss.jianzeppt.com/editablePptPic/isIllustration_2_isShadow_0/963919ed-6c17-4175-b7cd-9f6f68e9281a_image_80046a0a175f9ef5a0ce4ead2afc2151_6317120.png?x-oss-process=image/resize,w_1440,h_800,m_lfit/format,png"/>
          <p:cNvPicPr>
            <a:picLocks noChangeAspect="1"/>
          </p:cNvPicPr>
          <p:nvPr/>
        </p:nvPicPr>
        <p:blipFill>
          <a:blip r:embed="rId3"/>
          <a:stretch>
            <a:fillRect/>
          </a:stretch>
        </p:blipFill>
        <p:spPr>
          <a:xfrm>
            <a:off x="481856" y="550584"/>
            <a:ext cx="116485" cy="429934"/>
          </a:xfrm>
          <a:prstGeom prst="rect">
            <a:avLst/>
          </a:prstGeom>
        </p:spPr>
      </p:pic>
      <p:pic>
        <p:nvPicPr>
          <p:cNvPr id="5" name="Image 3" descr="https://test.web.static.jianzeppt.com/ppt-temp-img3/0cf571bebec2b2814635e38c0f54751b.png"/>
          <p:cNvPicPr>
            <a:picLocks noChangeAspect="1"/>
          </p:cNvPicPr>
          <p:nvPr/>
        </p:nvPicPr>
        <p:blipFill>
          <a:blip r:embed="rId4"/>
          <a:stretch>
            <a:fillRect/>
          </a:stretch>
        </p:blipFill>
        <p:spPr>
          <a:xfrm>
            <a:off x="6438903" y="1585352"/>
            <a:ext cx="5283973" cy="4842698"/>
          </a:xfrm>
          <a:prstGeom prst="rect">
            <a:avLst/>
          </a:prstGeom>
        </p:spPr>
      </p:pic>
      <p:pic>
        <p:nvPicPr>
          <p:cNvPr id="6" name="Image 4" descr="https://test.web.static.jianzeppt.com/ppt-temp-img3/29f4f81d5bdb1380a46eb8fae54c112c.png?x-oss-process=image/resize,w_1440,h_800,m_lfit/format,png"/>
          <p:cNvPicPr>
            <a:picLocks noChangeAspect="1"/>
          </p:cNvPicPr>
          <p:nvPr/>
        </p:nvPicPr>
        <p:blipFill>
          <a:blip r:embed="rId5"/>
          <a:stretch>
            <a:fillRect/>
          </a:stretch>
        </p:blipFill>
        <p:spPr>
          <a:xfrm>
            <a:off x="709376" y="2189748"/>
            <a:ext cx="5222192" cy="3404382"/>
          </a:xfrm>
          <a:prstGeom prst="rect">
            <a:avLst/>
          </a:prstGeom>
        </p:spPr>
      </p:pic>
      <p:pic>
        <p:nvPicPr>
          <p:cNvPr id="7" name="Image 5"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9376" y="1809789"/>
            <a:ext cx="165022" cy="165021"/>
          </a:xfrm>
          <a:prstGeom prst="rect">
            <a:avLst/>
          </a:prstGeom>
        </p:spPr>
      </p:pic>
      <p:pic>
        <p:nvPicPr>
          <p:cNvPr id="8" name="Image 6" descr="https://test.web.static.jianzeppt.com/ppt-temp-img3/c372b5e1174ae4b75ca26ea269fab742.png?x-oss-process=image/resize,w_1440,h_800,m_lfit/format,png"/>
          <p:cNvPicPr>
            <a:picLocks noChangeAspect="1"/>
          </p:cNvPicPr>
          <p:nvPr/>
        </p:nvPicPr>
        <p:blipFill>
          <a:blip r:embed="rId8"/>
          <a:stretch>
            <a:fillRect/>
          </a:stretch>
        </p:blipFill>
        <p:spPr>
          <a:xfrm>
            <a:off x="1072277" y="1809789"/>
            <a:ext cx="165022" cy="165021"/>
          </a:xfrm>
          <a:prstGeom prst="rect">
            <a:avLst/>
          </a:prstGeom>
        </p:spPr>
      </p:pic>
      <p:pic>
        <p:nvPicPr>
          <p:cNvPr id="9" name="Image 7" descr="https://test.web.static.jianzeppt.com/ppt-temp-img3/ae91694e3511c5b50b2dfa8cbf7c0f78.png?x-oss-process=image/resize,w_1440,h_800,m_lfit/format,png"/>
          <p:cNvPicPr>
            <a:picLocks noChangeAspect="1"/>
          </p:cNvPicPr>
          <p:nvPr/>
        </p:nvPicPr>
        <p:blipFill>
          <a:blip r:embed="rId9"/>
          <a:stretch>
            <a:fillRect/>
          </a:stretch>
        </p:blipFill>
        <p:spPr>
          <a:xfrm>
            <a:off x="1435179" y="1809789"/>
            <a:ext cx="165021" cy="165021"/>
          </a:xfrm>
          <a:prstGeom prst="rect">
            <a:avLst/>
          </a:prstGeom>
        </p:spPr>
      </p:pic>
      <p:sp>
        <p:nvSpPr>
          <p:cNvPr id="10" name="Text 0"/>
          <p:cNvSpPr/>
          <p:nvPr/>
        </p:nvSpPr>
        <p:spPr>
          <a:xfrm>
            <a:off x="822497" y="535493"/>
            <a:ext cx="10918068" cy="420624"/>
          </a:xfrm>
          <a:prstGeom prst="rect">
            <a:avLst/>
          </a:prstGeom>
          <a:noFill/>
        </p:spPr>
        <p:txBody>
          <a:bodyPr wrap="square" lIns="0" tIns="0" rIns="0" bIns="0" rtlCol="0" anchor="b">
            <a:spAutoFit/>
          </a:bodyPr>
          <a:lstStyle/>
          <a:p>
            <a:pPr marL="0" indent="0" algn="l">
              <a:lnSpc>
                <a:spcPct val="120000"/>
              </a:lnSpc>
              <a:buNone/>
            </a:pPr>
            <a:r>
              <a:rPr lang="en-US" sz="2760" dirty="0">
                <a:solidFill>
                  <a:srgbClr val="1E1E1E"/>
                </a:solidFill>
              </a:rPr>
              <a:t>页面标题</a:t>
            </a:r>
            <a:endParaRPr lang="en-US" sz="2760" dirty="0"/>
          </a:p>
        </p:txBody>
      </p:sp>
      <p:sp>
        <p:nvSpPr>
          <p:cNvPr id="11" name="Text 1"/>
          <p:cNvSpPr/>
          <p:nvPr/>
        </p:nvSpPr>
        <p:spPr>
          <a:xfrm>
            <a:off x="874395" y="2533015"/>
            <a:ext cx="4575810" cy="2570480"/>
          </a:xfrm>
          <a:prstGeom prst="rect">
            <a:avLst/>
          </a:prstGeom>
          <a:noFill/>
        </p:spPr>
        <p:txBody>
          <a:bodyPr wrap="square" lIns="0" tIns="0" rIns="0" bIns="0" rtlCol="0" anchor="ctr">
            <a:noAutofit/>
          </a:bodyPr>
          <a:lstStyle/>
          <a:p>
            <a:pPr marL="0" indent="0" algn="l">
              <a:lnSpc>
                <a:spcPct val="130000"/>
              </a:lnSpc>
              <a:buNone/>
            </a:pPr>
            <a:r>
              <a:rPr lang="en-US" dirty="0">
                <a:solidFill>
                  <a:srgbClr val="333333"/>
                </a:solidFill>
              </a:rPr>
              <a:t>第20页：课堂小结与答疑 要素 内容 </a:t>
            </a:r>
            <a:endParaRPr lang="en-US" dirty="0">
              <a:solidFill>
                <a:srgbClr val="333333"/>
              </a:solidFill>
            </a:endParaRPr>
          </a:p>
          <a:p>
            <a:pPr marL="0" indent="0" algn="l">
              <a:lnSpc>
                <a:spcPct val="130000"/>
              </a:lnSpc>
              <a:buNone/>
            </a:pPr>
            <a:r>
              <a:rPr lang="en-US" dirty="0">
                <a:solidFill>
                  <a:srgbClr val="333333"/>
                </a:solidFill>
              </a:rPr>
              <a:t>三个核心知识点 </a:t>
            </a:r>
            <a:r>
              <a:rPr lang="zh-CN" altLang="en-US" dirty="0">
                <a:solidFill>
                  <a:srgbClr val="333333"/>
                </a:solidFill>
              </a:rPr>
              <a:t>：</a:t>
            </a:r>
            <a:r>
              <a:rPr lang="en-US" dirty="0">
                <a:solidFill>
                  <a:srgbClr val="333333"/>
                </a:solidFill>
              </a:rPr>
              <a:t>① 漏洞扫描的原理是基于漏洞库的特征匹配；② 报告解读要关注风险等级和误报；③ 高危漏洞直接对应等保不符合项 </a:t>
            </a:r>
            <a:endParaRPr lang="en-US" dirty="0">
              <a:solidFill>
                <a:srgbClr val="333333"/>
              </a:solidFill>
            </a:endParaRPr>
          </a:p>
          <a:p>
            <a:pPr marL="0" indent="0" algn="l">
              <a:lnSpc>
                <a:spcPct val="130000"/>
              </a:lnSpc>
              <a:buNone/>
            </a:pPr>
            <a:r>
              <a:rPr lang="en-US" dirty="0">
                <a:solidFill>
                  <a:srgbClr val="333333"/>
                </a:solidFill>
              </a:rPr>
              <a:t>两个关键技能 ① 能使用Nessus/OpenVAS执行扫描；② 能正确解读扫描报告并识别误报 一个职业准则 未经授权不得扫描他人系统 开放答疑： 5分钟 【设计要求：结尾页】</a:t>
            </a:r>
            <a:endParaRPr lang="en-US" dirty="0">
              <a:solidFill>
                <a:srgbClr val="333333"/>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ttps://oss.jianzeppt.com/editablePptPic/isIllustration_0_isShadow_0/963919ed-6c17-4175-b7cd-9f6f68e9281a_image_bfa09951aac8ef12bda28134c4f0ccbf_6317120.png?x-oss-process=image/resize,w_1440,h_800,m_lfit/format,png"/>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1536780" y="1925506"/>
            <a:ext cx="9136882" cy="975122"/>
          </a:xfrm>
          <a:prstGeom prst="rect">
            <a:avLst/>
          </a:prstGeom>
          <a:noFill/>
        </p:spPr>
        <p:txBody>
          <a:bodyPr wrap="square" lIns="0" tIns="0" rIns="0" bIns="0" rtlCol="0" anchor="b">
            <a:spAutoFit/>
          </a:bodyPr>
          <a:lstStyle/>
          <a:p>
            <a:pPr marL="0" indent="0" algn="ctr">
              <a:lnSpc>
                <a:spcPct val="120000"/>
              </a:lnSpc>
              <a:buNone/>
            </a:pPr>
            <a:r>
              <a:rPr lang="en-US" sz="6360" dirty="0">
                <a:solidFill>
                  <a:srgbClr val="FFFFFF"/>
                </a:solidFill>
              </a:rPr>
              <a:t>感谢观看</a:t>
            </a:r>
            <a:endParaRPr lang="en-US" sz="6360" dirty="0"/>
          </a:p>
        </p:txBody>
      </p:sp>
    </p:spTree>
  </p:cSld>
  <p:clrMapOvr>
    <a:masterClrMapping/>
  </p:clrMapOvr>
</p:sld>
</file>

<file path=ppt/tags/tag1.xml><?xml version="1.0" encoding="utf-8"?>
<p:tagLst xmlns:p="http://schemas.openxmlformats.org/presentationml/2006/main">
  <p:tag name="KSO_WM_DIAGRAM_VIRTUALLY_FRAME" val="{&quot;height&quot;:130.8,&quot;left&quot;:48,&quot;top&quot;:150,&quot;width&quot;:864}"/>
</p:tagLst>
</file>

<file path=ppt/tags/tag2.xml><?xml version="1.0" encoding="utf-8"?>
<p:tagLst xmlns:p="http://schemas.openxmlformats.org/presentationml/2006/main">
  <p:tag name="KSO_WM_DIAGRAM_VIRTUALLY_FRAME" val="{&quot;height&quot;:130.8,&quot;left&quot;:48,&quot;top&quot;:150,&quot;width&quot;:864}"/>
</p:tagLst>
</file>

<file path=ppt/tags/tag3.xml><?xml version="1.0" encoding="utf-8"?>
<p:tagLst xmlns:p="http://schemas.openxmlformats.org/presentationml/2006/main">
  <p:tag name="KSO_WM_DIAGRAM_VIRTUALLY_FRAME" val="{&quot;height&quot;:130.8,&quot;left&quot;:48,&quot;top&quot;:150,&quot;width&quot;:864}"/>
</p:tagLst>
</file>

<file path=ppt/tags/tag4.xml><?xml version="1.0" encoding="utf-8"?>
<p:tagLst xmlns:p="http://schemas.openxmlformats.org/presentationml/2006/main">
  <p:tag name="KSO_WM_DIAGRAM_VIRTUALLY_FRAME" val="{&quot;height&quot;:130.8,&quot;left&quot;:48,&quot;top&quot;:150,&quot;width&quot;:864}"/>
</p:tagLst>
</file>

<file path=ppt/tags/tag5.xml><?xml version="1.0" encoding="utf-8"?>
<p:tagLst xmlns:p="http://schemas.openxmlformats.org/presentationml/2006/main">
  <p:tag name="KSO_WM_DIAGRAM_VIRTUALLY_FRAME" val="{&quot;height&quot;:130.8,&quot;left&quot;:48,&quot;top&quot;:150,&quot;width&quot;:864}"/>
</p:tagLst>
</file>

<file path=ppt/tags/tag6.xml><?xml version="1.0" encoding="utf-8"?>
<p:tagLst xmlns:p="http://schemas.openxmlformats.org/presentationml/2006/main">
  <p:tag name="KSO_WM_DIAGRAM_VIRTUALLY_FRAME" val="{&quot;height&quot;:130.8,&quot;left&quot;:48,&quot;top&quot;:150,&quot;width&quot;:864}"/>
</p:tagLst>
</file>

<file path=ppt/tags/tag7.xml><?xml version="1.0" encoding="utf-8"?>
<p:tagLst xmlns:p="http://schemas.openxmlformats.org/presentationml/2006/main">
  <p:tag name="KSO_WM_DIAGRAM_VIRTUALLY_FRAME" val="{&quot;height&quot;:130.8,&quot;left&quot;:48,&quot;top&quot;:150,&quot;width&quot;:864}"/>
</p:tagLst>
</file>

<file path=ppt/tags/tag8.xml><?xml version="1.0" encoding="utf-8"?>
<p:tagLst xmlns:p="http://schemas.openxmlformats.org/presentationml/2006/main">
  <p:tag name="KSO_WM_DIAGRAM_VIRTUALLY_FRAME" val="{&quot;height&quot;:130.8,&quot;left&quot;:48,&quot;top&quot;:150,&quot;width&quot;:864}"/>
</p:tagLst>
</file>

<file path=ppt/tags/tag9.xml><?xml version="1.0" encoding="utf-8"?>
<p:tagLst xmlns:p="http://schemas.openxmlformats.org/presentationml/2006/main">
  <p:tag name="KSO_WM_DIAGRAM_VIRTUALLY_FRAME" val="{&quot;height&quot;:130.8,&quot;left&quot;:48,&quot;top&quot;:150,&quot;width&quot;:864}"/>
</p:tagLst>
</file>

<file path=ppt/tags/tag10.xml><?xml version="1.0" encoding="utf-8"?>
<p:tagLst xmlns:p="http://schemas.openxmlformats.org/presentationml/2006/main">
  <p:tag name="KSO_WM_DIAGRAM_VIRTUALLY_FRAME" val="{&quot;height&quot;:130.8,&quot;left&quot;:48,&quot;top&quot;:150,&quot;width&quot;:864}"/>
</p:tagLst>
</file>

<file path=ppt/tags/tag11.xml><?xml version="1.0" encoding="utf-8"?>
<p:tagLst xmlns:p="http://schemas.openxmlformats.org/presentationml/2006/main">
  <p:tag name="KSO_WM_DIAGRAM_VIRTUALLY_FRAME" val="{&quot;height&quot;:130.8,&quot;left&quot;:48,&quot;top&quot;:150,&quot;width&quot;:864}"/>
</p:tagLst>
</file>

<file path=ppt/tags/tag12.xml><?xml version="1.0" encoding="utf-8"?>
<p:tagLst xmlns:p="http://schemas.openxmlformats.org/presentationml/2006/main">
  <p:tag name="KSO_WM_DIAGRAM_VIRTUALLY_FRAME" val="{&quot;height&quot;:130.8,&quot;left&quot;:48,&quot;top&quot;:150,&quot;width&quot;:864}"/>
</p:tagLst>
</file>

<file path=ppt/tags/tag13.xml><?xml version="1.0" encoding="utf-8"?>
<p:tagLst xmlns:p="http://schemas.openxmlformats.org/presentationml/2006/main">
  <p:tag name="KSO_WM_DIAGRAM_VIRTUALLY_FRAME" val="{&quot;height&quot;:130.8,&quot;left&quot;:48,&quot;top&quot;:150,&quot;width&quot;:864}"/>
</p:tagLst>
</file>

<file path=ppt/tags/tag14.xml><?xml version="1.0" encoding="utf-8"?>
<p:tagLst xmlns:p="http://schemas.openxmlformats.org/presentationml/2006/main">
  <p:tag name="KSO_WM_DIAGRAM_VIRTUALLY_FRAME" val="{&quot;height&quot;:130.8,&quot;left&quot;:48,&quot;top&quot;:150,&quot;width&quot;:864}"/>
</p:tagLst>
</file>

<file path=ppt/tags/tag15.xml><?xml version="1.0" encoding="utf-8"?>
<p:tagLst xmlns:p="http://schemas.openxmlformats.org/presentationml/2006/main">
  <p:tag name="KSO_WM_DIAGRAM_VIRTUALLY_FRAME" val="{&quot;height&quot;:130.8,&quot;left&quot;:48,&quot;top&quot;:150,&quot;width&quot;:864}"/>
</p:tagLst>
</file>

<file path=ppt/tags/tag16.xml><?xml version="1.0" encoding="utf-8"?>
<p:tagLst xmlns:p="http://schemas.openxmlformats.org/presentationml/2006/main">
  <p:tag name="KSO_WM_DIAGRAM_VIRTUALLY_FRAME" val="{&quot;height&quot;:130.8,&quot;left&quot;:48,&quot;top&quot;:150,&quot;width&quot;:864}"/>
</p:tagLst>
</file>

<file path=ppt/tags/tag17.xml><?xml version="1.0" encoding="utf-8"?>
<p:tagLst xmlns:p="http://schemas.openxmlformats.org/presentationml/2006/main">
  <p:tag name="KSO_WM_DIAGRAM_VIRTUALLY_FRAME" val="{&quot;height&quot;:264,&quot;left&quot;:48,&quot;top&quot;:140.4,&quot;width&quot;:864}"/>
</p:tagLst>
</file>

<file path=ppt/tags/tag18.xml><?xml version="1.0" encoding="utf-8"?>
<p:tagLst xmlns:p="http://schemas.openxmlformats.org/presentationml/2006/main">
  <p:tag name="KSO_WM_DIAGRAM_VIRTUALLY_FRAME" val="{&quot;height&quot;:264,&quot;left&quot;:48,&quot;top&quot;:140.4,&quot;width&quot;:864}"/>
</p:tagLst>
</file>

<file path=ppt/tags/tag19.xml><?xml version="1.0" encoding="utf-8"?>
<p:tagLst xmlns:p="http://schemas.openxmlformats.org/presentationml/2006/main">
  <p:tag name="KSO_WM_DIAGRAM_VIRTUALLY_FRAME" val="{&quot;height&quot;:264,&quot;left&quot;:48,&quot;top&quot;:140.4,&quot;width&quot;:864}"/>
</p:tagLst>
</file>

<file path=ppt/tags/tag20.xml><?xml version="1.0" encoding="utf-8"?>
<p:tagLst xmlns:p="http://schemas.openxmlformats.org/presentationml/2006/main">
  <p:tag name="KSO_WM_DIAGRAM_VIRTUALLY_FRAME" val="{&quot;height&quot;:264,&quot;left&quot;:48,&quot;top&quot;:140.4,&quot;width&quot;:864}"/>
</p:tagLst>
</file>

<file path=ppt/tags/tag21.xml><?xml version="1.0" encoding="utf-8"?>
<p:tagLst xmlns:p="http://schemas.openxmlformats.org/presentationml/2006/main">
  <p:tag name="KSO_WM_DIAGRAM_VIRTUALLY_FRAME" val="{&quot;height&quot;:264,&quot;left&quot;:48,&quot;top&quot;:140.4,&quot;width&quot;:864}"/>
</p:tagLst>
</file>

<file path=ppt/tags/tag22.xml><?xml version="1.0" encoding="utf-8"?>
<p:tagLst xmlns:p="http://schemas.openxmlformats.org/presentationml/2006/main">
  <p:tag name="KSO_WM_DIAGRAM_VIRTUALLY_FRAME" val="{&quot;height&quot;:264,&quot;left&quot;:48,&quot;top&quot;:140.4,&quot;width&quot;:864}"/>
</p:tagLst>
</file>

<file path=ppt/tags/tag23.xml><?xml version="1.0" encoding="utf-8"?>
<p:tagLst xmlns:p="http://schemas.openxmlformats.org/presentationml/2006/main">
  <p:tag name="KSO_WM_DIAGRAM_VIRTUALLY_FRAME" val="{&quot;height&quot;:264,&quot;left&quot;:48,&quot;top&quot;:140.4,&quot;width&quot;:864}"/>
</p:tagLst>
</file>

<file path=ppt/tags/tag24.xml><?xml version="1.0" encoding="utf-8"?>
<p:tagLst xmlns:p="http://schemas.openxmlformats.org/presentationml/2006/main">
  <p:tag name="KSO_WM_DIAGRAM_VIRTUALLY_FRAME" val="{&quot;height&quot;:264,&quot;left&quot;:48,&quot;top&quot;:140.4,&quot;width&quot;:864}"/>
</p:tagLst>
</file>

<file path=ppt/tags/tag25.xml><?xml version="1.0" encoding="utf-8"?>
<p:tagLst xmlns:p="http://schemas.openxmlformats.org/presentationml/2006/main">
  <p:tag name="KSO_WM_DIAGRAM_VIRTUALLY_FRAME" val="{&quot;height&quot;:264,&quot;left&quot;:48,&quot;top&quot;:140.4,&quot;width&quot;:864}"/>
</p:tagLst>
</file>

<file path=ppt/tags/tag26.xml><?xml version="1.0" encoding="utf-8"?>
<p:tagLst xmlns:p="http://schemas.openxmlformats.org/presentationml/2006/main">
  <p:tag name="KSO_WM_DIAGRAM_VIRTUALLY_FRAME" val="{&quot;height&quot;:264,&quot;left&quot;:48,&quot;top&quot;:140.4,&quot;width&quot;:864}"/>
</p:tagLst>
</file>

<file path=ppt/tags/tag27.xml><?xml version="1.0" encoding="utf-8"?>
<p:tagLst xmlns:p="http://schemas.openxmlformats.org/presentationml/2006/main">
  <p:tag name="KSO_WM_DIAGRAM_VIRTUALLY_FRAME" val="{&quot;height&quot;:264,&quot;left&quot;:48,&quot;top&quot;:140.4,&quot;width&quot;:864}"/>
</p:tagLst>
</file>

<file path=ppt/tags/tag28.xml><?xml version="1.0" encoding="utf-8"?>
<p:tagLst xmlns:p="http://schemas.openxmlformats.org/presentationml/2006/main">
  <p:tag name="KSO_WM_DIAGRAM_VIRTUALLY_FRAME" val="{&quot;height&quot;:264,&quot;left&quot;:48,&quot;top&quot;:140.4,&quot;width&quot;:864}"/>
</p:tagLst>
</file>

<file path=ppt/tags/tag29.xml><?xml version="1.0" encoding="utf-8"?>
<p:tagLst xmlns:p="http://schemas.openxmlformats.org/presentationml/2006/main">
  <p:tag name="KSO_WM_DIAGRAM_VIRTUALLY_FRAME" val="{&quot;height&quot;:264,&quot;left&quot;:48,&quot;top&quot;:140.4,&quot;width&quot;:864}"/>
</p:tagLst>
</file>

<file path=ppt/tags/tag30.xml><?xml version="1.0" encoding="utf-8"?>
<p:tagLst xmlns:p="http://schemas.openxmlformats.org/presentationml/2006/main">
  <p:tag name="KSO_WM_DIAGRAM_VIRTUALLY_FRAME" val="{&quot;height&quot;:264,&quot;left&quot;:48,&quot;top&quot;:140.4,&quot;width&quot;:864}"/>
</p:tagLst>
</file>

<file path=ppt/tags/tag31.xml><?xml version="1.0" encoding="utf-8"?>
<p:tagLst xmlns:p="http://schemas.openxmlformats.org/presentationml/2006/main">
  <p:tag name="KSO_WM_DIAGRAM_VIRTUALLY_FRAME" val="{&quot;height&quot;:264,&quot;left&quot;:48,&quot;top&quot;:140.4,&quot;width&quot;:864}"/>
</p:tagLst>
</file>

<file path=ppt/tags/tag32.xml><?xml version="1.0" encoding="utf-8"?>
<p:tagLst xmlns:p="http://schemas.openxmlformats.org/presentationml/2006/main">
  <p:tag name="KSO_WM_DIAGRAM_VIRTUALLY_FRAME" val="{&quot;height&quot;:264,&quot;left&quot;:48,&quot;top&quot;:140.4,&quot;width&quot;:864}"/>
</p:tagLst>
</file>

<file path=ppt/tags/tag33.xml><?xml version="1.0" encoding="utf-8"?>
<p:tagLst xmlns:p="http://schemas.openxmlformats.org/presentationml/2006/main">
  <p:tag name="KSO_WM_DIAGRAM_VIRTUALLY_FRAME" val="{&quot;height&quot;:264,&quot;left&quot;:48,&quot;top&quot;:140.4,&quot;width&quot;:864}"/>
</p:tagLst>
</file>

<file path=ppt/tags/tag34.xml><?xml version="1.0" encoding="utf-8"?>
<p:tagLst xmlns:p="http://schemas.openxmlformats.org/presentationml/2006/main">
  <p:tag name="KSO_WM_DIAGRAM_VIRTUALLY_FRAME" val="{&quot;height&quot;:264,&quot;left&quot;:48,&quot;top&quot;:140.4,&quot;width&quot;:864}"/>
</p:tagLst>
</file>

<file path=ppt/tags/tag35.xml><?xml version="1.0" encoding="utf-8"?>
<p:tagLst xmlns:p="http://schemas.openxmlformats.org/presentationml/2006/main">
  <p:tag name="KSO_WM_DIAGRAM_VIRTUALLY_FRAME" val="{&quot;height&quot;:264,&quot;left&quot;:48,&quot;top&quot;:140.4,&quot;width&quot;:864}"/>
</p:tagLst>
</file>

<file path=ppt/tags/tag36.xml><?xml version="1.0" encoding="utf-8"?>
<p:tagLst xmlns:p="http://schemas.openxmlformats.org/presentationml/2006/main">
  <p:tag name="KSO_WM_DIAGRAM_VIRTUALLY_FRAME" val="{&quot;height&quot;:264,&quot;left&quot;:48,&quot;top&quot;:140.4,&quot;width&quot;:864}"/>
</p:tagLst>
</file>

<file path=ppt/tags/tag37.xml><?xml version="1.0" encoding="utf-8"?>
<p:tagLst xmlns:p="http://schemas.openxmlformats.org/presentationml/2006/main">
  <p:tag name="KSO_WM_DIAGRAM_VIRTUALLY_FRAME" val="{&quot;height&quot;:264,&quot;left&quot;:48,&quot;top&quot;:140.4,&quot;width&quot;:864}"/>
</p:tagLst>
</file>

<file path=ppt/tags/tag38.xml><?xml version="1.0" encoding="utf-8"?>
<p:tagLst xmlns:p="http://schemas.openxmlformats.org/presentationml/2006/main">
  <p:tag name="KSO_WM_DIAGRAM_VIRTUALLY_FRAME" val="{&quot;height&quot;:264,&quot;left&quot;:48,&quot;top&quot;:140.4,&quot;width&quot;:864}"/>
</p:tagLst>
</file>

<file path=ppt/tags/tag39.xml><?xml version="1.0" encoding="utf-8"?>
<p:tagLst xmlns:p="http://schemas.openxmlformats.org/presentationml/2006/main">
  <p:tag name="KSO_WM_DIAGRAM_VIRTUALLY_FRAME" val="{&quot;height&quot;:264,&quot;left&quot;:48,&quot;top&quot;:140.4,&quot;width&quot;:864}"/>
</p:tagLst>
</file>

<file path=ppt/tags/tag40.xml><?xml version="1.0" encoding="utf-8"?>
<p:tagLst xmlns:p="http://schemas.openxmlformats.org/presentationml/2006/main">
  <p:tag name="KSO_WM_DIAGRAM_VIRTUALLY_FRAME" val="{&quot;height&quot;:264,&quot;left&quot;:48,&quot;top&quot;:140.4,&quot;width&quot;:864}"/>
</p:tagLst>
</file>

<file path=ppt/tags/tag41.xml><?xml version="1.0" encoding="utf-8"?>
<p:tagLst xmlns:p="http://schemas.openxmlformats.org/presentationml/2006/main">
  <p:tag name="KSO_WM_DIAGRAM_VIRTUALLY_FRAME" val="{&quot;height&quot;:264,&quot;left&quot;:48,&quot;top&quot;:140.4,&quot;width&quot;:864}"/>
</p:tagLst>
</file>

<file path=ppt/tags/tag42.xml><?xml version="1.0" encoding="utf-8"?>
<p:tagLst xmlns:p="http://schemas.openxmlformats.org/presentationml/2006/main">
  <p:tag name="KSO_WM_DIAGRAM_VIRTUALLY_FRAME" val="{&quot;height&quot;:264,&quot;left&quot;:48,&quot;top&quot;:140.4,&quot;width&quot;:864}"/>
</p:tagLst>
</file>

<file path=ppt/tags/tag43.xml><?xml version="1.0" encoding="utf-8"?>
<p:tagLst xmlns:p="http://schemas.openxmlformats.org/presentationml/2006/main">
  <p:tag name="KSO_WM_DIAGRAM_VIRTUALLY_FRAME" val="{&quot;height&quot;:264,&quot;left&quot;:48,&quot;top&quot;:140.4,&quot;width&quot;:864}"/>
</p:tagLst>
</file>

<file path=ppt/tags/tag44.xml><?xml version="1.0" encoding="utf-8"?>
<p:tagLst xmlns:p="http://schemas.openxmlformats.org/presentationml/2006/main">
  <p:tag name="KSO_WM_DIAGRAM_VIRTUALLY_FRAME" val="{&quot;height&quot;:264,&quot;left&quot;:48,&quot;top&quot;:140.4,&quot;width&quot;:864}"/>
</p:tagLst>
</file>

<file path=ppt/tags/tag45.xml><?xml version="1.0" encoding="utf-8"?>
<p:tagLst xmlns:p="http://schemas.openxmlformats.org/presentationml/2006/main">
  <p:tag name="KSO_WM_DIAGRAM_VIRTUALLY_FRAME" val="{&quot;height&quot;:264,&quot;left&quot;:48,&quot;top&quot;:140.4,&quot;width&quot;:864}"/>
</p:tagLst>
</file>

<file path=ppt/tags/tag46.xml><?xml version="1.0" encoding="utf-8"?>
<p:tagLst xmlns:p="http://schemas.openxmlformats.org/presentationml/2006/main">
  <p:tag name="KSO_WM_DIAGRAM_VIRTUALLY_FRAME" val="{&quot;height&quot;:264,&quot;left&quot;:48,&quot;top&quot;:140.4,&quot;width&quot;:864}"/>
</p:tagLst>
</file>

<file path=ppt/tags/tag47.xml><?xml version="1.0" encoding="utf-8"?>
<p:tagLst xmlns:p="http://schemas.openxmlformats.org/presentationml/2006/main">
  <p:tag name="KSO_WM_DIAGRAM_VIRTUALLY_FRAME" val="{&quot;height&quot;:264,&quot;left&quot;:48,&quot;top&quot;:140.4,&quot;width&quot;:864}"/>
</p:tagLst>
</file>

<file path=ppt/tags/tag48.xml><?xml version="1.0" encoding="utf-8"?>
<p:tagLst xmlns:p="http://schemas.openxmlformats.org/presentationml/2006/main">
  <p:tag name="KSO_WM_DIAGRAM_VIRTUALLY_FRAME" val="{&quot;height&quot;:264,&quot;left&quot;:48,&quot;top&quot;:140.4,&quot;width&quot;:864}"/>
</p:tagLst>
</file>

<file path=ppt/tags/tag49.xml><?xml version="1.0" encoding="utf-8"?>
<p:tagLst xmlns:p="http://schemas.openxmlformats.org/presentationml/2006/main">
  <p:tag name="KSO_WM_DIAGRAM_VIRTUALLY_FRAME" val="{&quot;height&quot;:264,&quot;left&quot;:48,&quot;top&quot;:140.4,&quot;width&quot;:864}"/>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3905</Words>
  <Application>WPS 演示</Application>
  <PresentationFormat>On-screen Show (16:9)</PresentationFormat>
  <Paragraphs>744</Paragraphs>
  <Slides>22</Slides>
  <Notes>22</Notes>
  <HiddenSlides>0</HiddenSlides>
  <MMClips>0</MMClips>
  <ScaleCrop>false</ScaleCrop>
  <HeadingPairs>
    <vt:vector size="8" baseType="variant">
      <vt:variant>
        <vt:lpstr>已用的字体</vt:lpstr>
      </vt:variant>
      <vt:variant>
        <vt:i4>21</vt:i4>
      </vt:variant>
      <vt:variant>
        <vt:lpstr>主题</vt:lpstr>
      </vt:variant>
      <vt:variant>
        <vt:i4>1</vt:i4>
      </vt:variant>
      <vt:variant>
        <vt:lpstr>嵌入 OLE 服务器</vt:lpstr>
      </vt:variant>
      <vt:variant>
        <vt:i4>4</vt:i4>
      </vt:variant>
      <vt:variant>
        <vt:lpstr>幻灯片标题</vt:lpstr>
      </vt:variant>
      <vt:variant>
        <vt:i4>22</vt:i4>
      </vt:variant>
    </vt:vector>
  </HeadingPairs>
  <TitlesOfParts>
    <vt:vector size="48" baseType="lpstr">
      <vt:lpstr>Arial</vt:lpstr>
      <vt:lpstr>宋体</vt:lpstr>
      <vt:lpstr>Wingdings</vt:lpstr>
      <vt:lpstr>思源黑体 CN</vt:lpstr>
      <vt:lpstr>黑体</vt:lpstr>
      <vt:lpstr>思源黑体 CN</vt:lpstr>
      <vt:lpstr>思源黑体 CN</vt:lpstr>
      <vt:lpstr>思源黑体 CN Bold</vt:lpstr>
      <vt:lpstr>思源黑体 CN Bold</vt:lpstr>
      <vt:lpstr>思源黑体 CN Bold</vt:lpstr>
      <vt:lpstr>思源黑体 CN Regular</vt:lpstr>
      <vt:lpstr>思源黑体 CN Regular</vt:lpstr>
      <vt:lpstr>思源黑体 CN Regular</vt:lpstr>
      <vt:lpstr>Calibri</vt:lpstr>
      <vt:lpstr>微软雅黑</vt:lpstr>
      <vt:lpstr>Arial Unicode MS</vt:lpstr>
      <vt:lpstr>等线</vt:lpstr>
      <vt:lpstr>KSOFD723FC5D</vt:lpstr>
      <vt:lpstr>FFont-Family</vt:lpstr>
      <vt:lpstr>KSOF28C8607A</vt:lpstr>
      <vt:lpstr>KSOFD72470BC</vt:lpstr>
      <vt:lpstr>Office Theme</vt:lpstr>
      <vt:lpstr>Word.Document.12</vt:lpstr>
      <vt:lpstr>Word.Document.12</vt:lpstr>
      <vt:lpstr>Word.Document.12</vt:lpstr>
      <vt:lpstr>Word.Document.12</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杨传筠</cp:lastModifiedBy>
  <cp:revision>4</cp:revision>
  <dcterms:created xsi:type="dcterms:W3CDTF">2026-08-30T09:08:00Z</dcterms:created>
  <dcterms:modified xsi:type="dcterms:W3CDTF">2026-09-05T09:05:46Z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2052-12.1.0.28043</vt:lpwstr>
  </property>
  <property fmtid="{D5CDD505-2E9C-101B-9397-08002B2CF9AE}" pid="3" name="ICV">
    <vt:lpwstr>CAF4CC83FA1B46D2AA8B0493542EB310_12</vt:lpwstr>
  </property>
</Properties>
</file>