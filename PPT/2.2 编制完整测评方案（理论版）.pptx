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6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7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5.svg" ContentType="image/svg+xml"/>
  <Override PartName="/ppt/media/image37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88" r:id="rId7"/>
    <p:sldId id="284" r:id="rId8"/>
  </p:sldIdLst>
  <p:sldSz cx="12192000" cy="6858000"/>
  <p:notesSz cx="6858000" cy="12192000"/>
  <p:custDataLst>
    <p:tags r:id="rId1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8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那到底该如何才能编制出专业规范的等保测评方案呢？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2.xml"/><Relationship Id="rId7" Type="http://schemas.openxmlformats.org/officeDocument/2006/relationships/image" Target="../media/image14.png"/><Relationship Id="rId6" Type="http://schemas.openxmlformats.org/officeDocument/2006/relationships/tags" Target="../tags/tag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5.xml"/><Relationship Id="rId23" Type="http://schemas.openxmlformats.org/officeDocument/2006/relationships/tags" Target="../tags/tag14.xml"/><Relationship Id="rId22" Type="http://schemas.openxmlformats.org/officeDocument/2006/relationships/tags" Target="../tags/tag13.xml"/><Relationship Id="rId21" Type="http://schemas.openxmlformats.org/officeDocument/2006/relationships/tags" Target="../tags/tag12.xml"/><Relationship Id="rId20" Type="http://schemas.openxmlformats.org/officeDocument/2006/relationships/tags" Target="../tags/tag11.xml"/><Relationship Id="rId2" Type="http://schemas.openxmlformats.org/officeDocument/2006/relationships/image" Target="../media/image10.png"/><Relationship Id="rId19" Type="http://schemas.openxmlformats.org/officeDocument/2006/relationships/tags" Target="../tags/tag10.xml"/><Relationship Id="rId18" Type="http://schemas.openxmlformats.org/officeDocument/2006/relationships/tags" Target="../tags/tag9.xml"/><Relationship Id="rId17" Type="http://schemas.openxmlformats.org/officeDocument/2006/relationships/tags" Target="../tags/tag8.xml"/><Relationship Id="rId16" Type="http://schemas.openxmlformats.org/officeDocument/2006/relationships/tags" Target="../tags/tag7.xml"/><Relationship Id="rId15" Type="http://schemas.openxmlformats.org/officeDocument/2006/relationships/image" Target="../media/image17.png"/><Relationship Id="rId14" Type="http://schemas.openxmlformats.org/officeDocument/2006/relationships/tags" Target="../tags/tag6.xml"/><Relationship Id="rId13" Type="http://schemas.openxmlformats.org/officeDocument/2006/relationships/tags" Target="../tags/tag5.xml"/><Relationship Id="rId12" Type="http://schemas.openxmlformats.org/officeDocument/2006/relationships/tags" Target="../tags/tag4.xml"/><Relationship Id="rId11" Type="http://schemas.openxmlformats.org/officeDocument/2006/relationships/tags" Target="../tags/tag3.xml"/><Relationship Id="rId10" Type="http://schemas.openxmlformats.org/officeDocument/2006/relationships/image" Target="../media/image16.sv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16.xml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0" Type="http://schemas.openxmlformats.org/officeDocument/2006/relationships/notesSlide" Target="../notesSlides/notesSlide3.xml"/><Relationship Id="rId2" Type="http://schemas.openxmlformats.org/officeDocument/2006/relationships/image" Target="../media/image10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25.png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image" Target="../media/image24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6" Type="http://schemas.openxmlformats.org/officeDocument/2006/relationships/notesSlide" Target="../notesSlides/notesSlide4.xml"/><Relationship Id="rId75" Type="http://schemas.openxmlformats.org/officeDocument/2006/relationships/slideLayout" Target="../slideLayouts/slideLayout1.xml"/><Relationship Id="rId74" Type="http://schemas.openxmlformats.org/officeDocument/2006/relationships/tags" Target="../tags/tag80.xml"/><Relationship Id="rId73" Type="http://schemas.openxmlformats.org/officeDocument/2006/relationships/tags" Target="../tags/tag79.xml"/><Relationship Id="rId72" Type="http://schemas.openxmlformats.org/officeDocument/2006/relationships/tags" Target="../tags/tag78.xml"/><Relationship Id="rId71" Type="http://schemas.openxmlformats.org/officeDocument/2006/relationships/tags" Target="../tags/tag77.xml"/><Relationship Id="rId70" Type="http://schemas.openxmlformats.org/officeDocument/2006/relationships/image" Target="../media/image38.svg"/><Relationship Id="rId7" Type="http://schemas.openxmlformats.org/officeDocument/2006/relationships/tags" Target="../tags/tag27.xml"/><Relationship Id="rId69" Type="http://schemas.openxmlformats.org/officeDocument/2006/relationships/tags" Target="../tags/tag76.xml"/><Relationship Id="rId68" Type="http://schemas.openxmlformats.org/officeDocument/2006/relationships/tags" Target="../tags/tag75.xml"/><Relationship Id="rId67" Type="http://schemas.openxmlformats.org/officeDocument/2006/relationships/tags" Target="../tags/tag74.xml"/><Relationship Id="rId66" Type="http://schemas.openxmlformats.org/officeDocument/2006/relationships/tags" Target="../tags/tag73.xml"/><Relationship Id="rId65" Type="http://schemas.openxmlformats.org/officeDocument/2006/relationships/tags" Target="../tags/tag72.xml"/><Relationship Id="rId64" Type="http://schemas.openxmlformats.org/officeDocument/2006/relationships/tags" Target="../tags/tag71.xml"/><Relationship Id="rId63" Type="http://schemas.openxmlformats.org/officeDocument/2006/relationships/tags" Target="../tags/tag70.xml"/><Relationship Id="rId62" Type="http://schemas.openxmlformats.org/officeDocument/2006/relationships/image" Target="../media/image37.svg"/><Relationship Id="rId61" Type="http://schemas.openxmlformats.org/officeDocument/2006/relationships/image" Target="../media/image36.png"/><Relationship Id="rId60" Type="http://schemas.openxmlformats.org/officeDocument/2006/relationships/tags" Target="../tags/tag69.xml"/><Relationship Id="rId6" Type="http://schemas.openxmlformats.org/officeDocument/2006/relationships/tags" Target="../tags/tag26.xml"/><Relationship Id="rId59" Type="http://schemas.openxmlformats.org/officeDocument/2006/relationships/hyperlink" Target="..\&#23454;&#36341;&#27979;&#35797;\denbao-pm-game\index.html" TargetMode="External"/><Relationship Id="rId58" Type="http://schemas.openxmlformats.org/officeDocument/2006/relationships/tags" Target="../tags/tag68.xml"/><Relationship Id="rId57" Type="http://schemas.openxmlformats.org/officeDocument/2006/relationships/tags" Target="../tags/tag67.xml"/><Relationship Id="rId56" Type="http://schemas.openxmlformats.org/officeDocument/2006/relationships/tags" Target="../tags/tag66.xml"/><Relationship Id="rId55" Type="http://schemas.openxmlformats.org/officeDocument/2006/relationships/tags" Target="../tags/tag65.xml"/><Relationship Id="rId54" Type="http://schemas.openxmlformats.org/officeDocument/2006/relationships/tags" Target="../tags/tag64.xml"/><Relationship Id="rId53" Type="http://schemas.openxmlformats.org/officeDocument/2006/relationships/tags" Target="../tags/tag63.xml"/><Relationship Id="rId52" Type="http://schemas.openxmlformats.org/officeDocument/2006/relationships/tags" Target="../tags/tag62.xml"/><Relationship Id="rId51" Type="http://schemas.openxmlformats.org/officeDocument/2006/relationships/image" Target="../media/image35.svg"/><Relationship Id="rId50" Type="http://schemas.openxmlformats.org/officeDocument/2006/relationships/tags" Target="../tags/tag61.xml"/><Relationship Id="rId5" Type="http://schemas.openxmlformats.org/officeDocument/2006/relationships/tags" Target="../tags/tag25.xml"/><Relationship Id="rId49" Type="http://schemas.openxmlformats.org/officeDocument/2006/relationships/image" Target="../media/image34.svg"/><Relationship Id="rId48" Type="http://schemas.openxmlformats.org/officeDocument/2006/relationships/image" Target="../media/image33.png"/><Relationship Id="rId47" Type="http://schemas.openxmlformats.org/officeDocument/2006/relationships/tags" Target="../tags/tag60.xml"/><Relationship Id="rId46" Type="http://schemas.openxmlformats.org/officeDocument/2006/relationships/tags" Target="../tags/tag59.xml"/><Relationship Id="rId45" Type="http://schemas.openxmlformats.org/officeDocument/2006/relationships/tags" Target="../tags/tag58.xml"/><Relationship Id="rId44" Type="http://schemas.openxmlformats.org/officeDocument/2006/relationships/tags" Target="../tags/tag57.xml"/><Relationship Id="rId43" Type="http://schemas.openxmlformats.org/officeDocument/2006/relationships/tags" Target="../tags/tag56.xml"/><Relationship Id="rId42" Type="http://schemas.openxmlformats.org/officeDocument/2006/relationships/image" Target="../media/image32.svg"/><Relationship Id="rId41" Type="http://schemas.openxmlformats.org/officeDocument/2006/relationships/image" Target="../media/image31.png"/><Relationship Id="rId40" Type="http://schemas.openxmlformats.org/officeDocument/2006/relationships/tags" Target="../tags/tag55.xml"/><Relationship Id="rId4" Type="http://schemas.openxmlformats.org/officeDocument/2006/relationships/tags" Target="../tags/tag24.xml"/><Relationship Id="rId39" Type="http://schemas.openxmlformats.org/officeDocument/2006/relationships/tags" Target="../tags/tag54.xml"/><Relationship Id="rId38" Type="http://schemas.openxmlformats.org/officeDocument/2006/relationships/tags" Target="../tags/tag53.xml"/><Relationship Id="rId37" Type="http://schemas.openxmlformats.org/officeDocument/2006/relationships/tags" Target="../tags/tag52.xml"/><Relationship Id="rId36" Type="http://schemas.openxmlformats.org/officeDocument/2006/relationships/tags" Target="../tags/tag51.xml"/><Relationship Id="rId35" Type="http://schemas.openxmlformats.org/officeDocument/2006/relationships/tags" Target="../tags/tag50.xml"/><Relationship Id="rId34" Type="http://schemas.openxmlformats.org/officeDocument/2006/relationships/tags" Target="../tags/tag49.xml"/><Relationship Id="rId33" Type="http://schemas.openxmlformats.org/officeDocument/2006/relationships/tags" Target="../tags/tag48.xml"/><Relationship Id="rId32" Type="http://schemas.openxmlformats.org/officeDocument/2006/relationships/tags" Target="../tags/tag47.xml"/><Relationship Id="rId31" Type="http://schemas.openxmlformats.org/officeDocument/2006/relationships/tags" Target="../tags/tag46.xml"/><Relationship Id="rId30" Type="http://schemas.openxmlformats.org/officeDocument/2006/relationships/tags" Target="../tags/tag45.xml"/><Relationship Id="rId3" Type="http://schemas.openxmlformats.org/officeDocument/2006/relationships/image" Target="../media/image11.png"/><Relationship Id="rId29" Type="http://schemas.openxmlformats.org/officeDocument/2006/relationships/tags" Target="../tags/tag44.xml"/><Relationship Id="rId28" Type="http://schemas.openxmlformats.org/officeDocument/2006/relationships/tags" Target="../tags/tag43.xml"/><Relationship Id="rId27" Type="http://schemas.openxmlformats.org/officeDocument/2006/relationships/tags" Target="../tags/tag42.xml"/><Relationship Id="rId26" Type="http://schemas.openxmlformats.org/officeDocument/2006/relationships/tags" Target="../tags/tag41.xml"/><Relationship Id="rId25" Type="http://schemas.openxmlformats.org/officeDocument/2006/relationships/tags" Target="../tags/tag40.xml"/><Relationship Id="rId24" Type="http://schemas.openxmlformats.org/officeDocument/2006/relationships/tags" Target="../tags/tag39.xml"/><Relationship Id="rId23" Type="http://schemas.openxmlformats.org/officeDocument/2006/relationships/tags" Target="../tags/tag38.xml"/><Relationship Id="rId22" Type="http://schemas.openxmlformats.org/officeDocument/2006/relationships/image" Target="../media/image30.svg"/><Relationship Id="rId21" Type="http://schemas.openxmlformats.org/officeDocument/2006/relationships/image" Target="../media/image29.png"/><Relationship Id="rId20" Type="http://schemas.openxmlformats.org/officeDocument/2006/relationships/tags" Target="../tags/tag37.xml"/><Relationship Id="rId2" Type="http://schemas.openxmlformats.org/officeDocument/2006/relationships/image" Target="../media/image10.png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image" Target="../media/image28.png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image" Target="../media/image27.svg"/><Relationship Id="rId12" Type="http://schemas.openxmlformats.org/officeDocument/2006/relationships/image" Target="../media/image26.png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43.png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-7062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b="1" dirty="0">
                <a:solidFill>
                  <a:srgbClr val="000000"/>
                </a:solidFill>
                <a:latin typeface="方正仿宋_GBK" panose="03000509000000000000" charset="-122"/>
                <a:ea typeface="方正仿宋_GBK" panose="03000509000000000000" charset="-122"/>
              </a:rPr>
              <a:t>授课教师：</a:t>
            </a:r>
            <a:r>
              <a:rPr lang="zh-CN" altLang="en-US" sz="2040" b="1" dirty="0">
                <a:solidFill>
                  <a:srgbClr val="000000"/>
                </a:solidFill>
                <a:latin typeface="方正仿宋_GBK" panose="03000509000000000000" charset="-122"/>
                <a:ea typeface="方正仿宋_GBK" panose="03000509000000000000" charset="-122"/>
              </a:rPr>
              <a:t>张玉</a:t>
            </a:r>
            <a:endParaRPr lang="zh-CN" altLang="en-US" sz="2040" b="1" dirty="0">
              <a:solidFill>
                <a:srgbClr val="000000"/>
              </a:solidFill>
              <a:latin typeface="方正仿宋_GBK" panose="03000509000000000000" charset="-122"/>
              <a:ea typeface="方正仿宋_GBK" panose="03000509000000000000" charset="-122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400" dirty="0">
                <a:solidFill>
                  <a:srgbClr val="FFFFFF"/>
                </a:solidFill>
              </a:rPr>
              <a:t>信息安全测</a:t>
            </a:r>
            <a:r>
              <a:rPr lang="zh-CN" altLang="en-US" sz="5400" dirty="0">
                <a:solidFill>
                  <a:srgbClr val="FFFFFF"/>
                </a:solidFill>
              </a:rPr>
              <a:t>评</a:t>
            </a:r>
            <a:r>
              <a:rPr lang="en-US" sz="5400" dirty="0">
                <a:solidFill>
                  <a:srgbClr val="FFFFFF"/>
                </a:solidFill>
              </a:rPr>
              <a:t>与风险评估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12" name="Text 2"/>
          <p:cNvSpPr/>
          <p:nvPr/>
        </p:nvSpPr>
        <p:spPr>
          <a:xfrm>
            <a:off x="616585" y="3724910"/>
            <a:ext cx="263398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FFC00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2.2编制完整测评方案</a:t>
            </a:r>
            <a:endParaRPr lang="en-US" sz="2000" dirty="0">
              <a:solidFill>
                <a:srgbClr val="FFC000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0" y="59690"/>
            <a:ext cx="717105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solidFill>
                  <a:schemeClr val="bg1"/>
                </a:solidFill>
              </a:rPr>
              <a:t>《北京市高等教育学会计算机教育研究分会</a:t>
            </a:r>
            <a:r>
              <a:rPr lang="en-US" altLang="zh-CN" sz="1600" b="1">
                <a:solidFill>
                  <a:schemeClr val="bg1"/>
                </a:solidFill>
              </a:rPr>
              <a:t>       2026 </a:t>
            </a:r>
            <a:r>
              <a:rPr lang="zh-CN" altLang="en-US" sz="1600" b="1">
                <a:solidFill>
                  <a:schemeClr val="bg1"/>
                </a:solidFill>
              </a:rPr>
              <a:t>年计算机教学创新大赛》</a:t>
            </a:r>
            <a:endParaRPr lang="zh-CN" altLang="en-US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6" name="Image 3" descr="https://test.web.static.jianzeppt.com/ppt-temp-img3/aed384931c37bbab83c2b7cbdb0f1f1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23160"/>
            <a:ext cx="3154680" cy="16154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19810" y="2827655"/>
            <a:ext cx="2334895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200" b="1" dirty="0"/>
              <a:t>方案六要素</a:t>
            </a:r>
            <a:endParaRPr lang="zh-CN" altLang="en-US" sz="3200" b="1" dirty="0"/>
          </a:p>
        </p:txBody>
      </p:sp>
      <p:pic>
        <p:nvPicPr>
          <p:cNvPr id="10" name="Image 5" descr="https://test.web.static.jianzeppt.com/ppt-temp-img3/a2fe1ea2c00b6866f3b07321ad418a49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792" y="609600"/>
            <a:ext cx="30480" cy="5638800"/>
          </a:xfrm>
          <a:prstGeom prst="rect">
            <a:avLst/>
          </a:prstGeom>
        </p:spPr>
      </p:pic>
      <p:pic>
        <p:nvPicPr>
          <p:cNvPr id="11" name="Image 6" descr="https://test.web.static.jianzeppt.com/ppt-temp-img3/11aa901f059f39e8f78a0fd22b9e717c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26280" y="609600"/>
            <a:ext cx="7071360" cy="196596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0120" y="853440"/>
            <a:ext cx="960120" cy="441960"/>
          </a:xfrm>
          <a:prstGeom prst="rect">
            <a:avLst/>
          </a:prstGeom>
        </p:spPr>
      </p:pic>
      <p:sp>
        <p:nvSpPr>
          <p:cNvPr id="13" name="Text 3"/>
          <p:cNvSpPr/>
          <p:nvPr>
            <p:custDataLst>
              <p:tags r:id="rId11"/>
            </p:custDataLst>
          </p:nvPr>
        </p:nvSpPr>
        <p:spPr>
          <a:xfrm>
            <a:off x="4953000" y="914400"/>
            <a:ext cx="640080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要点</a:t>
            </a: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 1</a:t>
            </a:r>
            <a:endParaRPr lang="en-US" sz="1680" dirty="0"/>
          </a:p>
        </p:txBody>
      </p:sp>
      <p:sp>
        <p:nvSpPr>
          <p:cNvPr id="14" name="Text 4"/>
          <p:cNvSpPr/>
          <p:nvPr>
            <p:custDataLst>
              <p:tags r:id="rId12"/>
            </p:custDataLst>
          </p:nvPr>
        </p:nvSpPr>
        <p:spPr>
          <a:xfrm>
            <a:off x="5852160" y="853440"/>
            <a:ext cx="551078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一份完整的等保测评方案包含哪六个核心要素？</a:t>
            </a:r>
            <a:endParaRPr lang="en-US" sz="2160" dirty="0"/>
          </a:p>
        </p:txBody>
      </p:sp>
      <p:sp>
        <p:nvSpPr>
          <p:cNvPr id="16" name="Text 6"/>
          <p:cNvSpPr/>
          <p:nvPr>
            <p:custDataLst>
              <p:tags r:id="rId13"/>
            </p:custDataLst>
          </p:nvPr>
        </p:nvSpPr>
        <p:spPr>
          <a:xfrm>
            <a:off x="6202680" y="1691640"/>
            <a:ext cx="5160264" cy="7639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项目概述、测评范围、</a:t>
            </a:r>
            <a:r>
              <a:rPr lang="zh-CN" alt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测评对象、测评指标、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测评方法、日程安排</a:t>
            </a:r>
            <a:endParaRPr lang="en-US" sz="1800" dirty="0"/>
          </a:p>
        </p:txBody>
      </p:sp>
      <p:pic>
        <p:nvPicPr>
          <p:cNvPr id="17" name="Image 8" descr="https://test.web.static.jianzeppt.com/ppt-temp-img3/65d9e86e256dfb778ad9a541af5d3fcc.png?x-oss-process=image/resize,w_1440,h_800,m_lfit/format,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526280" y="2743200"/>
            <a:ext cx="7071360" cy="1661160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0120" y="2987040"/>
            <a:ext cx="960120" cy="441960"/>
          </a:xfrm>
          <a:prstGeom prst="rect">
            <a:avLst/>
          </a:prstGeom>
        </p:spPr>
      </p:pic>
      <p:sp>
        <p:nvSpPr>
          <p:cNvPr id="19" name="Text 7"/>
          <p:cNvSpPr/>
          <p:nvPr>
            <p:custDataLst>
              <p:tags r:id="rId17"/>
            </p:custDataLst>
          </p:nvPr>
        </p:nvSpPr>
        <p:spPr>
          <a:xfrm>
            <a:off x="4953000" y="3048000"/>
            <a:ext cx="640080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要点</a:t>
            </a: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 2</a:t>
            </a:r>
            <a:endParaRPr lang="en-US" sz="1680" dirty="0"/>
          </a:p>
        </p:txBody>
      </p:sp>
      <p:sp>
        <p:nvSpPr>
          <p:cNvPr id="20" name="Text 8"/>
          <p:cNvSpPr/>
          <p:nvPr>
            <p:custDataLst>
              <p:tags r:id="rId18"/>
            </p:custDataLst>
          </p:nvPr>
        </p:nvSpPr>
        <p:spPr>
          <a:xfrm>
            <a:off x="5852160" y="2987040"/>
            <a:ext cx="385826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u="sng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测评对象</a:t>
            </a: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选取应遵循哪些原则？</a:t>
            </a:r>
            <a:endParaRPr lang="en-US" sz="2160" dirty="0"/>
          </a:p>
        </p:txBody>
      </p:sp>
      <p:sp>
        <p:nvSpPr>
          <p:cNvPr id="22" name="Text 10"/>
          <p:cNvSpPr/>
          <p:nvPr>
            <p:custDataLst>
              <p:tags r:id="rId19"/>
            </p:custDataLst>
          </p:nvPr>
        </p:nvSpPr>
        <p:spPr>
          <a:xfrm>
            <a:off x="6202680" y="3535680"/>
            <a:ext cx="5160264" cy="7639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应测尽测</a:t>
            </a:r>
            <a:r>
              <a:rPr lang="zh-CN" alt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原则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、</a:t>
            </a:r>
            <a:r>
              <a:rPr lang="en-US" sz="1800" b="1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关键性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原则、</a:t>
            </a:r>
            <a:r>
              <a:rPr lang="en-US" sz="1800" b="1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代表性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原则、</a:t>
            </a:r>
            <a:r>
              <a:rPr lang="en-US" sz="1800" b="1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抽样原则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（不低于30%）</a:t>
            </a:r>
            <a:endParaRPr lang="en-US" sz="1800" dirty="0"/>
          </a:p>
        </p:txBody>
      </p:sp>
      <p:pic>
        <p:nvPicPr>
          <p:cNvPr id="23" name="Image 10" descr="https://test.web.static.jianzeppt.com/ppt-temp-img3/65d9e86e256dfb778ad9a541af5d3fcc.png?x-oss-process=image/resize,w_1440,h_800,m_lfit/format,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526280" y="4587240"/>
            <a:ext cx="7071360" cy="1661160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0120" y="4831080"/>
            <a:ext cx="960120" cy="441960"/>
          </a:xfrm>
          <a:prstGeom prst="rect">
            <a:avLst/>
          </a:prstGeom>
        </p:spPr>
      </p:pic>
      <p:sp>
        <p:nvSpPr>
          <p:cNvPr id="25" name="Text 11"/>
          <p:cNvSpPr/>
          <p:nvPr>
            <p:custDataLst>
              <p:tags r:id="rId22"/>
            </p:custDataLst>
          </p:nvPr>
        </p:nvSpPr>
        <p:spPr>
          <a:xfrm>
            <a:off x="4953000" y="4892040"/>
            <a:ext cx="640080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要点</a:t>
            </a: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 3</a:t>
            </a:r>
            <a:endParaRPr lang="en-US" sz="1680" dirty="0"/>
          </a:p>
        </p:txBody>
      </p:sp>
      <p:sp>
        <p:nvSpPr>
          <p:cNvPr id="26" name="Text 12"/>
          <p:cNvSpPr/>
          <p:nvPr>
            <p:custDataLst>
              <p:tags r:id="rId23"/>
            </p:custDataLst>
          </p:nvPr>
        </p:nvSpPr>
        <p:spPr>
          <a:xfrm>
            <a:off x="5852160" y="4831080"/>
            <a:ext cx="468503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什么情况下可以对</a:t>
            </a:r>
            <a:r>
              <a:rPr lang="en-US" sz="2160" b="1" u="sng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测评指标</a:t>
            </a: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进行裁剪？</a:t>
            </a:r>
            <a:endParaRPr lang="en-US" sz="2160" dirty="0"/>
          </a:p>
        </p:txBody>
      </p:sp>
      <p:sp>
        <p:nvSpPr>
          <p:cNvPr id="28" name="Text 14"/>
          <p:cNvSpPr/>
          <p:nvPr>
            <p:custDataLst>
              <p:tags r:id="rId24"/>
            </p:custDataLst>
          </p:nvPr>
        </p:nvSpPr>
        <p:spPr>
          <a:xfrm>
            <a:off x="6202680" y="5401310"/>
            <a:ext cx="5160264" cy="7639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系统不涉及某项技术领域时（如无无线网络则不测“无线接入控制”）</a:t>
            </a:r>
            <a:r>
              <a:rPr lang="zh-CN" alt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需裁剪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，</a:t>
            </a:r>
            <a:r>
              <a:rPr lang="zh-CN" alt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且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需说明</a:t>
            </a:r>
            <a:r>
              <a:rPr lang="zh-CN" alt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裁剪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理由</a:t>
            </a:r>
            <a:endParaRPr lang="en-US" sz="1800" dirty="0"/>
          </a:p>
        </p:txBody>
      </p:sp>
      <p:sp>
        <p:nvSpPr>
          <p:cNvPr id="29" name="Text 15"/>
          <p:cNvSpPr/>
          <p:nvPr/>
        </p:nvSpPr>
        <p:spPr>
          <a:xfrm>
            <a:off x="822497" y="463992"/>
            <a:ext cx="1633220" cy="49212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E1E1E"/>
                </a:solidFill>
              </a:rPr>
              <a:t>复习回顾</a:t>
            </a:r>
            <a:endParaRPr lang="en-US" sz="3200" b="1" dirty="0">
              <a:solidFill>
                <a:srgbClr val="1E1E1E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06120" y="4663440"/>
            <a:ext cx="3091815" cy="92202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了解了这些，是不是就可以很容易地生成一份测评方案了呢？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28" grpId="0"/>
      <p:bldP spid="30" grpId="0"/>
      <p:bldP spid="3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828675"/>
            <a:ext cx="4815840" cy="21818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https://test.web.static.jianzeppt.com/ppt-temp-img3/d732a324263e58591e01d90dd5d6eca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" y="996315"/>
            <a:ext cx="4785360" cy="762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99160" y="996315"/>
            <a:ext cx="12588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kern="0" spc="8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情景案例</a:t>
            </a:r>
            <a:endParaRPr lang="en-US" sz="24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6800" y="1072515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899160" y="1849755"/>
            <a:ext cx="4306824" cy="1146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小王接到三级系统等保测评任务，下载</a:t>
            </a:r>
            <a:r>
              <a:rPr lang="zh-CN" alt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了测评</a:t>
            </a:r>
            <a:r>
              <a:rPr 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通用模板</a:t>
            </a:r>
            <a:r>
              <a:rPr lang="zh-CN" alt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，按照任务信息大概修改了一下，</a:t>
            </a:r>
            <a:r>
              <a:rPr 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便带到</a:t>
            </a:r>
            <a:r>
              <a:rPr lang="zh-CN" alt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了</a:t>
            </a:r>
            <a:r>
              <a:rPr 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现场</a:t>
            </a:r>
            <a:r>
              <a:rPr lang="zh-CN" alt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开展测评</a:t>
            </a:r>
            <a:r>
              <a:rPr 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。</a:t>
            </a:r>
            <a:endParaRPr lang="en-US" sz="1800" dirty="0"/>
          </a:p>
        </p:txBody>
      </p:sp>
      <p:sp>
        <p:nvSpPr>
          <p:cNvPr id="31" name="Text 18"/>
          <p:cNvSpPr/>
          <p:nvPr/>
        </p:nvSpPr>
        <p:spPr>
          <a:xfrm>
            <a:off x="4066540" y="4251325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</a:rPr>
              <a:t>引出主题</a:t>
            </a:r>
            <a:endParaRPr lang="en-US" sz="1680" dirty="0"/>
          </a:p>
        </p:txBody>
      </p:sp>
      <p:sp>
        <p:nvSpPr>
          <p:cNvPr id="32" name="Text 19"/>
          <p:cNvSpPr/>
          <p:nvPr/>
        </p:nvSpPr>
        <p:spPr>
          <a:xfrm>
            <a:off x="3807460" y="3784600"/>
            <a:ext cx="4890135" cy="96139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indent="0" algn="ctr" fontAlgn="auto">
              <a:lnSpc>
                <a:spcPct val="138000"/>
              </a:lnSpc>
              <a:spcBef>
                <a:spcPts val="1200"/>
              </a:spcBef>
              <a:buNone/>
            </a:pPr>
            <a:r>
              <a:rPr lang="zh-CN" altLang="en-US" b="1" dirty="0">
                <a:solidFill>
                  <a:srgbClr val="C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为什么熟悉六要素还会翻车？</a:t>
            </a:r>
            <a:endParaRPr lang="zh-CN" altLang="en-US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  <a:p>
            <a:pPr indent="0" algn="ctr" fontAlgn="auto">
              <a:lnSpc>
                <a:spcPct val="138000"/>
              </a:lnSpc>
              <a:spcBef>
                <a:spcPts val="1200"/>
              </a:spcBef>
              <a:buNone/>
            </a:pPr>
            <a:r>
              <a:rPr lang="zh-CN" altLang="en-US" b="1" dirty="0">
                <a:solidFill>
                  <a:srgbClr val="00B0F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匹配项目、</a:t>
            </a:r>
            <a:r>
              <a:rPr lang="zh-CN" altLang="en-US" b="1" dirty="0">
                <a:solidFill>
                  <a:srgbClr val="00B0F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  <a:sym typeface="+mn-ea"/>
              </a:rPr>
              <a:t>客观严谨</a:t>
            </a:r>
            <a:r>
              <a:rPr lang="zh-CN" altLang="en-US" b="1" dirty="0">
                <a:solidFill>
                  <a:srgbClr val="00B0F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！</a:t>
            </a:r>
            <a:endParaRPr lang="zh-CN" altLang="en-US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  <a:p>
            <a:pPr marL="0" indent="0" algn="ctr">
              <a:lnSpc>
                <a:spcPct val="138000"/>
              </a:lnSpc>
              <a:buNone/>
            </a:pPr>
            <a:endParaRPr lang="en-US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  <a:p>
            <a:pPr marL="0" indent="0" algn="ctr">
              <a:lnSpc>
                <a:spcPct val="138000"/>
              </a:lnSpc>
              <a:buNone/>
            </a:pPr>
            <a:endParaRPr lang="en-US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endParaRPr lang="en-US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  <a:p>
            <a:pPr marL="0" indent="0" algn="ctr">
              <a:lnSpc>
                <a:spcPct val="138000"/>
              </a:lnSpc>
              <a:buNone/>
            </a:pPr>
            <a:endParaRPr lang="en-US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grpSp>
        <p:nvGrpSpPr>
          <p:cNvPr id="4" name="组合 3"/>
          <p:cNvGrpSpPr/>
          <p:nvPr>
            <p:custDataLst>
              <p:tags r:id="rId8"/>
            </p:custDataLst>
          </p:nvPr>
        </p:nvGrpSpPr>
        <p:grpSpPr>
          <a:xfrm>
            <a:off x="6499860" y="1072515"/>
            <a:ext cx="5394960" cy="1924050"/>
            <a:chOff x="10236" y="1689"/>
            <a:chExt cx="8496" cy="3030"/>
          </a:xfrm>
        </p:grpSpPr>
        <p:pic>
          <p:nvPicPr>
            <p:cNvPr id="10" name="Image 6" descr="preencoded.png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236" y="1689"/>
              <a:ext cx="6768" cy="3030"/>
            </a:xfrm>
            <a:prstGeom prst="rect">
              <a:avLst/>
            </a:prstGeom>
          </p:spPr>
        </p:pic>
        <p:sp>
          <p:nvSpPr>
            <p:cNvPr id="11" name="Text 2"/>
            <p:cNvSpPr/>
            <p:nvPr/>
          </p:nvSpPr>
          <p:spPr>
            <a:xfrm>
              <a:off x="10620" y="1977"/>
              <a:ext cx="6110" cy="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440" b="1" dirty="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结果：</a:t>
              </a:r>
              <a:endParaRPr lang="en-US" sz="1440" dirty="0"/>
            </a:p>
          </p:txBody>
        </p:sp>
        <p:sp>
          <p:nvSpPr>
            <p:cNvPr id="12" name="Text 3"/>
            <p:cNvSpPr/>
            <p:nvPr>
              <p:custDataLst>
                <p:tags r:id="rId11"/>
              </p:custDataLst>
            </p:nvPr>
          </p:nvSpPr>
          <p:spPr>
            <a:xfrm>
              <a:off x="10620" y="2505"/>
              <a:ext cx="350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b="1" dirty="0">
                  <a:solidFill>
                    <a:srgbClr val="00234E"/>
                  </a:solidFill>
                </a:rPr>
                <a:t>①</a:t>
              </a:r>
              <a:endParaRPr lang="en-US" sz="1680" dirty="0"/>
            </a:p>
          </p:txBody>
        </p:sp>
        <p:sp>
          <p:nvSpPr>
            <p:cNvPr id="13" name="Text 4"/>
            <p:cNvSpPr/>
            <p:nvPr>
              <p:custDataLst>
                <p:tags r:id="rId12"/>
              </p:custDataLst>
            </p:nvPr>
          </p:nvSpPr>
          <p:spPr>
            <a:xfrm>
              <a:off x="11052" y="2457"/>
              <a:ext cx="4382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4B5563"/>
                  </a:solidFill>
                </a:rPr>
                <a:t>架构不同，大量指标不适用；</a:t>
              </a:r>
              <a:endParaRPr lang="en-US" sz="1680" dirty="0"/>
            </a:p>
          </p:txBody>
        </p:sp>
        <p:sp>
          <p:nvSpPr>
            <p:cNvPr id="14" name="Text 5"/>
            <p:cNvSpPr/>
            <p:nvPr>
              <p:custDataLst>
                <p:tags r:id="rId13"/>
              </p:custDataLst>
            </p:nvPr>
          </p:nvSpPr>
          <p:spPr>
            <a:xfrm>
              <a:off x="10620" y="2961"/>
              <a:ext cx="350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b="1" dirty="0">
                  <a:solidFill>
                    <a:srgbClr val="00234E"/>
                  </a:solidFill>
                </a:rPr>
                <a:t>②</a:t>
              </a:r>
              <a:endParaRPr lang="en-US" sz="1680" dirty="0"/>
            </a:p>
          </p:txBody>
        </p:sp>
        <p:sp>
          <p:nvSpPr>
            <p:cNvPr id="15" name="Text 6"/>
            <p:cNvSpPr/>
            <p:nvPr>
              <p:custDataLst>
                <p:tags r:id="rId14"/>
              </p:custDataLst>
            </p:nvPr>
          </p:nvSpPr>
          <p:spPr>
            <a:xfrm>
              <a:off x="11052" y="2961"/>
              <a:ext cx="200" cy="56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endParaRPr lang="en-US" sz="1680" dirty="0"/>
            </a:p>
          </p:txBody>
        </p:sp>
        <p:sp>
          <p:nvSpPr>
            <p:cNvPr id="16" name="Text 7"/>
            <p:cNvSpPr/>
            <p:nvPr>
              <p:custDataLst>
                <p:tags r:id="rId15"/>
              </p:custDataLst>
            </p:nvPr>
          </p:nvSpPr>
          <p:spPr>
            <a:xfrm>
              <a:off x="10620" y="3465"/>
              <a:ext cx="350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b="1" dirty="0">
                  <a:solidFill>
                    <a:srgbClr val="00234E"/>
                  </a:solidFill>
                </a:rPr>
                <a:t>③</a:t>
              </a:r>
              <a:endParaRPr lang="en-US" sz="1680" dirty="0"/>
            </a:p>
          </p:txBody>
        </p:sp>
        <p:sp>
          <p:nvSpPr>
            <p:cNvPr id="17" name="Text 8"/>
            <p:cNvSpPr/>
            <p:nvPr>
              <p:custDataLst>
                <p:tags r:id="rId16"/>
              </p:custDataLst>
            </p:nvPr>
          </p:nvSpPr>
          <p:spPr>
            <a:xfrm>
              <a:off x="11052" y="2961"/>
              <a:ext cx="4382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4B5563"/>
                  </a:solidFill>
                </a:rPr>
                <a:t>范围不清，漏测与多测并存；</a:t>
              </a:r>
              <a:endParaRPr lang="en-US" sz="1680" dirty="0"/>
            </a:p>
          </p:txBody>
        </p:sp>
        <p:sp>
          <p:nvSpPr>
            <p:cNvPr id="19" name="Text 10"/>
            <p:cNvSpPr/>
            <p:nvPr>
              <p:custDataLst>
                <p:tags r:id="rId17"/>
              </p:custDataLst>
            </p:nvPr>
          </p:nvSpPr>
          <p:spPr>
            <a:xfrm>
              <a:off x="11074" y="3482"/>
              <a:ext cx="4718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4B5563"/>
                  </a:solidFill>
                </a:rPr>
                <a:t>客户质疑，项目延期满意度低。</a:t>
              </a:r>
              <a:endParaRPr lang="en-US" sz="1680" dirty="0"/>
            </a:p>
          </p:txBody>
        </p:sp>
        <p:pic>
          <p:nvPicPr>
            <p:cNvPr id="33" name="Image 11" descr="https://test.web.static.jianzeppt.com/ppt-temp-img3/29b8adf20d89c1572060c46b5af19dad.png?x-oss-process=image/resize,w_1440,h_800,m_lfit/format,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5852" y="2409"/>
              <a:ext cx="2880" cy="2016"/>
            </a:xfrm>
            <a:prstGeom prst="rect">
              <a:avLst/>
            </a:prstGeom>
          </p:spPr>
        </p:pic>
      </p:grpSp>
      <p:sp>
        <p:nvSpPr>
          <p:cNvPr id="20" name="圆角矩形 19"/>
          <p:cNvSpPr/>
          <p:nvPr/>
        </p:nvSpPr>
        <p:spPr>
          <a:xfrm>
            <a:off x="4152900" y="5187315"/>
            <a:ext cx="4402455" cy="486410"/>
          </a:xfrm>
          <a:prstGeom prst="round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6095365" y="4803140"/>
            <a:ext cx="404495" cy="33909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21810" y="5233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 dirty="0">
                <a:solidFill>
                  <a:srgbClr val="C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  <a:sym typeface="+mn-ea"/>
              </a:rPr>
              <a:t>专业、规范</a:t>
            </a:r>
            <a:r>
              <a:rPr lang="zh-CN" altLang="en-US" b="1" dirty="0">
                <a:solidFill>
                  <a:srgbClr val="C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  <a:sym typeface="+mn-ea"/>
              </a:rPr>
              <a:t>地编制</a:t>
            </a:r>
            <a:r>
              <a:rPr lang="en-US" b="1" dirty="0">
                <a:solidFill>
                  <a:srgbClr val="C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  <a:sym typeface="+mn-ea"/>
              </a:rPr>
              <a:t>等保测评方案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3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6" name="Text 18"/>
          <p:cNvSpPr/>
          <p:nvPr/>
        </p:nvSpPr>
        <p:spPr>
          <a:xfrm>
            <a:off x="822497" y="531937"/>
            <a:ext cx="211455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>
                <a:solidFill>
                  <a:srgbClr val="1E1E1E"/>
                </a:solidFill>
              </a:rPr>
              <a:t>方案编制流程</a:t>
            </a:r>
            <a:endParaRPr lang="en-US" sz="2760" b="1" dirty="0">
              <a:solidFill>
                <a:srgbClr val="1E1E1E"/>
              </a:solidFill>
            </a:endParaRPr>
          </a:p>
        </p:txBody>
      </p:sp>
      <p:sp>
        <p:nvSpPr>
          <p:cNvPr id="48" name="圆角矩形 47"/>
          <p:cNvSpPr/>
          <p:nvPr>
            <p:custDataLst>
              <p:tags r:id="rId4"/>
            </p:custDataLst>
          </p:nvPr>
        </p:nvSpPr>
        <p:spPr>
          <a:xfrm>
            <a:off x="1018540" y="1759585"/>
            <a:ext cx="1301115" cy="488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项目概述</a:t>
            </a:r>
            <a:endParaRPr lang="zh-CN" altLang="en-US"/>
          </a:p>
        </p:txBody>
      </p:sp>
      <p:sp>
        <p:nvSpPr>
          <p:cNvPr id="49" name="圆角矩形 48"/>
          <p:cNvSpPr/>
          <p:nvPr>
            <p:custDataLst>
              <p:tags r:id="rId5"/>
            </p:custDataLst>
          </p:nvPr>
        </p:nvSpPr>
        <p:spPr>
          <a:xfrm>
            <a:off x="2754630" y="1759585"/>
            <a:ext cx="1246505" cy="488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测评范围</a:t>
            </a:r>
            <a:endParaRPr lang="zh-CN" altLang="en-US" dirty="0">
              <a:solidFill>
                <a:schemeClr val="bg1">
                  <a:alpha val="80000"/>
                </a:schemeClr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</p:txBody>
      </p:sp>
      <p:sp>
        <p:nvSpPr>
          <p:cNvPr id="50" name="圆角矩形 49"/>
          <p:cNvSpPr/>
          <p:nvPr>
            <p:custDataLst>
              <p:tags r:id="rId6"/>
            </p:custDataLst>
          </p:nvPr>
        </p:nvSpPr>
        <p:spPr>
          <a:xfrm>
            <a:off x="6154420" y="1770380"/>
            <a:ext cx="1319530" cy="488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测评</a:t>
            </a:r>
            <a:r>
              <a:rPr lang="zh-CN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指标</a:t>
            </a:r>
            <a:endParaRPr lang="zh-CN" dirty="0">
              <a:solidFill>
                <a:schemeClr val="bg1">
                  <a:alpha val="80000"/>
                </a:schemeClr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</p:txBody>
      </p:sp>
      <p:sp>
        <p:nvSpPr>
          <p:cNvPr id="51" name="圆角矩形 50"/>
          <p:cNvSpPr/>
          <p:nvPr>
            <p:custDataLst>
              <p:tags r:id="rId7"/>
            </p:custDataLst>
          </p:nvPr>
        </p:nvSpPr>
        <p:spPr>
          <a:xfrm>
            <a:off x="7924165" y="1759585"/>
            <a:ext cx="1503045" cy="488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测评</a:t>
            </a:r>
            <a:r>
              <a:rPr lang="zh-CN" altLang="en-US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方法</a:t>
            </a:r>
            <a:endParaRPr lang="zh-CN" altLang="en-US" dirty="0">
              <a:solidFill>
                <a:schemeClr val="bg1">
                  <a:alpha val="80000"/>
                </a:schemeClr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</p:txBody>
      </p:sp>
      <p:sp>
        <p:nvSpPr>
          <p:cNvPr id="52" name="圆角矩形 51"/>
          <p:cNvSpPr/>
          <p:nvPr>
            <p:custDataLst>
              <p:tags r:id="rId8"/>
            </p:custDataLst>
          </p:nvPr>
        </p:nvSpPr>
        <p:spPr>
          <a:xfrm>
            <a:off x="9885680" y="1759585"/>
            <a:ext cx="1334135" cy="488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日程安排</a:t>
            </a:r>
            <a:endParaRPr lang="zh-CN" dirty="0">
              <a:solidFill>
                <a:schemeClr val="bg1">
                  <a:alpha val="80000"/>
                </a:schemeClr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</p:txBody>
      </p:sp>
      <p:sp>
        <p:nvSpPr>
          <p:cNvPr id="53" name="圆角矩形 52"/>
          <p:cNvSpPr/>
          <p:nvPr>
            <p:custDataLst>
              <p:tags r:id="rId9"/>
            </p:custDataLst>
          </p:nvPr>
        </p:nvSpPr>
        <p:spPr>
          <a:xfrm>
            <a:off x="4457700" y="1759585"/>
            <a:ext cx="1246505" cy="488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测评</a:t>
            </a:r>
            <a:r>
              <a:rPr lang="zh-CN" altLang="en-US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对象</a:t>
            </a:r>
            <a:endParaRPr lang="zh-CN" altLang="en-US" dirty="0">
              <a:solidFill>
                <a:schemeClr val="bg1">
                  <a:alpha val="80000"/>
                </a:schemeClr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</p:txBody>
      </p:sp>
      <p:grpSp>
        <p:nvGrpSpPr>
          <p:cNvPr id="75" name="组合 74"/>
          <p:cNvGrpSpPr/>
          <p:nvPr>
            <p:custDataLst>
              <p:tags r:id="rId10"/>
            </p:custDataLst>
          </p:nvPr>
        </p:nvGrpSpPr>
        <p:grpSpPr>
          <a:xfrm rot="0">
            <a:off x="4769485" y="2972435"/>
            <a:ext cx="1981835" cy="1115695"/>
            <a:chOff x="13056" y="7392"/>
            <a:chExt cx="5184" cy="2448"/>
          </a:xfrm>
          <a:solidFill>
            <a:srgbClr val="C00000"/>
          </a:solidFill>
        </p:grpSpPr>
        <p:pic>
          <p:nvPicPr>
            <p:cNvPr id="71" name="Image 18" descr="preencoded.png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056" y="7392"/>
              <a:ext cx="5184" cy="2448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72" name="Text 10"/>
            <p:cNvSpPr/>
            <p:nvPr>
              <p:custDataLst>
                <p:tags r:id="rId14"/>
              </p:custDataLst>
            </p:nvPr>
          </p:nvSpPr>
          <p:spPr>
            <a:xfrm>
              <a:off x="13341" y="7676"/>
              <a:ext cx="4601" cy="809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选取测评对象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pic>
          <p:nvPicPr>
            <p:cNvPr id="73" name="Image 19" descr="https://test.web.static.jianzeppt.com/ppt-temp-img3/26789e569394ebb4695e716b15c9df00.png?x-oss-process=image/resize,w_1440,h_800,m_lfit/format,png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3368" y="8520"/>
              <a:ext cx="4560" cy="24"/>
            </a:xfrm>
            <a:prstGeom prst="rect">
              <a:avLst/>
            </a:prstGeom>
            <a:grpFill/>
          </p:spPr>
        </p:pic>
        <p:sp>
          <p:nvSpPr>
            <p:cNvPr id="74" name="Text 11"/>
            <p:cNvSpPr/>
            <p:nvPr>
              <p:custDataLst>
                <p:tags r:id="rId17"/>
              </p:custDataLst>
            </p:nvPr>
          </p:nvSpPr>
          <p:spPr>
            <a:xfrm>
              <a:off x="13368" y="8578"/>
              <a:ext cx="4574" cy="1013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 dirty="0">
                  <a:solidFill>
                    <a:schemeClr val="bg1"/>
                  </a:solidFill>
                </a:rPr>
                <a:t>依据架构分析，确定具体设备与系统清单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" name="文本框 106"/>
          <p:cNvSpPr txBox="1"/>
          <p:nvPr>
            <p:custDataLst>
              <p:tags r:id="rId18"/>
            </p:custDataLst>
          </p:nvPr>
        </p:nvSpPr>
        <p:spPr>
          <a:xfrm>
            <a:off x="4791075" y="310324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8" name="组合 97"/>
          <p:cNvGrpSpPr/>
          <p:nvPr>
            <p:custDataLst>
              <p:tags r:id="rId19"/>
            </p:custDataLst>
          </p:nvPr>
        </p:nvGrpSpPr>
        <p:grpSpPr>
          <a:xfrm rot="0">
            <a:off x="7053580" y="2982595"/>
            <a:ext cx="1818640" cy="1099820"/>
            <a:chOff x="7008" y="7392"/>
            <a:chExt cx="5184" cy="2448"/>
          </a:xfrm>
        </p:grpSpPr>
        <p:pic>
          <p:nvPicPr>
            <p:cNvPr id="94" name="Image 21" descr="preencoded.png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008" y="7392"/>
              <a:ext cx="5184" cy="2448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95" name="Text 13"/>
            <p:cNvSpPr/>
            <p:nvPr>
              <p:custDataLst>
                <p:tags r:id="rId23"/>
              </p:custDataLst>
            </p:nvPr>
          </p:nvSpPr>
          <p:spPr>
            <a:xfrm>
              <a:off x="7293" y="7623"/>
              <a:ext cx="4371" cy="8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00234E"/>
                  </a:solidFill>
                </a:rPr>
                <a:t>确定测评指标</a:t>
              </a:r>
              <a:endParaRPr lang="en-US" sz="1600" b="1" dirty="0">
                <a:solidFill>
                  <a:srgbClr val="00234E"/>
                </a:solidFill>
              </a:endParaRPr>
            </a:p>
          </p:txBody>
        </p:sp>
        <p:pic>
          <p:nvPicPr>
            <p:cNvPr id="96" name="Image 22" descr="https://test.web.static.jianzeppt.com/ppt-temp-img3/26789e569394ebb4695e716b15c9df00.png?x-oss-process=image/resize,w_1440,h_800,m_lfit/format,png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7320" y="8520"/>
              <a:ext cx="4560" cy="24"/>
            </a:xfrm>
            <a:prstGeom prst="rect">
              <a:avLst/>
            </a:prstGeom>
          </p:spPr>
        </p:pic>
        <p:sp>
          <p:nvSpPr>
            <p:cNvPr id="97" name="Text 14"/>
            <p:cNvSpPr/>
            <p:nvPr>
              <p:custDataLst>
                <p:tags r:id="rId25"/>
              </p:custDataLst>
            </p:nvPr>
          </p:nvSpPr>
          <p:spPr>
            <a:xfrm>
              <a:off x="7320" y="8571"/>
              <a:ext cx="4574" cy="102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</a:rPr>
                <a:t>对照</a:t>
              </a:r>
              <a:r>
                <a:rPr lang="en-US" sz="1200" b="1" dirty="0">
                  <a:solidFill>
                    <a:srgbClr val="C00000"/>
                  </a:solidFill>
                </a:rPr>
                <a:t>国家标准</a:t>
              </a:r>
              <a:r>
                <a:rPr lang="en-US" sz="1200" dirty="0">
                  <a:solidFill>
                    <a:srgbClr val="333333"/>
                  </a:solidFill>
                </a:rPr>
                <a:t>，逐项选取适用安全指标</a:t>
              </a:r>
              <a:endParaRPr lang="en-US" sz="1200" dirty="0">
                <a:solidFill>
                  <a:srgbClr val="333333"/>
                </a:solidFill>
              </a:endParaRPr>
            </a:p>
          </p:txBody>
        </p:sp>
      </p:grpSp>
      <p:sp>
        <p:nvSpPr>
          <p:cNvPr id="108" name="文本框 107"/>
          <p:cNvSpPr txBox="1"/>
          <p:nvPr>
            <p:custDataLst>
              <p:tags r:id="rId26"/>
            </p:custDataLst>
          </p:nvPr>
        </p:nvSpPr>
        <p:spPr>
          <a:xfrm>
            <a:off x="6985000" y="310578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⑤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3" name="组合 102"/>
          <p:cNvGrpSpPr/>
          <p:nvPr>
            <p:custDataLst>
              <p:tags r:id="rId27"/>
            </p:custDataLst>
          </p:nvPr>
        </p:nvGrpSpPr>
        <p:grpSpPr>
          <a:xfrm rot="0">
            <a:off x="9427210" y="3006090"/>
            <a:ext cx="1707515" cy="1076325"/>
            <a:chOff x="960" y="7392"/>
            <a:chExt cx="5184" cy="2448"/>
          </a:xfrm>
        </p:grpSpPr>
        <p:pic>
          <p:nvPicPr>
            <p:cNvPr id="99" name="Image 24" descr="preencoded.png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60" y="7392"/>
              <a:ext cx="5184" cy="2448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100" name="Text 16"/>
            <p:cNvSpPr/>
            <p:nvPr>
              <p:custDataLst>
                <p:tags r:id="rId29"/>
              </p:custDataLst>
            </p:nvPr>
          </p:nvSpPr>
          <p:spPr>
            <a:xfrm>
              <a:off x="1270" y="7594"/>
              <a:ext cx="4561" cy="83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00234E"/>
                  </a:solidFill>
                </a:rPr>
                <a:t>编制完整方案</a:t>
              </a:r>
              <a:endParaRPr lang="en-US" sz="1600" b="1" dirty="0">
                <a:solidFill>
                  <a:srgbClr val="00234E"/>
                </a:solidFill>
              </a:endParaRPr>
            </a:p>
          </p:txBody>
        </p:sp>
        <p:pic>
          <p:nvPicPr>
            <p:cNvPr id="101" name="Image 25" descr="https://test.web.static.jianzeppt.com/ppt-temp-img3/26789e569394ebb4695e716b15c9df00.png?x-oss-process=image/resize,w_1440,h_800,m_lfit/format,png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272" y="8520"/>
              <a:ext cx="4560" cy="24"/>
            </a:xfrm>
            <a:prstGeom prst="rect">
              <a:avLst/>
            </a:prstGeom>
          </p:spPr>
        </p:pic>
        <p:sp>
          <p:nvSpPr>
            <p:cNvPr id="102" name="Text 17"/>
            <p:cNvSpPr/>
            <p:nvPr>
              <p:custDataLst>
                <p:tags r:id="rId31"/>
              </p:custDataLst>
            </p:nvPr>
          </p:nvSpPr>
          <p:spPr>
            <a:xfrm>
              <a:off x="1272" y="8561"/>
              <a:ext cx="4574" cy="10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</a:rPr>
                <a:t>按标准模板撰写，形成正式方案文档</a:t>
              </a:r>
              <a:endParaRPr lang="en-US" sz="1200" dirty="0">
                <a:solidFill>
                  <a:srgbClr val="333333"/>
                </a:solidFill>
              </a:endParaRPr>
            </a:p>
          </p:txBody>
        </p:sp>
      </p:grpSp>
      <p:sp>
        <p:nvSpPr>
          <p:cNvPr id="109" name="文本框 108"/>
          <p:cNvSpPr txBox="1"/>
          <p:nvPr>
            <p:custDataLst>
              <p:tags r:id="rId32"/>
            </p:custDataLst>
          </p:nvPr>
        </p:nvSpPr>
        <p:spPr>
          <a:xfrm>
            <a:off x="9368155" y="311721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⑥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0" name="组合 69"/>
          <p:cNvGrpSpPr/>
          <p:nvPr>
            <p:custDataLst>
              <p:tags r:id="rId33"/>
            </p:custDataLst>
          </p:nvPr>
        </p:nvGrpSpPr>
        <p:grpSpPr>
          <a:xfrm rot="0">
            <a:off x="2393315" y="3006090"/>
            <a:ext cx="2004060" cy="1075690"/>
            <a:chOff x="13056" y="4528"/>
            <a:chExt cx="5184" cy="2448"/>
          </a:xfrm>
        </p:grpSpPr>
        <p:pic>
          <p:nvPicPr>
            <p:cNvPr id="65" name="Image 13" descr="preencoded.png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3056" y="4528"/>
              <a:ext cx="5184" cy="2448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66" name="Text 7"/>
            <p:cNvSpPr/>
            <p:nvPr>
              <p:custDataLst>
                <p:tags r:id="rId35"/>
              </p:custDataLst>
            </p:nvPr>
          </p:nvSpPr>
          <p:spPr>
            <a:xfrm>
              <a:off x="13854" y="4808"/>
              <a:ext cx="3690" cy="8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00234E"/>
                  </a:solidFill>
                </a:rPr>
                <a:t>确定测评范围</a:t>
              </a:r>
              <a:endParaRPr lang="en-US" sz="1600" b="1" dirty="0">
                <a:solidFill>
                  <a:srgbClr val="00234E"/>
                </a:solidFill>
              </a:endParaRPr>
            </a:p>
          </p:txBody>
        </p:sp>
        <p:pic>
          <p:nvPicPr>
            <p:cNvPr id="67" name="Image 14" descr="https://test.web.static.jianzeppt.com/ppt-temp-img3/26789e569394ebb4695e716b15c9df00.png?x-oss-process=image/resize,w_1440,h_800,m_lfit/format,png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3368" y="5656"/>
              <a:ext cx="4560" cy="24"/>
            </a:xfrm>
            <a:prstGeom prst="rect">
              <a:avLst/>
            </a:prstGeom>
          </p:spPr>
        </p:pic>
        <p:sp>
          <p:nvSpPr>
            <p:cNvPr id="68" name="Text 8"/>
            <p:cNvSpPr/>
            <p:nvPr>
              <p:custDataLst>
                <p:tags r:id="rId37"/>
              </p:custDataLst>
            </p:nvPr>
          </p:nvSpPr>
          <p:spPr>
            <a:xfrm>
              <a:off x="13368" y="5694"/>
              <a:ext cx="4574" cy="105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</a:rPr>
                <a:t>明确本次测评覆盖的位置、网络区域、边界</a:t>
              </a:r>
              <a:endParaRPr lang="en-US" sz="1200" dirty="0">
                <a:solidFill>
                  <a:srgbClr val="333333"/>
                </a:solidFill>
              </a:endParaRPr>
            </a:p>
          </p:txBody>
        </p:sp>
      </p:grpSp>
      <p:sp>
        <p:nvSpPr>
          <p:cNvPr id="110" name="文本框 109"/>
          <p:cNvSpPr txBox="1"/>
          <p:nvPr>
            <p:custDataLst>
              <p:tags r:id="rId38"/>
            </p:custDataLst>
          </p:nvPr>
        </p:nvSpPr>
        <p:spPr>
          <a:xfrm>
            <a:off x="2470150" y="313563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2" name="组合 91"/>
          <p:cNvGrpSpPr/>
          <p:nvPr>
            <p:custDataLst>
              <p:tags r:id="rId39"/>
            </p:custDataLst>
          </p:nvPr>
        </p:nvGrpSpPr>
        <p:grpSpPr>
          <a:xfrm rot="0">
            <a:off x="3343910" y="4504690"/>
            <a:ext cx="2348865" cy="1158875"/>
            <a:chOff x="4848" y="5184"/>
            <a:chExt cx="5183" cy="2622"/>
          </a:xfrm>
          <a:solidFill>
            <a:schemeClr val="accent4"/>
          </a:solidFill>
        </p:grpSpPr>
        <p:pic>
          <p:nvPicPr>
            <p:cNvPr id="88" name="Image 10" descr="preencoded.png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4848" y="5184"/>
              <a:ext cx="5183" cy="2622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89" name="Text 4"/>
            <p:cNvSpPr/>
            <p:nvPr>
              <p:custDataLst>
                <p:tags r:id="rId43"/>
              </p:custDataLst>
            </p:nvPr>
          </p:nvSpPr>
          <p:spPr>
            <a:xfrm>
              <a:off x="5641" y="5490"/>
              <a:ext cx="3471" cy="868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00234E"/>
                  </a:solidFill>
                </a:rPr>
                <a:t>分析</a:t>
              </a:r>
              <a:r>
                <a:rPr lang="en-US" sz="1600" b="1" dirty="0">
                  <a:solidFill>
                    <a:srgbClr val="00234E"/>
                  </a:solidFill>
                  <a:highlight>
                    <a:srgbClr val="FFFF00"/>
                  </a:highlight>
                </a:rPr>
                <a:t>系统架构</a:t>
              </a:r>
              <a:endParaRPr lang="en-US" sz="1600" b="1" dirty="0">
                <a:solidFill>
                  <a:srgbClr val="00234E"/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90" name="Image 11" descr="https://test.web.static.jianzeppt.com/ppt-temp-img3/26789e569394ebb4695e716b15c9df00.png?x-oss-process=image/resize,w_1440,h_800,m_lfit/format,png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5160" y="6312"/>
              <a:ext cx="4560" cy="24"/>
            </a:xfrm>
            <a:prstGeom prst="rect">
              <a:avLst/>
            </a:prstGeom>
            <a:grpFill/>
          </p:spPr>
        </p:pic>
        <p:sp>
          <p:nvSpPr>
            <p:cNvPr id="91" name="Text 5"/>
            <p:cNvSpPr/>
            <p:nvPr>
              <p:custDataLst>
                <p:tags r:id="rId45"/>
              </p:custDataLst>
            </p:nvPr>
          </p:nvSpPr>
          <p:spPr>
            <a:xfrm>
              <a:off x="5160" y="6491"/>
              <a:ext cx="4574" cy="1044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zh-CN" altLang="en-US" sz="1200" dirty="0">
                  <a:solidFill>
                    <a:schemeClr val="tx1"/>
                  </a:solidFill>
                </a:rPr>
                <a:t>《系统情况说明》等</a:t>
              </a:r>
              <a:r>
                <a:rPr lang="en-US" sz="1200" dirty="0">
                  <a:solidFill>
                    <a:srgbClr val="333333"/>
                  </a:solidFill>
                </a:rPr>
                <a:t>梳理网络拓扑、设备清单、业务应用</a:t>
              </a:r>
              <a:r>
                <a:rPr lang="zh-CN" altLang="en-US" sz="1200" dirty="0">
                  <a:solidFill>
                    <a:srgbClr val="333333"/>
                  </a:solidFill>
                </a:rPr>
                <a:t>等</a:t>
              </a:r>
              <a:endParaRPr lang="zh-CN" altLang="en-US" sz="1200" dirty="0">
                <a:solidFill>
                  <a:srgbClr val="333333"/>
                </a:solidFill>
              </a:endParaRPr>
            </a:p>
          </p:txBody>
        </p:sp>
      </p:grpSp>
      <p:sp>
        <p:nvSpPr>
          <p:cNvPr id="111" name="文本框 110"/>
          <p:cNvSpPr txBox="1"/>
          <p:nvPr>
            <p:custDataLst>
              <p:tags r:id="rId46"/>
            </p:custDataLst>
          </p:nvPr>
        </p:nvSpPr>
        <p:spPr>
          <a:xfrm>
            <a:off x="3531235" y="466598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4" name="Image 4" descr="preencoded.png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073400" y="4915535"/>
            <a:ext cx="304800" cy="304800"/>
          </a:xfrm>
          <a:prstGeom prst="rect">
            <a:avLst/>
          </a:prstGeom>
        </p:spPr>
      </p:pic>
      <p:pic>
        <p:nvPicPr>
          <p:cNvPr id="115" name="Image 4" descr="preencoded.png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450080" y="3348990"/>
            <a:ext cx="304800" cy="304800"/>
          </a:xfrm>
          <a:prstGeom prst="rect">
            <a:avLst/>
          </a:prstGeom>
        </p:spPr>
      </p:pic>
      <p:pic>
        <p:nvPicPr>
          <p:cNvPr id="116" name="Image 4" descr="preencoded.png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748780" y="3348990"/>
            <a:ext cx="304800" cy="304800"/>
          </a:xfrm>
          <a:prstGeom prst="rect">
            <a:avLst/>
          </a:prstGeom>
        </p:spPr>
      </p:pic>
      <p:pic>
        <p:nvPicPr>
          <p:cNvPr id="117" name="Image 4" descr="preencoded.png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8988425" y="3348990"/>
            <a:ext cx="304800" cy="304800"/>
          </a:xfrm>
          <a:prstGeom prst="rect">
            <a:avLst/>
          </a:prstGeom>
        </p:spPr>
      </p:pic>
      <p:pic>
        <p:nvPicPr>
          <p:cNvPr id="118" name="Image 4" descr="preencoded.png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 rot="14280000">
            <a:off x="3810635" y="4119245"/>
            <a:ext cx="386080" cy="304800"/>
          </a:xfrm>
          <a:prstGeom prst="rect">
            <a:avLst/>
          </a:prstGeom>
        </p:spPr>
      </p:pic>
      <p:sp>
        <p:nvSpPr>
          <p:cNvPr id="119" name="文本框 118"/>
          <p:cNvSpPr txBox="1"/>
          <p:nvPr/>
        </p:nvSpPr>
        <p:spPr>
          <a:xfrm>
            <a:off x="5229225" y="1072515"/>
            <a:ext cx="380428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方案六要素</a:t>
            </a:r>
            <a:endParaRPr lang="zh-CN" altLang="en-US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5166360" y="58572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400" b="1">
                <a:ln w="15875"/>
                <a:solidFill>
                  <a:srgbClr val="C00000"/>
                </a:solidFill>
                <a:effectLst/>
              </a:rPr>
              <a:t>方案编制六步骤</a:t>
            </a:r>
            <a:endParaRPr lang="zh-CN" altLang="en-US" sz="2400" b="1">
              <a:ln w="15875"/>
              <a:solidFill>
                <a:srgbClr val="C00000"/>
              </a:solidFill>
              <a:effectLst/>
            </a:endParaRPr>
          </a:p>
        </p:txBody>
      </p:sp>
      <p:cxnSp>
        <p:nvCxnSpPr>
          <p:cNvPr id="121" name="曲线连接符 120"/>
          <p:cNvCxnSpPr/>
          <p:nvPr>
            <p:custDataLst>
              <p:tags r:id="rId55"/>
            </p:custDataLst>
          </p:nvPr>
        </p:nvCxnSpPr>
        <p:spPr>
          <a:xfrm rot="16200000" flipV="1">
            <a:off x="648970" y="3288665"/>
            <a:ext cx="2150745" cy="92075"/>
          </a:xfrm>
          <a:prstGeom prst="curvedConnector3">
            <a:avLst>
              <a:gd name="adj1" fmla="val 49985"/>
            </a:avLst>
          </a:prstGeom>
          <a:ln w="28575" cmpd="sng"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曲线连接符 121"/>
          <p:cNvCxnSpPr>
            <a:stCxn id="51" idx="2"/>
          </p:cNvCxnSpPr>
          <p:nvPr>
            <p:custDataLst>
              <p:tags r:id="rId56"/>
            </p:custDataLst>
          </p:nvPr>
        </p:nvCxnSpPr>
        <p:spPr>
          <a:xfrm rot="5400000" flipV="1">
            <a:off x="9029700" y="1894840"/>
            <a:ext cx="723900" cy="1431290"/>
          </a:xfrm>
          <a:prstGeom prst="curvedConnector2">
            <a:avLst/>
          </a:prstGeom>
          <a:ln w="28575">
            <a:solidFill>
              <a:srgbClr val="FFC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曲线连接符 123"/>
          <p:cNvCxnSpPr>
            <a:stCxn id="52" idx="2"/>
            <a:endCxn id="99" idx="0"/>
          </p:cNvCxnSpPr>
          <p:nvPr>
            <p:custDataLst>
              <p:tags r:id="rId57"/>
            </p:custDataLst>
          </p:nvPr>
        </p:nvCxnSpPr>
        <p:spPr>
          <a:xfrm rot="5400000">
            <a:off x="10038715" y="2491105"/>
            <a:ext cx="757555" cy="271780"/>
          </a:xfrm>
          <a:prstGeom prst="curvedConnector3">
            <a:avLst>
              <a:gd name="adj1" fmla="val 50083"/>
            </a:avLst>
          </a:prstGeom>
          <a:ln w="25400">
            <a:solidFill>
              <a:srgbClr val="FFC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>
            <p:custDataLst>
              <p:tags r:id="rId58"/>
            </p:custDataLst>
          </p:nvPr>
        </p:nvCxnSpPr>
        <p:spPr>
          <a:xfrm>
            <a:off x="1018540" y="2658110"/>
            <a:ext cx="102012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9" name="图片 128" descr="箭头-尖尾-向右">
            <a:hlinkClick r:id="rId59" action="ppaction://hlinkfile"/>
          </p:cNvPr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 rot="20820000">
            <a:off x="10407650" y="5594350"/>
            <a:ext cx="914400" cy="410845"/>
          </a:xfrm>
          <a:prstGeom prst="rect">
            <a:avLst/>
          </a:prstGeom>
        </p:spPr>
      </p:pic>
      <p:sp>
        <p:nvSpPr>
          <p:cNvPr id="130" name="文本框 129"/>
          <p:cNvSpPr txBox="1"/>
          <p:nvPr/>
        </p:nvSpPr>
        <p:spPr>
          <a:xfrm>
            <a:off x="10017125" y="5904865"/>
            <a:ext cx="416560" cy="36830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ea typeface="微软雅黑" panose="020B0503020204020204" charset="-122"/>
              </a:rPr>
              <a:t>知</a:t>
            </a:r>
            <a:endParaRPr lang="zh-CN" altLang="en-US" sz="18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11277600" y="5536565"/>
            <a:ext cx="416560" cy="36830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charset="-122"/>
              </a:rPr>
              <a:t>行</a:t>
            </a:r>
            <a:endParaRPr lang="zh-CN" altLang="en-US" sz="1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34" name="直接连接符 133"/>
          <p:cNvCxnSpPr>
            <a:stCxn id="48" idx="3"/>
            <a:endCxn id="49" idx="1"/>
          </p:cNvCxnSpPr>
          <p:nvPr>
            <p:custDataLst>
              <p:tags r:id="rId63"/>
            </p:custDataLst>
          </p:nvPr>
        </p:nvCxnSpPr>
        <p:spPr>
          <a:xfrm>
            <a:off x="2319655" y="2004060"/>
            <a:ext cx="43497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直接连接符 134"/>
          <p:cNvCxnSpPr>
            <a:stCxn id="49" idx="3"/>
            <a:endCxn id="53" idx="1"/>
          </p:cNvCxnSpPr>
          <p:nvPr>
            <p:custDataLst>
              <p:tags r:id="rId64"/>
            </p:custDataLst>
          </p:nvPr>
        </p:nvCxnSpPr>
        <p:spPr>
          <a:xfrm>
            <a:off x="4001135" y="2004060"/>
            <a:ext cx="4565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53" idx="3"/>
            <a:endCxn id="50" idx="1"/>
          </p:cNvCxnSpPr>
          <p:nvPr>
            <p:custDataLst>
              <p:tags r:id="rId65"/>
            </p:custDataLst>
          </p:nvPr>
        </p:nvCxnSpPr>
        <p:spPr>
          <a:xfrm>
            <a:off x="5704205" y="2004060"/>
            <a:ext cx="450215" cy="107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直接连接符 136"/>
          <p:cNvCxnSpPr>
            <a:stCxn id="50" idx="3"/>
            <a:endCxn id="51" idx="1"/>
          </p:cNvCxnSpPr>
          <p:nvPr>
            <p:custDataLst>
              <p:tags r:id="rId66"/>
            </p:custDataLst>
          </p:nvPr>
        </p:nvCxnSpPr>
        <p:spPr>
          <a:xfrm flipV="1">
            <a:off x="7473950" y="2004060"/>
            <a:ext cx="450215" cy="107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8" name="直接连接符 137"/>
          <p:cNvCxnSpPr>
            <a:stCxn id="51" idx="3"/>
            <a:endCxn id="52" idx="1"/>
          </p:cNvCxnSpPr>
          <p:nvPr>
            <p:custDataLst>
              <p:tags r:id="rId67"/>
            </p:custDataLst>
          </p:nvPr>
        </p:nvCxnSpPr>
        <p:spPr>
          <a:xfrm>
            <a:off x="9427210" y="2004060"/>
            <a:ext cx="4584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>
            <p:custDataLst>
              <p:tags r:id="rId68"/>
            </p:custDataLst>
          </p:nvPr>
        </p:nvGrpSpPr>
        <p:grpSpPr>
          <a:xfrm rot="0">
            <a:off x="949325" y="4491355"/>
            <a:ext cx="2124075" cy="1153160"/>
            <a:chOff x="960" y="3168"/>
            <a:chExt cx="5184" cy="2448"/>
          </a:xfrm>
          <a:solidFill>
            <a:schemeClr val="accent4"/>
          </a:solidFill>
        </p:grpSpPr>
        <p:pic>
          <p:nvPicPr>
            <p:cNvPr id="80" name="Image 7" descr="preencoded.png"/>
            <p:cNvPicPr>
              <a:picLocks noChangeAspect="1"/>
            </p:cNvPicPr>
            <p:nvPr>
              <p:custDataLst>
                <p:tags r:id="rId69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/>
            </a:stretch>
          </p:blipFill>
          <p:spPr>
            <a:xfrm>
              <a:off x="960" y="3168"/>
              <a:ext cx="5184" cy="2448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81" name="Text 1"/>
            <p:cNvSpPr/>
            <p:nvPr>
              <p:custDataLst>
                <p:tags r:id="rId71"/>
              </p:custDataLst>
            </p:nvPr>
          </p:nvSpPr>
          <p:spPr>
            <a:xfrm>
              <a:off x="1893" y="3504"/>
              <a:ext cx="3551" cy="783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00234E"/>
                  </a:solidFill>
                </a:rPr>
                <a:t>解读</a:t>
              </a:r>
              <a:r>
                <a:rPr lang="en-US" sz="1600" b="1" dirty="0">
                  <a:solidFill>
                    <a:srgbClr val="00234E"/>
                  </a:solidFill>
                  <a:highlight>
                    <a:srgbClr val="FFFF00"/>
                  </a:highlight>
                </a:rPr>
                <a:t>定级报告</a:t>
              </a:r>
              <a:endParaRPr lang="en-US" sz="1600" b="1" dirty="0">
                <a:solidFill>
                  <a:srgbClr val="00234E"/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82" name="Image 8" descr="https://test.web.static.jianzeppt.com/ppt-temp-img3/26789e569394ebb4695e716b15c9df00.png?x-oss-process=image/resize,w_1440,h_800,m_lfit/format,png"/>
            <p:cNvPicPr>
              <a:picLocks noChangeAspect="1"/>
            </p:cNvPicPr>
            <p:nvPr>
              <p:custDataLst>
                <p:tags r:id="rId72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272" y="4296"/>
              <a:ext cx="4560" cy="24"/>
            </a:xfrm>
            <a:prstGeom prst="rect">
              <a:avLst/>
            </a:prstGeom>
            <a:grpFill/>
          </p:spPr>
        </p:pic>
        <p:sp>
          <p:nvSpPr>
            <p:cNvPr id="83" name="Text 2"/>
            <p:cNvSpPr/>
            <p:nvPr>
              <p:custDataLst>
                <p:tags r:id="rId73"/>
              </p:custDataLst>
            </p:nvPr>
          </p:nvSpPr>
          <p:spPr>
            <a:xfrm>
              <a:off x="1272" y="4370"/>
              <a:ext cx="4574" cy="980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</a:rPr>
                <a:t>了解系统名称、安全等级、业务描述等关键信息</a:t>
              </a:r>
              <a:endParaRPr lang="en-US" sz="1200" dirty="0">
                <a:solidFill>
                  <a:srgbClr val="333333"/>
                </a:solidFill>
              </a:endParaRPr>
            </a:p>
          </p:txBody>
        </p:sp>
      </p:grpSp>
      <p:sp>
        <p:nvSpPr>
          <p:cNvPr id="112" name="文本框 111"/>
          <p:cNvSpPr txBox="1"/>
          <p:nvPr>
            <p:custDataLst>
              <p:tags r:id="rId74"/>
            </p:custDataLst>
          </p:nvPr>
        </p:nvSpPr>
        <p:spPr>
          <a:xfrm>
            <a:off x="1076960" y="468947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4160" y="2972435"/>
            <a:ext cx="11095990" cy="4025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5364480" cy="2316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1630680"/>
            <a:ext cx="365760" cy="36576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44880" y="167640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440" dirty="0"/>
          </a:p>
        </p:txBody>
      </p:sp>
      <p:sp>
        <p:nvSpPr>
          <p:cNvPr id="8" name="Text 1"/>
          <p:cNvSpPr/>
          <p:nvPr/>
        </p:nvSpPr>
        <p:spPr>
          <a:xfrm>
            <a:off x="1356360" y="158496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本节核心要点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868680" y="2118360"/>
            <a:ext cx="485546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①方案编制的“六步法”——解读定级→分析架构→确定范围→选取对象→确定指标→编制方案</a:t>
            </a:r>
            <a:endParaRPr lang="en-US" sz="1680" dirty="0"/>
          </a:p>
        </p:txBody>
      </p:sp>
      <p:sp>
        <p:nvSpPr>
          <p:cNvPr id="10" name="Text 3"/>
          <p:cNvSpPr/>
          <p:nvPr/>
        </p:nvSpPr>
        <p:spPr>
          <a:xfrm>
            <a:off x="868680" y="2677795"/>
            <a:ext cx="256032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②测评对象选取的四大原则</a:t>
            </a:r>
            <a:endParaRPr lang="en-US" sz="1680" dirty="0"/>
          </a:p>
        </p:txBody>
      </p:sp>
      <p:sp>
        <p:nvSpPr>
          <p:cNvPr id="11" name="Text 4"/>
          <p:cNvSpPr/>
          <p:nvPr/>
        </p:nvSpPr>
        <p:spPr>
          <a:xfrm>
            <a:off x="868680" y="2999740"/>
            <a:ext cx="277368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③测评指标选取的适用性判断</a:t>
            </a:r>
            <a:endParaRPr lang="en-US" sz="168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920" y="1377315"/>
            <a:ext cx="5364480" cy="2316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575435"/>
            <a:ext cx="365760" cy="36576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553200" y="1621155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440" dirty="0"/>
          </a:p>
        </p:txBody>
      </p:sp>
      <p:sp>
        <p:nvSpPr>
          <p:cNvPr id="39" name="Text 28"/>
          <p:cNvSpPr/>
          <p:nvPr/>
        </p:nvSpPr>
        <p:spPr>
          <a:xfrm>
            <a:off x="6964680" y="1529715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课后作业</a:t>
            </a:r>
            <a:endParaRPr lang="en-US" sz="2400" dirty="0"/>
          </a:p>
        </p:txBody>
      </p:sp>
      <p:sp>
        <p:nvSpPr>
          <p:cNvPr id="40" name="Text 29"/>
          <p:cNvSpPr/>
          <p:nvPr/>
        </p:nvSpPr>
        <p:spPr>
          <a:xfrm>
            <a:off x="6477000" y="2159635"/>
            <a:ext cx="4855464" cy="1292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0" algn="l" fontAlgn="auto">
              <a:lnSpc>
                <a:spcPct val="125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完成闯关平台的第一个挑战，分数80分以上闯关成功，并将最终签字版的测评方案，以及多次挑战的</a:t>
            </a:r>
            <a:r>
              <a:rPr lang="zh-CN" alt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系统点</a:t>
            </a: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评记录</a:t>
            </a:r>
            <a:r>
              <a:rPr lang="zh-CN" alt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整理</a:t>
            </a: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打包，按照“班级+学号+姓名”命名后上传作业系统</a:t>
            </a:r>
            <a:endParaRPr lang="en-US" sz="168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8155" y="3931920"/>
            <a:ext cx="8775700" cy="23164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45" name="Text 32"/>
          <p:cNvSpPr/>
          <p:nvPr/>
        </p:nvSpPr>
        <p:spPr>
          <a:xfrm>
            <a:off x="5325110" y="4206240"/>
            <a:ext cx="122809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FFC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职业寄语</a:t>
            </a:r>
            <a:endParaRPr lang="zh-CN" altLang="en-US" sz="2400" b="1" dirty="0">
              <a:solidFill>
                <a:srgbClr val="FFC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46" name="Text 33"/>
          <p:cNvSpPr/>
          <p:nvPr/>
        </p:nvSpPr>
        <p:spPr>
          <a:xfrm>
            <a:off x="3194050" y="4841240"/>
            <a:ext cx="5382895" cy="10020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6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    </a:t>
            </a:r>
            <a:r>
              <a:rPr lang="zh-CN" altLang="en-US" sz="16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我是测评师，我是网络安全防线 " 体检医生 "，网络</a:t>
            </a:r>
            <a:r>
              <a:rPr lang="zh-CN" alt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健康</a:t>
            </a:r>
            <a:r>
              <a:rPr lang="zh-CN" altLang="en-US" sz="16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我来守护！</a:t>
            </a:r>
            <a:endParaRPr lang="zh-CN" altLang="en-US" sz="16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47" name="Text 3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小结与课后作业</a:t>
            </a:r>
            <a:endParaRPr lang="en-US" sz="27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2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3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4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5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6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7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8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9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0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1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2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3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4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5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6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17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18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19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0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1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2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3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2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2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2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2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2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3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3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3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3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3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3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3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3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3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3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9.xml><?xml version="1.0" encoding="utf-8"?>
<p:tagLst xmlns:p="http://schemas.openxmlformats.org/presentationml/2006/main">
  <p:tag name="KSO_DOCER_RESOURCE_TRACE_INFO" val="{&quot;id&quot;:&quot;50059188&quot;,&quot;origin&quot;:0,&quot;type&quot;:&quot;icons&quot;,&quot;user&quot;:&quot;1867101956&quot;}"/>
</p:tagLst>
</file>

<file path=ppt/tags/tag7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8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81.xml><?xml version="1.0" encoding="utf-8"?>
<p:tagLst xmlns:p="http://schemas.openxmlformats.org/presentationml/2006/main">
  <p:tag name="resource_record_key" val="{&quot;10&quot;:[50063292,50059188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WPS 演示</Application>
  <PresentationFormat>On-screen Show (16:9)</PresentationFormat>
  <Paragraphs>141</Paragraphs>
  <Slides>5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方正仿宋_GBK</vt:lpstr>
      <vt:lpstr>思源黑体 CN</vt:lpstr>
      <vt:lpstr>黑体</vt:lpstr>
      <vt:lpstr>思源黑体 CN</vt:lpstr>
      <vt:lpstr>思源黑体 CN Bold</vt:lpstr>
      <vt:lpstr>思源黑体 CN Bold</vt:lpstr>
      <vt:lpstr>思源黑体 CN Bold</vt:lpstr>
      <vt:lpstr>微软雅黑</vt:lpstr>
      <vt:lpstr>Calibri</vt:lpstr>
      <vt:lpstr>等线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202603</cp:lastModifiedBy>
  <cp:revision>34</cp:revision>
  <dcterms:created xsi:type="dcterms:W3CDTF">2026-08-24T17:04:00Z</dcterms:created>
  <dcterms:modified xsi:type="dcterms:W3CDTF">2026-09-14T15:49:23Z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504192CE02D9445E8F27B9F656B9D259_13</vt:lpwstr>
  </property>
  <property fmtid="{D5CDD505-2E9C-101B-9397-08002B2CF9AE}" pid="3" name="KSOProductBuildVer">
    <vt:lpwstr>2052-12.1.0.26895</vt:lpwstr>
  </property>
</Properties>
</file>