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4.svg" ContentType="image/svg+xml"/>
  <Override PartName="/ppt/media/image106.svg" ContentType="image/svg+xml"/>
  <Override PartName="/ppt/media/image108.svg" ContentType="image/svg+xml"/>
  <Override PartName="/ppt/media/image110.svg" ContentType="image/svg+xml"/>
  <Override PartName="/ppt/media/image113.svg" ContentType="image/svg+xml"/>
  <Override PartName="/ppt/media/image116.svg" ContentType="image/svg+xml"/>
  <Override PartName="/ppt/media/image119.svg" ContentType="image/svg+xml"/>
  <Override PartName="/ppt/media/image122.svg" ContentType="image/svg+xml"/>
  <Override PartName="/ppt/media/image127.svg" ContentType="image/svg+xml"/>
  <Override PartName="/ppt/media/image129.svg" ContentType="image/svg+xml"/>
  <Override PartName="/ppt/media/image131.svg" ContentType="image/svg+xml"/>
  <Override PartName="/ppt/media/image133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5.svg" ContentType="image/svg+xml"/>
  <Override PartName="/ppt/media/image150.svg" ContentType="image/svg+xml"/>
  <Override PartName="/ppt/media/image156.svg" ContentType="image/svg+xml"/>
  <Override PartName="/ppt/media/image159.svg" ContentType="image/svg+xml"/>
  <Override PartName="/ppt/media/image188.svg" ContentType="image/svg+xml"/>
  <Override PartName="/ppt/media/image19.svg" ContentType="image/svg+xml"/>
  <Override PartName="/ppt/media/image190.svg" ContentType="image/svg+xml"/>
  <Override PartName="/ppt/media/image193.svg" ContentType="image/svg+xml"/>
  <Override PartName="/ppt/media/image195.svg" ContentType="image/svg+xml"/>
  <Override PartName="/ppt/media/image22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6.svg" ContentType="image/svg+xml"/>
  <Override PartName="/ppt/media/image49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75.svg" ContentType="image/svg+xml"/>
  <Override PartName="/ppt/media/image80.svg" ContentType="image/svg+xml"/>
  <Override PartName="/ppt/media/image83.svg" ContentType="image/svg+xml"/>
  <Override PartName="/ppt/media/image85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4" r:id="rId13"/>
    <p:sldId id="265" r:id="rId14"/>
    <p:sldId id="266" r:id="rId15"/>
    <p:sldId id="267" r:id="rId16"/>
    <p:sldId id="268" r:id="rId17"/>
    <p:sldId id="269" r:id="rId18"/>
    <p:sldId id="287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4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3" Type="http://schemas.openxmlformats.org/officeDocument/2006/relationships/slide" Target="slides/slide29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sv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svg"/><Relationship Id="rId11" Type="http://schemas.openxmlformats.org/officeDocument/2006/relationships/image" Target="../media/image20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image" Target="../media/image22.sv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svg"/><Relationship Id="rId9" Type="http://schemas.openxmlformats.org/officeDocument/2006/relationships/image" Target="../media/image26.png"/><Relationship Id="rId10" Type="http://schemas.openxmlformats.org/officeDocument/2006/relationships/image" Target="../media/image27.svg"/><Relationship Id="rId11" Type="http://schemas.openxmlformats.org/officeDocument/2006/relationships/image" Target="../media/image28.png"/><Relationship Id="rId12" Type="http://schemas.openxmlformats.org/officeDocument/2006/relationships/image" Target="../media/image29.svg"/><Relationship Id="rId13" Type="http://schemas.openxmlformats.org/officeDocument/2006/relationships/image" Target="../media/image30.png"/><Relationship Id="rId14" Type="http://schemas.openxmlformats.org/officeDocument/2006/relationships/image" Target="../media/image31.svg"/><Relationship Id="rId15" Type="http://schemas.openxmlformats.org/officeDocument/2006/relationships/image" Target="../media/image32.png"/><Relationship Id="rId16" Type="http://schemas.openxmlformats.org/officeDocument/2006/relationships/image" Target="../media/image33.svg"/><Relationship Id="rId17" Type="http://schemas.openxmlformats.org/officeDocument/2006/relationships/image" Target="../media/image3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15.svg"/><Relationship Id="rId6" Type="http://schemas.openxmlformats.org/officeDocument/2006/relationships/tags" Target="../tags/tag1.xml"/><Relationship Id="rId7" Type="http://schemas.openxmlformats.org/officeDocument/2006/relationships/image" Target="../media/image35.png"/><Relationship Id="rId8" Type="http://schemas.openxmlformats.org/officeDocument/2006/relationships/tags" Target="../tags/tag2.xml"/><Relationship Id="rId9" Type="http://schemas.openxmlformats.org/officeDocument/2006/relationships/tags" Target="../tags/tag3.xml"/><Relationship Id="rId10" Type="http://schemas.openxmlformats.org/officeDocument/2006/relationships/image" Target="../media/image36.png"/><Relationship Id="rId11" Type="http://schemas.openxmlformats.org/officeDocument/2006/relationships/image" Target="../media/image37.svg"/><Relationship Id="rId12" Type="http://schemas.openxmlformats.org/officeDocument/2006/relationships/tags" Target="../tags/tag4.xml"/><Relationship Id="rId13" Type="http://schemas.openxmlformats.org/officeDocument/2006/relationships/tags" Target="../tags/tag5.xml"/><Relationship Id="rId14" Type="http://schemas.openxmlformats.org/officeDocument/2006/relationships/tags" Target="../tags/tag6.xml"/><Relationship Id="rId15" Type="http://schemas.openxmlformats.org/officeDocument/2006/relationships/tags" Target="../tags/tag7.xml"/><Relationship Id="rId16" Type="http://schemas.openxmlformats.org/officeDocument/2006/relationships/tags" Target="../tags/tag8.xml"/><Relationship Id="rId17" Type="http://schemas.openxmlformats.org/officeDocument/2006/relationships/tags" Target="../tags/tag9.xml"/><Relationship Id="rId18" Type="http://schemas.openxmlformats.org/officeDocument/2006/relationships/tags" Target="../tags/tag10.xml"/><Relationship Id="rId19" Type="http://schemas.openxmlformats.org/officeDocument/2006/relationships/tags" Target="../tags/tag11.xml"/><Relationship Id="rId20" Type="http://schemas.openxmlformats.org/officeDocument/2006/relationships/tags" Target="../tags/tag12.xml"/><Relationship Id="rId21" Type="http://schemas.openxmlformats.org/officeDocument/2006/relationships/tags" Target="../tags/tag13.xml"/><Relationship Id="rId22" Type="http://schemas.openxmlformats.org/officeDocument/2006/relationships/tags" Target="../tags/tag14.xml"/><Relationship Id="rId23" Type="http://schemas.openxmlformats.org/officeDocument/2006/relationships/tags" Target="../tags/tag15.xml"/><Relationship Id="rId24" Type="http://schemas.openxmlformats.org/officeDocument/2006/relationships/tags" Target="../tags/tag16.xml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Relationship Id="rId5" Type="http://schemas.openxmlformats.org/officeDocument/2006/relationships/image" Target="../media/image39.svg"/><Relationship Id="rId6" Type="http://schemas.openxmlformats.org/officeDocument/2006/relationships/image" Target="../media/image40.png"/><Relationship Id="rId7" Type="http://schemas.openxmlformats.org/officeDocument/2006/relationships/image" Target="../media/image41.svg"/><Relationship Id="rId8" Type="http://schemas.openxmlformats.org/officeDocument/2006/relationships/image" Target="../media/image42.png"/><Relationship Id="rId9" Type="http://schemas.openxmlformats.org/officeDocument/2006/relationships/image" Target="../media/image43.svg"/><Relationship Id="rId10" Type="http://schemas.openxmlformats.org/officeDocument/2006/relationships/image" Target="../media/image4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45.png"/><Relationship Id="rId5" Type="http://schemas.openxmlformats.org/officeDocument/2006/relationships/image" Target="../media/image46.sv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sv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svg"/><Relationship Id="rId13" Type="http://schemas.openxmlformats.org/officeDocument/2006/relationships/image" Target="../media/image54.png"/><Relationship Id="rId14" Type="http://schemas.openxmlformats.org/officeDocument/2006/relationships/image" Target="../media/image55.svg"/><Relationship Id="rId15" Type="http://schemas.openxmlformats.org/officeDocument/2006/relationships/image" Target="../media/image56.png"/><Relationship Id="rId16" Type="http://schemas.openxmlformats.org/officeDocument/2006/relationships/image" Target="../media/image57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5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svg"/><Relationship Id="rId8" Type="http://schemas.openxmlformats.org/officeDocument/2006/relationships/image" Target="../media/image64.png"/><Relationship Id="rId9" Type="http://schemas.openxmlformats.org/officeDocument/2006/relationships/image" Target="../media/image65.svg"/><Relationship Id="rId10" Type="http://schemas.openxmlformats.org/officeDocument/2006/relationships/image" Target="../media/image66.png"/><Relationship Id="rId11" Type="http://schemas.openxmlformats.org/officeDocument/2006/relationships/image" Target="../media/image67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74.png"/><Relationship Id="rId11" Type="http://schemas.openxmlformats.org/officeDocument/2006/relationships/image" Target="../media/image75.svg"/><Relationship Id="rId12" Type="http://schemas.openxmlformats.org/officeDocument/2006/relationships/image" Target="../media/image76.png"/><Relationship Id="rId13" Type="http://schemas.openxmlformats.org/officeDocument/2006/relationships/image" Target="../media/image77.png"/><Relationship Id="rId14" Type="http://schemas.openxmlformats.org/officeDocument/2006/relationships/image" Target="../media/image15.svg"/><Relationship Id="rId15" Type="http://schemas.openxmlformats.org/officeDocument/2006/relationships/image" Target="../media/image78.png"/><Relationship Id="rId16" Type="http://schemas.openxmlformats.org/officeDocument/2006/relationships/image" Target="../media/image79.png"/><Relationship Id="rId17" Type="http://schemas.openxmlformats.org/officeDocument/2006/relationships/image" Target="../media/image80.sv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84.png"/><Relationship Id="rId5" Type="http://schemas.openxmlformats.org/officeDocument/2006/relationships/image" Target="../media/image85.sv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2.png"/><Relationship Id="rId13" Type="http://schemas.openxmlformats.org/officeDocument/2006/relationships/image" Target="../media/image93.svg"/><Relationship Id="rId14" Type="http://schemas.openxmlformats.org/officeDocument/2006/relationships/image" Target="../media/image94.png"/><Relationship Id="rId15" Type="http://schemas.openxmlformats.org/officeDocument/2006/relationships/image" Target="../media/image95.svg"/><Relationship Id="rId16" Type="http://schemas.openxmlformats.org/officeDocument/2006/relationships/image" Target="../media/image96.png"/><Relationship Id="rId17" Type="http://schemas.openxmlformats.org/officeDocument/2006/relationships/image" Target="../media/image9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98.png"/><Relationship Id="rId5" Type="http://schemas.openxmlformats.org/officeDocument/2006/relationships/image" Target="../media/image100.png"/><Relationship Id="rId6" Type="http://schemas.openxmlformats.org/officeDocument/2006/relationships/image" Target="../media/image101.svg"/><Relationship Id="rId7" Type="http://schemas.openxmlformats.org/officeDocument/2006/relationships/image" Target="../media/image99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svg"/><Relationship Id="rId7" Type="http://schemas.openxmlformats.org/officeDocument/2006/relationships/image" Target="../media/image105.png"/><Relationship Id="rId8" Type="http://schemas.openxmlformats.org/officeDocument/2006/relationships/image" Target="../media/image106.svg"/><Relationship Id="rId9" Type="http://schemas.openxmlformats.org/officeDocument/2006/relationships/image" Target="../media/image107.png"/><Relationship Id="rId10" Type="http://schemas.openxmlformats.org/officeDocument/2006/relationships/image" Target="../media/image108.svg"/><Relationship Id="rId11" Type="http://schemas.openxmlformats.org/officeDocument/2006/relationships/image" Target="../media/image109.png"/><Relationship Id="rId12" Type="http://schemas.openxmlformats.org/officeDocument/2006/relationships/image" Target="../media/image110.svg"/><Relationship Id="rId13" Type="http://schemas.openxmlformats.org/officeDocument/2006/relationships/image" Target="../media/image99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svg"/><Relationship Id="rId7" Type="http://schemas.openxmlformats.org/officeDocument/2006/relationships/image" Target="../media/image114.png"/><Relationship Id="rId8" Type="http://schemas.openxmlformats.org/officeDocument/2006/relationships/image" Target="../media/image115.png"/><Relationship Id="rId9" Type="http://schemas.openxmlformats.org/officeDocument/2006/relationships/image" Target="../media/image116.svg"/><Relationship Id="rId10" Type="http://schemas.openxmlformats.org/officeDocument/2006/relationships/image" Target="../media/image117.png"/><Relationship Id="rId11" Type="http://schemas.openxmlformats.org/officeDocument/2006/relationships/image" Target="../media/image118.png"/><Relationship Id="rId12" Type="http://schemas.openxmlformats.org/officeDocument/2006/relationships/image" Target="../media/image119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2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21.png"/><Relationship Id="rId5" Type="http://schemas.openxmlformats.org/officeDocument/2006/relationships/image" Target="../media/image122.svg"/><Relationship Id="rId6" Type="http://schemas.openxmlformats.org/officeDocument/2006/relationships/image" Target="../media/image123.png"/><Relationship Id="rId7" Type="http://schemas.openxmlformats.org/officeDocument/2006/relationships/image" Target="../media/image12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tags" Target="../tags/tag17.xml"/><Relationship Id="rId5" Type="http://schemas.openxmlformats.org/officeDocument/2006/relationships/image" Target="../media/image125.png"/><Relationship Id="rId6" Type="http://schemas.openxmlformats.org/officeDocument/2006/relationships/tags" Target="../tags/tag18.xml"/><Relationship Id="rId7" Type="http://schemas.openxmlformats.org/officeDocument/2006/relationships/image" Target="../media/image126.png"/><Relationship Id="rId8" Type="http://schemas.openxmlformats.org/officeDocument/2006/relationships/image" Target="../media/image127.svg"/><Relationship Id="rId9" Type="http://schemas.openxmlformats.org/officeDocument/2006/relationships/tags" Target="../tags/tag19.xml"/><Relationship Id="rId10" Type="http://schemas.openxmlformats.org/officeDocument/2006/relationships/tags" Target="../tags/tag20.xml"/><Relationship Id="rId11" Type="http://schemas.openxmlformats.org/officeDocument/2006/relationships/image" Target="../media/image128.png"/><Relationship Id="rId12" Type="http://schemas.openxmlformats.org/officeDocument/2006/relationships/image" Target="../media/image129.svg"/><Relationship Id="rId13" Type="http://schemas.openxmlformats.org/officeDocument/2006/relationships/tags" Target="../tags/tag21.xml"/><Relationship Id="rId14" Type="http://schemas.openxmlformats.org/officeDocument/2006/relationships/tags" Target="../tags/tag22.xml"/><Relationship Id="rId15" Type="http://schemas.openxmlformats.org/officeDocument/2006/relationships/tags" Target="../tags/tag23.xml"/><Relationship Id="rId16" Type="http://schemas.openxmlformats.org/officeDocument/2006/relationships/tags" Target="../tags/tag24.xml"/><Relationship Id="rId17" Type="http://schemas.openxmlformats.org/officeDocument/2006/relationships/tags" Target="../tags/tag25.xml"/><Relationship Id="rId18" Type="http://schemas.openxmlformats.org/officeDocument/2006/relationships/tags" Target="../tags/tag26.xml"/><Relationship Id="rId19" Type="http://schemas.openxmlformats.org/officeDocument/2006/relationships/tags" Target="../tags/tag27.xml"/><Relationship Id="rId20" Type="http://schemas.openxmlformats.org/officeDocument/2006/relationships/image" Target="../media/image130.png"/><Relationship Id="rId21" Type="http://schemas.openxmlformats.org/officeDocument/2006/relationships/image" Target="../media/image131.svg"/><Relationship Id="rId22" Type="http://schemas.openxmlformats.org/officeDocument/2006/relationships/tags" Target="../tags/tag28.xml"/><Relationship Id="rId23" Type="http://schemas.openxmlformats.org/officeDocument/2006/relationships/tags" Target="../tags/tag29.xml"/><Relationship Id="rId24" Type="http://schemas.openxmlformats.org/officeDocument/2006/relationships/tags" Target="../tags/tag30.xml"/><Relationship Id="rId25" Type="http://schemas.openxmlformats.org/officeDocument/2006/relationships/tags" Target="../tags/tag31.xml"/><Relationship Id="rId26" Type="http://schemas.openxmlformats.org/officeDocument/2006/relationships/tags" Target="../tags/tag32.xml"/><Relationship Id="rId27" Type="http://schemas.openxmlformats.org/officeDocument/2006/relationships/tags" Target="../tags/tag33.xml"/><Relationship Id="rId28" Type="http://schemas.openxmlformats.org/officeDocument/2006/relationships/tags" Target="../tags/tag34.xml"/><Relationship Id="rId29" Type="http://schemas.openxmlformats.org/officeDocument/2006/relationships/image" Target="../media/image132.png"/><Relationship Id="rId30" Type="http://schemas.openxmlformats.org/officeDocument/2006/relationships/image" Target="../media/image133.svg"/><Relationship Id="rId31" Type="http://schemas.openxmlformats.org/officeDocument/2006/relationships/tags" Target="../tags/tag35.xml"/><Relationship Id="rId32" Type="http://schemas.openxmlformats.org/officeDocument/2006/relationships/tags" Target="../tags/tag36.xml"/><Relationship Id="rId33" Type="http://schemas.openxmlformats.org/officeDocument/2006/relationships/tags" Target="../tags/tag37.xml"/><Relationship Id="rId34" Type="http://schemas.openxmlformats.org/officeDocument/2006/relationships/tags" Target="../tags/tag38.xml"/><Relationship Id="rId35" Type="http://schemas.openxmlformats.org/officeDocument/2006/relationships/slideLayout" Target="../slideLayouts/slideLayout1.xml"/><Relationship Id="rId3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Relationship Id="rId9" Type="http://schemas.openxmlformats.org/officeDocument/2006/relationships/image" Target="../media/image13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40.png"/><Relationship Id="rId5" Type="http://schemas.openxmlformats.org/officeDocument/2006/relationships/image" Target="../media/image141.svg"/><Relationship Id="rId6" Type="http://schemas.openxmlformats.org/officeDocument/2006/relationships/image" Target="../media/image142.png"/><Relationship Id="rId7" Type="http://schemas.openxmlformats.org/officeDocument/2006/relationships/image" Target="../media/image143.svg"/><Relationship Id="rId8" Type="http://schemas.openxmlformats.org/officeDocument/2006/relationships/image" Target="../media/image144.png"/><Relationship Id="rId9" Type="http://schemas.openxmlformats.org/officeDocument/2006/relationships/image" Target="../media/image145.svg"/><Relationship Id="rId10" Type="http://schemas.openxmlformats.org/officeDocument/2006/relationships/image" Target="../media/image146.png"/><Relationship Id="rId11" Type="http://schemas.openxmlformats.org/officeDocument/2006/relationships/image" Target="../media/image147.svg"/><Relationship Id="rId12" Type="http://schemas.openxmlformats.org/officeDocument/2006/relationships/image" Target="../media/image148.png"/><Relationship Id="rId13" Type="http://schemas.openxmlformats.org/officeDocument/2006/relationships/image" Target="../media/image149.png"/><Relationship Id="rId14" Type="http://schemas.openxmlformats.org/officeDocument/2006/relationships/image" Target="../media/image150.sv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tags" Target="../tags/tag39.xml"/><Relationship Id="rId5" Type="http://schemas.openxmlformats.org/officeDocument/2006/relationships/image" Target="../media/image154.png"/><Relationship Id="rId6" Type="http://schemas.openxmlformats.org/officeDocument/2006/relationships/tags" Target="../tags/tag40.xml"/><Relationship Id="rId7" Type="http://schemas.openxmlformats.org/officeDocument/2006/relationships/image" Target="../media/image155.png"/><Relationship Id="rId8" Type="http://schemas.openxmlformats.org/officeDocument/2006/relationships/image" Target="../media/image156.svg"/><Relationship Id="rId9" Type="http://schemas.openxmlformats.org/officeDocument/2006/relationships/tags" Target="../tags/tag41.xml"/><Relationship Id="rId10" Type="http://schemas.openxmlformats.org/officeDocument/2006/relationships/tags" Target="../tags/tag42.xml"/><Relationship Id="rId11" Type="http://schemas.openxmlformats.org/officeDocument/2006/relationships/tags" Target="../tags/tag43.xml"/><Relationship Id="rId12" Type="http://schemas.openxmlformats.org/officeDocument/2006/relationships/tags" Target="../tags/tag44.xml"/><Relationship Id="rId13" Type="http://schemas.openxmlformats.org/officeDocument/2006/relationships/image" Target="../media/image157.png"/><Relationship Id="rId14" Type="http://schemas.openxmlformats.org/officeDocument/2006/relationships/tags" Target="../tags/tag45.xml"/><Relationship Id="rId15" Type="http://schemas.openxmlformats.org/officeDocument/2006/relationships/tags" Target="../tags/tag46.xml"/><Relationship Id="rId16" Type="http://schemas.openxmlformats.org/officeDocument/2006/relationships/tags" Target="../tags/tag47.xml"/><Relationship Id="rId17" Type="http://schemas.openxmlformats.org/officeDocument/2006/relationships/tags" Target="../tags/tag48.xml"/><Relationship Id="rId18" Type="http://schemas.openxmlformats.org/officeDocument/2006/relationships/tags" Target="../tags/tag49.xml"/><Relationship Id="rId19" Type="http://schemas.openxmlformats.org/officeDocument/2006/relationships/tags" Target="../tags/tag50.xml"/><Relationship Id="rId20" Type="http://schemas.openxmlformats.org/officeDocument/2006/relationships/tags" Target="../tags/tag51.xml"/><Relationship Id="rId21" Type="http://schemas.openxmlformats.org/officeDocument/2006/relationships/tags" Target="../tags/tag52.xml"/><Relationship Id="rId22" Type="http://schemas.openxmlformats.org/officeDocument/2006/relationships/tags" Target="../tags/tag53.xml"/><Relationship Id="rId23" Type="http://schemas.openxmlformats.org/officeDocument/2006/relationships/tags" Target="../tags/tag54.xml"/><Relationship Id="rId24" Type="http://schemas.openxmlformats.org/officeDocument/2006/relationships/tags" Target="../tags/tag55.xml"/><Relationship Id="rId25" Type="http://schemas.openxmlformats.org/officeDocument/2006/relationships/tags" Target="../tags/tag56.xml"/><Relationship Id="rId26" Type="http://schemas.openxmlformats.org/officeDocument/2006/relationships/tags" Target="../tags/tag57.xml"/><Relationship Id="rId27" Type="http://schemas.openxmlformats.org/officeDocument/2006/relationships/tags" Target="../tags/tag58.xml"/><Relationship Id="rId28" Type="http://schemas.openxmlformats.org/officeDocument/2006/relationships/tags" Target="../tags/tag59.xml"/><Relationship Id="rId29" Type="http://schemas.openxmlformats.org/officeDocument/2006/relationships/tags" Target="../tags/tag60.xml"/><Relationship Id="rId30" Type="http://schemas.openxmlformats.org/officeDocument/2006/relationships/tags" Target="../tags/tag61.xml"/><Relationship Id="rId31" Type="http://schemas.openxmlformats.org/officeDocument/2006/relationships/tags" Target="../tags/tag62.xml"/><Relationship Id="rId32" Type="http://schemas.openxmlformats.org/officeDocument/2006/relationships/image" Target="../media/image158.png"/><Relationship Id="rId33" Type="http://schemas.openxmlformats.org/officeDocument/2006/relationships/image" Target="../media/image159.svg"/><Relationship Id="rId34" Type="http://schemas.openxmlformats.org/officeDocument/2006/relationships/tags" Target="../tags/tag63.xml"/><Relationship Id="rId35" Type="http://schemas.openxmlformats.org/officeDocument/2006/relationships/image" Target="../media/image160.png"/><Relationship Id="rId36" Type="http://schemas.openxmlformats.org/officeDocument/2006/relationships/tags" Target="../tags/tag64.xml"/><Relationship Id="rId37" Type="http://schemas.openxmlformats.org/officeDocument/2006/relationships/tags" Target="../tags/tag65.xml"/><Relationship Id="rId38" Type="http://schemas.openxmlformats.org/officeDocument/2006/relationships/tags" Target="../tags/tag66.xml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87.png"/><Relationship Id="rId5" Type="http://schemas.openxmlformats.org/officeDocument/2006/relationships/image" Target="../media/image188.svg"/><Relationship Id="rId6" Type="http://schemas.openxmlformats.org/officeDocument/2006/relationships/image" Target="../media/image189.png"/><Relationship Id="rId7" Type="http://schemas.openxmlformats.org/officeDocument/2006/relationships/image" Target="../media/image190.sv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3.svg"/><Relationship Id="rId11" Type="http://schemas.openxmlformats.org/officeDocument/2006/relationships/image" Target="../media/image194.png"/><Relationship Id="rId12" Type="http://schemas.openxmlformats.org/officeDocument/2006/relationships/image" Target="../media/image195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授课教师：</a:t>
            </a:r>
            <a:r>
              <a:rPr lang="zh-CN" altLang="en-US" sz="2040" dirty="0">
                <a:solidFill>
                  <a:srgbClr val="000000"/>
                </a:solidFill>
              </a:rPr>
              <a:t>张玉</a:t>
            </a:r>
            <a:endParaRPr lang="zh-CN" altLang="en-US" sz="2040" dirty="0">
              <a:solidFill>
                <a:srgbClr val="000000"/>
              </a:solidFill>
            </a:endParaRPr>
          </a:p>
        </p:txBody>
      </p:sp>
      <p:sp>
        <p:nvSpPr>
          <p:cNvPr id="11" name="Text 1"/>
          <p:cNvSpPr/>
          <p:nvPr/>
        </p:nvSpPr>
        <p:spPr>
          <a:xfrm>
            <a:off x="577068" y="1649785"/>
            <a:ext cx="5490553" cy="18745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120" dirty="0">
                <a:solidFill>
                  <a:srgbClr val="FFFFFF"/>
                </a:solidFill>
              </a:rPr>
              <a:t>信息安全测评与风险评估</a:t>
            </a:r>
            <a:endParaRPr lang="en-US" sz="612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编制完整测评方案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7064048" y="4727345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教师示范——方案编制流程（15分钟）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064048" y="1677568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复习回顾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064048" y="3710752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学习目标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7064048" y="2694160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任务导入（10分钟）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6" name="Image 3" descr="https://test.web.static.jianzeppt.com/ppt-temp-img3/aed384931c37bbab83c2b7cbdb0f1f1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423160"/>
            <a:ext cx="3154680" cy="16154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2667000"/>
            <a:ext cx="26761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复习目标</a:t>
            </a:r>
            <a:endParaRPr lang="en-US" sz="1920" dirty="0"/>
          </a:p>
        </p:txBody>
      </p:sp>
      <p:sp>
        <p:nvSpPr>
          <p:cNvPr id="8" name="Text 2"/>
          <p:cNvSpPr/>
          <p:nvPr/>
        </p:nvSpPr>
        <p:spPr>
          <a:xfrm>
            <a:off x="853440" y="3154680"/>
            <a:ext cx="2676144" cy="640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00234E">
                    <a:alpha val="8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巩固上节课“测评方案结构学习”（2.1）的核心知识点</a:t>
            </a:r>
            <a:endParaRPr lang="en-US" sz="168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>
            <a:alphaModFix amt="2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45080" y="4526280"/>
            <a:ext cx="1219200" cy="1219200"/>
          </a:xfrm>
          <a:prstGeom prst="rect">
            <a:avLst/>
          </a:prstGeom>
        </p:spPr>
      </p:pic>
      <p:pic>
        <p:nvPicPr>
          <p:cNvPr id="10" name="Image 5" descr="https://test.web.static.jianzeppt.com/ppt-temp-img3/a2fe1ea2c00b6866f3b07321ad418a49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3792" y="609600"/>
            <a:ext cx="30480" cy="5638800"/>
          </a:xfrm>
          <a:prstGeom prst="rect">
            <a:avLst/>
          </a:prstGeom>
        </p:spPr>
      </p:pic>
      <p:pic>
        <p:nvPicPr>
          <p:cNvPr id="11" name="Image 6" descr="https://test.web.static.jianzeppt.com/ppt-temp-img3/11aa901f059f39e8f78a0fd22b9e717c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609600"/>
            <a:ext cx="7071360" cy="196596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70120" y="853440"/>
            <a:ext cx="960120" cy="44196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4953000" y="914400"/>
            <a:ext cx="603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问题 1</a:t>
            </a:r>
            <a:endParaRPr lang="en-US" sz="1680" dirty="0"/>
          </a:p>
        </p:txBody>
      </p:sp>
      <p:sp>
        <p:nvSpPr>
          <p:cNvPr id="14" name="Text 4"/>
          <p:cNvSpPr/>
          <p:nvPr/>
        </p:nvSpPr>
        <p:spPr>
          <a:xfrm>
            <a:off x="5852160" y="853440"/>
            <a:ext cx="5510784" cy="75676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一份完整的等保测评方案包含哪六个核心要素？</a:t>
            </a:r>
            <a:endParaRPr lang="en-US" sz="2160" dirty="0"/>
          </a:p>
        </p:txBody>
      </p:sp>
      <p:sp>
        <p:nvSpPr>
          <p:cNvPr id="15" name="Text 5"/>
          <p:cNvSpPr/>
          <p:nvPr/>
        </p:nvSpPr>
        <p:spPr>
          <a:xfrm>
            <a:off x="5013960" y="172212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00234E">
                    <a:alpha val="6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参考答案：</a:t>
            </a:r>
            <a:endParaRPr lang="en-US" sz="1680" dirty="0"/>
          </a:p>
        </p:txBody>
      </p:sp>
      <p:sp>
        <p:nvSpPr>
          <p:cNvPr id="16" name="Text 6"/>
          <p:cNvSpPr/>
          <p:nvPr/>
        </p:nvSpPr>
        <p:spPr>
          <a:xfrm>
            <a:off x="6202680" y="1691640"/>
            <a:ext cx="51602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00234E">
                    <a:alpha val="8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项目概述、测评依据、测评范围、测评方法、日程安排、人员分工</a:t>
            </a:r>
            <a:endParaRPr lang="en-US" sz="1800" dirty="0"/>
          </a:p>
        </p:txBody>
      </p:sp>
      <p:pic>
        <p:nvPicPr>
          <p:cNvPr id="17" name="Image 8" descr="https://test.web.static.jianzeppt.com/ppt-temp-img3/65d9e86e256dfb778ad9a541af5d3fcc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6280" y="2743200"/>
            <a:ext cx="7071360" cy="166116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70120" y="2987040"/>
            <a:ext cx="960120" cy="44196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953000" y="3048000"/>
            <a:ext cx="603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问题 2</a:t>
            </a:r>
            <a:endParaRPr lang="en-US" sz="1680" dirty="0"/>
          </a:p>
        </p:txBody>
      </p:sp>
      <p:sp>
        <p:nvSpPr>
          <p:cNvPr id="20" name="Text 8"/>
          <p:cNvSpPr/>
          <p:nvPr/>
        </p:nvSpPr>
        <p:spPr>
          <a:xfrm>
            <a:off x="5852160" y="2987040"/>
            <a:ext cx="3849624" cy="37838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测评对象选取应遵循哪些原则？</a:t>
            </a:r>
            <a:endParaRPr lang="en-US" sz="2160" dirty="0"/>
          </a:p>
        </p:txBody>
      </p:sp>
      <p:sp>
        <p:nvSpPr>
          <p:cNvPr id="21" name="Text 9"/>
          <p:cNvSpPr/>
          <p:nvPr/>
        </p:nvSpPr>
        <p:spPr>
          <a:xfrm>
            <a:off x="5013960" y="356616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00234E">
                    <a:alpha val="6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参考答案：</a:t>
            </a:r>
            <a:endParaRPr lang="en-US" sz="1680" dirty="0"/>
          </a:p>
        </p:txBody>
      </p:sp>
      <p:sp>
        <p:nvSpPr>
          <p:cNvPr id="22" name="Text 10"/>
          <p:cNvSpPr/>
          <p:nvPr/>
        </p:nvSpPr>
        <p:spPr>
          <a:xfrm>
            <a:off x="6202680" y="3535680"/>
            <a:ext cx="51602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00234E">
                    <a:alpha val="8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应测尽测原则、关键性原则、代表性原则、抽样原则（不低于30%）</a:t>
            </a:r>
            <a:endParaRPr lang="en-US" sz="1800" dirty="0"/>
          </a:p>
        </p:txBody>
      </p:sp>
      <p:pic>
        <p:nvPicPr>
          <p:cNvPr id="23" name="Image 10" descr="https://test.web.static.jianzeppt.com/ppt-temp-img3/65d9e86e256dfb778ad9a541af5d3fcc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6280" y="4587240"/>
            <a:ext cx="7071360" cy="166116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70120" y="4831080"/>
            <a:ext cx="960120" cy="44196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953000" y="4892040"/>
            <a:ext cx="603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问题 3</a:t>
            </a:r>
            <a:endParaRPr lang="en-US" sz="1680" dirty="0"/>
          </a:p>
        </p:txBody>
      </p:sp>
      <p:sp>
        <p:nvSpPr>
          <p:cNvPr id="26" name="Text 12"/>
          <p:cNvSpPr/>
          <p:nvPr/>
        </p:nvSpPr>
        <p:spPr>
          <a:xfrm>
            <a:off x="5852160" y="4831080"/>
            <a:ext cx="4672584" cy="37838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什么情况下可以对测评指标进行裁剪？</a:t>
            </a:r>
            <a:endParaRPr lang="en-US" sz="2160" dirty="0"/>
          </a:p>
        </p:txBody>
      </p:sp>
      <p:sp>
        <p:nvSpPr>
          <p:cNvPr id="27" name="Text 13"/>
          <p:cNvSpPr/>
          <p:nvPr/>
        </p:nvSpPr>
        <p:spPr>
          <a:xfrm>
            <a:off x="5013960" y="541020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00234E">
                    <a:alpha val="6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参考答案：</a:t>
            </a:r>
            <a:endParaRPr lang="en-US" sz="1680" dirty="0"/>
          </a:p>
        </p:txBody>
      </p:sp>
      <p:sp>
        <p:nvSpPr>
          <p:cNvPr id="28" name="Text 14"/>
          <p:cNvSpPr/>
          <p:nvPr/>
        </p:nvSpPr>
        <p:spPr>
          <a:xfrm>
            <a:off x="6202680" y="5379720"/>
            <a:ext cx="51602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00234E">
                    <a:alpha val="80000"/>
                  </a:srgbClr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系统不涉及某项技术领域时（如无无线网络则不测“无线接入控制”），需说明不适用理由</a:t>
            </a:r>
            <a:endParaRPr lang="en-US" sz="1800" dirty="0"/>
          </a:p>
        </p:txBody>
      </p:sp>
      <p:sp>
        <p:nvSpPr>
          <p:cNvPr id="29" name="Text 15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复习回顾</a:t>
            </a:r>
            <a:endParaRPr lang="en-US" sz="27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4815840" cy="4267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" name="Image 4" descr="https://test.web.static.jianzeppt.com/ppt-temp-img3/d732a324263e58591e01d90dd5d6eca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1386840"/>
            <a:ext cx="4785360" cy="7620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68680" y="1539240"/>
            <a:ext cx="125882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kern="0" spc="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情景案例</a:t>
            </a:r>
            <a:endParaRPr lang="en-US" sz="2400" dirty="0"/>
          </a:p>
        </p:txBody>
      </p:sp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46320" y="1615440"/>
            <a:ext cx="304800" cy="3048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868680" y="2392680"/>
            <a:ext cx="4306824" cy="9458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小王接到三级系统等保测评任务，未认真编制方案，仅下载通用模板修改名称便带到现场。</a:t>
            </a:r>
            <a:endParaRPr lang="en-US" sz="1800" dirty="0"/>
          </a:p>
        </p:txBody>
      </p:sp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8680" y="3581400"/>
            <a:ext cx="4297680" cy="179832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112520" y="3764280"/>
            <a:ext cx="38801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结果：</a:t>
            </a:r>
            <a:endParaRPr lang="en-US" sz="1440" dirty="0"/>
          </a:p>
        </p:txBody>
      </p:sp>
      <p:sp>
        <p:nvSpPr>
          <p:cNvPr id="12" name="Text 3"/>
          <p:cNvSpPr/>
          <p:nvPr/>
        </p:nvSpPr>
        <p:spPr>
          <a:xfrm>
            <a:off x="1112520" y="409956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b="1" dirty="0">
                <a:solidFill>
                  <a:srgbClr val="00234E"/>
                </a:solidFill>
              </a:rPr>
              <a:t>①</a:t>
            </a:r>
            <a:endParaRPr lang="en-US" sz="1680" dirty="0"/>
          </a:p>
        </p:txBody>
      </p:sp>
      <p:sp>
        <p:nvSpPr>
          <p:cNvPr id="13" name="Text 4"/>
          <p:cNvSpPr/>
          <p:nvPr/>
        </p:nvSpPr>
        <p:spPr>
          <a:xfrm>
            <a:off x="1386840" y="4069080"/>
            <a:ext cx="27828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架构不同，大量指标不适用；</a:t>
            </a:r>
            <a:endParaRPr lang="en-US" sz="1680" dirty="0"/>
          </a:p>
        </p:txBody>
      </p:sp>
      <p:sp>
        <p:nvSpPr>
          <p:cNvPr id="14" name="Text 5"/>
          <p:cNvSpPr/>
          <p:nvPr/>
        </p:nvSpPr>
        <p:spPr>
          <a:xfrm>
            <a:off x="1112520" y="438912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b="1" dirty="0">
                <a:solidFill>
                  <a:srgbClr val="00234E"/>
                </a:solidFill>
              </a:rPr>
              <a:t>②</a:t>
            </a:r>
            <a:endParaRPr lang="en-US" sz="1680" dirty="0"/>
          </a:p>
        </p:txBody>
      </p:sp>
      <p:sp>
        <p:nvSpPr>
          <p:cNvPr id="15" name="Text 6"/>
          <p:cNvSpPr/>
          <p:nvPr/>
        </p:nvSpPr>
        <p:spPr>
          <a:xfrm>
            <a:off x="1386840" y="4389120"/>
            <a:ext cx="27828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未定对象，现场找指标耗时；</a:t>
            </a:r>
            <a:endParaRPr lang="en-US" sz="1680" dirty="0"/>
          </a:p>
        </p:txBody>
      </p:sp>
      <p:sp>
        <p:nvSpPr>
          <p:cNvPr id="16" name="Text 7"/>
          <p:cNvSpPr/>
          <p:nvPr/>
        </p:nvSpPr>
        <p:spPr>
          <a:xfrm>
            <a:off x="1112520" y="470916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b="1" dirty="0">
                <a:solidFill>
                  <a:srgbClr val="00234E"/>
                </a:solidFill>
              </a:rPr>
              <a:t>③</a:t>
            </a:r>
            <a:endParaRPr lang="en-US" sz="1680" dirty="0"/>
          </a:p>
        </p:txBody>
      </p:sp>
      <p:sp>
        <p:nvSpPr>
          <p:cNvPr id="17" name="Text 8"/>
          <p:cNvSpPr/>
          <p:nvPr/>
        </p:nvSpPr>
        <p:spPr>
          <a:xfrm>
            <a:off x="1386840" y="4709160"/>
            <a:ext cx="27828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范围不清，漏测与多测并存；</a:t>
            </a:r>
            <a:endParaRPr lang="en-US" sz="1680" dirty="0"/>
          </a:p>
        </p:txBody>
      </p:sp>
      <p:sp>
        <p:nvSpPr>
          <p:cNvPr id="18" name="Text 9"/>
          <p:cNvSpPr/>
          <p:nvPr/>
        </p:nvSpPr>
        <p:spPr>
          <a:xfrm>
            <a:off x="1112520" y="501396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b="1" dirty="0">
                <a:solidFill>
                  <a:srgbClr val="00234E"/>
                </a:solidFill>
              </a:rPr>
              <a:t>④</a:t>
            </a:r>
            <a:endParaRPr lang="en-US" sz="1680" dirty="0"/>
          </a:p>
        </p:txBody>
      </p:sp>
      <p:sp>
        <p:nvSpPr>
          <p:cNvPr id="19" name="Text 10"/>
          <p:cNvSpPr/>
          <p:nvPr/>
        </p:nvSpPr>
        <p:spPr>
          <a:xfrm>
            <a:off x="1386840" y="5013960"/>
            <a:ext cx="29961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客户质疑，项目延期满意度低。</a:t>
            </a:r>
            <a:endParaRPr lang="en-US" sz="168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0" y="1371600"/>
            <a:ext cx="5867400" cy="2346960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74080" y="1706880"/>
            <a:ext cx="304800" cy="3048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400800" y="163068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问题讨论</a:t>
            </a:r>
            <a:endParaRPr lang="en-US" sz="2400" dirty="0"/>
          </a:p>
        </p:txBody>
      </p:sp>
      <p:sp>
        <p:nvSpPr>
          <p:cNvPr id="23" name="Text 12"/>
          <p:cNvSpPr/>
          <p:nvPr/>
        </p:nvSpPr>
        <p:spPr>
          <a:xfrm>
            <a:off x="5974080" y="2225040"/>
            <a:ext cx="2682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①</a:t>
            </a:r>
            <a:endParaRPr lang="en-US" sz="1920" dirty="0"/>
          </a:p>
        </p:txBody>
      </p:sp>
      <p:sp>
        <p:nvSpPr>
          <p:cNvPr id="24" name="Text 13"/>
          <p:cNvSpPr/>
          <p:nvPr/>
        </p:nvSpPr>
        <p:spPr>
          <a:xfrm>
            <a:off x="6339840" y="2209800"/>
            <a:ext cx="27066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案例中出现了哪些问题？</a:t>
            </a:r>
            <a:endParaRPr lang="en-US" sz="1920" dirty="0"/>
          </a:p>
        </p:txBody>
      </p:sp>
      <p:sp>
        <p:nvSpPr>
          <p:cNvPr id="25" name="Text 14"/>
          <p:cNvSpPr/>
          <p:nvPr/>
        </p:nvSpPr>
        <p:spPr>
          <a:xfrm>
            <a:off x="5974080" y="2682240"/>
            <a:ext cx="2682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②</a:t>
            </a:r>
            <a:endParaRPr lang="en-US" sz="1920" dirty="0"/>
          </a:p>
        </p:txBody>
      </p:sp>
      <p:sp>
        <p:nvSpPr>
          <p:cNvPr id="26" name="Text 15"/>
          <p:cNvSpPr/>
          <p:nvPr/>
        </p:nvSpPr>
        <p:spPr>
          <a:xfrm>
            <a:off x="6339840" y="2667000"/>
            <a:ext cx="221894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如何避免这些问题？</a:t>
            </a:r>
            <a:endParaRPr lang="en-US" sz="1920" dirty="0"/>
          </a:p>
        </p:txBody>
      </p:sp>
      <p:sp>
        <p:nvSpPr>
          <p:cNvPr id="27" name="Text 16"/>
          <p:cNvSpPr/>
          <p:nvPr/>
        </p:nvSpPr>
        <p:spPr>
          <a:xfrm>
            <a:off x="5974080" y="3139440"/>
            <a:ext cx="2682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③</a:t>
            </a:r>
            <a:endParaRPr lang="en-US" sz="1920" dirty="0"/>
          </a:p>
        </p:txBody>
      </p:sp>
      <p:sp>
        <p:nvSpPr>
          <p:cNvPr id="28" name="Text 17"/>
          <p:cNvSpPr/>
          <p:nvPr/>
        </p:nvSpPr>
        <p:spPr>
          <a:xfrm>
            <a:off x="6339840" y="3124200"/>
            <a:ext cx="31943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好方案与差方案的差别在哪？</a:t>
            </a:r>
            <a:endParaRPr lang="en-US" sz="1920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0" y="3962400"/>
            <a:ext cx="5867400" cy="1676400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6065520" y="4251325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</a:rPr>
              <a:t>引出主题</a:t>
            </a:r>
            <a:endParaRPr lang="en-US" sz="1680" dirty="0"/>
          </a:p>
        </p:txBody>
      </p:sp>
      <p:sp>
        <p:nvSpPr>
          <p:cNvPr id="32" name="Text 19"/>
          <p:cNvSpPr/>
          <p:nvPr/>
        </p:nvSpPr>
        <p:spPr>
          <a:xfrm>
            <a:off x="5913120" y="4160520"/>
            <a:ext cx="3468624" cy="1069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b="1" dirty="0">
                <a:solidFill>
                  <a:srgbClr val="1F29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学习编制专业、规范的等保测评方案。</a:t>
            </a:r>
            <a:endParaRPr lang="en-US" sz="1680" b="1" dirty="0">
              <a:solidFill>
                <a:srgbClr val="1F2937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  <a:p>
            <a:pPr marL="0" indent="0" algn="l">
              <a:lnSpc>
                <a:spcPct val="138000"/>
              </a:lnSpc>
              <a:buNone/>
            </a:pPr>
            <a:endParaRPr lang="en-US" sz="1680" b="1" dirty="0">
              <a:solidFill>
                <a:srgbClr val="1F2937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  <a:p>
            <a:pPr marL="0" indent="0" algn="l">
              <a:lnSpc>
                <a:spcPct val="138000"/>
              </a:lnSpc>
              <a:buNone/>
            </a:pPr>
            <a:r>
              <a:rPr lang="en-US" sz="1680" b="1" dirty="0">
                <a:solidFill>
                  <a:srgbClr val="1F29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每位同学需完成一份完整方案。</a:t>
            </a:r>
            <a:endParaRPr lang="en-US" sz="1680" dirty="0"/>
          </a:p>
        </p:txBody>
      </p:sp>
      <p:pic>
        <p:nvPicPr>
          <p:cNvPr id="33" name="Image 11" descr="https://test.web.static.jianzeppt.com/ppt-temp-img3/29b8adf20d89c1572060c46b5af19dad.png?x-oss-process=image/resize,w_1440,h_800,m_lfit/format,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555480" y="4160520"/>
            <a:ext cx="1828800" cy="1280160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任务导入（10分钟）</a:t>
            </a:r>
            <a:endParaRPr lang="en-US" sz="2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0" y="5273040"/>
            <a:ext cx="975360" cy="975360"/>
          </a:xfrm>
          <a:prstGeom prst="rect">
            <a:avLst/>
          </a:prstGeom>
        </p:spPr>
      </p:pic>
      <p:pic>
        <p:nvPicPr>
          <p:cNvPr id="6" name="Image 4" descr="https://test.web.static.jianzeppt.com/ppt-temp-img3/04fccfed0eb256804ba98b98fa6bdb7f.png?x-oss-process=image/resize,w_1440,h_800,m_lfit/format,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09600" y="1371600"/>
            <a:ext cx="5303520" cy="1981200"/>
          </a:xfrm>
          <a:prstGeom prst="rect">
            <a:avLst/>
          </a:prstGeom>
        </p:spPr>
      </p:pic>
      <p:sp>
        <p:nvSpPr>
          <p:cNvPr id="7" name="Text 0"/>
          <p:cNvSpPr/>
          <p:nvPr>
            <p:custDataLst>
              <p:tags r:id="rId8"/>
            </p:custDataLst>
          </p:nvPr>
        </p:nvSpPr>
        <p:spPr>
          <a:xfrm>
            <a:off x="929640" y="1935480"/>
            <a:ext cx="4672584" cy="75676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能够依据定级报告和系统架构，正确选取测评对象并说明理由</a:t>
            </a:r>
            <a:endParaRPr lang="en-US" sz="2160" dirty="0"/>
          </a:p>
        </p:txBody>
      </p:sp>
      <p:pic>
        <p:nvPicPr>
          <p:cNvPr id="8" name="Image 5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1173480"/>
            <a:ext cx="1645920" cy="426720"/>
          </a:xfrm>
          <a:prstGeom prst="rect">
            <a:avLst/>
          </a:prstGeom>
        </p:spPr>
      </p:pic>
      <p:sp>
        <p:nvSpPr>
          <p:cNvPr id="9" name="Text 1"/>
          <p:cNvSpPr/>
          <p:nvPr>
            <p:custDataLst>
              <p:tags r:id="rId12"/>
            </p:custDataLst>
          </p:nvPr>
        </p:nvSpPr>
        <p:spPr>
          <a:xfrm>
            <a:off x="853440" y="1234440"/>
            <a:ext cx="301625" cy="38671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 </a:t>
            </a:r>
            <a:endParaRPr lang="en-US" sz="1680" dirty="0"/>
          </a:p>
        </p:txBody>
      </p:sp>
      <p:pic>
        <p:nvPicPr>
          <p:cNvPr id="10" name="Image 6" descr="https://test.web.static.jianzeppt.com/ppt-temp-img3/04fccfed0eb256804ba98b98fa6bdb7f.png?x-oss-process=image/resize,w_1440,h_800,m_lfit/format,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278880" y="1371600"/>
            <a:ext cx="5303520" cy="1981200"/>
          </a:xfrm>
          <a:prstGeom prst="rect">
            <a:avLst/>
          </a:prstGeom>
        </p:spPr>
      </p:pic>
      <p:sp>
        <p:nvSpPr>
          <p:cNvPr id="11" name="Text 2"/>
          <p:cNvSpPr/>
          <p:nvPr>
            <p:custDataLst>
              <p:tags r:id="rId14"/>
            </p:custDataLst>
          </p:nvPr>
        </p:nvSpPr>
        <p:spPr>
          <a:xfrm>
            <a:off x="6598920" y="1935480"/>
            <a:ext cx="4672584" cy="75676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能够对照GB/T 22239标准，准确选取适用的测评指标</a:t>
            </a:r>
            <a:endParaRPr lang="en-US" sz="2160" dirty="0"/>
          </a:p>
        </p:txBody>
      </p:sp>
      <p:pic>
        <p:nvPicPr>
          <p:cNvPr id="12" name="Image 7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78880" y="1173480"/>
            <a:ext cx="1645920" cy="426720"/>
          </a:xfrm>
          <a:prstGeom prst="rect">
            <a:avLst/>
          </a:prstGeom>
        </p:spPr>
      </p:pic>
      <p:sp>
        <p:nvSpPr>
          <p:cNvPr id="13" name="Text 3"/>
          <p:cNvSpPr/>
          <p:nvPr>
            <p:custDataLst>
              <p:tags r:id="rId16"/>
            </p:custDataLst>
          </p:nvPr>
        </p:nvSpPr>
        <p:spPr>
          <a:xfrm>
            <a:off x="6522720" y="1234440"/>
            <a:ext cx="301625" cy="38671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 </a:t>
            </a:r>
            <a:endParaRPr lang="en-US" sz="1680" dirty="0"/>
          </a:p>
        </p:txBody>
      </p:sp>
      <p:pic>
        <p:nvPicPr>
          <p:cNvPr id="14" name="Image 8" descr="https://test.web.static.jianzeppt.com/ppt-temp-img3/04fccfed0eb256804ba98b98fa6bdb7f.png?x-oss-process=image/resize,w_1440,h_800,m_lfit/format,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09600" y="3657600"/>
            <a:ext cx="5303520" cy="1981200"/>
          </a:xfrm>
          <a:prstGeom prst="rect">
            <a:avLst/>
          </a:prstGeom>
        </p:spPr>
      </p:pic>
      <p:sp>
        <p:nvSpPr>
          <p:cNvPr id="15" name="Text 4"/>
          <p:cNvSpPr/>
          <p:nvPr>
            <p:custDataLst>
              <p:tags r:id="rId18"/>
            </p:custDataLst>
          </p:nvPr>
        </p:nvSpPr>
        <p:spPr>
          <a:xfrm>
            <a:off x="929640" y="4221480"/>
            <a:ext cx="4672584" cy="75676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能够参照模板，独立编制一份完整的等保测评方案</a:t>
            </a:r>
            <a:endParaRPr lang="en-US" sz="2160" dirty="0"/>
          </a:p>
        </p:txBody>
      </p:sp>
      <p:pic>
        <p:nvPicPr>
          <p:cNvPr id="16" name="Image 9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3459480"/>
            <a:ext cx="1645920" cy="426720"/>
          </a:xfrm>
          <a:prstGeom prst="rect">
            <a:avLst/>
          </a:prstGeom>
        </p:spPr>
      </p:pic>
      <p:sp>
        <p:nvSpPr>
          <p:cNvPr id="17" name="Text 5"/>
          <p:cNvSpPr/>
          <p:nvPr>
            <p:custDataLst>
              <p:tags r:id="rId20"/>
            </p:custDataLst>
          </p:nvPr>
        </p:nvSpPr>
        <p:spPr>
          <a:xfrm>
            <a:off x="853440" y="3520440"/>
            <a:ext cx="301625" cy="38671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 </a:t>
            </a:r>
            <a:endParaRPr lang="en-US" sz="1680" dirty="0"/>
          </a:p>
        </p:txBody>
      </p:sp>
      <p:pic>
        <p:nvPicPr>
          <p:cNvPr id="18" name="Image 10" descr="https://test.web.static.jianzeppt.com/ppt-temp-img3/04fccfed0eb256804ba98b98fa6bdb7f.png?x-oss-process=image/resize,w_1440,h_800,m_lfit/format,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278880" y="3657600"/>
            <a:ext cx="5303520" cy="1981200"/>
          </a:xfrm>
          <a:prstGeom prst="rect">
            <a:avLst/>
          </a:prstGeom>
        </p:spPr>
      </p:pic>
      <p:sp>
        <p:nvSpPr>
          <p:cNvPr id="19" name="Text 6"/>
          <p:cNvSpPr/>
          <p:nvPr>
            <p:custDataLst>
              <p:tags r:id="rId22"/>
            </p:custDataLst>
          </p:nvPr>
        </p:nvSpPr>
        <p:spPr>
          <a:xfrm>
            <a:off x="6598920" y="4221480"/>
            <a:ext cx="4672584" cy="37838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培养严谨、细致、规范的职业工作习惯</a:t>
            </a:r>
            <a:endParaRPr lang="en-US" sz="2160" dirty="0"/>
          </a:p>
        </p:txBody>
      </p:sp>
      <p:pic>
        <p:nvPicPr>
          <p:cNvPr id="20" name="Image 11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78880" y="3459480"/>
            <a:ext cx="1645920" cy="426720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24"/>
            </p:custDataLst>
          </p:nvPr>
        </p:nvSpPr>
        <p:spPr>
          <a:xfrm>
            <a:off x="6522720" y="3520440"/>
            <a:ext cx="301625" cy="38671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 </a:t>
            </a:r>
            <a:endParaRPr lang="en-US" sz="1680" dirty="0"/>
          </a:p>
        </p:txBody>
      </p:sp>
      <p:sp>
        <p:nvSpPr>
          <p:cNvPr id="22" name="Text 8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9845040" y="3566160"/>
            <a:ext cx="365760" cy="3657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23360" y="2316480"/>
            <a:ext cx="3048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63840" y="2316480"/>
            <a:ext cx="3048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1371600"/>
            <a:ext cx="3291840" cy="640080"/>
          </a:xfrm>
          <a:prstGeom prst="rect">
            <a:avLst/>
          </a:prstGeom>
        </p:spPr>
      </p:pic>
      <p:sp>
        <p:nvSpPr>
          <p:cNvPr id="9" name="Text 0"/>
          <p:cNvSpPr/>
          <p:nvPr/>
        </p:nvSpPr>
        <p:spPr>
          <a:xfrm>
            <a:off x="1645920" y="15087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第一阶段</a:t>
            </a:r>
            <a:endParaRPr lang="en-US" sz="2400" dirty="0"/>
          </a:p>
        </p:txBody>
      </p:sp>
      <p:pic>
        <p:nvPicPr>
          <p:cNvPr id="10" name="Image 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2011680"/>
            <a:ext cx="3291840" cy="1554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1" name="Text 1"/>
          <p:cNvSpPr/>
          <p:nvPr/>
        </p:nvSpPr>
        <p:spPr>
          <a:xfrm>
            <a:off x="1432560" y="225552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</a:rPr>
              <a:t>解读定级报告</a:t>
            </a:r>
            <a:endParaRPr lang="en-US" sz="2160" dirty="0"/>
          </a:p>
        </p:txBody>
      </p:sp>
      <p:pic>
        <p:nvPicPr>
          <p:cNvPr id="12" name="Image 8" descr="https://test.web.static.jianzeppt.com/ppt-temp-img3/26789e569394ebb4695e716b15c9df0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720" y="2727960"/>
            <a:ext cx="2895600" cy="15240"/>
          </a:xfrm>
          <a:prstGeom prst="rect">
            <a:avLst/>
          </a:prstGeom>
        </p:spPr>
      </p:pic>
      <p:sp>
        <p:nvSpPr>
          <p:cNvPr id="13" name="Text 2"/>
          <p:cNvSpPr/>
          <p:nvPr/>
        </p:nvSpPr>
        <p:spPr>
          <a:xfrm>
            <a:off x="807720" y="2819400"/>
            <a:ext cx="290474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了解系统名称、安全等级、业务描述等关键信息</a:t>
            </a:r>
            <a:endParaRPr lang="en-US" sz="1680" dirty="0"/>
          </a:p>
        </p:txBody>
      </p:sp>
      <p:pic>
        <p:nvPicPr>
          <p:cNvPr id="14" name="Image 9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50080" y="1371600"/>
            <a:ext cx="3291840" cy="640080"/>
          </a:xfrm>
          <a:prstGeom prst="rect">
            <a:avLst/>
          </a:prstGeom>
        </p:spPr>
      </p:pic>
      <p:sp>
        <p:nvSpPr>
          <p:cNvPr id="15" name="Text 3"/>
          <p:cNvSpPr/>
          <p:nvPr/>
        </p:nvSpPr>
        <p:spPr>
          <a:xfrm>
            <a:off x="5486400" y="15087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第二阶段</a:t>
            </a:r>
            <a:endParaRPr lang="en-US" sz="2400" dirty="0"/>
          </a:p>
        </p:txBody>
      </p:sp>
      <p:pic>
        <p:nvPicPr>
          <p:cNvPr id="16" name="Image 10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50080" y="2011680"/>
            <a:ext cx="3291840" cy="1554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7" name="Text 4"/>
          <p:cNvSpPr/>
          <p:nvPr/>
        </p:nvSpPr>
        <p:spPr>
          <a:xfrm>
            <a:off x="5273040" y="225552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</a:rPr>
              <a:t>分析系统架构</a:t>
            </a:r>
            <a:endParaRPr lang="en-US" sz="2160" dirty="0"/>
          </a:p>
        </p:txBody>
      </p:sp>
      <p:pic>
        <p:nvPicPr>
          <p:cNvPr id="18" name="Image 11" descr="https://test.web.static.jianzeppt.com/ppt-temp-img3/26789e569394ebb4695e716b15c9df0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8200" y="2727960"/>
            <a:ext cx="2895600" cy="15240"/>
          </a:xfrm>
          <a:prstGeom prst="rect">
            <a:avLst/>
          </a:prstGeom>
        </p:spPr>
      </p:pic>
      <p:sp>
        <p:nvSpPr>
          <p:cNvPr id="19" name="Text 5"/>
          <p:cNvSpPr/>
          <p:nvPr/>
        </p:nvSpPr>
        <p:spPr>
          <a:xfrm>
            <a:off x="4648200" y="2819400"/>
            <a:ext cx="290474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梳理网络拓扑、设备清单、业务应用、数据流向</a:t>
            </a:r>
            <a:endParaRPr lang="en-US" sz="1680" dirty="0"/>
          </a:p>
        </p:txBody>
      </p:sp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0560" y="1371600"/>
            <a:ext cx="3291840" cy="640080"/>
          </a:xfrm>
          <a:prstGeom prst="rect">
            <a:avLst/>
          </a:prstGeom>
        </p:spPr>
      </p:pic>
      <p:sp>
        <p:nvSpPr>
          <p:cNvPr id="21" name="Text 6"/>
          <p:cNvSpPr/>
          <p:nvPr/>
        </p:nvSpPr>
        <p:spPr>
          <a:xfrm>
            <a:off x="9326880" y="15087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第三阶段</a:t>
            </a:r>
            <a:endParaRPr lang="en-US" sz="2400" dirty="0"/>
          </a:p>
        </p:txBody>
      </p:sp>
      <p:pic>
        <p:nvPicPr>
          <p:cNvPr id="22" name="Image 1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90560" y="2011680"/>
            <a:ext cx="3291840" cy="1554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3" name="Text 7"/>
          <p:cNvSpPr/>
          <p:nvPr/>
        </p:nvSpPr>
        <p:spPr>
          <a:xfrm>
            <a:off x="9113520" y="225552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</a:rPr>
              <a:t>确定测评范围</a:t>
            </a:r>
            <a:endParaRPr lang="en-US" sz="2160" dirty="0"/>
          </a:p>
        </p:txBody>
      </p:sp>
      <p:pic>
        <p:nvPicPr>
          <p:cNvPr id="24" name="Image 14" descr="https://test.web.static.jianzeppt.com/ppt-temp-img3/26789e569394ebb4695e716b15c9df0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88680" y="2727960"/>
            <a:ext cx="2895600" cy="15240"/>
          </a:xfrm>
          <a:prstGeom prst="rect">
            <a:avLst/>
          </a:prstGeom>
        </p:spPr>
      </p:pic>
      <p:sp>
        <p:nvSpPr>
          <p:cNvPr id="25" name="Text 8"/>
          <p:cNvSpPr/>
          <p:nvPr/>
        </p:nvSpPr>
        <p:spPr>
          <a:xfrm>
            <a:off x="8488680" y="2819400"/>
            <a:ext cx="290474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明确本次测评覆盖的位置、网络区域、边界</a:t>
            </a:r>
            <a:endParaRPr lang="en-US" sz="1680" dirty="0"/>
          </a:p>
        </p:txBody>
      </p:sp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7863840" y="4998720"/>
            <a:ext cx="304800" cy="304800"/>
          </a:xfrm>
          <a:prstGeom prst="rect">
            <a:avLst/>
          </a:prstGeom>
        </p:spPr>
      </p:pic>
      <p:pic>
        <p:nvPicPr>
          <p:cNvPr id="27" name="Image 1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4023360" y="4998720"/>
            <a:ext cx="304800" cy="304800"/>
          </a:xfrm>
          <a:prstGeom prst="rect">
            <a:avLst/>
          </a:prstGeom>
        </p:spPr>
      </p:pic>
      <p:pic>
        <p:nvPicPr>
          <p:cNvPr id="28" name="Image 17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0560" y="4053840"/>
            <a:ext cx="3291840" cy="640080"/>
          </a:xfrm>
          <a:prstGeom prst="rect">
            <a:avLst/>
          </a:prstGeom>
        </p:spPr>
      </p:pic>
      <p:sp>
        <p:nvSpPr>
          <p:cNvPr id="29" name="Text 9"/>
          <p:cNvSpPr/>
          <p:nvPr/>
        </p:nvSpPr>
        <p:spPr>
          <a:xfrm>
            <a:off x="9326880" y="419100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第四阶段</a:t>
            </a:r>
            <a:endParaRPr lang="en-US" sz="2400" dirty="0"/>
          </a:p>
        </p:txBody>
      </p:sp>
      <p:pic>
        <p:nvPicPr>
          <p:cNvPr id="30" name="Image 18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90560" y="4693920"/>
            <a:ext cx="3291840" cy="1554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1" name="Text 10"/>
          <p:cNvSpPr/>
          <p:nvPr/>
        </p:nvSpPr>
        <p:spPr>
          <a:xfrm>
            <a:off x="9113520" y="493776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</a:rPr>
              <a:t>选取测评对象</a:t>
            </a:r>
            <a:endParaRPr lang="en-US" sz="2160" dirty="0"/>
          </a:p>
        </p:txBody>
      </p:sp>
      <p:pic>
        <p:nvPicPr>
          <p:cNvPr id="32" name="Image 19" descr="https://test.web.static.jianzeppt.com/ppt-temp-img3/26789e569394ebb4695e716b15c9df0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88680" y="5410200"/>
            <a:ext cx="2895600" cy="15240"/>
          </a:xfrm>
          <a:prstGeom prst="rect">
            <a:avLst/>
          </a:prstGeom>
        </p:spPr>
      </p:pic>
      <p:sp>
        <p:nvSpPr>
          <p:cNvPr id="33" name="Text 11"/>
          <p:cNvSpPr/>
          <p:nvPr/>
        </p:nvSpPr>
        <p:spPr>
          <a:xfrm>
            <a:off x="8488680" y="5501640"/>
            <a:ext cx="290474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依据架构分析，确定具体设备与系统清单</a:t>
            </a:r>
            <a:endParaRPr lang="en-US" sz="1680" dirty="0"/>
          </a:p>
        </p:txBody>
      </p:sp>
      <p:pic>
        <p:nvPicPr>
          <p:cNvPr id="34" name="Image 20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50080" y="4053840"/>
            <a:ext cx="3291840" cy="640080"/>
          </a:xfrm>
          <a:prstGeom prst="rect">
            <a:avLst/>
          </a:prstGeom>
        </p:spPr>
      </p:pic>
      <p:sp>
        <p:nvSpPr>
          <p:cNvPr id="35" name="Text 12"/>
          <p:cNvSpPr/>
          <p:nvPr/>
        </p:nvSpPr>
        <p:spPr>
          <a:xfrm>
            <a:off x="5486400" y="419100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第五阶段</a:t>
            </a:r>
            <a:endParaRPr lang="en-US" sz="2400" dirty="0"/>
          </a:p>
        </p:txBody>
      </p:sp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50080" y="4693920"/>
            <a:ext cx="3291840" cy="1554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7" name="Text 13"/>
          <p:cNvSpPr/>
          <p:nvPr/>
        </p:nvSpPr>
        <p:spPr>
          <a:xfrm>
            <a:off x="5273040" y="493776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</a:rPr>
              <a:t>确定测评指标</a:t>
            </a:r>
            <a:endParaRPr lang="en-US" sz="2160" dirty="0"/>
          </a:p>
        </p:txBody>
      </p:sp>
      <p:pic>
        <p:nvPicPr>
          <p:cNvPr id="38" name="Image 22" descr="https://test.web.static.jianzeppt.com/ppt-temp-img3/26789e569394ebb4695e716b15c9df0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8200" y="5410200"/>
            <a:ext cx="2895600" cy="15240"/>
          </a:xfrm>
          <a:prstGeom prst="rect">
            <a:avLst/>
          </a:prstGeom>
        </p:spPr>
      </p:pic>
      <p:sp>
        <p:nvSpPr>
          <p:cNvPr id="39" name="Text 14"/>
          <p:cNvSpPr/>
          <p:nvPr/>
        </p:nvSpPr>
        <p:spPr>
          <a:xfrm>
            <a:off x="4648200" y="5501640"/>
            <a:ext cx="290474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对照国家标准，逐项选取适用安全指标</a:t>
            </a:r>
            <a:endParaRPr lang="en-US" sz="1680" dirty="0"/>
          </a:p>
        </p:txBody>
      </p:sp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4053840"/>
            <a:ext cx="3291840" cy="640080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1645920" y="419100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第六阶段</a:t>
            </a:r>
            <a:endParaRPr lang="en-US" sz="2400" dirty="0"/>
          </a:p>
        </p:txBody>
      </p:sp>
      <p:pic>
        <p:nvPicPr>
          <p:cNvPr id="42" name="Image 2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4693920"/>
            <a:ext cx="3291840" cy="1554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3" name="Text 16"/>
          <p:cNvSpPr/>
          <p:nvPr/>
        </p:nvSpPr>
        <p:spPr>
          <a:xfrm>
            <a:off x="1432560" y="493776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</a:rPr>
              <a:t>编制完整方案</a:t>
            </a:r>
            <a:endParaRPr lang="en-US" sz="2160" dirty="0"/>
          </a:p>
        </p:txBody>
      </p:sp>
      <p:pic>
        <p:nvPicPr>
          <p:cNvPr id="44" name="Image 25" descr="https://test.web.static.jianzeppt.com/ppt-temp-img3/26789e569394ebb4695e716b15c9df0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720" y="5410200"/>
            <a:ext cx="2895600" cy="15240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807720" y="5501640"/>
            <a:ext cx="290474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按标准模板撰写，形成正式方案文档</a:t>
            </a:r>
            <a:endParaRPr lang="en-US" sz="1680" dirty="0"/>
          </a:p>
        </p:txBody>
      </p:sp>
      <p:sp>
        <p:nvSpPr>
          <p:cNvPr id="46" name="Text 18"/>
          <p:cNvSpPr/>
          <p:nvPr/>
        </p:nvSpPr>
        <p:spPr>
          <a:xfrm>
            <a:off x="822497" y="531937"/>
            <a:ext cx="210312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方案编制流程</a:t>
            </a:r>
            <a:endParaRPr lang="en-US" sz="2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0040" y="1219200"/>
            <a:ext cx="7467600" cy="5108575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" name="Image 4" descr="https://test.web.static.jianzeppt.com/ppt-temp-img3/3f6c7900dff6a00424ed09b0542c5c53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0040" y="1219200"/>
            <a:ext cx="7437120" cy="795655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4434840" y="1405573"/>
            <a:ext cx="1639824" cy="46164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项目基本信息</a:t>
            </a:r>
            <a:endParaRPr lang="en-US" sz="20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8" name="Text 1"/>
          <p:cNvSpPr/>
          <p:nvPr/>
        </p:nvSpPr>
        <p:spPr>
          <a:xfrm>
            <a:off x="6675120" y="1224915"/>
            <a:ext cx="4611624" cy="822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详细说明</a:t>
            </a:r>
            <a:endParaRPr lang="en-US" sz="20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45940" y="2514600"/>
            <a:ext cx="7221220" cy="65532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4434840" y="2127885"/>
            <a:ext cx="16398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系统名称</a:t>
            </a:r>
            <a:endParaRPr lang="en-US" sz="1920" dirty="0"/>
          </a:p>
        </p:txBody>
      </p:sp>
      <p:sp>
        <p:nvSpPr>
          <p:cNvPr id="11" name="Text 3"/>
          <p:cNvSpPr/>
          <p:nvPr/>
        </p:nvSpPr>
        <p:spPr>
          <a:xfrm>
            <a:off x="6506845" y="2127885"/>
            <a:ext cx="46116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XX市政务服务中心综合管理平台</a:t>
            </a:r>
            <a:endParaRPr lang="en-US" sz="1920" dirty="0"/>
          </a:p>
        </p:txBody>
      </p:sp>
      <p:sp>
        <p:nvSpPr>
          <p:cNvPr id="14" name="Text 4"/>
          <p:cNvSpPr/>
          <p:nvPr/>
        </p:nvSpPr>
        <p:spPr>
          <a:xfrm>
            <a:off x="4434840" y="2559685"/>
            <a:ext cx="16398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安全保护等级</a:t>
            </a:r>
            <a:endParaRPr lang="en-US" sz="1920" dirty="0"/>
          </a:p>
        </p:txBody>
      </p:sp>
      <p:sp>
        <p:nvSpPr>
          <p:cNvPr id="15" name="Text 5"/>
          <p:cNvSpPr/>
          <p:nvPr/>
        </p:nvSpPr>
        <p:spPr>
          <a:xfrm>
            <a:off x="6506845" y="2559685"/>
            <a:ext cx="46116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第三级（S3A3）</a:t>
            </a:r>
            <a:endParaRPr lang="en-US" sz="1920" dirty="0"/>
          </a:p>
        </p:txBody>
      </p:sp>
      <p:sp>
        <p:nvSpPr>
          <p:cNvPr id="18" name="Text 6"/>
          <p:cNvSpPr/>
          <p:nvPr/>
        </p:nvSpPr>
        <p:spPr>
          <a:xfrm>
            <a:off x="4434840" y="2984500"/>
            <a:ext cx="16398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主管部门</a:t>
            </a:r>
            <a:endParaRPr lang="en-US" sz="1920" dirty="0"/>
          </a:p>
        </p:txBody>
      </p:sp>
      <p:sp>
        <p:nvSpPr>
          <p:cNvPr id="19" name="Text 7"/>
          <p:cNvSpPr/>
          <p:nvPr/>
        </p:nvSpPr>
        <p:spPr>
          <a:xfrm>
            <a:off x="6506845" y="2984500"/>
            <a:ext cx="46116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XX市政务服务管理局</a:t>
            </a:r>
            <a:endParaRPr lang="en-US" sz="1920" dirty="0"/>
          </a:p>
        </p:txBody>
      </p:sp>
      <p:sp>
        <p:nvSpPr>
          <p:cNvPr id="22" name="Text 8"/>
          <p:cNvSpPr/>
          <p:nvPr/>
        </p:nvSpPr>
        <p:spPr>
          <a:xfrm>
            <a:off x="4434840" y="3424555"/>
            <a:ext cx="16398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建设单位</a:t>
            </a:r>
            <a:endParaRPr lang="en-US" sz="1920" dirty="0"/>
          </a:p>
        </p:txBody>
      </p:sp>
      <p:sp>
        <p:nvSpPr>
          <p:cNvPr id="23" name="Text 9"/>
          <p:cNvSpPr/>
          <p:nvPr/>
        </p:nvSpPr>
        <p:spPr>
          <a:xfrm>
            <a:off x="6506845" y="3424555"/>
            <a:ext cx="46116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XX市大数据发展局</a:t>
            </a:r>
            <a:endParaRPr lang="en-US" sz="1920" dirty="0"/>
          </a:p>
        </p:txBody>
      </p:sp>
      <p:sp>
        <p:nvSpPr>
          <p:cNvPr id="26" name="Text 10"/>
          <p:cNvSpPr/>
          <p:nvPr/>
        </p:nvSpPr>
        <p:spPr>
          <a:xfrm>
            <a:off x="4434840" y="3903345"/>
            <a:ext cx="1639824" cy="701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系统功能</a:t>
            </a:r>
            <a:endParaRPr lang="en-US" sz="1920" dirty="0"/>
          </a:p>
        </p:txBody>
      </p:sp>
      <p:sp>
        <p:nvSpPr>
          <p:cNvPr id="27" name="Text 11"/>
          <p:cNvSpPr/>
          <p:nvPr/>
        </p:nvSpPr>
        <p:spPr>
          <a:xfrm>
            <a:off x="6506845" y="3903345"/>
            <a:ext cx="461162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统一政务服务门户、事项管理、预约排号、排队叫号、综合评价、数据统计</a:t>
            </a:r>
            <a:endParaRPr lang="en-US" sz="1920" dirty="0"/>
          </a:p>
        </p:txBody>
      </p:sp>
      <p:sp>
        <p:nvSpPr>
          <p:cNvPr id="30" name="Text 12"/>
          <p:cNvSpPr/>
          <p:nvPr/>
        </p:nvSpPr>
        <p:spPr>
          <a:xfrm>
            <a:off x="4434840" y="4662805"/>
            <a:ext cx="16398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用户规模</a:t>
            </a:r>
            <a:endParaRPr lang="en-US" sz="1920" dirty="0"/>
          </a:p>
        </p:txBody>
      </p:sp>
      <p:sp>
        <p:nvSpPr>
          <p:cNvPr id="31" name="Text 13"/>
          <p:cNvSpPr/>
          <p:nvPr/>
        </p:nvSpPr>
        <p:spPr>
          <a:xfrm>
            <a:off x="6506845" y="4662805"/>
            <a:ext cx="46116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chemeClr val="tx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约200个窗口、日均接待群众约5000人次</a:t>
            </a:r>
            <a:endParaRPr lang="en-US" sz="1920" dirty="0">
              <a:solidFill>
                <a:schemeClr val="tx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2" name="Image 16" descr="https://test.web.static.jianzeppt.com/ppt-temp-img3/0aebefbcf39da17ff21e20ef6a957df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371600"/>
            <a:ext cx="3078480" cy="4876800"/>
          </a:xfrm>
          <a:prstGeom prst="rect">
            <a:avLst/>
          </a:prstGeom>
        </p:spPr>
      </p:pic>
      <p:pic>
        <p:nvPicPr>
          <p:cNvPr id="33" name="Image 17" descr="https://test.web.static.jianzeppt.com/ppt-temp-img3/816fbc8241bfc7cd69456a90011da40a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" y="1386840"/>
            <a:ext cx="3048000" cy="914400"/>
          </a:xfrm>
          <a:prstGeom prst="rect">
            <a:avLst/>
          </a:prstGeom>
        </p:spPr>
      </p:pic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2040" y="1889760"/>
            <a:ext cx="2133600" cy="213360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00200" y="2407920"/>
            <a:ext cx="1097280" cy="1097280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1143000" y="4511040"/>
            <a:ext cx="20360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综合管理平台</a:t>
            </a:r>
            <a:endParaRPr lang="en-US" sz="2640" dirty="0"/>
          </a:p>
        </p:txBody>
      </p:sp>
      <p:sp>
        <p:nvSpPr>
          <p:cNvPr id="37" name="Text 15"/>
          <p:cNvSpPr/>
          <p:nvPr/>
        </p:nvSpPr>
        <p:spPr>
          <a:xfrm>
            <a:off x="1143000" y="5135880"/>
            <a:ext cx="20360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XX市政务服务中心</a:t>
            </a:r>
            <a:endParaRPr lang="en-US" sz="168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920240" y="5699760"/>
            <a:ext cx="457200" cy="45720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示范场景——XX市政务服务中心项目</a:t>
            </a:r>
            <a:endParaRPr lang="en-US" sz="2760" dirty="0"/>
          </a:p>
        </p:txBody>
      </p:sp>
      <p:sp>
        <p:nvSpPr>
          <p:cNvPr id="40" name="Text 12"/>
          <p:cNvSpPr/>
          <p:nvPr/>
        </p:nvSpPr>
        <p:spPr>
          <a:xfrm>
            <a:off x="4434840" y="5203190"/>
            <a:ext cx="1225550" cy="4425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数据敏感性</a:t>
            </a:r>
            <a:endParaRPr lang="en-US" sz="192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4434840" y="5807710"/>
            <a:ext cx="980440" cy="4425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zh-CN" alt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关键业务</a:t>
            </a:r>
            <a:endParaRPr lang="zh-CN" altLang="en-US" sz="192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407150" y="5154295"/>
            <a:ext cx="6096000" cy="6813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920" dirty="0"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  <a:sym typeface="+mn-ea"/>
              </a:rPr>
              <a:t>含公民身份信息、联系方式、办事记录等个人</a:t>
            </a:r>
            <a:endParaRPr lang="zh-CN" altLang="en-US" sz="1920" dirty="0"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  <a:sym typeface="+mn-ea"/>
            </a:endParaRPr>
          </a:p>
          <a:p>
            <a:r>
              <a:rPr lang="zh-CN" altLang="en-US" sz="1920" dirty="0"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  <a:sym typeface="+mn-ea"/>
              </a:rPr>
              <a:t>敏感信息</a:t>
            </a:r>
            <a:endParaRPr lang="zh-CN" altLang="en-US" sz="1920" dirty="0"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6407150" y="5861685"/>
            <a:ext cx="6096000" cy="3860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920" dirty="0"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  <a:sym typeface="+mn-ea"/>
              </a:rPr>
              <a:t>在线预约、窗口叫号、评价管理、数据上报</a:t>
            </a:r>
            <a:endParaRPr lang="zh-CN" altLang="en-US" sz="1920" dirty="0"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31520" y="1371600"/>
            <a:ext cx="1021080" cy="3073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解读步骤</a:t>
            </a:r>
            <a:endParaRPr 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2667635" y="1878965"/>
          <a:ext cx="6781800" cy="1676400"/>
        </p:xfrm>
        <a:graphic>
          <a:graphicData uri="http://schemas.openxmlformats.org/drawingml/2006/table">
            <a:tbl>
              <a:tblPr/>
              <a:tblGrid>
                <a:gridCol w="558165"/>
                <a:gridCol w="1731010"/>
                <a:gridCol w="4492625"/>
              </a:tblGrid>
              <a:tr h="279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步骤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操作内容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关键信息提取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阅读定级报告封面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系统名称、定级结论、定级日期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查看定级依据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依据GB/T22240标准，采用何种定级方法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确认安全等级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业务信息安全等级（S）+系统服务安全等级（A）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了解系统描述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系统功能、网络结构、数据流程、业务范围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记录关键信息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主管部门、建设单位、运维单位、联系人信息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5077" marR="55077" marT="55077" marB="5507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1"/>
          <p:cNvSpPr/>
          <p:nvPr/>
        </p:nvSpPr>
        <p:spPr>
          <a:xfrm>
            <a:off x="731520" y="4175760"/>
            <a:ext cx="107381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定级报告解读要点</a:t>
            </a:r>
            <a:endParaRPr lang="en-US" sz="1920" dirty="0"/>
          </a:p>
        </p:txBody>
      </p:sp>
      <p:pic>
        <p:nvPicPr>
          <p:cNvPr id="9" name="Image 4" descr="https://test.web.static.jianzeppt.com/ppt-temp-img3/9cd65114a91170634311fe80a67608c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663440"/>
            <a:ext cx="5364480" cy="13411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68680" y="4922520"/>
            <a:ext cx="2552700" cy="3073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三级系统意味着什么？</a:t>
            </a:r>
            <a:endParaRPr 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68680" y="5364480"/>
            <a:ext cx="4855464" cy="2521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测评指标更多、要求更严格、测评周期更短（每年一次）</a:t>
            </a:r>
            <a:endParaRPr lang="en-US" sz="1440" dirty="0"/>
          </a:p>
        </p:txBody>
      </p:sp>
      <p:pic>
        <p:nvPicPr>
          <p:cNvPr id="12" name="Image 5" descr="https://test.web.static.jianzeppt.com/ppt-temp-img3/9cd65114a91170634311fe80a67608c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663440"/>
            <a:ext cx="5364480" cy="134112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6477000" y="4922520"/>
            <a:ext cx="1792224" cy="33647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S3A3的含义？</a:t>
            </a:r>
            <a:endParaRPr lang="en-US" sz="1920" dirty="0"/>
          </a:p>
        </p:txBody>
      </p:sp>
      <p:sp>
        <p:nvSpPr>
          <p:cNvPr id="14" name="Text 5"/>
          <p:cNvSpPr/>
          <p:nvPr/>
        </p:nvSpPr>
        <p:spPr>
          <a:xfrm>
            <a:off x="6477000" y="5364480"/>
            <a:ext cx="4855464" cy="2943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业务信息安全等级为3级，系统服务安全等级为3级</a:t>
            </a:r>
            <a:endParaRPr lang="en-US" sz="1680" dirty="0"/>
          </a:p>
        </p:txBody>
      </p:sp>
      <p:sp>
        <p:nvSpPr>
          <p:cNvPr id="15" name="Text 6"/>
          <p:cNvSpPr/>
          <p:nvPr/>
        </p:nvSpPr>
        <p:spPr>
          <a:xfrm>
            <a:off x="822497" y="531937"/>
            <a:ext cx="415925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rgbClr val="1E1E1E"/>
                </a:solidFill>
              </a:rPr>
              <a:t>第一阶段——解读定级报告</a:t>
            </a:r>
            <a:endParaRPr lang="en-US" sz="276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74439a75fd8e51019c271e8face49780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307848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853440" y="1615440"/>
          <a:ext cx="10485120" cy="2590800"/>
        </p:xfrm>
        <a:graphic>
          <a:graphicData uri="http://schemas.openxmlformats.org/drawingml/2006/table">
            <a:tbl>
              <a:tblPr/>
              <a:tblGrid>
                <a:gridCol w="1526218"/>
                <a:gridCol w="5601221"/>
                <a:gridCol w="3357680"/>
              </a:tblGrid>
              <a:tr h="431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分析维度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分析内容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记录要求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网络拓扑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网络是如何分区的？边界在哪里？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绘制或确认拓扑图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设备清单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有哪些网络设备、安全设备、服务器？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记录型号、数量、IP段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业务应用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运行了哪些业务系统？面向什么用户？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记录应用名称、功能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数据流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数据从哪里来、到哪里去？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标注核心数据流向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管理方式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系统如何管理？是否有远程管理？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记录管理方式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4" descr="https://test.web.static.jianzeppt.com/ppt-temp-img3/d7060cef1020835a0c4d897821a9115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589145"/>
            <a:ext cx="5334000" cy="135572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4746625"/>
            <a:ext cx="487680" cy="487680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5360" y="4868545"/>
            <a:ext cx="243840" cy="24384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1524000" y="4724400"/>
            <a:ext cx="41849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实操技巧 1</a:t>
            </a:r>
            <a:endParaRPr lang="en-US" sz="1680" dirty="0"/>
          </a:p>
        </p:txBody>
      </p:sp>
      <p:sp>
        <p:nvSpPr>
          <p:cNvPr id="6" name="Text 1"/>
          <p:cNvSpPr/>
          <p:nvPr/>
        </p:nvSpPr>
        <p:spPr>
          <a:xfrm>
            <a:off x="1524000" y="5074920"/>
            <a:ext cx="4184904" cy="59721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如果客户没有提供现成的架构图，可以通过访谈和现场勘察绘制</a:t>
            </a:r>
            <a:endParaRPr lang="en-US" sz="1680" dirty="0"/>
          </a:p>
        </p:txBody>
      </p:sp>
      <p:pic>
        <p:nvPicPr>
          <p:cNvPr id="12" name="Image 7" descr="https://test.web.static.jianzeppt.com/ppt-temp-img3/d7060cef1020835a0c4d897821a9115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4588510"/>
            <a:ext cx="5334000" cy="1377315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2240" y="4746625"/>
            <a:ext cx="487680" cy="487680"/>
          </a:xfrm>
          <a:prstGeom prst="rect">
            <a:avLst/>
          </a:prstGeom>
        </p:spPr>
      </p:pic>
      <p:pic>
        <p:nvPicPr>
          <p:cNvPr id="14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14160" y="4865370"/>
            <a:ext cx="243840" cy="243840"/>
          </a:xfrm>
          <a:prstGeom prst="rect">
            <a:avLst/>
          </a:prstGeom>
        </p:spPr>
      </p:pic>
      <p:sp>
        <p:nvSpPr>
          <p:cNvPr id="15" name="Text 2"/>
          <p:cNvSpPr/>
          <p:nvPr/>
        </p:nvSpPr>
        <p:spPr>
          <a:xfrm>
            <a:off x="7162800" y="4724400"/>
            <a:ext cx="38496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实操技巧 2</a:t>
            </a:r>
            <a:endParaRPr lang="en-US" sz="1680" dirty="0"/>
          </a:p>
        </p:txBody>
      </p:sp>
      <p:sp>
        <p:nvSpPr>
          <p:cNvPr id="16" name="Text 3"/>
          <p:cNvSpPr/>
          <p:nvPr/>
        </p:nvSpPr>
        <p:spPr>
          <a:xfrm>
            <a:off x="7162800" y="5112385"/>
            <a:ext cx="3937000" cy="2413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设备清单是后续</a:t>
            </a: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选取测评对象的核心依据</a:t>
            </a:r>
            <a:endParaRPr lang="en-US" sz="1680" dirty="0"/>
          </a:p>
        </p:txBody>
      </p:sp>
      <p:sp>
        <p:nvSpPr>
          <p:cNvPr id="17" name="Text 4"/>
          <p:cNvSpPr/>
          <p:nvPr/>
        </p:nvSpPr>
        <p:spPr>
          <a:xfrm>
            <a:off x="822497" y="531937"/>
            <a:ext cx="415925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rgbClr val="1E1E1E"/>
                </a:solidFill>
              </a:rPr>
              <a:t>第二阶段——分析系统架构</a:t>
            </a:r>
            <a:endParaRPr lang="en-US" sz="276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15" grpId="0"/>
      <p:bldP spid="16" grpId="0"/>
      <p:bldP spid="10" grpId="1"/>
      <p:bldP spid="6" grpId="1"/>
      <p:bldP spid="15" grpId="1"/>
      <p:bldP spid="16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8bf05befd1172dbcc9972e6b484c4d0b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2637155"/>
          </a:xfrm>
          <a:prstGeom prst="rect">
            <a:avLst/>
          </a:prstGeom>
        </p:spPr>
      </p:pic>
      <p:pic>
        <p:nvPicPr>
          <p:cNvPr id="6" name="Image 4" descr="https://test.web.static.jianzeppt.com/ppt-temp-img3/051d3e4135c0335908fd3112d2497982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" y="1386840"/>
            <a:ext cx="10942320" cy="6096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68680" y="1508760"/>
            <a:ext cx="1487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测评范围维度</a:t>
            </a:r>
            <a:endParaRPr lang="en-US" sz="1920" dirty="0"/>
          </a:p>
        </p:txBody>
      </p:sp>
      <p:pic>
        <p:nvPicPr>
          <p:cNvPr id="8" name="Image 5" descr="https://test.web.static.jianzeppt.com/ppt-temp-img3/3f8d662bf084e34c13547f34a192fcde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1386840"/>
            <a:ext cx="15240" cy="6096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3733800" y="1508760"/>
            <a:ext cx="1487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本次覆盖内容</a:t>
            </a:r>
            <a:endParaRPr lang="en-US" sz="1920" dirty="0"/>
          </a:p>
        </p:txBody>
      </p:sp>
      <p:pic>
        <p:nvPicPr>
          <p:cNvPr id="10" name="Image 6" descr="https://test.web.static.jianzeppt.com/ppt-temp-img3/3f8d662bf084e34c13547f34a192fcde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040" y="1386840"/>
            <a:ext cx="15240" cy="60960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8961120" y="1508760"/>
            <a:ext cx="23713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说明</a:t>
            </a:r>
            <a:endParaRPr lang="en-US" sz="1920" dirty="0"/>
          </a:p>
        </p:txBody>
      </p:sp>
      <p:sp>
        <p:nvSpPr>
          <p:cNvPr id="12" name="Text 3"/>
          <p:cNvSpPr/>
          <p:nvPr/>
        </p:nvSpPr>
        <p:spPr>
          <a:xfrm>
            <a:off x="868680" y="2118360"/>
            <a:ext cx="812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物理位置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3" name="Image 7" descr="https://test.web.static.jianzeppt.com/ppt-temp-img3/6be5e44f9d26b2cfddec71d68a62cc3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1996440"/>
            <a:ext cx="15240" cy="460553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3524250" y="2118360"/>
            <a:ext cx="403288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XX市政务服务中心数据中心机房（主楼5楼）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5" name="Image 8" descr="https://test.web.static.jianzeppt.com/ppt-temp-img3/6be5e44f9d26b2cfddec71d68a62cc3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2040" y="1996440"/>
            <a:ext cx="15240" cy="460553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8961120" y="2118360"/>
            <a:ext cx="812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核心机房</a:t>
            </a:r>
            <a:endParaRPr lang="en-US" sz="1600" dirty="0">
              <a:solidFill>
                <a:srgbClr val="6B7280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7" name="Image 9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2472233"/>
            <a:ext cx="10942320" cy="1524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868680" y="2590800"/>
            <a:ext cx="812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网络区域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9" name="Image 10" descr="https://test.web.static.jianzeppt.com/ppt-temp-img3/3bc79a170f1a8bb5ffdd3b4d1d3bd79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2472233"/>
            <a:ext cx="15240" cy="460248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3524250" y="2590800"/>
            <a:ext cx="4267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互联网边界区、核心交换区、服务器区、管理区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1" name="Image 11" descr="https://test.web.static.jianzeppt.com/ppt-temp-img3/3bc79a170f1a8bb5ffdd3b4d1d3bd79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2040" y="2472233"/>
            <a:ext cx="15240" cy="460248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8961120" y="2590800"/>
            <a:ext cx="1219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四个关键区域</a:t>
            </a:r>
            <a:endParaRPr lang="en-US" sz="1600" dirty="0">
              <a:solidFill>
                <a:srgbClr val="6B7280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3" name="Image 12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2947721"/>
            <a:ext cx="10942320" cy="15240"/>
          </a:xfrm>
          <a:prstGeom prst="rect">
            <a:avLst/>
          </a:prstGeom>
        </p:spPr>
      </p:pic>
      <p:sp>
        <p:nvSpPr>
          <p:cNvPr id="24" name="Text 9"/>
          <p:cNvSpPr/>
          <p:nvPr/>
        </p:nvSpPr>
        <p:spPr>
          <a:xfrm>
            <a:off x="868680" y="3063240"/>
            <a:ext cx="812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系统边界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5" name="Image 13" descr="https://test.web.static.jianzeppt.com/ppt-temp-img3/6be5e44f9d26b2cfddec71d68a62cc3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2947721"/>
            <a:ext cx="15240" cy="460553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3524250" y="3063240"/>
            <a:ext cx="2844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从互联网入口到数据库的全链路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7" name="Image 14" descr="https://test.web.static.jianzeppt.com/ppt-temp-img3/6be5e44f9d26b2cfddec71d68a62cc3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2040" y="2947721"/>
            <a:ext cx="15240" cy="460553"/>
          </a:xfrm>
          <a:prstGeom prst="rect">
            <a:avLst/>
          </a:prstGeom>
        </p:spPr>
      </p:pic>
      <p:sp>
        <p:nvSpPr>
          <p:cNvPr id="28" name="Text 11"/>
          <p:cNvSpPr/>
          <p:nvPr/>
        </p:nvSpPr>
        <p:spPr>
          <a:xfrm>
            <a:off x="8961120" y="3063240"/>
            <a:ext cx="16256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涵盖所有关键节点</a:t>
            </a:r>
            <a:endParaRPr lang="en-US" sz="1600" dirty="0">
              <a:solidFill>
                <a:srgbClr val="6B7280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9" name="Image 15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3423514"/>
            <a:ext cx="10942320" cy="15240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8680" y="3550920"/>
            <a:ext cx="812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业务范围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1" name="Image 16" descr="https://test.web.static.jianzeppt.com/ppt-temp-img3/37aeb6b25b8b0d10da4a980a0e11267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4720" y="3423514"/>
            <a:ext cx="15240" cy="721766"/>
          </a:xfrm>
          <a:prstGeom prst="rect">
            <a:avLst/>
          </a:prstGeom>
        </p:spPr>
      </p:pic>
      <p:sp>
        <p:nvSpPr>
          <p:cNvPr id="32" name="Text 13"/>
          <p:cNvSpPr/>
          <p:nvPr/>
        </p:nvSpPr>
        <p:spPr>
          <a:xfrm>
            <a:off x="3524250" y="3550920"/>
            <a:ext cx="5227320" cy="36893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政务服务门户、事项管理、预约排号、叫号、评价、统计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3" name="Image 17" descr="https://test.web.static.jianzeppt.com/ppt-temp-img3/37aeb6b25b8b0d10da4a980a0e11267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02040" y="3423514"/>
            <a:ext cx="15240" cy="721766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8961120" y="3488055"/>
            <a:ext cx="237134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6个功能模块</a:t>
            </a:r>
            <a:endParaRPr lang="en-US" sz="1600" dirty="0">
              <a:solidFill>
                <a:srgbClr val="6B7280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4419600"/>
            <a:ext cx="3505200" cy="1828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6" name="Image 19" descr="https://test.web.static.jianzeppt.com/ppt-temp-img3/97de0e6d4f653d25358b781291fb71b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57400" y="4678680"/>
            <a:ext cx="609600" cy="487680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79320" y="4739640"/>
            <a:ext cx="365760" cy="365760"/>
          </a:xfrm>
          <a:prstGeom prst="rect">
            <a:avLst/>
          </a:prstGeom>
        </p:spPr>
      </p:pic>
      <p:sp>
        <p:nvSpPr>
          <p:cNvPr id="38" name="Text 15"/>
          <p:cNvSpPr/>
          <p:nvPr/>
        </p:nvSpPr>
        <p:spPr>
          <a:xfrm>
            <a:off x="1630680" y="5288280"/>
            <a:ext cx="14874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“应测尽测”</a:t>
            </a:r>
            <a:endParaRPr lang="en-US" sz="1440" dirty="0"/>
          </a:p>
        </p:txBody>
      </p:sp>
      <p:sp>
        <p:nvSpPr>
          <p:cNvPr id="39" name="Text 16"/>
          <p:cNvSpPr/>
          <p:nvPr/>
        </p:nvSpPr>
        <p:spPr>
          <a:xfrm>
            <a:off x="868680" y="5623560"/>
            <a:ext cx="299618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所有承载核心业务的设备和系统都应纳入范围</a:t>
            </a:r>
            <a:endParaRPr lang="en-US" sz="1400" dirty="0">
              <a:solidFill>
                <a:srgbClr val="4B556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40" name="Image 21" descr="https://test.web.static.jianzeppt.com/ppt-temp-img3/129f7659252fb20a9547e0bb6cde3f7f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" y="4434840"/>
            <a:ext cx="60960" cy="1798320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43400" y="4419600"/>
            <a:ext cx="3505200" cy="1828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42" name="Image 23" descr="https://test.web.static.jianzeppt.com/ppt-temp-img3/97de0e6d4f653d25358b781291fb71b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91200" y="4678680"/>
            <a:ext cx="609600" cy="487680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13120" y="4739640"/>
            <a:ext cx="365760" cy="365760"/>
          </a:xfrm>
          <a:prstGeom prst="rect">
            <a:avLst/>
          </a:prstGeom>
        </p:spPr>
      </p:pic>
      <p:sp>
        <p:nvSpPr>
          <p:cNvPr id="44" name="Text 17"/>
          <p:cNvSpPr/>
          <p:nvPr/>
        </p:nvSpPr>
        <p:spPr>
          <a:xfrm>
            <a:off x="5364480" y="5288280"/>
            <a:ext cx="14874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“边界清晰”</a:t>
            </a:r>
            <a:endParaRPr lang="en-US" sz="1440" dirty="0"/>
          </a:p>
        </p:txBody>
      </p:sp>
      <p:sp>
        <p:nvSpPr>
          <p:cNvPr id="45" name="Text 18"/>
          <p:cNvSpPr/>
          <p:nvPr/>
        </p:nvSpPr>
        <p:spPr>
          <a:xfrm>
            <a:off x="4602480" y="5623560"/>
            <a:ext cx="299618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明确哪些在范围内、哪些在范围外，避免争议</a:t>
            </a:r>
            <a:endParaRPr lang="en-US" sz="1400" dirty="0">
              <a:solidFill>
                <a:srgbClr val="4B556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46" name="Image 25" descr="https://test.web.static.jianzeppt.com/ppt-temp-img3/14b0c7d2b323b4031c054da657992eda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58640" y="4434840"/>
            <a:ext cx="60960" cy="1798320"/>
          </a:xfrm>
          <a:prstGeom prst="rect">
            <a:avLst/>
          </a:prstGeom>
        </p:spPr>
      </p:pic>
      <p:pic>
        <p:nvPicPr>
          <p:cNvPr id="47" name="Image 26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2440" y="4419600"/>
            <a:ext cx="3505200" cy="1828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48" name="Image 27" descr="https://test.web.static.jianzeppt.com/ppt-temp-img3/97de0e6d4f653d25358b781291fb71b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5000" y="4678680"/>
            <a:ext cx="609600" cy="487680"/>
          </a:xfrm>
          <a:prstGeom prst="rect">
            <a:avLst/>
          </a:prstGeom>
        </p:spPr>
      </p:pic>
      <p:pic>
        <p:nvPicPr>
          <p:cNvPr id="49" name="Image 28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46920" y="4739640"/>
            <a:ext cx="365760" cy="365760"/>
          </a:xfrm>
          <a:prstGeom prst="rect">
            <a:avLst/>
          </a:prstGeom>
        </p:spPr>
      </p:pic>
      <p:sp>
        <p:nvSpPr>
          <p:cNvPr id="50" name="Text 19"/>
          <p:cNvSpPr/>
          <p:nvPr/>
        </p:nvSpPr>
        <p:spPr>
          <a:xfrm>
            <a:off x="9098280" y="5288280"/>
            <a:ext cx="14874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“合理裁剪”</a:t>
            </a:r>
            <a:endParaRPr lang="en-US" sz="1440" dirty="0"/>
          </a:p>
        </p:txBody>
      </p:sp>
      <p:sp>
        <p:nvSpPr>
          <p:cNvPr id="51" name="Text 20"/>
          <p:cNvSpPr/>
          <p:nvPr/>
        </p:nvSpPr>
        <p:spPr>
          <a:xfrm>
            <a:off x="8351520" y="5623560"/>
            <a:ext cx="299618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对不涉及的技术领域可以裁剪，但须说明理由</a:t>
            </a:r>
            <a:endParaRPr lang="en-US" sz="1400" dirty="0">
              <a:solidFill>
                <a:srgbClr val="4B556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52" name="Image 29" descr="https://test.web.static.jianzeppt.com/ppt-temp-img3/137174c3136eceb0a7fdc7eabcb9bab9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07680" y="4434840"/>
            <a:ext cx="60960" cy="1798320"/>
          </a:xfrm>
          <a:prstGeom prst="rect">
            <a:avLst/>
          </a:prstGeom>
        </p:spPr>
      </p:pic>
      <p:sp>
        <p:nvSpPr>
          <p:cNvPr id="53" name="Text 21"/>
          <p:cNvSpPr/>
          <p:nvPr/>
        </p:nvSpPr>
        <p:spPr>
          <a:xfrm>
            <a:off x="822497" y="531937"/>
            <a:ext cx="415925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rgbClr val="1E1E1E"/>
                </a:solidFill>
              </a:rPr>
              <a:t>第三阶段——确定测评范围</a:t>
            </a:r>
            <a:endParaRPr lang="en-US" sz="276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5d4bfe1a93fccb09658015969c071be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645785"/>
            <a:ext cx="10972800" cy="60261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5768340"/>
            <a:ext cx="304800" cy="3048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356360" y="5638800"/>
            <a:ext cx="9976104" cy="4508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b="1" dirty="0">
                <a:solidFill>
                  <a:srgbClr val="00234E"/>
                </a:solidFill>
              </a:rPr>
              <a:t>说明：</a:t>
            </a:r>
            <a:r>
              <a:rPr lang="en-US" dirty="0">
                <a:solidFill>
                  <a:srgbClr val="1F2937"/>
                </a:solidFill>
              </a:rPr>
              <a:t>Web服务器3台抽2台（</a:t>
            </a:r>
            <a:r>
              <a:rPr lang="en-US" b="1" dirty="0">
                <a:solidFill>
                  <a:srgbClr val="00234E"/>
                </a:solidFill>
              </a:rPr>
              <a:t>66%</a:t>
            </a:r>
            <a:r>
              <a:rPr lang="en-US" dirty="0">
                <a:solidFill>
                  <a:srgbClr val="1F2937"/>
                </a:solidFill>
              </a:rPr>
              <a:t>），数据库服务器2台抽1台（</a:t>
            </a:r>
            <a:r>
              <a:rPr lang="en-US" b="1" dirty="0">
                <a:solidFill>
                  <a:srgbClr val="00234E"/>
                </a:solidFill>
              </a:rPr>
              <a:t>50%</a:t>
            </a:r>
            <a:r>
              <a:rPr lang="en-US" dirty="0">
                <a:solidFill>
                  <a:srgbClr val="1F2937"/>
                </a:solidFill>
              </a:rPr>
              <a:t>），均超过</a:t>
            </a:r>
            <a:r>
              <a:rPr lang="en-US" b="1" dirty="0">
                <a:solidFill>
                  <a:srgbClr val="00234E"/>
                </a:solidFill>
              </a:rPr>
              <a:t>30%</a:t>
            </a:r>
            <a:r>
              <a:rPr lang="en-US" dirty="0">
                <a:solidFill>
                  <a:srgbClr val="1F2937"/>
                </a:solidFill>
              </a:rPr>
              <a:t>的抽样比例要求。</a:t>
            </a:r>
            <a:endParaRPr lang="en-US" dirty="0">
              <a:solidFill>
                <a:srgbClr val="1F2937"/>
              </a:solidFill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1093180" y="1127760"/>
          <a:ext cx="9609455" cy="4631055"/>
        </p:xfrm>
        <a:graphic>
          <a:graphicData uri="http://schemas.openxmlformats.org/drawingml/2006/table">
            <a:tbl>
              <a:tblPr/>
              <a:tblGrid>
                <a:gridCol w="548726"/>
                <a:gridCol w="1378507"/>
                <a:gridCol w="2355508"/>
                <a:gridCol w="1217905"/>
                <a:gridCol w="1284822"/>
                <a:gridCol w="2823932"/>
              </a:tblGrid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设备/系统名称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型号/规格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数量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是否测评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选取理由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边界防火墙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华为USG6000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√</a:t>
                      </a:r>
                      <a:endParaRPr sz="16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边界防护核心设备，三级必须测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核心交换机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华为S12708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2台（堆叠）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endParaRPr sz="16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网络核心，承载所有业务流量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Web服务器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华为RH2288（Linux）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（抽2台）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同质化设备，抽样30%以上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应用服务器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华为RH2288（Linux）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endParaRPr sz="16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业务核心，全部测评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数据库服务器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华为RH2288（Windows）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（抽1台）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同质化设备，抽样50%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堡垒机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齐治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endParaRPr sz="16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运维管理核心，三级必须测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日志审计系统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天融信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endParaRPr sz="16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安全审计核心，三级要求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WAF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安恒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√</a:t>
                      </a:r>
                      <a:endParaRPr sz="16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Web安全防护，必须测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办公终端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联想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50台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</a:rPr>
                        <a:t>×</a:t>
                      </a:r>
                      <a:endParaRPr sz="1600">
                        <a:latin typeface="Arial" panose="020B0604020202020204" pitchFamily="34" charset="0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非核心设备，不纳入测评范围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打印机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惠普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Arial" panose="020B0604020202020204" pitchFamily="34" charset="0"/>
                          <a:sym typeface="+mn-ea"/>
                        </a:rPr>
                        <a:t>×</a:t>
                      </a:r>
                      <a:endParaRPr sz="1600">
                        <a:latin typeface="Arial" panose="020B0604020202020204" pitchFamily="34" charset="0"/>
                        <a:sym typeface="+mn-ea"/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非信息系统设备，不纳入抽样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0301" marR="80301" marT="80301" marB="80301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1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第四阶段——选取测评对象</a:t>
            </a:r>
            <a:endParaRPr lang="en-US" sz="2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143000"/>
            <a:ext cx="10972800" cy="5334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" name="Image 4" descr="https://test.web.static.jianzeppt.com/ppt-temp-img3/7b745879df0bfae6def3e095e984a9e9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1158240"/>
            <a:ext cx="10942320" cy="54864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16280" y="1280160"/>
            <a:ext cx="435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1680" dirty="0"/>
          </a:p>
        </p:txBody>
      </p:sp>
      <p:pic>
        <p:nvPicPr>
          <p:cNvPr id="8" name="Image 5" descr="https://test.web.static.jianzeppt.com/ppt-temp-img3/9f235f5bc4a4a1ef8cf088a18bcd28aa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" y="1211580"/>
            <a:ext cx="15240" cy="44196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356360" y="1280160"/>
            <a:ext cx="12893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测评指标大类</a:t>
            </a:r>
            <a:endParaRPr lang="en-US" sz="1680" dirty="0"/>
          </a:p>
        </p:txBody>
      </p:sp>
      <p:pic>
        <p:nvPicPr>
          <p:cNvPr id="10" name="Image 6" descr="https://test.web.static.jianzeppt.com/ppt-temp-img3/9f235f5bc4a4a1ef8cf088a18bcd28aa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1211580"/>
            <a:ext cx="15240" cy="44196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2773680" y="1280160"/>
            <a:ext cx="17160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三级要求指标项数</a:t>
            </a:r>
            <a:endParaRPr lang="en-US" sz="1680" dirty="0"/>
          </a:p>
        </p:txBody>
      </p:sp>
      <p:pic>
        <p:nvPicPr>
          <p:cNvPr id="12" name="Image 7" descr="https://test.web.static.jianzeppt.com/ppt-temp-img3/9f235f5bc4a4a1ef8cf088a18bcd28aa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4792" y="1211580"/>
            <a:ext cx="15240" cy="44196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4968240" y="128016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适用项数</a:t>
            </a:r>
            <a:endParaRPr lang="en-US" sz="1680" dirty="0"/>
          </a:p>
        </p:txBody>
      </p:sp>
      <p:pic>
        <p:nvPicPr>
          <p:cNvPr id="14" name="Image 8" descr="https://test.web.static.jianzeppt.com/ppt-temp-img3/9f235f5bc4a4a1ef8cf088a18bcd28aa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536" y="1211580"/>
            <a:ext cx="15240" cy="441960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6614160" y="128016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不适用项数</a:t>
            </a:r>
            <a:endParaRPr lang="en-US" sz="1680" dirty="0"/>
          </a:p>
        </p:txBody>
      </p:sp>
      <p:pic>
        <p:nvPicPr>
          <p:cNvPr id="16" name="Image 9" descr="https://test.web.static.jianzeppt.com/ppt-temp-img3/9f235f5bc4a4a1ef8cf088a18bcd28aa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2" y="1211580"/>
            <a:ext cx="15240" cy="441960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8046720" y="1280160"/>
            <a:ext cx="3544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不适用理由</a:t>
            </a:r>
            <a:endParaRPr lang="en-US" sz="1680" dirty="0"/>
          </a:p>
        </p:txBody>
      </p:sp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1706880"/>
            <a:ext cx="10942320" cy="396240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24840" y="175260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1</a:t>
            </a:r>
            <a:endParaRPr lang="en-US" sz="1440" dirty="0"/>
          </a:p>
        </p:txBody>
      </p:sp>
      <p:sp>
        <p:nvSpPr>
          <p:cNvPr id="20" name="Text 7"/>
          <p:cNvSpPr/>
          <p:nvPr/>
        </p:nvSpPr>
        <p:spPr>
          <a:xfrm>
            <a:off x="1234440" y="175260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身份鉴别</a:t>
            </a:r>
            <a:endParaRPr lang="en-US" sz="1440" dirty="0"/>
          </a:p>
        </p:txBody>
      </p:sp>
      <p:sp>
        <p:nvSpPr>
          <p:cNvPr id="21" name="Text 8"/>
          <p:cNvSpPr/>
          <p:nvPr/>
        </p:nvSpPr>
        <p:spPr>
          <a:xfrm>
            <a:off x="2758440" y="17526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4项</a:t>
            </a:r>
            <a:endParaRPr lang="en-US" sz="1440" dirty="0"/>
          </a:p>
        </p:txBody>
      </p:sp>
      <p:sp>
        <p:nvSpPr>
          <p:cNvPr id="22" name="Text 9"/>
          <p:cNvSpPr/>
          <p:nvPr/>
        </p:nvSpPr>
        <p:spPr>
          <a:xfrm>
            <a:off x="4526280" y="17526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4项</a:t>
            </a:r>
            <a:endParaRPr lang="en-US" sz="1440" dirty="0"/>
          </a:p>
        </p:txBody>
      </p:sp>
      <p:sp>
        <p:nvSpPr>
          <p:cNvPr id="23" name="Text 10"/>
          <p:cNvSpPr/>
          <p:nvPr/>
        </p:nvSpPr>
        <p:spPr>
          <a:xfrm>
            <a:off x="6278880" y="17526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24" name="Text 11"/>
          <p:cNvSpPr/>
          <p:nvPr/>
        </p:nvSpPr>
        <p:spPr>
          <a:xfrm>
            <a:off x="8046720" y="175260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2100529"/>
            <a:ext cx="10942320" cy="15240"/>
          </a:xfrm>
          <a:prstGeom prst="rect">
            <a:avLst/>
          </a:prstGeom>
        </p:spPr>
      </p:pic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2103120"/>
            <a:ext cx="10942320" cy="39624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624840" y="214884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</a:t>
            </a:r>
            <a:endParaRPr lang="en-US" sz="1440" dirty="0"/>
          </a:p>
        </p:txBody>
      </p:sp>
      <p:sp>
        <p:nvSpPr>
          <p:cNvPr id="28" name="Text 13"/>
          <p:cNvSpPr/>
          <p:nvPr/>
        </p:nvSpPr>
        <p:spPr>
          <a:xfrm>
            <a:off x="1234440" y="214884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访问控制</a:t>
            </a:r>
            <a:endParaRPr lang="en-US" sz="1440" dirty="0"/>
          </a:p>
        </p:txBody>
      </p:sp>
      <p:sp>
        <p:nvSpPr>
          <p:cNvPr id="29" name="Text 14"/>
          <p:cNvSpPr/>
          <p:nvPr/>
        </p:nvSpPr>
        <p:spPr>
          <a:xfrm>
            <a:off x="2758440" y="21488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7项</a:t>
            </a:r>
            <a:endParaRPr lang="en-US" sz="1440" dirty="0"/>
          </a:p>
        </p:txBody>
      </p:sp>
      <p:sp>
        <p:nvSpPr>
          <p:cNvPr id="30" name="Text 15"/>
          <p:cNvSpPr/>
          <p:nvPr/>
        </p:nvSpPr>
        <p:spPr>
          <a:xfrm>
            <a:off x="4526280" y="21488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7项</a:t>
            </a:r>
            <a:endParaRPr lang="en-US" sz="1440" dirty="0"/>
          </a:p>
        </p:txBody>
      </p:sp>
      <p:sp>
        <p:nvSpPr>
          <p:cNvPr id="31" name="Text 16"/>
          <p:cNvSpPr/>
          <p:nvPr/>
        </p:nvSpPr>
        <p:spPr>
          <a:xfrm>
            <a:off x="6278880" y="21488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32" name="Text 17"/>
          <p:cNvSpPr/>
          <p:nvPr/>
        </p:nvSpPr>
        <p:spPr>
          <a:xfrm>
            <a:off x="8046720" y="214884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2493874"/>
            <a:ext cx="10942320" cy="15240"/>
          </a:xfrm>
          <a:prstGeom prst="rect">
            <a:avLst/>
          </a:prstGeom>
        </p:spPr>
      </p:pic>
      <p:pic>
        <p:nvPicPr>
          <p:cNvPr id="34" name="Image 1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2499360"/>
            <a:ext cx="10942320" cy="396240"/>
          </a:xfrm>
          <a:prstGeom prst="rect">
            <a:avLst/>
          </a:prstGeom>
        </p:spPr>
      </p:pic>
      <p:sp>
        <p:nvSpPr>
          <p:cNvPr id="35" name="Text 18"/>
          <p:cNvSpPr/>
          <p:nvPr/>
        </p:nvSpPr>
        <p:spPr>
          <a:xfrm>
            <a:off x="624840" y="254508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3</a:t>
            </a:r>
            <a:endParaRPr lang="en-US" sz="1440" dirty="0"/>
          </a:p>
        </p:txBody>
      </p:sp>
      <p:sp>
        <p:nvSpPr>
          <p:cNvPr id="36" name="Text 19"/>
          <p:cNvSpPr/>
          <p:nvPr/>
        </p:nvSpPr>
        <p:spPr>
          <a:xfrm>
            <a:off x="1234440" y="254508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安全审计</a:t>
            </a:r>
            <a:endParaRPr lang="en-US" sz="1440" dirty="0"/>
          </a:p>
        </p:txBody>
      </p:sp>
      <p:sp>
        <p:nvSpPr>
          <p:cNvPr id="37" name="Text 20"/>
          <p:cNvSpPr/>
          <p:nvPr/>
        </p:nvSpPr>
        <p:spPr>
          <a:xfrm>
            <a:off x="2758440" y="254508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4项</a:t>
            </a:r>
            <a:endParaRPr lang="en-US" sz="1440" dirty="0"/>
          </a:p>
        </p:txBody>
      </p:sp>
      <p:sp>
        <p:nvSpPr>
          <p:cNvPr id="38" name="Text 21"/>
          <p:cNvSpPr/>
          <p:nvPr/>
        </p:nvSpPr>
        <p:spPr>
          <a:xfrm>
            <a:off x="4526280" y="254508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4项</a:t>
            </a:r>
            <a:endParaRPr lang="en-US" sz="1440" dirty="0"/>
          </a:p>
        </p:txBody>
      </p:sp>
      <p:sp>
        <p:nvSpPr>
          <p:cNvPr id="39" name="Text 22"/>
          <p:cNvSpPr/>
          <p:nvPr/>
        </p:nvSpPr>
        <p:spPr>
          <a:xfrm>
            <a:off x="6278880" y="254508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40" name="Text 23"/>
          <p:cNvSpPr/>
          <p:nvPr/>
        </p:nvSpPr>
        <p:spPr>
          <a:xfrm>
            <a:off x="8046720" y="254508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2887523"/>
            <a:ext cx="10942320" cy="15240"/>
          </a:xfrm>
          <a:prstGeom prst="rect">
            <a:avLst/>
          </a:prstGeom>
        </p:spPr>
      </p:pic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2880360"/>
            <a:ext cx="10942320" cy="396240"/>
          </a:xfrm>
          <a:prstGeom prst="rect">
            <a:avLst/>
          </a:prstGeom>
        </p:spPr>
      </p:pic>
      <p:sp>
        <p:nvSpPr>
          <p:cNvPr id="43" name="Text 24"/>
          <p:cNvSpPr/>
          <p:nvPr/>
        </p:nvSpPr>
        <p:spPr>
          <a:xfrm>
            <a:off x="624840" y="294132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</a:t>
            </a:r>
            <a:endParaRPr lang="en-US" sz="1440" dirty="0"/>
          </a:p>
        </p:txBody>
      </p:sp>
      <p:sp>
        <p:nvSpPr>
          <p:cNvPr id="44" name="Text 25"/>
          <p:cNvSpPr/>
          <p:nvPr/>
        </p:nvSpPr>
        <p:spPr>
          <a:xfrm>
            <a:off x="1234440" y="294132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入侵防范</a:t>
            </a:r>
            <a:endParaRPr lang="en-US" sz="1440" dirty="0"/>
          </a:p>
        </p:txBody>
      </p:sp>
      <p:sp>
        <p:nvSpPr>
          <p:cNvPr id="45" name="Text 26"/>
          <p:cNvSpPr/>
          <p:nvPr/>
        </p:nvSpPr>
        <p:spPr>
          <a:xfrm>
            <a:off x="2758440" y="294132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6项</a:t>
            </a:r>
            <a:endParaRPr lang="en-US" sz="1440" dirty="0"/>
          </a:p>
        </p:txBody>
      </p:sp>
      <p:sp>
        <p:nvSpPr>
          <p:cNvPr id="46" name="Text 27"/>
          <p:cNvSpPr/>
          <p:nvPr/>
        </p:nvSpPr>
        <p:spPr>
          <a:xfrm>
            <a:off x="4526280" y="294132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6项</a:t>
            </a:r>
            <a:endParaRPr lang="en-US" sz="1440" dirty="0"/>
          </a:p>
        </p:txBody>
      </p:sp>
      <p:sp>
        <p:nvSpPr>
          <p:cNvPr id="47" name="Text 28"/>
          <p:cNvSpPr/>
          <p:nvPr/>
        </p:nvSpPr>
        <p:spPr>
          <a:xfrm>
            <a:off x="6278880" y="294132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48" name="Text 29"/>
          <p:cNvSpPr/>
          <p:nvPr/>
        </p:nvSpPr>
        <p:spPr>
          <a:xfrm>
            <a:off x="8046720" y="294132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49" name="Image 1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3280867"/>
            <a:ext cx="10942320" cy="15240"/>
          </a:xfrm>
          <a:prstGeom prst="rect">
            <a:avLst/>
          </a:prstGeom>
        </p:spPr>
      </p:pic>
      <p:pic>
        <p:nvPicPr>
          <p:cNvPr id="50" name="Image 18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3276600"/>
            <a:ext cx="10942320" cy="396240"/>
          </a:xfrm>
          <a:prstGeom prst="rect">
            <a:avLst/>
          </a:prstGeom>
        </p:spPr>
      </p:pic>
      <p:sp>
        <p:nvSpPr>
          <p:cNvPr id="51" name="Text 30"/>
          <p:cNvSpPr/>
          <p:nvPr/>
        </p:nvSpPr>
        <p:spPr>
          <a:xfrm>
            <a:off x="624840" y="333756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5</a:t>
            </a:r>
            <a:endParaRPr lang="en-US" sz="1440" dirty="0"/>
          </a:p>
        </p:txBody>
      </p:sp>
      <p:sp>
        <p:nvSpPr>
          <p:cNvPr id="52" name="Text 31"/>
          <p:cNvSpPr/>
          <p:nvPr/>
        </p:nvSpPr>
        <p:spPr>
          <a:xfrm>
            <a:off x="1234440" y="333756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恶意代码防范</a:t>
            </a:r>
            <a:endParaRPr lang="en-US" sz="1440" dirty="0"/>
          </a:p>
        </p:txBody>
      </p:sp>
      <p:sp>
        <p:nvSpPr>
          <p:cNvPr id="53" name="Text 32"/>
          <p:cNvSpPr/>
          <p:nvPr/>
        </p:nvSpPr>
        <p:spPr>
          <a:xfrm>
            <a:off x="2758440" y="333756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1项</a:t>
            </a:r>
            <a:endParaRPr lang="en-US" sz="1440" dirty="0"/>
          </a:p>
        </p:txBody>
      </p:sp>
      <p:sp>
        <p:nvSpPr>
          <p:cNvPr id="54" name="Text 33"/>
          <p:cNvSpPr/>
          <p:nvPr/>
        </p:nvSpPr>
        <p:spPr>
          <a:xfrm>
            <a:off x="4526280" y="333756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1项</a:t>
            </a:r>
            <a:endParaRPr lang="en-US" sz="1440" dirty="0"/>
          </a:p>
        </p:txBody>
      </p:sp>
      <p:sp>
        <p:nvSpPr>
          <p:cNvPr id="55" name="Text 34"/>
          <p:cNvSpPr/>
          <p:nvPr/>
        </p:nvSpPr>
        <p:spPr>
          <a:xfrm>
            <a:off x="6278880" y="333756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56" name="Text 35"/>
          <p:cNvSpPr/>
          <p:nvPr/>
        </p:nvSpPr>
        <p:spPr>
          <a:xfrm>
            <a:off x="8046720" y="333756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57" name="Image 1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3674516"/>
            <a:ext cx="10942320" cy="15240"/>
          </a:xfrm>
          <a:prstGeom prst="rect">
            <a:avLst/>
          </a:prstGeom>
        </p:spPr>
      </p:pic>
      <p:pic>
        <p:nvPicPr>
          <p:cNvPr id="58" name="Image 20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3672840"/>
            <a:ext cx="10942320" cy="396240"/>
          </a:xfrm>
          <a:prstGeom prst="rect">
            <a:avLst/>
          </a:prstGeom>
        </p:spPr>
      </p:pic>
      <p:sp>
        <p:nvSpPr>
          <p:cNvPr id="59" name="Text 36"/>
          <p:cNvSpPr/>
          <p:nvPr/>
        </p:nvSpPr>
        <p:spPr>
          <a:xfrm>
            <a:off x="624840" y="373380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</a:t>
            </a:r>
            <a:endParaRPr lang="en-US" sz="1440" dirty="0"/>
          </a:p>
        </p:txBody>
      </p:sp>
      <p:sp>
        <p:nvSpPr>
          <p:cNvPr id="60" name="Text 37"/>
          <p:cNvSpPr/>
          <p:nvPr/>
        </p:nvSpPr>
        <p:spPr>
          <a:xfrm>
            <a:off x="1234440" y="373380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可信验证</a:t>
            </a:r>
            <a:endParaRPr lang="en-US" sz="1440" dirty="0"/>
          </a:p>
        </p:txBody>
      </p:sp>
      <p:sp>
        <p:nvSpPr>
          <p:cNvPr id="61" name="Text 38"/>
          <p:cNvSpPr/>
          <p:nvPr/>
        </p:nvSpPr>
        <p:spPr>
          <a:xfrm>
            <a:off x="2758440" y="37338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1项</a:t>
            </a:r>
            <a:endParaRPr lang="en-US" sz="1440" dirty="0"/>
          </a:p>
        </p:txBody>
      </p:sp>
      <p:sp>
        <p:nvSpPr>
          <p:cNvPr id="62" name="Text 39"/>
          <p:cNvSpPr/>
          <p:nvPr/>
        </p:nvSpPr>
        <p:spPr>
          <a:xfrm>
            <a:off x="4526280" y="37338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0项</a:t>
            </a:r>
            <a:endParaRPr lang="en-US" sz="1440" dirty="0"/>
          </a:p>
        </p:txBody>
      </p:sp>
      <p:sp>
        <p:nvSpPr>
          <p:cNvPr id="63" name="Text 40"/>
          <p:cNvSpPr/>
          <p:nvPr/>
        </p:nvSpPr>
        <p:spPr>
          <a:xfrm>
            <a:off x="6278880" y="37338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1项</a:t>
            </a:r>
            <a:endParaRPr lang="en-US" sz="1440" dirty="0"/>
          </a:p>
        </p:txBody>
      </p:sp>
      <p:sp>
        <p:nvSpPr>
          <p:cNvPr id="64" name="Text 41"/>
          <p:cNvSpPr/>
          <p:nvPr/>
        </p:nvSpPr>
        <p:spPr>
          <a:xfrm>
            <a:off x="8168640" y="3749040"/>
            <a:ext cx="330098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系统未部署可信计算模块，暂不适用</a:t>
            </a:r>
            <a:endParaRPr lang="en-US" sz="1440" dirty="0"/>
          </a:p>
        </p:txBody>
      </p:sp>
      <p:pic>
        <p:nvPicPr>
          <p:cNvPr id="65" name="Image 21" descr="https://test.web.static.jianzeppt.com/ppt-temp-img3/dc352b43ba88c9de0a172655b3d0b008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" y="4067861"/>
            <a:ext cx="10942320" cy="15240"/>
          </a:xfrm>
          <a:prstGeom prst="rect">
            <a:avLst/>
          </a:prstGeom>
        </p:spPr>
      </p:pic>
      <p:pic>
        <p:nvPicPr>
          <p:cNvPr id="66" name="Image 22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4069080"/>
            <a:ext cx="10942320" cy="396240"/>
          </a:xfrm>
          <a:prstGeom prst="rect">
            <a:avLst/>
          </a:prstGeom>
        </p:spPr>
      </p:pic>
      <p:sp>
        <p:nvSpPr>
          <p:cNvPr id="67" name="Text 42"/>
          <p:cNvSpPr/>
          <p:nvPr/>
        </p:nvSpPr>
        <p:spPr>
          <a:xfrm>
            <a:off x="624840" y="411480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7</a:t>
            </a:r>
            <a:endParaRPr lang="en-US" sz="1440" dirty="0"/>
          </a:p>
        </p:txBody>
      </p:sp>
      <p:sp>
        <p:nvSpPr>
          <p:cNvPr id="68" name="Text 43"/>
          <p:cNvSpPr/>
          <p:nvPr/>
        </p:nvSpPr>
        <p:spPr>
          <a:xfrm>
            <a:off x="1234440" y="411480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数据完整性</a:t>
            </a:r>
            <a:endParaRPr lang="en-US" sz="1440" dirty="0"/>
          </a:p>
        </p:txBody>
      </p:sp>
      <p:sp>
        <p:nvSpPr>
          <p:cNvPr id="69" name="Text 44"/>
          <p:cNvSpPr/>
          <p:nvPr/>
        </p:nvSpPr>
        <p:spPr>
          <a:xfrm>
            <a:off x="2758440" y="41148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70" name="Text 45"/>
          <p:cNvSpPr/>
          <p:nvPr/>
        </p:nvSpPr>
        <p:spPr>
          <a:xfrm>
            <a:off x="4526280" y="41148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71" name="Text 46"/>
          <p:cNvSpPr/>
          <p:nvPr/>
        </p:nvSpPr>
        <p:spPr>
          <a:xfrm>
            <a:off x="6278880" y="411480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72" name="Text 47"/>
          <p:cNvSpPr/>
          <p:nvPr/>
        </p:nvSpPr>
        <p:spPr>
          <a:xfrm>
            <a:off x="8046720" y="411480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73" name="Image 23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4461510"/>
            <a:ext cx="10942320" cy="15240"/>
          </a:xfrm>
          <a:prstGeom prst="rect">
            <a:avLst/>
          </a:prstGeom>
        </p:spPr>
      </p:pic>
      <p:pic>
        <p:nvPicPr>
          <p:cNvPr id="74" name="Image 24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4465320"/>
            <a:ext cx="10942320" cy="396240"/>
          </a:xfrm>
          <a:prstGeom prst="rect">
            <a:avLst/>
          </a:prstGeom>
        </p:spPr>
      </p:pic>
      <p:sp>
        <p:nvSpPr>
          <p:cNvPr id="75" name="Text 48"/>
          <p:cNvSpPr/>
          <p:nvPr/>
        </p:nvSpPr>
        <p:spPr>
          <a:xfrm>
            <a:off x="624840" y="451104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8</a:t>
            </a:r>
            <a:endParaRPr lang="en-US" sz="1440" dirty="0"/>
          </a:p>
        </p:txBody>
      </p:sp>
      <p:sp>
        <p:nvSpPr>
          <p:cNvPr id="76" name="Text 49"/>
          <p:cNvSpPr/>
          <p:nvPr/>
        </p:nvSpPr>
        <p:spPr>
          <a:xfrm>
            <a:off x="1234440" y="451104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数据保密性</a:t>
            </a:r>
            <a:endParaRPr lang="en-US" sz="1440" dirty="0"/>
          </a:p>
        </p:txBody>
      </p:sp>
      <p:sp>
        <p:nvSpPr>
          <p:cNvPr id="77" name="Text 50"/>
          <p:cNvSpPr/>
          <p:nvPr/>
        </p:nvSpPr>
        <p:spPr>
          <a:xfrm>
            <a:off x="2758440" y="45110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78" name="Text 51"/>
          <p:cNvSpPr/>
          <p:nvPr/>
        </p:nvSpPr>
        <p:spPr>
          <a:xfrm>
            <a:off x="4526280" y="45110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79" name="Text 52"/>
          <p:cNvSpPr/>
          <p:nvPr/>
        </p:nvSpPr>
        <p:spPr>
          <a:xfrm>
            <a:off x="6278880" y="45110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80" name="Text 53"/>
          <p:cNvSpPr/>
          <p:nvPr/>
        </p:nvSpPr>
        <p:spPr>
          <a:xfrm>
            <a:off x="8046720" y="451104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81" name="Image 2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4854854"/>
            <a:ext cx="10942320" cy="15240"/>
          </a:xfrm>
          <a:prstGeom prst="rect">
            <a:avLst/>
          </a:prstGeom>
        </p:spPr>
      </p:pic>
      <p:pic>
        <p:nvPicPr>
          <p:cNvPr id="82" name="Image 2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4861560"/>
            <a:ext cx="10942320" cy="396240"/>
          </a:xfrm>
          <a:prstGeom prst="rect">
            <a:avLst/>
          </a:prstGeom>
        </p:spPr>
      </p:pic>
      <p:sp>
        <p:nvSpPr>
          <p:cNvPr id="83" name="Text 54"/>
          <p:cNvSpPr/>
          <p:nvPr/>
        </p:nvSpPr>
        <p:spPr>
          <a:xfrm>
            <a:off x="624840" y="490728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9</a:t>
            </a:r>
            <a:endParaRPr lang="en-US" sz="1440" dirty="0"/>
          </a:p>
        </p:txBody>
      </p:sp>
      <p:sp>
        <p:nvSpPr>
          <p:cNvPr id="84" name="Text 55"/>
          <p:cNvSpPr/>
          <p:nvPr/>
        </p:nvSpPr>
        <p:spPr>
          <a:xfrm>
            <a:off x="1234440" y="490728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数据备份恢复</a:t>
            </a:r>
            <a:endParaRPr lang="en-US" sz="1440" dirty="0"/>
          </a:p>
        </p:txBody>
      </p:sp>
      <p:sp>
        <p:nvSpPr>
          <p:cNvPr id="85" name="Text 56"/>
          <p:cNvSpPr/>
          <p:nvPr/>
        </p:nvSpPr>
        <p:spPr>
          <a:xfrm>
            <a:off x="2758440" y="490728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3项</a:t>
            </a:r>
            <a:endParaRPr lang="en-US" sz="1440" dirty="0"/>
          </a:p>
        </p:txBody>
      </p:sp>
      <p:sp>
        <p:nvSpPr>
          <p:cNvPr id="86" name="Text 57"/>
          <p:cNvSpPr/>
          <p:nvPr/>
        </p:nvSpPr>
        <p:spPr>
          <a:xfrm>
            <a:off x="4526280" y="490728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3项</a:t>
            </a:r>
            <a:endParaRPr lang="en-US" sz="1440" dirty="0"/>
          </a:p>
        </p:txBody>
      </p:sp>
      <p:sp>
        <p:nvSpPr>
          <p:cNvPr id="87" name="Text 58"/>
          <p:cNvSpPr/>
          <p:nvPr/>
        </p:nvSpPr>
        <p:spPr>
          <a:xfrm>
            <a:off x="6278880" y="490728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88" name="Text 59"/>
          <p:cNvSpPr/>
          <p:nvPr/>
        </p:nvSpPr>
        <p:spPr>
          <a:xfrm>
            <a:off x="8046720" y="490728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89" name="Image 2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5248351"/>
            <a:ext cx="10942320" cy="15240"/>
          </a:xfrm>
          <a:prstGeom prst="rect">
            <a:avLst/>
          </a:prstGeom>
        </p:spPr>
      </p:pic>
      <p:pic>
        <p:nvPicPr>
          <p:cNvPr id="90" name="Image 2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5242560"/>
            <a:ext cx="10942320" cy="396240"/>
          </a:xfrm>
          <a:prstGeom prst="rect">
            <a:avLst/>
          </a:prstGeom>
        </p:spPr>
      </p:pic>
      <p:sp>
        <p:nvSpPr>
          <p:cNvPr id="91" name="Text 60"/>
          <p:cNvSpPr/>
          <p:nvPr/>
        </p:nvSpPr>
        <p:spPr>
          <a:xfrm>
            <a:off x="624840" y="530352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10</a:t>
            </a:r>
            <a:endParaRPr lang="en-US" sz="1440" dirty="0"/>
          </a:p>
        </p:txBody>
      </p:sp>
      <p:sp>
        <p:nvSpPr>
          <p:cNvPr id="92" name="Text 61"/>
          <p:cNvSpPr/>
          <p:nvPr/>
        </p:nvSpPr>
        <p:spPr>
          <a:xfrm>
            <a:off x="1234440" y="530352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剩余信息保护</a:t>
            </a:r>
            <a:endParaRPr lang="en-US" sz="1440" dirty="0"/>
          </a:p>
        </p:txBody>
      </p:sp>
      <p:sp>
        <p:nvSpPr>
          <p:cNvPr id="93" name="Text 62"/>
          <p:cNvSpPr/>
          <p:nvPr/>
        </p:nvSpPr>
        <p:spPr>
          <a:xfrm>
            <a:off x="2758440" y="530352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94" name="Text 63"/>
          <p:cNvSpPr/>
          <p:nvPr/>
        </p:nvSpPr>
        <p:spPr>
          <a:xfrm>
            <a:off x="4526280" y="530352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95" name="Text 64"/>
          <p:cNvSpPr/>
          <p:nvPr/>
        </p:nvSpPr>
        <p:spPr>
          <a:xfrm>
            <a:off x="6278880" y="530352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96" name="Text 65"/>
          <p:cNvSpPr/>
          <p:nvPr/>
        </p:nvSpPr>
        <p:spPr>
          <a:xfrm>
            <a:off x="8046720" y="530352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97" name="Image 2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5641696"/>
            <a:ext cx="10942320" cy="15240"/>
          </a:xfrm>
          <a:prstGeom prst="rect">
            <a:avLst/>
          </a:prstGeom>
        </p:spPr>
      </p:pic>
      <p:pic>
        <p:nvPicPr>
          <p:cNvPr id="98" name="Image 30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5638800"/>
            <a:ext cx="10942320" cy="396240"/>
          </a:xfrm>
          <a:prstGeom prst="rect">
            <a:avLst/>
          </a:prstGeom>
        </p:spPr>
      </p:pic>
      <p:sp>
        <p:nvSpPr>
          <p:cNvPr id="99" name="Text 66"/>
          <p:cNvSpPr/>
          <p:nvPr/>
        </p:nvSpPr>
        <p:spPr>
          <a:xfrm>
            <a:off x="624840" y="5699760"/>
            <a:ext cx="618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11</a:t>
            </a:r>
            <a:endParaRPr lang="en-US" sz="1440" dirty="0"/>
          </a:p>
        </p:txBody>
      </p:sp>
      <p:sp>
        <p:nvSpPr>
          <p:cNvPr id="100" name="Text 67"/>
          <p:cNvSpPr/>
          <p:nvPr/>
        </p:nvSpPr>
        <p:spPr>
          <a:xfrm>
            <a:off x="1234440" y="5699760"/>
            <a:ext cx="153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个人信息保护</a:t>
            </a:r>
            <a:endParaRPr lang="en-US" sz="1440" dirty="0"/>
          </a:p>
        </p:txBody>
      </p:sp>
      <p:sp>
        <p:nvSpPr>
          <p:cNvPr id="101" name="Text 68"/>
          <p:cNvSpPr/>
          <p:nvPr/>
        </p:nvSpPr>
        <p:spPr>
          <a:xfrm>
            <a:off x="2758440" y="569976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102" name="Text 69"/>
          <p:cNvSpPr/>
          <p:nvPr/>
        </p:nvSpPr>
        <p:spPr>
          <a:xfrm>
            <a:off x="4526280" y="569976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2项</a:t>
            </a:r>
            <a:endParaRPr lang="en-US" sz="1440" dirty="0"/>
          </a:p>
        </p:txBody>
      </p:sp>
      <p:sp>
        <p:nvSpPr>
          <p:cNvPr id="103" name="Text 70"/>
          <p:cNvSpPr/>
          <p:nvPr/>
        </p:nvSpPr>
        <p:spPr>
          <a:xfrm>
            <a:off x="6278880" y="569976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0项</a:t>
            </a:r>
            <a:endParaRPr lang="en-US" sz="1440" dirty="0"/>
          </a:p>
        </p:txBody>
      </p:sp>
      <p:sp>
        <p:nvSpPr>
          <p:cNvPr id="104" name="Text 71"/>
          <p:cNvSpPr/>
          <p:nvPr/>
        </p:nvSpPr>
        <p:spPr>
          <a:xfrm>
            <a:off x="8046720" y="569976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—</a:t>
            </a:r>
            <a:endParaRPr lang="en-US" sz="1440" dirty="0"/>
          </a:p>
        </p:txBody>
      </p:sp>
      <p:pic>
        <p:nvPicPr>
          <p:cNvPr id="105" name="Image 31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6035040"/>
            <a:ext cx="10942320" cy="15240"/>
          </a:xfrm>
          <a:prstGeom prst="rect">
            <a:avLst/>
          </a:prstGeom>
        </p:spPr>
      </p:pic>
      <p:pic>
        <p:nvPicPr>
          <p:cNvPr id="106" name="Image 32" descr="https://test.web.static.jianzeppt.com/ppt-temp-img3/74c239b6313d97477817ee56dccab130.png?x-oss-process=image/resize,w_1440,h_800,m_lfit/format,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4840" y="6035040"/>
            <a:ext cx="10942320" cy="426720"/>
          </a:xfrm>
          <a:prstGeom prst="rect">
            <a:avLst/>
          </a:prstGeom>
        </p:spPr>
      </p:pic>
      <p:sp>
        <p:nvSpPr>
          <p:cNvPr id="107" name="Text 72"/>
          <p:cNvSpPr/>
          <p:nvPr/>
        </p:nvSpPr>
        <p:spPr>
          <a:xfrm>
            <a:off x="624840" y="6111240"/>
            <a:ext cx="2142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合计</a:t>
            </a:r>
            <a:endParaRPr lang="en-US" sz="1440" dirty="0"/>
          </a:p>
        </p:txBody>
      </p:sp>
      <p:sp>
        <p:nvSpPr>
          <p:cNvPr id="108" name="Text 73"/>
          <p:cNvSpPr/>
          <p:nvPr/>
        </p:nvSpPr>
        <p:spPr>
          <a:xfrm>
            <a:off x="2758440" y="61112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34项</a:t>
            </a:r>
            <a:endParaRPr lang="en-US" sz="1440" dirty="0"/>
          </a:p>
        </p:txBody>
      </p:sp>
      <p:sp>
        <p:nvSpPr>
          <p:cNvPr id="109" name="Text 74"/>
          <p:cNvSpPr/>
          <p:nvPr/>
        </p:nvSpPr>
        <p:spPr>
          <a:xfrm>
            <a:off x="4526280" y="61112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33项</a:t>
            </a:r>
            <a:endParaRPr lang="en-US" sz="1440" dirty="0"/>
          </a:p>
        </p:txBody>
      </p:sp>
      <p:sp>
        <p:nvSpPr>
          <p:cNvPr id="110" name="Text 75"/>
          <p:cNvSpPr/>
          <p:nvPr/>
        </p:nvSpPr>
        <p:spPr>
          <a:xfrm>
            <a:off x="6278880" y="6111240"/>
            <a:ext cx="1776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1项</a:t>
            </a:r>
            <a:endParaRPr lang="en-US" sz="1440" dirty="0"/>
          </a:p>
        </p:txBody>
      </p:sp>
      <p:sp>
        <p:nvSpPr>
          <p:cNvPr id="111" name="Text 76"/>
          <p:cNvSpPr/>
          <p:nvPr/>
        </p:nvSpPr>
        <p:spPr>
          <a:xfrm>
            <a:off x="8046720" y="6111240"/>
            <a:ext cx="3544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CC0000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可信验证项暂不适用</a:t>
            </a:r>
            <a:endParaRPr lang="en-US" sz="1440" dirty="0"/>
          </a:p>
        </p:txBody>
      </p:sp>
      <p:sp>
        <p:nvSpPr>
          <p:cNvPr id="112" name="Text 77"/>
          <p:cNvSpPr/>
          <p:nvPr/>
        </p:nvSpPr>
        <p:spPr>
          <a:xfrm>
            <a:off x="822497" y="531937"/>
            <a:ext cx="774827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第五阶段——确定测评指标</a:t>
            </a:r>
            <a:r>
              <a:rPr lang="en-US" sz="2400" dirty="0">
                <a:solidFill>
                  <a:srgbClr val="1E1E1E"/>
                </a:solidFill>
              </a:rPr>
              <a:t>（以“安全计算环境”为例）</a:t>
            </a:r>
            <a:endParaRPr lang="en-US" sz="2400" dirty="0">
              <a:solidFill>
                <a:srgbClr val="1E1E1E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1491107" y="1371600"/>
          <a:ext cx="9209786" cy="3581584"/>
        </p:xfrm>
        <a:graphic>
          <a:graphicData uri="http://schemas.openxmlformats.org/drawingml/2006/table">
            <a:tbl>
              <a:tblPr/>
              <a:tblGrid>
                <a:gridCol w="973496"/>
                <a:gridCol w="1396198"/>
                <a:gridCol w="6840092"/>
              </a:tblGrid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b="1" dirty="0">
                          <a:solidFill>
                            <a:srgbClr val="000000"/>
                          </a:solidFill>
                        </a:rPr>
                        <a:t>章节</a:t>
                      </a:r>
                      <a:endParaRPr lang="en-US" sz="1410" b="1" dirty="0">
                        <a:solidFill>
                          <a:srgbClr val="000000"/>
                        </a:solidFill>
                      </a:endParaRPr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b="1" dirty="0">
                          <a:solidFill>
                            <a:srgbClr val="000000"/>
                          </a:solidFill>
                        </a:rPr>
                        <a:t>标题</a:t>
                      </a:r>
                      <a:endParaRPr lang="en-US" sz="1410" b="1" dirty="0">
                        <a:solidFill>
                          <a:srgbClr val="000000"/>
                        </a:solidFill>
                      </a:endParaRPr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b="1" dirty="0">
                          <a:solidFill>
                            <a:srgbClr val="000000"/>
                          </a:solidFill>
                        </a:rPr>
                        <a:t>核心内容</a:t>
                      </a:r>
                      <a:endParaRPr lang="en-US" sz="1410" b="1" dirty="0">
                        <a:solidFill>
                          <a:srgbClr val="000000"/>
                        </a:solidFill>
                      </a:endParaRPr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封面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——</a:t>
                      </a:r>
                      <a:endParaRPr lang="en-US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项目名称、委托单位、测评机构、编制日期、版本号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目录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——</a:t>
                      </a:r>
                      <a:endParaRPr lang="en-US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自动生成，页码标注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第1章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项目概述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项目背景、目的意义、系统描述、安全等级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第2章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测评依据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列明全部依据（标准、法规、文件）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第3章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测评范围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物理范围、网络范围、业务范围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第4章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测评对象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设备清单、选取理由、抽样说明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第5章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测评指标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指标清单、适用性分析、不适用理由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第6章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测评方法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访谈、核查、测试方法说明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第7章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日程安排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每日工作计划、时间节点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第8章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人员分工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项目组成员及职责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第9章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风险控制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实施风险及应对措施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55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附件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ym typeface="+mn-ea"/>
                        </a:rPr>
                        <a:t>——</a:t>
                      </a:r>
                      <a:endParaRPr lang="en-US" sz="1800">
                        <a:sym typeface="+mn-ea"/>
                      </a:endParaRPr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10" dirty="0">
                          <a:solidFill>
                            <a:srgbClr val="000000"/>
                          </a:solidFill>
                        </a:rPr>
                        <a:t>参考文献、补充说明</a:t>
                      </a:r>
                      <a:endParaRPr lang="en-US" sz="1410" dirty="0"/>
                    </a:p>
                  </a:txBody>
                  <a:tcPr marL="76748" marR="76748" marT="76748" marB="76748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方案结构——完整内容框架</a:t>
            </a:r>
            <a:endParaRPr lang="en-US" sz="27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f360be421ff961165cf40878441c93af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220" y="1089660"/>
            <a:ext cx="5904865" cy="48768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4740910" y="1371600"/>
            <a:ext cx="2874264" cy="7816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63000"/>
              </a:lnSpc>
              <a:buNone/>
            </a:pPr>
            <a:r>
              <a:rPr lang="zh-CN" altLang="en-US" sz="1560" b="1" dirty="0"/>
              <a:t>信息安全等级保护测评方案</a:t>
            </a:r>
            <a:endParaRPr lang="zh-CN" altLang="en-US" sz="1560" b="1" dirty="0"/>
          </a:p>
          <a:p>
            <a:pPr marL="0" indent="0" algn="ctr">
              <a:lnSpc>
                <a:spcPct val="163000"/>
              </a:lnSpc>
              <a:buNone/>
            </a:pPr>
            <a:r>
              <a:rPr lang="zh-CN" altLang="en-US" sz="1560" b="1" dirty="0"/>
              <a:t>（第三级 评估）</a:t>
            </a:r>
            <a:endParaRPr lang="zh-CN" altLang="en-US" sz="1560" b="1" dirty="0"/>
          </a:p>
        </p:txBody>
      </p:sp>
      <p:sp>
        <p:nvSpPr>
          <p:cNvPr id="24" name="Text 12"/>
          <p:cNvSpPr/>
          <p:nvPr/>
        </p:nvSpPr>
        <p:spPr>
          <a:xfrm>
            <a:off x="822497" y="531937"/>
            <a:ext cx="350520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</a:t>
            </a:r>
            <a:r>
              <a:rPr lang="zh-CN" altLang="en-US" sz="2760" dirty="0">
                <a:solidFill>
                  <a:srgbClr val="1E1E1E"/>
                </a:solidFill>
              </a:rPr>
              <a:t>封面</a:t>
            </a:r>
            <a:r>
              <a:rPr lang="en-US" sz="2760" dirty="0">
                <a:solidFill>
                  <a:srgbClr val="1E1E1E"/>
                </a:solidFill>
              </a:rPr>
              <a:t>）</a:t>
            </a:r>
            <a:endParaRPr lang="en-US" sz="2760" dirty="0"/>
          </a:p>
        </p:txBody>
      </p:sp>
      <p:sp>
        <p:nvSpPr>
          <p:cNvPr id="25" name="文本框 24"/>
          <p:cNvSpPr txBox="1"/>
          <p:nvPr/>
        </p:nvSpPr>
        <p:spPr>
          <a:xfrm>
            <a:off x="3838575" y="2762250"/>
            <a:ext cx="5282565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项目名称：</a:t>
            </a:r>
            <a:r>
              <a:rPr lang="en-US" altLang="zh-CN" sz="1400"/>
              <a:t>XX</a:t>
            </a:r>
            <a:r>
              <a:rPr lang="zh-CN" altLang="en-US" sz="1400"/>
              <a:t>市政务服务中心综合管理平台等保测评 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委托单位：</a:t>
            </a:r>
            <a:r>
              <a:rPr lang="en-US" altLang="zh-CN" sz="1400"/>
              <a:t>XX</a:t>
            </a:r>
            <a:r>
              <a:rPr lang="zh-CN" altLang="en-US" sz="1400"/>
              <a:t>市政务服务管理局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测评机构：</a:t>
            </a:r>
            <a:r>
              <a:rPr lang="en-US" altLang="zh-CN" sz="1400"/>
              <a:t>XX</a:t>
            </a:r>
            <a:r>
              <a:rPr lang="zh-CN" altLang="en-US" sz="1400"/>
              <a:t>信息安全测评中心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编制日期：2026年9月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版本号：</a:t>
            </a:r>
            <a:r>
              <a:rPr lang="en-US" altLang="zh-CN" sz="1400"/>
              <a:t>V1.0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编制：_________ </a:t>
            </a:r>
            <a:r>
              <a:rPr lang="en-US" altLang="zh-CN" sz="1400"/>
              <a:t>   </a:t>
            </a:r>
            <a:r>
              <a:rPr lang="zh-CN" altLang="en-US" sz="1400"/>
              <a:t> </a:t>
            </a:r>
            <a:r>
              <a:rPr lang="en-US" altLang="zh-CN" sz="1400"/>
              <a:t>  </a:t>
            </a:r>
            <a:r>
              <a:rPr lang="zh-CN" altLang="en-US" sz="1400"/>
              <a:t>审核：_________  </a:t>
            </a:r>
            <a:r>
              <a:rPr lang="en-US" altLang="zh-CN" sz="1400"/>
              <a:t>     </a:t>
            </a:r>
            <a:r>
              <a:rPr lang="zh-CN" altLang="en-US" sz="1400"/>
              <a:t>批准：_________</a:t>
            </a:r>
            <a:endParaRPr lang="zh-CN" altLang="en-US" sz="1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310" y="1009650"/>
            <a:ext cx="2181225" cy="483870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481965" y="1549400"/>
            <a:ext cx="640715" cy="365760"/>
          </a:xfrm>
          <a:prstGeom prst="rect">
            <a:avLst/>
          </a:prstGeom>
          <a:ln w="28575"/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f360be421ff961165cf40878441c93af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9855" y="1411605"/>
            <a:ext cx="2814320" cy="4876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71320" y="1798320"/>
            <a:ext cx="91440" cy="3048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3183890" y="157226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项目背景</a:t>
            </a:r>
            <a:endParaRPr lang="en-US" sz="2640" dirty="0"/>
          </a:p>
        </p:txBody>
      </p:sp>
      <p:sp>
        <p:nvSpPr>
          <p:cNvPr id="8" name="Text 1"/>
          <p:cNvSpPr/>
          <p:nvPr/>
        </p:nvSpPr>
        <p:spPr>
          <a:xfrm>
            <a:off x="2798445" y="2336800"/>
            <a:ext cx="2622550" cy="3910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56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XX市政务服务中心综合管理平台是XX市政务服务“一网通办”的核心支撑系统，承载全市200个政务服务窗口的日常业务，日均服务群众约5000人次。为落实《网络安全法》及等级保护制度要求，确保系统安全稳定运行，特委托XX信息安全测评中心对该系统进行第三级等级保护测评。</a:t>
            </a:r>
            <a:endParaRPr lang="en-US" sz="1560" dirty="0"/>
          </a:p>
        </p:txBody>
      </p:sp>
      <p:pic>
        <p:nvPicPr>
          <p:cNvPr id="9" name="Image 5" descr="https://test.web.static.jianzeppt.com/ppt-temp-img3/f360be421ff961165cf40878441c93af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8015" y="1371600"/>
            <a:ext cx="2140585" cy="487680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08015" y="1831340"/>
            <a:ext cx="76200" cy="30480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5829300" y="1648460"/>
            <a:ext cx="1116965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测评目的</a:t>
            </a:r>
            <a:endParaRPr lang="en-US" sz="2640" dirty="0"/>
          </a:p>
        </p:txBody>
      </p:sp>
      <p:sp>
        <p:nvSpPr>
          <p:cNvPr id="12" name="Text 3"/>
          <p:cNvSpPr/>
          <p:nvPr/>
        </p:nvSpPr>
        <p:spPr>
          <a:xfrm>
            <a:off x="5889625" y="2489200"/>
            <a:ext cx="102235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1.</a:t>
            </a:r>
            <a:endParaRPr lang="en-US" sz="1400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3" name="Text 4"/>
          <p:cNvSpPr/>
          <p:nvPr/>
        </p:nvSpPr>
        <p:spPr>
          <a:xfrm>
            <a:off x="6096000" y="2472690"/>
            <a:ext cx="1441450" cy="86169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全面检查系统安全保护措施与国家等级保护标准的符合性；</a:t>
            </a:r>
            <a:endParaRPr lang="en-US" sz="14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889625" y="3566160"/>
            <a:ext cx="102235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2.</a:t>
            </a:r>
            <a:endParaRPr lang="en-US" sz="1400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5" name="Text 6"/>
          <p:cNvSpPr/>
          <p:nvPr/>
        </p:nvSpPr>
        <p:spPr>
          <a:xfrm>
            <a:off x="6096000" y="3670935"/>
            <a:ext cx="1441450" cy="4305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发现系统存在的安全隐患和薄弱环节；</a:t>
            </a:r>
            <a:endParaRPr lang="en-US" sz="14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sp>
        <p:nvSpPr>
          <p:cNvPr id="16" name="Text 7"/>
          <p:cNvSpPr/>
          <p:nvPr/>
        </p:nvSpPr>
        <p:spPr>
          <a:xfrm>
            <a:off x="5889625" y="4389120"/>
            <a:ext cx="102235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3.</a:t>
            </a:r>
            <a:endParaRPr lang="en-US" sz="1400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096000" y="4494530"/>
            <a:ext cx="1441450" cy="4305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提出针对性的安全整改建议；</a:t>
            </a:r>
            <a:endParaRPr lang="en-US" sz="14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sp>
        <p:nvSpPr>
          <p:cNvPr id="18" name="Text 9"/>
          <p:cNvSpPr/>
          <p:nvPr/>
        </p:nvSpPr>
        <p:spPr>
          <a:xfrm>
            <a:off x="5889625" y="5196840"/>
            <a:ext cx="102235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4.</a:t>
            </a:r>
            <a:endParaRPr lang="en-US" sz="1400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6096000" y="5302250"/>
            <a:ext cx="1441450" cy="4305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为系统安全运行提供保障依据。</a:t>
            </a:r>
            <a:endParaRPr lang="en-US" sz="14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pic>
        <p:nvPicPr>
          <p:cNvPr id="20" name="Image 7" descr="https://test.web.static.jianzeppt.com/ppt-temp-img3/f360be421ff961165cf40878441c93af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060" y="1371600"/>
            <a:ext cx="3370580" cy="4876800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0" y="1798320"/>
            <a:ext cx="91440" cy="3048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8625840" y="169164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系统描述</a:t>
            </a:r>
            <a:endParaRPr lang="en-US" sz="264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/>
        </p:nvGraphicFramePr>
        <p:xfrm>
          <a:off x="8412480" y="2377440"/>
          <a:ext cx="2865120" cy="3550920"/>
        </p:xfrm>
        <a:graphic>
          <a:graphicData uri="http://schemas.openxmlformats.org/drawingml/2006/table">
            <a:tbl>
              <a:tblPr/>
              <a:tblGrid>
                <a:gridCol w="1054735"/>
                <a:gridCol w="1810385"/>
              </a:tblGrid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系统名称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XX市政务服务中心综合管理平台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安全保护等级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第三级（S3A3）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主管部门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XX市政务服务管理局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建设单位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XX市大数据发展局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系统功能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统一政务服务门户、事项管理、预约排号、排队叫号、综合评价、数据统计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用户规模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约200个窗口、日均服务约5000人次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数据敏感性</a:t>
                      </a:r>
                      <a:endParaRPr 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3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含公民身份信息、联系方式、办事记录等个人敏感信息</a:t>
                      </a:r>
                      <a:endParaRPr lang="en-US" sz="1000" dirty="0">
                        <a:solidFill>
                          <a:srgbClr val="374151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12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测评方案模板（第一章 项目概述）</a:t>
            </a:r>
            <a:endParaRPr lang="en-US" sz="2760" dirty="0"/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1310" y="1009650"/>
            <a:ext cx="2181225" cy="483870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421005" y="2319020"/>
            <a:ext cx="640715" cy="365760"/>
          </a:xfrm>
          <a:prstGeom prst="rect">
            <a:avLst/>
          </a:prstGeom>
          <a:ln w="28575"/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7" name="组合 26"/>
          <p:cNvGrpSpPr/>
          <p:nvPr/>
        </p:nvGrpSpPr>
        <p:grpSpPr>
          <a:xfrm>
            <a:off x="2671693" y="1371600"/>
            <a:ext cx="8925947" cy="4876800"/>
            <a:chOff x="921" y="2160"/>
            <a:chExt cx="17343" cy="7680"/>
          </a:xfrm>
        </p:grpSpPr>
        <p:pic>
          <p:nvPicPr>
            <p:cNvPr id="5" name="Image 3" descr="https://test.web.static.jianzeppt.com/ppt-temp-img3/d68cb75258cbd93a80536be036ea8bf0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0" y="2160"/>
              <a:ext cx="5520" cy="768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44" y="2568"/>
              <a:ext cx="1152" cy="1152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432" y="2856"/>
              <a:ext cx="576" cy="576"/>
            </a:xfrm>
            <a:prstGeom prst="rect">
              <a:avLst/>
            </a:prstGeom>
          </p:spPr>
        </p:pic>
        <p:sp>
          <p:nvSpPr>
            <p:cNvPr id="8" name="Text 0"/>
            <p:cNvSpPr/>
            <p:nvPr/>
          </p:nvSpPr>
          <p:spPr>
            <a:xfrm>
              <a:off x="2328" y="3912"/>
              <a:ext cx="3540" cy="5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2160" b="1" dirty="0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2.1 法律法规</a:t>
              </a:r>
              <a:endParaRPr lang="en-US" sz="2160" dirty="0"/>
            </a:p>
          </p:txBody>
        </p:sp>
        <p:sp>
          <p:nvSpPr>
            <p:cNvPr id="9" name="Text 1"/>
            <p:cNvSpPr/>
            <p:nvPr/>
          </p:nvSpPr>
          <p:spPr>
            <a:xfrm>
              <a:off x="960" y="4920"/>
              <a:ext cx="5574" cy="5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  <a:sym typeface="+mn-ea"/>
                </a:rPr>
                <a:t>（1）</a:t>
              </a:r>
              <a:r>
                <a:rPr lang="zh-CN" alt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《中华人民共和国网络安全法》</a:t>
              </a:r>
              <a:endParaRPr lang="zh-CN" alt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10" name="Text 2"/>
            <p:cNvSpPr/>
            <p:nvPr/>
          </p:nvSpPr>
          <p:spPr>
            <a:xfrm>
              <a:off x="921" y="6240"/>
              <a:ext cx="5574" cy="5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（2）</a:t>
              </a:r>
              <a:r>
                <a:rPr lang="zh-CN" alt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《中华人民共和国数据安全法》</a:t>
              </a:r>
              <a:endParaRPr lang="zh-CN" alt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11" name="Text 3"/>
            <p:cNvSpPr/>
            <p:nvPr/>
          </p:nvSpPr>
          <p:spPr>
            <a:xfrm>
              <a:off x="966" y="7560"/>
              <a:ext cx="4902" cy="11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（3）</a:t>
              </a:r>
              <a:r>
                <a:rPr lang="zh-CN" alt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《中华人民共和国个人信息保护法》</a:t>
              </a:r>
              <a:endParaRPr lang="zh-CN" alt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12" name="Image 6" descr="https://test.web.static.jianzeppt.com/ppt-temp-img3/d68cb75258cbd93a80536be036ea8bf0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40" y="2160"/>
              <a:ext cx="5520" cy="7680"/>
            </a:xfrm>
            <a:prstGeom prst="rect">
              <a:avLst/>
            </a:prstGeom>
          </p:spPr>
        </p:pic>
        <p:pic>
          <p:nvPicPr>
            <p:cNvPr id="13" name="Image 7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024" y="2568"/>
              <a:ext cx="1152" cy="1152"/>
            </a:xfrm>
            <a:prstGeom prst="rect">
              <a:avLst/>
            </a:prstGeom>
          </p:spPr>
        </p:pic>
        <p:pic>
          <p:nvPicPr>
            <p:cNvPr id="14" name="Image 8" descr="preencoded.png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312" y="2856"/>
              <a:ext cx="576" cy="576"/>
            </a:xfrm>
            <a:prstGeom prst="rect">
              <a:avLst/>
            </a:prstGeom>
          </p:spPr>
        </p:pic>
        <p:sp>
          <p:nvSpPr>
            <p:cNvPr id="15" name="Text 4"/>
            <p:cNvSpPr/>
            <p:nvPr/>
          </p:nvSpPr>
          <p:spPr>
            <a:xfrm>
              <a:off x="8232" y="3912"/>
              <a:ext cx="3583" cy="5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2160" b="1" dirty="0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2.2 国家标准</a:t>
              </a:r>
              <a:endParaRPr lang="en-US" sz="2160" dirty="0"/>
            </a:p>
          </p:txBody>
        </p:sp>
        <p:sp>
          <p:nvSpPr>
            <p:cNvPr id="16" name="Text 5"/>
            <p:cNvSpPr/>
            <p:nvPr/>
          </p:nvSpPr>
          <p:spPr>
            <a:xfrm>
              <a:off x="7248" y="4587"/>
              <a:ext cx="4780" cy="160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（1）</a:t>
              </a:r>
              <a:r>
                <a:rPr lang="en-US" altLang="zh-CN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GB/T 22239-2019《</a:t>
              </a:r>
              <a:r>
                <a:rPr lang="zh-CN" altLang="en-US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信息安全技术 网络安全等级保护基本要求》</a:t>
              </a:r>
              <a:endParaRPr lang="zh-CN" alt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17" name="Text 6"/>
            <p:cNvSpPr/>
            <p:nvPr/>
          </p:nvSpPr>
          <p:spPr>
            <a:xfrm>
              <a:off x="7253" y="6281"/>
              <a:ext cx="4845" cy="160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（2）</a:t>
              </a:r>
              <a:r>
                <a:rPr lang="en-US" altLang="zh-CN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GB/T 28448-2019《</a:t>
              </a:r>
              <a:r>
                <a:rPr lang="zh-CN" altLang="en-US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信息安全技术 网络安全等级保护测评要求》</a:t>
              </a:r>
              <a:endParaRPr lang="zh-CN" alt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18" name="Text 7"/>
            <p:cNvSpPr/>
            <p:nvPr/>
          </p:nvSpPr>
          <p:spPr>
            <a:xfrm>
              <a:off x="7253" y="7887"/>
              <a:ext cx="4845" cy="160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（3）</a:t>
              </a:r>
              <a:r>
                <a:rPr lang="en-US" altLang="zh-CN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GB/T 28449-2018《</a:t>
              </a:r>
              <a:r>
                <a:rPr lang="zh-CN" altLang="en-US" sz="160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信息安全技术 网络安全等级保护测评过程指南》</a:t>
              </a:r>
              <a:endParaRPr lang="zh-CN" alt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19" name="Image 9" descr="https://test.web.static.jianzeppt.com/ppt-temp-img3/d68cb75258cbd93a80536be036ea8bf0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44" y="2160"/>
              <a:ext cx="5520" cy="7680"/>
            </a:xfrm>
            <a:prstGeom prst="rect">
              <a:avLst/>
            </a:prstGeom>
          </p:spPr>
        </p:pic>
        <p:pic>
          <p:nvPicPr>
            <p:cNvPr id="20" name="Image 10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904" y="2568"/>
              <a:ext cx="1152" cy="1152"/>
            </a:xfrm>
            <a:prstGeom prst="rect">
              <a:avLst/>
            </a:prstGeom>
          </p:spPr>
        </p:pic>
        <p:pic>
          <p:nvPicPr>
            <p:cNvPr id="21" name="Image 11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5192" y="2856"/>
              <a:ext cx="576" cy="576"/>
            </a:xfrm>
            <a:prstGeom prst="rect">
              <a:avLst/>
            </a:prstGeom>
          </p:spPr>
        </p:pic>
        <p:sp>
          <p:nvSpPr>
            <p:cNvPr id="22" name="Text 8"/>
            <p:cNvSpPr/>
            <p:nvPr/>
          </p:nvSpPr>
          <p:spPr>
            <a:xfrm>
              <a:off x="14112" y="3912"/>
              <a:ext cx="3661" cy="5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2160" b="1" dirty="0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2.3 其他文件</a:t>
              </a:r>
              <a:endParaRPr lang="en-US" sz="2160" dirty="0"/>
            </a:p>
          </p:txBody>
        </p:sp>
        <p:sp>
          <p:nvSpPr>
            <p:cNvPr id="23" name="Text 9"/>
            <p:cNvSpPr/>
            <p:nvPr/>
          </p:nvSpPr>
          <p:spPr>
            <a:xfrm>
              <a:off x="13152" y="4920"/>
              <a:ext cx="4881" cy="11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（1）</a:t>
              </a:r>
              <a:r>
                <a:rPr lang="en-US" altLang="zh-CN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《XX</a:t>
              </a:r>
              <a:r>
                <a:rPr lang="zh-CN" alt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市政务服务中心综合管理平台定级报告》</a:t>
              </a:r>
              <a:endParaRPr lang="zh-CN" alt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24" name="Text 10"/>
            <p:cNvSpPr/>
            <p:nvPr/>
          </p:nvSpPr>
          <p:spPr>
            <a:xfrm>
              <a:off x="13152" y="6424"/>
              <a:ext cx="4880" cy="16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（2）</a:t>
              </a:r>
              <a:r>
                <a:rPr lang="en-US" altLang="zh-CN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《XX</a:t>
              </a:r>
              <a:r>
                <a:rPr lang="zh-CN" alt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市政务服务中心综合管理平台系统设计方案》</a:t>
              </a:r>
              <a:endParaRPr lang="zh-CN" alt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25" name="Text 11"/>
            <p:cNvSpPr/>
            <p:nvPr/>
          </p:nvSpPr>
          <p:spPr>
            <a:xfrm>
              <a:off x="13152" y="8394"/>
              <a:ext cx="4590" cy="11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（3）</a:t>
              </a:r>
              <a:r>
                <a:rPr lang="zh-CN" altLang="en-US" sz="1680" dirty="0">
                  <a:solidFill>
                    <a:srgbClr val="33333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客户提供的其他技术文档和管理文档</a:t>
              </a:r>
              <a:endParaRPr lang="zh-CN" alt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</p:grpSp>
      <p:sp>
        <p:nvSpPr>
          <p:cNvPr id="26" name="Text 12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测评方案模板（第二章 测评依据）</a:t>
            </a:r>
            <a:endParaRPr lang="en-US" sz="2760" dirty="0"/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270" y="1052830"/>
            <a:ext cx="2181225" cy="4838700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81965" y="2727960"/>
            <a:ext cx="640715" cy="365760"/>
          </a:xfrm>
          <a:prstGeom prst="rect">
            <a:avLst/>
          </a:prstGeom>
          <a:ln w="28575"/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1" name="组合 30"/>
          <p:cNvGrpSpPr/>
          <p:nvPr/>
        </p:nvGrpSpPr>
        <p:grpSpPr>
          <a:xfrm>
            <a:off x="822325" y="1244600"/>
            <a:ext cx="11163300" cy="4312920"/>
            <a:chOff x="960" y="2112"/>
            <a:chExt cx="17280" cy="6792"/>
          </a:xfrm>
        </p:grpSpPr>
        <p:pic>
          <p:nvPicPr>
            <p:cNvPr id="5" name="Image 3" descr="https://test.web.static.jianzeppt.com/ppt-temp-img3/7e7f605593a39db2ff12633cff3a65af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0" y="2160"/>
              <a:ext cx="17280" cy="1416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0" y="2160"/>
              <a:ext cx="3360" cy="1416"/>
            </a:xfrm>
            <a:prstGeom prst="rect">
              <a:avLst/>
            </a:prstGeom>
          </p:spPr>
        </p:pic>
        <p:sp>
          <p:nvSpPr>
            <p:cNvPr id="7" name="Text 0"/>
            <p:cNvSpPr/>
            <p:nvPr/>
          </p:nvSpPr>
          <p:spPr>
            <a:xfrm>
              <a:off x="2256" y="2112"/>
              <a:ext cx="782" cy="7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160" b="1" dirty="0">
                  <a:solidFill>
                    <a:srgbClr val="FFFFFF"/>
                  </a:solidFill>
                </a:rPr>
                <a:t>3.1</a:t>
              </a:r>
              <a:endParaRPr lang="en-US" sz="2160" dirty="0"/>
            </a:p>
          </p:txBody>
        </p:sp>
        <p:sp>
          <p:nvSpPr>
            <p:cNvPr id="8" name="Text 1"/>
            <p:cNvSpPr/>
            <p:nvPr/>
          </p:nvSpPr>
          <p:spPr>
            <a:xfrm>
              <a:off x="1680" y="2604"/>
              <a:ext cx="1934" cy="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物理范围</a:t>
              </a:r>
              <a:endParaRPr lang="en-US" sz="2400" dirty="0"/>
            </a:p>
          </p:txBody>
        </p:sp>
        <p:sp>
          <p:nvSpPr>
            <p:cNvPr id="9" name="Text 2"/>
            <p:cNvSpPr/>
            <p:nvPr/>
          </p:nvSpPr>
          <p:spPr>
            <a:xfrm>
              <a:off x="4704" y="2556"/>
              <a:ext cx="13166" cy="7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937"/>
                  </a:solidFill>
                </a:rPr>
                <a:t>本次测评覆盖XX市政务服务中心数据中心机房（主楼5楼），面积约200平方米，包含服务器机柜、网络机柜、安全设备机柜、配电柜等。</a:t>
              </a:r>
              <a:endParaRPr lang="en-US" sz="1600" dirty="0">
                <a:solidFill>
                  <a:srgbClr val="1F2937"/>
                </a:solidFill>
              </a:endParaRPr>
            </a:p>
          </p:txBody>
        </p:sp>
        <p:pic>
          <p:nvPicPr>
            <p:cNvPr id="10" name="Image 5" descr="https://test.web.static.jianzeppt.com/ppt-temp-img3/386b2e09b76d5a0051a486c83940d39b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0" y="3936"/>
              <a:ext cx="17280" cy="2400"/>
            </a:xfrm>
            <a:prstGeom prst="rect">
              <a:avLst/>
            </a:prstGeom>
          </p:spPr>
        </p:pic>
        <p:pic>
          <p:nvPicPr>
            <p:cNvPr id="11" name="Image 6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0" y="3936"/>
              <a:ext cx="3360" cy="2400"/>
            </a:xfrm>
            <a:prstGeom prst="rect">
              <a:avLst/>
            </a:prstGeom>
          </p:spPr>
        </p:pic>
        <p:sp>
          <p:nvSpPr>
            <p:cNvPr id="12" name="Text 3"/>
            <p:cNvSpPr/>
            <p:nvPr/>
          </p:nvSpPr>
          <p:spPr>
            <a:xfrm>
              <a:off x="2256" y="4272"/>
              <a:ext cx="782" cy="7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160" b="1" dirty="0">
                  <a:solidFill>
                    <a:srgbClr val="FFFFFF"/>
                  </a:solidFill>
                </a:rPr>
                <a:t>3.2</a:t>
              </a:r>
              <a:endParaRPr lang="en-US" sz="2160" dirty="0"/>
            </a:p>
          </p:txBody>
        </p:sp>
        <p:sp>
          <p:nvSpPr>
            <p:cNvPr id="13" name="Text 4"/>
            <p:cNvSpPr/>
            <p:nvPr/>
          </p:nvSpPr>
          <p:spPr>
            <a:xfrm>
              <a:off x="1680" y="4920"/>
              <a:ext cx="1934" cy="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网络范围</a:t>
              </a:r>
              <a:endParaRPr lang="en-US" sz="2400" dirty="0"/>
            </a:p>
          </p:txBody>
        </p:sp>
        <p:sp>
          <p:nvSpPr>
            <p:cNvPr id="14" name="Text 5"/>
            <p:cNvSpPr/>
            <p:nvPr/>
          </p:nvSpPr>
          <p:spPr>
            <a:xfrm>
              <a:off x="4704" y="4320"/>
              <a:ext cx="4160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937"/>
                  </a:solidFill>
                </a:rPr>
                <a:t>本次测评覆盖以下网络区域：</a:t>
              </a:r>
              <a:endParaRPr lang="en-US" sz="1600" dirty="0">
                <a:solidFill>
                  <a:srgbClr val="1F2937"/>
                </a:solidFill>
              </a:endParaRPr>
            </a:p>
          </p:txBody>
        </p:sp>
        <p:sp>
          <p:nvSpPr>
            <p:cNvPr id="15" name="Text 6"/>
            <p:cNvSpPr/>
            <p:nvPr/>
          </p:nvSpPr>
          <p:spPr>
            <a:xfrm>
              <a:off x="4704" y="4716"/>
              <a:ext cx="1008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（1）互联网边界区：从互联网出口至边界防火墙，含边界防火墙设备；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16" name="Text 7"/>
            <p:cNvSpPr/>
            <p:nvPr/>
          </p:nvSpPr>
          <p:spPr>
            <a:xfrm>
              <a:off x="4704" y="5074"/>
              <a:ext cx="688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（2）核心交换区：核心交换机及核心网络链路；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17" name="Text 8"/>
            <p:cNvSpPr/>
            <p:nvPr/>
          </p:nvSpPr>
          <p:spPr>
            <a:xfrm>
              <a:off x="4704" y="5432"/>
              <a:ext cx="1164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（3）服务器区：Web服务器、应用服务器、数据库服务器所在的服务器网络区域；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18" name="Text 9"/>
            <p:cNvSpPr/>
            <p:nvPr/>
          </p:nvSpPr>
          <p:spPr>
            <a:xfrm>
              <a:off x="4704" y="5790"/>
              <a:ext cx="784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（4）管理区：堡垒机、日志审计系统所在的管理区域。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pic>
          <p:nvPicPr>
            <p:cNvPr id="19" name="Image 7" descr="https://test.web.static.jianzeppt.com/ppt-temp-img3/7f7a68ab6f4fce4251d15a2249467b55.png?x-oss-process=image/resize,w_1440,h_800,m_lfit/format,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60" y="6720"/>
              <a:ext cx="17280" cy="2184"/>
            </a:xfrm>
            <a:prstGeom prst="rect">
              <a:avLst/>
            </a:prstGeom>
          </p:spPr>
        </p:pic>
        <p:pic>
          <p:nvPicPr>
            <p:cNvPr id="20" name="Image 8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60" y="6720"/>
              <a:ext cx="3360" cy="2184"/>
            </a:xfrm>
            <a:prstGeom prst="rect">
              <a:avLst/>
            </a:prstGeom>
          </p:spPr>
        </p:pic>
        <p:sp>
          <p:nvSpPr>
            <p:cNvPr id="21" name="Text 10"/>
            <p:cNvSpPr/>
            <p:nvPr/>
          </p:nvSpPr>
          <p:spPr>
            <a:xfrm>
              <a:off x="2256" y="6972"/>
              <a:ext cx="782" cy="7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160" b="1" dirty="0">
                  <a:solidFill>
                    <a:srgbClr val="FFFFFF"/>
                  </a:solidFill>
                </a:rPr>
                <a:t>3.3</a:t>
              </a:r>
              <a:endParaRPr lang="en-US" sz="2160" dirty="0"/>
            </a:p>
          </p:txBody>
        </p:sp>
        <p:sp>
          <p:nvSpPr>
            <p:cNvPr id="22" name="Text 11"/>
            <p:cNvSpPr/>
            <p:nvPr/>
          </p:nvSpPr>
          <p:spPr>
            <a:xfrm>
              <a:off x="1680" y="7596"/>
              <a:ext cx="1934" cy="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业务范围</a:t>
              </a:r>
              <a:endParaRPr lang="en-US" sz="2400" dirty="0"/>
            </a:p>
          </p:txBody>
        </p:sp>
        <p:sp>
          <p:nvSpPr>
            <p:cNvPr id="23" name="Text 12"/>
            <p:cNvSpPr/>
            <p:nvPr/>
          </p:nvSpPr>
          <p:spPr>
            <a:xfrm>
              <a:off x="4704" y="7104"/>
              <a:ext cx="528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937"/>
                  </a:solidFill>
                </a:rPr>
                <a:t>本次测评覆盖以下6个业务功能模块：</a:t>
              </a:r>
              <a:endParaRPr lang="en-US" sz="1600" dirty="0">
                <a:solidFill>
                  <a:srgbClr val="1F2937"/>
                </a:solidFill>
              </a:endParaRPr>
            </a:p>
          </p:txBody>
        </p:sp>
        <p:sp>
          <p:nvSpPr>
            <p:cNvPr id="24" name="Text 13"/>
            <p:cNvSpPr/>
            <p:nvPr/>
          </p:nvSpPr>
          <p:spPr>
            <a:xfrm>
              <a:off x="4704" y="7512"/>
              <a:ext cx="336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（1）统一政务服务门户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25" name="Text 14"/>
            <p:cNvSpPr/>
            <p:nvPr/>
          </p:nvSpPr>
          <p:spPr>
            <a:xfrm>
              <a:off x="11472" y="7512"/>
              <a:ext cx="272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（2）事项管理系统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26" name="Text 15"/>
            <p:cNvSpPr/>
            <p:nvPr/>
          </p:nvSpPr>
          <p:spPr>
            <a:xfrm>
              <a:off x="4704" y="7872"/>
              <a:ext cx="272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（3）预约排号系统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27" name="Text 16"/>
            <p:cNvSpPr/>
            <p:nvPr/>
          </p:nvSpPr>
          <p:spPr>
            <a:xfrm>
              <a:off x="11472" y="7872"/>
              <a:ext cx="272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（4）排队叫号系统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28" name="Text 17"/>
            <p:cNvSpPr/>
            <p:nvPr/>
          </p:nvSpPr>
          <p:spPr>
            <a:xfrm>
              <a:off x="4704" y="8232"/>
              <a:ext cx="272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（5）综合评价系统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  <p:sp>
          <p:nvSpPr>
            <p:cNvPr id="29" name="Text 18"/>
            <p:cNvSpPr/>
            <p:nvPr/>
          </p:nvSpPr>
          <p:spPr>
            <a:xfrm>
              <a:off x="11472" y="8232"/>
              <a:ext cx="3362" cy="3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374151"/>
                  </a:solidFill>
                </a:rPr>
                <a:t>（6）数据统计分析系统</a:t>
              </a:r>
              <a:endParaRPr lang="en-US" sz="1600" dirty="0">
                <a:solidFill>
                  <a:srgbClr val="374151"/>
                </a:solidFill>
              </a:endParaRPr>
            </a:p>
          </p:txBody>
        </p:sp>
      </p:grpSp>
      <p:sp>
        <p:nvSpPr>
          <p:cNvPr id="30" name="Text 19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测评方案模板（第三章 测评范围）</a:t>
            </a:r>
            <a:endParaRPr lang="en-US" sz="2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18260"/>
            <a:ext cx="10981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4.1 测评对象清单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3281680" y="1371600"/>
          <a:ext cx="6708140" cy="2480310"/>
        </p:xfrm>
        <a:graphic>
          <a:graphicData uri="http://schemas.openxmlformats.org/drawingml/2006/table">
            <a:tbl>
              <a:tblPr/>
              <a:tblGrid>
                <a:gridCol w="504190"/>
                <a:gridCol w="1292860"/>
                <a:gridCol w="1889760"/>
                <a:gridCol w="504190"/>
                <a:gridCol w="861695"/>
                <a:gridCol w="1655445"/>
              </a:tblGrid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设备/系统名称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型号/规格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数量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是否测评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抽样说明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边界防火墙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华为USG6000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100%测评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核心交换机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华为S12708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100%测评（堆叠）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Web服务器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华为RH2288（Linux）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抽2台（66%）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应用服务器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华为RH2288（Linux）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100%测评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数据库服务器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华为RH2288（Win）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抽1台（50%）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堡垒机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齐治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100%测评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日志审计系统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天融信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100%测评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WAF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安恒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是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100%测评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31245" marR="31245" marT="31245" marB="3124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4" descr="https://test.web.static.jianzeppt.com/ppt-temp-img3/da57eabb321655a2866dab580479f3f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068445"/>
            <a:ext cx="10972800" cy="1875155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822325" y="4160520"/>
            <a:ext cx="2371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4.2 抽样理由说明</a:t>
            </a:r>
            <a:endParaRPr lang="en-US" sz="2400" dirty="0"/>
          </a:p>
        </p:txBody>
      </p:sp>
      <p:sp>
        <p:nvSpPr>
          <p:cNvPr id="11" name="Text 2"/>
          <p:cNvSpPr/>
          <p:nvPr/>
        </p:nvSpPr>
        <p:spPr>
          <a:xfrm>
            <a:off x="868680" y="4739640"/>
            <a:ext cx="10463784" cy="584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（1）Web服务器3台配置一致、部署相同应用，按照抽样原则抽取2台（</a:t>
            </a: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66%</a:t>
            </a:r>
            <a:r>
              <a:rPr lang="en-US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），超过</a:t>
            </a: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30%</a:t>
            </a:r>
            <a:r>
              <a:rPr lang="en-US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的抽样比例要求；</a:t>
            </a:r>
            <a:endParaRPr lang="en-US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68680" y="5425440"/>
            <a:ext cx="10463784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（2）数据库服务器2台配置一致，抽取1台（</a:t>
            </a: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50%</a:t>
            </a:r>
            <a:r>
              <a:rPr lang="en-US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），满足抽样要求。</a:t>
            </a:r>
            <a:endParaRPr lang="en-US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测评方案模板（第四章 测评对象）</a:t>
            </a:r>
            <a:endParaRPr lang="en-US" sz="2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2925" y="1234440"/>
            <a:ext cx="3675380" cy="11074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</a:rPr>
              <a:t>5.1 安全物理环境</a:t>
            </a:r>
            <a:endParaRPr lang="en-US" sz="2400" b="1" dirty="0">
              <a:solidFill>
                <a:srgbClr val="00234E"/>
              </a:solidFill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</a:rPr>
              <a:t>（共10个子类，全部适用）</a:t>
            </a:r>
            <a:endParaRPr lang="en-US" sz="2400" dirty="0"/>
          </a:p>
        </p:txBody>
      </p:sp>
      <p:sp>
        <p:nvSpPr>
          <p:cNvPr id="6" name="Text 1"/>
          <p:cNvSpPr/>
          <p:nvPr/>
        </p:nvSpPr>
        <p:spPr>
          <a:xfrm>
            <a:off x="609600" y="4084320"/>
            <a:ext cx="10981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</a:rPr>
              <a:t>5.2 安全通信网络（共3个子类，全部适用）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4580255" y="1447800"/>
          <a:ext cx="5713730" cy="2645410"/>
        </p:xfrm>
        <a:graphic>
          <a:graphicData uri="http://schemas.openxmlformats.org/drawingml/2006/table">
            <a:tbl>
              <a:tblPr/>
              <a:tblGrid>
                <a:gridCol w="574040"/>
                <a:gridCol w="1585595"/>
                <a:gridCol w="1386205"/>
                <a:gridCol w="980440"/>
                <a:gridCol w="1187450"/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050" b="1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子类名称</a:t>
                      </a:r>
                      <a:endParaRPr lang="en-US" sz="1050" b="1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三级要求项数</a:t>
                      </a:r>
                      <a:endParaRPr lang="en-US" sz="1050" b="1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适用项数</a:t>
                      </a:r>
                      <a:endParaRPr lang="en-US" sz="1050" b="1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不适用理由</a:t>
                      </a:r>
                      <a:endParaRPr lang="en-US" sz="1050" b="1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1209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物理位置选择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物理访问控制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防盗窃和防破坏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防雷击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防火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防水和防潮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防静电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温湿度控制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电力供应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电磁防护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50" dirty="0">
                        <a:solidFill>
                          <a:srgbClr val="000000"/>
                        </a:solidFill>
                      </a:endParaRPr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200"/>
                        <a:t>——</a:t>
                      </a:r>
                      <a:endParaRPr lang="en-US" sz="1200"/>
                    </a:p>
                  </a:txBody>
                  <a:tcPr marL="29789" marR="29789" marT="29789" marB="2978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/>
        </p:nvGraphicFramePr>
        <p:xfrm>
          <a:off x="1218606" y="4640580"/>
          <a:ext cx="9274810" cy="1564640"/>
        </p:xfrm>
        <a:graphic>
          <a:graphicData uri="http://schemas.openxmlformats.org/drawingml/2006/table">
            <a:tbl>
              <a:tblPr/>
              <a:tblGrid>
                <a:gridCol w="952350"/>
                <a:gridCol w="2205355"/>
                <a:gridCol w="2019681"/>
                <a:gridCol w="1663976"/>
                <a:gridCol w="2433320"/>
              </a:tblGrid>
              <a:tr h="31247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子类名称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三级要求项数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适用项数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不适用理由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31247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网络架构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——</a:t>
                      </a:r>
                      <a:endParaRPr lang="en-US" sz="1600"/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47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通信传输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——</a:t>
                      </a:r>
                      <a:endParaRPr lang="en-US" sz="1600"/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47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可信验证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0项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未部署可信计算模块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1516" marR="81516" marT="81516" marB="8151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测评方案模板（第五章 测评指标 上）</a:t>
            </a:r>
            <a:endParaRPr lang="en-US" sz="27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447800"/>
            <a:ext cx="121920" cy="3048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853440" y="1371600"/>
            <a:ext cx="2371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5.3 安全区域边界</a:t>
            </a:r>
            <a:endParaRPr lang="en-US" sz="2400" dirty="0"/>
          </a:p>
        </p:txBody>
      </p:sp>
      <p:sp>
        <p:nvSpPr>
          <p:cNvPr id="7" name="Text 1"/>
          <p:cNvSpPr/>
          <p:nvPr/>
        </p:nvSpPr>
        <p:spPr>
          <a:xfrm>
            <a:off x="3337560" y="1447800"/>
            <a:ext cx="24780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（共6个子类，全部适用）</a:t>
            </a:r>
            <a:endParaRPr lang="en-US" sz="168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09360" y="1447800"/>
            <a:ext cx="121920" cy="30480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6553200" y="1371600"/>
            <a:ext cx="2371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5.4 安全计算环境</a:t>
            </a:r>
            <a:endParaRPr lang="en-US" sz="2400" dirty="0"/>
          </a:p>
        </p:txBody>
      </p:sp>
      <p:sp>
        <p:nvSpPr>
          <p:cNvPr id="10" name="Text 3"/>
          <p:cNvSpPr/>
          <p:nvPr/>
        </p:nvSpPr>
        <p:spPr>
          <a:xfrm>
            <a:off x="9037320" y="1447800"/>
            <a:ext cx="1411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（1项不适用）</a:t>
            </a:r>
            <a:endParaRPr lang="en-US" sz="1680" dirty="0"/>
          </a:p>
        </p:txBody>
      </p:sp>
      <p:pic>
        <p:nvPicPr>
          <p:cNvPr id="11" name="Image 5" descr="https://test.web.static.jianzeppt.com/ppt-temp-img3/98e6a5c1b10feba76ff3d5ee9a5fdd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37760"/>
            <a:ext cx="3535680" cy="51816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708660" y="4991100"/>
            <a:ext cx="158051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5.5 安全管理中心</a:t>
            </a:r>
            <a:endParaRPr lang="en-US" sz="16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3" name="Text 5"/>
          <p:cNvSpPr/>
          <p:nvPr/>
        </p:nvSpPr>
        <p:spPr>
          <a:xfrm>
            <a:off x="2342515" y="5025390"/>
            <a:ext cx="1704975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共4个子类，全部适用</a:t>
            </a:r>
            <a:endParaRPr lang="en-US" sz="1400" dirty="0">
              <a:solidFill>
                <a:srgbClr val="555555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4" name="Image 6" descr="https://test.web.static.jianzeppt.com/ppt-temp-img3/98e6a5c1b10feba76ff3d5ee9a5fdd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160" y="4937760"/>
            <a:ext cx="3535680" cy="518160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4427855" y="4991100"/>
            <a:ext cx="158051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5.6 安全管理制度</a:t>
            </a:r>
            <a:endParaRPr lang="en-US" sz="16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6" name="Text 7"/>
          <p:cNvSpPr/>
          <p:nvPr/>
        </p:nvSpPr>
        <p:spPr>
          <a:xfrm>
            <a:off x="6054090" y="5025390"/>
            <a:ext cx="1704975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共4个子类，全部适用</a:t>
            </a:r>
            <a:endParaRPr lang="en-US" sz="1400" dirty="0">
              <a:solidFill>
                <a:srgbClr val="555555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7" name="Image 7" descr="https://test.web.static.jianzeppt.com/ppt-temp-img3/98e6a5c1b10feba76ff3d5ee9a5fdd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937760"/>
            <a:ext cx="3535680" cy="51816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8117205" y="4991100"/>
            <a:ext cx="158051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5.7 安全管理机构</a:t>
            </a:r>
            <a:endParaRPr lang="en-US" sz="16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772650" y="5025390"/>
            <a:ext cx="1704975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共5个子类，全部适用</a:t>
            </a:r>
            <a:endParaRPr lang="en-US" sz="1400" dirty="0">
              <a:solidFill>
                <a:srgbClr val="555555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0" name="Image 8" descr="https://test.web.static.jianzeppt.com/ppt-temp-img3/98e6a5c1b10feba76ff3d5ee9a5fdd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638800"/>
            <a:ext cx="3535680" cy="518160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708660" y="5684520"/>
            <a:ext cx="158051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5.8 安全管理人员</a:t>
            </a:r>
            <a:endParaRPr lang="en-US" sz="16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2" name="Text 11"/>
          <p:cNvSpPr/>
          <p:nvPr/>
        </p:nvSpPr>
        <p:spPr>
          <a:xfrm>
            <a:off x="2342515" y="5711190"/>
            <a:ext cx="1704975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共4个子类，全部适用</a:t>
            </a:r>
            <a:endParaRPr lang="en-US" sz="1400" dirty="0">
              <a:solidFill>
                <a:srgbClr val="555555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3" name="Image 9" descr="https://test.web.static.jianzeppt.com/ppt-temp-img3/98e6a5c1b10feba76ff3d5ee9a5fdd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160" y="5638800"/>
            <a:ext cx="3535680" cy="518160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4427855" y="5684520"/>
            <a:ext cx="158051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5.9 安全建设管理</a:t>
            </a:r>
            <a:endParaRPr lang="en-US" sz="16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5" name="Text 13"/>
          <p:cNvSpPr/>
          <p:nvPr/>
        </p:nvSpPr>
        <p:spPr>
          <a:xfrm>
            <a:off x="6054090" y="5711190"/>
            <a:ext cx="180975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共10个子类，全部适用</a:t>
            </a:r>
            <a:endParaRPr lang="en-US" sz="1400" dirty="0">
              <a:solidFill>
                <a:srgbClr val="555555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6" name="Image 10" descr="https://test.web.static.jianzeppt.com/ppt-temp-img3/98e6a5c1b10feba76ff3d5ee9a5fdd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5638800"/>
            <a:ext cx="3535680" cy="518160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8117205" y="5684520"/>
            <a:ext cx="170053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5.10 安全运维管理</a:t>
            </a:r>
            <a:endParaRPr lang="en-US" sz="16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8" name="Text 15"/>
          <p:cNvSpPr/>
          <p:nvPr/>
        </p:nvSpPr>
        <p:spPr>
          <a:xfrm>
            <a:off x="9772650" y="5711190"/>
            <a:ext cx="180975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共14个子类，全部适用</a:t>
            </a:r>
            <a:endParaRPr lang="en-US" sz="1400" dirty="0">
              <a:solidFill>
                <a:srgbClr val="555555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9" name="Image 11" descr="https://test.web.static.jianzeppt.com/ppt-temp-img3/0333ea3c4282a940121bc5d21deea828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950720"/>
            <a:ext cx="5273040" cy="2743200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/>
        </p:nvGraphicFramePr>
        <p:xfrm>
          <a:off x="868680" y="2042795"/>
          <a:ext cx="4861560" cy="2891790"/>
        </p:xfrm>
        <a:graphic>
          <a:graphicData uri="http://schemas.openxmlformats.org/drawingml/2006/table">
            <a:tbl>
              <a:tblPr/>
              <a:tblGrid>
                <a:gridCol w="530860"/>
                <a:gridCol w="1684655"/>
                <a:gridCol w="651510"/>
                <a:gridCol w="659130"/>
                <a:gridCol w="1335405"/>
              </a:tblGrid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序号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子类名称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三级要求项数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适用项数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不适用理由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边界防护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6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访问控制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6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入侵防范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6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恶意代码和垃圾邮件防范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6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安全审计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6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2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可信验证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0项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未部署可信计算模块</a:t>
                      </a:r>
                      <a:endParaRPr lang="en-US" sz="10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60217" marR="60217" marT="60217" marB="60217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1" name="Image 12" descr="https://test.web.static.jianzeppt.com/ppt-temp-img3/0333ea3c4282a940121bc5d21deea828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1950720"/>
            <a:ext cx="5273040" cy="2743200"/>
          </a:xfrm>
          <a:prstGeom prst="rect">
            <a:avLst/>
          </a:prstGeom>
        </p:spPr>
      </p:pic>
      <p:graphicFrame>
        <p:nvGraphicFramePr>
          <p:cNvPr id="43" name="Table 1"/>
          <p:cNvGraphicFramePr>
            <a:graphicFrameLocks noGrp="1"/>
          </p:cNvGraphicFramePr>
          <p:nvPr/>
        </p:nvGraphicFramePr>
        <p:xfrm>
          <a:off x="6553200" y="2057400"/>
          <a:ext cx="4906010" cy="2560320"/>
        </p:xfrm>
        <a:graphic>
          <a:graphicData uri="http://schemas.openxmlformats.org/drawingml/2006/table">
            <a:tbl>
              <a:tblPr/>
              <a:tblGrid>
                <a:gridCol w="332740"/>
                <a:gridCol w="1167130"/>
                <a:gridCol w="1015365"/>
                <a:gridCol w="985520"/>
                <a:gridCol w="1405255"/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子类名称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三级要求项数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适用项数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不适用理由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身份鉴别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访问控制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安全审计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入侵防范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恶意代码防范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**可信验证**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**0项**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未部署可信计算模块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数据完整性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数据保密性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数据备份恢复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剩余信息保护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个人信息保护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2项</a:t>
                      </a:r>
                      <a:endParaRPr lang="en-US" sz="1000" dirty="0">
                        <a:solidFill>
                          <a:srgbClr val="000000"/>
                        </a:solidFill>
                      </a:endParaRPr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/>
                    </a:p>
                  </a:txBody>
                  <a:tcPr marL="30606" marR="30606" marT="30606" marB="30606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 16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测评方案模板（第五章 测评指标 下）</a:t>
            </a:r>
            <a:endParaRPr lang="en-US" sz="27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71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第6章 测评方法：本次测评采用以下三种方法</a:t>
            </a:r>
            <a:endParaRPr lang="en-US" sz="2160" dirty="0"/>
          </a:p>
        </p:txBody>
      </p:sp>
      <p:pic>
        <p:nvPicPr>
          <p:cNvPr id="6" name="Image 3" descr="https://test.web.static.jianzeppt.com/ppt-temp-img3/4a0c780782930af06a86e03451cc45f7.png?x-oss-process=image/resize,w_1440,h_800,m_lfit/format,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09600" y="2026920"/>
            <a:ext cx="3505200" cy="4114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4520" y="2286000"/>
            <a:ext cx="975360" cy="85344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8" name="Text 1"/>
          <p:cNvSpPr/>
          <p:nvPr>
            <p:custDataLst>
              <p:tags r:id="rId9"/>
            </p:custDataLst>
          </p:nvPr>
        </p:nvSpPr>
        <p:spPr>
          <a:xfrm>
            <a:off x="2103120" y="2453640"/>
            <a:ext cx="5273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6.1</a:t>
            </a:r>
            <a:endParaRPr lang="en-US" sz="2640" dirty="0"/>
          </a:p>
        </p:txBody>
      </p:sp>
      <p:pic>
        <p:nvPicPr>
          <p:cNvPr id="9" name="Image 5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5440" y="3352800"/>
            <a:ext cx="365760" cy="365760"/>
          </a:xfrm>
          <a:prstGeom prst="rect">
            <a:avLst/>
          </a:prstGeom>
        </p:spPr>
      </p:pic>
      <p:sp>
        <p:nvSpPr>
          <p:cNvPr id="10" name="Text 2"/>
          <p:cNvSpPr/>
          <p:nvPr>
            <p:custDataLst>
              <p:tags r:id="rId13"/>
            </p:custDataLst>
          </p:nvPr>
        </p:nvSpPr>
        <p:spPr>
          <a:xfrm>
            <a:off x="2103120" y="3291840"/>
            <a:ext cx="103022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访谈法</a:t>
            </a:r>
            <a:endParaRPr lang="en-US" sz="2640" dirty="0"/>
          </a:p>
        </p:txBody>
      </p:sp>
      <p:sp>
        <p:nvSpPr>
          <p:cNvPr id="11" name="Text 3"/>
          <p:cNvSpPr/>
          <p:nvPr>
            <p:custDataLst>
              <p:tags r:id="rId14"/>
            </p:custDataLst>
          </p:nvPr>
        </p:nvSpPr>
        <p:spPr>
          <a:xfrm>
            <a:off x="868680" y="3886200"/>
            <a:ext cx="3110230" cy="984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对系统管理人员、运维人员、安全负责人等进行面对面访谈，了解安全管理制度的执行情况、安全措施的落实情况。</a:t>
            </a:r>
            <a:endParaRPr lang="en-US" sz="16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sp>
        <p:nvSpPr>
          <p:cNvPr id="12" name="Text 4"/>
          <p:cNvSpPr/>
          <p:nvPr>
            <p:custDataLst>
              <p:tags r:id="rId15"/>
            </p:custDataLst>
          </p:nvPr>
        </p:nvSpPr>
        <p:spPr>
          <a:xfrm>
            <a:off x="858520" y="5082540"/>
            <a:ext cx="10160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访谈对象：</a:t>
            </a:r>
            <a:endParaRPr lang="en-US" sz="16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76300" y="5334000"/>
            <a:ext cx="2996184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71450" indent="-171450" algn="l">
              <a:lnSpc>
                <a:spcPct val="1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系统管理员（2人）</a:t>
            </a:r>
            <a:endParaRPr lang="en-US" sz="12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  <a:p>
            <a:pPr marL="171450" indent="-171450" algn="l">
              <a:lnSpc>
                <a:spcPct val="1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安全管理员（1人）</a:t>
            </a:r>
            <a:endParaRPr lang="en-US" sz="12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  <a:p>
            <a:pPr marL="171450" indent="-171450" algn="l">
              <a:lnSpc>
                <a:spcPct val="1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数据库管理员（1人）</a:t>
            </a:r>
            <a:endParaRPr lang="en-US" sz="12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  <a:p>
            <a:pPr marL="171450" indent="-171450" algn="l">
              <a:lnSpc>
                <a:spcPct val="1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思源黑体 CN" panose="020B0800000000000000" pitchFamily="34" charset="-120"/>
              </a:rPr>
              <a:t>网络管理员（1人）</a:t>
            </a:r>
            <a:endParaRPr lang="en-US" sz="12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思源黑体 CN" panose="020B0800000000000000" pitchFamily="34" charset="-120"/>
            </a:endParaRPr>
          </a:p>
        </p:txBody>
      </p:sp>
      <p:pic>
        <p:nvPicPr>
          <p:cNvPr id="14" name="Image 6" descr="https://test.web.static.jianzeppt.com/ppt-temp-img3/4a0c780782930af06a86e03451cc45f7.png?x-oss-process=image/resize,w_1440,h_800,m_lfit/format,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343400" y="2026920"/>
            <a:ext cx="3505200" cy="4114800"/>
          </a:xfrm>
          <a:prstGeom prst="rect">
            <a:avLst/>
          </a:prstGeom>
        </p:spPr>
      </p:pic>
      <p:pic>
        <p:nvPicPr>
          <p:cNvPr id="15" name="Image 7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8320" y="2286000"/>
            <a:ext cx="975360" cy="85344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16" name="Text 6"/>
          <p:cNvSpPr/>
          <p:nvPr>
            <p:custDataLst>
              <p:tags r:id="rId18"/>
            </p:custDataLst>
          </p:nvPr>
        </p:nvSpPr>
        <p:spPr>
          <a:xfrm>
            <a:off x="5836920" y="2453640"/>
            <a:ext cx="5273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6.2</a:t>
            </a:r>
            <a:endParaRPr lang="en-US" sz="2640" dirty="0"/>
          </a:p>
        </p:txBody>
      </p:sp>
      <p:pic>
        <p:nvPicPr>
          <p:cNvPr id="17" name="Image 8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349240" y="3352800"/>
            <a:ext cx="365760" cy="365760"/>
          </a:xfrm>
          <a:prstGeom prst="rect">
            <a:avLst/>
          </a:prstGeom>
        </p:spPr>
      </p:pic>
      <p:sp>
        <p:nvSpPr>
          <p:cNvPr id="18" name="Text 7"/>
          <p:cNvSpPr/>
          <p:nvPr>
            <p:custDataLst>
              <p:tags r:id="rId22"/>
            </p:custDataLst>
          </p:nvPr>
        </p:nvSpPr>
        <p:spPr>
          <a:xfrm>
            <a:off x="5836920" y="3291840"/>
            <a:ext cx="103022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核查法</a:t>
            </a:r>
            <a:endParaRPr lang="en-US" sz="2640" dirty="0"/>
          </a:p>
        </p:txBody>
      </p:sp>
      <p:sp>
        <p:nvSpPr>
          <p:cNvPr id="19" name="Text 8"/>
          <p:cNvSpPr/>
          <p:nvPr>
            <p:custDataLst>
              <p:tags r:id="rId23"/>
            </p:custDataLst>
          </p:nvPr>
        </p:nvSpPr>
        <p:spPr>
          <a:xfrm>
            <a:off x="4602480" y="3901440"/>
            <a:ext cx="3110230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（1）上机核查：</a:t>
            </a: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登录网络设备、安全设备、主机、数据库，查看配置参数， 对照标准进行符合性判断；</a:t>
            </a:r>
            <a:endParaRPr lang="en-US" sz="1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 9"/>
          <p:cNvSpPr/>
          <p:nvPr>
            <p:custDataLst>
              <p:tags r:id="rId24"/>
            </p:custDataLst>
          </p:nvPr>
        </p:nvSpPr>
        <p:spPr>
          <a:xfrm>
            <a:off x="4610100" y="4639945"/>
            <a:ext cx="3110230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（2）文档查阅：</a:t>
            </a: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查阅安全管理制度文件、运维记录、备份记录等文档资料；</a:t>
            </a:r>
            <a:endParaRPr lang="en-US" sz="1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1" name="Image 9" descr="https://test.web.static.jianzeppt.com/ppt-temp-img3/4a0c780782930af06a86e03451cc45f7.png?x-oss-process=image/resize,w_1440,h_800,m_lfit/format,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8092440" y="2026920"/>
            <a:ext cx="3505200" cy="4114800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42120" y="2286000"/>
            <a:ext cx="975360" cy="85344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23" name="Text 10"/>
          <p:cNvSpPr/>
          <p:nvPr>
            <p:custDataLst>
              <p:tags r:id="rId27"/>
            </p:custDataLst>
          </p:nvPr>
        </p:nvSpPr>
        <p:spPr>
          <a:xfrm>
            <a:off x="9585960" y="2453640"/>
            <a:ext cx="5273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6.3</a:t>
            </a:r>
            <a:endParaRPr lang="en-US" sz="2640" dirty="0"/>
          </a:p>
        </p:txBody>
      </p:sp>
      <p:pic>
        <p:nvPicPr>
          <p:cNvPr id="24" name="Image 11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9083040" y="3352800"/>
            <a:ext cx="365760" cy="365760"/>
          </a:xfrm>
          <a:prstGeom prst="rect">
            <a:avLst/>
          </a:prstGeom>
        </p:spPr>
      </p:pic>
      <p:sp>
        <p:nvSpPr>
          <p:cNvPr id="25" name="Text 11"/>
          <p:cNvSpPr/>
          <p:nvPr>
            <p:custDataLst>
              <p:tags r:id="rId31"/>
            </p:custDataLst>
          </p:nvPr>
        </p:nvSpPr>
        <p:spPr>
          <a:xfrm>
            <a:off x="9570720" y="3291840"/>
            <a:ext cx="103022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测试法</a:t>
            </a:r>
            <a:endParaRPr lang="en-US" sz="2640" dirty="0"/>
          </a:p>
        </p:txBody>
      </p:sp>
      <p:sp>
        <p:nvSpPr>
          <p:cNvPr id="26" name="Text 12"/>
          <p:cNvSpPr/>
          <p:nvPr>
            <p:custDataLst>
              <p:tags r:id="rId32"/>
            </p:custDataLst>
          </p:nvPr>
        </p:nvSpPr>
        <p:spPr>
          <a:xfrm>
            <a:off x="8351520" y="3901440"/>
            <a:ext cx="3110230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（1）漏洞扫描：</a:t>
            </a: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使用Nessus/OpenVAS对目标系统进行漏洞扫描；</a:t>
            </a:r>
            <a:endParaRPr lang="en-US" sz="1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 13"/>
          <p:cNvSpPr/>
          <p:nvPr>
            <p:custDataLst>
              <p:tags r:id="rId33"/>
            </p:custDataLst>
          </p:nvPr>
        </p:nvSpPr>
        <p:spPr>
          <a:xfrm>
            <a:off x="8319770" y="4671060"/>
            <a:ext cx="3110230" cy="4921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（2）配置核查：</a:t>
            </a: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使用配置核查工具对主机、数据库进行基线核查；</a:t>
            </a:r>
            <a:endParaRPr lang="en-US" sz="1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测评方案模板（第六章 测评方法）</a:t>
            </a:r>
            <a:endParaRPr lang="en-US" sz="2760" dirty="0"/>
          </a:p>
        </p:txBody>
      </p:sp>
      <p:sp>
        <p:nvSpPr>
          <p:cNvPr id="29" name="文本框 28"/>
          <p:cNvSpPr txBox="1"/>
          <p:nvPr/>
        </p:nvSpPr>
        <p:spPr>
          <a:xfrm>
            <a:off x="4511040" y="5347970"/>
            <a:ext cx="322961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（3）现场观察：</a:t>
            </a:r>
            <a:r>
              <a:rPr lang="zh-CN" alt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实地查看机房物理环境、设备标识、线缆布设等。</a:t>
            </a:r>
            <a:endParaRPr lang="zh-CN" altLang="en-US" sz="16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30" name="Text 13"/>
          <p:cNvSpPr/>
          <p:nvPr>
            <p:custDataLst>
              <p:tags r:id="rId34"/>
            </p:custDataLst>
          </p:nvPr>
        </p:nvSpPr>
        <p:spPr>
          <a:xfrm>
            <a:off x="8321040" y="5212080"/>
            <a:ext cx="3042920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（3）功能验证：</a:t>
            </a:r>
            <a:r>
              <a:rPr lang="en-US" sz="1600" dirty="0">
                <a:solidFill>
                  <a:srgbClr val="374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对应用系统身份鉴别、访问控制等功能进行人工验证。</a:t>
            </a:r>
            <a:endParaRPr lang="en-US" sz="1600" dirty="0">
              <a:solidFill>
                <a:srgbClr val="3741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850a3eaa24e8671ef157b7911360935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2057400" cy="4876800"/>
          </a:xfrm>
          <a:prstGeom prst="rect">
            <a:avLst/>
          </a:prstGeom>
        </p:spPr>
      </p:pic>
      <p:pic>
        <p:nvPicPr>
          <p:cNvPr id="6" name="Image 4" descr="https://test.web.static.jianzeppt.com/ppt-temp-img3/815d17bc66d0e2bfc273213474c2066c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" y="1386840"/>
            <a:ext cx="2026920" cy="6096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22960" y="1508760"/>
            <a:ext cx="16245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第1天（周一）</a:t>
            </a:r>
            <a:endParaRPr lang="en-US" sz="1920" dirty="0"/>
          </a:p>
        </p:txBody>
      </p:sp>
      <p:pic>
        <p:nvPicPr>
          <p:cNvPr id="8" name="Image 5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148840"/>
            <a:ext cx="1234440" cy="33528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868680" y="217932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09:00-10:00</a:t>
            </a:r>
            <a:endParaRPr lang="en-US" sz="1440" dirty="0"/>
          </a:p>
        </p:txBody>
      </p:sp>
      <p:sp>
        <p:nvSpPr>
          <p:cNvPr id="10" name="Text 2"/>
          <p:cNvSpPr/>
          <p:nvPr/>
        </p:nvSpPr>
        <p:spPr>
          <a:xfrm>
            <a:off x="2118360" y="217932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全员</a:t>
            </a:r>
            <a:endParaRPr lang="en-US" sz="1440" dirty="0"/>
          </a:p>
        </p:txBody>
      </p:sp>
      <p:sp>
        <p:nvSpPr>
          <p:cNvPr id="11" name="Text 3"/>
          <p:cNvSpPr/>
          <p:nvPr/>
        </p:nvSpPr>
        <p:spPr>
          <a:xfrm>
            <a:off x="777240" y="257556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项目启动会、签保密协议</a:t>
            </a:r>
            <a:endParaRPr lang="en-US" sz="1680" dirty="0"/>
          </a:p>
        </p:txBody>
      </p:sp>
      <p:pic>
        <p:nvPicPr>
          <p:cNvPr id="12" name="Image 6" descr="https://test.web.static.jianzeppt.com/ppt-temp-img3/411a1499fecf22f111028cd587913c3e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299460"/>
            <a:ext cx="1712824" cy="15240"/>
          </a:xfrm>
          <a:prstGeom prst="rect">
            <a:avLst/>
          </a:prstGeom>
        </p:spPr>
      </p:pic>
      <p:pic>
        <p:nvPicPr>
          <p:cNvPr id="13" name="Image 7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459480"/>
            <a:ext cx="1234440" cy="33528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868680" y="348996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10:00-12:00</a:t>
            </a:r>
            <a:endParaRPr lang="en-US" sz="1440" dirty="0"/>
          </a:p>
        </p:txBody>
      </p:sp>
      <p:sp>
        <p:nvSpPr>
          <p:cNvPr id="15" name="Text 5"/>
          <p:cNvSpPr/>
          <p:nvPr/>
        </p:nvSpPr>
        <p:spPr>
          <a:xfrm>
            <a:off x="2194560" y="348996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16" name="Text 6"/>
          <p:cNvSpPr/>
          <p:nvPr/>
        </p:nvSpPr>
        <p:spPr>
          <a:xfrm>
            <a:off x="777240" y="388620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物理环境核查、安全管理文档查阅</a:t>
            </a:r>
            <a:endParaRPr lang="en-US" sz="1680" dirty="0"/>
          </a:p>
        </p:txBody>
      </p:sp>
      <p:pic>
        <p:nvPicPr>
          <p:cNvPr id="17" name="Image 8" descr="https://test.web.static.jianzeppt.com/ppt-temp-img3/411a1499fecf22f111028cd587913c3e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02480"/>
            <a:ext cx="1712824" cy="15240"/>
          </a:xfrm>
          <a:prstGeom prst="rect">
            <a:avLst/>
          </a:prstGeom>
        </p:spPr>
      </p:pic>
      <p:pic>
        <p:nvPicPr>
          <p:cNvPr id="18" name="Image 9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754880"/>
            <a:ext cx="1234440" cy="33528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868680" y="478536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14:00-17:00</a:t>
            </a:r>
            <a:endParaRPr lang="en-US" sz="1440" dirty="0"/>
          </a:p>
        </p:txBody>
      </p:sp>
      <p:sp>
        <p:nvSpPr>
          <p:cNvPr id="20" name="Text 8"/>
          <p:cNvSpPr/>
          <p:nvPr/>
        </p:nvSpPr>
        <p:spPr>
          <a:xfrm>
            <a:off x="2194560" y="478536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B组</a:t>
            </a:r>
            <a:endParaRPr lang="en-US" sz="1440" dirty="0"/>
          </a:p>
        </p:txBody>
      </p:sp>
      <p:sp>
        <p:nvSpPr>
          <p:cNvPr id="21" name="Text 9"/>
          <p:cNvSpPr/>
          <p:nvPr/>
        </p:nvSpPr>
        <p:spPr>
          <a:xfrm>
            <a:off x="777240" y="518160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人员访谈（管理类）</a:t>
            </a:r>
            <a:endParaRPr lang="en-US" sz="1680" dirty="0"/>
          </a:p>
        </p:txBody>
      </p:sp>
      <p:pic>
        <p:nvPicPr>
          <p:cNvPr id="22" name="Image 10" descr="https://test.web.static.jianzeppt.com/ppt-temp-img3/850a3eaa24e8671ef157b7911360935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371600"/>
            <a:ext cx="2057400" cy="4876800"/>
          </a:xfrm>
          <a:prstGeom prst="rect">
            <a:avLst/>
          </a:prstGeom>
        </p:spPr>
      </p:pic>
      <p:pic>
        <p:nvPicPr>
          <p:cNvPr id="23" name="Image 11" descr="https://test.web.static.jianzeppt.com/ppt-temp-img3/bf1d411be4674b05a1434d1e69823be4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880" y="1386840"/>
            <a:ext cx="2026920" cy="60960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3063240" y="1508760"/>
            <a:ext cx="16245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第2天（周二）</a:t>
            </a:r>
            <a:endParaRPr lang="en-US" sz="1920" dirty="0"/>
          </a:p>
        </p:txBody>
      </p:sp>
      <p:pic>
        <p:nvPicPr>
          <p:cNvPr id="25" name="Image 12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2280" y="2148840"/>
            <a:ext cx="1234440" cy="33528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3093720" y="217932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09:00-12:00</a:t>
            </a:r>
            <a:endParaRPr lang="en-US" sz="1440" dirty="0"/>
          </a:p>
        </p:txBody>
      </p:sp>
      <p:sp>
        <p:nvSpPr>
          <p:cNvPr id="27" name="Text 12"/>
          <p:cNvSpPr/>
          <p:nvPr/>
        </p:nvSpPr>
        <p:spPr>
          <a:xfrm>
            <a:off x="4434840" y="217932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28" name="Text 13"/>
          <p:cNvSpPr/>
          <p:nvPr/>
        </p:nvSpPr>
        <p:spPr>
          <a:xfrm>
            <a:off x="3002280" y="2575560"/>
            <a:ext cx="1731264" cy="88392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网络设备配置核查（路由器、交换机）</a:t>
            </a:r>
            <a:endParaRPr lang="en-US" sz="1680" dirty="0"/>
          </a:p>
        </p:txBody>
      </p:sp>
      <p:pic>
        <p:nvPicPr>
          <p:cNvPr id="29" name="Image 13" descr="https://test.web.static.jianzeppt.com/ppt-temp-img3/04fadaafcaf47084cbdbf2a7926e7a27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8224" y="3592830"/>
            <a:ext cx="1713128" cy="15240"/>
          </a:xfrm>
          <a:prstGeom prst="rect">
            <a:avLst/>
          </a:prstGeom>
        </p:spPr>
      </p:pic>
      <p:pic>
        <p:nvPicPr>
          <p:cNvPr id="30" name="Image 14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2280" y="3749040"/>
            <a:ext cx="1234440" cy="335280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3093720" y="377952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14:00-17:00</a:t>
            </a:r>
            <a:endParaRPr lang="en-US" sz="1440" dirty="0"/>
          </a:p>
        </p:txBody>
      </p:sp>
      <p:sp>
        <p:nvSpPr>
          <p:cNvPr id="32" name="Text 15"/>
          <p:cNvSpPr/>
          <p:nvPr/>
        </p:nvSpPr>
        <p:spPr>
          <a:xfrm>
            <a:off x="4434840" y="377952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33" name="Text 16"/>
          <p:cNvSpPr/>
          <p:nvPr/>
        </p:nvSpPr>
        <p:spPr>
          <a:xfrm>
            <a:off x="3002280" y="417576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安全设备核查（防火墙、WAF）</a:t>
            </a:r>
            <a:endParaRPr lang="en-US" sz="1680" dirty="0"/>
          </a:p>
        </p:txBody>
      </p:sp>
      <p:pic>
        <p:nvPicPr>
          <p:cNvPr id="34" name="Image 15" descr="https://test.web.static.jianzeppt.com/ppt-temp-img3/850a3eaa24e8671ef157b7911360935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371600"/>
            <a:ext cx="2057400" cy="4876800"/>
          </a:xfrm>
          <a:prstGeom prst="rect">
            <a:avLst/>
          </a:prstGeom>
        </p:spPr>
      </p:pic>
      <p:pic>
        <p:nvPicPr>
          <p:cNvPr id="35" name="Image 16" descr="https://test.web.static.jianzeppt.com/ppt-temp-img3/2bd5a2948d246b42f40f4322334ddb2b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0" y="1386840"/>
            <a:ext cx="2026920" cy="609600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5288280" y="1508760"/>
            <a:ext cx="16245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第3天（周三）</a:t>
            </a:r>
            <a:endParaRPr lang="en-US" sz="1920" dirty="0"/>
          </a:p>
        </p:txBody>
      </p:sp>
      <p:pic>
        <p:nvPicPr>
          <p:cNvPr id="37" name="Image 17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2560" y="2148840"/>
            <a:ext cx="1234440" cy="335280"/>
          </a:xfrm>
          <a:prstGeom prst="rect">
            <a:avLst/>
          </a:prstGeom>
        </p:spPr>
      </p:pic>
      <p:sp>
        <p:nvSpPr>
          <p:cNvPr id="38" name="Text 18"/>
          <p:cNvSpPr/>
          <p:nvPr/>
        </p:nvSpPr>
        <p:spPr>
          <a:xfrm>
            <a:off x="5334000" y="217932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09:00-12:00</a:t>
            </a:r>
            <a:endParaRPr lang="en-US" sz="1440" dirty="0"/>
          </a:p>
        </p:txBody>
      </p:sp>
      <p:sp>
        <p:nvSpPr>
          <p:cNvPr id="39" name="Text 19"/>
          <p:cNvSpPr/>
          <p:nvPr/>
        </p:nvSpPr>
        <p:spPr>
          <a:xfrm>
            <a:off x="6659880" y="217932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40" name="Text 20"/>
          <p:cNvSpPr/>
          <p:nvPr/>
        </p:nvSpPr>
        <p:spPr>
          <a:xfrm>
            <a:off x="5242560" y="257556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主机安全基线核查（Linux）</a:t>
            </a:r>
            <a:endParaRPr lang="en-US" sz="1680" dirty="0"/>
          </a:p>
        </p:txBody>
      </p:sp>
      <p:pic>
        <p:nvPicPr>
          <p:cNvPr id="41" name="Image 18" descr="https://test.web.static.jianzeppt.com/ppt-temp-img3/411a1499fecf22f111028cd587913c3e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9512" y="3299460"/>
            <a:ext cx="1712824" cy="15240"/>
          </a:xfrm>
          <a:prstGeom prst="rect">
            <a:avLst/>
          </a:prstGeom>
        </p:spPr>
      </p:pic>
      <p:pic>
        <p:nvPicPr>
          <p:cNvPr id="42" name="Image 19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2560" y="3459480"/>
            <a:ext cx="1234440" cy="335280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5334000" y="348996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14:00-17:00</a:t>
            </a:r>
            <a:endParaRPr lang="en-US" sz="1440" dirty="0"/>
          </a:p>
        </p:txBody>
      </p:sp>
      <p:sp>
        <p:nvSpPr>
          <p:cNvPr id="44" name="Text 22"/>
          <p:cNvSpPr/>
          <p:nvPr/>
        </p:nvSpPr>
        <p:spPr>
          <a:xfrm>
            <a:off x="6659880" y="348996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45" name="Text 23"/>
          <p:cNvSpPr/>
          <p:nvPr/>
        </p:nvSpPr>
        <p:spPr>
          <a:xfrm>
            <a:off x="5242560" y="388620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主机安全基线核查（Windows）</a:t>
            </a:r>
            <a:endParaRPr lang="en-US" sz="1680" dirty="0"/>
          </a:p>
        </p:txBody>
      </p:sp>
      <p:pic>
        <p:nvPicPr>
          <p:cNvPr id="46" name="Image 20" descr="https://test.web.static.jianzeppt.com/ppt-temp-img3/850a3eaa24e8671ef157b7911360935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0" y="1371600"/>
            <a:ext cx="2057400" cy="4876800"/>
          </a:xfrm>
          <a:prstGeom prst="rect">
            <a:avLst/>
          </a:prstGeom>
        </p:spPr>
      </p:pic>
      <p:pic>
        <p:nvPicPr>
          <p:cNvPr id="47" name="Image 21" descr="https://test.web.static.jianzeppt.com/ppt-temp-img3/8adec5e5a3396e33eb1cfa825de1c822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386840"/>
            <a:ext cx="2026920" cy="609600"/>
          </a:xfrm>
          <a:prstGeom prst="rect">
            <a:avLst/>
          </a:prstGeom>
        </p:spPr>
      </p:pic>
      <p:sp>
        <p:nvSpPr>
          <p:cNvPr id="48" name="Text 24"/>
          <p:cNvSpPr/>
          <p:nvPr/>
        </p:nvSpPr>
        <p:spPr>
          <a:xfrm>
            <a:off x="7528560" y="1508760"/>
            <a:ext cx="16245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第4天（周四）</a:t>
            </a:r>
            <a:endParaRPr lang="en-US" sz="1920" dirty="0"/>
          </a:p>
        </p:txBody>
      </p:sp>
      <p:pic>
        <p:nvPicPr>
          <p:cNvPr id="49" name="Image 22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7600" y="2148840"/>
            <a:ext cx="1234440" cy="335280"/>
          </a:xfrm>
          <a:prstGeom prst="rect">
            <a:avLst/>
          </a:prstGeom>
        </p:spPr>
      </p:pic>
      <p:sp>
        <p:nvSpPr>
          <p:cNvPr id="50" name="Text 25"/>
          <p:cNvSpPr/>
          <p:nvPr/>
        </p:nvSpPr>
        <p:spPr>
          <a:xfrm>
            <a:off x="7559040" y="217932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09:00-12:00</a:t>
            </a:r>
            <a:endParaRPr lang="en-US" sz="1440" dirty="0"/>
          </a:p>
        </p:txBody>
      </p:sp>
      <p:sp>
        <p:nvSpPr>
          <p:cNvPr id="51" name="Text 26"/>
          <p:cNvSpPr/>
          <p:nvPr/>
        </p:nvSpPr>
        <p:spPr>
          <a:xfrm>
            <a:off x="8884920" y="217932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52" name="Text 27"/>
          <p:cNvSpPr/>
          <p:nvPr/>
        </p:nvSpPr>
        <p:spPr>
          <a:xfrm>
            <a:off x="7467600" y="257556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数据库安全配置核查（MySQL）</a:t>
            </a:r>
            <a:endParaRPr lang="en-US" sz="1680" dirty="0"/>
          </a:p>
        </p:txBody>
      </p:sp>
      <p:pic>
        <p:nvPicPr>
          <p:cNvPr id="53" name="Image 23" descr="https://test.web.static.jianzeppt.com/ppt-temp-img3/04fadaafcaf47084cbdbf2a7926e7a27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496" y="3299460"/>
            <a:ext cx="1713128" cy="15240"/>
          </a:xfrm>
          <a:prstGeom prst="rect">
            <a:avLst/>
          </a:prstGeom>
        </p:spPr>
      </p:pic>
      <p:pic>
        <p:nvPicPr>
          <p:cNvPr id="54" name="Image 24" descr="https://test.web.static.jianzeppt.com/ppt-temp-img3/ab0129a4200c6053d589d1f7006b155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7600" y="3459480"/>
            <a:ext cx="1234440" cy="335280"/>
          </a:xfrm>
          <a:prstGeom prst="rect">
            <a:avLst/>
          </a:prstGeom>
        </p:spPr>
      </p:pic>
      <p:sp>
        <p:nvSpPr>
          <p:cNvPr id="55" name="Text 28"/>
          <p:cNvSpPr/>
          <p:nvPr/>
        </p:nvSpPr>
        <p:spPr>
          <a:xfrm>
            <a:off x="7559040" y="348996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14:00-17:00</a:t>
            </a:r>
            <a:endParaRPr lang="en-US" sz="1440" dirty="0"/>
          </a:p>
        </p:txBody>
      </p:sp>
      <p:sp>
        <p:nvSpPr>
          <p:cNvPr id="56" name="Text 29"/>
          <p:cNvSpPr/>
          <p:nvPr/>
        </p:nvSpPr>
        <p:spPr>
          <a:xfrm>
            <a:off x="8884920" y="348996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57" name="Text 30"/>
          <p:cNvSpPr/>
          <p:nvPr/>
        </p:nvSpPr>
        <p:spPr>
          <a:xfrm>
            <a:off x="7467600" y="3886200"/>
            <a:ext cx="173126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应用系统安全功能验证</a:t>
            </a:r>
            <a:endParaRPr lang="en-US" sz="1680" dirty="0"/>
          </a:p>
        </p:txBody>
      </p:sp>
      <p:pic>
        <p:nvPicPr>
          <p:cNvPr id="58" name="Image 25" descr="https://test.web.static.jianzeppt.com/ppt-temp-img3/850a3eaa24e8671ef157b7911360935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0240" y="1371600"/>
            <a:ext cx="2057400" cy="4876800"/>
          </a:xfrm>
          <a:prstGeom prst="rect">
            <a:avLst/>
          </a:prstGeom>
        </p:spPr>
      </p:pic>
      <p:pic>
        <p:nvPicPr>
          <p:cNvPr id="59" name="Image 26" descr="https://test.web.static.jianzeppt.com/ppt-temp-img3/a6bbe6c6743a36685ab3125ed834ef2e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386840"/>
            <a:ext cx="2026920" cy="609600"/>
          </a:xfrm>
          <a:prstGeom prst="rect">
            <a:avLst/>
          </a:prstGeom>
        </p:spPr>
      </p:pic>
      <p:sp>
        <p:nvSpPr>
          <p:cNvPr id="60" name="Text 31"/>
          <p:cNvSpPr/>
          <p:nvPr/>
        </p:nvSpPr>
        <p:spPr>
          <a:xfrm>
            <a:off x="9753600" y="1508760"/>
            <a:ext cx="16245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第5天（周五）</a:t>
            </a:r>
            <a:endParaRPr lang="en-US" sz="1920" dirty="0"/>
          </a:p>
        </p:txBody>
      </p:sp>
      <p:pic>
        <p:nvPicPr>
          <p:cNvPr id="61" name="Image 27" descr="https://test.web.static.jianzeppt.com/ppt-temp-img3/c997610ab56948a60ba67796ddcf1a55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7400" y="2118360"/>
            <a:ext cx="1173480" cy="335280"/>
          </a:xfrm>
          <a:prstGeom prst="rect">
            <a:avLst/>
          </a:prstGeom>
        </p:spPr>
      </p:pic>
      <p:sp>
        <p:nvSpPr>
          <p:cNvPr id="62" name="Text 32"/>
          <p:cNvSpPr/>
          <p:nvPr/>
        </p:nvSpPr>
        <p:spPr>
          <a:xfrm>
            <a:off x="9738360" y="214884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09:00-12:00</a:t>
            </a:r>
            <a:endParaRPr lang="en-US" sz="1440" dirty="0"/>
          </a:p>
        </p:txBody>
      </p:sp>
      <p:sp>
        <p:nvSpPr>
          <p:cNvPr id="63" name="Text 33"/>
          <p:cNvSpPr/>
          <p:nvPr/>
        </p:nvSpPr>
        <p:spPr>
          <a:xfrm>
            <a:off x="11155680" y="2148840"/>
            <a:ext cx="3139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A组</a:t>
            </a:r>
            <a:endParaRPr lang="en-US" sz="1440" dirty="0"/>
          </a:p>
        </p:txBody>
      </p:sp>
      <p:sp>
        <p:nvSpPr>
          <p:cNvPr id="64" name="Text 34"/>
          <p:cNvSpPr/>
          <p:nvPr/>
        </p:nvSpPr>
        <p:spPr>
          <a:xfrm>
            <a:off x="9677400" y="2484120"/>
            <a:ext cx="179222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漏洞扫描与结果分析</a:t>
            </a:r>
            <a:endParaRPr lang="en-US" sz="1680" dirty="0"/>
          </a:p>
        </p:txBody>
      </p:sp>
      <p:pic>
        <p:nvPicPr>
          <p:cNvPr id="65" name="Image 28" descr="https://test.web.static.jianzeppt.com/ppt-temp-img3/4c2754516d58aa0798a2141543e1815d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1152" y="3093720"/>
            <a:ext cx="1774088" cy="15240"/>
          </a:xfrm>
          <a:prstGeom prst="rect">
            <a:avLst/>
          </a:prstGeom>
        </p:spPr>
      </p:pic>
      <p:pic>
        <p:nvPicPr>
          <p:cNvPr id="66" name="Image 29" descr="https://test.web.static.jianzeppt.com/ppt-temp-img3/c997610ab56948a60ba67796ddcf1a55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7400" y="3185160"/>
            <a:ext cx="1173480" cy="335280"/>
          </a:xfrm>
          <a:prstGeom prst="rect">
            <a:avLst/>
          </a:prstGeom>
        </p:spPr>
      </p:pic>
      <p:sp>
        <p:nvSpPr>
          <p:cNvPr id="67" name="Text 35"/>
          <p:cNvSpPr/>
          <p:nvPr/>
        </p:nvSpPr>
        <p:spPr>
          <a:xfrm>
            <a:off x="9738360" y="321564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14:00-15:00</a:t>
            </a:r>
            <a:endParaRPr lang="en-US" sz="1440" dirty="0"/>
          </a:p>
        </p:txBody>
      </p:sp>
      <p:sp>
        <p:nvSpPr>
          <p:cNvPr id="68" name="Text 36"/>
          <p:cNvSpPr/>
          <p:nvPr/>
        </p:nvSpPr>
        <p:spPr>
          <a:xfrm>
            <a:off x="11079480" y="321564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全员</a:t>
            </a:r>
            <a:endParaRPr lang="en-US" sz="1440" dirty="0"/>
          </a:p>
        </p:txBody>
      </p:sp>
      <p:sp>
        <p:nvSpPr>
          <p:cNvPr id="69" name="Text 37"/>
          <p:cNvSpPr/>
          <p:nvPr/>
        </p:nvSpPr>
        <p:spPr>
          <a:xfrm>
            <a:off x="9677400" y="3550920"/>
            <a:ext cx="17922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补充核查</a:t>
            </a:r>
            <a:endParaRPr lang="en-US" sz="1680" dirty="0"/>
          </a:p>
        </p:txBody>
      </p:sp>
      <p:pic>
        <p:nvPicPr>
          <p:cNvPr id="70" name="Image 30" descr="https://test.web.static.jianzeppt.com/ppt-temp-img3/4c2754516d58aa0798a2141543e1815d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1152" y="3893820"/>
            <a:ext cx="1774088" cy="15240"/>
          </a:xfrm>
          <a:prstGeom prst="rect">
            <a:avLst/>
          </a:prstGeom>
        </p:spPr>
      </p:pic>
      <p:pic>
        <p:nvPicPr>
          <p:cNvPr id="71" name="Image 31" descr="https://test.web.static.jianzeppt.com/ppt-temp-img3/c997610ab56948a60ba67796ddcf1a55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7400" y="3992880"/>
            <a:ext cx="1173480" cy="335280"/>
          </a:xfrm>
          <a:prstGeom prst="rect">
            <a:avLst/>
          </a:prstGeom>
        </p:spPr>
      </p:pic>
      <p:sp>
        <p:nvSpPr>
          <p:cNvPr id="72" name="Text 38"/>
          <p:cNvSpPr/>
          <p:nvPr/>
        </p:nvSpPr>
        <p:spPr>
          <a:xfrm>
            <a:off x="9738360" y="402336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15:00-16:00</a:t>
            </a:r>
            <a:endParaRPr lang="en-US" sz="1440" dirty="0"/>
          </a:p>
        </p:txBody>
      </p:sp>
      <p:sp>
        <p:nvSpPr>
          <p:cNvPr id="73" name="Text 39"/>
          <p:cNvSpPr/>
          <p:nvPr/>
        </p:nvSpPr>
        <p:spPr>
          <a:xfrm>
            <a:off x="11079480" y="402336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全员</a:t>
            </a:r>
            <a:endParaRPr lang="en-US" sz="1440" dirty="0"/>
          </a:p>
        </p:txBody>
      </p:sp>
      <p:sp>
        <p:nvSpPr>
          <p:cNvPr id="74" name="Text 40"/>
          <p:cNvSpPr/>
          <p:nvPr/>
        </p:nvSpPr>
        <p:spPr>
          <a:xfrm>
            <a:off x="9677400" y="4358640"/>
            <a:ext cx="17922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项目总结会</a:t>
            </a:r>
            <a:endParaRPr lang="en-US" sz="1680" dirty="0"/>
          </a:p>
        </p:txBody>
      </p:sp>
      <p:pic>
        <p:nvPicPr>
          <p:cNvPr id="75" name="Image 32" descr="https://test.web.static.jianzeppt.com/ppt-temp-img3/4c2754516d58aa0798a2141543e1815d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1152" y="4693920"/>
            <a:ext cx="1774088" cy="15240"/>
          </a:xfrm>
          <a:prstGeom prst="rect">
            <a:avLst/>
          </a:prstGeom>
        </p:spPr>
      </p:pic>
      <p:pic>
        <p:nvPicPr>
          <p:cNvPr id="76" name="Image 33" descr="https://test.web.static.jianzeppt.com/ppt-temp-img3/c997610ab56948a60ba67796ddcf1a55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7400" y="4785360"/>
            <a:ext cx="1173480" cy="335280"/>
          </a:xfrm>
          <a:prstGeom prst="rect">
            <a:avLst/>
          </a:prstGeom>
        </p:spPr>
      </p:pic>
      <p:sp>
        <p:nvSpPr>
          <p:cNvPr id="77" name="Text 41"/>
          <p:cNvSpPr/>
          <p:nvPr/>
        </p:nvSpPr>
        <p:spPr>
          <a:xfrm>
            <a:off x="9738360" y="4815840"/>
            <a:ext cx="10607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16:00-17:00</a:t>
            </a:r>
            <a:endParaRPr lang="en-US" sz="1440" dirty="0"/>
          </a:p>
        </p:txBody>
      </p:sp>
      <p:sp>
        <p:nvSpPr>
          <p:cNvPr id="78" name="Text 42"/>
          <p:cNvSpPr/>
          <p:nvPr/>
        </p:nvSpPr>
        <p:spPr>
          <a:xfrm>
            <a:off x="11079480" y="481584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全员</a:t>
            </a:r>
            <a:endParaRPr lang="en-US" sz="1440" dirty="0"/>
          </a:p>
        </p:txBody>
      </p:sp>
      <p:sp>
        <p:nvSpPr>
          <p:cNvPr id="79" name="Text 43"/>
          <p:cNvSpPr/>
          <p:nvPr/>
        </p:nvSpPr>
        <p:spPr>
          <a:xfrm>
            <a:off x="9677400" y="5151120"/>
            <a:ext cx="17922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撤离现场</a:t>
            </a:r>
            <a:endParaRPr lang="en-US" sz="1680" dirty="0"/>
          </a:p>
        </p:txBody>
      </p:sp>
      <p:sp>
        <p:nvSpPr>
          <p:cNvPr id="80" name="Text 44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测评方案模板（第七章 日程安排）</a:t>
            </a:r>
            <a:endParaRPr lang="en-US" sz="27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80760" y="2209800"/>
            <a:ext cx="30480" cy="2133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80760" y="3413760"/>
            <a:ext cx="30480" cy="21336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90800" y="3627120"/>
            <a:ext cx="7010400" cy="3048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590800" y="3657600"/>
            <a:ext cx="30480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80760" y="3657600"/>
            <a:ext cx="3048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70720" y="3657600"/>
            <a:ext cx="30480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000" y="3855720"/>
            <a:ext cx="3352800" cy="25450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2" name="Image 10" descr="https://test.web.static.jianzeppt.com/ppt-temp-img3/c171f0b3f3d6a83856b0e4e65b4487bd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" y="3870960"/>
            <a:ext cx="3322320" cy="868680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899160" y="3992880"/>
            <a:ext cx="30876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A组（技术）</a:t>
            </a:r>
            <a:endParaRPr lang="en-US" sz="2160" dirty="0"/>
          </a:p>
        </p:txBody>
      </p:sp>
      <p:sp>
        <p:nvSpPr>
          <p:cNvPr id="14" name="Text 1"/>
          <p:cNvSpPr/>
          <p:nvPr/>
        </p:nvSpPr>
        <p:spPr>
          <a:xfrm>
            <a:off x="899160" y="4290060"/>
            <a:ext cx="30876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王XX（组长）</a:t>
            </a:r>
            <a:endParaRPr lang="en-US" sz="1680" dirty="0"/>
          </a:p>
        </p:txBody>
      </p:sp>
      <p:sp>
        <p:nvSpPr>
          <p:cNvPr id="15" name="Text 2"/>
          <p:cNvSpPr/>
          <p:nvPr/>
        </p:nvSpPr>
        <p:spPr>
          <a:xfrm>
            <a:off x="960120" y="4777740"/>
            <a:ext cx="29657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负责：</a:t>
            </a:r>
            <a:endParaRPr lang="en-US" sz="1680" dirty="0"/>
          </a:p>
        </p:txBody>
      </p:sp>
      <p:pic>
        <p:nvPicPr>
          <p:cNvPr id="16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3960" y="5265420"/>
            <a:ext cx="91440" cy="91440"/>
          </a:xfrm>
          <a:prstGeom prst="rect">
            <a:avLst/>
          </a:prstGeom>
        </p:spPr>
      </p:pic>
      <p:sp>
        <p:nvSpPr>
          <p:cNvPr id="17" name="Text 3"/>
          <p:cNvSpPr/>
          <p:nvPr/>
        </p:nvSpPr>
        <p:spPr>
          <a:xfrm>
            <a:off x="1310640" y="5143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物理环境</a:t>
            </a:r>
            <a:endParaRPr lang="en-US" sz="1680" dirty="0"/>
          </a:p>
        </p:txBody>
      </p:sp>
      <p:pic>
        <p:nvPicPr>
          <p:cNvPr id="18" name="Image 12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82240" y="5265420"/>
            <a:ext cx="91440" cy="91440"/>
          </a:xfrm>
          <a:prstGeom prst="rect">
            <a:avLst/>
          </a:prstGeom>
        </p:spPr>
      </p:pic>
      <p:sp>
        <p:nvSpPr>
          <p:cNvPr id="19" name="Text 4"/>
          <p:cNvSpPr/>
          <p:nvPr/>
        </p:nvSpPr>
        <p:spPr>
          <a:xfrm>
            <a:off x="2781300" y="5143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网络设备</a:t>
            </a:r>
            <a:endParaRPr lang="en-US" sz="1680" dirty="0"/>
          </a:p>
        </p:txBody>
      </p:sp>
      <p:pic>
        <p:nvPicPr>
          <p:cNvPr id="20" name="Image 13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3960" y="5646420"/>
            <a:ext cx="91440" cy="91440"/>
          </a:xfrm>
          <a:prstGeom prst="rect">
            <a:avLst/>
          </a:prstGeom>
        </p:spPr>
      </p:pic>
      <p:sp>
        <p:nvSpPr>
          <p:cNvPr id="21" name="Text 5"/>
          <p:cNvSpPr/>
          <p:nvPr/>
        </p:nvSpPr>
        <p:spPr>
          <a:xfrm>
            <a:off x="1310640" y="5524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安全设备</a:t>
            </a:r>
            <a:endParaRPr lang="en-US" sz="1680" dirty="0"/>
          </a:p>
        </p:txBody>
      </p:sp>
      <p:pic>
        <p:nvPicPr>
          <p:cNvPr id="22" name="Image 14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82240" y="5646420"/>
            <a:ext cx="91440" cy="91440"/>
          </a:xfrm>
          <a:prstGeom prst="rect">
            <a:avLst/>
          </a:prstGeom>
        </p:spPr>
      </p:pic>
      <p:sp>
        <p:nvSpPr>
          <p:cNvPr id="23" name="Text 6"/>
          <p:cNvSpPr/>
          <p:nvPr/>
        </p:nvSpPr>
        <p:spPr>
          <a:xfrm>
            <a:off x="2781300" y="5524500"/>
            <a:ext cx="43586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主机</a:t>
            </a:r>
            <a:endParaRPr lang="en-US" sz="1680" dirty="0"/>
          </a:p>
        </p:txBody>
      </p:sp>
      <p:pic>
        <p:nvPicPr>
          <p:cNvPr id="24" name="Image 1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3960" y="6027420"/>
            <a:ext cx="91440" cy="91440"/>
          </a:xfrm>
          <a:prstGeom prst="rect">
            <a:avLst/>
          </a:prstGeom>
        </p:spPr>
      </p:pic>
      <p:sp>
        <p:nvSpPr>
          <p:cNvPr id="25" name="Text 7"/>
          <p:cNvSpPr/>
          <p:nvPr/>
        </p:nvSpPr>
        <p:spPr>
          <a:xfrm>
            <a:off x="1310640" y="5905500"/>
            <a:ext cx="64922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</a:t>
            </a:r>
            <a:endParaRPr lang="en-US" sz="1680" dirty="0"/>
          </a:p>
        </p:txBody>
      </p:sp>
      <p:pic>
        <p:nvPicPr>
          <p:cNvPr id="26" name="Image 16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82240" y="6027420"/>
            <a:ext cx="91440" cy="91440"/>
          </a:xfrm>
          <a:prstGeom prst="rect">
            <a:avLst/>
          </a:prstGeom>
        </p:spPr>
      </p:pic>
      <p:sp>
        <p:nvSpPr>
          <p:cNvPr id="27" name="Text 8"/>
          <p:cNvSpPr/>
          <p:nvPr/>
        </p:nvSpPr>
        <p:spPr>
          <a:xfrm>
            <a:off x="2781300" y="5905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应用系统</a:t>
            </a:r>
            <a:endParaRPr lang="en-US" sz="1680" dirty="0"/>
          </a:p>
        </p:txBody>
      </p:sp>
      <p:pic>
        <p:nvPicPr>
          <p:cNvPr id="28" name="Image 1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419600" y="3855720"/>
            <a:ext cx="3352800" cy="25450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9" name="Image 18" descr="https://test.web.static.jianzeppt.com/ppt-temp-img3/368ddbeddaa606948b47f53104953d01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4840" y="3870960"/>
            <a:ext cx="3322320" cy="868680"/>
          </a:xfrm>
          <a:prstGeom prst="rect">
            <a:avLst/>
          </a:prstGeom>
        </p:spPr>
      </p:pic>
      <p:sp>
        <p:nvSpPr>
          <p:cNvPr id="30" name="Text 9"/>
          <p:cNvSpPr/>
          <p:nvPr/>
        </p:nvSpPr>
        <p:spPr>
          <a:xfrm>
            <a:off x="4556760" y="3992880"/>
            <a:ext cx="30876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B组（管理）</a:t>
            </a:r>
            <a:endParaRPr lang="en-US" sz="2160" dirty="0"/>
          </a:p>
        </p:txBody>
      </p:sp>
      <p:sp>
        <p:nvSpPr>
          <p:cNvPr id="31" name="Text 10"/>
          <p:cNvSpPr/>
          <p:nvPr/>
        </p:nvSpPr>
        <p:spPr>
          <a:xfrm>
            <a:off x="4556760" y="4290060"/>
            <a:ext cx="30876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刘XX（组长）</a:t>
            </a:r>
            <a:endParaRPr lang="en-US" sz="1680" dirty="0"/>
          </a:p>
        </p:txBody>
      </p:sp>
      <p:sp>
        <p:nvSpPr>
          <p:cNvPr id="32" name="Text 11"/>
          <p:cNvSpPr/>
          <p:nvPr/>
        </p:nvSpPr>
        <p:spPr>
          <a:xfrm>
            <a:off x="4617720" y="4777740"/>
            <a:ext cx="29657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负责：</a:t>
            </a:r>
            <a:endParaRPr lang="en-US" sz="1680" dirty="0"/>
          </a:p>
        </p:txBody>
      </p:sp>
      <p:pic>
        <p:nvPicPr>
          <p:cNvPr id="33" name="Image 1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61560" y="5265420"/>
            <a:ext cx="91440" cy="91440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4983480" y="5143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管理制度</a:t>
            </a:r>
            <a:endParaRPr lang="en-US" sz="1680" dirty="0"/>
          </a:p>
        </p:txBody>
      </p:sp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39840" y="5265420"/>
            <a:ext cx="91440" cy="91440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6469380" y="5143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管理机构</a:t>
            </a:r>
            <a:endParaRPr lang="en-US" sz="1680" dirty="0"/>
          </a:p>
        </p:txBody>
      </p:sp>
      <p:pic>
        <p:nvPicPr>
          <p:cNvPr id="37" name="Image 2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61560" y="5646420"/>
            <a:ext cx="91440" cy="91440"/>
          </a:xfrm>
          <a:prstGeom prst="rect">
            <a:avLst/>
          </a:prstGeom>
        </p:spPr>
      </p:pic>
      <p:sp>
        <p:nvSpPr>
          <p:cNvPr id="38" name="Text 14"/>
          <p:cNvSpPr/>
          <p:nvPr/>
        </p:nvSpPr>
        <p:spPr>
          <a:xfrm>
            <a:off x="4983480" y="5524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管理人员</a:t>
            </a:r>
            <a:endParaRPr lang="en-US" sz="168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39840" y="5646420"/>
            <a:ext cx="91440" cy="91440"/>
          </a:xfrm>
          <a:prstGeom prst="rect">
            <a:avLst/>
          </a:prstGeom>
        </p:spPr>
      </p:pic>
      <p:sp>
        <p:nvSpPr>
          <p:cNvPr id="40" name="Text 15"/>
          <p:cNvSpPr/>
          <p:nvPr/>
        </p:nvSpPr>
        <p:spPr>
          <a:xfrm>
            <a:off x="6469380" y="5524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建设管理</a:t>
            </a:r>
            <a:endParaRPr lang="en-US" sz="1680" dirty="0"/>
          </a:p>
        </p:txBody>
      </p:sp>
      <p:pic>
        <p:nvPicPr>
          <p:cNvPr id="41" name="Image 23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61560" y="6027420"/>
            <a:ext cx="91440" cy="91440"/>
          </a:xfrm>
          <a:prstGeom prst="rect">
            <a:avLst/>
          </a:prstGeom>
        </p:spPr>
      </p:pic>
      <p:sp>
        <p:nvSpPr>
          <p:cNvPr id="42" name="Text 16"/>
          <p:cNvSpPr/>
          <p:nvPr/>
        </p:nvSpPr>
        <p:spPr>
          <a:xfrm>
            <a:off x="4983480" y="590550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运维管理</a:t>
            </a:r>
            <a:endParaRPr lang="en-US" sz="168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77200" y="3855720"/>
            <a:ext cx="3352800" cy="25450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44" name="Image 25" descr="https://test.web.static.jianzeppt.com/ppt-temp-img3/4ba2689233676bdd749f6fff4f3e24af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92440" y="3870960"/>
            <a:ext cx="3322320" cy="944880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8214360" y="3992880"/>
            <a:ext cx="30876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C组（测试）</a:t>
            </a:r>
            <a:endParaRPr lang="en-US" sz="2160" dirty="0"/>
          </a:p>
        </p:txBody>
      </p:sp>
      <p:sp>
        <p:nvSpPr>
          <p:cNvPr id="46" name="Text 18"/>
          <p:cNvSpPr/>
          <p:nvPr/>
        </p:nvSpPr>
        <p:spPr>
          <a:xfrm>
            <a:off x="8214360" y="4290060"/>
            <a:ext cx="30876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赵XX（组长）</a:t>
            </a:r>
            <a:endParaRPr lang="en-US" sz="1680" dirty="0"/>
          </a:p>
        </p:txBody>
      </p:sp>
      <p:sp>
        <p:nvSpPr>
          <p:cNvPr id="47" name="Text 19"/>
          <p:cNvSpPr/>
          <p:nvPr/>
        </p:nvSpPr>
        <p:spPr>
          <a:xfrm>
            <a:off x="8275320" y="4869180"/>
            <a:ext cx="29657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负责：</a:t>
            </a:r>
            <a:endParaRPr lang="en-US" sz="1680" dirty="0"/>
          </a:p>
        </p:txBody>
      </p:sp>
      <p:pic>
        <p:nvPicPr>
          <p:cNvPr id="48" name="Image 26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19160" y="5341620"/>
            <a:ext cx="91440" cy="91440"/>
          </a:xfrm>
          <a:prstGeom prst="rect">
            <a:avLst/>
          </a:prstGeom>
        </p:spPr>
      </p:pic>
      <p:sp>
        <p:nvSpPr>
          <p:cNvPr id="49" name="Text 20"/>
          <p:cNvSpPr/>
          <p:nvPr/>
        </p:nvSpPr>
        <p:spPr>
          <a:xfrm>
            <a:off x="8641080" y="523494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漏洞扫描</a:t>
            </a:r>
            <a:endParaRPr lang="en-US" sz="1680" dirty="0"/>
          </a:p>
        </p:txBody>
      </p:sp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997440" y="5341620"/>
            <a:ext cx="91440" cy="91440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10134600" y="523494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配置核查</a:t>
            </a:r>
            <a:endParaRPr lang="en-US" sz="168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19160" y="5722620"/>
            <a:ext cx="91440" cy="91440"/>
          </a:xfrm>
          <a:prstGeom prst="rect">
            <a:avLst/>
          </a:prstGeom>
        </p:spPr>
      </p:pic>
      <p:sp>
        <p:nvSpPr>
          <p:cNvPr id="53" name="Text 22"/>
          <p:cNvSpPr/>
          <p:nvPr/>
        </p:nvSpPr>
        <p:spPr>
          <a:xfrm>
            <a:off x="8641080" y="5615940"/>
            <a:ext cx="86258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结果分析</a:t>
            </a:r>
            <a:endParaRPr lang="en-US" sz="1680" dirty="0"/>
          </a:p>
        </p:txBody>
      </p:sp>
      <p:pic>
        <p:nvPicPr>
          <p:cNvPr id="54" name="Image 29" descr="https://test.web.static.jianzeppt.com/ppt-temp-img3/c4b34c9645bd47cdd70a969353cc0311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1219200"/>
            <a:ext cx="2743200" cy="1005840"/>
          </a:xfrm>
          <a:prstGeom prst="rect">
            <a:avLst/>
          </a:prstGeom>
        </p:spPr>
      </p:pic>
      <p:sp>
        <p:nvSpPr>
          <p:cNvPr id="55" name="Text 23"/>
          <p:cNvSpPr/>
          <p:nvPr/>
        </p:nvSpPr>
        <p:spPr>
          <a:xfrm>
            <a:off x="4937760" y="1371600"/>
            <a:ext cx="232562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项目总监</a:t>
            </a:r>
            <a:endParaRPr lang="en-US" sz="2400" dirty="0"/>
          </a:p>
        </p:txBody>
      </p:sp>
      <p:sp>
        <p:nvSpPr>
          <p:cNvPr id="56" name="Text 24"/>
          <p:cNvSpPr/>
          <p:nvPr/>
        </p:nvSpPr>
        <p:spPr>
          <a:xfrm>
            <a:off x="5013960" y="1706880"/>
            <a:ext cx="23256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张XX（高工）</a:t>
            </a:r>
            <a:endParaRPr lang="en-US" sz="1680" dirty="0"/>
          </a:p>
        </p:txBody>
      </p:sp>
      <p:pic>
        <p:nvPicPr>
          <p:cNvPr id="57" name="Image 30" descr="https://test.web.static.jianzeppt.com/ppt-temp-img3/35902d711ae6c28c8c36981d4f2a1597.png?x-oss-process=image/resize,w_1440,h_800,m_lfit/format,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2423160"/>
            <a:ext cx="2743200" cy="1005840"/>
          </a:xfrm>
          <a:prstGeom prst="rect">
            <a:avLst/>
          </a:prstGeom>
        </p:spPr>
      </p:pic>
      <p:sp>
        <p:nvSpPr>
          <p:cNvPr id="58" name="Text 25"/>
          <p:cNvSpPr/>
          <p:nvPr/>
        </p:nvSpPr>
        <p:spPr>
          <a:xfrm>
            <a:off x="4937760" y="2575560"/>
            <a:ext cx="232562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项目经理</a:t>
            </a:r>
            <a:endParaRPr lang="en-US" sz="2400" dirty="0"/>
          </a:p>
        </p:txBody>
      </p:sp>
      <p:sp>
        <p:nvSpPr>
          <p:cNvPr id="59" name="Text 26"/>
          <p:cNvSpPr/>
          <p:nvPr/>
        </p:nvSpPr>
        <p:spPr>
          <a:xfrm>
            <a:off x="5013960" y="2910840"/>
            <a:ext cx="23256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李XX（高工）</a:t>
            </a:r>
            <a:endParaRPr lang="en-US" sz="1680" dirty="0"/>
          </a:p>
        </p:txBody>
      </p:sp>
      <p:sp>
        <p:nvSpPr>
          <p:cNvPr id="60" name="Text 27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第8章 人员分工</a:t>
            </a:r>
            <a:endParaRPr lang="en-US" sz="276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71600"/>
            <a:ext cx="42611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9.1 可能的风险</a:t>
            </a:r>
            <a:endParaRPr lang="en-US" sz="2640" dirty="0"/>
          </a:p>
        </p:txBody>
      </p:sp>
      <p:sp>
        <p:nvSpPr>
          <p:cNvPr id="6" name="Text 1"/>
          <p:cNvSpPr/>
          <p:nvPr/>
        </p:nvSpPr>
        <p:spPr>
          <a:xfrm>
            <a:off x="5212080" y="1371600"/>
            <a:ext cx="63794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9.2 应对措施</a:t>
            </a:r>
            <a:endParaRPr lang="en-US" sz="2640" dirty="0"/>
          </a:p>
        </p:txBody>
      </p:sp>
      <p:pic>
        <p:nvPicPr>
          <p:cNvPr id="7" name="Image 3" descr="https://test.web.static.jianzeppt.com/ppt-temp-img3/03f287f62c2a551b61ead9332ce2e35b.png?x-oss-process=image/resize,w_1440,h_800,m_lfit/format,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09600" y="2057400"/>
            <a:ext cx="4251960" cy="91440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8680" y="2225040"/>
            <a:ext cx="502920" cy="381000"/>
          </a:xfrm>
          <a:prstGeom prst="rect">
            <a:avLst/>
          </a:prstGeom>
        </p:spPr>
      </p:pic>
      <p:sp>
        <p:nvSpPr>
          <p:cNvPr id="9" name="Text 2"/>
          <p:cNvSpPr/>
          <p:nvPr>
            <p:custDataLst>
              <p:tags r:id="rId9"/>
            </p:custDataLst>
          </p:nvPr>
        </p:nvSpPr>
        <p:spPr>
          <a:xfrm>
            <a:off x="990600" y="225552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680" dirty="0"/>
          </a:p>
        </p:txBody>
      </p:sp>
      <p:sp>
        <p:nvSpPr>
          <p:cNvPr id="10" name="Text 3"/>
          <p:cNvSpPr/>
          <p:nvPr>
            <p:custDataLst>
              <p:tags r:id="rId10"/>
            </p:custDataLst>
          </p:nvPr>
        </p:nvSpPr>
        <p:spPr>
          <a:xfrm>
            <a:off x="1493520" y="2209800"/>
            <a:ext cx="137922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业务中断风险</a:t>
            </a:r>
            <a:endParaRPr lang="en-US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1" name="Text 4"/>
          <p:cNvSpPr/>
          <p:nvPr>
            <p:custDataLst>
              <p:tags r:id="rId11"/>
            </p:custDataLst>
          </p:nvPr>
        </p:nvSpPr>
        <p:spPr>
          <a:xfrm>
            <a:off x="868680" y="2644140"/>
            <a:ext cx="30480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测评过程中可能影响系统正常运行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2" name="Image 5" descr="https://test.web.static.jianzeppt.com/ppt-temp-img3/14fe58a59bad19cf4e63d6a09b046410.png?x-oss-process=image/resize,w_1440,h_800,m_lfit/format,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24840" y="2072640"/>
            <a:ext cx="60960" cy="883920"/>
          </a:xfrm>
          <a:prstGeom prst="rect">
            <a:avLst/>
          </a:prstGeom>
        </p:spPr>
      </p:pic>
      <p:pic>
        <p:nvPicPr>
          <p:cNvPr id="13" name="Image 6" descr="https://test.web.static.jianzeppt.com/ppt-temp-img3/03f287f62c2a551b61ead9332ce2e35b.png?x-oss-process=image/resize,w_1440,h_800,m_lfit/format,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09600" y="3154680"/>
            <a:ext cx="4251960" cy="914400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8680" y="3307080"/>
            <a:ext cx="502920" cy="381000"/>
          </a:xfrm>
          <a:prstGeom prst="rect">
            <a:avLst/>
          </a:prstGeom>
        </p:spPr>
      </p:pic>
      <p:sp>
        <p:nvSpPr>
          <p:cNvPr id="15" name="Text 5"/>
          <p:cNvSpPr/>
          <p:nvPr>
            <p:custDataLst>
              <p:tags r:id="rId16"/>
            </p:custDataLst>
          </p:nvPr>
        </p:nvSpPr>
        <p:spPr>
          <a:xfrm>
            <a:off x="990600" y="333756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680" dirty="0"/>
          </a:p>
        </p:txBody>
      </p:sp>
      <p:sp>
        <p:nvSpPr>
          <p:cNvPr id="16" name="Text 6"/>
          <p:cNvSpPr/>
          <p:nvPr>
            <p:custDataLst>
              <p:tags r:id="rId17"/>
            </p:custDataLst>
          </p:nvPr>
        </p:nvSpPr>
        <p:spPr>
          <a:xfrm>
            <a:off x="1493520" y="3291840"/>
            <a:ext cx="137922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数据泄露风险</a:t>
            </a:r>
            <a:endParaRPr lang="en-US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7" name="Text 7"/>
          <p:cNvSpPr/>
          <p:nvPr>
            <p:custDataLst>
              <p:tags r:id="rId18"/>
            </p:custDataLst>
          </p:nvPr>
        </p:nvSpPr>
        <p:spPr>
          <a:xfrm>
            <a:off x="868680" y="3741420"/>
            <a:ext cx="2235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测评过程中接触敏感数据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8" name="Image 8" descr="https://test.web.static.jianzeppt.com/ppt-temp-img3/c15bd3289ee427f7ffda9ce44011fe63.png?x-oss-process=image/resize,w_1440,h_800,m_lfit/format,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24840" y="3169920"/>
            <a:ext cx="60960" cy="883920"/>
          </a:xfrm>
          <a:prstGeom prst="rect">
            <a:avLst/>
          </a:prstGeom>
        </p:spPr>
      </p:pic>
      <p:pic>
        <p:nvPicPr>
          <p:cNvPr id="19" name="Image 9" descr="https://test.web.static.jianzeppt.com/ppt-temp-img3/03f287f62c2a551b61ead9332ce2e35b.png?x-oss-process=image/resize,w_1440,h_800,m_lfit/format,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09600" y="4251960"/>
            <a:ext cx="4251960" cy="914400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8680" y="4404360"/>
            <a:ext cx="502920" cy="381000"/>
          </a:xfrm>
          <a:prstGeom prst="rect">
            <a:avLst/>
          </a:prstGeom>
        </p:spPr>
      </p:pic>
      <p:sp>
        <p:nvSpPr>
          <p:cNvPr id="21" name="Text 8"/>
          <p:cNvSpPr/>
          <p:nvPr>
            <p:custDataLst>
              <p:tags r:id="rId22"/>
            </p:custDataLst>
          </p:nvPr>
        </p:nvSpPr>
        <p:spPr>
          <a:xfrm>
            <a:off x="990600" y="443484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680" dirty="0"/>
          </a:p>
        </p:txBody>
      </p:sp>
      <p:sp>
        <p:nvSpPr>
          <p:cNvPr id="22" name="Text 9"/>
          <p:cNvSpPr/>
          <p:nvPr>
            <p:custDataLst>
              <p:tags r:id="rId23"/>
            </p:custDataLst>
          </p:nvPr>
        </p:nvSpPr>
        <p:spPr>
          <a:xfrm>
            <a:off x="1493520" y="4389120"/>
            <a:ext cx="137922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设备故障风险</a:t>
            </a:r>
            <a:endParaRPr lang="en-US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3" name="Text 10"/>
          <p:cNvSpPr/>
          <p:nvPr>
            <p:custDataLst>
              <p:tags r:id="rId24"/>
            </p:custDataLst>
          </p:nvPr>
        </p:nvSpPr>
        <p:spPr>
          <a:xfrm>
            <a:off x="868680" y="4823460"/>
            <a:ext cx="28448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设备操作不当可能导致配置丢失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4" name="Image 11" descr="https://test.web.static.jianzeppt.com/ppt-temp-img3/8e399bfd7b1bc6983a74512e6a97ccea.png?x-oss-process=image/resize,w_1440,h_800,m_lfit/format,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24840" y="4267200"/>
            <a:ext cx="60960" cy="883920"/>
          </a:xfrm>
          <a:prstGeom prst="rect">
            <a:avLst/>
          </a:prstGeom>
        </p:spPr>
      </p:pic>
      <p:pic>
        <p:nvPicPr>
          <p:cNvPr id="25" name="Image 12" descr="https://test.web.static.jianzeppt.com/ppt-temp-img3/03f287f62c2a551b61ead9332ce2e35b.png?x-oss-process=image/resize,w_1440,h_800,m_lfit/format,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09600" y="5334000"/>
            <a:ext cx="4251960" cy="91440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8680" y="5501640"/>
            <a:ext cx="502920" cy="381000"/>
          </a:xfrm>
          <a:prstGeom prst="rect">
            <a:avLst/>
          </a:prstGeom>
        </p:spPr>
      </p:pic>
      <p:sp>
        <p:nvSpPr>
          <p:cNvPr id="27" name="Text 11"/>
          <p:cNvSpPr/>
          <p:nvPr>
            <p:custDataLst>
              <p:tags r:id="rId28"/>
            </p:custDataLst>
          </p:nvPr>
        </p:nvSpPr>
        <p:spPr>
          <a:xfrm>
            <a:off x="990600" y="553212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</a:t>
            </a:r>
            <a:endParaRPr lang="en-US" sz="1680" dirty="0"/>
          </a:p>
        </p:txBody>
      </p:sp>
      <p:sp>
        <p:nvSpPr>
          <p:cNvPr id="28" name="Text 12"/>
          <p:cNvSpPr/>
          <p:nvPr>
            <p:custDataLst>
              <p:tags r:id="rId29"/>
            </p:custDataLst>
          </p:nvPr>
        </p:nvSpPr>
        <p:spPr>
          <a:xfrm>
            <a:off x="1493520" y="5486400"/>
            <a:ext cx="137922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进度延误风险</a:t>
            </a:r>
            <a:endParaRPr lang="en-US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9" name="Text 13"/>
          <p:cNvSpPr/>
          <p:nvPr>
            <p:custDataLst>
              <p:tags r:id="rId30"/>
            </p:custDataLst>
          </p:nvPr>
        </p:nvSpPr>
        <p:spPr>
          <a:xfrm>
            <a:off x="868680" y="5920740"/>
            <a:ext cx="30480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客户配合不力或技术问题导致延期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0" name="Image 14" descr="https://test.web.static.jianzeppt.com/ppt-temp-img3/a4d1c5daed3616ce0a21f3ab1c078386.png?x-oss-process=image/resize,w_1440,h_800,m_lfit/format,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24840" y="5349240"/>
            <a:ext cx="60960" cy="883920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12080" y="2057400"/>
            <a:ext cx="6370320" cy="914400"/>
          </a:xfrm>
          <a:prstGeom prst="rect">
            <a:avLst/>
          </a:prstGeom>
          <a:effectLst>
            <a:outerShdw blurRad="1548384000" dist="387096000" dir="-1" algn="bl" rotWithShape="0">
              <a:srgbClr val="00234E">
                <a:alpha val="800000000"/>
              </a:srgbClr>
            </a:outerShdw>
          </a:effectLst>
        </p:spPr>
      </p:pic>
      <p:sp>
        <p:nvSpPr>
          <p:cNvPr id="32" name="Text 14"/>
          <p:cNvSpPr/>
          <p:nvPr/>
        </p:nvSpPr>
        <p:spPr>
          <a:xfrm>
            <a:off x="5715000" y="2171700"/>
            <a:ext cx="5617464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所有测评操作均在业务低峰期进行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涉及配置变更的操作，提前备份配置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漏洞扫描前与客户确认，避免对业务造成影响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3" name="Image 16" descr="https://test.web.static.jianzeppt.com/ppt-temp-img3/90ad6a5230da8b81e88837c5f888c426.png?x-oss-process=image/resize,w_1440,h_800,m_lfit/format,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>
            <a:alphaModFix amt="16000"/>
          </a:blip>
          <a:stretch>
            <a:fillRect/>
          </a:stretch>
        </p:blipFill>
        <p:spPr>
          <a:xfrm>
            <a:off x="4937760" y="2407920"/>
            <a:ext cx="213360" cy="21336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12080" y="3154680"/>
            <a:ext cx="6370320" cy="914400"/>
          </a:xfrm>
          <a:prstGeom prst="rect">
            <a:avLst/>
          </a:prstGeom>
          <a:effectLst>
            <a:outerShdw blurRad="1548384000" dist="387096000" dir="-1" algn="bl" rotWithShape="0">
              <a:srgbClr val="00234E">
                <a:alpha val="800000000"/>
              </a:srgbClr>
            </a:outerShdw>
          </a:effectLst>
        </p:spPr>
      </p:pic>
      <p:sp>
        <p:nvSpPr>
          <p:cNvPr id="35" name="Text 15"/>
          <p:cNvSpPr/>
          <p:nvPr/>
        </p:nvSpPr>
        <p:spPr>
          <a:xfrm>
            <a:off x="5715000" y="3246120"/>
            <a:ext cx="5617464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全体项目人员签署保密协议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测评数据严格管理，不携带客户数据离场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报告脱敏处理，不包含原始敏感数据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6" name="Image 18" descr="https://test.web.static.jianzeppt.com/ppt-temp-img3/90ad6a5230da8b81e88837c5f888c426.png?x-oss-process=image/resize,w_1440,h_800,m_lfit/format,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5">
            <a:alphaModFix amt="16000"/>
          </a:blip>
          <a:stretch>
            <a:fillRect/>
          </a:stretch>
        </p:blipFill>
        <p:spPr>
          <a:xfrm>
            <a:off x="4937760" y="3505200"/>
            <a:ext cx="213360" cy="213360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12080" y="4251960"/>
            <a:ext cx="6370320" cy="914400"/>
          </a:xfrm>
          <a:prstGeom prst="rect">
            <a:avLst/>
          </a:prstGeom>
          <a:effectLst>
            <a:outerShdw blurRad="1548384000" dist="387096000" dir="-1" algn="bl" rotWithShape="0">
              <a:srgbClr val="00234E">
                <a:alpha val="800000000"/>
              </a:srgbClr>
            </a:outerShdw>
          </a:effectLst>
        </p:spPr>
      </p:pic>
      <p:sp>
        <p:nvSpPr>
          <p:cNvPr id="38" name="Text 16"/>
          <p:cNvSpPr/>
          <p:nvPr/>
        </p:nvSpPr>
        <p:spPr>
          <a:xfrm>
            <a:off x="5715000" y="4343400"/>
            <a:ext cx="5617464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操作前进行配置备份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操作过程中保留操作日志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紧急情况下可进行配置恢复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9" name="Image 20" descr="https://test.web.static.jianzeppt.com/ppt-temp-img3/90ad6a5230da8b81e88837c5f888c426.png?x-oss-process=image/resize,w_1440,h_800,m_lfit/format,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5">
            <a:alphaModFix amt="16000"/>
          </a:blip>
          <a:stretch>
            <a:fillRect/>
          </a:stretch>
        </p:blipFill>
        <p:spPr>
          <a:xfrm>
            <a:off x="4937760" y="4587240"/>
            <a:ext cx="213360" cy="213360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12080" y="5334000"/>
            <a:ext cx="6370320" cy="914400"/>
          </a:xfrm>
          <a:prstGeom prst="rect">
            <a:avLst/>
          </a:prstGeom>
          <a:effectLst>
            <a:outerShdw blurRad="1548384000" dist="387096000" dir="-1" algn="bl" rotWithShape="0">
              <a:srgbClr val="00234E">
                <a:alpha val="800000000"/>
              </a:srgbClr>
            </a:outerShdw>
          </a:effectLst>
        </p:spPr>
      </p:pic>
      <p:sp>
        <p:nvSpPr>
          <p:cNvPr id="41" name="Text 17"/>
          <p:cNvSpPr/>
          <p:nvPr/>
        </p:nvSpPr>
        <p:spPr>
          <a:xfrm>
            <a:off x="5715000" y="5448300"/>
            <a:ext cx="5617464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提前与客户确认时间安排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每日汇总进度，及时调整</a:t>
            </a:r>
            <a:endParaRPr lang="en-US" sz="1600" dirty="0"/>
          </a:p>
          <a:p>
            <a:pPr marL="243840" indent="-24384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设置缓冲时间应对突发情况</a:t>
            </a:r>
            <a:endParaRPr lang="en-US" sz="160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42" name="Image 22" descr="https://test.web.static.jianzeppt.com/ppt-temp-img3/90ad6a5230da8b81e88837c5f888c426.png?x-oss-process=image/resize,w_1440,h_800,m_lfit/format,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5">
            <a:alphaModFix amt="16000"/>
          </a:blip>
          <a:stretch>
            <a:fillRect/>
          </a:stretch>
        </p:blipFill>
        <p:spPr>
          <a:xfrm>
            <a:off x="4937760" y="5684520"/>
            <a:ext cx="213360" cy="213360"/>
          </a:xfrm>
          <a:prstGeom prst="rect">
            <a:avLst/>
          </a:prstGeom>
        </p:spPr>
      </p:pic>
      <p:sp>
        <p:nvSpPr>
          <p:cNvPr id="43" name="Text 18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测评方案模板（第九章 风险控制）</a:t>
            </a:r>
            <a:endParaRPr lang="en-US" sz="27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5364480" cy="2316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1630680"/>
            <a:ext cx="365760" cy="36576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944880" y="1676400"/>
            <a:ext cx="23774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440" dirty="0"/>
          </a:p>
        </p:txBody>
      </p:sp>
      <p:sp>
        <p:nvSpPr>
          <p:cNvPr id="8" name="Text 1"/>
          <p:cNvSpPr/>
          <p:nvPr/>
        </p:nvSpPr>
        <p:spPr>
          <a:xfrm>
            <a:off x="1356360" y="158496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本节核心要点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868680" y="2118360"/>
            <a:ext cx="4855464" cy="5162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①方案编制的“六步法”——解读定级→分析架构→确定范围→选取对象→确定指标→编制方案</a:t>
            </a:r>
            <a:endParaRPr lang="en-US" sz="1680" dirty="0"/>
          </a:p>
        </p:txBody>
      </p:sp>
      <p:sp>
        <p:nvSpPr>
          <p:cNvPr id="10" name="Text 3"/>
          <p:cNvSpPr/>
          <p:nvPr/>
        </p:nvSpPr>
        <p:spPr>
          <a:xfrm>
            <a:off x="868680" y="2667635"/>
            <a:ext cx="256032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②测评对象选取的四大原则</a:t>
            </a:r>
            <a:endParaRPr lang="en-US" sz="1680" dirty="0"/>
          </a:p>
        </p:txBody>
      </p:sp>
      <p:sp>
        <p:nvSpPr>
          <p:cNvPr id="11" name="Text 4"/>
          <p:cNvSpPr/>
          <p:nvPr/>
        </p:nvSpPr>
        <p:spPr>
          <a:xfrm>
            <a:off x="868680" y="2959100"/>
            <a:ext cx="277368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③测评指标选取的适用性判断</a:t>
            </a:r>
            <a:endParaRPr lang="en-US" sz="1680" dirty="0"/>
          </a:p>
        </p:txBody>
      </p:sp>
      <p:pic>
        <p:nvPicPr>
          <p:cNvPr id="12" name="Image 5" descr="https://test.web.static.jianzeppt.com/ppt-temp-img3/4fa993c4174dc748d59e08178f34ca03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1371600"/>
            <a:ext cx="5364480" cy="2316480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1661160"/>
            <a:ext cx="365760" cy="36576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6553200" y="1706880"/>
            <a:ext cx="23774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440" dirty="0"/>
          </a:p>
        </p:txBody>
      </p:sp>
      <p:sp>
        <p:nvSpPr>
          <p:cNvPr id="15" name="Text 6"/>
          <p:cNvSpPr/>
          <p:nvPr/>
        </p:nvSpPr>
        <p:spPr>
          <a:xfrm>
            <a:off x="6964680" y="161544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质量自检清单</a:t>
            </a:r>
            <a:endParaRPr lang="en-US" sz="2400" dirty="0"/>
          </a:p>
        </p:txBody>
      </p:sp>
      <p:sp>
        <p:nvSpPr>
          <p:cNvPr id="16" name="Text 7"/>
          <p:cNvSpPr/>
          <p:nvPr/>
        </p:nvSpPr>
        <p:spPr>
          <a:xfrm>
            <a:off x="6477000" y="216408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17" name="Text 8"/>
          <p:cNvSpPr/>
          <p:nvPr/>
        </p:nvSpPr>
        <p:spPr>
          <a:xfrm>
            <a:off x="6705600" y="214884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封面信息完整</a:t>
            </a:r>
            <a:endParaRPr lang="en-US" sz="1440" dirty="0"/>
          </a:p>
        </p:txBody>
      </p:sp>
      <p:sp>
        <p:nvSpPr>
          <p:cNvPr id="18" name="Text 9"/>
          <p:cNvSpPr/>
          <p:nvPr/>
        </p:nvSpPr>
        <p:spPr>
          <a:xfrm>
            <a:off x="8961120" y="216408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19" name="Text 10"/>
          <p:cNvSpPr/>
          <p:nvPr/>
        </p:nvSpPr>
        <p:spPr>
          <a:xfrm>
            <a:off x="9189720" y="214884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项目概述清晰</a:t>
            </a:r>
            <a:endParaRPr lang="en-US" sz="1440" dirty="0"/>
          </a:p>
        </p:txBody>
      </p:sp>
      <p:sp>
        <p:nvSpPr>
          <p:cNvPr id="20" name="Text 11"/>
          <p:cNvSpPr/>
          <p:nvPr/>
        </p:nvSpPr>
        <p:spPr>
          <a:xfrm>
            <a:off x="6477000" y="243840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21" name="Text 12"/>
          <p:cNvSpPr/>
          <p:nvPr/>
        </p:nvSpPr>
        <p:spPr>
          <a:xfrm>
            <a:off x="6705600" y="242316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依据列明标准</a:t>
            </a:r>
            <a:endParaRPr lang="en-US" sz="1440" dirty="0"/>
          </a:p>
        </p:txBody>
      </p:sp>
      <p:sp>
        <p:nvSpPr>
          <p:cNvPr id="22" name="Text 13"/>
          <p:cNvSpPr/>
          <p:nvPr/>
        </p:nvSpPr>
        <p:spPr>
          <a:xfrm>
            <a:off x="8961120" y="243840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23" name="Text 14"/>
          <p:cNvSpPr/>
          <p:nvPr/>
        </p:nvSpPr>
        <p:spPr>
          <a:xfrm>
            <a:off x="9189720" y="242316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测评范围明确</a:t>
            </a:r>
            <a:endParaRPr lang="en-US" sz="1440" dirty="0"/>
          </a:p>
        </p:txBody>
      </p:sp>
      <p:sp>
        <p:nvSpPr>
          <p:cNvPr id="24" name="Text 15"/>
          <p:cNvSpPr/>
          <p:nvPr/>
        </p:nvSpPr>
        <p:spPr>
          <a:xfrm>
            <a:off x="6477000" y="269748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25" name="Text 16"/>
          <p:cNvSpPr/>
          <p:nvPr/>
        </p:nvSpPr>
        <p:spPr>
          <a:xfrm>
            <a:off x="6705600" y="268224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对象清单完整</a:t>
            </a:r>
            <a:endParaRPr lang="en-US" sz="1440" dirty="0"/>
          </a:p>
        </p:txBody>
      </p:sp>
      <p:sp>
        <p:nvSpPr>
          <p:cNvPr id="26" name="Text 17"/>
          <p:cNvSpPr/>
          <p:nvPr/>
        </p:nvSpPr>
        <p:spPr>
          <a:xfrm>
            <a:off x="8961120" y="269748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27" name="Text 18"/>
          <p:cNvSpPr/>
          <p:nvPr/>
        </p:nvSpPr>
        <p:spPr>
          <a:xfrm>
            <a:off x="9189720" y="268224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指标清单完整</a:t>
            </a:r>
            <a:endParaRPr lang="en-US" sz="1440" dirty="0"/>
          </a:p>
        </p:txBody>
      </p:sp>
      <p:sp>
        <p:nvSpPr>
          <p:cNvPr id="28" name="Text 19"/>
          <p:cNvSpPr/>
          <p:nvPr/>
        </p:nvSpPr>
        <p:spPr>
          <a:xfrm>
            <a:off x="6477000" y="295656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29" name="Text 20"/>
          <p:cNvSpPr/>
          <p:nvPr/>
        </p:nvSpPr>
        <p:spPr>
          <a:xfrm>
            <a:off x="6705600" y="294132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方法描述具体</a:t>
            </a:r>
            <a:endParaRPr lang="en-US" sz="1440" dirty="0"/>
          </a:p>
        </p:txBody>
      </p:sp>
      <p:sp>
        <p:nvSpPr>
          <p:cNvPr id="30" name="Text 21"/>
          <p:cNvSpPr/>
          <p:nvPr/>
        </p:nvSpPr>
        <p:spPr>
          <a:xfrm>
            <a:off x="8961120" y="295656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31" name="Text 22"/>
          <p:cNvSpPr/>
          <p:nvPr/>
        </p:nvSpPr>
        <p:spPr>
          <a:xfrm>
            <a:off x="9189720" y="294132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日程安排合理</a:t>
            </a:r>
            <a:endParaRPr lang="en-US" sz="1440" dirty="0"/>
          </a:p>
        </p:txBody>
      </p:sp>
      <p:sp>
        <p:nvSpPr>
          <p:cNvPr id="32" name="Text 23"/>
          <p:cNvSpPr/>
          <p:nvPr/>
        </p:nvSpPr>
        <p:spPr>
          <a:xfrm>
            <a:off x="6477000" y="323088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33" name="Text 24"/>
          <p:cNvSpPr/>
          <p:nvPr/>
        </p:nvSpPr>
        <p:spPr>
          <a:xfrm>
            <a:off x="6705600" y="321564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人员分工明确</a:t>
            </a:r>
            <a:endParaRPr lang="en-US" sz="1440" dirty="0"/>
          </a:p>
        </p:txBody>
      </p:sp>
      <p:sp>
        <p:nvSpPr>
          <p:cNvPr id="34" name="Text 25"/>
          <p:cNvSpPr/>
          <p:nvPr/>
        </p:nvSpPr>
        <p:spPr>
          <a:xfrm>
            <a:off x="8961120" y="3230880"/>
            <a:ext cx="176784" cy="2095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20" dirty="0">
                <a:solidFill>
                  <a:srgbClr val="00234E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☑</a:t>
            </a:r>
            <a:endParaRPr lang="en-US" sz="1320" dirty="0"/>
          </a:p>
        </p:txBody>
      </p:sp>
      <p:sp>
        <p:nvSpPr>
          <p:cNvPr id="35" name="Text 26"/>
          <p:cNvSpPr/>
          <p:nvPr/>
        </p:nvSpPr>
        <p:spPr>
          <a:xfrm>
            <a:off x="9189720" y="3215640"/>
            <a:ext cx="112166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4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格式规范通顺</a:t>
            </a:r>
            <a:endParaRPr lang="en-US" sz="144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3931920"/>
            <a:ext cx="5364480" cy="2316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4221480"/>
            <a:ext cx="365760" cy="36576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44880" y="4267200"/>
            <a:ext cx="23774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440" dirty="0"/>
          </a:p>
        </p:txBody>
      </p:sp>
      <p:sp>
        <p:nvSpPr>
          <p:cNvPr id="39" name="Text 28"/>
          <p:cNvSpPr/>
          <p:nvPr/>
        </p:nvSpPr>
        <p:spPr>
          <a:xfrm>
            <a:off x="1356360" y="41757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课后作业</a:t>
            </a:r>
            <a:endParaRPr lang="en-US" sz="2400" dirty="0"/>
          </a:p>
        </p:txBody>
      </p:sp>
      <p:sp>
        <p:nvSpPr>
          <p:cNvPr id="40" name="Text 29"/>
          <p:cNvSpPr/>
          <p:nvPr/>
        </p:nvSpPr>
        <p:spPr>
          <a:xfrm>
            <a:off x="868680" y="4754880"/>
            <a:ext cx="4855464" cy="5162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①依据“XX市教育局管理平台”数据，编制等保测评方案</a:t>
            </a:r>
            <a:endParaRPr lang="en-US" sz="1680" dirty="0"/>
          </a:p>
        </p:txBody>
      </p:sp>
      <p:sp>
        <p:nvSpPr>
          <p:cNvPr id="41" name="Text 30"/>
          <p:cNvSpPr/>
          <p:nvPr/>
        </p:nvSpPr>
        <p:spPr>
          <a:xfrm>
            <a:off x="868680" y="5394960"/>
            <a:ext cx="192024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algn="l">
              <a:lnSpc>
                <a:spcPct val="100000"/>
              </a:lnSpc>
              <a:buClrTx/>
              <a:buSzTx/>
              <a:buFontTx/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②提交至学习通平台</a:t>
            </a:r>
            <a:endParaRPr lang="en-US" sz="168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sp>
        <p:nvSpPr>
          <p:cNvPr id="42" name="Text 31"/>
          <p:cNvSpPr/>
          <p:nvPr/>
        </p:nvSpPr>
        <p:spPr>
          <a:xfrm>
            <a:off x="868680" y="5745480"/>
            <a:ext cx="426720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③预习“安全物理环境与通信网络测评”内容</a:t>
            </a:r>
            <a:endParaRPr lang="en-US" sz="168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17920" y="3931920"/>
            <a:ext cx="5364480" cy="231648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61760" y="4221480"/>
            <a:ext cx="365760" cy="36576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6949440" y="41757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思政小结</a:t>
            </a:r>
            <a:endParaRPr lang="en-US" sz="2400" dirty="0"/>
          </a:p>
        </p:txBody>
      </p:sp>
      <p:sp>
        <p:nvSpPr>
          <p:cNvPr id="46" name="Text 33"/>
          <p:cNvSpPr/>
          <p:nvPr/>
        </p:nvSpPr>
        <p:spPr>
          <a:xfrm>
            <a:off x="6461760" y="4815840"/>
            <a:ext cx="4885944" cy="10826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    方案是测评工作的“施工蓝图”。方案的严谨性决定了测评的质量，规范性体现了机构专业水平。希望同学们以工匠精神对待每一份方案，以责任意识对待每一项测评。</a:t>
            </a:r>
            <a:endParaRPr lang="en-US" sz="1440" dirty="0"/>
          </a:p>
        </p:txBody>
      </p:sp>
      <p:sp>
        <p:nvSpPr>
          <p:cNvPr id="47" name="Text 34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小结与课后作业</a:t>
            </a:r>
            <a:endParaRPr lang="en-US" sz="2760" dirty="0"/>
          </a:p>
        </p:txBody>
      </p:sp>
      <p:sp>
        <p:nvSpPr>
          <p:cNvPr id="48" name="Text 4"/>
          <p:cNvSpPr/>
          <p:nvPr/>
        </p:nvSpPr>
        <p:spPr>
          <a:xfrm>
            <a:off x="880110" y="3263900"/>
            <a:ext cx="204597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④方案结构的9个章节</a:t>
            </a:r>
            <a:endParaRPr lang="en-US" sz="1680" dirty="0">
              <a:solidFill>
                <a:srgbClr val="374151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2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3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4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5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6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7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8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9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0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1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2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3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4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5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6.xml><?xml version="1.0" encoding="utf-8"?>
<p:tagLst xmlns:p="http://schemas.openxmlformats.org/presentationml/2006/main">
  <p:tag name="KSO_WM_DIAGRAM_VIRTUALLY_FRAME" val="{&quot;height&quot;:351.6,&quot;left&quot;:48,&quot;top&quot;:92.4,&quot;width&quot;:864}"/>
</p:tagLst>
</file>

<file path=ppt/tags/tag17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18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19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0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1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2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3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4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5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6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7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8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29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0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1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2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3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4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5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6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7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8.xml><?xml version="1.0" encoding="utf-8"?>
<p:tagLst xmlns:p="http://schemas.openxmlformats.org/presentationml/2006/main">
  <p:tag name="KSO_WM_DIAGRAM_VIRTUALLY_FRAME" val="{&quot;height&quot;:324,&quot;left&quot;:48,&quot;top&quot;:159.6,&quot;width&quot;:865.2}"/>
</p:tagLst>
</file>

<file path=ppt/tags/tag39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0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1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2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3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4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5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6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7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8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49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0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1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2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3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4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5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6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7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8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59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0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1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2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3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4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5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ags/tag66.xml><?xml version="1.0" encoding="utf-8"?>
<p:tagLst xmlns:p="http://schemas.openxmlformats.org/presentationml/2006/main">
  <p:tag name="KSO_WM_DIAGRAM_VIRTUALLY_FRAME" val="{&quot;height&quot;:330,&quot;left&quot;:48,&quot;top&quot;:162,&quot;width&quot;:357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6763</Words>
  <Application>WPS 演示</Application>
  <PresentationFormat>On-screen Show (16:9)</PresentationFormat>
  <Paragraphs>1804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30</vt:i4>
      </vt:variant>
    </vt:vector>
  </HeadingPairs>
  <TitlesOfParts>
    <vt:vector size="45" baseType="lpstr">
      <vt:lpstr>Arial</vt:lpstr>
      <vt:lpstr>宋体</vt:lpstr>
      <vt:lpstr>Wingdings</vt:lpstr>
      <vt:lpstr>思源黑体 CN</vt:lpstr>
      <vt:lpstr>黑体</vt:lpstr>
      <vt:lpstr>思源黑体 CN</vt:lpstr>
      <vt:lpstr>思源黑体 CN Bold</vt:lpstr>
      <vt:lpstr>思源黑体 CN Bold</vt:lpstr>
      <vt:lpstr>思源黑体 CN Bold</vt:lpstr>
      <vt:lpstr>Calibri</vt:lpstr>
      <vt:lpstr>微软雅黑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202603</cp:lastModifiedBy>
  <cp:revision>30</cp:revision>
  <dcterms:created xsi:type="dcterms:W3CDTF">2026-08-24T17:04:00Z</dcterms:created>
  <dcterms:modified xsi:type="dcterms:W3CDTF">2026-09-04T10:38:21Z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020AB3C9A0A74CE886D24AD62E1FE2E0_12</vt:lpwstr>
  </property>
  <property fmtid="{D5CDD505-2E9C-101B-9397-08002B2CF9AE}" pid="3" name="KSOProductBuildVer">
    <vt:lpwstr>2052-12.1.0.26895</vt:lpwstr>
  </property>
</Properties>
</file>