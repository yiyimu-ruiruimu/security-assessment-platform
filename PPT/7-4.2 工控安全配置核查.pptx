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3.svg" ContentType="image/svg+xml"/>
  <Override PartName="/ppt/media/image105.svg" ContentType="image/svg+xml"/>
  <Override PartName="/ppt/media/image110.svg" ContentType="image/svg+xml"/>
  <Override PartName="/ppt/media/image114.svg" ContentType="image/svg+xml"/>
  <Override PartName="/ppt/media/image117.svg" ContentType="image/svg+xml"/>
  <Override PartName="/ppt/media/image120.svg" ContentType="image/svg+xml"/>
  <Override PartName="/ppt/media/image123.svg" ContentType="image/svg+xml"/>
  <Override PartName="/ppt/media/image131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55.svg" ContentType="image/svg+xml"/>
  <Override PartName="/ppt/media/image158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7.svg" ContentType="image/svg+xml"/>
  <Override PartName="/ppt/media/image170.svg" ContentType="image/svg+xml"/>
  <Override PartName="/ppt/media/image172.svg" ContentType="image/svg+xml"/>
  <Override PartName="/ppt/media/image174.svg" ContentType="image/svg+xml"/>
  <Override PartName="/ppt/media/image18.svg" ContentType="image/svg+xml"/>
  <Override PartName="/ppt/media/image181.svg" ContentType="image/svg+xml"/>
  <Override PartName="/ppt/media/image183.svg" ContentType="image/svg+xml"/>
  <Override PartName="/ppt/media/image185.svg" ContentType="image/svg+xml"/>
  <Override PartName="/ppt/media/image187.svg" ContentType="image/svg+xml"/>
  <Override PartName="/ppt/media/image190.svg" ContentType="image/svg+xml"/>
  <Override PartName="/ppt/media/image192.svg" ContentType="image/svg+xml"/>
  <Override PartName="/ppt/media/image195.svg" ContentType="image/svg+xml"/>
  <Override PartName="/ppt/media/image198.svg" ContentType="image/svg+xml"/>
  <Override PartName="/ppt/media/image20.svg" ContentType="image/svg+xml"/>
  <Override PartName="/ppt/media/image200.svg" ContentType="image/svg+xml"/>
  <Override PartName="/ppt/media/image202.svg" ContentType="image/svg+xml"/>
  <Override PartName="/ppt/media/image207.svg" ContentType="image/svg+xml"/>
  <Override PartName="/ppt/media/image210.svg" ContentType="image/svg+xml"/>
  <Override PartName="/ppt/media/image216.svg" ContentType="image/svg+xml"/>
  <Override PartName="/ppt/media/image22.svg" ContentType="image/svg+xml"/>
  <Override PartName="/ppt/media/image224.svg" ContentType="image/svg+xml"/>
  <Override PartName="/ppt/media/image226.svg" ContentType="image/svg+xml"/>
  <Override PartName="/ppt/media/image234.svg" ContentType="image/svg+xml"/>
  <Override PartName="/ppt/media/image236.svg" ContentType="image/svg+xml"/>
  <Override PartName="/ppt/media/image239.svg" ContentType="image/svg+xml"/>
  <Override PartName="/ppt/media/image242.svg" ContentType="image/svg+xml"/>
  <Override PartName="/ppt/media/image244.svg" ContentType="image/svg+xml"/>
  <Override PartName="/ppt/media/image247.svg" ContentType="image/svg+xml"/>
  <Override PartName="/ppt/media/image26.svg" ContentType="image/svg+xml"/>
  <Override PartName="/ppt/media/image29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44.svg" ContentType="image/svg+xml"/>
  <Override PartName="/ppt/media/image51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3.svg" ContentType="image/svg+xml"/>
  <Override PartName="/ppt/media/image96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3.png"/><Relationship Id="rId13" Type="http://schemas.openxmlformats.org/officeDocument/2006/relationships/image" Target="../media/image22.svg"/><Relationship Id="rId12" Type="http://schemas.openxmlformats.org/officeDocument/2006/relationships/image" Target="../media/image21.png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42.png"/><Relationship Id="rId12" Type="http://schemas.openxmlformats.org/officeDocument/2006/relationships/image" Target="../media/image41.png"/><Relationship Id="rId11" Type="http://schemas.openxmlformats.org/officeDocument/2006/relationships/image" Target="../media/image40.png"/><Relationship Id="rId10" Type="http://schemas.openxmlformats.org/officeDocument/2006/relationships/image" Target="../media/image39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1.sv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.xml"/><Relationship Id="rId8" Type="http://schemas.openxmlformats.org/officeDocument/2006/relationships/image" Target="../media/image56.sv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png"/><Relationship Id="rId7" Type="http://schemas.openxmlformats.org/officeDocument/2006/relationships/image" Target="../media/image60.svg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31" Type="http://schemas.openxmlformats.org/officeDocument/2006/relationships/notesSlide" Target="../notesSlides/notesSlide10.xml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9" Type="http://schemas.openxmlformats.org/officeDocument/2006/relationships/image" Target="../media/image82.png"/><Relationship Id="rId28" Type="http://schemas.openxmlformats.org/officeDocument/2006/relationships/image" Target="../media/image81.png"/><Relationship Id="rId27" Type="http://schemas.openxmlformats.org/officeDocument/2006/relationships/image" Target="../media/image80.png"/><Relationship Id="rId26" Type="http://schemas.openxmlformats.org/officeDocument/2006/relationships/image" Target="../media/image79.png"/><Relationship Id="rId25" Type="http://schemas.openxmlformats.org/officeDocument/2006/relationships/image" Target="../media/image78.png"/><Relationship Id="rId24" Type="http://schemas.openxmlformats.org/officeDocument/2006/relationships/image" Target="../media/image77.png"/><Relationship Id="rId23" Type="http://schemas.openxmlformats.org/officeDocument/2006/relationships/image" Target="../media/image76.png"/><Relationship Id="rId22" Type="http://schemas.openxmlformats.org/officeDocument/2006/relationships/image" Target="../media/image75.png"/><Relationship Id="rId21" Type="http://schemas.openxmlformats.org/officeDocument/2006/relationships/image" Target="../media/image74.png"/><Relationship Id="rId20" Type="http://schemas.openxmlformats.org/officeDocument/2006/relationships/image" Target="../media/image73.png"/><Relationship Id="rId2" Type="http://schemas.openxmlformats.org/officeDocument/2006/relationships/image" Target="../media/image11.png"/><Relationship Id="rId19" Type="http://schemas.openxmlformats.org/officeDocument/2006/relationships/image" Target="../media/image72.png"/><Relationship Id="rId18" Type="http://schemas.openxmlformats.org/officeDocument/2006/relationships/image" Target="../media/image71.png"/><Relationship Id="rId17" Type="http://schemas.openxmlformats.org/officeDocument/2006/relationships/image" Target="../media/image70.png"/><Relationship Id="rId16" Type="http://schemas.openxmlformats.org/officeDocument/2006/relationships/image" Target="../media/image69.png"/><Relationship Id="rId15" Type="http://schemas.openxmlformats.org/officeDocument/2006/relationships/image" Target="../media/image68.png"/><Relationship Id="rId14" Type="http://schemas.openxmlformats.org/officeDocument/2006/relationships/image" Target="../media/image67.svg"/><Relationship Id="rId13" Type="http://schemas.openxmlformats.org/officeDocument/2006/relationships/image" Target="../media/image66.png"/><Relationship Id="rId12" Type="http://schemas.openxmlformats.org/officeDocument/2006/relationships/image" Target="../media/image65.svg"/><Relationship Id="rId11" Type="http://schemas.openxmlformats.org/officeDocument/2006/relationships/image" Target="../media/image64.png"/><Relationship Id="rId10" Type="http://schemas.openxmlformats.org/officeDocument/2006/relationships/image" Target="../media/image63.sv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svg"/><Relationship Id="rId8" Type="http://schemas.openxmlformats.org/officeDocument/2006/relationships/image" Target="../media/image87.png"/><Relationship Id="rId7" Type="http://schemas.openxmlformats.org/officeDocument/2006/relationships/image" Target="../media/image86.svg"/><Relationship Id="rId6" Type="http://schemas.openxmlformats.org/officeDocument/2006/relationships/image" Target="../media/image85.png"/><Relationship Id="rId5" Type="http://schemas.openxmlformats.org/officeDocument/2006/relationships/image" Target="../media/image84.svg"/><Relationship Id="rId4" Type="http://schemas.openxmlformats.org/officeDocument/2006/relationships/image" Target="../media/image8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91.png"/><Relationship Id="rId11" Type="http://schemas.openxmlformats.org/officeDocument/2006/relationships/image" Target="../media/image90.png"/><Relationship Id="rId10" Type="http://schemas.openxmlformats.org/officeDocument/2006/relationships/image" Target="../media/image89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png"/><Relationship Id="rId8" Type="http://schemas.openxmlformats.org/officeDocument/2006/relationships/image" Target="../media/image96.svg"/><Relationship Id="rId7" Type="http://schemas.openxmlformats.org/officeDocument/2006/relationships/image" Target="../media/image95.png"/><Relationship Id="rId6" Type="http://schemas.openxmlformats.org/officeDocument/2006/relationships/image" Target="../media/image94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Relationship Id="rId3" Type="http://schemas.openxmlformats.org/officeDocument/2006/relationships/image" Target="../media/image12.png"/><Relationship Id="rId28" Type="http://schemas.openxmlformats.org/officeDocument/2006/relationships/notesSlide" Target="../notesSlides/notesSlide12.x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112.png"/><Relationship Id="rId25" Type="http://schemas.openxmlformats.org/officeDocument/2006/relationships/image" Target="../media/image111.png"/><Relationship Id="rId24" Type="http://schemas.openxmlformats.org/officeDocument/2006/relationships/image" Target="../media/image110.svg"/><Relationship Id="rId23" Type="http://schemas.openxmlformats.org/officeDocument/2006/relationships/image" Target="../media/image109.png"/><Relationship Id="rId22" Type="http://schemas.openxmlformats.org/officeDocument/2006/relationships/image" Target="../media/image108.png"/><Relationship Id="rId21" Type="http://schemas.openxmlformats.org/officeDocument/2006/relationships/image" Target="../media/image51.svg"/><Relationship Id="rId20" Type="http://schemas.openxmlformats.org/officeDocument/2006/relationships/image" Target="../media/image107.png"/><Relationship Id="rId2" Type="http://schemas.openxmlformats.org/officeDocument/2006/relationships/image" Target="../media/image11.png"/><Relationship Id="rId19" Type="http://schemas.openxmlformats.org/officeDocument/2006/relationships/image" Target="../media/image106.png"/><Relationship Id="rId18" Type="http://schemas.openxmlformats.org/officeDocument/2006/relationships/image" Target="../media/image105.svg"/><Relationship Id="rId17" Type="http://schemas.openxmlformats.org/officeDocument/2006/relationships/image" Target="../media/image104.png"/><Relationship Id="rId16" Type="http://schemas.openxmlformats.org/officeDocument/2006/relationships/image" Target="../media/image103.svg"/><Relationship Id="rId15" Type="http://schemas.openxmlformats.org/officeDocument/2006/relationships/image" Target="../media/image102.png"/><Relationship Id="rId14" Type="http://schemas.openxmlformats.org/officeDocument/2006/relationships/image" Target="../media/image41.png"/><Relationship Id="rId13" Type="http://schemas.openxmlformats.org/officeDocument/2006/relationships/image" Target="../media/image101.png"/><Relationship Id="rId12" Type="http://schemas.openxmlformats.org/officeDocument/2006/relationships/image" Target="../media/image100.png"/><Relationship Id="rId11" Type="http://schemas.openxmlformats.org/officeDocument/2006/relationships/image" Target="../media/image99.svg"/><Relationship Id="rId10" Type="http://schemas.openxmlformats.org/officeDocument/2006/relationships/image" Target="../media/image98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png"/><Relationship Id="rId8" Type="http://schemas.openxmlformats.org/officeDocument/2006/relationships/image" Target="../media/image117.svg"/><Relationship Id="rId7" Type="http://schemas.openxmlformats.org/officeDocument/2006/relationships/image" Target="../media/image116.png"/><Relationship Id="rId6" Type="http://schemas.openxmlformats.org/officeDocument/2006/relationships/image" Target="../media/image115.png"/><Relationship Id="rId5" Type="http://schemas.openxmlformats.org/officeDocument/2006/relationships/image" Target="../media/image114.svg"/><Relationship Id="rId4" Type="http://schemas.openxmlformats.org/officeDocument/2006/relationships/image" Target="../media/image113.png"/><Relationship Id="rId3" Type="http://schemas.openxmlformats.org/officeDocument/2006/relationships/image" Target="../media/image12.png"/><Relationship Id="rId25" Type="http://schemas.openxmlformats.org/officeDocument/2006/relationships/notesSlide" Target="../notesSlides/notesSlide13.xml"/><Relationship Id="rId24" Type="http://schemas.openxmlformats.org/officeDocument/2006/relationships/vmlDrawing" Target="../drawings/vmlDrawing1.v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29.wmf"/><Relationship Id="rId21" Type="http://schemas.openxmlformats.org/officeDocument/2006/relationships/package" Target="../embeddings/Document2.docx"/><Relationship Id="rId20" Type="http://schemas.openxmlformats.org/officeDocument/2006/relationships/image" Target="../media/image128.wmf"/><Relationship Id="rId2" Type="http://schemas.openxmlformats.org/officeDocument/2006/relationships/image" Target="../media/image11.png"/><Relationship Id="rId19" Type="http://schemas.openxmlformats.org/officeDocument/2006/relationships/package" Target="../embeddings/Document1.docx"/><Relationship Id="rId18" Type="http://schemas.openxmlformats.org/officeDocument/2006/relationships/image" Target="../media/image127.png"/><Relationship Id="rId17" Type="http://schemas.openxmlformats.org/officeDocument/2006/relationships/image" Target="../media/image126.png"/><Relationship Id="rId16" Type="http://schemas.openxmlformats.org/officeDocument/2006/relationships/image" Target="../media/image125.png"/><Relationship Id="rId15" Type="http://schemas.openxmlformats.org/officeDocument/2006/relationships/image" Target="../media/image124.png"/><Relationship Id="rId14" Type="http://schemas.openxmlformats.org/officeDocument/2006/relationships/image" Target="../media/image123.svg"/><Relationship Id="rId13" Type="http://schemas.openxmlformats.org/officeDocument/2006/relationships/image" Target="../media/image122.png"/><Relationship Id="rId12" Type="http://schemas.openxmlformats.org/officeDocument/2006/relationships/image" Target="../media/image121.png"/><Relationship Id="rId11" Type="http://schemas.openxmlformats.org/officeDocument/2006/relationships/image" Target="../media/image120.svg"/><Relationship Id="rId10" Type="http://schemas.openxmlformats.org/officeDocument/2006/relationships/image" Target="../media/image119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png"/><Relationship Id="rId8" Type="http://schemas.openxmlformats.org/officeDocument/2006/relationships/image" Target="../media/image134.png"/><Relationship Id="rId7" Type="http://schemas.openxmlformats.org/officeDocument/2006/relationships/image" Target="../media/image133.png"/><Relationship Id="rId6" Type="http://schemas.openxmlformats.org/officeDocument/2006/relationships/image" Target="../media/image132.png"/><Relationship Id="rId5" Type="http://schemas.openxmlformats.org/officeDocument/2006/relationships/image" Target="../media/image131.svg"/><Relationship Id="rId4" Type="http://schemas.openxmlformats.org/officeDocument/2006/relationships/image" Target="../media/image130.png"/><Relationship Id="rId3" Type="http://schemas.openxmlformats.org/officeDocument/2006/relationships/image" Target="../media/image12.png"/><Relationship Id="rId29" Type="http://schemas.openxmlformats.org/officeDocument/2006/relationships/notesSlide" Target="../notesSlides/notesSlide14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153.png"/><Relationship Id="rId26" Type="http://schemas.openxmlformats.org/officeDocument/2006/relationships/image" Target="../media/image152.png"/><Relationship Id="rId25" Type="http://schemas.openxmlformats.org/officeDocument/2006/relationships/image" Target="../media/image151.png"/><Relationship Id="rId24" Type="http://schemas.openxmlformats.org/officeDocument/2006/relationships/image" Target="../media/image150.png"/><Relationship Id="rId23" Type="http://schemas.openxmlformats.org/officeDocument/2006/relationships/image" Target="../media/image149.png"/><Relationship Id="rId22" Type="http://schemas.openxmlformats.org/officeDocument/2006/relationships/image" Target="../media/image148.png"/><Relationship Id="rId21" Type="http://schemas.openxmlformats.org/officeDocument/2006/relationships/image" Target="../media/image147.png"/><Relationship Id="rId20" Type="http://schemas.openxmlformats.org/officeDocument/2006/relationships/image" Target="../media/image146.svg"/><Relationship Id="rId2" Type="http://schemas.openxmlformats.org/officeDocument/2006/relationships/image" Target="../media/image11.png"/><Relationship Id="rId19" Type="http://schemas.openxmlformats.org/officeDocument/2006/relationships/image" Target="../media/image145.png"/><Relationship Id="rId18" Type="http://schemas.openxmlformats.org/officeDocument/2006/relationships/image" Target="../media/image144.svg"/><Relationship Id="rId17" Type="http://schemas.openxmlformats.org/officeDocument/2006/relationships/image" Target="../media/image143.png"/><Relationship Id="rId16" Type="http://schemas.openxmlformats.org/officeDocument/2006/relationships/image" Target="../media/image142.svg"/><Relationship Id="rId15" Type="http://schemas.openxmlformats.org/officeDocument/2006/relationships/image" Target="../media/image141.png"/><Relationship Id="rId14" Type="http://schemas.openxmlformats.org/officeDocument/2006/relationships/image" Target="../media/image140.svg"/><Relationship Id="rId13" Type="http://schemas.openxmlformats.org/officeDocument/2006/relationships/image" Target="../media/image139.png"/><Relationship Id="rId12" Type="http://schemas.openxmlformats.org/officeDocument/2006/relationships/image" Target="../media/image138.svg"/><Relationship Id="rId11" Type="http://schemas.openxmlformats.org/officeDocument/2006/relationships/image" Target="../media/image137.png"/><Relationship Id="rId10" Type="http://schemas.openxmlformats.org/officeDocument/2006/relationships/image" Target="../media/image136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9.png"/><Relationship Id="rId8" Type="http://schemas.openxmlformats.org/officeDocument/2006/relationships/image" Target="../media/image158.svg"/><Relationship Id="rId7" Type="http://schemas.openxmlformats.org/officeDocument/2006/relationships/image" Target="../media/image157.png"/><Relationship Id="rId6" Type="http://schemas.openxmlformats.org/officeDocument/2006/relationships/image" Target="../media/image156.png"/><Relationship Id="rId5" Type="http://schemas.openxmlformats.org/officeDocument/2006/relationships/image" Target="../media/image155.svg"/><Relationship Id="rId4" Type="http://schemas.openxmlformats.org/officeDocument/2006/relationships/image" Target="../media/image154.png"/><Relationship Id="rId33" Type="http://schemas.openxmlformats.org/officeDocument/2006/relationships/notesSlide" Target="../notesSlides/notesSlide15.xml"/><Relationship Id="rId32" Type="http://schemas.openxmlformats.org/officeDocument/2006/relationships/vmlDrawing" Target="../drawings/vmlDrawing2.vml"/><Relationship Id="rId31" Type="http://schemas.openxmlformats.org/officeDocument/2006/relationships/slideLayout" Target="../slideLayouts/slideLayout1.xml"/><Relationship Id="rId30" Type="http://schemas.openxmlformats.org/officeDocument/2006/relationships/image" Target="../media/image179.wmf"/><Relationship Id="rId3" Type="http://schemas.openxmlformats.org/officeDocument/2006/relationships/image" Target="../media/image12.png"/><Relationship Id="rId29" Type="http://schemas.openxmlformats.org/officeDocument/2006/relationships/package" Target="../embeddings/Document3.docx"/><Relationship Id="rId28" Type="http://schemas.openxmlformats.org/officeDocument/2006/relationships/image" Target="../media/image178.png"/><Relationship Id="rId27" Type="http://schemas.openxmlformats.org/officeDocument/2006/relationships/image" Target="../media/image177.png"/><Relationship Id="rId26" Type="http://schemas.openxmlformats.org/officeDocument/2006/relationships/image" Target="../media/image176.png"/><Relationship Id="rId25" Type="http://schemas.openxmlformats.org/officeDocument/2006/relationships/image" Target="../media/image175.png"/><Relationship Id="rId24" Type="http://schemas.openxmlformats.org/officeDocument/2006/relationships/image" Target="../media/image174.svg"/><Relationship Id="rId23" Type="http://schemas.openxmlformats.org/officeDocument/2006/relationships/image" Target="../media/image173.png"/><Relationship Id="rId22" Type="http://schemas.openxmlformats.org/officeDocument/2006/relationships/image" Target="../media/image172.svg"/><Relationship Id="rId21" Type="http://schemas.openxmlformats.org/officeDocument/2006/relationships/image" Target="../media/image171.png"/><Relationship Id="rId20" Type="http://schemas.openxmlformats.org/officeDocument/2006/relationships/image" Target="../media/image170.svg"/><Relationship Id="rId2" Type="http://schemas.openxmlformats.org/officeDocument/2006/relationships/image" Target="../media/image11.png"/><Relationship Id="rId19" Type="http://schemas.openxmlformats.org/officeDocument/2006/relationships/image" Target="../media/image169.png"/><Relationship Id="rId18" Type="http://schemas.openxmlformats.org/officeDocument/2006/relationships/image" Target="../media/image168.png"/><Relationship Id="rId17" Type="http://schemas.openxmlformats.org/officeDocument/2006/relationships/image" Target="../media/image167.svg"/><Relationship Id="rId16" Type="http://schemas.openxmlformats.org/officeDocument/2006/relationships/image" Target="../media/image166.png"/><Relationship Id="rId15" Type="http://schemas.openxmlformats.org/officeDocument/2006/relationships/image" Target="../media/image165.svg"/><Relationship Id="rId14" Type="http://schemas.openxmlformats.org/officeDocument/2006/relationships/image" Target="../media/image164.png"/><Relationship Id="rId13" Type="http://schemas.openxmlformats.org/officeDocument/2006/relationships/image" Target="../media/image163.svg"/><Relationship Id="rId12" Type="http://schemas.openxmlformats.org/officeDocument/2006/relationships/image" Target="../media/image162.png"/><Relationship Id="rId11" Type="http://schemas.openxmlformats.org/officeDocument/2006/relationships/image" Target="../media/image161.svg"/><Relationship Id="rId10" Type="http://schemas.openxmlformats.org/officeDocument/2006/relationships/image" Target="../media/image160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1.svg"/><Relationship Id="rId4" Type="http://schemas.openxmlformats.org/officeDocument/2006/relationships/image" Target="../media/image180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3.svg"/><Relationship Id="rId4" Type="http://schemas.openxmlformats.org/officeDocument/2006/relationships/image" Target="../media/image18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87.svg"/><Relationship Id="rId6" Type="http://schemas.openxmlformats.org/officeDocument/2006/relationships/image" Target="../media/image186.png"/><Relationship Id="rId5" Type="http://schemas.openxmlformats.org/officeDocument/2006/relationships/image" Target="../media/image185.svg"/><Relationship Id="rId4" Type="http://schemas.openxmlformats.org/officeDocument/2006/relationships/image" Target="../media/image18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3.png"/><Relationship Id="rId8" Type="http://schemas.openxmlformats.org/officeDocument/2006/relationships/image" Target="../media/image192.svg"/><Relationship Id="rId7" Type="http://schemas.openxmlformats.org/officeDocument/2006/relationships/image" Target="../media/image191.png"/><Relationship Id="rId6" Type="http://schemas.openxmlformats.org/officeDocument/2006/relationships/image" Target="../media/image190.svg"/><Relationship Id="rId5" Type="http://schemas.openxmlformats.org/officeDocument/2006/relationships/image" Target="../media/image189.png"/><Relationship Id="rId4" Type="http://schemas.openxmlformats.org/officeDocument/2006/relationships/image" Target="../media/image18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19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200.svg"/><Relationship Id="rId15" Type="http://schemas.openxmlformats.org/officeDocument/2006/relationships/image" Target="../media/image199.png"/><Relationship Id="rId14" Type="http://schemas.openxmlformats.org/officeDocument/2006/relationships/image" Target="../media/image198.svg"/><Relationship Id="rId13" Type="http://schemas.openxmlformats.org/officeDocument/2006/relationships/image" Target="../media/image197.png"/><Relationship Id="rId12" Type="http://schemas.openxmlformats.org/officeDocument/2006/relationships/image" Target="../media/image196.png"/><Relationship Id="rId11" Type="http://schemas.openxmlformats.org/officeDocument/2006/relationships/image" Target="../media/image195.svg"/><Relationship Id="rId10" Type="http://schemas.openxmlformats.org/officeDocument/2006/relationships/image" Target="../media/image194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5.png"/><Relationship Id="rId8" Type="http://schemas.openxmlformats.org/officeDocument/2006/relationships/image" Target="../media/image204.png"/><Relationship Id="rId7" Type="http://schemas.openxmlformats.org/officeDocument/2006/relationships/image" Target="../media/image51.svg"/><Relationship Id="rId6" Type="http://schemas.openxmlformats.org/officeDocument/2006/relationships/image" Target="../media/image203.png"/><Relationship Id="rId5" Type="http://schemas.openxmlformats.org/officeDocument/2006/relationships/image" Target="../media/image202.svg"/><Relationship Id="rId4" Type="http://schemas.openxmlformats.org/officeDocument/2006/relationships/image" Target="../media/image201.png"/><Relationship Id="rId3" Type="http://schemas.openxmlformats.org/officeDocument/2006/relationships/image" Target="../media/image12.png"/><Relationship Id="rId24" Type="http://schemas.openxmlformats.org/officeDocument/2006/relationships/notesSlide" Target="../notesSlides/notesSlide20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218.png"/><Relationship Id="rId21" Type="http://schemas.openxmlformats.org/officeDocument/2006/relationships/image" Target="../media/image217.png"/><Relationship Id="rId20" Type="http://schemas.openxmlformats.org/officeDocument/2006/relationships/image" Target="../media/image216.svg"/><Relationship Id="rId2" Type="http://schemas.openxmlformats.org/officeDocument/2006/relationships/image" Target="../media/image11.png"/><Relationship Id="rId19" Type="http://schemas.openxmlformats.org/officeDocument/2006/relationships/image" Target="../media/image215.png"/><Relationship Id="rId18" Type="http://schemas.openxmlformats.org/officeDocument/2006/relationships/image" Target="../media/image214.png"/><Relationship Id="rId17" Type="http://schemas.openxmlformats.org/officeDocument/2006/relationships/image" Target="../media/image213.png"/><Relationship Id="rId16" Type="http://schemas.openxmlformats.org/officeDocument/2006/relationships/image" Target="../media/image212.png"/><Relationship Id="rId15" Type="http://schemas.openxmlformats.org/officeDocument/2006/relationships/image" Target="../media/image211.png"/><Relationship Id="rId14" Type="http://schemas.openxmlformats.org/officeDocument/2006/relationships/image" Target="../media/image210.svg"/><Relationship Id="rId13" Type="http://schemas.openxmlformats.org/officeDocument/2006/relationships/image" Target="../media/image209.png"/><Relationship Id="rId12" Type="http://schemas.openxmlformats.org/officeDocument/2006/relationships/image" Target="../media/image208.png"/><Relationship Id="rId11" Type="http://schemas.openxmlformats.org/officeDocument/2006/relationships/image" Target="../media/image207.svg"/><Relationship Id="rId10" Type="http://schemas.openxmlformats.org/officeDocument/2006/relationships/image" Target="../media/image206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22.png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8.png"/><Relationship Id="rId8" Type="http://schemas.openxmlformats.org/officeDocument/2006/relationships/image" Target="../media/image227.png"/><Relationship Id="rId7" Type="http://schemas.openxmlformats.org/officeDocument/2006/relationships/image" Target="../media/image226.svg"/><Relationship Id="rId6" Type="http://schemas.openxmlformats.org/officeDocument/2006/relationships/image" Target="../media/image225.png"/><Relationship Id="rId5" Type="http://schemas.openxmlformats.org/officeDocument/2006/relationships/image" Target="../media/image224.svg"/><Relationship Id="rId4" Type="http://schemas.openxmlformats.org/officeDocument/2006/relationships/image" Target="../media/image22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9" Type="http://schemas.openxmlformats.org/officeDocument/2006/relationships/notesSlide" Target="../notesSlides/notesSlide22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236.svg"/><Relationship Id="rId16" Type="http://schemas.openxmlformats.org/officeDocument/2006/relationships/image" Target="../media/image235.png"/><Relationship Id="rId15" Type="http://schemas.openxmlformats.org/officeDocument/2006/relationships/image" Target="../media/image234.svg"/><Relationship Id="rId14" Type="http://schemas.openxmlformats.org/officeDocument/2006/relationships/image" Target="../media/image233.png"/><Relationship Id="rId13" Type="http://schemas.openxmlformats.org/officeDocument/2006/relationships/image" Target="../media/image232.png"/><Relationship Id="rId12" Type="http://schemas.openxmlformats.org/officeDocument/2006/relationships/image" Target="../media/image231.png"/><Relationship Id="rId11" Type="http://schemas.openxmlformats.org/officeDocument/2006/relationships/image" Target="../media/image230.png"/><Relationship Id="rId10" Type="http://schemas.openxmlformats.org/officeDocument/2006/relationships/image" Target="../media/image229.png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2.svg"/><Relationship Id="rId8" Type="http://schemas.openxmlformats.org/officeDocument/2006/relationships/image" Target="../media/image241.png"/><Relationship Id="rId7" Type="http://schemas.openxmlformats.org/officeDocument/2006/relationships/image" Target="../media/image240.png"/><Relationship Id="rId6" Type="http://schemas.openxmlformats.org/officeDocument/2006/relationships/image" Target="../media/image239.svg"/><Relationship Id="rId5" Type="http://schemas.openxmlformats.org/officeDocument/2006/relationships/image" Target="../media/image238.png"/><Relationship Id="rId4" Type="http://schemas.openxmlformats.org/officeDocument/2006/relationships/image" Target="../media/image237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23.xml"/><Relationship Id="rId2" Type="http://schemas.openxmlformats.org/officeDocument/2006/relationships/image" Target="../media/image1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50.png"/><Relationship Id="rId17" Type="http://schemas.openxmlformats.org/officeDocument/2006/relationships/image" Target="../media/image249.png"/><Relationship Id="rId16" Type="http://schemas.openxmlformats.org/officeDocument/2006/relationships/image" Target="../media/image110.svg"/><Relationship Id="rId15" Type="http://schemas.openxmlformats.org/officeDocument/2006/relationships/image" Target="../media/image248.png"/><Relationship Id="rId14" Type="http://schemas.openxmlformats.org/officeDocument/2006/relationships/image" Target="../media/image247.svg"/><Relationship Id="rId13" Type="http://schemas.openxmlformats.org/officeDocument/2006/relationships/image" Target="../media/image246.png"/><Relationship Id="rId12" Type="http://schemas.openxmlformats.org/officeDocument/2006/relationships/image" Target="../media/image245.png"/><Relationship Id="rId11" Type="http://schemas.openxmlformats.org/officeDocument/2006/relationships/image" Target="../media/image244.svg"/><Relationship Id="rId10" Type="http://schemas.openxmlformats.org/officeDocument/2006/relationships/image" Target="../media/image243.png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授课教师：杨迎</a:t>
            </a:r>
            <a:endParaRPr lang="en-US" sz="2040" dirty="0"/>
          </a:p>
        </p:txBody>
      </p:sp>
      <p:sp>
        <p:nvSpPr>
          <p:cNvPr id="11" name="Text 1"/>
          <p:cNvSpPr/>
          <p:nvPr/>
        </p:nvSpPr>
        <p:spPr>
          <a:xfrm>
            <a:off x="577068" y="1683313"/>
            <a:ext cx="5490553" cy="18288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dirty="0">
                <a:solidFill>
                  <a:srgbClr val="FFFFFF"/>
                </a:solidFill>
              </a:rPr>
              <a:t>信息安全测评与风险评估</a:t>
            </a:r>
            <a:endParaRPr lang="en-US" sz="600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7.4.2 工控安全配置核查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7064048" y="4727345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工控安全扩展要求——控制设备安全核心指标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064048" y="1677568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案例导入：“一根网线引发的停产事故”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064048" y="3710752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工控安全配置核查——在等保标准中的定位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7064048" y="2694160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学习目标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4282440" cy="4876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8bc73da878459a6960dc74b32616da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386840"/>
            <a:ext cx="4251960" cy="3246120"/>
          </a:xfrm>
          <a:prstGeom prst="rect">
            <a:avLst/>
          </a:prstGeom>
        </p:spPr>
      </p:pic>
      <p:pic>
        <p:nvPicPr>
          <p:cNvPr id="7" name="Image 5" descr="https://test.web.static.jianzeppt.com/ppt-temp-img3/5a3c9f0447e44c26ba38c62013512739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4632960"/>
            <a:ext cx="4251960" cy="161544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4892040"/>
            <a:ext cx="3773424" cy="11172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结论：</a:t>
            </a:r>
            <a:r>
              <a:rPr lang="en-US" sz="18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工控设备的安全配置是“最后一公里”——配置不当，再先进的架构也形同虚设。</a:t>
            </a:r>
            <a:endParaRPr lang="en-US" sz="1800" dirty="0"/>
          </a:p>
        </p:txBody>
      </p:sp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81600" y="1371600"/>
            <a:ext cx="6400800" cy="27584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40680" y="1706880"/>
            <a:ext cx="304800" cy="30480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5867400" y="163068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案例素材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5440680" y="2225040"/>
            <a:ext cx="5891784" cy="7448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某车间PLC因弱口令被误改程序，致</a:t>
            </a: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停机4小时</a:t>
            </a: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，损失</a:t>
            </a: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超200万元</a:t>
            </a: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。调查发现：</a:t>
            </a:r>
            <a:endParaRPr lang="en-US" sz="1800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40680" y="3230880"/>
            <a:ext cx="91440" cy="9144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5654040" y="3139440"/>
            <a:ext cx="31638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PLC使用默认账户密码，从未更改</a:t>
            </a:r>
            <a:endParaRPr lang="en-US" sz="168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40680" y="3444240"/>
            <a:ext cx="91440" cy="9144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5654040" y="3352800"/>
            <a:ext cx="27828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工控网络与办公网络未做隔离</a:t>
            </a:r>
            <a:endParaRPr lang="en-US" sz="168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40680" y="3657600"/>
            <a:ext cx="91440" cy="9144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5654040" y="3566160"/>
            <a:ext cx="3209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操作日志未开启，无法追溯修改者</a:t>
            </a:r>
            <a:endParaRPr lang="en-US" sz="168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40680" y="3870960"/>
            <a:ext cx="91440" cy="9144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5654040" y="3779520"/>
            <a:ext cx="34076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设备管理端口（Telnet）暴露在网内</a:t>
            </a:r>
            <a:endParaRPr lang="en-US" sz="1680" dirty="0"/>
          </a:p>
        </p:txBody>
      </p:sp>
      <p:pic>
        <p:nvPicPr>
          <p:cNvPr id="21" name="Image 12" descr="https://test.web.static.jianzeppt.com/ppt-temp-img3/e25c61956465964d92eeab1f159ae536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1600" y="4312920"/>
            <a:ext cx="6400800" cy="195072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5379720" y="4511040"/>
            <a:ext cx="6013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问题讨论</a:t>
            </a:r>
            <a:endParaRPr lang="en-US" sz="2160" dirty="0"/>
          </a:p>
        </p:txBody>
      </p:sp>
      <p:sp>
        <p:nvSpPr>
          <p:cNvPr id="23" name="Text 8"/>
          <p:cNvSpPr/>
          <p:nvPr/>
        </p:nvSpPr>
        <p:spPr>
          <a:xfrm>
            <a:off x="5379720" y="5044440"/>
            <a:ext cx="3444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Q1:</a:t>
            </a:r>
            <a:endParaRPr lang="en-US" sz="1560" dirty="0"/>
          </a:p>
        </p:txBody>
      </p:sp>
      <p:sp>
        <p:nvSpPr>
          <p:cNvPr id="24" name="Text 9"/>
          <p:cNvSpPr/>
          <p:nvPr/>
        </p:nvSpPr>
        <p:spPr>
          <a:xfrm>
            <a:off x="5775960" y="5044440"/>
            <a:ext cx="33924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这些配置问题违反了等保的哪些要求？</a:t>
            </a:r>
            <a:endParaRPr lang="en-US" sz="1560" dirty="0"/>
          </a:p>
        </p:txBody>
      </p:sp>
      <p:sp>
        <p:nvSpPr>
          <p:cNvPr id="25" name="Text 10"/>
          <p:cNvSpPr/>
          <p:nvPr/>
        </p:nvSpPr>
        <p:spPr>
          <a:xfrm>
            <a:off x="5379720" y="5394960"/>
            <a:ext cx="3444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Q2:</a:t>
            </a:r>
            <a:endParaRPr lang="en-US" sz="1560" dirty="0"/>
          </a:p>
        </p:txBody>
      </p:sp>
      <p:sp>
        <p:nvSpPr>
          <p:cNvPr id="26" name="Text 11"/>
          <p:cNvSpPr/>
          <p:nvPr/>
        </p:nvSpPr>
        <p:spPr>
          <a:xfrm>
            <a:off x="5775960" y="5394960"/>
            <a:ext cx="37886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若配置强口令和访问控制，事故能避免吗？</a:t>
            </a:r>
            <a:endParaRPr lang="en-US" sz="1560" dirty="0"/>
          </a:p>
        </p:txBody>
      </p:sp>
      <p:sp>
        <p:nvSpPr>
          <p:cNvPr id="27" name="Text 12"/>
          <p:cNvSpPr/>
          <p:nvPr/>
        </p:nvSpPr>
        <p:spPr>
          <a:xfrm>
            <a:off x="5379720" y="5760720"/>
            <a:ext cx="3444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Q3:</a:t>
            </a:r>
            <a:endParaRPr lang="en-US" sz="1560" dirty="0"/>
          </a:p>
        </p:txBody>
      </p:sp>
      <p:sp>
        <p:nvSpPr>
          <p:cNvPr id="28" name="Text 13"/>
          <p:cNvSpPr/>
          <p:nvPr/>
        </p:nvSpPr>
        <p:spPr>
          <a:xfrm>
            <a:off x="5775960" y="5760720"/>
            <a:ext cx="29961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工控安全配置核查具体要查什么？</a:t>
            </a:r>
            <a:endParaRPr lang="en-US" sz="1560" dirty="0"/>
          </a:p>
        </p:txBody>
      </p:sp>
      <p:sp>
        <p:nvSpPr>
          <p:cNvPr id="29" name="Text 1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案例导入：“一根网线引发的停产事故”</a:t>
            </a:r>
            <a:endParaRPr lang="en-US" sz="2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通过本课学习，你将能够：</a:t>
            </a:r>
            <a:endParaRPr lang="en-US" sz="2160" dirty="0"/>
          </a:p>
        </p:txBody>
      </p:sp>
      <p:pic>
        <p:nvPicPr>
          <p:cNvPr id="7" name="Image 3" descr="https://test.web.static.jianzeppt.com/ppt-temp-img3/81d50338c3b1afa14975a3139f29de0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26920"/>
            <a:ext cx="10972800" cy="6858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026920"/>
            <a:ext cx="1722120" cy="6858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53440" y="2118360"/>
            <a:ext cx="3901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01</a:t>
            </a:r>
            <a:endParaRPr lang="en-US" sz="2640" dirty="0"/>
          </a:p>
        </p:txBody>
      </p:sp>
      <p:sp>
        <p:nvSpPr>
          <p:cNvPr id="10" name="Text 3"/>
          <p:cNvSpPr/>
          <p:nvPr/>
        </p:nvSpPr>
        <p:spPr>
          <a:xfrm>
            <a:off x="1341120" y="211836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理解</a:t>
            </a:r>
            <a:endParaRPr lang="en-US" sz="2640" dirty="0"/>
          </a:p>
        </p:txBody>
      </p:sp>
      <p:sp>
        <p:nvSpPr>
          <p:cNvPr id="11" name="Text 4"/>
          <p:cNvSpPr/>
          <p:nvPr/>
        </p:nvSpPr>
        <p:spPr>
          <a:xfrm>
            <a:off x="2575560" y="2194560"/>
            <a:ext cx="60441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工控安全扩展要求中“控制设备安全”的测评指标</a:t>
            </a:r>
            <a:endParaRPr lang="en-US" sz="2160" dirty="0"/>
          </a:p>
        </p:txBody>
      </p:sp>
      <p:pic>
        <p:nvPicPr>
          <p:cNvPr id="12" name="Image 5" descr="https://test.web.static.jianzeppt.com/ppt-temp-img3/81d50338c3b1afa14975a3139f29de0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10840"/>
            <a:ext cx="10972800" cy="685800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910840"/>
            <a:ext cx="1722120" cy="68580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53440" y="3002280"/>
            <a:ext cx="5044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02</a:t>
            </a:r>
            <a:endParaRPr lang="en-US" sz="2640" dirty="0"/>
          </a:p>
        </p:txBody>
      </p:sp>
      <p:sp>
        <p:nvSpPr>
          <p:cNvPr id="15" name="Text 6"/>
          <p:cNvSpPr/>
          <p:nvPr/>
        </p:nvSpPr>
        <p:spPr>
          <a:xfrm>
            <a:off x="1341120" y="300228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掌握</a:t>
            </a:r>
            <a:endParaRPr lang="en-US" sz="2640" dirty="0"/>
          </a:p>
        </p:txBody>
      </p:sp>
      <p:sp>
        <p:nvSpPr>
          <p:cNvPr id="16" name="Text 7"/>
          <p:cNvSpPr/>
          <p:nvPr/>
        </p:nvSpPr>
        <p:spPr>
          <a:xfrm>
            <a:off x="2575560" y="3078480"/>
            <a:ext cx="46725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工控设备安全配置核查的六个核心维度</a:t>
            </a:r>
            <a:endParaRPr lang="en-US" sz="2160" dirty="0"/>
          </a:p>
        </p:txBody>
      </p:sp>
      <p:pic>
        <p:nvPicPr>
          <p:cNvPr id="17" name="Image 7" descr="https://test.web.static.jianzeppt.com/ppt-temp-img3/81d50338c3b1afa14975a3139f29de0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94760"/>
            <a:ext cx="10972800" cy="685800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3794760"/>
            <a:ext cx="1722120" cy="6858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853440" y="3886200"/>
            <a:ext cx="4968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03</a:t>
            </a:r>
            <a:endParaRPr lang="en-US" sz="2640" dirty="0"/>
          </a:p>
        </p:txBody>
      </p:sp>
      <p:sp>
        <p:nvSpPr>
          <p:cNvPr id="20" name="Text 9"/>
          <p:cNvSpPr/>
          <p:nvPr/>
        </p:nvSpPr>
        <p:spPr>
          <a:xfrm>
            <a:off x="1341120" y="388620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能够</a:t>
            </a:r>
            <a:endParaRPr lang="en-US" sz="2640" dirty="0"/>
          </a:p>
        </p:txBody>
      </p:sp>
      <p:sp>
        <p:nvSpPr>
          <p:cNvPr id="21" name="Text 10"/>
          <p:cNvSpPr/>
          <p:nvPr/>
        </p:nvSpPr>
        <p:spPr>
          <a:xfrm>
            <a:off x="2575560" y="3962400"/>
            <a:ext cx="52212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使用基本命令对工控设备进行安全配置核查</a:t>
            </a:r>
            <a:endParaRPr lang="en-US" sz="2160" dirty="0"/>
          </a:p>
        </p:txBody>
      </p:sp>
      <p:pic>
        <p:nvPicPr>
          <p:cNvPr id="22" name="Image 9" descr="https://test.web.static.jianzeppt.com/ppt-temp-img3/81d50338c3b1afa14975a3139f29de0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93920"/>
            <a:ext cx="10972800" cy="685800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4693920"/>
            <a:ext cx="1722120" cy="6858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853440" y="4770120"/>
            <a:ext cx="4892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04</a:t>
            </a:r>
            <a:endParaRPr lang="en-US" sz="2640" dirty="0"/>
          </a:p>
        </p:txBody>
      </p:sp>
      <p:sp>
        <p:nvSpPr>
          <p:cNvPr id="25" name="Text 12"/>
          <p:cNvSpPr/>
          <p:nvPr/>
        </p:nvSpPr>
        <p:spPr>
          <a:xfrm>
            <a:off x="1341120" y="477012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能够</a:t>
            </a:r>
            <a:endParaRPr lang="en-US" sz="2640" dirty="0"/>
          </a:p>
        </p:txBody>
      </p:sp>
      <p:sp>
        <p:nvSpPr>
          <p:cNvPr id="26" name="Text 13"/>
          <p:cNvSpPr/>
          <p:nvPr/>
        </p:nvSpPr>
        <p:spPr>
          <a:xfrm>
            <a:off x="2575560" y="4846320"/>
            <a:ext cx="52212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规范填写《工业控制系统安全测评记录表》</a:t>
            </a:r>
            <a:endParaRPr lang="en-US" sz="2160" dirty="0"/>
          </a:p>
        </p:txBody>
      </p:sp>
      <p:pic>
        <p:nvPicPr>
          <p:cNvPr id="27" name="Image 11" descr="https://test.web.static.jianzeppt.com/ppt-temp-img3/81d50338c3b1afa14975a3139f29de0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577840"/>
            <a:ext cx="10972800" cy="685800"/>
          </a:xfrm>
          <a:prstGeom prst="rect">
            <a:avLst/>
          </a:prstGeom>
        </p:spPr>
      </p:pic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5577840"/>
            <a:ext cx="1722120" cy="68580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853440" y="5654040"/>
            <a:ext cx="5120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05</a:t>
            </a:r>
            <a:endParaRPr lang="en-US" sz="2640" dirty="0"/>
          </a:p>
        </p:txBody>
      </p:sp>
      <p:sp>
        <p:nvSpPr>
          <p:cNvPr id="30" name="Text 15"/>
          <p:cNvSpPr/>
          <p:nvPr/>
        </p:nvSpPr>
        <p:spPr>
          <a:xfrm>
            <a:off x="1341120" y="565404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具备</a:t>
            </a:r>
            <a:endParaRPr lang="en-US" sz="2640" dirty="0"/>
          </a:p>
        </p:txBody>
      </p:sp>
      <p:sp>
        <p:nvSpPr>
          <p:cNvPr id="31" name="Text 16"/>
          <p:cNvSpPr/>
          <p:nvPr/>
        </p:nvSpPr>
        <p:spPr>
          <a:xfrm>
            <a:off x="2575560" y="5745480"/>
            <a:ext cx="46725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识别工控设备常见安全配置缺陷的能力</a:t>
            </a:r>
            <a:endParaRPr lang="en-US" sz="21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工控安全配置核查——在等保标准中的定位</a:t>
            </a:r>
            <a:endParaRPr lang="en-US" sz="2760" dirty="0"/>
          </a:p>
        </p:txBody>
      </p:sp>
      <p:pic>
        <p:nvPicPr>
          <p:cNvPr id="6" name="Image 3" descr="https://test.web.static.jianzeppt.com/ppt-temp-img3/2be45921c5489605607c0f9077ae5c4c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97536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1676400"/>
            <a:ext cx="609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112520" y="1630680"/>
            <a:ext cx="7522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22239-2019 8.5.4 安全计算环境 → 控制设备安全</a:t>
            </a:r>
            <a:endParaRPr lang="en-US" sz="2160" dirty="0"/>
          </a:p>
        </p:txBody>
      </p:sp>
      <p:sp>
        <p:nvSpPr>
          <p:cNvPr id="9" name="Text 2"/>
          <p:cNvSpPr/>
          <p:nvPr/>
        </p:nvSpPr>
        <p:spPr>
          <a:xfrm>
            <a:off x="584835" y="2703195"/>
            <a:ext cx="536448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工控安全扩展要求——安全计算环境的五个子类：</a:t>
            </a:r>
            <a:endParaRPr lang="en-US" sz="2400" dirty="0"/>
          </a:p>
        </p:txBody>
      </p:sp>
      <p:pic>
        <p:nvPicPr>
          <p:cNvPr id="10" name="Image 5" descr="https://test.web.static.jianzeppt.com/ppt-temp-img3/201c7ba4bac4a9d43ac0fa5f5823365a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2712720"/>
            <a:ext cx="5669280" cy="85344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035040" y="2773680"/>
            <a:ext cx="517550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本课重点：身份鉴别 + 访问控制 + 安全审计 + 控制设备基础安全</a:t>
            </a:r>
            <a:endParaRPr lang="en-US" sz="192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3870960"/>
            <a:ext cx="10972800" cy="23774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graphicFrame>
        <p:nvGraphicFramePr>
          <p:cNvPr id="13" name="Table 0"/>
          <p:cNvGraphicFramePr>
            <a:graphicFrameLocks noGrp="1"/>
          </p:cNvGraphicFramePr>
          <p:nvPr>
            <p:custDataLst>
              <p:tags r:id="rId10"/>
            </p:custDataLst>
          </p:nvPr>
        </p:nvGraphicFramePr>
        <p:xfrm>
          <a:off x="643255" y="3644900"/>
          <a:ext cx="10935970" cy="2702560"/>
        </p:xfrm>
        <a:graphic>
          <a:graphicData uri="http://schemas.openxmlformats.org/drawingml/2006/table">
            <a:tbl>
              <a:tblPr/>
              <a:tblGrid>
                <a:gridCol w="1017270"/>
                <a:gridCol w="3886835"/>
                <a:gridCol w="6031865"/>
              </a:tblGrid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子类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核心内容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身份鉴别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控制设备的用户身份标识与鉴别机制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控制设备的权限管理与最小权限原则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安全审计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控制设备的操作日志与审计功能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控制设备安全（综合）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补丁更新、接口关闭、专用软件更新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恶意代码防范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控制设备的防病毒与白名单机制</a:t>
                      </a:r>
                      <a:endParaRPr lang="en-US" sz="1680" dirty="0"/>
                    </a:p>
                  </a:txBody>
                  <a:tcPr marL="91203" marR="91203" marT="91203" marB="9120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工控安全扩展要求——控制设备安全核心指标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143000"/>
            <a:ext cx="5602224" cy="3886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555555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 8.5.4.1 控制设备安全（第三级）</a:t>
            </a:r>
            <a:endParaRPr lang="en-US" sz="204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09600" y="1676400"/>
          <a:ext cx="10972800" cy="4572000"/>
        </p:xfrm>
        <a:graphic>
          <a:graphicData uri="http://schemas.openxmlformats.org/drawingml/2006/table">
            <a:tbl>
              <a:tblPr/>
              <a:tblGrid>
                <a:gridCol w="763060"/>
                <a:gridCol w="1297202"/>
                <a:gridCol w="6028172"/>
                <a:gridCol w="2884366"/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检查项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标准要求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测评方法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身份鉴别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控制设备自身应实现身份鉴别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登录设备查看认证配置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控制设备自身应实现访问控制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检查用户权限分配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安全审计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控制设备自身应实现安全审计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检查日志功能是否开启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补丁更新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经过充分测试评估后对控制设备进行补丁更新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检查补丁管理记录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接口管理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关闭或拆除软盘、光盘、USB、串行口、多余网口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现场检查设备接口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专用更新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应使用专用设备和专用软件对控制设备进行更新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检查更新工具和流程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上线检测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控制设备上线前应经过安全性检测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检查上线检测报告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工控设备身份鉴别核查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核查目标： 控制设备是否对登录用户进行身份标识和鉴别</a:t>
            </a:r>
            <a:endParaRPr lang="en-US" sz="216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087880"/>
            <a:ext cx="10972800" cy="914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8" name="Image 4" descr="https://test.web.static.jianzeppt.com/ppt-temp-img3/7da7cc94c2cf85cf77b5ae9649bbb737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2103120"/>
            <a:ext cx="10942320" cy="51816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68680" y="217932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等保要求解读</a:t>
            </a:r>
            <a:endParaRPr lang="en-US" sz="1920" dirty="0"/>
          </a:p>
        </p:txBody>
      </p:sp>
      <p:sp>
        <p:nvSpPr>
          <p:cNvPr id="11" name="Text 3"/>
          <p:cNvSpPr/>
          <p:nvPr/>
        </p:nvSpPr>
        <p:spPr>
          <a:xfrm>
            <a:off x="3107690" y="221869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检查子项</a:t>
            </a:r>
            <a:endParaRPr lang="en-US" sz="1680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721860" y="221869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具体要求</a:t>
            </a:r>
            <a:endParaRPr lang="en-US" sz="1680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336030" y="221869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不合规示例</a:t>
            </a:r>
            <a:endParaRPr lang="en-US" sz="1680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3246120"/>
            <a:ext cx="10972800" cy="3002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5" name="Image 7" descr="https://test.web.static.jianzeppt.com/ppt-temp-img3/a47250624262fdbbe9533c2b588f4dca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970" y="3246755"/>
            <a:ext cx="10942320" cy="54864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868680" y="335280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常用核查命令</a:t>
            </a:r>
            <a:endParaRPr lang="en-US" sz="1920" dirty="0"/>
          </a:p>
        </p:txBody>
      </p:sp>
      <p:sp>
        <p:nvSpPr>
          <p:cNvPr id="17" name="Text 7"/>
          <p:cNvSpPr/>
          <p:nvPr/>
        </p:nvSpPr>
        <p:spPr>
          <a:xfrm>
            <a:off x="9906000" y="3398520"/>
            <a:ext cx="1441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以西门子PLC为例</a:t>
            </a:r>
            <a:endParaRPr lang="en-US" sz="1440" dirty="0"/>
          </a:p>
        </p:txBody>
      </p:sp>
      <p:pic>
        <p:nvPicPr>
          <p:cNvPr id="18" name="Image 8" descr="https://test.web.static.jianzeppt.com/ppt-temp-img3/9c2dfcdd13a6f7364966e2a7c0e145e1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" y="3992880"/>
            <a:ext cx="10576560" cy="51816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90600" y="4084320"/>
            <a:ext cx="435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操作</a:t>
            </a:r>
            <a:endParaRPr lang="en-US" sz="1680" dirty="0"/>
          </a:p>
        </p:txBody>
      </p:sp>
      <p:pic>
        <p:nvPicPr>
          <p:cNvPr id="20" name="Image 9" descr="https://test.web.static.jianzeppt.com/ppt-temp-img3/7c1b22f630443b97e025c8eeb97c1bf1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720" y="4503420"/>
            <a:ext cx="3172816" cy="1524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160520" y="4084320"/>
            <a:ext cx="954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命令/方法</a:t>
            </a:r>
            <a:endParaRPr lang="en-US" sz="1680" dirty="0"/>
          </a:p>
        </p:txBody>
      </p:sp>
      <p:pic>
        <p:nvPicPr>
          <p:cNvPr id="22" name="Image 10" descr="https://test.web.static.jianzeppt.com/ppt-temp-img3/2f8178477821807257ae032bc6284dcf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80536" y="4503420"/>
            <a:ext cx="7403744" cy="1524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990600" y="4602480"/>
            <a:ext cx="2828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查看用户列表</a:t>
            </a:r>
            <a:endParaRPr lang="en-US" sz="1680" dirty="0"/>
          </a:p>
        </p:txBody>
      </p:sp>
      <p:sp>
        <p:nvSpPr>
          <p:cNvPr id="24" name="Text 11"/>
          <p:cNvSpPr/>
          <p:nvPr/>
        </p:nvSpPr>
        <p:spPr>
          <a:xfrm>
            <a:off x="4160520" y="4602480"/>
            <a:ext cx="7050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通过TIA Portal → 项目属性 → 用户与角色</a:t>
            </a:r>
            <a:endParaRPr lang="en-US" sz="1680" dirty="0"/>
          </a:p>
        </p:txBody>
      </p:sp>
      <p:pic>
        <p:nvPicPr>
          <p:cNvPr id="25" name="Image 11" descr="https://test.web.static.jianzeppt.com/ppt-temp-img3/3ca3603174be055473d946554b4a3ab7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720" y="5021580"/>
            <a:ext cx="10576560" cy="1524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990600" y="5120640"/>
            <a:ext cx="2828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检查密码策略</a:t>
            </a:r>
            <a:endParaRPr lang="en-US" sz="1680" dirty="0"/>
          </a:p>
        </p:txBody>
      </p:sp>
      <p:sp>
        <p:nvSpPr>
          <p:cNvPr id="27" name="Text 13"/>
          <p:cNvSpPr/>
          <p:nvPr/>
        </p:nvSpPr>
        <p:spPr>
          <a:xfrm>
            <a:off x="4160520" y="5120640"/>
            <a:ext cx="7050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查看设备组态 → 安全设置</a:t>
            </a:r>
            <a:endParaRPr lang="en-US" sz="1680" dirty="0"/>
          </a:p>
        </p:txBody>
      </p:sp>
      <p:pic>
        <p:nvPicPr>
          <p:cNvPr id="28" name="Image 12" descr="https://test.web.static.jianzeppt.com/ppt-temp-img3/3ca3603174be055473d946554b4a3ab7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720" y="5539740"/>
            <a:ext cx="10576560" cy="1524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990600" y="5638800"/>
            <a:ext cx="2828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检查远程管理方式</a:t>
            </a:r>
            <a:endParaRPr lang="en-US" sz="1680" dirty="0"/>
          </a:p>
        </p:txBody>
      </p:sp>
      <p:sp>
        <p:nvSpPr>
          <p:cNvPr id="30" name="Text 15"/>
          <p:cNvSpPr/>
          <p:nvPr/>
        </p:nvSpPr>
        <p:spPr>
          <a:xfrm>
            <a:off x="4160520" y="5638800"/>
            <a:ext cx="7050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查看设备IP端口：22(SSH)是否开放，23(Telnet)是否关闭</a:t>
            </a:r>
            <a:endParaRPr lang="en-US" sz="1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工控设备访问控制核查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32560"/>
            <a:ext cx="91440" cy="3048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22960" y="1371600"/>
            <a:ext cx="7415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核查目标：控制设备是否实现了基于最小权限原则的访问控制</a:t>
            </a:r>
            <a:endParaRPr lang="en-US" sz="2160" dirty="0"/>
          </a:p>
        </p:txBody>
      </p:sp>
      <p:sp>
        <p:nvSpPr>
          <p:cNvPr id="8" name="Text 2"/>
          <p:cNvSpPr/>
          <p:nvPr/>
        </p:nvSpPr>
        <p:spPr>
          <a:xfrm>
            <a:off x="609600" y="1965960"/>
            <a:ext cx="1098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等保要求解读：</a:t>
            </a:r>
            <a:endParaRPr lang="en-US" sz="1920" dirty="0"/>
          </a:p>
        </p:txBody>
      </p:sp>
      <p:pic>
        <p:nvPicPr>
          <p:cNvPr id="9" name="Image 4" descr="https://test.web.static.jianzeppt.com/ppt-temp-img3/33f9cc9d79b8b8dcc9435bd57c939c6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392680"/>
            <a:ext cx="10972800" cy="1417320"/>
          </a:xfrm>
          <a:prstGeom prst="rect">
            <a:avLst/>
          </a:prstGeom>
        </p:spPr>
      </p:pic>
      <p:pic>
        <p:nvPicPr>
          <p:cNvPr id="10" name="Image 5" descr="https://test.web.static.jianzeppt.com/ppt-temp-img3/b7aab3d16f1514f7cf42850bf79a2e7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407920"/>
            <a:ext cx="10942320" cy="50292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07720" y="2499360"/>
            <a:ext cx="3194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检查子项</a:t>
            </a:r>
            <a:endParaRPr lang="en-US" sz="1680" dirty="0"/>
          </a:p>
        </p:txBody>
      </p:sp>
      <p:sp>
        <p:nvSpPr>
          <p:cNvPr id="12" name="Text 4"/>
          <p:cNvSpPr/>
          <p:nvPr/>
        </p:nvSpPr>
        <p:spPr>
          <a:xfrm>
            <a:off x="3977640" y="2499360"/>
            <a:ext cx="4245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具体要求</a:t>
            </a:r>
            <a:endParaRPr lang="en-US" sz="1680" dirty="0"/>
          </a:p>
        </p:txBody>
      </p:sp>
      <p:sp>
        <p:nvSpPr>
          <p:cNvPr id="13" name="Text 5"/>
          <p:cNvSpPr/>
          <p:nvPr/>
        </p:nvSpPr>
        <p:spPr>
          <a:xfrm>
            <a:off x="8214360" y="2499360"/>
            <a:ext cx="3194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不合规示例</a:t>
            </a:r>
            <a:endParaRPr lang="en-US" sz="1680" dirty="0"/>
          </a:p>
        </p:txBody>
      </p:sp>
      <p:sp>
        <p:nvSpPr>
          <p:cNvPr id="14" name="Text 6"/>
          <p:cNvSpPr/>
          <p:nvPr/>
        </p:nvSpPr>
        <p:spPr>
          <a:xfrm>
            <a:off x="807720" y="2895600"/>
            <a:ext cx="3194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用户角色划分</a:t>
            </a:r>
            <a:endParaRPr lang="en-US" sz="1680" dirty="0"/>
          </a:p>
        </p:txBody>
      </p:sp>
      <p:sp>
        <p:nvSpPr>
          <p:cNvPr id="15" name="Text 7"/>
          <p:cNvSpPr/>
          <p:nvPr/>
        </p:nvSpPr>
        <p:spPr>
          <a:xfrm>
            <a:off x="3977640" y="2895600"/>
            <a:ext cx="4245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应区分管理员、操作员、只读用户等角色</a:t>
            </a:r>
            <a:endParaRPr lang="en-US" sz="1680" dirty="0"/>
          </a:p>
        </p:txBody>
      </p:sp>
      <p:sp>
        <p:nvSpPr>
          <p:cNvPr id="16" name="Text 8"/>
          <p:cNvSpPr/>
          <p:nvPr/>
        </p:nvSpPr>
        <p:spPr>
          <a:xfrm>
            <a:off x="8214360" y="2895600"/>
            <a:ext cx="3194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所有用户拥有相同权限</a:t>
            </a:r>
            <a:endParaRPr lang="en-US" sz="1680" dirty="0"/>
          </a:p>
        </p:txBody>
      </p:sp>
      <p:pic>
        <p:nvPicPr>
          <p:cNvPr id="17" name="Image 6" descr="https://test.web.static.jianzeppt.com/ppt-temp-img3/80630d467a56174d62aaa9b175655187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3210611"/>
            <a:ext cx="10942320" cy="15240"/>
          </a:xfrm>
          <a:prstGeom prst="rect">
            <a:avLst/>
          </a:prstGeom>
        </p:spPr>
      </p:pic>
      <p:pic>
        <p:nvPicPr>
          <p:cNvPr id="18" name="Image 7" descr="https://test.web.static.jianzeppt.com/ppt-temp-img3/be8a2f94acc21ec278aebc8d83cba553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215640"/>
            <a:ext cx="10942320" cy="3048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807720" y="3200400"/>
            <a:ext cx="3194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最小权限原则</a:t>
            </a:r>
            <a:endParaRPr lang="en-US" sz="1680" dirty="0"/>
          </a:p>
        </p:txBody>
      </p:sp>
      <p:sp>
        <p:nvSpPr>
          <p:cNvPr id="20" name="Text 10"/>
          <p:cNvSpPr/>
          <p:nvPr/>
        </p:nvSpPr>
        <p:spPr>
          <a:xfrm>
            <a:off x="3977640" y="3200400"/>
            <a:ext cx="4245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每个用户仅授予完成工作所需的最小权限</a:t>
            </a:r>
            <a:endParaRPr lang="en-US" sz="1680" dirty="0"/>
          </a:p>
        </p:txBody>
      </p:sp>
      <p:sp>
        <p:nvSpPr>
          <p:cNvPr id="21" name="Text 11"/>
          <p:cNvSpPr/>
          <p:nvPr/>
        </p:nvSpPr>
        <p:spPr>
          <a:xfrm>
            <a:off x="8214360" y="3200400"/>
            <a:ext cx="3194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操作员拥有管理员权限</a:t>
            </a:r>
            <a:endParaRPr lang="en-US" sz="1680" dirty="0"/>
          </a:p>
        </p:txBody>
      </p:sp>
      <p:pic>
        <p:nvPicPr>
          <p:cNvPr id="22" name="Image 8" descr="https://test.web.static.jianzeppt.com/ppt-temp-img3/80630d467a56174d62aaa9b175655187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3510229"/>
            <a:ext cx="10942320" cy="1524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807720" y="3493770"/>
            <a:ext cx="10585704" cy="3867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权限分离			        </a:t>
            </a:r>
            <a:r>
              <a:rPr lang="en-US" sz="168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工程投运与在线修改权限应有效隔离	 </a:t>
            </a: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在线运行时允许程序修改</a:t>
            </a:r>
            <a:endParaRPr lang="en-US" sz="1680" dirty="0"/>
          </a:p>
        </p:txBody>
      </p:sp>
      <p:sp>
        <p:nvSpPr>
          <p:cNvPr id="24" name="Text 13"/>
          <p:cNvSpPr/>
          <p:nvPr/>
        </p:nvSpPr>
        <p:spPr>
          <a:xfrm>
            <a:off x="609600" y="4122420"/>
            <a:ext cx="1098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核查要点：</a:t>
            </a:r>
            <a:endParaRPr lang="en-US" sz="1920" dirty="0"/>
          </a:p>
        </p:txBody>
      </p:sp>
      <p:pic>
        <p:nvPicPr>
          <p:cNvPr id="25" name="Image 9" descr="https://test.web.static.jianzeppt.com/ppt-temp-img3/23179d1511e85a1337a34caf60365c33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541520"/>
            <a:ext cx="5394960" cy="762000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4739640"/>
            <a:ext cx="365760" cy="36576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944880" y="478536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440" dirty="0"/>
          </a:p>
        </p:txBody>
      </p:sp>
      <p:sp>
        <p:nvSpPr>
          <p:cNvPr id="28" name="Text 15"/>
          <p:cNvSpPr/>
          <p:nvPr/>
        </p:nvSpPr>
        <p:spPr>
          <a:xfrm>
            <a:off x="1417320" y="4705350"/>
            <a:ext cx="3930015" cy="389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登录设备 →</a:t>
            </a:r>
            <a:r>
              <a:rPr lang="en-US" sz="192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查看用户角色配置</a:t>
            </a:r>
            <a:endParaRPr lang="en-US" sz="1920" dirty="0"/>
          </a:p>
        </p:txBody>
      </p:sp>
      <p:pic>
        <p:nvPicPr>
          <p:cNvPr id="29" name="Image 11" descr="https://test.web.static.jianzeppt.com/ppt-temp-img3/23179d1511e85a1337a34caf60365c33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7440" y="4541520"/>
            <a:ext cx="5394960" cy="762000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46520" y="4739640"/>
            <a:ext cx="365760" cy="36576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6522720" y="478536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440" dirty="0"/>
          </a:p>
        </p:txBody>
      </p:sp>
      <p:sp>
        <p:nvSpPr>
          <p:cNvPr id="32" name="Text 17"/>
          <p:cNvSpPr/>
          <p:nvPr/>
        </p:nvSpPr>
        <p:spPr>
          <a:xfrm>
            <a:off x="6995160" y="4705350"/>
            <a:ext cx="39258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检查管理员账户是否为</a:t>
            </a:r>
            <a:r>
              <a:rPr lang="en-US" sz="192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唯一超级用户</a:t>
            </a:r>
            <a:endParaRPr lang="en-US" sz="1920" dirty="0"/>
          </a:p>
        </p:txBody>
      </p:sp>
      <p:pic>
        <p:nvPicPr>
          <p:cNvPr id="33" name="Image 13" descr="https://test.web.static.jianzeppt.com/ppt-temp-img3/23179d1511e85a1337a34caf60365c33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486400"/>
            <a:ext cx="5394960" cy="762000"/>
          </a:xfrm>
          <a:prstGeom prst="rect">
            <a:avLst/>
          </a:prstGeom>
        </p:spPr>
      </p:pic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5684520"/>
            <a:ext cx="365760" cy="365760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944880" y="573024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440" dirty="0"/>
          </a:p>
        </p:txBody>
      </p:sp>
      <p:sp>
        <p:nvSpPr>
          <p:cNvPr id="36" name="Text 19"/>
          <p:cNvSpPr/>
          <p:nvPr/>
        </p:nvSpPr>
        <p:spPr>
          <a:xfrm>
            <a:off x="1331595" y="5587365"/>
            <a:ext cx="4505960" cy="4425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验证操作员账户是否</a:t>
            </a:r>
            <a:r>
              <a:rPr lang="en-US" sz="192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仅具有运行/监控权限</a:t>
            </a:r>
            <a:endParaRPr lang="en-US" sz="1920" dirty="0"/>
          </a:p>
        </p:txBody>
      </p:sp>
      <p:pic>
        <p:nvPicPr>
          <p:cNvPr id="37" name="Image 15" descr="https://test.web.static.jianzeppt.com/ppt-temp-img3/23179d1511e85a1337a34caf60365c33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7440" y="5486400"/>
            <a:ext cx="5394960" cy="762000"/>
          </a:xfrm>
          <a:prstGeom prst="rect">
            <a:avLst/>
          </a:prstGeom>
        </p:spPr>
      </p:pic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46520" y="5684520"/>
            <a:ext cx="365760" cy="365760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6522720" y="573024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440" dirty="0"/>
          </a:p>
        </p:txBody>
      </p:sp>
      <p:sp>
        <p:nvSpPr>
          <p:cNvPr id="40" name="Text 21"/>
          <p:cNvSpPr/>
          <p:nvPr/>
        </p:nvSpPr>
        <p:spPr>
          <a:xfrm>
            <a:off x="6995160" y="5615940"/>
            <a:ext cx="368198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确认是否存在</a:t>
            </a:r>
            <a:r>
              <a:rPr lang="en-US" sz="192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匿名访问</a:t>
            </a: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或默认账户</a:t>
            </a:r>
            <a:endParaRPr lang="en-US" sz="1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工控设备安全审计核查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2438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868680" y="167640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等保要求解读</a:t>
            </a:r>
            <a:endParaRPr lang="en-US" sz="2400" dirty="0"/>
          </a:p>
        </p:txBody>
      </p:sp>
      <p:pic>
        <p:nvPicPr>
          <p:cNvPr id="8" name="Image 4" descr="https://test.web.static.jianzeppt.com/ppt-temp-img3/d66b7f9003813104e7c5af7e7968fd2f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630680"/>
            <a:ext cx="5242560" cy="5486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324600" y="176784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核查目标：</a:t>
            </a:r>
            <a:endParaRPr lang="en-US" sz="1680" dirty="0"/>
          </a:p>
        </p:txBody>
      </p:sp>
      <p:sp>
        <p:nvSpPr>
          <p:cNvPr id="10" name="Text 3"/>
          <p:cNvSpPr/>
          <p:nvPr/>
        </p:nvSpPr>
        <p:spPr>
          <a:xfrm>
            <a:off x="7452360" y="1767840"/>
            <a:ext cx="36362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控制设备是否具有日志记录和审计功能</a:t>
            </a:r>
            <a:endParaRPr lang="en-US" sz="168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4114800"/>
            <a:ext cx="10972800" cy="2133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2" name="Text 4"/>
          <p:cNvSpPr/>
          <p:nvPr/>
        </p:nvSpPr>
        <p:spPr>
          <a:xfrm>
            <a:off x="868680" y="4373880"/>
            <a:ext cx="104637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核查命令参考（通用）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1356360" y="2362200"/>
          <a:ext cx="9251950" cy="1836420"/>
        </p:xfrm>
        <a:graphic>
          <a:graphicData uri="http://schemas.openxmlformats.org/drawingml/2006/table">
            <a:tbl>
              <a:tblPr/>
              <a:tblGrid>
                <a:gridCol w="1688465"/>
                <a:gridCol w="5133340"/>
                <a:gridCol w="2430145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检查子项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具体要求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不合规示例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审计功能开启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安全审计功能应处于开启状态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日志功能未启用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审计内容覆盖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应覆盖登录、注销、参数修改、程序下载等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仅记录部分操作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审计记录要素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应包含日期、时间、用户、事件类型、结果等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记录信息不完整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审计记录保护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审计记录应受保护，避免删除或篡改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普通用户可删除日志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日志保存期限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应定期备份，保存不少于6个月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日志保存不足6个月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46194" marR="46194" marT="46194" marB="4619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/>
        </p:nvGraphicFramePr>
        <p:xfrm>
          <a:off x="1395730" y="4842510"/>
          <a:ext cx="9157970" cy="1305560"/>
        </p:xfrm>
        <a:graphic>
          <a:graphicData uri="http://schemas.openxmlformats.org/drawingml/2006/table">
            <a:tbl>
              <a:tblPr/>
              <a:tblGrid>
                <a:gridCol w="2673985"/>
                <a:gridCol w="6483985"/>
              </a:tblGrid>
              <a:tr h="1512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操作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56707" marR="56707" marT="56707" marB="5670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方法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56707" marR="56707" marT="56707" marB="5670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12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检查审计功能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707" marR="56707" marT="56707" marB="5670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查看设备系统设置审计/日志配置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707" marR="56707" marT="56707" marB="5670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12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查看日志记录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707" marR="56707" marT="56707" marB="5670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导出日志文件，检查完整性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707" marR="56707" marT="56707" marB="5670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12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验证日志保护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707" marR="56707" marT="56707" marB="5670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尝试以普通用户身份删除日志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707" marR="56707" marT="56707" marB="5670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工控设备安全配置核查——实操六步法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工控设备配置核查的标准操作流程：</a:t>
            </a:r>
            <a:endParaRPr lang="en-US" sz="216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80320" y="3962400"/>
            <a:ext cx="30480" cy="24384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19360" y="4191000"/>
            <a:ext cx="152400" cy="121920"/>
          </a:xfrm>
          <a:prstGeom prst="rect">
            <a:avLst/>
          </a:prstGeom>
        </p:spPr>
      </p:pic>
      <p:pic>
        <p:nvPicPr>
          <p:cNvPr id="9" name="Image 5" descr="https://test.web.static.jianzeppt.com/ppt-temp-img3/bd197f59291b32065b420ef7def08a89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2400" y="2788920"/>
            <a:ext cx="396240" cy="396240"/>
          </a:xfrm>
          <a:prstGeom prst="rect">
            <a:avLst/>
          </a:prstGeom>
        </p:spPr>
      </p:pic>
      <p:pic>
        <p:nvPicPr>
          <p:cNvPr id="10" name="Image 6" descr="https://test.web.static.jianzeppt.com/ppt-temp-img3/bd197f59291b32065b420ef7def08a89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8600" y="2788920"/>
            <a:ext cx="396240" cy="39624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1996440"/>
            <a:ext cx="3200400" cy="19812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2480" y="2270760"/>
            <a:ext cx="365760" cy="36576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853440" y="228600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680" dirty="0"/>
          </a:p>
        </p:txBody>
      </p:sp>
      <p:sp>
        <p:nvSpPr>
          <p:cNvPr id="14" name="Text 3"/>
          <p:cNvSpPr/>
          <p:nvPr/>
        </p:nvSpPr>
        <p:spPr>
          <a:xfrm>
            <a:off x="1280160" y="224028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准备</a:t>
            </a:r>
            <a:endParaRPr lang="en-US" sz="2160" dirty="0"/>
          </a:p>
        </p:txBody>
      </p:sp>
      <p:sp>
        <p:nvSpPr>
          <p:cNvPr id="15" name="Text 4"/>
          <p:cNvSpPr/>
          <p:nvPr/>
        </p:nvSpPr>
        <p:spPr>
          <a:xfrm>
            <a:off x="792480" y="2680653"/>
            <a:ext cx="284378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获取设备清单、网络拓扑、管理权限</a:t>
            </a:r>
            <a:endParaRPr lang="en-US" sz="192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2480" y="3291840"/>
            <a:ext cx="2834640" cy="50292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883920" y="3383280"/>
            <a:ext cx="512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要点:</a:t>
            </a:r>
            <a:endParaRPr lang="en-US" sz="1680" dirty="0"/>
          </a:p>
        </p:txBody>
      </p:sp>
      <p:sp>
        <p:nvSpPr>
          <p:cNvPr id="18" name="Text 6"/>
          <p:cNvSpPr/>
          <p:nvPr/>
        </p:nvSpPr>
        <p:spPr>
          <a:xfrm>
            <a:off x="1447800" y="3383280"/>
            <a:ext cx="15026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确保已获得授权</a:t>
            </a:r>
            <a:endParaRPr lang="en-US" sz="168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95800" y="1996440"/>
            <a:ext cx="3200400" cy="19812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78680" y="2270760"/>
            <a:ext cx="365760" cy="36576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4739640" y="228600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680" dirty="0"/>
          </a:p>
        </p:txBody>
      </p:sp>
      <p:sp>
        <p:nvSpPr>
          <p:cNvPr id="22" name="Text 8"/>
          <p:cNvSpPr/>
          <p:nvPr/>
        </p:nvSpPr>
        <p:spPr>
          <a:xfrm>
            <a:off x="5166360" y="224028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信息收集</a:t>
            </a:r>
            <a:endParaRPr lang="en-US" sz="2160" dirty="0"/>
          </a:p>
        </p:txBody>
      </p:sp>
      <p:sp>
        <p:nvSpPr>
          <p:cNvPr id="23" name="Text 9"/>
          <p:cNvSpPr/>
          <p:nvPr/>
        </p:nvSpPr>
        <p:spPr>
          <a:xfrm>
            <a:off x="4678680" y="2663508"/>
            <a:ext cx="284378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记录设备型号、固件版本、开放端口</a:t>
            </a:r>
            <a:endParaRPr lang="en-US" sz="192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78680" y="3291840"/>
            <a:ext cx="2834640" cy="50292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4770120" y="3383280"/>
            <a:ext cx="512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要点:</a:t>
            </a:r>
            <a:endParaRPr lang="en-US" sz="1680" dirty="0"/>
          </a:p>
        </p:txBody>
      </p:sp>
      <p:sp>
        <p:nvSpPr>
          <p:cNvPr id="26" name="Text 11"/>
          <p:cNvSpPr/>
          <p:nvPr/>
        </p:nvSpPr>
        <p:spPr>
          <a:xfrm>
            <a:off x="5334000" y="3383280"/>
            <a:ext cx="19903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sh version/interface</a:t>
            </a:r>
            <a:endParaRPr lang="en-US" sz="168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0" y="1996440"/>
            <a:ext cx="3200400" cy="19812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64880" y="2270760"/>
            <a:ext cx="365760" cy="36576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8625840" y="228600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680" dirty="0"/>
          </a:p>
        </p:txBody>
      </p:sp>
      <p:sp>
        <p:nvSpPr>
          <p:cNvPr id="30" name="Text 13"/>
          <p:cNvSpPr/>
          <p:nvPr/>
        </p:nvSpPr>
        <p:spPr>
          <a:xfrm>
            <a:off x="9052560" y="224028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身份鉴别核查</a:t>
            </a:r>
            <a:endParaRPr lang="en-US" sz="2160" dirty="0"/>
          </a:p>
        </p:txBody>
      </p:sp>
      <p:sp>
        <p:nvSpPr>
          <p:cNvPr id="31" name="Text 14"/>
          <p:cNvSpPr/>
          <p:nvPr/>
        </p:nvSpPr>
        <p:spPr>
          <a:xfrm>
            <a:off x="8564880" y="2663508"/>
            <a:ext cx="284378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检查用户账户、密码策略、认证方式</a:t>
            </a:r>
            <a:endParaRPr lang="en-US" sz="1920" dirty="0"/>
          </a:p>
        </p:txBody>
      </p:sp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64880" y="3291840"/>
            <a:ext cx="2834640" cy="502920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8656320" y="3383280"/>
            <a:ext cx="512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要点:</a:t>
            </a:r>
            <a:endParaRPr lang="en-US" sz="1680" dirty="0"/>
          </a:p>
        </p:txBody>
      </p:sp>
      <p:sp>
        <p:nvSpPr>
          <p:cNvPr id="34" name="Text 16"/>
          <p:cNvSpPr/>
          <p:nvPr/>
        </p:nvSpPr>
        <p:spPr>
          <a:xfrm>
            <a:off x="9220200" y="3383280"/>
            <a:ext cx="18074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重点查默认/弱口令</a:t>
            </a:r>
            <a:endParaRPr lang="en-US" sz="1680" dirty="0"/>
          </a:p>
        </p:txBody>
      </p:sp>
      <p:pic>
        <p:nvPicPr>
          <p:cNvPr id="35" name="Image 16" descr="https://test.web.static.jianzeppt.com/ppt-temp-img3/bd197f59291b32065b420ef7def08a89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2400" y="5090160"/>
            <a:ext cx="396240" cy="396240"/>
          </a:xfrm>
          <a:prstGeom prst="rect">
            <a:avLst/>
          </a:prstGeom>
        </p:spPr>
      </p:pic>
      <p:pic>
        <p:nvPicPr>
          <p:cNvPr id="36" name="Image 17" descr="https://test.web.static.jianzeppt.com/ppt-temp-img3/bd197f59291b32065b420ef7def08a89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8600" y="5090160"/>
            <a:ext cx="396240" cy="396240"/>
          </a:xfrm>
          <a:prstGeom prst="rect">
            <a:avLst/>
          </a:prstGeom>
        </p:spPr>
      </p:pic>
      <p:pic>
        <p:nvPicPr>
          <p:cNvPr id="37" name="Image 18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4297680"/>
            <a:ext cx="3200400" cy="19812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8" name="Image 19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2480" y="4556760"/>
            <a:ext cx="365760" cy="365760"/>
          </a:xfrm>
          <a:prstGeom prst="rect">
            <a:avLst/>
          </a:prstGeom>
        </p:spPr>
      </p:pic>
      <p:sp>
        <p:nvSpPr>
          <p:cNvPr id="39" name="Text 17"/>
          <p:cNvSpPr/>
          <p:nvPr/>
        </p:nvSpPr>
        <p:spPr>
          <a:xfrm>
            <a:off x="853440" y="458724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680" dirty="0"/>
          </a:p>
        </p:txBody>
      </p:sp>
      <p:sp>
        <p:nvSpPr>
          <p:cNvPr id="40" name="Text 18"/>
          <p:cNvSpPr/>
          <p:nvPr/>
        </p:nvSpPr>
        <p:spPr>
          <a:xfrm>
            <a:off x="1280160" y="454152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访问控制核查</a:t>
            </a:r>
            <a:endParaRPr lang="en-US" sz="2160" dirty="0"/>
          </a:p>
        </p:txBody>
      </p:sp>
      <p:sp>
        <p:nvSpPr>
          <p:cNvPr id="41" name="Text 19"/>
          <p:cNvSpPr/>
          <p:nvPr/>
        </p:nvSpPr>
        <p:spPr>
          <a:xfrm>
            <a:off x="792480" y="5074920"/>
            <a:ext cx="2843784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检查用户角色、权限分配</a:t>
            </a:r>
            <a:endParaRPr lang="en-US" sz="1920" dirty="0"/>
          </a:p>
        </p:txBody>
      </p:sp>
      <p:pic>
        <p:nvPicPr>
          <p:cNvPr id="42" name="Image 20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2480" y="5593080"/>
            <a:ext cx="2834640" cy="502920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883920" y="5684520"/>
            <a:ext cx="512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要点:</a:t>
            </a:r>
            <a:endParaRPr lang="en-US" sz="1680" dirty="0"/>
          </a:p>
        </p:txBody>
      </p:sp>
      <p:sp>
        <p:nvSpPr>
          <p:cNvPr id="44" name="Text 21"/>
          <p:cNvSpPr/>
          <p:nvPr/>
        </p:nvSpPr>
        <p:spPr>
          <a:xfrm>
            <a:off x="1447800" y="5684520"/>
            <a:ext cx="1716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验证最小权限原则</a:t>
            </a:r>
            <a:endParaRPr lang="en-US" sz="1680" dirty="0"/>
          </a:p>
        </p:txBody>
      </p:sp>
      <p:pic>
        <p:nvPicPr>
          <p:cNvPr id="45" name="Image 21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95800" y="4297680"/>
            <a:ext cx="3200400" cy="19812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46" name="Image 22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78680" y="4556760"/>
            <a:ext cx="365760" cy="365760"/>
          </a:xfrm>
          <a:prstGeom prst="rect">
            <a:avLst/>
          </a:prstGeom>
        </p:spPr>
      </p:pic>
      <p:sp>
        <p:nvSpPr>
          <p:cNvPr id="47" name="Text 22"/>
          <p:cNvSpPr/>
          <p:nvPr/>
        </p:nvSpPr>
        <p:spPr>
          <a:xfrm>
            <a:off x="4739640" y="458724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05</a:t>
            </a:r>
            <a:endParaRPr lang="en-US" sz="1680" dirty="0"/>
          </a:p>
        </p:txBody>
      </p:sp>
      <p:sp>
        <p:nvSpPr>
          <p:cNvPr id="48" name="Text 23"/>
          <p:cNvSpPr/>
          <p:nvPr/>
        </p:nvSpPr>
        <p:spPr>
          <a:xfrm>
            <a:off x="5166360" y="45415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审计核查</a:t>
            </a:r>
            <a:endParaRPr lang="en-US" sz="2160" dirty="0"/>
          </a:p>
        </p:txBody>
      </p:sp>
      <p:sp>
        <p:nvSpPr>
          <p:cNvPr id="49" name="Text 24"/>
          <p:cNvSpPr/>
          <p:nvPr/>
        </p:nvSpPr>
        <p:spPr>
          <a:xfrm>
            <a:off x="4678680" y="5074920"/>
            <a:ext cx="2843784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检查日志功能、审计策略</a:t>
            </a:r>
            <a:endParaRPr lang="en-US" sz="1920" dirty="0"/>
          </a:p>
        </p:txBody>
      </p:sp>
      <p:pic>
        <p:nvPicPr>
          <p:cNvPr id="50" name="Image 23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78680" y="5593080"/>
            <a:ext cx="2834640" cy="502920"/>
          </a:xfrm>
          <a:prstGeom prst="rect">
            <a:avLst/>
          </a:prstGeom>
        </p:spPr>
      </p:pic>
      <p:sp>
        <p:nvSpPr>
          <p:cNvPr id="51" name="Text 25"/>
          <p:cNvSpPr/>
          <p:nvPr/>
        </p:nvSpPr>
        <p:spPr>
          <a:xfrm>
            <a:off x="4770120" y="5684520"/>
            <a:ext cx="512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要点:</a:t>
            </a:r>
            <a:endParaRPr lang="en-US" sz="1680" dirty="0"/>
          </a:p>
        </p:txBody>
      </p:sp>
      <p:sp>
        <p:nvSpPr>
          <p:cNvPr id="52" name="Text 26"/>
          <p:cNvSpPr/>
          <p:nvPr/>
        </p:nvSpPr>
        <p:spPr>
          <a:xfrm>
            <a:off x="5334000" y="5684520"/>
            <a:ext cx="1716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确认审计覆盖范围</a:t>
            </a:r>
            <a:endParaRPr lang="en-US" sz="1680" dirty="0"/>
          </a:p>
        </p:txBody>
      </p:sp>
      <p:pic>
        <p:nvPicPr>
          <p:cNvPr id="53" name="Image 24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0" y="4297680"/>
            <a:ext cx="3200400" cy="19812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4" name="Image 25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64880" y="4556760"/>
            <a:ext cx="365760" cy="365760"/>
          </a:xfrm>
          <a:prstGeom prst="rect">
            <a:avLst/>
          </a:prstGeom>
        </p:spPr>
      </p:pic>
      <p:sp>
        <p:nvSpPr>
          <p:cNvPr id="55" name="Text 27"/>
          <p:cNvSpPr/>
          <p:nvPr/>
        </p:nvSpPr>
        <p:spPr>
          <a:xfrm>
            <a:off x="8625840" y="458724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06</a:t>
            </a:r>
            <a:endParaRPr lang="en-US" sz="1680" dirty="0"/>
          </a:p>
        </p:txBody>
      </p:sp>
      <p:sp>
        <p:nvSpPr>
          <p:cNvPr id="56" name="Text 28"/>
          <p:cNvSpPr/>
          <p:nvPr/>
        </p:nvSpPr>
        <p:spPr>
          <a:xfrm>
            <a:off x="9052560" y="45415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综合评估</a:t>
            </a:r>
            <a:endParaRPr lang="en-US" sz="2160" dirty="0"/>
          </a:p>
        </p:txBody>
      </p:sp>
      <p:sp>
        <p:nvSpPr>
          <p:cNvPr id="57" name="Text 29"/>
          <p:cNvSpPr/>
          <p:nvPr/>
        </p:nvSpPr>
        <p:spPr>
          <a:xfrm>
            <a:off x="8564880" y="5074920"/>
            <a:ext cx="2843784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汇总问题、填写记录表</a:t>
            </a:r>
            <a:endParaRPr lang="en-US" sz="1920" dirty="0"/>
          </a:p>
        </p:txBody>
      </p:sp>
      <p:pic>
        <p:nvPicPr>
          <p:cNvPr id="58" name="Image 26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64880" y="5593080"/>
            <a:ext cx="2834640" cy="502920"/>
          </a:xfrm>
          <a:prstGeom prst="rect">
            <a:avLst/>
          </a:prstGeom>
        </p:spPr>
      </p:pic>
      <p:sp>
        <p:nvSpPr>
          <p:cNvPr id="59" name="Text 30"/>
          <p:cNvSpPr/>
          <p:nvPr/>
        </p:nvSpPr>
        <p:spPr>
          <a:xfrm>
            <a:off x="8656320" y="5684520"/>
            <a:ext cx="512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要点:</a:t>
            </a:r>
            <a:endParaRPr lang="en-US" sz="1680" dirty="0"/>
          </a:p>
        </p:txBody>
      </p:sp>
      <p:sp>
        <p:nvSpPr>
          <p:cNvPr id="60" name="Text 31"/>
          <p:cNvSpPr/>
          <p:nvPr/>
        </p:nvSpPr>
        <p:spPr>
          <a:xfrm>
            <a:off x="9220200" y="568452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形成整改建议</a:t>
            </a:r>
            <a:endParaRPr lang="en-US" sz="1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控制设备基础安全——补丁与接口管理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47800"/>
            <a:ext cx="60960" cy="3048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371600"/>
            <a:ext cx="8010144" cy="434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核查目标： 控制设备是否及时更新补丁、关闭不必要的接口</a:t>
            </a:r>
            <a:endParaRPr lang="en-US" sz="228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2331720"/>
            <a:ext cx="121920" cy="12192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53440" y="2133600"/>
            <a:ext cx="30419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（一）补丁更新核查</a:t>
            </a:r>
            <a:endParaRPr lang="en-US" sz="264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2819400"/>
            <a:ext cx="10972800" cy="1173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1" name="Image 6" descr="https://test.web.static.jianzeppt.com/ppt-temp-img3/ee91a01bcd4efd40550507b5c267ec9b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2834640"/>
            <a:ext cx="10942320" cy="6096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868680" y="29413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检查子项</a:t>
            </a:r>
            <a:endParaRPr lang="en-US" sz="2160" dirty="0"/>
          </a:p>
        </p:txBody>
      </p:sp>
      <p:pic>
        <p:nvPicPr>
          <p:cNvPr id="13" name="Image 7" descr="https://test.web.static.jianzeppt.com/ppt-temp-img3/3f8d662bf084e34c13547f34a192fcd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5180" y="2834640"/>
            <a:ext cx="15240" cy="6096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3611880" y="29413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具体要求</a:t>
            </a:r>
            <a:endParaRPr lang="en-US" sz="2160" dirty="0"/>
          </a:p>
        </p:txBody>
      </p:sp>
      <p:pic>
        <p:nvPicPr>
          <p:cNvPr id="15" name="Image 8" descr="https://test.web.static.jianzeppt.com/ppt-temp-img3/3f8d662bf084e34c13547f34a192fcd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6340" y="2834640"/>
            <a:ext cx="15240" cy="60960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9083040" y="2849880"/>
            <a:ext cx="2264664" cy="5791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核查方法</a:t>
            </a:r>
            <a:endParaRPr lang="en-US" sz="2160" dirty="0"/>
          </a:p>
        </p:txBody>
      </p:sp>
      <p:sp>
        <p:nvSpPr>
          <p:cNvPr id="17" name="Text 6"/>
          <p:cNvSpPr/>
          <p:nvPr/>
        </p:nvSpPr>
        <p:spPr>
          <a:xfrm>
            <a:off x="868680" y="3459480"/>
            <a:ext cx="2264664" cy="518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补丁更新记录</a:t>
            </a:r>
            <a:endParaRPr lang="en-US" sz="1920" dirty="0"/>
          </a:p>
        </p:txBody>
      </p:sp>
      <p:sp>
        <p:nvSpPr>
          <p:cNvPr id="18" name="Text 7"/>
          <p:cNvSpPr/>
          <p:nvPr/>
        </p:nvSpPr>
        <p:spPr>
          <a:xfrm>
            <a:off x="3611880" y="3459480"/>
            <a:ext cx="4992624" cy="518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是否有补丁更新计划与记录</a:t>
            </a:r>
            <a:endParaRPr lang="en-US" sz="1920" dirty="0"/>
          </a:p>
        </p:txBody>
      </p:sp>
      <p:sp>
        <p:nvSpPr>
          <p:cNvPr id="19" name="Text 8"/>
          <p:cNvSpPr/>
          <p:nvPr/>
        </p:nvSpPr>
        <p:spPr>
          <a:xfrm>
            <a:off x="9083040" y="3459480"/>
            <a:ext cx="2264664" cy="518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查阅补丁管理文档</a:t>
            </a:r>
            <a:endParaRPr lang="en-US" sz="192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4541520"/>
            <a:ext cx="121920" cy="12192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853440" y="4358640"/>
            <a:ext cx="30419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（二）接口管理核查</a:t>
            </a:r>
            <a:endParaRPr lang="en-US" sz="264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5044440"/>
            <a:ext cx="10972800" cy="1173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3" name="Image 11" descr="https://test.web.static.jianzeppt.com/ppt-temp-img3/9f1c78017c240f68e9f2c0d78ad82cd9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5059680"/>
            <a:ext cx="10942320" cy="60960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868680" y="51511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检查子项</a:t>
            </a:r>
            <a:endParaRPr lang="en-US" sz="2160" dirty="0"/>
          </a:p>
        </p:txBody>
      </p:sp>
      <p:pic>
        <p:nvPicPr>
          <p:cNvPr id="25" name="Image 12" descr="https://test.web.static.jianzeppt.com/ppt-temp-img3/3f8d662bf084e34c13547f34a192fcd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5180" y="5052060"/>
            <a:ext cx="15240" cy="60960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3611880" y="51511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具体要求</a:t>
            </a:r>
            <a:endParaRPr lang="en-US" sz="2160" dirty="0"/>
          </a:p>
        </p:txBody>
      </p:sp>
      <p:pic>
        <p:nvPicPr>
          <p:cNvPr id="27" name="Image 13" descr="https://test.web.static.jianzeppt.com/ppt-temp-img3/3f8d662bf084e34c13547f34a192fcd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6340" y="5052060"/>
            <a:ext cx="15240" cy="60960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9083040" y="5074920"/>
            <a:ext cx="2264664" cy="5791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核查方法</a:t>
            </a:r>
            <a:endParaRPr lang="en-US" sz="2160" dirty="0"/>
          </a:p>
        </p:txBody>
      </p:sp>
      <p:sp>
        <p:nvSpPr>
          <p:cNvPr id="29" name="Text 13"/>
          <p:cNvSpPr/>
          <p:nvPr/>
        </p:nvSpPr>
        <p:spPr>
          <a:xfrm>
            <a:off x="868680" y="5684520"/>
            <a:ext cx="2264664" cy="518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物理接口</a:t>
            </a:r>
            <a:endParaRPr lang="en-US" sz="1920" dirty="0"/>
          </a:p>
        </p:txBody>
      </p:sp>
      <p:sp>
        <p:nvSpPr>
          <p:cNvPr id="30" name="Text 14"/>
          <p:cNvSpPr/>
          <p:nvPr/>
        </p:nvSpPr>
        <p:spPr>
          <a:xfrm>
            <a:off x="3611880" y="5684520"/>
            <a:ext cx="4992624" cy="518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软盘驱动、光盘驱动、USB接口应关闭或拆除</a:t>
            </a:r>
            <a:endParaRPr lang="en-US" sz="1920" dirty="0"/>
          </a:p>
        </p:txBody>
      </p:sp>
      <p:sp>
        <p:nvSpPr>
          <p:cNvPr id="31" name="Text 15"/>
          <p:cNvSpPr/>
          <p:nvPr/>
        </p:nvSpPr>
        <p:spPr>
          <a:xfrm>
            <a:off x="9083040" y="5684520"/>
            <a:ext cx="2264664" cy="518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现场检查设备</a:t>
            </a:r>
            <a:endParaRPr lang="en-US" sz="1920" dirty="0"/>
          </a:p>
        </p:txBody>
      </p:sp>
      <p:pic>
        <p:nvPicPr>
          <p:cNvPr id="32" name="Image 14" descr="https://test.web.static.jianzeppt.com/ppt-temp-img3/3ce4d5974c67752cb2c5f730cc5b5f77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" y="6210300"/>
            <a:ext cx="10942320" cy="15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教师演示——工控设备配置核查（15分钟）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3840480" cy="1935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ad39fccad629ab736fc57c35da3537fb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80" y="1691640"/>
            <a:ext cx="274320" cy="27432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158240" y="161544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演示场景</a:t>
            </a:r>
            <a:endParaRPr lang="en-US" sz="2160" dirty="0"/>
          </a:p>
        </p:txBody>
      </p:sp>
      <p:sp>
        <p:nvSpPr>
          <p:cNvPr id="9" name="Text 2"/>
          <p:cNvSpPr/>
          <p:nvPr/>
        </p:nvSpPr>
        <p:spPr>
          <a:xfrm>
            <a:off x="792480" y="2087880"/>
            <a:ext cx="3483864" cy="10236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使用模拟工控设备（或仿真软件），展示配置核查的完整过程。</a:t>
            </a:r>
            <a:endParaRPr lang="en-US" sz="192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3474720"/>
            <a:ext cx="3840480" cy="27736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1" name="Image 6" descr="https://test.web.static.jianzeppt.com/ppt-temp-img3/8de6f9ff30d59877087badbf0936901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489960"/>
            <a:ext cx="3810000" cy="274320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00600" y="1371600"/>
            <a:ext cx="67818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3" name="Image 8" descr="https://test.web.static.jianzeppt.com/ppt-temp-img3/e090763bb455a40eb8233cf37f717ddf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5840" y="1386840"/>
            <a:ext cx="6751320" cy="65532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5059680" y="1508760"/>
            <a:ext cx="1167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kern="0" spc="144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演示步骤</a:t>
            </a:r>
            <a:endParaRPr lang="en-US" sz="2160" dirty="0"/>
          </a:p>
        </p:txBody>
      </p:sp>
      <p:pic>
        <p:nvPicPr>
          <p:cNvPr id="15" name="Image 9" descr="https://test.web.static.jianzeppt.com/ppt-temp-img3/1e652f2ce7ac01338316fdf98739037d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2164080"/>
            <a:ext cx="6507480" cy="53340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5059680" y="2255520"/>
            <a:ext cx="107594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阶段</a:t>
            </a:r>
            <a:endParaRPr lang="en-US" sz="1800" dirty="0"/>
          </a:p>
        </p:txBody>
      </p:sp>
      <p:sp>
        <p:nvSpPr>
          <p:cNvPr id="17" name="Text 5"/>
          <p:cNvSpPr/>
          <p:nvPr/>
        </p:nvSpPr>
        <p:spPr>
          <a:xfrm>
            <a:off x="6370320" y="2255520"/>
            <a:ext cx="20513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操作</a:t>
            </a:r>
            <a:endParaRPr lang="en-US" sz="1800" dirty="0"/>
          </a:p>
        </p:txBody>
      </p:sp>
      <p:sp>
        <p:nvSpPr>
          <p:cNvPr id="18" name="Text 6"/>
          <p:cNvSpPr/>
          <p:nvPr/>
        </p:nvSpPr>
        <p:spPr>
          <a:xfrm>
            <a:off x="8641080" y="2255520"/>
            <a:ext cx="27066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演示要点</a:t>
            </a:r>
            <a:endParaRPr lang="en-US" sz="1800" dirty="0"/>
          </a:p>
        </p:txBody>
      </p:sp>
      <p:pic>
        <p:nvPicPr>
          <p:cNvPr id="19" name="Image 10" descr="https://test.web.static.jianzeppt.com/ppt-temp-img3/9c54a45bee21b32272c5f1dce4d409f9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9894" y="2697480"/>
            <a:ext cx="6505346" cy="1524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5059680" y="2773680"/>
            <a:ext cx="1216025" cy="5162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1. 连接设备</a:t>
            </a:r>
            <a:endParaRPr lang="en-US" sz="1680" dirty="0"/>
          </a:p>
        </p:txBody>
      </p:sp>
      <p:sp>
        <p:nvSpPr>
          <p:cNvPr id="21" name="Text 8"/>
          <p:cNvSpPr/>
          <p:nvPr/>
        </p:nvSpPr>
        <p:spPr>
          <a:xfrm>
            <a:off x="6370320" y="2782253"/>
            <a:ext cx="2051304" cy="5162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通过管理终端连接到工控设备</a:t>
            </a:r>
            <a:endParaRPr lang="en-US" sz="1680" dirty="0"/>
          </a:p>
        </p:txBody>
      </p:sp>
      <p:sp>
        <p:nvSpPr>
          <p:cNvPr id="22" name="Text 9"/>
          <p:cNvSpPr/>
          <p:nvPr/>
        </p:nvSpPr>
        <p:spPr>
          <a:xfrm>
            <a:off x="8641080" y="2773680"/>
            <a:ext cx="2706624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使用SSH/Console连接</a:t>
            </a:r>
            <a:endParaRPr lang="en-US" sz="168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39894" y="3398520"/>
            <a:ext cx="6505346" cy="15240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37760" y="3398520"/>
            <a:ext cx="6507480" cy="70104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5059680" y="3178810"/>
            <a:ext cx="1198245" cy="657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2. 版本检查</a:t>
            </a:r>
            <a:endParaRPr lang="en-US" sz="1680" dirty="0"/>
          </a:p>
        </p:txBody>
      </p:sp>
      <p:sp>
        <p:nvSpPr>
          <p:cNvPr id="26" name="Text 11"/>
          <p:cNvSpPr/>
          <p:nvPr/>
        </p:nvSpPr>
        <p:spPr>
          <a:xfrm>
            <a:off x="6370320" y="3234690"/>
            <a:ext cx="2051304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show version</a:t>
            </a:r>
            <a:endParaRPr lang="en-US" sz="1680" dirty="0"/>
          </a:p>
        </p:txBody>
      </p:sp>
      <p:sp>
        <p:nvSpPr>
          <p:cNvPr id="27" name="Text 12"/>
          <p:cNvSpPr/>
          <p:nvPr/>
        </p:nvSpPr>
        <p:spPr>
          <a:xfrm>
            <a:off x="8641080" y="3291205"/>
            <a:ext cx="2921635" cy="48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记录固件版本，判断是否过时</a:t>
            </a:r>
            <a:endParaRPr lang="en-US" sz="1680" dirty="0"/>
          </a:p>
        </p:txBody>
      </p:sp>
      <p:pic>
        <p:nvPicPr>
          <p:cNvPr id="28" name="Image 13" descr="https://test.web.static.jianzeppt.com/ppt-temp-img3/bd08ebb62224e55479f364674733ce62.png?x-oss-process=image/resize,w_1440,h_800,m_lfit/format,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00600" y="3835400"/>
            <a:ext cx="6781800" cy="2413000"/>
          </a:xfrm>
          <a:prstGeom prst="rect">
            <a:avLst/>
          </a:prstGeom>
        </p:spPr>
      </p:pic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98720" y="3870960"/>
            <a:ext cx="365760" cy="365760"/>
          </a:xfrm>
          <a:prstGeom prst="rect">
            <a:avLst/>
          </a:prstGeom>
        </p:spPr>
      </p:pic>
      <p:pic>
        <p:nvPicPr>
          <p:cNvPr id="30" name="Image 15" descr="https://test.web.static.jianzeppt.com/ppt-temp-img3/1c6c00041a3617fba0763e0e74a3ed1d.png?x-oss-process=image/resize,w_1440,h_800,m_lfit/format,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74920" y="3947160"/>
            <a:ext cx="213360" cy="213360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5486400" y="384048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重点提示</a:t>
            </a:r>
            <a:endParaRPr lang="en-US" sz="2160" dirty="0"/>
          </a:p>
        </p:txBody>
      </p:sp>
      <p:sp>
        <p:nvSpPr>
          <p:cNvPr id="32" name="Text 14"/>
          <p:cNvSpPr/>
          <p:nvPr/>
        </p:nvSpPr>
        <p:spPr>
          <a:xfrm>
            <a:off x="5486400" y="4312920"/>
            <a:ext cx="5678424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工控设备的管理接口（HTTP、Telnet、SNMP）应严格限制访问来源</a:t>
            </a:r>
            <a:endParaRPr lang="en-US" sz="1920" dirty="0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73040" y="4434840"/>
            <a:ext cx="91440" cy="91440"/>
          </a:xfrm>
          <a:prstGeom prst="rect">
            <a:avLst/>
          </a:prstGeom>
        </p:spPr>
      </p:pic>
      <p:sp>
        <p:nvSpPr>
          <p:cNvPr id="34" name="Text 15"/>
          <p:cNvSpPr/>
          <p:nvPr/>
        </p:nvSpPr>
        <p:spPr>
          <a:xfrm>
            <a:off x="5486400" y="5013960"/>
            <a:ext cx="4413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默认账户和默认密码是最常见的安全漏洞</a:t>
            </a:r>
            <a:endParaRPr lang="en-US" sz="1920" dirty="0"/>
          </a:p>
        </p:txBody>
      </p:sp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73040" y="5135880"/>
            <a:ext cx="91440" cy="91440"/>
          </a:xfrm>
          <a:prstGeom prst="rect">
            <a:avLst/>
          </a:prstGeom>
        </p:spPr>
      </p:pic>
      <p:sp>
        <p:nvSpPr>
          <p:cNvPr id="36" name="Text 16"/>
          <p:cNvSpPr/>
          <p:nvPr/>
        </p:nvSpPr>
        <p:spPr>
          <a:xfrm>
            <a:off x="5486400" y="5379720"/>
            <a:ext cx="5876544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如受条件限制控制设备无法实现安全要求，应由上位控制或管理设备实现同等功能</a:t>
            </a:r>
            <a:endParaRPr lang="en-US" sz="1920" dirty="0"/>
          </a:p>
        </p:txBody>
      </p:sp>
      <p:pic>
        <p:nvPicPr>
          <p:cNvPr id="37" name="Image 18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73040" y="5501640"/>
            <a:ext cx="91440" cy="91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实践任务1——工控设备安全配置核查（20分钟）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052195"/>
            <a:ext cx="10655300" cy="541909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7" name="Image 4" descr="https://test.web.static.jianzeppt.com/ppt-temp-img3/e36281170d922f01f0f244a9176eb4db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057910"/>
            <a:ext cx="2407920" cy="61849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280160" y="106680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任务名称</a:t>
            </a:r>
            <a:endParaRPr lang="en-US" sz="2160" dirty="0"/>
          </a:p>
        </p:txBody>
      </p:sp>
      <p:sp>
        <p:nvSpPr>
          <p:cNvPr id="9" name="Text 2"/>
          <p:cNvSpPr/>
          <p:nvPr/>
        </p:nvSpPr>
        <p:spPr>
          <a:xfrm>
            <a:off x="3398520" y="1066800"/>
            <a:ext cx="78272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工控设备安全配置核查实操</a:t>
            </a:r>
            <a:endParaRPr lang="en-US" sz="216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1669085"/>
            <a:ext cx="10942320" cy="15240"/>
          </a:xfrm>
          <a:prstGeom prst="rect">
            <a:avLst/>
          </a:prstGeom>
        </p:spPr>
      </p:pic>
      <p:pic>
        <p:nvPicPr>
          <p:cNvPr id="11" name="Image 6" descr="https://test.web.static.jianzeppt.com/ppt-temp-img3/166a57dd3d1870226acdeff27103afa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1676400"/>
            <a:ext cx="10942320" cy="79248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1676400"/>
            <a:ext cx="2407920" cy="79248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280160" y="185928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任务环境</a:t>
            </a:r>
            <a:endParaRPr lang="en-US" sz="2160" dirty="0"/>
          </a:p>
        </p:txBody>
      </p:sp>
      <p:sp>
        <p:nvSpPr>
          <p:cNvPr id="14" name="Text 4"/>
          <p:cNvSpPr/>
          <p:nvPr/>
        </p:nvSpPr>
        <p:spPr>
          <a:xfrm>
            <a:off x="3398520" y="1859280"/>
            <a:ext cx="78272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模拟工控设备环境（或设备仿真器）</a:t>
            </a:r>
            <a:endParaRPr lang="en-US" sz="216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2461565"/>
            <a:ext cx="10942320" cy="15240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4840" y="2468880"/>
            <a:ext cx="2407920" cy="269748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280160" y="361188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核查清单</a:t>
            </a:r>
            <a:endParaRPr lang="en-US" sz="2160" dirty="0"/>
          </a:p>
        </p:txBody>
      </p:sp>
      <p:sp>
        <p:nvSpPr>
          <p:cNvPr id="18" name="Text 6"/>
          <p:cNvSpPr/>
          <p:nvPr/>
        </p:nvSpPr>
        <p:spPr>
          <a:xfrm>
            <a:off x="3398520" y="2712720"/>
            <a:ext cx="7827264" cy="3900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① 身份鉴别检查（用户列表、密码策略、远程管理方式）</a:t>
            </a:r>
            <a:endParaRPr lang="en-US" sz="1920" dirty="0"/>
          </a:p>
        </p:txBody>
      </p:sp>
      <p:sp>
        <p:nvSpPr>
          <p:cNvPr id="19" name="Text 7"/>
          <p:cNvSpPr/>
          <p:nvPr/>
        </p:nvSpPr>
        <p:spPr>
          <a:xfrm>
            <a:off x="3398520" y="3169920"/>
            <a:ext cx="7827264" cy="3900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② 访问控制检查（用户角色、权限分配）</a:t>
            </a:r>
            <a:endParaRPr lang="en-US" sz="1920" dirty="0"/>
          </a:p>
        </p:txBody>
      </p:sp>
      <p:sp>
        <p:nvSpPr>
          <p:cNvPr id="20" name="Text 8"/>
          <p:cNvSpPr/>
          <p:nvPr/>
        </p:nvSpPr>
        <p:spPr>
          <a:xfrm>
            <a:off x="3398520" y="3611880"/>
            <a:ext cx="7827264" cy="3900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③ 安全审计检查（审计功能、日志记录）</a:t>
            </a:r>
            <a:endParaRPr lang="en-US" sz="1920" dirty="0"/>
          </a:p>
        </p:txBody>
      </p:sp>
      <p:sp>
        <p:nvSpPr>
          <p:cNvPr id="21" name="Text 9"/>
          <p:cNvSpPr/>
          <p:nvPr/>
        </p:nvSpPr>
        <p:spPr>
          <a:xfrm>
            <a:off x="3398520" y="4069080"/>
            <a:ext cx="7827264" cy="3900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④ 接口检查（物理接口、网络端口）</a:t>
            </a:r>
            <a:endParaRPr lang="en-US" sz="1920" dirty="0"/>
          </a:p>
        </p:txBody>
      </p:sp>
      <p:sp>
        <p:nvSpPr>
          <p:cNvPr id="22" name="Text 10"/>
          <p:cNvSpPr/>
          <p:nvPr/>
        </p:nvSpPr>
        <p:spPr>
          <a:xfrm>
            <a:off x="3398520" y="4511040"/>
            <a:ext cx="7827264" cy="3900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⑤ 补丁管理检查（补丁更新记录）</a:t>
            </a:r>
            <a:endParaRPr lang="en-US" sz="192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5158435"/>
            <a:ext cx="10942320" cy="15240"/>
          </a:xfrm>
          <a:prstGeom prst="rect">
            <a:avLst/>
          </a:prstGeom>
        </p:spPr>
      </p:pic>
      <p:pic>
        <p:nvPicPr>
          <p:cNvPr id="24" name="Image 11" descr="https://test.web.static.jianzeppt.com/ppt-temp-img3/166a57dd3d1870226acdeff27103afa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5151120"/>
            <a:ext cx="10942320" cy="792480"/>
          </a:xfrm>
          <a:prstGeom prst="rect">
            <a:avLst/>
          </a:prstGeom>
        </p:spPr>
      </p:pic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5151120"/>
            <a:ext cx="2407920" cy="79248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1280160" y="5297805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任务产出</a:t>
            </a:r>
            <a:endParaRPr lang="en-US" sz="2160" dirty="0"/>
          </a:p>
        </p:txBody>
      </p:sp>
      <p:sp>
        <p:nvSpPr>
          <p:cNvPr id="27" name="Text 12"/>
          <p:cNvSpPr/>
          <p:nvPr/>
        </p:nvSpPr>
        <p:spPr>
          <a:xfrm>
            <a:off x="3398520" y="5334000"/>
            <a:ext cx="78272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完成《工业控制系统安全测评记录表》（见素材1）</a:t>
            </a:r>
            <a:endParaRPr lang="en-US" sz="216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5950915"/>
            <a:ext cx="10942320" cy="15240"/>
          </a:xfrm>
          <a:prstGeom prst="rect">
            <a:avLst/>
          </a:prstGeom>
        </p:spPr>
      </p:pic>
      <p:pic>
        <p:nvPicPr>
          <p:cNvPr id="29" name="Image 14" descr="https://test.web.static.jianzeppt.com/ppt-temp-img3/8626c51549c9b59635a8d14bfda1f9bf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" y="5943600"/>
            <a:ext cx="2407920" cy="52959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1280160" y="5987415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时间安排</a:t>
            </a:r>
            <a:endParaRPr lang="en-US" sz="2160" dirty="0"/>
          </a:p>
        </p:txBody>
      </p:sp>
      <p:sp>
        <p:nvSpPr>
          <p:cNvPr id="31" name="Text 14"/>
          <p:cNvSpPr/>
          <p:nvPr/>
        </p:nvSpPr>
        <p:spPr>
          <a:xfrm>
            <a:off x="3398520" y="5937885"/>
            <a:ext cx="78272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约20分钟</a:t>
            </a:r>
            <a:endParaRPr lang="en-US" sz="2160" dirty="0"/>
          </a:p>
        </p:txBody>
      </p:sp>
      <p:graphicFrame>
        <p:nvGraphicFramePr>
          <p:cNvPr id="32" name="对象 3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95435" y="29337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9" imgW="971550" imgH="666750" progId="Word.Document.12">
                  <p:embed/>
                </p:oleObj>
              </mc:Choice>
              <mc:Fallback>
                <p:oleObj name="" showAsIcon="1" r:id="rId19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195435" y="29337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93350" y="29337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21" imgW="971550" imgH="666750" progId="Word.Document.12">
                  <p:embed/>
                </p:oleObj>
              </mc:Choice>
              <mc:Fallback>
                <p:oleObj name="" showAsIcon="1" r:id="rId21" imgW="971550" imgH="666750" progId="Word.Documen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293350" y="29337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实践任务1——核查要点与常见问题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5296027" y="1371600"/>
            <a:ext cx="160909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常见问题速查表</a:t>
            </a:r>
            <a:endParaRPr lang="en-US" b="1" dirty="0">
              <a:solidFill>
                <a:srgbClr val="0D488C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8240" y="1889760"/>
            <a:ext cx="9875520" cy="435864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8" name="Image 4" descr="https://test.web.static.jianzeppt.com/ppt-temp-img3/c2daa9fe899c58afd06db1d05edb1b9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3480" y="1905000"/>
            <a:ext cx="9845040" cy="111252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539240" y="22707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问题类型</a:t>
            </a:r>
            <a:endParaRPr lang="en-US" sz="1920" dirty="0"/>
          </a:p>
        </p:txBody>
      </p:sp>
      <p:pic>
        <p:nvPicPr>
          <p:cNvPr id="10" name="Image 5" descr="https://test.web.static.jianzeppt.com/ppt-temp-img3/3ec411b08335b47f10eb774ee5368f4d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3480" y="3015386"/>
            <a:ext cx="1968856" cy="1524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3505200" y="22707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常见表现</a:t>
            </a:r>
            <a:endParaRPr lang="en-US" sz="1920" dirty="0"/>
          </a:p>
        </p:txBody>
      </p:sp>
      <p:pic>
        <p:nvPicPr>
          <p:cNvPr id="12" name="Image 6" descr="https://test.web.static.jianzeppt.com/ppt-temp-img3/37ad8d374af4c1817ba0cafc08656d4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2336" y="3015386"/>
            <a:ext cx="3445612" cy="152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6964680" y="2087880"/>
            <a:ext cx="75590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等保判定</a:t>
            </a:r>
            <a:endParaRPr lang="en-US" sz="1920" dirty="0"/>
          </a:p>
        </p:txBody>
      </p:sp>
      <p:pic>
        <p:nvPicPr>
          <p:cNvPr id="14" name="Image 7" descr="https://test.web.static.jianzeppt.com/ppt-temp-img3/36828d69e97851c40589abae6f208c69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947" y="3015386"/>
            <a:ext cx="1476604" cy="1524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8427720" y="22707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整改建议</a:t>
            </a:r>
            <a:endParaRPr lang="en-US" sz="1920" dirty="0"/>
          </a:p>
        </p:txBody>
      </p:sp>
      <p:pic>
        <p:nvPicPr>
          <p:cNvPr id="16" name="Image 8" descr="https://test.web.static.jianzeppt.com/ppt-temp-img3/7d301242f1665dbad6f321e5e50b693a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4551" y="3015386"/>
            <a:ext cx="2953969" cy="1524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1539240" y="3200400"/>
            <a:ext cx="124358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默认账户未修改</a:t>
            </a:r>
            <a:endParaRPr lang="en-US" sz="192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3480" y="4127906"/>
            <a:ext cx="1968856" cy="1524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3505200" y="3200400"/>
            <a:ext cx="229514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使用admin/admin、root/root等</a:t>
            </a:r>
            <a:endParaRPr lang="en-US" sz="192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42336" y="4127906"/>
            <a:ext cx="3445612" cy="15240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83680" y="3017520"/>
            <a:ext cx="1478280" cy="1112520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6914515" y="3300095"/>
            <a:ext cx="779145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DC262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 不符合</a:t>
            </a:r>
            <a:endParaRPr lang="en-US" sz="192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87947" y="4127906"/>
            <a:ext cx="1476604" cy="1524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8427720" y="3200400"/>
            <a:ext cx="221894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删除默认账户或修改口令</a:t>
            </a:r>
            <a:endParaRPr lang="en-US" sz="192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64551" y="4127906"/>
            <a:ext cx="2953969" cy="1524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539240" y="446151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弱口令</a:t>
            </a:r>
            <a:endParaRPr lang="en-US" sz="192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3480" y="5240426"/>
            <a:ext cx="1968856" cy="15240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3505200" y="4312920"/>
            <a:ext cx="272186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密码长度&lt;8、无复杂度要求</a:t>
            </a:r>
            <a:endParaRPr lang="en-US" sz="1920" dirty="0"/>
          </a:p>
        </p:txBody>
      </p:sp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42336" y="5240426"/>
            <a:ext cx="3445612" cy="15240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83680" y="4130040"/>
            <a:ext cx="1478280" cy="1112520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7056120" y="4429443"/>
            <a:ext cx="55778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DC262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 不符合</a:t>
            </a:r>
            <a:endParaRPr lang="en-US" sz="192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87947" y="5240426"/>
            <a:ext cx="1476604" cy="15240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8427720" y="4495800"/>
            <a:ext cx="1731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启用复杂度策略</a:t>
            </a:r>
            <a:endParaRPr lang="en-US" sz="192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64551" y="5240426"/>
            <a:ext cx="2953969" cy="15240"/>
          </a:xfrm>
          <a:prstGeom prst="rect">
            <a:avLst/>
          </a:prstGeom>
        </p:spPr>
      </p:pic>
      <p:pic>
        <p:nvPicPr>
          <p:cNvPr id="35" name="Image 19" descr="https://test.web.static.jianzeppt.com/ppt-temp-img3/af248d5500c0b6afe2fd6b6a5d146a88.png?x-oss-process=image/resize,w_1440,h_800,m_lfit/format,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73480" y="5242560"/>
            <a:ext cx="9845040" cy="1112520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1539240" y="5496560"/>
            <a:ext cx="1349375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使用Telnet管理</a:t>
            </a:r>
            <a:endParaRPr lang="en-US" sz="1920" dirty="0"/>
          </a:p>
        </p:txBody>
      </p:sp>
      <p:sp>
        <p:nvSpPr>
          <p:cNvPr id="37" name="Text 15"/>
          <p:cNvSpPr/>
          <p:nvPr/>
        </p:nvSpPr>
        <p:spPr>
          <a:xfrm>
            <a:off x="3505200" y="5608320"/>
            <a:ext cx="24627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远程管理采用明文传输</a:t>
            </a:r>
            <a:endParaRPr lang="en-US" sz="1920" dirty="0"/>
          </a:p>
        </p:txBody>
      </p:sp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83680" y="5242560"/>
            <a:ext cx="1478280" cy="1008380"/>
          </a:xfrm>
          <a:prstGeom prst="rect">
            <a:avLst/>
          </a:prstGeom>
        </p:spPr>
      </p:pic>
      <p:sp>
        <p:nvSpPr>
          <p:cNvPr id="39" name="Text 16"/>
          <p:cNvSpPr/>
          <p:nvPr/>
        </p:nvSpPr>
        <p:spPr>
          <a:xfrm>
            <a:off x="7056120" y="5473383"/>
            <a:ext cx="55778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DC262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 不符合</a:t>
            </a:r>
            <a:endParaRPr lang="en-US" sz="1920" dirty="0"/>
          </a:p>
        </p:txBody>
      </p:sp>
      <p:sp>
        <p:nvSpPr>
          <p:cNvPr id="40" name="Text 17"/>
          <p:cNvSpPr/>
          <p:nvPr/>
        </p:nvSpPr>
        <p:spPr>
          <a:xfrm>
            <a:off x="8427720" y="5608320"/>
            <a:ext cx="969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改用SSH</a:t>
            </a:r>
            <a:endParaRPr lang="en-US" sz="1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实践任务2——安全配置缺陷分析与整改建议（10分钟）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8240" y="1112520"/>
            <a:ext cx="9875520" cy="5410200"/>
          </a:xfrm>
          <a:prstGeom prst="rect">
            <a:avLst/>
          </a:prstGeom>
          <a:effectLst>
            <a:outerShdw blurRad="-2147483648" dist="1935480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7" name="Image 4" descr="https://test.web.static.jianzeppt.com/ppt-temp-img3/4dc7c644d7af85ee1af954c63d592fab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3480" y="1127760"/>
            <a:ext cx="2468880" cy="100584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722120" y="13716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任务名称</a:t>
            </a:r>
            <a:endParaRPr lang="en-US" sz="264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9500" y="1123950"/>
            <a:ext cx="15240" cy="998220"/>
          </a:xfrm>
          <a:prstGeom prst="rect">
            <a:avLst/>
          </a:prstGeom>
        </p:spPr>
      </p:pic>
      <p:pic>
        <p:nvPicPr>
          <p:cNvPr id="10" name="Image 6" descr="https://test.web.static.jianzeppt.com/ppt-temp-img3/baae724c21567b2bffab6833c0077910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2360" y="1127760"/>
            <a:ext cx="7391400" cy="100584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4008120" y="1417320"/>
            <a:ext cx="4123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工控设备安全缺陷分析与整改建议</a:t>
            </a:r>
            <a:endParaRPr lang="en-US" sz="216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3480" y="2122170"/>
            <a:ext cx="9845040" cy="1524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3480" y="2118360"/>
            <a:ext cx="2468880" cy="140208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722120" y="257556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任务场景</a:t>
            </a:r>
            <a:endParaRPr lang="en-US" sz="264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19500" y="2122170"/>
            <a:ext cx="15240" cy="1394460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42360" y="2118360"/>
            <a:ext cx="7391400" cy="1402080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4008120" y="2392680"/>
            <a:ext cx="6592824" cy="8991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教师提供一份“工控设备配置核查报告”（脱敏），包含发现的安全问题</a:t>
            </a:r>
            <a:endParaRPr lang="en-US" sz="2160" dirty="0"/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3480" y="3516630"/>
            <a:ext cx="9845040" cy="15240"/>
          </a:xfrm>
          <a:prstGeom prst="rect">
            <a:avLst/>
          </a:prstGeom>
        </p:spPr>
      </p:pic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73480" y="3520440"/>
            <a:ext cx="2468880" cy="1981200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1722120" y="425196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任务内容</a:t>
            </a:r>
            <a:endParaRPr lang="en-US" sz="2640" dirty="0"/>
          </a:p>
        </p:txBody>
      </p:sp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619500" y="3516630"/>
            <a:ext cx="15240" cy="1981200"/>
          </a:xfrm>
          <a:prstGeom prst="rect">
            <a:avLst/>
          </a:prstGeom>
        </p:spPr>
      </p:pic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642360" y="3520440"/>
            <a:ext cx="7391400" cy="1981200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4008120" y="3764280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2160" dirty="0"/>
          </a:p>
        </p:txBody>
      </p:sp>
      <p:sp>
        <p:nvSpPr>
          <p:cNvPr id="24" name="Text 7"/>
          <p:cNvSpPr/>
          <p:nvPr/>
        </p:nvSpPr>
        <p:spPr>
          <a:xfrm>
            <a:off x="4404360" y="3764280"/>
            <a:ext cx="30266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分析每个问题的风险等级</a:t>
            </a:r>
            <a:endParaRPr lang="en-US" sz="2160" dirty="0"/>
          </a:p>
        </p:txBody>
      </p:sp>
      <p:sp>
        <p:nvSpPr>
          <p:cNvPr id="25" name="Text 8"/>
          <p:cNvSpPr/>
          <p:nvPr/>
        </p:nvSpPr>
        <p:spPr>
          <a:xfrm>
            <a:off x="4008120" y="4297680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2160" dirty="0"/>
          </a:p>
        </p:txBody>
      </p:sp>
      <p:sp>
        <p:nvSpPr>
          <p:cNvPr id="26" name="Text 9"/>
          <p:cNvSpPr/>
          <p:nvPr/>
        </p:nvSpPr>
        <p:spPr>
          <a:xfrm>
            <a:off x="4404360" y="4297680"/>
            <a:ext cx="30266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判断对应的等保不符合项</a:t>
            </a:r>
            <a:endParaRPr lang="en-US" sz="2160" dirty="0"/>
          </a:p>
        </p:txBody>
      </p:sp>
      <p:sp>
        <p:nvSpPr>
          <p:cNvPr id="27" name="Text 10"/>
          <p:cNvSpPr/>
          <p:nvPr/>
        </p:nvSpPr>
        <p:spPr>
          <a:xfrm>
            <a:off x="4008120" y="4831080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③</a:t>
            </a:r>
            <a:endParaRPr lang="en-US" sz="2160" dirty="0"/>
          </a:p>
        </p:txBody>
      </p:sp>
      <p:sp>
        <p:nvSpPr>
          <p:cNvPr id="28" name="Text 11"/>
          <p:cNvSpPr/>
          <p:nvPr/>
        </p:nvSpPr>
        <p:spPr>
          <a:xfrm>
            <a:off x="4404360" y="4831080"/>
            <a:ext cx="24780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提出具体的整改建议</a:t>
            </a:r>
            <a:endParaRPr lang="en-US" sz="2160" dirty="0"/>
          </a:p>
        </p:txBody>
      </p:sp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3480" y="5497830"/>
            <a:ext cx="9845040" cy="15240"/>
          </a:xfrm>
          <a:prstGeom prst="rect">
            <a:avLst/>
          </a:prstGeom>
        </p:spPr>
      </p:pic>
      <p:pic>
        <p:nvPicPr>
          <p:cNvPr id="30" name="Image 16" descr="https://test.web.static.jianzeppt.com/ppt-temp-img3/4018660a08582b31232d9bc215273b71.png?x-oss-process=image/resize,w_1440,h_800,m_lfit/format,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73480" y="5501640"/>
            <a:ext cx="2468880" cy="1005205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1722120" y="574548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时间安排</a:t>
            </a:r>
            <a:endParaRPr lang="en-US" sz="264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9500" y="5497830"/>
            <a:ext cx="15240" cy="998220"/>
          </a:xfrm>
          <a:prstGeom prst="rect">
            <a:avLst/>
          </a:prstGeom>
        </p:spPr>
      </p:pic>
      <p:pic>
        <p:nvPicPr>
          <p:cNvPr id="33" name="Image 18" descr="https://test.web.static.jianzeppt.com/ppt-temp-img3/fce3063c332e096c31452448bb4e3ea8.png?x-oss-process=image/resize,w_1440,h_800,m_lfit/format,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42360" y="5501640"/>
            <a:ext cx="7391400" cy="1005840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4008120" y="5791200"/>
            <a:ext cx="11369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约10分钟</a:t>
            </a:r>
            <a:endParaRPr lang="en-US" sz="2160" dirty="0"/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930765" y="113665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29" imgW="971550" imgH="666750" progId="Word.Document.12">
                  <p:embed/>
                </p:oleObj>
              </mc:Choice>
              <mc:Fallback>
                <p:oleObj name="" showAsIcon="1" r:id="rId29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930765" y="113665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工控安全配置核查报告与等保标准对应关系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将核查发现与等保条款一一对应，是测评报告编制的核心能力。</a:t>
            </a:r>
            <a:endParaRPr lang="en-US" sz="216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057400"/>
            <a:ext cx="10972800" cy="41910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624840" y="2072640"/>
          <a:ext cx="10942320" cy="4160520"/>
        </p:xfrm>
        <a:graphic>
          <a:graphicData uri="http://schemas.openxmlformats.org/drawingml/2006/table">
            <a:tbl>
              <a:tblPr/>
              <a:tblGrid>
                <a:gridCol w="4379980"/>
                <a:gridCol w="4578377"/>
                <a:gridCol w="1983963"/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核查发现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对应等保条款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结论判定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PLC使用默认口令admin/admin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8.5.4.1a)身份鉴别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所有用户拥有管理员权限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8.5.4.1a)访问控制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未开启审计日志功能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8.5.4.1a)安全审计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补丁超过12个月未更新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8.5.4.1b)补丁更新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部分符合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设备USB接口未禁用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8.5.4.1c)接口管理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上位机实现访问控制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8.5.4.1a)由上上位控制设备实现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工控安全配置核查常用命令速查（适用于西门子PLC）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371600"/>
            <a:ext cx="10668000" cy="4876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77240" y="1386840"/>
          <a:ext cx="10637520" cy="4861563"/>
        </p:xfrm>
        <a:graphic>
          <a:graphicData uri="http://schemas.openxmlformats.org/drawingml/2006/table">
            <a:tbl>
              <a:tblPr/>
              <a:tblGrid>
                <a:gridCol w="2258756"/>
                <a:gridCol w="3693371"/>
                <a:gridCol w="4685393"/>
              </a:tblGrid>
              <a:tr h="694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核查项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命令/操作方法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说明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设备信息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showversion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查看固件版本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网络接口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showinterface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查看端口状态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用户列表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通过TIAPortal查看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检查账户配置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开放端口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端口扫描工具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检查22/23/80等端口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日志配置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设备系统设置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检查审计功能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SNMP配置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showsnmp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检查SNMP版本和社区串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工控安全配置核查报告示例（部分）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2407920" cy="594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853440" y="146304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模拟报告节选：</a:t>
            </a:r>
            <a:endParaRPr lang="en-US" sz="216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2148840"/>
            <a:ext cx="10972800" cy="40995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624840" y="2164080"/>
          <a:ext cx="10942320" cy="4069080"/>
        </p:xfrm>
        <a:graphic>
          <a:graphicData uri="http://schemas.openxmlformats.org/drawingml/2006/table">
            <a:tbl>
              <a:tblPr/>
              <a:tblGrid>
                <a:gridCol w="595189"/>
                <a:gridCol w="1031240"/>
                <a:gridCol w="3486091"/>
                <a:gridCol w="778324"/>
                <a:gridCol w="2243405"/>
                <a:gridCol w="2808071"/>
              </a:tblGrid>
              <a:tr h="8138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检查项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检查结果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合规性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风险描述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整改建议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身份鉴别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PLC使用默认账户admin，密码123456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32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攻击者可轻易获取控制权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立即修改密码，启用复杂度策略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所有用户均具备管理员权限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32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无法实现权限分离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划分管理员/操作员/只读角色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安全审计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未开启审计日志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32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无法追溯操作行为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启用审计功能，配置日志策略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补丁管理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固件版本为3年前版本，无更新记录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32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可能存在已知漏洞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制定补丁更新计划并测试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思政融入——工控安全配置核查的职业责任</a:t>
            </a:r>
            <a:endParaRPr lang="en-US" sz="2760" dirty="0"/>
          </a:p>
        </p:txBody>
      </p:sp>
      <p:pic>
        <p:nvPicPr>
          <p:cNvPr id="6" name="Image 3" descr="https://test.web.static.jianzeppt.com/ppt-temp-img3/8d5fd2119e56eaf36cfc8321a1e58ba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3505200" cy="42672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96440" y="1463040"/>
            <a:ext cx="731520" cy="73152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79320" y="1645920"/>
            <a:ext cx="365760" cy="36576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057400" y="237744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细致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853440" y="2987040"/>
            <a:ext cx="2682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D488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11" name="Text 3"/>
          <p:cNvSpPr/>
          <p:nvPr/>
        </p:nvSpPr>
        <p:spPr>
          <a:xfrm>
            <a:off x="1188720" y="2956560"/>
            <a:ext cx="26913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每个配置项都可能影响生产安全</a:t>
            </a:r>
            <a:endParaRPr lang="en-US" sz="1920" dirty="0"/>
          </a:p>
        </p:txBody>
      </p:sp>
      <p:sp>
        <p:nvSpPr>
          <p:cNvPr id="12" name="Text 4"/>
          <p:cNvSpPr/>
          <p:nvPr/>
        </p:nvSpPr>
        <p:spPr>
          <a:xfrm>
            <a:off x="853440" y="3794760"/>
            <a:ext cx="2682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D488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13" name="Text 5"/>
          <p:cNvSpPr/>
          <p:nvPr/>
        </p:nvSpPr>
        <p:spPr>
          <a:xfrm>
            <a:off x="1188720" y="3764280"/>
            <a:ext cx="26913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一个默认口令可能引发停产事故</a:t>
            </a:r>
            <a:endParaRPr lang="en-US" sz="1920" dirty="0"/>
          </a:p>
        </p:txBody>
      </p:sp>
      <p:sp>
        <p:nvSpPr>
          <p:cNvPr id="14" name="Text 6"/>
          <p:cNvSpPr/>
          <p:nvPr/>
        </p:nvSpPr>
        <p:spPr>
          <a:xfrm>
            <a:off x="853440" y="4602480"/>
            <a:ext cx="2682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D488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15" name="Text 7"/>
          <p:cNvSpPr/>
          <p:nvPr/>
        </p:nvSpPr>
        <p:spPr>
          <a:xfrm>
            <a:off x="1188720" y="4572000"/>
            <a:ext cx="269138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核查必须一丝不苟</a:t>
            </a:r>
            <a:endParaRPr lang="en-US" sz="1920" dirty="0"/>
          </a:p>
        </p:txBody>
      </p:sp>
      <p:pic>
        <p:nvPicPr>
          <p:cNvPr id="16" name="Image 6" descr="https://test.web.static.jianzeppt.com/ppt-temp-img3/8d5fd2119e56eaf36cfc8321a1e58ba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19200"/>
            <a:ext cx="3505200" cy="42672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0240" y="1463040"/>
            <a:ext cx="731520" cy="731520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13120" y="1645920"/>
            <a:ext cx="365760" cy="36576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791200" y="237744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担当</a:t>
            </a:r>
            <a:endParaRPr lang="en-US" sz="2400" dirty="0"/>
          </a:p>
        </p:txBody>
      </p:sp>
      <p:sp>
        <p:nvSpPr>
          <p:cNvPr id="20" name="Text 9"/>
          <p:cNvSpPr/>
          <p:nvPr/>
        </p:nvSpPr>
        <p:spPr>
          <a:xfrm>
            <a:off x="4587240" y="2987040"/>
            <a:ext cx="2682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D488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21" name="Text 10"/>
          <p:cNvSpPr/>
          <p:nvPr/>
        </p:nvSpPr>
        <p:spPr>
          <a:xfrm>
            <a:off x="4922520" y="2956560"/>
            <a:ext cx="26913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工控安全关乎企业效益与国计民生</a:t>
            </a:r>
            <a:endParaRPr lang="en-US" sz="1920" dirty="0"/>
          </a:p>
        </p:txBody>
      </p:sp>
      <p:sp>
        <p:nvSpPr>
          <p:cNvPr id="22" name="Text 11"/>
          <p:cNvSpPr/>
          <p:nvPr/>
        </p:nvSpPr>
        <p:spPr>
          <a:xfrm>
            <a:off x="4587240" y="3794760"/>
            <a:ext cx="2682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D488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23" name="Text 12"/>
          <p:cNvSpPr/>
          <p:nvPr/>
        </p:nvSpPr>
        <p:spPr>
          <a:xfrm>
            <a:off x="4922520" y="3764280"/>
            <a:ext cx="26913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电力、交通任一环节出问题影响深远</a:t>
            </a:r>
            <a:endParaRPr lang="en-US" sz="1920" dirty="0"/>
          </a:p>
        </p:txBody>
      </p:sp>
      <p:sp>
        <p:nvSpPr>
          <p:cNvPr id="24" name="Text 13"/>
          <p:cNvSpPr/>
          <p:nvPr/>
        </p:nvSpPr>
        <p:spPr>
          <a:xfrm>
            <a:off x="4587240" y="4602480"/>
            <a:ext cx="2682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D488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25" name="Text 14"/>
          <p:cNvSpPr/>
          <p:nvPr/>
        </p:nvSpPr>
        <p:spPr>
          <a:xfrm>
            <a:off x="4922520" y="4572000"/>
            <a:ext cx="26913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测评师是工业“生命线”守护者</a:t>
            </a:r>
            <a:endParaRPr lang="en-US" sz="1920" dirty="0"/>
          </a:p>
        </p:txBody>
      </p:sp>
      <p:pic>
        <p:nvPicPr>
          <p:cNvPr id="26" name="Image 9" descr="https://test.web.static.jianzeppt.com/ppt-temp-img3/8d5fd2119e56eaf36cfc8321a1e58ba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219200"/>
            <a:ext cx="3505200" cy="4267200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4040" y="1463040"/>
            <a:ext cx="731520" cy="731520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46920" y="1645920"/>
            <a:ext cx="365760" cy="36576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9525000" y="237744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合规</a:t>
            </a:r>
            <a:endParaRPr lang="en-US" sz="2400" dirty="0"/>
          </a:p>
        </p:txBody>
      </p:sp>
      <p:sp>
        <p:nvSpPr>
          <p:cNvPr id="30" name="Text 16"/>
          <p:cNvSpPr/>
          <p:nvPr/>
        </p:nvSpPr>
        <p:spPr>
          <a:xfrm>
            <a:off x="8336280" y="2987040"/>
            <a:ext cx="2682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31" name="Text 17"/>
          <p:cNvSpPr/>
          <p:nvPr/>
        </p:nvSpPr>
        <p:spPr>
          <a:xfrm>
            <a:off x="8671560" y="2956560"/>
            <a:ext cx="26913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等保2.0扩展要求是国家意志体现</a:t>
            </a:r>
            <a:endParaRPr lang="en-US" sz="1920" dirty="0"/>
          </a:p>
        </p:txBody>
      </p:sp>
      <p:sp>
        <p:nvSpPr>
          <p:cNvPr id="32" name="Text 18"/>
          <p:cNvSpPr/>
          <p:nvPr/>
        </p:nvSpPr>
        <p:spPr>
          <a:xfrm>
            <a:off x="8336280" y="3794760"/>
            <a:ext cx="2682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33" name="Text 19"/>
          <p:cNvSpPr/>
          <p:nvPr/>
        </p:nvSpPr>
        <p:spPr>
          <a:xfrm>
            <a:off x="8671560" y="3764280"/>
            <a:ext cx="26913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合规不是“纸上谈兵”是“实战要求”</a:t>
            </a:r>
            <a:endParaRPr lang="en-US" sz="1920" dirty="0"/>
          </a:p>
        </p:txBody>
      </p:sp>
      <p:sp>
        <p:nvSpPr>
          <p:cNvPr id="34" name="Text 20"/>
          <p:cNvSpPr/>
          <p:nvPr/>
        </p:nvSpPr>
        <p:spPr>
          <a:xfrm>
            <a:off x="8336280" y="4602480"/>
            <a:ext cx="2682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35" name="Text 21"/>
          <p:cNvSpPr/>
          <p:nvPr/>
        </p:nvSpPr>
        <p:spPr>
          <a:xfrm>
            <a:off x="8671560" y="4572000"/>
            <a:ext cx="26913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每次核查都在为工业安全添砖加瓦</a:t>
            </a:r>
            <a:endParaRPr lang="en-US" sz="192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9600" y="5699760"/>
            <a:ext cx="1097280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37" name="Text 22"/>
          <p:cNvSpPr/>
          <p:nvPr/>
        </p:nvSpPr>
        <p:spPr>
          <a:xfrm>
            <a:off x="2499360" y="5836920"/>
            <a:ext cx="72024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8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工控安全配置核查，查的是设备，守的是国家安全。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知识点回顾（5分钟）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4800" y="1524000"/>
            <a:ext cx="7467600" cy="15392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2920" y="2103120"/>
            <a:ext cx="3657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434840" y="21336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9" name="Text 2"/>
          <p:cNvSpPr/>
          <p:nvPr/>
        </p:nvSpPr>
        <p:spPr>
          <a:xfrm>
            <a:off x="4861560" y="1417320"/>
            <a:ext cx="65318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控制设备安全核心指标</a:t>
            </a:r>
            <a:endParaRPr lang="en-US" sz="2160" dirty="0"/>
          </a:p>
        </p:txBody>
      </p:sp>
      <p:pic>
        <p:nvPicPr>
          <p:cNvPr id="10" name="Image 5" descr="https://test.web.static.jianzeppt.com/ppt-temp-img3/3536c146677ca70933d785d3ccf70240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1560" y="2011680"/>
            <a:ext cx="60960" cy="6096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5013960" y="1905000"/>
            <a:ext cx="30266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身份鉴别：</a:t>
            </a: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唯一标识 + 复杂度口令 + 加密管理</a:t>
            </a:r>
            <a:endParaRPr lang="en-US" sz="1680" dirty="0"/>
          </a:p>
        </p:txBody>
      </p:sp>
      <p:pic>
        <p:nvPicPr>
          <p:cNvPr id="12" name="Image 6" descr="https://test.web.static.jianzeppt.com/ppt-temp-img3/3536c146677ca70933d785d3ccf70240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4360" y="2011680"/>
            <a:ext cx="60960" cy="6096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8366760" y="1905000"/>
            <a:ext cx="30266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访问控制：</a:t>
            </a: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角色划分 + 最小权限 + 权限分离</a:t>
            </a:r>
            <a:endParaRPr lang="en-US" sz="1680" dirty="0"/>
          </a:p>
        </p:txBody>
      </p:sp>
      <p:pic>
        <p:nvPicPr>
          <p:cNvPr id="14" name="Image 7" descr="https://test.web.static.jianzeppt.com/ppt-temp-img3/3536c146677ca70933d785d3ccf70240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1560" y="2667000"/>
            <a:ext cx="60960" cy="6096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013960" y="2474595"/>
            <a:ext cx="30266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安全审计：</a:t>
            </a: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日志开启 + 完整记录 + 保存保护</a:t>
            </a:r>
            <a:endParaRPr lang="en-US" sz="1680" dirty="0"/>
          </a:p>
        </p:txBody>
      </p:sp>
      <p:pic>
        <p:nvPicPr>
          <p:cNvPr id="16" name="Image 8" descr="https://test.web.static.jianzeppt.com/ppt-temp-img3/3536c146677ca70933d785d3ccf70240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4360" y="2667000"/>
            <a:ext cx="60960" cy="6096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8366760" y="2457450"/>
            <a:ext cx="30266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补丁/接口：</a:t>
            </a: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测试验证 + 禁用USB等多余端口</a:t>
            </a:r>
            <a:endParaRPr lang="en-US" sz="1680" dirty="0"/>
          </a:p>
        </p:txBody>
      </p:sp>
      <p:pic>
        <p:nvPicPr>
          <p:cNvPr id="18" name="Image 9" descr="https://test.web.static.jianzeppt.com/ppt-temp-img3/e7e0b38e787d3d903fc95a82031dc76e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0" y="2255520"/>
            <a:ext cx="335280" cy="45720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14800" y="3063240"/>
            <a:ext cx="7467600" cy="11887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2920" y="3288030"/>
            <a:ext cx="365760" cy="36576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4434840" y="331851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22" name="Text 8"/>
          <p:cNvSpPr/>
          <p:nvPr/>
        </p:nvSpPr>
        <p:spPr>
          <a:xfrm>
            <a:off x="4861560" y="3082290"/>
            <a:ext cx="65318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核查六步法</a:t>
            </a:r>
            <a:endParaRPr lang="en-US" sz="2160" dirty="0"/>
          </a:p>
        </p:txBody>
      </p:sp>
      <p:sp>
        <p:nvSpPr>
          <p:cNvPr id="23" name="Text 9"/>
          <p:cNvSpPr/>
          <p:nvPr/>
        </p:nvSpPr>
        <p:spPr>
          <a:xfrm>
            <a:off x="4861560" y="3379470"/>
            <a:ext cx="481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准备</a:t>
            </a:r>
            <a:endParaRPr lang="en-US" sz="1800" dirty="0"/>
          </a:p>
        </p:txBody>
      </p:sp>
      <p:sp>
        <p:nvSpPr>
          <p:cNvPr id="24" name="Text 10"/>
          <p:cNvSpPr/>
          <p:nvPr/>
        </p:nvSpPr>
        <p:spPr>
          <a:xfrm>
            <a:off x="5410200" y="3379470"/>
            <a:ext cx="252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D488C">
                    <a:alpha val="4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11"/>
          <p:cNvSpPr/>
          <p:nvPr/>
        </p:nvSpPr>
        <p:spPr>
          <a:xfrm>
            <a:off x="5730240" y="3379470"/>
            <a:ext cx="938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信息收集</a:t>
            </a:r>
            <a:endParaRPr lang="en-US" sz="1800" dirty="0"/>
          </a:p>
        </p:txBody>
      </p:sp>
      <p:sp>
        <p:nvSpPr>
          <p:cNvPr id="26" name="Text 12"/>
          <p:cNvSpPr/>
          <p:nvPr/>
        </p:nvSpPr>
        <p:spPr>
          <a:xfrm>
            <a:off x="6736080" y="3379470"/>
            <a:ext cx="252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D488C">
                    <a:alpha val="4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13"/>
          <p:cNvSpPr/>
          <p:nvPr/>
        </p:nvSpPr>
        <p:spPr>
          <a:xfrm>
            <a:off x="7056120" y="3379470"/>
            <a:ext cx="938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身份鉴别</a:t>
            </a:r>
            <a:endParaRPr lang="en-US" sz="1800" dirty="0"/>
          </a:p>
        </p:txBody>
      </p:sp>
      <p:sp>
        <p:nvSpPr>
          <p:cNvPr id="28" name="Text 14"/>
          <p:cNvSpPr/>
          <p:nvPr/>
        </p:nvSpPr>
        <p:spPr>
          <a:xfrm>
            <a:off x="8061960" y="3379470"/>
            <a:ext cx="252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D488C">
                    <a:alpha val="4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15"/>
          <p:cNvSpPr/>
          <p:nvPr/>
        </p:nvSpPr>
        <p:spPr>
          <a:xfrm>
            <a:off x="8397240" y="3379470"/>
            <a:ext cx="938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访问控制</a:t>
            </a:r>
            <a:endParaRPr lang="en-US" sz="1800" dirty="0"/>
          </a:p>
        </p:txBody>
      </p:sp>
      <p:sp>
        <p:nvSpPr>
          <p:cNvPr id="30" name="Text 16"/>
          <p:cNvSpPr/>
          <p:nvPr/>
        </p:nvSpPr>
        <p:spPr>
          <a:xfrm>
            <a:off x="9403080" y="3379470"/>
            <a:ext cx="252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D488C">
                    <a:alpha val="4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17"/>
          <p:cNvSpPr/>
          <p:nvPr/>
        </p:nvSpPr>
        <p:spPr>
          <a:xfrm>
            <a:off x="9723120" y="3379470"/>
            <a:ext cx="938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审计核查</a:t>
            </a:r>
            <a:endParaRPr lang="en-US" sz="1800" dirty="0"/>
          </a:p>
        </p:txBody>
      </p:sp>
      <p:sp>
        <p:nvSpPr>
          <p:cNvPr id="32" name="Text 18"/>
          <p:cNvSpPr/>
          <p:nvPr/>
        </p:nvSpPr>
        <p:spPr>
          <a:xfrm>
            <a:off x="10728960" y="3379470"/>
            <a:ext cx="252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D488C">
                    <a:alpha val="4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19"/>
          <p:cNvSpPr/>
          <p:nvPr/>
        </p:nvSpPr>
        <p:spPr>
          <a:xfrm>
            <a:off x="4861560" y="3760470"/>
            <a:ext cx="938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综合评估</a:t>
            </a:r>
            <a:endParaRPr lang="en-US" sz="1800" dirty="0"/>
          </a:p>
        </p:txBody>
      </p:sp>
      <p:pic>
        <p:nvPicPr>
          <p:cNvPr id="34" name="Image 12" descr="https://test.web.static.jianzeppt.com/ppt-temp-img3/e7e0b38e787d3d903fc95a82031dc76e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0" y="3611880"/>
            <a:ext cx="335280" cy="45720"/>
          </a:xfrm>
          <a:prstGeom prst="rect">
            <a:avLst/>
          </a:prstGeom>
        </p:spPr>
      </p:pic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14800" y="4236720"/>
            <a:ext cx="746760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2920" y="4526280"/>
            <a:ext cx="365760" cy="365760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4434840" y="454152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sp>
        <p:nvSpPr>
          <p:cNvPr id="38" name="Text 21"/>
          <p:cNvSpPr/>
          <p:nvPr/>
        </p:nvSpPr>
        <p:spPr>
          <a:xfrm>
            <a:off x="4861560" y="4297680"/>
            <a:ext cx="65318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常见问题</a:t>
            </a:r>
            <a:endParaRPr lang="en-US" sz="2160" dirty="0"/>
          </a:p>
        </p:txBody>
      </p:sp>
      <p:sp>
        <p:nvSpPr>
          <p:cNvPr id="39" name="Text 22"/>
          <p:cNvSpPr/>
          <p:nvPr/>
        </p:nvSpPr>
        <p:spPr>
          <a:xfrm>
            <a:off x="4861560" y="4663440"/>
            <a:ext cx="653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默认口令、弱口令、Telnet、日志关闭、USB未禁用</a:t>
            </a:r>
            <a:endParaRPr lang="en-US" sz="1800" dirty="0"/>
          </a:p>
        </p:txBody>
      </p:sp>
      <p:pic>
        <p:nvPicPr>
          <p:cNvPr id="40" name="Image 15" descr="https://test.web.static.jianzeppt.com/ppt-temp-img3/c6dd87ce384b055f3ec585cd0e3328fe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0" y="4693920"/>
            <a:ext cx="335280" cy="30480"/>
          </a:xfrm>
          <a:prstGeom prst="rect">
            <a:avLst/>
          </a:prstGeom>
        </p:spPr>
      </p:pic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14800" y="5166360"/>
            <a:ext cx="746760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2920" y="5455920"/>
            <a:ext cx="365760" cy="365760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4434840" y="54711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680" dirty="0"/>
          </a:p>
        </p:txBody>
      </p:sp>
      <p:sp>
        <p:nvSpPr>
          <p:cNvPr id="44" name="Text 24"/>
          <p:cNvSpPr/>
          <p:nvPr/>
        </p:nvSpPr>
        <p:spPr>
          <a:xfrm>
            <a:off x="4861560" y="5227320"/>
            <a:ext cx="65318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与等保标准的对应</a:t>
            </a:r>
            <a:endParaRPr lang="en-US" sz="2160" dirty="0"/>
          </a:p>
        </p:txBody>
      </p:sp>
      <p:sp>
        <p:nvSpPr>
          <p:cNvPr id="45" name="Text 25"/>
          <p:cNvSpPr/>
          <p:nvPr/>
        </p:nvSpPr>
        <p:spPr>
          <a:xfrm>
            <a:off x="4861560" y="5627370"/>
            <a:ext cx="6531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每个核查发现都需要对应到具体的标准条款</a:t>
            </a:r>
            <a:endParaRPr lang="en-US" sz="1800" dirty="0"/>
          </a:p>
        </p:txBody>
      </p:sp>
      <p:pic>
        <p:nvPicPr>
          <p:cNvPr id="46" name="Image 18" descr="https://test.web.static.jianzeppt.com/ppt-temp-img3/e7e0b38e787d3d903fc95a82031dc76e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0" y="5608320"/>
            <a:ext cx="335280" cy="45720"/>
          </a:xfrm>
          <a:prstGeom prst="rect">
            <a:avLst/>
          </a:prstGeom>
        </p:spPr>
      </p:pic>
      <p:sp>
        <p:nvSpPr>
          <p:cNvPr id="47" name="Text 26"/>
          <p:cNvSpPr/>
          <p:nvPr/>
        </p:nvSpPr>
        <p:spPr>
          <a:xfrm>
            <a:off x="868680" y="4541520"/>
            <a:ext cx="25694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思维导图（本课核心知识）</a:t>
            </a:r>
            <a:endParaRPr lang="en-US" sz="1680" dirty="0"/>
          </a:p>
        </p:txBody>
      </p:sp>
      <p:pic>
        <p:nvPicPr>
          <p:cNvPr id="48" name="Image 1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9600" y="2773680"/>
            <a:ext cx="3078480" cy="15849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49" name="Text 27"/>
          <p:cNvSpPr/>
          <p:nvPr/>
        </p:nvSpPr>
        <p:spPr>
          <a:xfrm>
            <a:off x="1188720" y="3063240"/>
            <a:ext cx="1929384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80" b="1" kern="0" spc="192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工控安全配置核查</a:t>
            </a:r>
            <a:endParaRPr lang="en-US" sz="2880" dirty="0"/>
          </a:p>
        </p:txBody>
      </p:sp>
      <p:pic>
        <p:nvPicPr>
          <p:cNvPr id="50" name="Image 20" descr="https://test.web.static.jianzeppt.com/ppt-temp-img3/6013034bba6923c9e1040cc5d945e0bb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27120" y="3535680"/>
            <a:ext cx="670560" cy="45720"/>
          </a:xfrm>
          <a:prstGeom prst="rect">
            <a:avLst/>
          </a:prstGeom>
        </p:spPr>
      </p:pic>
      <p:pic>
        <p:nvPicPr>
          <p:cNvPr id="51" name="Image 21" descr="https://test.web.static.jianzeppt.com/ppt-temp-img3/d0be9f690c5ecaa965b182ecf16c244a.png?x-oss-process=image/resize,w_1440,h_800,m_lfit/format,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21480" y="2941320"/>
            <a:ext cx="45720" cy="1249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课后作业</a:t>
            </a:r>
            <a:endParaRPr lang="en-US" sz="2760" dirty="0"/>
          </a:p>
        </p:txBody>
      </p:sp>
      <p:pic>
        <p:nvPicPr>
          <p:cNvPr id="6" name="Image 3" descr="https://test.web.static.jianzeppt.com/ppt-temp-img3/1011d808f2cae1986412e1497229816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783080"/>
            <a:ext cx="10363200" cy="838200"/>
          </a:xfrm>
          <a:prstGeom prst="rect">
            <a:avLst/>
          </a:prstGeom>
        </p:spPr>
      </p:pic>
      <p:pic>
        <p:nvPicPr>
          <p:cNvPr id="7" name="Image 4" descr="https://test.web.static.jianzeppt.com/ppt-temp-img3/c9dd14af44185132c651e3bf87f5885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783080"/>
            <a:ext cx="1828800" cy="8382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524000" y="198120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3108960" y="1996440"/>
            <a:ext cx="70043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完成《工业控制系统安全测评记录表》，提交至学习通平台</a:t>
            </a:r>
            <a:endParaRPr lang="en-US" sz="2160" dirty="0"/>
          </a:p>
        </p:txBody>
      </p:sp>
      <p:pic>
        <p:nvPicPr>
          <p:cNvPr id="10" name="Image 5" descr="https://test.web.static.jianzeppt.com/ppt-temp-img3/1011d808f2cae1986412e1497229816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65120"/>
            <a:ext cx="10363200" cy="838200"/>
          </a:xfrm>
          <a:prstGeom prst="rect">
            <a:avLst/>
          </a:prstGeom>
        </p:spPr>
      </p:pic>
      <p:pic>
        <p:nvPicPr>
          <p:cNvPr id="11" name="Image 6" descr="https://test.web.static.jianzeppt.com/ppt-temp-img3/ae2d43cbf7c7325c2614a1ce7ff50d4e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65120"/>
            <a:ext cx="1828800" cy="8382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524000" y="306324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2400" dirty="0"/>
          </a:p>
        </p:txBody>
      </p:sp>
      <p:sp>
        <p:nvSpPr>
          <p:cNvPr id="13" name="Text 4"/>
          <p:cNvSpPr/>
          <p:nvPr/>
        </p:nvSpPr>
        <p:spPr>
          <a:xfrm>
            <a:off x="3108960" y="3078480"/>
            <a:ext cx="6288024" cy="3886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完成活动7.4.2在线测试（选择题+判断题，共15题）</a:t>
            </a:r>
            <a:endParaRPr lang="en-US" sz="2040" dirty="0"/>
          </a:p>
        </p:txBody>
      </p:sp>
      <p:pic>
        <p:nvPicPr>
          <p:cNvPr id="14" name="Image 7" descr="https://test.web.static.jianzeppt.com/ppt-temp-img3/3f5394d212b51990fe16fbe7c7de898f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947160"/>
            <a:ext cx="10363200" cy="1234440"/>
          </a:xfrm>
          <a:prstGeom prst="rect">
            <a:avLst/>
          </a:prstGeom>
        </p:spPr>
      </p:pic>
      <p:pic>
        <p:nvPicPr>
          <p:cNvPr id="15" name="Image 8" descr="https://test.web.static.jianzeppt.com/ppt-temp-img3/b844346b0a318ffdfff9423cb535f678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947160"/>
            <a:ext cx="1828800" cy="123444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524000" y="432816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选做</a:t>
            </a:r>
            <a:endParaRPr lang="en-US" sz="2400" dirty="0"/>
          </a:p>
        </p:txBody>
      </p:sp>
      <p:sp>
        <p:nvSpPr>
          <p:cNvPr id="17" name="Text 6"/>
          <p:cNvSpPr/>
          <p:nvPr/>
        </p:nvSpPr>
        <p:spPr>
          <a:xfrm>
            <a:off x="3108960" y="4145280"/>
            <a:ext cx="7812024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查阅一种工控设备（如西门子S7-1200）的安全配置手册，总结关键配置项</a:t>
            </a:r>
            <a:endParaRPr lang="en-US" sz="2160" dirty="0"/>
          </a:p>
        </p:txBody>
      </p:sp>
      <p:pic>
        <p:nvPicPr>
          <p:cNvPr id="18" name="Image 9" descr="https://test.web.static.jianzeppt.com/ppt-temp-img3/1011d808f2cae1986412e1497229816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10200"/>
            <a:ext cx="10363200" cy="838200"/>
          </a:xfrm>
          <a:prstGeom prst="rect">
            <a:avLst/>
          </a:prstGeom>
        </p:spPr>
      </p:pic>
      <p:pic>
        <p:nvPicPr>
          <p:cNvPr id="19" name="Image 10" descr="https://test.web.static.jianzeppt.com/ppt-temp-img3/1d2d552ea397e153476d467ab46d123a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410200"/>
            <a:ext cx="1828800" cy="83820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524000" y="560832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预习</a:t>
            </a:r>
            <a:endParaRPr lang="en-US" sz="2400" dirty="0"/>
          </a:p>
        </p:txBody>
      </p:sp>
      <p:sp>
        <p:nvSpPr>
          <p:cNvPr id="21" name="Text 8"/>
          <p:cNvSpPr/>
          <p:nvPr/>
        </p:nvSpPr>
        <p:spPr>
          <a:xfrm>
            <a:off x="3108960" y="5623560"/>
            <a:ext cx="50993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预习任务8“信息安全风险评估”相关内容</a:t>
            </a:r>
            <a:endParaRPr lang="en-US" sz="21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下节课预告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任务8：信息安全风险评估</a:t>
            </a:r>
            <a:endParaRPr lang="en-US" sz="264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209800"/>
            <a:ext cx="91440" cy="2438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22960" y="211836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预告内容</a:t>
            </a:r>
            <a:endParaRPr lang="en-US" sz="216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2651760"/>
            <a:ext cx="539496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0" name="Image 5" descr="https://test.web.static.jianzeppt.com/ppt-temp-img3/2060997d11b19764abe5f036c0781fc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" y="2910840"/>
            <a:ext cx="426720" cy="42672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99160" y="295656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680" dirty="0"/>
          </a:p>
        </p:txBody>
      </p:sp>
      <p:sp>
        <p:nvSpPr>
          <p:cNvPr id="12" name="Text 4"/>
          <p:cNvSpPr/>
          <p:nvPr/>
        </p:nvSpPr>
        <p:spPr>
          <a:xfrm>
            <a:off x="1417320" y="2788920"/>
            <a:ext cx="439826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风险评估基本概念与GB/T 20984标准流程</a:t>
            </a:r>
            <a:endParaRPr lang="en-US" sz="192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7440" y="2651760"/>
            <a:ext cx="539496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4" name="Image 7" descr="https://test.web.static.jianzeppt.com/ppt-temp-img3/2060997d11b19764abe5f036c0781fc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5560" y="2910840"/>
            <a:ext cx="426720" cy="42672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6477000" y="295656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680" dirty="0"/>
          </a:p>
        </p:txBody>
      </p:sp>
      <p:sp>
        <p:nvSpPr>
          <p:cNvPr id="16" name="Text 6"/>
          <p:cNvSpPr/>
          <p:nvPr/>
        </p:nvSpPr>
        <p:spPr>
          <a:xfrm>
            <a:off x="6995160" y="2956560"/>
            <a:ext cx="25847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资产识别与CIA三性赋值</a:t>
            </a:r>
            <a:endParaRPr lang="en-US" sz="192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3764280"/>
            <a:ext cx="539496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8" name="Image 9" descr="https://test.web.static.jianzeppt.com/ppt-temp-img3/2060997d11b19764abe5f036c0781fc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" y="4023360"/>
            <a:ext cx="426720" cy="42672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899160" y="406908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680" dirty="0"/>
          </a:p>
        </p:txBody>
      </p:sp>
      <p:sp>
        <p:nvSpPr>
          <p:cNvPr id="20" name="Text 8"/>
          <p:cNvSpPr/>
          <p:nvPr/>
        </p:nvSpPr>
        <p:spPr>
          <a:xfrm>
            <a:off x="1417320" y="4069080"/>
            <a:ext cx="24627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威胁识别与脆弱性识别</a:t>
            </a:r>
            <a:endParaRPr lang="en-US" sz="1920" dirty="0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7440" y="3764280"/>
            <a:ext cx="5394960" cy="929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2" name="Image 11" descr="https://test.web.static.jianzeppt.com/ppt-temp-img3/2060997d11b19764abe5f036c0781fc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5560" y="4023360"/>
            <a:ext cx="426720" cy="426720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6477000" y="406908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680" dirty="0"/>
          </a:p>
        </p:txBody>
      </p:sp>
      <p:sp>
        <p:nvSpPr>
          <p:cNvPr id="24" name="Text 10"/>
          <p:cNvSpPr/>
          <p:nvPr/>
        </p:nvSpPr>
        <p:spPr>
          <a:xfrm>
            <a:off x="6995160" y="3870960"/>
            <a:ext cx="35295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风险计算方法（矩阵法/相乘法）</a:t>
            </a:r>
            <a:endParaRPr lang="en-US" sz="1920" dirty="0"/>
          </a:p>
        </p:txBody>
      </p:sp>
      <p:sp>
        <p:nvSpPr>
          <p:cNvPr id="25" name="Text 11"/>
          <p:cNvSpPr/>
          <p:nvPr/>
        </p:nvSpPr>
        <p:spPr>
          <a:xfrm>
            <a:off x="6995160" y="4267200"/>
            <a:ext cx="35295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风险评估报告编制</a:t>
            </a:r>
            <a:endParaRPr lang="en-US" sz="192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968240"/>
            <a:ext cx="91440" cy="24384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822960" y="487680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课前准备</a:t>
            </a:r>
            <a:endParaRPr lang="en-US" sz="2160" dirty="0"/>
          </a:p>
        </p:txBody>
      </p:sp>
      <p:pic>
        <p:nvPicPr>
          <p:cNvPr id="28" name="Image 13" descr="https://test.web.static.jianzeppt.com/ppt-temp-img3/839780d254209b591b0a29ad5933b46f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349240"/>
            <a:ext cx="5394960" cy="1051560"/>
          </a:xfrm>
          <a:prstGeom prst="rect">
            <a:avLst/>
          </a:prstGeom>
        </p:spPr>
      </p:pic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7720" y="5669280"/>
            <a:ext cx="426720" cy="42672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1417320" y="5699760"/>
            <a:ext cx="27828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复习GB/T 20984标准框架</a:t>
            </a:r>
            <a:endParaRPr lang="en-US" sz="1920" dirty="0"/>
          </a:p>
        </p:txBody>
      </p:sp>
      <p:pic>
        <p:nvPicPr>
          <p:cNvPr id="31" name="Image 15" descr="https://test.web.static.jianzeppt.com/ppt-temp-img3/839780d254209b591b0a29ad5933b46f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7440" y="5349240"/>
            <a:ext cx="5394960" cy="1051560"/>
          </a:xfrm>
          <a:prstGeom prst="rect">
            <a:avLst/>
          </a:prstGeom>
        </p:spPr>
      </p:pic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85560" y="5669280"/>
            <a:ext cx="426720" cy="426720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6995160" y="5699760"/>
            <a:ext cx="27066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回顾之前项目的测评记录</a:t>
            </a:r>
            <a:endParaRPr lang="en-US" sz="1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课堂小结与答疑</a:t>
            </a:r>
            <a:endParaRPr lang="en-US" sz="2760" dirty="0"/>
          </a:p>
        </p:txBody>
      </p:sp>
      <p:pic>
        <p:nvPicPr>
          <p:cNvPr id="6" name="Image 3" descr="https://test.web.static.jianzeppt.com/ppt-temp-img3/128db6ee6d96a886427aa8e8a67d750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455920"/>
            <a:ext cx="10972800" cy="79248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69080" y="5669280"/>
            <a:ext cx="3657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556760" y="5654040"/>
            <a:ext cx="357530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互动答疑：欢迎大家交流提问</a:t>
            </a:r>
            <a:endParaRPr lang="en-US" sz="2160" dirty="0"/>
          </a:p>
        </p:txBody>
      </p:sp>
      <p:pic>
        <p:nvPicPr>
          <p:cNvPr id="9" name="Image 5" descr="https://test.web.static.jianzeppt.com/ppt-temp-img3/d56c411ec7b7d8e34b810d9053427d85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615440"/>
            <a:ext cx="3413760" cy="36576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868680" y="2240280"/>
            <a:ext cx="2682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1920" dirty="0"/>
          </a:p>
        </p:txBody>
      </p:sp>
      <p:sp>
        <p:nvSpPr>
          <p:cNvPr id="11" name="Text 3"/>
          <p:cNvSpPr/>
          <p:nvPr/>
        </p:nvSpPr>
        <p:spPr>
          <a:xfrm>
            <a:off x="1203960" y="2240280"/>
            <a:ext cx="2569464" cy="13487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控制设备安全四大核查维度：身份鉴别、访问控制、安全审计、接口管理</a:t>
            </a:r>
            <a:endParaRPr lang="en-US" sz="1920" dirty="0"/>
          </a:p>
        </p:txBody>
      </p:sp>
      <p:sp>
        <p:nvSpPr>
          <p:cNvPr id="12" name="Text 4"/>
          <p:cNvSpPr/>
          <p:nvPr/>
        </p:nvSpPr>
        <p:spPr>
          <a:xfrm>
            <a:off x="868680" y="3627120"/>
            <a:ext cx="2682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1920" dirty="0"/>
          </a:p>
        </p:txBody>
      </p:sp>
      <p:sp>
        <p:nvSpPr>
          <p:cNvPr id="13" name="Text 5"/>
          <p:cNvSpPr/>
          <p:nvPr/>
        </p:nvSpPr>
        <p:spPr>
          <a:xfrm>
            <a:off x="1203960" y="3627120"/>
            <a:ext cx="256946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工控安全配置核查六步法</a:t>
            </a:r>
            <a:endParaRPr lang="en-US" sz="1920" dirty="0"/>
          </a:p>
        </p:txBody>
      </p:sp>
      <p:sp>
        <p:nvSpPr>
          <p:cNvPr id="14" name="Text 6"/>
          <p:cNvSpPr/>
          <p:nvPr/>
        </p:nvSpPr>
        <p:spPr>
          <a:xfrm>
            <a:off x="868680" y="4419600"/>
            <a:ext cx="2682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③</a:t>
            </a:r>
            <a:endParaRPr lang="en-US" sz="1920" dirty="0"/>
          </a:p>
        </p:txBody>
      </p:sp>
      <p:sp>
        <p:nvSpPr>
          <p:cNvPr id="15" name="Text 7"/>
          <p:cNvSpPr/>
          <p:nvPr/>
        </p:nvSpPr>
        <p:spPr>
          <a:xfrm>
            <a:off x="1203960" y="4419600"/>
            <a:ext cx="256946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配置缺陷需对应等保条款进行判定</a:t>
            </a:r>
            <a:endParaRPr lang="en-US" sz="192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480" y="1356360"/>
            <a:ext cx="3048000" cy="54864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1560" y="1478280"/>
            <a:ext cx="304800" cy="3048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447800" y="1402080"/>
            <a:ext cx="2142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三个核心知识点</a:t>
            </a:r>
            <a:endParaRPr lang="en-US" sz="2400" dirty="0"/>
          </a:p>
        </p:txBody>
      </p:sp>
      <p:pic>
        <p:nvPicPr>
          <p:cNvPr id="19" name="Image 8" descr="https://test.web.static.jianzeppt.com/ppt-temp-img3/d56c411ec7b7d8e34b810d9053427d85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1615440"/>
            <a:ext cx="3413760" cy="36576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4648200" y="2240280"/>
            <a:ext cx="2682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1920" dirty="0"/>
          </a:p>
        </p:txBody>
      </p:sp>
      <p:sp>
        <p:nvSpPr>
          <p:cNvPr id="21" name="Text 10"/>
          <p:cNvSpPr/>
          <p:nvPr/>
        </p:nvSpPr>
        <p:spPr>
          <a:xfrm>
            <a:off x="4983480" y="2240280"/>
            <a:ext cx="256946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能使用基本命令进行工控设备配置核查</a:t>
            </a:r>
            <a:endParaRPr lang="en-US" sz="1920" dirty="0"/>
          </a:p>
        </p:txBody>
      </p:sp>
      <p:sp>
        <p:nvSpPr>
          <p:cNvPr id="22" name="Text 11"/>
          <p:cNvSpPr/>
          <p:nvPr/>
        </p:nvSpPr>
        <p:spPr>
          <a:xfrm>
            <a:off x="4648200" y="3093720"/>
            <a:ext cx="2682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D488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1920" dirty="0"/>
          </a:p>
        </p:txBody>
      </p:sp>
      <p:sp>
        <p:nvSpPr>
          <p:cNvPr id="23" name="Text 12"/>
          <p:cNvSpPr/>
          <p:nvPr/>
        </p:nvSpPr>
        <p:spPr>
          <a:xfrm>
            <a:off x="4983480" y="3093720"/>
            <a:ext cx="256946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能规范填写《工业控制系统安全测评记录表》</a:t>
            </a:r>
            <a:endParaRPr lang="en-US" sz="192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0" y="1356360"/>
            <a:ext cx="3048000" cy="54864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83480" y="1478280"/>
            <a:ext cx="304800" cy="3048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379720" y="1402080"/>
            <a:ext cx="18379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两个关键技能</a:t>
            </a:r>
            <a:endParaRPr lang="en-US" sz="2400" dirty="0"/>
          </a:p>
        </p:txBody>
      </p:sp>
      <p:pic>
        <p:nvPicPr>
          <p:cNvPr id="27" name="Image 11" descr="https://test.web.static.jianzeppt.com/ppt-temp-img3/d56c411ec7b7d8e34b810d9053427d85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1615440"/>
            <a:ext cx="3413760" cy="3657600"/>
          </a:xfrm>
          <a:prstGeom prst="rect">
            <a:avLst/>
          </a:prstGeom>
        </p:spPr>
      </p:pic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42960" y="2346960"/>
            <a:ext cx="91440" cy="9144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8656320" y="2240280"/>
            <a:ext cx="269138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配置核查要细致入微，不放过任何一个安全隐患</a:t>
            </a:r>
            <a:endParaRPr lang="en-US" sz="1920" dirty="0"/>
          </a:p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66760" y="1356360"/>
            <a:ext cx="3048000" cy="54864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63000" y="1478280"/>
            <a:ext cx="304800" cy="30480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9159240" y="1402080"/>
            <a:ext cx="18379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一个职业准则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1*212"/>
  <p:tag name="TABLE_ENDDRAG_RECT" val="50*287*861*212"/>
</p:tagLst>
</file>

<file path=ppt/tags/tag2.xml><?xml version="1.0" encoding="utf-8"?>
<p:tagLst xmlns:p="http://schemas.openxmlformats.org/presentationml/2006/main">
  <p:tag name="TABLE_ENDDRAG_ORIGIN_RECT" val="728*144"/>
  <p:tag name="TABLE_ENDDRAG_RECT" val="106*186*728*14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4162</Words>
  <Application>WPS 演示</Application>
  <PresentationFormat>On-screen Show (16:9)</PresentationFormat>
  <Paragraphs>894</Paragraphs>
  <Slides>24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48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YouSheBiaoTiHei</vt:lpstr>
      <vt:lpstr>YouSheBiaoTiHei</vt:lpstr>
      <vt:lpstr>YouSheBiaoTiHei</vt:lpstr>
      <vt:lpstr>Calibri</vt:lpstr>
      <vt:lpstr>微软雅黑</vt:lpstr>
      <vt:lpstr>Arial Unicode MS</vt:lpstr>
      <vt:lpstr>等线</vt:lpstr>
      <vt:lpstr>KSOFD72470BC</vt:lpstr>
      <vt:lpstr>FFont-Family</vt:lpstr>
      <vt:lpstr>MingLiU-ExtB</vt:lpstr>
      <vt:lpstr>Office Theme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杨传筠</cp:lastModifiedBy>
  <cp:revision>3</cp:revision>
  <dcterms:created xsi:type="dcterms:W3CDTF">2026-08-31T04:42:00Z</dcterms:created>
  <dcterms:modified xsi:type="dcterms:W3CDTF">2026-09-06T00:57:57Z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00C5BD7092754FC7808CC776DD9CBB1D_12</vt:lpwstr>
  </property>
</Properties>
</file>