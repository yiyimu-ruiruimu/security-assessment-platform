
<file path=[Content_Types].xml><?xml version="1.0" encoding="utf-8"?>
<Types xmlns="http://schemas.openxmlformats.org/package/2006/content-types">
  <Default Extension="vml" ContentType="application/vnd.openxmlformats-officedocument.vmlDrawing"/>
  <Default Extension="docx" ContentType="application/vnd.openxmlformats-officedocument.wordprocessingml.document"/>
  <Default Extension="png" ContentType="image/png"/>
  <Default Extension="wmf" ContentType="image/x-wmf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00.svg" ContentType="image/svg+xml"/>
  <Override PartName="/ppt/media/image102.svg" ContentType="image/svg+xml"/>
  <Override PartName="/ppt/media/image106.svg" ContentType="image/svg+xml"/>
  <Override PartName="/ppt/media/image111.svg" ContentType="image/svg+xml"/>
  <Override PartName="/ppt/media/image113.svg" ContentType="image/svg+xml"/>
  <Override PartName="/ppt/media/image116.svg" ContentType="image/svg+xml"/>
  <Override PartName="/ppt/media/image120.svg" ContentType="image/svg+xml"/>
  <Override PartName="/ppt/media/image123.svg" ContentType="image/svg+xml"/>
  <Override PartName="/ppt/media/image126.svg" ContentType="image/svg+xml"/>
  <Override PartName="/ppt/media/image128.svg" ContentType="image/svg+xml"/>
  <Override PartName="/ppt/media/image130.svg" ContentType="image/svg+xml"/>
  <Override PartName="/ppt/media/image133.svg" ContentType="image/svg+xml"/>
  <Override PartName="/ppt/media/image135.svg" ContentType="image/svg+xml"/>
  <Override PartName="/ppt/media/image137.svg" ContentType="image/svg+xml"/>
  <Override PartName="/ppt/media/image14.svg" ContentType="image/svg+xml"/>
  <Override PartName="/ppt/media/image140.svg" ContentType="image/svg+xml"/>
  <Override PartName="/ppt/media/image142.svg" ContentType="image/svg+xml"/>
  <Override PartName="/ppt/media/image144.svg" ContentType="image/svg+xml"/>
  <Override PartName="/ppt/media/image146.svg" ContentType="image/svg+xml"/>
  <Override PartName="/ppt/media/image149.svg" ContentType="image/svg+xml"/>
  <Override PartName="/ppt/media/image151.svg" ContentType="image/svg+xml"/>
  <Override PartName="/ppt/media/image153.svg" ContentType="image/svg+xml"/>
  <Override PartName="/ppt/media/image155.svg" ContentType="image/svg+xml"/>
  <Override PartName="/ppt/media/image158.svg" ContentType="image/svg+xml"/>
  <Override PartName="/ppt/media/image16.svg" ContentType="image/svg+xml"/>
  <Override PartName="/ppt/media/image163.svg" ContentType="image/svg+xml"/>
  <Override PartName="/ppt/media/image165.svg" ContentType="image/svg+xml"/>
  <Override PartName="/ppt/media/image168.svg" ContentType="image/svg+xml"/>
  <Override PartName="/ppt/media/image170.svg" ContentType="image/svg+xml"/>
  <Override PartName="/ppt/media/image172.svg" ContentType="image/svg+xml"/>
  <Override PartName="/ppt/media/image174.svg" ContentType="image/svg+xml"/>
  <Override PartName="/ppt/media/image18.svg" ContentType="image/svg+xml"/>
  <Override PartName="/ppt/media/image190.svg" ContentType="image/svg+xml"/>
  <Override PartName="/ppt/media/image21.svg" ContentType="image/svg+xml"/>
  <Override PartName="/ppt/media/image23.svg" ContentType="image/svg+xml"/>
  <Override PartName="/ppt/media/image25.svg" ContentType="image/svg+xml"/>
  <Override PartName="/ppt/media/image30.svg" ContentType="image/svg+xml"/>
  <Override PartName="/ppt/media/image32.svg" ContentType="image/svg+xml"/>
  <Override PartName="/ppt/media/image34.svg" ContentType="image/svg+xml"/>
  <Override PartName="/ppt/media/image36.svg" ContentType="image/svg+xml"/>
  <Override PartName="/ppt/media/image38.svg" ContentType="image/svg+xml"/>
  <Override PartName="/ppt/media/image40.svg" ContentType="image/svg+xml"/>
  <Override PartName="/ppt/media/image42.svg" ContentType="image/svg+xml"/>
  <Override PartName="/ppt/media/image44.svg" ContentType="image/svg+xml"/>
  <Override PartName="/ppt/media/image46.svg" ContentType="image/svg+xml"/>
  <Override PartName="/ppt/media/image48.svg" ContentType="image/svg+xml"/>
  <Override PartName="/ppt/media/image54.svg" ContentType="image/svg+xml"/>
  <Override PartName="/ppt/media/image56.svg" ContentType="image/svg+xml"/>
  <Override PartName="/ppt/media/image58.svg" ContentType="image/svg+xml"/>
  <Override PartName="/ppt/media/image62.svg" ContentType="image/svg+xml"/>
  <Override PartName="/ppt/media/image64.svg" ContentType="image/svg+xml"/>
  <Override PartName="/ppt/media/image67.svg" ContentType="image/svg+xml"/>
  <Override PartName="/ppt/media/image69.svg" ContentType="image/svg+xml"/>
  <Override PartName="/ppt/media/image72.svg" ContentType="image/svg+xml"/>
  <Override PartName="/ppt/media/image74.svg" ContentType="image/svg+xml"/>
  <Override PartName="/ppt/media/image77.svg" ContentType="image/svg+xml"/>
  <Override PartName="/ppt/media/image80.svg" ContentType="image/svg+xml"/>
  <Override PartName="/ppt/media/image83.svg" ContentType="image/svg+xml"/>
  <Override PartName="/ppt/media/image85.svg" ContentType="image/svg+xml"/>
  <Override PartName="/ppt/media/image87.svg" ContentType="image/svg+xml"/>
  <Override PartName="/ppt/media/image91.svg" ContentType="image/svg+xml"/>
  <Override PartName="/ppt/media/image93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8" Type="http://schemas.openxmlformats.org/officeDocument/2006/relationships/tableStyles" Target="tableStyles.xml"/><Relationship Id="rId27" Type="http://schemas.openxmlformats.org/officeDocument/2006/relationships/viewProps" Target="viewProps.xml"/><Relationship Id="rId26" Type="http://schemas.openxmlformats.org/officeDocument/2006/relationships/presProps" Target="presProps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17.wmf"/></Relationships>
</file>

<file path=ppt/drawings/_rels/vmlDrawing2.vml.rels><?xml version="1.0" encoding="UTF-8" standalone="yes"?>
<Relationships xmlns="http://schemas.openxmlformats.org/package/2006/relationships"><Relationship Id="rId1" Type="http://schemas.openxmlformats.org/officeDocument/2006/relationships/image" Target="../media/image191.w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.xml"/><Relationship Id="rId8" Type="http://schemas.openxmlformats.org/officeDocument/2006/relationships/image" Target="../media/image8.png"/><Relationship Id="rId7" Type="http://schemas.openxmlformats.org/officeDocument/2006/relationships/image" Target="../media/image7.png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0" Type="http://schemas.openxmlformats.org/officeDocument/2006/relationships/notesSlide" Target="../notesSlides/notesSlide1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10.png"/><Relationship Id="rId1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image" Target="../media/image18.svg"/><Relationship Id="rId8" Type="http://schemas.openxmlformats.org/officeDocument/2006/relationships/image" Target="../media/image17.png"/><Relationship Id="rId7" Type="http://schemas.openxmlformats.org/officeDocument/2006/relationships/image" Target="../media/image16.svg"/><Relationship Id="rId6" Type="http://schemas.openxmlformats.org/officeDocument/2006/relationships/image" Target="../media/image15.png"/><Relationship Id="rId5" Type="http://schemas.openxmlformats.org/officeDocument/2006/relationships/image" Target="../media/image14.svg"/><Relationship Id="rId4" Type="http://schemas.openxmlformats.org/officeDocument/2006/relationships/image" Target="../media/image13.png"/><Relationship Id="rId3" Type="http://schemas.openxmlformats.org/officeDocument/2006/relationships/image" Target="../media/image12.png"/><Relationship Id="rId20" Type="http://schemas.openxmlformats.org/officeDocument/2006/relationships/notesSlide" Target="../notesSlides/notesSlide3.xml"/><Relationship Id="rId2" Type="http://schemas.openxmlformats.org/officeDocument/2006/relationships/image" Target="../media/image11.png"/><Relationship Id="rId19" Type="http://schemas.openxmlformats.org/officeDocument/2006/relationships/slideLayout" Target="../slideLayouts/slideLayout1.xml"/><Relationship Id="rId18" Type="http://schemas.openxmlformats.org/officeDocument/2006/relationships/image" Target="../media/image27.png"/><Relationship Id="rId17" Type="http://schemas.openxmlformats.org/officeDocument/2006/relationships/image" Target="../media/image26.png"/><Relationship Id="rId16" Type="http://schemas.openxmlformats.org/officeDocument/2006/relationships/image" Target="../media/image25.svg"/><Relationship Id="rId15" Type="http://schemas.openxmlformats.org/officeDocument/2006/relationships/image" Target="../media/image24.png"/><Relationship Id="rId14" Type="http://schemas.openxmlformats.org/officeDocument/2006/relationships/image" Target="../media/image23.svg"/><Relationship Id="rId13" Type="http://schemas.openxmlformats.org/officeDocument/2006/relationships/image" Target="../media/image22.png"/><Relationship Id="rId12" Type="http://schemas.openxmlformats.org/officeDocument/2006/relationships/image" Target="../media/image21.svg"/><Relationship Id="rId11" Type="http://schemas.openxmlformats.org/officeDocument/2006/relationships/image" Target="../media/image20.png"/><Relationship Id="rId10" Type="http://schemas.openxmlformats.org/officeDocument/2006/relationships/image" Target="../media/image19.png"/><Relationship Id="rId1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image" Target="../media/image33.png"/><Relationship Id="rId8" Type="http://schemas.openxmlformats.org/officeDocument/2006/relationships/image" Target="../media/image32.svg"/><Relationship Id="rId7" Type="http://schemas.openxmlformats.org/officeDocument/2006/relationships/image" Target="../media/image31.png"/><Relationship Id="rId6" Type="http://schemas.openxmlformats.org/officeDocument/2006/relationships/image" Target="../media/image30.svg"/><Relationship Id="rId5" Type="http://schemas.openxmlformats.org/officeDocument/2006/relationships/image" Target="../media/image29.png"/><Relationship Id="rId4" Type="http://schemas.openxmlformats.org/officeDocument/2006/relationships/image" Target="../media/image28.png"/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6" Type="http://schemas.openxmlformats.org/officeDocument/2006/relationships/notesSlide" Target="../notesSlides/notesSlide4.xml"/><Relationship Id="rId15" Type="http://schemas.openxmlformats.org/officeDocument/2006/relationships/slideLayout" Target="../slideLayouts/slideLayout1.xml"/><Relationship Id="rId14" Type="http://schemas.openxmlformats.org/officeDocument/2006/relationships/image" Target="../media/image38.svg"/><Relationship Id="rId13" Type="http://schemas.openxmlformats.org/officeDocument/2006/relationships/image" Target="../media/image37.png"/><Relationship Id="rId12" Type="http://schemas.openxmlformats.org/officeDocument/2006/relationships/image" Target="../media/image36.svg"/><Relationship Id="rId11" Type="http://schemas.openxmlformats.org/officeDocument/2006/relationships/image" Target="../media/image35.png"/><Relationship Id="rId10" Type="http://schemas.openxmlformats.org/officeDocument/2006/relationships/image" Target="../media/image34.svg"/><Relationship Id="rId1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9" Type="http://schemas.openxmlformats.org/officeDocument/2006/relationships/image" Target="../media/image43.png"/><Relationship Id="rId8" Type="http://schemas.openxmlformats.org/officeDocument/2006/relationships/tags" Target="../tags/tag1.xml"/><Relationship Id="rId7" Type="http://schemas.openxmlformats.org/officeDocument/2006/relationships/image" Target="../media/image42.svg"/><Relationship Id="rId6" Type="http://schemas.openxmlformats.org/officeDocument/2006/relationships/image" Target="../media/image41.png"/><Relationship Id="rId5" Type="http://schemas.openxmlformats.org/officeDocument/2006/relationships/image" Target="../media/image40.svg"/><Relationship Id="rId4" Type="http://schemas.openxmlformats.org/officeDocument/2006/relationships/image" Target="../media/image39.png"/><Relationship Id="rId37" Type="http://schemas.openxmlformats.org/officeDocument/2006/relationships/notesSlide" Target="../notesSlides/notesSlide5.xml"/><Relationship Id="rId36" Type="http://schemas.openxmlformats.org/officeDocument/2006/relationships/slideLayout" Target="../slideLayouts/slideLayout1.xml"/><Relationship Id="rId35" Type="http://schemas.openxmlformats.org/officeDocument/2006/relationships/tags" Target="../tags/tag24.xml"/><Relationship Id="rId34" Type="http://schemas.openxmlformats.org/officeDocument/2006/relationships/tags" Target="../tags/tag23.xml"/><Relationship Id="rId33" Type="http://schemas.openxmlformats.org/officeDocument/2006/relationships/tags" Target="../tags/tag22.xml"/><Relationship Id="rId32" Type="http://schemas.openxmlformats.org/officeDocument/2006/relationships/tags" Target="../tags/tag21.xml"/><Relationship Id="rId31" Type="http://schemas.openxmlformats.org/officeDocument/2006/relationships/tags" Target="../tags/tag20.xml"/><Relationship Id="rId30" Type="http://schemas.openxmlformats.org/officeDocument/2006/relationships/tags" Target="../tags/tag19.xml"/><Relationship Id="rId3" Type="http://schemas.openxmlformats.org/officeDocument/2006/relationships/image" Target="../media/image12.png"/><Relationship Id="rId29" Type="http://schemas.openxmlformats.org/officeDocument/2006/relationships/tags" Target="../tags/tag18.xml"/><Relationship Id="rId28" Type="http://schemas.openxmlformats.org/officeDocument/2006/relationships/tags" Target="../tags/tag17.xml"/><Relationship Id="rId27" Type="http://schemas.openxmlformats.org/officeDocument/2006/relationships/tags" Target="../tags/tag16.xml"/><Relationship Id="rId26" Type="http://schemas.openxmlformats.org/officeDocument/2006/relationships/tags" Target="../tags/tag15.xml"/><Relationship Id="rId25" Type="http://schemas.openxmlformats.org/officeDocument/2006/relationships/tags" Target="../tags/tag14.xml"/><Relationship Id="rId24" Type="http://schemas.openxmlformats.org/officeDocument/2006/relationships/tags" Target="../tags/tag13.xml"/><Relationship Id="rId23" Type="http://schemas.openxmlformats.org/officeDocument/2006/relationships/tags" Target="../tags/tag12.xml"/><Relationship Id="rId22" Type="http://schemas.openxmlformats.org/officeDocument/2006/relationships/tags" Target="../tags/tag11.xml"/><Relationship Id="rId21" Type="http://schemas.openxmlformats.org/officeDocument/2006/relationships/tags" Target="../tags/tag10.xml"/><Relationship Id="rId20" Type="http://schemas.openxmlformats.org/officeDocument/2006/relationships/tags" Target="../tags/tag9.xml"/><Relationship Id="rId2" Type="http://schemas.openxmlformats.org/officeDocument/2006/relationships/image" Target="../media/image11.png"/><Relationship Id="rId19" Type="http://schemas.openxmlformats.org/officeDocument/2006/relationships/tags" Target="../tags/tag8.xml"/><Relationship Id="rId18" Type="http://schemas.openxmlformats.org/officeDocument/2006/relationships/tags" Target="../tags/tag7.xml"/><Relationship Id="rId17" Type="http://schemas.openxmlformats.org/officeDocument/2006/relationships/tags" Target="../tags/tag6.xml"/><Relationship Id="rId16" Type="http://schemas.openxmlformats.org/officeDocument/2006/relationships/tags" Target="../tags/tag5.xml"/><Relationship Id="rId15" Type="http://schemas.openxmlformats.org/officeDocument/2006/relationships/tags" Target="../tags/tag4.xml"/><Relationship Id="rId14" Type="http://schemas.openxmlformats.org/officeDocument/2006/relationships/tags" Target="../tags/tag3.xml"/><Relationship Id="rId13" Type="http://schemas.openxmlformats.org/officeDocument/2006/relationships/image" Target="../media/image46.svg"/><Relationship Id="rId12" Type="http://schemas.openxmlformats.org/officeDocument/2006/relationships/image" Target="../media/image45.png"/><Relationship Id="rId11" Type="http://schemas.openxmlformats.org/officeDocument/2006/relationships/tags" Target="../tags/tag2.xml"/><Relationship Id="rId10" Type="http://schemas.openxmlformats.org/officeDocument/2006/relationships/image" Target="../media/image44.svg"/><Relationship Id="rId1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9" Type="http://schemas.openxmlformats.org/officeDocument/2006/relationships/image" Target="../media/image52.png"/><Relationship Id="rId8" Type="http://schemas.openxmlformats.org/officeDocument/2006/relationships/image" Target="../media/image51.png"/><Relationship Id="rId7" Type="http://schemas.openxmlformats.org/officeDocument/2006/relationships/image" Target="../media/image50.png"/><Relationship Id="rId6" Type="http://schemas.openxmlformats.org/officeDocument/2006/relationships/image" Target="../media/image49.png"/><Relationship Id="rId5" Type="http://schemas.openxmlformats.org/officeDocument/2006/relationships/image" Target="../media/image48.svg"/><Relationship Id="rId4" Type="http://schemas.openxmlformats.org/officeDocument/2006/relationships/image" Target="../media/image47.png"/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5" Type="http://schemas.openxmlformats.org/officeDocument/2006/relationships/notesSlide" Target="../notesSlides/notesSlide6.xml"/><Relationship Id="rId14" Type="http://schemas.openxmlformats.org/officeDocument/2006/relationships/slideLayout" Target="../slideLayouts/slideLayout1.xml"/><Relationship Id="rId13" Type="http://schemas.openxmlformats.org/officeDocument/2006/relationships/image" Target="../media/image56.svg"/><Relationship Id="rId12" Type="http://schemas.openxmlformats.org/officeDocument/2006/relationships/image" Target="../media/image55.png"/><Relationship Id="rId11" Type="http://schemas.openxmlformats.org/officeDocument/2006/relationships/image" Target="../media/image54.svg"/><Relationship Id="rId10" Type="http://schemas.openxmlformats.org/officeDocument/2006/relationships/image" Target="../media/image53.png"/><Relationship Id="rId1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7.xml"/><Relationship Id="rId6" Type="http://schemas.openxmlformats.org/officeDocument/2006/relationships/slideLayout" Target="../slideLayouts/slideLayout1.xml"/><Relationship Id="rId5" Type="http://schemas.openxmlformats.org/officeDocument/2006/relationships/image" Target="../media/image58.svg"/><Relationship Id="rId4" Type="http://schemas.openxmlformats.org/officeDocument/2006/relationships/image" Target="../media/image57.png"/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9" Type="http://schemas.openxmlformats.org/officeDocument/2006/relationships/image" Target="../media/image64.svg"/><Relationship Id="rId8" Type="http://schemas.openxmlformats.org/officeDocument/2006/relationships/image" Target="../media/image63.png"/><Relationship Id="rId7" Type="http://schemas.openxmlformats.org/officeDocument/2006/relationships/image" Target="../media/image62.svg"/><Relationship Id="rId6" Type="http://schemas.openxmlformats.org/officeDocument/2006/relationships/image" Target="../media/image61.png"/><Relationship Id="rId5" Type="http://schemas.openxmlformats.org/officeDocument/2006/relationships/image" Target="../media/image60.png"/><Relationship Id="rId4" Type="http://schemas.openxmlformats.org/officeDocument/2006/relationships/image" Target="../media/image59.png"/><Relationship Id="rId3" Type="http://schemas.openxmlformats.org/officeDocument/2006/relationships/image" Target="../media/image12.png"/><Relationship Id="rId21" Type="http://schemas.openxmlformats.org/officeDocument/2006/relationships/notesSlide" Target="../notesSlides/notesSlide8.xml"/><Relationship Id="rId20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19" Type="http://schemas.openxmlformats.org/officeDocument/2006/relationships/image" Target="../media/image21.svg"/><Relationship Id="rId18" Type="http://schemas.openxmlformats.org/officeDocument/2006/relationships/image" Target="../media/image20.png"/><Relationship Id="rId17" Type="http://schemas.openxmlformats.org/officeDocument/2006/relationships/image" Target="../media/image72.svg"/><Relationship Id="rId16" Type="http://schemas.openxmlformats.org/officeDocument/2006/relationships/image" Target="../media/image71.png"/><Relationship Id="rId15" Type="http://schemas.openxmlformats.org/officeDocument/2006/relationships/image" Target="../media/image70.png"/><Relationship Id="rId14" Type="http://schemas.openxmlformats.org/officeDocument/2006/relationships/image" Target="../media/image69.svg"/><Relationship Id="rId13" Type="http://schemas.openxmlformats.org/officeDocument/2006/relationships/image" Target="../media/image68.png"/><Relationship Id="rId12" Type="http://schemas.openxmlformats.org/officeDocument/2006/relationships/image" Target="../media/image67.svg"/><Relationship Id="rId11" Type="http://schemas.openxmlformats.org/officeDocument/2006/relationships/image" Target="../media/image66.png"/><Relationship Id="rId10" Type="http://schemas.openxmlformats.org/officeDocument/2006/relationships/image" Target="../media/image65.png"/><Relationship Id="rId1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9" Type="http://schemas.openxmlformats.org/officeDocument/2006/relationships/image" Target="../media/image76.png"/><Relationship Id="rId8" Type="http://schemas.openxmlformats.org/officeDocument/2006/relationships/image" Target="../media/image30.svg"/><Relationship Id="rId7" Type="http://schemas.openxmlformats.org/officeDocument/2006/relationships/image" Target="../media/image29.png"/><Relationship Id="rId6" Type="http://schemas.openxmlformats.org/officeDocument/2006/relationships/image" Target="../media/image75.png"/><Relationship Id="rId5" Type="http://schemas.openxmlformats.org/officeDocument/2006/relationships/image" Target="../media/image74.svg"/><Relationship Id="rId4" Type="http://schemas.openxmlformats.org/officeDocument/2006/relationships/image" Target="../media/image73.png"/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6" Type="http://schemas.openxmlformats.org/officeDocument/2006/relationships/notesSlide" Target="../notesSlides/notesSlide9.xml"/><Relationship Id="rId15" Type="http://schemas.openxmlformats.org/officeDocument/2006/relationships/slideLayout" Target="../slideLayouts/slideLayout1.xml"/><Relationship Id="rId14" Type="http://schemas.openxmlformats.org/officeDocument/2006/relationships/image" Target="../media/image81.png"/><Relationship Id="rId13" Type="http://schemas.openxmlformats.org/officeDocument/2006/relationships/image" Target="../media/image80.svg"/><Relationship Id="rId12" Type="http://schemas.openxmlformats.org/officeDocument/2006/relationships/image" Target="../media/image79.png"/><Relationship Id="rId11" Type="http://schemas.openxmlformats.org/officeDocument/2006/relationships/image" Target="../media/image78.png"/><Relationship Id="rId10" Type="http://schemas.openxmlformats.org/officeDocument/2006/relationships/image" Target="../media/image77.svg"/><Relationship Id="rId1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9" Type="http://schemas.openxmlformats.org/officeDocument/2006/relationships/image" Target="../media/image38.svg"/><Relationship Id="rId8" Type="http://schemas.openxmlformats.org/officeDocument/2006/relationships/image" Target="../media/image37.png"/><Relationship Id="rId7" Type="http://schemas.openxmlformats.org/officeDocument/2006/relationships/image" Target="../media/image85.svg"/><Relationship Id="rId6" Type="http://schemas.openxmlformats.org/officeDocument/2006/relationships/image" Target="../media/image84.png"/><Relationship Id="rId5" Type="http://schemas.openxmlformats.org/officeDocument/2006/relationships/image" Target="../media/image83.svg"/><Relationship Id="rId4" Type="http://schemas.openxmlformats.org/officeDocument/2006/relationships/image" Target="../media/image82.png"/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1" Type="http://schemas.openxmlformats.org/officeDocument/2006/relationships/notesSlide" Target="../notesSlides/notesSlide10.xml"/><Relationship Id="rId10" Type="http://schemas.openxmlformats.org/officeDocument/2006/relationships/slideLayout" Target="../slideLayouts/slideLayout1.xml"/><Relationship Id="rId1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9" Type="http://schemas.openxmlformats.org/officeDocument/2006/relationships/image" Target="../media/image91.svg"/><Relationship Id="rId8" Type="http://schemas.openxmlformats.org/officeDocument/2006/relationships/image" Target="../media/image90.png"/><Relationship Id="rId7" Type="http://schemas.openxmlformats.org/officeDocument/2006/relationships/image" Target="../media/image89.png"/><Relationship Id="rId6" Type="http://schemas.openxmlformats.org/officeDocument/2006/relationships/image" Target="../media/image88.png"/><Relationship Id="rId5" Type="http://schemas.openxmlformats.org/officeDocument/2006/relationships/image" Target="../media/image87.svg"/><Relationship Id="rId4" Type="http://schemas.openxmlformats.org/officeDocument/2006/relationships/image" Target="../media/image86.png"/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5" Type="http://schemas.openxmlformats.org/officeDocument/2006/relationships/notesSlide" Target="../notesSlides/notesSlide11.xml"/><Relationship Id="rId14" Type="http://schemas.openxmlformats.org/officeDocument/2006/relationships/slideLayout" Target="../slideLayouts/slideLayout1.xml"/><Relationship Id="rId13" Type="http://schemas.openxmlformats.org/officeDocument/2006/relationships/image" Target="../media/image95.png"/><Relationship Id="rId12" Type="http://schemas.openxmlformats.org/officeDocument/2006/relationships/image" Target="../media/image94.png"/><Relationship Id="rId11" Type="http://schemas.openxmlformats.org/officeDocument/2006/relationships/image" Target="../media/image93.svg"/><Relationship Id="rId10" Type="http://schemas.openxmlformats.org/officeDocument/2006/relationships/image" Target="../media/image92.png"/><Relationship Id="rId1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2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image" Target="../media/image9.png"/></Relationships>
</file>

<file path=ppt/slides/_rels/slide13.xml.rels><?xml version="1.0" encoding="UTF-8" standalone="yes"?>
<Relationships xmlns="http://schemas.openxmlformats.org/package/2006/relationships"><Relationship Id="rId9" Type="http://schemas.openxmlformats.org/officeDocument/2006/relationships/image" Target="../media/image100.svg"/><Relationship Id="rId8" Type="http://schemas.openxmlformats.org/officeDocument/2006/relationships/image" Target="../media/image99.png"/><Relationship Id="rId7" Type="http://schemas.openxmlformats.org/officeDocument/2006/relationships/image" Target="../media/image98.png"/><Relationship Id="rId6" Type="http://schemas.openxmlformats.org/officeDocument/2006/relationships/image" Target="../media/image21.svg"/><Relationship Id="rId5" Type="http://schemas.openxmlformats.org/officeDocument/2006/relationships/image" Target="../media/image97.png"/><Relationship Id="rId4" Type="http://schemas.openxmlformats.org/officeDocument/2006/relationships/image" Target="../media/image96.png"/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3" Type="http://schemas.openxmlformats.org/officeDocument/2006/relationships/notesSlide" Target="../notesSlides/notesSlide13.xml"/><Relationship Id="rId12" Type="http://schemas.openxmlformats.org/officeDocument/2006/relationships/slideLayout" Target="../slideLayouts/slideLayout1.xml"/><Relationship Id="rId11" Type="http://schemas.openxmlformats.org/officeDocument/2006/relationships/image" Target="../media/image102.svg"/><Relationship Id="rId10" Type="http://schemas.openxmlformats.org/officeDocument/2006/relationships/image" Target="../media/image101.png"/><Relationship Id="rId1" Type="http://schemas.openxmlformats.org/officeDocument/2006/relationships/image" Target="../media/image9.png"/></Relationships>
</file>

<file path=ppt/slides/_rels/slide14.xml.rels><?xml version="1.0" encoding="UTF-8" standalone="yes"?>
<Relationships xmlns="http://schemas.openxmlformats.org/package/2006/relationships"><Relationship Id="rId9" Type="http://schemas.openxmlformats.org/officeDocument/2006/relationships/tags" Target="../tags/tag27.xml"/><Relationship Id="rId8" Type="http://schemas.openxmlformats.org/officeDocument/2006/relationships/tags" Target="../tags/tag26.xml"/><Relationship Id="rId7" Type="http://schemas.openxmlformats.org/officeDocument/2006/relationships/image" Target="../media/image46.svg"/><Relationship Id="rId6" Type="http://schemas.openxmlformats.org/officeDocument/2006/relationships/image" Target="../media/image104.png"/><Relationship Id="rId5" Type="http://schemas.openxmlformats.org/officeDocument/2006/relationships/tags" Target="../tags/tag25.xml"/><Relationship Id="rId40" Type="http://schemas.openxmlformats.org/officeDocument/2006/relationships/notesSlide" Target="../notesSlides/notesSlide14.xml"/><Relationship Id="rId4" Type="http://schemas.openxmlformats.org/officeDocument/2006/relationships/image" Target="../media/image103.png"/><Relationship Id="rId39" Type="http://schemas.openxmlformats.org/officeDocument/2006/relationships/slideLayout" Target="../slideLayouts/slideLayout1.xml"/><Relationship Id="rId38" Type="http://schemas.openxmlformats.org/officeDocument/2006/relationships/tags" Target="../tags/tag54.xml"/><Relationship Id="rId37" Type="http://schemas.openxmlformats.org/officeDocument/2006/relationships/tags" Target="../tags/tag53.xml"/><Relationship Id="rId36" Type="http://schemas.openxmlformats.org/officeDocument/2006/relationships/tags" Target="../tags/tag52.xml"/><Relationship Id="rId35" Type="http://schemas.openxmlformats.org/officeDocument/2006/relationships/tags" Target="../tags/tag51.xml"/><Relationship Id="rId34" Type="http://schemas.openxmlformats.org/officeDocument/2006/relationships/tags" Target="../tags/tag50.xml"/><Relationship Id="rId33" Type="http://schemas.openxmlformats.org/officeDocument/2006/relationships/tags" Target="../tags/tag49.xml"/><Relationship Id="rId32" Type="http://schemas.openxmlformats.org/officeDocument/2006/relationships/tags" Target="../tags/tag48.xml"/><Relationship Id="rId31" Type="http://schemas.openxmlformats.org/officeDocument/2006/relationships/tags" Target="../tags/tag47.xml"/><Relationship Id="rId30" Type="http://schemas.openxmlformats.org/officeDocument/2006/relationships/tags" Target="../tags/tag46.xml"/><Relationship Id="rId3" Type="http://schemas.openxmlformats.org/officeDocument/2006/relationships/image" Target="../media/image12.png"/><Relationship Id="rId29" Type="http://schemas.openxmlformats.org/officeDocument/2006/relationships/tags" Target="../tags/tag45.xml"/><Relationship Id="rId28" Type="http://schemas.openxmlformats.org/officeDocument/2006/relationships/tags" Target="../tags/tag44.xml"/><Relationship Id="rId27" Type="http://schemas.openxmlformats.org/officeDocument/2006/relationships/tags" Target="../tags/tag43.xml"/><Relationship Id="rId26" Type="http://schemas.openxmlformats.org/officeDocument/2006/relationships/tags" Target="../tags/tag42.xml"/><Relationship Id="rId25" Type="http://schemas.openxmlformats.org/officeDocument/2006/relationships/tags" Target="../tags/tag41.xml"/><Relationship Id="rId24" Type="http://schemas.openxmlformats.org/officeDocument/2006/relationships/tags" Target="../tags/tag40.xml"/><Relationship Id="rId23" Type="http://schemas.openxmlformats.org/officeDocument/2006/relationships/tags" Target="../tags/tag39.xml"/><Relationship Id="rId22" Type="http://schemas.openxmlformats.org/officeDocument/2006/relationships/tags" Target="../tags/tag38.xml"/><Relationship Id="rId21" Type="http://schemas.openxmlformats.org/officeDocument/2006/relationships/tags" Target="../tags/tag37.xml"/><Relationship Id="rId20" Type="http://schemas.openxmlformats.org/officeDocument/2006/relationships/tags" Target="../tags/tag36.xml"/><Relationship Id="rId2" Type="http://schemas.openxmlformats.org/officeDocument/2006/relationships/image" Target="../media/image11.png"/><Relationship Id="rId19" Type="http://schemas.openxmlformats.org/officeDocument/2006/relationships/tags" Target="../tags/tag35.xml"/><Relationship Id="rId18" Type="http://schemas.openxmlformats.org/officeDocument/2006/relationships/tags" Target="../tags/tag34.xml"/><Relationship Id="rId17" Type="http://schemas.openxmlformats.org/officeDocument/2006/relationships/tags" Target="../tags/tag33.xml"/><Relationship Id="rId16" Type="http://schemas.openxmlformats.org/officeDocument/2006/relationships/tags" Target="../tags/tag32.xml"/><Relationship Id="rId15" Type="http://schemas.openxmlformats.org/officeDocument/2006/relationships/tags" Target="../tags/tag31.xml"/><Relationship Id="rId14" Type="http://schemas.openxmlformats.org/officeDocument/2006/relationships/tags" Target="../tags/tag30.xml"/><Relationship Id="rId13" Type="http://schemas.openxmlformats.org/officeDocument/2006/relationships/tags" Target="../tags/tag29.xml"/><Relationship Id="rId12" Type="http://schemas.openxmlformats.org/officeDocument/2006/relationships/image" Target="../media/image106.svg"/><Relationship Id="rId11" Type="http://schemas.openxmlformats.org/officeDocument/2006/relationships/image" Target="../media/image105.png"/><Relationship Id="rId10" Type="http://schemas.openxmlformats.org/officeDocument/2006/relationships/tags" Target="../tags/tag28.xml"/><Relationship Id="rId1" Type="http://schemas.openxmlformats.org/officeDocument/2006/relationships/image" Target="../media/image9.png"/></Relationships>
</file>

<file path=ppt/slides/_rels/slide15.xml.rels><?xml version="1.0" encoding="UTF-8" standalone="yes"?>
<Relationships xmlns="http://schemas.openxmlformats.org/package/2006/relationships"><Relationship Id="rId9" Type="http://schemas.openxmlformats.org/officeDocument/2006/relationships/image" Target="../media/image112.png"/><Relationship Id="rId8" Type="http://schemas.openxmlformats.org/officeDocument/2006/relationships/image" Target="../media/image111.svg"/><Relationship Id="rId7" Type="http://schemas.openxmlformats.org/officeDocument/2006/relationships/image" Target="../media/image110.png"/><Relationship Id="rId6" Type="http://schemas.openxmlformats.org/officeDocument/2006/relationships/image" Target="../media/image109.png"/><Relationship Id="rId5" Type="http://schemas.openxmlformats.org/officeDocument/2006/relationships/image" Target="../media/image108.png"/><Relationship Id="rId4" Type="http://schemas.openxmlformats.org/officeDocument/2006/relationships/image" Target="../media/image107.png"/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8" Type="http://schemas.openxmlformats.org/officeDocument/2006/relationships/notesSlide" Target="../notesSlides/notesSlide15.xml"/><Relationship Id="rId17" Type="http://schemas.openxmlformats.org/officeDocument/2006/relationships/vmlDrawing" Target="../drawings/vmlDrawing1.vml"/><Relationship Id="rId16" Type="http://schemas.openxmlformats.org/officeDocument/2006/relationships/slideLayout" Target="../slideLayouts/slideLayout1.xml"/><Relationship Id="rId15" Type="http://schemas.openxmlformats.org/officeDocument/2006/relationships/image" Target="../media/image117.wmf"/><Relationship Id="rId14" Type="http://schemas.openxmlformats.org/officeDocument/2006/relationships/package" Target="../embeddings/Document1.docx"/><Relationship Id="rId13" Type="http://schemas.openxmlformats.org/officeDocument/2006/relationships/image" Target="../media/image116.svg"/><Relationship Id="rId12" Type="http://schemas.openxmlformats.org/officeDocument/2006/relationships/image" Target="../media/image115.png"/><Relationship Id="rId11" Type="http://schemas.openxmlformats.org/officeDocument/2006/relationships/image" Target="../media/image114.png"/><Relationship Id="rId10" Type="http://schemas.openxmlformats.org/officeDocument/2006/relationships/image" Target="../media/image113.svg"/><Relationship Id="rId1" Type="http://schemas.openxmlformats.org/officeDocument/2006/relationships/image" Target="../media/image9.png"/></Relationships>
</file>

<file path=ppt/slides/_rels/slide16.xml.rels><?xml version="1.0" encoding="UTF-8" standalone="yes"?>
<Relationships xmlns="http://schemas.openxmlformats.org/package/2006/relationships"><Relationship Id="rId9" Type="http://schemas.openxmlformats.org/officeDocument/2006/relationships/image" Target="../media/image121.png"/><Relationship Id="rId8" Type="http://schemas.openxmlformats.org/officeDocument/2006/relationships/image" Target="../media/image120.svg"/><Relationship Id="rId7" Type="http://schemas.openxmlformats.org/officeDocument/2006/relationships/image" Target="../media/image119.png"/><Relationship Id="rId6" Type="http://schemas.openxmlformats.org/officeDocument/2006/relationships/image" Target="../media/image46.svg"/><Relationship Id="rId5" Type="http://schemas.openxmlformats.org/officeDocument/2006/relationships/image" Target="../media/image104.png"/><Relationship Id="rId46" Type="http://schemas.openxmlformats.org/officeDocument/2006/relationships/notesSlide" Target="../notesSlides/notesSlide16.xml"/><Relationship Id="rId45" Type="http://schemas.openxmlformats.org/officeDocument/2006/relationships/slideLayout" Target="../slideLayouts/slideLayout1.xml"/><Relationship Id="rId44" Type="http://schemas.openxmlformats.org/officeDocument/2006/relationships/image" Target="../media/image137.svg"/><Relationship Id="rId43" Type="http://schemas.openxmlformats.org/officeDocument/2006/relationships/image" Target="../media/image136.png"/><Relationship Id="rId42" Type="http://schemas.openxmlformats.org/officeDocument/2006/relationships/image" Target="../media/image135.svg"/><Relationship Id="rId41" Type="http://schemas.openxmlformats.org/officeDocument/2006/relationships/image" Target="../media/image134.png"/><Relationship Id="rId40" Type="http://schemas.openxmlformats.org/officeDocument/2006/relationships/tags" Target="../tags/tag73.xml"/><Relationship Id="rId4" Type="http://schemas.openxmlformats.org/officeDocument/2006/relationships/image" Target="../media/image118.png"/><Relationship Id="rId39" Type="http://schemas.openxmlformats.org/officeDocument/2006/relationships/tags" Target="../tags/tag72.xml"/><Relationship Id="rId38" Type="http://schemas.openxmlformats.org/officeDocument/2006/relationships/tags" Target="../tags/tag71.xml"/><Relationship Id="rId37" Type="http://schemas.openxmlformats.org/officeDocument/2006/relationships/tags" Target="../tags/tag70.xml"/><Relationship Id="rId36" Type="http://schemas.openxmlformats.org/officeDocument/2006/relationships/tags" Target="../tags/tag69.xml"/><Relationship Id="rId35" Type="http://schemas.openxmlformats.org/officeDocument/2006/relationships/tags" Target="../tags/tag68.xml"/><Relationship Id="rId34" Type="http://schemas.openxmlformats.org/officeDocument/2006/relationships/tags" Target="../tags/tag67.xml"/><Relationship Id="rId33" Type="http://schemas.openxmlformats.org/officeDocument/2006/relationships/tags" Target="../tags/tag66.xml"/><Relationship Id="rId32" Type="http://schemas.openxmlformats.org/officeDocument/2006/relationships/tags" Target="../tags/tag65.xml"/><Relationship Id="rId31" Type="http://schemas.openxmlformats.org/officeDocument/2006/relationships/tags" Target="../tags/tag64.xml"/><Relationship Id="rId30" Type="http://schemas.openxmlformats.org/officeDocument/2006/relationships/tags" Target="../tags/tag63.xml"/><Relationship Id="rId3" Type="http://schemas.openxmlformats.org/officeDocument/2006/relationships/image" Target="../media/image12.png"/><Relationship Id="rId29" Type="http://schemas.openxmlformats.org/officeDocument/2006/relationships/tags" Target="../tags/tag62.xml"/><Relationship Id="rId28" Type="http://schemas.openxmlformats.org/officeDocument/2006/relationships/tags" Target="../tags/tag61.xml"/><Relationship Id="rId27" Type="http://schemas.openxmlformats.org/officeDocument/2006/relationships/tags" Target="../tags/tag60.xml"/><Relationship Id="rId26" Type="http://schemas.openxmlformats.org/officeDocument/2006/relationships/tags" Target="../tags/tag59.xml"/><Relationship Id="rId25" Type="http://schemas.openxmlformats.org/officeDocument/2006/relationships/image" Target="../media/image133.svg"/><Relationship Id="rId24" Type="http://schemas.openxmlformats.org/officeDocument/2006/relationships/image" Target="../media/image132.png"/><Relationship Id="rId23" Type="http://schemas.openxmlformats.org/officeDocument/2006/relationships/tags" Target="../tags/tag58.xml"/><Relationship Id="rId22" Type="http://schemas.openxmlformats.org/officeDocument/2006/relationships/tags" Target="../tags/tag57.xml"/><Relationship Id="rId21" Type="http://schemas.openxmlformats.org/officeDocument/2006/relationships/tags" Target="../tags/tag56.xml"/><Relationship Id="rId20" Type="http://schemas.openxmlformats.org/officeDocument/2006/relationships/image" Target="../media/image131.png"/><Relationship Id="rId2" Type="http://schemas.openxmlformats.org/officeDocument/2006/relationships/image" Target="../media/image11.png"/><Relationship Id="rId19" Type="http://schemas.openxmlformats.org/officeDocument/2006/relationships/tags" Target="../tags/tag55.xml"/><Relationship Id="rId18" Type="http://schemas.openxmlformats.org/officeDocument/2006/relationships/image" Target="../media/image130.svg"/><Relationship Id="rId17" Type="http://schemas.openxmlformats.org/officeDocument/2006/relationships/image" Target="../media/image129.png"/><Relationship Id="rId16" Type="http://schemas.openxmlformats.org/officeDocument/2006/relationships/image" Target="../media/image128.svg"/><Relationship Id="rId15" Type="http://schemas.openxmlformats.org/officeDocument/2006/relationships/image" Target="../media/image127.png"/><Relationship Id="rId14" Type="http://schemas.openxmlformats.org/officeDocument/2006/relationships/image" Target="../media/image126.svg"/><Relationship Id="rId13" Type="http://schemas.openxmlformats.org/officeDocument/2006/relationships/image" Target="../media/image125.png"/><Relationship Id="rId12" Type="http://schemas.openxmlformats.org/officeDocument/2006/relationships/image" Target="../media/image124.png"/><Relationship Id="rId11" Type="http://schemas.openxmlformats.org/officeDocument/2006/relationships/image" Target="../media/image123.svg"/><Relationship Id="rId10" Type="http://schemas.openxmlformats.org/officeDocument/2006/relationships/image" Target="../media/image122.png"/><Relationship Id="rId1" Type="http://schemas.openxmlformats.org/officeDocument/2006/relationships/image" Target="../media/image9.png"/></Relationships>
</file>

<file path=ppt/slides/_rels/slide17.xml.rels><?xml version="1.0" encoding="UTF-8" standalone="yes"?>
<Relationships xmlns="http://schemas.openxmlformats.org/package/2006/relationships"><Relationship Id="rId9" Type="http://schemas.openxmlformats.org/officeDocument/2006/relationships/image" Target="../media/image143.png"/><Relationship Id="rId8" Type="http://schemas.openxmlformats.org/officeDocument/2006/relationships/image" Target="../media/image142.svg"/><Relationship Id="rId7" Type="http://schemas.openxmlformats.org/officeDocument/2006/relationships/image" Target="../media/image141.png"/><Relationship Id="rId6" Type="http://schemas.openxmlformats.org/officeDocument/2006/relationships/image" Target="../media/image140.svg"/><Relationship Id="rId5" Type="http://schemas.openxmlformats.org/officeDocument/2006/relationships/image" Target="../media/image139.png"/><Relationship Id="rId4" Type="http://schemas.openxmlformats.org/officeDocument/2006/relationships/image" Target="../media/image138.png"/><Relationship Id="rId35" Type="http://schemas.openxmlformats.org/officeDocument/2006/relationships/notesSlide" Target="../notesSlides/notesSlide17.xml"/><Relationship Id="rId34" Type="http://schemas.openxmlformats.org/officeDocument/2006/relationships/slideLayout" Target="../slideLayouts/slideLayout1.xml"/><Relationship Id="rId33" Type="http://schemas.openxmlformats.org/officeDocument/2006/relationships/tags" Target="../tags/tag93.xml"/><Relationship Id="rId32" Type="http://schemas.openxmlformats.org/officeDocument/2006/relationships/tags" Target="../tags/tag92.xml"/><Relationship Id="rId31" Type="http://schemas.openxmlformats.org/officeDocument/2006/relationships/tags" Target="../tags/tag91.xml"/><Relationship Id="rId30" Type="http://schemas.openxmlformats.org/officeDocument/2006/relationships/tags" Target="../tags/tag90.xml"/><Relationship Id="rId3" Type="http://schemas.openxmlformats.org/officeDocument/2006/relationships/image" Target="../media/image12.png"/><Relationship Id="rId29" Type="http://schemas.openxmlformats.org/officeDocument/2006/relationships/tags" Target="../tags/tag89.xml"/><Relationship Id="rId28" Type="http://schemas.openxmlformats.org/officeDocument/2006/relationships/tags" Target="../tags/tag88.xml"/><Relationship Id="rId27" Type="http://schemas.openxmlformats.org/officeDocument/2006/relationships/tags" Target="../tags/tag87.xml"/><Relationship Id="rId26" Type="http://schemas.openxmlformats.org/officeDocument/2006/relationships/tags" Target="../tags/tag86.xml"/><Relationship Id="rId25" Type="http://schemas.openxmlformats.org/officeDocument/2006/relationships/tags" Target="../tags/tag85.xml"/><Relationship Id="rId24" Type="http://schemas.openxmlformats.org/officeDocument/2006/relationships/tags" Target="../tags/tag84.xml"/><Relationship Id="rId23" Type="http://schemas.openxmlformats.org/officeDocument/2006/relationships/tags" Target="../tags/tag83.xml"/><Relationship Id="rId22" Type="http://schemas.openxmlformats.org/officeDocument/2006/relationships/tags" Target="../tags/tag82.xml"/><Relationship Id="rId21" Type="http://schemas.openxmlformats.org/officeDocument/2006/relationships/tags" Target="../tags/tag81.xml"/><Relationship Id="rId20" Type="http://schemas.openxmlformats.org/officeDocument/2006/relationships/tags" Target="../tags/tag80.xml"/><Relationship Id="rId2" Type="http://schemas.openxmlformats.org/officeDocument/2006/relationships/image" Target="../media/image11.png"/><Relationship Id="rId19" Type="http://schemas.openxmlformats.org/officeDocument/2006/relationships/tags" Target="../tags/tag79.xml"/><Relationship Id="rId18" Type="http://schemas.openxmlformats.org/officeDocument/2006/relationships/tags" Target="../tags/tag78.xml"/><Relationship Id="rId17" Type="http://schemas.openxmlformats.org/officeDocument/2006/relationships/tags" Target="../tags/tag77.xml"/><Relationship Id="rId16" Type="http://schemas.openxmlformats.org/officeDocument/2006/relationships/tags" Target="../tags/tag76.xml"/><Relationship Id="rId15" Type="http://schemas.openxmlformats.org/officeDocument/2006/relationships/image" Target="../media/image147.png"/><Relationship Id="rId14" Type="http://schemas.openxmlformats.org/officeDocument/2006/relationships/tags" Target="../tags/tag75.xml"/><Relationship Id="rId13" Type="http://schemas.openxmlformats.org/officeDocument/2006/relationships/image" Target="../media/image146.svg"/><Relationship Id="rId12" Type="http://schemas.openxmlformats.org/officeDocument/2006/relationships/image" Target="../media/image145.png"/><Relationship Id="rId11" Type="http://schemas.openxmlformats.org/officeDocument/2006/relationships/tags" Target="../tags/tag74.xml"/><Relationship Id="rId10" Type="http://schemas.openxmlformats.org/officeDocument/2006/relationships/image" Target="../media/image144.svg"/><Relationship Id="rId1" Type="http://schemas.openxmlformats.org/officeDocument/2006/relationships/image" Target="../media/image9.png"/></Relationships>
</file>

<file path=ppt/slides/_rels/slide18.xml.rels><?xml version="1.0" encoding="UTF-8" standalone="yes"?>
<Relationships xmlns="http://schemas.openxmlformats.org/package/2006/relationships"><Relationship Id="rId9" Type="http://schemas.openxmlformats.org/officeDocument/2006/relationships/image" Target="../media/image153.svg"/><Relationship Id="rId8" Type="http://schemas.openxmlformats.org/officeDocument/2006/relationships/image" Target="../media/image152.png"/><Relationship Id="rId7" Type="http://schemas.openxmlformats.org/officeDocument/2006/relationships/image" Target="../media/image151.svg"/><Relationship Id="rId6" Type="http://schemas.openxmlformats.org/officeDocument/2006/relationships/image" Target="../media/image150.png"/><Relationship Id="rId5" Type="http://schemas.openxmlformats.org/officeDocument/2006/relationships/image" Target="../media/image149.svg"/><Relationship Id="rId44" Type="http://schemas.openxmlformats.org/officeDocument/2006/relationships/notesSlide" Target="../notesSlides/notesSlide18.xml"/><Relationship Id="rId43" Type="http://schemas.openxmlformats.org/officeDocument/2006/relationships/slideLayout" Target="../slideLayouts/slideLayout1.xml"/><Relationship Id="rId42" Type="http://schemas.openxmlformats.org/officeDocument/2006/relationships/tags" Target="../tags/tag117.xml"/><Relationship Id="rId41" Type="http://schemas.openxmlformats.org/officeDocument/2006/relationships/tags" Target="../tags/tag116.xml"/><Relationship Id="rId40" Type="http://schemas.openxmlformats.org/officeDocument/2006/relationships/tags" Target="../tags/tag115.xml"/><Relationship Id="rId4" Type="http://schemas.openxmlformats.org/officeDocument/2006/relationships/image" Target="../media/image148.png"/><Relationship Id="rId39" Type="http://schemas.openxmlformats.org/officeDocument/2006/relationships/tags" Target="../tags/tag114.xml"/><Relationship Id="rId38" Type="http://schemas.openxmlformats.org/officeDocument/2006/relationships/tags" Target="../tags/tag113.xml"/><Relationship Id="rId37" Type="http://schemas.openxmlformats.org/officeDocument/2006/relationships/tags" Target="../tags/tag112.xml"/><Relationship Id="rId36" Type="http://schemas.openxmlformats.org/officeDocument/2006/relationships/tags" Target="../tags/tag111.xml"/><Relationship Id="rId35" Type="http://schemas.openxmlformats.org/officeDocument/2006/relationships/tags" Target="../tags/tag110.xml"/><Relationship Id="rId34" Type="http://schemas.openxmlformats.org/officeDocument/2006/relationships/tags" Target="../tags/tag109.xml"/><Relationship Id="rId33" Type="http://schemas.openxmlformats.org/officeDocument/2006/relationships/tags" Target="../tags/tag108.xml"/><Relationship Id="rId32" Type="http://schemas.openxmlformats.org/officeDocument/2006/relationships/tags" Target="../tags/tag107.xml"/><Relationship Id="rId31" Type="http://schemas.openxmlformats.org/officeDocument/2006/relationships/tags" Target="../tags/tag106.xml"/><Relationship Id="rId30" Type="http://schemas.openxmlformats.org/officeDocument/2006/relationships/tags" Target="../tags/tag105.xml"/><Relationship Id="rId3" Type="http://schemas.openxmlformats.org/officeDocument/2006/relationships/image" Target="../media/image12.png"/><Relationship Id="rId29" Type="http://schemas.openxmlformats.org/officeDocument/2006/relationships/tags" Target="../tags/tag104.xml"/><Relationship Id="rId28" Type="http://schemas.openxmlformats.org/officeDocument/2006/relationships/tags" Target="../tags/tag103.xml"/><Relationship Id="rId27" Type="http://schemas.openxmlformats.org/officeDocument/2006/relationships/tags" Target="../tags/tag102.xml"/><Relationship Id="rId26" Type="http://schemas.openxmlformats.org/officeDocument/2006/relationships/tags" Target="../tags/tag101.xml"/><Relationship Id="rId25" Type="http://schemas.openxmlformats.org/officeDocument/2006/relationships/tags" Target="../tags/tag100.xml"/><Relationship Id="rId24" Type="http://schemas.openxmlformats.org/officeDocument/2006/relationships/image" Target="../media/image160.png"/><Relationship Id="rId23" Type="http://schemas.openxmlformats.org/officeDocument/2006/relationships/tags" Target="../tags/tag99.xml"/><Relationship Id="rId22" Type="http://schemas.openxmlformats.org/officeDocument/2006/relationships/tags" Target="../tags/tag98.xml"/><Relationship Id="rId21" Type="http://schemas.openxmlformats.org/officeDocument/2006/relationships/tags" Target="../tags/tag97.xml"/><Relationship Id="rId20" Type="http://schemas.openxmlformats.org/officeDocument/2006/relationships/tags" Target="../tags/tag96.xml"/><Relationship Id="rId2" Type="http://schemas.openxmlformats.org/officeDocument/2006/relationships/image" Target="../media/image11.png"/><Relationship Id="rId19" Type="http://schemas.openxmlformats.org/officeDocument/2006/relationships/image" Target="../media/image159.png"/><Relationship Id="rId18" Type="http://schemas.openxmlformats.org/officeDocument/2006/relationships/tags" Target="../tags/tag95.xml"/><Relationship Id="rId17" Type="http://schemas.openxmlformats.org/officeDocument/2006/relationships/image" Target="../media/image158.svg"/><Relationship Id="rId16" Type="http://schemas.openxmlformats.org/officeDocument/2006/relationships/image" Target="../media/image157.png"/><Relationship Id="rId15" Type="http://schemas.openxmlformats.org/officeDocument/2006/relationships/tags" Target="../tags/tag94.xml"/><Relationship Id="rId14" Type="http://schemas.openxmlformats.org/officeDocument/2006/relationships/image" Target="../media/image74.svg"/><Relationship Id="rId13" Type="http://schemas.openxmlformats.org/officeDocument/2006/relationships/image" Target="../media/image156.png"/><Relationship Id="rId12" Type="http://schemas.openxmlformats.org/officeDocument/2006/relationships/image" Target="../media/image155.svg"/><Relationship Id="rId11" Type="http://schemas.openxmlformats.org/officeDocument/2006/relationships/image" Target="../media/image141.png"/><Relationship Id="rId10" Type="http://schemas.openxmlformats.org/officeDocument/2006/relationships/image" Target="../media/image154.png"/><Relationship Id="rId1" Type="http://schemas.openxmlformats.org/officeDocument/2006/relationships/image" Target="../media/image9.png"/></Relationships>
</file>

<file path=ppt/slides/_rels/slide19.xml.rels><?xml version="1.0" encoding="UTF-8" standalone="yes"?>
<Relationships xmlns="http://schemas.openxmlformats.org/package/2006/relationships"><Relationship Id="rId9" Type="http://schemas.openxmlformats.org/officeDocument/2006/relationships/image" Target="../media/image166.png"/><Relationship Id="rId8" Type="http://schemas.openxmlformats.org/officeDocument/2006/relationships/image" Target="../media/image165.svg"/><Relationship Id="rId7" Type="http://schemas.openxmlformats.org/officeDocument/2006/relationships/image" Target="../media/image164.png"/><Relationship Id="rId6" Type="http://schemas.openxmlformats.org/officeDocument/2006/relationships/image" Target="../media/image163.svg"/><Relationship Id="rId5" Type="http://schemas.openxmlformats.org/officeDocument/2006/relationships/image" Target="../media/image162.png"/><Relationship Id="rId4" Type="http://schemas.openxmlformats.org/officeDocument/2006/relationships/image" Target="../media/image161.png"/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3" Type="http://schemas.openxmlformats.org/officeDocument/2006/relationships/notesSlide" Target="../notesSlides/notesSlide19.xml"/><Relationship Id="rId12" Type="http://schemas.openxmlformats.org/officeDocument/2006/relationships/slideLayout" Target="../slideLayouts/slideLayout1.xml"/><Relationship Id="rId11" Type="http://schemas.openxmlformats.org/officeDocument/2006/relationships/image" Target="../media/image168.svg"/><Relationship Id="rId10" Type="http://schemas.openxmlformats.org/officeDocument/2006/relationships/image" Target="../media/image167.png"/><Relationship Id="rId1" Type="http://schemas.openxmlformats.org/officeDocument/2006/relationships/image" Target="../media/image9.png"/></Relationships>
</file>

<file path=ppt/slides/_rels/slide20.xml.rels><?xml version="1.0" encoding="UTF-8" standalone="yes"?>
<Relationships xmlns="http://schemas.openxmlformats.org/package/2006/relationships"><Relationship Id="rId9" Type="http://schemas.openxmlformats.org/officeDocument/2006/relationships/image" Target="../media/image174.svg"/><Relationship Id="rId8" Type="http://schemas.openxmlformats.org/officeDocument/2006/relationships/image" Target="../media/image173.png"/><Relationship Id="rId7" Type="http://schemas.openxmlformats.org/officeDocument/2006/relationships/image" Target="../media/image172.svg"/><Relationship Id="rId6" Type="http://schemas.openxmlformats.org/officeDocument/2006/relationships/image" Target="../media/image171.png"/><Relationship Id="rId5" Type="http://schemas.openxmlformats.org/officeDocument/2006/relationships/image" Target="../media/image170.svg"/><Relationship Id="rId4" Type="http://schemas.openxmlformats.org/officeDocument/2006/relationships/image" Target="../media/image169.png"/><Relationship Id="rId3" Type="http://schemas.openxmlformats.org/officeDocument/2006/relationships/image" Target="../media/image12.png"/><Relationship Id="rId25" Type="http://schemas.openxmlformats.org/officeDocument/2006/relationships/notesSlide" Target="../notesSlides/notesSlide20.xml"/><Relationship Id="rId24" Type="http://schemas.openxmlformats.org/officeDocument/2006/relationships/slideLayout" Target="../slideLayouts/slideLayout1.xml"/><Relationship Id="rId23" Type="http://schemas.openxmlformats.org/officeDocument/2006/relationships/image" Target="../media/image186.png"/><Relationship Id="rId22" Type="http://schemas.openxmlformats.org/officeDocument/2006/relationships/image" Target="../media/image185.png"/><Relationship Id="rId21" Type="http://schemas.openxmlformats.org/officeDocument/2006/relationships/image" Target="../media/image46.svg"/><Relationship Id="rId20" Type="http://schemas.openxmlformats.org/officeDocument/2006/relationships/image" Target="../media/image104.png"/><Relationship Id="rId2" Type="http://schemas.openxmlformats.org/officeDocument/2006/relationships/image" Target="../media/image11.png"/><Relationship Id="rId19" Type="http://schemas.openxmlformats.org/officeDocument/2006/relationships/image" Target="../media/image184.png"/><Relationship Id="rId18" Type="http://schemas.openxmlformats.org/officeDocument/2006/relationships/image" Target="../media/image183.png"/><Relationship Id="rId17" Type="http://schemas.openxmlformats.org/officeDocument/2006/relationships/image" Target="../media/image182.png"/><Relationship Id="rId16" Type="http://schemas.openxmlformats.org/officeDocument/2006/relationships/image" Target="../media/image181.png"/><Relationship Id="rId15" Type="http://schemas.openxmlformats.org/officeDocument/2006/relationships/image" Target="../media/image180.png"/><Relationship Id="rId14" Type="http://schemas.openxmlformats.org/officeDocument/2006/relationships/image" Target="../media/image179.png"/><Relationship Id="rId13" Type="http://schemas.openxmlformats.org/officeDocument/2006/relationships/image" Target="../media/image178.png"/><Relationship Id="rId12" Type="http://schemas.openxmlformats.org/officeDocument/2006/relationships/image" Target="../media/image177.png"/><Relationship Id="rId11" Type="http://schemas.openxmlformats.org/officeDocument/2006/relationships/image" Target="../media/image176.png"/><Relationship Id="rId10" Type="http://schemas.openxmlformats.org/officeDocument/2006/relationships/image" Target="../media/image175.png"/><Relationship Id="rId1" Type="http://schemas.openxmlformats.org/officeDocument/2006/relationships/image" Target="../media/image9.png"/></Relationships>
</file>

<file path=ppt/slides/_rels/slide21.xml.rels><?xml version="1.0" encoding="UTF-8" standalone="yes"?>
<Relationships xmlns="http://schemas.openxmlformats.org/package/2006/relationships"><Relationship Id="rId9" Type="http://schemas.openxmlformats.org/officeDocument/2006/relationships/image" Target="../media/image190.svg"/><Relationship Id="rId8" Type="http://schemas.openxmlformats.org/officeDocument/2006/relationships/image" Target="../media/image189.png"/><Relationship Id="rId7" Type="http://schemas.openxmlformats.org/officeDocument/2006/relationships/image" Target="../media/image21.svg"/><Relationship Id="rId6" Type="http://schemas.openxmlformats.org/officeDocument/2006/relationships/image" Target="../media/image97.png"/><Relationship Id="rId5" Type="http://schemas.openxmlformats.org/officeDocument/2006/relationships/image" Target="../media/image188.png"/><Relationship Id="rId4" Type="http://schemas.openxmlformats.org/officeDocument/2006/relationships/image" Target="../media/image187.png"/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4" Type="http://schemas.openxmlformats.org/officeDocument/2006/relationships/notesSlide" Target="../notesSlides/notesSlide21.xml"/><Relationship Id="rId13" Type="http://schemas.openxmlformats.org/officeDocument/2006/relationships/vmlDrawing" Target="../drawings/vmlDrawing2.vml"/><Relationship Id="rId12" Type="http://schemas.openxmlformats.org/officeDocument/2006/relationships/slideLayout" Target="../slideLayouts/slideLayout1.xml"/><Relationship Id="rId11" Type="http://schemas.openxmlformats.org/officeDocument/2006/relationships/image" Target="../media/image191.wmf"/><Relationship Id="rId10" Type="http://schemas.openxmlformats.org/officeDocument/2006/relationships/package" Target="../embeddings/Document2.docx"/><Relationship Id="rId1" Type="http://schemas.openxmlformats.org/officeDocument/2006/relationships/image" Target="../media/image9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2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25E9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test.web.static.jianzeppt.com/ppt-temp-img3/4bbf78d39a1ae7d50fa38e3b11fcab97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test.web.static.jianzeppt.com/ppt-temp-img3/53c8b2a610a31b616cbf03a52510cc9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57596" y="-13894"/>
            <a:ext cx="8051010" cy="6858000"/>
          </a:xfrm>
          <a:prstGeom prst="rect">
            <a:avLst/>
          </a:prstGeom>
        </p:spPr>
      </p:pic>
      <p:pic>
        <p:nvPicPr>
          <p:cNvPr id="4" name="Image 2" descr="https://test.web.static.jianzeppt.com/ppt-temp-img3/eaa44f0a61b44187c8898f2fb3b10e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2"/>
            <a:ext cx="1799718" cy="1829017"/>
          </a:xfrm>
          <a:prstGeom prst="rect">
            <a:avLst/>
          </a:prstGeom>
        </p:spPr>
      </p:pic>
      <p:pic>
        <p:nvPicPr>
          <p:cNvPr id="5" name="Image 3" descr="https://test.web.static.jianzeppt.com/ppt-temp-img3/d51ae2a74993343c0d3360504948edf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808901"/>
            <a:ext cx="961132" cy="1724746"/>
          </a:xfrm>
          <a:prstGeom prst="rect">
            <a:avLst/>
          </a:prstGeom>
        </p:spPr>
      </p:pic>
      <p:pic>
        <p:nvPicPr>
          <p:cNvPr id="6" name="Image 4" descr="https://test.web.static.jianzeppt.com/ppt-temp-img3/b3f94c3112269735e7d84215f42c973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7069" y="4530971"/>
            <a:ext cx="3482974" cy="637829"/>
          </a:xfrm>
          <a:prstGeom prst="rect">
            <a:avLst/>
          </a:prstGeom>
        </p:spPr>
      </p:pic>
      <p:pic>
        <p:nvPicPr>
          <p:cNvPr id="7" name="Image 5" descr="https://test.web.static.jianzeppt.com/ppt-temp-img3/c7fcd71bde55d7089a0a7c912de83d8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01383" y="2273111"/>
            <a:ext cx="2105868" cy="4595809"/>
          </a:xfrm>
          <a:prstGeom prst="rect">
            <a:avLst/>
          </a:prstGeom>
        </p:spPr>
      </p:pic>
      <p:pic>
        <p:nvPicPr>
          <p:cNvPr id="8" name="Image 6" descr="https://test.web.static.jianzeppt.com/ppt-temp-img3/785b4c7764742237954fb25c8a197f9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82024" y="3802120"/>
            <a:ext cx="2104426" cy="3069770"/>
          </a:xfrm>
          <a:prstGeom prst="rect">
            <a:avLst/>
          </a:prstGeom>
        </p:spPr>
      </p:pic>
      <p:pic>
        <p:nvPicPr>
          <p:cNvPr id="9" name="Image 7" descr="https://test.web.static.jianzeppt.com/ppt-temp-img3/d6b73fd749a971aade8e0c5073b6680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13224" y="2284033"/>
            <a:ext cx="2578776" cy="4584889"/>
          </a:xfrm>
          <a:prstGeom prst="rect">
            <a:avLst/>
          </a:prstGeom>
        </p:spPr>
      </p:pic>
      <p:sp>
        <p:nvSpPr>
          <p:cNvPr id="10" name="Text 0"/>
          <p:cNvSpPr/>
          <p:nvPr/>
        </p:nvSpPr>
        <p:spPr>
          <a:xfrm>
            <a:off x="577080" y="4577763"/>
            <a:ext cx="3321262" cy="5442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2040" dirty="0">
                <a:solidFill>
                  <a:srgbClr val="000000"/>
                </a:solidFill>
              </a:rPr>
              <a:t>授课教师：杨迎</a:t>
            </a:r>
            <a:endParaRPr lang="en-US" sz="2040" dirty="0"/>
          </a:p>
        </p:txBody>
      </p:sp>
      <p:sp>
        <p:nvSpPr>
          <p:cNvPr id="11" name="Text 1"/>
          <p:cNvSpPr/>
          <p:nvPr/>
        </p:nvSpPr>
        <p:spPr>
          <a:xfrm>
            <a:off x="577068" y="1649785"/>
            <a:ext cx="5490553" cy="1874520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6120" dirty="0">
                <a:solidFill>
                  <a:srgbClr val="FFFFFF"/>
                </a:solidFill>
              </a:rPr>
              <a:t>信息安全测评与风险评估</a:t>
            </a:r>
            <a:endParaRPr lang="en-US" sz="6120" dirty="0"/>
          </a:p>
        </p:txBody>
      </p:sp>
      <p:sp>
        <p:nvSpPr>
          <p:cNvPr id="12" name="Text 2"/>
          <p:cNvSpPr/>
          <p:nvPr/>
        </p:nvSpPr>
        <p:spPr>
          <a:xfrm>
            <a:off x="577068" y="3867726"/>
            <a:ext cx="4339657" cy="25908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680" dirty="0">
                <a:solidFill>
                  <a:srgbClr val="FFFFFF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5.2 模拟人员访谈</a:t>
            </a:r>
            <a:endParaRPr lang="en-US" sz="168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3d7a216c70ecba8f9c09a39add3fad53_6317120.png?x-oss-process=image/resize,w_1440,h_800,m_lfit/format,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345" y="245378"/>
            <a:ext cx="11803310" cy="63672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2487295" y="1982470"/>
            <a:ext cx="2183765" cy="619760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3360" dirty="0">
                <a:solidFill>
                  <a:srgbClr val="000000"/>
                </a:solidFill>
              </a:rPr>
              <a:t>01</a:t>
            </a:r>
            <a:endParaRPr lang="en-US" sz="3360" dirty="0"/>
          </a:p>
        </p:txBody>
      </p:sp>
      <p:sp>
        <p:nvSpPr>
          <p:cNvPr id="5" name="Text 1"/>
          <p:cNvSpPr/>
          <p:nvPr/>
        </p:nvSpPr>
        <p:spPr>
          <a:xfrm>
            <a:off x="2487295" y="2999105"/>
            <a:ext cx="2183765" cy="619760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3360" dirty="0">
                <a:solidFill>
                  <a:srgbClr val="000000"/>
                </a:solidFill>
              </a:rPr>
              <a:t>02</a:t>
            </a:r>
            <a:endParaRPr lang="en-US" sz="3360" dirty="0"/>
          </a:p>
        </p:txBody>
      </p:sp>
      <p:sp>
        <p:nvSpPr>
          <p:cNvPr id="6" name="Text 2"/>
          <p:cNvSpPr/>
          <p:nvPr/>
        </p:nvSpPr>
        <p:spPr>
          <a:xfrm>
            <a:off x="2487295" y="4015740"/>
            <a:ext cx="2183765" cy="619760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3360" dirty="0">
                <a:solidFill>
                  <a:srgbClr val="000000"/>
                </a:solidFill>
              </a:rPr>
              <a:t>03</a:t>
            </a:r>
            <a:endParaRPr lang="en-US" sz="3360" dirty="0"/>
          </a:p>
        </p:txBody>
      </p:sp>
      <p:sp>
        <p:nvSpPr>
          <p:cNvPr id="7" name="Text 3"/>
          <p:cNvSpPr/>
          <p:nvPr/>
        </p:nvSpPr>
        <p:spPr>
          <a:xfrm>
            <a:off x="2487295" y="5032375"/>
            <a:ext cx="2183765" cy="619760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3360" dirty="0">
                <a:solidFill>
                  <a:srgbClr val="000000"/>
                </a:solidFill>
              </a:rPr>
              <a:t>04</a:t>
            </a:r>
            <a:endParaRPr lang="en-US" sz="3360" dirty="0"/>
          </a:p>
        </p:txBody>
      </p:sp>
      <p:sp>
        <p:nvSpPr>
          <p:cNvPr id="8" name="Text 4"/>
          <p:cNvSpPr/>
          <p:nvPr/>
        </p:nvSpPr>
        <p:spPr>
          <a:xfrm>
            <a:off x="965498" y="2799393"/>
            <a:ext cx="1769654" cy="731520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4800" dirty="0">
                <a:solidFill>
                  <a:srgbClr val="000000"/>
                </a:solidFill>
              </a:rPr>
              <a:t>目录</a:t>
            </a:r>
            <a:endParaRPr lang="en-US" sz="4800" dirty="0"/>
          </a:p>
        </p:txBody>
      </p:sp>
      <p:sp>
        <p:nvSpPr>
          <p:cNvPr id="9" name="Text 5"/>
          <p:cNvSpPr/>
          <p:nvPr/>
        </p:nvSpPr>
        <p:spPr>
          <a:xfrm>
            <a:off x="953110" y="3733353"/>
            <a:ext cx="3150109" cy="310896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040" dirty="0">
                <a:solidFill>
                  <a:srgbClr val="000000"/>
                </a:solidFill>
              </a:rPr>
              <a:t>CONTENTS</a:t>
            </a:r>
            <a:endParaRPr lang="en-US" sz="2040" dirty="0"/>
          </a:p>
        </p:txBody>
      </p:sp>
      <p:sp>
        <p:nvSpPr>
          <p:cNvPr id="10" name="Text 6"/>
          <p:cNvSpPr/>
          <p:nvPr/>
        </p:nvSpPr>
        <p:spPr>
          <a:xfrm>
            <a:off x="4173855" y="5088255"/>
            <a:ext cx="7767955" cy="553720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3000" dirty="0">
                <a:solidFill>
                  <a:srgbClr val="000000"/>
                </a:solidFill>
              </a:rPr>
              <a:t>访谈的定义与在等保测评中的定位</a:t>
            </a:r>
            <a:endParaRPr lang="en-US" sz="3000" dirty="0"/>
          </a:p>
        </p:txBody>
      </p:sp>
      <p:sp>
        <p:nvSpPr>
          <p:cNvPr id="11" name="Text 7"/>
          <p:cNvSpPr/>
          <p:nvPr/>
        </p:nvSpPr>
        <p:spPr>
          <a:xfrm>
            <a:off x="4173855" y="2038350"/>
            <a:ext cx="7767955" cy="553720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3000" dirty="0">
                <a:solidFill>
                  <a:srgbClr val="000000"/>
                </a:solidFill>
              </a:rPr>
              <a:t>案例导入——“一个访谈引发的真相”</a:t>
            </a:r>
            <a:endParaRPr lang="en-US" sz="3000" dirty="0"/>
          </a:p>
        </p:txBody>
      </p:sp>
      <p:sp>
        <p:nvSpPr>
          <p:cNvPr id="12" name="Text 8"/>
          <p:cNvSpPr/>
          <p:nvPr/>
        </p:nvSpPr>
        <p:spPr>
          <a:xfrm>
            <a:off x="4173855" y="4071620"/>
            <a:ext cx="7767955" cy="553720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3000" dirty="0">
                <a:solidFill>
                  <a:srgbClr val="000000"/>
                </a:solidFill>
              </a:rPr>
              <a:t>安全管理测评中的访谈——为什么必不可少？</a:t>
            </a:r>
            <a:endParaRPr lang="en-US" sz="3000" dirty="0"/>
          </a:p>
        </p:txBody>
      </p:sp>
      <p:sp>
        <p:nvSpPr>
          <p:cNvPr id="13" name="Text 9"/>
          <p:cNvSpPr/>
          <p:nvPr/>
        </p:nvSpPr>
        <p:spPr>
          <a:xfrm>
            <a:off x="4164330" y="3065145"/>
            <a:ext cx="7767955" cy="553720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3000" dirty="0">
                <a:solidFill>
                  <a:srgbClr val="000000"/>
                </a:solidFill>
              </a:rPr>
              <a:t>学习目标</a:t>
            </a:r>
            <a:endParaRPr lang="en-US" sz="3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600" y="1371600"/>
            <a:ext cx="4434840" cy="487680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68680" y="1722120"/>
            <a:ext cx="91440" cy="274320"/>
          </a:xfrm>
          <a:prstGeom prst="rect">
            <a:avLst/>
          </a:prstGeom>
        </p:spPr>
      </p:pic>
      <p:sp>
        <p:nvSpPr>
          <p:cNvPr id="7" name="Text 0"/>
          <p:cNvSpPr/>
          <p:nvPr/>
        </p:nvSpPr>
        <p:spPr>
          <a:xfrm>
            <a:off x="1082040" y="1630680"/>
            <a:ext cx="1228344" cy="4572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400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案例素材</a:t>
            </a:r>
            <a:endParaRPr lang="en-US" sz="2400" dirty="0"/>
          </a:p>
        </p:txBody>
      </p:sp>
      <p:sp>
        <p:nvSpPr>
          <p:cNvPr id="8" name="Text 1"/>
          <p:cNvSpPr/>
          <p:nvPr/>
        </p:nvSpPr>
        <p:spPr>
          <a:xfrm>
            <a:off x="868680" y="2270760"/>
            <a:ext cx="3925824" cy="73152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20" dirty="0">
                <a:solidFill>
                  <a:srgbClr val="1F2937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某测评机构进行等保测评。文档核查阶段制度齐全、记录完整。</a:t>
            </a:r>
            <a:endParaRPr lang="en-US" sz="1920" dirty="0"/>
          </a:p>
        </p:txBody>
      </p:sp>
      <p:pic>
        <p:nvPicPr>
          <p:cNvPr id="9" name="Image 5" descr="preencoded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68680" y="3124200"/>
            <a:ext cx="3916680" cy="286512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sp>
        <p:nvSpPr>
          <p:cNvPr id="10" name="Text 2"/>
          <p:cNvSpPr/>
          <p:nvPr/>
        </p:nvSpPr>
        <p:spPr>
          <a:xfrm>
            <a:off x="1066800" y="3322320"/>
            <a:ext cx="3529584" cy="29718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560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测评师：</a:t>
            </a:r>
            <a:r>
              <a:rPr lang="en-US" sz="1560" dirty="0">
                <a:solidFill>
                  <a:srgbClr val="1F2937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“贵单位是否定期更换密码？”</a:t>
            </a:r>
            <a:endParaRPr lang="en-US" sz="1560" dirty="0"/>
          </a:p>
        </p:txBody>
      </p:sp>
      <p:sp>
        <p:nvSpPr>
          <p:cNvPr id="11" name="Text 3"/>
          <p:cNvSpPr/>
          <p:nvPr/>
        </p:nvSpPr>
        <p:spPr>
          <a:xfrm>
            <a:off x="1066800" y="3962400"/>
            <a:ext cx="3529584" cy="64008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80" dirty="0">
                <a:solidFill>
                  <a:srgbClr val="4B5563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管理员：</a:t>
            </a:r>
            <a:r>
              <a:rPr lang="en-US" sz="1680" dirty="0">
                <a:solidFill>
                  <a:srgbClr val="1F2937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“制度规定90天更换一次。”</a:t>
            </a:r>
            <a:endParaRPr lang="en-US" sz="1680" dirty="0"/>
          </a:p>
        </p:txBody>
      </p:sp>
      <p:sp>
        <p:nvSpPr>
          <p:cNvPr id="12" name="Text 4"/>
          <p:cNvSpPr/>
          <p:nvPr/>
        </p:nvSpPr>
        <p:spPr>
          <a:xfrm>
            <a:off x="1066800" y="4587240"/>
            <a:ext cx="3529584" cy="29718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560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测评师：</a:t>
            </a:r>
            <a:r>
              <a:rPr lang="en-US" sz="1560" dirty="0">
                <a:solidFill>
                  <a:srgbClr val="1F2937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“最近一次更换是什么时候？”</a:t>
            </a:r>
            <a:endParaRPr lang="en-US" sz="1560" dirty="0"/>
          </a:p>
        </p:txBody>
      </p:sp>
      <p:sp>
        <p:nvSpPr>
          <p:cNvPr id="13" name="Text 5"/>
          <p:cNvSpPr/>
          <p:nvPr/>
        </p:nvSpPr>
        <p:spPr>
          <a:xfrm>
            <a:off x="1066800" y="5227320"/>
            <a:ext cx="3529584" cy="59436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560" dirty="0">
                <a:solidFill>
                  <a:srgbClr val="4B5563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管理员：</a:t>
            </a:r>
            <a:r>
              <a:rPr lang="en-US" sz="1560" dirty="0">
                <a:solidFill>
                  <a:srgbClr val="1F2937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“一年前？平时太忙没人检查。”</a:t>
            </a:r>
            <a:endParaRPr lang="en-US" sz="1560" dirty="0"/>
          </a:p>
        </p:txBody>
      </p:sp>
      <p:pic>
        <p:nvPicPr>
          <p:cNvPr id="14" name="Image 6" descr="https://test.web.static.jianzeppt.com/ppt-temp-img3/0df705ec866eecebc999c5ef3c04a971.png?x-oss-process=image/resize,w_1440,h_800,m_lfit/format,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410200" y="1371600"/>
            <a:ext cx="6187440" cy="1524000"/>
          </a:xfrm>
          <a:prstGeom prst="rect">
            <a:avLst/>
          </a:prstGeom>
        </p:spPr>
      </p:pic>
      <p:pic>
        <p:nvPicPr>
          <p:cNvPr id="15" name="Image 7" descr="preencoded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593080" y="1706880"/>
            <a:ext cx="121920" cy="121920"/>
          </a:xfrm>
          <a:prstGeom prst="rect">
            <a:avLst/>
          </a:prstGeom>
        </p:spPr>
      </p:pic>
      <p:sp>
        <p:nvSpPr>
          <p:cNvPr id="16" name="Text 6"/>
          <p:cNvSpPr/>
          <p:nvPr/>
        </p:nvSpPr>
        <p:spPr>
          <a:xfrm>
            <a:off x="5836920" y="1554480"/>
            <a:ext cx="1106424" cy="39624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60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引入问题</a:t>
            </a:r>
            <a:endParaRPr lang="en-US" sz="2160" dirty="0"/>
          </a:p>
        </p:txBody>
      </p:sp>
      <p:sp>
        <p:nvSpPr>
          <p:cNvPr id="17" name="Text 7"/>
          <p:cNvSpPr/>
          <p:nvPr/>
        </p:nvSpPr>
        <p:spPr>
          <a:xfrm>
            <a:off x="5836920" y="2026920"/>
            <a:ext cx="5586984" cy="685800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920" dirty="0">
                <a:solidFill>
                  <a:srgbClr val="1F2937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安全管理测评中，什么是“通过交谈获取证据”的关键环节？</a:t>
            </a:r>
            <a:endParaRPr lang="en-US" sz="1920" dirty="0"/>
          </a:p>
        </p:txBody>
      </p:sp>
      <p:pic>
        <p:nvPicPr>
          <p:cNvPr id="18" name="Image 8" descr="preencoded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532120" y="3276600"/>
            <a:ext cx="121920" cy="121920"/>
          </a:xfrm>
          <a:prstGeom prst="rect">
            <a:avLst/>
          </a:prstGeom>
        </p:spPr>
      </p:pic>
      <p:sp>
        <p:nvSpPr>
          <p:cNvPr id="19" name="Text 8"/>
          <p:cNvSpPr/>
          <p:nvPr/>
        </p:nvSpPr>
        <p:spPr>
          <a:xfrm>
            <a:off x="5775960" y="3139440"/>
            <a:ext cx="1106424" cy="39624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60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问题讨论</a:t>
            </a:r>
            <a:endParaRPr lang="en-US" sz="2160" dirty="0"/>
          </a:p>
        </p:txBody>
      </p:sp>
      <p:sp>
        <p:nvSpPr>
          <p:cNvPr id="20" name="Text 9"/>
          <p:cNvSpPr/>
          <p:nvPr/>
        </p:nvSpPr>
        <p:spPr>
          <a:xfrm>
            <a:off x="6019800" y="3657600"/>
            <a:ext cx="4657344" cy="3429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920" dirty="0">
                <a:solidFill>
                  <a:srgbClr val="374151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该单位的安全制度真的“执行到位”了吗？</a:t>
            </a:r>
            <a:endParaRPr lang="en-US" sz="1920" dirty="0"/>
          </a:p>
        </p:txBody>
      </p:sp>
      <p:pic>
        <p:nvPicPr>
          <p:cNvPr id="21" name="Image 9" descr="preencoded.png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775960" y="3764280"/>
            <a:ext cx="91440" cy="91440"/>
          </a:xfrm>
          <a:prstGeom prst="rect">
            <a:avLst/>
          </a:prstGeom>
        </p:spPr>
      </p:pic>
      <p:pic>
        <p:nvPicPr>
          <p:cNvPr id="22" name="Image 10" descr="preencoded.png"/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5410200" y="4328160"/>
            <a:ext cx="6187440" cy="1920240"/>
          </a:xfrm>
          <a:prstGeom prst="rect">
            <a:avLst/>
          </a:prstGeom>
          <a:effectLst>
            <a:outerShdw blurRad="1161288000" dist="774192000" dir="-1" algn="bl" rotWithShape="0">
              <a:srgbClr val="000000">
                <a:alpha val="1000000000"/>
              </a:srgbClr>
            </a:outerShdw>
          </a:effectLst>
        </p:spPr>
      </p:pic>
      <p:pic>
        <p:nvPicPr>
          <p:cNvPr id="23" name="Image 11" descr="https://test.web.static.jianzeppt.com/ppt-temp-img3/936478d418b8091fc6079acd5907502b.png?x-oss-process=image/resize,w_1440,h_800,m_lfit/format,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654040" y="4572000"/>
            <a:ext cx="1219200" cy="381000"/>
          </a:xfrm>
          <a:prstGeom prst="rect">
            <a:avLst/>
          </a:prstGeom>
        </p:spPr>
      </p:pic>
      <p:sp>
        <p:nvSpPr>
          <p:cNvPr id="24" name="Text 10"/>
          <p:cNvSpPr/>
          <p:nvPr/>
        </p:nvSpPr>
        <p:spPr>
          <a:xfrm>
            <a:off x="5836920" y="4602480"/>
            <a:ext cx="86258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80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核心结论</a:t>
            </a:r>
            <a:endParaRPr lang="en-US" sz="1680" dirty="0"/>
          </a:p>
        </p:txBody>
      </p:sp>
      <p:sp>
        <p:nvSpPr>
          <p:cNvPr id="25" name="Text 11"/>
          <p:cNvSpPr/>
          <p:nvPr/>
        </p:nvSpPr>
        <p:spPr>
          <a:xfrm>
            <a:off x="5654040" y="5135880"/>
            <a:ext cx="5708904" cy="86868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60" dirty="0">
                <a:solidFill>
                  <a:srgbClr val="FFFFFF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访谈是安全管理测评中</a:t>
            </a:r>
            <a:r>
              <a:rPr lang="en-US" sz="2400" u="sng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“验证真实性”</a:t>
            </a:r>
            <a:r>
              <a:rPr lang="en-US" sz="2160" dirty="0">
                <a:solidFill>
                  <a:srgbClr val="FFFFFF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的关键手段。</a:t>
            </a:r>
            <a:endParaRPr lang="en-US" sz="2160" dirty="0"/>
          </a:p>
        </p:txBody>
      </p:sp>
      <p:pic>
        <p:nvPicPr>
          <p:cNvPr id="26" name="Image 12" descr="https://test.web.static.jianzeppt.com/ppt-temp-img3/19ac276ade28e3093637a81102aeb675.png?x-oss-process=image/resize,w_1440,h_800,m_lfit/format,png"/>
          <p:cNvPicPr>
            <a:picLocks noChangeAspect="1"/>
          </p:cNvPicPr>
          <p:nvPr/>
        </p:nvPicPr>
        <p:blipFill>
          <a:blip r:embed="rId18">
            <a:alphaModFix amt="5000"/>
          </a:blip>
          <a:stretch>
            <a:fillRect/>
          </a:stretch>
        </p:blipFill>
        <p:spPr>
          <a:xfrm>
            <a:off x="10668000" y="4328160"/>
            <a:ext cx="929640" cy="914400"/>
          </a:xfrm>
          <a:prstGeom prst="rect">
            <a:avLst/>
          </a:prstGeom>
        </p:spPr>
      </p:pic>
      <p:sp>
        <p:nvSpPr>
          <p:cNvPr id="27" name="Text 12"/>
          <p:cNvSpPr/>
          <p:nvPr/>
        </p:nvSpPr>
        <p:spPr>
          <a:xfrm>
            <a:off x="822497" y="529635"/>
            <a:ext cx="10918068" cy="42648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60" dirty="0">
                <a:solidFill>
                  <a:srgbClr val="1E1E1E"/>
                </a:solidFill>
              </a:rPr>
              <a:t>案例导入——“一个访谈引发的真相”</a:t>
            </a:r>
            <a:endParaRPr lang="en-US" sz="276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609600" y="1371600"/>
            <a:ext cx="10981944" cy="5029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640" b="1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通过本课学习，你将能够：</a:t>
            </a:r>
            <a:endParaRPr lang="en-US" sz="2640" dirty="0"/>
          </a:p>
        </p:txBody>
      </p:sp>
      <p:pic>
        <p:nvPicPr>
          <p:cNvPr id="6" name="Image 3" descr="https://test.web.static.jianzeppt.com/ppt-temp-img3/a0a194592352cd3af9268dff6889582e.png?x-oss-process=image/resize,w_1440,h_800,m_lfit/format,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2118360"/>
            <a:ext cx="10972800" cy="716280"/>
          </a:xfrm>
          <a:prstGeom prst="rect">
            <a:avLst/>
          </a:prstGeom>
        </p:spPr>
      </p:pic>
      <p:pic>
        <p:nvPicPr>
          <p:cNvPr id="7" name="Image 4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92480" y="2164080"/>
            <a:ext cx="609600" cy="609600"/>
          </a:xfrm>
          <a:prstGeom prst="rect">
            <a:avLst/>
          </a:prstGeom>
        </p:spPr>
      </p:pic>
      <p:pic>
        <p:nvPicPr>
          <p:cNvPr id="8" name="Image 5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14400" y="2286000"/>
            <a:ext cx="365760" cy="365760"/>
          </a:xfrm>
          <a:prstGeom prst="rect">
            <a:avLst/>
          </a:prstGeom>
        </p:spPr>
      </p:pic>
      <p:sp>
        <p:nvSpPr>
          <p:cNvPr id="9" name="Text 1"/>
          <p:cNvSpPr/>
          <p:nvPr/>
        </p:nvSpPr>
        <p:spPr>
          <a:xfrm>
            <a:off x="1645920" y="2270760"/>
            <a:ext cx="5221224" cy="4114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60" dirty="0">
                <a:solidFill>
                  <a:srgbClr val="333333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理解人员访谈在安全管理测评中的核心作用</a:t>
            </a:r>
            <a:endParaRPr lang="en-US" sz="2160" dirty="0"/>
          </a:p>
        </p:txBody>
      </p:sp>
      <p:pic>
        <p:nvPicPr>
          <p:cNvPr id="10" name="Image 6" descr="https://test.web.static.jianzeppt.com/ppt-temp-img3/a0a194592352cd3af9268dff6889582e.png?x-oss-process=image/resize,w_1440,h_800,m_lfit/format,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2819400"/>
            <a:ext cx="10972800" cy="716280"/>
          </a:xfrm>
          <a:prstGeom prst="rect">
            <a:avLst/>
          </a:prstGeom>
        </p:spPr>
      </p:pic>
      <p:pic>
        <p:nvPicPr>
          <p:cNvPr id="11" name="Image 7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92480" y="2865120"/>
            <a:ext cx="609600" cy="609600"/>
          </a:xfrm>
          <a:prstGeom prst="rect">
            <a:avLst/>
          </a:prstGeom>
        </p:spPr>
      </p:pic>
      <p:pic>
        <p:nvPicPr>
          <p:cNvPr id="12" name="Image 8" descr="preencoded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14400" y="2987040"/>
            <a:ext cx="365760" cy="365760"/>
          </a:xfrm>
          <a:prstGeom prst="rect">
            <a:avLst/>
          </a:prstGeom>
        </p:spPr>
      </p:pic>
      <p:sp>
        <p:nvSpPr>
          <p:cNvPr id="13" name="Text 2"/>
          <p:cNvSpPr/>
          <p:nvPr/>
        </p:nvSpPr>
        <p:spPr>
          <a:xfrm>
            <a:off x="1645920" y="2971800"/>
            <a:ext cx="4123944" cy="4114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60" dirty="0">
                <a:solidFill>
                  <a:srgbClr val="333333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掌握访谈的目的、类型与基本流程</a:t>
            </a:r>
            <a:endParaRPr lang="en-US" sz="2160" dirty="0"/>
          </a:p>
        </p:txBody>
      </p:sp>
      <p:pic>
        <p:nvPicPr>
          <p:cNvPr id="14" name="Image 9" descr="https://test.web.static.jianzeppt.com/ppt-temp-img3/a0a194592352cd3af9268dff6889582e.png?x-oss-process=image/resize,w_1440,h_800,m_lfit/format,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3520440"/>
            <a:ext cx="10972800" cy="716280"/>
          </a:xfrm>
          <a:prstGeom prst="rect">
            <a:avLst/>
          </a:prstGeom>
        </p:spPr>
      </p:pic>
      <p:pic>
        <p:nvPicPr>
          <p:cNvPr id="15" name="Image 10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92480" y="3581400"/>
            <a:ext cx="609600" cy="609600"/>
          </a:xfrm>
          <a:prstGeom prst="rect">
            <a:avLst/>
          </a:prstGeom>
        </p:spPr>
      </p:pic>
      <p:pic>
        <p:nvPicPr>
          <p:cNvPr id="16" name="Image 11" descr="preencoded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914400" y="3703320"/>
            <a:ext cx="365760" cy="365760"/>
          </a:xfrm>
          <a:prstGeom prst="rect">
            <a:avLst/>
          </a:prstGeom>
        </p:spPr>
      </p:pic>
      <p:sp>
        <p:nvSpPr>
          <p:cNvPr id="17" name="Text 3"/>
          <p:cNvSpPr/>
          <p:nvPr/>
        </p:nvSpPr>
        <p:spPr>
          <a:xfrm>
            <a:off x="1645920" y="3672840"/>
            <a:ext cx="4123944" cy="4114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60" dirty="0">
                <a:solidFill>
                  <a:srgbClr val="333333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能够设计针对不同岗位的访谈提纲</a:t>
            </a:r>
            <a:endParaRPr lang="en-US" sz="2160" dirty="0"/>
          </a:p>
        </p:txBody>
      </p:sp>
      <p:pic>
        <p:nvPicPr>
          <p:cNvPr id="18" name="Image 12" descr="https://test.web.static.jianzeppt.com/ppt-temp-img3/a0a194592352cd3af9268dff6889582e.png?x-oss-process=image/resize,w_1440,h_800,m_lfit/format,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4236720"/>
            <a:ext cx="10972800" cy="716280"/>
          </a:xfrm>
          <a:prstGeom prst="rect">
            <a:avLst/>
          </a:prstGeom>
        </p:spPr>
      </p:pic>
      <p:pic>
        <p:nvPicPr>
          <p:cNvPr id="19" name="Image 13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92480" y="4282440"/>
            <a:ext cx="609600" cy="609600"/>
          </a:xfrm>
          <a:prstGeom prst="rect">
            <a:avLst/>
          </a:prstGeom>
        </p:spPr>
      </p:pic>
      <p:pic>
        <p:nvPicPr>
          <p:cNvPr id="20" name="Image 14" descr="preencoded.png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914400" y="4404360"/>
            <a:ext cx="365760" cy="365760"/>
          </a:xfrm>
          <a:prstGeom prst="rect">
            <a:avLst/>
          </a:prstGeom>
        </p:spPr>
      </p:pic>
      <p:sp>
        <p:nvSpPr>
          <p:cNvPr id="21" name="Text 4"/>
          <p:cNvSpPr/>
          <p:nvPr/>
        </p:nvSpPr>
        <p:spPr>
          <a:xfrm>
            <a:off x="1645920" y="4373880"/>
            <a:ext cx="5221224" cy="4114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60" dirty="0">
                <a:solidFill>
                  <a:srgbClr val="333333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能够运用访谈技巧获取关键信息并准确记录</a:t>
            </a:r>
            <a:endParaRPr lang="en-US" sz="2160" dirty="0"/>
          </a:p>
        </p:txBody>
      </p:sp>
      <p:pic>
        <p:nvPicPr>
          <p:cNvPr id="22" name="Image 15" descr="https://test.web.static.jianzeppt.com/ppt-temp-img3/a0a194592352cd3af9268dff6889582e.png?x-oss-process=image/resize,w_1440,h_800,m_lfit/format,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4937760"/>
            <a:ext cx="10972800" cy="716280"/>
          </a:xfrm>
          <a:prstGeom prst="rect">
            <a:avLst/>
          </a:prstGeom>
        </p:spPr>
      </p:pic>
      <p:pic>
        <p:nvPicPr>
          <p:cNvPr id="23" name="Image 16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92480" y="4983480"/>
            <a:ext cx="609600" cy="609600"/>
          </a:xfrm>
          <a:prstGeom prst="rect">
            <a:avLst/>
          </a:prstGeom>
        </p:spPr>
      </p:pic>
      <p:pic>
        <p:nvPicPr>
          <p:cNvPr id="24" name="Image 17" descr="preencoded.png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914400" y="5105400"/>
            <a:ext cx="365760" cy="365760"/>
          </a:xfrm>
          <a:prstGeom prst="rect">
            <a:avLst/>
          </a:prstGeom>
        </p:spPr>
      </p:pic>
      <p:sp>
        <p:nvSpPr>
          <p:cNvPr id="25" name="Text 5"/>
          <p:cNvSpPr/>
          <p:nvPr/>
        </p:nvSpPr>
        <p:spPr>
          <a:xfrm>
            <a:off x="1645920" y="5074920"/>
            <a:ext cx="5221224" cy="4114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60" dirty="0">
                <a:solidFill>
                  <a:srgbClr val="333333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具备沟通协作能力、法治意识与职业判断力</a:t>
            </a:r>
            <a:endParaRPr lang="en-US" sz="2160" dirty="0"/>
          </a:p>
        </p:txBody>
      </p:sp>
      <p:sp>
        <p:nvSpPr>
          <p:cNvPr id="26" name="Text 6"/>
          <p:cNvSpPr/>
          <p:nvPr/>
        </p:nvSpPr>
        <p:spPr>
          <a:xfrm>
            <a:off x="822497" y="529635"/>
            <a:ext cx="10918068" cy="42648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60" dirty="0">
                <a:solidFill>
                  <a:srgbClr val="1E1E1E"/>
                </a:solidFill>
              </a:rPr>
              <a:t>学习目标</a:t>
            </a:r>
            <a:endParaRPr lang="en-US" sz="276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600" y="1371600"/>
            <a:ext cx="10972800" cy="132588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53440" y="1615440"/>
            <a:ext cx="60960" cy="838200"/>
          </a:xfrm>
          <a:prstGeom prst="rect">
            <a:avLst/>
          </a:prstGeom>
        </p:spPr>
      </p:pic>
      <p:sp>
        <p:nvSpPr>
          <p:cNvPr id="7" name="Text 0"/>
          <p:cNvSpPr/>
          <p:nvPr/>
        </p:nvSpPr>
        <p:spPr>
          <a:xfrm>
            <a:off x="1158240" y="1630680"/>
            <a:ext cx="10204704" cy="799148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2280" b="1" dirty="0">
                <a:solidFill>
                  <a:srgbClr val="00234E"/>
                </a:solidFill>
              </a:rPr>
              <a:t>安全管理测评与技术测评最大的区别是：技术测的是“</a:t>
            </a:r>
            <a:r>
              <a:rPr lang="en-US" sz="2280" b="1" dirty="0">
                <a:solidFill>
                  <a:srgbClr val="00234E"/>
                </a:solidFill>
              </a:rPr>
              <a:t>设备</a:t>
            </a:r>
            <a:r>
              <a:rPr lang="en-US" sz="2280" b="1" dirty="0">
                <a:solidFill>
                  <a:srgbClr val="00234E"/>
                </a:solidFill>
              </a:rPr>
              <a:t>”，管理测的是“</a:t>
            </a:r>
            <a:r>
              <a:rPr lang="en-US" sz="2280" b="1" dirty="0">
                <a:solidFill>
                  <a:srgbClr val="00234E"/>
                </a:solidFill>
              </a:rPr>
              <a:t>人</a:t>
            </a:r>
            <a:r>
              <a:rPr lang="en-US" sz="2280" b="1" dirty="0">
                <a:solidFill>
                  <a:srgbClr val="00234E"/>
                </a:solidFill>
              </a:rPr>
              <a:t>”。</a:t>
            </a:r>
            <a:endParaRPr lang="en-US" sz="2280" dirty="0"/>
          </a:p>
        </p:txBody>
      </p:sp>
      <p:pic>
        <p:nvPicPr>
          <p:cNvPr id="8" name="Image 5" descr="preencoded.png"/>
          <p:cNvPicPr>
            <a:picLocks noChangeAspect="1"/>
          </p:cNvPicPr>
          <p:nvPr>
            <p:custDataLst>
              <p:tags r:id="rId8"/>
            </p:custDataLst>
          </p:nvPr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09600" y="2941320"/>
            <a:ext cx="5364480" cy="153924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pic>
        <p:nvPicPr>
          <p:cNvPr id="9" name="Image 6" descr="preencoded.png"/>
          <p:cNvPicPr>
            <a:picLocks noChangeAspect="1"/>
          </p:cNvPicPr>
          <p:nvPr>
            <p:custDataLst>
              <p:tags r:id="rId11"/>
            </p:custDataLst>
          </p:nvPr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868680" y="3124200"/>
            <a:ext cx="487680" cy="487680"/>
          </a:xfrm>
          <a:prstGeom prst="rect">
            <a:avLst/>
          </a:prstGeom>
        </p:spPr>
      </p:pic>
      <p:sp>
        <p:nvSpPr>
          <p:cNvPr id="10" name="Text 1"/>
          <p:cNvSpPr/>
          <p:nvPr>
            <p:custDataLst>
              <p:tags r:id="rId14"/>
            </p:custDataLst>
          </p:nvPr>
        </p:nvSpPr>
        <p:spPr>
          <a:xfrm>
            <a:off x="944880" y="3185160"/>
            <a:ext cx="35966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20" b="1" dirty="0">
                <a:solidFill>
                  <a:srgbClr val="FFFFFF"/>
                </a:solidFill>
              </a:rPr>
              <a:t>01</a:t>
            </a:r>
            <a:endParaRPr lang="en-US" sz="1920" dirty="0"/>
          </a:p>
        </p:txBody>
      </p:sp>
      <p:sp>
        <p:nvSpPr>
          <p:cNvPr id="11" name="Text 2"/>
          <p:cNvSpPr/>
          <p:nvPr>
            <p:custDataLst>
              <p:tags r:id="rId15"/>
            </p:custDataLst>
          </p:nvPr>
        </p:nvSpPr>
        <p:spPr>
          <a:xfrm>
            <a:off x="1539240" y="3124200"/>
            <a:ext cx="1700784" cy="5029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640" b="1" dirty="0">
                <a:solidFill>
                  <a:srgbClr val="00234E"/>
                </a:solidFill>
              </a:rPr>
              <a:t>验证真实性</a:t>
            </a:r>
            <a:endParaRPr lang="en-US" sz="2640" dirty="0"/>
          </a:p>
        </p:txBody>
      </p:sp>
      <p:sp>
        <p:nvSpPr>
          <p:cNvPr id="12" name="Text 3"/>
          <p:cNvSpPr/>
          <p:nvPr>
            <p:custDataLst>
              <p:tags r:id="rId16"/>
            </p:custDataLst>
          </p:nvPr>
        </p:nvSpPr>
        <p:spPr>
          <a:xfrm>
            <a:off x="868680" y="3657600"/>
            <a:ext cx="2181225" cy="245745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333333"/>
                </a:solidFill>
              </a:rPr>
              <a:t>制度“写没写” ≠ “做没做”</a:t>
            </a:r>
            <a:endParaRPr lang="en-US" sz="1600" b="1" dirty="0">
              <a:solidFill>
                <a:srgbClr val="333333"/>
              </a:solidFill>
            </a:endParaRPr>
          </a:p>
        </p:txBody>
      </p:sp>
      <p:sp>
        <p:nvSpPr>
          <p:cNvPr id="13" name="Text 4"/>
          <p:cNvSpPr/>
          <p:nvPr>
            <p:custDataLst>
              <p:tags r:id="rId17"/>
            </p:custDataLst>
          </p:nvPr>
        </p:nvSpPr>
        <p:spPr>
          <a:xfrm>
            <a:off x="868680" y="3992880"/>
            <a:ext cx="3380740" cy="215265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dirty="0">
                <a:solidFill>
                  <a:srgbClr val="666666"/>
                </a:solidFill>
              </a:rPr>
              <a:t>例如：制度规定90天改密码，实际一年没改</a:t>
            </a:r>
            <a:endParaRPr lang="en-US" sz="1400" dirty="0">
              <a:solidFill>
                <a:srgbClr val="666666"/>
              </a:solidFill>
            </a:endParaRPr>
          </a:p>
        </p:txBody>
      </p:sp>
      <p:pic>
        <p:nvPicPr>
          <p:cNvPr id="14" name="Image 7" descr="preencoded.png"/>
          <p:cNvPicPr>
            <a:picLocks noChangeAspect="1"/>
          </p:cNvPicPr>
          <p:nvPr>
            <p:custDataLst>
              <p:tags r:id="rId18"/>
            </p:custDataLst>
          </p:nvPr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217920" y="2941320"/>
            <a:ext cx="5364480" cy="153924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pic>
        <p:nvPicPr>
          <p:cNvPr id="15" name="Image 8" descr="preencoded.png"/>
          <p:cNvPicPr>
            <a:picLocks noChangeAspect="1"/>
          </p:cNvPicPr>
          <p:nvPr>
            <p:custDataLst>
              <p:tags r:id="rId19"/>
            </p:custDataLst>
          </p:nvPr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477000" y="3124200"/>
            <a:ext cx="487680" cy="487680"/>
          </a:xfrm>
          <a:prstGeom prst="rect">
            <a:avLst/>
          </a:prstGeom>
        </p:spPr>
      </p:pic>
      <p:sp>
        <p:nvSpPr>
          <p:cNvPr id="16" name="Text 5"/>
          <p:cNvSpPr/>
          <p:nvPr>
            <p:custDataLst>
              <p:tags r:id="rId20"/>
            </p:custDataLst>
          </p:nvPr>
        </p:nvSpPr>
        <p:spPr>
          <a:xfrm>
            <a:off x="6553200" y="3185160"/>
            <a:ext cx="35966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20" b="1" dirty="0">
                <a:solidFill>
                  <a:srgbClr val="FFFFFF"/>
                </a:solidFill>
              </a:rPr>
              <a:t>02</a:t>
            </a:r>
            <a:endParaRPr lang="en-US" sz="1920" dirty="0"/>
          </a:p>
        </p:txBody>
      </p:sp>
      <p:sp>
        <p:nvSpPr>
          <p:cNvPr id="17" name="Text 6"/>
          <p:cNvSpPr/>
          <p:nvPr>
            <p:custDataLst>
              <p:tags r:id="rId21"/>
            </p:custDataLst>
          </p:nvPr>
        </p:nvSpPr>
        <p:spPr>
          <a:xfrm>
            <a:off x="7147560" y="3124200"/>
            <a:ext cx="2036064" cy="5029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640" b="1" dirty="0">
                <a:solidFill>
                  <a:srgbClr val="00234E"/>
                </a:solidFill>
              </a:rPr>
              <a:t>了解执行细节</a:t>
            </a:r>
            <a:endParaRPr lang="en-US" sz="2640" dirty="0"/>
          </a:p>
        </p:txBody>
      </p:sp>
      <p:sp>
        <p:nvSpPr>
          <p:cNvPr id="18" name="Text 7"/>
          <p:cNvSpPr/>
          <p:nvPr>
            <p:custDataLst>
              <p:tags r:id="rId22"/>
            </p:custDataLst>
          </p:nvPr>
        </p:nvSpPr>
        <p:spPr>
          <a:xfrm>
            <a:off x="6477000" y="3657600"/>
            <a:ext cx="2385695" cy="245745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333333"/>
                </a:solidFill>
              </a:rPr>
              <a:t>流程“有没有” ≠ “执行到位”</a:t>
            </a:r>
            <a:endParaRPr lang="en-US" sz="1600" b="1" dirty="0">
              <a:solidFill>
                <a:srgbClr val="333333"/>
              </a:solidFill>
            </a:endParaRPr>
          </a:p>
        </p:txBody>
      </p:sp>
      <p:sp>
        <p:nvSpPr>
          <p:cNvPr id="19" name="Text 8"/>
          <p:cNvSpPr/>
          <p:nvPr>
            <p:custDataLst>
              <p:tags r:id="rId23"/>
            </p:custDataLst>
          </p:nvPr>
        </p:nvSpPr>
        <p:spPr>
          <a:xfrm>
            <a:off x="6477000" y="3992880"/>
            <a:ext cx="3022600" cy="215265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dirty="0">
                <a:solidFill>
                  <a:srgbClr val="666666"/>
                </a:solidFill>
              </a:rPr>
              <a:t>例如：有应急预案，但员工从未演练过</a:t>
            </a:r>
            <a:endParaRPr lang="en-US" sz="1400" dirty="0">
              <a:solidFill>
                <a:srgbClr val="666666"/>
              </a:solidFill>
            </a:endParaRPr>
          </a:p>
        </p:txBody>
      </p:sp>
      <p:pic>
        <p:nvPicPr>
          <p:cNvPr id="20" name="Image 9" descr="preencoded.png"/>
          <p:cNvPicPr>
            <a:picLocks noChangeAspect="1"/>
          </p:cNvPicPr>
          <p:nvPr>
            <p:custDataLst>
              <p:tags r:id="rId24"/>
            </p:custDataLst>
          </p:nvPr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09600" y="4724400"/>
            <a:ext cx="5364480" cy="153924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pic>
        <p:nvPicPr>
          <p:cNvPr id="21" name="Image 10" descr="preencoded.png"/>
          <p:cNvPicPr>
            <a:picLocks noChangeAspect="1"/>
          </p:cNvPicPr>
          <p:nvPr>
            <p:custDataLst>
              <p:tags r:id="rId25"/>
            </p:custDataLst>
          </p:nvPr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868680" y="4861560"/>
            <a:ext cx="487680" cy="487680"/>
          </a:xfrm>
          <a:prstGeom prst="rect">
            <a:avLst/>
          </a:prstGeom>
        </p:spPr>
      </p:pic>
      <p:sp>
        <p:nvSpPr>
          <p:cNvPr id="22" name="Text 9"/>
          <p:cNvSpPr/>
          <p:nvPr>
            <p:custDataLst>
              <p:tags r:id="rId26"/>
            </p:custDataLst>
          </p:nvPr>
        </p:nvSpPr>
        <p:spPr>
          <a:xfrm>
            <a:off x="944880" y="4922520"/>
            <a:ext cx="35966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20" b="1" dirty="0">
                <a:solidFill>
                  <a:srgbClr val="FFFFFF"/>
                </a:solidFill>
              </a:rPr>
              <a:t>03</a:t>
            </a:r>
            <a:endParaRPr lang="en-US" sz="1920" dirty="0"/>
          </a:p>
        </p:txBody>
      </p:sp>
      <p:sp>
        <p:nvSpPr>
          <p:cNvPr id="23" name="Text 10"/>
          <p:cNvSpPr/>
          <p:nvPr>
            <p:custDataLst>
              <p:tags r:id="rId27"/>
            </p:custDataLst>
          </p:nvPr>
        </p:nvSpPr>
        <p:spPr>
          <a:xfrm>
            <a:off x="1539240" y="4861560"/>
            <a:ext cx="2036064" cy="5029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640" b="1" dirty="0">
                <a:solidFill>
                  <a:srgbClr val="00234E"/>
                </a:solidFill>
              </a:rPr>
              <a:t>发现隐性风险</a:t>
            </a:r>
            <a:endParaRPr lang="en-US" sz="2640" dirty="0"/>
          </a:p>
        </p:txBody>
      </p:sp>
      <p:sp>
        <p:nvSpPr>
          <p:cNvPr id="24" name="Text 11"/>
          <p:cNvSpPr/>
          <p:nvPr>
            <p:custDataLst>
              <p:tags r:id="rId28"/>
            </p:custDataLst>
          </p:nvPr>
        </p:nvSpPr>
        <p:spPr>
          <a:xfrm>
            <a:off x="868680" y="5364480"/>
            <a:ext cx="2016760" cy="245745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333333"/>
                </a:solidFill>
              </a:rPr>
              <a:t>文档不会写“我们省事”</a:t>
            </a:r>
            <a:endParaRPr lang="en-US" sz="1600" b="1" dirty="0">
              <a:solidFill>
                <a:srgbClr val="333333"/>
              </a:solidFill>
            </a:endParaRPr>
          </a:p>
        </p:txBody>
      </p:sp>
      <p:sp>
        <p:nvSpPr>
          <p:cNvPr id="25" name="Text 12"/>
          <p:cNvSpPr/>
          <p:nvPr>
            <p:custDataLst>
              <p:tags r:id="rId29"/>
            </p:custDataLst>
          </p:nvPr>
        </p:nvSpPr>
        <p:spPr>
          <a:xfrm>
            <a:off x="868680" y="5654040"/>
            <a:ext cx="4855464" cy="32258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00" dirty="0">
                <a:solidFill>
                  <a:srgbClr val="666666"/>
                </a:solidFill>
              </a:rPr>
              <a:t>例如：安全管理中的“省事”操作，只有通过访谈才能发现</a:t>
            </a:r>
            <a:endParaRPr lang="en-US" sz="1400" dirty="0">
              <a:solidFill>
                <a:srgbClr val="666666"/>
              </a:solidFill>
            </a:endParaRPr>
          </a:p>
        </p:txBody>
      </p:sp>
      <p:pic>
        <p:nvPicPr>
          <p:cNvPr id="26" name="Image 11" descr="preencoded.png"/>
          <p:cNvPicPr>
            <a:picLocks noChangeAspect="1"/>
          </p:cNvPicPr>
          <p:nvPr>
            <p:custDataLst>
              <p:tags r:id="rId30"/>
            </p:custDataLst>
          </p:nvPr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217920" y="4724400"/>
            <a:ext cx="5364480" cy="153924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pic>
        <p:nvPicPr>
          <p:cNvPr id="27" name="Image 12" descr="preencoded.png"/>
          <p:cNvPicPr>
            <a:picLocks noChangeAspect="1"/>
          </p:cNvPicPr>
          <p:nvPr>
            <p:custDataLst>
              <p:tags r:id="rId31"/>
            </p:custDataLst>
          </p:nvPr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477000" y="4907280"/>
            <a:ext cx="487680" cy="487680"/>
          </a:xfrm>
          <a:prstGeom prst="rect">
            <a:avLst/>
          </a:prstGeom>
        </p:spPr>
      </p:pic>
      <p:sp>
        <p:nvSpPr>
          <p:cNvPr id="28" name="Text 13"/>
          <p:cNvSpPr/>
          <p:nvPr>
            <p:custDataLst>
              <p:tags r:id="rId32"/>
            </p:custDataLst>
          </p:nvPr>
        </p:nvSpPr>
        <p:spPr>
          <a:xfrm>
            <a:off x="6553200" y="4968240"/>
            <a:ext cx="35966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20" b="1" dirty="0">
                <a:solidFill>
                  <a:srgbClr val="FFFFFF"/>
                </a:solidFill>
              </a:rPr>
              <a:t>04</a:t>
            </a:r>
            <a:endParaRPr lang="en-US" sz="1920" dirty="0"/>
          </a:p>
        </p:txBody>
      </p:sp>
      <p:sp>
        <p:nvSpPr>
          <p:cNvPr id="29" name="Text 14"/>
          <p:cNvSpPr/>
          <p:nvPr>
            <p:custDataLst>
              <p:tags r:id="rId33"/>
            </p:custDataLst>
          </p:nvPr>
        </p:nvSpPr>
        <p:spPr>
          <a:xfrm>
            <a:off x="7147560" y="4892040"/>
            <a:ext cx="1365504" cy="5029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640" b="1" dirty="0">
                <a:solidFill>
                  <a:srgbClr val="00234E"/>
                </a:solidFill>
              </a:rPr>
              <a:t>交叉验证</a:t>
            </a:r>
            <a:endParaRPr lang="en-US" sz="2640" dirty="0"/>
          </a:p>
        </p:txBody>
      </p:sp>
      <p:sp>
        <p:nvSpPr>
          <p:cNvPr id="30" name="Text 15"/>
          <p:cNvSpPr/>
          <p:nvPr>
            <p:custDataLst>
              <p:tags r:id="rId34"/>
            </p:custDataLst>
          </p:nvPr>
        </p:nvSpPr>
        <p:spPr>
          <a:xfrm>
            <a:off x="6477000" y="5440680"/>
            <a:ext cx="2862580" cy="245745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333333"/>
                </a:solidFill>
              </a:rPr>
              <a:t>同一问题问不同人，判断一致性</a:t>
            </a:r>
            <a:endParaRPr lang="en-US" sz="1600" b="1" dirty="0">
              <a:solidFill>
                <a:srgbClr val="333333"/>
              </a:solidFill>
            </a:endParaRPr>
          </a:p>
        </p:txBody>
      </p:sp>
      <p:sp>
        <p:nvSpPr>
          <p:cNvPr id="31" name="Text 16"/>
          <p:cNvSpPr/>
          <p:nvPr>
            <p:custDataLst>
              <p:tags r:id="rId35"/>
            </p:custDataLst>
          </p:nvPr>
        </p:nvSpPr>
        <p:spPr>
          <a:xfrm>
            <a:off x="6477000" y="5775960"/>
            <a:ext cx="3853180" cy="215265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dirty="0">
                <a:solidFill>
                  <a:srgbClr val="666666"/>
                </a:solidFill>
              </a:rPr>
              <a:t>例如：安全主管说“定期培训”，员工说“没参加过”</a:t>
            </a:r>
            <a:endParaRPr lang="en-US" sz="1400" dirty="0">
              <a:solidFill>
                <a:srgbClr val="666666"/>
              </a:solidFill>
            </a:endParaRPr>
          </a:p>
        </p:txBody>
      </p:sp>
      <p:sp>
        <p:nvSpPr>
          <p:cNvPr id="32" name="Text 17"/>
          <p:cNvSpPr/>
          <p:nvPr/>
        </p:nvSpPr>
        <p:spPr>
          <a:xfrm>
            <a:off x="822497" y="529635"/>
            <a:ext cx="10918068" cy="42648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60" dirty="0">
                <a:solidFill>
                  <a:srgbClr val="1E1E1E"/>
                </a:solidFill>
              </a:rPr>
              <a:t>安全管理测评中的访谈——为什么必不可少？</a:t>
            </a:r>
            <a:endParaRPr lang="en-US" sz="276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609600" y="1371600"/>
            <a:ext cx="10981944" cy="800100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indent="0" algn="l">
              <a:lnSpc>
                <a:spcPct val="163000"/>
              </a:lnSpc>
              <a:buNone/>
            </a:pPr>
            <a:r>
              <a:rPr lang="en-US" sz="1920" b="1" dirty="0">
                <a:solidFill>
                  <a:srgbClr val="374151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GB/T 22239-2019 安全管理测评——证据采集方法：安全管理测评可通过文档查阅、人员访谈、记录审查等方式采集证据。</a:t>
            </a:r>
            <a:endParaRPr lang="en-US" sz="1920" dirty="0"/>
          </a:p>
        </p:txBody>
      </p:sp>
      <p:sp>
        <p:nvSpPr>
          <p:cNvPr id="6" name="Text 1"/>
          <p:cNvSpPr/>
          <p:nvPr/>
        </p:nvSpPr>
        <p:spPr>
          <a:xfrm>
            <a:off x="609600" y="2407920"/>
            <a:ext cx="1098194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80" b="1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访谈在等保测评标准中的依据</a:t>
            </a:r>
            <a:endParaRPr lang="en-US" sz="1680" dirty="0"/>
          </a:p>
        </p:txBody>
      </p:sp>
      <p:pic>
        <p:nvPicPr>
          <p:cNvPr id="7" name="Image 3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600" y="2865120"/>
            <a:ext cx="10972800" cy="118872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pic>
        <p:nvPicPr>
          <p:cNvPr id="8" name="Image 4" descr="https://test.web.static.jianzeppt.com/ppt-temp-img3/c207867cdb0621e7212b685c33137fa3.png?x-oss-process=image/resize,w_1440,h_800,m_lfit/format,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4840" y="2880360"/>
            <a:ext cx="10942320" cy="624840"/>
          </a:xfrm>
          <a:prstGeom prst="rect">
            <a:avLst/>
          </a:prstGeom>
        </p:spPr>
      </p:pic>
      <p:sp>
        <p:nvSpPr>
          <p:cNvPr id="9" name="Text 2"/>
          <p:cNvSpPr/>
          <p:nvPr/>
        </p:nvSpPr>
        <p:spPr>
          <a:xfrm>
            <a:off x="868680" y="3002280"/>
            <a:ext cx="99974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2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标准条款</a:t>
            </a:r>
            <a:endParaRPr lang="en-US" sz="1920" dirty="0"/>
          </a:p>
        </p:txBody>
      </p:sp>
      <p:pic>
        <p:nvPicPr>
          <p:cNvPr id="10" name="Image 5" descr="https://test.web.static.jianzeppt.com/ppt-temp-img3/e4939517f2322d7d86434a1ca2201249.png?x-oss-process=image/resize,w_1440,h_800,m_lfit/format,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4840" y="3491941"/>
            <a:ext cx="3647389" cy="15240"/>
          </a:xfrm>
          <a:prstGeom prst="rect">
            <a:avLst/>
          </a:prstGeom>
        </p:spPr>
      </p:pic>
      <p:sp>
        <p:nvSpPr>
          <p:cNvPr id="11" name="Text 3"/>
          <p:cNvSpPr/>
          <p:nvPr/>
        </p:nvSpPr>
        <p:spPr>
          <a:xfrm>
            <a:off x="4511040" y="3002280"/>
            <a:ext cx="99974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2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访谈目的</a:t>
            </a:r>
            <a:endParaRPr lang="en-US" sz="1920" dirty="0"/>
          </a:p>
        </p:txBody>
      </p:sp>
      <p:pic>
        <p:nvPicPr>
          <p:cNvPr id="12" name="Image 6" descr="https://test.web.static.jianzeppt.com/ppt-temp-img3/1885ae0ad4069e2a33f5fb504c42163a.png?x-oss-process=image/resize,w_1440,h_800,m_lfit/format,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72229" y="3491941"/>
            <a:ext cx="7294931" cy="15240"/>
          </a:xfrm>
          <a:prstGeom prst="rect">
            <a:avLst/>
          </a:prstGeom>
        </p:spPr>
      </p:pic>
      <p:pic>
        <p:nvPicPr>
          <p:cNvPr id="13" name="Image 7" descr="https://test.web.static.jianzeppt.com/ppt-temp-img3/e2f60f902a6b256d3ec5bb82c171e4f7.png?x-oss-process=image/resize,w_1440,h_800,m_lfit/format,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4840" y="3489960"/>
            <a:ext cx="10942320" cy="624840"/>
          </a:xfrm>
          <a:prstGeom prst="rect">
            <a:avLst/>
          </a:prstGeom>
        </p:spPr>
      </p:pic>
      <p:sp>
        <p:nvSpPr>
          <p:cNvPr id="14" name="Text 4"/>
          <p:cNvSpPr/>
          <p:nvPr/>
        </p:nvSpPr>
        <p:spPr>
          <a:xfrm>
            <a:off x="868680" y="3611880"/>
            <a:ext cx="317906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20" b="1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8.1.7.4 沟通和合作</a:t>
            </a:r>
            <a:endParaRPr lang="en-US" sz="1920" dirty="0"/>
          </a:p>
        </p:txBody>
      </p:sp>
      <p:sp>
        <p:nvSpPr>
          <p:cNvPr id="15" name="Text 5"/>
          <p:cNvSpPr/>
          <p:nvPr/>
        </p:nvSpPr>
        <p:spPr>
          <a:xfrm>
            <a:off x="4511040" y="3611880"/>
            <a:ext cx="682142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20" dirty="0">
                <a:solidFill>
                  <a:srgbClr val="374151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了解组织机构间的协作机制</a:t>
            </a:r>
            <a:endParaRPr lang="en-US" sz="1920" dirty="0"/>
          </a:p>
        </p:txBody>
      </p:sp>
      <p:sp>
        <p:nvSpPr>
          <p:cNvPr id="16" name="Text 6"/>
          <p:cNvSpPr/>
          <p:nvPr/>
        </p:nvSpPr>
        <p:spPr>
          <a:xfrm>
            <a:off x="609600" y="4419600"/>
            <a:ext cx="10981944" cy="4572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400" b="1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安全管理测评“三大取证手段”的关系</a:t>
            </a:r>
            <a:endParaRPr lang="en-US" sz="2400" dirty="0"/>
          </a:p>
        </p:txBody>
      </p:sp>
      <p:pic>
        <p:nvPicPr>
          <p:cNvPr id="17" name="Image 8" descr="preencoded.png"/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09600" y="4998720"/>
            <a:ext cx="3505200" cy="124968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pic>
        <p:nvPicPr>
          <p:cNvPr id="18" name="Image 9" descr="preencoded.png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868680" y="5196840"/>
            <a:ext cx="365760" cy="365760"/>
          </a:xfrm>
          <a:prstGeom prst="rect">
            <a:avLst/>
          </a:prstGeom>
        </p:spPr>
      </p:pic>
      <p:sp>
        <p:nvSpPr>
          <p:cNvPr id="19" name="Text 7"/>
          <p:cNvSpPr/>
          <p:nvPr/>
        </p:nvSpPr>
        <p:spPr>
          <a:xfrm>
            <a:off x="929640" y="5227320"/>
            <a:ext cx="268224" cy="3048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68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01</a:t>
            </a:r>
            <a:endParaRPr lang="en-US" sz="1680" dirty="0"/>
          </a:p>
        </p:txBody>
      </p:sp>
      <p:sp>
        <p:nvSpPr>
          <p:cNvPr id="20" name="Text 8"/>
          <p:cNvSpPr/>
          <p:nvPr/>
        </p:nvSpPr>
        <p:spPr>
          <a:xfrm>
            <a:off x="1356360" y="5181600"/>
            <a:ext cx="1106424" cy="4114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60" b="1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文档查阅</a:t>
            </a:r>
            <a:endParaRPr lang="en-US" sz="2160" dirty="0"/>
          </a:p>
        </p:txBody>
      </p:sp>
      <p:sp>
        <p:nvSpPr>
          <p:cNvPr id="21" name="Text 9"/>
          <p:cNvSpPr/>
          <p:nvPr/>
        </p:nvSpPr>
        <p:spPr>
          <a:xfrm>
            <a:off x="868680" y="5608320"/>
            <a:ext cx="2036064" cy="59436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680" dirty="0">
                <a:solidFill>
                  <a:srgbClr val="374151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证据是</a:t>
            </a:r>
            <a:r>
              <a:rPr lang="en-US" sz="1680" b="1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“静态”</a:t>
            </a:r>
            <a:r>
              <a:rPr lang="en-US" sz="1680" dirty="0">
                <a:solidFill>
                  <a:srgbClr val="374151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的</a:t>
            </a:r>
            <a:r>
              <a:rPr lang="en-US" sz="1440" dirty="0">
                <a:solidFill>
                  <a:srgbClr val="374151">
                    <a:alpha val="80000"/>
                  </a:srgbClr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（制度文本、审批记录）</a:t>
            </a:r>
            <a:endParaRPr lang="en-US" sz="1680" dirty="0"/>
          </a:p>
        </p:txBody>
      </p:sp>
      <p:pic>
        <p:nvPicPr>
          <p:cNvPr id="22" name="Image 10" descr="preencoded.png"/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343400" y="4998720"/>
            <a:ext cx="3505200" cy="124968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pic>
        <p:nvPicPr>
          <p:cNvPr id="23" name="Image 11" descr="preencoded.png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4602480" y="5196840"/>
            <a:ext cx="365760" cy="365760"/>
          </a:xfrm>
          <a:prstGeom prst="rect">
            <a:avLst/>
          </a:prstGeom>
        </p:spPr>
      </p:pic>
      <p:sp>
        <p:nvSpPr>
          <p:cNvPr id="24" name="Text 10"/>
          <p:cNvSpPr/>
          <p:nvPr/>
        </p:nvSpPr>
        <p:spPr>
          <a:xfrm>
            <a:off x="4663440" y="5227320"/>
            <a:ext cx="268224" cy="3048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68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02</a:t>
            </a:r>
            <a:endParaRPr lang="en-US" sz="1680" dirty="0"/>
          </a:p>
        </p:txBody>
      </p:sp>
      <p:sp>
        <p:nvSpPr>
          <p:cNvPr id="25" name="Text 11"/>
          <p:cNvSpPr/>
          <p:nvPr/>
        </p:nvSpPr>
        <p:spPr>
          <a:xfrm>
            <a:off x="5090160" y="5181600"/>
            <a:ext cx="1106424" cy="4114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60" b="1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记录审查</a:t>
            </a:r>
            <a:endParaRPr lang="en-US" sz="2160" dirty="0"/>
          </a:p>
        </p:txBody>
      </p:sp>
      <p:sp>
        <p:nvSpPr>
          <p:cNvPr id="26" name="Text 12"/>
          <p:cNvSpPr/>
          <p:nvPr/>
        </p:nvSpPr>
        <p:spPr>
          <a:xfrm>
            <a:off x="4602480" y="5608320"/>
            <a:ext cx="1853184" cy="59436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680" dirty="0">
                <a:solidFill>
                  <a:srgbClr val="374151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证据是</a:t>
            </a:r>
            <a:r>
              <a:rPr lang="en-US" sz="1680" b="1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“痕迹”</a:t>
            </a:r>
            <a:r>
              <a:rPr lang="en-US" sz="1680" dirty="0">
                <a:solidFill>
                  <a:srgbClr val="374151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的</a:t>
            </a:r>
            <a:r>
              <a:rPr lang="en-US" sz="1440" dirty="0">
                <a:solidFill>
                  <a:srgbClr val="374151">
                    <a:alpha val="80000"/>
                  </a:srgbClr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（日志、表单、台账）</a:t>
            </a:r>
            <a:endParaRPr lang="en-US" sz="1680" dirty="0"/>
          </a:p>
        </p:txBody>
      </p:sp>
      <p:pic>
        <p:nvPicPr>
          <p:cNvPr id="27" name="Image 12" descr="preencoded.png"/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8092440" y="4998720"/>
            <a:ext cx="3505200" cy="124968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pic>
        <p:nvPicPr>
          <p:cNvPr id="28" name="Image 13" descr="preencoded.png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8351520" y="5196840"/>
            <a:ext cx="365760" cy="365760"/>
          </a:xfrm>
          <a:prstGeom prst="rect">
            <a:avLst/>
          </a:prstGeom>
        </p:spPr>
      </p:pic>
      <p:sp>
        <p:nvSpPr>
          <p:cNvPr id="29" name="Text 13"/>
          <p:cNvSpPr/>
          <p:nvPr/>
        </p:nvSpPr>
        <p:spPr>
          <a:xfrm>
            <a:off x="8397240" y="5227320"/>
            <a:ext cx="268224" cy="3048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68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03</a:t>
            </a:r>
            <a:endParaRPr lang="en-US" sz="1680" dirty="0"/>
          </a:p>
        </p:txBody>
      </p:sp>
      <p:sp>
        <p:nvSpPr>
          <p:cNvPr id="30" name="Text 14"/>
          <p:cNvSpPr/>
          <p:nvPr/>
        </p:nvSpPr>
        <p:spPr>
          <a:xfrm>
            <a:off x="8839200" y="5181600"/>
            <a:ext cx="1106424" cy="4114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60" b="1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人员访谈</a:t>
            </a:r>
            <a:endParaRPr lang="en-US" sz="2160" dirty="0"/>
          </a:p>
        </p:txBody>
      </p:sp>
      <p:sp>
        <p:nvSpPr>
          <p:cNvPr id="31" name="Text 15"/>
          <p:cNvSpPr/>
          <p:nvPr/>
        </p:nvSpPr>
        <p:spPr>
          <a:xfrm>
            <a:off x="8351520" y="5608320"/>
            <a:ext cx="2036064" cy="59436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680" dirty="0">
                <a:solidFill>
                  <a:srgbClr val="374151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证据是</a:t>
            </a:r>
            <a:r>
              <a:rPr lang="en-US" sz="1680" b="1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“动态”</a:t>
            </a:r>
            <a:r>
              <a:rPr lang="en-US" sz="1680" dirty="0">
                <a:solidFill>
                  <a:srgbClr val="374151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的</a:t>
            </a:r>
            <a:r>
              <a:rPr lang="en-US" sz="1440" dirty="0">
                <a:solidFill>
                  <a:srgbClr val="374151">
                    <a:alpha val="80000"/>
                  </a:srgbClr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（口头陈述、行为描述）</a:t>
            </a:r>
            <a:endParaRPr lang="en-US" sz="1680" dirty="0"/>
          </a:p>
        </p:txBody>
      </p:sp>
      <p:sp>
        <p:nvSpPr>
          <p:cNvPr id="32" name="Text 16"/>
          <p:cNvSpPr/>
          <p:nvPr/>
        </p:nvSpPr>
        <p:spPr>
          <a:xfrm>
            <a:off x="822497" y="529635"/>
            <a:ext cx="10918068" cy="42648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60" dirty="0">
                <a:solidFill>
                  <a:srgbClr val="1E1E1E"/>
                </a:solidFill>
              </a:rPr>
              <a:t>访谈的定义与在等保测评中的定位</a:t>
            </a:r>
            <a:endParaRPr lang="en-US" sz="276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609600" y="1371600"/>
            <a:ext cx="10981944" cy="4114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160" dirty="0">
                <a:solidFill>
                  <a:srgbClr val="333333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安全管理测评中访谈的四个核心目的：</a:t>
            </a:r>
            <a:endParaRPr lang="en-US" sz="2160" dirty="0"/>
          </a:p>
        </p:txBody>
      </p:sp>
      <p:pic>
        <p:nvPicPr>
          <p:cNvPr id="6" name="Image 3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600" y="2087880"/>
            <a:ext cx="2316480" cy="548640"/>
          </a:xfrm>
          <a:prstGeom prst="rect">
            <a:avLst/>
          </a:prstGeom>
        </p:spPr>
      </p:pic>
      <p:sp>
        <p:nvSpPr>
          <p:cNvPr id="7" name="Text 1"/>
          <p:cNvSpPr/>
          <p:nvPr/>
        </p:nvSpPr>
        <p:spPr>
          <a:xfrm>
            <a:off x="853440" y="2133600"/>
            <a:ext cx="1837944" cy="4572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核实制度执行</a:t>
            </a:r>
            <a:endParaRPr lang="en-US" sz="2400" dirty="0"/>
          </a:p>
        </p:txBody>
      </p:sp>
      <p:sp>
        <p:nvSpPr>
          <p:cNvPr id="8" name="Text 2"/>
          <p:cNvSpPr/>
          <p:nvPr/>
        </p:nvSpPr>
        <p:spPr>
          <a:xfrm>
            <a:off x="609600" y="2819400"/>
            <a:ext cx="5190744" cy="372428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800" dirty="0">
                <a:solidFill>
                  <a:srgbClr val="555555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制度规定的措施是否真的落实了？</a:t>
            </a:r>
            <a:endParaRPr lang="en-US" sz="1800" dirty="0"/>
          </a:p>
        </p:txBody>
      </p:sp>
      <p:pic>
        <p:nvPicPr>
          <p:cNvPr id="9" name="Image 4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400800" y="2087880"/>
            <a:ext cx="2316480" cy="548640"/>
          </a:xfrm>
          <a:prstGeom prst="rect">
            <a:avLst/>
          </a:prstGeom>
        </p:spPr>
      </p:pic>
      <p:sp>
        <p:nvSpPr>
          <p:cNvPr id="10" name="Text 3"/>
          <p:cNvSpPr/>
          <p:nvPr/>
        </p:nvSpPr>
        <p:spPr>
          <a:xfrm>
            <a:off x="6644640" y="2133600"/>
            <a:ext cx="1837944" cy="4572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评估人员意识</a:t>
            </a:r>
            <a:endParaRPr lang="en-US" sz="2400" dirty="0"/>
          </a:p>
        </p:txBody>
      </p:sp>
      <p:sp>
        <p:nvSpPr>
          <p:cNvPr id="11" name="Text 4"/>
          <p:cNvSpPr/>
          <p:nvPr/>
        </p:nvSpPr>
        <p:spPr>
          <a:xfrm>
            <a:off x="6400800" y="2819400"/>
            <a:ext cx="5190744" cy="74485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63000"/>
              </a:lnSpc>
              <a:buNone/>
            </a:pPr>
            <a:r>
              <a:rPr lang="en-US" sz="1800" dirty="0">
                <a:solidFill>
                  <a:srgbClr val="555555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相关人员是否了解安全要求？是否具备安全操作能力？</a:t>
            </a:r>
            <a:endParaRPr lang="en-US" sz="1800" dirty="0"/>
          </a:p>
        </p:txBody>
      </p:sp>
      <p:pic>
        <p:nvPicPr>
          <p:cNvPr id="12" name="Image 5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600" y="4099560"/>
            <a:ext cx="2316480" cy="548640"/>
          </a:xfrm>
          <a:prstGeom prst="rect">
            <a:avLst/>
          </a:prstGeom>
        </p:spPr>
      </p:pic>
      <p:sp>
        <p:nvSpPr>
          <p:cNvPr id="13" name="Text 5"/>
          <p:cNvSpPr/>
          <p:nvPr/>
        </p:nvSpPr>
        <p:spPr>
          <a:xfrm>
            <a:off x="853440" y="4145280"/>
            <a:ext cx="1837944" cy="4572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了解实际操作</a:t>
            </a:r>
            <a:endParaRPr lang="en-US" sz="2400" dirty="0"/>
          </a:p>
        </p:txBody>
      </p:sp>
      <p:sp>
        <p:nvSpPr>
          <p:cNvPr id="14" name="Text 6"/>
          <p:cNvSpPr/>
          <p:nvPr/>
        </p:nvSpPr>
        <p:spPr>
          <a:xfrm>
            <a:off x="609600" y="4831080"/>
            <a:ext cx="5190744" cy="74485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63000"/>
              </a:lnSpc>
              <a:buNone/>
            </a:pPr>
            <a:r>
              <a:rPr lang="en-US" sz="1800" dirty="0">
                <a:solidFill>
                  <a:srgbClr val="555555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实际工作流程与制度规定是否一致？有没有“省事”的变通做法？</a:t>
            </a:r>
            <a:endParaRPr lang="en-US" sz="1800" dirty="0"/>
          </a:p>
        </p:txBody>
      </p:sp>
      <p:pic>
        <p:nvPicPr>
          <p:cNvPr id="15" name="Image 6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400800" y="4099560"/>
            <a:ext cx="2316480" cy="548640"/>
          </a:xfrm>
          <a:prstGeom prst="rect">
            <a:avLst/>
          </a:prstGeom>
        </p:spPr>
      </p:pic>
      <p:sp>
        <p:nvSpPr>
          <p:cNvPr id="16" name="Text 7"/>
          <p:cNvSpPr/>
          <p:nvPr/>
        </p:nvSpPr>
        <p:spPr>
          <a:xfrm>
            <a:off x="6644640" y="4145280"/>
            <a:ext cx="1837944" cy="4572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交叉验证信息</a:t>
            </a:r>
            <a:endParaRPr lang="en-US" sz="2400" dirty="0"/>
          </a:p>
        </p:txBody>
      </p:sp>
      <p:sp>
        <p:nvSpPr>
          <p:cNvPr id="17" name="Text 8"/>
          <p:cNvSpPr/>
          <p:nvPr/>
        </p:nvSpPr>
        <p:spPr>
          <a:xfrm>
            <a:off x="6400800" y="4831080"/>
            <a:ext cx="5190744" cy="372428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800" dirty="0">
                <a:solidFill>
                  <a:srgbClr val="555555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文档记录、操作日志与口头描述是否一致？</a:t>
            </a:r>
            <a:endParaRPr lang="en-US" sz="1800" dirty="0"/>
          </a:p>
        </p:txBody>
      </p:sp>
      <p:sp>
        <p:nvSpPr>
          <p:cNvPr id="18" name="Text 9"/>
          <p:cNvSpPr/>
          <p:nvPr/>
        </p:nvSpPr>
        <p:spPr>
          <a:xfrm>
            <a:off x="822497" y="529635"/>
            <a:ext cx="10918068" cy="42648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60" dirty="0">
                <a:solidFill>
                  <a:srgbClr val="1E1E1E"/>
                </a:solidFill>
              </a:rPr>
              <a:t>访谈的目的</a:t>
            </a:r>
            <a:endParaRPr lang="en-US" sz="276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pic>
        <p:nvPicPr>
          <p:cNvPr id="5" name="Image 3" descr="https://test.web.static.jianzeppt.com/ppt-temp-img3/56052056f5bf8d72ff8f7937f71b1f05.png?x-oss-process=image/resize,w_1440,h_800,m_lfit/format,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1371600"/>
            <a:ext cx="2164080" cy="4876800"/>
          </a:xfrm>
          <a:prstGeom prst="rect">
            <a:avLst/>
          </a:prstGeom>
        </p:spPr>
      </p:pic>
      <p:sp>
        <p:nvSpPr>
          <p:cNvPr id="6" name="Text 0"/>
          <p:cNvSpPr/>
          <p:nvPr/>
        </p:nvSpPr>
        <p:spPr>
          <a:xfrm>
            <a:off x="859790" y="2199640"/>
            <a:ext cx="1655064" cy="1117283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63000"/>
              </a:lnSpc>
              <a:buNone/>
            </a:pPr>
            <a:r>
              <a:rPr lang="en-US" sz="1800" b="1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适用：</a:t>
            </a:r>
            <a:r>
              <a:rPr lang="en-US" sz="1800" dirty="0">
                <a:solidFill>
                  <a:srgbClr val="333333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标准化的测评项目、大规模测评。</a:t>
            </a:r>
            <a:endParaRPr lang="en-US" sz="1800" dirty="0"/>
          </a:p>
        </p:txBody>
      </p:sp>
      <p:pic>
        <p:nvPicPr>
          <p:cNvPr id="7" name="Image 4" descr="https://test.web.static.jianzeppt.com/ppt-temp-img3/bfe4c51b1db8f482ad36a745b772b3c0.png?x-oss-process=image/resize,w_1440,h_800,m_lfit/format,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3733800"/>
            <a:ext cx="1645920" cy="15240"/>
          </a:xfrm>
          <a:prstGeom prst="rect">
            <a:avLst/>
          </a:prstGeom>
        </p:spPr>
      </p:pic>
      <p:sp>
        <p:nvSpPr>
          <p:cNvPr id="8" name="Text 1"/>
          <p:cNvSpPr/>
          <p:nvPr/>
        </p:nvSpPr>
        <p:spPr>
          <a:xfrm>
            <a:off x="868680" y="3886200"/>
            <a:ext cx="1655064" cy="1117283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63000"/>
              </a:lnSpc>
              <a:buNone/>
            </a:pPr>
            <a:r>
              <a:rPr lang="en-US" sz="1800" b="1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特点：</a:t>
            </a:r>
            <a:r>
              <a:rPr lang="en-US" sz="1800" dirty="0">
                <a:solidFill>
                  <a:srgbClr val="333333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问题固定、格式统一、结果可比。</a:t>
            </a:r>
            <a:endParaRPr lang="en-US" sz="1800" dirty="0"/>
          </a:p>
        </p:txBody>
      </p:sp>
      <p:pic>
        <p:nvPicPr>
          <p:cNvPr id="9" name="Image 5" descr="preencoded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68680" y="1203960"/>
            <a:ext cx="1600200" cy="487680"/>
          </a:xfrm>
          <a:prstGeom prst="rect">
            <a:avLst/>
          </a:prstGeom>
        </p:spPr>
      </p:pic>
      <p:sp>
        <p:nvSpPr>
          <p:cNvPr id="10" name="Text 2"/>
          <p:cNvSpPr/>
          <p:nvPr/>
        </p:nvSpPr>
        <p:spPr>
          <a:xfrm>
            <a:off x="1051560" y="1162050"/>
            <a:ext cx="124358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2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结构化访谈</a:t>
            </a:r>
            <a:endParaRPr lang="en-US" sz="1920" dirty="0"/>
          </a:p>
        </p:txBody>
      </p:sp>
      <p:pic>
        <p:nvPicPr>
          <p:cNvPr id="11" name="Image 6" descr="preencoded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002280" y="1325880"/>
            <a:ext cx="2179320" cy="4983480"/>
          </a:xfrm>
          <a:prstGeom prst="rect">
            <a:avLst/>
          </a:prstGeom>
          <a:effectLst>
            <a:outerShdw blurRad="1161288000" dist="774192000" dir="-1" algn="bl" rotWithShape="0">
              <a:srgbClr val="000000">
                <a:alpha val="1000000000"/>
              </a:srgbClr>
            </a:outerShdw>
          </a:effectLst>
        </p:spPr>
      </p:pic>
      <p:sp>
        <p:nvSpPr>
          <p:cNvPr id="12" name="Text 3"/>
          <p:cNvSpPr/>
          <p:nvPr/>
        </p:nvSpPr>
        <p:spPr>
          <a:xfrm>
            <a:off x="3234055" y="2192655"/>
            <a:ext cx="1700784" cy="1192292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63000"/>
              </a:lnSpc>
              <a:buNone/>
            </a:pPr>
            <a:r>
              <a:rPr lang="en-US" sz="192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适用：</a:t>
            </a:r>
            <a:r>
              <a:rPr lang="en-US" sz="1920" dirty="0">
                <a:solidFill>
                  <a:srgbClr val="FFFFFF">
                    <a:alpha val="90000"/>
                  </a:srgbClr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针对特定岗位或发现异常时。</a:t>
            </a:r>
            <a:endParaRPr lang="en-US" sz="1920" dirty="0"/>
          </a:p>
        </p:txBody>
      </p:sp>
      <p:pic>
        <p:nvPicPr>
          <p:cNvPr id="13" name="Image 7" descr="https://test.web.static.jianzeppt.com/ppt-temp-img3/19824e46c295f11e6882ed5b37d05fef.png?x-oss-process=image/resize,w_1440,h_800,m_lfit/format,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246120" y="3931920"/>
            <a:ext cx="1691640" cy="30480"/>
          </a:xfrm>
          <a:prstGeom prst="rect">
            <a:avLst/>
          </a:prstGeom>
        </p:spPr>
      </p:pic>
      <p:sp>
        <p:nvSpPr>
          <p:cNvPr id="14" name="Text 4"/>
          <p:cNvSpPr/>
          <p:nvPr/>
        </p:nvSpPr>
        <p:spPr>
          <a:xfrm>
            <a:off x="3246120" y="4084320"/>
            <a:ext cx="1700784" cy="1192292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63000"/>
              </a:lnSpc>
              <a:buNone/>
            </a:pPr>
            <a:r>
              <a:rPr lang="en-US" sz="192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特点：</a:t>
            </a:r>
            <a:r>
              <a:rPr lang="en-US" sz="1920" dirty="0">
                <a:solidFill>
                  <a:srgbClr val="FFFFFF">
                    <a:alpha val="90000"/>
                  </a:srgbClr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核心问题固定，可追问细节。</a:t>
            </a:r>
            <a:endParaRPr lang="en-US" sz="1920" dirty="0"/>
          </a:p>
        </p:txBody>
      </p:sp>
      <p:pic>
        <p:nvPicPr>
          <p:cNvPr id="15" name="Image 8" descr="preencoded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246120" y="1143000"/>
            <a:ext cx="1874520" cy="50292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sp>
        <p:nvSpPr>
          <p:cNvPr id="16" name="Text 5"/>
          <p:cNvSpPr/>
          <p:nvPr/>
        </p:nvSpPr>
        <p:spPr>
          <a:xfrm>
            <a:off x="3429000" y="1146810"/>
            <a:ext cx="150266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20" b="1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半结构化访谈</a:t>
            </a:r>
            <a:endParaRPr lang="en-US" sz="1920" dirty="0"/>
          </a:p>
        </p:txBody>
      </p:sp>
      <p:pic>
        <p:nvPicPr>
          <p:cNvPr id="17" name="Image 9" descr="https://test.web.static.jianzeppt.com/ppt-temp-img3/56052056f5bf8d72ff8f7937f71b1f05.png?x-oss-process=image/resize,w_1440,h_800,m_lfit/format,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4960" y="1371600"/>
            <a:ext cx="2164080" cy="4876800"/>
          </a:xfrm>
          <a:prstGeom prst="rect">
            <a:avLst/>
          </a:prstGeom>
        </p:spPr>
      </p:pic>
      <p:sp>
        <p:nvSpPr>
          <p:cNvPr id="18" name="Text 6"/>
          <p:cNvSpPr/>
          <p:nvPr/>
        </p:nvSpPr>
        <p:spPr>
          <a:xfrm>
            <a:off x="5602605" y="2329180"/>
            <a:ext cx="1655064" cy="1117283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63000"/>
              </a:lnSpc>
              <a:buNone/>
            </a:pPr>
            <a:r>
              <a:rPr lang="en-US" sz="1800" b="1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适用：</a:t>
            </a:r>
            <a:r>
              <a:rPr lang="en-US" sz="1800" dirty="0">
                <a:solidFill>
                  <a:srgbClr val="333333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探索性调查、发现新问题。</a:t>
            </a:r>
            <a:endParaRPr lang="en-US" sz="1800" dirty="0"/>
          </a:p>
        </p:txBody>
      </p:sp>
      <p:pic>
        <p:nvPicPr>
          <p:cNvPr id="19" name="Image 10" descr="https://test.web.static.jianzeppt.com/ppt-temp-img3/bfe4c51b1db8f482ad36a745b772b3c0.png?x-oss-process=image/resize,w_1440,h_800,m_lfit/format,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54040" y="3931920"/>
            <a:ext cx="1645920" cy="15240"/>
          </a:xfrm>
          <a:prstGeom prst="rect">
            <a:avLst/>
          </a:prstGeom>
        </p:spPr>
      </p:pic>
      <p:sp>
        <p:nvSpPr>
          <p:cNvPr id="20" name="Text 7"/>
          <p:cNvSpPr/>
          <p:nvPr/>
        </p:nvSpPr>
        <p:spPr>
          <a:xfrm>
            <a:off x="5654040" y="4084320"/>
            <a:ext cx="1655064" cy="74485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63000"/>
              </a:lnSpc>
              <a:buNone/>
            </a:pPr>
            <a:r>
              <a:rPr lang="en-US" sz="1800" b="1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特点：</a:t>
            </a:r>
            <a:r>
              <a:rPr lang="en-US" sz="1800" dirty="0">
                <a:solidFill>
                  <a:srgbClr val="333333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开放式对话、灵活调整。</a:t>
            </a:r>
            <a:endParaRPr lang="en-US" sz="1800" dirty="0"/>
          </a:p>
        </p:txBody>
      </p:sp>
      <p:pic>
        <p:nvPicPr>
          <p:cNvPr id="21" name="Image 11" descr="preencoded.png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562600" y="1135380"/>
            <a:ext cx="1844040" cy="487680"/>
          </a:xfrm>
          <a:prstGeom prst="rect">
            <a:avLst/>
          </a:prstGeom>
        </p:spPr>
      </p:pic>
      <p:sp>
        <p:nvSpPr>
          <p:cNvPr id="22" name="Text 8"/>
          <p:cNvSpPr/>
          <p:nvPr/>
        </p:nvSpPr>
        <p:spPr>
          <a:xfrm>
            <a:off x="5745480" y="1127760"/>
            <a:ext cx="148742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2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非结构化访谈</a:t>
            </a:r>
            <a:endParaRPr lang="en-US" sz="1920" dirty="0"/>
          </a:p>
        </p:txBody>
      </p:sp>
      <p:pic>
        <p:nvPicPr>
          <p:cNvPr id="23" name="Image 12" descr="https://test.web.static.jianzeppt.com/ppt-temp-img3/78e7882f53a357ef75fb6fae9e251cd9.png?x-oss-process=image/resize,w_1440,h_800,m_lfit/format,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924800" y="1371600"/>
            <a:ext cx="3657600" cy="4876800"/>
          </a:xfrm>
          <a:prstGeom prst="rect">
            <a:avLst/>
          </a:prstGeom>
        </p:spPr>
      </p:pic>
      <p:sp>
        <p:nvSpPr>
          <p:cNvPr id="24" name="Text 9"/>
          <p:cNvSpPr/>
          <p:nvPr/>
        </p:nvSpPr>
        <p:spPr>
          <a:xfrm>
            <a:off x="8488680" y="1691640"/>
            <a:ext cx="2752344" cy="914400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400" b="1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在安全管理测评中的应用建议</a:t>
            </a:r>
            <a:endParaRPr lang="en-US" sz="2400" dirty="0"/>
          </a:p>
        </p:txBody>
      </p:sp>
      <p:pic>
        <p:nvPicPr>
          <p:cNvPr id="25" name="Image 13" descr="preencoded.png"/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8244840" y="1691640"/>
            <a:ext cx="60960" cy="914400"/>
          </a:xfrm>
          <a:prstGeom prst="rect">
            <a:avLst/>
          </a:prstGeom>
        </p:spPr>
      </p:pic>
      <p:pic>
        <p:nvPicPr>
          <p:cNvPr id="26" name="Image 14" descr="preencoded.png"/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8244840" y="3794760"/>
            <a:ext cx="121920" cy="121920"/>
          </a:xfrm>
          <a:prstGeom prst="rect">
            <a:avLst/>
          </a:prstGeom>
        </p:spPr>
      </p:pic>
      <p:sp>
        <p:nvSpPr>
          <p:cNvPr id="27" name="Text 10"/>
          <p:cNvSpPr/>
          <p:nvPr/>
        </p:nvSpPr>
        <p:spPr>
          <a:xfrm>
            <a:off x="8488680" y="3688080"/>
            <a:ext cx="2706624" cy="372428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63000"/>
              </a:lnSpc>
              <a:buNone/>
            </a:pPr>
            <a:r>
              <a:rPr lang="en-US" sz="1800" dirty="0">
                <a:solidFill>
                  <a:srgbClr val="333333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通常采用</a:t>
            </a:r>
            <a:r>
              <a:rPr lang="en-US" sz="1800" b="1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半结构化访谈</a:t>
            </a:r>
            <a:r>
              <a:rPr lang="en-US" sz="1800" dirty="0">
                <a:solidFill>
                  <a:srgbClr val="333333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。</a:t>
            </a:r>
            <a:endParaRPr lang="en-US" sz="1800" dirty="0"/>
          </a:p>
        </p:txBody>
      </p:sp>
      <p:pic>
        <p:nvPicPr>
          <p:cNvPr id="28" name="Image 15" descr="preencoded.png"/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8244840" y="4434840"/>
            <a:ext cx="121920" cy="121920"/>
          </a:xfrm>
          <a:prstGeom prst="rect">
            <a:avLst/>
          </a:prstGeom>
        </p:spPr>
      </p:pic>
      <p:sp>
        <p:nvSpPr>
          <p:cNvPr id="29" name="Text 11"/>
          <p:cNvSpPr/>
          <p:nvPr/>
        </p:nvSpPr>
        <p:spPr>
          <a:xfrm>
            <a:off x="8488680" y="4312920"/>
            <a:ext cx="2782824" cy="74485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63000"/>
              </a:lnSpc>
              <a:buNone/>
            </a:pPr>
            <a:r>
              <a:rPr lang="en-US" sz="1800" dirty="0">
                <a:solidFill>
                  <a:srgbClr val="333333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提前准备核心问题，过程中根据回答灵活追问。</a:t>
            </a:r>
            <a:endParaRPr lang="en-US" sz="1800" dirty="0"/>
          </a:p>
        </p:txBody>
      </p:sp>
      <p:sp>
        <p:nvSpPr>
          <p:cNvPr id="31" name="Text 12"/>
          <p:cNvSpPr/>
          <p:nvPr/>
        </p:nvSpPr>
        <p:spPr>
          <a:xfrm>
            <a:off x="822497" y="529635"/>
            <a:ext cx="10918068" cy="42648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60" dirty="0">
                <a:solidFill>
                  <a:srgbClr val="1E1E1E"/>
                </a:solidFill>
              </a:rPr>
              <a:t>访谈的类型</a:t>
            </a:r>
            <a:endParaRPr lang="en-US" sz="276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600" y="1478280"/>
            <a:ext cx="91440" cy="304800"/>
          </a:xfrm>
          <a:prstGeom prst="rect">
            <a:avLst/>
          </a:prstGeom>
        </p:spPr>
      </p:pic>
      <p:sp>
        <p:nvSpPr>
          <p:cNvPr id="6" name="Text 0"/>
          <p:cNvSpPr/>
          <p:nvPr/>
        </p:nvSpPr>
        <p:spPr>
          <a:xfrm>
            <a:off x="822960" y="1371600"/>
            <a:ext cx="1700784" cy="48768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640" b="1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访谈五步法</a:t>
            </a:r>
            <a:endParaRPr lang="en-US" sz="2640" dirty="0"/>
          </a:p>
        </p:txBody>
      </p:sp>
      <p:pic>
        <p:nvPicPr>
          <p:cNvPr id="7" name="Image 4" descr="https://test.web.static.jianzeppt.com/ppt-temp-img3/1df32b67acec658150539813d4ef9c46.png?x-oss-process=image/resize,w_1440,h_800,m_lfit/format,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00200" y="2667000"/>
            <a:ext cx="8991600" cy="30480"/>
          </a:xfrm>
          <a:prstGeom prst="rect">
            <a:avLst/>
          </a:prstGeom>
        </p:spPr>
      </p:pic>
      <p:pic>
        <p:nvPicPr>
          <p:cNvPr id="8" name="Image 5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310640" y="2362200"/>
            <a:ext cx="609600" cy="609600"/>
          </a:xfrm>
          <a:prstGeom prst="rect">
            <a:avLst/>
          </a:prstGeom>
          <a:effectLst>
            <a:outerShdw blurRad="1161288000" dist="774192000" dir="-1" algn="bl" rotWithShape="0">
              <a:srgbClr val="00234E">
                <a:alpha val="2000000000"/>
              </a:srgbClr>
            </a:outerShdw>
          </a:effectLst>
        </p:spPr>
      </p:pic>
      <p:sp>
        <p:nvSpPr>
          <p:cNvPr id="9" name="Text 1"/>
          <p:cNvSpPr/>
          <p:nvPr/>
        </p:nvSpPr>
        <p:spPr>
          <a:xfrm>
            <a:off x="1539240" y="2468880"/>
            <a:ext cx="176784" cy="39624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216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1</a:t>
            </a:r>
            <a:endParaRPr lang="en-US" sz="2160" dirty="0"/>
          </a:p>
        </p:txBody>
      </p:sp>
      <p:sp>
        <p:nvSpPr>
          <p:cNvPr id="10" name="Text 2"/>
          <p:cNvSpPr/>
          <p:nvPr/>
        </p:nvSpPr>
        <p:spPr>
          <a:xfrm>
            <a:off x="1341120" y="3093720"/>
            <a:ext cx="557784" cy="4114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60" b="1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准备</a:t>
            </a:r>
            <a:endParaRPr lang="en-US" sz="2160" dirty="0"/>
          </a:p>
        </p:txBody>
      </p:sp>
      <p:pic>
        <p:nvPicPr>
          <p:cNvPr id="11" name="Image 6" descr="preencoded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09600" y="3688080"/>
            <a:ext cx="2011680" cy="225552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sp>
        <p:nvSpPr>
          <p:cNvPr id="12" name="Text 3"/>
          <p:cNvSpPr/>
          <p:nvPr/>
        </p:nvSpPr>
        <p:spPr>
          <a:xfrm>
            <a:off x="807720" y="3886200"/>
            <a:ext cx="1624584" cy="5886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ct val="138000"/>
              </a:lnSpc>
              <a:buNone/>
            </a:pPr>
            <a:r>
              <a:rPr lang="en-US" sz="1680" dirty="0">
                <a:solidFill>
                  <a:srgbClr val="1F2937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确定访谈对象、设计访谈提纲</a:t>
            </a:r>
            <a:endParaRPr lang="en-US" sz="1680" dirty="0"/>
          </a:p>
        </p:txBody>
      </p:sp>
      <p:pic>
        <p:nvPicPr>
          <p:cNvPr id="13" name="Image 7" descr="https://test.web.static.jianzeppt.com/ppt-temp-img3/b0dc148ee0064a85c4bf27b2e6cfa31b.png?x-oss-process=image/resize,w_1440,h_800,m_lfit/format,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07720" y="4678680"/>
            <a:ext cx="1615440" cy="1066800"/>
          </a:xfrm>
          <a:prstGeom prst="rect">
            <a:avLst/>
          </a:prstGeom>
        </p:spPr>
      </p:pic>
      <p:sp>
        <p:nvSpPr>
          <p:cNvPr id="14" name="Text 4"/>
          <p:cNvSpPr/>
          <p:nvPr/>
        </p:nvSpPr>
        <p:spPr>
          <a:xfrm>
            <a:off x="944880" y="4815840"/>
            <a:ext cx="135026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440" b="1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关键要点</a:t>
            </a:r>
            <a:endParaRPr lang="en-US" sz="1440" dirty="0"/>
          </a:p>
        </p:txBody>
      </p:sp>
      <p:sp>
        <p:nvSpPr>
          <p:cNvPr id="15" name="Text 5"/>
          <p:cNvSpPr/>
          <p:nvPr/>
        </p:nvSpPr>
        <p:spPr>
          <a:xfrm>
            <a:off x="944880" y="5151120"/>
            <a:ext cx="1350264" cy="45720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440" dirty="0">
                <a:solidFill>
                  <a:srgbClr val="4B5563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了解岗位职责、准备核心问题</a:t>
            </a:r>
            <a:endParaRPr lang="en-US" sz="1440" dirty="0"/>
          </a:p>
        </p:txBody>
      </p:sp>
      <p:pic>
        <p:nvPicPr>
          <p:cNvPr id="16" name="Image 8" descr="preencoded.png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499360" y="2514600"/>
            <a:ext cx="304800" cy="304800"/>
          </a:xfrm>
          <a:prstGeom prst="rect">
            <a:avLst/>
          </a:prstGeom>
        </p:spPr>
      </p:pic>
      <p:pic>
        <p:nvPicPr>
          <p:cNvPr id="17" name="Image 9" descr="https://test.web.static.jianzeppt.com/ppt-temp-img3/28d5c46f8910ebb6d0275e3ca1f7af34.png?x-oss-process=image/resize,w_1440,h_800,m_lfit/format,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484120" y="2499360"/>
            <a:ext cx="335280" cy="335280"/>
          </a:xfrm>
          <a:prstGeom prst="rect">
            <a:avLst/>
          </a:prstGeom>
        </p:spPr>
      </p:pic>
      <p:pic>
        <p:nvPicPr>
          <p:cNvPr id="18" name="Image 10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550920" y="2362200"/>
            <a:ext cx="609600" cy="609600"/>
          </a:xfrm>
          <a:prstGeom prst="rect">
            <a:avLst/>
          </a:prstGeom>
          <a:effectLst>
            <a:outerShdw blurRad="1161288000" dist="774192000" dir="-1" algn="bl" rotWithShape="0">
              <a:srgbClr val="00234E">
                <a:alpha val="2000000000"/>
              </a:srgbClr>
            </a:outerShdw>
          </a:effectLst>
        </p:spPr>
      </p:pic>
      <p:sp>
        <p:nvSpPr>
          <p:cNvPr id="19" name="Text 6"/>
          <p:cNvSpPr/>
          <p:nvPr/>
        </p:nvSpPr>
        <p:spPr>
          <a:xfrm>
            <a:off x="3779520" y="2468880"/>
            <a:ext cx="176784" cy="39624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216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2</a:t>
            </a:r>
            <a:endParaRPr lang="en-US" sz="2160" dirty="0"/>
          </a:p>
        </p:txBody>
      </p:sp>
      <p:sp>
        <p:nvSpPr>
          <p:cNvPr id="20" name="Text 7"/>
          <p:cNvSpPr/>
          <p:nvPr/>
        </p:nvSpPr>
        <p:spPr>
          <a:xfrm>
            <a:off x="3581400" y="3093720"/>
            <a:ext cx="557784" cy="4114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60" b="1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预约</a:t>
            </a:r>
            <a:endParaRPr lang="en-US" sz="2160" dirty="0"/>
          </a:p>
        </p:txBody>
      </p:sp>
      <p:pic>
        <p:nvPicPr>
          <p:cNvPr id="21" name="Image 11" descr="preencoded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849880" y="3688080"/>
            <a:ext cx="2011680" cy="225552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sp>
        <p:nvSpPr>
          <p:cNvPr id="22" name="Text 8"/>
          <p:cNvSpPr/>
          <p:nvPr/>
        </p:nvSpPr>
        <p:spPr>
          <a:xfrm>
            <a:off x="3048000" y="3886200"/>
            <a:ext cx="1624584" cy="5886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ct val="138000"/>
              </a:lnSpc>
              <a:buNone/>
            </a:pPr>
            <a:r>
              <a:rPr lang="en-US" sz="1680" dirty="0">
                <a:solidFill>
                  <a:srgbClr val="1F2937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提前通知被访谈人</a:t>
            </a:r>
            <a:endParaRPr lang="en-US" sz="1680" dirty="0"/>
          </a:p>
        </p:txBody>
      </p:sp>
      <p:pic>
        <p:nvPicPr>
          <p:cNvPr id="23" name="Image 12" descr="https://test.web.static.jianzeppt.com/ppt-temp-img3/b0dc148ee0064a85c4bf27b2e6cfa31b.png?x-oss-process=image/resize,w_1440,h_800,m_lfit/format,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048000" y="4678680"/>
            <a:ext cx="1615440" cy="1066800"/>
          </a:xfrm>
          <a:prstGeom prst="rect">
            <a:avLst/>
          </a:prstGeom>
        </p:spPr>
      </p:pic>
      <p:sp>
        <p:nvSpPr>
          <p:cNvPr id="24" name="Text 9"/>
          <p:cNvSpPr/>
          <p:nvPr/>
        </p:nvSpPr>
        <p:spPr>
          <a:xfrm>
            <a:off x="3185160" y="4815840"/>
            <a:ext cx="135026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440" b="1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关键要点</a:t>
            </a:r>
            <a:endParaRPr lang="en-US" sz="1440" dirty="0"/>
          </a:p>
        </p:txBody>
      </p:sp>
      <p:sp>
        <p:nvSpPr>
          <p:cNvPr id="25" name="Text 10"/>
          <p:cNvSpPr/>
          <p:nvPr/>
        </p:nvSpPr>
        <p:spPr>
          <a:xfrm>
            <a:off x="3185160" y="5151120"/>
            <a:ext cx="1350264" cy="45720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440" dirty="0">
                <a:solidFill>
                  <a:srgbClr val="4B5563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说明访谈目的和大致时长</a:t>
            </a:r>
            <a:endParaRPr lang="en-US" sz="1440" dirty="0"/>
          </a:p>
        </p:txBody>
      </p:sp>
      <p:pic>
        <p:nvPicPr>
          <p:cNvPr id="26" name="Image 13" descr="preencoded.png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4739640" y="2514600"/>
            <a:ext cx="304800" cy="304800"/>
          </a:xfrm>
          <a:prstGeom prst="rect">
            <a:avLst/>
          </a:prstGeom>
        </p:spPr>
      </p:pic>
      <p:pic>
        <p:nvPicPr>
          <p:cNvPr id="27" name="Image 14" descr="https://test.web.static.jianzeppt.com/ppt-temp-img3/28d5c46f8910ebb6d0275e3ca1f7af34.png?x-oss-process=image/resize,w_1440,h_800,m_lfit/format,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724400" y="2499360"/>
            <a:ext cx="335280" cy="335280"/>
          </a:xfrm>
          <a:prstGeom prst="rect">
            <a:avLst/>
          </a:prstGeom>
        </p:spPr>
      </p:pic>
      <p:pic>
        <p:nvPicPr>
          <p:cNvPr id="28" name="Image 15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791200" y="2362200"/>
            <a:ext cx="609600" cy="609600"/>
          </a:xfrm>
          <a:prstGeom prst="rect">
            <a:avLst/>
          </a:prstGeom>
          <a:effectLst>
            <a:outerShdw blurRad="1161288000" dist="774192000" dir="-1" algn="bl" rotWithShape="0">
              <a:srgbClr val="00234E">
                <a:alpha val="2000000000"/>
              </a:srgbClr>
            </a:outerShdw>
          </a:effectLst>
        </p:spPr>
      </p:pic>
      <p:sp>
        <p:nvSpPr>
          <p:cNvPr id="29" name="Text 11"/>
          <p:cNvSpPr/>
          <p:nvPr/>
        </p:nvSpPr>
        <p:spPr>
          <a:xfrm>
            <a:off x="6019800" y="2468880"/>
            <a:ext cx="176784" cy="39624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216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3</a:t>
            </a:r>
            <a:endParaRPr lang="en-US" sz="2160" dirty="0"/>
          </a:p>
        </p:txBody>
      </p:sp>
      <p:sp>
        <p:nvSpPr>
          <p:cNvPr id="30" name="Text 12"/>
          <p:cNvSpPr/>
          <p:nvPr/>
        </p:nvSpPr>
        <p:spPr>
          <a:xfrm>
            <a:off x="5821680" y="3093720"/>
            <a:ext cx="557784" cy="4114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60" b="1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执行</a:t>
            </a:r>
            <a:endParaRPr lang="en-US" sz="2160" dirty="0"/>
          </a:p>
        </p:txBody>
      </p:sp>
      <p:pic>
        <p:nvPicPr>
          <p:cNvPr id="31" name="Image 16" descr="preencoded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090160" y="3688080"/>
            <a:ext cx="2011680" cy="225552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sp>
        <p:nvSpPr>
          <p:cNvPr id="32" name="Text 13"/>
          <p:cNvSpPr/>
          <p:nvPr/>
        </p:nvSpPr>
        <p:spPr>
          <a:xfrm>
            <a:off x="5455920" y="3886200"/>
            <a:ext cx="1289304" cy="294323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680" dirty="0">
                <a:solidFill>
                  <a:srgbClr val="1F2937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正式开展访谈</a:t>
            </a:r>
            <a:endParaRPr lang="en-US" sz="1680" dirty="0"/>
          </a:p>
        </p:txBody>
      </p:sp>
      <p:pic>
        <p:nvPicPr>
          <p:cNvPr id="33" name="Image 17" descr="https://test.web.static.jianzeppt.com/ppt-temp-img3/b0dc148ee0064a85c4bf27b2e6cfa31b.png?x-oss-process=image/resize,w_1440,h_800,m_lfit/format,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288280" y="4678680"/>
            <a:ext cx="1615440" cy="1066800"/>
          </a:xfrm>
          <a:prstGeom prst="rect">
            <a:avLst/>
          </a:prstGeom>
        </p:spPr>
      </p:pic>
      <p:sp>
        <p:nvSpPr>
          <p:cNvPr id="34" name="Text 14"/>
          <p:cNvSpPr/>
          <p:nvPr/>
        </p:nvSpPr>
        <p:spPr>
          <a:xfrm>
            <a:off x="5425440" y="4815840"/>
            <a:ext cx="135026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440" b="1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关键要点</a:t>
            </a:r>
            <a:endParaRPr lang="en-US" sz="1440" dirty="0"/>
          </a:p>
        </p:txBody>
      </p:sp>
      <p:sp>
        <p:nvSpPr>
          <p:cNvPr id="35" name="Text 15"/>
          <p:cNvSpPr/>
          <p:nvPr/>
        </p:nvSpPr>
        <p:spPr>
          <a:xfrm>
            <a:off x="5425440" y="5151120"/>
            <a:ext cx="1350264" cy="45720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440" dirty="0">
                <a:solidFill>
                  <a:srgbClr val="4B5563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注意提问技巧、做好记录</a:t>
            </a:r>
            <a:endParaRPr lang="en-US" sz="1440" dirty="0"/>
          </a:p>
        </p:txBody>
      </p:sp>
      <p:pic>
        <p:nvPicPr>
          <p:cNvPr id="36" name="Image 18" descr="preencoded.png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979920" y="2514600"/>
            <a:ext cx="304800" cy="304800"/>
          </a:xfrm>
          <a:prstGeom prst="rect">
            <a:avLst/>
          </a:prstGeom>
        </p:spPr>
      </p:pic>
      <p:pic>
        <p:nvPicPr>
          <p:cNvPr id="37" name="Image 19" descr="https://test.web.static.jianzeppt.com/ppt-temp-img3/28d5c46f8910ebb6d0275e3ca1f7af34.png?x-oss-process=image/resize,w_1440,h_800,m_lfit/format,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964680" y="2499360"/>
            <a:ext cx="335280" cy="335280"/>
          </a:xfrm>
          <a:prstGeom prst="rect">
            <a:avLst/>
          </a:prstGeom>
        </p:spPr>
      </p:pic>
      <p:pic>
        <p:nvPicPr>
          <p:cNvPr id="38" name="Image 20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031480" y="2362200"/>
            <a:ext cx="609600" cy="609600"/>
          </a:xfrm>
          <a:prstGeom prst="rect">
            <a:avLst/>
          </a:prstGeom>
          <a:effectLst>
            <a:outerShdw blurRad="1161288000" dist="774192000" dir="-1" algn="bl" rotWithShape="0">
              <a:srgbClr val="00234E">
                <a:alpha val="2000000000"/>
              </a:srgbClr>
            </a:outerShdw>
          </a:effectLst>
        </p:spPr>
      </p:pic>
      <p:sp>
        <p:nvSpPr>
          <p:cNvPr id="39" name="Text 16"/>
          <p:cNvSpPr/>
          <p:nvPr/>
        </p:nvSpPr>
        <p:spPr>
          <a:xfrm>
            <a:off x="8260080" y="2468880"/>
            <a:ext cx="176784" cy="39624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216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4</a:t>
            </a:r>
            <a:endParaRPr lang="en-US" sz="2160" dirty="0"/>
          </a:p>
        </p:txBody>
      </p:sp>
      <p:sp>
        <p:nvSpPr>
          <p:cNvPr id="40" name="Text 17"/>
          <p:cNvSpPr/>
          <p:nvPr/>
        </p:nvSpPr>
        <p:spPr>
          <a:xfrm>
            <a:off x="8061960" y="3093720"/>
            <a:ext cx="557784" cy="4114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60" b="1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核实</a:t>
            </a:r>
            <a:endParaRPr lang="en-US" sz="2160" dirty="0"/>
          </a:p>
        </p:txBody>
      </p:sp>
      <p:pic>
        <p:nvPicPr>
          <p:cNvPr id="41" name="Image 21" descr="preencoded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330440" y="3688080"/>
            <a:ext cx="2011680" cy="225552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sp>
        <p:nvSpPr>
          <p:cNvPr id="42" name="Text 18"/>
          <p:cNvSpPr/>
          <p:nvPr/>
        </p:nvSpPr>
        <p:spPr>
          <a:xfrm>
            <a:off x="7528560" y="3886200"/>
            <a:ext cx="1624584" cy="5886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ct val="138000"/>
              </a:lnSpc>
              <a:buNone/>
            </a:pPr>
            <a:r>
              <a:rPr lang="en-US" sz="1680" dirty="0">
                <a:solidFill>
                  <a:srgbClr val="1F2937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对关键信息进行确认</a:t>
            </a:r>
            <a:endParaRPr lang="en-US" sz="1680" dirty="0"/>
          </a:p>
        </p:txBody>
      </p:sp>
      <p:pic>
        <p:nvPicPr>
          <p:cNvPr id="43" name="Image 22" descr="https://test.web.static.jianzeppt.com/ppt-temp-img3/b0dc148ee0064a85c4bf27b2e6cfa31b.png?x-oss-process=image/resize,w_1440,h_800,m_lfit/format,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528560" y="4678680"/>
            <a:ext cx="1615440" cy="1066800"/>
          </a:xfrm>
          <a:prstGeom prst="rect">
            <a:avLst/>
          </a:prstGeom>
        </p:spPr>
      </p:pic>
      <p:sp>
        <p:nvSpPr>
          <p:cNvPr id="44" name="Text 19"/>
          <p:cNvSpPr/>
          <p:nvPr/>
        </p:nvSpPr>
        <p:spPr>
          <a:xfrm>
            <a:off x="7665720" y="4815840"/>
            <a:ext cx="135026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440" b="1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关键要点</a:t>
            </a:r>
            <a:endParaRPr lang="en-US" sz="1440" dirty="0"/>
          </a:p>
        </p:txBody>
      </p:sp>
      <p:sp>
        <p:nvSpPr>
          <p:cNvPr id="45" name="Text 20"/>
          <p:cNvSpPr/>
          <p:nvPr/>
        </p:nvSpPr>
        <p:spPr>
          <a:xfrm>
            <a:off x="7665720" y="5151120"/>
            <a:ext cx="1350264" cy="45720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440" dirty="0">
                <a:solidFill>
                  <a:srgbClr val="4B5563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对存疑点进行追问或交叉验证</a:t>
            </a:r>
            <a:endParaRPr lang="en-US" sz="1440" dirty="0"/>
          </a:p>
        </p:txBody>
      </p:sp>
      <p:pic>
        <p:nvPicPr>
          <p:cNvPr id="46" name="Image 23" descr="preencoded.png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220200" y="2514600"/>
            <a:ext cx="304800" cy="304800"/>
          </a:xfrm>
          <a:prstGeom prst="rect">
            <a:avLst/>
          </a:prstGeom>
        </p:spPr>
      </p:pic>
      <p:pic>
        <p:nvPicPr>
          <p:cNvPr id="47" name="Image 24" descr="https://test.web.static.jianzeppt.com/ppt-temp-img3/28d5c46f8910ebb6d0275e3ca1f7af34.png?x-oss-process=image/resize,w_1440,h_800,m_lfit/format,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204960" y="2499360"/>
            <a:ext cx="335280" cy="335280"/>
          </a:xfrm>
          <a:prstGeom prst="rect">
            <a:avLst/>
          </a:prstGeom>
        </p:spPr>
      </p:pic>
      <p:pic>
        <p:nvPicPr>
          <p:cNvPr id="48" name="Image 25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271760" y="2362200"/>
            <a:ext cx="609600" cy="609600"/>
          </a:xfrm>
          <a:prstGeom prst="rect">
            <a:avLst/>
          </a:prstGeom>
          <a:effectLst>
            <a:outerShdw blurRad="1161288000" dist="774192000" dir="-1" algn="bl" rotWithShape="0">
              <a:srgbClr val="00234E">
                <a:alpha val="2000000000"/>
              </a:srgbClr>
            </a:outerShdw>
          </a:effectLst>
        </p:spPr>
      </p:pic>
      <p:sp>
        <p:nvSpPr>
          <p:cNvPr id="49" name="Text 21"/>
          <p:cNvSpPr/>
          <p:nvPr/>
        </p:nvSpPr>
        <p:spPr>
          <a:xfrm>
            <a:off x="10500360" y="2468880"/>
            <a:ext cx="176784" cy="39624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216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5</a:t>
            </a:r>
            <a:endParaRPr lang="en-US" sz="2160" dirty="0"/>
          </a:p>
        </p:txBody>
      </p:sp>
      <p:sp>
        <p:nvSpPr>
          <p:cNvPr id="50" name="Text 22"/>
          <p:cNvSpPr/>
          <p:nvPr/>
        </p:nvSpPr>
        <p:spPr>
          <a:xfrm>
            <a:off x="10302240" y="3093720"/>
            <a:ext cx="557784" cy="4114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60" b="1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记录</a:t>
            </a:r>
            <a:endParaRPr lang="en-US" sz="2160" dirty="0"/>
          </a:p>
        </p:txBody>
      </p:sp>
      <p:pic>
        <p:nvPicPr>
          <p:cNvPr id="51" name="Image 26" descr="preencoded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570720" y="3688080"/>
            <a:ext cx="2011680" cy="225552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sp>
        <p:nvSpPr>
          <p:cNvPr id="52" name="Text 23"/>
          <p:cNvSpPr/>
          <p:nvPr/>
        </p:nvSpPr>
        <p:spPr>
          <a:xfrm>
            <a:off x="9936480" y="3886200"/>
            <a:ext cx="1289304" cy="294323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680" dirty="0">
                <a:solidFill>
                  <a:srgbClr val="1F2937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整理访谈记录</a:t>
            </a:r>
            <a:endParaRPr lang="en-US" sz="1680" dirty="0"/>
          </a:p>
        </p:txBody>
      </p:sp>
      <p:pic>
        <p:nvPicPr>
          <p:cNvPr id="53" name="Image 27" descr="https://test.web.static.jianzeppt.com/ppt-temp-img3/b0dc148ee0064a85c4bf27b2e6cfa31b.png?x-oss-process=image/resize,w_1440,h_800,m_lfit/format,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768840" y="4678680"/>
            <a:ext cx="1615440" cy="1066800"/>
          </a:xfrm>
          <a:prstGeom prst="rect">
            <a:avLst/>
          </a:prstGeom>
        </p:spPr>
      </p:pic>
      <p:sp>
        <p:nvSpPr>
          <p:cNvPr id="54" name="Text 24"/>
          <p:cNvSpPr/>
          <p:nvPr/>
        </p:nvSpPr>
        <p:spPr>
          <a:xfrm>
            <a:off x="9906000" y="4815840"/>
            <a:ext cx="135026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440" b="1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关键要点</a:t>
            </a:r>
            <a:endParaRPr lang="en-US" sz="1440" dirty="0"/>
          </a:p>
        </p:txBody>
      </p:sp>
      <p:sp>
        <p:nvSpPr>
          <p:cNvPr id="55" name="Text 25"/>
          <p:cNvSpPr/>
          <p:nvPr/>
        </p:nvSpPr>
        <p:spPr>
          <a:xfrm>
            <a:off x="9906000" y="5151120"/>
            <a:ext cx="1350264" cy="45720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440" dirty="0">
                <a:solidFill>
                  <a:srgbClr val="4B5563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及时整理、签字确认</a:t>
            </a:r>
            <a:endParaRPr lang="en-US" sz="1440" dirty="0"/>
          </a:p>
        </p:txBody>
      </p:sp>
      <p:sp>
        <p:nvSpPr>
          <p:cNvPr id="56" name="Text 26"/>
          <p:cNvSpPr/>
          <p:nvPr/>
        </p:nvSpPr>
        <p:spPr>
          <a:xfrm>
            <a:off x="822497" y="529635"/>
            <a:ext cx="10918068" cy="42648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60" dirty="0">
                <a:solidFill>
                  <a:srgbClr val="1E1E1E"/>
                </a:solidFill>
              </a:rPr>
              <a:t>访谈的基本流程</a:t>
            </a:r>
            <a:endParaRPr lang="en-US" sz="276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609600" y="1371600"/>
            <a:ext cx="10981944" cy="4114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160" b="1" dirty="0">
                <a:solidFill>
                  <a:srgbClr val="333333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安全管理测评中常见访谈对象及关注点：</a:t>
            </a:r>
            <a:endParaRPr lang="en-US" sz="2160" dirty="0"/>
          </a:p>
        </p:txBody>
      </p:sp>
      <p:pic>
        <p:nvPicPr>
          <p:cNvPr id="6" name="Image 3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600" y="1965960"/>
            <a:ext cx="10972800" cy="76200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pic>
        <p:nvPicPr>
          <p:cNvPr id="7" name="Image 4" descr="preencoded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62000" y="2042160"/>
            <a:ext cx="609600" cy="609600"/>
          </a:xfrm>
          <a:prstGeom prst="rect">
            <a:avLst/>
          </a:prstGeom>
        </p:spPr>
      </p:pic>
      <p:pic>
        <p:nvPicPr>
          <p:cNvPr id="8" name="Image 5" descr="preencoded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14400" y="2194560"/>
            <a:ext cx="304800" cy="304800"/>
          </a:xfrm>
          <a:prstGeom prst="rect">
            <a:avLst/>
          </a:prstGeom>
        </p:spPr>
      </p:pic>
      <p:sp>
        <p:nvSpPr>
          <p:cNvPr id="9" name="Text 1"/>
          <p:cNvSpPr/>
          <p:nvPr/>
        </p:nvSpPr>
        <p:spPr>
          <a:xfrm>
            <a:off x="1554480" y="2118360"/>
            <a:ext cx="2264664" cy="4572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安全主管/负责人</a:t>
            </a:r>
            <a:endParaRPr lang="en-US" sz="2400" dirty="0"/>
          </a:p>
        </p:txBody>
      </p:sp>
      <p:sp>
        <p:nvSpPr>
          <p:cNvPr id="10" name="Text 2"/>
          <p:cNvSpPr/>
          <p:nvPr/>
        </p:nvSpPr>
        <p:spPr>
          <a:xfrm>
            <a:off x="3992880" y="2179320"/>
            <a:ext cx="464210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920" dirty="0">
                <a:solidFill>
                  <a:srgbClr val="333333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制度建设、策略制定、事件管理、安全投入</a:t>
            </a:r>
            <a:endParaRPr lang="en-US" sz="1920" dirty="0"/>
          </a:p>
        </p:txBody>
      </p:sp>
      <p:pic>
        <p:nvPicPr>
          <p:cNvPr id="11" name="Image 6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600" y="2849880"/>
            <a:ext cx="10972800" cy="76200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pic>
        <p:nvPicPr>
          <p:cNvPr id="12" name="Image 7" descr="preencoded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62000" y="2926080"/>
            <a:ext cx="609600" cy="609600"/>
          </a:xfrm>
          <a:prstGeom prst="rect">
            <a:avLst/>
          </a:prstGeom>
        </p:spPr>
      </p:pic>
      <p:pic>
        <p:nvPicPr>
          <p:cNvPr id="13" name="Image 8" descr="preencoded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14400" y="3078480"/>
            <a:ext cx="304800" cy="304800"/>
          </a:xfrm>
          <a:prstGeom prst="rect">
            <a:avLst/>
          </a:prstGeom>
        </p:spPr>
      </p:pic>
      <p:sp>
        <p:nvSpPr>
          <p:cNvPr id="14" name="Text 3"/>
          <p:cNvSpPr/>
          <p:nvPr/>
        </p:nvSpPr>
        <p:spPr>
          <a:xfrm>
            <a:off x="1554480" y="3002280"/>
            <a:ext cx="1533144" cy="4572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系统管理员</a:t>
            </a:r>
            <a:endParaRPr lang="en-US" sz="2400" dirty="0"/>
          </a:p>
        </p:txBody>
      </p:sp>
      <p:sp>
        <p:nvSpPr>
          <p:cNvPr id="15" name="Text 4"/>
          <p:cNvSpPr/>
          <p:nvPr/>
        </p:nvSpPr>
        <p:spPr>
          <a:xfrm>
            <a:off x="3261360" y="3063240"/>
            <a:ext cx="465734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920" dirty="0">
                <a:solidFill>
                  <a:srgbClr val="333333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账户权限、日常运维、补丁管理、备份执行</a:t>
            </a:r>
            <a:endParaRPr lang="en-US" sz="1920" dirty="0"/>
          </a:p>
        </p:txBody>
      </p:sp>
      <p:pic>
        <p:nvPicPr>
          <p:cNvPr id="16" name="Image 9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600" y="3733800"/>
            <a:ext cx="10972800" cy="76200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pic>
        <p:nvPicPr>
          <p:cNvPr id="17" name="Image 10" descr="preencoded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62000" y="3810000"/>
            <a:ext cx="609600" cy="609600"/>
          </a:xfrm>
          <a:prstGeom prst="rect">
            <a:avLst/>
          </a:prstGeom>
        </p:spPr>
      </p:pic>
      <p:pic>
        <p:nvPicPr>
          <p:cNvPr id="18" name="Image 11" descr="preencoded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14400" y="3962400"/>
            <a:ext cx="304800" cy="304800"/>
          </a:xfrm>
          <a:prstGeom prst="rect">
            <a:avLst/>
          </a:prstGeom>
        </p:spPr>
      </p:pic>
      <p:sp>
        <p:nvSpPr>
          <p:cNvPr id="19" name="Text 5"/>
          <p:cNvSpPr/>
          <p:nvPr/>
        </p:nvSpPr>
        <p:spPr>
          <a:xfrm>
            <a:off x="1554480" y="3886200"/>
            <a:ext cx="1533144" cy="4572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安全管理员</a:t>
            </a:r>
            <a:endParaRPr lang="en-US" sz="2400" dirty="0"/>
          </a:p>
        </p:txBody>
      </p:sp>
      <p:sp>
        <p:nvSpPr>
          <p:cNvPr id="20" name="Text 6"/>
          <p:cNvSpPr/>
          <p:nvPr/>
        </p:nvSpPr>
        <p:spPr>
          <a:xfrm>
            <a:off x="3261360" y="3947160"/>
            <a:ext cx="465734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920" dirty="0">
                <a:solidFill>
                  <a:srgbClr val="333333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策略执行、安全配置、安全审计、安全巡检</a:t>
            </a:r>
            <a:endParaRPr lang="en-US" sz="1920" dirty="0"/>
          </a:p>
        </p:txBody>
      </p:sp>
      <p:pic>
        <p:nvPicPr>
          <p:cNvPr id="21" name="Image 12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600" y="4602480"/>
            <a:ext cx="10972800" cy="76200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pic>
        <p:nvPicPr>
          <p:cNvPr id="22" name="Image 13" descr="preencoded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62000" y="4678680"/>
            <a:ext cx="609600" cy="609600"/>
          </a:xfrm>
          <a:prstGeom prst="rect">
            <a:avLst/>
          </a:prstGeom>
        </p:spPr>
      </p:pic>
      <p:pic>
        <p:nvPicPr>
          <p:cNvPr id="23" name="Image 14" descr="preencoded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14400" y="4831080"/>
            <a:ext cx="304800" cy="304800"/>
          </a:xfrm>
          <a:prstGeom prst="rect">
            <a:avLst/>
          </a:prstGeom>
        </p:spPr>
      </p:pic>
      <p:sp>
        <p:nvSpPr>
          <p:cNvPr id="24" name="Text 7"/>
          <p:cNvSpPr/>
          <p:nvPr/>
        </p:nvSpPr>
        <p:spPr>
          <a:xfrm>
            <a:off x="1554480" y="4754880"/>
            <a:ext cx="1228344" cy="4572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普通员工</a:t>
            </a:r>
            <a:endParaRPr lang="en-US" sz="2400" dirty="0"/>
          </a:p>
        </p:txBody>
      </p:sp>
      <p:sp>
        <p:nvSpPr>
          <p:cNvPr id="25" name="Text 8"/>
          <p:cNvSpPr/>
          <p:nvPr/>
        </p:nvSpPr>
        <p:spPr>
          <a:xfrm>
            <a:off x="2956560" y="4815840"/>
            <a:ext cx="441350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920" dirty="0">
                <a:solidFill>
                  <a:srgbClr val="333333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安全意识、安全培训接受情况、制度了解</a:t>
            </a:r>
            <a:endParaRPr lang="en-US" sz="1920" dirty="0"/>
          </a:p>
        </p:txBody>
      </p:sp>
      <p:pic>
        <p:nvPicPr>
          <p:cNvPr id="26" name="Image 15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600" y="5486400"/>
            <a:ext cx="10972800" cy="76200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pic>
        <p:nvPicPr>
          <p:cNvPr id="27" name="Image 16" descr="preencoded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62000" y="5562600"/>
            <a:ext cx="609600" cy="609600"/>
          </a:xfrm>
          <a:prstGeom prst="rect">
            <a:avLst/>
          </a:prstGeom>
        </p:spPr>
      </p:pic>
      <p:pic>
        <p:nvPicPr>
          <p:cNvPr id="28" name="Image 17" descr="preencoded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14400" y="5715000"/>
            <a:ext cx="304800" cy="304800"/>
          </a:xfrm>
          <a:prstGeom prst="rect">
            <a:avLst/>
          </a:prstGeom>
        </p:spPr>
      </p:pic>
      <p:sp>
        <p:nvSpPr>
          <p:cNvPr id="29" name="Text 9"/>
          <p:cNvSpPr/>
          <p:nvPr/>
        </p:nvSpPr>
        <p:spPr>
          <a:xfrm>
            <a:off x="1554480" y="5638800"/>
            <a:ext cx="2264664" cy="4572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第三方/外包人员</a:t>
            </a:r>
            <a:endParaRPr lang="en-US" sz="2400" dirty="0"/>
          </a:p>
        </p:txBody>
      </p:sp>
      <p:sp>
        <p:nvSpPr>
          <p:cNvPr id="30" name="Text 10"/>
          <p:cNvSpPr/>
          <p:nvPr/>
        </p:nvSpPr>
        <p:spPr>
          <a:xfrm>
            <a:off x="3992880" y="5699760"/>
            <a:ext cx="439826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920" dirty="0">
                <a:solidFill>
                  <a:srgbClr val="333333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访问权限管控、保密协议签订、服务管理</a:t>
            </a:r>
            <a:endParaRPr lang="en-US" sz="1920" dirty="0"/>
          </a:p>
        </p:txBody>
      </p:sp>
      <p:sp>
        <p:nvSpPr>
          <p:cNvPr id="31" name="Text 11"/>
          <p:cNvSpPr/>
          <p:nvPr/>
        </p:nvSpPr>
        <p:spPr>
          <a:xfrm>
            <a:off x="822497" y="529635"/>
            <a:ext cx="10918068" cy="42648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60" dirty="0">
                <a:solidFill>
                  <a:srgbClr val="1E1E1E"/>
                </a:solidFill>
              </a:rPr>
              <a:t>访谈对象——该访谈谁？</a:t>
            </a:r>
            <a:endParaRPr lang="en-US" sz="276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600" y="1371600"/>
            <a:ext cx="10972800" cy="426720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sp>
        <p:nvSpPr>
          <p:cNvPr id="6" name="Text 0"/>
          <p:cNvSpPr/>
          <p:nvPr/>
        </p:nvSpPr>
        <p:spPr>
          <a:xfrm>
            <a:off x="868680" y="2179320"/>
            <a:ext cx="3742944" cy="28956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20" dirty="0">
                <a:solidFill>
                  <a:srgbClr val="333333"/>
                </a:solidFill>
              </a:rPr>
              <a:t>1. 请简要介绍一下您的岗位职责。</a:t>
            </a:r>
            <a:endParaRPr lang="en-US" sz="1920" dirty="0"/>
          </a:p>
        </p:txBody>
      </p:sp>
      <p:pic>
        <p:nvPicPr>
          <p:cNvPr id="7" name="Image 4" descr="https://test.web.static.jianzeppt.com/ppt-temp-img3/e0176fba25c450c1e6891adf73bb95f8.png?x-oss-process=image/resize,w_1440,h_800,m_lfit/format,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80760" y="2042160"/>
            <a:ext cx="15240" cy="584149"/>
          </a:xfrm>
          <a:prstGeom prst="rect">
            <a:avLst/>
          </a:prstGeom>
        </p:spPr>
      </p:pic>
      <p:sp>
        <p:nvSpPr>
          <p:cNvPr id="8" name="Text 1"/>
          <p:cNvSpPr/>
          <p:nvPr/>
        </p:nvSpPr>
        <p:spPr>
          <a:xfrm>
            <a:off x="6339840" y="2225040"/>
            <a:ext cx="4992624" cy="2286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80" dirty="0">
                <a:solidFill>
                  <a:srgbClr val="555555"/>
                </a:solidFill>
              </a:rPr>
              <a:t>确认岗位职责范围，判断是否存在“身兼多岗”</a:t>
            </a:r>
            <a:endParaRPr lang="en-US" sz="1680" dirty="0"/>
          </a:p>
        </p:txBody>
      </p:sp>
      <p:pic>
        <p:nvPicPr>
          <p:cNvPr id="9" name="Image 5" descr="https://test.web.static.jianzeppt.com/ppt-temp-img3/b7aab395a766e6708480a1c63bee46cb.png?x-oss-process=image/resize,w_1440,h_800,m_lfit/format,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4840" y="2641549"/>
            <a:ext cx="10942320" cy="15240"/>
          </a:xfrm>
          <a:prstGeom prst="rect">
            <a:avLst/>
          </a:prstGeom>
        </p:spPr>
      </p:pic>
      <p:pic>
        <p:nvPicPr>
          <p:cNvPr id="10" name="Image 6" descr="preencoded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24840" y="2636520"/>
            <a:ext cx="10942320" cy="609600"/>
          </a:xfrm>
          <a:prstGeom prst="rect">
            <a:avLst/>
          </a:prstGeom>
        </p:spPr>
      </p:pic>
      <p:sp>
        <p:nvSpPr>
          <p:cNvPr id="11" name="Text 2"/>
          <p:cNvSpPr/>
          <p:nvPr/>
        </p:nvSpPr>
        <p:spPr>
          <a:xfrm>
            <a:off x="868680" y="2788920"/>
            <a:ext cx="4962144" cy="28956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20" dirty="0">
                <a:solidFill>
                  <a:srgbClr val="333333"/>
                </a:solidFill>
              </a:rPr>
              <a:t>2. 系统目前有哪些用户？账户是如何管理的？</a:t>
            </a:r>
            <a:endParaRPr lang="en-US" sz="1920" dirty="0"/>
          </a:p>
        </p:txBody>
      </p:sp>
      <p:pic>
        <p:nvPicPr>
          <p:cNvPr id="12" name="Image 7" descr="https://test.web.static.jianzeppt.com/ppt-temp-img3/e0176fba25c450c1e6891adf73bb95f8.png?x-oss-process=image/resize,w_1440,h_800,m_lfit/format,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80760" y="2641549"/>
            <a:ext cx="15240" cy="584149"/>
          </a:xfrm>
          <a:prstGeom prst="rect">
            <a:avLst/>
          </a:prstGeom>
        </p:spPr>
      </p:pic>
      <p:sp>
        <p:nvSpPr>
          <p:cNvPr id="13" name="Text 3"/>
          <p:cNvSpPr/>
          <p:nvPr/>
        </p:nvSpPr>
        <p:spPr>
          <a:xfrm>
            <a:off x="6339840" y="2819400"/>
            <a:ext cx="4992624" cy="2286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80" dirty="0">
                <a:solidFill>
                  <a:srgbClr val="555555"/>
                </a:solidFill>
              </a:rPr>
              <a:t>账号创建、权限分配、离职账号清理</a:t>
            </a:r>
            <a:endParaRPr lang="en-US" sz="1680" dirty="0"/>
          </a:p>
        </p:txBody>
      </p:sp>
      <p:pic>
        <p:nvPicPr>
          <p:cNvPr id="14" name="Image 8" descr="https://test.web.static.jianzeppt.com/ppt-temp-img3/b7aab395a766e6708480a1c63bee46cb.png?x-oss-process=image/resize,w_1440,h_800,m_lfit/format,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4840" y="3240938"/>
            <a:ext cx="10942320" cy="15240"/>
          </a:xfrm>
          <a:prstGeom prst="rect">
            <a:avLst/>
          </a:prstGeom>
        </p:spPr>
      </p:pic>
      <p:sp>
        <p:nvSpPr>
          <p:cNvPr id="15" name="Text 4"/>
          <p:cNvSpPr/>
          <p:nvPr/>
        </p:nvSpPr>
        <p:spPr>
          <a:xfrm>
            <a:off x="868680" y="3383280"/>
            <a:ext cx="4718304" cy="28956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20" dirty="0">
                <a:solidFill>
                  <a:srgbClr val="333333"/>
                </a:solidFill>
              </a:rPr>
              <a:t>3. 密码策略是如何设置的？是否定期更换？</a:t>
            </a:r>
            <a:endParaRPr lang="en-US" sz="1920" dirty="0"/>
          </a:p>
        </p:txBody>
      </p:sp>
      <p:pic>
        <p:nvPicPr>
          <p:cNvPr id="16" name="Image 9" descr="https://test.web.static.jianzeppt.com/ppt-temp-img3/e0176fba25c450c1e6891adf73bb95f8.png?x-oss-process=image/resize,w_1440,h_800,m_lfit/format,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80760" y="3240938"/>
            <a:ext cx="15240" cy="584149"/>
          </a:xfrm>
          <a:prstGeom prst="rect">
            <a:avLst/>
          </a:prstGeom>
        </p:spPr>
      </p:pic>
      <p:sp>
        <p:nvSpPr>
          <p:cNvPr id="17" name="Text 5"/>
          <p:cNvSpPr/>
          <p:nvPr/>
        </p:nvSpPr>
        <p:spPr>
          <a:xfrm>
            <a:off x="6339840" y="3429000"/>
            <a:ext cx="4992624" cy="2286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80" dirty="0">
                <a:solidFill>
                  <a:srgbClr val="555555"/>
                </a:solidFill>
              </a:rPr>
              <a:t>密码复杂度、更换周期、是否强制？</a:t>
            </a:r>
            <a:endParaRPr lang="en-US" sz="1680" dirty="0"/>
          </a:p>
        </p:txBody>
      </p:sp>
      <p:pic>
        <p:nvPicPr>
          <p:cNvPr id="18" name="Image 10" descr="https://test.web.static.jianzeppt.com/ppt-temp-img3/b7aab395a766e6708480a1c63bee46cb.png?x-oss-process=image/resize,w_1440,h_800,m_lfit/format,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4840" y="3840175"/>
            <a:ext cx="10942320" cy="15240"/>
          </a:xfrm>
          <a:prstGeom prst="rect">
            <a:avLst/>
          </a:prstGeom>
        </p:spPr>
      </p:pic>
      <p:pic>
        <p:nvPicPr>
          <p:cNvPr id="19" name="Image 11" descr="preencoded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24840" y="3840480"/>
            <a:ext cx="10942320" cy="609600"/>
          </a:xfrm>
          <a:prstGeom prst="rect">
            <a:avLst/>
          </a:prstGeom>
        </p:spPr>
      </p:pic>
      <p:sp>
        <p:nvSpPr>
          <p:cNvPr id="20" name="Text 6"/>
          <p:cNvSpPr/>
          <p:nvPr/>
        </p:nvSpPr>
        <p:spPr>
          <a:xfrm>
            <a:off x="868680" y="3977640"/>
            <a:ext cx="3011424" cy="28956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20" dirty="0">
                <a:solidFill>
                  <a:srgbClr val="333333"/>
                </a:solidFill>
              </a:rPr>
              <a:t>4. 系统补丁是如何管理的？</a:t>
            </a:r>
            <a:endParaRPr lang="en-US" sz="1920" dirty="0"/>
          </a:p>
        </p:txBody>
      </p:sp>
      <p:pic>
        <p:nvPicPr>
          <p:cNvPr id="21" name="Image 12" descr="https://test.web.static.jianzeppt.com/ppt-temp-img3/e0176fba25c450c1e6891adf73bb95f8.png?x-oss-process=image/resize,w_1440,h_800,m_lfit/format,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80760" y="3840175"/>
            <a:ext cx="15240" cy="584149"/>
          </a:xfrm>
          <a:prstGeom prst="rect">
            <a:avLst/>
          </a:prstGeom>
        </p:spPr>
      </p:pic>
      <p:sp>
        <p:nvSpPr>
          <p:cNvPr id="22" name="Text 7"/>
          <p:cNvSpPr/>
          <p:nvPr/>
        </p:nvSpPr>
        <p:spPr>
          <a:xfrm>
            <a:off x="6339840" y="4023360"/>
            <a:ext cx="4992624" cy="2286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80" dirty="0">
                <a:solidFill>
                  <a:srgbClr val="555555"/>
                </a:solidFill>
              </a:rPr>
              <a:t>补丁更新流程、测试评估、紧急补丁处理</a:t>
            </a:r>
            <a:endParaRPr lang="en-US" sz="1680" dirty="0"/>
          </a:p>
        </p:txBody>
      </p:sp>
      <p:pic>
        <p:nvPicPr>
          <p:cNvPr id="23" name="Image 13" descr="https://test.web.static.jianzeppt.com/ppt-temp-img3/b7aab395a766e6708480a1c63bee46cb.png?x-oss-process=image/resize,w_1440,h_800,m_lfit/format,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4840" y="4439564"/>
            <a:ext cx="10942320" cy="15240"/>
          </a:xfrm>
          <a:prstGeom prst="rect">
            <a:avLst/>
          </a:prstGeom>
        </p:spPr>
      </p:pic>
      <p:sp>
        <p:nvSpPr>
          <p:cNvPr id="24" name="Text 8"/>
          <p:cNvSpPr/>
          <p:nvPr/>
        </p:nvSpPr>
        <p:spPr>
          <a:xfrm>
            <a:off x="868680" y="4572000"/>
            <a:ext cx="4962144" cy="28956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20" dirty="0">
                <a:solidFill>
                  <a:srgbClr val="333333"/>
                </a:solidFill>
              </a:rPr>
              <a:t>5. 系统日志是否开启？日志如何保存和审查？</a:t>
            </a:r>
            <a:endParaRPr lang="en-US" sz="1920" dirty="0"/>
          </a:p>
        </p:txBody>
      </p:sp>
      <p:pic>
        <p:nvPicPr>
          <p:cNvPr id="25" name="Image 14" descr="https://test.web.static.jianzeppt.com/ppt-temp-img3/36b768b38151a67848496f737c35c33c.png?x-oss-process=image/resize,w_1440,h_800,m_lfit/format,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80760" y="4439564"/>
            <a:ext cx="15240" cy="584302"/>
          </a:xfrm>
          <a:prstGeom prst="rect">
            <a:avLst/>
          </a:prstGeom>
        </p:spPr>
      </p:pic>
      <p:sp>
        <p:nvSpPr>
          <p:cNvPr id="26" name="Text 9"/>
          <p:cNvSpPr/>
          <p:nvPr/>
        </p:nvSpPr>
        <p:spPr>
          <a:xfrm>
            <a:off x="6339840" y="4617720"/>
            <a:ext cx="4992624" cy="2286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80" dirty="0">
                <a:solidFill>
                  <a:srgbClr val="555555"/>
                </a:solidFill>
              </a:rPr>
              <a:t>日志保留期限、是否定期审查</a:t>
            </a:r>
            <a:endParaRPr lang="en-US" sz="1680" dirty="0"/>
          </a:p>
        </p:txBody>
      </p:sp>
      <p:pic>
        <p:nvPicPr>
          <p:cNvPr id="27" name="Image 15" descr="https://test.web.static.jianzeppt.com/ppt-temp-img3/b7aab395a766e6708480a1c63bee46cb.png?x-oss-process=image/resize,w_1440,h_800,m_lfit/format,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4840" y="5039258"/>
            <a:ext cx="10942320" cy="15240"/>
          </a:xfrm>
          <a:prstGeom prst="rect">
            <a:avLst/>
          </a:prstGeom>
        </p:spPr>
      </p:pic>
      <p:pic>
        <p:nvPicPr>
          <p:cNvPr id="28" name="Image 16" descr="preencoded.png"/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24840" y="5044440"/>
            <a:ext cx="10942320" cy="579120"/>
          </a:xfrm>
          <a:prstGeom prst="rect">
            <a:avLst/>
          </a:prstGeom>
        </p:spPr>
      </p:pic>
      <p:sp>
        <p:nvSpPr>
          <p:cNvPr id="29" name="Text 10"/>
          <p:cNvSpPr/>
          <p:nvPr/>
        </p:nvSpPr>
        <p:spPr>
          <a:xfrm>
            <a:off x="868680" y="5181600"/>
            <a:ext cx="4474464" cy="28956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20" dirty="0">
                <a:solidFill>
                  <a:srgbClr val="333333"/>
                </a:solidFill>
              </a:rPr>
              <a:t>6. 如果系统出现安全事件，您会怎么做？</a:t>
            </a:r>
            <a:endParaRPr lang="en-US" sz="1920" dirty="0"/>
          </a:p>
        </p:txBody>
      </p:sp>
      <p:pic>
        <p:nvPicPr>
          <p:cNvPr id="30" name="Image 17" descr="https://test.web.static.jianzeppt.com/ppt-temp-img3/36b768b38151a67848496f737c35c33c.png?x-oss-process=image/resize,w_1440,h_800,m_lfit/format,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80760" y="5039258"/>
            <a:ext cx="15240" cy="584302"/>
          </a:xfrm>
          <a:prstGeom prst="rect">
            <a:avLst/>
          </a:prstGeom>
        </p:spPr>
      </p:pic>
      <p:sp>
        <p:nvSpPr>
          <p:cNvPr id="31" name="Text 11"/>
          <p:cNvSpPr/>
          <p:nvPr/>
        </p:nvSpPr>
        <p:spPr>
          <a:xfrm>
            <a:off x="6339840" y="5227320"/>
            <a:ext cx="4992624" cy="2286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80" dirty="0">
                <a:solidFill>
                  <a:srgbClr val="555555"/>
                </a:solidFill>
              </a:rPr>
              <a:t>应急处理流程、上报机制</a:t>
            </a:r>
            <a:endParaRPr lang="en-US" sz="1680" dirty="0"/>
          </a:p>
        </p:txBody>
      </p:sp>
      <p:pic>
        <p:nvPicPr>
          <p:cNvPr id="32" name="Image 18" descr="https://test.web.static.jianzeppt.com/ppt-temp-img3/6ba405143db1b14a08c1a7600117cdbf.png?x-oss-process=image/resize,w_1440,h_800,m_lfit/format,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24840" y="1386840"/>
            <a:ext cx="10942320" cy="655320"/>
          </a:xfrm>
          <a:prstGeom prst="rect">
            <a:avLst/>
          </a:prstGeom>
        </p:spPr>
      </p:pic>
      <p:sp>
        <p:nvSpPr>
          <p:cNvPr id="33" name="Text 12"/>
          <p:cNvSpPr/>
          <p:nvPr/>
        </p:nvSpPr>
        <p:spPr>
          <a:xfrm>
            <a:off x="2804160" y="1554480"/>
            <a:ext cx="1106424" cy="32004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2160" b="1" dirty="0">
                <a:solidFill>
                  <a:srgbClr val="FFFFFF"/>
                </a:solidFill>
              </a:rPr>
              <a:t>访谈问题</a:t>
            </a:r>
            <a:endParaRPr lang="en-US" sz="2160" dirty="0"/>
          </a:p>
        </p:txBody>
      </p:sp>
      <p:pic>
        <p:nvPicPr>
          <p:cNvPr id="34" name="Image 19" descr="https://test.web.static.jianzeppt.com/ppt-temp-img3/0226d315958b97ebfe725611a95d75c6.png?x-oss-process=image/resize,w_1440,h_800,m_lfit/format,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080760" y="1386840"/>
            <a:ext cx="15240" cy="655320"/>
          </a:xfrm>
          <a:prstGeom prst="rect">
            <a:avLst/>
          </a:prstGeom>
        </p:spPr>
      </p:pic>
      <p:sp>
        <p:nvSpPr>
          <p:cNvPr id="35" name="Text 13"/>
          <p:cNvSpPr/>
          <p:nvPr/>
        </p:nvSpPr>
        <p:spPr>
          <a:xfrm>
            <a:off x="6339840" y="1508760"/>
            <a:ext cx="4992624" cy="41148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2160" b="1" dirty="0">
                <a:solidFill>
                  <a:srgbClr val="FFFFFF"/>
                </a:solidFill>
              </a:rPr>
              <a:t>追问方向</a:t>
            </a:r>
            <a:endParaRPr lang="en-US" sz="2160" dirty="0"/>
          </a:p>
        </p:txBody>
      </p:sp>
      <p:sp>
        <p:nvSpPr>
          <p:cNvPr id="36" name="Text 14"/>
          <p:cNvSpPr/>
          <p:nvPr/>
        </p:nvSpPr>
        <p:spPr>
          <a:xfrm>
            <a:off x="822497" y="529635"/>
            <a:ext cx="10918068" cy="42648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60" dirty="0">
                <a:solidFill>
                  <a:srgbClr val="1E1E1E"/>
                </a:solidFill>
              </a:rPr>
              <a:t>访谈提纲——针对系统管理员的访谈示例</a:t>
            </a:r>
            <a:endParaRPr lang="en-US" sz="276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graphicFrame>
        <p:nvGraphicFramePr>
          <p:cNvPr id="13" name="Table 0"/>
          <p:cNvGraphicFramePr>
            <a:graphicFrameLocks noGrp="1"/>
          </p:cNvGraphicFramePr>
          <p:nvPr/>
        </p:nvGraphicFramePr>
        <p:xfrm>
          <a:off x="609600" y="1371600"/>
          <a:ext cx="10972800" cy="4267200"/>
        </p:xfrm>
        <a:graphic>
          <a:graphicData uri="http://schemas.openxmlformats.org/drawingml/2006/table">
            <a:tbl>
              <a:tblPr/>
              <a:tblGrid>
                <a:gridCol w="6165523"/>
                <a:gridCol w="4807277"/>
              </a:tblGrid>
              <a:tr h="711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000000"/>
                          </a:solidFill>
                        </a:rPr>
                        <a:t>访谈问题</a:t>
                      </a:r>
                      <a:endParaRPr lang="en-US" sz="1800" b="1" dirty="0">
                        <a:solidFill>
                          <a:srgbClr val="000000"/>
                        </a:solidFill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000000"/>
                          </a:solidFill>
                        </a:rPr>
                        <a:t>追问方向</a:t>
                      </a:r>
                      <a:endParaRPr lang="en-US" sz="1800" b="1" dirty="0">
                        <a:solidFill>
                          <a:srgbClr val="000000"/>
                        </a:solidFill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1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1.贵单位的安全管理组织架构是怎样的？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是否有专职安全岗位？职责是否明确？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1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2.是否制定了安全管理制度？制度多久评审一次？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制度是否覆盖各维度？是否经过审批？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1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3.安全培训是如何开展的？多久一次？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培训内容、覆盖范围、是否有考核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1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4.是否有安全事件应急预案？是否进行过演练？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预案内容、演练频率、演练效果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1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5.第三方人员访问系统需要什么流程？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审批流程、权限控制、离场清理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0"/>
          <p:cNvSpPr/>
          <p:nvPr/>
        </p:nvSpPr>
        <p:spPr>
          <a:xfrm>
            <a:off x="822497" y="529635"/>
            <a:ext cx="10918068" cy="42648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60" dirty="0">
                <a:solidFill>
                  <a:srgbClr val="1E1E1E"/>
                </a:solidFill>
              </a:rPr>
              <a:t>访谈提纲——针对安全管理人员的访谈示例</a:t>
            </a:r>
            <a:endParaRPr lang="en-US" sz="276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pic>
        <p:nvPicPr>
          <p:cNvPr id="5" name="Image 3" descr="https://test.web.static.jianzeppt.com/ppt-temp-img3/942fd545f0a1564976513b396691a9e1.png?x-oss-process=image/resize,w_1440,h_800,m_lfit/format,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1371600"/>
            <a:ext cx="3535680" cy="19812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53440" y="1783080"/>
            <a:ext cx="121920" cy="121920"/>
          </a:xfrm>
          <a:prstGeom prst="rect">
            <a:avLst/>
          </a:prstGeom>
        </p:spPr>
      </p:pic>
      <p:sp>
        <p:nvSpPr>
          <p:cNvPr id="7" name="Text 0"/>
          <p:cNvSpPr/>
          <p:nvPr/>
        </p:nvSpPr>
        <p:spPr>
          <a:xfrm>
            <a:off x="1097280" y="1615440"/>
            <a:ext cx="1533144" cy="4572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开放式提问</a:t>
            </a:r>
            <a:endParaRPr lang="en-US" sz="2400" dirty="0"/>
          </a:p>
        </p:txBody>
      </p:sp>
      <p:sp>
        <p:nvSpPr>
          <p:cNvPr id="8" name="Text 1"/>
          <p:cNvSpPr/>
          <p:nvPr/>
        </p:nvSpPr>
        <p:spPr>
          <a:xfrm>
            <a:off x="853440" y="2194560"/>
            <a:ext cx="305714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920" b="1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获取完整信息</a:t>
            </a:r>
            <a:endParaRPr lang="en-US" sz="1920" dirty="0"/>
          </a:p>
        </p:txBody>
      </p:sp>
      <p:sp>
        <p:nvSpPr>
          <p:cNvPr id="9" name="Text 2"/>
          <p:cNvSpPr/>
          <p:nvPr/>
        </p:nvSpPr>
        <p:spPr>
          <a:xfrm>
            <a:off x="853440" y="2621280"/>
            <a:ext cx="3057144" cy="294323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80" dirty="0">
                <a:solidFill>
                  <a:srgbClr val="00234E">
                    <a:alpha val="80000"/>
                  </a:srgbClr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“请介绍一下您的岗位职责。”</a:t>
            </a:r>
            <a:endParaRPr lang="en-US" sz="1680" dirty="0"/>
          </a:p>
        </p:txBody>
      </p:sp>
      <p:pic>
        <p:nvPicPr>
          <p:cNvPr id="10" name="Image 5" descr="https://test.web.static.jianzeppt.com/ppt-temp-img3/942fd545f0a1564976513b396691a9e1.png?x-oss-process=image/resize,w_1440,h_800,m_lfit/format,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8160" y="1371600"/>
            <a:ext cx="3535680" cy="1981200"/>
          </a:xfrm>
          <a:prstGeom prst="rect">
            <a:avLst/>
          </a:prstGeom>
        </p:spPr>
      </p:pic>
      <p:pic>
        <p:nvPicPr>
          <p:cNvPr id="11" name="Image 6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572000" y="1783080"/>
            <a:ext cx="121920" cy="121920"/>
          </a:xfrm>
          <a:prstGeom prst="rect">
            <a:avLst/>
          </a:prstGeom>
        </p:spPr>
      </p:pic>
      <p:sp>
        <p:nvSpPr>
          <p:cNvPr id="12" name="Text 3"/>
          <p:cNvSpPr/>
          <p:nvPr/>
        </p:nvSpPr>
        <p:spPr>
          <a:xfrm>
            <a:off x="4815840" y="1615440"/>
            <a:ext cx="1533144" cy="4572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封闭式提问</a:t>
            </a:r>
            <a:endParaRPr lang="en-US" sz="2400" dirty="0"/>
          </a:p>
        </p:txBody>
      </p:sp>
      <p:sp>
        <p:nvSpPr>
          <p:cNvPr id="13" name="Text 4"/>
          <p:cNvSpPr/>
          <p:nvPr/>
        </p:nvSpPr>
        <p:spPr>
          <a:xfrm>
            <a:off x="4572000" y="2194560"/>
            <a:ext cx="305714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920" b="1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确认具体事实</a:t>
            </a:r>
            <a:endParaRPr lang="en-US" sz="1920" dirty="0"/>
          </a:p>
        </p:txBody>
      </p:sp>
      <p:sp>
        <p:nvSpPr>
          <p:cNvPr id="14" name="Text 5"/>
          <p:cNvSpPr/>
          <p:nvPr/>
        </p:nvSpPr>
        <p:spPr>
          <a:xfrm>
            <a:off x="4572000" y="2621280"/>
            <a:ext cx="3057144" cy="294323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80" dirty="0">
                <a:solidFill>
                  <a:srgbClr val="00234E">
                    <a:alpha val="80000"/>
                  </a:srgbClr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“您是否参加过安全培训？”</a:t>
            </a:r>
            <a:endParaRPr lang="en-US" sz="1680" dirty="0"/>
          </a:p>
        </p:txBody>
      </p:sp>
      <p:pic>
        <p:nvPicPr>
          <p:cNvPr id="15" name="Image 7" descr="https://test.web.static.jianzeppt.com/ppt-temp-img3/942fd545f0a1564976513b396691a9e1.png?x-oss-process=image/resize,w_1440,h_800,m_lfit/format,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1371600"/>
            <a:ext cx="3535680" cy="1981200"/>
          </a:xfrm>
          <a:prstGeom prst="rect">
            <a:avLst/>
          </a:prstGeom>
        </p:spPr>
      </p:pic>
      <p:pic>
        <p:nvPicPr>
          <p:cNvPr id="16" name="Image 8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90560" y="1767840"/>
            <a:ext cx="121920" cy="121920"/>
          </a:xfrm>
          <a:prstGeom prst="rect">
            <a:avLst/>
          </a:prstGeom>
        </p:spPr>
      </p:pic>
      <p:sp>
        <p:nvSpPr>
          <p:cNvPr id="17" name="Text 6"/>
          <p:cNvSpPr/>
          <p:nvPr/>
        </p:nvSpPr>
        <p:spPr>
          <a:xfrm>
            <a:off x="8534400" y="1600200"/>
            <a:ext cx="618744" cy="4572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追问</a:t>
            </a:r>
            <a:endParaRPr lang="en-US" sz="2400" dirty="0"/>
          </a:p>
        </p:txBody>
      </p:sp>
      <p:sp>
        <p:nvSpPr>
          <p:cNvPr id="18" name="Text 7"/>
          <p:cNvSpPr/>
          <p:nvPr/>
        </p:nvSpPr>
        <p:spPr>
          <a:xfrm>
            <a:off x="8290560" y="2164080"/>
            <a:ext cx="3057144" cy="3429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深挖细节</a:t>
            </a:r>
            <a:endParaRPr lang="en-US" sz="1800" dirty="0"/>
          </a:p>
        </p:txBody>
      </p:sp>
      <p:sp>
        <p:nvSpPr>
          <p:cNvPr id="19" name="Text 8"/>
          <p:cNvSpPr/>
          <p:nvPr/>
        </p:nvSpPr>
        <p:spPr>
          <a:xfrm>
            <a:off x="8290560" y="2560320"/>
            <a:ext cx="3057144" cy="54673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560" dirty="0">
                <a:solidFill>
                  <a:srgbClr val="00234E">
                    <a:alpha val="80000"/>
                  </a:srgbClr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“您能具体说说上次培训是什么时候吗？”</a:t>
            </a:r>
            <a:endParaRPr lang="en-US" sz="1560" dirty="0"/>
          </a:p>
        </p:txBody>
      </p:sp>
      <p:pic>
        <p:nvPicPr>
          <p:cNvPr id="20" name="Image 9" descr="https://test.web.static.jianzeppt.com/ppt-temp-img3/30ce0f34781a259db5bc2056fb40ad24.png?x-oss-process=image/resize,w_1440,h_800,m_lfit/format,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499360" y="3535680"/>
            <a:ext cx="3520440" cy="1981200"/>
          </a:xfrm>
          <a:prstGeom prst="rect">
            <a:avLst/>
          </a:prstGeom>
        </p:spPr>
      </p:pic>
      <p:pic>
        <p:nvPicPr>
          <p:cNvPr id="21" name="Image 10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743200" y="3931920"/>
            <a:ext cx="121920" cy="121920"/>
          </a:xfrm>
          <a:prstGeom prst="rect">
            <a:avLst/>
          </a:prstGeom>
        </p:spPr>
      </p:pic>
      <p:sp>
        <p:nvSpPr>
          <p:cNvPr id="22" name="Text 9"/>
          <p:cNvSpPr/>
          <p:nvPr/>
        </p:nvSpPr>
        <p:spPr>
          <a:xfrm>
            <a:off x="2987040" y="3764280"/>
            <a:ext cx="618744" cy="4572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澄清</a:t>
            </a:r>
            <a:endParaRPr lang="en-US" sz="2400" dirty="0"/>
          </a:p>
        </p:txBody>
      </p:sp>
      <p:sp>
        <p:nvSpPr>
          <p:cNvPr id="23" name="Text 10"/>
          <p:cNvSpPr/>
          <p:nvPr/>
        </p:nvSpPr>
        <p:spPr>
          <a:xfrm>
            <a:off x="2743200" y="4328160"/>
            <a:ext cx="3041904" cy="3429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确保理解正确</a:t>
            </a:r>
            <a:endParaRPr lang="en-US" sz="1800" dirty="0"/>
          </a:p>
        </p:txBody>
      </p:sp>
      <p:sp>
        <p:nvSpPr>
          <p:cNvPr id="24" name="Text 11"/>
          <p:cNvSpPr/>
          <p:nvPr/>
        </p:nvSpPr>
        <p:spPr>
          <a:xfrm>
            <a:off x="2743200" y="4724400"/>
            <a:ext cx="3041904" cy="54864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560" dirty="0">
                <a:solidFill>
                  <a:srgbClr val="00234E">
                    <a:alpha val="80000"/>
                  </a:srgbClr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“您刚才说的是不是这个意思……”</a:t>
            </a:r>
            <a:endParaRPr lang="en-US" sz="1560" dirty="0"/>
          </a:p>
        </p:txBody>
      </p:sp>
      <p:pic>
        <p:nvPicPr>
          <p:cNvPr id="25" name="Image 11" descr="https://test.web.static.jianzeppt.com/ppt-temp-img3/30ce0f34781a259db5bc2056fb40ad24.png?x-oss-process=image/resize,w_1440,h_800,m_lfit/format,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87440" y="3535680"/>
            <a:ext cx="3520440" cy="1981200"/>
          </a:xfrm>
          <a:prstGeom prst="rect">
            <a:avLst/>
          </a:prstGeom>
        </p:spPr>
      </p:pic>
      <p:pic>
        <p:nvPicPr>
          <p:cNvPr id="26" name="Image 12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431280" y="3931920"/>
            <a:ext cx="121920" cy="121920"/>
          </a:xfrm>
          <a:prstGeom prst="rect">
            <a:avLst/>
          </a:prstGeom>
        </p:spPr>
      </p:pic>
      <p:sp>
        <p:nvSpPr>
          <p:cNvPr id="27" name="Text 12"/>
          <p:cNvSpPr/>
          <p:nvPr/>
        </p:nvSpPr>
        <p:spPr>
          <a:xfrm>
            <a:off x="6675120" y="3764280"/>
            <a:ext cx="618744" cy="4572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对比</a:t>
            </a:r>
            <a:endParaRPr lang="en-US" sz="2400" dirty="0"/>
          </a:p>
        </p:txBody>
      </p:sp>
      <p:sp>
        <p:nvSpPr>
          <p:cNvPr id="28" name="Text 13"/>
          <p:cNvSpPr/>
          <p:nvPr/>
        </p:nvSpPr>
        <p:spPr>
          <a:xfrm>
            <a:off x="6431280" y="4328160"/>
            <a:ext cx="3041904" cy="3429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发现不一致</a:t>
            </a:r>
            <a:endParaRPr lang="en-US" sz="1800" dirty="0"/>
          </a:p>
        </p:txBody>
      </p:sp>
      <p:sp>
        <p:nvSpPr>
          <p:cNvPr id="29" name="Text 14"/>
          <p:cNvSpPr/>
          <p:nvPr/>
        </p:nvSpPr>
        <p:spPr>
          <a:xfrm>
            <a:off x="6431280" y="4724400"/>
            <a:ext cx="3041904" cy="54673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560" dirty="0">
                <a:solidFill>
                  <a:srgbClr val="00234E">
                    <a:alpha val="80000"/>
                  </a:srgbClr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“制度规定是90天，实际执行的情况是？”</a:t>
            </a:r>
            <a:endParaRPr lang="en-US" sz="1560" dirty="0"/>
          </a:p>
        </p:txBody>
      </p:sp>
      <p:pic>
        <p:nvPicPr>
          <p:cNvPr id="30" name="Image 13" descr="preencoded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09600" y="5577840"/>
            <a:ext cx="10972800" cy="822960"/>
          </a:xfrm>
          <a:prstGeom prst="rect">
            <a:avLst/>
          </a:prstGeom>
          <a:effectLst>
            <a:outerShdw blurRad="1161288000" dist="774192000" dir="-1" algn="bl" rotWithShape="0">
              <a:srgbClr val="000000">
                <a:alpha val="1000000000"/>
              </a:srgbClr>
            </a:outerShdw>
          </a:effectLst>
        </p:spPr>
      </p:pic>
      <p:pic>
        <p:nvPicPr>
          <p:cNvPr id="31" name="Image 14" descr="preencoded.png"/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798320" y="5806440"/>
            <a:ext cx="365760" cy="365760"/>
          </a:xfrm>
          <a:prstGeom prst="rect">
            <a:avLst/>
          </a:prstGeom>
        </p:spPr>
      </p:pic>
      <p:sp>
        <p:nvSpPr>
          <p:cNvPr id="32" name="Text 15"/>
          <p:cNvSpPr/>
          <p:nvPr/>
        </p:nvSpPr>
        <p:spPr>
          <a:xfrm>
            <a:off x="2286000" y="5760720"/>
            <a:ext cx="8116824" cy="44196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关键原则：多问“如何”（How），少问“是否”（Yes/No）。</a:t>
            </a:r>
            <a:endParaRPr lang="en-US" sz="2400" dirty="0"/>
          </a:p>
        </p:txBody>
      </p:sp>
      <p:sp>
        <p:nvSpPr>
          <p:cNvPr id="33" name="Text 16"/>
          <p:cNvSpPr/>
          <p:nvPr/>
        </p:nvSpPr>
        <p:spPr>
          <a:xfrm>
            <a:off x="822497" y="529635"/>
            <a:ext cx="10918068" cy="42648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60" dirty="0">
                <a:solidFill>
                  <a:srgbClr val="1E1E1E"/>
                </a:solidFill>
              </a:rPr>
              <a:t>访谈技巧——如何有效提问</a:t>
            </a:r>
            <a:endParaRPr lang="en-US" sz="276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609600" y="937260"/>
            <a:ext cx="10981944" cy="5029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640" b="1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常见信号及应对策略：</a:t>
            </a:r>
            <a:endParaRPr lang="en-US" sz="2640" dirty="0"/>
          </a:p>
        </p:txBody>
      </p:sp>
      <p:pic>
        <p:nvPicPr>
          <p:cNvPr id="6" name="Image 3" descr="https://test.web.static.jianzeppt.com/ppt-temp-img3/8f7af3de8c4d10bb2f7a1c8521eb809d.png?x-oss-process=image/resize,w_1440,h_800,m_lfit/format,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1788160"/>
            <a:ext cx="10972800" cy="906145"/>
          </a:xfrm>
          <a:prstGeom prst="rect">
            <a:avLst/>
          </a:prstGeom>
        </p:spPr>
      </p:pic>
      <p:pic>
        <p:nvPicPr>
          <p:cNvPr id="7" name="Image 4" descr="preencoded.png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92480" y="1977390"/>
            <a:ext cx="487680" cy="487680"/>
          </a:xfrm>
          <a:prstGeom prst="rect">
            <a:avLst/>
          </a:prstGeom>
        </p:spPr>
      </p:pic>
      <p:sp>
        <p:nvSpPr>
          <p:cNvPr id="8" name="Text 1"/>
          <p:cNvSpPr/>
          <p:nvPr>
            <p:custDataLst>
              <p:tags r:id="rId8"/>
            </p:custDataLst>
          </p:nvPr>
        </p:nvSpPr>
        <p:spPr>
          <a:xfrm>
            <a:off x="899160" y="2038350"/>
            <a:ext cx="298704" cy="36576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01</a:t>
            </a:r>
            <a:endParaRPr lang="en-US" sz="1600" b="1" dirty="0">
              <a:solidFill>
                <a:srgbClr val="FFFFFF"/>
              </a:solidFill>
              <a:latin typeface="思源黑体 CN Bold" pitchFamily="34" charset="0"/>
              <a:ea typeface="思源黑体 CN Bold" pitchFamily="34" charset="-122"/>
              <a:cs typeface="思源黑体 CN Bold" pitchFamily="34" charset="-120"/>
            </a:endParaRPr>
          </a:p>
        </p:txBody>
      </p:sp>
      <p:sp>
        <p:nvSpPr>
          <p:cNvPr id="9" name="Text 2"/>
          <p:cNvSpPr/>
          <p:nvPr>
            <p:custDataLst>
              <p:tags r:id="rId9"/>
            </p:custDataLst>
          </p:nvPr>
        </p:nvSpPr>
        <p:spPr>
          <a:xfrm>
            <a:off x="1524000" y="1748790"/>
            <a:ext cx="4137660" cy="41529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b="1" dirty="0">
                <a:solidFill>
                  <a:srgbClr val="333333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回答模糊：“大概、可能、基本上……”</a:t>
            </a:r>
            <a:endParaRPr lang="en-US" b="1" dirty="0">
              <a:solidFill>
                <a:srgbClr val="333333"/>
              </a:solidFill>
              <a:latin typeface="思源黑体 CN Bold" pitchFamily="34" charset="0"/>
              <a:ea typeface="思源黑体 CN Bold" pitchFamily="34" charset="-122"/>
              <a:cs typeface="思源黑体 CN Bold" pitchFamily="34" charset="-120"/>
            </a:endParaRPr>
          </a:p>
        </p:txBody>
      </p:sp>
      <p:pic>
        <p:nvPicPr>
          <p:cNvPr id="10" name="Image 5" descr="preencoded.png"/>
          <p:cNvPicPr>
            <a:picLocks noChangeAspect="1"/>
          </p:cNvPicPr>
          <p:nvPr>
            <p:custDataLst>
              <p:tags r:id="rId10"/>
            </p:custDataLst>
          </p:nvPr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524000" y="2251710"/>
            <a:ext cx="1097280" cy="441960"/>
          </a:xfrm>
          <a:prstGeom prst="rect">
            <a:avLst/>
          </a:prstGeom>
        </p:spPr>
      </p:pic>
      <p:sp>
        <p:nvSpPr>
          <p:cNvPr id="11" name="Text 3"/>
          <p:cNvSpPr/>
          <p:nvPr>
            <p:custDataLst>
              <p:tags r:id="rId13"/>
            </p:custDataLst>
          </p:nvPr>
        </p:nvSpPr>
        <p:spPr>
          <a:xfrm>
            <a:off x="1645920" y="2312670"/>
            <a:ext cx="711200" cy="3225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应对策略</a:t>
            </a:r>
            <a:endParaRPr lang="en-US" sz="1400" dirty="0">
              <a:solidFill>
                <a:srgbClr val="FFFFFF"/>
              </a:solidFill>
              <a:latin typeface="思源黑体 CN" pitchFamily="34" charset="0"/>
              <a:ea typeface="思源黑体 CN" pitchFamily="34" charset="-122"/>
              <a:cs typeface="思源黑体 CN" pitchFamily="34" charset="-120"/>
            </a:endParaRPr>
          </a:p>
        </p:txBody>
      </p:sp>
      <p:sp>
        <p:nvSpPr>
          <p:cNvPr id="12" name="Text 4"/>
          <p:cNvSpPr/>
          <p:nvPr>
            <p:custDataLst>
              <p:tags r:id="rId14"/>
            </p:custDataLst>
          </p:nvPr>
        </p:nvSpPr>
        <p:spPr>
          <a:xfrm>
            <a:off x="2743200" y="2221230"/>
            <a:ext cx="3860800" cy="368935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00" dirty="0">
                <a:solidFill>
                  <a:srgbClr val="555555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追问具体细节：“您能具体描述一下吗？”</a:t>
            </a:r>
            <a:endParaRPr lang="en-US" sz="1600" dirty="0">
              <a:solidFill>
                <a:srgbClr val="555555"/>
              </a:solidFill>
              <a:latin typeface="思源黑体 CN" pitchFamily="34" charset="0"/>
              <a:ea typeface="思源黑体 CN" pitchFamily="34" charset="-122"/>
              <a:cs typeface="思源黑体 CN" pitchFamily="34" charset="-120"/>
            </a:endParaRPr>
          </a:p>
        </p:txBody>
      </p:sp>
      <p:pic>
        <p:nvPicPr>
          <p:cNvPr id="13" name="Image 6" descr="https://test.web.static.jianzeppt.com/ppt-temp-img3/8f7af3de8c4d10bb2f7a1c8521eb809d.png?x-oss-process=image/resize,w_1440,h_800,m_lfit/format,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2823845"/>
            <a:ext cx="10972800" cy="735330"/>
          </a:xfrm>
          <a:prstGeom prst="rect">
            <a:avLst/>
          </a:prstGeom>
        </p:spPr>
      </p:pic>
      <p:pic>
        <p:nvPicPr>
          <p:cNvPr id="14" name="Image 7" descr="preencoded.png"/>
          <p:cNvPicPr>
            <a:picLocks noChangeAspect="1"/>
          </p:cNvPicPr>
          <p:nvPr>
            <p:custDataLst>
              <p:tags r:id="rId15"/>
            </p:custDataLst>
          </p:nvPr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92480" y="2980055"/>
            <a:ext cx="487680" cy="487680"/>
          </a:xfrm>
          <a:prstGeom prst="rect">
            <a:avLst/>
          </a:prstGeom>
        </p:spPr>
      </p:pic>
      <p:sp>
        <p:nvSpPr>
          <p:cNvPr id="15" name="Text 5"/>
          <p:cNvSpPr/>
          <p:nvPr>
            <p:custDataLst>
              <p:tags r:id="rId16"/>
            </p:custDataLst>
          </p:nvPr>
        </p:nvSpPr>
        <p:spPr>
          <a:xfrm>
            <a:off x="899160" y="3041015"/>
            <a:ext cx="298450" cy="36576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02</a:t>
            </a:r>
            <a:endParaRPr lang="en-US" sz="1600" b="1" dirty="0">
              <a:solidFill>
                <a:srgbClr val="FFFFFF"/>
              </a:solidFill>
              <a:latin typeface="思源黑体 CN Bold" pitchFamily="34" charset="0"/>
              <a:ea typeface="思源黑体 CN Bold" pitchFamily="34" charset="-122"/>
              <a:cs typeface="思源黑体 CN Bold" pitchFamily="34" charset="-120"/>
            </a:endParaRPr>
          </a:p>
        </p:txBody>
      </p:sp>
      <p:sp>
        <p:nvSpPr>
          <p:cNvPr id="16" name="Text 6"/>
          <p:cNvSpPr/>
          <p:nvPr>
            <p:custDataLst>
              <p:tags r:id="rId17"/>
            </p:custDataLst>
          </p:nvPr>
        </p:nvSpPr>
        <p:spPr>
          <a:xfrm>
            <a:off x="1524000" y="2751455"/>
            <a:ext cx="5057140" cy="41529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b="1" dirty="0">
                <a:solidFill>
                  <a:srgbClr val="333333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回避直接</a:t>
            </a:r>
            <a:r>
              <a:rPr lang="zh-CN" altLang="en-US" b="1" dirty="0">
                <a:solidFill>
                  <a:srgbClr val="333333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问题</a:t>
            </a:r>
            <a:r>
              <a:rPr lang="en-US" b="1" dirty="0">
                <a:solidFill>
                  <a:srgbClr val="333333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：“这个我不太清楚，应该是……”</a:t>
            </a:r>
            <a:endParaRPr lang="en-US" b="1" dirty="0">
              <a:solidFill>
                <a:srgbClr val="333333"/>
              </a:solidFill>
              <a:latin typeface="思源黑体 CN Bold" pitchFamily="34" charset="0"/>
              <a:ea typeface="思源黑体 CN Bold" pitchFamily="34" charset="-122"/>
              <a:cs typeface="思源黑体 CN Bold" pitchFamily="34" charset="-120"/>
            </a:endParaRPr>
          </a:p>
        </p:txBody>
      </p:sp>
      <p:pic>
        <p:nvPicPr>
          <p:cNvPr id="17" name="Image 8" descr="preencoded.png"/>
          <p:cNvPicPr>
            <a:picLocks noChangeAspect="1"/>
          </p:cNvPicPr>
          <p:nvPr>
            <p:custDataLst>
              <p:tags r:id="rId18"/>
            </p:custDataLst>
          </p:nvPr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524000" y="3254375"/>
            <a:ext cx="1097280" cy="441960"/>
          </a:xfrm>
          <a:prstGeom prst="rect">
            <a:avLst/>
          </a:prstGeom>
        </p:spPr>
      </p:pic>
      <p:sp>
        <p:nvSpPr>
          <p:cNvPr id="18" name="Text 7"/>
          <p:cNvSpPr/>
          <p:nvPr>
            <p:custDataLst>
              <p:tags r:id="rId19"/>
            </p:custDataLst>
          </p:nvPr>
        </p:nvSpPr>
        <p:spPr>
          <a:xfrm>
            <a:off x="1645920" y="3315335"/>
            <a:ext cx="711200" cy="3225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应对策略</a:t>
            </a:r>
            <a:endParaRPr lang="en-US" sz="1400" dirty="0">
              <a:solidFill>
                <a:srgbClr val="FFFFFF"/>
              </a:solidFill>
              <a:latin typeface="思源黑体 CN" pitchFamily="34" charset="0"/>
              <a:ea typeface="思源黑体 CN" pitchFamily="34" charset="-122"/>
              <a:cs typeface="思源黑体 CN" pitchFamily="34" charset="-120"/>
            </a:endParaRPr>
          </a:p>
        </p:txBody>
      </p:sp>
      <p:sp>
        <p:nvSpPr>
          <p:cNvPr id="19" name="Text 8"/>
          <p:cNvSpPr/>
          <p:nvPr>
            <p:custDataLst>
              <p:tags r:id="rId20"/>
            </p:custDataLst>
          </p:nvPr>
        </p:nvSpPr>
        <p:spPr>
          <a:xfrm>
            <a:off x="2743200" y="3223895"/>
            <a:ext cx="3657600" cy="368935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00" dirty="0">
                <a:solidFill>
                  <a:srgbClr val="555555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追问执行主体：“这件事是谁负责的？”</a:t>
            </a:r>
            <a:endParaRPr lang="en-US" sz="1600" dirty="0">
              <a:solidFill>
                <a:srgbClr val="555555"/>
              </a:solidFill>
              <a:latin typeface="思源黑体 CN" pitchFamily="34" charset="0"/>
              <a:ea typeface="思源黑体 CN" pitchFamily="34" charset="-122"/>
              <a:cs typeface="思源黑体 CN" pitchFamily="34" charset="-120"/>
            </a:endParaRPr>
          </a:p>
        </p:txBody>
      </p:sp>
      <p:pic>
        <p:nvPicPr>
          <p:cNvPr id="20" name="Image 9" descr="https://test.web.static.jianzeppt.com/ppt-temp-img3/8f7af3de8c4d10bb2f7a1c8521eb809d.png?x-oss-process=image/resize,w_1440,h_800,m_lfit/format,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3792855"/>
            <a:ext cx="10972800" cy="655320"/>
          </a:xfrm>
          <a:prstGeom prst="rect">
            <a:avLst/>
          </a:prstGeom>
        </p:spPr>
      </p:pic>
      <p:pic>
        <p:nvPicPr>
          <p:cNvPr id="21" name="Image 10" descr="preencoded.png"/>
          <p:cNvPicPr>
            <a:picLocks noChangeAspect="1"/>
          </p:cNvPicPr>
          <p:nvPr>
            <p:custDataLst>
              <p:tags r:id="rId21"/>
            </p:custDataLst>
          </p:nvPr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92480" y="3869055"/>
            <a:ext cx="487680" cy="487680"/>
          </a:xfrm>
          <a:prstGeom prst="rect">
            <a:avLst/>
          </a:prstGeom>
        </p:spPr>
      </p:pic>
      <p:sp>
        <p:nvSpPr>
          <p:cNvPr id="22" name="Text 9"/>
          <p:cNvSpPr/>
          <p:nvPr>
            <p:custDataLst>
              <p:tags r:id="rId22"/>
            </p:custDataLst>
          </p:nvPr>
        </p:nvSpPr>
        <p:spPr>
          <a:xfrm>
            <a:off x="899160" y="3930015"/>
            <a:ext cx="298450" cy="36576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03</a:t>
            </a:r>
            <a:endParaRPr lang="en-US" sz="1600" b="1" dirty="0">
              <a:solidFill>
                <a:srgbClr val="FFFFFF"/>
              </a:solidFill>
              <a:latin typeface="思源黑体 CN Bold" pitchFamily="34" charset="0"/>
              <a:ea typeface="思源黑体 CN Bold" pitchFamily="34" charset="-122"/>
              <a:cs typeface="思源黑体 CN Bold" pitchFamily="34" charset="-120"/>
            </a:endParaRPr>
          </a:p>
        </p:txBody>
      </p:sp>
      <p:sp>
        <p:nvSpPr>
          <p:cNvPr id="23" name="Text 10"/>
          <p:cNvSpPr/>
          <p:nvPr>
            <p:custDataLst>
              <p:tags r:id="rId23"/>
            </p:custDataLst>
          </p:nvPr>
        </p:nvSpPr>
        <p:spPr>
          <a:xfrm>
            <a:off x="1524000" y="3640455"/>
            <a:ext cx="5746750" cy="41529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b="1" dirty="0">
                <a:solidFill>
                  <a:srgbClr val="333333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前后矛盾：前面说“定期培训”，后面说“没有参加过”</a:t>
            </a:r>
            <a:endParaRPr lang="en-US" b="1" dirty="0">
              <a:solidFill>
                <a:srgbClr val="333333"/>
              </a:solidFill>
              <a:latin typeface="思源黑体 CN Bold" pitchFamily="34" charset="0"/>
              <a:ea typeface="思源黑体 CN Bold" pitchFamily="34" charset="-122"/>
              <a:cs typeface="思源黑体 CN Bold" pitchFamily="34" charset="-120"/>
            </a:endParaRPr>
          </a:p>
        </p:txBody>
      </p:sp>
      <p:pic>
        <p:nvPicPr>
          <p:cNvPr id="24" name="Image 11" descr="preencoded.png"/>
          <p:cNvPicPr>
            <a:picLocks noChangeAspect="1"/>
          </p:cNvPicPr>
          <p:nvPr>
            <p:custDataLst>
              <p:tags r:id="rId24"/>
            </p:custDataLst>
          </p:nvPr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524000" y="4143375"/>
            <a:ext cx="1097280" cy="441960"/>
          </a:xfrm>
          <a:prstGeom prst="rect">
            <a:avLst/>
          </a:prstGeom>
        </p:spPr>
      </p:pic>
      <p:sp>
        <p:nvSpPr>
          <p:cNvPr id="25" name="Text 11"/>
          <p:cNvSpPr/>
          <p:nvPr>
            <p:custDataLst>
              <p:tags r:id="rId25"/>
            </p:custDataLst>
          </p:nvPr>
        </p:nvSpPr>
        <p:spPr>
          <a:xfrm>
            <a:off x="1645920" y="4204335"/>
            <a:ext cx="711200" cy="3225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应对策略</a:t>
            </a:r>
            <a:endParaRPr lang="en-US" sz="1400" dirty="0">
              <a:solidFill>
                <a:srgbClr val="FFFFFF"/>
              </a:solidFill>
              <a:latin typeface="思源黑体 CN" pitchFamily="34" charset="0"/>
              <a:ea typeface="思源黑体 CN" pitchFamily="34" charset="-122"/>
              <a:cs typeface="思源黑体 CN" pitchFamily="34" charset="-120"/>
            </a:endParaRPr>
          </a:p>
        </p:txBody>
      </p:sp>
      <p:sp>
        <p:nvSpPr>
          <p:cNvPr id="26" name="Text 12"/>
          <p:cNvSpPr/>
          <p:nvPr>
            <p:custDataLst>
              <p:tags r:id="rId26"/>
            </p:custDataLst>
          </p:nvPr>
        </p:nvSpPr>
        <p:spPr>
          <a:xfrm>
            <a:off x="2743200" y="4112895"/>
            <a:ext cx="2235200" cy="368935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00" dirty="0">
                <a:solidFill>
                  <a:srgbClr val="555555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记录下来，后续交叉验证</a:t>
            </a:r>
            <a:endParaRPr lang="en-US" sz="1600" dirty="0">
              <a:solidFill>
                <a:srgbClr val="555555"/>
              </a:solidFill>
              <a:latin typeface="思源黑体 CN" pitchFamily="34" charset="0"/>
              <a:ea typeface="思源黑体 CN" pitchFamily="34" charset="-122"/>
              <a:cs typeface="思源黑体 CN" pitchFamily="34" charset="-120"/>
            </a:endParaRPr>
          </a:p>
        </p:txBody>
      </p:sp>
      <p:pic>
        <p:nvPicPr>
          <p:cNvPr id="27" name="Image 12" descr="https://test.web.static.jianzeppt.com/ppt-temp-img3/8f7af3de8c4d10bb2f7a1c8521eb809d.png?x-oss-process=image/resize,w_1440,h_800,m_lfit/format,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4681855"/>
            <a:ext cx="10972800" cy="655320"/>
          </a:xfrm>
          <a:prstGeom prst="rect">
            <a:avLst/>
          </a:prstGeom>
        </p:spPr>
      </p:pic>
      <p:pic>
        <p:nvPicPr>
          <p:cNvPr id="28" name="Image 13" descr="preencoded.png"/>
          <p:cNvPicPr>
            <a:picLocks noChangeAspect="1"/>
          </p:cNvPicPr>
          <p:nvPr>
            <p:custDataLst>
              <p:tags r:id="rId27"/>
            </p:custDataLst>
          </p:nvPr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92480" y="4773295"/>
            <a:ext cx="487680" cy="487680"/>
          </a:xfrm>
          <a:prstGeom prst="rect">
            <a:avLst/>
          </a:prstGeom>
        </p:spPr>
      </p:pic>
      <p:sp>
        <p:nvSpPr>
          <p:cNvPr id="29" name="Text 13"/>
          <p:cNvSpPr/>
          <p:nvPr>
            <p:custDataLst>
              <p:tags r:id="rId28"/>
            </p:custDataLst>
          </p:nvPr>
        </p:nvSpPr>
        <p:spPr>
          <a:xfrm>
            <a:off x="899160" y="4834255"/>
            <a:ext cx="298450" cy="36576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04</a:t>
            </a:r>
            <a:endParaRPr lang="en-US" sz="1600" b="1" dirty="0">
              <a:solidFill>
                <a:srgbClr val="FFFFFF"/>
              </a:solidFill>
              <a:latin typeface="思源黑体 CN Bold" pitchFamily="34" charset="0"/>
              <a:ea typeface="思源黑体 CN Bold" pitchFamily="34" charset="-122"/>
              <a:cs typeface="思源黑体 CN Bold" pitchFamily="34" charset="-120"/>
            </a:endParaRPr>
          </a:p>
        </p:txBody>
      </p:sp>
      <p:sp>
        <p:nvSpPr>
          <p:cNvPr id="30" name="Text 14"/>
          <p:cNvSpPr/>
          <p:nvPr>
            <p:custDataLst>
              <p:tags r:id="rId29"/>
            </p:custDataLst>
          </p:nvPr>
        </p:nvSpPr>
        <p:spPr>
          <a:xfrm>
            <a:off x="1524000" y="4544695"/>
            <a:ext cx="4074160" cy="41529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b="1" dirty="0">
                <a:solidFill>
                  <a:srgbClr val="333333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过度承诺：“我们100%按照制度执行”</a:t>
            </a:r>
            <a:endParaRPr lang="en-US" b="1" dirty="0">
              <a:solidFill>
                <a:srgbClr val="333333"/>
              </a:solidFill>
              <a:latin typeface="思源黑体 CN Bold" pitchFamily="34" charset="0"/>
              <a:ea typeface="思源黑体 CN Bold" pitchFamily="34" charset="-122"/>
              <a:cs typeface="思源黑体 CN Bold" pitchFamily="34" charset="-120"/>
            </a:endParaRPr>
          </a:p>
        </p:txBody>
      </p:sp>
      <p:pic>
        <p:nvPicPr>
          <p:cNvPr id="31" name="Image 14" descr="preencoded.png"/>
          <p:cNvPicPr>
            <a:picLocks noChangeAspect="1"/>
          </p:cNvPicPr>
          <p:nvPr>
            <p:custDataLst>
              <p:tags r:id="rId30"/>
            </p:custDataLst>
          </p:nvPr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524000" y="5047615"/>
            <a:ext cx="1097280" cy="441960"/>
          </a:xfrm>
          <a:prstGeom prst="rect">
            <a:avLst/>
          </a:prstGeom>
        </p:spPr>
      </p:pic>
      <p:sp>
        <p:nvSpPr>
          <p:cNvPr id="32" name="Text 15"/>
          <p:cNvSpPr/>
          <p:nvPr>
            <p:custDataLst>
              <p:tags r:id="rId31"/>
            </p:custDataLst>
          </p:nvPr>
        </p:nvSpPr>
        <p:spPr>
          <a:xfrm>
            <a:off x="1645920" y="5108575"/>
            <a:ext cx="711200" cy="3225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应对策略</a:t>
            </a:r>
            <a:endParaRPr lang="en-US" sz="1400" dirty="0">
              <a:solidFill>
                <a:srgbClr val="FFFFFF"/>
              </a:solidFill>
              <a:latin typeface="思源黑体 CN" pitchFamily="34" charset="0"/>
              <a:ea typeface="思源黑体 CN" pitchFamily="34" charset="-122"/>
              <a:cs typeface="思源黑体 CN" pitchFamily="34" charset="-120"/>
            </a:endParaRPr>
          </a:p>
        </p:txBody>
      </p:sp>
      <p:sp>
        <p:nvSpPr>
          <p:cNvPr id="33" name="Text 16"/>
          <p:cNvSpPr/>
          <p:nvPr>
            <p:custDataLst>
              <p:tags r:id="rId32"/>
            </p:custDataLst>
          </p:nvPr>
        </p:nvSpPr>
        <p:spPr>
          <a:xfrm>
            <a:off x="2743200" y="5017135"/>
            <a:ext cx="3657600" cy="368935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00" dirty="0">
                <a:solidFill>
                  <a:srgbClr val="555555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追问例外情况：“有没有出现过例外？”</a:t>
            </a:r>
            <a:endParaRPr lang="en-US" sz="1600" dirty="0">
              <a:solidFill>
                <a:srgbClr val="555555"/>
              </a:solidFill>
              <a:latin typeface="思源黑体 CN" pitchFamily="34" charset="0"/>
              <a:ea typeface="思源黑体 CN" pitchFamily="34" charset="-122"/>
              <a:cs typeface="思源黑体 CN" pitchFamily="34" charset="-120"/>
            </a:endParaRPr>
          </a:p>
        </p:txBody>
      </p:sp>
      <p:pic>
        <p:nvPicPr>
          <p:cNvPr id="34" name="Image 15" descr="https://test.web.static.jianzeppt.com/ppt-temp-img3/8f7af3de8c4d10bb2f7a1c8521eb809d.png?x-oss-process=image/resize,w_1440,h_800,m_lfit/format,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5601970"/>
            <a:ext cx="10972800" cy="655320"/>
          </a:xfrm>
          <a:prstGeom prst="rect">
            <a:avLst/>
          </a:prstGeom>
        </p:spPr>
      </p:pic>
      <p:pic>
        <p:nvPicPr>
          <p:cNvPr id="35" name="Image 16" descr="preencoded.png"/>
          <p:cNvPicPr>
            <a:picLocks noChangeAspect="1"/>
          </p:cNvPicPr>
          <p:nvPr>
            <p:custDataLst>
              <p:tags r:id="rId33"/>
            </p:custDataLst>
          </p:nvPr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92480" y="5678170"/>
            <a:ext cx="487680" cy="487680"/>
          </a:xfrm>
          <a:prstGeom prst="rect">
            <a:avLst/>
          </a:prstGeom>
        </p:spPr>
      </p:pic>
      <p:sp>
        <p:nvSpPr>
          <p:cNvPr id="36" name="Text 17"/>
          <p:cNvSpPr/>
          <p:nvPr>
            <p:custDataLst>
              <p:tags r:id="rId34"/>
            </p:custDataLst>
          </p:nvPr>
        </p:nvSpPr>
        <p:spPr>
          <a:xfrm>
            <a:off x="899160" y="5739130"/>
            <a:ext cx="298450" cy="36576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05</a:t>
            </a:r>
            <a:endParaRPr lang="en-US" sz="1600" b="1" dirty="0">
              <a:solidFill>
                <a:srgbClr val="FFFFFF"/>
              </a:solidFill>
              <a:latin typeface="思源黑体 CN Bold" pitchFamily="34" charset="0"/>
              <a:ea typeface="思源黑体 CN Bold" pitchFamily="34" charset="-122"/>
              <a:cs typeface="思源黑体 CN Bold" pitchFamily="34" charset="-120"/>
            </a:endParaRPr>
          </a:p>
        </p:txBody>
      </p:sp>
      <p:sp>
        <p:nvSpPr>
          <p:cNvPr id="37" name="Text 18"/>
          <p:cNvSpPr/>
          <p:nvPr>
            <p:custDataLst>
              <p:tags r:id="rId35"/>
            </p:custDataLst>
          </p:nvPr>
        </p:nvSpPr>
        <p:spPr>
          <a:xfrm>
            <a:off x="1524000" y="5449570"/>
            <a:ext cx="3448050" cy="41529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b="1" dirty="0">
                <a:solidFill>
                  <a:srgbClr val="333333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转移话题：“这个要问我们领导”</a:t>
            </a:r>
            <a:endParaRPr lang="en-US" b="1" dirty="0">
              <a:solidFill>
                <a:srgbClr val="333333"/>
              </a:solidFill>
              <a:latin typeface="思源黑体 CN Bold" pitchFamily="34" charset="0"/>
              <a:ea typeface="思源黑体 CN Bold" pitchFamily="34" charset="-122"/>
              <a:cs typeface="思源黑体 CN Bold" pitchFamily="34" charset="-120"/>
            </a:endParaRPr>
          </a:p>
        </p:txBody>
      </p:sp>
      <p:pic>
        <p:nvPicPr>
          <p:cNvPr id="38" name="Image 17" descr="preencoded.png"/>
          <p:cNvPicPr>
            <a:picLocks noChangeAspect="1"/>
          </p:cNvPicPr>
          <p:nvPr>
            <p:custDataLst>
              <p:tags r:id="rId36"/>
            </p:custDataLst>
          </p:nvPr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524000" y="5952490"/>
            <a:ext cx="1097280" cy="441960"/>
          </a:xfrm>
          <a:prstGeom prst="rect">
            <a:avLst/>
          </a:prstGeom>
        </p:spPr>
      </p:pic>
      <p:sp>
        <p:nvSpPr>
          <p:cNvPr id="39" name="Text 19"/>
          <p:cNvSpPr/>
          <p:nvPr>
            <p:custDataLst>
              <p:tags r:id="rId37"/>
            </p:custDataLst>
          </p:nvPr>
        </p:nvSpPr>
        <p:spPr>
          <a:xfrm>
            <a:off x="1645920" y="6013450"/>
            <a:ext cx="711200" cy="3225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应对策略</a:t>
            </a:r>
            <a:endParaRPr lang="en-US" sz="1400" dirty="0">
              <a:solidFill>
                <a:srgbClr val="FFFFFF"/>
              </a:solidFill>
              <a:latin typeface="思源黑体 CN" pitchFamily="34" charset="0"/>
              <a:ea typeface="思源黑体 CN" pitchFamily="34" charset="-122"/>
              <a:cs typeface="思源黑体 CN" pitchFamily="34" charset="-120"/>
            </a:endParaRPr>
          </a:p>
        </p:txBody>
      </p:sp>
      <p:sp>
        <p:nvSpPr>
          <p:cNvPr id="40" name="Text 20"/>
          <p:cNvSpPr/>
          <p:nvPr>
            <p:custDataLst>
              <p:tags r:id="rId38"/>
            </p:custDataLst>
          </p:nvPr>
        </p:nvSpPr>
        <p:spPr>
          <a:xfrm>
            <a:off x="2743200" y="5922010"/>
            <a:ext cx="4267200" cy="368935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00" dirty="0">
                <a:solidFill>
                  <a:srgbClr val="555555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坚持：“您作为执行者，具体情况是怎样的？”</a:t>
            </a:r>
            <a:endParaRPr lang="en-US" sz="1600" dirty="0">
              <a:solidFill>
                <a:srgbClr val="555555"/>
              </a:solidFill>
              <a:latin typeface="思源黑体 CN" pitchFamily="34" charset="0"/>
              <a:ea typeface="思源黑体 CN" pitchFamily="34" charset="-122"/>
              <a:cs typeface="思源黑体 CN" pitchFamily="34" charset="-120"/>
            </a:endParaRPr>
          </a:p>
        </p:txBody>
      </p:sp>
      <p:sp>
        <p:nvSpPr>
          <p:cNvPr id="41" name="Text 21"/>
          <p:cNvSpPr/>
          <p:nvPr/>
        </p:nvSpPr>
        <p:spPr>
          <a:xfrm>
            <a:off x="822497" y="529635"/>
            <a:ext cx="10918068" cy="42648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60" dirty="0">
                <a:solidFill>
                  <a:srgbClr val="1E1E1E"/>
                </a:solidFill>
              </a:rPr>
              <a:t>访谈技巧——如何识别“说一套做一套”</a:t>
            </a:r>
            <a:endParaRPr lang="en-US" sz="276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9" grpId="0"/>
      <p:bldP spid="26" grpId="0"/>
      <p:bldP spid="33" grpId="0"/>
      <p:bldP spid="40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pic>
        <p:nvPicPr>
          <p:cNvPr id="5" name="Image 3" descr="https://test.web.static.jianzeppt.com/ppt-temp-img3/6f355ca378cf25ce854ecc92a9f50b10.png?x-oss-process=image/resize,w_1440,h_800,m_lfit/format,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1371600"/>
            <a:ext cx="4191000" cy="1828800"/>
          </a:xfrm>
          <a:prstGeom prst="rect">
            <a:avLst/>
          </a:prstGeom>
        </p:spPr>
      </p:pic>
      <p:pic>
        <p:nvPicPr>
          <p:cNvPr id="6" name="Image 4" descr="https://test.web.static.jianzeppt.com/ppt-temp-img3/466708dc333470c7104603ae7905cc68.png?x-oss-process=image/resize,w_1440,h_800,m_lfit/format,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1645920"/>
            <a:ext cx="365760" cy="365760"/>
          </a:xfrm>
          <a:prstGeom prst="rect">
            <a:avLst/>
          </a:prstGeom>
        </p:spPr>
      </p:pic>
      <p:sp>
        <p:nvSpPr>
          <p:cNvPr id="7" name="Text 0"/>
          <p:cNvSpPr/>
          <p:nvPr/>
        </p:nvSpPr>
        <p:spPr>
          <a:xfrm>
            <a:off x="1402080" y="1584960"/>
            <a:ext cx="694944" cy="5029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640" b="1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角色</a:t>
            </a:r>
            <a:endParaRPr lang="en-US" sz="2640" dirty="0"/>
          </a:p>
        </p:txBody>
      </p:sp>
      <p:sp>
        <p:nvSpPr>
          <p:cNvPr id="8" name="Text 1"/>
          <p:cNvSpPr/>
          <p:nvPr/>
        </p:nvSpPr>
        <p:spPr>
          <a:xfrm>
            <a:off x="975360" y="2164080"/>
            <a:ext cx="3529584" cy="36576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20" b="1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•</a:t>
            </a:r>
            <a:r>
              <a:rPr lang="en-US" sz="1920" dirty="0">
                <a:solidFill>
                  <a:srgbClr val="333333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测评师：教师扮演</a:t>
            </a:r>
            <a:endParaRPr lang="en-US" sz="1920" dirty="0"/>
          </a:p>
        </p:txBody>
      </p:sp>
      <p:sp>
        <p:nvSpPr>
          <p:cNvPr id="9" name="Text 2"/>
          <p:cNvSpPr/>
          <p:nvPr/>
        </p:nvSpPr>
        <p:spPr>
          <a:xfrm>
            <a:off x="975360" y="2621280"/>
            <a:ext cx="3529584" cy="73152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20" b="1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•</a:t>
            </a:r>
            <a:r>
              <a:rPr lang="en-US" sz="1920" dirty="0">
                <a:solidFill>
                  <a:srgbClr val="333333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被访谈人：学生扮演（提前指定）</a:t>
            </a:r>
            <a:endParaRPr lang="en-US" sz="1920" dirty="0"/>
          </a:p>
        </p:txBody>
      </p:sp>
      <p:pic>
        <p:nvPicPr>
          <p:cNvPr id="10" name="Image 5" descr="https://test.web.static.jianzeppt.com/ppt-temp-img3/6f355ca378cf25ce854ecc92a9f50b10.png?x-oss-process=image/resize,w_1440,h_800,m_lfit/format,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3566160"/>
            <a:ext cx="4191000" cy="1828800"/>
          </a:xfrm>
          <a:prstGeom prst="rect">
            <a:avLst/>
          </a:prstGeom>
        </p:spPr>
      </p:pic>
      <p:pic>
        <p:nvPicPr>
          <p:cNvPr id="11" name="Image 6" descr="https://test.web.static.jianzeppt.com/ppt-temp-img3/d75626941c3b1e3e5f4c4a70c04fed35.png?x-oss-process=image/resize,w_1440,h_800,m_lfit/format,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4400" y="3886200"/>
            <a:ext cx="365760" cy="365760"/>
          </a:xfrm>
          <a:prstGeom prst="rect">
            <a:avLst/>
          </a:prstGeom>
        </p:spPr>
      </p:pic>
      <p:sp>
        <p:nvSpPr>
          <p:cNvPr id="12" name="Text 3"/>
          <p:cNvSpPr/>
          <p:nvPr/>
        </p:nvSpPr>
        <p:spPr>
          <a:xfrm>
            <a:off x="1402080" y="3825240"/>
            <a:ext cx="694944" cy="5029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640" b="1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场景</a:t>
            </a:r>
            <a:endParaRPr lang="en-US" sz="2640" dirty="0"/>
          </a:p>
        </p:txBody>
      </p:sp>
      <p:sp>
        <p:nvSpPr>
          <p:cNvPr id="13" name="Text 4"/>
          <p:cNvSpPr/>
          <p:nvPr/>
        </p:nvSpPr>
        <p:spPr>
          <a:xfrm>
            <a:off x="975360" y="4400550"/>
            <a:ext cx="3529584" cy="90233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63000"/>
              </a:lnSpc>
              <a:buNone/>
            </a:pPr>
            <a:r>
              <a:rPr lang="en-US" dirty="0">
                <a:solidFill>
                  <a:srgbClr val="333333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教师模拟对某单位“系统管理员”进行访谈</a:t>
            </a:r>
            <a:endParaRPr lang="en-US" dirty="0">
              <a:solidFill>
                <a:srgbClr val="333333"/>
              </a:solidFill>
              <a:latin typeface="思源黑体 CN" pitchFamily="34" charset="0"/>
              <a:ea typeface="思源黑体 CN" pitchFamily="34" charset="-122"/>
              <a:cs typeface="思源黑体 CN" pitchFamily="34" charset="-120"/>
            </a:endParaRPr>
          </a:p>
        </p:txBody>
      </p:sp>
      <p:pic>
        <p:nvPicPr>
          <p:cNvPr id="14" name="Image 7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273040" y="1371600"/>
            <a:ext cx="6309360" cy="426720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pic>
        <p:nvPicPr>
          <p:cNvPr id="15" name="Image 8" descr="preencoded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513320" y="1859280"/>
            <a:ext cx="121920" cy="304800"/>
          </a:xfrm>
          <a:prstGeom prst="rect">
            <a:avLst/>
          </a:prstGeom>
        </p:spPr>
      </p:pic>
      <p:sp>
        <p:nvSpPr>
          <p:cNvPr id="16" name="Text 5"/>
          <p:cNvSpPr/>
          <p:nvPr/>
        </p:nvSpPr>
        <p:spPr>
          <a:xfrm>
            <a:off x="7757160" y="1653540"/>
            <a:ext cx="1365504" cy="5029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640" b="1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示范重点</a:t>
            </a:r>
            <a:endParaRPr lang="en-US" sz="2640" dirty="0"/>
          </a:p>
        </p:txBody>
      </p:sp>
      <p:pic>
        <p:nvPicPr>
          <p:cNvPr id="17" name="Image 9" descr="preencoded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220200" y="1859280"/>
            <a:ext cx="121920" cy="304800"/>
          </a:xfrm>
          <a:prstGeom prst="rect">
            <a:avLst/>
          </a:prstGeom>
        </p:spPr>
      </p:pic>
      <p:pic>
        <p:nvPicPr>
          <p:cNvPr id="18" name="Image 10" descr="https://test.web.static.jianzeppt.com/ppt-temp-img3/9e49fa20593c3d5ea1925b0390af96a6.png?x-oss-process=image/resize,w_1440,h_800,m_lfit/format,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370320" y="2621280"/>
            <a:ext cx="30480" cy="2514600"/>
          </a:xfrm>
          <a:prstGeom prst="rect">
            <a:avLst/>
          </a:prstGeom>
        </p:spPr>
      </p:pic>
      <p:pic>
        <p:nvPicPr>
          <p:cNvPr id="19" name="Image 11" descr="preencoded.png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141720" y="2758440"/>
            <a:ext cx="365760" cy="36576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sp>
        <p:nvSpPr>
          <p:cNvPr id="20" name="Text 6"/>
          <p:cNvSpPr/>
          <p:nvPr/>
        </p:nvSpPr>
        <p:spPr>
          <a:xfrm>
            <a:off x="6263640" y="2788920"/>
            <a:ext cx="146304" cy="3048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68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1</a:t>
            </a:r>
            <a:endParaRPr lang="en-US" sz="1680" dirty="0"/>
          </a:p>
        </p:txBody>
      </p:sp>
      <p:sp>
        <p:nvSpPr>
          <p:cNvPr id="21" name="Text 7"/>
          <p:cNvSpPr/>
          <p:nvPr/>
        </p:nvSpPr>
        <p:spPr>
          <a:xfrm>
            <a:off x="6751320" y="2560320"/>
            <a:ext cx="2996184" cy="4114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60" b="1" dirty="0">
                <a:solidFill>
                  <a:srgbClr val="333333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如何开场</a:t>
            </a:r>
            <a:endParaRPr lang="en-US" sz="2160" dirty="0"/>
          </a:p>
        </p:txBody>
      </p:sp>
      <p:sp>
        <p:nvSpPr>
          <p:cNvPr id="22" name="Text 8"/>
          <p:cNvSpPr/>
          <p:nvPr/>
        </p:nvSpPr>
        <p:spPr>
          <a:xfrm>
            <a:off x="6751320" y="3002280"/>
            <a:ext cx="299618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80" dirty="0">
                <a:solidFill>
                  <a:srgbClr val="666666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自我介绍、说明目的、承诺保密</a:t>
            </a:r>
            <a:endParaRPr lang="en-US" sz="1680" dirty="0"/>
          </a:p>
        </p:txBody>
      </p:sp>
      <p:pic>
        <p:nvPicPr>
          <p:cNvPr id="23" name="Image 12" descr="preencoded.png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141720" y="3398520"/>
            <a:ext cx="365760" cy="36576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sp>
        <p:nvSpPr>
          <p:cNvPr id="24" name="Text 9"/>
          <p:cNvSpPr/>
          <p:nvPr/>
        </p:nvSpPr>
        <p:spPr>
          <a:xfrm>
            <a:off x="6263640" y="3429000"/>
            <a:ext cx="146304" cy="3048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68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2</a:t>
            </a:r>
            <a:endParaRPr lang="en-US" sz="1680" dirty="0"/>
          </a:p>
        </p:txBody>
      </p:sp>
      <p:sp>
        <p:nvSpPr>
          <p:cNvPr id="25" name="Text 10"/>
          <p:cNvSpPr/>
          <p:nvPr/>
        </p:nvSpPr>
        <p:spPr>
          <a:xfrm>
            <a:off x="6751320" y="3383280"/>
            <a:ext cx="2203704" cy="4114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60" b="1" dirty="0">
                <a:solidFill>
                  <a:srgbClr val="333333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如何按照提纲提问</a:t>
            </a:r>
            <a:endParaRPr lang="en-US" sz="2160" dirty="0"/>
          </a:p>
        </p:txBody>
      </p:sp>
      <p:pic>
        <p:nvPicPr>
          <p:cNvPr id="26" name="Image 13" descr="preencoded.png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141720" y="3870960"/>
            <a:ext cx="365760" cy="36576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sp>
        <p:nvSpPr>
          <p:cNvPr id="27" name="Text 11"/>
          <p:cNvSpPr/>
          <p:nvPr/>
        </p:nvSpPr>
        <p:spPr>
          <a:xfrm>
            <a:off x="6263640" y="3901440"/>
            <a:ext cx="146304" cy="3048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68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3</a:t>
            </a:r>
            <a:endParaRPr lang="en-US" sz="1680" dirty="0"/>
          </a:p>
        </p:txBody>
      </p:sp>
      <p:sp>
        <p:nvSpPr>
          <p:cNvPr id="28" name="Text 12"/>
          <p:cNvSpPr/>
          <p:nvPr/>
        </p:nvSpPr>
        <p:spPr>
          <a:xfrm>
            <a:off x="6751320" y="3855720"/>
            <a:ext cx="1106424" cy="4114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60" b="1" dirty="0">
                <a:solidFill>
                  <a:srgbClr val="333333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如何追问</a:t>
            </a:r>
            <a:endParaRPr lang="en-US" sz="2160" dirty="0"/>
          </a:p>
        </p:txBody>
      </p:sp>
      <p:pic>
        <p:nvPicPr>
          <p:cNvPr id="29" name="Image 14" descr="preencoded.png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141720" y="4343400"/>
            <a:ext cx="365760" cy="36576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sp>
        <p:nvSpPr>
          <p:cNvPr id="30" name="Text 13"/>
          <p:cNvSpPr/>
          <p:nvPr/>
        </p:nvSpPr>
        <p:spPr>
          <a:xfrm>
            <a:off x="6263640" y="4358640"/>
            <a:ext cx="146304" cy="3048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68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4</a:t>
            </a:r>
            <a:endParaRPr lang="en-US" sz="1680" dirty="0"/>
          </a:p>
        </p:txBody>
      </p:sp>
      <p:sp>
        <p:nvSpPr>
          <p:cNvPr id="31" name="Text 14"/>
          <p:cNvSpPr/>
          <p:nvPr/>
        </p:nvSpPr>
        <p:spPr>
          <a:xfrm>
            <a:off x="6751320" y="4312920"/>
            <a:ext cx="2203704" cy="4114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60" b="1" dirty="0">
                <a:solidFill>
                  <a:srgbClr val="333333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如何记录关键信息</a:t>
            </a:r>
            <a:endParaRPr lang="en-US" sz="2160" dirty="0"/>
          </a:p>
        </p:txBody>
      </p:sp>
      <p:pic>
        <p:nvPicPr>
          <p:cNvPr id="32" name="Image 15" descr="preencoded.png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141720" y="4815840"/>
            <a:ext cx="365760" cy="36576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sp>
        <p:nvSpPr>
          <p:cNvPr id="33" name="Text 15"/>
          <p:cNvSpPr/>
          <p:nvPr/>
        </p:nvSpPr>
        <p:spPr>
          <a:xfrm>
            <a:off x="6263640" y="4831080"/>
            <a:ext cx="146304" cy="3048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68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5</a:t>
            </a:r>
            <a:endParaRPr lang="en-US" sz="1680" dirty="0"/>
          </a:p>
        </p:txBody>
      </p:sp>
      <p:sp>
        <p:nvSpPr>
          <p:cNvPr id="34" name="Text 16"/>
          <p:cNvSpPr/>
          <p:nvPr/>
        </p:nvSpPr>
        <p:spPr>
          <a:xfrm>
            <a:off x="6751320" y="4785360"/>
            <a:ext cx="1106424" cy="4114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60" b="1" dirty="0">
                <a:solidFill>
                  <a:srgbClr val="333333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如何收尾</a:t>
            </a:r>
            <a:endParaRPr lang="en-US" sz="2160" dirty="0"/>
          </a:p>
        </p:txBody>
      </p:sp>
      <p:sp>
        <p:nvSpPr>
          <p:cNvPr id="35" name="Text 17"/>
          <p:cNvSpPr/>
          <p:nvPr/>
        </p:nvSpPr>
        <p:spPr>
          <a:xfrm>
            <a:off x="822497" y="529635"/>
            <a:ext cx="10918068" cy="42648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60" dirty="0">
                <a:solidFill>
                  <a:srgbClr val="1E1E1E"/>
                </a:solidFill>
              </a:rPr>
              <a:t>教师示范访谈（10分钟）</a:t>
            </a:r>
            <a:endParaRPr lang="en-US" sz="2760" dirty="0"/>
          </a:p>
        </p:txBody>
      </p:sp>
      <p:graphicFrame>
        <p:nvGraphicFramePr>
          <p:cNvPr id="36" name="对象 35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10347325" y="313690"/>
          <a:ext cx="971550" cy="666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49" name="" showAsIcon="1" r:id="rId14" imgW="971550" imgH="666750" progId="Word.Document.12">
                  <p:embed/>
                </p:oleObj>
              </mc:Choice>
              <mc:Fallback>
                <p:oleObj name="" showAsIcon="1" r:id="rId14" imgW="971550" imgH="666750" progId="Word.Document.12">
                  <p:embed/>
                  <p:pic>
                    <p:nvPicPr>
                      <p:cNvPr id="0" name="图片 2048"/>
                      <p:cNvPicPr/>
                      <p:nvPr/>
                    </p:nvPicPr>
                    <p:blipFill>
                      <a:blip r:embed="rId15"/>
                      <a:stretch>
                        <a:fillRect/>
                      </a:stretch>
                    </p:blipFill>
                    <p:spPr>
                      <a:xfrm>
                        <a:off x="10347325" y="313690"/>
                        <a:ext cx="971550" cy="6667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ransition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pic>
        <p:nvPicPr>
          <p:cNvPr id="5" name="Image 3" descr="https://test.web.static.jianzeppt.com/ppt-temp-img3/a91b658f5bbd9a356ec7cd94290d2f4a.png?x-oss-process=image/resize,w_1440,h_800,m_lfit/format,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1371600"/>
            <a:ext cx="2956560" cy="201168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29640" y="1874520"/>
            <a:ext cx="487680" cy="48768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51560" y="1996440"/>
            <a:ext cx="243840" cy="243840"/>
          </a:xfrm>
          <a:prstGeom prst="rect">
            <a:avLst/>
          </a:prstGeom>
        </p:spPr>
      </p:pic>
      <p:sp>
        <p:nvSpPr>
          <p:cNvPr id="8" name="Text 0"/>
          <p:cNvSpPr/>
          <p:nvPr/>
        </p:nvSpPr>
        <p:spPr>
          <a:xfrm>
            <a:off x="1539240" y="1859280"/>
            <a:ext cx="1365504" cy="5029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640" b="1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任务名称</a:t>
            </a:r>
            <a:endParaRPr lang="en-US" sz="2640" dirty="0"/>
          </a:p>
        </p:txBody>
      </p:sp>
      <p:sp>
        <p:nvSpPr>
          <p:cNvPr id="9" name="Text 1"/>
          <p:cNvSpPr/>
          <p:nvPr/>
        </p:nvSpPr>
        <p:spPr>
          <a:xfrm>
            <a:off x="929640" y="2484120"/>
            <a:ext cx="2325624" cy="4114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160" dirty="0">
                <a:solidFill>
                  <a:srgbClr val="374151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模拟人员访谈</a:t>
            </a:r>
            <a:endParaRPr lang="en-US" sz="2160" dirty="0"/>
          </a:p>
        </p:txBody>
      </p:sp>
      <p:pic>
        <p:nvPicPr>
          <p:cNvPr id="10" name="Image 6" descr="https://test.web.static.jianzeppt.com/ppt-temp-img3/a9ab5a314165cbf5b19a5995bd9d0212.png?x-oss-process=image/resize,w_1440,h_800,m_lfit/format,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10000" y="1371600"/>
            <a:ext cx="4114800" cy="2011680"/>
          </a:xfrm>
          <a:prstGeom prst="rect">
            <a:avLst/>
          </a:prstGeom>
        </p:spPr>
      </p:pic>
      <p:pic>
        <p:nvPicPr>
          <p:cNvPr id="11" name="Image 7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130040" y="1630680"/>
            <a:ext cx="487680" cy="487680"/>
          </a:xfrm>
          <a:prstGeom prst="rect">
            <a:avLst/>
          </a:prstGeom>
        </p:spPr>
      </p:pic>
      <p:pic>
        <p:nvPicPr>
          <p:cNvPr id="12" name="Image 8" descr="preencoded.png"/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251960" y="1752600"/>
            <a:ext cx="243840" cy="243840"/>
          </a:xfrm>
          <a:prstGeom prst="rect">
            <a:avLst/>
          </a:prstGeom>
        </p:spPr>
      </p:pic>
      <p:sp>
        <p:nvSpPr>
          <p:cNvPr id="13" name="Text 2"/>
          <p:cNvSpPr/>
          <p:nvPr/>
        </p:nvSpPr>
        <p:spPr>
          <a:xfrm>
            <a:off x="4739640" y="1615440"/>
            <a:ext cx="1365504" cy="5029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640" b="1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任务场景</a:t>
            </a:r>
            <a:endParaRPr lang="en-US" sz="2640" dirty="0"/>
          </a:p>
        </p:txBody>
      </p:sp>
      <p:sp>
        <p:nvSpPr>
          <p:cNvPr id="14" name="Text 3"/>
          <p:cNvSpPr/>
          <p:nvPr/>
        </p:nvSpPr>
        <p:spPr>
          <a:xfrm>
            <a:off x="4130040" y="2179320"/>
            <a:ext cx="3483864" cy="77724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040" dirty="0">
                <a:solidFill>
                  <a:srgbClr val="374151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模拟某单位等保测评项目，测评师需对被测方人员进行访谈</a:t>
            </a:r>
            <a:endParaRPr lang="en-US" sz="2040" dirty="0"/>
          </a:p>
        </p:txBody>
      </p:sp>
      <p:pic>
        <p:nvPicPr>
          <p:cNvPr id="15" name="Image 9" descr="https://test.web.static.jianzeppt.com/ppt-temp-img3/3edc13828f8638a3a988e6eb022d9a2b.png?x-oss-process=image/resize,w_1440,h_800,m_lfit/format,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168640" y="1371600"/>
            <a:ext cx="3429000" cy="2011680"/>
          </a:xfrm>
          <a:prstGeom prst="rect">
            <a:avLst/>
          </a:prstGeom>
        </p:spPr>
      </p:pic>
      <p:pic>
        <p:nvPicPr>
          <p:cNvPr id="16" name="Image 10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488680" y="1630680"/>
            <a:ext cx="487680" cy="487680"/>
          </a:xfrm>
          <a:prstGeom prst="rect">
            <a:avLst/>
          </a:prstGeom>
        </p:spPr>
      </p:pic>
      <p:pic>
        <p:nvPicPr>
          <p:cNvPr id="17" name="Image 11" descr="preencoded.png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8610600" y="1752600"/>
            <a:ext cx="243840" cy="243840"/>
          </a:xfrm>
          <a:prstGeom prst="rect">
            <a:avLst/>
          </a:prstGeom>
        </p:spPr>
      </p:pic>
      <p:sp>
        <p:nvSpPr>
          <p:cNvPr id="18" name="Text 4"/>
          <p:cNvSpPr/>
          <p:nvPr/>
        </p:nvSpPr>
        <p:spPr>
          <a:xfrm>
            <a:off x="9098280" y="1615440"/>
            <a:ext cx="1365504" cy="5029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640" b="1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访谈场景</a:t>
            </a:r>
            <a:endParaRPr lang="en-US" sz="2640" dirty="0"/>
          </a:p>
        </p:txBody>
      </p:sp>
      <p:sp>
        <p:nvSpPr>
          <p:cNvPr id="19" name="Text 5"/>
          <p:cNvSpPr/>
          <p:nvPr/>
        </p:nvSpPr>
        <p:spPr>
          <a:xfrm>
            <a:off x="8488680" y="2179320"/>
            <a:ext cx="279806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20" dirty="0">
                <a:solidFill>
                  <a:srgbClr val="374151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① 系统管理员访谈</a:t>
            </a:r>
            <a:endParaRPr lang="en-US" sz="1920" dirty="0"/>
          </a:p>
        </p:txBody>
      </p:sp>
      <p:sp>
        <p:nvSpPr>
          <p:cNvPr id="20" name="Text 6"/>
          <p:cNvSpPr/>
          <p:nvPr/>
        </p:nvSpPr>
        <p:spPr>
          <a:xfrm>
            <a:off x="8488680" y="2606040"/>
            <a:ext cx="279806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20" dirty="0">
                <a:solidFill>
                  <a:srgbClr val="374151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② 安全主管访谈</a:t>
            </a:r>
            <a:endParaRPr lang="en-US" sz="1920" dirty="0"/>
          </a:p>
        </p:txBody>
      </p:sp>
      <p:sp>
        <p:nvSpPr>
          <p:cNvPr id="21" name="Text 7"/>
          <p:cNvSpPr/>
          <p:nvPr/>
        </p:nvSpPr>
        <p:spPr>
          <a:xfrm>
            <a:off x="8488680" y="3032760"/>
            <a:ext cx="279806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20" dirty="0">
                <a:solidFill>
                  <a:srgbClr val="374151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③ 普通员工访谈</a:t>
            </a:r>
            <a:endParaRPr lang="en-US" sz="1920" dirty="0"/>
          </a:p>
        </p:txBody>
      </p:sp>
      <p:pic>
        <p:nvPicPr>
          <p:cNvPr id="22" name="Image 12" descr="preencoded.png"/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09600" y="3627120"/>
            <a:ext cx="7696200" cy="2011680"/>
          </a:xfrm>
          <a:prstGeom prst="rect">
            <a:avLst/>
          </a:prstGeom>
        </p:spPr>
      </p:pic>
      <p:pic>
        <p:nvPicPr>
          <p:cNvPr id="23" name="Image 13" descr="preencoded.png"/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914400" y="3947160"/>
            <a:ext cx="304800" cy="304800"/>
          </a:xfrm>
          <a:prstGeom prst="rect">
            <a:avLst/>
          </a:prstGeom>
        </p:spPr>
      </p:pic>
      <p:sp>
        <p:nvSpPr>
          <p:cNvPr id="24" name="Text 8"/>
          <p:cNvSpPr/>
          <p:nvPr/>
        </p:nvSpPr>
        <p:spPr>
          <a:xfrm>
            <a:off x="1341120" y="3855720"/>
            <a:ext cx="1365504" cy="48768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64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任务内容</a:t>
            </a:r>
            <a:endParaRPr lang="en-US" sz="2640" dirty="0"/>
          </a:p>
        </p:txBody>
      </p:sp>
      <p:pic>
        <p:nvPicPr>
          <p:cNvPr id="25" name="Image 14" descr="https://test.web.static.jianzeppt.com/ppt-temp-img3/f0cfca7223d0927bbbc79b7fd97b3f53.png?x-oss-process=image/resize,w_1440,h_800,m_lfit/format,png"/>
          <p:cNvPicPr>
            <a:picLocks noChangeAspect="1"/>
          </p:cNvPicPr>
          <p:nvPr>
            <p:custDataLst>
              <p:tags r:id="rId19"/>
            </p:custDataLst>
          </p:nvPr>
        </p:nvPicPr>
        <p:blipFill>
          <a:blip r:embed="rId20"/>
          <a:stretch>
            <a:fillRect/>
          </a:stretch>
        </p:blipFill>
        <p:spPr>
          <a:xfrm>
            <a:off x="1402080" y="4434840"/>
            <a:ext cx="487680" cy="487680"/>
          </a:xfrm>
          <a:prstGeom prst="rect">
            <a:avLst/>
          </a:prstGeom>
        </p:spPr>
      </p:pic>
      <p:sp>
        <p:nvSpPr>
          <p:cNvPr id="26" name="Text 9"/>
          <p:cNvSpPr/>
          <p:nvPr>
            <p:custDataLst>
              <p:tags r:id="rId21"/>
            </p:custDataLst>
          </p:nvPr>
        </p:nvSpPr>
        <p:spPr>
          <a:xfrm>
            <a:off x="1584960" y="4526280"/>
            <a:ext cx="146304" cy="3048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68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1</a:t>
            </a:r>
            <a:endParaRPr lang="en-US" sz="1680" dirty="0"/>
          </a:p>
        </p:txBody>
      </p:sp>
      <p:sp>
        <p:nvSpPr>
          <p:cNvPr id="27" name="Text 10"/>
          <p:cNvSpPr/>
          <p:nvPr>
            <p:custDataLst>
              <p:tags r:id="rId22"/>
            </p:custDataLst>
          </p:nvPr>
        </p:nvSpPr>
        <p:spPr>
          <a:xfrm>
            <a:off x="914400" y="4983480"/>
            <a:ext cx="1219200" cy="368935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确定访谈角色</a:t>
            </a:r>
            <a:endParaRPr lang="en-US" sz="1600" dirty="0">
              <a:solidFill>
                <a:srgbClr val="FFFFFF"/>
              </a:solidFill>
              <a:latin typeface="思源黑体 CN" pitchFamily="34" charset="0"/>
              <a:ea typeface="思源黑体 CN" pitchFamily="34" charset="-122"/>
              <a:cs typeface="思源黑体 CN" pitchFamily="34" charset="-120"/>
            </a:endParaRPr>
          </a:p>
        </p:txBody>
      </p:sp>
      <p:pic>
        <p:nvPicPr>
          <p:cNvPr id="28" name="Image 15" descr="preencoded.png"/>
          <p:cNvPicPr>
            <a:picLocks noChangeAspect="1"/>
          </p:cNvPicPr>
          <p:nvPr>
            <p:custDataLst>
              <p:tags r:id="rId23"/>
            </p:custDataLst>
          </p:nvPr>
        </p:nvPicPr>
        <p:blipFill>
          <a:blip r:embed="rId24">
            <a:alphaModFix amt="50000"/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1791970" y="4231640"/>
            <a:ext cx="914400" cy="914400"/>
          </a:xfrm>
          <a:prstGeom prst="rect">
            <a:avLst/>
          </a:prstGeom>
        </p:spPr>
      </p:pic>
      <p:pic>
        <p:nvPicPr>
          <p:cNvPr id="29" name="Image 16" descr="https://test.web.static.jianzeppt.com/ppt-temp-img3/f0cfca7223d0927bbbc79b7fd97b3f53.png?x-oss-process=image/resize,w_1440,h_800,m_lfit/format,png"/>
          <p:cNvPicPr>
            <a:picLocks noChangeAspect="1"/>
          </p:cNvPicPr>
          <p:nvPr>
            <p:custDataLst>
              <p:tags r:id="rId26"/>
            </p:custDataLst>
          </p:nvPr>
        </p:nvPicPr>
        <p:blipFill>
          <a:blip r:embed="rId20"/>
          <a:stretch>
            <a:fillRect/>
          </a:stretch>
        </p:blipFill>
        <p:spPr>
          <a:xfrm>
            <a:off x="2865120" y="4434840"/>
            <a:ext cx="487680" cy="487680"/>
          </a:xfrm>
          <a:prstGeom prst="rect">
            <a:avLst/>
          </a:prstGeom>
        </p:spPr>
      </p:pic>
      <p:sp>
        <p:nvSpPr>
          <p:cNvPr id="30" name="Text 11"/>
          <p:cNvSpPr/>
          <p:nvPr>
            <p:custDataLst>
              <p:tags r:id="rId27"/>
            </p:custDataLst>
          </p:nvPr>
        </p:nvSpPr>
        <p:spPr>
          <a:xfrm>
            <a:off x="3048000" y="4526280"/>
            <a:ext cx="146304" cy="3048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68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2</a:t>
            </a:r>
            <a:endParaRPr lang="en-US" sz="1680" dirty="0"/>
          </a:p>
        </p:txBody>
      </p:sp>
      <p:sp>
        <p:nvSpPr>
          <p:cNvPr id="31" name="Text 12"/>
          <p:cNvSpPr/>
          <p:nvPr>
            <p:custDataLst>
              <p:tags r:id="rId28"/>
            </p:custDataLst>
          </p:nvPr>
        </p:nvSpPr>
        <p:spPr>
          <a:xfrm>
            <a:off x="2377440" y="4983480"/>
            <a:ext cx="1219200" cy="368935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设计访谈提纲</a:t>
            </a:r>
            <a:endParaRPr lang="en-US" sz="1600" dirty="0">
              <a:solidFill>
                <a:srgbClr val="FFFFFF"/>
              </a:solidFill>
              <a:latin typeface="思源黑体 CN" pitchFamily="34" charset="0"/>
              <a:ea typeface="思源黑体 CN" pitchFamily="34" charset="-122"/>
              <a:cs typeface="思源黑体 CN" pitchFamily="34" charset="-120"/>
            </a:endParaRPr>
          </a:p>
        </p:txBody>
      </p:sp>
      <p:pic>
        <p:nvPicPr>
          <p:cNvPr id="32" name="Image 17" descr="preencoded.png"/>
          <p:cNvPicPr>
            <a:picLocks noChangeAspect="1"/>
          </p:cNvPicPr>
          <p:nvPr>
            <p:custDataLst>
              <p:tags r:id="rId29"/>
            </p:custDataLst>
          </p:nvPr>
        </p:nvPicPr>
        <p:blipFill>
          <a:blip r:embed="rId24">
            <a:alphaModFix amt="50000"/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3255010" y="4231640"/>
            <a:ext cx="914400" cy="914400"/>
          </a:xfrm>
          <a:prstGeom prst="rect">
            <a:avLst/>
          </a:prstGeom>
        </p:spPr>
      </p:pic>
      <p:pic>
        <p:nvPicPr>
          <p:cNvPr id="33" name="Image 18" descr="https://test.web.static.jianzeppt.com/ppt-temp-img3/f0cfca7223d0927bbbc79b7fd97b3f53.png?x-oss-process=image/resize,w_1440,h_800,m_lfit/format,png"/>
          <p:cNvPicPr>
            <a:picLocks noChangeAspect="1"/>
          </p:cNvPicPr>
          <p:nvPr>
            <p:custDataLst>
              <p:tags r:id="rId30"/>
            </p:custDataLst>
          </p:nvPr>
        </p:nvPicPr>
        <p:blipFill>
          <a:blip r:embed="rId20"/>
          <a:stretch>
            <a:fillRect/>
          </a:stretch>
        </p:blipFill>
        <p:spPr>
          <a:xfrm>
            <a:off x="4084320" y="4434840"/>
            <a:ext cx="487680" cy="487680"/>
          </a:xfrm>
          <a:prstGeom prst="rect">
            <a:avLst/>
          </a:prstGeom>
        </p:spPr>
      </p:pic>
      <p:sp>
        <p:nvSpPr>
          <p:cNvPr id="34" name="Text 13"/>
          <p:cNvSpPr/>
          <p:nvPr>
            <p:custDataLst>
              <p:tags r:id="rId31"/>
            </p:custDataLst>
          </p:nvPr>
        </p:nvSpPr>
        <p:spPr>
          <a:xfrm>
            <a:off x="4267200" y="4526280"/>
            <a:ext cx="146304" cy="3048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68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3</a:t>
            </a:r>
            <a:endParaRPr lang="en-US" sz="1680" dirty="0"/>
          </a:p>
        </p:txBody>
      </p:sp>
      <p:sp>
        <p:nvSpPr>
          <p:cNvPr id="35" name="Text 14"/>
          <p:cNvSpPr/>
          <p:nvPr>
            <p:custDataLst>
              <p:tags r:id="rId32"/>
            </p:custDataLst>
          </p:nvPr>
        </p:nvSpPr>
        <p:spPr>
          <a:xfrm>
            <a:off x="3840480" y="4983480"/>
            <a:ext cx="812800" cy="368935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模拟访谈</a:t>
            </a:r>
            <a:endParaRPr lang="en-US" sz="1600" dirty="0">
              <a:solidFill>
                <a:srgbClr val="FFFFFF"/>
              </a:solidFill>
              <a:latin typeface="思源黑体 CN" pitchFamily="34" charset="0"/>
              <a:ea typeface="思源黑体 CN" pitchFamily="34" charset="-122"/>
              <a:cs typeface="思源黑体 CN" pitchFamily="34" charset="-120"/>
            </a:endParaRPr>
          </a:p>
        </p:txBody>
      </p:sp>
      <p:pic>
        <p:nvPicPr>
          <p:cNvPr id="36" name="Image 19" descr="preencoded.png"/>
          <p:cNvPicPr>
            <a:picLocks noChangeAspect="1"/>
          </p:cNvPicPr>
          <p:nvPr>
            <p:custDataLst>
              <p:tags r:id="rId33"/>
            </p:custDataLst>
          </p:nvPr>
        </p:nvPicPr>
        <p:blipFill>
          <a:blip r:embed="rId24">
            <a:alphaModFix amt="50000"/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4495800" y="4231640"/>
            <a:ext cx="914400" cy="914400"/>
          </a:xfrm>
          <a:prstGeom prst="rect">
            <a:avLst/>
          </a:prstGeom>
        </p:spPr>
      </p:pic>
      <p:pic>
        <p:nvPicPr>
          <p:cNvPr id="37" name="Image 20" descr="https://test.web.static.jianzeppt.com/ppt-temp-img3/f0cfca7223d0927bbbc79b7fd97b3f53.png?x-oss-process=image/resize,w_1440,h_800,m_lfit/format,png"/>
          <p:cNvPicPr>
            <a:picLocks noChangeAspect="1"/>
          </p:cNvPicPr>
          <p:nvPr>
            <p:custDataLst>
              <p:tags r:id="rId34"/>
            </p:custDataLst>
          </p:nvPr>
        </p:nvPicPr>
        <p:blipFill>
          <a:blip r:embed="rId20"/>
          <a:stretch>
            <a:fillRect/>
          </a:stretch>
        </p:blipFill>
        <p:spPr>
          <a:xfrm>
            <a:off x="5303520" y="4434840"/>
            <a:ext cx="487680" cy="487680"/>
          </a:xfrm>
          <a:prstGeom prst="rect">
            <a:avLst/>
          </a:prstGeom>
        </p:spPr>
      </p:pic>
      <p:sp>
        <p:nvSpPr>
          <p:cNvPr id="38" name="Text 15"/>
          <p:cNvSpPr/>
          <p:nvPr>
            <p:custDataLst>
              <p:tags r:id="rId35"/>
            </p:custDataLst>
          </p:nvPr>
        </p:nvSpPr>
        <p:spPr>
          <a:xfrm>
            <a:off x="5486400" y="4526280"/>
            <a:ext cx="146304" cy="3048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68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4</a:t>
            </a:r>
            <a:endParaRPr lang="en-US" sz="1680" dirty="0"/>
          </a:p>
        </p:txBody>
      </p:sp>
      <p:sp>
        <p:nvSpPr>
          <p:cNvPr id="39" name="Text 16"/>
          <p:cNvSpPr/>
          <p:nvPr>
            <p:custDataLst>
              <p:tags r:id="rId36"/>
            </p:custDataLst>
          </p:nvPr>
        </p:nvSpPr>
        <p:spPr>
          <a:xfrm>
            <a:off x="4815840" y="4983480"/>
            <a:ext cx="1219200" cy="368935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记录访谈要点</a:t>
            </a:r>
            <a:endParaRPr lang="en-US" sz="1600" dirty="0">
              <a:solidFill>
                <a:srgbClr val="FFFFFF"/>
              </a:solidFill>
              <a:latin typeface="思源黑体 CN" pitchFamily="34" charset="0"/>
              <a:ea typeface="思源黑体 CN" pitchFamily="34" charset="-122"/>
              <a:cs typeface="思源黑体 CN" pitchFamily="34" charset="-120"/>
            </a:endParaRPr>
          </a:p>
        </p:txBody>
      </p:sp>
      <p:pic>
        <p:nvPicPr>
          <p:cNvPr id="40" name="Image 21" descr="preencoded.png"/>
          <p:cNvPicPr>
            <a:picLocks noChangeAspect="1"/>
          </p:cNvPicPr>
          <p:nvPr>
            <p:custDataLst>
              <p:tags r:id="rId37"/>
            </p:custDataLst>
          </p:nvPr>
        </p:nvPicPr>
        <p:blipFill>
          <a:blip r:embed="rId24">
            <a:alphaModFix amt="50000"/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5791200" y="4231640"/>
            <a:ext cx="914400" cy="914400"/>
          </a:xfrm>
          <a:prstGeom prst="rect">
            <a:avLst/>
          </a:prstGeom>
        </p:spPr>
      </p:pic>
      <p:pic>
        <p:nvPicPr>
          <p:cNvPr id="41" name="Image 22" descr="https://test.web.static.jianzeppt.com/ppt-temp-img3/f0cfca7223d0927bbbc79b7fd97b3f53.png?x-oss-process=image/resize,w_1440,h_800,m_lfit/format,png"/>
          <p:cNvPicPr>
            <a:picLocks noChangeAspect="1"/>
          </p:cNvPicPr>
          <p:nvPr>
            <p:custDataLst>
              <p:tags r:id="rId38"/>
            </p:custDataLst>
          </p:nvPr>
        </p:nvPicPr>
        <p:blipFill>
          <a:blip r:embed="rId20"/>
          <a:stretch>
            <a:fillRect/>
          </a:stretch>
        </p:blipFill>
        <p:spPr>
          <a:xfrm>
            <a:off x="6888480" y="4315460"/>
            <a:ext cx="487680" cy="487680"/>
          </a:xfrm>
          <a:prstGeom prst="rect">
            <a:avLst/>
          </a:prstGeom>
        </p:spPr>
      </p:pic>
      <p:sp>
        <p:nvSpPr>
          <p:cNvPr id="42" name="Text 17"/>
          <p:cNvSpPr/>
          <p:nvPr>
            <p:custDataLst>
              <p:tags r:id="rId39"/>
            </p:custDataLst>
          </p:nvPr>
        </p:nvSpPr>
        <p:spPr>
          <a:xfrm>
            <a:off x="7071360" y="4343400"/>
            <a:ext cx="146304" cy="3048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68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5</a:t>
            </a:r>
            <a:endParaRPr lang="en-US" sz="1680" dirty="0"/>
          </a:p>
        </p:txBody>
      </p:sp>
      <p:sp>
        <p:nvSpPr>
          <p:cNvPr id="43" name="Text 18"/>
          <p:cNvSpPr/>
          <p:nvPr>
            <p:custDataLst>
              <p:tags r:id="rId40"/>
            </p:custDataLst>
          </p:nvPr>
        </p:nvSpPr>
        <p:spPr>
          <a:xfrm>
            <a:off x="6726555" y="4800600"/>
            <a:ext cx="1283335" cy="73850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填写《人员访谈记录表》</a:t>
            </a:r>
            <a:endParaRPr lang="en-US" sz="1600" dirty="0">
              <a:solidFill>
                <a:srgbClr val="FFFFFF"/>
              </a:solidFill>
              <a:latin typeface="思源黑体 CN" pitchFamily="34" charset="0"/>
              <a:ea typeface="思源黑体 CN" pitchFamily="34" charset="-122"/>
              <a:cs typeface="思源黑体 CN" pitchFamily="34" charset="-120"/>
            </a:endParaRPr>
          </a:p>
        </p:txBody>
      </p:sp>
      <p:pic>
        <p:nvPicPr>
          <p:cNvPr id="44" name="Image 23" descr="preencoded.png"/>
          <p:cNvPicPr>
            <a:picLocks noChangeAspect="1"/>
          </p:cNvPicPr>
          <p:nvPr/>
        </p:nvPicPr>
        <p:blipFill>
          <a:blip r:embed="rId41">
            <a:extLst>
              <a:ext uri="{96DAC541-7B7A-43D3-8B79-37D633B846F1}">
                <asvg:svgBlip xmlns:asvg="http://schemas.microsoft.com/office/drawing/2016/SVG/main" r:embed="rId42"/>
              </a:ext>
            </a:extLst>
          </a:blip>
          <a:stretch>
            <a:fillRect/>
          </a:stretch>
        </p:blipFill>
        <p:spPr>
          <a:xfrm>
            <a:off x="8534400" y="3627120"/>
            <a:ext cx="3048000" cy="2011680"/>
          </a:xfrm>
          <a:prstGeom prst="rect">
            <a:avLst/>
          </a:prstGeom>
        </p:spPr>
      </p:pic>
      <p:pic>
        <p:nvPicPr>
          <p:cNvPr id="45" name="Image 24" descr="preencoded.png"/>
          <p:cNvPicPr>
            <a:picLocks noChangeAspect="1"/>
          </p:cNvPicPr>
          <p:nvPr/>
        </p:nvPicPr>
        <p:blipFill>
          <a:blip r:embed="rId43">
            <a:extLst>
              <a:ext uri="{96DAC541-7B7A-43D3-8B79-37D633B846F1}">
                <asvg:svgBlip xmlns:asvg="http://schemas.microsoft.com/office/drawing/2016/SVG/main" r:embed="rId44"/>
              </a:ext>
            </a:extLst>
          </a:blip>
          <a:stretch>
            <a:fillRect/>
          </a:stretch>
        </p:blipFill>
        <p:spPr>
          <a:xfrm>
            <a:off x="8877300" y="3962400"/>
            <a:ext cx="289560" cy="289560"/>
          </a:xfrm>
          <a:prstGeom prst="rect">
            <a:avLst/>
          </a:prstGeom>
        </p:spPr>
      </p:pic>
      <p:sp>
        <p:nvSpPr>
          <p:cNvPr id="46" name="Text 19"/>
          <p:cNvSpPr/>
          <p:nvPr/>
        </p:nvSpPr>
        <p:spPr>
          <a:xfrm>
            <a:off x="9296400" y="3855720"/>
            <a:ext cx="1365504" cy="48768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640" b="1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分组安排</a:t>
            </a:r>
            <a:endParaRPr lang="en-US" sz="2640" dirty="0"/>
          </a:p>
        </p:txBody>
      </p:sp>
      <p:sp>
        <p:nvSpPr>
          <p:cNvPr id="47" name="Text 20"/>
          <p:cNvSpPr/>
          <p:nvPr/>
        </p:nvSpPr>
        <p:spPr>
          <a:xfrm>
            <a:off x="8869680" y="4231640"/>
            <a:ext cx="1260475" cy="461645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000" b="1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3-4人/组</a:t>
            </a:r>
            <a:r>
              <a:rPr lang="zh-CN" altLang="en-US" sz="2000" b="1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：</a:t>
            </a:r>
            <a:endParaRPr lang="zh-CN" altLang="en-US" sz="2000" b="1" dirty="0">
              <a:solidFill>
                <a:srgbClr val="00234E"/>
              </a:solidFill>
              <a:latin typeface="思源黑体 CN Bold" pitchFamily="34" charset="0"/>
              <a:ea typeface="思源黑体 CN Bold" pitchFamily="34" charset="-122"/>
              <a:cs typeface="思源黑体 CN Bold" pitchFamily="34" charset="-120"/>
            </a:endParaRPr>
          </a:p>
        </p:txBody>
      </p:sp>
      <p:sp>
        <p:nvSpPr>
          <p:cNvPr id="48" name="Text 21"/>
          <p:cNvSpPr/>
          <p:nvPr/>
        </p:nvSpPr>
        <p:spPr>
          <a:xfrm>
            <a:off x="8869680" y="4770120"/>
            <a:ext cx="2386584" cy="49530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560" dirty="0">
                <a:solidFill>
                  <a:srgbClr val="374151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分别扮演：</a:t>
            </a:r>
            <a:r>
              <a:rPr lang="en-US" sz="1560" dirty="0">
                <a:solidFill>
                  <a:srgbClr val="374151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测评师、被访谈人、记录员</a:t>
            </a:r>
            <a:endParaRPr lang="en-US" sz="1560" dirty="0"/>
          </a:p>
        </p:txBody>
      </p:sp>
      <p:sp>
        <p:nvSpPr>
          <p:cNvPr id="49" name="Text 22"/>
          <p:cNvSpPr/>
          <p:nvPr/>
        </p:nvSpPr>
        <p:spPr>
          <a:xfrm>
            <a:off x="822497" y="529635"/>
            <a:ext cx="10918068" cy="42648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60" dirty="0">
                <a:solidFill>
                  <a:srgbClr val="1E1E1E"/>
                </a:solidFill>
              </a:rPr>
              <a:t>实践任务——模拟人员访谈（35分钟）</a:t>
            </a:r>
            <a:endParaRPr lang="en-US" sz="2760" dirty="0"/>
          </a:p>
        </p:txBody>
      </p:sp>
    </p:spTree>
  </p:cSld>
  <p:clrMapOvr>
    <a:masterClrMapping/>
  </p:clrMapOvr>
  <p:transition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pic>
        <p:nvPicPr>
          <p:cNvPr id="5" name="Image 3" descr="https://test.web.static.jianzeppt.com/ppt-temp-img3/5144b5b19bce1e1ec967921629a8e94c.png?x-oss-process=image/resize,w_1440,h_800,m_lfit/format,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1371600"/>
            <a:ext cx="10972800" cy="134112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53440" y="1615440"/>
            <a:ext cx="853440" cy="85344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36320" y="1798320"/>
            <a:ext cx="487680" cy="487680"/>
          </a:xfrm>
          <a:prstGeom prst="rect">
            <a:avLst/>
          </a:prstGeom>
        </p:spPr>
      </p:pic>
      <p:sp>
        <p:nvSpPr>
          <p:cNvPr id="8" name="Text 0"/>
          <p:cNvSpPr/>
          <p:nvPr/>
        </p:nvSpPr>
        <p:spPr>
          <a:xfrm>
            <a:off x="2011680" y="1645920"/>
            <a:ext cx="7171944" cy="3352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640" b="1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角色卡1：系统管理员（张三）</a:t>
            </a:r>
            <a:endParaRPr lang="en-US" sz="2640" dirty="0"/>
          </a:p>
        </p:txBody>
      </p:sp>
      <p:sp>
        <p:nvSpPr>
          <p:cNvPr id="9" name="Text 1"/>
          <p:cNvSpPr/>
          <p:nvPr/>
        </p:nvSpPr>
        <p:spPr>
          <a:xfrm>
            <a:off x="2011680" y="2072640"/>
            <a:ext cx="7171944" cy="357426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040" dirty="0">
                <a:solidFill>
                  <a:srgbClr val="333333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岗位：系统管理员，负责3台服务器、2个数据库的日常运维</a:t>
            </a:r>
            <a:endParaRPr lang="en-US" sz="2040" dirty="0"/>
          </a:p>
        </p:txBody>
      </p:sp>
      <p:pic>
        <p:nvPicPr>
          <p:cNvPr id="10" name="Image 6" descr="preencoded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09600" y="3169920"/>
            <a:ext cx="60960" cy="274320"/>
          </a:xfrm>
          <a:prstGeom prst="rect">
            <a:avLst/>
          </a:prstGeom>
        </p:spPr>
      </p:pic>
      <p:sp>
        <p:nvSpPr>
          <p:cNvPr id="11" name="Text 2"/>
          <p:cNvSpPr/>
          <p:nvPr/>
        </p:nvSpPr>
        <p:spPr>
          <a:xfrm>
            <a:off x="792480" y="3078480"/>
            <a:ext cx="5038344" cy="44196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400" b="1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实际执行情况（供角色扮演者参考）：</a:t>
            </a:r>
            <a:endParaRPr lang="en-US" sz="2400" dirty="0"/>
          </a:p>
        </p:txBody>
      </p:sp>
      <p:pic>
        <p:nvPicPr>
          <p:cNvPr id="12" name="Image 7" descr="preencoded.png"/>
          <p:cNvPicPr>
            <a:picLocks noChangeAspect="1"/>
          </p:cNvPicPr>
          <p:nvPr>
            <p:custDataLst>
              <p:tags r:id="rId11"/>
            </p:custDataLst>
          </p:nvPr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09600" y="3779520"/>
            <a:ext cx="5364480" cy="80772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pic>
        <p:nvPicPr>
          <p:cNvPr id="13" name="Image 8" descr="https://test.web.static.jianzeppt.com/ppt-temp-img3/02501072d4f0f3c5590182f635d42169.png?x-oss-process=image/resize,w_1440,h_800,m_lfit/format,png"/>
          <p:cNvPicPr>
            <a:picLocks noChangeAspect="1"/>
          </p:cNvPicPr>
          <p:nvPr>
            <p:custDataLst>
              <p:tags r:id="rId14"/>
            </p:custDataLst>
          </p:nvPr>
        </p:nvPicPr>
        <p:blipFill>
          <a:blip r:embed="rId15"/>
          <a:stretch>
            <a:fillRect/>
          </a:stretch>
        </p:blipFill>
        <p:spPr>
          <a:xfrm>
            <a:off x="868680" y="3855720"/>
            <a:ext cx="426720" cy="426720"/>
          </a:xfrm>
          <a:prstGeom prst="rect">
            <a:avLst/>
          </a:prstGeom>
        </p:spPr>
      </p:pic>
      <p:sp>
        <p:nvSpPr>
          <p:cNvPr id="14" name="Text 3"/>
          <p:cNvSpPr/>
          <p:nvPr>
            <p:custDataLst>
              <p:tags r:id="rId16"/>
            </p:custDataLst>
          </p:nvPr>
        </p:nvSpPr>
        <p:spPr>
          <a:xfrm>
            <a:off x="960120" y="3916680"/>
            <a:ext cx="26822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80" b="1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01</a:t>
            </a:r>
            <a:endParaRPr lang="en-US" sz="1680" dirty="0"/>
          </a:p>
        </p:txBody>
      </p:sp>
      <p:sp>
        <p:nvSpPr>
          <p:cNvPr id="15" name="Text 4"/>
          <p:cNvSpPr/>
          <p:nvPr>
            <p:custDataLst>
              <p:tags r:id="rId17"/>
            </p:custDataLst>
          </p:nvPr>
        </p:nvSpPr>
        <p:spPr>
          <a:xfrm>
            <a:off x="1447800" y="3840480"/>
            <a:ext cx="1021080" cy="461645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000" b="1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密码策略</a:t>
            </a:r>
            <a:endParaRPr lang="en-US" sz="2000" b="1" dirty="0">
              <a:solidFill>
                <a:srgbClr val="00234E"/>
              </a:solidFill>
              <a:latin typeface="思源黑体 CN Bold" pitchFamily="34" charset="0"/>
              <a:ea typeface="思源黑体 CN Bold" pitchFamily="34" charset="-122"/>
              <a:cs typeface="思源黑体 CN Bold" pitchFamily="34" charset="-120"/>
            </a:endParaRPr>
          </a:p>
        </p:txBody>
      </p:sp>
      <p:sp>
        <p:nvSpPr>
          <p:cNvPr id="16" name="Text 5"/>
          <p:cNvSpPr/>
          <p:nvPr>
            <p:custDataLst>
              <p:tags r:id="rId18"/>
            </p:custDataLst>
          </p:nvPr>
        </p:nvSpPr>
        <p:spPr>
          <a:xfrm>
            <a:off x="1447800" y="4221480"/>
            <a:ext cx="4488180" cy="27686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444444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制度规定90天更换，实际“没时间换”，使用默认密码或简单密码</a:t>
            </a:r>
            <a:endParaRPr lang="en-US" sz="1200" dirty="0">
              <a:solidFill>
                <a:srgbClr val="444444"/>
              </a:solidFill>
              <a:latin typeface="思源黑体 CN" pitchFamily="34" charset="0"/>
              <a:ea typeface="思源黑体 CN" pitchFamily="34" charset="-122"/>
              <a:cs typeface="思源黑体 CN" pitchFamily="34" charset="-120"/>
            </a:endParaRPr>
          </a:p>
        </p:txBody>
      </p:sp>
      <p:pic>
        <p:nvPicPr>
          <p:cNvPr id="17" name="Image 9" descr="preencoded.png"/>
          <p:cNvPicPr>
            <a:picLocks noChangeAspect="1"/>
          </p:cNvPicPr>
          <p:nvPr>
            <p:custDataLst>
              <p:tags r:id="rId19"/>
            </p:custDataLst>
          </p:nvPr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217920" y="3779520"/>
            <a:ext cx="5364480" cy="80772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pic>
        <p:nvPicPr>
          <p:cNvPr id="18" name="Image 10" descr="https://test.web.static.jianzeppt.com/ppt-temp-img3/02501072d4f0f3c5590182f635d42169.png?x-oss-process=image/resize,w_1440,h_800,m_lfit/format,png"/>
          <p:cNvPicPr>
            <a:picLocks noChangeAspect="1"/>
          </p:cNvPicPr>
          <p:nvPr>
            <p:custDataLst>
              <p:tags r:id="rId20"/>
            </p:custDataLst>
          </p:nvPr>
        </p:nvPicPr>
        <p:blipFill>
          <a:blip r:embed="rId15"/>
          <a:stretch>
            <a:fillRect/>
          </a:stretch>
        </p:blipFill>
        <p:spPr>
          <a:xfrm>
            <a:off x="6477000" y="3855720"/>
            <a:ext cx="426720" cy="426720"/>
          </a:xfrm>
          <a:prstGeom prst="rect">
            <a:avLst/>
          </a:prstGeom>
        </p:spPr>
      </p:pic>
      <p:sp>
        <p:nvSpPr>
          <p:cNvPr id="19" name="Text 6"/>
          <p:cNvSpPr/>
          <p:nvPr>
            <p:custDataLst>
              <p:tags r:id="rId21"/>
            </p:custDataLst>
          </p:nvPr>
        </p:nvSpPr>
        <p:spPr>
          <a:xfrm>
            <a:off x="6568440" y="3916680"/>
            <a:ext cx="26822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80" b="1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02</a:t>
            </a:r>
            <a:endParaRPr lang="en-US" sz="1680" dirty="0"/>
          </a:p>
        </p:txBody>
      </p:sp>
      <p:sp>
        <p:nvSpPr>
          <p:cNvPr id="20" name="Text 7"/>
          <p:cNvSpPr/>
          <p:nvPr>
            <p:custDataLst>
              <p:tags r:id="rId22"/>
            </p:custDataLst>
          </p:nvPr>
        </p:nvSpPr>
        <p:spPr>
          <a:xfrm>
            <a:off x="7056120" y="3840480"/>
            <a:ext cx="1021080" cy="461645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000" b="1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账户管理</a:t>
            </a:r>
            <a:endParaRPr lang="en-US" sz="2000" b="1" dirty="0">
              <a:solidFill>
                <a:srgbClr val="00234E"/>
              </a:solidFill>
              <a:latin typeface="思源黑体 CN Bold" pitchFamily="34" charset="0"/>
              <a:ea typeface="思源黑体 CN Bold" pitchFamily="34" charset="-122"/>
              <a:cs typeface="思源黑体 CN Bold" pitchFamily="34" charset="-120"/>
            </a:endParaRPr>
          </a:p>
        </p:txBody>
      </p:sp>
      <p:sp>
        <p:nvSpPr>
          <p:cNvPr id="21" name="Text 8"/>
          <p:cNvSpPr/>
          <p:nvPr>
            <p:custDataLst>
              <p:tags r:id="rId23"/>
            </p:custDataLst>
          </p:nvPr>
        </p:nvSpPr>
        <p:spPr>
          <a:xfrm>
            <a:off x="7056120" y="4221480"/>
            <a:ext cx="4276344" cy="27686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444444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离职员工账号未及时清理，有3个离职员工账号仍存在</a:t>
            </a:r>
            <a:endParaRPr lang="en-US" sz="1200" dirty="0">
              <a:solidFill>
                <a:srgbClr val="444444"/>
              </a:solidFill>
              <a:latin typeface="思源黑体 CN" pitchFamily="34" charset="0"/>
              <a:ea typeface="思源黑体 CN" pitchFamily="34" charset="-122"/>
              <a:cs typeface="思源黑体 CN" pitchFamily="34" charset="-120"/>
            </a:endParaRPr>
          </a:p>
        </p:txBody>
      </p:sp>
      <p:pic>
        <p:nvPicPr>
          <p:cNvPr id="22" name="Image 11" descr="preencoded.png"/>
          <p:cNvPicPr>
            <a:picLocks noChangeAspect="1"/>
          </p:cNvPicPr>
          <p:nvPr>
            <p:custDataLst>
              <p:tags r:id="rId24"/>
            </p:custDataLst>
          </p:nvPr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09600" y="4831080"/>
            <a:ext cx="5364480" cy="80772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pic>
        <p:nvPicPr>
          <p:cNvPr id="23" name="Image 12" descr="https://test.web.static.jianzeppt.com/ppt-temp-img3/02501072d4f0f3c5590182f635d42169.png?x-oss-process=image/resize,w_1440,h_800,m_lfit/format,png"/>
          <p:cNvPicPr>
            <a:picLocks noChangeAspect="1"/>
          </p:cNvPicPr>
          <p:nvPr>
            <p:custDataLst>
              <p:tags r:id="rId25"/>
            </p:custDataLst>
          </p:nvPr>
        </p:nvPicPr>
        <p:blipFill>
          <a:blip r:embed="rId15"/>
          <a:stretch>
            <a:fillRect/>
          </a:stretch>
        </p:blipFill>
        <p:spPr>
          <a:xfrm>
            <a:off x="868680" y="4922520"/>
            <a:ext cx="426720" cy="426720"/>
          </a:xfrm>
          <a:prstGeom prst="rect">
            <a:avLst/>
          </a:prstGeom>
        </p:spPr>
      </p:pic>
      <p:sp>
        <p:nvSpPr>
          <p:cNvPr id="24" name="Text 9"/>
          <p:cNvSpPr/>
          <p:nvPr>
            <p:custDataLst>
              <p:tags r:id="rId26"/>
            </p:custDataLst>
          </p:nvPr>
        </p:nvSpPr>
        <p:spPr>
          <a:xfrm>
            <a:off x="960120" y="4983480"/>
            <a:ext cx="26822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80" b="1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03</a:t>
            </a:r>
            <a:endParaRPr lang="en-US" sz="1680" dirty="0"/>
          </a:p>
        </p:txBody>
      </p:sp>
      <p:sp>
        <p:nvSpPr>
          <p:cNvPr id="25" name="Text 10"/>
          <p:cNvSpPr/>
          <p:nvPr>
            <p:custDataLst>
              <p:tags r:id="rId27"/>
            </p:custDataLst>
          </p:nvPr>
        </p:nvSpPr>
        <p:spPr>
          <a:xfrm>
            <a:off x="1447800" y="4907280"/>
            <a:ext cx="1021080" cy="461645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000" b="1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日志审计</a:t>
            </a:r>
            <a:endParaRPr lang="en-US" sz="2000" b="1" dirty="0">
              <a:solidFill>
                <a:srgbClr val="00234E"/>
              </a:solidFill>
              <a:latin typeface="思源黑体 CN Bold" pitchFamily="34" charset="0"/>
              <a:ea typeface="思源黑体 CN Bold" pitchFamily="34" charset="-122"/>
              <a:cs typeface="思源黑体 CN Bold" pitchFamily="34" charset="-120"/>
            </a:endParaRPr>
          </a:p>
        </p:txBody>
      </p:sp>
      <p:sp>
        <p:nvSpPr>
          <p:cNvPr id="26" name="Text 11"/>
          <p:cNvSpPr/>
          <p:nvPr>
            <p:custDataLst>
              <p:tags r:id="rId28"/>
            </p:custDataLst>
          </p:nvPr>
        </p:nvSpPr>
        <p:spPr>
          <a:xfrm>
            <a:off x="1463675" y="5320030"/>
            <a:ext cx="2133600" cy="18415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dirty="0">
                <a:solidFill>
                  <a:srgbClr val="444444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审计日志虽开启，但“没人看”</a:t>
            </a:r>
            <a:endParaRPr lang="en-US" sz="1200" dirty="0">
              <a:solidFill>
                <a:srgbClr val="444444"/>
              </a:solidFill>
              <a:latin typeface="思源黑体 CN" pitchFamily="34" charset="0"/>
              <a:ea typeface="思源黑体 CN" pitchFamily="34" charset="-122"/>
              <a:cs typeface="思源黑体 CN" pitchFamily="34" charset="-120"/>
            </a:endParaRPr>
          </a:p>
        </p:txBody>
      </p:sp>
      <p:pic>
        <p:nvPicPr>
          <p:cNvPr id="27" name="Image 13" descr="preencoded.png"/>
          <p:cNvPicPr>
            <a:picLocks noChangeAspect="1"/>
          </p:cNvPicPr>
          <p:nvPr>
            <p:custDataLst>
              <p:tags r:id="rId29"/>
            </p:custDataLst>
          </p:nvPr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217920" y="4831080"/>
            <a:ext cx="5364480" cy="80772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pic>
        <p:nvPicPr>
          <p:cNvPr id="28" name="Image 14" descr="https://test.web.static.jianzeppt.com/ppt-temp-img3/02501072d4f0f3c5590182f635d42169.png?x-oss-process=image/resize,w_1440,h_800,m_lfit/format,png"/>
          <p:cNvPicPr>
            <a:picLocks noChangeAspect="1"/>
          </p:cNvPicPr>
          <p:nvPr>
            <p:custDataLst>
              <p:tags r:id="rId30"/>
            </p:custDataLst>
          </p:nvPr>
        </p:nvPicPr>
        <p:blipFill>
          <a:blip r:embed="rId15"/>
          <a:stretch>
            <a:fillRect/>
          </a:stretch>
        </p:blipFill>
        <p:spPr>
          <a:xfrm>
            <a:off x="6477000" y="4907280"/>
            <a:ext cx="426720" cy="426720"/>
          </a:xfrm>
          <a:prstGeom prst="rect">
            <a:avLst/>
          </a:prstGeom>
        </p:spPr>
      </p:pic>
      <p:sp>
        <p:nvSpPr>
          <p:cNvPr id="29" name="Text 12"/>
          <p:cNvSpPr/>
          <p:nvPr>
            <p:custDataLst>
              <p:tags r:id="rId31"/>
            </p:custDataLst>
          </p:nvPr>
        </p:nvSpPr>
        <p:spPr>
          <a:xfrm>
            <a:off x="6568440" y="4968240"/>
            <a:ext cx="26822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80" b="1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04</a:t>
            </a:r>
            <a:endParaRPr lang="en-US" sz="1680" dirty="0"/>
          </a:p>
        </p:txBody>
      </p:sp>
      <p:sp>
        <p:nvSpPr>
          <p:cNvPr id="30" name="Text 13"/>
          <p:cNvSpPr/>
          <p:nvPr>
            <p:custDataLst>
              <p:tags r:id="rId32"/>
            </p:custDataLst>
          </p:nvPr>
        </p:nvSpPr>
        <p:spPr>
          <a:xfrm>
            <a:off x="7056120" y="4892040"/>
            <a:ext cx="1021080" cy="461645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000" b="1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补丁管理</a:t>
            </a:r>
            <a:endParaRPr lang="en-US" sz="2000" b="1" dirty="0">
              <a:solidFill>
                <a:srgbClr val="00234E"/>
              </a:solidFill>
              <a:latin typeface="思源黑体 CN Bold" pitchFamily="34" charset="0"/>
              <a:ea typeface="思源黑体 CN Bold" pitchFamily="34" charset="-122"/>
              <a:cs typeface="思源黑体 CN Bold" pitchFamily="34" charset="-120"/>
            </a:endParaRPr>
          </a:p>
        </p:txBody>
      </p:sp>
      <p:sp>
        <p:nvSpPr>
          <p:cNvPr id="31" name="Text 14"/>
          <p:cNvSpPr/>
          <p:nvPr>
            <p:custDataLst>
              <p:tags r:id="rId33"/>
            </p:custDataLst>
          </p:nvPr>
        </p:nvSpPr>
        <p:spPr>
          <a:xfrm>
            <a:off x="7056120" y="5273040"/>
            <a:ext cx="4276344" cy="27686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444444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补丁更新不及时，“怕出问题，能不更新就不更新”</a:t>
            </a:r>
            <a:endParaRPr lang="en-US" sz="1200" dirty="0">
              <a:solidFill>
                <a:srgbClr val="444444"/>
              </a:solidFill>
              <a:latin typeface="思源黑体 CN" pitchFamily="34" charset="0"/>
              <a:ea typeface="思源黑体 CN" pitchFamily="34" charset="-122"/>
              <a:cs typeface="思源黑体 CN" pitchFamily="34" charset="-120"/>
            </a:endParaRPr>
          </a:p>
        </p:txBody>
      </p:sp>
      <p:sp>
        <p:nvSpPr>
          <p:cNvPr id="32" name="Text 15"/>
          <p:cNvSpPr/>
          <p:nvPr/>
        </p:nvSpPr>
        <p:spPr>
          <a:xfrm>
            <a:off x="822497" y="529635"/>
            <a:ext cx="10918068" cy="42648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60" dirty="0">
                <a:solidFill>
                  <a:srgbClr val="1E1E1E"/>
                </a:solidFill>
              </a:rPr>
              <a:t>访谈角色卡——系统管理员</a:t>
            </a:r>
            <a:endParaRPr lang="en-US" sz="276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4">
            <a:alphaModFix amt="5000"/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290560" y="0"/>
            <a:ext cx="3901440" cy="390144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6">
            <a:alphaModFix amt="5000"/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0" y="3931920"/>
            <a:ext cx="2926080" cy="292608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09600" y="1371600"/>
            <a:ext cx="10972800" cy="164592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pic>
        <p:nvPicPr>
          <p:cNvPr id="8" name="Image 6" descr="https://test.web.static.jianzeppt.com/ppt-temp-img3/a2b19965ac16ee6c61d14b7a582e15ae.png?x-oss-process=image/resize,w_1440,h_800,m_lfit/format,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4400" y="1706880"/>
            <a:ext cx="975360" cy="97536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58240" y="1950720"/>
            <a:ext cx="487680" cy="487680"/>
          </a:xfrm>
          <a:prstGeom prst="rect">
            <a:avLst/>
          </a:prstGeom>
        </p:spPr>
      </p:pic>
      <p:sp>
        <p:nvSpPr>
          <p:cNvPr id="10" name="Text 0"/>
          <p:cNvSpPr/>
          <p:nvPr/>
        </p:nvSpPr>
        <p:spPr>
          <a:xfrm>
            <a:off x="2255520" y="1676400"/>
            <a:ext cx="9031224" cy="5029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640" b="1" kern="0" spc="88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角色卡2：安全主管（李四）</a:t>
            </a:r>
            <a:endParaRPr lang="en-US" sz="2640" dirty="0"/>
          </a:p>
        </p:txBody>
      </p:sp>
      <p:sp>
        <p:nvSpPr>
          <p:cNvPr id="11" name="Text 1"/>
          <p:cNvSpPr/>
          <p:nvPr/>
        </p:nvSpPr>
        <p:spPr>
          <a:xfrm>
            <a:off x="2255520" y="2346960"/>
            <a:ext cx="9031224" cy="41148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60" b="1" dirty="0">
                <a:solidFill>
                  <a:srgbClr val="FFFFFF">
                    <a:alpha val="72000"/>
                  </a:srgbClr>
                </a:solidFill>
              </a:rPr>
              <a:t>岗位职责：</a:t>
            </a:r>
            <a:r>
              <a:rPr lang="en-US" sz="2160" dirty="0">
                <a:solidFill>
                  <a:srgbClr val="FFFFFF">
                    <a:alpha val="90000"/>
                  </a:srgbClr>
                </a:solidFill>
              </a:rPr>
              <a:t>负责制定安全管理制度、组织安全培训</a:t>
            </a:r>
            <a:endParaRPr lang="en-US" sz="2160" dirty="0"/>
          </a:p>
        </p:txBody>
      </p:sp>
      <p:pic>
        <p:nvPicPr>
          <p:cNvPr id="12" name="Image 8" descr="preencoded.png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09600" y="3459480"/>
            <a:ext cx="91440" cy="304800"/>
          </a:xfrm>
          <a:prstGeom prst="rect">
            <a:avLst/>
          </a:prstGeom>
        </p:spPr>
      </p:pic>
      <p:sp>
        <p:nvSpPr>
          <p:cNvPr id="13" name="Text 2"/>
          <p:cNvSpPr/>
          <p:nvPr/>
        </p:nvSpPr>
        <p:spPr>
          <a:xfrm>
            <a:off x="822960" y="3383280"/>
            <a:ext cx="4885944" cy="4572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实际执行情况（供角色扮演者参考）</a:t>
            </a:r>
            <a:endParaRPr lang="en-US" sz="2400" dirty="0"/>
          </a:p>
        </p:txBody>
      </p:sp>
      <p:pic>
        <p:nvPicPr>
          <p:cNvPr id="14" name="Image 9" descr="preencoded.png"/>
          <p:cNvPicPr>
            <a:picLocks noChangeAspect="1"/>
          </p:cNvPicPr>
          <p:nvPr>
            <p:custDataLst>
              <p:tags r:id="rId15"/>
            </p:custDataLst>
          </p:nvPr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09600" y="4145280"/>
            <a:ext cx="5364480" cy="929640"/>
          </a:xfrm>
          <a:prstGeom prst="rect">
            <a:avLst/>
          </a:prstGeom>
        </p:spPr>
      </p:pic>
      <p:pic>
        <p:nvPicPr>
          <p:cNvPr id="15" name="Image 10" descr="https://test.web.static.jianzeppt.com/ppt-temp-img3/9e1b52ebf97a50258bbabb7a3b62f523.png?x-oss-process=image/resize,w_1440,h_800,m_lfit/format,png"/>
          <p:cNvPicPr>
            <a:picLocks noChangeAspect="1"/>
          </p:cNvPicPr>
          <p:nvPr>
            <p:custDataLst>
              <p:tags r:id="rId18"/>
            </p:custDataLst>
          </p:nvPr>
        </p:nvPicPr>
        <p:blipFill>
          <a:blip r:embed="rId19"/>
          <a:stretch>
            <a:fillRect/>
          </a:stretch>
        </p:blipFill>
        <p:spPr>
          <a:xfrm>
            <a:off x="868680" y="4267200"/>
            <a:ext cx="365760" cy="365760"/>
          </a:xfrm>
          <a:prstGeom prst="rect">
            <a:avLst/>
          </a:prstGeom>
        </p:spPr>
      </p:pic>
      <p:sp>
        <p:nvSpPr>
          <p:cNvPr id="16" name="Text 3"/>
          <p:cNvSpPr/>
          <p:nvPr>
            <p:custDataLst>
              <p:tags r:id="rId20"/>
            </p:custDataLst>
          </p:nvPr>
        </p:nvSpPr>
        <p:spPr>
          <a:xfrm>
            <a:off x="929640" y="4343400"/>
            <a:ext cx="268224" cy="21336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440" b="1" dirty="0">
                <a:solidFill>
                  <a:srgbClr val="00234E"/>
                </a:solidFill>
              </a:rPr>
              <a:t>01</a:t>
            </a:r>
            <a:endParaRPr lang="en-US" sz="1440" dirty="0"/>
          </a:p>
        </p:txBody>
      </p:sp>
      <p:sp>
        <p:nvSpPr>
          <p:cNvPr id="17" name="Text 4"/>
          <p:cNvSpPr/>
          <p:nvPr>
            <p:custDataLst>
              <p:tags r:id="rId21"/>
            </p:custDataLst>
          </p:nvPr>
        </p:nvSpPr>
        <p:spPr>
          <a:xfrm>
            <a:off x="1356360" y="4251960"/>
            <a:ext cx="1106424" cy="4114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160" b="1" dirty="0">
                <a:solidFill>
                  <a:srgbClr val="1F2937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安全制度</a:t>
            </a:r>
            <a:endParaRPr lang="en-US" sz="2160" dirty="0"/>
          </a:p>
        </p:txBody>
      </p:sp>
      <p:sp>
        <p:nvSpPr>
          <p:cNvPr id="18" name="Text 5"/>
          <p:cNvSpPr/>
          <p:nvPr>
            <p:custDataLst>
              <p:tags r:id="rId22"/>
            </p:custDataLst>
          </p:nvPr>
        </p:nvSpPr>
        <p:spPr>
          <a:xfrm>
            <a:off x="1356360" y="4678680"/>
            <a:ext cx="4367784" cy="35052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63000"/>
              </a:lnSpc>
              <a:buNone/>
            </a:pPr>
            <a:r>
              <a:rPr lang="en-US" sz="1400" dirty="0">
                <a:solidFill>
                  <a:srgbClr val="4B5563"/>
                </a:solidFill>
              </a:rPr>
              <a:t>制度已制定，但</a:t>
            </a:r>
            <a:r>
              <a:rPr lang="en-US" sz="1400" b="1" dirty="0">
                <a:solidFill>
                  <a:srgbClr val="00234E"/>
                </a:solidFill>
              </a:rPr>
              <a:t>“审批流程还没走完”</a:t>
            </a:r>
            <a:r>
              <a:rPr lang="en-US" sz="1400" dirty="0">
                <a:solidFill>
                  <a:srgbClr val="4B5563"/>
                </a:solidFill>
              </a:rPr>
              <a:t>，制度未正式发布。</a:t>
            </a:r>
            <a:endParaRPr lang="en-US" sz="1400" dirty="0">
              <a:solidFill>
                <a:srgbClr val="4B5563"/>
              </a:solidFill>
            </a:endParaRPr>
          </a:p>
        </p:txBody>
      </p:sp>
      <p:pic>
        <p:nvPicPr>
          <p:cNvPr id="19" name="Image 11" descr="https://test.web.static.jianzeppt.com/ppt-temp-img3/5c3429abe8bc7dbe069b7590a6de9fb7.png?x-oss-process=image/resize,w_1440,h_800,m_lfit/format,png"/>
          <p:cNvPicPr>
            <a:picLocks noChangeAspect="1"/>
          </p:cNvPicPr>
          <p:nvPr>
            <p:custDataLst>
              <p:tags r:id="rId23"/>
            </p:custDataLst>
          </p:nvPr>
        </p:nvPicPr>
        <p:blipFill>
          <a:blip r:embed="rId24">
            <a:alphaModFix amt="3000"/>
          </a:blip>
          <a:stretch>
            <a:fillRect/>
          </a:stretch>
        </p:blipFill>
        <p:spPr>
          <a:xfrm>
            <a:off x="4983480" y="4160520"/>
            <a:ext cx="975360" cy="914400"/>
          </a:xfrm>
          <a:prstGeom prst="rect">
            <a:avLst/>
          </a:prstGeom>
        </p:spPr>
      </p:pic>
      <p:pic>
        <p:nvPicPr>
          <p:cNvPr id="20" name="Image 12" descr="preencoded.png"/>
          <p:cNvPicPr>
            <a:picLocks noChangeAspect="1"/>
          </p:cNvPicPr>
          <p:nvPr>
            <p:custDataLst>
              <p:tags r:id="rId25"/>
            </p:custDataLst>
          </p:nvPr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217920" y="4145280"/>
            <a:ext cx="5364480" cy="929640"/>
          </a:xfrm>
          <a:prstGeom prst="rect">
            <a:avLst/>
          </a:prstGeom>
        </p:spPr>
      </p:pic>
      <p:pic>
        <p:nvPicPr>
          <p:cNvPr id="21" name="Image 13" descr="https://test.web.static.jianzeppt.com/ppt-temp-img3/9e1b52ebf97a50258bbabb7a3b62f523.png?x-oss-process=image/resize,w_1440,h_800,m_lfit/format,png"/>
          <p:cNvPicPr>
            <a:picLocks noChangeAspect="1"/>
          </p:cNvPicPr>
          <p:nvPr>
            <p:custDataLst>
              <p:tags r:id="rId26"/>
            </p:custDataLst>
          </p:nvPr>
        </p:nvPicPr>
        <p:blipFill>
          <a:blip r:embed="rId19"/>
          <a:stretch>
            <a:fillRect/>
          </a:stretch>
        </p:blipFill>
        <p:spPr>
          <a:xfrm>
            <a:off x="6477000" y="4267200"/>
            <a:ext cx="365760" cy="365760"/>
          </a:xfrm>
          <a:prstGeom prst="rect">
            <a:avLst/>
          </a:prstGeom>
        </p:spPr>
      </p:pic>
      <p:sp>
        <p:nvSpPr>
          <p:cNvPr id="22" name="Text 6"/>
          <p:cNvSpPr/>
          <p:nvPr>
            <p:custDataLst>
              <p:tags r:id="rId27"/>
            </p:custDataLst>
          </p:nvPr>
        </p:nvSpPr>
        <p:spPr>
          <a:xfrm>
            <a:off x="6537960" y="4343400"/>
            <a:ext cx="268224" cy="21336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440" b="1" dirty="0">
                <a:solidFill>
                  <a:srgbClr val="00234E"/>
                </a:solidFill>
              </a:rPr>
              <a:t>02</a:t>
            </a:r>
            <a:endParaRPr lang="en-US" sz="1440" dirty="0"/>
          </a:p>
        </p:txBody>
      </p:sp>
      <p:sp>
        <p:nvSpPr>
          <p:cNvPr id="23" name="Text 7"/>
          <p:cNvSpPr/>
          <p:nvPr>
            <p:custDataLst>
              <p:tags r:id="rId28"/>
            </p:custDataLst>
          </p:nvPr>
        </p:nvSpPr>
        <p:spPr>
          <a:xfrm>
            <a:off x="6964680" y="4251960"/>
            <a:ext cx="1106424" cy="4114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160" b="1" dirty="0">
                <a:solidFill>
                  <a:srgbClr val="1F2937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安全培训</a:t>
            </a:r>
            <a:endParaRPr lang="en-US" sz="2160" dirty="0"/>
          </a:p>
        </p:txBody>
      </p:sp>
      <p:sp>
        <p:nvSpPr>
          <p:cNvPr id="24" name="Text 8"/>
          <p:cNvSpPr/>
          <p:nvPr>
            <p:custDataLst>
              <p:tags r:id="rId29"/>
            </p:custDataLst>
          </p:nvPr>
        </p:nvSpPr>
        <p:spPr>
          <a:xfrm>
            <a:off x="6964680" y="4678680"/>
            <a:ext cx="4367784" cy="35052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63000"/>
              </a:lnSpc>
              <a:buNone/>
            </a:pPr>
            <a:r>
              <a:rPr lang="en-US" sz="1400" dirty="0">
                <a:solidFill>
                  <a:srgbClr val="4B5563"/>
                </a:solidFill>
              </a:rPr>
              <a:t>今年只进行了一次全员培训，且</a:t>
            </a:r>
            <a:r>
              <a:rPr lang="en-US" sz="1400" b="1" dirty="0">
                <a:solidFill>
                  <a:srgbClr val="00234E"/>
                </a:solidFill>
              </a:rPr>
              <a:t>“走过场”</a:t>
            </a:r>
            <a:r>
              <a:rPr lang="en-US" sz="1400" dirty="0">
                <a:solidFill>
                  <a:srgbClr val="4B5563"/>
                </a:solidFill>
              </a:rPr>
              <a:t>，未考核。</a:t>
            </a:r>
            <a:endParaRPr lang="en-US" sz="1400" dirty="0">
              <a:solidFill>
                <a:srgbClr val="4B5563"/>
              </a:solidFill>
            </a:endParaRPr>
          </a:p>
        </p:txBody>
      </p:sp>
      <p:pic>
        <p:nvPicPr>
          <p:cNvPr id="25" name="Image 14" descr="https://test.web.static.jianzeppt.com/ppt-temp-img3/67dec104659d6e2732f851b40bed878e.png?x-oss-process=image/resize,w_1440,h_800,m_lfit/format,png"/>
          <p:cNvPicPr>
            <a:picLocks noChangeAspect="1"/>
          </p:cNvPicPr>
          <p:nvPr>
            <p:custDataLst>
              <p:tags r:id="rId30"/>
            </p:custDataLst>
          </p:nvPr>
        </p:nvPicPr>
        <p:blipFill>
          <a:blip r:embed="rId24">
            <a:alphaModFix amt="3000"/>
          </a:blip>
          <a:stretch>
            <a:fillRect/>
          </a:stretch>
        </p:blipFill>
        <p:spPr>
          <a:xfrm>
            <a:off x="10591800" y="4160520"/>
            <a:ext cx="975360" cy="914400"/>
          </a:xfrm>
          <a:prstGeom prst="rect">
            <a:avLst/>
          </a:prstGeom>
        </p:spPr>
      </p:pic>
      <p:pic>
        <p:nvPicPr>
          <p:cNvPr id="26" name="Image 15" descr="preencoded.png"/>
          <p:cNvPicPr>
            <a:picLocks noChangeAspect="1"/>
          </p:cNvPicPr>
          <p:nvPr>
            <p:custDataLst>
              <p:tags r:id="rId31"/>
            </p:custDataLst>
          </p:nvPr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09600" y="5318760"/>
            <a:ext cx="5364480" cy="929640"/>
          </a:xfrm>
          <a:prstGeom prst="rect">
            <a:avLst/>
          </a:prstGeom>
        </p:spPr>
      </p:pic>
      <p:pic>
        <p:nvPicPr>
          <p:cNvPr id="27" name="Image 16" descr="https://test.web.static.jianzeppt.com/ppt-temp-img3/9e1b52ebf97a50258bbabb7a3b62f523.png?x-oss-process=image/resize,w_1440,h_800,m_lfit/format,png"/>
          <p:cNvPicPr>
            <a:picLocks noChangeAspect="1"/>
          </p:cNvPicPr>
          <p:nvPr>
            <p:custDataLst>
              <p:tags r:id="rId32"/>
            </p:custDataLst>
          </p:nvPr>
        </p:nvPicPr>
        <p:blipFill>
          <a:blip r:embed="rId19"/>
          <a:stretch>
            <a:fillRect/>
          </a:stretch>
        </p:blipFill>
        <p:spPr>
          <a:xfrm>
            <a:off x="868680" y="5471160"/>
            <a:ext cx="365760" cy="365760"/>
          </a:xfrm>
          <a:prstGeom prst="rect">
            <a:avLst/>
          </a:prstGeom>
        </p:spPr>
      </p:pic>
      <p:sp>
        <p:nvSpPr>
          <p:cNvPr id="28" name="Text 9"/>
          <p:cNvSpPr/>
          <p:nvPr>
            <p:custDataLst>
              <p:tags r:id="rId33"/>
            </p:custDataLst>
          </p:nvPr>
        </p:nvSpPr>
        <p:spPr>
          <a:xfrm>
            <a:off x="929640" y="5547360"/>
            <a:ext cx="268224" cy="21336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440" b="1" dirty="0">
                <a:solidFill>
                  <a:srgbClr val="00234E"/>
                </a:solidFill>
              </a:rPr>
              <a:t>03</a:t>
            </a:r>
            <a:endParaRPr lang="en-US" sz="1440" dirty="0"/>
          </a:p>
        </p:txBody>
      </p:sp>
      <p:sp>
        <p:nvSpPr>
          <p:cNvPr id="29" name="Text 10"/>
          <p:cNvSpPr/>
          <p:nvPr>
            <p:custDataLst>
              <p:tags r:id="rId34"/>
            </p:custDataLst>
          </p:nvPr>
        </p:nvSpPr>
        <p:spPr>
          <a:xfrm>
            <a:off x="1356360" y="5440680"/>
            <a:ext cx="1106424" cy="4114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160" b="1" dirty="0">
                <a:solidFill>
                  <a:srgbClr val="1F2937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应急预案</a:t>
            </a:r>
            <a:endParaRPr lang="en-US" sz="2160" dirty="0"/>
          </a:p>
        </p:txBody>
      </p:sp>
      <p:sp>
        <p:nvSpPr>
          <p:cNvPr id="30" name="Text 11"/>
          <p:cNvSpPr/>
          <p:nvPr>
            <p:custDataLst>
              <p:tags r:id="rId35"/>
            </p:custDataLst>
          </p:nvPr>
        </p:nvSpPr>
        <p:spPr>
          <a:xfrm>
            <a:off x="1356360" y="5897880"/>
            <a:ext cx="4367784" cy="35052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63000"/>
              </a:lnSpc>
              <a:buNone/>
            </a:pPr>
            <a:r>
              <a:rPr lang="en-US" sz="1400" dirty="0">
                <a:solidFill>
                  <a:srgbClr val="4B5563"/>
                </a:solidFill>
              </a:rPr>
              <a:t>预案已制定，但</a:t>
            </a:r>
            <a:r>
              <a:rPr lang="en-US" sz="1400" b="1" dirty="0">
                <a:solidFill>
                  <a:srgbClr val="00234E"/>
                </a:solidFill>
              </a:rPr>
              <a:t>“从未演练过”</a:t>
            </a:r>
            <a:r>
              <a:rPr lang="en-US" sz="1400" dirty="0">
                <a:solidFill>
                  <a:srgbClr val="4B5563"/>
                </a:solidFill>
              </a:rPr>
              <a:t>。</a:t>
            </a:r>
            <a:endParaRPr lang="en-US" sz="1400" dirty="0">
              <a:solidFill>
                <a:srgbClr val="4B5563"/>
              </a:solidFill>
            </a:endParaRPr>
          </a:p>
        </p:txBody>
      </p:sp>
      <p:pic>
        <p:nvPicPr>
          <p:cNvPr id="31" name="Image 17" descr="https://test.web.static.jianzeppt.com/ppt-temp-img3/356accf4f16bfbd630b25041d356770a.png?x-oss-process=image/resize,w_1440,h_800,m_lfit/format,png"/>
          <p:cNvPicPr>
            <a:picLocks noChangeAspect="1"/>
          </p:cNvPicPr>
          <p:nvPr>
            <p:custDataLst>
              <p:tags r:id="rId36"/>
            </p:custDataLst>
          </p:nvPr>
        </p:nvPicPr>
        <p:blipFill>
          <a:blip r:embed="rId24">
            <a:alphaModFix amt="3000"/>
          </a:blip>
          <a:stretch>
            <a:fillRect/>
          </a:stretch>
        </p:blipFill>
        <p:spPr>
          <a:xfrm>
            <a:off x="4983480" y="5334000"/>
            <a:ext cx="975360" cy="914400"/>
          </a:xfrm>
          <a:prstGeom prst="rect">
            <a:avLst/>
          </a:prstGeom>
        </p:spPr>
      </p:pic>
      <p:pic>
        <p:nvPicPr>
          <p:cNvPr id="32" name="Image 18" descr="preencoded.png"/>
          <p:cNvPicPr>
            <a:picLocks noChangeAspect="1"/>
          </p:cNvPicPr>
          <p:nvPr>
            <p:custDataLst>
              <p:tags r:id="rId37"/>
            </p:custDataLst>
          </p:nvPr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217920" y="5318760"/>
            <a:ext cx="5364480" cy="929640"/>
          </a:xfrm>
          <a:prstGeom prst="rect">
            <a:avLst/>
          </a:prstGeom>
        </p:spPr>
      </p:pic>
      <p:pic>
        <p:nvPicPr>
          <p:cNvPr id="33" name="Image 19" descr="https://test.web.static.jianzeppt.com/ppt-temp-img3/9e1b52ebf97a50258bbabb7a3b62f523.png?x-oss-process=image/resize,w_1440,h_800,m_lfit/format,png"/>
          <p:cNvPicPr>
            <a:picLocks noChangeAspect="1"/>
          </p:cNvPicPr>
          <p:nvPr>
            <p:custDataLst>
              <p:tags r:id="rId38"/>
            </p:custDataLst>
          </p:nvPr>
        </p:nvPicPr>
        <p:blipFill>
          <a:blip r:embed="rId19"/>
          <a:stretch>
            <a:fillRect/>
          </a:stretch>
        </p:blipFill>
        <p:spPr>
          <a:xfrm>
            <a:off x="6477000" y="5471160"/>
            <a:ext cx="365760" cy="365760"/>
          </a:xfrm>
          <a:prstGeom prst="rect">
            <a:avLst/>
          </a:prstGeom>
        </p:spPr>
      </p:pic>
      <p:sp>
        <p:nvSpPr>
          <p:cNvPr id="34" name="Text 12"/>
          <p:cNvSpPr/>
          <p:nvPr>
            <p:custDataLst>
              <p:tags r:id="rId39"/>
            </p:custDataLst>
          </p:nvPr>
        </p:nvSpPr>
        <p:spPr>
          <a:xfrm>
            <a:off x="6537960" y="5547360"/>
            <a:ext cx="268224" cy="21336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440" b="1" dirty="0">
                <a:solidFill>
                  <a:srgbClr val="00234E"/>
                </a:solidFill>
              </a:rPr>
              <a:t>04</a:t>
            </a:r>
            <a:endParaRPr lang="en-US" sz="1440" dirty="0"/>
          </a:p>
        </p:txBody>
      </p:sp>
      <p:sp>
        <p:nvSpPr>
          <p:cNvPr id="35" name="Text 13"/>
          <p:cNvSpPr/>
          <p:nvPr>
            <p:custDataLst>
              <p:tags r:id="rId40"/>
            </p:custDataLst>
          </p:nvPr>
        </p:nvSpPr>
        <p:spPr>
          <a:xfrm>
            <a:off x="6964680" y="5440680"/>
            <a:ext cx="1106424" cy="4114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160" b="1" dirty="0">
                <a:solidFill>
                  <a:srgbClr val="1F2937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风险评估</a:t>
            </a:r>
            <a:endParaRPr lang="en-US" sz="2160" dirty="0"/>
          </a:p>
        </p:txBody>
      </p:sp>
      <p:sp>
        <p:nvSpPr>
          <p:cNvPr id="36" name="Text 14"/>
          <p:cNvSpPr/>
          <p:nvPr>
            <p:custDataLst>
              <p:tags r:id="rId41"/>
            </p:custDataLst>
          </p:nvPr>
        </p:nvSpPr>
        <p:spPr>
          <a:xfrm>
            <a:off x="6964680" y="5866130"/>
            <a:ext cx="4367784" cy="35052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63000"/>
              </a:lnSpc>
              <a:buNone/>
            </a:pPr>
            <a:r>
              <a:rPr lang="en-US" sz="1400" dirty="0">
                <a:solidFill>
                  <a:srgbClr val="4B5563"/>
                </a:solidFill>
              </a:rPr>
              <a:t>未定期开展，</a:t>
            </a:r>
            <a:r>
              <a:rPr lang="en-US" sz="1400" b="1" dirty="0">
                <a:solidFill>
                  <a:srgbClr val="00234E"/>
                </a:solidFill>
              </a:rPr>
              <a:t>“没人懂”</a:t>
            </a:r>
            <a:r>
              <a:rPr lang="en-US" sz="1400" dirty="0">
                <a:solidFill>
                  <a:srgbClr val="4B5563"/>
                </a:solidFill>
              </a:rPr>
              <a:t>如何做。</a:t>
            </a:r>
            <a:endParaRPr lang="en-US" sz="1400" dirty="0">
              <a:solidFill>
                <a:srgbClr val="4B5563"/>
              </a:solidFill>
            </a:endParaRPr>
          </a:p>
        </p:txBody>
      </p:sp>
      <p:pic>
        <p:nvPicPr>
          <p:cNvPr id="37" name="Image 20" descr="https://test.web.static.jianzeppt.com/ppt-temp-img3/84528c01f2d2b8a6634e558224e83e94.png?x-oss-process=image/resize,w_1440,h_800,m_lfit/format,png"/>
          <p:cNvPicPr>
            <a:picLocks noChangeAspect="1"/>
          </p:cNvPicPr>
          <p:nvPr>
            <p:custDataLst>
              <p:tags r:id="rId42"/>
            </p:custDataLst>
          </p:nvPr>
        </p:nvPicPr>
        <p:blipFill>
          <a:blip r:embed="rId24">
            <a:alphaModFix amt="3000"/>
          </a:blip>
          <a:stretch>
            <a:fillRect/>
          </a:stretch>
        </p:blipFill>
        <p:spPr>
          <a:xfrm>
            <a:off x="10591800" y="5334000"/>
            <a:ext cx="975360" cy="914400"/>
          </a:xfrm>
          <a:prstGeom prst="rect">
            <a:avLst/>
          </a:prstGeom>
        </p:spPr>
      </p:pic>
      <p:sp>
        <p:nvSpPr>
          <p:cNvPr id="38" name="Text 15"/>
          <p:cNvSpPr/>
          <p:nvPr/>
        </p:nvSpPr>
        <p:spPr>
          <a:xfrm>
            <a:off x="822497" y="529635"/>
            <a:ext cx="10918068" cy="42648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60" dirty="0">
                <a:solidFill>
                  <a:srgbClr val="1E1E1E"/>
                </a:solidFill>
              </a:rPr>
              <a:t>访谈角色卡——安全主管</a:t>
            </a:r>
            <a:endParaRPr lang="en-US" sz="276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pic>
        <p:nvPicPr>
          <p:cNvPr id="5" name="Image 3" descr="https://test.web.static.jianzeppt.com/ppt-temp-img3/e38b87c68ff3f765c168884144a4c08e.png?x-oss-process=image/resize,w_1440,h_800,m_lfit/format,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1371600"/>
            <a:ext cx="10972800" cy="16764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29640" y="1722120"/>
            <a:ext cx="975360" cy="97536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3480" y="1965960"/>
            <a:ext cx="487680" cy="487680"/>
          </a:xfrm>
          <a:prstGeom prst="rect">
            <a:avLst/>
          </a:prstGeom>
        </p:spPr>
      </p:pic>
      <p:sp>
        <p:nvSpPr>
          <p:cNvPr id="8" name="Text 0"/>
          <p:cNvSpPr/>
          <p:nvPr/>
        </p:nvSpPr>
        <p:spPr>
          <a:xfrm>
            <a:off x="2209800" y="1691640"/>
            <a:ext cx="5327904" cy="5029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640" b="1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角色卡3：普通员工（王五）</a:t>
            </a:r>
            <a:endParaRPr lang="en-US" sz="2640" dirty="0"/>
          </a:p>
        </p:txBody>
      </p:sp>
      <p:sp>
        <p:nvSpPr>
          <p:cNvPr id="9" name="Text 1"/>
          <p:cNvSpPr/>
          <p:nvPr/>
        </p:nvSpPr>
        <p:spPr>
          <a:xfrm>
            <a:off x="2209800" y="2316480"/>
            <a:ext cx="5327904" cy="4114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60" dirty="0">
                <a:solidFill>
                  <a:srgbClr val="555555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岗位：业务部门普通员工，使用OA系统办公</a:t>
            </a:r>
            <a:endParaRPr lang="en-US" sz="2160" dirty="0"/>
          </a:p>
        </p:txBody>
      </p:sp>
      <p:sp>
        <p:nvSpPr>
          <p:cNvPr id="10" name="Text 2"/>
          <p:cNvSpPr/>
          <p:nvPr/>
        </p:nvSpPr>
        <p:spPr>
          <a:xfrm>
            <a:off x="609600" y="3352800"/>
            <a:ext cx="10981944" cy="4114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60" b="1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实际执行情况（供角色扮演者参考）：</a:t>
            </a:r>
            <a:endParaRPr lang="en-US" sz="2160" dirty="0"/>
          </a:p>
        </p:txBody>
      </p:sp>
      <p:pic>
        <p:nvPicPr>
          <p:cNvPr id="11" name="Image 6" descr="https://test.web.static.jianzeppt.com/ppt-temp-img3/732e7cb6e3a1d6ad4a7f7270a0330efb.png?x-oss-process=image/resize,w_1440,h_800,m_lfit/format,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9600" y="3947160"/>
            <a:ext cx="5364480" cy="1036320"/>
          </a:xfrm>
          <a:prstGeom prst="rect">
            <a:avLst/>
          </a:prstGeom>
        </p:spPr>
      </p:pic>
      <p:pic>
        <p:nvPicPr>
          <p:cNvPr id="12" name="Image 7" descr="preencoded.png"/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868680" y="4099560"/>
            <a:ext cx="426720" cy="426720"/>
          </a:xfrm>
          <a:prstGeom prst="rect">
            <a:avLst/>
          </a:prstGeom>
        </p:spPr>
      </p:pic>
      <p:sp>
        <p:nvSpPr>
          <p:cNvPr id="13" name="Text 3"/>
          <p:cNvSpPr/>
          <p:nvPr/>
        </p:nvSpPr>
        <p:spPr>
          <a:xfrm>
            <a:off x="960120" y="4145280"/>
            <a:ext cx="26822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8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01</a:t>
            </a:r>
            <a:endParaRPr lang="en-US" sz="1680" dirty="0"/>
          </a:p>
        </p:txBody>
      </p:sp>
      <p:sp>
        <p:nvSpPr>
          <p:cNvPr id="14" name="Text 4"/>
          <p:cNvSpPr/>
          <p:nvPr/>
        </p:nvSpPr>
        <p:spPr>
          <a:xfrm>
            <a:off x="1417320" y="4099560"/>
            <a:ext cx="1106424" cy="4114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60" b="1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安全意识</a:t>
            </a:r>
            <a:endParaRPr lang="en-US" sz="2160" dirty="0"/>
          </a:p>
        </p:txBody>
      </p:sp>
      <p:sp>
        <p:nvSpPr>
          <p:cNvPr id="15" name="Text 5"/>
          <p:cNvSpPr/>
          <p:nvPr/>
        </p:nvSpPr>
        <p:spPr>
          <a:xfrm>
            <a:off x="868680" y="4526280"/>
            <a:ext cx="4855464" cy="4038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63000"/>
              </a:lnSpc>
              <a:buNone/>
            </a:pPr>
            <a:r>
              <a:rPr lang="en-US" sz="1920" dirty="0">
                <a:solidFill>
                  <a:srgbClr val="555555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不太清楚安全制度的具体内容</a:t>
            </a:r>
            <a:endParaRPr lang="en-US" sz="1920" dirty="0"/>
          </a:p>
        </p:txBody>
      </p:sp>
      <p:pic>
        <p:nvPicPr>
          <p:cNvPr id="16" name="Image 8" descr="https://test.web.static.jianzeppt.com/ppt-temp-img3/732e7cb6e3a1d6ad4a7f7270a0330efb.png?x-oss-process=image/resize,w_1440,h_800,m_lfit/format,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17920" y="3947160"/>
            <a:ext cx="5364480" cy="1036320"/>
          </a:xfrm>
          <a:prstGeom prst="rect">
            <a:avLst/>
          </a:prstGeom>
        </p:spPr>
      </p:pic>
      <p:pic>
        <p:nvPicPr>
          <p:cNvPr id="17" name="Image 9" descr="preencoded.png"/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477000" y="4099560"/>
            <a:ext cx="426720" cy="426720"/>
          </a:xfrm>
          <a:prstGeom prst="rect">
            <a:avLst/>
          </a:prstGeom>
        </p:spPr>
      </p:pic>
      <p:sp>
        <p:nvSpPr>
          <p:cNvPr id="18" name="Text 6"/>
          <p:cNvSpPr/>
          <p:nvPr/>
        </p:nvSpPr>
        <p:spPr>
          <a:xfrm>
            <a:off x="6568440" y="4145280"/>
            <a:ext cx="26822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8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02</a:t>
            </a:r>
            <a:endParaRPr lang="en-US" sz="1680" dirty="0"/>
          </a:p>
        </p:txBody>
      </p:sp>
      <p:sp>
        <p:nvSpPr>
          <p:cNvPr id="19" name="Text 7"/>
          <p:cNvSpPr/>
          <p:nvPr/>
        </p:nvSpPr>
        <p:spPr>
          <a:xfrm>
            <a:off x="7025640" y="4099560"/>
            <a:ext cx="1106424" cy="4114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60" b="1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安全培训</a:t>
            </a:r>
            <a:endParaRPr lang="en-US" sz="2160" dirty="0"/>
          </a:p>
        </p:txBody>
      </p:sp>
      <p:sp>
        <p:nvSpPr>
          <p:cNvPr id="20" name="Text 8"/>
          <p:cNvSpPr/>
          <p:nvPr/>
        </p:nvSpPr>
        <p:spPr>
          <a:xfrm>
            <a:off x="6477000" y="4526280"/>
            <a:ext cx="4855464" cy="4038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63000"/>
              </a:lnSpc>
              <a:buNone/>
            </a:pPr>
            <a:r>
              <a:rPr lang="en-US" sz="1920" dirty="0">
                <a:solidFill>
                  <a:srgbClr val="555555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参加过1次培训，“没太听懂”</a:t>
            </a:r>
            <a:endParaRPr lang="en-US" sz="1920" dirty="0"/>
          </a:p>
        </p:txBody>
      </p:sp>
      <p:pic>
        <p:nvPicPr>
          <p:cNvPr id="21" name="Image 10" descr="https://test.web.static.jianzeppt.com/ppt-temp-img3/732e7cb6e3a1d6ad4a7f7270a0330efb.png?x-oss-process=image/resize,w_1440,h_800,m_lfit/format,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9600" y="5227320"/>
            <a:ext cx="5364480" cy="1036320"/>
          </a:xfrm>
          <a:prstGeom prst="rect">
            <a:avLst/>
          </a:prstGeom>
        </p:spPr>
      </p:pic>
      <p:pic>
        <p:nvPicPr>
          <p:cNvPr id="22" name="Image 11" descr="preencoded.png"/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868680" y="5364480"/>
            <a:ext cx="426720" cy="426720"/>
          </a:xfrm>
          <a:prstGeom prst="rect">
            <a:avLst/>
          </a:prstGeom>
        </p:spPr>
      </p:pic>
      <p:sp>
        <p:nvSpPr>
          <p:cNvPr id="23" name="Text 9"/>
          <p:cNvSpPr/>
          <p:nvPr/>
        </p:nvSpPr>
        <p:spPr>
          <a:xfrm>
            <a:off x="960120" y="5425440"/>
            <a:ext cx="26822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8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03</a:t>
            </a:r>
            <a:endParaRPr lang="en-US" sz="1680" dirty="0"/>
          </a:p>
        </p:txBody>
      </p:sp>
      <p:sp>
        <p:nvSpPr>
          <p:cNvPr id="24" name="Text 10"/>
          <p:cNvSpPr/>
          <p:nvPr/>
        </p:nvSpPr>
        <p:spPr>
          <a:xfrm>
            <a:off x="1417320" y="5379720"/>
            <a:ext cx="1106424" cy="4114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60" b="1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密码管理</a:t>
            </a:r>
            <a:endParaRPr lang="en-US" sz="2160" dirty="0"/>
          </a:p>
        </p:txBody>
      </p:sp>
      <p:sp>
        <p:nvSpPr>
          <p:cNvPr id="25" name="Text 11"/>
          <p:cNvSpPr/>
          <p:nvPr/>
        </p:nvSpPr>
        <p:spPr>
          <a:xfrm>
            <a:off x="868680" y="5806440"/>
            <a:ext cx="4901184" cy="4038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63000"/>
              </a:lnSpc>
              <a:buNone/>
            </a:pPr>
            <a:r>
              <a:rPr lang="en-US" sz="1920" dirty="0">
                <a:solidFill>
                  <a:srgbClr val="555555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使用“生日+姓名首字母”作为密码，“好记”</a:t>
            </a:r>
            <a:endParaRPr lang="en-US" sz="1920" dirty="0"/>
          </a:p>
        </p:txBody>
      </p:sp>
      <p:pic>
        <p:nvPicPr>
          <p:cNvPr id="26" name="Image 12" descr="https://test.web.static.jianzeppt.com/ppt-temp-img3/732e7cb6e3a1d6ad4a7f7270a0330efb.png?x-oss-process=image/resize,w_1440,h_800,m_lfit/format,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17920" y="5227320"/>
            <a:ext cx="5364480" cy="1036320"/>
          </a:xfrm>
          <a:prstGeom prst="rect">
            <a:avLst/>
          </a:prstGeom>
        </p:spPr>
      </p:pic>
      <p:pic>
        <p:nvPicPr>
          <p:cNvPr id="27" name="Image 13" descr="preencoded.png"/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477000" y="5364480"/>
            <a:ext cx="426720" cy="426720"/>
          </a:xfrm>
          <a:prstGeom prst="rect">
            <a:avLst/>
          </a:prstGeom>
        </p:spPr>
      </p:pic>
      <p:sp>
        <p:nvSpPr>
          <p:cNvPr id="28" name="Text 12"/>
          <p:cNvSpPr/>
          <p:nvPr/>
        </p:nvSpPr>
        <p:spPr>
          <a:xfrm>
            <a:off x="6568440" y="5425440"/>
            <a:ext cx="26822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8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04</a:t>
            </a:r>
            <a:endParaRPr lang="en-US" sz="1680" dirty="0"/>
          </a:p>
        </p:txBody>
      </p:sp>
      <p:sp>
        <p:nvSpPr>
          <p:cNvPr id="29" name="Text 13"/>
          <p:cNvSpPr/>
          <p:nvPr/>
        </p:nvSpPr>
        <p:spPr>
          <a:xfrm>
            <a:off x="7025640" y="5379720"/>
            <a:ext cx="1106424" cy="4114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60" b="1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安全事件</a:t>
            </a:r>
            <a:endParaRPr lang="en-US" sz="2160" dirty="0"/>
          </a:p>
        </p:txBody>
      </p:sp>
      <p:sp>
        <p:nvSpPr>
          <p:cNvPr id="30" name="Text 14"/>
          <p:cNvSpPr/>
          <p:nvPr/>
        </p:nvSpPr>
        <p:spPr>
          <a:xfrm>
            <a:off x="6477000" y="5806440"/>
            <a:ext cx="4855464" cy="4038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63000"/>
              </a:lnSpc>
              <a:buNone/>
            </a:pPr>
            <a:r>
              <a:rPr lang="en-US" sz="1920" dirty="0">
                <a:solidFill>
                  <a:srgbClr val="555555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曾经收到过可疑邮件，“没多想就点了”附件</a:t>
            </a:r>
            <a:endParaRPr lang="en-US" sz="1920" dirty="0"/>
          </a:p>
        </p:txBody>
      </p:sp>
      <p:sp>
        <p:nvSpPr>
          <p:cNvPr id="31" name="Text 15"/>
          <p:cNvSpPr/>
          <p:nvPr/>
        </p:nvSpPr>
        <p:spPr>
          <a:xfrm>
            <a:off x="822497" y="529635"/>
            <a:ext cx="10918068" cy="42648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60" dirty="0">
                <a:solidFill>
                  <a:srgbClr val="1E1E1E"/>
                </a:solidFill>
              </a:rPr>
              <a:t>访谈角色卡——普通员工</a:t>
            </a:r>
            <a:endParaRPr lang="en-US" sz="276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792480" y="1676400"/>
            <a:ext cx="1365504" cy="5029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640" b="1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任务内容</a:t>
            </a:r>
            <a:endParaRPr lang="en-US" sz="2640" dirty="0"/>
          </a:p>
        </p:txBody>
      </p:sp>
      <p:pic>
        <p:nvPicPr>
          <p:cNvPr id="6" name="Image 3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600" y="1676400"/>
            <a:ext cx="60960" cy="487680"/>
          </a:xfrm>
          <a:prstGeom prst="rect">
            <a:avLst/>
          </a:prstGeom>
        </p:spPr>
      </p:pic>
      <p:pic>
        <p:nvPicPr>
          <p:cNvPr id="7" name="Image 4" descr="preencoded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160520" y="1371600"/>
            <a:ext cx="7437120" cy="487680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pic>
        <p:nvPicPr>
          <p:cNvPr id="8" name="Image 5" descr="preencoded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191000" y="1402080"/>
            <a:ext cx="7376160" cy="762000"/>
          </a:xfrm>
          <a:prstGeom prst="rect">
            <a:avLst/>
          </a:prstGeom>
        </p:spPr>
      </p:pic>
      <p:sp>
        <p:nvSpPr>
          <p:cNvPr id="9" name="Text 1"/>
          <p:cNvSpPr/>
          <p:nvPr/>
        </p:nvSpPr>
        <p:spPr>
          <a:xfrm>
            <a:off x="6111240" y="1554480"/>
            <a:ext cx="3529584" cy="4572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2400" b="1" kern="0" spc="160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《人员访谈记录表》模板</a:t>
            </a:r>
            <a:endParaRPr lang="en-US" sz="2400" dirty="0"/>
          </a:p>
        </p:txBody>
      </p:sp>
      <p:pic>
        <p:nvPicPr>
          <p:cNvPr id="10" name="Image 6" descr="https://test.web.static.jianzeppt.com/ppt-temp-img3/490f6093a3cd681e53114db30d197de5.png?x-oss-process=image/resize,w_1440,h_800,m_lfit/format,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191000" y="2164080"/>
            <a:ext cx="1524000" cy="609600"/>
          </a:xfrm>
          <a:prstGeom prst="rect">
            <a:avLst/>
          </a:prstGeom>
        </p:spPr>
      </p:pic>
      <p:sp>
        <p:nvSpPr>
          <p:cNvPr id="11" name="Text 2"/>
          <p:cNvSpPr/>
          <p:nvPr/>
        </p:nvSpPr>
        <p:spPr>
          <a:xfrm>
            <a:off x="4328160" y="2316480"/>
            <a:ext cx="1243584" cy="28956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920" b="1" dirty="0">
                <a:solidFill>
                  <a:srgbClr val="333333"/>
                </a:solidFill>
              </a:rPr>
              <a:t>受访人姓名</a:t>
            </a:r>
            <a:endParaRPr lang="en-US" sz="1920" dirty="0"/>
          </a:p>
        </p:txBody>
      </p:sp>
      <p:pic>
        <p:nvPicPr>
          <p:cNvPr id="12" name="Image 7" descr="https://test.web.static.jianzeppt.com/ppt-temp-img3/4ceb0b46b5bb8e0b0b7fddf7bfaf910f.png?x-oss-process=image/resize,w_1440,h_800,m_lfit/format,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696255" y="2164080"/>
            <a:ext cx="15240" cy="609600"/>
          </a:xfrm>
          <a:prstGeom prst="rect">
            <a:avLst/>
          </a:prstGeom>
        </p:spPr>
      </p:pic>
      <p:pic>
        <p:nvPicPr>
          <p:cNvPr id="13" name="Image 8" descr="https://test.web.static.jianzeppt.com/ppt-temp-img3/4ceb0b46b5bb8e0b0b7fddf7bfaf910f.png?x-oss-process=image/resize,w_1440,h_800,m_lfit/format,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391" y="2164080"/>
            <a:ext cx="15240" cy="609600"/>
          </a:xfrm>
          <a:prstGeom prst="rect">
            <a:avLst/>
          </a:prstGeom>
        </p:spPr>
      </p:pic>
      <p:pic>
        <p:nvPicPr>
          <p:cNvPr id="14" name="Image 9" descr="https://test.web.static.jianzeppt.com/ppt-temp-img3/490f6093a3cd681e53114db30d197de5.png?x-oss-process=image/resize,w_1440,h_800,m_lfit/format,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63840" y="2164080"/>
            <a:ext cx="1524000" cy="609600"/>
          </a:xfrm>
          <a:prstGeom prst="rect">
            <a:avLst/>
          </a:prstGeom>
        </p:spPr>
      </p:pic>
      <p:sp>
        <p:nvSpPr>
          <p:cNvPr id="15" name="Text 3"/>
          <p:cNvSpPr/>
          <p:nvPr/>
        </p:nvSpPr>
        <p:spPr>
          <a:xfrm>
            <a:off x="8016240" y="2316480"/>
            <a:ext cx="1243584" cy="28956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920" b="1" dirty="0">
                <a:solidFill>
                  <a:srgbClr val="333333"/>
                </a:solidFill>
              </a:rPr>
              <a:t>受访人岗位</a:t>
            </a:r>
            <a:endParaRPr lang="en-US" sz="1920" dirty="0"/>
          </a:p>
        </p:txBody>
      </p:sp>
      <p:pic>
        <p:nvPicPr>
          <p:cNvPr id="16" name="Image 10" descr="https://test.web.static.jianzeppt.com/ppt-temp-img3/4ceb0b46b5bb8e0b0b7fddf7bfaf910f.png?x-oss-process=image/resize,w_1440,h_800,m_lfit/format,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378391" y="2164080"/>
            <a:ext cx="15240" cy="609600"/>
          </a:xfrm>
          <a:prstGeom prst="rect">
            <a:avLst/>
          </a:prstGeom>
        </p:spPr>
      </p:pic>
      <p:pic>
        <p:nvPicPr>
          <p:cNvPr id="17" name="Image 11" descr="https://test.web.static.jianzeppt.com/ppt-temp-img3/d24b180b05ab0783e64cde6413073570.png?x-oss-process=image/resize,w_1440,h_800,m_lfit/format,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187495" y="2788920"/>
            <a:ext cx="7364425" cy="15240"/>
          </a:xfrm>
          <a:prstGeom prst="rect">
            <a:avLst/>
          </a:prstGeom>
        </p:spPr>
      </p:pic>
      <p:pic>
        <p:nvPicPr>
          <p:cNvPr id="18" name="Image 12" descr="https://test.web.static.jianzeppt.com/ppt-temp-img3/490f6093a3cd681e53114db30d197de5.png?x-oss-process=image/resize,w_1440,h_800,m_lfit/format,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191000" y="2788920"/>
            <a:ext cx="1524000" cy="609600"/>
          </a:xfrm>
          <a:prstGeom prst="rect">
            <a:avLst/>
          </a:prstGeom>
        </p:spPr>
      </p:pic>
      <p:sp>
        <p:nvSpPr>
          <p:cNvPr id="19" name="Text 4"/>
          <p:cNvSpPr/>
          <p:nvPr/>
        </p:nvSpPr>
        <p:spPr>
          <a:xfrm>
            <a:off x="4450080" y="2941320"/>
            <a:ext cx="999744" cy="28956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920" b="1" dirty="0">
                <a:solidFill>
                  <a:srgbClr val="333333"/>
                </a:solidFill>
              </a:rPr>
              <a:t>访谈时间</a:t>
            </a:r>
            <a:endParaRPr lang="en-US" sz="1920" dirty="0"/>
          </a:p>
        </p:txBody>
      </p:sp>
      <p:pic>
        <p:nvPicPr>
          <p:cNvPr id="20" name="Image 13" descr="https://test.web.static.jianzeppt.com/ppt-temp-img3/4ceb0b46b5bb8e0b0b7fddf7bfaf910f.png?x-oss-process=image/resize,w_1440,h_800,m_lfit/format,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696255" y="2788920"/>
            <a:ext cx="15240" cy="609600"/>
          </a:xfrm>
          <a:prstGeom prst="rect">
            <a:avLst/>
          </a:prstGeom>
        </p:spPr>
      </p:pic>
      <p:pic>
        <p:nvPicPr>
          <p:cNvPr id="21" name="Image 14" descr="https://test.web.static.jianzeppt.com/ppt-temp-img3/4ceb0b46b5bb8e0b0b7fddf7bfaf910f.png?x-oss-process=image/resize,w_1440,h_800,m_lfit/format,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391" y="2788920"/>
            <a:ext cx="15240" cy="609600"/>
          </a:xfrm>
          <a:prstGeom prst="rect">
            <a:avLst/>
          </a:prstGeom>
        </p:spPr>
      </p:pic>
      <p:pic>
        <p:nvPicPr>
          <p:cNvPr id="22" name="Image 15" descr="https://test.web.static.jianzeppt.com/ppt-temp-img3/490f6093a3cd681e53114db30d197de5.png?x-oss-process=image/resize,w_1440,h_800,m_lfit/format,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63840" y="2788920"/>
            <a:ext cx="1524000" cy="609600"/>
          </a:xfrm>
          <a:prstGeom prst="rect">
            <a:avLst/>
          </a:prstGeom>
        </p:spPr>
      </p:pic>
      <p:sp>
        <p:nvSpPr>
          <p:cNvPr id="23" name="Text 5"/>
          <p:cNvSpPr/>
          <p:nvPr/>
        </p:nvSpPr>
        <p:spPr>
          <a:xfrm>
            <a:off x="8138160" y="2941320"/>
            <a:ext cx="999744" cy="28956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920" b="1" dirty="0">
                <a:solidFill>
                  <a:srgbClr val="333333"/>
                </a:solidFill>
              </a:rPr>
              <a:t>访谈地点</a:t>
            </a:r>
            <a:endParaRPr lang="en-US" sz="1920" dirty="0"/>
          </a:p>
        </p:txBody>
      </p:sp>
      <p:pic>
        <p:nvPicPr>
          <p:cNvPr id="24" name="Image 16" descr="https://test.web.static.jianzeppt.com/ppt-temp-img3/4ceb0b46b5bb8e0b0b7fddf7bfaf910f.png?x-oss-process=image/resize,w_1440,h_800,m_lfit/format,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378391" y="2788920"/>
            <a:ext cx="15240" cy="609600"/>
          </a:xfrm>
          <a:prstGeom prst="rect">
            <a:avLst/>
          </a:prstGeom>
        </p:spPr>
      </p:pic>
      <p:pic>
        <p:nvPicPr>
          <p:cNvPr id="25" name="Image 17" descr="https://test.web.static.jianzeppt.com/ppt-temp-img3/d24b180b05ab0783e64cde6413073570.png?x-oss-process=image/resize,w_1440,h_800,m_lfit/format,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187495" y="3413760"/>
            <a:ext cx="7364425" cy="15240"/>
          </a:xfrm>
          <a:prstGeom prst="rect">
            <a:avLst/>
          </a:prstGeom>
        </p:spPr>
      </p:pic>
      <p:pic>
        <p:nvPicPr>
          <p:cNvPr id="26" name="Image 18" descr="https://test.web.static.jianzeppt.com/ppt-temp-img3/72f60e4f78738abe8c0e9c1013b305e2.png?x-oss-process=image/resize,w_1440,h_800,m_lfit/format,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191000" y="3413760"/>
            <a:ext cx="1524000" cy="807720"/>
          </a:xfrm>
          <a:prstGeom prst="rect">
            <a:avLst/>
          </a:prstGeom>
        </p:spPr>
      </p:pic>
      <p:sp>
        <p:nvSpPr>
          <p:cNvPr id="27" name="Text 6"/>
          <p:cNvSpPr/>
          <p:nvPr/>
        </p:nvSpPr>
        <p:spPr>
          <a:xfrm>
            <a:off x="4450080" y="3474720"/>
            <a:ext cx="999744" cy="28956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920" b="1" dirty="0">
                <a:solidFill>
                  <a:srgbClr val="333333"/>
                </a:solidFill>
              </a:rPr>
              <a:t>访谈要点</a:t>
            </a:r>
            <a:endParaRPr lang="en-US" sz="1920" dirty="0"/>
          </a:p>
        </p:txBody>
      </p:sp>
      <p:sp>
        <p:nvSpPr>
          <p:cNvPr id="28" name="Text 7"/>
          <p:cNvSpPr/>
          <p:nvPr/>
        </p:nvSpPr>
        <p:spPr>
          <a:xfrm>
            <a:off x="4693920" y="3840480"/>
            <a:ext cx="512064" cy="28956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920" b="1" dirty="0">
                <a:solidFill>
                  <a:srgbClr val="333333"/>
                </a:solidFill>
              </a:rPr>
              <a:t>记录</a:t>
            </a:r>
            <a:endParaRPr lang="en-US" sz="1920" dirty="0"/>
          </a:p>
        </p:txBody>
      </p:sp>
      <p:pic>
        <p:nvPicPr>
          <p:cNvPr id="29" name="Image 19" descr="https://test.web.static.jianzeppt.com/ppt-temp-img3/b155352382c1c8a0a4aac181f79c0137.png?x-oss-process=image/resize,w_1440,h_800,m_lfit/format,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696255" y="3413760"/>
            <a:ext cx="15240" cy="800100"/>
          </a:xfrm>
          <a:prstGeom prst="rect">
            <a:avLst/>
          </a:prstGeom>
        </p:spPr>
      </p:pic>
      <p:sp>
        <p:nvSpPr>
          <p:cNvPr id="30" name="Text 8"/>
          <p:cNvSpPr/>
          <p:nvPr/>
        </p:nvSpPr>
        <p:spPr>
          <a:xfrm>
            <a:off x="5836920" y="3354070"/>
            <a:ext cx="561746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20" dirty="0">
                <a:solidFill>
                  <a:srgbClr val="333333"/>
                </a:solidFill>
              </a:rPr>
              <a:t>1.</a:t>
            </a:r>
            <a:endParaRPr lang="en-US" sz="1920" dirty="0"/>
          </a:p>
        </p:txBody>
      </p:sp>
      <p:sp>
        <p:nvSpPr>
          <p:cNvPr id="31" name="Text 9"/>
          <p:cNvSpPr/>
          <p:nvPr/>
        </p:nvSpPr>
        <p:spPr>
          <a:xfrm>
            <a:off x="5836920" y="3600450"/>
            <a:ext cx="561746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20" dirty="0">
                <a:solidFill>
                  <a:srgbClr val="333333"/>
                </a:solidFill>
              </a:rPr>
              <a:t>2.</a:t>
            </a:r>
            <a:endParaRPr lang="en-US" sz="1920" dirty="0"/>
          </a:p>
        </p:txBody>
      </p:sp>
      <p:sp>
        <p:nvSpPr>
          <p:cNvPr id="32" name="Text 10"/>
          <p:cNvSpPr/>
          <p:nvPr/>
        </p:nvSpPr>
        <p:spPr>
          <a:xfrm>
            <a:off x="5836920" y="3848100"/>
            <a:ext cx="561746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20" dirty="0">
                <a:solidFill>
                  <a:srgbClr val="333333"/>
                </a:solidFill>
              </a:rPr>
              <a:t>3.</a:t>
            </a:r>
            <a:endParaRPr lang="en-US" sz="1920" dirty="0"/>
          </a:p>
        </p:txBody>
      </p:sp>
      <p:pic>
        <p:nvPicPr>
          <p:cNvPr id="33" name="Image 20" descr="https://test.web.static.jianzeppt.com/ppt-temp-img3/d24b180b05ab0783e64cde6413073570.png?x-oss-process=image/resize,w_1440,h_800,m_lfit/format,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187495" y="4229100"/>
            <a:ext cx="7364425" cy="15240"/>
          </a:xfrm>
          <a:prstGeom prst="rect">
            <a:avLst/>
          </a:prstGeom>
        </p:spPr>
      </p:pic>
      <p:pic>
        <p:nvPicPr>
          <p:cNvPr id="34" name="Image 21" descr="https://test.web.static.jianzeppt.com/ppt-temp-img3/72f60e4f78738abe8c0e9c1013b305e2.png?x-oss-process=image/resize,w_1440,h_800,m_lfit/format,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191000" y="4236720"/>
            <a:ext cx="1524000" cy="807720"/>
          </a:xfrm>
          <a:prstGeom prst="rect">
            <a:avLst/>
          </a:prstGeom>
        </p:spPr>
      </p:pic>
      <p:sp>
        <p:nvSpPr>
          <p:cNvPr id="35" name="Text 11"/>
          <p:cNvSpPr/>
          <p:nvPr/>
        </p:nvSpPr>
        <p:spPr>
          <a:xfrm>
            <a:off x="4328160" y="4297680"/>
            <a:ext cx="1243584" cy="28956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920" b="1" dirty="0">
                <a:solidFill>
                  <a:srgbClr val="333333"/>
                </a:solidFill>
              </a:rPr>
              <a:t>初步判断与</a:t>
            </a:r>
            <a:endParaRPr lang="en-US" sz="1920" dirty="0"/>
          </a:p>
        </p:txBody>
      </p:sp>
      <p:sp>
        <p:nvSpPr>
          <p:cNvPr id="36" name="Text 12"/>
          <p:cNvSpPr/>
          <p:nvPr/>
        </p:nvSpPr>
        <p:spPr>
          <a:xfrm>
            <a:off x="4328160" y="4663440"/>
            <a:ext cx="1243584" cy="28956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920" b="1" dirty="0">
                <a:solidFill>
                  <a:srgbClr val="333333"/>
                </a:solidFill>
              </a:rPr>
              <a:t>发现的问题</a:t>
            </a:r>
            <a:endParaRPr lang="en-US" sz="1920" dirty="0"/>
          </a:p>
        </p:txBody>
      </p:sp>
      <p:pic>
        <p:nvPicPr>
          <p:cNvPr id="37" name="Image 22" descr="https://test.web.static.jianzeppt.com/ppt-temp-img3/b155352382c1c8a0a4aac181f79c0137.png?x-oss-process=image/resize,w_1440,h_800,m_lfit/format,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696255" y="4229100"/>
            <a:ext cx="15240" cy="800100"/>
          </a:xfrm>
          <a:prstGeom prst="rect">
            <a:avLst/>
          </a:prstGeom>
        </p:spPr>
      </p:pic>
      <p:sp>
        <p:nvSpPr>
          <p:cNvPr id="38" name="Text 13"/>
          <p:cNvSpPr/>
          <p:nvPr/>
        </p:nvSpPr>
        <p:spPr>
          <a:xfrm>
            <a:off x="5836920" y="4292600"/>
            <a:ext cx="561746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20" dirty="0">
                <a:solidFill>
                  <a:srgbClr val="333333"/>
                </a:solidFill>
              </a:rPr>
              <a:t>1.</a:t>
            </a:r>
            <a:endParaRPr lang="en-US" sz="1920" dirty="0"/>
          </a:p>
        </p:txBody>
      </p:sp>
      <p:sp>
        <p:nvSpPr>
          <p:cNvPr id="39" name="Text 14"/>
          <p:cNvSpPr/>
          <p:nvPr/>
        </p:nvSpPr>
        <p:spPr>
          <a:xfrm>
            <a:off x="5836920" y="4580890"/>
            <a:ext cx="561746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20" dirty="0">
                <a:solidFill>
                  <a:srgbClr val="333333"/>
                </a:solidFill>
              </a:rPr>
              <a:t>2.</a:t>
            </a:r>
            <a:endParaRPr lang="en-US" sz="1920" dirty="0"/>
          </a:p>
        </p:txBody>
      </p:sp>
      <p:pic>
        <p:nvPicPr>
          <p:cNvPr id="40" name="Image 23" descr="https://test.web.static.jianzeppt.com/ppt-temp-img3/d24b180b05ab0783e64cde6413073570.png?x-oss-process=image/resize,w_1440,h_800,m_lfit/format,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187495" y="5044440"/>
            <a:ext cx="7364425" cy="15240"/>
          </a:xfrm>
          <a:prstGeom prst="rect">
            <a:avLst/>
          </a:prstGeom>
        </p:spPr>
      </p:pic>
      <p:pic>
        <p:nvPicPr>
          <p:cNvPr id="41" name="Image 24" descr="https://test.web.static.jianzeppt.com/ppt-temp-img3/ba5bb84ead77ff061cc0ff441147ddb9.png?x-oss-process=image/resize,w_1440,h_800,m_lfit/format,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191000" y="5044440"/>
            <a:ext cx="1524000" cy="594360"/>
          </a:xfrm>
          <a:prstGeom prst="rect">
            <a:avLst/>
          </a:prstGeom>
        </p:spPr>
      </p:pic>
      <p:sp>
        <p:nvSpPr>
          <p:cNvPr id="42" name="Text 15"/>
          <p:cNvSpPr/>
          <p:nvPr/>
        </p:nvSpPr>
        <p:spPr>
          <a:xfrm>
            <a:off x="4328160" y="5084763"/>
            <a:ext cx="1243584" cy="589915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920" b="1" dirty="0">
                <a:solidFill>
                  <a:srgbClr val="333333"/>
                </a:solidFill>
              </a:rPr>
              <a:t>下一步核查建议</a:t>
            </a:r>
            <a:endParaRPr lang="en-US" sz="1920" dirty="0"/>
          </a:p>
        </p:txBody>
      </p:sp>
      <p:pic>
        <p:nvPicPr>
          <p:cNvPr id="43" name="Image 25" descr="https://test.web.static.jianzeppt.com/ppt-temp-img3/250f00f64d99185a070fe6439622f0a3.png?x-oss-process=image/resize,w_1440,h_800,m_lfit/format,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696255" y="5044440"/>
            <a:ext cx="15240" cy="594360"/>
          </a:xfrm>
          <a:prstGeom prst="rect">
            <a:avLst/>
          </a:prstGeom>
        </p:spPr>
      </p:pic>
      <p:pic>
        <p:nvPicPr>
          <p:cNvPr id="44" name="Image 26" descr="https://test.web.static.jianzeppt.com/ppt-temp-img3/d24b180b05ab0783e64cde6413073570.png?x-oss-process=image/resize,w_1440,h_800,m_lfit/format,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187495" y="5654040"/>
            <a:ext cx="7364425" cy="15240"/>
          </a:xfrm>
          <a:prstGeom prst="rect">
            <a:avLst/>
          </a:prstGeom>
        </p:spPr>
      </p:pic>
      <p:pic>
        <p:nvPicPr>
          <p:cNvPr id="45" name="Image 27" descr="https://test.web.static.jianzeppt.com/ppt-temp-img3/d902d4681d8cc88fea7a1cc7d5ed348e.png?x-oss-process=image/resize,w_1440,h_800,m_lfit/format,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191000" y="5654040"/>
            <a:ext cx="1524000" cy="548640"/>
          </a:xfrm>
          <a:prstGeom prst="rect">
            <a:avLst/>
          </a:prstGeom>
        </p:spPr>
      </p:pic>
      <p:sp>
        <p:nvSpPr>
          <p:cNvPr id="46" name="Text 16"/>
          <p:cNvSpPr/>
          <p:nvPr/>
        </p:nvSpPr>
        <p:spPr>
          <a:xfrm>
            <a:off x="4328160" y="5775960"/>
            <a:ext cx="1243584" cy="28956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920" b="1" dirty="0">
                <a:solidFill>
                  <a:srgbClr val="333333"/>
                </a:solidFill>
              </a:rPr>
              <a:t>测评师签名</a:t>
            </a:r>
            <a:endParaRPr lang="en-US" sz="1920" dirty="0"/>
          </a:p>
        </p:txBody>
      </p:sp>
      <p:pic>
        <p:nvPicPr>
          <p:cNvPr id="47" name="Image 28" descr="https://test.web.static.jianzeppt.com/ppt-temp-img3/4b5bca3f85097bc8849de6d9a477e6cf.png?x-oss-process=image/resize,w_1440,h_800,m_lfit/format,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5696255" y="5654040"/>
            <a:ext cx="15240" cy="548640"/>
          </a:xfrm>
          <a:prstGeom prst="rect">
            <a:avLst/>
          </a:prstGeom>
        </p:spPr>
      </p:pic>
      <p:pic>
        <p:nvPicPr>
          <p:cNvPr id="48" name="Image 29" descr="https://test.web.static.jianzeppt.com/ppt-temp-img3/4b5bca3f85097bc8849de6d9a477e6cf.png?x-oss-process=image/resize,w_1440,h_800,m_lfit/format,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854391" y="5654040"/>
            <a:ext cx="15240" cy="548640"/>
          </a:xfrm>
          <a:prstGeom prst="rect">
            <a:avLst/>
          </a:prstGeom>
        </p:spPr>
      </p:pic>
      <p:pic>
        <p:nvPicPr>
          <p:cNvPr id="49" name="Image 30" descr="https://test.web.static.jianzeppt.com/ppt-temp-img3/d902d4681d8cc88fea7a1cc7d5ed348e.png?x-oss-process=image/resize,w_1440,h_800,m_lfit/format,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863840" y="5654040"/>
            <a:ext cx="1524000" cy="548640"/>
          </a:xfrm>
          <a:prstGeom prst="rect">
            <a:avLst/>
          </a:prstGeom>
        </p:spPr>
      </p:pic>
      <p:sp>
        <p:nvSpPr>
          <p:cNvPr id="50" name="Text 17"/>
          <p:cNvSpPr/>
          <p:nvPr/>
        </p:nvSpPr>
        <p:spPr>
          <a:xfrm>
            <a:off x="8382000" y="5775960"/>
            <a:ext cx="512064" cy="28956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920" b="1" dirty="0">
                <a:solidFill>
                  <a:srgbClr val="333333"/>
                </a:solidFill>
              </a:rPr>
              <a:t>日期</a:t>
            </a:r>
            <a:endParaRPr lang="en-US" sz="1920" dirty="0"/>
          </a:p>
        </p:txBody>
      </p:sp>
      <p:pic>
        <p:nvPicPr>
          <p:cNvPr id="51" name="Image 31" descr="https://test.web.static.jianzeppt.com/ppt-temp-img3/4b5bca3f85097bc8849de6d9a477e6cf.png?x-oss-process=image/resize,w_1440,h_800,m_lfit/format,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378391" y="5654040"/>
            <a:ext cx="15240" cy="548640"/>
          </a:xfrm>
          <a:prstGeom prst="rect">
            <a:avLst/>
          </a:prstGeom>
        </p:spPr>
      </p:pic>
      <p:pic>
        <p:nvPicPr>
          <p:cNvPr id="52" name="Image 32" descr="https://test.web.static.jianzeppt.com/ppt-temp-img3/e768a538911498f178d7ea4ef3ac7994.png?x-oss-process=image/resize,w_1440,h_800,m_lfit/format,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38200" y="2788920"/>
            <a:ext cx="30480" cy="2788920"/>
          </a:xfrm>
          <a:prstGeom prst="rect">
            <a:avLst/>
          </a:prstGeom>
        </p:spPr>
      </p:pic>
      <p:pic>
        <p:nvPicPr>
          <p:cNvPr id="53" name="Image 33" descr="preencoded.png"/>
          <p:cNvPicPr>
            <a:picLocks noChangeAspect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609600" y="2575560"/>
            <a:ext cx="487680" cy="487680"/>
          </a:xfrm>
          <a:prstGeom prst="rect">
            <a:avLst/>
          </a:prstGeom>
        </p:spPr>
      </p:pic>
      <p:sp>
        <p:nvSpPr>
          <p:cNvPr id="54" name="Text 18"/>
          <p:cNvSpPr/>
          <p:nvPr/>
        </p:nvSpPr>
        <p:spPr>
          <a:xfrm>
            <a:off x="762000" y="2667000"/>
            <a:ext cx="192024" cy="28956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920" b="1" dirty="0">
                <a:solidFill>
                  <a:srgbClr val="FFFFFF"/>
                </a:solidFill>
              </a:rPr>
              <a:t>1</a:t>
            </a:r>
            <a:endParaRPr lang="en-US" sz="1920" dirty="0"/>
          </a:p>
        </p:txBody>
      </p:sp>
      <p:pic>
        <p:nvPicPr>
          <p:cNvPr id="55" name="Image 34" descr="https://test.web.static.jianzeppt.com/ppt-temp-img3/8022efa699e9cfdb31189c493a6189b4.png?x-oss-process=image/resize,w_1440,h_800,m_lfit/format,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280160" y="2423160"/>
            <a:ext cx="2514600" cy="777240"/>
          </a:xfrm>
          <a:prstGeom prst="rect">
            <a:avLst/>
          </a:prstGeom>
        </p:spPr>
      </p:pic>
      <p:sp>
        <p:nvSpPr>
          <p:cNvPr id="56" name="Text 19"/>
          <p:cNvSpPr/>
          <p:nvPr/>
        </p:nvSpPr>
        <p:spPr>
          <a:xfrm>
            <a:off x="1524000" y="2651760"/>
            <a:ext cx="1655064" cy="4114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60" dirty="0">
                <a:solidFill>
                  <a:srgbClr val="333333"/>
                </a:solidFill>
              </a:rPr>
              <a:t>整理访谈记录</a:t>
            </a:r>
            <a:endParaRPr lang="en-US" sz="2160" dirty="0"/>
          </a:p>
        </p:txBody>
      </p:sp>
      <p:pic>
        <p:nvPicPr>
          <p:cNvPr id="57" name="Image 35" descr="preencoded.png"/>
          <p:cNvPicPr>
            <a:picLocks noChangeAspect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609600" y="3733800"/>
            <a:ext cx="487680" cy="487680"/>
          </a:xfrm>
          <a:prstGeom prst="rect">
            <a:avLst/>
          </a:prstGeom>
        </p:spPr>
      </p:pic>
      <p:sp>
        <p:nvSpPr>
          <p:cNvPr id="58" name="Text 20"/>
          <p:cNvSpPr/>
          <p:nvPr/>
        </p:nvSpPr>
        <p:spPr>
          <a:xfrm>
            <a:off x="762000" y="3825240"/>
            <a:ext cx="192024" cy="28956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920" b="1" dirty="0">
                <a:solidFill>
                  <a:srgbClr val="FFFFFF"/>
                </a:solidFill>
              </a:rPr>
              <a:t>2</a:t>
            </a:r>
            <a:endParaRPr lang="en-US" sz="1920" dirty="0"/>
          </a:p>
        </p:txBody>
      </p:sp>
      <p:pic>
        <p:nvPicPr>
          <p:cNvPr id="59" name="Image 36" descr="https://test.web.static.jianzeppt.com/ppt-temp-img3/0f29a627a67736ee5ded9fae4cd5fffa.png?x-oss-process=image/resize,w_1440,h_800,m_lfit/format,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1280160" y="3383280"/>
            <a:ext cx="2514600" cy="1188720"/>
          </a:xfrm>
          <a:prstGeom prst="rect">
            <a:avLst/>
          </a:prstGeom>
        </p:spPr>
      </p:pic>
      <p:sp>
        <p:nvSpPr>
          <p:cNvPr id="60" name="Text 21"/>
          <p:cNvSpPr/>
          <p:nvPr/>
        </p:nvSpPr>
        <p:spPr>
          <a:xfrm>
            <a:off x="1524000" y="3611880"/>
            <a:ext cx="1929384" cy="822960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60" dirty="0">
                <a:solidFill>
                  <a:srgbClr val="333333"/>
                </a:solidFill>
              </a:rPr>
              <a:t>填写《人员访谈记录表》</a:t>
            </a:r>
            <a:endParaRPr lang="en-US" sz="2160" dirty="0"/>
          </a:p>
        </p:txBody>
      </p:sp>
      <p:pic>
        <p:nvPicPr>
          <p:cNvPr id="61" name="Image 37" descr="preencoded.png"/>
          <p:cNvPicPr>
            <a:picLocks noChangeAspect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609600" y="5105400"/>
            <a:ext cx="487680" cy="487680"/>
          </a:xfrm>
          <a:prstGeom prst="rect">
            <a:avLst/>
          </a:prstGeom>
        </p:spPr>
      </p:pic>
      <p:sp>
        <p:nvSpPr>
          <p:cNvPr id="62" name="Text 22"/>
          <p:cNvSpPr/>
          <p:nvPr/>
        </p:nvSpPr>
        <p:spPr>
          <a:xfrm>
            <a:off x="762000" y="5196840"/>
            <a:ext cx="192024" cy="28956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920" b="1" dirty="0">
                <a:solidFill>
                  <a:srgbClr val="FFFFFF"/>
                </a:solidFill>
              </a:rPr>
              <a:t>3</a:t>
            </a:r>
            <a:endParaRPr lang="en-US" sz="1920" dirty="0"/>
          </a:p>
        </p:txBody>
      </p:sp>
      <p:pic>
        <p:nvPicPr>
          <p:cNvPr id="63" name="Image 38" descr="https://test.web.static.jianzeppt.com/ppt-temp-img3/0f29a627a67736ee5ded9fae4cd5fffa.png?x-oss-process=image/resize,w_1440,h_800,m_lfit/format,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1280160" y="4754880"/>
            <a:ext cx="2514600" cy="1188720"/>
          </a:xfrm>
          <a:prstGeom prst="rect">
            <a:avLst/>
          </a:prstGeom>
        </p:spPr>
      </p:pic>
      <p:sp>
        <p:nvSpPr>
          <p:cNvPr id="64" name="Text 23"/>
          <p:cNvSpPr/>
          <p:nvPr/>
        </p:nvSpPr>
        <p:spPr>
          <a:xfrm>
            <a:off x="1524000" y="4983480"/>
            <a:ext cx="1929384" cy="822960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60" dirty="0">
                <a:solidFill>
                  <a:srgbClr val="333333"/>
                </a:solidFill>
              </a:rPr>
              <a:t>初步判断安全问题</a:t>
            </a:r>
            <a:endParaRPr lang="en-US" sz="2160" dirty="0"/>
          </a:p>
        </p:txBody>
      </p:sp>
      <p:sp>
        <p:nvSpPr>
          <p:cNvPr id="65" name="Text 24"/>
          <p:cNvSpPr/>
          <p:nvPr/>
        </p:nvSpPr>
        <p:spPr>
          <a:xfrm>
            <a:off x="822497" y="529635"/>
            <a:ext cx="10918068" cy="42648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60" dirty="0">
                <a:solidFill>
                  <a:srgbClr val="1E1E1E"/>
                </a:solidFill>
              </a:rPr>
              <a:t>实践任务——填写《人员访谈记录表》（10分钟）</a:t>
            </a:r>
            <a:endParaRPr lang="en-US" sz="276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pic>
        <p:nvPicPr>
          <p:cNvPr id="5" name="Image 3" descr="https://test.web.static.jianzeppt.com/ppt-temp-img3/ed6114dc1017cd305e8a8a5ec098e54f.png?x-oss-process=image/resize,w_1440,h_800,m_lfit/format,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0" y="1676400"/>
            <a:ext cx="30480" cy="4267200"/>
          </a:xfrm>
          <a:prstGeom prst="rect">
            <a:avLst/>
          </a:prstGeom>
        </p:spPr>
      </p:pic>
      <p:sp>
        <p:nvSpPr>
          <p:cNvPr id="6" name="Text 0"/>
          <p:cNvSpPr/>
          <p:nvPr/>
        </p:nvSpPr>
        <p:spPr>
          <a:xfrm>
            <a:off x="3230880" y="1447800"/>
            <a:ext cx="7781544" cy="4114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160" b="1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一、定位：验证执行（技术测设备，管理测人）</a:t>
            </a:r>
            <a:endParaRPr lang="en-US" sz="2160" dirty="0"/>
          </a:p>
        </p:txBody>
      </p:sp>
      <p:sp>
        <p:nvSpPr>
          <p:cNvPr id="7" name="Text 1"/>
          <p:cNvSpPr/>
          <p:nvPr/>
        </p:nvSpPr>
        <p:spPr>
          <a:xfrm>
            <a:off x="3230880" y="1889760"/>
            <a:ext cx="778154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80" dirty="0">
                <a:solidFill>
                  <a:srgbClr val="555555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取证手段：文档查阅 + 记录审查 + 人员访谈</a:t>
            </a:r>
            <a:endParaRPr lang="en-US" sz="1680" dirty="0"/>
          </a:p>
        </p:txBody>
      </p:sp>
      <p:pic>
        <p:nvPicPr>
          <p:cNvPr id="8" name="Image 4" descr="https://test.web.static.jianzeppt.com/ppt-temp-img3/f1aacde1df9201f7a6837771a1f861c6.png?x-oss-process=image/resize,w_1440,h_800,m_lfit/format,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73680" y="1813560"/>
            <a:ext cx="304800" cy="30480"/>
          </a:xfrm>
          <a:prstGeom prst="rect">
            <a:avLst/>
          </a:prstGeom>
        </p:spPr>
      </p:pic>
      <p:pic>
        <p:nvPicPr>
          <p:cNvPr id="9" name="Image 5" descr="preencoded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078480" y="1767840"/>
            <a:ext cx="121920" cy="121920"/>
          </a:xfrm>
          <a:prstGeom prst="rect">
            <a:avLst/>
          </a:prstGeom>
        </p:spPr>
      </p:pic>
      <p:sp>
        <p:nvSpPr>
          <p:cNvPr id="10" name="Text 2"/>
          <p:cNvSpPr/>
          <p:nvPr/>
        </p:nvSpPr>
        <p:spPr>
          <a:xfrm>
            <a:off x="3230880" y="2560320"/>
            <a:ext cx="778154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80" b="1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二、访谈五步法</a:t>
            </a:r>
            <a:endParaRPr lang="en-US" sz="1680" dirty="0"/>
          </a:p>
        </p:txBody>
      </p:sp>
      <p:sp>
        <p:nvSpPr>
          <p:cNvPr id="11" name="Text 3"/>
          <p:cNvSpPr/>
          <p:nvPr/>
        </p:nvSpPr>
        <p:spPr>
          <a:xfrm>
            <a:off x="3230880" y="2910840"/>
            <a:ext cx="3657600" cy="245745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00" dirty="0">
                <a:solidFill>
                  <a:srgbClr val="555555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准备 → 预约 → 执行 → 核实 → 记录</a:t>
            </a:r>
            <a:endParaRPr lang="en-US" sz="1600" dirty="0">
              <a:solidFill>
                <a:srgbClr val="555555"/>
              </a:solidFill>
              <a:latin typeface="思源黑体 CN" pitchFamily="34" charset="0"/>
              <a:ea typeface="思源黑体 CN" pitchFamily="34" charset="-122"/>
              <a:cs typeface="思源黑体 CN" pitchFamily="34" charset="-120"/>
            </a:endParaRPr>
          </a:p>
        </p:txBody>
      </p:sp>
      <p:pic>
        <p:nvPicPr>
          <p:cNvPr id="12" name="Image 6" descr="https://test.web.static.jianzeppt.com/ppt-temp-img3/f1aacde1df9201f7a6837771a1f861c6.png?x-oss-process=image/resize,w_1440,h_800,m_lfit/format,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73680" y="2849880"/>
            <a:ext cx="304800" cy="30480"/>
          </a:xfrm>
          <a:prstGeom prst="rect">
            <a:avLst/>
          </a:prstGeom>
        </p:spPr>
      </p:pic>
      <p:pic>
        <p:nvPicPr>
          <p:cNvPr id="13" name="Image 7" descr="preencoded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078480" y="2804160"/>
            <a:ext cx="121920" cy="121920"/>
          </a:xfrm>
          <a:prstGeom prst="rect">
            <a:avLst/>
          </a:prstGeom>
        </p:spPr>
      </p:pic>
      <p:sp>
        <p:nvSpPr>
          <p:cNvPr id="14" name="Text 4"/>
          <p:cNvSpPr/>
          <p:nvPr/>
        </p:nvSpPr>
        <p:spPr>
          <a:xfrm>
            <a:off x="3230880" y="3429000"/>
            <a:ext cx="7781544" cy="4114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160" b="1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三、访谈对象与提纲</a:t>
            </a:r>
            <a:endParaRPr lang="en-US" sz="2160" dirty="0"/>
          </a:p>
        </p:txBody>
      </p:sp>
      <p:sp>
        <p:nvSpPr>
          <p:cNvPr id="15" name="Text 5"/>
          <p:cNvSpPr/>
          <p:nvPr/>
        </p:nvSpPr>
        <p:spPr>
          <a:xfrm>
            <a:off x="3230880" y="3870960"/>
            <a:ext cx="778154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80" dirty="0">
                <a:solidFill>
                  <a:srgbClr val="555555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对象：安全主管、管理员、普通员工（针对岗位设计问题）</a:t>
            </a:r>
            <a:endParaRPr lang="en-US" sz="1680" dirty="0"/>
          </a:p>
        </p:txBody>
      </p:sp>
      <p:pic>
        <p:nvPicPr>
          <p:cNvPr id="16" name="Image 8" descr="https://test.web.static.jianzeppt.com/ppt-temp-img3/f1aacde1df9201f7a6837771a1f861c6.png?x-oss-process=image/resize,w_1440,h_800,m_lfit/format,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73680" y="3794760"/>
            <a:ext cx="304800" cy="30480"/>
          </a:xfrm>
          <a:prstGeom prst="rect">
            <a:avLst/>
          </a:prstGeom>
        </p:spPr>
      </p:pic>
      <p:pic>
        <p:nvPicPr>
          <p:cNvPr id="17" name="Image 9" descr="preencoded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078480" y="3749040"/>
            <a:ext cx="121920" cy="121920"/>
          </a:xfrm>
          <a:prstGeom prst="rect">
            <a:avLst/>
          </a:prstGeom>
        </p:spPr>
      </p:pic>
      <p:sp>
        <p:nvSpPr>
          <p:cNvPr id="18" name="Text 6"/>
          <p:cNvSpPr/>
          <p:nvPr/>
        </p:nvSpPr>
        <p:spPr>
          <a:xfrm>
            <a:off x="3230880" y="4541520"/>
            <a:ext cx="7781544" cy="4114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160" b="1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四、访谈技巧</a:t>
            </a:r>
            <a:endParaRPr lang="en-US" sz="2160" dirty="0"/>
          </a:p>
        </p:txBody>
      </p:sp>
      <p:sp>
        <p:nvSpPr>
          <p:cNvPr id="19" name="Text 7"/>
          <p:cNvSpPr/>
          <p:nvPr/>
        </p:nvSpPr>
        <p:spPr>
          <a:xfrm>
            <a:off x="3230880" y="4983480"/>
            <a:ext cx="778154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80" dirty="0">
                <a:solidFill>
                  <a:srgbClr val="555555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多问“如何”少问“是否”，追问具体并交叉验证，识别真实情况</a:t>
            </a:r>
            <a:endParaRPr lang="en-US" sz="1680" dirty="0"/>
          </a:p>
        </p:txBody>
      </p:sp>
      <p:pic>
        <p:nvPicPr>
          <p:cNvPr id="20" name="Image 10" descr="https://test.web.static.jianzeppt.com/ppt-temp-img3/f1aacde1df9201f7a6837771a1f861c6.png?x-oss-process=image/resize,w_1440,h_800,m_lfit/format,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73680" y="4907280"/>
            <a:ext cx="304800" cy="30480"/>
          </a:xfrm>
          <a:prstGeom prst="rect">
            <a:avLst/>
          </a:prstGeom>
        </p:spPr>
      </p:pic>
      <p:pic>
        <p:nvPicPr>
          <p:cNvPr id="21" name="Image 11" descr="preencoded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078480" y="4861560"/>
            <a:ext cx="121920" cy="121920"/>
          </a:xfrm>
          <a:prstGeom prst="rect">
            <a:avLst/>
          </a:prstGeom>
        </p:spPr>
      </p:pic>
      <p:sp>
        <p:nvSpPr>
          <p:cNvPr id="22" name="Text 8"/>
          <p:cNvSpPr/>
          <p:nvPr/>
        </p:nvSpPr>
        <p:spPr>
          <a:xfrm>
            <a:off x="3230880" y="5638800"/>
            <a:ext cx="778154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80" b="1" dirty="0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五、访谈记录</a:t>
            </a:r>
            <a:endParaRPr lang="en-US" sz="1680" dirty="0"/>
          </a:p>
        </p:txBody>
      </p:sp>
      <p:sp>
        <p:nvSpPr>
          <p:cNvPr id="23" name="Text 9"/>
          <p:cNvSpPr/>
          <p:nvPr/>
        </p:nvSpPr>
        <p:spPr>
          <a:xfrm>
            <a:off x="3230880" y="5989320"/>
            <a:ext cx="2844800" cy="245745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00" dirty="0">
                <a:solidFill>
                  <a:srgbClr val="555555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及时整理，关键信息需签字确认</a:t>
            </a:r>
            <a:endParaRPr lang="en-US" sz="1600" dirty="0">
              <a:solidFill>
                <a:srgbClr val="555555"/>
              </a:solidFill>
              <a:latin typeface="思源黑体 CN" pitchFamily="34" charset="0"/>
              <a:ea typeface="思源黑体 CN" pitchFamily="34" charset="-122"/>
              <a:cs typeface="思源黑体 CN" pitchFamily="34" charset="-120"/>
            </a:endParaRPr>
          </a:p>
        </p:txBody>
      </p:sp>
      <p:pic>
        <p:nvPicPr>
          <p:cNvPr id="24" name="Image 12" descr="https://test.web.static.jianzeppt.com/ppt-temp-img3/f1aacde1df9201f7a6837771a1f861c6.png?x-oss-process=image/resize,w_1440,h_800,m_lfit/format,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73680" y="5928360"/>
            <a:ext cx="304800" cy="30480"/>
          </a:xfrm>
          <a:prstGeom prst="rect">
            <a:avLst/>
          </a:prstGeom>
        </p:spPr>
      </p:pic>
      <p:pic>
        <p:nvPicPr>
          <p:cNvPr id="25" name="Image 13" descr="preencoded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078480" y="5882640"/>
            <a:ext cx="121920" cy="121920"/>
          </a:xfrm>
          <a:prstGeom prst="rect">
            <a:avLst/>
          </a:prstGeom>
        </p:spPr>
      </p:pic>
      <p:pic>
        <p:nvPicPr>
          <p:cNvPr id="26" name="Image 14" descr="preencoded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09600" y="3352800"/>
            <a:ext cx="1828800" cy="914400"/>
          </a:xfrm>
          <a:prstGeom prst="rect">
            <a:avLst/>
          </a:prstGeom>
          <a:effectLst>
            <a:outerShdw blurRad="1161288000" dist="774192000" dir="-1" algn="bl" rotWithShape="0">
              <a:srgbClr val="000000">
                <a:alpha val="1000000000"/>
              </a:srgbClr>
            </a:outerShdw>
          </a:effectLst>
        </p:spPr>
      </p:pic>
      <p:sp>
        <p:nvSpPr>
          <p:cNvPr id="27" name="Text 10"/>
          <p:cNvSpPr/>
          <p:nvPr/>
        </p:nvSpPr>
        <p:spPr>
          <a:xfrm>
            <a:off x="975360" y="3444240"/>
            <a:ext cx="1106424" cy="68580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216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思维导图</a:t>
            </a:r>
            <a:r>
              <a:rPr lang="en-US" sz="216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核心内容</a:t>
            </a:r>
            <a:endParaRPr lang="en-US" sz="2160" dirty="0"/>
          </a:p>
        </p:txBody>
      </p:sp>
      <p:pic>
        <p:nvPicPr>
          <p:cNvPr id="28" name="Image 15" descr="https://test.web.static.jianzeppt.com/ppt-temp-img3/f1aacde1df9201f7a6837771a1f861c6.png?x-oss-process=image/resize,w_1440,h_800,m_lfit/format,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38400" y="3794760"/>
            <a:ext cx="304800" cy="30480"/>
          </a:xfrm>
          <a:prstGeom prst="rect">
            <a:avLst/>
          </a:prstGeom>
        </p:spPr>
      </p:pic>
      <p:sp>
        <p:nvSpPr>
          <p:cNvPr id="29" name="Text 11"/>
          <p:cNvSpPr/>
          <p:nvPr/>
        </p:nvSpPr>
        <p:spPr>
          <a:xfrm>
            <a:off x="822497" y="529635"/>
            <a:ext cx="10918068" cy="42648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60" dirty="0">
                <a:solidFill>
                  <a:srgbClr val="1E1E1E"/>
                </a:solidFill>
              </a:rPr>
              <a:t>知识点回顾（5分钟）</a:t>
            </a:r>
            <a:endParaRPr lang="en-US" sz="2760" dirty="0"/>
          </a:p>
        </p:txBody>
      </p:sp>
      <p:graphicFrame>
        <p:nvGraphicFramePr>
          <p:cNvPr id="30" name="对象 29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10607675" y="337185"/>
          <a:ext cx="971550" cy="666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5" name="" showAsIcon="1" r:id="rId10" imgW="971550" imgH="666750" progId="Word.Document.12">
                  <p:embed/>
                </p:oleObj>
              </mc:Choice>
              <mc:Fallback>
                <p:oleObj name="" showAsIcon="1" r:id="rId10" imgW="971550" imgH="666750" progId="Word.Document.12">
                  <p:embed/>
                  <p:pic>
                    <p:nvPicPr>
                      <p:cNvPr id="0" name="图片 1024"/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10607675" y="337185"/>
                        <a:ext cx="971550" cy="6667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536780" y="1925506"/>
            <a:ext cx="9136882" cy="975122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6360" dirty="0">
                <a:solidFill>
                  <a:srgbClr val="FFFFFF"/>
                </a:solidFill>
              </a:rPr>
              <a:t>感谢观看</a:t>
            </a:r>
            <a:endParaRPr lang="en-US" sz="6360" dirty="0"/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271.75,&quot;left&quot;:48,&quot;top&quot;:231.6,&quot;width&quot;:864}"/>
</p:tagLst>
</file>

<file path=ppt/tags/tag2.xml><?xml version="1.0" encoding="utf-8"?>
<p:tagLst xmlns:p="http://schemas.openxmlformats.org/presentationml/2006/main">
  <p:tag name="KSO_WM_DIAGRAM_VIRTUALLY_FRAME" val="{&quot;height&quot;:271.75,&quot;left&quot;:48,&quot;top&quot;:231.6,&quot;width&quot;:864}"/>
</p:tagLst>
</file>

<file path=ppt/tags/tag3.xml><?xml version="1.0" encoding="utf-8"?>
<p:tagLst xmlns:p="http://schemas.openxmlformats.org/presentationml/2006/main">
  <p:tag name="KSO_WM_DIAGRAM_VIRTUALLY_FRAME" val="{&quot;height&quot;:271.75,&quot;left&quot;:48,&quot;top&quot;:231.6,&quot;width&quot;:864}"/>
</p:tagLst>
</file>

<file path=ppt/tags/tag4.xml><?xml version="1.0" encoding="utf-8"?>
<p:tagLst xmlns:p="http://schemas.openxmlformats.org/presentationml/2006/main">
  <p:tag name="KSO_WM_DIAGRAM_VIRTUALLY_FRAME" val="{&quot;height&quot;:271.75,&quot;left&quot;:48,&quot;top&quot;:231.6,&quot;width&quot;:864}"/>
</p:tagLst>
</file>

<file path=ppt/tags/tag5.xml><?xml version="1.0" encoding="utf-8"?>
<p:tagLst xmlns:p="http://schemas.openxmlformats.org/presentationml/2006/main">
  <p:tag name="KSO_WM_DIAGRAM_VIRTUALLY_FRAME" val="{&quot;height&quot;:271.75,&quot;left&quot;:48,&quot;top&quot;:231.6,&quot;width&quot;:864}"/>
</p:tagLst>
</file>

<file path=ppt/tags/tag6.xml><?xml version="1.0" encoding="utf-8"?>
<p:tagLst xmlns:p="http://schemas.openxmlformats.org/presentationml/2006/main">
  <p:tag name="KSO_WM_DIAGRAM_VIRTUALLY_FRAME" val="{&quot;height&quot;:271.75,&quot;left&quot;:48,&quot;top&quot;:231.6,&quot;width&quot;:864}"/>
</p:tagLst>
</file>

<file path=ppt/tags/tag7.xml><?xml version="1.0" encoding="utf-8"?>
<p:tagLst xmlns:p="http://schemas.openxmlformats.org/presentationml/2006/main">
  <p:tag name="KSO_WM_DIAGRAM_VIRTUALLY_FRAME" val="{&quot;height&quot;:271.75,&quot;left&quot;:48,&quot;top&quot;:231.6,&quot;width&quot;:864}"/>
</p:tagLst>
</file>

<file path=ppt/tags/tag8.xml><?xml version="1.0" encoding="utf-8"?>
<p:tagLst xmlns:p="http://schemas.openxmlformats.org/presentationml/2006/main">
  <p:tag name="KSO_WM_DIAGRAM_VIRTUALLY_FRAME" val="{&quot;height&quot;:271.75,&quot;left&quot;:48,&quot;top&quot;:231.6,&quot;width&quot;:864}"/>
</p:tagLst>
</file>

<file path=ppt/tags/tag9.xml><?xml version="1.0" encoding="utf-8"?>
<p:tagLst xmlns:p="http://schemas.openxmlformats.org/presentationml/2006/main">
  <p:tag name="KSO_WM_DIAGRAM_VIRTUALLY_FRAME" val="{&quot;height&quot;:271.75,&quot;left&quot;:48,&quot;top&quot;:231.6,&quot;width&quot;:864}"/>
</p:tagLst>
</file>

<file path=ppt/tags/tag10.xml><?xml version="1.0" encoding="utf-8"?>
<p:tagLst xmlns:p="http://schemas.openxmlformats.org/presentationml/2006/main">
  <p:tag name="KSO_WM_DIAGRAM_VIRTUALLY_FRAME" val="{&quot;height&quot;:271.75,&quot;left&quot;:48,&quot;top&quot;:231.6,&quot;width&quot;:864}"/>
</p:tagLst>
</file>

<file path=ppt/tags/tag11.xml><?xml version="1.0" encoding="utf-8"?>
<p:tagLst xmlns:p="http://schemas.openxmlformats.org/presentationml/2006/main">
  <p:tag name="KSO_WM_DIAGRAM_VIRTUALLY_FRAME" val="{&quot;height&quot;:271.75,&quot;left&quot;:48,&quot;top&quot;:231.6,&quot;width&quot;:864}"/>
</p:tagLst>
</file>

<file path=ppt/tags/tag12.xml><?xml version="1.0" encoding="utf-8"?>
<p:tagLst xmlns:p="http://schemas.openxmlformats.org/presentationml/2006/main">
  <p:tag name="KSO_WM_DIAGRAM_VIRTUALLY_FRAME" val="{&quot;height&quot;:271.75,&quot;left&quot;:48,&quot;top&quot;:231.6,&quot;width&quot;:864}"/>
</p:tagLst>
</file>

<file path=ppt/tags/tag13.xml><?xml version="1.0" encoding="utf-8"?>
<p:tagLst xmlns:p="http://schemas.openxmlformats.org/presentationml/2006/main">
  <p:tag name="KSO_WM_DIAGRAM_VIRTUALLY_FRAME" val="{&quot;height&quot;:271.75,&quot;left&quot;:48,&quot;top&quot;:231.6,&quot;width&quot;:864}"/>
</p:tagLst>
</file>

<file path=ppt/tags/tag14.xml><?xml version="1.0" encoding="utf-8"?>
<p:tagLst xmlns:p="http://schemas.openxmlformats.org/presentationml/2006/main">
  <p:tag name="KSO_WM_DIAGRAM_VIRTUALLY_FRAME" val="{&quot;height&quot;:271.75,&quot;left&quot;:48,&quot;top&quot;:231.6,&quot;width&quot;:864}"/>
</p:tagLst>
</file>

<file path=ppt/tags/tag15.xml><?xml version="1.0" encoding="utf-8"?>
<p:tagLst xmlns:p="http://schemas.openxmlformats.org/presentationml/2006/main">
  <p:tag name="KSO_WM_DIAGRAM_VIRTUALLY_FRAME" val="{&quot;height&quot;:271.75,&quot;left&quot;:48,&quot;top&quot;:231.6,&quot;width&quot;:864}"/>
</p:tagLst>
</file>

<file path=ppt/tags/tag16.xml><?xml version="1.0" encoding="utf-8"?>
<p:tagLst xmlns:p="http://schemas.openxmlformats.org/presentationml/2006/main">
  <p:tag name="KSO_WM_DIAGRAM_VIRTUALLY_FRAME" val="{&quot;height&quot;:271.75,&quot;left&quot;:48,&quot;top&quot;:231.6,&quot;width&quot;:864}"/>
</p:tagLst>
</file>

<file path=ppt/tags/tag17.xml><?xml version="1.0" encoding="utf-8"?>
<p:tagLst xmlns:p="http://schemas.openxmlformats.org/presentationml/2006/main">
  <p:tag name="KSO_WM_DIAGRAM_VIRTUALLY_FRAME" val="{&quot;height&quot;:271.75,&quot;left&quot;:48,&quot;top&quot;:231.6,&quot;width&quot;:864}"/>
</p:tagLst>
</file>

<file path=ppt/tags/tag18.xml><?xml version="1.0" encoding="utf-8"?>
<p:tagLst xmlns:p="http://schemas.openxmlformats.org/presentationml/2006/main">
  <p:tag name="KSO_WM_DIAGRAM_VIRTUALLY_FRAME" val="{&quot;height&quot;:271.75,&quot;left&quot;:48,&quot;top&quot;:231.6,&quot;width&quot;:864}"/>
</p:tagLst>
</file>

<file path=ppt/tags/tag19.xml><?xml version="1.0" encoding="utf-8"?>
<p:tagLst xmlns:p="http://schemas.openxmlformats.org/presentationml/2006/main">
  <p:tag name="KSO_WM_DIAGRAM_VIRTUALLY_FRAME" val="{&quot;height&quot;:271.75,&quot;left&quot;:48,&quot;top&quot;:231.6,&quot;width&quot;:864}"/>
</p:tagLst>
</file>

<file path=ppt/tags/tag20.xml><?xml version="1.0" encoding="utf-8"?>
<p:tagLst xmlns:p="http://schemas.openxmlformats.org/presentationml/2006/main">
  <p:tag name="KSO_WM_DIAGRAM_VIRTUALLY_FRAME" val="{&quot;height&quot;:271.75,&quot;left&quot;:48,&quot;top&quot;:231.6,&quot;width&quot;:864}"/>
</p:tagLst>
</file>

<file path=ppt/tags/tag21.xml><?xml version="1.0" encoding="utf-8"?>
<p:tagLst xmlns:p="http://schemas.openxmlformats.org/presentationml/2006/main">
  <p:tag name="KSO_WM_DIAGRAM_VIRTUALLY_FRAME" val="{&quot;height&quot;:271.75,&quot;left&quot;:48,&quot;top&quot;:231.6,&quot;width&quot;:864}"/>
</p:tagLst>
</file>

<file path=ppt/tags/tag22.xml><?xml version="1.0" encoding="utf-8"?>
<p:tagLst xmlns:p="http://schemas.openxmlformats.org/presentationml/2006/main">
  <p:tag name="KSO_WM_DIAGRAM_VIRTUALLY_FRAME" val="{&quot;height&quot;:271.75,&quot;left&quot;:48,&quot;top&quot;:231.6,&quot;width&quot;:864}"/>
</p:tagLst>
</file>

<file path=ppt/tags/tag23.xml><?xml version="1.0" encoding="utf-8"?>
<p:tagLst xmlns:p="http://schemas.openxmlformats.org/presentationml/2006/main">
  <p:tag name="KSO_WM_DIAGRAM_VIRTUALLY_FRAME" val="{&quot;height&quot;:271.75,&quot;left&quot;:48,&quot;top&quot;:231.6,&quot;width&quot;:864}"/>
</p:tagLst>
</file>

<file path=ppt/tags/tag24.xml><?xml version="1.0" encoding="utf-8"?>
<p:tagLst xmlns:p="http://schemas.openxmlformats.org/presentationml/2006/main">
  <p:tag name="KSO_WM_DIAGRAM_VIRTUALLY_FRAME" val="{&quot;height&quot;:271.75,&quot;left&quot;:48,&quot;top&quot;:231.6,&quot;width&quot;:864}"/>
</p:tagLst>
</file>

<file path=ppt/tags/tag25.xml><?xml version="1.0" encoding="utf-8"?>
<p:tagLst xmlns:p="http://schemas.openxmlformats.org/presentationml/2006/main">
  <p:tag name="KSO_WM_DIAGRAM_VIRTUALLY_FRAME" val="{&quot;height&quot;:365.8,&quot;left&quot;:48,&quot;top&quot;:137.7,&quot;width&quot;:864}"/>
</p:tagLst>
</file>

<file path=ppt/tags/tag26.xml><?xml version="1.0" encoding="utf-8"?>
<p:tagLst xmlns:p="http://schemas.openxmlformats.org/presentationml/2006/main">
  <p:tag name="KSO_WM_DIAGRAM_VIRTUALLY_FRAME" val="{&quot;height&quot;:365.8,&quot;left&quot;:48,&quot;top&quot;:137.7,&quot;width&quot;:864}"/>
</p:tagLst>
</file>

<file path=ppt/tags/tag27.xml><?xml version="1.0" encoding="utf-8"?>
<p:tagLst xmlns:p="http://schemas.openxmlformats.org/presentationml/2006/main">
  <p:tag name="KSO_WM_DIAGRAM_VIRTUALLY_FRAME" val="{&quot;height&quot;:365.8,&quot;left&quot;:48,&quot;top&quot;:137.7,&quot;width&quot;:864}"/>
</p:tagLst>
</file>

<file path=ppt/tags/tag28.xml><?xml version="1.0" encoding="utf-8"?>
<p:tagLst xmlns:p="http://schemas.openxmlformats.org/presentationml/2006/main">
  <p:tag name="KSO_WM_DIAGRAM_VIRTUALLY_FRAME" val="{&quot;height&quot;:365.8,&quot;left&quot;:48,&quot;top&quot;:137.7,&quot;width&quot;:864}"/>
</p:tagLst>
</file>

<file path=ppt/tags/tag29.xml><?xml version="1.0" encoding="utf-8"?>
<p:tagLst xmlns:p="http://schemas.openxmlformats.org/presentationml/2006/main">
  <p:tag name="KSO_WM_DIAGRAM_VIRTUALLY_FRAME" val="{&quot;height&quot;:365.8,&quot;left&quot;:48,&quot;top&quot;:137.7,&quot;width&quot;:864}"/>
</p:tagLst>
</file>

<file path=ppt/tags/tag30.xml><?xml version="1.0" encoding="utf-8"?>
<p:tagLst xmlns:p="http://schemas.openxmlformats.org/presentationml/2006/main">
  <p:tag name="KSO_WM_DIAGRAM_VIRTUALLY_FRAME" val="{&quot;height&quot;:365.8,&quot;left&quot;:48,&quot;top&quot;:137.7,&quot;width&quot;:864}"/>
</p:tagLst>
</file>

<file path=ppt/tags/tag31.xml><?xml version="1.0" encoding="utf-8"?>
<p:tagLst xmlns:p="http://schemas.openxmlformats.org/presentationml/2006/main">
  <p:tag name="KSO_WM_DIAGRAM_VIRTUALLY_FRAME" val="{&quot;height&quot;:365.8,&quot;left&quot;:48,&quot;top&quot;:137.7,&quot;width&quot;:864}"/>
</p:tagLst>
</file>

<file path=ppt/tags/tag32.xml><?xml version="1.0" encoding="utf-8"?>
<p:tagLst xmlns:p="http://schemas.openxmlformats.org/presentationml/2006/main">
  <p:tag name="KSO_WM_DIAGRAM_VIRTUALLY_FRAME" val="{&quot;height&quot;:365.8,&quot;left&quot;:48,&quot;top&quot;:137.7,&quot;width&quot;:864}"/>
</p:tagLst>
</file>

<file path=ppt/tags/tag33.xml><?xml version="1.0" encoding="utf-8"?>
<p:tagLst xmlns:p="http://schemas.openxmlformats.org/presentationml/2006/main">
  <p:tag name="KSO_WM_DIAGRAM_VIRTUALLY_FRAME" val="{&quot;height&quot;:365.8,&quot;left&quot;:48,&quot;top&quot;:137.7,&quot;width&quot;:864}"/>
</p:tagLst>
</file>

<file path=ppt/tags/tag34.xml><?xml version="1.0" encoding="utf-8"?>
<p:tagLst xmlns:p="http://schemas.openxmlformats.org/presentationml/2006/main">
  <p:tag name="KSO_WM_DIAGRAM_VIRTUALLY_FRAME" val="{&quot;height&quot;:365.8,&quot;left&quot;:48,&quot;top&quot;:137.7,&quot;width&quot;:864}"/>
</p:tagLst>
</file>

<file path=ppt/tags/tag35.xml><?xml version="1.0" encoding="utf-8"?>
<p:tagLst xmlns:p="http://schemas.openxmlformats.org/presentationml/2006/main">
  <p:tag name="KSO_WM_DIAGRAM_VIRTUALLY_FRAME" val="{&quot;height&quot;:365.8,&quot;left&quot;:48,&quot;top&quot;:137.7,&quot;width&quot;:864}"/>
</p:tagLst>
</file>

<file path=ppt/tags/tag36.xml><?xml version="1.0" encoding="utf-8"?>
<p:tagLst xmlns:p="http://schemas.openxmlformats.org/presentationml/2006/main">
  <p:tag name="KSO_WM_DIAGRAM_VIRTUALLY_FRAME" val="{&quot;height&quot;:365.8,&quot;left&quot;:48,&quot;top&quot;:137.7,&quot;width&quot;:864}"/>
</p:tagLst>
</file>

<file path=ppt/tags/tag37.xml><?xml version="1.0" encoding="utf-8"?>
<p:tagLst xmlns:p="http://schemas.openxmlformats.org/presentationml/2006/main">
  <p:tag name="KSO_WM_DIAGRAM_VIRTUALLY_FRAME" val="{&quot;height&quot;:365.8,&quot;left&quot;:48,&quot;top&quot;:137.7,&quot;width&quot;:864}"/>
</p:tagLst>
</file>

<file path=ppt/tags/tag38.xml><?xml version="1.0" encoding="utf-8"?>
<p:tagLst xmlns:p="http://schemas.openxmlformats.org/presentationml/2006/main">
  <p:tag name="KSO_WM_DIAGRAM_VIRTUALLY_FRAME" val="{&quot;height&quot;:365.8,&quot;left&quot;:48,&quot;top&quot;:137.7,&quot;width&quot;:864}"/>
</p:tagLst>
</file>

<file path=ppt/tags/tag39.xml><?xml version="1.0" encoding="utf-8"?>
<p:tagLst xmlns:p="http://schemas.openxmlformats.org/presentationml/2006/main">
  <p:tag name="KSO_WM_DIAGRAM_VIRTUALLY_FRAME" val="{&quot;height&quot;:365.8,&quot;left&quot;:48,&quot;top&quot;:137.7,&quot;width&quot;:864}"/>
</p:tagLst>
</file>

<file path=ppt/tags/tag40.xml><?xml version="1.0" encoding="utf-8"?>
<p:tagLst xmlns:p="http://schemas.openxmlformats.org/presentationml/2006/main">
  <p:tag name="KSO_WM_DIAGRAM_VIRTUALLY_FRAME" val="{&quot;height&quot;:365.8,&quot;left&quot;:48,&quot;top&quot;:137.7,&quot;width&quot;:864}"/>
</p:tagLst>
</file>

<file path=ppt/tags/tag41.xml><?xml version="1.0" encoding="utf-8"?>
<p:tagLst xmlns:p="http://schemas.openxmlformats.org/presentationml/2006/main">
  <p:tag name="KSO_WM_DIAGRAM_VIRTUALLY_FRAME" val="{&quot;height&quot;:365.8,&quot;left&quot;:48,&quot;top&quot;:137.7,&quot;width&quot;:864}"/>
</p:tagLst>
</file>

<file path=ppt/tags/tag42.xml><?xml version="1.0" encoding="utf-8"?>
<p:tagLst xmlns:p="http://schemas.openxmlformats.org/presentationml/2006/main">
  <p:tag name="KSO_WM_DIAGRAM_VIRTUALLY_FRAME" val="{&quot;height&quot;:365.8,&quot;left&quot;:48,&quot;top&quot;:137.7,&quot;width&quot;:864}"/>
</p:tagLst>
</file>

<file path=ppt/tags/tag43.xml><?xml version="1.0" encoding="utf-8"?>
<p:tagLst xmlns:p="http://schemas.openxmlformats.org/presentationml/2006/main">
  <p:tag name="KSO_WM_DIAGRAM_VIRTUALLY_FRAME" val="{&quot;height&quot;:365.8,&quot;left&quot;:48,&quot;top&quot;:137.7,&quot;width&quot;:864}"/>
</p:tagLst>
</file>

<file path=ppt/tags/tag44.xml><?xml version="1.0" encoding="utf-8"?>
<p:tagLst xmlns:p="http://schemas.openxmlformats.org/presentationml/2006/main">
  <p:tag name="KSO_WM_DIAGRAM_VIRTUALLY_FRAME" val="{&quot;height&quot;:365.8,&quot;left&quot;:48,&quot;top&quot;:137.7,&quot;width&quot;:864}"/>
</p:tagLst>
</file>

<file path=ppt/tags/tag45.xml><?xml version="1.0" encoding="utf-8"?>
<p:tagLst xmlns:p="http://schemas.openxmlformats.org/presentationml/2006/main">
  <p:tag name="KSO_WM_DIAGRAM_VIRTUALLY_FRAME" val="{&quot;height&quot;:365.8,&quot;left&quot;:48,&quot;top&quot;:137.7,&quot;width&quot;:864}"/>
</p:tagLst>
</file>

<file path=ppt/tags/tag46.xml><?xml version="1.0" encoding="utf-8"?>
<p:tagLst xmlns:p="http://schemas.openxmlformats.org/presentationml/2006/main">
  <p:tag name="KSO_WM_DIAGRAM_VIRTUALLY_FRAME" val="{&quot;height&quot;:365.8,&quot;left&quot;:48,&quot;top&quot;:137.7,&quot;width&quot;:864}"/>
</p:tagLst>
</file>

<file path=ppt/tags/tag47.xml><?xml version="1.0" encoding="utf-8"?>
<p:tagLst xmlns:p="http://schemas.openxmlformats.org/presentationml/2006/main">
  <p:tag name="KSO_WM_DIAGRAM_VIRTUALLY_FRAME" val="{&quot;height&quot;:365.8,&quot;left&quot;:48,&quot;top&quot;:137.7,&quot;width&quot;:864}"/>
</p:tagLst>
</file>

<file path=ppt/tags/tag48.xml><?xml version="1.0" encoding="utf-8"?>
<p:tagLst xmlns:p="http://schemas.openxmlformats.org/presentationml/2006/main">
  <p:tag name="KSO_WM_DIAGRAM_VIRTUALLY_FRAME" val="{&quot;height&quot;:365.8,&quot;left&quot;:48,&quot;top&quot;:137.7,&quot;width&quot;:864}"/>
</p:tagLst>
</file>

<file path=ppt/tags/tag49.xml><?xml version="1.0" encoding="utf-8"?>
<p:tagLst xmlns:p="http://schemas.openxmlformats.org/presentationml/2006/main">
  <p:tag name="KSO_WM_DIAGRAM_VIRTUALLY_FRAME" val="{&quot;height&quot;:365.8,&quot;left&quot;:48,&quot;top&quot;:137.7,&quot;width&quot;:864}"/>
</p:tagLst>
</file>

<file path=ppt/tags/tag50.xml><?xml version="1.0" encoding="utf-8"?>
<p:tagLst xmlns:p="http://schemas.openxmlformats.org/presentationml/2006/main">
  <p:tag name="KSO_WM_DIAGRAM_VIRTUALLY_FRAME" val="{&quot;height&quot;:365.8,&quot;left&quot;:48,&quot;top&quot;:137.7,&quot;width&quot;:864}"/>
</p:tagLst>
</file>

<file path=ppt/tags/tag51.xml><?xml version="1.0" encoding="utf-8"?>
<p:tagLst xmlns:p="http://schemas.openxmlformats.org/presentationml/2006/main">
  <p:tag name="KSO_WM_DIAGRAM_VIRTUALLY_FRAME" val="{&quot;height&quot;:365.8,&quot;left&quot;:48,&quot;top&quot;:137.7,&quot;width&quot;:864}"/>
</p:tagLst>
</file>

<file path=ppt/tags/tag52.xml><?xml version="1.0" encoding="utf-8"?>
<p:tagLst xmlns:p="http://schemas.openxmlformats.org/presentationml/2006/main">
  <p:tag name="KSO_WM_DIAGRAM_VIRTUALLY_FRAME" val="{&quot;height&quot;:365.8,&quot;left&quot;:48,&quot;top&quot;:137.7,&quot;width&quot;:864}"/>
</p:tagLst>
</file>

<file path=ppt/tags/tag53.xml><?xml version="1.0" encoding="utf-8"?>
<p:tagLst xmlns:p="http://schemas.openxmlformats.org/presentationml/2006/main">
  <p:tag name="KSO_WM_DIAGRAM_VIRTUALLY_FRAME" val="{&quot;height&quot;:365.8,&quot;left&quot;:48,&quot;top&quot;:137.7,&quot;width&quot;:864}"/>
</p:tagLst>
</file>

<file path=ppt/tags/tag54.xml><?xml version="1.0" encoding="utf-8"?>
<p:tagLst xmlns:p="http://schemas.openxmlformats.org/presentationml/2006/main">
  <p:tag name="KSO_WM_DIAGRAM_VIRTUALLY_FRAME" val="{&quot;height&quot;:365.8,&quot;left&quot;:48,&quot;top&quot;:137.7,&quot;width&quot;:864}"/>
</p:tagLst>
</file>

<file path=ppt/tags/tag55.xml><?xml version="1.0" encoding="utf-8"?>
<p:tagLst xmlns:p="http://schemas.openxmlformats.org/presentationml/2006/main">
  <p:tag name="KSO_WM_DIAGRAM_VIRTUALLY_FRAME" val="{&quot;height&quot;:124,&quot;left&quot;:72,&quot;top&quot;:333.2,&quot;width&quot;:558.72}"/>
</p:tagLst>
</file>

<file path=ppt/tags/tag56.xml><?xml version="1.0" encoding="utf-8"?>
<p:tagLst xmlns:p="http://schemas.openxmlformats.org/presentationml/2006/main">
  <p:tag name="KSO_WM_DIAGRAM_VIRTUALLY_FRAME" val="{&quot;height&quot;:124,&quot;left&quot;:72,&quot;top&quot;:333.2,&quot;width&quot;:558.72}"/>
</p:tagLst>
</file>

<file path=ppt/tags/tag57.xml><?xml version="1.0" encoding="utf-8"?>
<p:tagLst xmlns:p="http://schemas.openxmlformats.org/presentationml/2006/main">
  <p:tag name="KSO_WM_DIAGRAM_VIRTUALLY_FRAME" val="{&quot;height&quot;:124,&quot;left&quot;:72,&quot;top&quot;:333.2,&quot;width&quot;:558.72}"/>
</p:tagLst>
</file>

<file path=ppt/tags/tag58.xml><?xml version="1.0" encoding="utf-8"?>
<p:tagLst xmlns:p="http://schemas.openxmlformats.org/presentationml/2006/main">
  <p:tag name="KSO_WM_DIAGRAM_VIRTUALLY_FRAME" val="{&quot;height&quot;:124,&quot;left&quot;:72,&quot;top&quot;:333.2,&quot;width&quot;:558.72}"/>
</p:tagLst>
</file>

<file path=ppt/tags/tag59.xml><?xml version="1.0" encoding="utf-8"?>
<p:tagLst xmlns:p="http://schemas.openxmlformats.org/presentationml/2006/main">
  <p:tag name="KSO_WM_DIAGRAM_VIRTUALLY_FRAME" val="{&quot;height&quot;:124,&quot;left&quot;:72,&quot;top&quot;:333.2,&quot;width&quot;:558.72}"/>
</p:tagLst>
</file>

<file path=ppt/tags/tag60.xml><?xml version="1.0" encoding="utf-8"?>
<p:tagLst xmlns:p="http://schemas.openxmlformats.org/presentationml/2006/main">
  <p:tag name="KSO_WM_DIAGRAM_VIRTUALLY_FRAME" val="{&quot;height&quot;:124,&quot;left&quot;:72,&quot;top&quot;:333.2,&quot;width&quot;:558.72}"/>
</p:tagLst>
</file>

<file path=ppt/tags/tag61.xml><?xml version="1.0" encoding="utf-8"?>
<p:tagLst xmlns:p="http://schemas.openxmlformats.org/presentationml/2006/main">
  <p:tag name="KSO_WM_DIAGRAM_VIRTUALLY_FRAME" val="{&quot;height&quot;:124,&quot;left&quot;:72,&quot;top&quot;:333.2,&quot;width&quot;:558.72}"/>
</p:tagLst>
</file>

<file path=ppt/tags/tag62.xml><?xml version="1.0" encoding="utf-8"?>
<p:tagLst xmlns:p="http://schemas.openxmlformats.org/presentationml/2006/main">
  <p:tag name="KSO_WM_DIAGRAM_VIRTUALLY_FRAME" val="{&quot;height&quot;:124,&quot;left&quot;:72,&quot;top&quot;:333.2,&quot;width&quot;:558.72}"/>
</p:tagLst>
</file>

<file path=ppt/tags/tag63.xml><?xml version="1.0" encoding="utf-8"?>
<p:tagLst xmlns:p="http://schemas.openxmlformats.org/presentationml/2006/main">
  <p:tag name="KSO_WM_DIAGRAM_VIRTUALLY_FRAME" val="{&quot;height&quot;:124,&quot;left&quot;:72,&quot;top&quot;:333.2,&quot;width&quot;:558.72}"/>
</p:tagLst>
</file>

<file path=ppt/tags/tag64.xml><?xml version="1.0" encoding="utf-8"?>
<p:tagLst xmlns:p="http://schemas.openxmlformats.org/presentationml/2006/main">
  <p:tag name="KSO_WM_DIAGRAM_VIRTUALLY_FRAME" val="{&quot;height&quot;:124,&quot;left&quot;:72,&quot;top&quot;:333.2,&quot;width&quot;:558.72}"/>
</p:tagLst>
</file>

<file path=ppt/tags/tag65.xml><?xml version="1.0" encoding="utf-8"?>
<p:tagLst xmlns:p="http://schemas.openxmlformats.org/presentationml/2006/main">
  <p:tag name="KSO_WM_DIAGRAM_VIRTUALLY_FRAME" val="{&quot;height&quot;:124,&quot;left&quot;:72,&quot;top&quot;:333.2,&quot;width&quot;:558.72}"/>
</p:tagLst>
</file>

<file path=ppt/tags/tag66.xml><?xml version="1.0" encoding="utf-8"?>
<p:tagLst xmlns:p="http://schemas.openxmlformats.org/presentationml/2006/main">
  <p:tag name="KSO_WM_DIAGRAM_VIRTUALLY_FRAME" val="{&quot;height&quot;:124,&quot;left&quot;:72,&quot;top&quot;:333.2,&quot;width&quot;:558.72}"/>
</p:tagLst>
</file>

<file path=ppt/tags/tag67.xml><?xml version="1.0" encoding="utf-8"?>
<p:tagLst xmlns:p="http://schemas.openxmlformats.org/presentationml/2006/main">
  <p:tag name="KSO_WM_DIAGRAM_VIRTUALLY_FRAME" val="{&quot;height&quot;:124,&quot;left&quot;:72,&quot;top&quot;:333.2,&quot;width&quot;:558.72}"/>
</p:tagLst>
</file>

<file path=ppt/tags/tag68.xml><?xml version="1.0" encoding="utf-8"?>
<p:tagLst xmlns:p="http://schemas.openxmlformats.org/presentationml/2006/main">
  <p:tag name="KSO_WM_DIAGRAM_VIRTUALLY_FRAME" val="{&quot;height&quot;:124,&quot;left&quot;:72,&quot;top&quot;:333.2,&quot;width&quot;:558.72}"/>
</p:tagLst>
</file>

<file path=ppt/tags/tag69.xml><?xml version="1.0" encoding="utf-8"?>
<p:tagLst xmlns:p="http://schemas.openxmlformats.org/presentationml/2006/main">
  <p:tag name="KSO_WM_DIAGRAM_VIRTUALLY_FRAME" val="{&quot;height&quot;:124,&quot;left&quot;:72,&quot;top&quot;:333.2,&quot;width&quot;:558.72}"/>
</p:tagLst>
</file>

<file path=ppt/tags/tag70.xml><?xml version="1.0" encoding="utf-8"?>
<p:tagLst xmlns:p="http://schemas.openxmlformats.org/presentationml/2006/main">
  <p:tag name="KSO_WM_DIAGRAM_VIRTUALLY_FRAME" val="{&quot;height&quot;:124,&quot;left&quot;:72,&quot;top&quot;:333.2,&quot;width&quot;:558.72}"/>
</p:tagLst>
</file>

<file path=ppt/tags/tag71.xml><?xml version="1.0" encoding="utf-8"?>
<p:tagLst xmlns:p="http://schemas.openxmlformats.org/presentationml/2006/main">
  <p:tag name="KSO_WM_DIAGRAM_VIRTUALLY_FRAME" val="{&quot;height&quot;:124,&quot;left&quot;:72,&quot;top&quot;:333.2,&quot;width&quot;:558.72}"/>
</p:tagLst>
</file>

<file path=ppt/tags/tag72.xml><?xml version="1.0" encoding="utf-8"?>
<p:tagLst xmlns:p="http://schemas.openxmlformats.org/presentationml/2006/main">
  <p:tag name="KSO_WM_DIAGRAM_VIRTUALLY_FRAME" val="{&quot;height&quot;:124,&quot;left&quot;:72,&quot;top&quot;:333.2,&quot;width&quot;:558.72}"/>
</p:tagLst>
</file>

<file path=ppt/tags/tag73.xml><?xml version="1.0" encoding="utf-8"?>
<p:tagLst xmlns:p="http://schemas.openxmlformats.org/presentationml/2006/main">
  <p:tag name="KSO_WM_DIAGRAM_VIRTUALLY_FRAME" val="{&quot;height&quot;:124,&quot;left&quot;:72,&quot;top&quot;:333.2,&quot;width&quot;:558.72}"/>
</p:tagLst>
</file>

<file path=ppt/tags/tag74.xml><?xml version="1.0" encoding="utf-8"?>
<p:tagLst xmlns:p="http://schemas.openxmlformats.org/presentationml/2006/main">
  <p:tag name="KSO_WM_DIAGRAM_VIRTUALLY_FRAME" val="{&quot;height&quot;:146.4,&quot;left&quot;:48,&quot;top&quot;:297.6,&quot;width&quot;:864}"/>
</p:tagLst>
</file>

<file path=ppt/tags/tag75.xml><?xml version="1.0" encoding="utf-8"?>
<p:tagLst xmlns:p="http://schemas.openxmlformats.org/presentationml/2006/main">
  <p:tag name="KSO_WM_DIAGRAM_VIRTUALLY_FRAME" val="{&quot;height&quot;:146.4,&quot;left&quot;:48,&quot;top&quot;:297.6,&quot;width&quot;:864}"/>
</p:tagLst>
</file>

<file path=ppt/tags/tag76.xml><?xml version="1.0" encoding="utf-8"?>
<p:tagLst xmlns:p="http://schemas.openxmlformats.org/presentationml/2006/main">
  <p:tag name="KSO_WM_DIAGRAM_VIRTUALLY_FRAME" val="{&quot;height&quot;:146.4,&quot;left&quot;:48,&quot;top&quot;:297.6,&quot;width&quot;:864}"/>
</p:tagLst>
</file>

<file path=ppt/tags/tag77.xml><?xml version="1.0" encoding="utf-8"?>
<p:tagLst xmlns:p="http://schemas.openxmlformats.org/presentationml/2006/main">
  <p:tag name="KSO_WM_DIAGRAM_VIRTUALLY_FRAME" val="{&quot;height&quot;:146.4,&quot;left&quot;:48,&quot;top&quot;:297.6,&quot;width&quot;:864}"/>
</p:tagLst>
</file>

<file path=ppt/tags/tag78.xml><?xml version="1.0" encoding="utf-8"?>
<p:tagLst xmlns:p="http://schemas.openxmlformats.org/presentationml/2006/main">
  <p:tag name="KSO_WM_DIAGRAM_VIRTUALLY_FRAME" val="{&quot;height&quot;:146.4,&quot;left&quot;:48,&quot;top&quot;:297.6,&quot;width&quot;:864}"/>
</p:tagLst>
</file>

<file path=ppt/tags/tag79.xml><?xml version="1.0" encoding="utf-8"?>
<p:tagLst xmlns:p="http://schemas.openxmlformats.org/presentationml/2006/main">
  <p:tag name="KSO_WM_DIAGRAM_VIRTUALLY_FRAME" val="{&quot;height&quot;:146.4,&quot;left&quot;:48,&quot;top&quot;:297.6,&quot;width&quot;:864}"/>
</p:tagLst>
</file>

<file path=ppt/tags/tag80.xml><?xml version="1.0" encoding="utf-8"?>
<p:tagLst xmlns:p="http://schemas.openxmlformats.org/presentationml/2006/main">
  <p:tag name="KSO_WM_DIAGRAM_VIRTUALLY_FRAME" val="{&quot;height&quot;:146.4,&quot;left&quot;:48,&quot;top&quot;:297.6,&quot;width&quot;:864}"/>
</p:tagLst>
</file>

<file path=ppt/tags/tag81.xml><?xml version="1.0" encoding="utf-8"?>
<p:tagLst xmlns:p="http://schemas.openxmlformats.org/presentationml/2006/main">
  <p:tag name="KSO_WM_DIAGRAM_VIRTUALLY_FRAME" val="{&quot;height&quot;:146.4,&quot;left&quot;:48,&quot;top&quot;:297.6,&quot;width&quot;:864}"/>
</p:tagLst>
</file>

<file path=ppt/tags/tag82.xml><?xml version="1.0" encoding="utf-8"?>
<p:tagLst xmlns:p="http://schemas.openxmlformats.org/presentationml/2006/main">
  <p:tag name="KSO_WM_DIAGRAM_VIRTUALLY_FRAME" val="{&quot;height&quot;:146.4,&quot;left&quot;:48,&quot;top&quot;:297.6,&quot;width&quot;:864}"/>
</p:tagLst>
</file>

<file path=ppt/tags/tag83.xml><?xml version="1.0" encoding="utf-8"?>
<p:tagLst xmlns:p="http://schemas.openxmlformats.org/presentationml/2006/main">
  <p:tag name="KSO_WM_DIAGRAM_VIRTUALLY_FRAME" val="{&quot;height&quot;:146.4,&quot;left&quot;:48,&quot;top&quot;:297.6,&quot;width&quot;:864}"/>
</p:tagLst>
</file>

<file path=ppt/tags/tag84.xml><?xml version="1.0" encoding="utf-8"?>
<p:tagLst xmlns:p="http://schemas.openxmlformats.org/presentationml/2006/main">
  <p:tag name="KSO_WM_DIAGRAM_VIRTUALLY_FRAME" val="{&quot;height&quot;:146.4,&quot;left&quot;:48,&quot;top&quot;:297.6,&quot;width&quot;:864}"/>
</p:tagLst>
</file>

<file path=ppt/tags/tag85.xml><?xml version="1.0" encoding="utf-8"?>
<p:tagLst xmlns:p="http://schemas.openxmlformats.org/presentationml/2006/main">
  <p:tag name="KSO_WM_DIAGRAM_VIRTUALLY_FRAME" val="{&quot;height&quot;:146.4,&quot;left&quot;:48,&quot;top&quot;:297.6,&quot;width&quot;:864}"/>
</p:tagLst>
</file>

<file path=ppt/tags/tag86.xml><?xml version="1.0" encoding="utf-8"?>
<p:tagLst xmlns:p="http://schemas.openxmlformats.org/presentationml/2006/main">
  <p:tag name="KSO_WM_DIAGRAM_VIRTUALLY_FRAME" val="{&quot;height&quot;:146.4,&quot;left&quot;:48,&quot;top&quot;:297.6,&quot;width&quot;:864}"/>
</p:tagLst>
</file>

<file path=ppt/tags/tag87.xml><?xml version="1.0" encoding="utf-8"?>
<p:tagLst xmlns:p="http://schemas.openxmlformats.org/presentationml/2006/main">
  <p:tag name="KSO_WM_DIAGRAM_VIRTUALLY_FRAME" val="{&quot;height&quot;:146.4,&quot;left&quot;:48,&quot;top&quot;:297.6,&quot;width&quot;:864}"/>
</p:tagLst>
</file>

<file path=ppt/tags/tag88.xml><?xml version="1.0" encoding="utf-8"?>
<p:tagLst xmlns:p="http://schemas.openxmlformats.org/presentationml/2006/main">
  <p:tag name="KSO_WM_DIAGRAM_VIRTUALLY_FRAME" val="{&quot;height&quot;:146.4,&quot;left&quot;:48,&quot;top&quot;:297.6,&quot;width&quot;:864}"/>
</p:tagLst>
</file>

<file path=ppt/tags/tag89.xml><?xml version="1.0" encoding="utf-8"?>
<p:tagLst xmlns:p="http://schemas.openxmlformats.org/presentationml/2006/main">
  <p:tag name="KSO_WM_DIAGRAM_VIRTUALLY_FRAME" val="{&quot;height&quot;:146.4,&quot;left&quot;:48,&quot;top&quot;:297.6,&quot;width&quot;:864}"/>
</p:tagLst>
</file>

<file path=ppt/tags/tag90.xml><?xml version="1.0" encoding="utf-8"?>
<p:tagLst xmlns:p="http://schemas.openxmlformats.org/presentationml/2006/main">
  <p:tag name="KSO_WM_DIAGRAM_VIRTUALLY_FRAME" val="{&quot;height&quot;:146.4,&quot;left&quot;:48,&quot;top&quot;:297.6,&quot;width&quot;:864}"/>
</p:tagLst>
</file>

<file path=ppt/tags/tag91.xml><?xml version="1.0" encoding="utf-8"?>
<p:tagLst xmlns:p="http://schemas.openxmlformats.org/presentationml/2006/main">
  <p:tag name="KSO_WM_DIAGRAM_VIRTUALLY_FRAME" val="{&quot;height&quot;:146.4,&quot;left&quot;:48,&quot;top&quot;:297.6,&quot;width&quot;:864}"/>
</p:tagLst>
</file>

<file path=ppt/tags/tag92.xml><?xml version="1.0" encoding="utf-8"?>
<p:tagLst xmlns:p="http://schemas.openxmlformats.org/presentationml/2006/main">
  <p:tag name="KSO_WM_DIAGRAM_VIRTUALLY_FRAME" val="{&quot;height&quot;:146.4,&quot;left&quot;:48,&quot;top&quot;:297.6,&quot;width&quot;:864}"/>
</p:tagLst>
</file>

<file path=ppt/tags/tag93.xml><?xml version="1.0" encoding="utf-8"?>
<p:tagLst xmlns:p="http://schemas.openxmlformats.org/presentationml/2006/main">
  <p:tag name="KSO_WM_DIAGRAM_VIRTUALLY_FRAME" val="{&quot;height&quot;:146.4,&quot;left&quot;:48,&quot;top&quot;:297.6,&quot;width&quot;:864}"/>
</p:tagLst>
</file>

<file path=ppt/tags/tag94.xml><?xml version="1.0" encoding="utf-8"?>
<p:tagLst xmlns:p="http://schemas.openxmlformats.org/presentationml/2006/main">
  <p:tag name="KSO_WM_DIAGRAM_VIRTUALLY_FRAME" val="{&quot;height&quot;:165.6,&quot;left&quot;:48,&quot;top&quot;:326.4,&quot;width&quot;:864}"/>
</p:tagLst>
</file>

<file path=ppt/tags/tag95.xml><?xml version="1.0" encoding="utf-8"?>
<p:tagLst xmlns:p="http://schemas.openxmlformats.org/presentationml/2006/main">
  <p:tag name="KSO_WM_DIAGRAM_VIRTUALLY_FRAME" val="{&quot;height&quot;:165.6,&quot;left&quot;:48,&quot;top&quot;:326.4,&quot;width&quot;:864}"/>
</p:tagLst>
</file>

<file path=ppt/tags/tag96.xml><?xml version="1.0" encoding="utf-8"?>
<p:tagLst xmlns:p="http://schemas.openxmlformats.org/presentationml/2006/main">
  <p:tag name="KSO_WM_DIAGRAM_VIRTUALLY_FRAME" val="{&quot;height&quot;:165.6,&quot;left&quot;:48,&quot;top&quot;:326.4,&quot;width&quot;:864}"/>
</p:tagLst>
</file>

<file path=ppt/tags/tag97.xml><?xml version="1.0" encoding="utf-8"?>
<p:tagLst xmlns:p="http://schemas.openxmlformats.org/presentationml/2006/main">
  <p:tag name="KSO_WM_DIAGRAM_VIRTUALLY_FRAME" val="{&quot;height&quot;:165.6,&quot;left&quot;:48,&quot;top&quot;:326.4,&quot;width&quot;:864}"/>
</p:tagLst>
</file>

<file path=ppt/tags/tag98.xml><?xml version="1.0" encoding="utf-8"?>
<p:tagLst xmlns:p="http://schemas.openxmlformats.org/presentationml/2006/main">
  <p:tag name="KSO_WM_DIAGRAM_VIRTUALLY_FRAME" val="{&quot;height&quot;:165.6,&quot;left&quot;:48,&quot;top&quot;:326.4,&quot;width&quot;:864}"/>
</p:tagLst>
</file>

<file path=ppt/tags/tag99.xml><?xml version="1.0" encoding="utf-8"?>
<p:tagLst xmlns:p="http://schemas.openxmlformats.org/presentationml/2006/main">
  <p:tag name="KSO_WM_DIAGRAM_VIRTUALLY_FRAME" val="{&quot;height&quot;:165.6,&quot;left&quot;:48,&quot;top&quot;:326.4,&quot;width&quot;:864}"/>
</p:tagLst>
</file>

<file path=ppt/tags/tag100.xml><?xml version="1.0" encoding="utf-8"?>
<p:tagLst xmlns:p="http://schemas.openxmlformats.org/presentationml/2006/main">
  <p:tag name="KSO_WM_DIAGRAM_VIRTUALLY_FRAME" val="{&quot;height&quot;:165.6,&quot;left&quot;:48,&quot;top&quot;:326.4,&quot;width&quot;:864}"/>
</p:tagLst>
</file>

<file path=ppt/tags/tag101.xml><?xml version="1.0" encoding="utf-8"?>
<p:tagLst xmlns:p="http://schemas.openxmlformats.org/presentationml/2006/main">
  <p:tag name="KSO_WM_DIAGRAM_VIRTUALLY_FRAME" val="{&quot;height&quot;:165.6,&quot;left&quot;:48,&quot;top&quot;:326.4,&quot;width&quot;:864}"/>
</p:tagLst>
</file>

<file path=ppt/tags/tag102.xml><?xml version="1.0" encoding="utf-8"?>
<p:tagLst xmlns:p="http://schemas.openxmlformats.org/presentationml/2006/main">
  <p:tag name="KSO_WM_DIAGRAM_VIRTUALLY_FRAME" val="{&quot;height&quot;:165.6,&quot;left&quot;:48,&quot;top&quot;:326.4,&quot;width&quot;:864}"/>
</p:tagLst>
</file>

<file path=ppt/tags/tag103.xml><?xml version="1.0" encoding="utf-8"?>
<p:tagLst xmlns:p="http://schemas.openxmlformats.org/presentationml/2006/main">
  <p:tag name="KSO_WM_DIAGRAM_VIRTUALLY_FRAME" val="{&quot;height&quot;:165.6,&quot;left&quot;:48,&quot;top&quot;:326.4,&quot;width&quot;:864}"/>
</p:tagLst>
</file>

<file path=ppt/tags/tag104.xml><?xml version="1.0" encoding="utf-8"?>
<p:tagLst xmlns:p="http://schemas.openxmlformats.org/presentationml/2006/main">
  <p:tag name="KSO_WM_DIAGRAM_VIRTUALLY_FRAME" val="{&quot;height&quot;:165.6,&quot;left&quot;:48,&quot;top&quot;:326.4,&quot;width&quot;:864}"/>
</p:tagLst>
</file>

<file path=ppt/tags/tag105.xml><?xml version="1.0" encoding="utf-8"?>
<p:tagLst xmlns:p="http://schemas.openxmlformats.org/presentationml/2006/main">
  <p:tag name="KSO_WM_DIAGRAM_VIRTUALLY_FRAME" val="{&quot;height&quot;:165.6,&quot;left&quot;:48,&quot;top&quot;:326.4,&quot;width&quot;:864}"/>
</p:tagLst>
</file>

<file path=ppt/tags/tag106.xml><?xml version="1.0" encoding="utf-8"?>
<p:tagLst xmlns:p="http://schemas.openxmlformats.org/presentationml/2006/main">
  <p:tag name="KSO_WM_DIAGRAM_VIRTUALLY_FRAME" val="{&quot;height&quot;:165.6,&quot;left&quot;:48,&quot;top&quot;:326.4,&quot;width&quot;:864}"/>
</p:tagLst>
</file>

<file path=ppt/tags/tag107.xml><?xml version="1.0" encoding="utf-8"?>
<p:tagLst xmlns:p="http://schemas.openxmlformats.org/presentationml/2006/main">
  <p:tag name="KSO_WM_DIAGRAM_VIRTUALLY_FRAME" val="{&quot;height&quot;:165.6,&quot;left&quot;:48,&quot;top&quot;:326.4,&quot;width&quot;:864}"/>
</p:tagLst>
</file>

<file path=ppt/tags/tag108.xml><?xml version="1.0" encoding="utf-8"?>
<p:tagLst xmlns:p="http://schemas.openxmlformats.org/presentationml/2006/main">
  <p:tag name="KSO_WM_DIAGRAM_VIRTUALLY_FRAME" val="{&quot;height&quot;:165.6,&quot;left&quot;:48,&quot;top&quot;:326.4,&quot;width&quot;:864}"/>
</p:tagLst>
</file>

<file path=ppt/tags/tag109.xml><?xml version="1.0" encoding="utf-8"?>
<p:tagLst xmlns:p="http://schemas.openxmlformats.org/presentationml/2006/main">
  <p:tag name="KSO_WM_DIAGRAM_VIRTUALLY_FRAME" val="{&quot;height&quot;:165.6,&quot;left&quot;:48,&quot;top&quot;:326.4,&quot;width&quot;:864}"/>
</p:tagLst>
</file>

<file path=ppt/tags/tag110.xml><?xml version="1.0" encoding="utf-8"?>
<p:tagLst xmlns:p="http://schemas.openxmlformats.org/presentationml/2006/main">
  <p:tag name="KSO_WM_DIAGRAM_VIRTUALLY_FRAME" val="{&quot;height&quot;:165.6,&quot;left&quot;:48,&quot;top&quot;:326.4,&quot;width&quot;:864}"/>
</p:tagLst>
</file>

<file path=ppt/tags/tag111.xml><?xml version="1.0" encoding="utf-8"?>
<p:tagLst xmlns:p="http://schemas.openxmlformats.org/presentationml/2006/main">
  <p:tag name="KSO_WM_DIAGRAM_VIRTUALLY_FRAME" val="{&quot;height&quot;:165.6,&quot;left&quot;:48,&quot;top&quot;:326.4,&quot;width&quot;:864}"/>
</p:tagLst>
</file>

<file path=ppt/tags/tag112.xml><?xml version="1.0" encoding="utf-8"?>
<p:tagLst xmlns:p="http://schemas.openxmlformats.org/presentationml/2006/main">
  <p:tag name="KSO_WM_DIAGRAM_VIRTUALLY_FRAME" val="{&quot;height&quot;:165.6,&quot;left&quot;:48,&quot;top&quot;:326.4,&quot;width&quot;:864}"/>
</p:tagLst>
</file>

<file path=ppt/tags/tag113.xml><?xml version="1.0" encoding="utf-8"?>
<p:tagLst xmlns:p="http://schemas.openxmlformats.org/presentationml/2006/main">
  <p:tag name="KSO_WM_DIAGRAM_VIRTUALLY_FRAME" val="{&quot;height&quot;:165.6,&quot;left&quot;:48,&quot;top&quot;:326.4,&quot;width&quot;:864}"/>
</p:tagLst>
</file>

<file path=ppt/tags/tag114.xml><?xml version="1.0" encoding="utf-8"?>
<p:tagLst xmlns:p="http://schemas.openxmlformats.org/presentationml/2006/main">
  <p:tag name="KSO_WM_DIAGRAM_VIRTUALLY_FRAME" val="{&quot;height&quot;:165.6,&quot;left&quot;:48,&quot;top&quot;:326.4,&quot;width&quot;:864}"/>
</p:tagLst>
</file>

<file path=ppt/tags/tag115.xml><?xml version="1.0" encoding="utf-8"?>
<p:tagLst xmlns:p="http://schemas.openxmlformats.org/presentationml/2006/main">
  <p:tag name="KSO_WM_DIAGRAM_VIRTUALLY_FRAME" val="{&quot;height&quot;:165.6,&quot;left&quot;:48,&quot;top&quot;:326.4,&quot;width&quot;:864}"/>
</p:tagLst>
</file>

<file path=ppt/tags/tag116.xml><?xml version="1.0" encoding="utf-8"?>
<p:tagLst xmlns:p="http://schemas.openxmlformats.org/presentationml/2006/main">
  <p:tag name="KSO_WM_DIAGRAM_VIRTUALLY_FRAME" val="{&quot;height&quot;:165.6,&quot;left&quot;:48,&quot;top&quot;:326.4,&quot;width&quot;:864}"/>
</p:tagLst>
</file>

<file path=ppt/tags/tag117.xml><?xml version="1.0" encoding="utf-8"?>
<p:tagLst xmlns:p="http://schemas.openxmlformats.org/presentationml/2006/main">
  <p:tag name="KSO_WM_DIAGRAM_VIRTUALLY_FRAME" val="{&quot;height&quot;:165.6,&quot;left&quot;:48,&quot;top&quot;:326.4,&quot;width&quot;:864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3381</Words>
  <Application>WPS 演示</Application>
  <PresentationFormat>On-screen Show (16:9)</PresentationFormat>
  <Paragraphs>648</Paragraphs>
  <Slides>22</Slides>
  <Notes>22</Notes>
  <HiddenSlides>0</HiddenSlides>
  <MMClips>0</MMClips>
  <ScaleCrop>false</ScaleCrop>
  <HeadingPairs>
    <vt:vector size="8" baseType="variant">
      <vt:variant>
        <vt:lpstr>已用的字体</vt:lpstr>
      </vt:variant>
      <vt:variant>
        <vt:i4>14</vt:i4>
      </vt:variant>
      <vt:variant>
        <vt:lpstr>主题</vt:lpstr>
      </vt:variant>
      <vt:variant>
        <vt:i4>1</vt:i4>
      </vt:variant>
      <vt:variant>
        <vt:lpstr>嵌入 OLE 服务器</vt:lpstr>
      </vt:variant>
      <vt:variant>
        <vt:i4>2</vt:i4>
      </vt:variant>
      <vt:variant>
        <vt:lpstr>幻灯片标题</vt:lpstr>
      </vt:variant>
      <vt:variant>
        <vt:i4>22</vt:i4>
      </vt:variant>
    </vt:vector>
  </HeadingPairs>
  <TitlesOfParts>
    <vt:vector size="39" baseType="lpstr">
      <vt:lpstr>Arial</vt:lpstr>
      <vt:lpstr>宋体</vt:lpstr>
      <vt:lpstr>Wingdings</vt:lpstr>
      <vt:lpstr>思源黑体 CN</vt:lpstr>
      <vt:lpstr>黑体</vt:lpstr>
      <vt:lpstr>思源黑体 CN</vt:lpstr>
      <vt:lpstr>思源黑体 CN</vt:lpstr>
      <vt:lpstr>思源黑体 CN Bold</vt:lpstr>
      <vt:lpstr>思源黑体 CN Bold</vt:lpstr>
      <vt:lpstr>思源黑体 CN Bold</vt:lpstr>
      <vt:lpstr>Calibri</vt:lpstr>
      <vt:lpstr>微软雅黑</vt:lpstr>
      <vt:lpstr>Arial Unicode MS</vt:lpstr>
      <vt:lpstr>等线</vt:lpstr>
      <vt:lpstr>Office Theme</vt:lpstr>
      <vt:lpstr>Word.Document.12</vt:lpstr>
      <vt:lpstr>Word.Document.12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creator>PptxGenJS</dc:creator>
  <dc:subject>PptxGenJS Presentation</dc:subject>
  <cp:lastModifiedBy>202603</cp:lastModifiedBy>
  <cp:revision>6</cp:revision>
  <dcterms:created xsi:type="dcterms:W3CDTF">2026-08-30T13:00:00Z</dcterms:created>
  <dcterms:modified xsi:type="dcterms:W3CDTF">2026-10-16T05:14:53Z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2052-12.1.0.19302</vt:lpwstr>
  </property>
  <property fmtid="{D5CDD505-2E9C-101B-9397-08002B2CF9AE}" pid="3" name="ICV">
    <vt:lpwstr>E9D2358008A14A4AB8019A982C57CAB8_12</vt:lpwstr>
  </property>
</Properties>
</file>