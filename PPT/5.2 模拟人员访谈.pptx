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6.svg" ContentType="image/svg+xml"/>
  <Override PartName="/ppt/media/image111.svg" ContentType="image/svg+xml"/>
  <Override PartName="/ppt/media/image113.svg" ContentType="image/svg+xml"/>
  <Override PartName="/ppt/media/image116.svg" ContentType="image/svg+xml"/>
  <Override PartName="/ppt/media/image120.svg" ContentType="image/svg+xml"/>
  <Override PartName="/ppt/media/image123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8.svg" ContentType="image/svg+xml"/>
  <Override PartName="/ppt/media/image16.svg" ContentType="image/svg+xml"/>
  <Override PartName="/ppt/media/image163.svg" ContentType="image/svg+xml"/>
  <Override PartName="/ppt/media/image165.svg" ContentType="image/svg+xml"/>
  <Override PartName="/ppt/media/image168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8.svg" ContentType="image/svg+xml"/>
  <Override PartName="/ppt/media/image190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7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1.svg" ContentType="image/svg+xml"/>
  <Override PartName="/ppt/media/image9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25.svg"/><Relationship Id="rId15" Type="http://schemas.openxmlformats.org/officeDocument/2006/relationships/image" Target="../media/image24.png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8.svg"/><Relationship Id="rId13" Type="http://schemas.openxmlformats.org/officeDocument/2006/relationships/image" Target="../media/image37.png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image" Target="../media/image34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1.xml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24.xml"/><Relationship Id="rId34" Type="http://schemas.openxmlformats.org/officeDocument/2006/relationships/tags" Target="../tags/tag23.xml"/><Relationship Id="rId33" Type="http://schemas.openxmlformats.org/officeDocument/2006/relationships/tags" Target="../tags/tag22.xml"/><Relationship Id="rId32" Type="http://schemas.openxmlformats.org/officeDocument/2006/relationships/tags" Target="../tags/tag21.xml"/><Relationship Id="rId31" Type="http://schemas.openxmlformats.org/officeDocument/2006/relationships/tags" Target="../tags/tag20.xml"/><Relationship Id="rId30" Type="http://schemas.openxmlformats.org/officeDocument/2006/relationships/tags" Target="../tags/tag19.xml"/><Relationship Id="rId3" Type="http://schemas.openxmlformats.org/officeDocument/2006/relationships/image" Target="../media/image12.png"/><Relationship Id="rId29" Type="http://schemas.openxmlformats.org/officeDocument/2006/relationships/tags" Target="../tags/tag18.xml"/><Relationship Id="rId28" Type="http://schemas.openxmlformats.org/officeDocument/2006/relationships/tags" Target="../tags/tag17.xml"/><Relationship Id="rId27" Type="http://schemas.openxmlformats.org/officeDocument/2006/relationships/tags" Target="../tags/tag16.xml"/><Relationship Id="rId26" Type="http://schemas.openxmlformats.org/officeDocument/2006/relationships/tags" Target="../tags/tag15.xml"/><Relationship Id="rId25" Type="http://schemas.openxmlformats.org/officeDocument/2006/relationships/tags" Target="../tags/tag14.xml"/><Relationship Id="rId24" Type="http://schemas.openxmlformats.org/officeDocument/2006/relationships/tags" Target="../tags/tag13.xml"/><Relationship Id="rId23" Type="http://schemas.openxmlformats.org/officeDocument/2006/relationships/tags" Target="../tags/tag12.xml"/><Relationship Id="rId22" Type="http://schemas.openxmlformats.org/officeDocument/2006/relationships/tags" Target="../tags/tag11.xml"/><Relationship Id="rId21" Type="http://schemas.openxmlformats.org/officeDocument/2006/relationships/tags" Target="../tags/tag10.xml"/><Relationship Id="rId20" Type="http://schemas.openxmlformats.org/officeDocument/2006/relationships/tags" Target="../tags/tag9.xml"/><Relationship Id="rId2" Type="http://schemas.openxmlformats.org/officeDocument/2006/relationships/image" Target="../media/image11.png"/><Relationship Id="rId19" Type="http://schemas.openxmlformats.org/officeDocument/2006/relationships/tags" Target="../tags/tag8.xml"/><Relationship Id="rId18" Type="http://schemas.openxmlformats.org/officeDocument/2006/relationships/tags" Target="../tags/tag7.xml"/><Relationship Id="rId17" Type="http://schemas.openxmlformats.org/officeDocument/2006/relationships/tags" Target="../tags/tag6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image" Target="../media/image46.svg"/><Relationship Id="rId12" Type="http://schemas.openxmlformats.org/officeDocument/2006/relationships/image" Target="../media/image45.png"/><Relationship Id="rId11" Type="http://schemas.openxmlformats.org/officeDocument/2006/relationships/tags" Target="../tags/tag2.xml"/><Relationship Id="rId10" Type="http://schemas.openxmlformats.org/officeDocument/2006/relationships/image" Target="../media/image44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6.svg"/><Relationship Id="rId12" Type="http://schemas.openxmlformats.org/officeDocument/2006/relationships/image" Target="../media/image55.png"/><Relationship Id="rId11" Type="http://schemas.openxmlformats.org/officeDocument/2006/relationships/image" Target="../media/image54.svg"/><Relationship Id="rId10" Type="http://schemas.openxmlformats.org/officeDocument/2006/relationships/image" Target="../media/image53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12.png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9" Type="http://schemas.openxmlformats.org/officeDocument/2006/relationships/image" Target="../media/image21.svg"/><Relationship Id="rId18" Type="http://schemas.openxmlformats.org/officeDocument/2006/relationships/image" Target="../media/image20.png"/><Relationship Id="rId17" Type="http://schemas.openxmlformats.org/officeDocument/2006/relationships/image" Target="../media/image72.svg"/><Relationship Id="rId16" Type="http://schemas.openxmlformats.org/officeDocument/2006/relationships/image" Target="../media/image71.png"/><Relationship Id="rId15" Type="http://schemas.openxmlformats.org/officeDocument/2006/relationships/image" Target="../media/image70.png"/><Relationship Id="rId14" Type="http://schemas.openxmlformats.org/officeDocument/2006/relationships/image" Target="../media/image69.svg"/><Relationship Id="rId13" Type="http://schemas.openxmlformats.org/officeDocument/2006/relationships/image" Target="../media/image68.png"/><Relationship Id="rId12" Type="http://schemas.openxmlformats.org/officeDocument/2006/relationships/image" Target="../media/image67.svg"/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75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1.png"/><Relationship Id="rId13" Type="http://schemas.openxmlformats.org/officeDocument/2006/relationships/image" Target="../media/image80.sv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85.svg"/><Relationship Id="rId6" Type="http://schemas.openxmlformats.org/officeDocument/2006/relationships/image" Target="../media/image84.png"/><Relationship Id="rId5" Type="http://schemas.openxmlformats.org/officeDocument/2006/relationships/image" Target="../media/image83.svg"/><Relationship Id="rId4" Type="http://schemas.openxmlformats.org/officeDocument/2006/relationships/image" Target="../media/image8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svg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svg"/><Relationship Id="rId4" Type="http://schemas.openxmlformats.org/officeDocument/2006/relationships/image" Target="../media/image8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5.png"/><Relationship Id="rId12" Type="http://schemas.openxmlformats.org/officeDocument/2006/relationships/image" Target="../media/image94.png"/><Relationship Id="rId11" Type="http://schemas.openxmlformats.org/officeDocument/2006/relationships/image" Target="../media/image93.svg"/><Relationship Id="rId10" Type="http://schemas.openxmlformats.org/officeDocument/2006/relationships/image" Target="../media/image92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svg"/><Relationship Id="rId8" Type="http://schemas.openxmlformats.org/officeDocument/2006/relationships/image" Target="../media/image99.png"/><Relationship Id="rId7" Type="http://schemas.openxmlformats.org/officeDocument/2006/relationships/image" Target="../media/image98.png"/><Relationship Id="rId6" Type="http://schemas.openxmlformats.org/officeDocument/2006/relationships/image" Target="../media/image21.sv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02.svg"/><Relationship Id="rId10" Type="http://schemas.openxmlformats.org/officeDocument/2006/relationships/image" Target="../media/image101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../media/image46.svg"/><Relationship Id="rId6" Type="http://schemas.openxmlformats.org/officeDocument/2006/relationships/image" Target="../media/image104.png"/><Relationship Id="rId5" Type="http://schemas.openxmlformats.org/officeDocument/2006/relationships/tags" Target="../tags/tag25.xml"/><Relationship Id="rId40" Type="http://schemas.openxmlformats.org/officeDocument/2006/relationships/notesSlide" Target="../notesSlides/notesSlide14.xml"/><Relationship Id="rId4" Type="http://schemas.openxmlformats.org/officeDocument/2006/relationships/image" Target="../media/image103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54.xml"/><Relationship Id="rId37" Type="http://schemas.openxmlformats.org/officeDocument/2006/relationships/tags" Target="../tags/tag53.xml"/><Relationship Id="rId36" Type="http://schemas.openxmlformats.org/officeDocument/2006/relationships/tags" Target="../tags/tag52.xml"/><Relationship Id="rId35" Type="http://schemas.openxmlformats.org/officeDocument/2006/relationships/tags" Target="../tags/tag51.xml"/><Relationship Id="rId34" Type="http://schemas.openxmlformats.org/officeDocument/2006/relationships/tags" Target="../tags/tag50.xml"/><Relationship Id="rId33" Type="http://schemas.openxmlformats.org/officeDocument/2006/relationships/tags" Target="../tags/tag49.xml"/><Relationship Id="rId32" Type="http://schemas.openxmlformats.org/officeDocument/2006/relationships/tags" Target="../tags/tag48.xml"/><Relationship Id="rId31" Type="http://schemas.openxmlformats.org/officeDocument/2006/relationships/tags" Target="../tags/tag47.xml"/><Relationship Id="rId30" Type="http://schemas.openxmlformats.org/officeDocument/2006/relationships/tags" Target="../tags/tag46.xml"/><Relationship Id="rId3" Type="http://schemas.openxmlformats.org/officeDocument/2006/relationships/image" Target="../media/image12.png"/><Relationship Id="rId29" Type="http://schemas.openxmlformats.org/officeDocument/2006/relationships/tags" Target="../tags/tag45.xml"/><Relationship Id="rId28" Type="http://schemas.openxmlformats.org/officeDocument/2006/relationships/tags" Target="../tags/tag44.xml"/><Relationship Id="rId27" Type="http://schemas.openxmlformats.org/officeDocument/2006/relationships/tags" Target="../tags/tag43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image" Target="../media/image11.png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image" Target="../media/image106.svg"/><Relationship Id="rId11" Type="http://schemas.openxmlformats.org/officeDocument/2006/relationships/image" Target="../media/image105.png"/><Relationship Id="rId10" Type="http://schemas.openxmlformats.org/officeDocument/2006/relationships/tags" Target="../tags/tag28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111.svg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15.xml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17.wmf"/><Relationship Id="rId14" Type="http://schemas.openxmlformats.org/officeDocument/2006/relationships/package" Target="../embeddings/Document1.docx"/><Relationship Id="rId13" Type="http://schemas.openxmlformats.org/officeDocument/2006/relationships/image" Target="../media/image116.svg"/><Relationship Id="rId12" Type="http://schemas.openxmlformats.org/officeDocument/2006/relationships/image" Target="../media/image115.png"/><Relationship Id="rId11" Type="http://schemas.openxmlformats.org/officeDocument/2006/relationships/image" Target="../media/image114.png"/><Relationship Id="rId10" Type="http://schemas.openxmlformats.org/officeDocument/2006/relationships/image" Target="../media/image113.sv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svg"/><Relationship Id="rId7" Type="http://schemas.openxmlformats.org/officeDocument/2006/relationships/image" Target="../media/image119.png"/><Relationship Id="rId6" Type="http://schemas.openxmlformats.org/officeDocument/2006/relationships/image" Target="../media/image46.svg"/><Relationship Id="rId5" Type="http://schemas.openxmlformats.org/officeDocument/2006/relationships/image" Target="../media/image104.png"/><Relationship Id="rId46" Type="http://schemas.openxmlformats.org/officeDocument/2006/relationships/notesSlide" Target="../notesSlides/notesSlide16.xml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137.svg"/><Relationship Id="rId43" Type="http://schemas.openxmlformats.org/officeDocument/2006/relationships/image" Target="../media/image136.png"/><Relationship Id="rId42" Type="http://schemas.openxmlformats.org/officeDocument/2006/relationships/image" Target="../media/image135.svg"/><Relationship Id="rId41" Type="http://schemas.openxmlformats.org/officeDocument/2006/relationships/image" Target="../media/image134.png"/><Relationship Id="rId40" Type="http://schemas.openxmlformats.org/officeDocument/2006/relationships/tags" Target="../tags/tag73.xml"/><Relationship Id="rId4" Type="http://schemas.openxmlformats.org/officeDocument/2006/relationships/image" Target="../media/image118.png"/><Relationship Id="rId39" Type="http://schemas.openxmlformats.org/officeDocument/2006/relationships/tags" Target="../tags/tag72.xml"/><Relationship Id="rId38" Type="http://schemas.openxmlformats.org/officeDocument/2006/relationships/tags" Target="../tags/tag71.xml"/><Relationship Id="rId37" Type="http://schemas.openxmlformats.org/officeDocument/2006/relationships/tags" Target="../tags/tag70.xml"/><Relationship Id="rId36" Type="http://schemas.openxmlformats.org/officeDocument/2006/relationships/tags" Target="../tags/tag69.xml"/><Relationship Id="rId35" Type="http://schemas.openxmlformats.org/officeDocument/2006/relationships/tags" Target="../tags/tag68.xml"/><Relationship Id="rId34" Type="http://schemas.openxmlformats.org/officeDocument/2006/relationships/tags" Target="../tags/tag67.xml"/><Relationship Id="rId33" Type="http://schemas.openxmlformats.org/officeDocument/2006/relationships/tags" Target="../tags/tag66.xml"/><Relationship Id="rId32" Type="http://schemas.openxmlformats.org/officeDocument/2006/relationships/tags" Target="../tags/tag65.xml"/><Relationship Id="rId31" Type="http://schemas.openxmlformats.org/officeDocument/2006/relationships/tags" Target="../tags/tag64.xml"/><Relationship Id="rId30" Type="http://schemas.openxmlformats.org/officeDocument/2006/relationships/tags" Target="../tags/tag63.xml"/><Relationship Id="rId3" Type="http://schemas.openxmlformats.org/officeDocument/2006/relationships/image" Target="../media/image12.png"/><Relationship Id="rId29" Type="http://schemas.openxmlformats.org/officeDocument/2006/relationships/tags" Target="../tags/tag62.xml"/><Relationship Id="rId28" Type="http://schemas.openxmlformats.org/officeDocument/2006/relationships/tags" Target="../tags/tag61.xml"/><Relationship Id="rId27" Type="http://schemas.openxmlformats.org/officeDocument/2006/relationships/tags" Target="../tags/tag60.xml"/><Relationship Id="rId26" Type="http://schemas.openxmlformats.org/officeDocument/2006/relationships/tags" Target="../tags/tag59.xml"/><Relationship Id="rId25" Type="http://schemas.openxmlformats.org/officeDocument/2006/relationships/image" Target="../media/image133.svg"/><Relationship Id="rId24" Type="http://schemas.openxmlformats.org/officeDocument/2006/relationships/image" Target="../media/image132.png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image" Target="../media/image131.png"/><Relationship Id="rId2" Type="http://schemas.openxmlformats.org/officeDocument/2006/relationships/image" Target="../media/image11.png"/><Relationship Id="rId19" Type="http://schemas.openxmlformats.org/officeDocument/2006/relationships/tags" Target="../tags/tag55.xml"/><Relationship Id="rId18" Type="http://schemas.openxmlformats.org/officeDocument/2006/relationships/image" Target="../media/image130.svg"/><Relationship Id="rId17" Type="http://schemas.openxmlformats.org/officeDocument/2006/relationships/image" Target="../media/image129.png"/><Relationship Id="rId16" Type="http://schemas.openxmlformats.org/officeDocument/2006/relationships/image" Target="../media/image128.svg"/><Relationship Id="rId15" Type="http://schemas.openxmlformats.org/officeDocument/2006/relationships/image" Target="../media/image127.png"/><Relationship Id="rId14" Type="http://schemas.openxmlformats.org/officeDocument/2006/relationships/image" Target="../media/image126.svg"/><Relationship Id="rId13" Type="http://schemas.openxmlformats.org/officeDocument/2006/relationships/image" Target="../media/image125.png"/><Relationship Id="rId12" Type="http://schemas.openxmlformats.org/officeDocument/2006/relationships/image" Target="../media/image124.png"/><Relationship Id="rId11" Type="http://schemas.openxmlformats.org/officeDocument/2006/relationships/image" Target="../media/image123.svg"/><Relationship Id="rId10" Type="http://schemas.openxmlformats.org/officeDocument/2006/relationships/image" Target="../media/image122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openxmlformats.org/officeDocument/2006/relationships/image" Target="../media/image142.svg"/><Relationship Id="rId7" Type="http://schemas.openxmlformats.org/officeDocument/2006/relationships/image" Target="../media/image141.png"/><Relationship Id="rId6" Type="http://schemas.openxmlformats.org/officeDocument/2006/relationships/image" Target="../media/image140.sv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35" Type="http://schemas.openxmlformats.org/officeDocument/2006/relationships/notesSlide" Target="../notesSlides/notesSlide17.xml"/><Relationship Id="rId34" Type="http://schemas.openxmlformats.org/officeDocument/2006/relationships/slideLayout" Target="../slideLayouts/slideLayout1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image" Target="../media/image12.png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image" Target="../media/image11.png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image" Target="../media/image147.png"/><Relationship Id="rId14" Type="http://schemas.openxmlformats.org/officeDocument/2006/relationships/tags" Target="../tags/tag75.xml"/><Relationship Id="rId13" Type="http://schemas.openxmlformats.org/officeDocument/2006/relationships/image" Target="../media/image146.svg"/><Relationship Id="rId12" Type="http://schemas.openxmlformats.org/officeDocument/2006/relationships/image" Target="../media/image145.png"/><Relationship Id="rId11" Type="http://schemas.openxmlformats.org/officeDocument/2006/relationships/tags" Target="../tags/tag74.xml"/><Relationship Id="rId10" Type="http://schemas.openxmlformats.org/officeDocument/2006/relationships/image" Target="../media/image144.sv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svg"/><Relationship Id="rId8" Type="http://schemas.openxmlformats.org/officeDocument/2006/relationships/image" Target="../media/image152.png"/><Relationship Id="rId7" Type="http://schemas.openxmlformats.org/officeDocument/2006/relationships/image" Target="../media/image151.svg"/><Relationship Id="rId6" Type="http://schemas.openxmlformats.org/officeDocument/2006/relationships/image" Target="../media/image150.png"/><Relationship Id="rId5" Type="http://schemas.openxmlformats.org/officeDocument/2006/relationships/image" Target="../media/image149.svg"/><Relationship Id="rId44" Type="http://schemas.openxmlformats.org/officeDocument/2006/relationships/notesSlide" Target="../notesSlides/notesSlide18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117.xml"/><Relationship Id="rId41" Type="http://schemas.openxmlformats.org/officeDocument/2006/relationships/tags" Target="../tags/tag116.xml"/><Relationship Id="rId40" Type="http://schemas.openxmlformats.org/officeDocument/2006/relationships/tags" Target="../tags/tag115.xml"/><Relationship Id="rId4" Type="http://schemas.openxmlformats.org/officeDocument/2006/relationships/image" Target="../media/image148.png"/><Relationship Id="rId39" Type="http://schemas.openxmlformats.org/officeDocument/2006/relationships/tags" Target="../tags/tag114.xml"/><Relationship Id="rId38" Type="http://schemas.openxmlformats.org/officeDocument/2006/relationships/tags" Target="../tags/tag113.xml"/><Relationship Id="rId37" Type="http://schemas.openxmlformats.org/officeDocument/2006/relationships/tags" Target="../tags/tag112.xml"/><Relationship Id="rId36" Type="http://schemas.openxmlformats.org/officeDocument/2006/relationships/tags" Target="../tags/tag111.xml"/><Relationship Id="rId35" Type="http://schemas.openxmlformats.org/officeDocument/2006/relationships/tags" Target="../tags/tag110.xml"/><Relationship Id="rId34" Type="http://schemas.openxmlformats.org/officeDocument/2006/relationships/tags" Target="../tags/tag109.xml"/><Relationship Id="rId33" Type="http://schemas.openxmlformats.org/officeDocument/2006/relationships/tags" Target="../tags/tag108.xml"/><Relationship Id="rId32" Type="http://schemas.openxmlformats.org/officeDocument/2006/relationships/tags" Target="../tags/tag107.xml"/><Relationship Id="rId31" Type="http://schemas.openxmlformats.org/officeDocument/2006/relationships/tags" Target="../tags/tag106.xml"/><Relationship Id="rId30" Type="http://schemas.openxmlformats.org/officeDocument/2006/relationships/tags" Target="../tags/tag105.xml"/><Relationship Id="rId3" Type="http://schemas.openxmlformats.org/officeDocument/2006/relationships/image" Target="../media/image12.png"/><Relationship Id="rId29" Type="http://schemas.openxmlformats.org/officeDocument/2006/relationships/tags" Target="../tags/tag104.xml"/><Relationship Id="rId28" Type="http://schemas.openxmlformats.org/officeDocument/2006/relationships/tags" Target="../tags/tag103.xml"/><Relationship Id="rId27" Type="http://schemas.openxmlformats.org/officeDocument/2006/relationships/tags" Target="../tags/tag102.xml"/><Relationship Id="rId26" Type="http://schemas.openxmlformats.org/officeDocument/2006/relationships/tags" Target="../tags/tag101.xml"/><Relationship Id="rId25" Type="http://schemas.openxmlformats.org/officeDocument/2006/relationships/tags" Target="../tags/tag100.xml"/><Relationship Id="rId24" Type="http://schemas.openxmlformats.org/officeDocument/2006/relationships/image" Target="../media/image160.png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image" Target="../media/image11.png"/><Relationship Id="rId19" Type="http://schemas.openxmlformats.org/officeDocument/2006/relationships/image" Target="../media/image159.png"/><Relationship Id="rId18" Type="http://schemas.openxmlformats.org/officeDocument/2006/relationships/tags" Target="../tags/tag95.xml"/><Relationship Id="rId17" Type="http://schemas.openxmlformats.org/officeDocument/2006/relationships/image" Target="../media/image158.svg"/><Relationship Id="rId16" Type="http://schemas.openxmlformats.org/officeDocument/2006/relationships/image" Target="../media/image157.png"/><Relationship Id="rId15" Type="http://schemas.openxmlformats.org/officeDocument/2006/relationships/tags" Target="../tags/tag94.xml"/><Relationship Id="rId14" Type="http://schemas.openxmlformats.org/officeDocument/2006/relationships/image" Target="../media/image74.svg"/><Relationship Id="rId13" Type="http://schemas.openxmlformats.org/officeDocument/2006/relationships/image" Target="../media/image156.png"/><Relationship Id="rId12" Type="http://schemas.openxmlformats.org/officeDocument/2006/relationships/image" Target="../media/image155.svg"/><Relationship Id="rId11" Type="http://schemas.openxmlformats.org/officeDocument/2006/relationships/image" Target="../media/image141.png"/><Relationship Id="rId10" Type="http://schemas.openxmlformats.org/officeDocument/2006/relationships/image" Target="../media/image154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png"/><Relationship Id="rId8" Type="http://schemas.openxmlformats.org/officeDocument/2006/relationships/image" Target="../media/image165.svg"/><Relationship Id="rId7" Type="http://schemas.openxmlformats.org/officeDocument/2006/relationships/image" Target="../media/image164.png"/><Relationship Id="rId6" Type="http://schemas.openxmlformats.org/officeDocument/2006/relationships/image" Target="../media/image163.svg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68.svg"/><Relationship Id="rId10" Type="http://schemas.openxmlformats.org/officeDocument/2006/relationships/image" Target="../media/image167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4.svg"/><Relationship Id="rId8" Type="http://schemas.openxmlformats.org/officeDocument/2006/relationships/image" Target="../media/image173.png"/><Relationship Id="rId7" Type="http://schemas.openxmlformats.org/officeDocument/2006/relationships/image" Target="../media/image172.svg"/><Relationship Id="rId6" Type="http://schemas.openxmlformats.org/officeDocument/2006/relationships/image" Target="../media/image171.png"/><Relationship Id="rId5" Type="http://schemas.openxmlformats.org/officeDocument/2006/relationships/image" Target="../media/image170.svg"/><Relationship Id="rId4" Type="http://schemas.openxmlformats.org/officeDocument/2006/relationships/image" Target="../media/image169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20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86.png"/><Relationship Id="rId22" Type="http://schemas.openxmlformats.org/officeDocument/2006/relationships/image" Target="../media/image185.png"/><Relationship Id="rId21" Type="http://schemas.openxmlformats.org/officeDocument/2006/relationships/image" Target="../media/image46.svg"/><Relationship Id="rId20" Type="http://schemas.openxmlformats.org/officeDocument/2006/relationships/image" Target="../media/image104.png"/><Relationship Id="rId2" Type="http://schemas.openxmlformats.org/officeDocument/2006/relationships/image" Target="../media/image11.png"/><Relationship Id="rId19" Type="http://schemas.openxmlformats.org/officeDocument/2006/relationships/image" Target="../media/image184.png"/><Relationship Id="rId18" Type="http://schemas.openxmlformats.org/officeDocument/2006/relationships/image" Target="../media/image183.png"/><Relationship Id="rId17" Type="http://schemas.openxmlformats.org/officeDocument/2006/relationships/image" Target="../media/image182.png"/><Relationship Id="rId16" Type="http://schemas.openxmlformats.org/officeDocument/2006/relationships/image" Target="../media/image181.png"/><Relationship Id="rId15" Type="http://schemas.openxmlformats.org/officeDocument/2006/relationships/image" Target="../media/image180.png"/><Relationship Id="rId14" Type="http://schemas.openxmlformats.org/officeDocument/2006/relationships/image" Target="../media/image179.png"/><Relationship Id="rId13" Type="http://schemas.openxmlformats.org/officeDocument/2006/relationships/image" Target="../media/image178.png"/><Relationship Id="rId12" Type="http://schemas.openxmlformats.org/officeDocument/2006/relationships/image" Target="../media/image177.png"/><Relationship Id="rId11" Type="http://schemas.openxmlformats.org/officeDocument/2006/relationships/image" Target="../media/image176.png"/><Relationship Id="rId10" Type="http://schemas.openxmlformats.org/officeDocument/2006/relationships/image" Target="../media/image175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0.svg"/><Relationship Id="rId8" Type="http://schemas.openxmlformats.org/officeDocument/2006/relationships/image" Target="../media/image189.png"/><Relationship Id="rId7" Type="http://schemas.openxmlformats.org/officeDocument/2006/relationships/image" Target="../media/image21.svg"/><Relationship Id="rId6" Type="http://schemas.openxmlformats.org/officeDocument/2006/relationships/image" Target="../media/image97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21.xml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91.wmf"/><Relationship Id="rId10" Type="http://schemas.openxmlformats.org/officeDocument/2006/relationships/package" Target="../embeddings/Document2.docx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120" dirty="0">
                <a:solidFill>
                  <a:srgbClr val="FFFFFF"/>
                </a:solidFill>
              </a:rPr>
              <a:t>信息安全测评与风险评估</a:t>
            </a:r>
            <a:endParaRPr lang="en-US" sz="612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5.2 模拟人员访谈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5" y="245378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87295" y="1982470"/>
            <a:ext cx="2183765" cy="6197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2487295" y="2999105"/>
            <a:ext cx="2183765" cy="6197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2487295" y="4015740"/>
            <a:ext cx="2183765" cy="6197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2487295" y="5032375"/>
            <a:ext cx="2183765" cy="61976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4173855" y="5088255"/>
            <a:ext cx="776795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访谈的定义与在等保测评中的定位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173855" y="2038350"/>
            <a:ext cx="776795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案例导入——“一个访谈引发的真相”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173855" y="4071620"/>
            <a:ext cx="776795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安全管理测评中的访谈——为什么必不可少？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164330" y="3065145"/>
            <a:ext cx="7767955" cy="5537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dirty="0">
                <a:solidFill>
                  <a:srgbClr val="000000"/>
                </a:solidFill>
              </a:rPr>
              <a:t>学习目标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4434840" cy="487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722120"/>
            <a:ext cx="91440" cy="2743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82040" y="16306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案例素材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868680" y="2270760"/>
            <a:ext cx="392582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某测评机构进行等保测评。文档核查阶段制度齐全、记录完整。</a:t>
            </a:r>
            <a:endParaRPr lang="en-US" sz="192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680" y="3124200"/>
            <a:ext cx="3916680" cy="28651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0" name="Text 2"/>
          <p:cNvSpPr/>
          <p:nvPr/>
        </p:nvSpPr>
        <p:spPr>
          <a:xfrm>
            <a:off x="1066800" y="3322320"/>
            <a:ext cx="352958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测评师：</a:t>
            </a: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“贵单位是否定期更换密码？”</a:t>
            </a:r>
            <a:endParaRPr lang="en-US" sz="1560" dirty="0"/>
          </a:p>
        </p:txBody>
      </p:sp>
      <p:sp>
        <p:nvSpPr>
          <p:cNvPr id="11" name="Text 3"/>
          <p:cNvSpPr/>
          <p:nvPr/>
        </p:nvSpPr>
        <p:spPr>
          <a:xfrm>
            <a:off x="1066800" y="3962400"/>
            <a:ext cx="3529584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4B556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管理员：</a:t>
            </a: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“制度规定90天更换一次。”</a:t>
            </a:r>
            <a:endParaRPr lang="en-US" sz="1680" dirty="0"/>
          </a:p>
        </p:txBody>
      </p:sp>
      <p:sp>
        <p:nvSpPr>
          <p:cNvPr id="12" name="Text 4"/>
          <p:cNvSpPr/>
          <p:nvPr/>
        </p:nvSpPr>
        <p:spPr>
          <a:xfrm>
            <a:off x="1066800" y="4587240"/>
            <a:ext cx="352958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测评师：</a:t>
            </a: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“最近一次更换是什么时候？”</a:t>
            </a:r>
            <a:endParaRPr lang="en-US" sz="1560" dirty="0"/>
          </a:p>
        </p:txBody>
      </p:sp>
      <p:sp>
        <p:nvSpPr>
          <p:cNvPr id="13" name="Text 5"/>
          <p:cNvSpPr/>
          <p:nvPr/>
        </p:nvSpPr>
        <p:spPr>
          <a:xfrm>
            <a:off x="1066800" y="5227320"/>
            <a:ext cx="352958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dirty="0">
                <a:solidFill>
                  <a:srgbClr val="4B556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管理员：</a:t>
            </a:r>
            <a:r>
              <a:rPr lang="en-US" sz="156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“一年前？平时太忙没人检查。”</a:t>
            </a:r>
            <a:endParaRPr lang="en-US" sz="1560" dirty="0"/>
          </a:p>
        </p:txBody>
      </p:sp>
      <p:pic>
        <p:nvPicPr>
          <p:cNvPr id="14" name="Image 6" descr="https://test.web.static.jianzeppt.com/ppt-temp-img3/0df705ec866eecebc999c5ef3c04a971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200" y="1371600"/>
            <a:ext cx="6187440" cy="15240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93080" y="1706880"/>
            <a:ext cx="121920" cy="12192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5836920" y="155448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引入问题</a:t>
            </a:r>
            <a:endParaRPr lang="en-US" sz="2160" dirty="0"/>
          </a:p>
        </p:txBody>
      </p:sp>
      <p:sp>
        <p:nvSpPr>
          <p:cNvPr id="17" name="Text 7"/>
          <p:cNvSpPr/>
          <p:nvPr/>
        </p:nvSpPr>
        <p:spPr>
          <a:xfrm>
            <a:off x="5836920" y="2026920"/>
            <a:ext cx="558698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安全管理测评中，什么是“通过交谈获取证据”的关键环节？</a:t>
            </a:r>
            <a:endParaRPr lang="en-US" sz="192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2120" y="3276600"/>
            <a:ext cx="121920" cy="1219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775960" y="313944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问题讨论</a:t>
            </a:r>
            <a:endParaRPr lang="en-US" sz="2160" dirty="0"/>
          </a:p>
        </p:txBody>
      </p:sp>
      <p:sp>
        <p:nvSpPr>
          <p:cNvPr id="20" name="Text 9"/>
          <p:cNvSpPr/>
          <p:nvPr/>
        </p:nvSpPr>
        <p:spPr>
          <a:xfrm>
            <a:off x="6019800" y="3657600"/>
            <a:ext cx="46573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该单位的安全制度真的“执行到位”了吗？</a:t>
            </a:r>
            <a:endParaRPr lang="en-US" sz="192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75960" y="3764280"/>
            <a:ext cx="91440" cy="91440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0200" y="4328160"/>
            <a:ext cx="6187440" cy="19202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23" name="Image 11" descr="https://test.web.static.jianzeppt.com/ppt-temp-img3/936478d418b8091fc6079acd5907502b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54040" y="4572000"/>
            <a:ext cx="1219200" cy="3810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5836920" y="46024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核心结论</a:t>
            </a:r>
            <a:endParaRPr lang="en-US" sz="1680" dirty="0"/>
          </a:p>
        </p:txBody>
      </p:sp>
      <p:sp>
        <p:nvSpPr>
          <p:cNvPr id="25" name="Text 11"/>
          <p:cNvSpPr/>
          <p:nvPr/>
        </p:nvSpPr>
        <p:spPr>
          <a:xfrm>
            <a:off x="5654040" y="5135880"/>
            <a:ext cx="5708904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访谈是安全管理测评中</a:t>
            </a:r>
            <a:r>
              <a:rPr lang="en-US" sz="2400" u="sng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“验证真实性”</a:t>
            </a:r>
            <a:r>
              <a:rPr lang="en-US" sz="216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的关键手段。</a:t>
            </a:r>
            <a:endParaRPr lang="en-US" sz="2160" dirty="0"/>
          </a:p>
        </p:txBody>
      </p:sp>
      <p:pic>
        <p:nvPicPr>
          <p:cNvPr id="26" name="Image 12" descr="https://test.web.static.jianzeppt.com/ppt-temp-img3/19ac276ade28e3093637a81102aeb675.png?x-oss-process=image/resize,w_1440,h_800,m_lfit/format,png"/>
          <p:cNvPicPr>
            <a:picLocks noChangeAspect="1"/>
          </p:cNvPicPr>
          <p:nvPr/>
        </p:nvPicPr>
        <p:blipFill>
          <a:blip r:embed="rId18">
            <a:alphaModFix amt="5000"/>
          </a:blip>
          <a:stretch>
            <a:fillRect/>
          </a:stretch>
        </p:blipFill>
        <p:spPr>
          <a:xfrm>
            <a:off x="10668000" y="4328160"/>
            <a:ext cx="929640" cy="9144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案例导入——“一个访谈引发的真相”</a:t>
            </a:r>
            <a:endParaRPr lang="en-US" sz="2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通过本课学习，你将能够：</a:t>
            </a:r>
            <a:endParaRPr lang="en-US" sz="2640" dirty="0"/>
          </a:p>
        </p:txBody>
      </p:sp>
      <p:pic>
        <p:nvPicPr>
          <p:cNvPr id="6" name="Image 3" descr="https://test.web.static.jianzeppt.com/ppt-temp-img3/a0a194592352cd3af9268dff6889582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18360"/>
            <a:ext cx="10972800" cy="71628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216408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2286000"/>
            <a:ext cx="365760" cy="36576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645920" y="2270760"/>
            <a:ext cx="52212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理解人员访谈在安全管理测评中的核心作用</a:t>
            </a:r>
            <a:endParaRPr lang="en-US" sz="2160" dirty="0"/>
          </a:p>
        </p:txBody>
      </p:sp>
      <p:pic>
        <p:nvPicPr>
          <p:cNvPr id="10" name="Image 6" descr="https://test.web.static.jianzeppt.com/ppt-temp-img3/a0a194592352cd3af9268dff6889582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19400"/>
            <a:ext cx="10972800" cy="71628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2865120"/>
            <a:ext cx="609600" cy="6096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2987040"/>
            <a:ext cx="365760" cy="3657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645920" y="297180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掌握访谈的目的、类型与基本流程</a:t>
            </a:r>
            <a:endParaRPr lang="en-US" sz="2160" dirty="0"/>
          </a:p>
        </p:txBody>
      </p:sp>
      <p:pic>
        <p:nvPicPr>
          <p:cNvPr id="14" name="Image 9" descr="https://test.web.static.jianzeppt.com/ppt-temp-img3/a0a194592352cd3af9268dff6889582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20440"/>
            <a:ext cx="10972800" cy="716280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3581400"/>
            <a:ext cx="609600" cy="609600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3703320"/>
            <a:ext cx="365760" cy="36576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1645920" y="3672840"/>
            <a:ext cx="4123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能够设计针对不同岗位的访谈提纲</a:t>
            </a:r>
            <a:endParaRPr lang="en-US" sz="2160" dirty="0"/>
          </a:p>
        </p:txBody>
      </p:sp>
      <p:pic>
        <p:nvPicPr>
          <p:cNvPr id="18" name="Image 12" descr="https://test.web.static.jianzeppt.com/ppt-temp-img3/a0a194592352cd3af9268dff6889582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36720"/>
            <a:ext cx="10972800" cy="716280"/>
          </a:xfrm>
          <a:prstGeom prst="rect">
            <a:avLst/>
          </a:prstGeom>
        </p:spPr>
      </p:pic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4282440"/>
            <a:ext cx="609600" cy="609600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" y="4404360"/>
            <a:ext cx="365760" cy="365760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1645920" y="4373880"/>
            <a:ext cx="52212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能够运用访谈技巧获取关键信息并准确记录</a:t>
            </a:r>
            <a:endParaRPr lang="en-US" sz="2160" dirty="0"/>
          </a:p>
        </p:txBody>
      </p:sp>
      <p:pic>
        <p:nvPicPr>
          <p:cNvPr id="22" name="Image 15" descr="https://test.web.static.jianzeppt.com/ppt-temp-img3/a0a194592352cd3af9268dff6889582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937760"/>
            <a:ext cx="10972800" cy="716280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480" y="4983480"/>
            <a:ext cx="609600" cy="609600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" y="5105400"/>
            <a:ext cx="365760" cy="365760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645920" y="5074920"/>
            <a:ext cx="52212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具备沟通协作能力、法治意识与职业判断力</a:t>
            </a:r>
            <a:endParaRPr lang="en-US" sz="2160" dirty="0"/>
          </a:p>
        </p:txBody>
      </p:sp>
      <p:sp>
        <p:nvSpPr>
          <p:cNvPr id="26" name="Text 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3258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1615440"/>
            <a:ext cx="60960" cy="8382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158240" y="1630680"/>
            <a:ext cx="10204704" cy="79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280" b="1" dirty="0">
                <a:solidFill>
                  <a:srgbClr val="00234E"/>
                </a:solidFill>
              </a:rPr>
              <a:t>安全管理测评与技术测评最大的区别是：技术测的是“</a:t>
            </a:r>
            <a:r>
              <a:rPr lang="en-US" sz="2280" b="1" dirty="0">
                <a:solidFill>
                  <a:srgbClr val="00234E"/>
                </a:solidFill>
              </a:rPr>
              <a:t>设备</a:t>
            </a:r>
            <a:r>
              <a:rPr lang="en-US" sz="2280" b="1" dirty="0">
                <a:solidFill>
                  <a:srgbClr val="00234E"/>
                </a:solidFill>
              </a:rPr>
              <a:t>”，管理测的是“</a:t>
            </a:r>
            <a:r>
              <a:rPr lang="en-US" sz="2280" b="1" dirty="0">
                <a:solidFill>
                  <a:srgbClr val="00234E"/>
                </a:solidFill>
              </a:rPr>
              <a:t>人</a:t>
            </a:r>
            <a:r>
              <a:rPr lang="en-US" sz="2280" b="1" dirty="0">
                <a:solidFill>
                  <a:srgbClr val="00234E"/>
                </a:solidFill>
              </a:rPr>
              <a:t>”。</a:t>
            </a:r>
            <a:endParaRPr lang="en-US" sz="2280" dirty="0"/>
          </a:p>
        </p:txBody>
      </p:sp>
      <p:pic>
        <p:nvPicPr>
          <p:cNvPr id="8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2941320"/>
            <a:ext cx="5364480" cy="1539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6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3124200"/>
            <a:ext cx="487680" cy="487680"/>
          </a:xfrm>
          <a:prstGeom prst="rect">
            <a:avLst/>
          </a:prstGeom>
        </p:spPr>
      </p:pic>
      <p:sp>
        <p:nvSpPr>
          <p:cNvPr id="10" name="Text 1"/>
          <p:cNvSpPr/>
          <p:nvPr>
            <p:custDataLst>
              <p:tags r:id="rId14"/>
            </p:custDataLst>
          </p:nvPr>
        </p:nvSpPr>
        <p:spPr>
          <a:xfrm>
            <a:off x="944880" y="3185160"/>
            <a:ext cx="359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01</a:t>
            </a:r>
            <a:endParaRPr lang="en-US" sz="1920" dirty="0"/>
          </a:p>
        </p:txBody>
      </p:sp>
      <p:sp>
        <p:nvSpPr>
          <p:cNvPr id="11" name="Text 2"/>
          <p:cNvSpPr/>
          <p:nvPr>
            <p:custDataLst>
              <p:tags r:id="rId15"/>
            </p:custDataLst>
          </p:nvPr>
        </p:nvSpPr>
        <p:spPr>
          <a:xfrm>
            <a:off x="1539240" y="3124200"/>
            <a:ext cx="170078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</a:rPr>
              <a:t>验证真实性</a:t>
            </a:r>
            <a:endParaRPr lang="en-US" sz="2640" dirty="0"/>
          </a:p>
        </p:txBody>
      </p:sp>
      <p:sp>
        <p:nvSpPr>
          <p:cNvPr id="12" name="Text 3"/>
          <p:cNvSpPr/>
          <p:nvPr>
            <p:custDataLst>
              <p:tags r:id="rId16"/>
            </p:custDataLst>
          </p:nvPr>
        </p:nvSpPr>
        <p:spPr>
          <a:xfrm>
            <a:off x="868680" y="3657600"/>
            <a:ext cx="2181225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制度“写没写” ≠ “做没做”</a:t>
            </a:r>
            <a:endParaRPr lang="en-US" sz="1600" b="1" dirty="0">
              <a:solidFill>
                <a:srgbClr val="333333"/>
              </a:solidFill>
            </a:endParaRPr>
          </a:p>
        </p:txBody>
      </p:sp>
      <p:sp>
        <p:nvSpPr>
          <p:cNvPr id="13" name="Text 4"/>
          <p:cNvSpPr/>
          <p:nvPr>
            <p:custDataLst>
              <p:tags r:id="rId17"/>
            </p:custDataLst>
          </p:nvPr>
        </p:nvSpPr>
        <p:spPr>
          <a:xfrm>
            <a:off x="868680" y="3992880"/>
            <a:ext cx="338074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例如：制度规定90天改密码，实际一年没改</a:t>
            </a:r>
            <a:endParaRPr lang="en-US" sz="1400" dirty="0">
              <a:solidFill>
                <a:srgbClr val="666666"/>
              </a:solidFill>
            </a:endParaRPr>
          </a:p>
        </p:txBody>
      </p:sp>
      <p:pic>
        <p:nvPicPr>
          <p:cNvPr id="14" name="Image 7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2941320"/>
            <a:ext cx="5364480" cy="1539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8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24200"/>
            <a:ext cx="487680" cy="487680"/>
          </a:xfrm>
          <a:prstGeom prst="rect">
            <a:avLst/>
          </a:prstGeom>
        </p:spPr>
      </p:pic>
      <p:sp>
        <p:nvSpPr>
          <p:cNvPr id="16" name="Text 5"/>
          <p:cNvSpPr/>
          <p:nvPr>
            <p:custDataLst>
              <p:tags r:id="rId20"/>
            </p:custDataLst>
          </p:nvPr>
        </p:nvSpPr>
        <p:spPr>
          <a:xfrm>
            <a:off x="6553200" y="3185160"/>
            <a:ext cx="359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02</a:t>
            </a:r>
            <a:endParaRPr lang="en-US" sz="1920" dirty="0"/>
          </a:p>
        </p:txBody>
      </p:sp>
      <p:sp>
        <p:nvSpPr>
          <p:cNvPr id="17" name="Text 6"/>
          <p:cNvSpPr/>
          <p:nvPr>
            <p:custDataLst>
              <p:tags r:id="rId21"/>
            </p:custDataLst>
          </p:nvPr>
        </p:nvSpPr>
        <p:spPr>
          <a:xfrm>
            <a:off x="7147560" y="312420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</a:rPr>
              <a:t>了解执行细节</a:t>
            </a:r>
            <a:endParaRPr lang="en-US" sz="2640" dirty="0"/>
          </a:p>
        </p:txBody>
      </p:sp>
      <p:sp>
        <p:nvSpPr>
          <p:cNvPr id="18" name="Text 7"/>
          <p:cNvSpPr/>
          <p:nvPr>
            <p:custDataLst>
              <p:tags r:id="rId22"/>
            </p:custDataLst>
          </p:nvPr>
        </p:nvSpPr>
        <p:spPr>
          <a:xfrm>
            <a:off x="6477000" y="3657600"/>
            <a:ext cx="2385695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流程“有没有” ≠ “执行到位”</a:t>
            </a:r>
            <a:endParaRPr lang="en-US" sz="1600" b="1" dirty="0">
              <a:solidFill>
                <a:srgbClr val="333333"/>
              </a:solidFill>
            </a:endParaRPr>
          </a:p>
        </p:txBody>
      </p:sp>
      <p:sp>
        <p:nvSpPr>
          <p:cNvPr id="19" name="Text 8"/>
          <p:cNvSpPr/>
          <p:nvPr>
            <p:custDataLst>
              <p:tags r:id="rId23"/>
            </p:custDataLst>
          </p:nvPr>
        </p:nvSpPr>
        <p:spPr>
          <a:xfrm>
            <a:off x="6477000" y="3992880"/>
            <a:ext cx="30226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例如：有应急预案，但员工从未演练过</a:t>
            </a:r>
            <a:endParaRPr lang="en-US" sz="1400" dirty="0">
              <a:solidFill>
                <a:srgbClr val="666666"/>
              </a:solidFill>
            </a:endParaRPr>
          </a:p>
        </p:txBody>
      </p:sp>
      <p:pic>
        <p:nvPicPr>
          <p:cNvPr id="20" name="Image 9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4724400"/>
            <a:ext cx="5364480" cy="1539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1" name="Image 10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4861560"/>
            <a:ext cx="487680" cy="487680"/>
          </a:xfrm>
          <a:prstGeom prst="rect">
            <a:avLst/>
          </a:prstGeom>
        </p:spPr>
      </p:pic>
      <p:sp>
        <p:nvSpPr>
          <p:cNvPr id="22" name="Text 9"/>
          <p:cNvSpPr/>
          <p:nvPr>
            <p:custDataLst>
              <p:tags r:id="rId26"/>
            </p:custDataLst>
          </p:nvPr>
        </p:nvSpPr>
        <p:spPr>
          <a:xfrm>
            <a:off x="944880" y="4922520"/>
            <a:ext cx="359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03</a:t>
            </a:r>
            <a:endParaRPr lang="en-US" sz="1920" dirty="0"/>
          </a:p>
        </p:txBody>
      </p:sp>
      <p:sp>
        <p:nvSpPr>
          <p:cNvPr id="23" name="Text 10"/>
          <p:cNvSpPr/>
          <p:nvPr>
            <p:custDataLst>
              <p:tags r:id="rId27"/>
            </p:custDataLst>
          </p:nvPr>
        </p:nvSpPr>
        <p:spPr>
          <a:xfrm>
            <a:off x="1539240" y="486156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</a:rPr>
              <a:t>发现隐性风险</a:t>
            </a:r>
            <a:endParaRPr lang="en-US" sz="2640" dirty="0"/>
          </a:p>
        </p:txBody>
      </p:sp>
      <p:sp>
        <p:nvSpPr>
          <p:cNvPr id="24" name="Text 11"/>
          <p:cNvSpPr/>
          <p:nvPr>
            <p:custDataLst>
              <p:tags r:id="rId28"/>
            </p:custDataLst>
          </p:nvPr>
        </p:nvSpPr>
        <p:spPr>
          <a:xfrm>
            <a:off x="868680" y="5364480"/>
            <a:ext cx="201676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文档不会写“我们省事”</a:t>
            </a:r>
            <a:endParaRPr lang="en-US" sz="1600" b="1" dirty="0">
              <a:solidFill>
                <a:srgbClr val="333333"/>
              </a:solidFill>
            </a:endParaRPr>
          </a:p>
        </p:txBody>
      </p:sp>
      <p:sp>
        <p:nvSpPr>
          <p:cNvPr id="25" name="Text 12"/>
          <p:cNvSpPr/>
          <p:nvPr>
            <p:custDataLst>
              <p:tags r:id="rId29"/>
            </p:custDataLst>
          </p:nvPr>
        </p:nvSpPr>
        <p:spPr>
          <a:xfrm>
            <a:off x="868680" y="5654040"/>
            <a:ext cx="4855464" cy="322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例如：安全管理中的“省事”操作，只有通过访谈才能发现</a:t>
            </a:r>
            <a:endParaRPr lang="en-US" sz="1400" dirty="0">
              <a:solidFill>
                <a:srgbClr val="666666"/>
              </a:solidFill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4724400"/>
            <a:ext cx="5364480" cy="15392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7" name="Image 12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907280"/>
            <a:ext cx="487680" cy="487680"/>
          </a:xfrm>
          <a:prstGeom prst="rect">
            <a:avLst/>
          </a:prstGeom>
        </p:spPr>
      </p:pic>
      <p:sp>
        <p:nvSpPr>
          <p:cNvPr id="28" name="Text 13"/>
          <p:cNvSpPr/>
          <p:nvPr>
            <p:custDataLst>
              <p:tags r:id="rId32"/>
            </p:custDataLst>
          </p:nvPr>
        </p:nvSpPr>
        <p:spPr>
          <a:xfrm>
            <a:off x="6553200" y="4968240"/>
            <a:ext cx="359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04</a:t>
            </a:r>
            <a:endParaRPr lang="en-US" sz="1920" dirty="0"/>
          </a:p>
        </p:txBody>
      </p:sp>
      <p:sp>
        <p:nvSpPr>
          <p:cNvPr id="29" name="Text 14"/>
          <p:cNvSpPr/>
          <p:nvPr>
            <p:custDataLst>
              <p:tags r:id="rId33"/>
            </p:custDataLst>
          </p:nvPr>
        </p:nvSpPr>
        <p:spPr>
          <a:xfrm>
            <a:off x="7147560" y="48920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</a:rPr>
              <a:t>交叉验证</a:t>
            </a:r>
            <a:endParaRPr lang="en-US" sz="2640" dirty="0"/>
          </a:p>
        </p:txBody>
      </p:sp>
      <p:sp>
        <p:nvSpPr>
          <p:cNvPr id="30" name="Text 15"/>
          <p:cNvSpPr/>
          <p:nvPr>
            <p:custDataLst>
              <p:tags r:id="rId34"/>
            </p:custDataLst>
          </p:nvPr>
        </p:nvSpPr>
        <p:spPr>
          <a:xfrm>
            <a:off x="6477000" y="5440680"/>
            <a:ext cx="286258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同一问题问不同人，判断一致性</a:t>
            </a:r>
            <a:endParaRPr lang="en-US" sz="1600" b="1" dirty="0">
              <a:solidFill>
                <a:srgbClr val="333333"/>
              </a:solidFill>
            </a:endParaRPr>
          </a:p>
        </p:txBody>
      </p:sp>
      <p:sp>
        <p:nvSpPr>
          <p:cNvPr id="31" name="Text 16"/>
          <p:cNvSpPr/>
          <p:nvPr>
            <p:custDataLst>
              <p:tags r:id="rId35"/>
            </p:custDataLst>
          </p:nvPr>
        </p:nvSpPr>
        <p:spPr>
          <a:xfrm>
            <a:off x="6477000" y="5775960"/>
            <a:ext cx="385318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66666"/>
                </a:solidFill>
              </a:rPr>
              <a:t>例如：安全主管说“定期培训”，员工说“没参加过”</a:t>
            </a:r>
            <a:endParaRPr lang="en-US" sz="1400" dirty="0">
              <a:solidFill>
                <a:srgbClr val="666666"/>
              </a:solidFill>
            </a:endParaRPr>
          </a:p>
        </p:txBody>
      </p:sp>
      <p:sp>
        <p:nvSpPr>
          <p:cNvPr id="32" name="Text 1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安全管理测评中的访谈——为什么必不可少？</a:t>
            </a:r>
            <a:endParaRPr lang="en-US" sz="2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8001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b="1" dirty="0">
                <a:solidFill>
                  <a:srgbClr val="3741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安全管理测评——证据采集方法：安全管理测评可通过文档查阅、人员访谈、记录审查等方式采集证据。</a:t>
            </a:r>
            <a:endParaRPr lang="en-US" sz="1920" dirty="0"/>
          </a:p>
        </p:txBody>
      </p:sp>
      <p:sp>
        <p:nvSpPr>
          <p:cNvPr id="6" name="Text 1"/>
          <p:cNvSpPr/>
          <p:nvPr/>
        </p:nvSpPr>
        <p:spPr>
          <a:xfrm>
            <a:off x="609600" y="240792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访谈在等保测评标准中的依据</a:t>
            </a:r>
            <a:endParaRPr lang="en-US" sz="168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865120"/>
            <a:ext cx="10972800" cy="1188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4" descr="https://test.web.static.jianzeppt.com/ppt-temp-img3/c207867cdb0621e7212b685c33137fa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2880360"/>
            <a:ext cx="10942320" cy="624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3002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标准条款</a:t>
            </a:r>
            <a:endParaRPr lang="en-US" sz="1920" dirty="0"/>
          </a:p>
        </p:txBody>
      </p:sp>
      <p:pic>
        <p:nvPicPr>
          <p:cNvPr id="10" name="Image 5" descr="https://test.web.static.jianzeppt.com/ppt-temp-img3/e4939517f2322d7d86434a1ca2201249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491941"/>
            <a:ext cx="3647389" cy="1524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4511040" y="300228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访谈目的</a:t>
            </a:r>
            <a:endParaRPr lang="en-US" sz="1920" dirty="0"/>
          </a:p>
        </p:txBody>
      </p:sp>
      <p:pic>
        <p:nvPicPr>
          <p:cNvPr id="12" name="Image 6" descr="https://test.web.static.jianzeppt.com/ppt-temp-img3/1885ae0ad4069e2a33f5fb504c42163a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2229" y="3491941"/>
            <a:ext cx="7294931" cy="15240"/>
          </a:xfrm>
          <a:prstGeom prst="rect">
            <a:avLst/>
          </a:prstGeom>
        </p:spPr>
      </p:pic>
      <p:pic>
        <p:nvPicPr>
          <p:cNvPr id="13" name="Image 7" descr="https://test.web.static.jianzeppt.com/ppt-temp-img3/e2f60f902a6b256d3ec5bb82c171e4f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489960"/>
            <a:ext cx="10942320" cy="62484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68680" y="3611880"/>
            <a:ext cx="3179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8.1.7.4 沟通和合作</a:t>
            </a:r>
            <a:endParaRPr lang="en-US" sz="1920" dirty="0"/>
          </a:p>
        </p:txBody>
      </p:sp>
      <p:sp>
        <p:nvSpPr>
          <p:cNvPr id="15" name="Text 5"/>
          <p:cNvSpPr/>
          <p:nvPr/>
        </p:nvSpPr>
        <p:spPr>
          <a:xfrm>
            <a:off x="4511040" y="3611880"/>
            <a:ext cx="6821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了解组织机构间的协作机制</a:t>
            </a:r>
            <a:endParaRPr lang="en-US" sz="1920" dirty="0"/>
          </a:p>
        </p:txBody>
      </p:sp>
      <p:sp>
        <p:nvSpPr>
          <p:cNvPr id="16" name="Text 6"/>
          <p:cNvSpPr/>
          <p:nvPr/>
        </p:nvSpPr>
        <p:spPr>
          <a:xfrm>
            <a:off x="609600" y="441960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安全管理测评“三大取证手段”的关系</a:t>
            </a:r>
            <a:endParaRPr lang="en-US" sz="2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998720"/>
            <a:ext cx="3505200" cy="12496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8680" y="5196840"/>
            <a:ext cx="365760" cy="36576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929640" y="522732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20" name="Text 8"/>
          <p:cNvSpPr/>
          <p:nvPr/>
        </p:nvSpPr>
        <p:spPr>
          <a:xfrm>
            <a:off x="1356360" y="518160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文档查阅</a:t>
            </a:r>
            <a:endParaRPr lang="en-US" sz="2160" dirty="0"/>
          </a:p>
        </p:txBody>
      </p:sp>
      <p:sp>
        <p:nvSpPr>
          <p:cNvPr id="21" name="Text 9"/>
          <p:cNvSpPr/>
          <p:nvPr/>
        </p:nvSpPr>
        <p:spPr>
          <a:xfrm>
            <a:off x="868680" y="5608320"/>
            <a:ext cx="20360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证据是</a:t>
            </a: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“静态”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的</a:t>
            </a:r>
            <a:r>
              <a:rPr lang="en-US" sz="1440" dirty="0">
                <a:solidFill>
                  <a:srgbClr val="374151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（制度文本、审批记录）</a:t>
            </a:r>
            <a:endParaRPr lang="en-US" sz="168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3400" y="4998720"/>
            <a:ext cx="3505200" cy="12496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02480" y="5196840"/>
            <a:ext cx="365760" cy="3657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663440" y="522732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25" name="Text 11"/>
          <p:cNvSpPr/>
          <p:nvPr/>
        </p:nvSpPr>
        <p:spPr>
          <a:xfrm>
            <a:off x="5090160" y="518160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记录审查</a:t>
            </a:r>
            <a:endParaRPr lang="en-US" sz="2160" dirty="0"/>
          </a:p>
        </p:txBody>
      </p:sp>
      <p:sp>
        <p:nvSpPr>
          <p:cNvPr id="26" name="Text 12"/>
          <p:cNvSpPr/>
          <p:nvPr/>
        </p:nvSpPr>
        <p:spPr>
          <a:xfrm>
            <a:off x="4602480" y="5608320"/>
            <a:ext cx="185318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证据是</a:t>
            </a: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“痕迹”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的</a:t>
            </a:r>
            <a:r>
              <a:rPr lang="en-US" sz="1440" dirty="0">
                <a:solidFill>
                  <a:srgbClr val="374151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（日志、表单、台账）</a:t>
            </a:r>
            <a:endParaRPr lang="en-US" sz="168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2440" y="4998720"/>
            <a:ext cx="3505200" cy="12496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51520" y="5196840"/>
            <a:ext cx="365760" cy="36576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8397240" y="5227320"/>
            <a:ext cx="268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30" name="Text 14"/>
          <p:cNvSpPr/>
          <p:nvPr/>
        </p:nvSpPr>
        <p:spPr>
          <a:xfrm>
            <a:off x="8839200" y="518160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人员访谈</a:t>
            </a:r>
            <a:endParaRPr lang="en-US" sz="2160" dirty="0"/>
          </a:p>
        </p:txBody>
      </p:sp>
      <p:sp>
        <p:nvSpPr>
          <p:cNvPr id="31" name="Text 15"/>
          <p:cNvSpPr/>
          <p:nvPr/>
        </p:nvSpPr>
        <p:spPr>
          <a:xfrm>
            <a:off x="8351520" y="5608320"/>
            <a:ext cx="2036064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证据是</a:t>
            </a: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“动态”</a:t>
            </a:r>
            <a:r>
              <a:rPr lang="en-US" sz="168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的</a:t>
            </a:r>
            <a:r>
              <a:rPr lang="en-US" sz="1440" dirty="0">
                <a:solidFill>
                  <a:srgbClr val="374151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（口头陈述、行为描述）</a:t>
            </a:r>
            <a:endParaRPr lang="en-US" sz="1680" dirty="0"/>
          </a:p>
        </p:txBody>
      </p:sp>
      <p:sp>
        <p:nvSpPr>
          <p:cNvPr id="32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访谈的定义与在等保测评中的定位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安全管理测评中访谈的四个核心目的：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087880"/>
            <a:ext cx="2316480" cy="5486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213360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核实制度执行</a:t>
            </a:r>
            <a:endParaRPr lang="en-US" sz="2400" dirty="0"/>
          </a:p>
        </p:txBody>
      </p:sp>
      <p:sp>
        <p:nvSpPr>
          <p:cNvPr id="8" name="Text 2"/>
          <p:cNvSpPr/>
          <p:nvPr/>
        </p:nvSpPr>
        <p:spPr>
          <a:xfrm>
            <a:off x="609600" y="2819400"/>
            <a:ext cx="5190744" cy="3724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制度规定的措施是否真的落实了？</a:t>
            </a:r>
            <a:endParaRPr lang="en-US" sz="18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0" y="2087880"/>
            <a:ext cx="2316480" cy="5486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644640" y="213360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评估人员意识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6400800" y="2819400"/>
            <a:ext cx="5190744" cy="7448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相关人员是否了解安全要求？是否具备安全操作能力？</a:t>
            </a:r>
            <a:endParaRPr lang="en-US" sz="18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099560"/>
            <a:ext cx="2316480" cy="54864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53440" y="41452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了解实际操作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609600" y="4831080"/>
            <a:ext cx="5190744" cy="7448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实际工作流程与制度规定是否一致？有没有“省事”的变通做法？</a:t>
            </a:r>
            <a:endParaRPr lang="en-US" sz="18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0" y="4099560"/>
            <a:ext cx="2316480" cy="5486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644640" y="414528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交叉验证信息</a:t>
            </a:r>
            <a:endParaRPr lang="en-US" sz="2400" dirty="0"/>
          </a:p>
        </p:txBody>
      </p:sp>
      <p:sp>
        <p:nvSpPr>
          <p:cNvPr id="17" name="Text 8"/>
          <p:cNvSpPr/>
          <p:nvPr/>
        </p:nvSpPr>
        <p:spPr>
          <a:xfrm>
            <a:off x="6400800" y="4831080"/>
            <a:ext cx="5190744" cy="37242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文档记录、操作日志与口头描述是否一致？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访谈的目的</a:t>
            </a:r>
            <a:endParaRPr lang="en-US" sz="2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6052056f5bf8d72ff8f7937f71b1f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2164080" cy="4876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9790" y="2199640"/>
            <a:ext cx="165506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适用：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标准化的测评项目、大规模测评。</a:t>
            </a:r>
            <a:endParaRPr lang="en-US" sz="1800" dirty="0"/>
          </a:p>
        </p:txBody>
      </p:sp>
      <p:pic>
        <p:nvPicPr>
          <p:cNvPr id="7" name="Image 4" descr="https://test.web.static.jianzeppt.com/ppt-temp-img3/bfe4c51b1db8f482ad36a745b772b3c0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33800"/>
            <a:ext cx="1645920" cy="1524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68680" y="3886200"/>
            <a:ext cx="165506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特点：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问题固定、格式统一、结果可比。</a:t>
            </a:r>
            <a:endParaRPr lang="en-US" sz="18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203960"/>
            <a:ext cx="1600200" cy="4876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51560" y="1162050"/>
            <a:ext cx="1243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结构化访谈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02280" y="1325880"/>
            <a:ext cx="2179320" cy="49834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2" name="Text 3"/>
          <p:cNvSpPr/>
          <p:nvPr/>
        </p:nvSpPr>
        <p:spPr>
          <a:xfrm>
            <a:off x="3234055" y="2192655"/>
            <a:ext cx="1700784" cy="11922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适用：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针对特定岗位或发现异常时。</a:t>
            </a:r>
            <a:endParaRPr lang="en-US" sz="1920" dirty="0"/>
          </a:p>
        </p:txBody>
      </p:sp>
      <p:pic>
        <p:nvPicPr>
          <p:cNvPr id="13" name="Image 7" descr="https://test.web.static.jianzeppt.com/ppt-temp-img3/19824e46c295f11e6882ed5b37d05fef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120" y="3931920"/>
            <a:ext cx="1691640" cy="304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246120" y="4084320"/>
            <a:ext cx="1700784" cy="11922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特点：</a:t>
            </a:r>
            <a:r>
              <a:rPr lang="en-US" sz="1920" dirty="0">
                <a:solidFill>
                  <a:srgbClr val="FFFFFF">
                    <a:alpha val="9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核心问题固定，可追问细节。</a:t>
            </a:r>
            <a:endParaRPr lang="en-US" sz="192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46120" y="1143000"/>
            <a:ext cx="1874520" cy="5029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6" name="Text 5"/>
          <p:cNvSpPr/>
          <p:nvPr/>
        </p:nvSpPr>
        <p:spPr>
          <a:xfrm>
            <a:off x="3429000" y="1146810"/>
            <a:ext cx="15026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半结构化访谈</a:t>
            </a:r>
            <a:endParaRPr lang="en-US" sz="1920" dirty="0"/>
          </a:p>
        </p:txBody>
      </p:sp>
      <p:pic>
        <p:nvPicPr>
          <p:cNvPr id="17" name="Image 9" descr="https://test.web.static.jianzeppt.com/ppt-temp-img3/56052056f5bf8d72ff8f7937f71b1f0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371600"/>
            <a:ext cx="2164080" cy="487680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5602605" y="2329180"/>
            <a:ext cx="1655064" cy="11172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适用：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探索性调查、发现新问题。</a:t>
            </a:r>
            <a:endParaRPr lang="en-US" sz="1800" dirty="0"/>
          </a:p>
        </p:txBody>
      </p:sp>
      <p:pic>
        <p:nvPicPr>
          <p:cNvPr id="19" name="Image 10" descr="https://test.web.static.jianzeppt.com/ppt-temp-img3/bfe4c51b1db8f482ad36a745b772b3c0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040" y="3931920"/>
            <a:ext cx="1645920" cy="1524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5654040" y="4084320"/>
            <a:ext cx="1655064" cy="7448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特点：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开放式对话、灵活调整。</a:t>
            </a:r>
            <a:endParaRPr lang="en-US" sz="18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62600" y="1135380"/>
            <a:ext cx="1844040" cy="48768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5745480" y="112776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非结构化访谈</a:t>
            </a:r>
            <a:endParaRPr lang="en-US" sz="1920" dirty="0"/>
          </a:p>
        </p:txBody>
      </p:sp>
      <p:pic>
        <p:nvPicPr>
          <p:cNvPr id="23" name="Image 12" descr="https://test.web.static.jianzeppt.com/ppt-temp-img3/78e7882f53a357ef75fb6fae9e251cd9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4800" y="1371600"/>
            <a:ext cx="3657600" cy="487680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488680" y="1691640"/>
            <a:ext cx="2752344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在安全管理测评中的应用建议</a:t>
            </a:r>
            <a:endParaRPr lang="en-US" sz="2400" dirty="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44840" y="1691640"/>
            <a:ext cx="60960" cy="91440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44840" y="3794760"/>
            <a:ext cx="121920" cy="12192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8488680" y="3688080"/>
            <a:ext cx="2706624" cy="3724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通常采用</a:t>
            </a: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半结构化访谈</a:t>
            </a: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。</a:t>
            </a:r>
            <a:endParaRPr lang="en-US" sz="1800" dirty="0"/>
          </a:p>
        </p:txBody>
      </p:sp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44840" y="4434840"/>
            <a:ext cx="121920" cy="12192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8488680" y="4312920"/>
            <a:ext cx="2782824" cy="7448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提前准备核心问题，过程中根据回答灵活追问。</a:t>
            </a:r>
            <a:endParaRPr lang="en-US" sz="1800" dirty="0"/>
          </a:p>
        </p:txBody>
      </p:sp>
      <p:sp>
        <p:nvSpPr>
          <p:cNvPr id="31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访谈的类型</a:t>
            </a:r>
            <a:endParaRPr lang="en-US" sz="2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78280"/>
            <a:ext cx="91440" cy="304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22960" y="1371600"/>
            <a:ext cx="170078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访谈五步法</a:t>
            </a:r>
            <a:endParaRPr lang="en-US" sz="2640" dirty="0"/>
          </a:p>
        </p:txBody>
      </p:sp>
      <p:pic>
        <p:nvPicPr>
          <p:cNvPr id="7" name="Image 4" descr="https://test.web.static.jianzeppt.com/ppt-temp-img3/1df32b67acec658150539813d4ef9c4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667000"/>
            <a:ext cx="8991600" cy="3048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0640" y="2362200"/>
            <a:ext cx="609600" cy="609600"/>
          </a:xfrm>
          <a:prstGeom prst="rect">
            <a:avLst/>
          </a:prstGeom>
          <a:effectLst>
            <a:outerShdw blurRad="1161288000" dist="774192000" dir="-1" algn="bl" rotWithShape="0">
              <a:srgbClr val="00234E">
                <a:alpha val="2000000000"/>
              </a:srgbClr>
            </a:outerShdw>
          </a:effectLst>
        </p:spPr>
      </p:pic>
      <p:sp>
        <p:nvSpPr>
          <p:cNvPr id="9" name="Text 1"/>
          <p:cNvSpPr/>
          <p:nvPr/>
        </p:nvSpPr>
        <p:spPr>
          <a:xfrm>
            <a:off x="1539240" y="2468880"/>
            <a:ext cx="176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160" dirty="0"/>
          </a:p>
        </p:txBody>
      </p:sp>
      <p:sp>
        <p:nvSpPr>
          <p:cNvPr id="10" name="Text 2"/>
          <p:cNvSpPr/>
          <p:nvPr/>
        </p:nvSpPr>
        <p:spPr>
          <a:xfrm>
            <a:off x="1341120" y="309372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准备</a:t>
            </a:r>
            <a:endParaRPr lang="en-US" sz="216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688080"/>
            <a:ext cx="2011680" cy="2255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2" name="Text 3"/>
          <p:cNvSpPr/>
          <p:nvPr/>
        </p:nvSpPr>
        <p:spPr>
          <a:xfrm>
            <a:off x="807720" y="3886200"/>
            <a:ext cx="162458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确定访谈对象、设计访谈提纲</a:t>
            </a:r>
            <a:endParaRPr lang="en-US" sz="1680" dirty="0"/>
          </a:p>
        </p:txBody>
      </p:sp>
      <p:pic>
        <p:nvPicPr>
          <p:cNvPr id="13" name="Image 7" descr="https://test.web.static.jianzeppt.com/ppt-temp-img3/b0dc148ee0064a85c4bf27b2e6cfa31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" y="4678680"/>
            <a:ext cx="1615440" cy="10668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944880" y="4815840"/>
            <a:ext cx="1350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</a:t>
            </a:r>
            <a:endParaRPr lang="en-US" sz="1440" dirty="0"/>
          </a:p>
        </p:txBody>
      </p:sp>
      <p:sp>
        <p:nvSpPr>
          <p:cNvPr id="15" name="Text 5"/>
          <p:cNvSpPr/>
          <p:nvPr/>
        </p:nvSpPr>
        <p:spPr>
          <a:xfrm>
            <a:off x="944880" y="5151120"/>
            <a:ext cx="1350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了解岗位职责、准备核心问题</a:t>
            </a:r>
            <a:endParaRPr lang="en-US" sz="144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99360" y="2514600"/>
            <a:ext cx="304800" cy="304800"/>
          </a:xfrm>
          <a:prstGeom prst="rect">
            <a:avLst/>
          </a:prstGeom>
        </p:spPr>
      </p:pic>
      <p:pic>
        <p:nvPicPr>
          <p:cNvPr id="17" name="Image 9" descr="https://test.web.static.jianzeppt.com/ppt-temp-img3/28d5c46f8910ebb6d0275e3ca1f7af3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84120" y="2499360"/>
            <a:ext cx="335280" cy="335280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0920" y="2362200"/>
            <a:ext cx="609600" cy="609600"/>
          </a:xfrm>
          <a:prstGeom prst="rect">
            <a:avLst/>
          </a:prstGeom>
          <a:effectLst>
            <a:outerShdw blurRad="1161288000" dist="774192000" dir="-1" algn="bl" rotWithShape="0">
              <a:srgbClr val="00234E">
                <a:alpha val="2000000000"/>
              </a:srgbClr>
            </a:outerShdw>
          </a:effectLst>
        </p:spPr>
      </p:pic>
      <p:sp>
        <p:nvSpPr>
          <p:cNvPr id="19" name="Text 6"/>
          <p:cNvSpPr/>
          <p:nvPr/>
        </p:nvSpPr>
        <p:spPr>
          <a:xfrm>
            <a:off x="3779520" y="2468880"/>
            <a:ext cx="176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160" dirty="0"/>
          </a:p>
        </p:txBody>
      </p:sp>
      <p:sp>
        <p:nvSpPr>
          <p:cNvPr id="20" name="Text 7"/>
          <p:cNvSpPr/>
          <p:nvPr/>
        </p:nvSpPr>
        <p:spPr>
          <a:xfrm>
            <a:off x="3581400" y="309372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预约</a:t>
            </a:r>
            <a:endParaRPr lang="en-US" sz="216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9880" y="3688080"/>
            <a:ext cx="2011680" cy="2255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2" name="Text 8"/>
          <p:cNvSpPr/>
          <p:nvPr/>
        </p:nvSpPr>
        <p:spPr>
          <a:xfrm>
            <a:off x="3048000" y="3886200"/>
            <a:ext cx="162458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提前通知被访谈人</a:t>
            </a:r>
            <a:endParaRPr lang="en-US" sz="1680" dirty="0"/>
          </a:p>
        </p:txBody>
      </p:sp>
      <p:pic>
        <p:nvPicPr>
          <p:cNvPr id="23" name="Image 12" descr="https://test.web.static.jianzeppt.com/ppt-temp-img3/b0dc148ee0064a85c4bf27b2e6cfa31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4678680"/>
            <a:ext cx="1615440" cy="106680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3185160" y="4815840"/>
            <a:ext cx="1350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</a:t>
            </a:r>
            <a:endParaRPr lang="en-US" sz="1440" dirty="0"/>
          </a:p>
        </p:txBody>
      </p:sp>
      <p:sp>
        <p:nvSpPr>
          <p:cNvPr id="25" name="Text 10"/>
          <p:cNvSpPr/>
          <p:nvPr/>
        </p:nvSpPr>
        <p:spPr>
          <a:xfrm>
            <a:off x="3185160" y="5151120"/>
            <a:ext cx="1350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说明访谈目的和大致时长</a:t>
            </a:r>
            <a:endParaRPr lang="en-US" sz="144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39640" y="2514600"/>
            <a:ext cx="304800" cy="304800"/>
          </a:xfrm>
          <a:prstGeom prst="rect">
            <a:avLst/>
          </a:prstGeom>
        </p:spPr>
      </p:pic>
      <p:pic>
        <p:nvPicPr>
          <p:cNvPr id="27" name="Image 14" descr="https://test.web.static.jianzeppt.com/ppt-temp-img3/28d5c46f8910ebb6d0275e3ca1f7af3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4400" y="2499360"/>
            <a:ext cx="335280" cy="335280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1200" y="2362200"/>
            <a:ext cx="609600" cy="609600"/>
          </a:xfrm>
          <a:prstGeom prst="rect">
            <a:avLst/>
          </a:prstGeom>
          <a:effectLst>
            <a:outerShdw blurRad="1161288000" dist="774192000" dir="-1" algn="bl" rotWithShape="0">
              <a:srgbClr val="00234E">
                <a:alpha val="2000000000"/>
              </a:srgbClr>
            </a:outerShdw>
          </a:effectLst>
        </p:spPr>
      </p:pic>
      <p:sp>
        <p:nvSpPr>
          <p:cNvPr id="29" name="Text 11"/>
          <p:cNvSpPr/>
          <p:nvPr/>
        </p:nvSpPr>
        <p:spPr>
          <a:xfrm>
            <a:off x="6019800" y="2468880"/>
            <a:ext cx="176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160" dirty="0"/>
          </a:p>
        </p:txBody>
      </p:sp>
      <p:sp>
        <p:nvSpPr>
          <p:cNvPr id="30" name="Text 12"/>
          <p:cNvSpPr/>
          <p:nvPr/>
        </p:nvSpPr>
        <p:spPr>
          <a:xfrm>
            <a:off x="5821680" y="309372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执行</a:t>
            </a:r>
            <a:endParaRPr lang="en-US" sz="2160" dirty="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0160" y="3688080"/>
            <a:ext cx="2011680" cy="2255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2" name="Text 13"/>
          <p:cNvSpPr/>
          <p:nvPr/>
        </p:nvSpPr>
        <p:spPr>
          <a:xfrm>
            <a:off x="5455920" y="3886200"/>
            <a:ext cx="128930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正式开展访谈</a:t>
            </a:r>
            <a:endParaRPr lang="en-US" sz="1680" dirty="0"/>
          </a:p>
        </p:txBody>
      </p:sp>
      <p:pic>
        <p:nvPicPr>
          <p:cNvPr id="33" name="Image 17" descr="https://test.web.static.jianzeppt.com/ppt-temp-img3/b0dc148ee0064a85c4bf27b2e6cfa31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8280" y="4678680"/>
            <a:ext cx="1615440" cy="106680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5425440" y="4815840"/>
            <a:ext cx="1350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</a:t>
            </a:r>
            <a:endParaRPr lang="en-US" sz="1440" dirty="0"/>
          </a:p>
        </p:txBody>
      </p:sp>
      <p:sp>
        <p:nvSpPr>
          <p:cNvPr id="35" name="Text 15"/>
          <p:cNvSpPr/>
          <p:nvPr/>
        </p:nvSpPr>
        <p:spPr>
          <a:xfrm>
            <a:off x="5425440" y="5151120"/>
            <a:ext cx="1350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注意提问技巧、做好记录</a:t>
            </a:r>
            <a:endParaRPr lang="en-US" sz="144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79920" y="2514600"/>
            <a:ext cx="304800" cy="304800"/>
          </a:xfrm>
          <a:prstGeom prst="rect">
            <a:avLst/>
          </a:prstGeom>
        </p:spPr>
      </p:pic>
      <p:pic>
        <p:nvPicPr>
          <p:cNvPr id="37" name="Image 19" descr="https://test.web.static.jianzeppt.com/ppt-temp-img3/28d5c46f8910ebb6d0275e3ca1f7af3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4680" y="2499360"/>
            <a:ext cx="335280" cy="335280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1480" y="2362200"/>
            <a:ext cx="609600" cy="609600"/>
          </a:xfrm>
          <a:prstGeom prst="rect">
            <a:avLst/>
          </a:prstGeom>
          <a:effectLst>
            <a:outerShdw blurRad="1161288000" dist="774192000" dir="-1" algn="bl" rotWithShape="0">
              <a:srgbClr val="00234E">
                <a:alpha val="2000000000"/>
              </a:srgbClr>
            </a:outerShdw>
          </a:effectLst>
        </p:spPr>
      </p:pic>
      <p:sp>
        <p:nvSpPr>
          <p:cNvPr id="39" name="Text 16"/>
          <p:cNvSpPr/>
          <p:nvPr/>
        </p:nvSpPr>
        <p:spPr>
          <a:xfrm>
            <a:off x="8260080" y="2468880"/>
            <a:ext cx="176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160" dirty="0"/>
          </a:p>
        </p:txBody>
      </p:sp>
      <p:sp>
        <p:nvSpPr>
          <p:cNvPr id="40" name="Text 17"/>
          <p:cNvSpPr/>
          <p:nvPr/>
        </p:nvSpPr>
        <p:spPr>
          <a:xfrm>
            <a:off x="8061960" y="309372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核实</a:t>
            </a:r>
            <a:endParaRPr lang="en-US" sz="2160" dirty="0"/>
          </a:p>
        </p:txBody>
      </p:sp>
      <p:pic>
        <p:nvPicPr>
          <p:cNvPr id="41" name="Image 2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30440" y="3688080"/>
            <a:ext cx="2011680" cy="2255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2" name="Text 18"/>
          <p:cNvSpPr/>
          <p:nvPr/>
        </p:nvSpPr>
        <p:spPr>
          <a:xfrm>
            <a:off x="7528560" y="3886200"/>
            <a:ext cx="1624584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对关键信息进行确认</a:t>
            </a:r>
            <a:endParaRPr lang="en-US" sz="1680" dirty="0"/>
          </a:p>
        </p:txBody>
      </p:sp>
      <p:pic>
        <p:nvPicPr>
          <p:cNvPr id="43" name="Image 22" descr="https://test.web.static.jianzeppt.com/ppt-temp-img3/b0dc148ee0064a85c4bf27b2e6cfa31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8560" y="4678680"/>
            <a:ext cx="1615440" cy="10668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7665720" y="4815840"/>
            <a:ext cx="1350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</a:t>
            </a:r>
            <a:endParaRPr lang="en-US" sz="1440" dirty="0"/>
          </a:p>
        </p:txBody>
      </p:sp>
      <p:sp>
        <p:nvSpPr>
          <p:cNvPr id="45" name="Text 20"/>
          <p:cNvSpPr/>
          <p:nvPr/>
        </p:nvSpPr>
        <p:spPr>
          <a:xfrm>
            <a:off x="7665720" y="5151120"/>
            <a:ext cx="1350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对存疑点进行追问或交叉验证</a:t>
            </a:r>
            <a:endParaRPr lang="en-US" sz="1440" dirty="0"/>
          </a:p>
        </p:txBody>
      </p:sp>
      <p:pic>
        <p:nvPicPr>
          <p:cNvPr id="46" name="Image 2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20200" y="2514600"/>
            <a:ext cx="304800" cy="304800"/>
          </a:xfrm>
          <a:prstGeom prst="rect">
            <a:avLst/>
          </a:prstGeom>
        </p:spPr>
      </p:pic>
      <p:pic>
        <p:nvPicPr>
          <p:cNvPr id="47" name="Image 24" descr="https://test.web.static.jianzeppt.com/ppt-temp-img3/28d5c46f8910ebb6d0275e3ca1f7af3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4960" y="2499360"/>
            <a:ext cx="335280" cy="335280"/>
          </a:xfrm>
          <a:prstGeom prst="rect">
            <a:avLst/>
          </a:prstGeom>
        </p:spPr>
      </p:pic>
      <p:pic>
        <p:nvPicPr>
          <p:cNvPr id="48" name="Image 2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1760" y="2362200"/>
            <a:ext cx="609600" cy="609600"/>
          </a:xfrm>
          <a:prstGeom prst="rect">
            <a:avLst/>
          </a:prstGeom>
          <a:effectLst>
            <a:outerShdw blurRad="1161288000" dist="774192000" dir="-1" algn="bl" rotWithShape="0">
              <a:srgbClr val="00234E">
                <a:alpha val="2000000000"/>
              </a:srgbClr>
            </a:outerShdw>
          </a:effectLst>
        </p:spPr>
      </p:pic>
      <p:sp>
        <p:nvSpPr>
          <p:cNvPr id="49" name="Text 21"/>
          <p:cNvSpPr/>
          <p:nvPr/>
        </p:nvSpPr>
        <p:spPr>
          <a:xfrm>
            <a:off x="10500360" y="2468880"/>
            <a:ext cx="17678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160" dirty="0"/>
          </a:p>
        </p:txBody>
      </p:sp>
      <p:sp>
        <p:nvSpPr>
          <p:cNvPr id="50" name="Text 22"/>
          <p:cNvSpPr/>
          <p:nvPr/>
        </p:nvSpPr>
        <p:spPr>
          <a:xfrm>
            <a:off x="10302240" y="3093720"/>
            <a:ext cx="5577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记录</a:t>
            </a:r>
            <a:endParaRPr lang="en-US" sz="2160" dirty="0"/>
          </a:p>
        </p:txBody>
      </p:sp>
      <p:pic>
        <p:nvPicPr>
          <p:cNvPr id="51" name="Image 2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0720" y="3688080"/>
            <a:ext cx="2011680" cy="22555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52" name="Text 23"/>
          <p:cNvSpPr/>
          <p:nvPr/>
        </p:nvSpPr>
        <p:spPr>
          <a:xfrm>
            <a:off x="9936480" y="3886200"/>
            <a:ext cx="128930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整理访谈记录</a:t>
            </a:r>
            <a:endParaRPr lang="en-US" sz="1680" dirty="0"/>
          </a:p>
        </p:txBody>
      </p:sp>
      <p:pic>
        <p:nvPicPr>
          <p:cNvPr id="53" name="Image 27" descr="https://test.web.static.jianzeppt.com/ppt-temp-img3/b0dc148ee0064a85c4bf27b2e6cfa31b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8840" y="4678680"/>
            <a:ext cx="1615440" cy="1066800"/>
          </a:xfrm>
          <a:prstGeom prst="rect">
            <a:avLst/>
          </a:prstGeom>
        </p:spPr>
      </p:pic>
      <p:sp>
        <p:nvSpPr>
          <p:cNvPr id="54" name="Text 24"/>
          <p:cNvSpPr/>
          <p:nvPr/>
        </p:nvSpPr>
        <p:spPr>
          <a:xfrm>
            <a:off x="9906000" y="4815840"/>
            <a:ext cx="1350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</a:t>
            </a:r>
            <a:endParaRPr lang="en-US" sz="1440" dirty="0"/>
          </a:p>
        </p:txBody>
      </p:sp>
      <p:sp>
        <p:nvSpPr>
          <p:cNvPr id="55" name="Text 25"/>
          <p:cNvSpPr/>
          <p:nvPr/>
        </p:nvSpPr>
        <p:spPr>
          <a:xfrm>
            <a:off x="9906000" y="5151120"/>
            <a:ext cx="13502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dirty="0">
                <a:solidFill>
                  <a:srgbClr val="4B556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及时整理、签字确认</a:t>
            </a:r>
            <a:endParaRPr lang="en-US" sz="1440" dirty="0"/>
          </a:p>
        </p:txBody>
      </p:sp>
      <p:sp>
        <p:nvSpPr>
          <p:cNvPr id="56" name="Text 2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访谈的基本流程</a:t>
            </a:r>
            <a:endParaRPr lang="en-US" sz="2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安全管理测评中常见访谈对象及关注点：</a:t>
            </a:r>
            <a:endParaRPr lang="en-US" sz="21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65960"/>
            <a:ext cx="10972800" cy="762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042160"/>
            <a:ext cx="609600" cy="6096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2194560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554480" y="2118360"/>
            <a:ext cx="226466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安全主管/负责人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3992880" y="2179320"/>
            <a:ext cx="46421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制度建设、策略制定、事件管理、安全投入</a:t>
            </a:r>
            <a:endParaRPr lang="en-US" sz="1920" dirty="0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849880"/>
            <a:ext cx="10972800" cy="762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6080"/>
            <a:ext cx="609600" cy="60960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3078480"/>
            <a:ext cx="304800" cy="3048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1554480" y="300228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系统管理员</a:t>
            </a:r>
            <a:endParaRPr lang="en-US" sz="2400" dirty="0"/>
          </a:p>
        </p:txBody>
      </p:sp>
      <p:sp>
        <p:nvSpPr>
          <p:cNvPr id="15" name="Text 4"/>
          <p:cNvSpPr/>
          <p:nvPr/>
        </p:nvSpPr>
        <p:spPr>
          <a:xfrm>
            <a:off x="3261360" y="3063240"/>
            <a:ext cx="46573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账户权限、日常运维、补丁管理、备份执行</a:t>
            </a:r>
            <a:endParaRPr lang="en-US" sz="192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733800"/>
            <a:ext cx="10972800" cy="762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810000"/>
            <a:ext cx="609600" cy="609600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3962400"/>
            <a:ext cx="304800" cy="30480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1554480" y="388620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安全管理员</a:t>
            </a:r>
            <a:endParaRPr lang="en-US" sz="2400" dirty="0"/>
          </a:p>
        </p:txBody>
      </p:sp>
      <p:sp>
        <p:nvSpPr>
          <p:cNvPr id="20" name="Text 6"/>
          <p:cNvSpPr/>
          <p:nvPr/>
        </p:nvSpPr>
        <p:spPr>
          <a:xfrm>
            <a:off x="3261360" y="3947160"/>
            <a:ext cx="46573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策略执行、安全配置、安全审计、安全巡检</a:t>
            </a:r>
            <a:endParaRPr lang="en-US" sz="192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602480"/>
            <a:ext cx="10972800" cy="762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678680"/>
            <a:ext cx="609600" cy="609600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4831080"/>
            <a:ext cx="304800" cy="304800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554480" y="475488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普通员工</a:t>
            </a:r>
            <a:endParaRPr lang="en-US" sz="2400" dirty="0"/>
          </a:p>
        </p:txBody>
      </p:sp>
      <p:sp>
        <p:nvSpPr>
          <p:cNvPr id="25" name="Text 8"/>
          <p:cNvSpPr/>
          <p:nvPr/>
        </p:nvSpPr>
        <p:spPr>
          <a:xfrm>
            <a:off x="2956560" y="4815840"/>
            <a:ext cx="44135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安全意识、安全培训接受情况、制度了解</a:t>
            </a:r>
            <a:endParaRPr lang="en-US" sz="192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5486400"/>
            <a:ext cx="10972800" cy="762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5562600"/>
            <a:ext cx="609600" cy="60960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715000"/>
            <a:ext cx="304800" cy="30480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554480" y="5638800"/>
            <a:ext cx="226466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第三方/外包人员</a:t>
            </a:r>
            <a:endParaRPr lang="en-US" sz="2400" dirty="0"/>
          </a:p>
        </p:txBody>
      </p:sp>
      <p:sp>
        <p:nvSpPr>
          <p:cNvPr id="30" name="Text 10"/>
          <p:cNvSpPr/>
          <p:nvPr/>
        </p:nvSpPr>
        <p:spPr>
          <a:xfrm>
            <a:off x="3992880" y="5699760"/>
            <a:ext cx="43982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访问权限管控、保密协议签订、服务管理</a:t>
            </a:r>
            <a:endParaRPr lang="en-US" sz="1920" dirty="0"/>
          </a:p>
        </p:txBody>
      </p:sp>
      <p:sp>
        <p:nvSpPr>
          <p:cNvPr id="31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访谈对象——该访谈谁？</a:t>
            </a:r>
            <a:endParaRPr lang="en-US" sz="2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4267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6" name="Text 0"/>
          <p:cNvSpPr/>
          <p:nvPr/>
        </p:nvSpPr>
        <p:spPr>
          <a:xfrm>
            <a:off x="868680" y="2179320"/>
            <a:ext cx="37429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1. 请简要介绍一下您的岗位职责。</a:t>
            </a:r>
            <a:endParaRPr lang="en-US" sz="1920" dirty="0"/>
          </a:p>
        </p:txBody>
      </p:sp>
      <p:pic>
        <p:nvPicPr>
          <p:cNvPr id="7" name="Image 4" descr="https://test.web.static.jianzeppt.com/ppt-temp-img3/e0176fba25c450c1e6891adf73bb95f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042160"/>
            <a:ext cx="15240" cy="584149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339840" y="222504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确认岗位职责范围，判断是否存在“身兼多岗”</a:t>
            </a:r>
            <a:endParaRPr lang="en-US" sz="1680" dirty="0"/>
          </a:p>
        </p:txBody>
      </p:sp>
      <p:pic>
        <p:nvPicPr>
          <p:cNvPr id="9" name="Image 5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2641549"/>
            <a:ext cx="10942320" cy="1524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2636520"/>
            <a:ext cx="10942320" cy="6096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868680" y="2788920"/>
            <a:ext cx="49621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2. 系统目前有哪些用户？账户是如何管理的？</a:t>
            </a:r>
            <a:endParaRPr lang="en-US" sz="1920" dirty="0"/>
          </a:p>
        </p:txBody>
      </p:sp>
      <p:pic>
        <p:nvPicPr>
          <p:cNvPr id="12" name="Image 7" descr="https://test.web.static.jianzeppt.com/ppt-temp-img3/e0176fba25c450c1e6891adf73bb95f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641549"/>
            <a:ext cx="15240" cy="584149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339840" y="281940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账号创建、权限分配、离职账号清理</a:t>
            </a:r>
            <a:endParaRPr lang="en-US" sz="1680" dirty="0"/>
          </a:p>
        </p:txBody>
      </p:sp>
      <p:pic>
        <p:nvPicPr>
          <p:cNvPr id="14" name="Image 8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240938"/>
            <a:ext cx="10942320" cy="152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868680" y="3383280"/>
            <a:ext cx="471830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3. 密码策略是如何设置的？是否定期更换？</a:t>
            </a:r>
            <a:endParaRPr lang="en-US" sz="1920" dirty="0"/>
          </a:p>
        </p:txBody>
      </p:sp>
      <p:pic>
        <p:nvPicPr>
          <p:cNvPr id="16" name="Image 9" descr="https://test.web.static.jianzeppt.com/ppt-temp-img3/e0176fba25c450c1e6891adf73bb95f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240938"/>
            <a:ext cx="15240" cy="584149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339840" y="342900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密码复杂度、更换周期、是否强制？</a:t>
            </a:r>
            <a:endParaRPr lang="en-US" sz="1680" dirty="0"/>
          </a:p>
        </p:txBody>
      </p:sp>
      <p:pic>
        <p:nvPicPr>
          <p:cNvPr id="18" name="Image 10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840175"/>
            <a:ext cx="10942320" cy="1524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3840480"/>
            <a:ext cx="10942320" cy="6096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868680" y="3977640"/>
            <a:ext cx="30114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4. 系统补丁是如何管理的？</a:t>
            </a:r>
            <a:endParaRPr lang="en-US" sz="1920" dirty="0"/>
          </a:p>
        </p:txBody>
      </p:sp>
      <p:pic>
        <p:nvPicPr>
          <p:cNvPr id="21" name="Image 12" descr="https://test.web.static.jianzeppt.com/ppt-temp-img3/e0176fba25c450c1e6891adf73bb95f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840175"/>
            <a:ext cx="15240" cy="584149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6339840" y="402336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补丁更新流程、测试评估、紧急补丁处理</a:t>
            </a:r>
            <a:endParaRPr lang="en-US" sz="1680" dirty="0"/>
          </a:p>
        </p:txBody>
      </p:sp>
      <p:pic>
        <p:nvPicPr>
          <p:cNvPr id="23" name="Image 13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4439564"/>
            <a:ext cx="10942320" cy="1524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868680" y="4572000"/>
            <a:ext cx="49621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5. 系统日志是否开启？日志如何保存和审查？</a:t>
            </a:r>
            <a:endParaRPr lang="en-US" sz="1920" dirty="0"/>
          </a:p>
        </p:txBody>
      </p:sp>
      <p:pic>
        <p:nvPicPr>
          <p:cNvPr id="25" name="Image 14" descr="https://test.web.static.jianzeppt.com/ppt-temp-img3/36b768b38151a67848496f737c35c33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439564"/>
            <a:ext cx="15240" cy="58430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6339840" y="461772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日志保留期限、是否定期审查</a:t>
            </a:r>
            <a:endParaRPr lang="en-US" sz="1680" dirty="0"/>
          </a:p>
        </p:txBody>
      </p:sp>
      <p:pic>
        <p:nvPicPr>
          <p:cNvPr id="27" name="Image 15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5039258"/>
            <a:ext cx="10942320" cy="15240"/>
          </a:xfrm>
          <a:prstGeom prst="rect">
            <a:avLst/>
          </a:prstGeom>
        </p:spPr>
      </p:pic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044440"/>
            <a:ext cx="10942320" cy="579120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868680" y="5181600"/>
            <a:ext cx="44744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6. 如果系统出现安全事件，您会怎么做？</a:t>
            </a:r>
            <a:endParaRPr lang="en-US" sz="1920" dirty="0"/>
          </a:p>
        </p:txBody>
      </p:sp>
      <p:pic>
        <p:nvPicPr>
          <p:cNvPr id="30" name="Image 17" descr="https://test.web.static.jianzeppt.com/ppt-temp-img3/36b768b38151a67848496f737c35c33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5039258"/>
            <a:ext cx="15240" cy="584302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6339840" y="5227320"/>
            <a:ext cx="499262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555555"/>
                </a:solidFill>
              </a:rPr>
              <a:t>应急处理流程、上报机制</a:t>
            </a:r>
            <a:endParaRPr lang="en-US" sz="1680" dirty="0"/>
          </a:p>
        </p:txBody>
      </p:sp>
      <p:pic>
        <p:nvPicPr>
          <p:cNvPr id="32" name="Image 18" descr="https://test.web.static.jianzeppt.com/ppt-temp-img3/6ba405143db1b14a08c1a7600117cdbf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" y="1386840"/>
            <a:ext cx="10942320" cy="655320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2804160" y="1554480"/>
            <a:ext cx="1106424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</a:rPr>
              <a:t>访谈问题</a:t>
            </a:r>
            <a:endParaRPr lang="en-US" sz="2160" dirty="0"/>
          </a:p>
        </p:txBody>
      </p:sp>
      <p:pic>
        <p:nvPicPr>
          <p:cNvPr id="34" name="Image 19" descr="https://test.web.static.jianzeppt.com/ppt-temp-img3/0226d315958b97ebfe725611a95d75c6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60" y="1386840"/>
            <a:ext cx="15240" cy="65532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6339840" y="1508760"/>
            <a:ext cx="4992624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</a:rPr>
              <a:t>追问方向</a:t>
            </a:r>
            <a:endParaRPr lang="en-US" sz="2160" dirty="0"/>
          </a:p>
        </p:txBody>
      </p:sp>
      <p:sp>
        <p:nvSpPr>
          <p:cNvPr id="36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访谈提纲——针对系统管理员的访谈示例</a:t>
            </a:r>
            <a:endParaRPr lang="en-US"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09600" y="1371600"/>
          <a:ext cx="10972800" cy="4267200"/>
        </p:xfrm>
        <a:graphic>
          <a:graphicData uri="http://schemas.openxmlformats.org/drawingml/2006/table">
            <a:tbl>
              <a:tblPr/>
              <a:tblGrid>
                <a:gridCol w="6165523"/>
                <a:gridCol w="4807277"/>
              </a:tblGrid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访谈问题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追问方向</a:t>
                      </a:r>
                      <a:endParaRPr lang="en-US" sz="18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1.贵单位的安全管理组织架构是怎样的？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是否有专职安全岗位？职责是否明确？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2.是否制定了安全管理制度？制度多久评审一次？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制度是否覆盖各维度？是否经过审批？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3.安全培训是如何开展的？多久一次？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培训内容、覆盖范围、是否有考核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4.是否有安全事件应急预案？是否进行过演练？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预案内容、演练频率、演练效果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5.第三方人员访问系统需要什么流程？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审批流程、权限控制、离场清理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访谈提纲——针对安全管理人员的访谈示例</a:t>
            </a:r>
            <a:endParaRPr lang="en-US" sz="2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942fd545f0a1564976513b396691a9e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353568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783080"/>
            <a:ext cx="121920" cy="1219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97280" y="161544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开放式提问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853440" y="2194560"/>
            <a:ext cx="3057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获取完整信息</a:t>
            </a:r>
            <a:endParaRPr lang="en-US" sz="1920" dirty="0"/>
          </a:p>
        </p:txBody>
      </p:sp>
      <p:sp>
        <p:nvSpPr>
          <p:cNvPr id="9" name="Text 2"/>
          <p:cNvSpPr/>
          <p:nvPr/>
        </p:nvSpPr>
        <p:spPr>
          <a:xfrm>
            <a:off x="853440" y="2621280"/>
            <a:ext cx="305714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“请介绍一下您的岗位职责。”</a:t>
            </a:r>
            <a:endParaRPr lang="en-US" sz="1680" dirty="0"/>
          </a:p>
        </p:txBody>
      </p:sp>
      <p:pic>
        <p:nvPicPr>
          <p:cNvPr id="10" name="Image 5" descr="https://test.web.static.jianzeppt.com/ppt-temp-img3/942fd545f0a1564976513b396691a9e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60" y="1371600"/>
            <a:ext cx="3535680" cy="19812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783080"/>
            <a:ext cx="121920" cy="12192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815840" y="1615440"/>
            <a:ext cx="15331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封闭式提问</a:t>
            </a:r>
            <a:endParaRPr lang="en-US" sz="2400" dirty="0"/>
          </a:p>
        </p:txBody>
      </p:sp>
      <p:sp>
        <p:nvSpPr>
          <p:cNvPr id="13" name="Text 4"/>
          <p:cNvSpPr/>
          <p:nvPr/>
        </p:nvSpPr>
        <p:spPr>
          <a:xfrm>
            <a:off x="4572000" y="2194560"/>
            <a:ext cx="30571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确认具体事实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4572000" y="2621280"/>
            <a:ext cx="3057144" cy="2943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“您是否参加过安全培训？”</a:t>
            </a:r>
            <a:endParaRPr lang="en-US" sz="1680" dirty="0"/>
          </a:p>
        </p:txBody>
      </p:sp>
      <p:pic>
        <p:nvPicPr>
          <p:cNvPr id="15" name="Image 7" descr="https://test.web.static.jianzeppt.com/ppt-temp-img3/942fd545f0a1564976513b396691a9e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535680" cy="19812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0560" y="1767840"/>
            <a:ext cx="121920" cy="12192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534400" y="160020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追问</a:t>
            </a:r>
            <a:endParaRPr lang="en-US" sz="2400" dirty="0"/>
          </a:p>
        </p:txBody>
      </p:sp>
      <p:sp>
        <p:nvSpPr>
          <p:cNvPr id="18" name="Text 7"/>
          <p:cNvSpPr/>
          <p:nvPr/>
        </p:nvSpPr>
        <p:spPr>
          <a:xfrm>
            <a:off x="8290560" y="2164080"/>
            <a:ext cx="30571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深挖细节</a:t>
            </a:r>
            <a:endParaRPr lang="en-US" sz="1800" dirty="0"/>
          </a:p>
        </p:txBody>
      </p:sp>
      <p:sp>
        <p:nvSpPr>
          <p:cNvPr id="19" name="Text 8"/>
          <p:cNvSpPr/>
          <p:nvPr/>
        </p:nvSpPr>
        <p:spPr>
          <a:xfrm>
            <a:off x="8290560" y="2560320"/>
            <a:ext cx="3057144" cy="5467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“您能具体说说上次培训是什么时候吗？”</a:t>
            </a:r>
            <a:endParaRPr lang="en-US" sz="1560" dirty="0"/>
          </a:p>
        </p:txBody>
      </p:sp>
      <p:pic>
        <p:nvPicPr>
          <p:cNvPr id="20" name="Image 9" descr="https://test.web.static.jianzeppt.com/ppt-temp-img3/30ce0f34781a259db5bc2056fb40ad24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360" y="3535680"/>
            <a:ext cx="3520440" cy="1981200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3200" y="3931920"/>
            <a:ext cx="121920" cy="12192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2987040" y="376428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澄清</a:t>
            </a:r>
            <a:endParaRPr lang="en-US" sz="2400" dirty="0"/>
          </a:p>
        </p:txBody>
      </p:sp>
      <p:sp>
        <p:nvSpPr>
          <p:cNvPr id="23" name="Text 10"/>
          <p:cNvSpPr/>
          <p:nvPr/>
        </p:nvSpPr>
        <p:spPr>
          <a:xfrm>
            <a:off x="2743200" y="4328160"/>
            <a:ext cx="30419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确保理解正确</a:t>
            </a:r>
            <a:endParaRPr lang="en-US" sz="1800" dirty="0"/>
          </a:p>
        </p:txBody>
      </p:sp>
      <p:sp>
        <p:nvSpPr>
          <p:cNvPr id="24" name="Text 11"/>
          <p:cNvSpPr/>
          <p:nvPr/>
        </p:nvSpPr>
        <p:spPr>
          <a:xfrm>
            <a:off x="2743200" y="4724400"/>
            <a:ext cx="3041904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“您刚才说的是不是这个意思……”</a:t>
            </a:r>
            <a:endParaRPr lang="en-US" sz="1560" dirty="0"/>
          </a:p>
        </p:txBody>
      </p:sp>
      <p:pic>
        <p:nvPicPr>
          <p:cNvPr id="25" name="Image 11" descr="https://test.web.static.jianzeppt.com/ppt-temp-img3/30ce0f34781a259db5bc2056fb40ad24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40" y="3535680"/>
            <a:ext cx="3520440" cy="198120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1280" y="3931920"/>
            <a:ext cx="121920" cy="12192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675120" y="3764280"/>
            <a:ext cx="6187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对比</a:t>
            </a:r>
            <a:endParaRPr lang="en-US" sz="2400" dirty="0"/>
          </a:p>
        </p:txBody>
      </p:sp>
      <p:sp>
        <p:nvSpPr>
          <p:cNvPr id="28" name="Text 13"/>
          <p:cNvSpPr/>
          <p:nvPr/>
        </p:nvSpPr>
        <p:spPr>
          <a:xfrm>
            <a:off x="6431280" y="4328160"/>
            <a:ext cx="304190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发现不一致</a:t>
            </a:r>
            <a:endParaRPr lang="en-US" sz="1800" dirty="0"/>
          </a:p>
        </p:txBody>
      </p:sp>
      <p:sp>
        <p:nvSpPr>
          <p:cNvPr id="29" name="Text 14"/>
          <p:cNvSpPr/>
          <p:nvPr/>
        </p:nvSpPr>
        <p:spPr>
          <a:xfrm>
            <a:off x="6431280" y="4724400"/>
            <a:ext cx="3041904" cy="5467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60" dirty="0">
                <a:solidFill>
                  <a:srgbClr val="00234E">
                    <a:alpha val="80000"/>
                  </a:srgbClr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“制度规定是90天，实际执行的情况是？”</a:t>
            </a:r>
            <a:endParaRPr lang="en-US" sz="1560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5577840"/>
            <a:ext cx="10972800" cy="8229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98320" y="5806440"/>
            <a:ext cx="365760" cy="36576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2286000" y="5760720"/>
            <a:ext cx="811682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关键原则：多问“如何”（How），少问“是否”（Yes/No）。</a:t>
            </a:r>
            <a:endParaRPr lang="en-US" sz="2400" dirty="0"/>
          </a:p>
        </p:txBody>
      </p:sp>
      <p:sp>
        <p:nvSpPr>
          <p:cNvPr id="33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访谈技巧——如何有效提问</a:t>
            </a:r>
            <a:endParaRPr lang="en-US" sz="2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937260"/>
            <a:ext cx="10981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常见信号及应对策略：</a:t>
            </a:r>
            <a:endParaRPr lang="en-US" sz="2640" dirty="0"/>
          </a:p>
        </p:txBody>
      </p:sp>
      <p:pic>
        <p:nvPicPr>
          <p:cNvPr id="6" name="Image 3" descr="https://test.web.static.jianzeppt.com/ppt-temp-img3/8f7af3de8c4d10bb2f7a1c8521eb809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88160"/>
            <a:ext cx="10972800" cy="90614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480" y="1977390"/>
            <a:ext cx="487680" cy="487680"/>
          </a:xfrm>
          <a:prstGeom prst="rect">
            <a:avLst/>
          </a:prstGeom>
        </p:spPr>
      </p:pic>
      <p:sp>
        <p:nvSpPr>
          <p:cNvPr id="8" name="Text 1"/>
          <p:cNvSpPr/>
          <p:nvPr>
            <p:custDataLst>
              <p:tags r:id="rId8"/>
            </p:custDataLst>
          </p:nvPr>
        </p:nvSpPr>
        <p:spPr>
          <a:xfrm>
            <a:off x="899160" y="2038350"/>
            <a:ext cx="29870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1524000" y="1748790"/>
            <a:ext cx="41376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回答模糊：“大概、可能、基本上……”</a:t>
            </a:r>
            <a:endParaRPr lang="en-US" b="1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0" name="Image 5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4000" y="2251710"/>
            <a:ext cx="1097280" cy="441960"/>
          </a:xfrm>
          <a:prstGeom prst="rect">
            <a:avLst/>
          </a:prstGeom>
        </p:spPr>
      </p:pic>
      <p:sp>
        <p:nvSpPr>
          <p:cNvPr id="11" name="Text 3"/>
          <p:cNvSpPr/>
          <p:nvPr>
            <p:custDataLst>
              <p:tags r:id="rId13"/>
            </p:custDataLst>
          </p:nvPr>
        </p:nvSpPr>
        <p:spPr>
          <a:xfrm>
            <a:off x="1645920" y="2312670"/>
            <a:ext cx="71120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应对策略</a:t>
            </a:r>
            <a:endParaRPr lang="en-US" sz="14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12" name="Text 4"/>
          <p:cNvSpPr/>
          <p:nvPr>
            <p:custDataLst>
              <p:tags r:id="rId14"/>
            </p:custDataLst>
          </p:nvPr>
        </p:nvSpPr>
        <p:spPr>
          <a:xfrm>
            <a:off x="2743200" y="2221230"/>
            <a:ext cx="3860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追问具体细节：“您能具体描述一下吗？”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3" name="Image 6" descr="https://test.web.static.jianzeppt.com/ppt-temp-img3/8f7af3de8c4d10bb2f7a1c8521eb809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23845"/>
            <a:ext cx="10972800" cy="73533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480" y="2980055"/>
            <a:ext cx="487680" cy="487680"/>
          </a:xfrm>
          <a:prstGeom prst="rect">
            <a:avLst/>
          </a:prstGeom>
        </p:spPr>
      </p:pic>
      <p:sp>
        <p:nvSpPr>
          <p:cNvPr id="15" name="Text 5"/>
          <p:cNvSpPr/>
          <p:nvPr>
            <p:custDataLst>
              <p:tags r:id="rId16"/>
            </p:custDataLst>
          </p:nvPr>
        </p:nvSpPr>
        <p:spPr>
          <a:xfrm>
            <a:off x="899160" y="3041015"/>
            <a:ext cx="29845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6" name="Text 6"/>
          <p:cNvSpPr/>
          <p:nvPr>
            <p:custDataLst>
              <p:tags r:id="rId17"/>
            </p:custDataLst>
          </p:nvPr>
        </p:nvSpPr>
        <p:spPr>
          <a:xfrm>
            <a:off x="1524000" y="2751455"/>
            <a:ext cx="505714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回避直接</a:t>
            </a:r>
            <a:r>
              <a:rPr lang="zh-CN" alt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问题</a:t>
            </a: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：“这个我不太清楚，应该是……”</a:t>
            </a:r>
            <a:endParaRPr lang="en-US" b="1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7" name="Image 8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4000" y="3254375"/>
            <a:ext cx="1097280" cy="441960"/>
          </a:xfrm>
          <a:prstGeom prst="rect">
            <a:avLst/>
          </a:prstGeom>
        </p:spPr>
      </p:pic>
      <p:sp>
        <p:nvSpPr>
          <p:cNvPr id="18" name="Text 7"/>
          <p:cNvSpPr/>
          <p:nvPr>
            <p:custDataLst>
              <p:tags r:id="rId19"/>
            </p:custDataLst>
          </p:nvPr>
        </p:nvSpPr>
        <p:spPr>
          <a:xfrm>
            <a:off x="1645920" y="3315335"/>
            <a:ext cx="71120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应对策略</a:t>
            </a:r>
            <a:endParaRPr lang="en-US" sz="14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19" name="Text 8"/>
          <p:cNvSpPr/>
          <p:nvPr>
            <p:custDataLst>
              <p:tags r:id="rId20"/>
            </p:custDataLst>
          </p:nvPr>
        </p:nvSpPr>
        <p:spPr>
          <a:xfrm>
            <a:off x="2743200" y="3223895"/>
            <a:ext cx="3657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追问执行主体：“这件事是谁负责的？”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0" name="Image 9" descr="https://test.web.static.jianzeppt.com/ppt-temp-img3/8f7af3de8c4d10bb2f7a1c8521eb809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92855"/>
            <a:ext cx="10972800" cy="655320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480" y="3869055"/>
            <a:ext cx="487680" cy="487680"/>
          </a:xfrm>
          <a:prstGeom prst="rect">
            <a:avLst/>
          </a:prstGeom>
        </p:spPr>
      </p:pic>
      <p:sp>
        <p:nvSpPr>
          <p:cNvPr id="22" name="Text 9"/>
          <p:cNvSpPr/>
          <p:nvPr>
            <p:custDataLst>
              <p:tags r:id="rId22"/>
            </p:custDataLst>
          </p:nvPr>
        </p:nvSpPr>
        <p:spPr>
          <a:xfrm>
            <a:off x="899160" y="3930015"/>
            <a:ext cx="29845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10"/>
          <p:cNvSpPr/>
          <p:nvPr>
            <p:custDataLst>
              <p:tags r:id="rId23"/>
            </p:custDataLst>
          </p:nvPr>
        </p:nvSpPr>
        <p:spPr>
          <a:xfrm>
            <a:off x="1524000" y="3640455"/>
            <a:ext cx="574675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前后矛盾：前面说“定期培训”，后面说“没有参加过”</a:t>
            </a:r>
            <a:endParaRPr lang="en-US" b="1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4" name="Image 11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4000" y="4143375"/>
            <a:ext cx="1097280" cy="441960"/>
          </a:xfrm>
          <a:prstGeom prst="rect">
            <a:avLst/>
          </a:prstGeom>
        </p:spPr>
      </p:pic>
      <p:sp>
        <p:nvSpPr>
          <p:cNvPr id="25" name="Text 11"/>
          <p:cNvSpPr/>
          <p:nvPr>
            <p:custDataLst>
              <p:tags r:id="rId25"/>
            </p:custDataLst>
          </p:nvPr>
        </p:nvSpPr>
        <p:spPr>
          <a:xfrm>
            <a:off x="1645920" y="4204335"/>
            <a:ext cx="71120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应对策略</a:t>
            </a:r>
            <a:endParaRPr lang="en-US" sz="14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26" name="Text 12"/>
          <p:cNvSpPr/>
          <p:nvPr>
            <p:custDataLst>
              <p:tags r:id="rId26"/>
            </p:custDataLst>
          </p:nvPr>
        </p:nvSpPr>
        <p:spPr>
          <a:xfrm>
            <a:off x="2743200" y="4112895"/>
            <a:ext cx="2235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记录下来，后续交叉验证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7" name="Image 12" descr="https://test.web.static.jianzeppt.com/ppt-temp-img3/8f7af3de8c4d10bb2f7a1c8521eb809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81855"/>
            <a:ext cx="10972800" cy="655320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480" y="4773295"/>
            <a:ext cx="487680" cy="487680"/>
          </a:xfrm>
          <a:prstGeom prst="rect">
            <a:avLst/>
          </a:prstGeom>
        </p:spPr>
      </p:pic>
      <p:sp>
        <p:nvSpPr>
          <p:cNvPr id="29" name="Text 13"/>
          <p:cNvSpPr/>
          <p:nvPr>
            <p:custDataLst>
              <p:tags r:id="rId28"/>
            </p:custDataLst>
          </p:nvPr>
        </p:nvSpPr>
        <p:spPr>
          <a:xfrm>
            <a:off x="899160" y="4834255"/>
            <a:ext cx="29845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0" name="Text 14"/>
          <p:cNvSpPr/>
          <p:nvPr>
            <p:custDataLst>
              <p:tags r:id="rId29"/>
            </p:custDataLst>
          </p:nvPr>
        </p:nvSpPr>
        <p:spPr>
          <a:xfrm>
            <a:off x="1524000" y="4544695"/>
            <a:ext cx="407416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过度承诺：“我们100%按照制度执行”</a:t>
            </a:r>
            <a:endParaRPr lang="en-US" b="1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1" name="Image 14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4000" y="5047615"/>
            <a:ext cx="1097280" cy="441960"/>
          </a:xfrm>
          <a:prstGeom prst="rect">
            <a:avLst/>
          </a:prstGeom>
        </p:spPr>
      </p:pic>
      <p:sp>
        <p:nvSpPr>
          <p:cNvPr id="32" name="Text 15"/>
          <p:cNvSpPr/>
          <p:nvPr>
            <p:custDataLst>
              <p:tags r:id="rId31"/>
            </p:custDataLst>
          </p:nvPr>
        </p:nvSpPr>
        <p:spPr>
          <a:xfrm>
            <a:off x="1645920" y="5108575"/>
            <a:ext cx="71120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应对策略</a:t>
            </a:r>
            <a:endParaRPr lang="en-US" sz="14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3" name="Text 16"/>
          <p:cNvSpPr/>
          <p:nvPr>
            <p:custDataLst>
              <p:tags r:id="rId32"/>
            </p:custDataLst>
          </p:nvPr>
        </p:nvSpPr>
        <p:spPr>
          <a:xfrm>
            <a:off x="2743200" y="5017135"/>
            <a:ext cx="3657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追问例外情况：“有没有出现过例外？”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34" name="Image 15" descr="https://test.web.static.jianzeppt.com/ppt-temp-img3/8f7af3de8c4d10bb2f7a1c8521eb809d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601970"/>
            <a:ext cx="10972800" cy="655320"/>
          </a:xfrm>
          <a:prstGeom prst="rect">
            <a:avLst/>
          </a:prstGeom>
        </p:spPr>
      </p:pic>
      <p:pic>
        <p:nvPicPr>
          <p:cNvPr id="35" name="Image 16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480" y="5678170"/>
            <a:ext cx="487680" cy="487680"/>
          </a:xfrm>
          <a:prstGeom prst="rect">
            <a:avLst/>
          </a:prstGeom>
        </p:spPr>
      </p:pic>
      <p:sp>
        <p:nvSpPr>
          <p:cNvPr id="36" name="Text 17"/>
          <p:cNvSpPr/>
          <p:nvPr>
            <p:custDataLst>
              <p:tags r:id="rId34"/>
            </p:custDataLst>
          </p:nvPr>
        </p:nvSpPr>
        <p:spPr>
          <a:xfrm>
            <a:off x="899160" y="5739130"/>
            <a:ext cx="29845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05</a:t>
            </a:r>
            <a:endParaRPr lang="en-US" sz="16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7" name="Text 18"/>
          <p:cNvSpPr/>
          <p:nvPr>
            <p:custDataLst>
              <p:tags r:id="rId35"/>
            </p:custDataLst>
          </p:nvPr>
        </p:nvSpPr>
        <p:spPr>
          <a:xfrm>
            <a:off x="1524000" y="5449570"/>
            <a:ext cx="344805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转移话题：“这个要问我们领导”</a:t>
            </a:r>
            <a:endParaRPr lang="en-US" b="1" dirty="0">
              <a:solidFill>
                <a:srgbClr val="333333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38" name="Image 17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24000" y="5952490"/>
            <a:ext cx="1097280" cy="441960"/>
          </a:xfrm>
          <a:prstGeom prst="rect">
            <a:avLst/>
          </a:prstGeom>
        </p:spPr>
      </p:pic>
      <p:sp>
        <p:nvSpPr>
          <p:cNvPr id="39" name="Text 19"/>
          <p:cNvSpPr/>
          <p:nvPr>
            <p:custDataLst>
              <p:tags r:id="rId37"/>
            </p:custDataLst>
          </p:nvPr>
        </p:nvSpPr>
        <p:spPr>
          <a:xfrm>
            <a:off x="1645920" y="6013450"/>
            <a:ext cx="71120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应对策略</a:t>
            </a:r>
            <a:endParaRPr lang="en-US" sz="14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0" name="Text 20"/>
          <p:cNvSpPr/>
          <p:nvPr>
            <p:custDataLst>
              <p:tags r:id="rId38"/>
            </p:custDataLst>
          </p:nvPr>
        </p:nvSpPr>
        <p:spPr>
          <a:xfrm>
            <a:off x="2743200" y="5922010"/>
            <a:ext cx="4267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坚持：“您作为执行者，具体情况是怎样的？”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访谈技巧——如何识别“说一套做一套”</a:t>
            </a:r>
            <a:endParaRPr lang="en-US" sz="276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6f355ca378cf25ce854ecc92a9f50b1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4191000" cy="1828800"/>
          </a:xfrm>
          <a:prstGeom prst="rect">
            <a:avLst/>
          </a:prstGeom>
        </p:spPr>
      </p:pic>
      <p:pic>
        <p:nvPicPr>
          <p:cNvPr id="6" name="Image 4" descr="https://test.web.static.jianzeppt.com/ppt-temp-img3/466708dc333470c7104603ae7905cc6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402080" y="158496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角色</a:t>
            </a:r>
            <a:endParaRPr lang="en-US" sz="2640" dirty="0"/>
          </a:p>
        </p:txBody>
      </p:sp>
      <p:sp>
        <p:nvSpPr>
          <p:cNvPr id="8" name="Text 1"/>
          <p:cNvSpPr/>
          <p:nvPr/>
        </p:nvSpPr>
        <p:spPr>
          <a:xfrm>
            <a:off x="975360" y="2164080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•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测评师：教师扮演</a:t>
            </a:r>
            <a:endParaRPr lang="en-US" sz="1920" dirty="0"/>
          </a:p>
        </p:txBody>
      </p:sp>
      <p:sp>
        <p:nvSpPr>
          <p:cNvPr id="9" name="Text 2"/>
          <p:cNvSpPr/>
          <p:nvPr/>
        </p:nvSpPr>
        <p:spPr>
          <a:xfrm>
            <a:off x="975360" y="2621280"/>
            <a:ext cx="352958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•</a:t>
            </a:r>
            <a:r>
              <a:rPr lang="en-US" sz="192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被访谈人：学生扮演（提前指定）</a:t>
            </a:r>
            <a:endParaRPr lang="en-US" sz="1920" dirty="0"/>
          </a:p>
        </p:txBody>
      </p:sp>
      <p:pic>
        <p:nvPicPr>
          <p:cNvPr id="10" name="Image 5" descr="https://test.web.static.jianzeppt.com/ppt-temp-img3/6f355ca378cf25ce854ecc92a9f50b1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66160"/>
            <a:ext cx="4191000" cy="1828800"/>
          </a:xfrm>
          <a:prstGeom prst="rect">
            <a:avLst/>
          </a:prstGeom>
        </p:spPr>
      </p:pic>
      <p:pic>
        <p:nvPicPr>
          <p:cNvPr id="11" name="Image 6" descr="https://test.web.static.jianzeppt.com/ppt-temp-img3/d75626941c3b1e3e5f4c4a70c04fed35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86200"/>
            <a:ext cx="365760" cy="3657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402080" y="382524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场景</a:t>
            </a:r>
            <a:endParaRPr lang="en-US" sz="2640" dirty="0"/>
          </a:p>
        </p:txBody>
      </p:sp>
      <p:sp>
        <p:nvSpPr>
          <p:cNvPr id="13" name="Text 4"/>
          <p:cNvSpPr/>
          <p:nvPr/>
        </p:nvSpPr>
        <p:spPr>
          <a:xfrm>
            <a:off x="975360" y="4400550"/>
            <a:ext cx="3529584" cy="902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教师模拟对某单位“系统管理员”进行访谈</a:t>
            </a:r>
            <a:endParaRPr lang="en-US" dirty="0">
              <a:solidFill>
                <a:srgbClr val="333333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3040" y="1371600"/>
            <a:ext cx="6309360" cy="42672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3320" y="1859280"/>
            <a:ext cx="121920" cy="3048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7757160" y="16535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示范重点</a:t>
            </a:r>
            <a:endParaRPr lang="en-US" sz="264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0200" y="1859280"/>
            <a:ext cx="121920" cy="304800"/>
          </a:xfrm>
          <a:prstGeom prst="rect">
            <a:avLst/>
          </a:prstGeom>
        </p:spPr>
      </p:pic>
      <p:pic>
        <p:nvPicPr>
          <p:cNvPr id="18" name="Image 10" descr="https://test.web.static.jianzeppt.com/ppt-temp-img3/9e49fa20593c3d5ea1925b0390af96a6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0320" y="2621280"/>
            <a:ext cx="30480" cy="25146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1720" y="2758440"/>
            <a:ext cx="365760" cy="365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0" name="Text 6"/>
          <p:cNvSpPr/>
          <p:nvPr/>
        </p:nvSpPr>
        <p:spPr>
          <a:xfrm>
            <a:off x="6263640" y="278892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21" name="Text 7"/>
          <p:cNvSpPr/>
          <p:nvPr/>
        </p:nvSpPr>
        <p:spPr>
          <a:xfrm>
            <a:off x="6751320" y="2560320"/>
            <a:ext cx="299618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如何开场</a:t>
            </a:r>
            <a:endParaRPr lang="en-US" sz="2160" dirty="0"/>
          </a:p>
        </p:txBody>
      </p:sp>
      <p:sp>
        <p:nvSpPr>
          <p:cNvPr id="22" name="Text 8"/>
          <p:cNvSpPr/>
          <p:nvPr/>
        </p:nvSpPr>
        <p:spPr>
          <a:xfrm>
            <a:off x="6751320" y="3002280"/>
            <a:ext cx="29961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自我介绍、说明目的、承诺保密</a:t>
            </a:r>
            <a:endParaRPr lang="en-US" sz="168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1720" y="3398520"/>
            <a:ext cx="365760" cy="365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4" name="Text 9"/>
          <p:cNvSpPr/>
          <p:nvPr/>
        </p:nvSpPr>
        <p:spPr>
          <a:xfrm>
            <a:off x="6263640" y="34290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25" name="Text 10"/>
          <p:cNvSpPr/>
          <p:nvPr/>
        </p:nvSpPr>
        <p:spPr>
          <a:xfrm>
            <a:off x="6751320" y="338328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如何按照提纲提问</a:t>
            </a:r>
            <a:endParaRPr lang="en-US" sz="216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1720" y="3870960"/>
            <a:ext cx="365760" cy="365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7" name="Text 11"/>
          <p:cNvSpPr/>
          <p:nvPr/>
        </p:nvSpPr>
        <p:spPr>
          <a:xfrm>
            <a:off x="6263640" y="39014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28" name="Text 12"/>
          <p:cNvSpPr/>
          <p:nvPr/>
        </p:nvSpPr>
        <p:spPr>
          <a:xfrm>
            <a:off x="6751320" y="38557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如何追问</a:t>
            </a:r>
            <a:endParaRPr lang="en-US" sz="2160" dirty="0"/>
          </a:p>
        </p:txBody>
      </p:sp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1720" y="4343400"/>
            <a:ext cx="365760" cy="365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0" name="Text 13"/>
          <p:cNvSpPr/>
          <p:nvPr/>
        </p:nvSpPr>
        <p:spPr>
          <a:xfrm>
            <a:off x="6263640" y="435864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31" name="Text 14"/>
          <p:cNvSpPr/>
          <p:nvPr/>
        </p:nvSpPr>
        <p:spPr>
          <a:xfrm>
            <a:off x="6751320" y="4312920"/>
            <a:ext cx="2203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如何记录关键信息</a:t>
            </a:r>
            <a:endParaRPr lang="en-US" sz="2160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1720" y="4815840"/>
            <a:ext cx="365760" cy="365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3" name="Text 15"/>
          <p:cNvSpPr/>
          <p:nvPr/>
        </p:nvSpPr>
        <p:spPr>
          <a:xfrm>
            <a:off x="6263640" y="48310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680" dirty="0"/>
          </a:p>
        </p:txBody>
      </p:sp>
      <p:sp>
        <p:nvSpPr>
          <p:cNvPr id="34" name="Text 16"/>
          <p:cNvSpPr/>
          <p:nvPr/>
        </p:nvSpPr>
        <p:spPr>
          <a:xfrm>
            <a:off x="6751320" y="47853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33333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如何收尾</a:t>
            </a:r>
            <a:endParaRPr lang="en-US" sz="2160" dirty="0"/>
          </a:p>
        </p:txBody>
      </p:sp>
      <p:sp>
        <p:nvSpPr>
          <p:cNvPr id="35" name="Text 1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教师示范访谈（10分钟）</a:t>
            </a:r>
            <a:endParaRPr lang="en-US" sz="2760" dirty="0"/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47325" y="3136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4" imgW="971550" imgH="666750" progId="Word.Document.12">
                  <p:embed/>
                </p:oleObj>
              </mc:Choice>
              <mc:Fallback>
                <p:oleObj name="" showAsIcon="1" r:id="rId14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347325" y="3136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a91b658f5bbd9a356ec7cd94290d2f4a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2956560" cy="20116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640" y="1874520"/>
            <a:ext cx="487680" cy="4876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1996440"/>
            <a:ext cx="243840" cy="2438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539240" y="185928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任务名称</a:t>
            </a:r>
            <a:endParaRPr lang="en-US" sz="2640" dirty="0"/>
          </a:p>
        </p:txBody>
      </p:sp>
      <p:sp>
        <p:nvSpPr>
          <p:cNvPr id="9" name="Text 1"/>
          <p:cNvSpPr/>
          <p:nvPr/>
        </p:nvSpPr>
        <p:spPr>
          <a:xfrm>
            <a:off x="929640" y="2484120"/>
            <a:ext cx="23256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模拟人员访谈</a:t>
            </a:r>
            <a:endParaRPr lang="en-US" sz="2160" dirty="0"/>
          </a:p>
        </p:txBody>
      </p:sp>
      <p:pic>
        <p:nvPicPr>
          <p:cNvPr id="10" name="Image 6" descr="https://test.web.static.jianzeppt.com/ppt-temp-img3/a9ab5a314165cbf5b19a5995bd9d0212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0" y="1371600"/>
            <a:ext cx="4114800" cy="201168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30040" y="1630680"/>
            <a:ext cx="487680" cy="4876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51960" y="1752600"/>
            <a:ext cx="243840" cy="24384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739640" y="16154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任务场景</a:t>
            </a:r>
            <a:endParaRPr lang="en-US" sz="2640" dirty="0"/>
          </a:p>
        </p:txBody>
      </p:sp>
      <p:sp>
        <p:nvSpPr>
          <p:cNvPr id="14" name="Text 3"/>
          <p:cNvSpPr/>
          <p:nvPr/>
        </p:nvSpPr>
        <p:spPr>
          <a:xfrm>
            <a:off x="4130040" y="2179320"/>
            <a:ext cx="3483864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4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模拟某单位等保测评项目，测评师需对被测方人员进行访谈</a:t>
            </a:r>
            <a:endParaRPr lang="en-US" sz="2040" dirty="0"/>
          </a:p>
        </p:txBody>
      </p:sp>
      <p:pic>
        <p:nvPicPr>
          <p:cNvPr id="15" name="Image 9" descr="https://test.web.static.jianzeppt.com/ppt-temp-img3/3edc13828f8638a3a988e6eb022d9a2b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8640" y="1371600"/>
            <a:ext cx="3429000" cy="201168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8680" y="1630680"/>
            <a:ext cx="487680" cy="487680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10600" y="1752600"/>
            <a:ext cx="243840" cy="243840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>
            <a:off x="9098280" y="161544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访谈场景</a:t>
            </a:r>
            <a:endParaRPr lang="en-US" sz="2640" dirty="0"/>
          </a:p>
        </p:txBody>
      </p:sp>
      <p:sp>
        <p:nvSpPr>
          <p:cNvPr id="19" name="Text 5"/>
          <p:cNvSpPr/>
          <p:nvPr/>
        </p:nvSpPr>
        <p:spPr>
          <a:xfrm>
            <a:off x="8488680" y="2179320"/>
            <a:ext cx="2798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① 系统管理员访谈</a:t>
            </a:r>
            <a:endParaRPr lang="en-US" sz="1920" dirty="0"/>
          </a:p>
        </p:txBody>
      </p:sp>
      <p:sp>
        <p:nvSpPr>
          <p:cNvPr id="20" name="Text 6"/>
          <p:cNvSpPr/>
          <p:nvPr/>
        </p:nvSpPr>
        <p:spPr>
          <a:xfrm>
            <a:off x="8488680" y="2606040"/>
            <a:ext cx="2798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② 安全主管访谈</a:t>
            </a:r>
            <a:endParaRPr lang="en-US" sz="1920" dirty="0"/>
          </a:p>
        </p:txBody>
      </p:sp>
      <p:sp>
        <p:nvSpPr>
          <p:cNvPr id="21" name="Text 7"/>
          <p:cNvSpPr/>
          <p:nvPr/>
        </p:nvSpPr>
        <p:spPr>
          <a:xfrm>
            <a:off x="8488680" y="3032760"/>
            <a:ext cx="27980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③ 普通员工访谈</a:t>
            </a:r>
            <a:endParaRPr lang="en-US" sz="192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600" y="3627120"/>
            <a:ext cx="7696200" cy="2011680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4400" y="3947160"/>
            <a:ext cx="304800" cy="30480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1341120" y="385572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640" dirty="0"/>
          </a:p>
        </p:txBody>
      </p:sp>
      <p:pic>
        <p:nvPicPr>
          <p:cNvPr id="25" name="Image 14" descr="https://test.web.static.jianzeppt.com/ppt-temp-img3/f0cfca7223d0927bbbc79b7fd97b3f53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402080" y="4434840"/>
            <a:ext cx="487680" cy="487680"/>
          </a:xfrm>
          <a:prstGeom prst="rect">
            <a:avLst/>
          </a:prstGeom>
        </p:spPr>
      </p:pic>
      <p:sp>
        <p:nvSpPr>
          <p:cNvPr id="26" name="Text 9"/>
          <p:cNvSpPr/>
          <p:nvPr>
            <p:custDataLst>
              <p:tags r:id="rId21"/>
            </p:custDataLst>
          </p:nvPr>
        </p:nvSpPr>
        <p:spPr>
          <a:xfrm>
            <a:off x="1584960" y="4526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680" dirty="0"/>
          </a:p>
        </p:txBody>
      </p:sp>
      <p:sp>
        <p:nvSpPr>
          <p:cNvPr id="27" name="Text 10"/>
          <p:cNvSpPr/>
          <p:nvPr>
            <p:custDataLst>
              <p:tags r:id="rId22"/>
            </p:custDataLst>
          </p:nvPr>
        </p:nvSpPr>
        <p:spPr>
          <a:xfrm>
            <a:off x="914400" y="4983480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确定访谈角色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8" name="Image 15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alphaModFix amt="50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91970" y="4231640"/>
            <a:ext cx="914400" cy="914400"/>
          </a:xfrm>
          <a:prstGeom prst="rect">
            <a:avLst/>
          </a:prstGeom>
        </p:spPr>
      </p:pic>
      <p:pic>
        <p:nvPicPr>
          <p:cNvPr id="29" name="Image 16" descr="https://test.web.static.jianzeppt.com/ppt-temp-img3/f0cfca7223d0927bbbc79b7fd97b3f53.png?x-oss-process=image/resize,w_1440,h_800,m_lfit/format,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865120" y="4434840"/>
            <a:ext cx="487680" cy="487680"/>
          </a:xfrm>
          <a:prstGeom prst="rect">
            <a:avLst/>
          </a:prstGeom>
        </p:spPr>
      </p:pic>
      <p:sp>
        <p:nvSpPr>
          <p:cNvPr id="30" name="Text 11"/>
          <p:cNvSpPr/>
          <p:nvPr>
            <p:custDataLst>
              <p:tags r:id="rId27"/>
            </p:custDataLst>
          </p:nvPr>
        </p:nvSpPr>
        <p:spPr>
          <a:xfrm>
            <a:off x="3048000" y="4526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680" dirty="0"/>
          </a:p>
        </p:txBody>
      </p:sp>
      <p:sp>
        <p:nvSpPr>
          <p:cNvPr id="31" name="Text 12"/>
          <p:cNvSpPr/>
          <p:nvPr>
            <p:custDataLst>
              <p:tags r:id="rId28"/>
            </p:custDataLst>
          </p:nvPr>
        </p:nvSpPr>
        <p:spPr>
          <a:xfrm>
            <a:off x="2377440" y="4983480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设计访谈提纲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32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4">
            <a:alphaModFix amt="50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55010" y="4231640"/>
            <a:ext cx="914400" cy="914400"/>
          </a:xfrm>
          <a:prstGeom prst="rect">
            <a:avLst/>
          </a:prstGeom>
        </p:spPr>
      </p:pic>
      <p:pic>
        <p:nvPicPr>
          <p:cNvPr id="33" name="Image 18" descr="https://test.web.static.jianzeppt.com/ppt-temp-img3/f0cfca7223d0927bbbc79b7fd97b3f53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084320" y="4434840"/>
            <a:ext cx="487680" cy="487680"/>
          </a:xfrm>
          <a:prstGeom prst="rect">
            <a:avLst/>
          </a:prstGeom>
        </p:spPr>
      </p:pic>
      <p:sp>
        <p:nvSpPr>
          <p:cNvPr id="34" name="Text 13"/>
          <p:cNvSpPr/>
          <p:nvPr>
            <p:custDataLst>
              <p:tags r:id="rId31"/>
            </p:custDataLst>
          </p:nvPr>
        </p:nvSpPr>
        <p:spPr>
          <a:xfrm>
            <a:off x="4267200" y="4526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680" dirty="0"/>
          </a:p>
        </p:txBody>
      </p:sp>
      <p:sp>
        <p:nvSpPr>
          <p:cNvPr id="35" name="Text 14"/>
          <p:cNvSpPr/>
          <p:nvPr>
            <p:custDataLst>
              <p:tags r:id="rId32"/>
            </p:custDataLst>
          </p:nvPr>
        </p:nvSpPr>
        <p:spPr>
          <a:xfrm>
            <a:off x="3840480" y="498348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模拟访谈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36" name="Image 19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4">
            <a:alphaModFix amt="50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95800" y="4231640"/>
            <a:ext cx="914400" cy="914400"/>
          </a:xfrm>
          <a:prstGeom prst="rect">
            <a:avLst/>
          </a:prstGeom>
        </p:spPr>
      </p:pic>
      <p:pic>
        <p:nvPicPr>
          <p:cNvPr id="37" name="Image 20" descr="https://test.web.static.jianzeppt.com/ppt-temp-img3/f0cfca7223d0927bbbc79b7fd97b3f53.png?x-oss-process=image/resize,w_1440,h_800,m_lfit/format,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303520" y="4434840"/>
            <a:ext cx="487680" cy="487680"/>
          </a:xfrm>
          <a:prstGeom prst="rect">
            <a:avLst/>
          </a:prstGeom>
        </p:spPr>
      </p:pic>
      <p:sp>
        <p:nvSpPr>
          <p:cNvPr id="38" name="Text 15"/>
          <p:cNvSpPr/>
          <p:nvPr>
            <p:custDataLst>
              <p:tags r:id="rId35"/>
            </p:custDataLst>
          </p:nvPr>
        </p:nvSpPr>
        <p:spPr>
          <a:xfrm>
            <a:off x="5486400" y="452628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680" dirty="0"/>
          </a:p>
        </p:txBody>
      </p:sp>
      <p:sp>
        <p:nvSpPr>
          <p:cNvPr id="39" name="Text 16"/>
          <p:cNvSpPr/>
          <p:nvPr>
            <p:custDataLst>
              <p:tags r:id="rId36"/>
            </p:custDataLst>
          </p:nvPr>
        </p:nvSpPr>
        <p:spPr>
          <a:xfrm>
            <a:off x="4815840" y="4983480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记录访谈要点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40" name="Image 21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24">
            <a:alphaModFix amt="50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791200" y="4231640"/>
            <a:ext cx="914400" cy="914400"/>
          </a:xfrm>
          <a:prstGeom prst="rect">
            <a:avLst/>
          </a:prstGeom>
        </p:spPr>
      </p:pic>
      <p:pic>
        <p:nvPicPr>
          <p:cNvPr id="41" name="Image 22" descr="https://test.web.static.jianzeppt.com/ppt-temp-img3/f0cfca7223d0927bbbc79b7fd97b3f53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888480" y="4315460"/>
            <a:ext cx="487680" cy="487680"/>
          </a:xfrm>
          <a:prstGeom prst="rect">
            <a:avLst/>
          </a:prstGeom>
        </p:spPr>
      </p:pic>
      <p:sp>
        <p:nvSpPr>
          <p:cNvPr id="42" name="Text 17"/>
          <p:cNvSpPr/>
          <p:nvPr>
            <p:custDataLst>
              <p:tags r:id="rId39"/>
            </p:custDataLst>
          </p:nvPr>
        </p:nvSpPr>
        <p:spPr>
          <a:xfrm>
            <a:off x="7071360" y="4343400"/>
            <a:ext cx="14630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680" dirty="0"/>
          </a:p>
        </p:txBody>
      </p:sp>
      <p:sp>
        <p:nvSpPr>
          <p:cNvPr id="43" name="Text 18"/>
          <p:cNvSpPr/>
          <p:nvPr>
            <p:custDataLst>
              <p:tags r:id="rId40"/>
            </p:custDataLst>
          </p:nvPr>
        </p:nvSpPr>
        <p:spPr>
          <a:xfrm>
            <a:off x="6726555" y="4800600"/>
            <a:ext cx="1283335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填写《人员访谈记录表》</a:t>
            </a:r>
            <a:endParaRPr lang="en-US" sz="1600" dirty="0">
              <a:solidFill>
                <a:srgbClr val="FFFFFF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44" name="Image 23" descr="preencoded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534400" y="3627120"/>
            <a:ext cx="3048000" cy="2011680"/>
          </a:xfrm>
          <a:prstGeom prst="rect">
            <a:avLst/>
          </a:prstGeom>
        </p:spPr>
      </p:pic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877300" y="3962400"/>
            <a:ext cx="289560" cy="289560"/>
          </a:xfrm>
          <a:prstGeom prst="rect">
            <a:avLst/>
          </a:prstGeom>
        </p:spPr>
      </p:pic>
      <p:sp>
        <p:nvSpPr>
          <p:cNvPr id="46" name="Text 19"/>
          <p:cNvSpPr/>
          <p:nvPr/>
        </p:nvSpPr>
        <p:spPr>
          <a:xfrm>
            <a:off x="9296400" y="385572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分组安排</a:t>
            </a:r>
            <a:endParaRPr lang="en-US" sz="2640" dirty="0"/>
          </a:p>
        </p:txBody>
      </p:sp>
      <p:sp>
        <p:nvSpPr>
          <p:cNvPr id="47" name="Text 20"/>
          <p:cNvSpPr/>
          <p:nvPr/>
        </p:nvSpPr>
        <p:spPr>
          <a:xfrm>
            <a:off x="8869680" y="4231640"/>
            <a:ext cx="1260475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3-4人/组</a:t>
            </a:r>
            <a:r>
              <a:rPr lang="zh-CN" alt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：</a:t>
            </a:r>
            <a:endParaRPr lang="zh-CN" alt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8869680" y="4770120"/>
            <a:ext cx="2386584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分别扮演：</a:t>
            </a:r>
            <a:r>
              <a:rPr lang="en-US" sz="1560" dirty="0">
                <a:solidFill>
                  <a:srgbClr val="374151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测评师、被访谈人、记录员</a:t>
            </a:r>
            <a:endParaRPr lang="en-US" sz="1560" dirty="0"/>
          </a:p>
        </p:txBody>
      </p:sp>
      <p:sp>
        <p:nvSpPr>
          <p:cNvPr id="49" name="Text 2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实践任务——模拟人员访谈（35分钟）</a:t>
            </a:r>
            <a:endParaRPr lang="en-US" sz="276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144b5b19bce1e1ec967921629a8e94c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13411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" y="1615440"/>
            <a:ext cx="853440" cy="8534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6320" y="1798320"/>
            <a:ext cx="487680" cy="4876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011680" y="1645920"/>
            <a:ext cx="7171944" cy="3352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角色卡1：系统管理员（张三）</a:t>
            </a:r>
            <a:endParaRPr lang="en-US" sz="2640" dirty="0"/>
          </a:p>
        </p:txBody>
      </p:sp>
      <p:sp>
        <p:nvSpPr>
          <p:cNvPr id="9" name="Text 1"/>
          <p:cNvSpPr/>
          <p:nvPr/>
        </p:nvSpPr>
        <p:spPr>
          <a:xfrm>
            <a:off x="2011680" y="2072640"/>
            <a:ext cx="7171944" cy="35742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岗位：系统管理员，负责3台服务器、2个数据库的日常运维</a:t>
            </a:r>
            <a:endParaRPr lang="en-US" sz="204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600" y="3169920"/>
            <a:ext cx="60960" cy="27432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792480" y="3078480"/>
            <a:ext cx="5038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实际执行情况（供角色扮演者参考）：</a:t>
            </a:r>
            <a:endParaRPr lang="en-US" sz="2400" dirty="0"/>
          </a:p>
        </p:txBody>
      </p:sp>
      <p:pic>
        <p:nvPicPr>
          <p:cNvPr id="12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3779520"/>
            <a:ext cx="5364480" cy="807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3" name="Image 8" descr="https://test.web.static.jianzeppt.com/ppt-temp-img3/02501072d4f0f3c5590182f635d42169.png?x-oss-process=image/resize,w_1440,h_800,m_lfit/format,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68680" y="3855720"/>
            <a:ext cx="426720" cy="426720"/>
          </a:xfrm>
          <a:prstGeom prst="rect">
            <a:avLst/>
          </a:prstGeom>
        </p:spPr>
      </p:pic>
      <p:sp>
        <p:nvSpPr>
          <p:cNvPr id="14" name="Text 3"/>
          <p:cNvSpPr/>
          <p:nvPr>
            <p:custDataLst>
              <p:tags r:id="rId16"/>
            </p:custDataLst>
          </p:nvPr>
        </p:nvSpPr>
        <p:spPr>
          <a:xfrm>
            <a:off x="960120" y="39166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5" name="Text 4"/>
          <p:cNvSpPr/>
          <p:nvPr>
            <p:custDataLst>
              <p:tags r:id="rId17"/>
            </p:custDataLst>
          </p:nvPr>
        </p:nvSpPr>
        <p:spPr>
          <a:xfrm>
            <a:off x="1447800" y="3840480"/>
            <a:ext cx="102108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密码策略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6" name="Text 5"/>
          <p:cNvSpPr/>
          <p:nvPr>
            <p:custDataLst>
              <p:tags r:id="rId18"/>
            </p:custDataLst>
          </p:nvPr>
        </p:nvSpPr>
        <p:spPr>
          <a:xfrm>
            <a:off x="1447800" y="4221480"/>
            <a:ext cx="448818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制度规定90天更换，实际“没时间换”，使用默认密码或简单密码</a:t>
            </a:r>
            <a:endParaRPr lang="en-US" sz="1200" dirty="0">
              <a:solidFill>
                <a:srgbClr val="444444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7" name="Image 9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7920" y="3779520"/>
            <a:ext cx="5364480" cy="807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8" name="Image 10" descr="https://test.web.static.jianzeppt.com/ppt-temp-img3/02501072d4f0f3c5590182f635d42169.png?x-oss-process=image/resize,w_1440,h_800,m_lfit/format,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77000" y="3855720"/>
            <a:ext cx="426720" cy="426720"/>
          </a:xfrm>
          <a:prstGeom prst="rect">
            <a:avLst/>
          </a:prstGeom>
        </p:spPr>
      </p:pic>
      <p:sp>
        <p:nvSpPr>
          <p:cNvPr id="19" name="Text 6"/>
          <p:cNvSpPr/>
          <p:nvPr>
            <p:custDataLst>
              <p:tags r:id="rId21"/>
            </p:custDataLst>
          </p:nvPr>
        </p:nvSpPr>
        <p:spPr>
          <a:xfrm>
            <a:off x="6568440" y="39166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20" name="Text 7"/>
          <p:cNvSpPr/>
          <p:nvPr>
            <p:custDataLst>
              <p:tags r:id="rId22"/>
            </p:custDataLst>
          </p:nvPr>
        </p:nvSpPr>
        <p:spPr>
          <a:xfrm>
            <a:off x="7056120" y="3840480"/>
            <a:ext cx="102108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账户管理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1" name="Text 8"/>
          <p:cNvSpPr/>
          <p:nvPr>
            <p:custDataLst>
              <p:tags r:id="rId23"/>
            </p:custDataLst>
          </p:nvPr>
        </p:nvSpPr>
        <p:spPr>
          <a:xfrm>
            <a:off x="7056120" y="4221480"/>
            <a:ext cx="4276344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离职员工账号未及时清理，有3个离职员工账号仍存在</a:t>
            </a:r>
            <a:endParaRPr lang="en-US" sz="1200" dirty="0">
              <a:solidFill>
                <a:srgbClr val="444444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2" name="Image 11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4831080"/>
            <a:ext cx="5364480" cy="807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3" name="Image 12" descr="https://test.web.static.jianzeppt.com/ppt-temp-img3/02501072d4f0f3c5590182f635d42169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68680" y="4922520"/>
            <a:ext cx="426720" cy="426720"/>
          </a:xfrm>
          <a:prstGeom prst="rect">
            <a:avLst/>
          </a:prstGeom>
        </p:spPr>
      </p:pic>
      <p:sp>
        <p:nvSpPr>
          <p:cNvPr id="24" name="Text 9"/>
          <p:cNvSpPr/>
          <p:nvPr>
            <p:custDataLst>
              <p:tags r:id="rId26"/>
            </p:custDataLst>
          </p:nvPr>
        </p:nvSpPr>
        <p:spPr>
          <a:xfrm>
            <a:off x="960120" y="49834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5" name="Text 10"/>
          <p:cNvSpPr/>
          <p:nvPr>
            <p:custDataLst>
              <p:tags r:id="rId27"/>
            </p:custDataLst>
          </p:nvPr>
        </p:nvSpPr>
        <p:spPr>
          <a:xfrm>
            <a:off x="1447800" y="4907280"/>
            <a:ext cx="102108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日志审计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6" name="Text 11"/>
          <p:cNvSpPr/>
          <p:nvPr>
            <p:custDataLst>
              <p:tags r:id="rId28"/>
            </p:custDataLst>
          </p:nvPr>
        </p:nvSpPr>
        <p:spPr>
          <a:xfrm>
            <a:off x="1463675" y="5320030"/>
            <a:ext cx="21336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审计日志虽开启，但“没人看”</a:t>
            </a:r>
            <a:endParaRPr lang="en-US" sz="1200" dirty="0">
              <a:solidFill>
                <a:srgbClr val="444444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7" name="Image 13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17920" y="4831080"/>
            <a:ext cx="5364480" cy="8077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8" name="Image 14" descr="https://test.web.static.jianzeppt.com/ppt-temp-img3/02501072d4f0f3c5590182f635d42169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77000" y="4907280"/>
            <a:ext cx="426720" cy="426720"/>
          </a:xfrm>
          <a:prstGeom prst="rect">
            <a:avLst/>
          </a:prstGeom>
        </p:spPr>
      </p:pic>
      <p:sp>
        <p:nvSpPr>
          <p:cNvPr id="29" name="Text 12"/>
          <p:cNvSpPr/>
          <p:nvPr>
            <p:custDataLst>
              <p:tags r:id="rId31"/>
            </p:custDataLst>
          </p:nvPr>
        </p:nvSpPr>
        <p:spPr>
          <a:xfrm>
            <a:off x="6568440" y="496824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30" name="Text 13"/>
          <p:cNvSpPr/>
          <p:nvPr>
            <p:custDataLst>
              <p:tags r:id="rId32"/>
            </p:custDataLst>
          </p:nvPr>
        </p:nvSpPr>
        <p:spPr>
          <a:xfrm>
            <a:off x="7056120" y="4892040"/>
            <a:ext cx="1021080" cy="4616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补丁管理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1" name="Text 14"/>
          <p:cNvSpPr/>
          <p:nvPr>
            <p:custDataLst>
              <p:tags r:id="rId33"/>
            </p:custDataLst>
          </p:nvPr>
        </p:nvSpPr>
        <p:spPr>
          <a:xfrm>
            <a:off x="7056120" y="5273040"/>
            <a:ext cx="4276344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补丁更新不及时，“怕出问题，能不更新就不更新”</a:t>
            </a:r>
            <a:endParaRPr lang="en-US" sz="1200" dirty="0">
              <a:solidFill>
                <a:srgbClr val="444444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访谈角色卡——系统管理员</a:t>
            </a:r>
            <a:endParaRPr lang="en-US" sz="2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0560" y="0"/>
            <a:ext cx="3901440" cy="39014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alphaModFix amt="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931920"/>
            <a:ext cx="2926080" cy="29260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6459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6" descr="https://test.web.static.jianzeppt.com/ppt-temp-img3/a2b19965ac16ee6c61d14b7a582e15a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1706880"/>
            <a:ext cx="975360" cy="97536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1950720"/>
            <a:ext cx="487680" cy="48768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55520" y="1676400"/>
            <a:ext cx="90312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kern="0" spc="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角色卡2：安全主管（李四）</a:t>
            </a:r>
            <a:endParaRPr lang="en-US" sz="2640" dirty="0"/>
          </a:p>
        </p:txBody>
      </p:sp>
      <p:sp>
        <p:nvSpPr>
          <p:cNvPr id="11" name="Text 1"/>
          <p:cNvSpPr/>
          <p:nvPr/>
        </p:nvSpPr>
        <p:spPr>
          <a:xfrm>
            <a:off x="2255520" y="2346960"/>
            <a:ext cx="903122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>
                    <a:alpha val="72000"/>
                  </a:srgbClr>
                </a:solidFill>
              </a:rPr>
              <a:t>岗位职责：</a:t>
            </a:r>
            <a:r>
              <a:rPr lang="en-US" sz="2160" dirty="0">
                <a:solidFill>
                  <a:srgbClr val="FFFFFF">
                    <a:alpha val="90000"/>
                  </a:srgbClr>
                </a:solidFill>
              </a:rPr>
              <a:t>负责制定安全管理制度、组织安全培训</a:t>
            </a:r>
            <a:endParaRPr lang="en-US" sz="216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3459480"/>
            <a:ext cx="91440" cy="30480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822960" y="3383280"/>
            <a:ext cx="4885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实际执行情况（供角色扮演者参考）</a:t>
            </a:r>
            <a:endParaRPr lang="en-US" sz="240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4145280"/>
            <a:ext cx="5364480" cy="929640"/>
          </a:xfrm>
          <a:prstGeom prst="rect">
            <a:avLst/>
          </a:prstGeom>
        </p:spPr>
      </p:pic>
      <p:pic>
        <p:nvPicPr>
          <p:cNvPr id="15" name="Image 10" descr="https://test.web.static.jianzeppt.com/ppt-temp-img3/9e1b52ebf97a50258bbabb7a3b62f523.png?x-oss-process=image/resize,w_1440,h_800,m_lfit/format,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68680" y="4267200"/>
            <a:ext cx="365760" cy="365760"/>
          </a:xfrm>
          <a:prstGeom prst="rect">
            <a:avLst/>
          </a:prstGeom>
        </p:spPr>
      </p:pic>
      <p:sp>
        <p:nvSpPr>
          <p:cNvPr id="16" name="Text 3"/>
          <p:cNvSpPr/>
          <p:nvPr>
            <p:custDataLst>
              <p:tags r:id="rId20"/>
            </p:custDataLst>
          </p:nvPr>
        </p:nvSpPr>
        <p:spPr>
          <a:xfrm>
            <a:off x="929640" y="4343400"/>
            <a:ext cx="26822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</a:rPr>
              <a:t>01</a:t>
            </a:r>
            <a:endParaRPr lang="en-US" sz="1440" dirty="0"/>
          </a:p>
        </p:txBody>
      </p:sp>
      <p:sp>
        <p:nvSpPr>
          <p:cNvPr id="17" name="Text 4"/>
          <p:cNvSpPr/>
          <p:nvPr>
            <p:custDataLst>
              <p:tags r:id="rId21"/>
            </p:custDataLst>
          </p:nvPr>
        </p:nvSpPr>
        <p:spPr>
          <a:xfrm>
            <a:off x="1356360" y="42519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安全制度</a:t>
            </a:r>
            <a:endParaRPr lang="en-US" sz="2160" dirty="0"/>
          </a:p>
        </p:txBody>
      </p:sp>
      <p:sp>
        <p:nvSpPr>
          <p:cNvPr id="18" name="Text 5"/>
          <p:cNvSpPr/>
          <p:nvPr>
            <p:custDataLst>
              <p:tags r:id="rId22"/>
            </p:custDataLst>
          </p:nvPr>
        </p:nvSpPr>
        <p:spPr>
          <a:xfrm>
            <a:off x="1356360" y="4678680"/>
            <a:ext cx="436778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制度已制定，但</a:t>
            </a:r>
            <a:r>
              <a:rPr lang="en-US" sz="1400" b="1" dirty="0">
                <a:solidFill>
                  <a:srgbClr val="00234E"/>
                </a:solidFill>
              </a:rPr>
              <a:t>“审批流程还没走完”</a:t>
            </a:r>
            <a:r>
              <a:rPr lang="en-US" sz="1400" dirty="0">
                <a:solidFill>
                  <a:srgbClr val="4B5563"/>
                </a:solidFill>
              </a:rPr>
              <a:t>，制度未正式发布。</a:t>
            </a:r>
            <a:endParaRPr lang="en-US" sz="1400" dirty="0">
              <a:solidFill>
                <a:srgbClr val="4B5563"/>
              </a:solidFill>
            </a:endParaRPr>
          </a:p>
        </p:txBody>
      </p:sp>
      <p:pic>
        <p:nvPicPr>
          <p:cNvPr id="19" name="Image 11" descr="https://test.web.static.jianzeppt.com/ppt-temp-img3/5c3429abe8bc7dbe069b7590a6de9fb7.png?x-oss-process=image/resize,w_1440,h_800,m_lfit/format,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alphaModFix amt="3000"/>
          </a:blip>
          <a:stretch>
            <a:fillRect/>
          </a:stretch>
        </p:blipFill>
        <p:spPr>
          <a:xfrm>
            <a:off x="4983480" y="4160520"/>
            <a:ext cx="975360" cy="91440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17920" y="4145280"/>
            <a:ext cx="5364480" cy="929640"/>
          </a:xfrm>
          <a:prstGeom prst="rect">
            <a:avLst/>
          </a:prstGeom>
        </p:spPr>
      </p:pic>
      <p:pic>
        <p:nvPicPr>
          <p:cNvPr id="21" name="Image 13" descr="https://test.web.static.jianzeppt.com/ppt-temp-img3/9e1b52ebf97a50258bbabb7a3b62f523.png?x-oss-process=image/resize,w_1440,h_800,m_lfit/format,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477000" y="4267200"/>
            <a:ext cx="365760" cy="365760"/>
          </a:xfrm>
          <a:prstGeom prst="rect">
            <a:avLst/>
          </a:prstGeom>
        </p:spPr>
      </p:pic>
      <p:sp>
        <p:nvSpPr>
          <p:cNvPr id="22" name="Text 6"/>
          <p:cNvSpPr/>
          <p:nvPr>
            <p:custDataLst>
              <p:tags r:id="rId27"/>
            </p:custDataLst>
          </p:nvPr>
        </p:nvSpPr>
        <p:spPr>
          <a:xfrm>
            <a:off x="6537960" y="4343400"/>
            <a:ext cx="26822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</a:rPr>
              <a:t>02</a:t>
            </a:r>
            <a:endParaRPr lang="en-US" sz="1440" dirty="0"/>
          </a:p>
        </p:txBody>
      </p:sp>
      <p:sp>
        <p:nvSpPr>
          <p:cNvPr id="23" name="Text 7"/>
          <p:cNvSpPr/>
          <p:nvPr>
            <p:custDataLst>
              <p:tags r:id="rId28"/>
            </p:custDataLst>
          </p:nvPr>
        </p:nvSpPr>
        <p:spPr>
          <a:xfrm>
            <a:off x="6964680" y="42519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安全培训</a:t>
            </a:r>
            <a:endParaRPr lang="en-US" sz="2160" dirty="0"/>
          </a:p>
        </p:txBody>
      </p:sp>
      <p:sp>
        <p:nvSpPr>
          <p:cNvPr id="24" name="Text 8"/>
          <p:cNvSpPr/>
          <p:nvPr>
            <p:custDataLst>
              <p:tags r:id="rId29"/>
            </p:custDataLst>
          </p:nvPr>
        </p:nvSpPr>
        <p:spPr>
          <a:xfrm>
            <a:off x="6964680" y="4678680"/>
            <a:ext cx="436778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今年只进行了一次全员培训，且</a:t>
            </a:r>
            <a:r>
              <a:rPr lang="en-US" sz="1400" b="1" dirty="0">
                <a:solidFill>
                  <a:srgbClr val="00234E"/>
                </a:solidFill>
              </a:rPr>
              <a:t>“走过场”</a:t>
            </a:r>
            <a:r>
              <a:rPr lang="en-US" sz="1400" dirty="0">
                <a:solidFill>
                  <a:srgbClr val="4B5563"/>
                </a:solidFill>
              </a:rPr>
              <a:t>，未考核。</a:t>
            </a:r>
            <a:endParaRPr lang="en-US" sz="1400" dirty="0">
              <a:solidFill>
                <a:srgbClr val="4B5563"/>
              </a:solidFill>
            </a:endParaRPr>
          </a:p>
        </p:txBody>
      </p:sp>
      <p:pic>
        <p:nvPicPr>
          <p:cNvPr id="25" name="Image 14" descr="https://test.web.static.jianzeppt.com/ppt-temp-img3/67dec104659d6e2732f851b40bed878e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4">
            <a:alphaModFix amt="3000"/>
          </a:blip>
          <a:stretch>
            <a:fillRect/>
          </a:stretch>
        </p:blipFill>
        <p:spPr>
          <a:xfrm>
            <a:off x="10591800" y="4160520"/>
            <a:ext cx="975360" cy="914400"/>
          </a:xfrm>
          <a:prstGeom prst="rect">
            <a:avLst/>
          </a:prstGeom>
        </p:spPr>
      </p:pic>
      <p:pic>
        <p:nvPicPr>
          <p:cNvPr id="26" name="Image 15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5318760"/>
            <a:ext cx="5364480" cy="929640"/>
          </a:xfrm>
          <a:prstGeom prst="rect">
            <a:avLst/>
          </a:prstGeom>
        </p:spPr>
      </p:pic>
      <p:pic>
        <p:nvPicPr>
          <p:cNvPr id="27" name="Image 16" descr="https://test.web.static.jianzeppt.com/ppt-temp-img3/9e1b52ebf97a50258bbabb7a3b62f523.png?x-oss-process=image/resize,w_1440,h_800,m_lfit/format,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68680" y="5471160"/>
            <a:ext cx="365760" cy="365760"/>
          </a:xfrm>
          <a:prstGeom prst="rect">
            <a:avLst/>
          </a:prstGeom>
        </p:spPr>
      </p:pic>
      <p:sp>
        <p:nvSpPr>
          <p:cNvPr id="28" name="Text 9"/>
          <p:cNvSpPr/>
          <p:nvPr>
            <p:custDataLst>
              <p:tags r:id="rId33"/>
            </p:custDataLst>
          </p:nvPr>
        </p:nvSpPr>
        <p:spPr>
          <a:xfrm>
            <a:off x="929640" y="5547360"/>
            <a:ext cx="26822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</a:rPr>
              <a:t>03</a:t>
            </a:r>
            <a:endParaRPr lang="en-US" sz="1440" dirty="0"/>
          </a:p>
        </p:txBody>
      </p:sp>
      <p:sp>
        <p:nvSpPr>
          <p:cNvPr id="29" name="Text 10"/>
          <p:cNvSpPr/>
          <p:nvPr>
            <p:custDataLst>
              <p:tags r:id="rId34"/>
            </p:custDataLst>
          </p:nvPr>
        </p:nvSpPr>
        <p:spPr>
          <a:xfrm>
            <a:off x="1356360" y="54406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应急预案</a:t>
            </a:r>
            <a:endParaRPr lang="en-US" sz="2160" dirty="0"/>
          </a:p>
        </p:txBody>
      </p:sp>
      <p:sp>
        <p:nvSpPr>
          <p:cNvPr id="30" name="Text 11"/>
          <p:cNvSpPr/>
          <p:nvPr>
            <p:custDataLst>
              <p:tags r:id="rId35"/>
            </p:custDataLst>
          </p:nvPr>
        </p:nvSpPr>
        <p:spPr>
          <a:xfrm>
            <a:off x="1356360" y="5897880"/>
            <a:ext cx="436778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预案已制定，但</a:t>
            </a:r>
            <a:r>
              <a:rPr lang="en-US" sz="1400" b="1" dirty="0">
                <a:solidFill>
                  <a:srgbClr val="00234E"/>
                </a:solidFill>
              </a:rPr>
              <a:t>“从未演练过”</a:t>
            </a:r>
            <a:r>
              <a:rPr lang="en-US" sz="1400" dirty="0">
                <a:solidFill>
                  <a:srgbClr val="4B5563"/>
                </a:solidFill>
              </a:rPr>
              <a:t>。</a:t>
            </a:r>
            <a:endParaRPr lang="en-US" sz="1400" dirty="0">
              <a:solidFill>
                <a:srgbClr val="4B5563"/>
              </a:solidFill>
            </a:endParaRPr>
          </a:p>
        </p:txBody>
      </p:sp>
      <p:pic>
        <p:nvPicPr>
          <p:cNvPr id="31" name="Image 17" descr="https://test.web.static.jianzeppt.com/ppt-temp-img3/356accf4f16bfbd630b25041d356770a.png?x-oss-process=image/resize,w_1440,h_800,m_lfit/format,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24">
            <a:alphaModFix amt="3000"/>
          </a:blip>
          <a:stretch>
            <a:fillRect/>
          </a:stretch>
        </p:blipFill>
        <p:spPr>
          <a:xfrm>
            <a:off x="4983480" y="5334000"/>
            <a:ext cx="975360" cy="914400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17920" y="5318760"/>
            <a:ext cx="5364480" cy="929640"/>
          </a:xfrm>
          <a:prstGeom prst="rect">
            <a:avLst/>
          </a:prstGeom>
        </p:spPr>
      </p:pic>
      <p:pic>
        <p:nvPicPr>
          <p:cNvPr id="33" name="Image 19" descr="https://test.web.static.jianzeppt.com/ppt-temp-img3/9e1b52ebf97a50258bbabb7a3b62f523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477000" y="5471160"/>
            <a:ext cx="365760" cy="365760"/>
          </a:xfrm>
          <a:prstGeom prst="rect">
            <a:avLst/>
          </a:prstGeom>
        </p:spPr>
      </p:pic>
      <p:sp>
        <p:nvSpPr>
          <p:cNvPr id="34" name="Text 12"/>
          <p:cNvSpPr/>
          <p:nvPr>
            <p:custDataLst>
              <p:tags r:id="rId39"/>
            </p:custDataLst>
          </p:nvPr>
        </p:nvSpPr>
        <p:spPr>
          <a:xfrm>
            <a:off x="6537960" y="5547360"/>
            <a:ext cx="268224" cy="2133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</a:rPr>
              <a:t>04</a:t>
            </a:r>
            <a:endParaRPr lang="en-US" sz="1440" dirty="0"/>
          </a:p>
        </p:txBody>
      </p:sp>
      <p:sp>
        <p:nvSpPr>
          <p:cNvPr id="35" name="Text 13"/>
          <p:cNvSpPr/>
          <p:nvPr>
            <p:custDataLst>
              <p:tags r:id="rId40"/>
            </p:custDataLst>
          </p:nvPr>
        </p:nvSpPr>
        <p:spPr>
          <a:xfrm>
            <a:off x="6964680" y="544068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F29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风险评估</a:t>
            </a:r>
            <a:endParaRPr lang="en-US" sz="2160" dirty="0"/>
          </a:p>
        </p:txBody>
      </p:sp>
      <p:sp>
        <p:nvSpPr>
          <p:cNvPr id="36" name="Text 14"/>
          <p:cNvSpPr/>
          <p:nvPr>
            <p:custDataLst>
              <p:tags r:id="rId41"/>
            </p:custDataLst>
          </p:nvPr>
        </p:nvSpPr>
        <p:spPr>
          <a:xfrm>
            <a:off x="6964680" y="5866130"/>
            <a:ext cx="4367784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未定期开展，</a:t>
            </a:r>
            <a:r>
              <a:rPr lang="en-US" sz="1400" b="1" dirty="0">
                <a:solidFill>
                  <a:srgbClr val="00234E"/>
                </a:solidFill>
              </a:rPr>
              <a:t>“没人懂”</a:t>
            </a:r>
            <a:r>
              <a:rPr lang="en-US" sz="1400" dirty="0">
                <a:solidFill>
                  <a:srgbClr val="4B5563"/>
                </a:solidFill>
              </a:rPr>
              <a:t>如何做。</a:t>
            </a:r>
            <a:endParaRPr lang="en-US" sz="1400" dirty="0">
              <a:solidFill>
                <a:srgbClr val="4B5563"/>
              </a:solidFill>
            </a:endParaRPr>
          </a:p>
        </p:txBody>
      </p:sp>
      <p:pic>
        <p:nvPicPr>
          <p:cNvPr id="37" name="Image 20" descr="https://test.web.static.jianzeppt.com/ppt-temp-img3/84528c01f2d2b8a6634e558224e83e94.png?x-oss-process=image/resize,w_1440,h_800,m_lfit/format,png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24">
            <a:alphaModFix amt="3000"/>
          </a:blip>
          <a:stretch>
            <a:fillRect/>
          </a:stretch>
        </p:blipFill>
        <p:spPr>
          <a:xfrm>
            <a:off x="10591800" y="5334000"/>
            <a:ext cx="975360" cy="91440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访谈角色卡——安全主管</a:t>
            </a:r>
            <a:endParaRPr lang="en-US" sz="2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e38b87c68ff3f765c168884144a4c08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1676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640" y="1722120"/>
            <a:ext cx="975360" cy="97536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3480" y="1965960"/>
            <a:ext cx="487680" cy="4876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09800" y="1691640"/>
            <a:ext cx="5327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角色卡3：普通员工（王五）</a:t>
            </a:r>
            <a:endParaRPr lang="en-US" sz="2640" dirty="0"/>
          </a:p>
        </p:txBody>
      </p:sp>
      <p:sp>
        <p:nvSpPr>
          <p:cNvPr id="9" name="Text 1"/>
          <p:cNvSpPr/>
          <p:nvPr/>
        </p:nvSpPr>
        <p:spPr>
          <a:xfrm>
            <a:off x="2209800" y="2316480"/>
            <a:ext cx="53279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岗位：业务部门普通员工，使用OA系统办公</a:t>
            </a:r>
            <a:endParaRPr lang="en-US" sz="2160" dirty="0"/>
          </a:p>
        </p:txBody>
      </p:sp>
      <p:sp>
        <p:nvSpPr>
          <p:cNvPr id="10" name="Text 2"/>
          <p:cNvSpPr/>
          <p:nvPr/>
        </p:nvSpPr>
        <p:spPr>
          <a:xfrm>
            <a:off x="609600" y="33528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实际执行情况（供角色扮演者参考）：</a:t>
            </a:r>
            <a:endParaRPr lang="en-US" sz="2160" dirty="0"/>
          </a:p>
        </p:txBody>
      </p:sp>
      <p:pic>
        <p:nvPicPr>
          <p:cNvPr id="11" name="Image 6" descr="https://test.web.static.jianzeppt.com/ppt-temp-img3/732e7cb6e3a1d6ad4a7f7270a0330ef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947160"/>
            <a:ext cx="5364480" cy="103632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680" y="4099560"/>
            <a:ext cx="426720" cy="42672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960120" y="41452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4" name="Text 4"/>
          <p:cNvSpPr/>
          <p:nvPr/>
        </p:nvSpPr>
        <p:spPr>
          <a:xfrm>
            <a:off x="1417320" y="40995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安全意识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868680" y="4526280"/>
            <a:ext cx="485546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不太清楚安全制度的具体内容</a:t>
            </a:r>
            <a:endParaRPr lang="en-US" sz="1920" dirty="0"/>
          </a:p>
        </p:txBody>
      </p:sp>
      <p:pic>
        <p:nvPicPr>
          <p:cNvPr id="16" name="Image 8" descr="https://test.web.static.jianzeppt.com/ppt-temp-img3/732e7cb6e3a1d6ad4a7f7270a0330ef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947160"/>
            <a:ext cx="5364480" cy="103632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99560"/>
            <a:ext cx="426720" cy="42672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568440" y="414528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19" name="Text 7"/>
          <p:cNvSpPr/>
          <p:nvPr/>
        </p:nvSpPr>
        <p:spPr>
          <a:xfrm>
            <a:off x="7025640" y="40995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安全培训</a:t>
            </a:r>
            <a:endParaRPr lang="en-US" sz="2160" dirty="0"/>
          </a:p>
        </p:txBody>
      </p:sp>
      <p:sp>
        <p:nvSpPr>
          <p:cNvPr id="20" name="Text 8"/>
          <p:cNvSpPr/>
          <p:nvPr/>
        </p:nvSpPr>
        <p:spPr>
          <a:xfrm>
            <a:off x="6477000" y="4526280"/>
            <a:ext cx="485546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参加过1次培训，“没太听懂”</a:t>
            </a:r>
            <a:endParaRPr lang="en-US" sz="1920" dirty="0"/>
          </a:p>
        </p:txBody>
      </p:sp>
      <p:pic>
        <p:nvPicPr>
          <p:cNvPr id="21" name="Image 10" descr="https://test.web.static.jianzeppt.com/ppt-temp-img3/732e7cb6e3a1d6ad4a7f7270a0330ef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227320"/>
            <a:ext cx="5364480" cy="1036320"/>
          </a:xfrm>
          <a:prstGeom prst="rect">
            <a:avLst/>
          </a:prstGeom>
        </p:spPr>
      </p:pic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680" y="5364480"/>
            <a:ext cx="426720" cy="42672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960120" y="542544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4" name="Text 10"/>
          <p:cNvSpPr/>
          <p:nvPr/>
        </p:nvSpPr>
        <p:spPr>
          <a:xfrm>
            <a:off x="1417320" y="53797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密码管理</a:t>
            </a:r>
            <a:endParaRPr lang="en-US" sz="2160" dirty="0"/>
          </a:p>
        </p:txBody>
      </p:sp>
      <p:sp>
        <p:nvSpPr>
          <p:cNvPr id="25" name="Text 11"/>
          <p:cNvSpPr/>
          <p:nvPr/>
        </p:nvSpPr>
        <p:spPr>
          <a:xfrm>
            <a:off x="868680" y="5806440"/>
            <a:ext cx="490118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使用“生日+姓名首字母”作为密码，“好记”</a:t>
            </a:r>
            <a:endParaRPr lang="en-US" sz="1920" dirty="0"/>
          </a:p>
        </p:txBody>
      </p:sp>
      <p:pic>
        <p:nvPicPr>
          <p:cNvPr id="26" name="Image 12" descr="https://test.web.static.jianzeppt.com/ppt-temp-img3/732e7cb6e3a1d6ad4a7f7270a0330efb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5227320"/>
            <a:ext cx="5364480" cy="1036320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364480"/>
            <a:ext cx="426720" cy="42672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6568440" y="542544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29" name="Text 13"/>
          <p:cNvSpPr/>
          <p:nvPr/>
        </p:nvSpPr>
        <p:spPr>
          <a:xfrm>
            <a:off x="7025640" y="537972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安全事件</a:t>
            </a:r>
            <a:endParaRPr lang="en-US" sz="2160" dirty="0"/>
          </a:p>
        </p:txBody>
      </p:sp>
      <p:sp>
        <p:nvSpPr>
          <p:cNvPr id="30" name="Text 14"/>
          <p:cNvSpPr/>
          <p:nvPr/>
        </p:nvSpPr>
        <p:spPr>
          <a:xfrm>
            <a:off x="6477000" y="5806440"/>
            <a:ext cx="4855464" cy="4038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92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曾经收到过可疑邮件，“没多想就点了”附件</a:t>
            </a:r>
            <a:endParaRPr lang="en-US" sz="1920" dirty="0"/>
          </a:p>
        </p:txBody>
      </p:sp>
      <p:sp>
        <p:nvSpPr>
          <p:cNvPr id="31" name="Text 15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访谈角色卡——普通员工</a:t>
            </a:r>
            <a:endParaRPr lang="en-US" sz="2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2480" y="16764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任务内容</a:t>
            </a:r>
            <a:endParaRPr lang="en-US" sz="26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676400"/>
            <a:ext cx="60960" cy="48768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0520" y="1371600"/>
            <a:ext cx="7437120" cy="4876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1000" y="1402080"/>
            <a:ext cx="7376160" cy="7620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111240" y="1554480"/>
            <a:ext cx="352958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kern="0" spc="16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《人员访谈记录表》模板</a:t>
            </a:r>
            <a:endParaRPr lang="en-US" sz="2400" dirty="0"/>
          </a:p>
        </p:txBody>
      </p:sp>
      <p:pic>
        <p:nvPicPr>
          <p:cNvPr id="10" name="Image 6" descr="https://test.web.static.jianzeppt.com/ppt-temp-img3/490f6093a3cd681e53114db30d197de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2164080"/>
            <a:ext cx="1524000" cy="6096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328160" y="2316480"/>
            <a:ext cx="12435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受访人姓名</a:t>
            </a:r>
            <a:endParaRPr lang="en-US" sz="1920" dirty="0"/>
          </a:p>
        </p:txBody>
      </p:sp>
      <p:pic>
        <p:nvPicPr>
          <p:cNvPr id="12" name="Image 7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6255" y="2164080"/>
            <a:ext cx="15240" cy="609600"/>
          </a:xfrm>
          <a:prstGeom prst="rect">
            <a:avLst/>
          </a:prstGeom>
        </p:spPr>
      </p:pic>
      <p:pic>
        <p:nvPicPr>
          <p:cNvPr id="13" name="Image 8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391" y="2164080"/>
            <a:ext cx="15240" cy="609600"/>
          </a:xfrm>
          <a:prstGeom prst="rect">
            <a:avLst/>
          </a:prstGeom>
        </p:spPr>
      </p:pic>
      <p:pic>
        <p:nvPicPr>
          <p:cNvPr id="14" name="Image 9" descr="https://test.web.static.jianzeppt.com/ppt-temp-img3/490f6093a3cd681e53114db30d197de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2164080"/>
            <a:ext cx="1524000" cy="60960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8016240" y="2316480"/>
            <a:ext cx="12435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受访人岗位</a:t>
            </a:r>
            <a:endParaRPr lang="en-US" sz="1920" dirty="0"/>
          </a:p>
        </p:txBody>
      </p:sp>
      <p:pic>
        <p:nvPicPr>
          <p:cNvPr id="16" name="Image 10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8391" y="2164080"/>
            <a:ext cx="15240" cy="609600"/>
          </a:xfrm>
          <a:prstGeom prst="rect">
            <a:avLst/>
          </a:prstGeom>
        </p:spPr>
      </p:pic>
      <p:pic>
        <p:nvPicPr>
          <p:cNvPr id="17" name="Image 11" descr="https://test.web.static.jianzeppt.com/ppt-temp-img3/d24b180b05ab0783e64cde641307357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495" y="2788920"/>
            <a:ext cx="7364425" cy="15240"/>
          </a:xfrm>
          <a:prstGeom prst="rect">
            <a:avLst/>
          </a:prstGeom>
        </p:spPr>
      </p:pic>
      <p:pic>
        <p:nvPicPr>
          <p:cNvPr id="18" name="Image 12" descr="https://test.web.static.jianzeppt.com/ppt-temp-img3/490f6093a3cd681e53114db30d197de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0" y="2788920"/>
            <a:ext cx="1524000" cy="609600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4450080" y="2941320"/>
            <a:ext cx="9997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访谈时间</a:t>
            </a:r>
            <a:endParaRPr lang="en-US" sz="1920" dirty="0"/>
          </a:p>
        </p:txBody>
      </p:sp>
      <p:pic>
        <p:nvPicPr>
          <p:cNvPr id="20" name="Image 13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6255" y="2788920"/>
            <a:ext cx="15240" cy="609600"/>
          </a:xfrm>
          <a:prstGeom prst="rect">
            <a:avLst/>
          </a:prstGeom>
        </p:spPr>
      </p:pic>
      <p:pic>
        <p:nvPicPr>
          <p:cNvPr id="21" name="Image 14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391" y="2788920"/>
            <a:ext cx="15240" cy="609600"/>
          </a:xfrm>
          <a:prstGeom prst="rect">
            <a:avLst/>
          </a:prstGeom>
        </p:spPr>
      </p:pic>
      <p:pic>
        <p:nvPicPr>
          <p:cNvPr id="22" name="Image 15" descr="https://test.web.static.jianzeppt.com/ppt-temp-img3/490f6093a3cd681e53114db30d197de5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2788920"/>
            <a:ext cx="1524000" cy="609600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8138160" y="2941320"/>
            <a:ext cx="9997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访谈地点</a:t>
            </a:r>
            <a:endParaRPr lang="en-US" sz="1920" dirty="0"/>
          </a:p>
        </p:txBody>
      </p:sp>
      <p:pic>
        <p:nvPicPr>
          <p:cNvPr id="24" name="Image 16" descr="https://test.web.static.jianzeppt.com/ppt-temp-img3/4ceb0b46b5bb8e0b0b7fddf7bfaf910f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8391" y="2788920"/>
            <a:ext cx="15240" cy="609600"/>
          </a:xfrm>
          <a:prstGeom prst="rect">
            <a:avLst/>
          </a:prstGeom>
        </p:spPr>
      </p:pic>
      <p:pic>
        <p:nvPicPr>
          <p:cNvPr id="25" name="Image 17" descr="https://test.web.static.jianzeppt.com/ppt-temp-img3/d24b180b05ab0783e64cde641307357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495" y="3413760"/>
            <a:ext cx="7364425" cy="15240"/>
          </a:xfrm>
          <a:prstGeom prst="rect">
            <a:avLst/>
          </a:prstGeom>
        </p:spPr>
      </p:pic>
      <p:pic>
        <p:nvPicPr>
          <p:cNvPr id="26" name="Image 18" descr="https://test.web.static.jianzeppt.com/ppt-temp-img3/72f60e4f78738abe8c0e9c1013b305e2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3413760"/>
            <a:ext cx="1524000" cy="807720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4450080" y="3474720"/>
            <a:ext cx="9997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访谈要点</a:t>
            </a:r>
            <a:endParaRPr lang="en-US" sz="1920" dirty="0"/>
          </a:p>
        </p:txBody>
      </p:sp>
      <p:sp>
        <p:nvSpPr>
          <p:cNvPr id="28" name="Text 7"/>
          <p:cNvSpPr/>
          <p:nvPr/>
        </p:nvSpPr>
        <p:spPr>
          <a:xfrm>
            <a:off x="4693920" y="3840480"/>
            <a:ext cx="5120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记录</a:t>
            </a:r>
            <a:endParaRPr lang="en-US" sz="1920" dirty="0"/>
          </a:p>
        </p:txBody>
      </p:sp>
      <p:pic>
        <p:nvPicPr>
          <p:cNvPr id="29" name="Image 19" descr="https://test.web.static.jianzeppt.com/ppt-temp-img3/b155352382c1c8a0a4aac181f79c0137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6255" y="3413760"/>
            <a:ext cx="15240" cy="800100"/>
          </a:xfrm>
          <a:prstGeom prst="rect">
            <a:avLst/>
          </a:prstGeom>
        </p:spPr>
      </p:pic>
      <p:sp>
        <p:nvSpPr>
          <p:cNvPr id="30" name="Text 8"/>
          <p:cNvSpPr/>
          <p:nvPr/>
        </p:nvSpPr>
        <p:spPr>
          <a:xfrm>
            <a:off x="5836920" y="3354070"/>
            <a:ext cx="5617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1.</a:t>
            </a:r>
            <a:endParaRPr lang="en-US" sz="1920" dirty="0"/>
          </a:p>
        </p:txBody>
      </p:sp>
      <p:sp>
        <p:nvSpPr>
          <p:cNvPr id="31" name="Text 9"/>
          <p:cNvSpPr/>
          <p:nvPr/>
        </p:nvSpPr>
        <p:spPr>
          <a:xfrm>
            <a:off x="5836920" y="3600450"/>
            <a:ext cx="5617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2.</a:t>
            </a:r>
            <a:endParaRPr lang="en-US" sz="1920" dirty="0"/>
          </a:p>
        </p:txBody>
      </p:sp>
      <p:sp>
        <p:nvSpPr>
          <p:cNvPr id="32" name="Text 10"/>
          <p:cNvSpPr/>
          <p:nvPr/>
        </p:nvSpPr>
        <p:spPr>
          <a:xfrm>
            <a:off x="5836920" y="3848100"/>
            <a:ext cx="5617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3.</a:t>
            </a:r>
            <a:endParaRPr lang="en-US" sz="1920" dirty="0"/>
          </a:p>
        </p:txBody>
      </p:sp>
      <p:pic>
        <p:nvPicPr>
          <p:cNvPr id="33" name="Image 20" descr="https://test.web.static.jianzeppt.com/ppt-temp-img3/d24b180b05ab0783e64cde641307357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495" y="4229100"/>
            <a:ext cx="7364425" cy="15240"/>
          </a:xfrm>
          <a:prstGeom prst="rect">
            <a:avLst/>
          </a:prstGeom>
        </p:spPr>
      </p:pic>
      <p:pic>
        <p:nvPicPr>
          <p:cNvPr id="34" name="Image 21" descr="https://test.web.static.jianzeppt.com/ppt-temp-img3/72f60e4f78738abe8c0e9c1013b305e2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0" y="4236720"/>
            <a:ext cx="1524000" cy="807720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4328160" y="4297680"/>
            <a:ext cx="12435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初步判断与</a:t>
            </a:r>
            <a:endParaRPr lang="en-US" sz="1920" dirty="0"/>
          </a:p>
        </p:txBody>
      </p:sp>
      <p:sp>
        <p:nvSpPr>
          <p:cNvPr id="36" name="Text 12"/>
          <p:cNvSpPr/>
          <p:nvPr/>
        </p:nvSpPr>
        <p:spPr>
          <a:xfrm>
            <a:off x="4328160" y="4663440"/>
            <a:ext cx="12435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发现的问题</a:t>
            </a:r>
            <a:endParaRPr lang="en-US" sz="1920" dirty="0"/>
          </a:p>
        </p:txBody>
      </p:sp>
      <p:pic>
        <p:nvPicPr>
          <p:cNvPr id="37" name="Image 22" descr="https://test.web.static.jianzeppt.com/ppt-temp-img3/b155352382c1c8a0a4aac181f79c0137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6255" y="4229100"/>
            <a:ext cx="15240" cy="800100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5836920" y="4292600"/>
            <a:ext cx="5617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1.</a:t>
            </a:r>
            <a:endParaRPr lang="en-US" sz="1920" dirty="0"/>
          </a:p>
        </p:txBody>
      </p:sp>
      <p:sp>
        <p:nvSpPr>
          <p:cNvPr id="39" name="Text 14"/>
          <p:cNvSpPr/>
          <p:nvPr/>
        </p:nvSpPr>
        <p:spPr>
          <a:xfrm>
            <a:off x="5836920" y="4580890"/>
            <a:ext cx="56174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</a:rPr>
              <a:t>2.</a:t>
            </a:r>
            <a:endParaRPr lang="en-US" sz="1920" dirty="0"/>
          </a:p>
        </p:txBody>
      </p:sp>
      <p:pic>
        <p:nvPicPr>
          <p:cNvPr id="40" name="Image 23" descr="https://test.web.static.jianzeppt.com/ppt-temp-img3/d24b180b05ab0783e64cde641307357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495" y="5044440"/>
            <a:ext cx="7364425" cy="15240"/>
          </a:xfrm>
          <a:prstGeom prst="rect">
            <a:avLst/>
          </a:prstGeom>
        </p:spPr>
      </p:pic>
      <p:pic>
        <p:nvPicPr>
          <p:cNvPr id="41" name="Image 24" descr="https://test.web.static.jianzeppt.com/ppt-temp-img3/ba5bb84ead77ff061cc0ff441147ddb9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0" y="5044440"/>
            <a:ext cx="1524000" cy="594360"/>
          </a:xfrm>
          <a:prstGeom prst="rect">
            <a:avLst/>
          </a:prstGeom>
        </p:spPr>
      </p:pic>
      <p:sp>
        <p:nvSpPr>
          <p:cNvPr id="42" name="Text 15"/>
          <p:cNvSpPr/>
          <p:nvPr/>
        </p:nvSpPr>
        <p:spPr>
          <a:xfrm>
            <a:off x="4328160" y="5084763"/>
            <a:ext cx="1243584" cy="58991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下一步核查建议</a:t>
            </a:r>
            <a:endParaRPr lang="en-US" sz="1920" dirty="0"/>
          </a:p>
        </p:txBody>
      </p:sp>
      <p:pic>
        <p:nvPicPr>
          <p:cNvPr id="43" name="Image 25" descr="https://test.web.static.jianzeppt.com/ppt-temp-img3/250f00f64d99185a070fe6439622f0a3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96255" y="5044440"/>
            <a:ext cx="15240" cy="594360"/>
          </a:xfrm>
          <a:prstGeom prst="rect">
            <a:avLst/>
          </a:prstGeom>
        </p:spPr>
      </p:pic>
      <p:pic>
        <p:nvPicPr>
          <p:cNvPr id="44" name="Image 26" descr="https://test.web.static.jianzeppt.com/ppt-temp-img3/d24b180b05ab0783e64cde6413073570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7495" y="5654040"/>
            <a:ext cx="7364425" cy="15240"/>
          </a:xfrm>
          <a:prstGeom prst="rect">
            <a:avLst/>
          </a:prstGeom>
        </p:spPr>
      </p:pic>
      <p:pic>
        <p:nvPicPr>
          <p:cNvPr id="45" name="Image 27" descr="https://test.web.static.jianzeppt.com/ppt-temp-img3/d902d4681d8cc88fea7a1cc7d5ed348e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0" y="5654040"/>
            <a:ext cx="1524000" cy="548640"/>
          </a:xfrm>
          <a:prstGeom prst="rect">
            <a:avLst/>
          </a:prstGeom>
        </p:spPr>
      </p:pic>
      <p:sp>
        <p:nvSpPr>
          <p:cNvPr id="46" name="Text 16"/>
          <p:cNvSpPr/>
          <p:nvPr/>
        </p:nvSpPr>
        <p:spPr>
          <a:xfrm>
            <a:off x="4328160" y="5775960"/>
            <a:ext cx="12435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测评师签名</a:t>
            </a:r>
            <a:endParaRPr lang="en-US" sz="1920" dirty="0"/>
          </a:p>
        </p:txBody>
      </p:sp>
      <p:pic>
        <p:nvPicPr>
          <p:cNvPr id="47" name="Image 28" descr="https://test.web.static.jianzeppt.com/ppt-temp-img3/4b5bca3f85097bc8849de6d9a477e6cf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96255" y="5654040"/>
            <a:ext cx="15240" cy="548640"/>
          </a:xfrm>
          <a:prstGeom prst="rect">
            <a:avLst/>
          </a:prstGeom>
        </p:spPr>
      </p:pic>
      <p:pic>
        <p:nvPicPr>
          <p:cNvPr id="48" name="Image 29" descr="https://test.web.static.jianzeppt.com/ppt-temp-img3/4b5bca3f85097bc8849de6d9a477e6cf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4391" y="5654040"/>
            <a:ext cx="15240" cy="548640"/>
          </a:xfrm>
          <a:prstGeom prst="rect">
            <a:avLst/>
          </a:prstGeom>
        </p:spPr>
      </p:pic>
      <p:pic>
        <p:nvPicPr>
          <p:cNvPr id="49" name="Image 30" descr="https://test.web.static.jianzeppt.com/ppt-temp-img3/d902d4681d8cc88fea7a1cc7d5ed348e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5654040"/>
            <a:ext cx="1524000" cy="548640"/>
          </a:xfrm>
          <a:prstGeom prst="rect">
            <a:avLst/>
          </a:prstGeom>
        </p:spPr>
      </p:pic>
      <p:sp>
        <p:nvSpPr>
          <p:cNvPr id="50" name="Text 17"/>
          <p:cNvSpPr/>
          <p:nvPr/>
        </p:nvSpPr>
        <p:spPr>
          <a:xfrm>
            <a:off x="8382000" y="5775960"/>
            <a:ext cx="51206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33333"/>
                </a:solidFill>
              </a:rPr>
              <a:t>日期</a:t>
            </a:r>
            <a:endParaRPr lang="en-US" sz="1920" dirty="0"/>
          </a:p>
        </p:txBody>
      </p:sp>
      <p:pic>
        <p:nvPicPr>
          <p:cNvPr id="51" name="Image 31" descr="https://test.web.static.jianzeppt.com/ppt-temp-img3/4b5bca3f85097bc8849de6d9a477e6cf.png?x-oss-process=image/resize,w_1440,h_800,m_lfit/format,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8391" y="5654040"/>
            <a:ext cx="15240" cy="548640"/>
          </a:xfrm>
          <a:prstGeom prst="rect">
            <a:avLst/>
          </a:prstGeom>
        </p:spPr>
      </p:pic>
      <p:pic>
        <p:nvPicPr>
          <p:cNvPr id="52" name="Image 32" descr="https://test.web.static.jianzeppt.com/ppt-temp-img3/e768a538911498f178d7ea4ef3ac7994.png?x-oss-process=image/resize,w_1440,h_800,m_lfit/format,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2788920"/>
            <a:ext cx="30480" cy="2788920"/>
          </a:xfrm>
          <a:prstGeom prst="rect">
            <a:avLst/>
          </a:prstGeom>
        </p:spPr>
      </p:pic>
      <p:pic>
        <p:nvPicPr>
          <p:cNvPr id="53" name="Image 33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9600" y="2575560"/>
            <a:ext cx="487680" cy="487680"/>
          </a:xfrm>
          <a:prstGeom prst="rect">
            <a:avLst/>
          </a:prstGeom>
        </p:spPr>
      </p:pic>
      <p:sp>
        <p:nvSpPr>
          <p:cNvPr id="54" name="Text 18"/>
          <p:cNvSpPr/>
          <p:nvPr/>
        </p:nvSpPr>
        <p:spPr>
          <a:xfrm>
            <a:off x="762000" y="2667000"/>
            <a:ext cx="1920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1</a:t>
            </a:r>
            <a:endParaRPr lang="en-US" sz="1920" dirty="0"/>
          </a:p>
        </p:txBody>
      </p:sp>
      <p:pic>
        <p:nvPicPr>
          <p:cNvPr id="55" name="Image 34" descr="https://test.web.static.jianzeppt.com/ppt-temp-img3/8022efa699e9cfdb31189c493a6189b4.png?x-oss-process=image/resize,w_1440,h_800,m_lfit/format,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0160" y="2423160"/>
            <a:ext cx="2514600" cy="777240"/>
          </a:xfrm>
          <a:prstGeom prst="rect">
            <a:avLst/>
          </a:prstGeom>
        </p:spPr>
      </p:pic>
      <p:sp>
        <p:nvSpPr>
          <p:cNvPr id="56" name="Text 19"/>
          <p:cNvSpPr/>
          <p:nvPr/>
        </p:nvSpPr>
        <p:spPr>
          <a:xfrm>
            <a:off x="1524000" y="2651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</a:rPr>
              <a:t>整理访谈记录</a:t>
            </a:r>
            <a:endParaRPr lang="en-US" sz="2160" dirty="0"/>
          </a:p>
        </p:txBody>
      </p:sp>
      <p:pic>
        <p:nvPicPr>
          <p:cNvPr id="57" name="Image 35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9600" y="3733800"/>
            <a:ext cx="487680" cy="487680"/>
          </a:xfrm>
          <a:prstGeom prst="rect">
            <a:avLst/>
          </a:prstGeom>
        </p:spPr>
      </p:pic>
      <p:sp>
        <p:nvSpPr>
          <p:cNvPr id="58" name="Text 20"/>
          <p:cNvSpPr/>
          <p:nvPr/>
        </p:nvSpPr>
        <p:spPr>
          <a:xfrm>
            <a:off x="762000" y="3825240"/>
            <a:ext cx="1920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2</a:t>
            </a:r>
            <a:endParaRPr lang="en-US" sz="1920" dirty="0"/>
          </a:p>
        </p:txBody>
      </p:sp>
      <p:pic>
        <p:nvPicPr>
          <p:cNvPr id="59" name="Image 36" descr="https://test.web.static.jianzeppt.com/ppt-temp-img3/0f29a627a67736ee5ded9fae4cd5fffa.png?x-oss-process=image/resize,w_1440,h_800,m_lfit/format,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80160" y="3383280"/>
            <a:ext cx="2514600" cy="1188720"/>
          </a:xfrm>
          <a:prstGeom prst="rect">
            <a:avLst/>
          </a:prstGeom>
        </p:spPr>
      </p:pic>
      <p:sp>
        <p:nvSpPr>
          <p:cNvPr id="60" name="Text 21"/>
          <p:cNvSpPr/>
          <p:nvPr/>
        </p:nvSpPr>
        <p:spPr>
          <a:xfrm>
            <a:off x="1524000" y="3611880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</a:rPr>
              <a:t>填写《人员访谈记录表》</a:t>
            </a:r>
            <a:endParaRPr lang="en-US" sz="2160" dirty="0"/>
          </a:p>
        </p:txBody>
      </p:sp>
      <p:pic>
        <p:nvPicPr>
          <p:cNvPr id="61" name="Image 37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9600" y="5105400"/>
            <a:ext cx="487680" cy="487680"/>
          </a:xfrm>
          <a:prstGeom prst="rect">
            <a:avLst/>
          </a:prstGeom>
        </p:spPr>
      </p:pic>
      <p:sp>
        <p:nvSpPr>
          <p:cNvPr id="62" name="Text 22"/>
          <p:cNvSpPr/>
          <p:nvPr/>
        </p:nvSpPr>
        <p:spPr>
          <a:xfrm>
            <a:off x="762000" y="5196840"/>
            <a:ext cx="19202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3</a:t>
            </a:r>
            <a:endParaRPr lang="en-US" sz="1920" dirty="0"/>
          </a:p>
        </p:txBody>
      </p:sp>
      <p:pic>
        <p:nvPicPr>
          <p:cNvPr id="63" name="Image 38" descr="https://test.web.static.jianzeppt.com/ppt-temp-img3/0f29a627a67736ee5ded9fae4cd5fffa.png?x-oss-process=image/resize,w_1440,h_800,m_lfit/format,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80160" y="4754880"/>
            <a:ext cx="2514600" cy="1188720"/>
          </a:xfrm>
          <a:prstGeom prst="rect">
            <a:avLst/>
          </a:prstGeom>
        </p:spPr>
      </p:pic>
      <p:sp>
        <p:nvSpPr>
          <p:cNvPr id="64" name="Text 23"/>
          <p:cNvSpPr/>
          <p:nvPr/>
        </p:nvSpPr>
        <p:spPr>
          <a:xfrm>
            <a:off x="1524000" y="4983480"/>
            <a:ext cx="1929384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dirty="0">
                <a:solidFill>
                  <a:srgbClr val="333333"/>
                </a:solidFill>
              </a:rPr>
              <a:t>初步判断安全问题</a:t>
            </a:r>
            <a:endParaRPr lang="en-US" sz="2160" dirty="0"/>
          </a:p>
        </p:txBody>
      </p:sp>
      <p:sp>
        <p:nvSpPr>
          <p:cNvPr id="65" name="Text 2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实践任务——填写《人员访谈记录表》（10分钟）</a:t>
            </a:r>
            <a:endParaRPr lang="en-US" sz="2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ed6114dc1017cd305e8a8a5ec098e54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676400"/>
            <a:ext cx="30480" cy="42672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30880" y="1447800"/>
            <a:ext cx="77815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一、定位：验证执行（技术测设备，管理测人）</a:t>
            </a:r>
            <a:endParaRPr lang="en-US" sz="2160" dirty="0"/>
          </a:p>
        </p:txBody>
      </p:sp>
      <p:sp>
        <p:nvSpPr>
          <p:cNvPr id="7" name="Text 1"/>
          <p:cNvSpPr/>
          <p:nvPr/>
        </p:nvSpPr>
        <p:spPr>
          <a:xfrm>
            <a:off x="3230880" y="1889760"/>
            <a:ext cx="7781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取证手段：文档查阅 + 记录审查 + 人员访谈</a:t>
            </a:r>
            <a:endParaRPr lang="en-US" sz="1680" dirty="0"/>
          </a:p>
        </p:txBody>
      </p:sp>
      <p:pic>
        <p:nvPicPr>
          <p:cNvPr id="8" name="Image 4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680" y="1813560"/>
            <a:ext cx="304800" cy="304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8480" y="1767840"/>
            <a:ext cx="121920" cy="12192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230880" y="2560320"/>
            <a:ext cx="7781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二、访谈五步法</a:t>
            </a:r>
            <a:endParaRPr lang="en-US" sz="1680" dirty="0"/>
          </a:p>
        </p:txBody>
      </p:sp>
      <p:sp>
        <p:nvSpPr>
          <p:cNvPr id="11" name="Text 3"/>
          <p:cNvSpPr/>
          <p:nvPr/>
        </p:nvSpPr>
        <p:spPr>
          <a:xfrm>
            <a:off x="3230880" y="2910840"/>
            <a:ext cx="36576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准备 → 预约 → 执行 → 核实 → 记录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12" name="Image 6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680" y="2849880"/>
            <a:ext cx="304800" cy="3048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8480" y="2804160"/>
            <a:ext cx="121920" cy="12192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230880" y="3429000"/>
            <a:ext cx="77815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三、访谈对象与提纲</a:t>
            </a:r>
            <a:endParaRPr lang="en-US" sz="2160" dirty="0"/>
          </a:p>
        </p:txBody>
      </p:sp>
      <p:sp>
        <p:nvSpPr>
          <p:cNvPr id="15" name="Text 5"/>
          <p:cNvSpPr/>
          <p:nvPr/>
        </p:nvSpPr>
        <p:spPr>
          <a:xfrm>
            <a:off x="3230880" y="3870960"/>
            <a:ext cx="7781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对象：安全主管、管理员、普通员工（针对岗位设计问题）</a:t>
            </a:r>
            <a:endParaRPr lang="en-US" sz="1680" dirty="0"/>
          </a:p>
        </p:txBody>
      </p:sp>
      <p:pic>
        <p:nvPicPr>
          <p:cNvPr id="16" name="Image 8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680" y="3794760"/>
            <a:ext cx="304800" cy="3048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8480" y="3749040"/>
            <a:ext cx="121920" cy="12192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3230880" y="4541520"/>
            <a:ext cx="77815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四、访谈技巧</a:t>
            </a:r>
            <a:endParaRPr lang="en-US" sz="2160" dirty="0"/>
          </a:p>
        </p:txBody>
      </p:sp>
      <p:sp>
        <p:nvSpPr>
          <p:cNvPr id="19" name="Text 7"/>
          <p:cNvSpPr/>
          <p:nvPr/>
        </p:nvSpPr>
        <p:spPr>
          <a:xfrm>
            <a:off x="3230880" y="4983480"/>
            <a:ext cx="7781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多问“如何”少问“是否”，追问具体并交叉验证，识别真实情况</a:t>
            </a:r>
            <a:endParaRPr lang="en-US" sz="1680" dirty="0"/>
          </a:p>
        </p:txBody>
      </p:sp>
      <p:pic>
        <p:nvPicPr>
          <p:cNvPr id="20" name="Image 10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680" y="4907280"/>
            <a:ext cx="304800" cy="30480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8480" y="4861560"/>
            <a:ext cx="121920" cy="12192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3230880" y="5638800"/>
            <a:ext cx="77815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五、访谈记录</a:t>
            </a:r>
            <a:endParaRPr lang="en-US" sz="1680" dirty="0"/>
          </a:p>
        </p:txBody>
      </p:sp>
      <p:sp>
        <p:nvSpPr>
          <p:cNvPr id="23" name="Text 9"/>
          <p:cNvSpPr/>
          <p:nvPr/>
        </p:nvSpPr>
        <p:spPr>
          <a:xfrm>
            <a:off x="3230880" y="5989320"/>
            <a:ext cx="28448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及时整理，关键信息需签字确认</a:t>
            </a:r>
            <a:endParaRPr lang="en-US" sz="1600" dirty="0">
              <a:solidFill>
                <a:srgbClr val="555555"/>
              </a:solidFill>
              <a:latin typeface="思源黑体 CN" pitchFamily="34" charset="0"/>
              <a:ea typeface="思源黑体 CN" pitchFamily="34" charset="-122"/>
              <a:cs typeface="思源黑体 CN" pitchFamily="34" charset="-120"/>
            </a:endParaRPr>
          </a:p>
        </p:txBody>
      </p:sp>
      <p:pic>
        <p:nvPicPr>
          <p:cNvPr id="24" name="Image 12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680" y="5928360"/>
            <a:ext cx="304800" cy="30480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8480" y="5882640"/>
            <a:ext cx="121920" cy="12192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352800"/>
            <a:ext cx="1828800" cy="9144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7" name="Text 10"/>
          <p:cNvSpPr/>
          <p:nvPr/>
        </p:nvSpPr>
        <p:spPr>
          <a:xfrm>
            <a:off x="975360" y="3444240"/>
            <a:ext cx="1106424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思维导图</a:t>
            </a: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核心内容</a:t>
            </a:r>
            <a:endParaRPr lang="en-US" sz="2160" dirty="0"/>
          </a:p>
        </p:txBody>
      </p:sp>
      <p:pic>
        <p:nvPicPr>
          <p:cNvPr id="28" name="Image 15" descr="https://test.web.static.jianzeppt.com/ppt-temp-img3/f1aacde1df9201f7a6837771a1f861c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3794760"/>
            <a:ext cx="304800" cy="30480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知识点回顾（5分钟）</a:t>
            </a:r>
            <a:endParaRPr lang="en-US" sz="2760" dirty="0"/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607675" y="33718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0" imgW="971550" imgH="666750" progId="Word.Document.12">
                  <p:embed/>
                </p:oleObj>
              </mc:Choice>
              <mc:Fallback>
                <p:oleObj name="" showAsIcon="1" r:id="rId10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607675" y="33718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3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4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5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6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7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8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9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0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1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2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3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4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5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6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7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8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19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0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1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2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3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4.xml><?xml version="1.0" encoding="utf-8"?>
<p:tagLst xmlns:p="http://schemas.openxmlformats.org/presentationml/2006/main">
  <p:tag name="KSO_WM_DIAGRAM_VIRTUALLY_FRAME" val="{&quot;height&quot;:271.75,&quot;left&quot;:48,&quot;top&quot;:231.6,&quot;width&quot;:864}"/>
</p:tagLst>
</file>

<file path=ppt/tags/tag25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26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27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28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29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0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1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2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3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4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5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6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7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8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39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0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1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2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3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4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5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6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7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8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49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0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1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2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3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4.xml><?xml version="1.0" encoding="utf-8"?>
<p:tagLst xmlns:p="http://schemas.openxmlformats.org/presentationml/2006/main">
  <p:tag name="KSO_WM_DIAGRAM_VIRTUALLY_FRAME" val="{&quot;height&quot;:365.8,&quot;left&quot;:48,&quot;top&quot;:137.7,&quot;width&quot;:864}"/>
</p:tagLst>
</file>

<file path=ppt/tags/tag55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56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57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58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59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0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1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2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3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4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5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6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7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8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69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70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71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72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73.xml><?xml version="1.0" encoding="utf-8"?>
<p:tagLst xmlns:p="http://schemas.openxmlformats.org/presentationml/2006/main">
  <p:tag name="KSO_WM_DIAGRAM_VIRTUALLY_FRAME" val="{&quot;height&quot;:124,&quot;left&quot;:72,&quot;top&quot;:333.2,&quot;width&quot;:558.72}"/>
</p:tagLst>
</file>

<file path=ppt/tags/tag74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75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76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77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78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79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0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1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2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3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4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5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6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7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8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89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90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91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92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93.xml><?xml version="1.0" encoding="utf-8"?>
<p:tagLst xmlns:p="http://schemas.openxmlformats.org/presentationml/2006/main">
  <p:tag name="KSO_WM_DIAGRAM_VIRTUALLY_FRAME" val="{&quot;height&quot;:146.4,&quot;left&quot;:48,&quot;top&quot;:297.6,&quot;width&quot;:864}"/>
</p:tagLst>
</file>

<file path=ppt/tags/tag94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95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96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97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98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99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0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1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2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3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4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5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6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7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8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09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0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1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2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3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4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5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6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ags/tag117.xml><?xml version="1.0" encoding="utf-8"?>
<p:tagLst xmlns:p="http://schemas.openxmlformats.org/presentationml/2006/main">
  <p:tag name="KSO_WM_DIAGRAM_VIRTUALLY_FRAME" val="{&quot;height&quot;:165.6,&quot;left&quot;:48,&quot;top&quot;:326.4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3381</Words>
  <Application>WPS 演示</Application>
  <PresentationFormat>On-screen Show (16:9)</PresentationFormat>
  <Paragraphs>648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思源黑体 CN</vt:lpstr>
      <vt:lpstr>黑体</vt:lpstr>
      <vt:lpstr>思源黑体 CN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Office Theme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7</cp:revision>
  <dcterms:created xsi:type="dcterms:W3CDTF">2026-08-30T13:00:00Z</dcterms:created>
  <dcterms:modified xsi:type="dcterms:W3CDTF">2026-10-20T02:08:38Z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E9D2358008A14A4AB8019A982C57CAB8_12</vt:lpwstr>
  </property>
</Properties>
</file>