
<file path=[Content_Types].xml><?xml version="1.0" encoding="utf-8"?>
<Types xmlns="http://schemas.openxmlformats.org/package/2006/content-types">
  <Default Extension="wmf" ContentType="image/x-wmf"/>
  <Default Extension="rels" ContentType="application/vnd.openxmlformats-package.relationships+xml"/>
  <Default Extension="xml" ContentType="application/xml"/>
  <Default Extension="png" ContentType="image/png"/>
  <Default Extension="svg" ContentType="image/svg+xml"/>
  <Override PartName="/ppt/theme/theme2.xml" ContentType="application/vnd.openxmlformats-officedocument.theme+xml"/>
  <Override PartName="/ppt/slideLayouts/slideLayout1.xml" ContentType="application/vnd.openxmlformats-officedocument.presentationml.slideLayout+xml"/>
  <Override PartName="/ppt/notesSlides/notesSlide23.xml" ContentType="application/vnd.openxmlformats-officedocument.presentationml.notesSlide+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notesSlides/notesSlide1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s/slide16.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Masters/slideMaster1.xml" ContentType="application/vnd.openxmlformats-officedocument.presentationml.slideMaster+xml"/>
  <Override PartName="/ppt/slides/slide21.xml" ContentType="application/vnd.openxmlformats-officedocument.presentationml.slide+xml"/>
  <Override PartName="/ppt/slides/slide1.xml" ContentType="application/vnd.openxmlformats-officedocument.presentationml.slide+xml"/>
  <Override PartName="/ppt/slides/slide24.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slides/slide15.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ppt/slides/slide27.xml" ContentType="application/vnd.openxmlformats-officedocument.presentationml.slide+xml"/>
  <Override PartName="/ppt/slides/slide22.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20.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ppt/slides/slide9.xml" ContentType="application/vnd.openxmlformats-officedocument.presentationml.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xmlns:p15="http://schemas.microsoft.com/office/powerpoint/2012/main" xmlns:mc="http://schemas.openxmlformats.org/markup-compatibility/2006" firstSlideNum="1" mc:Ignorable="p15">
  <p:sldMasterIdLst>
    <p:sldMasterId id="2147483648" r:id="rId0"/>
  </p:sldMasterIdLst>
  <p:notesMasterIdLst>
    <p:notesMasterId r:id="rId28"/>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15:guide id="1" orient="horz" pos="2160" userDrawn="1">
          <p15:clr>
            <a:srgbClr val="A4A3A4"/>
          </p15:clr>
        </p15:guide>
        <p15:guide id="2" pos="2880" userDrawn="1">
          <p15:clr>
            <a:srgbClr val="A4A3A4"/>
          </p15:clr>
        </p15:guide>
      </p15:sldGuideLst>
    </p:ext>
  </p:extLst>
</p:presentation>
</file>

<file path=ppt/presProps.xml><?xml version="1.0" encoding="utf-8"?>
<p:presentationPr xmlns:p="http://schemas.openxmlformats.org/presentationml/2006/main">
  <p:showPr showNarration="1">
    <p:present/>
    <p:sldAll/>
  </p:showPr>
  <p:extLst>
    <p:ext uri="{E76CE94A-603C-4142-B9EB-6D1370010A27}"/>
    <p:ext uri="{D31A062A-798A-4329-ABDD-BBA856620510}"/>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p:normalViewPr showOutlineIcons="0" horzBarState="maximized">
    <p:restoredLeft sz="16000"/>
    <p:restoredTop sz="0"/>
  </p:normalViewPr>
  <p:slideViewPr>
    <p:cSldViewPr showGuides="1">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xml version="1.0" encoding="UTF-8" standalone="yes"?><Relationships xmlns="http://schemas.openxmlformats.org/package/2006/relationships"><Relationship Id="rId16" Type="http://schemas.openxmlformats.org/officeDocument/2006/relationships/slide" Target="slides/slide16.xml" /><Relationship Id="rId13" Type="http://schemas.openxmlformats.org/officeDocument/2006/relationships/slide" Target="slides/slide13.xml" /><Relationship Id="rId28" Type="http://schemas.openxmlformats.org/officeDocument/2006/relationships/notesMaster" Target="notesMasters/notesMaster1.xml" /><Relationship Id="rId10" Type="http://schemas.openxmlformats.org/officeDocument/2006/relationships/slide" Target="slides/slide10.xml" /><Relationship Id="rId0" Type="http://schemas.openxmlformats.org/officeDocument/2006/relationships/slideMaster" Target="slideMasters/slideMaster1.xml" /><Relationship Id="rId1" Type="http://schemas.openxmlformats.org/officeDocument/2006/relationships/slide" Target="slides/slide1.xml" /><Relationship Id="rId4" Type="http://schemas.openxmlformats.org/officeDocument/2006/relationships/slide" Target="slides/slide4.xml" /><Relationship Id="rId11" Type="http://schemas.openxmlformats.org/officeDocument/2006/relationships/slide" Target="slides/slide11.xml" /><Relationship Id="rId23" Type="http://schemas.openxmlformats.org/officeDocument/2006/relationships/slide" Target="slides/slide23.xml" /><Relationship Id="rId15" Type="http://schemas.openxmlformats.org/officeDocument/2006/relationships/slide" Target="slides/slide15.xml" /><Relationship Id="rId8" Type="http://schemas.openxmlformats.org/officeDocument/2006/relationships/slide" Target="slides/slide8.xml" /><Relationship Id="rId14" Type="http://schemas.openxmlformats.org/officeDocument/2006/relationships/slide" Target="slides/slide14.xml" /><Relationship Id="rId12" Type="http://schemas.openxmlformats.org/officeDocument/2006/relationships/slide" Target="slides/slide12.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7" Type="http://schemas.openxmlformats.org/officeDocument/2006/relationships/slide" Target="slides/slide27.xml" /><Relationship Id="rId2" Type="http://schemas.openxmlformats.org/officeDocument/2006/relationships/slide" Target="slides/slide2.xml" /><Relationship Id="rId26" Type="http://schemas.openxmlformats.org/officeDocument/2006/relationships/slide" Target="slides/slide26.xml" /><Relationship Id="rId20" Type="http://schemas.openxmlformats.org/officeDocument/2006/relationships/slide" Target="slides/slide20.xml" /><Relationship Id="rId21" Type="http://schemas.openxmlformats.org/officeDocument/2006/relationships/slide" Target="slides/slide21.xml" /><Relationship Id="rId22" Type="http://schemas.openxmlformats.org/officeDocument/2006/relationships/slide" Target="slides/slide22.xml" /><Relationship Id="rId24" Type="http://schemas.openxmlformats.org/officeDocument/2006/relationships/slide" Target="slides/slide24.xml" /><Relationship Id="rId25" Type="http://schemas.openxmlformats.org/officeDocument/2006/relationships/slide" Target="slides/slide25.xml" /><Relationship Id="rId29" Type="http://schemas.openxmlformats.org/officeDocument/2006/relationships/presProps" Target="presProps.xml" /><Relationship Id="rId3" Type="http://schemas.openxmlformats.org/officeDocument/2006/relationships/slide" Target="slides/slide3.xml" /><Relationship Id="rId30" Type="http://schemas.openxmlformats.org/officeDocument/2006/relationships/tableStyles" Target="tableStyles.xml" /><Relationship Id="rId31" Type="http://schemas.openxmlformats.org/officeDocument/2006/relationships/viewProps" Target="viewProps.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fld id="{5282F153-3F37-0F45-9E97-73ACFA13230C}" type="datetimeFigureOut">
              <a:rPr lang="en-US"/>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fld id="{CE5E9CC1-C706-0F49-92D6-E571CC5EEA8F}" type="slidenum">
              <a:rPr lang="en-US"/>
              <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0.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2.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8.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0"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2.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0"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8.xml.rels><?xml version="1.0" encoding="UTF-8" standalone="yes"?><Relationships xmlns="http://schemas.openxmlformats.org/package/2006/relationships"><Relationship Id="rId0"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0"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23.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_rels/notesSlide24.xml.rels><?xml version="1.0" encoding="UTF-8" standalone="yes"?><Relationships xmlns="http://schemas.openxmlformats.org/package/2006/relationships"><Relationship Id="rId0" Type="http://schemas.openxmlformats.org/officeDocument/2006/relationships/slide" Target="../slides/slide7.xml" /><Relationship Id="rId1" Type="http://schemas.openxmlformats.org/officeDocument/2006/relationships/notesMaster" Target="../notesMasters/notesMaster1.xml" /></Relationships>
</file>

<file path=ppt/notesSlides/_rels/notesSlide25.xml.rels><?xml version="1.0" encoding="UTF-8" standalone="yes"?><Relationships xmlns="http://schemas.openxmlformats.org/package/2006/relationships"><Relationship Id="rId0" Type="http://schemas.openxmlformats.org/officeDocument/2006/relationships/slide" Target="../slides/slide8.xml" /><Relationship Id="rId1" Type="http://schemas.openxmlformats.org/officeDocument/2006/relationships/notesMaster" Target="../notesMasters/notesMaster1.xml" /></Relationships>
</file>

<file path=ppt/notesSlides/_rels/notesSlide26.xml.rels><?xml version="1.0" encoding="UTF-8" standalone="yes"?><Relationships xmlns="http://schemas.openxmlformats.org/package/2006/relationships"><Relationship Id="rId0"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pPr/>
            <a:endParaRPr lang="en-US"/>
          </a:p>
        </p:txBody>
      </p:sp>
      <p:sp>
        <p:nvSpPr>
          <p:cNvPr id="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Slide Image Placeholder 1"/>
          <p:cNvSpPr>
            <a:spLocks noGrp="1" noRot="1" noChangeAspect="1"/>
          </p:cNvSpPr>
          <p:nvPr>
            <p:ph type="sldImg"/>
          </p:nvPr>
        </p:nvSpPr>
        <p:spPr/>
        <p:txBody>
          <a:bodyPr/>
          <a:p/>
        </p:txBody>
      </p:sp>
      <p:sp>
        <p:nvSpPr>
          <p:cNvPr id="7" name="Notes Placeholder 2"/>
          <p:cNvSpPr>
            <a:spLocks noGrp="1"/>
          </p:cNvSpPr>
          <p:nvPr>
            <p:ph type="body" idx="1"/>
          </p:nvPr>
        </p:nvSpPr>
        <p:spPr/>
        <p:txBody>
          <a:bodyPr/>
          <a:lstStyle/>
          <a:p>
            <a:pPr/>
            <a:endParaRPr lang="en-US"/>
          </a:p>
        </p:txBody>
      </p:sp>
      <p:sp>
        <p:nvSpPr>
          <p:cNvPr id="8"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Slide Image Placeholder 1"/>
          <p:cNvSpPr>
            <a:spLocks noGrp="1" noRot="1" noChangeAspect="1"/>
          </p:cNvSpPr>
          <p:nvPr>
            <p:ph type="sldImg"/>
          </p:nvPr>
        </p:nvSpPr>
        <p:spPr/>
        <p:txBody>
          <a:bodyPr/>
          <a:p/>
        </p:txBody>
      </p:sp>
      <p:sp>
        <p:nvSpPr>
          <p:cNvPr id="11" name="Notes Placeholder 2"/>
          <p:cNvSpPr>
            <a:spLocks noGrp="1"/>
          </p:cNvSpPr>
          <p:nvPr>
            <p:ph type="body" idx="1"/>
          </p:nvPr>
        </p:nvSpPr>
        <p:spPr/>
        <p:txBody>
          <a:bodyPr/>
          <a:lstStyle/>
          <a:p>
            <a:pPr/>
            <a:endParaRPr lang="en-US"/>
          </a:p>
        </p:txBody>
      </p:sp>
      <p:sp>
        <p:nvSpPr>
          <p:cNvPr id="12"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3" name=""/>
        <p:cNvGrpSpPr/>
        <p:nvPr/>
      </p:nvGrpSpPr>
      <p:grpSpPr>
        <a:xfrm>
          <a:off x="0" y="0"/>
          <a:ext cx="0" cy="0"/>
          <a:chOff x="0" y="0"/>
          <a:chExt cx="0" cy="0"/>
        </a:xfrm>
      </p:grpSpPr>
      <p:sp>
        <p:nvSpPr>
          <p:cNvPr id="14" name="Slide Image Placeholder 1"/>
          <p:cNvSpPr>
            <a:spLocks noGrp="1" noRot="1" noChangeAspect="1"/>
          </p:cNvSpPr>
          <p:nvPr>
            <p:ph type="sldImg"/>
          </p:nvPr>
        </p:nvSpPr>
        <p:spPr/>
        <p:txBody>
          <a:bodyPr/>
          <a:p/>
        </p:txBody>
      </p:sp>
      <p:sp>
        <p:nvSpPr>
          <p:cNvPr id="15" name="Notes Placeholder 2"/>
          <p:cNvSpPr>
            <a:spLocks noGrp="1"/>
          </p:cNvSpPr>
          <p:nvPr>
            <p:ph type="body" idx="1"/>
          </p:nvPr>
        </p:nvSpPr>
        <p:spPr/>
        <p:txBody>
          <a:bodyPr/>
          <a:lstStyle/>
          <a:p>
            <a:pPr/>
            <a:endParaRPr lang="en-US"/>
          </a:p>
        </p:txBody>
      </p:sp>
      <p:sp>
        <p:nvSpPr>
          <p:cNvPr id="16"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Slide Image Placeholder 1"/>
          <p:cNvSpPr>
            <a:spLocks noGrp="1" noRot="1" noChangeAspect="1"/>
          </p:cNvSpPr>
          <p:nvPr>
            <p:ph type="sldImg"/>
          </p:nvPr>
        </p:nvSpPr>
        <p:spPr/>
        <p:txBody>
          <a:bodyPr/>
          <a:p/>
        </p:txBody>
      </p:sp>
      <p:sp>
        <p:nvSpPr>
          <p:cNvPr id="19" name="Notes Placeholder 2"/>
          <p:cNvSpPr>
            <a:spLocks noGrp="1"/>
          </p:cNvSpPr>
          <p:nvPr>
            <p:ph type="body" idx="1"/>
          </p:nvPr>
        </p:nvSpPr>
        <p:spPr/>
        <p:txBody>
          <a:bodyPr/>
          <a:lstStyle/>
          <a:p>
            <a:pPr/>
            <a:endParaRPr lang="en-US"/>
          </a:p>
        </p:txBody>
      </p:sp>
      <p:sp>
        <p:nvSpPr>
          <p:cNvPr id="20"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Slide Image Placeholder 1"/>
          <p:cNvSpPr>
            <a:spLocks noGrp="1" noRot="1" noChangeAspect="1"/>
          </p:cNvSpPr>
          <p:nvPr>
            <p:ph type="sldImg"/>
          </p:nvPr>
        </p:nvSpPr>
        <p:spPr/>
        <p:txBody>
          <a:bodyPr/>
          <a:p/>
        </p:txBody>
      </p:sp>
      <p:sp>
        <p:nvSpPr>
          <p:cNvPr id="23" name="Notes Placeholder 2"/>
          <p:cNvSpPr>
            <a:spLocks noGrp="1"/>
          </p:cNvSpPr>
          <p:nvPr>
            <p:ph type="body" idx="1"/>
          </p:nvPr>
        </p:nvSpPr>
        <p:spPr/>
        <p:txBody>
          <a:bodyPr/>
          <a:lstStyle/>
          <a:p>
            <a:pPr/>
            <a:endParaRPr lang="en-US"/>
          </a:p>
        </p:txBody>
      </p:sp>
      <p:sp>
        <p:nvSpPr>
          <p:cNvPr id="2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Slide Image Placeholder 1"/>
          <p:cNvSpPr>
            <a:spLocks noGrp="1" noRot="1" noChangeAspect="1"/>
          </p:cNvSpPr>
          <p:nvPr>
            <p:ph type="sldImg"/>
          </p:nvPr>
        </p:nvSpPr>
        <p:spPr/>
        <p:txBody>
          <a:bodyPr/>
          <a:p/>
        </p:txBody>
      </p:sp>
      <p:sp>
        <p:nvSpPr>
          <p:cNvPr id="27" name="Notes Placeholder 2"/>
          <p:cNvSpPr>
            <a:spLocks noGrp="1"/>
          </p:cNvSpPr>
          <p:nvPr>
            <p:ph type="body" idx="1"/>
          </p:nvPr>
        </p:nvSpPr>
        <p:spPr/>
        <p:txBody>
          <a:bodyPr/>
          <a:lstStyle/>
          <a:p>
            <a:pPr/>
            <a:endParaRPr lang="en-US"/>
          </a:p>
        </p:txBody>
      </p:sp>
      <p:sp>
        <p:nvSpPr>
          <p:cNvPr id="28"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29"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p/>
        </p:txBody>
      </p:sp>
      <p:sp>
        <p:nvSpPr>
          <p:cNvPr id="31" name="Notes Placeholder 2"/>
          <p:cNvSpPr>
            <a:spLocks noGrp="1"/>
          </p:cNvSpPr>
          <p:nvPr>
            <p:ph type="body" idx="1"/>
          </p:nvPr>
        </p:nvSpPr>
        <p:spPr/>
        <p:txBody>
          <a:bodyPr/>
          <a:lstStyle/>
          <a:p>
            <a:pPr/>
            <a:endParaRPr lang="en-US"/>
          </a:p>
        </p:txBody>
      </p:sp>
      <p:sp>
        <p:nvSpPr>
          <p:cNvPr id="32"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Slide Image Placeholder 1"/>
          <p:cNvSpPr>
            <a:spLocks noGrp="1" noRot="1" noChangeAspect="1"/>
          </p:cNvSpPr>
          <p:nvPr>
            <p:ph type="sldImg"/>
          </p:nvPr>
        </p:nvSpPr>
        <p:spPr/>
        <p:txBody>
          <a:bodyPr/>
          <a:p/>
        </p:txBody>
      </p:sp>
      <p:sp>
        <p:nvSpPr>
          <p:cNvPr id="35" name="Notes Placeholder 2"/>
          <p:cNvSpPr>
            <a:spLocks noGrp="1"/>
          </p:cNvSpPr>
          <p:nvPr>
            <p:ph type="body" idx="1"/>
          </p:nvPr>
        </p:nvSpPr>
        <p:spPr/>
        <p:txBody>
          <a:bodyPr/>
          <a:lstStyle/>
          <a:p>
            <a:pPr/>
            <a:endParaRPr lang="en-US"/>
          </a:p>
        </p:txBody>
      </p:sp>
      <p:sp>
        <p:nvSpPr>
          <p:cNvPr id="36"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0.xml><?xml version="1.0" encoding="utf-8"?>
<p:notes xmlns:p="http://schemas.openxmlformats.org/presentationml/2006/main" xmlns:a="http://schemas.openxmlformats.org/drawingml/2006/main">
  <p:cSld>
    <p:spTree>
      <p:nvGrpSpPr>
        <p:cNvPr id="37" name=""/>
        <p:cNvGrpSpPr/>
        <p:nvPr/>
      </p:nvGrpSpPr>
      <p:grpSpPr>
        <a:xfrm>
          <a:off x="0" y="0"/>
          <a:ext cx="0" cy="0"/>
          <a:chOff x="0" y="0"/>
          <a:chExt cx="0" cy="0"/>
        </a:xfrm>
      </p:grpSpPr>
      <p:sp>
        <p:nvSpPr>
          <p:cNvPr id="38" name="Slide Image Placeholder 1"/>
          <p:cNvSpPr>
            <a:spLocks noGrp="1" noRot="1" noChangeAspect="1"/>
          </p:cNvSpPr>
          <p:nvPr>
            <p:ph type="sldImg"/>
          </p:nvPr>
        </p:nvSpPr>
        <p:spPr/>
        <p:txBody>
          <a:bodyPr/>
          <a:p/>
        </p:txBody>
      </p:sp>
      <p:sp>
        <p:nvSpPr>
          <p:cNvPr id="39" name="Notes Placeholder 2"/>
          <p:cNvSpPr>
            <a:spLocks noGrp="1"/>
          </p:cNvSpPr>
          <p:nvPr>
            <p:ph type="body" idx="1"/>
          </p:nvPr>
        </p:nvSpPr>
        <p:spPr/>
        <p:txBody>
          <a:bodyPr/>
          <a:lstStyle/>
          <a:p>
            <a:pPr/>
            <a:endParaRPr lang="en-US"/>
          </a:p>
        </p:txBody>
      </p:sp>
      <p:sp>
        <p:nvSpPr>
          <p:cNvPr id="40"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1.xml><?xml version="1.0" encoding="utf-8"?>
<p:notes xmlns:p="http://schemas.openxmlformats.org/presentationml/2006/main" xmlns:a="http://schemas.openxmlformats.org/drawingml/2006/main">
  <p:cSld>
    <p:spTree>
      <p:nvGrpSpPr>
        <p:cNvPr id="41" name=""/>
        <p:cNvGrpSpPr/>
        <p:nvPr/>
      </p:nvGrpSpPr>
      <p:grpSpPr>
        <a:xfrm>
          <a:off x="0" y="0"/>
          <a:ext cx="0" cy="0"/>
          <a:chOff x="0" y="0"/>
          <a:chExt cx="0" cy="0"/>
        </a:xfrm>
      </p:grpSpPr>
      <p:sp>
        <p:nvSpPr>
          <p:cNvPr id="42" name="Slide Image Placeholder 1"/>
          <p:cNvSpPr>
            <a:spLocks noGrp="1" noRot="1" noChangeAspect="1"/>
          </p:cNvSpPr>
          <p:nvPr>
            <p:ph type="sldImg"/>
          </p:nvPr>
        </p:nvSpPr>
        <p:spPr/>
        <p:txBody>
          <a:bodyPr/>
          <a:p/>
        </p:txBody>
      </p:sp>
      <p:sp>
        <p:nvSpPr>
          <p:cNvPr id="43" name="Notes Placeholder 2"/>
          <p:cNvSpPr>
            <a:spLocks noGrp="1"/>
          </p:cNvSpPr>
          <p:nvPr>
            <p:ph type="body" idx="1"/>
          </p:nvPr>
        </p:nvSpPr>
        <p:spPr/>
        <p:txBody>
          <a:bodyPr/>
          <a:lstStyle/>
          <a:p>
            <a:pPr/>
            <a:endParaRPr lang="en-US"/>
          </a:p>
        </p:txBody>
      </p:sp>
      <p:sp>
        <p:nvSpPr>
          <p:cNvPr id="4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2.xml><?xml version="1.0" encoding="utf-8"?>
<p:notes xmlns:p="http://schemas.openxmlformats.org/presentationml/2006/main" xmlns:a="http://schemas.openxmlformats.org/drawingml/2006/main">
  <p:cSld>
    <p:spTree>
      <p:nvGrpSpPr>
        <p:cNvPr id="45" name=""/>
        <p:cNvGrpSpPr/>
        <p:nvPr/>
      </p:nvGrpSpPr>
      <p:grpSpPr>
        <a:xfrm>
          <a:off x="0" y="0"/>
          <a:ext cx="0" cy="0"/>
          <a:chOff x="0" y="0"/>
          <a:chExt cx="0" cy="0"/>
        </a:xfrm>
      </p:grpSpPr>
      <p:sp>
        <p:nvSpPr>
          <p:cNvPr id="46" name="Slide Image Placeholder 1"/>
          <p:cNvSpPr>
            <a:spLocks noGrp="1" noRot="1" noChangeAspect="1"/>
          </p:cNvSpPr>
          <p:nvPr>
            <p:ph type="sldImg"/>
          </p:nvPr>
        </p:nvSpPr>
        <p:spPr/>
        <p:txBody>
          <a:bodyPr/>
          <a:p/>
        </p:txBody>
      </p:sp>
      <p:sp>
        <p:nvSpPr>
          <p:cNvPr id="47" name="Notes Placeholder 2"/>
          <p:cNvSpPr>
            <a:spLocks noGrp="1"/>
          </p:cNvSpPr>
          <p:nvPr>
            <p:ph type="body" idx="1"/>
          </p:nvPr>
        </p:nvSpPr>
        <p:spPr/>
        <p:txBody>
          <a:bodyPr/>
          <a:lstStyle/>
          <a:p>
            <a:pPr/>
            <a:endParaRPr lang="en-US"/>
          </a:p>
        </p:txBody>
      </p:sp>
      <p:sp>
        <p:nvSpPr>
          <p:cNvPr id="48"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3.xml><?xml version="1.0" encoding="utf-8"?>
<p:notes xmlns:p="http://schemas.openxmlformats.org/presentationml/2006/main" xmlns:a="http://schemas.openxmlformats.org/drawingml/2006/main">
  <p:cSld>
    <p:spTree>
      <p:nvGrpSpPr>
        <p:cNvPr id="49" name=""/>
        <p:cNvGrpSpPr/>
        <p:nvPr/>
      </p:nvGrpSpPr>
      <p:grpSpPr>
        <a:xfrm>
          <a:off x="0" y="0"/>
          <a:ext cx="0" cy="0"/>
          <a:chOff x="0" y="0"/>
          <a:chExt cx="0" cy="0"/>
        </a:xfrm>
      </p:grpSpPr>
      <p:sp>
        <p:nvSpPr>
          <p:cNvPr id="50" name="Slide Image Placeholder 1"/>
          <p:cNvSpPr>
            <a:spLocks noGrp="1" noRot="1" noChangeAspect="1"/>
          </p:cNvSpPr>
          <p:nvPr>
            <p:ph type="sldImg"/>
          </p:nvPr>
        </p:nvSpPr>
        <p:spPr/>
        <p:txBody>
          <a:bodyPr/>
          <a:p/>
        </p:txBody>
      </p:sp>
      <p:sp>
        <p:nvSpPr>
          <p:cNvPr id="51" name="Notes Placeholder 2"/>
          <p:cNvSpPr>
            <a:spLocks noGrp="1"/>
          </p:cNvSpPr>
          <p:nvPr>
            <p:ph type="body" idx="1"/>
          </p:nvPr>
        </p:nvSpPr>
        <p:spPr/>
        <p:txBody>
          <a:bodyPr/>
          <a:lstStyle/>
          <a:p>
            <a:pPr/>
            <a:endParaRPr lang="en-US"/>
          </a:p>
        </p:txBody>
      </p:sp>
      <p:sp>
        <p:nvSpPr>
          <p:cNvPr id="52"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4.xml><?xml version="1.0" encoding="utf-8"?>
<p:notes xmlns:p="http://schemas.openxmlformats.org/presentationml/2006/main" xmlns:a="http://schemas.openxmlformats.org/drawingml/2006/main">
  <p:cSld>
    <p:spTree>
      <p:nvGrpSpPr>
        <p:cNvPr id="53" name=""/>
        <p:cNvGrpSpPr/>
        <p:nvPr/>
      </p:nvGrpSpPr>
      <p:grpSpPr>
        <a:xfrm>
          <a:off x="0" y="0"/>
          <a:ext cx="0" cy="0"/>
          <a:chOff x="0" y="0"/>
          <a:chExt cx="0" cy="0"/>
        </a:xfrm>
      </p:grpSpPr>
      <p:sp>
        <p:nvSpPr>
          <p:cNvPr id="54" name="Slide Image Placeholder 1"/>
          <p:cNvSpPr>
            <a:spLocks noGrp="1" noRot="1" noChangeAspect="1"/>
          </p:cNvSpPr>
          <p:nvPr>
            <p:ph type="sldImg"/>
          </p:nvPr>
        </p:nvSpPr>
        <p:spPr/>
        <p:txBody>
          <a:bodyPr/>
          <a:p/>
        </p:txBody>
      </p:sp>
      <p:sp>
        <p:nvSpPr>
          <p:cNvPr id="55" name="Notes Placeholder 2"/>
          <p:cNvSpPr>
            <a:spLocks noGrp="1"/>
          </p:cNvSpPr>
          <p:nvPr>
            <p:ph type="body" idx="1"/>
          </p:nvPr>
        </p:nvSpPr>
        <p:spPr/>
        <p:txBody>
          <a:bodyPr/>
          <a:lstStyle/>
          <a:p>
            <a:pPr/>
            <a:endParaRPr lang="en-US"/>
          </a:p>
        </p:txBody>
      </p:sp>
      <p:sp>
        <p:nvSpPr>
          <p:cNvPr id="56"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5.xml><?xml version="1.0" encoding="utf-8"?>
<p:notes xmlns:p="http://schemas.openxmlformats.org/presentationml/2006/main" xmlns:a="http://schemas.openxmlformats.org/drawingml/2006/main">
  <p:cSld>
    <p:spTree>
      <p:nvGrpSpPr>
        <p:cNvPr id="57" name=""/>
        <p:cNvGrpSpPr/>
        <p:nvPr/>
      </p:nvGrpSpPr>
      <p:grpSpPr>
        <a:xfrm>
          <a:off x="0" y="0"/>
          <a:ext cx="0" cy="0"/>
          <a:chOff x="0" y="0"/>
          <a:chExt cx="0" cy="0"/>
        </a:xfrm>
      </p:grpSpPr>
      <p:sp>
        <p:nvSpPr>
          <p:cNvPr id="58" name="Slide Image Placeholder 1"/>
          <p:cNvSpPr>
            <a:spLocks noGrp="1" noRot="1" noChangeAspect="1"/>
          </p:cNvSpPr>
          <p:nvPr>
            <p:ph type="sldImg"/>
          </p:nvPr>
        </p:nvSpPr>
        <p:spPr/>
        <p:txBody>
          <a:bodyPr/>
          <a:p/>
        </p:txBody>
      </p:sp>
      <p:sp>
        <p:nvSpPr>
          <p:cNvPr id="59" name="Notes Placeholder 2"/>
          <p:cNvSpPr>
            <a:spLocks noGrp="1"/>
          </p:cNvSpPr>
          <p:nvPr>
            <p:ph type="body" idx="1"/>
          </p:nvPr>
        </p:nvSpPr>
        <p:spPr/>
        <p:txBody>
          <a:bodyPr/>
          <a:lstStyle/>
          <a:p>
            <a:pPr/>
            <a:endParaRPr lang="en-US"/>
          </a:p>
        </p:txBody>
      </p:sp>
      <p:sp>
        <p:nvSpPr>
          <p:cNvPr id="60"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6.xml><?xml version="1.0" encoding="utf-8"?>
<p:notes xmlns:p="http://schemas.openxmlformats.org/presentationml/2006/main" xmlns:a="http://schemas.openxmlformats.org/drawingml/2006/main">
  <p:cSld>
    <p:spTree>
      <p:nvGrpSpPr>
        <p:cNvPr id="61" name=""/>
        <p:cNvGrpSpPr/>
        <p:nvPr/>
      </p:nvGrpSpPr>
      <p:grpSpPr>
        <a:xfrm>
          <a:off x="0" y="0"/>
          <a:ext cx="0" cy="0"/>
          <a:chOff x="0" y="0"/>
          <a:chExt cx="0" cy="0"/>
        </a:xfrm>
      </p:grpSpPr>
      <p:sp>
        <p:nvSpPr>
          <p:cNvPr id="62" name="Slide Image Placeholder 1"/>
          <p:cNvSpPr>
            <a:spLocks noGrp="1" noRot="1" noChangeAspect="1"/>
          </p:cNvSpPr>
          <p:nvPr>
            <p:ph type="sldImg"/>
          </p:nvPr>
        </p:nvSpPr>
        <p:spPr/>
        <p:txBody>
          <a:bodyPr/>
          <a:p/>
        </p:txBody>
      </p:sp>
      <p:sp>
        <p:nvSpPr>
          <p:cNvPr id="63" name="Notes Placeholder 2"/>
          <p:cNvSpPr>
            <a:spLocks noGrp="1"/>
          </p:cNvSpPr>
          <p:nvPr>
            <p:ph type="body" idx="1"/>
          </p:nvPr>
        </p:nvSpPr>
        <p:spPr/>
        <p:txBody>
          <a:bodyPr/>
          <a:lstStyle/>
          <a:p>
            <a:pPr/>
            <a:endParaRPr lang="en-US"/>
          </a:p>
        </p:txBody>
      </p:sp>
      <p:sp>
        <p:nvSpPr>
          <p:cNvPr id="6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7.xml><?xml version="1.0" encoding="utf-8"?>
<p:notes xmlns:p="http://schemas.openxmlformats.org/presentationml/2006/main" xmlns:a="http://schemas.openxmlformats.org/drawingml/2006/main">
  <p:cSld>
    <p:spTree>
      <p:nvGrpSpPr>
        <p:cNvPr id="65" name=""/>
        <p:cNvGrpSpPr/>
        <p:nvPr/>
      </p:nvGrpSpPr>
      <p:grpSpPr>
        <a:xfrm>
          <a:off x="0" y="0"/>
          <a:ext cx="0" cy="0"/>
          <a:chOff x="0" y="0"/>
          <a:chExt cx="0" cy="0"/>
        </a:xfrm>
      </p:grpSpPr>
      <p:sp>
        <p:nvSpPr>
          <p:cNvPr id="66" name="Slide Image Placeholder 1"/>
          <p:cNvSpPr>
            <a:spLocks noGrp="1" noRot="1" noChangeAspect="1"/>
          </p:cNvSpPr>
          <p:nvPr>
            <p:ph type="sldImg"/>
          </p:nvPr>
        </p:nvSpPr>
        <p:spPr/>
        <p:txBody>
          <a:bodyPr/>
          <a:p/>
        </p:txBody>
      </p:sp>
      <p:sp>
        <p:nvSpPr>
          <p:cNvPr id="67" name="Notes Placeholder 2"/>
          <p:cNvSpPr>
            <a:spLocks noGrp="1"/>
          </p:cNvSpPr>
          <p:nvPr>
            <p:ph type="body" idx="1"/>
          </p:nvPr>
        </p:nvSpPr>
        <p:spPr/>
        <p:txBody>
          <a:bodyPr/>
          <a:lstStyle/>
          <a:p>
            <a:pPr/>
            <a:endParaRPr lang="en-US"/>
          </a:p>
        </p:txBody>
      </p:sp>
      <p:sp>
        <p:nvSpPr>
          <p:cNvPr id="68"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8.xml><?xml version="1.0" encoding="utf-8"?>
<p:notes xmlns:p="http://schemas.openxmlformats.org/presentationml/2006/main" xmlns:a="http://schemas.openxmlformats.org/drawingml/2006/main">
  <p:cSld>
    <p:spTree>
      <p:nvGrpSpPr>
        <p:cNvPr id="69"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p/>
        </p:txBody>
      </p:sp>
      <p:sp>
        <p:nvSpPr>
          <p:cNvPr id="71" name="Notes Placeholder 2"/>
          <p:cNvSpPr>
            <a:spLocks noGrp="1"/>
          </p:cNvSpPr>
          <p:nvPr>
            <p:ph type="body" idx="1"/>
          </p:nvPr>
        </p:nvSpPr>
        <p:spPr/>
        <p:txBody>
          <a:bodyPr/>
          <a:lstStyle/>
          <a:p>
            <a:pPr/>
            <a:endParaRPr lang="en-US"/>
          </a:p>
        </p:txBody>
      </p:sp>
      <p:sp>
        <p:nvSpPr>
          <p:cNvPr id="72"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19.xml><?xml version="1.0" encoding="utf-8"?>
<p:notes xmlns:p="http://schemas.openxmlformats.org/presentationml/2006/main" xmlns:a="http://schemas.openxmlformats.org/drawingml/2006/main">
  <p:cSld>
    <p:spTree>
      <p:nvGrpSpPr>
        <p:cNvPr id="73" name=""/>
        <p:cNvGrpSpPr/>
        <p:nvPr/>
      </p:nvGrpSpPr>
      <p:grpSpPr>
        <a:xfrm>
          <a:off x="0" y="0"/>
          <a:ext cx="0" cy="0"/>
          <a:chOff x="0" y="0"/>
          <a:chExt cx="0" cy="0"/>
        </a:xfrm>
      </p:grpSpPr>
      <p:sp>
        <p:nvSpPr>
          <p:cNvPr id="74" name="Slide Image Placeholder 1"/>
          <p:cNvSpPr>
            <a:spLocks noGrp="1" noRot="1" noChangeAspect="1"/>
          </p:cNvSpPr>
          <p:nvPr>
            <p:ph type="sldImg"/>
          </p:nvPr>
        </p:nvSpPr>
        <p:spPr/>
        <p:txBody>
          <a:bodyPr/>
          <a:p/>
        </p:txBody>
      </p:sp>
      <p:sp>
        <p:nvSpPr>
          <p:cNvPr id="75" name="Notes Placeholder 2"/>
          <p:cNvSpPr>
            <a:spLocks noGrp="1"/>
          </p:cNvSpPr>
          <p:nvPr>
            <p:ph type="body" idx="1"/>
          </p:nvPr>
        </p:nvSpPr>
        <p:spPr/>
        <p:txBody>
          <a:bodyPr/>
          <a:lstStyle/>
          <a:p>
            <a:pPr/>
            <a:endParaRPr lang="en-US" dirty="0"/>
          </a:p>
        </p:txBody>
      </p:sp>
      <p:sp>
        <p:nvSpPr>
          <p:cNvPr id="76"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0.xml><?xml version="1.0" encoding="utf-8"?>
<p:notes xmlns:p="http://schemas.openxmlformats.org/presentationml/2006/main" xmlns:a="http://schemas.openxmlformats.org/drawingml/2006/main">
  <p:cSld>
    <p:spTree>
      <p:nvGrpSpPr>
        <p:cNvPr id="77" name=""/>
        <p:cNvGrpSpPr/>
        <p:nvPr/>
      </p:nvGrpSpPr>
      <p:grpSpPr>
        <a:xfrm>
          <a:off x="0" y="0"/>
          <a:ext cx="0" cy="0"/>
          <a:chOff x="0" y="0"/>
          <a:chExt cx="0" cy="0"/>
        </a:xfrm>
      </p:grpSpPr>
      <p:sp>
        <p:nvSpPr>
          <p:cNvPr id="78" name="Slide Image Placeholder 1"/>
          <p:cNvSpPr>
            <a:spLocks noGrp="1" noRot="1" noChangeAspect="1"/>
          </p:cNvSpPr>
          <p:nvPr>
            <p:ph type="sldImg"/>
          </p:nvPr>
        </p:nvSpPr>
        <p:spPr/>
        <p:txBody>
          <a:bodyPr/>
          <a:p/>
        </p:txBody>
      </p:sp>
      <p:sp>
        <p:nvSpPr>
          <p:cNvPr id="79" name="Notes Placeholder 2"/>
          <p:cNvSpPr>
            <a:spLocks noGrp="1"/>
          </p:cNvSpPr>
          <p:nvPr>
            <p:ph type="body" idx="1"/>
          </p:nvPr>
        </p:nvSpPr>
        <p:spPr/>
        <p:txBody>
          <a:bodyPr/>
          <a:lstStyle/>
          <a:p>
            <a:pPr/>
            <a:endParaRPr lang="en-US"/>
          </a:p>
        </p:txBody>
      </p:sp>
      <p:sp>
        <p:nvSpPr>
          <p:cNvPr id="80"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1.xml><?xml version="1.0" encoding="utf-8"?>
<p:notes xmlns:p="http://schemas.openxmlformats.org/presentationml/2006/main" xmlns:a="http://schemas.openxmlformats.org/drawingml/2006/main">
  <p:cSld>
    <p:spTree>
      <p:nvGrpSpPr>
        <p:cNvPr id="81" name=""/>
        <p:cNvGrpSpPr/>
        <p:nvPr/>
      </p:nvGrpSpPr>
      <p:grpSpPr>
        <a:xfrm>
          <a:off x="0" y="0"/>
          <a:ext cx="0" cy="0"/>
          <a:chOff x="0" y="0"/>
          <a:chExt cx="0" cy="0"/>
        </a:xfrm>
      </p:grpSpPr>
      <p:sp>
        <p:nvSpPr>
          <p:cNvPr id="82" name="Slide Image Placeholder 1"/>
          <p:cNvSpPr>
            <a:spLocks noGrp="1" noRot="1" noChangeAspect="1"/>
          </p:cNvSpPr>
          <p:nvPr>
            <p:ph type="sldImg"/>
          </p:nvPr>
        </p:nvSpPr>
        <p:spPr/>
        <p:txBody>
          <a:bodyPr/>
          <a:p/>
        </p:txBody>
      </p:sp>
      <p:sp>
        <p:nvSpPr>
          <p:cNvPr id="83" name="Notes Placeholder 2"/>
          <p:cNvSpPr>
            <a:spLocks noGrp="1"/>
          </p:cNvSpPr>
          <p:nvPr>
            <p:ph type="body" idx="1"/>
          </p:nvPr>
        </p:nvSpPr>
        <p:spPr/>
        <p:txBody>
          <a:bodyPr/>
          <a:lstStyle/>
          <a:p>
            <a:pPr/>
            <a:endParaRPr lang="en-US"/>
          </a:p>
        </p:txBody>
      </p:sp>
      <p:sp>
        <p:nvSpPr>
          <p:cNvPr id="8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85" name=""/>
        <p:cNvGrpSpPr/>
        <p:nvPr/>
      </p:nvGrpSpPr>
      <p:grpSpPr>
        <a:xfrm>
          <a:off x="0" y="0"/>
          <a:ext cx="0" cy="0"/>
          <a:chOff x="0" y="0"/>
          <a:chExt cx="0" cy="0"/>
        </a:xfrm>
      </p:grpSpPr>
      <p:sp>
        <p:nvSpPr>
          <p:cNvPr id="86" name="Slide Image Placeholder 1"/>
          <p:cNvSpPr>
            <a:spLocks noGrp="1" noRot="1" noChangeAspect="1"/>
          </p:cNvSpPr>
          <p:nvPr>
            <p:ph type="sldImg"/>
          </p:nvPr>
        </p:nvSpPr>
        <p:spPr/>
        <p:txBody>
          <a:bodyPr/>
          <a:p/>
        </p:txBody>
      </p:sp>
      <p:sp>
        <p:nvSpPr>
          <p:cNvPr id="87" name="Notes Placeholder 2"/>
          <p:cNvSpPr>
            <a:spLocks noGrp="1"/>
          </p:cNvSpPr>
          <p:nvPr>
            <p:ph type="body" idx="1"/>
          </p:nvPr>
        </p:nvSpPr>
        <p:spPr/>
        <p:txBody>
          <a:bodyPr/>
          <a:lstStyle/>
          <a:p>
            <a:pPr/>
            <a:endParaRPr lang="en-US"/>
          </a:p>
        </p:txBody>
      </p:sp>
      <p:sp>
        <p:nvSpPr>
          <p:cNvPr id="88"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89" name=""/>
        <p:cNvGrpSpPr/>
        <p:nvPr/>
      </p:nvGrpSpPr>
      <p:grpSpPr>
        <a:xfrm>
          <a:off x="0" y="0"/>
          <a:ext cx="0" cy="0"/>
          <a:chOff x="0" y="0"/>
          <a:chExt cx="0" cy="0"/>
        </a:xfrm>
      </p:grpSpPr>
      <p:sp>
        <p:nvSpPr>
          <p:cNvPr id="90" name="Slide Image Placeholder 1"/>
          <p:cNvSpPr>
            <a:spLocks noGrp="1" noRot="1" noChangeAspect="1"/>
          </p:cNvSpPr>
          <p:nvPr>
            <p:ph type="sldImg"/>
          </p:nvPr>
        </p:nvSpPr>
        <p:spPr/>
        <p:txBody>
          <a:bodyPr/>
          <a:p/>
        </p:txBody>
      </p:sp>
      <p:sp>
        <p:nvSpPr>
          <p:cNvPr id="91" name="Notes Placeholder 2"/>
          <p:cNvSpPr>
            <a:spLocks noGrp="1"/>
          </p:cNvSpPr>
          <p:nvPr>
            <p:ph type="body" idx="1"/>
          </p:nvPr>
        </p:nvSpPr>
        <p:spPr/>
        <p:txBody>
          <a:bodyPr/>
          <a:lstStyle/>
          <a:p>
            <a:pPr/>
            <a:endParaRPr lang="en-US"/>
          </a:p>
        </p:txBody>
      </p:sp>
      <p:sp>
        <p:nvSpPr>
          <p:cNvPr id="92"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93" name=""/>
        <p:cNvGrpSpPr/>
        <p:nvPr/>
      </p:nvGrpSpPr>
      <p:grpSpPr>
        <a:xfrm>
          <a:off x="0" y="0"/>
          <a:ext cx="0" cy="0"/>
          <a:chOff x="0" y="0"/>
          <a:chExt cx="0" cy="0"/>
        </a:xfrm>
      </p:grpSpPr>
      <p:sp>
        <p:nvSpPr>
          <p:cNvPr id="94" name="Slide Image Placeholder 1"/>
          <p:cNvSpPr>
            <a:spLocks noGrp="1" noRot="1" noChangeAspect="1"/>
          </p:cNvSpPr>
          <p:nvPr>
            <p:ph type="sldImg"/>
          </p:nvPr>
        </p:nvSpPr>
        <p:spPr/>
        <p:txBody>
          <a:bodyPr/>
          <a:p/>
        </p:txBody>
      </p:sp>
      <p:sp>
        <p:nvSpPr>
          <p:cNvPr id="95" name="Notes Placeholder 2"/>
          <p:cNvSpPr>
            <a:spLocks noGrp="1"/>
          </p:cNvSpPr>
          <p:nvPr>
            <p:ph type="body" idx="1"/>
          </p:nvPr>
        </p:nvSpPr>
        <p:spPr/>
        <p:txBody>
          <a:bodyPr/>
          <a:lstStyle/>
          <a:p>
            <a:pPr/>
            <a:endParaRPr lang="en-US"/>
          </a:p>
        </p:txBody>
      </p:sp>
      <p:sp>
        <p:nvSpPr>
          <p:cNvPr id="96"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5.xml><?xml version="1.0" encoding="utf-8"?>
<p:notes xmlns:p="http://schemas.openxmlformats.org/presentationml/2006/main" xmlns:a="http://schemas.openxmlformats.org/drawingml/2006/main">
  <p:cSld>
    <p:spTree>
      <p:nvGrpSpPr>
        <p:cNvPr id="97" name=""/>
        <p:cNvGrpSpPr/>
        <p:nvPr/>
      </p:nvGrpSpPr>
      <p:grpSpPr>
        <a:xfrm>
          <a:off x="0" y="0"/>
          <a:ext cx="0" cy="0"/>
          <a:chOff x="0" y="0"/>
          <a:chExt cx="0" cy="0"/>
        </a:xfrm>
      </p:grpSpPr>
      <p:sp>
        <p:nvSpPr>
          <p:cNvPr id="98" name="Slide Image Placeholder 1"/>
          <p:cNvSpPr>
            <a:spLocks noGrp="1" noRot="1" noChangeAspect="1"/>
          </p:cNvSpPr>
          <p:nvPr>
            <p:ph type="sldImg"/>
          </p:nvPr>
        </p:nvSpPr>
        <p:spPr/>
        <p:txBody>
          <a:bodyPr/>
          <a:p/>
        </p:txBody>
      </p:sp>
      <p:sp>
        <p:nvSpPr>
          <p:cNvPr id="99" name="Notes Placeholder 2"/>
          <p:cNvSpPr>
            <a:spLocks noGrp="1"/>
          </p:cNvSpPr>
          <p:nvPr>
            <p:ph type="body" idx="1"/>
          </p:nvPr>
        </p:nvSpPr>
        <p:spPr/>
        <p:txBody>
          <a:bodyPr/>
          <a:lstStyle/>
          <a:p>
            <a:pPr/>
            <a:endParaRPr lang="en-US"/>
          </a:p>
        </p:txBody>
      </p:sp>
      <p:sp>
        <p:nvSpPr>
          <p:cNvPr id="100"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notesSlides/notesSlide26.xml><?xml version="1.0" encoding="utf-8"?>
<p:notes xmlns:p="http://schemas.openxmlformats.org/presentationml/2006/main" xmlns:a="http://schemas.openxmlformats.org/drawingml/2006/main">
  <p:cSld>
    <p:spTree>
      <p:nvGrpSpPr>
        <p:cNvPr id="101" name=""/>
        <p:cNvGrpSpPr/>
        <p:nvPr/>
      </p:nvGrpSpPr>
      <p:grpSpPr>
        <a:xfrm>
          <a:off x="0" y="0"/>
          <a:ext cx="0" cy="0"/>
          <a:chOff x="0" y="0"/>
          <a:chExt cx="0" cy="0"/>
        </a:xfrm>
      </p:grpSpPr>
      <p:sp>
        <p:nvSpPr>
          <p:cNvPr id="102" name="Slide Image Placeholder 1"/>
          <p:cNvSpPr>
            <a:spLocks noGrp="1" noRot="1" noChangeAspect="1"/>
          </p:cNvSpPr>
          <p:nvPr>
            <p:ph type="sldImg"/>
          </p:nvPr>
        </p:nvSpPr>
        <p:spPr/>
        <p:txBody>
          <a:bodyPr/>
          <a:p/>
        </p:txBody>
      </p:sp>
      <p:sp>
        <p:nvSpPr>
          <p:cNvPr id="103" name="Notes Placeholder 2"/>
          <p:cNvSpPr>
            <a:spLocks noGrp="1"/>
          </p:cNvSpPr>
          <p:nvPr>
            <p:ph type="body" idx="1"/>
          </p:nvPr>
        </p:nvSpPr>
        <p:spPr/>
        <p:txBody>
          <a:bodyPr/>
          <a:lstStyle/>
          <a:p>
            <a:pPr/>
            <a:endParaRPr lang="en-US"/>
          </a:p>
        </p:txBody>
      </p:sp>
      <p:sp>
        <p:nvSpPr>
          <p:cNvPr id="104" name="Slide Number Placeholder 3"/>
          <p:cNvSpPr>
            <a:spLocks noGrp="1"/>
          </p:cNvSpPr>
          <p:nvPr>
            <p:ph type="sldNum" sz="quarter" idx="10"/>
          </p:nvPr>
        </p:nvSpPr>
        <p:spPr/>
        <p:txBody>
          <a:bodyPr/>
          <a:lstStyle/>
          <a:p>
            <a:pPr/>
            <a:fld id="{F7021451-1387-4CA6-816F-3879F97B5CBC}" type="slidenum">
              <a:rPr lang="en-US"/>
              <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transition/>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5" Type="http://schemas.openxmlformats.org/officeDocument/2006/relationships/image" Target="media/image4.png" /><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1.xml" /><Relationship Id="rId3" Type="http://schemas.openxmlformats.org/officeDocument/2006/relationships/image" Target="media/image2.png" /><Relationship Id="rId4" Type="http://schemas.openxmlformats.org/officeDocument/2006/relationships/image" Target="media/image3.png" /><Relationship Id="rId6" Type="http://schemas.openxmlformats.org/officeDocument/2006/relationships/image" Target="media/image5.png" /><Relationship Id="rId7" Type="http://schemas.openxmlformats.org/officeDocument/2006/relationships/image" Target="media/image6.png" /><Relationship Id="rId8" Type="http://schemas.openxmlformats.org/officeDocument/2006/relationships/image" Target="media/image7.png" /></Relationships>
</file>

<file path=ppt/slides/_rels/slide2.xml.rels><?xml version="1.0" encoding="UTF-8" standalone="yes"?><Relationships xmlns="http://schemas.openxmlformats.org/package/2006/relationships"><Relationship Id="rId1" Type="http://schemas.openxmlformats.org/officeDocument/2006/relationships/notesSlide" Target="../notesSlides/notesSlide11.xml" /><Relationship Id="rId0"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65.png" /></Relationships>
</file>

<file path=ppt/slides/_rels/slide3.xml.rels><?xml version="1.0" encoding="UTF-8" standalone="yes"?><Relationships xmlns="http://schemas.openxmlformats.org/package/2006/relationships"><Relationship Id="rId11" Type="http://schemas.openxmlformats.org/officeDocument/2006/relationships/image" Target="media/image108.png" /><Relationship Id="rId0" Type="http://schemas.openxmlformats.org/officeDocument/2006/relationships/slideLayout" Target="../slideLayouts/slideLayout1.xml" /><Relationship Id="rId1" Type="http://schemas.openxmlformats.org/officeDocument/2006/relationships/notesSlide" Target="../notesSlides/notesSlide20.xml" /><Relationship Id="rId3" Type="http://schemas.openxmlformats.org/officeDocument/2006/relationships/image" Target="media/image9.png" /><Relationship Id="rId10" Type="http://schemas.openxmlformats.org/officeDocument/2006/relationships/image" Target="media/image107.png" /><Relationship Id="rId12" Type="http://schemas.openxmlformats.org/officeDocument/2006/relationships/image" Target="media/image109.svg" /><Relationship Id="rId13" Type="http://schemas.openxmlformats.org/officeDocument/2006/relationships/image" Target="media/image110.png" /><Relationship Id="rId2" Type="http://schemas.openxmlformats.org/officeDocument/2006/relationships/image" Target="media/image8.png" /><Relationship Id="rId4" Type="http://schemas.openxmlformats.org/officeDocument/2006/relationships/image" Target="media/image10.png" /><Relationship Id="rId9" Type="http://schemas.openxmlformats.org/officeDocument/2006/relationships/image" Target="media/image106.svg" /><Relationship Id="rId5" Type="http://schemas.openxmlformats.org/officeDocument/2006/relationships/image" Target="media/image102.svg" /><Relationship Id="rId6" Type="http://schemas.openxmlformats.org/officeDocument/2006/relationships/image" Target="media/image103.png" /><Relationship Id="rId7" Type="http://schemas.openxmlformats.org/officeDocument/2006/relationships/image" Target="media/image104.png" /><Relationship Id="rId8" Type="http://schemas.openxmlformats.org/officeDocument/2006/relationships/image" Target="media/image105.png" /></Relationships>
</file>

<file path=ppt/slides/_rels/slide4.xml.rels><?xml version="1.0" encoding="UTF-8" standalone="yes"?><Relationships xmlns="http://schemas.openxmlformats.org/package/2006/relationships"><Relationship Id="rId5" Type="http://schemas.openxmlformats.org/officeDocument/2006/relationships/image" Target="media/image111.svg" /><Relationship Id="rId0" Type="http://schemas.openxmlformats.org/officeDocument/2006/relationships/slideLayout" Target="../slideLayouts/slideLayout1.xml" /><Relationship Id="rId1" Type="http://schemas.openxmlformats.org/officeDocument/2006/relationships/notesSlide" Target="../notesSlides/notesSlide21.xml" /><Relationship Id="rId6" Type="http://schemas.openxmlformats.org/officeDocument/2006/relationships/image" Target="media/image112.png"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4" Type="http://schemas.openxmlformats.org/officeDocument/2006/relationships/image" Target="media/image10.png" /><Relationship Id="rId3" Type="http://schemas.openxmlformats.org/officeDocument/2006/relationships/image" Target="media/image9.png" /><Relationship Id="rId1" Type="http://schemas.openxmlformats.org/officeDocument/2006/relationships/notesSlide" Target="../notesSlides/notesSlide22.xml" /><Relationship Id="rId10" Type="http://schemas.openxmlformats.org/officeDocument/2006/relationships/image" Target="media/image117.png" /><Relationship Id="rId11" Type="http://schemas.openxmlformats.org/officeDocument/2006/relationships/image" Target="media/image118.png" /><Relationship Id="rId2" Type="http://schemas.openxmlformats.org/officeDocument/2006/relationships/image" Target="media/image8.png" /><Relationship Id="rId5" Type="http://schemas.openxmlformats.org/officeDocument/2006/relationships/image" Target="media/image113.svg" /><Relationship Id="rId6" Type="http://schemas.openxmlformats.org/officeDocument/2006/relationships/image" Target="media/image67.png" /><Relationship Id="rId7" Type="http://schemas.openxmlformats.org/officeDocument/2006/relationships/image" Target="media/image114.png" /><Relationship Id="rId8" Type="http://schemas.openxmlformats.org/officeDocument/2006/relationships/image" Target="media/image115.svg" /><Relationship Id="rId9" Type="http://schemas.openxmlformats.org/officeDocument/2006/relationships/image" Target="media/image116.png" /></Relationships>
</file>

<file path=ppt/slides/_rels/slide6.xml.rels><?xml version="1.0" encoding="UTF-8" standalone="yes"?><Relationships xmlns="http://schemas.openxmlformats.org/package/2006/relationships"><Relationship Id="rId4" Type="http://schemas.openxmlformats.org/officeDocument/2006/relationships/image" Target="media/image10.png" /><Relationship Id="rId0" Type="http://schemas.openxmlformats.org/officeDocument/2006/relationships/slideLayout" Target="../slideLayouts/slideLayout1.xml" /><Relationship Id="rId3" Type="http://schemas.openxmlformats.org/officeDocument/2006/relationships/image" Target="media/image9.png" /><Relationship Id="rId1" Type="http://schemas.openxmlformats.org/officeDocument/2006/relationships/notesSlide" Target="../notesSlides/notesSlide23.xml" /><Relationship Id="rId2" Type="http://schemas.openxmlformats.org/officeDocument/2006/relationships/image" Target="media/image8.png" /><Relationship Id="rId5" Type="http://schemas.openxmlformats.org/officeDocument/2006/relationships/image" Target="media/image61.svg" /><Relationship Id="rId6" Type="http://schemas.openxmlformats.org/officeDocument/2006/relationships/image" Target="media/image119.png" /><Relationship Id="rId7" Type="http://schemas.openxmlformats.org/officeDocument/2006/relationships/image" Target="media/image120.svg" /></Relationships>
</file>

<file path=ppt/slides/_rels/slide7.xml.rels><?xml version="1.0" encoding="UTF-8" standalone="yes"?><Relationships xmlns="http://schemas.openxmlformats.org/package/2006/relationships"><Relationship Id="rId3" Type="http://schemas.openxmlformats.org/officeDocument/2006/relationships/image" Target="media/image9.png" /><Relationship Id="rId0" Type="http://schemas.openxmlformats.org/officeDocument/2006/relationships/slideLayout" Target="../slideLayouts/slideLayout1.xml" /><Relationship Id="rId5" Type="http://schemas.openxmlformats.org/officeDocument/2006/relationships/image" Target="media/image121.svg" /><Relationship Id="rId1" Type="http://schemas.openxmlformats.org/officeDocument/2006/relationships/notesSlide" Target="../notesSlides/notesSlide24.xml" /><Relationship Id="rId2" Type="http://schemas.openxmlformats.org/officeDocument/2006/relationships/image" Target="media/image8.png" /><Relationship Id="rId4" Type="http://schemas.openxmlformats.org/officeDocument/2006/relationships/image" Target="media/image10.png"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5.xml" /><Relationship Id="rId4" Type="http://schemas.openxmlformats.org/officeDocument/2006/relationships/image" Target="media/image10.png" /><Relationship Id="rId2" Type="http://schemas.openxmlformats.org/officeDocument/2006/relationships/image" Target="media/image8.png" /><Relationship Id="rId5" Type="http://schemas.openxmlformats.org/officeDocument/2006/relationships/image" Target="media/image122.svg" /><Relationship Id="rId3" Type="http://schemas.openxmlformats.org/officeDocument/2006/relationships/image" Target="media/image9.png" /><Relationship Id="rId6" Type="http://schemas.openxmlformats.org/officeDocument/2006/relationships/image" Target="media/image123.png" /><Relationship Id="rId7" Type="http://schemas.openxmlformats.org/officeDocument/2006/relationships/image" Target="media/image124.png"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6.xml" /><Relationship Id="rId11" Type="http://schemas.openxmlformats.org/officeDocument/2006/relationships/image" Target="media/image130.svg" /><Relationship Id="rId4" Type="http://schemas.openxmlformats.org/officeDocument/2006/relationships/image" Target="media/image10.png" /><Relationship Id="rId10" Type="http://schemas.openxmlformats.org/officeDocument/2006/relationships/image" Target="media/image129.png" /><Relationship Id="rId12" Type="http://schemas.openxmlformats.org/officeDocument/2006/relationships/image" Target="media/image131.png" /><Relationship Id="rId2" Type="http://schemas.openxmlformats.org/officeDocument/2006/relationships/image" Target="media/image8.png" /><Relationship Id="rId3" Type="http://schemas.openxmlformats.org/officeDocument/2006/relationships/image" Target="media/image9.png" /><Relationship Id="rId5" Type="http://schemas.openxmlformats.org/officeDocument/2006/relationships/image" Target="media/image125.png" /><Relationship Id="rId6" Type="http://schemas.openxmlformats.org/officeDocument/2006/relationships/image" Target="media/image126.png" /><Relationship Id="rId7" Type="http://schemas.openxmlformats.org/officeDocument/2006/relationships/image" Target="media/image127.png" /><Relationship Id="rId8" Type="http://schemas.openxmlformats.org/officeDocument/2006/relationships/image" Target="media/image128.png" /><Relationship Id="rId9" Type="http://schemas.openxmlformats.org/officeDocument/2006/relationships/image" Target="media/image61.svg" /></Relationships>
</file>

<file path=ppt/slides/_rels/slide10.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1.xml" /><Relationship Id="rId15" Type="http://schemas.openxmlformats.org/officeDocument/2006/relationships/image" Target="media/image21.png" /><Relationship Id="rId10" Type="http://schemas.openxmlformats.org/officeDocument/2006/relationships/image" Target="media/image16.png" /><Relationship Id="rId11" Type="http://schemas.openxmlformats.org/officeDocument/2006/relationships/image" Target="media/image17.png" /><Relationship Id="rId7" Type="http://schemas.openxmlformats.org/officeDocument/2006/relationships/image" Target="media/image13.svg" /><Relationship Id="rId14" Type="http://schemas.openxmlformats.org/officeDocument/2006/relationships/image" Target="media/image20.png" /><Relationship Id="rId12" Type="http://schemas.openxmlformats.org/officeDocument/2006/relationships/image" Target="media/image18.png" /><Relationship Id="rId13" Type="http://schemas.openxmlformats.org/officeDocument/2006/relationships/image" Target="media/image19.png" /><Relationship Id="rId4" Type="http://schemas.openxmlformats.org/officeDocument/2006/relationships/image" Target="media/image10.png" /><Relationship Id="rId16" Type="http://schemas.openxmlformats.org/officeDocument/2006/relationships/image" Target="media/image22.png" /><Relationship Id="rId17" Type="http://schemas.openxmlformats.org/officeDocument/2006/relationships/image" Target="media/image23.png" /><Relationship Id="rId9" Type="http://schemas.openxmlformats.org/officeDocument/2006/relationships/image" Target="media/image15.png" /><Relationship Id="rId2" Type="http://schemas.openxmlformats.org/officeDocument/2006/relationships/image" Target="media/image8.png" /><Relationship Id="rId3" Type="http://schemas.openxmlformats.org/officeDocument/2006/relationships/image" Target="media/image9.png" /><Relationship Id="rId5" Type="http://schemas.openxmlformats.org/officeDocument/2006/relationships/image" Target="media/image11.png" /><Relationship Id="rId6" Type="http://schemas.openxmlformats.org/officeDocument/2006/relationships/image" Target="media/image12.png" /><Relationship Id="rId8" Type="http://schemas.openxmlformats.org/officeDocument/2006/relationships/image" Target="media/image14.png" /></Relationships>
</file>

<file path=ppt/slides/_rels/slide11.xml.rels><?xml version="1.0" encoding="UTF-8" standalone="yes"?><Relationships xmlns="http://schemas.openxmlformats.org/package/2006/relationships"><Relationship Id="rId6" Type="http://schemas.openxmlformats.org/officeDocument/2006/relationships/image" Target="media/image25.png" /><Relationship Id="rId0" Type="http://schemas.openxmlformats.org/officeDocument/2006/relationships/slideLayout" Target="../slideLayouts/slideLayout1.xml" /><Relationship Id="rId2" Type="http://schemas.openxmlformats.org/officeDocument/2006/relationships/image" Target="media/image8.png" /><Relationship Id="rId1" Type="http://schemas.openxmlformats.org/officeDocument/2006/relationships/notesSlide" Target="../notesSlides/notesSlide3.xml"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24.png" /></Relationships>
</file>

<file path=ppt/slides/_rels/slide12.xml.rels><?xml version="1.0" encoding="UTF-8" standalone="yes"?><Relationships xmlns="http://schemas.openxmlformats.org/package/2006/relationships"><Relationship Id="rId19" Type="http://schemas.openxmlformats.org/officeDocument/2006/relationships/image" Target="media/image40.png" /><Relationship Id="rId0" Type="http://schemas.openxmlformats.org/officeDocument/2006/relationships/slideLayout" Target="../slideLayouts/slideLayout1.xml" /><Relationship Id="rId11" Type="http://schemas.openxmlformats.org/officeDocument/2006/relationships/image" Target="media/image32.png" /><Relationship Id="rId9" Type="http://schemas.openxmlformats.org/officeDocument/2006/relationships/image" Target="media/image30.png" /><Relationship Id="rId1" Type="http://schemas.openxmlformats.org/officeDocument/2006/relationships/notesSlide" Target="../notesSlides/notesSlide4.xml" /><Relationship Id="rId15" Type="http://schemas.openxmlformats.org/officeDocument/2006/relationships/image" Target="media/image36.png" /><Relationship Id="rId10" Type="http://schemas.openxmlformats.org/officeDocument/2006/relationships/image" Target="media/image31.png" /><Relationship Id="rId12" Type="http://schemas.openxmlformats.org/officeDocument/2006/relationships/image" Target="media/image33.png" /><Relationship Id="rId4" Type="http://schemas.openxmlformats.org/officeDocument/2006/relationships/image" Target="media/image10.png" /><Relationship Id="rId13" Type="http://schemas.openxmlformats.org/officeDocument/2006/relationships/image" Target="media/image34.png" /><Relationship Id="rId14" Type="http://schemas.openxmlformats.org/officeDocument/2006/relationships/image" Target="media/image35.png" /><Relationship Id="rId16" Type="http://schemas.openxmlformats.org/officeDocument/2006/relationships/image" Target="media/image37.png" /><Relationship Id="rId7" Type="http://schemas.openxmlformats.org/officeDocument/2006/relationships/image" Target="media/image28.png" /><Relationship Id="rId17" Type="http://schemas.openxmlformats.org/officeDocument/2006/relationships/image" Target="media/image38.png" /><Relationship Id="rId18" Type="http://schemas.openxmlformats.org/officeDocument/2006/relationships/image" Target="media/image39.png" /><Relationship Id="rId2" Type="http://schemas.openxmlformats.org/officeDocument/2006/relationships/image" Target="media/image8.png" /><Relationship Id="rId3" Type="http://schemas.openxmlformats.org/officeDocument/2006/relationships/image" Target="media/image9.png" /><Relationship Id="rId5" Type="http://schemas.openxmlformats.org/officeDocument/2006/relationships/image" Target="media/image26.png" /><Relationship Id="rId6" Type="http://schemas.openxmlformats.org/officeDocument/2006/relationships/image" Target="media/image27.png" /><Relationship Id="rId8" Type="http://schemas.openxmlformats.org/officeDocument/2006/relationships/image" Target="media/image29.png" /></Relationships>
</file>

<file path=ppt/slides/_rels/slide13.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41.svg" /></Relationships>
</file>

<file path=ppt/slides/_rels/slide14.xml.rels><?xml version="1.0" encoding="UTF-8" standalone="yes"?><Relationships xmlns="http://schemas.openxmlformats.org/package/2006/relationships"><Relationship Id="rId12" Type="http://schemas.openxmlformats.org/officeDocument/2006/relationships/image" Target="media/image49.svg" /><Relationship Id="rId10" Type="http://schemas.openxmlformats.org/officeDocument/2006/relationships/image" Target="media/image47.svg" /><Relationship Id="rId0" Type="http://schemas.openxmlformats.org/officeDocument/2006/relationships/slideLayout" Target="../slideLayouts/slideLayout1.xml" /><Relationship Id="rId1" Type="http://schemas.openxmlformats.org/officeDocument/2006/relationships/notesSlide" Target="../notesSlides/notesSlide6.xml" /><Relationship Id="rId11" Type="http://schemas.openxmlformats.org/officeDocument/2006/relationships/image" Target="media/image48.svg" /><Relationship Id="rId13" Type="http://schemas.openxmlformats.org/officeDocument/2006/relationships/image" Target="media/image50.svg" /><Relationship Id="rId14" Type="http://schemas.openxmlformats.org/officeDocument/2006/relationships/image" Target="media/image51.svg"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42.png" /><Relationship Id="rId6" Type="http://schemas.openxmlformats.org/officeDocument/2006/relationships/image" Target="media/image43.svg" /><Relationship Id="rId7" Type="http://schemas.openxmlformats.org/officeDocument/2006/relationships/image" Target="media/image44.png" /><Relationship Id="rId8" Type="http://schemas.openxmlformats.org/officeDocument/2006/relationships/image" Target="media/image45.png" /><Relationship Id="rId9" Type="http://schemas.openxmlformats.org/officeDocument/2006/relationships/image" Target="media/image46.svg"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7.xml" /><Relationship Id="rId2" Type="http://schemas.openxmlformats.org/officeDocument/2006/relationships/image" Target="media/image8.png" /><Relationship Id="rId3" Type="http://schemas.openxmlformats.org/officeDocument/2006/relationships/image" Target="media/image9.png" /><Relationship Id="rId5" Type="http://schemas.openxmlformats.org/officeDocument/2006/relationships/image" Target="media/image52.png" /><Relationship Id="rId4" Type="http://schemas.openxmlformats.org/officeDocument/2006/relationships/image" Target="media/image10.png"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8.xml" /><Relationship Id="rId2" Type="http://schemas.openxmlformats.org/officeDocument/2006/relationships/image" Target="media/image8.png" /><Relationship Id="rId3" Type="http://schemas.openxmlformats.org/officeDocument/2006/relationships/image" Target="media/image9.png" /><Relationship Id="rId6" Type="http://schemas.openxmlformats.org/officeDocument/2006/relationships/image" Target="media/image54.png" /><Relationship Id="rId4" Type="http://schemas.openxmlformats.org/officeDocument/2006/relationships/image" Target="media/image10.png" /><Relationship Id="rId5" Type="http://schemas.openxmlformats.org/officeDocument/2006/relationships/image" Target="media/image53.png" /><Relationship Id="rId7" Type="http://schemas.openxmlformats.org/officeDocument/2006/relationships/image" Target="media/image55.svg" /><Relationship Id="rId8" Type="http://schemas.openxmlformats.org/officeDocument/2006/relationships/image" Target="media/image56.svg"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9.xml" /><Relationship Id="rId6" Type="http://schemas.openxmlformats.org/officeDocument/2006/relationships/image" Target="media/image58.wmf" /><Relationship Id="rId5" Type="http://schemas.openxmlformats.org/officeDocument/2006/relationships/image" Target="media/image57.wmf"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0.xml" /><Relationship Id="rId3" Type="http://schemas.openxmlformats.org/officeDocument/2006/relationships/image" Target="media/image9.png" /><Relationship Id="rId10" Type="http://schemas.openxmlformats.org/officeDocument/2006/relationships/image" Target="media/image63.png" /><Relationship Id="rId11" Type="http://schemas.openxmlformats.org/officeDocument/2006/relationships/image" Target="media/image64.svg" /><Relationship Id="rId2" Type="http://schemas.openxmlformats.org/officeDocument/2006/relationships/image" Target="media/image8.png" /><Relationship Id="rId4" Type="http://schemas.openxmlformats.org/officeDocument/2006/relationships/image" Target="media/image10.png" /><Relationship Id="rId5" Type="http://schemas.openxmlformats.org/officeDocument/2006/relationships/image" Target="media/image59.png" /><Relationship Id="rId6" Type="http://schemas.openxmlformats.org/officeDocument/2006/relationships/image" Target="media/image55.svg" /><Relationship Id="rId7" Type="http://schemas.openxmlformats.org/officeDocument/2006/relationships/image" Target="media/image60.png" /><Relationship Id="rId8" Type="http://schemas.openxmlformats.org/officeDocument/2006/relationships/image" Target="media/image61.svg" /><Relationship Id="rId9" Type="http://schemas.openxmlformats.org/officeDocument/2006/relationships/image" Target="media/image62.png"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5" Type="http://schemas.openxmlformats.org/officeDocument/2006/relationships/image" Target="media/image66.svg" /><Relationship Id="rId1" Type="http://schemas.openxmlformats.org/officeDocument/2006/relationships/notesSlide" Target="../notesSlides/notesSlide12.xml" /><Relationship Id="rId2" Type="http://schemas.openxmlformats.org/officeDocument/2006/relationships/image" Target="media/image8.png" /><Relationship Id="rId10" Type="http://schemas.openxmlformats.org/officeDocument/2006/relationships/image" Target="media/image71.wmf" /><Relationship Id="rId3" Type="http://schemas.openxmlformats.org/officeDocument/2006/relationships/image" Target="media/image9.png" /><Relationship Id="rId6" Type="http://schemas.openxmlformats.org/officeDocument/2006/relationships/image" Target="media/image67.png" /><Relationship Id="rId4" Type="http://schemas.openxmlformats.org/officeDocument/2006/relationships/image" Target="media/image10.png" /><Relationship Id="rId7" Type="http://schemas.openxmlformats.org/officeDocument/2006/relationships/image" Target="media/image68.svg" /><Relationship Id="rId8" Type="http://schemas.openxmlformats.org/officeDocument/2006/relationships/image" Target="media/image69.svg" /><Relationship Id="rId9" Type="http://schemas.openxmlformats.org/officeDocument/2006/relationships/image" Target="media/image70.png" /></Relationships>
</file>

<file path=ppt/slides/_rels/slide21.xml.rels><?xml version="1.0" encoding="UTF-8" standalone="yes"?><Relationships xmlns="http://schemas.openxmlformats.org/package/2006/relationships"><Relationship Id="rId1" Type="http://schemas.openxmlformats.org/officeDocument/2006/relationships/notesSlide" Target="../notesSlides/notesSlide13.xml" /><Relationship Id="rId0" Type="http://schemas.openxmlformats.org/officeDocument/2006/relationships/slideLayout" Target="../slideLayouts/slideLayout1.xml" /><Relationship Id="rId12" Type="http://schemas.openxmlformats.org/officeDocument/2006/relationships/image" Target="media/image79.svg" /><Relationship Id="rId10" Type="http://schemas.openxmlformats.org/officeDocument/2006/relationships/image" Target="media/image77.svg" /><Relationship Id="rId11" Type="http://schemas.openxmlformats.org/officeDocument/2006/relationships/image" Target="media/image78.svg"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72.png" /><Relationship Id="rId6" Type="http://schemas.openxmlformats.org/officeDocument/2006/relationships/image" Target="media/image73.svg" /><Relationship Id="rId7" Type="http://schemas.openxmlformats.org/officeDocument/2006/relationships/image" Target="media/image74.svg" /><Relationship Id="rId8" Type="http://schemas.openxmlformats.org/officeDocument/2006/relationships/image" Target="media/image75.svg" /><Relationship Id="rId9" Type="http://schemas.openxmlformats.org/officeDocument/2006/relationships/image" Target="media/image76.svg"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4.xml" /><Relationship Id="rId3" Type="http://schemas.openxmlformats.org/officeDocument/2006/relationships/image" Target="media/image9.png" /><Relationship Id="rId10" Type="http://schemas.openxmlformats.org/officeDocument/2006/relationships/image" Target="media/image85.png" /><Relationship Id="rId11" Type="http://schemas.openxmlformats.org/officeDocument/2006/relationships/image" Target="media/image86.svg" /><Relationship Id="rId2" Type="http://schemas.openxmlformats.org/officeDocument/2006/relationships/image" Target="media/image8.png" /><Relationship Id="rId12" Type="http://schemas.openxmlformats.org/officeDocument/2006/relationships/image" Target="media/image87.svg" /><Relationship Id="rId9" Type="http://schemas.openxmlformats.org/officeDocument/2006/relationships/image" Target="media/image84.png" /><Relationship Id="rId13" Type="http://schemas.openxmlformats.org/officeDocument/2006/relationships/image" Target="media/image88.png" /><Relationship Id="rId4" Type="http://schemas.openxmlformats.org/officeDocument/2006/relationships/image" Target="media/image10.png" /><Relationship Id="rId5" Type="http://schemas.openxmlformats.org/officeDocument/2006/relationships/image" Target="media/image80.svg" /><Relationship Id="rId6" Type="http://schemas.openxmlformats.org/officeDocument/2006/relationships/image" Target="media/image81.svg" /><Relationship Id="rId7" Type="http://schemas.openxmlformats.org/officeDocument/2006/relationships/image" Target="media/image82.svg" /><Relationship Id="rId8" Type="http://schemas.openxmlformats.org/officeDocument/2006/relationships/image" Target="media/image83.svg"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5.xml" /><Relationship Id="rId2" Type="http://schemas.openxmlformats.org/officeDocument/2006/relationships/image" Target="media/image8.png" /><Relationship Id="rId5" Type="http://schemas.openxmlformats.org/officeDocument/2006/relationships/image" Target="media/image89.png" /><Relationship Id="rId3" Type="http://schemas.openxmlformats.org/officeDocument/2006/relationships/image" Target="media/image9.png" /><Relationship Id="rId4" Type="http://schemas.openxmlformats.org/officeDocument/2006/relationships/image" Target="media/image10.png" /><Relationship Id="rId6" Type="http://schemas.openxmlformats.org/officeDocument/2006/relationships/image" Target="media/image90.svg" /><Relationship Id="rId7" Type="http://schemas.openxmlformats.org/officeDocument/2006/relationships/image" Target="media/image91.png" /><Relationship Id="rId8" Type="http://schemas.openxmlformats.org/officeDocument/2006/relationships/image" Target="media/image92.png" /><Relationship Id="rId9" Type="http://schemas.openxmlformats.org/officeDocument/2006/relationships/image" Target="media/image93.png"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6.xml" /><Relationship Id="rId3" Type="http://schemas.openxmlformats.org/officeDocument/2006/relationships/image" Target="media/image9.png" /><Relationship Id="rId11" Type="http://schemas.openxmlformats.org/officeDocument/2006/relationships/image" Target="media/image98.png" /><Relationship Id="rId10" Type="http://schemas.openxmlformats.org/officeDocument/2006/relationships/image" Target="media/image97.png" /><Relationship Id="rId4" Type="http://schemas.openxmlformats.org/officeDocument/2006/relationships/image" Target="media/image10.png" /><Relationship Id="rId2" Type="http://schemas.openxmlformats.org/officeDocument/2006/relationships/image" Target="media/image8.png" /><Relationship Id="rId5" Type="http://schemas.openxmlformats.org/officeDocument/2006/relationships/image" Target="media/image94.png" /><Relationship Id="rId6" Type="http://schemas.openxmlformats.org/officeDocument/2006/relationships/image" Target="media/image95.svg" /><Relationship Id="rId7" Type="http://schemas.openxmlformats.org/officeDocument/2006/relationships/image" Target="media/image61.svg" /><Relationship Id="rId8" Type="http://schemas.openxmlformats.org/officeDocument/2006/relationships/image" Target="media/image96.png" /><Relationship Id="rId9" Type="http://schemas.openxmlformats.org/officeDocument/2006/relationships/image" Target="media/image43.svg"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4" Type="http://schemas.openxmlformats.org/officeDocument/2006/relationships/image" Target="media/image10.png" /><Relationship Id="rId2" Type="http://schemas.openxmlformats.org/officeDocument/2006/relationships/image" Target="media/image8.png" /><Relationship Id="rId1" Type="http://schemas.openxmlformats.org/officeDocument/2006/relationships/notesSlide" Target="../notesSlides/notesSlide17.xml" /><Relationship Id="rId3" Type="http://schemas.openxmlformats.org/officeDocument/2006/relationships/image" Target="media/image9.png" /><Relationship Id="rId5" Type="http://schemas.openxmlformats.org/officeDocument/2006/relationships/image" Target="media/image99.png" /></Relationships>
</file>

<file path=ppt/slides/_rels/slide26.xml.rels><?xml version="1.0" encoding="UTF-8" standalone="yes"?><Relationships xmlns="http://schemas.openxmlformats.org/package/2006/relationships"><Relationship Id="rId6" Type="http://schemas.openxmlformats.org/officeDocument/2006/relationships/image" Target="media/image101.svg" /><Relationship Id="rId4" Type="http://schemas.openxmlformats.org/officeDocument/2006/relationships/image" Target="media/image10.png" /><Relationship Id="rId0" Type="http://schemas.openxmlformats.org/officeDocument/2006/relationships/slideLayout" Target="../slideLayouts/slideLayout1.xml" /><Relationship Id="rId1" Type="http://schemas.openxmlformats.org/officeDocument/2006/relationships/notesSlide" Target="../notesSlides/notesSlide18.xml" /><Relationship Id="rId2" Type="http://schemas.openxmlformats.org/officeDocument/2006/relationships/image" Target="media/image8.png" /><Relationship Id="rId5" Type="http://schemas.openxmlformats.org/officeDocument/2006/relationships/image" Target="media/image100.png" /><Relationship Id="rId3" Type="http://schemas.openxmlformats.org/officeDocument/2006/relationships/image" Target="media/image9.png"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9.xml" /><Relationship Id="rId2" Type="http://schemas.openxmlformats.org/officeDocument/2006/relationships/image" Target="media/image8.png" /></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2"/>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3"/>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4"/>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5"/>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6"/>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7"/>
          <a:stretch>
            <a:fillRect/>
          </a:stretch>
        </p:blipFill>
        <p:spPr>
          <a:xfrm>
            <a:off x="10101383" y="2273111"/>
            <a:ext cx="2105868" cy="4595809"/>
          </a:xfrm>
          <a:prstGeom prst="rect">
            <a:avLst/>
          </a:prstGeom>
        </p:spPr>
      </p:pic>
      <p:pic>
        <p:nvPicPr>
          <p:cNvPr id="8"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9" name="Text 0"/>
          <p:cNvSpPr/>
          <p:nvPr/>
        </p:nvSpPr>
        <p:spPr>
          <a:xfrm>
            <a:off x="577080" y="4577763"/>
            <a:ext cx="3321262" cy="54422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2040">
                <a:solidFill>
                  <a:srgbClr val="000000"/>
                </a:solidFill>
              </a:rPr>
              <a:t>授课教师：</a:t>
            </a:r>
            <a:r>
              <a:rPr lang="zh-CN" altLang="en-US" sz="2040">
                <a:solidFill>
                  <a:srgbClr val="000000"/>
                </a:solidFill>
              </a:rPr>
              <a:t>张玉</a:t>
            </a:r>
            <a:endParaRPr lang="zh-CN" altLang="en-US" sz="2040">
              <a:solidFill>
                <a:srgbClr val="000000"/>
              </a:solidFill>
            </a:endParaRPr>
          </a:p>
        </p:txBody>
      </p:sp>
      <p:sp>
        <p:nvSpPr>
          <p:cNvPr id="10" name="Text 1"/>
          <p:cNvSpPr/>
          <p:nvPr/>
        </p:nvSpPr>
        <p:spPr>
          <a:xfrm>
            <a:off x="577068" y="1683313"/>
            <a:ext cx="5490553" cy="1828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6000">
                <a:solidFill>
                  <a:srgbClr val="FFFFFF"/>
                </a:solidFill>
              </a:rPr>
              <a:t>信息安全测评与风险评估</a:t>
            </a:r>
            <a:endParaRPr lang="en-US" sz="6000"/>
          </a:p>
        </p:txBody>
      </p:sp>
      <p:sp>
        <p:nvSpPr>
          <p:cNvPr id="11" name="Text 2"/>
          <p:cNvSpPr/>
          <p:nvPr/>
        </p:nvSpPr>
        <p:spPr>
          <a:xfrm>
            <a:off x="577068" y="3867726"/>
            <a:ext cx="4339657" cy="2590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FFFFFF"/>
                </a:solidFill>
                <a:latin typeface="思源黑体 CN" pitchFamily="34" charset="0"/>
                <a:ea typeface="思源黑体 CN" pitchFamily="34" charset="-122"/>
                <a:cs typeface="思源黑体 CN" pitchFamily="34" charset="-120"/>
              </a:rPr>
              <a:t>7.1.2 云安全配置核查</a:t>
            </a:r>
            <a:endParaRPr lang="en-US" sz="1680"/>
          </a:p>
        </p:txBody>
      </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hildTnLst>
                              <p:par>
                                <p:cTn id="1" presetID="10" presetClass="entr" presetSubtype="0" fill="hold" grpId="2" nodeType="withEffect">
                                  <p:stCondLst>
                                    <p:cond delay="0"/>
                                  </p:stCondLst>
                                  <p:childTnLst>
                                    <p:set>
                                      <p:cBhvr>
                                        <p:cTn id="2" dur="1" fill="hold">
                                          <p:stCondLst>
                                            <p:cond delay="0"/>
                                          </p:stCondLst>
                                        </p:cTn>
                                        <p:tgtEl>
                                          <p:spTgt spid="11"/>
                                        </p:tgtEl>
                                        <p:attrNameLst>
                                          <p:attrName>style.visibility</p:attrName>
                                        </p:attrNameLst>
                                      </p:cBhvr>
                                      <p:to>
                                        <p:strVal val="visible"/>
                                      </p:to>
                                    </p:set>
                                    <p:animEffect transition="in" filter="fade">
                                      <p:cBhvr>
                                        <p:cTn id="3" dur="750"/>
                                        <p:tgtEl>
                                          <p:spTgt spid="11"/>
                                        </p:tgtEl>
                                      </p:cBhvr>
                                    </p:animEffect>
                                  </p:childTnLst>
                                </p:cTn>
                              </p:par>
                              <p:par>
                                <p:cTn id="4" presetID="10" presetClass="entr" presetSubtype="0" fill="hold" grpId="3" nodeType="with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750"/>
                                        <p:tgtEl>
                                          <p:spTgt spid="9"/>
                                        </p:tgtEl>
                                      </p:cBhvr>
                                    </p:animEffect>
                                  </p:childTnLst>
                                </p:cTn>
                              </p:par>
                              <p:par>
                                <p:cTn id="7" presetID="10" presetClass="entr" presetSubtype="0" fill="hold" grpId="4"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750"/>
                                        <p:tgtEl>
                                          <p:spTgt spid="2"/>
                                        </p:tgtEl>
                                      </p:cBhvr>
                                    </p:animEffect>
                                  </p:childTnLst>
                                </p:cTn>
                              </p:par>
                              <p:par>
                                <p:cTn id="10" presetID="10" presetClass="entr" presetSubtype="0" fill="hold" grpId="5"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50"/>
                                        <p:tgtEl>
                                          <p:spTgt spid="6"/>
                                        </p:tgtEl>
                                      </p:cBhvr>
                                    </p:animEffect>
                                  </p:childTnLst>
                                </p:cTn>
                              </p:par>
                            </p:childTnLst>
                          </p:cTn>
                        </p:par>
                        <p:par>
                          <p:cTn fill="hold">
                            <p:stCondLst>
                              <p:cond delay="0"/>
                            </p:stCondLst>
                            <p:childTnLst>
                              <p:par>
                                <p:cTn id="13" presetID="10" presetClass="entr" presetSubtype="0" fill="hold" grpId="1"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50"/>
                                        <p:tgtEl>
                                          <p:spTgt spid="10"/>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288" name=""/>
        <p:cNvGrpSpPr/>
        <p:nvPr/>
      </p:nvGrpSpPr>
      <p:grpSpPr>
        <a:xfrm>
          <a:off x="0" y="0"/>
          <a:ext cx="0" cy="0"/>
          <a:chOff x="0" y="0"/>
          <a:chExt cx="0" cy="0"/>
        </a:xfrm>
      </p:grpSpPr>
      <p:pic>
        <p:nvPicPr>
          <p:cNvPr id="289"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290" name="Image 1" descr="https://oss.jianzeppt.com/editablePptPic/isIllustration_2_isShadow_0/963919ed-6c17-4175-b7cd-9f6f68e9281a_image_3d7a216c70ecba8f9c09a39add3fad53_6317120.png?x-oss-process=image/resize,w_1440,h_800,m_lfit/format,png"/>
          <p:cNvPicPr>
            <a:picLocks noChangeAspect="1"/>
          </p:cNvPicPr>
          <p:nvPr/>
        </p:nvPicPr>
        <p:blipFill>
          <a:blip r:embed="rId3"/>
          <a:stretch>
            <a:fillRect/>
          </a:stretch>
        </p:blipFill>
        <p:spPr>
          <a:xfrm>
            <a:off x="194345" y="245378"/>
            <a:ext cx="11803310" cy="6367244"/>
          </a:xfrm>
          <a:prstGeom prst="rect">
            <a:avLst/>
          </a:prstGeom>
        </p:spPr>
      </p:pic>
      <p:sp>
        <p:nvSpPr>
          <p:cNvPr id="291" name="Text 0"/>
          <p:cNvSpPr/>
          <p:nvPr/>
        </p:nvSpPr>
        <p:spPr>
          <a:xfrm>
            <a:off x="5769119" y="1653024"/>
            <a:ext cx="1267993" cy="512064"/>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01</a:t>
            </a:r>
            <a:endParaRPr lang="en-US" sz="3360"/>
          </a:p>
        </p:txBody>
      </p:sp>
      <p:sp>
        <p:nvSpPr>
          <p:cNvPr id="292" name="Text 1"/>
          <p:cNvSpPr/>
          <p:nvPr/>
        </p:nvSpPr>
        <p:spPr>
          <a:xfrm>
            <a:off x="5769119" y="2669616"/>
            <a:ext cx="1267993" cy="512064"/>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02</a:t>
            </a:r>
            <a:endParaRPr lang="en-US" sz="3360"/>
          </a:p>
        </p:txBody>
      </p:sp>
      <p:sp>
        <p:nvSpPr>
          <p:cNvPr id="293" name="Text 2"/>
          <p:cNvSpPr/>
          <p:nvPr/>
        </p:nvSpPr>
        <p:spPr>
          <a:xfrm>
            <a:off x="5769119" y="3686208"/>
            <a:ext cx="1267993" cy="512064"/>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03</a:t>
            </a:r>
            <a:endParaRPr lang="en-US" sz="3360"/>
          </a:p>
        </p:txBody>
      </p:sp>
      <p:sp>
        <p:nvSpPr>
          <p:cNvPr id="294" name="Text 3"/>
          <p:cNvSpPr/>
          <p:nvPr/>
        </p:nvSpPr>
        <p:spPr>
          <a:xfrm>
            <a:off x="5769119" y="4702801"/>
            <a:ext cx="1267993" cy="512064"/>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04</a:t>
            </a:r>
            <a:endParaRPr lang="en-US" sz="3360"/>
          </a:p>
        </p:txBody>
      </p:sp>
      <p:sp>
        <p:nvSpPr>
          <p:cNvPr id="295" name="Text 4"/>
          <p:cNvSpPr/>
          <p:nvPr/>
        </p:nvSpPr>
        <p:spPr>
          <a:xfrm>
            <a:off x="965498" y="2799393"/>
            <a:ext cx="1769654" cy="73152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4800">
                <a:solidFill>
                  <a:srgbClr val="000000"/>
                </a:solidFill>
              </a:rPr>
              <a:t>目录</a:t>
            </a:r>
            <a:endParaRPr lang="en-US" sz="4800"/>
          </a:p>
        </p:txBody>
      </p:sp>
      <p:sp>
        <p:nvSpPr>
          <p:cNvPr id="296" name="Text 5"/>
          <p:cNvSpPr/>
          <p:nvPr/>
        </p:nvSpPr>
        <p:spPr>
          <a:xfrm>
            <a:off x="953110" y="3733353"/>
            <a:ext cx="3150109" cy="31089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2040">
                <a:solidFill>
                  <a:srgbClr val="000000"/>
                </a:solidFill>
              </a:rPr>
              <a:t>CONTENTS</a:t>
            </a:r>
            <a:endParaRPr lang="en-US" sz="2040"/>
          </a:p>
        </p:txBody>
      </p:sp>
      <p:sp>
        <p:nvSpPr>
          <p:cNvPr id="297" name="Text 6"/>
          <p:cNvSpPr/>
          <p:nvPr/>
        </p:nvSpPr>
        <p:spPr>
          <a:xfrm>
            <a:off x="7064048" y="4727345"/>
            <a:ext cx="4878288" cy="9144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云计算安全扩展要求——在等保标准中的定位</a:t>
            </a:r>
            <a:endParaRPr lang="en-US" sz="3000"/>
          </a:p>
        </p:txBody>
      </p:sp>
      <p:sp>
        <p:nvSpPr>
          <p:cNvPr id="298" name="Text 7"/>
          <p:cNvSpPr/>
          <p:nvPr/>
        </p:nvSpPr>
        <p:spPr>
          <a:xfrm>
            <a:off x="7064048" y="1677568"/>
            <a:ext cx="4878288" cy="9144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案例导入——“一个配置错误，百万数据泄露”</a:t>
            </a:r>
            <a:endParaRPr lang="en-US" sz="3000"/>
          </a:p>
        </p:txBody>
      </p:sp>
      <p:sp>
        <p:nvSpPr>
          <p:cNvPr id="299" name="Text 8"/>
          <p:cNvSpPr/>
          <p:nvPr/>
        </p:nvSpPr>
        <p:spPr>
          <a:xfrm>
            <a:off x="7064048" y="3710752"/>
            <a:ext cx="4878288" cy="9144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复习导入——回顾云平台架构与责任共担</a:t>
            </a:r>
            <a:endParaRPr lang="en-US" sz="3000"/>
          </a:p>
        </p:txBody>
      </p:sp>
      <p:sp>
        <p:nvSpPr>
          <p:cNvPr id="300" name="Text 9"/>
          <p:cNvSpPr/>
          <p:nvPr/>
        </p:nvSpPr>
        <p:spPr>
          <a:xfrm>
            <a:off x="7064048" y="2694160"/>
            <a:ext cx="4878288"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学习目标</a:t>
            </a:r>
            <a:endParaRPr lang="en-US" sz="3000"/>
          </a:p>
        </p:txBody>
      </p:sp>
    </p:spTree>
  </p:cSld>
  <p:clrMapOvr>
    <a:masterClrMapping/>
  </p:clrMapOvr>
  <p:transition/>
</p:sld>
</file>

<file path=ppt/slides/slide3.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496" name=""/>
        <p:cNvGrpSpPr/>
        <p:nvPr/>
      </p:nvGrpSpPr>
      <p:grpSpPr>
        <a:xfrm>
          <a:off x="0" y="0"/>
          <a:ext cx="0" cy="0"/>
          <a:chOff x="0" y="0"/>
          <a:chExt cx="0" cy="0"/>
        </a:xfrm>
      </p:grpSpPr>
      <p:pic>
        <p:nvPicPr>
          <p:cNvPr id="497"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498"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499"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500"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案例导入——“一个配置错误，百万数据泄露”</a:t>
            </a:r>
            <a:endParaRPr lang="en-US" sz="2760"/>
          </a:p>
        </p:txBody>
      </p:sp>
      <p:grpSp>
        <p:nvGrpSpPr>
          <p:cNvPr id="501" name="组合 34"/>
          <p:cNvGrpSpPr/>
          <p:nvPr/>
        </p:nvGrpSpPr>
        <p:grpSpPr>
          <a:xfrm>
            <a:off x="5242560" y="1371600"/>
            <a:ext cx="6339840" cy="1188720"/>
            <a:chOff x="-635000" y="-635000"/>
            <a:chExt cx="6339840" cy="1188720"/>
          </a:xfrm>
        </p:grpSpPr>
        <p:pic>
          <p:nvPicPr>
            <p:cNvPr id="502" name="Image 3" descr="TEMP_Z_ORDER_4"/>
            <p:cNvPicPr>
              <a:picLocks noChangeAspect="1"/>
            </p:cNvPicPr>
            <p:nvPr/>
          </p:nvPicPr>
          <p:blipFill>
            <a:blip>
              <a:extLst>
                <a:ext uri="{96DAC541-7B7A-43D3-8B79-37D633B846F1}">
                  <asvg:svgBlip r:embed="rId5"/>
                </a:ext>
              </a:extLst>
            </a:blip>
            <a:stretch>
              <a:fillRect/>
            </a:stretch>
          </p:blipFill>
          <p:spPr>
            <a:xfrm>
              <a:off x="-635000" y="-635000"/>
              <a:ext cx="6339840" cy="1188720"/>
            </a:xfrm>
            <a:prstGeom prst="rect">
              <a:avLst/>
            </a:prstGeom>
          </p:spPr>
        </p:pic>
        <p:sp>
          <p:nvSpPr>
            <p:cNvPr id="503" name="Text 1" descr="TEMP_Z_ORDER_5"/>
            <p:cNvSpPr/>
            <p:nvPr/>
          </p:nvSpPr>
          <p:spPr>
            <a:xfrm>
              <a:off x="-391160" y="-452120"/>
              <a:ext cx="5922264" cy="80628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000000"/>
                  </a:solidFill>
                  <a:latin typeface="思源黑体 CN Bold" pitchFamily="34" charset="0"/>
                  <a:ea typeface="思源黑体 CN Bold" pitchFamily="34" charset="-122"/>
                  <a:cs typeface="思源黑体 CN Bold" pitchFamily="34" charset="-120"/>
                </a:rPr>
                <a:t>引入问题 云平台配置好了，但——你真的“配置安全”了吗？</a:t>
              </a:r>
              <a:endParaRPr lang="en-US" sz="2160"/>
            </a:p>
          </p:txBody>
        </p:sp>
      </p:grpSp>
      <p:grpSp>
        <p:nvGrpSpPr>
          <p:cNvPr id="504" name="组合 37"/>
          <p:cNvGrpSpPr/>
          <p:nvPr/>
        </p:nvGrpSpPr>
        <p:grpSpPr>
          <a:xfrm>
            <a:off x="5242560" y="2804160"/>
            <a:ext cx="6339840" cy="883920"/>
            <a:chOff x="-635000" y="-635000"/>
            <a:chExt cx="6339840" cy="883920"/>
          </a:xfrm>
        </p:grpSpPr>
        <p:pic>
          <p:nvPicPr>
            <p:cNvPr id="505" name="Image 4" descr="TEMP_Z_ORDER_6"/>
            <p:cNvPicPr>
              <a:picLocks noChangeAspect="1"/>
            </p:cNvPicPr>
            <p:nvPr/>
          </p:nvPicPr>
          <p:blipFill>
            <a:blip r:embed="rId6"/>
            <a:stretch>
              <a:fillRect/>
            </a:stretch>
          </p:blipFill>
          <p:spPr>
            <a:xfrm>
              <a:off x="-635000" y="-635000"/>
              <a:ext cx="6339840" cy="883920"/>
            </a:xfrm>
            <a:prstGeom prst="rect">
              <a:avLst/>
            </a:prstGeom>
          </p:spPr>
        </p:pic>
        <p:pic>
          <p:nvPicPr>
            <p:cNvPr id="506" name="Image 5" descr="TEMP_Z_ORDER_7"/>
            <p:cNvPicPr>
              <a:picLocks noChangeAspect="1"/>
            </p:cNvPicPr>
            <p:nvPr/>
          </p:nvPicPr>
          <p:blipFill>
            <a:blip r:embed="rId7"/>
            <a:stretch>
              <a:fillRect/>
            </a:stretch>
          </p:blipFill>
          <p:spPr>
            <a:xfrm>
              <a:off x="-375920" y="-299720"/>
              <a:ext cx="304800" cy="304800"/>
            </a:xfrm>
            <a:prstGeom prst="rect">
              <a:avLst/>
            </a:prstGeom>
          </p:spPr>
        </p:pic>
        <p:sp>
          <p:nvSpPr>
            <p:cNvPr id="507" name="Text 2" descr="TEMP_Z_ORDER_8"/>
            <p:cNvSpPr/>
            <p:nvPr/>
          </p:nvSpPr>
          <p:spPr>
            <a:xfrm>
              <a:off x="50799" y="-376537"/>
              <a:ext cx="1231392" cy="443193"/>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案例素材</a:t>
              </a:r>
              <a:endParaRPr lang="en-US" sz="2400"/>
            </a:p>
          </p:txBody>
        </p:sp>
      </p:grpSp>
      <p:grpSp>
        <p:nvGrpSpPr>
          <p:cNvPr id="508" name="组合 20"/>
          <p:cNvGrpSpPr/>
          <p:nvPr/>
        </p:nvGrpSpPr>
        <p:grpSpPr>
          <a:xfrm>
            <a:off x="5242560" y="3535680"/>
            <a:ext cx="6339840" cy="883920"/>
            <a:chOff x="-635000" y="-635000"/>
            <a:chExt cx="6339840" cy="883920"/>
          </a:xfrm>
        </p:grpSpPr>
        <p:pic>
          <p:nvPicPr>
            <p:cNvPr id="509" name="Image 6" descr="TEMP_Z_ORDER_9"/>
            <p:cNvPicPr>
              <a:picLocks noChangeAspect="1"/>
            </p:cNvPicPr>
            <p:nvPr/>
          </p:nvPicPr>
          <p:blipFill>
            <a:blip r:embed="rId6"/>
            <a:stretch>
              <a:fillRect/>
            </a:stretch>
          </p:blipFill>
          <p:spPr>
            <a:xfrm>
              <a:off x="-635000" y="-635000"/>
              <a:ext cx="6339840" cy="883920"/>
            </a:xfrm>
            <a:prstGeom prst="rect">
              <a:avLst/>
            </a:prstGeom>
          </p:spPr>
        </p:pic>
        <p:pic>
          <p:nvPicPr>
            <p:cNvPr id="510" name="Image 7" descr="TEMP_Z_ORDER_10"/>
            <p:cNvPicPr>
              <a:picLocks noChangeAspect="1"/>
            </p:cNvPicPr>
            <p:nvPr/>
          </p:nvPicPr>
          <p:blipFill>
            <a:blip r:embed="rId8"/>
            <a:stretch>
              <a:fillRect/>
            </a:stretch>
          </p:blipFill>
          <p:spPr>
            <a:xfrm>
              <a:off x="-375920" y="-299720"/>
              <a:ext cx="304800" cy="304800"/>
            </a:xfrm>
            <a:prstGeom prst="rect">
              <a:avLst/>
            </a:prstGeom>
          </p:spPr>
        </p:pic>
        <p:sp>
          <p:nvSpPr>
            <p:cNvPr id="511" name="Text 3" descr="TEMP_Z_ORDER_11"/>
            <p:cNvSpPr/>
            <p:nvPr/>
          </p:nvSpPr>
          <p:spPr>
            <a:xfrm>
              <a:off x="50799" y="-376537"/>
              <a:ext cx="1231392" cy="443193"/>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问题讨论</a:t>
              </a:r>
              <a:endParaRPr lang="en-US" sz="2400"/>
            </a:p>
          </p:txBody>
        </p:sp>
      </p:grpSp>
      <p:grpSp>
        <p:nvGrpSpPr>
          <p:cNvPr id="512" name="组合 26"/>
          <p:cNvGrpSpPr/>
          <p:nvPr/>
        </p:nvGrpSpPr>
        <p:grpSpPr>
          <a:xfrm>
            <a:off x="5242560" y="5095875"/>
            <a:ext cx="6339840" cy="1304925"/>
            <a:chOff x="-635000" y="-635000"/>
            <a:chExt cx="6339840" cy="1524000"/>
          </a:xfrm>
        </p:grpSpPr>
        <p:pic>
          <p:nvPicPr>
            <p:cNvPr id="513" name="Image 8" descr="TEMP_Z_ORDER_12"/>
            <p:cNvPicPr>
              <a:picLocks noChangeAspect="1"/>
            </p:cNvPicPr>
            <p:nvPr/>
          </p:nvPicPr>
          <p:blipFill>
            <a:blip>
              <a:extLst>
                <a:ext uri="{96DAC541-7B7A-43D3-8B79-37D633B846F1}">
                  <asvg:svgBlip r:embed="rId9"/>
                </a:ext>
              </a:extLst>
            </a:blip>
            <a:stretch>
              <a:fillRect/>
            </a:stretch>
          </p:blipFill>
          <p:spPr>
            <a:xfrm>
              <a:off x="-635000" y="-635000"/>
              <a:ext cx="6339840" cy="1524000"/>
            </a:xfrm>
            <a:prstGeom prst="rect">
              <a:avLst/>
            </a:prstGeom>
          </p:spPr>
        </p:pic>
        <p:pic>
          <p:nvPicPr>
            <p:cNvPr id="514" name="Image 9" descr="TEMP_Z_ORDER_13"/>
            <p:cNvPicPr>
              <a:picLocks noChangeAspect="1"/>
            </p:cNvPicPr>
            <p:nvPr/>
          </p:nvPicPr>
          <p:blipFill>
            <a:blip r:embed="rId10"/>
            <a:stretch>
              <a:fillRect/>
            </a:stretch>
          </p:blipFill>
          <p:spPr>
            <a:xfrm>
              <a:off x="-452120" y="-147320"/>
              <a:ext cx="548640" cy="548640"/>
            </a:xfrm>
            <a:prstGeom prst="rect">
              <a:avLst/>
            </a:prstGeom>
          </p:spPr>
        </p:pic>
        <p:pic>
          <p:nvPicPr>
            <p:cNvPr id="515" name="Image 10" descr="TEMP_Z_ORDER_14"/>
            <p:cNvPicPr>
              <a:picLocks noChangeAspect="1"/>
            </p:cNvPicPr>
            <p:nvPr/>
          </p:nvPicPr>
          <p:blipFill>
            <a:blip r:embed="rId11"/>
            <a:stretch>
              <a:fillRect/>
            </a:stretch>
          </p:blipFill>
          <p:spPr>
            <a:xfrm>
              <a:off x="-360680" y="-55880"/>
              <a:ext cx="365760" cy="365760"/>
            </a:xfrm>
            <a:prstGeom prst="rect">
              <a:avLst/>
            </a:prstGeom>
          </p:spPr>
        </p:pic>
        <p:sp>
          <p:nvSpPr>
            <p:cNvPr id="516" name="Text 4" descr="TEMP_Z_ORDER_15"/>
            <p:cNvSpPr/>
            <p:nvPr/>
          </p:nvSpPr>
          <p:spPr>
            <a:xfrm>
              <a:off x="279399" y="-452120"/>
              <a:ext cx="5251704" cy="125998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7000"/>
                </a:lnSpc>
                <a:buNone/>
              </a:pPr>
              <a:r>
                <a:rPr lang="en-US" sz="2000" b="1">
                  <a:solidFill>
                    <a:srgbClr val="FFFFFF"/>
                  </a:solidFill>
                  <a:latin typeface="思源黑体 CN Bold" pitchFamily="34" charset="0"/>
                  <a:ea typeface="思源黑体 CN Bold" pitchFamily="34" charset="-122"/>
                  <a:cs typeface="思源黑体 CN Bold" pitchFamily="34" charset="-120"/>
                </a:rPr>
                <a:t>结论： 云平台配置错误是云安全风险的主要来源之一。等保测评中，需要对云平台的安全配置进行逐项核查。</a:t>
              </a:r>
              <a:endParaRPr lang="en-US" sz="2000" b="1">
                <a:solidFill>
                  <a:srgbClr val="FFFFFF"/>
                </a:solidFill>
                <a:latin typeface="思源黑体 CN Bold" pitchFamily="34" charset="0"/>
                <a:ea typeface="思源黑体 CN Bold" pitchFamily="34" charset="-122"/>
                <a:cs typeface="思源黑体 CN Bold" pitchFamily="34" charset="-120"/>
              </a:endParaRPr>
            </a:p>
          </p:txBody>
        </p:sp>
      </p:grpSp>
      <p:grpSp>
        <p:nvGrpSpPr>
          <p:cNvPr id="517" name="组合 31"/>
          <p:cNvGrpSpPr/>
          <p:nvPr/>
        </p:nvGrpSpPr>
        <p:grpSpPr>
          <a:xfrm>
            <a:off x="609600" y="1371600"/>
            <a:ext cx="4267200" cy="5038725"/>
            <a:chOff x="-635000" y="-635000"/>
            <a:chExt cx="4267200" cy="5181600"/>
          </a:xfrm>
        </p:grpSpPr>
        <p:pic>
          <p:nvPicPr>
            <p:cNvPr id="518" name="Image 11" descr="TEMP_Z_ORDER_16"/>
            <p:cNvPicPr>
              <a:picLocks noChangeAspect="1"/>
            </p:cNvPicPr>
            <p:nvPr/>
          </p:nvPicPr>
          <p:blipFill>
            <a:blip>
              <a:extLst>
                <a:ext uri="{96DAC541-7B7A-43D3-8B79-37D633B846F1}">
                  <asvg:svgBlip r:embed="rId12"/>
                </a:ext>
              </a:extLst>
            </a:blip>
            <a:stretch>
              <a:fillRect/>
            </a:stretch>
          </p:blipFill>
          <p:spPr>
            <a:xfrm>
              <a:off x="-635000" y="-635000"/>
              <a:ext cx="4267200" cy="5181600"/>
            </a:xfrm>
            <a:prstGeom prst="rect">
              <a:avLst/>
            </a:prstGeom>
            <a:effectLst>
              <a:outerShdw blurRad="228600" dist="152400" dir="5400000" algn="bl" rotWithShape="0">
                <a:srgbClr val="000000">
                  <a:alpha val="10000"/>
                </a:srgbClr>
              </a:outerShdw>
            </a:effectLst>
          </p:spPr>
        </p:pic>
        <p:pic>
          <p:nvPicPr>
            <p:cNvPr id="519" name="Image 12" descr="TEMP_Z_ORDER_17"/>
            <p:cNvPicPr>
              <a:picLocks noChangeAspect="1"/>
            </p:cNvPicPr>
            <p:nvPr/>
          </p:nvPicPr>
          <p:blipFill>
            <a:blip r:embed="rId13"/>
            <a:stretch>
              <a:fillRect/>
            </a:stretch>
          </p:blipFill>
          <p:spPr>
            <a:xfrm>
              <a:off x="-619760" y="-619760"/>
              <a:ext cx="4236720" cy="5151120"/>
            </a:xfrm>
            <a:prstGeom prst="rect">
              <a:avLst/>
            </a:prstGeom>
          </p:spPr>
        </p:pic>
      </p:grpSp>
      <p:grpSp>
        <p:nvGrpSpPr>
          <p:cNvPr id="520" name="组合 24"/>
          <p:cNvGrpSpPr/>
          <p:nvPr/>
        </p:nvGrpSpPr>
        <p:grpSpPr>
          <a:xfrm>
            <a:off x="5684520" y="4402773"/>
            <a:ext cx="5859780" cy="368935"/>
            <a:chOff x="-635000" y="-453707"/>
            <a:chExt cx="5632704" cy="368935"/>
          </a:xfrm>
        </p:grpSpPr>
        <p:sp>
          <p:nvSpPr>
            <p:cNvPr id="521" name="Text 5" descr="TEMP_Z_ORDER_18"/>
            <p:cNvSpPr/>
            <p:nvPr/>
          </p:nvSpPr>
          <p:spPr>
            <a:xfrm>
              <a:off x="-635000" y="-453707"/>
              <a:ext cx="5632704" cy="36893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002060"/>
                  </a:solidFill>
                  <a:latin typeface="思源黑体 CN Regular" pitchFamily="34" charset="0"/>
                  <a:ea typeface="思源黑体 CN Regular" pitchFamily="34" charset="-122"/>
                  <a:cs typeface="思源黑体 CN Regular" pitchFamily="34" charset="-120"/>
                </a:rPr>
                <a:t>这个数据泄露事件，是云服务商的责任还是客户的责任？</a:t>
              </a:r>
              <a:endParaRPr lang="en-US" sz="1920">
                <a:solidFill>
                  <a:srgbClr val="002060"/>
                </a:solidFill>
                <a:latin typeface="思源黑体 CN Regular" pitchFamily="34" charset="0"/>
                <a:ea typeface="思源黑体 CN Regular" pitchFamily="34" charset="-122"/>
                <a:cs typeface="思源黑体 CN Regular" pitchFamily="34" charset="-120"/>
              </a:endParaRPr>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hildTnLst>
                              <p:par>
                                <p:cTn id="233" presetID="31" presetClass="entr" presetSubtype="0" fill="hold" grpId="6" nodeType="withEffect">
                                  <p:stCondLst>
                                    <p:cond delay="0"/>
                                  </p:stCondLst>
                                  <p:iterate type="lt">
                                    <p:tmPct val="5000"/>
                                  </p:iterate>
                                  <p:childTnLst>
                                    <p:set>
                                      <p:cBhvr>
                                        <p:cTn id="234" dur="1" fill="hold">
                                          <p:stCondLst>
                                            <p:cond delay="0"/>
                                          </p:stCondLst>
                                        </p:cTn>
                                        <p:tgtEl>
                                          <p:spTgt spid="520"/>
                                        </p:tgtEl>
                                        <p:attrNameLst>
                                          <p:attrName>style.visibility</p:attrName>
                                        </p:attrNameLst>
                                      </p:cBhvr>
                                      <p:to>
                                        <p:strVal val="visible"/>
                                      </p:to>
                                    </p:set>
                                    <p:anim calcmode="lin" valueType="num">
                                      <p:cBhvr>
                                        <p:cTn id="235" dur="750" fill="hold"/>
                                        <p:tgtEl>
                                          <p:spTgt spid="520"/>
                                        </p:tgtEl>
                                        <p:attrNameLst>
                                          <p:attrName>ppt_w</p:attrName>
                                        </p:attrNameLst>
                                      </p:cBhvr>
                                      <p:tavLst>
                                        <p:tav tm="0">
                                          <p:val>
                                            <p:fltVal val="0"/>
                                          </p:val>
                                        </p:tav>
                                        <p:tav tm="100000">
                                          <p:val>
                                            <p:strVal val="#ppt_w"/>
                                          </p:val>
                                        </p:tav>
                                      </p:tavLst>
                                    </p:anim>
                                    <p:anim calcmode="lin" valueType="num">
                                      <p:cBhvr>
                                        <p:cTn id="236" dur="750" fill="hold"/>
                                        <p:tgtEl>
                                          <p:spTgt spid="520"/>
                                        </p:tgtEl>
                                        <p:attrNameLst>
                                          <p:attrName>ppt_h</p:attrName>
                                        </p:attrNameLst>
                                      </p:cBhvr>
                                      <p:tavLst>
                                        <p:tav tm="0">
                                          <p:val>
                                            <p:fltVal val="0"/>
                                          </p:val>
                                        </p:tav>
                                        <p:tav tm="100000">
                                          <p:val>
                                            <p:strVal val="#ppt_h"/>
                                          </p:val>
                                        </p:tav>
                                      </p:tavLst>
                                    </p:anim>
                                    <p:anim calcmode="lin" valueType="num">
                                      <p:cBhvr>
                                        <p:cTn id="237" dur="750" fill="hold"/>
                                        <p:tgtEl>
                                          <p:spTgt spid="520"/>
                                        </p:tgtEl>
                                        <p:attrNameLst>
                                          <p:attrName>style.rotation</p:attrName>
                                        </p:attrNameLst>
                                      </p:cBhvr>
                                      <p:tavLst>
                                        <p:tav tm="0">
                                          <p:val>
                                            <p:fltVal val="90"/>
                                          </p:val>
                                        </p:tav>
                                        <p:tav tm="100000">
                                          <p:val>
                                            <p:fltVal val="0"/>
                                          </p:val>
                                        </p:tav>
                                      </p:tavLst>
                                    </p:anim>
                                    <p:animEffect transition="in" filter="fade">
                                      <p:cBhvr>
                                        <p:cTn id="238" dur="750"/>
                                        <p:tgtEl>
                                          <p:spTgt spid="520"/>
                                        </p:tgtEl>
                                      </p:cBhvr>
                                    </p:animEffect>
                                  </p:childTnLst>
                                </p:cTn>
                              </p:par>
                            </p:childTnLst>
                          </p:cTn>
                        </p:par>
                        <p:par>
                          <p:cTn fill="hold">
                            <p:stCondLst>
                              <p:cond delay="0"/>
                            </p:stCondLst>
                            <p:childTnLst>
                              <p:par>
                                <p:cTn id="239" presetID="10" presetClass="entr" presetSubtype="0" fill="hold" grpId="1" nodeType="afterEffect">
                                  <p:stCondLst>
                                    <p:cond delay="0"/>
                                  </p:stCondLst>
                                  <p:childTnLst>
                                    <p:set>
                                      <p:cBhvr>
                                        <p:cTn id="240" dur="1" fill="hold">
                                          <p:stCondLst>
                                            <p:cond delay="0"/>
                                          </p:stCondLst>
                                        </p:cTn>
                                        <p:tgtEl>
                                          <p:spTgt spid="500"/>
                                        </p:tgtEl>
                                        <p:attrNameLst>
                                          <p:attrName>style.visibility</p:attrName>
                                        </p:attrNameLst>
                                      </p:cBhvr>
                                      <p:to>
                                        <p:strVal val="visible"/>
                                      </p:to>
                                    </p:set>
                                    <p:animEffect transition="in" filter="fade">
                                      <p:cBhvr>
                                        <p:cTn id="241" dur="750"/>
                                        <p:tgtEl>
                                          <p:spTgt spid="500"/>
                                        </p:tgtEl>
                                      </p:cBhvr>
                                    </p:animEffect>
                                  </p:childTnLst>
                                </p:cTn>
                              </p:par>
                            </p:childTnLst>
                          </p:cTn>
                        </p:par>
                        <p:par>
                          <p:cTn fill="hold">
                            <p:stCondLst>
                              <p:cond delay="0"/>
                            </p:stCondLst>
                            <p:childTnLst>
                              <p:par>
                                <p:cTn id="242" presetID="31" presetClass="entr" presetSubtype="0" fill="hold" grpId="2" nodeType="afterEffect">
                                  <p:stCondLst>
                                    <p:cond delay="0"/>
                                  </p:stCondLst>
                                  <p:iterate type="lt">
                                    <p:tmPct val="5000"/>
                                  </p:iterate>
                                  <p:childTnLst>
                                    <p:set>
                                      <p:cBhvr>
                                        <p:cTn id="243" dur="1" fill="hold">
                                          <p:stCondLst>
                                            <p:cond delay="0"/>
                                          </p:stCondLst>
                                        </p:cTn>
                                        <p:tgtEl>
                                          <p:spTgt spid="517"/>
                                        </p:tgtEl>
                                        <p:attrNameLst>
                                          <p:attrName>style.visibility</p:attrName>
                                        </p:attrNameLst>
                                      </p:cBhvr>
                                      <p:to>
                                        <p:strVal val="visible"/>
                                      </p:to>
                                    </p:set>
                                    <p:anim calcmode="lin" valueType="num">
                                      <p:cBhvr>
                                        <p:cTn id="244" dur="750" fill="hold"/>
                                        <p:tgtEl>
                                          <p:spTgt spid="517"/>
                                        </p:tgtEl>
                                        <p:attrNameLst>
                                          <p:attrName>ppt_w</p:attrName>
                                        </p:attrNameLst>
                                      </p:cBhvr>
                                      <p:tavLst>
                                        <p:tav tm="0">
                                          <p:val>
                                            <p:fltVal val="0"/>
                                          </p:val>
                                        </p:tav>
                                        <p:tav tm="100000">
                                          <p:val>
                                            <p:strVal val="#ppt_w"/>
                                          </p:val>
                                        </p:tav>
                                      </p:tavLst>
                                    </p:anim>
                                    <p:anim calcmode="lin" valueType="num">
                                      <p:cBhvr>
                                        <p:cTn id="245" dur="750" fill="hold"/>
                                        <p:tgtEl>
                                          <p:spTgt spid="517"/>
                                        </p:tgtEl>
                                        <p:attrNameLst>
                                          <p:attrName>ppt_h</p:attrName>
                                        </p:attrNameLst>
                                      </p:cBhvr>
                                      <p:tavLst>
                                        <p:tav tm="0">
                                          <p:val>
                                            <p:fltVal val="0"/>
                                          </p:val>
                                        </p:tav>
                                        <p:tav tm="100000">
                                          <p:val>
                                            <p:strVal val="#ppt_h"/>
                                          </p:val>
                                        </p:tav>
                                      </p:tavLst>
                                    </p:anim>
                                    <p:anim calcmode="lin" valueType="num">
                                      <p:cBhvr>
                                        <p:cTn id="246" dur="750" fill="hold"/>
                                        <p:tgtEl>
                                          <p:spTgt spid="517"/>
                                        </p:tgtEl>
                                        <p:attrNameLst>
                                          <p:attrName>style.rotation</p:attrName>
                                        </p:attrNameLst>
                                      </p:cBhvr>
                                      <p:tavLst>
                                        <p:tav tm="0">
                                          <p:val>
                                            <p:fltVal val="90"/>
                                          </p:val>
                                        </p:tav>
                                        <p:tav tm="100000">
                                          <p:val>
                                            <p:fltVal val="0"/>
                                          </p:val>
                                        </p:tav>
                                      </p:tavLst>
                                    </p:anim>
                                    <p:animEffect transition="in" filter="fade">
                                      <p:cBhvr>
                                        <p:cTn id="247" dur="750"/>
                                        <p:tgtEl>
                                          <p:spTgt spid="517"/>
                                        </p:tgtEl>
                                      </p:cBhvr>
                                    </p:animEffect>
                                  </p:childTnLst>
                                </p:cTn>
                              </p:par>
                            </p:childTnLst>
                          </p:cTn>
                        </p:par>
                        <p:par>
                          <p:cTn fill="hold">
                            <p:stCondLst>
                              <p:cond delay="0"/>
                            </p:stCondLst>
                            <p:childTnLst>
                              <p:par>
                                <p:cTn id="248" presetID="31" presetClass="entr" presetSubtype="0" fill="hold" grpId="3" nodeType="afterEffect">
                                  <p:stCondLst>
                                    <p:cond delay="0"/>
                                  </p:stCondLst>
                                  <p:iterate type="lt">
                                    <p:tmPct val="5000"/>
                                  </p:iterate>
                                  <p:childTnLst>
                                    <p:set>
                                      <p:cBhvr>
                                        <p:cTn id="249" dur="1" fill="hold">
                                          <p:stCondLst>
                                            <p:cond delay="0"/>
                                          </p:stCondLst>
                                        </p:cTn>
                                        <p:tgtEl>
                                          <p:spTgt spid="501"/>
                                        </p:tgtEl>
                                        <p:attrNameLst>
                                          <p:attrName>style.visibility</p:attrName>
                                        </p:attrNameLst>
                                      </p:cBhvr>
                                      <p:to>
                                        <p:strVal val="visible"/>
                                      </p:to>
                                    </p:set>
                                    <p:anim calcmode="lin" valueType="num">
                                      <p:cBhvr>
                                        <p:cTn id="250" dur="750" fill="hold"/>
                                        <p:tgtEl>
                                          <p:spTgt spid="501"/>
                                        </p:tgtEl>
                                        <p:attrNameLst>
                                          <p:attrName>ppt_w</p:attrName>
                                        </p:attrNameLst>
                                      </p:cBhvr>
                                      <p:tavLst>
                                        <p:tav tm="0">
                                          <p:val>
                                            <p:fltVal val="0"/>
                                          </p:val>
                                        </p:tav>
                                        <p:tav tm="100000">
                                          <p:val>
                                            <p:strVal val="#ppt_w"/>
                                          </p:val>
                                        </p:tav>
                                      </p:tavLst>
                                    </p:anim>
                                    <p:anim calcmode="lin" valueType="num">
                                      <p:cBhvr>
                                        <p:cTn id="251" dur="750" fill="hold"/>
                                        <p:tgtEl>
                                          <p:spTgt spid="501"/>
                                        </p:tgtEl>
                                        <p:attrNameLst>
                                          <p:attrName>ppt_h</p:attrName>
                                        </p:attrNameLst>
                                      </p:cBhvr>
                                      <p:tavLst>
                                        <p:tav tm="0">
                                          <p:val>
                                            <p:fltVal val="0"/>
                                          </p:val>
                                        </p:tav>
                                        <p:tav tm="100000">
                                          <p:val>
                                            <p:strVal val="#ppt_h"/>
                                          </p:val>
                                        </p:tav>
                                      </p:tavLst>
                                    </p:anim>
                                    <p:anim calcmode="lin" valueType="num">
                                      <p:cBhvr>
                                        <p:cTn id="252" dur="750" fill="hold"/>
                                        <p:tgtEl>
                                          <p:spTgt spid="501"/>
                                        </p:tgtEl>
                                        <p:attrNameLst>
                                          <p:attrName>style.rotation</p:attrName>
                                        </p:attrNameLst>
                                      </p:cBhvr>
                                      <p:tavLst>
                                        <p:tav tm="0">
                                          <p:val>
                                            <p:fltVal val="90"/>
                                          </p:val>
                                        </p:tav>
                                        <p:tav tm="100000">
                                          <p:val>
                                            <p:fltVal val="0"/>
                                          </p:val>
                                        </p:tav>
                                      </p:tavLst>
                                    </p:anim>
                                    <p:animEffect transition="in" filter="fade">
                                      <p:cBhvr>
                                        <p:cTn id="253" dur="750"/>
                                        <p:tgtEl>
                                          <p:spTgt spid="501"/>
                                        </p:tgtEl>
                                      </p:cBhvr>
                                    </p:animEffect>
                                  </p:childTnLst>
                                </p:cTn>
                              </p:par>
                            </p:childTnLst>
                          </p:cTn>
                        </p:par>
                        <p:par>
                          <p:cTn fill="hold">
                            <p:stCondLst>
                              <p:cond delay="0"/>
                            </p:stCondLst>
                            <p:childTnLst>
                              <p:par>
                                <p:cTn id="254" presetID="31" presetClass="entr" presetSubtype="0" fill="hold" grpId="4" nodeType="afterEffect">
                                  <p:stCondLst>
                                    <p:cond delay="0"/>
                                  </p:stCondLst>
                                  <p:iterate type="lt">
                                    <p:tmPct val="5000"/>
                                  </p:iterate>
                                  <p:childTnLst>
                                    <p:set>
                                      <p:cBhvr>
                                        <p:cTn id="255" dur="1" fill="hold">
                                          <p:stCondLst>
                                            <p:cond delay="0"/>
                                          </p:stCondLst>
                                        </p:cTn>
                                        <p:tgtEl>
                                          <p:spTgt spid="504"/>
                                        </p:tgtEl>
                                        <p:attrNameLst>
                                          <p:attrName>style.visibility</p:attrName>
                                        </p:attrNameLst>
                                      </p:cBhvr>
                                      <p:to>
                                        <p:strVal val="visible"/>
                                      </p:to>
                                    </p:set>
                                    <p:anim calcmode="lin" valueType="num">
                                      <p:cBhvr>
                                        <p:cTn id="256" dur="750" fill="hold"/>
                                        <p:tgtEl>
                                          <p:spTgt spid="504"/>
                                        </p:tgtEl>
                                        <p:attrNameLst>
                                          <p:attrName>ppt_w</p:attrName>
                                        </p:attrNameLst>
                                      </p:cBhvr>
                                      <p:tavLst>
                                        <p:tav tm="0">
                                          <p:val>
                                            <p:fltVal val="0"/>
                                          </p:val>
                                        </p:tav>
                                        <p:tav tm="100000">
                                          <p:val>
                                            <p:strVal val="#ppt_w"/>
                                          </p:val>
                                        </p:tav>
                                      </p:tavLst>
                                    </p:anim>
                                    <p:anim calcmode="lin" valueType="num">
                                      <p:cBhvr>
                                        <p:cTn id="257" dur="750" fill="hold"/>
                                        <p:tgtEl>
                                          <p:spTgt spid="504"/>
                                        </p:tgtEl>
                                        <p:attrNameLst>
                                          <p:attrName>ppt_h</p:attrName>
                                        </p:attrNameLst>
                                      </p:cBhvr>
                                      <p:tavLst>
                                        <p:tav tm="0">
                                          <p:val>
                                            <p:fltVal val="0"/>
                                          </p:val>
                                        </p:tav>
                                        <p:tav tm="100000">
                                          <p:val>
                                            <p:strVal val="#ppt_h"/>
                                          </p:val>
                                        </p:tav>
                                      </p:tavLst>
                                    </p:anim>
                                    <p:anim calcmode="lin" valueType="num">
                                      <p:cBhvr>
                                        <p:cTn id="258" dur="750" fill="hold"/>
                                        <p:tgtEl>
                                          <p:spTgt spid="504"/>
                                        </p:tgtEl>
                                        <p:attrNameLst>
                                          <p:attrName>style.rotation</p:attrName>
                                        </p:attrNameLst>
                                      </p:cBhvr>
                                      <p:tavLst>
                                        <p:tav tm="0">
                                          <p:val>
                                            <p:fltVal val="90"/>
                                          </p:val>
                                        </p:tav>
                                        <p:tav tm="100000">
                                          <p:val>
                                            <p:fltVal val="0"/>
                                          </p:val>
                                        </p:tav>
                                      </p:tavLst>
                                    </p:anim>
                                    <p:animEffect transition="in" filter="fade">
                                      <p:cBhvr>
                                        <p:cTn id="259" dur="750"/>
                                        <p:tgtEl>
                                          <p:spTgt spid="504"/>
                                        </p:tgtEl>
                                      </p:cBhvr>
                                    </p:animEffect>
                                  </p:childTnLst>
                                </p:cTn>
                              </p:par>
                            </p:childTnLst>
                          </p:cTn>
                        </p:par>
                        <p:par>
                          <p:cTn fill="hold">
                            <p:stCondLst>
                              <p:cond delay="0"/>
                            </p:stCondLst>
                            <p:childTnLst>
                              <p:par>
                                <p:cTn id="260" presetID="31" presetClass="entr" presetSubtype="0" fill="hold" grpId="5" nodeType="afterEffect">
                                  <p:stCondLst>
                                    <p:cond delay="0"/>
                                  </p:stCondLst>
                                  <p:iterate type="lt">
                                    <p:tmPct val="5000"/>
                                  </p:iterate>
                                  <p:childTnLst>
                                    <p:set>
                                      <p:cBhvr>
                                        <p:cTn id="261" dur="1" fill="hold">
                                          <p:stCondLst>
                                            <p:cond delay="0"/>
                                          </p:stCondLst>
                                        </p:cTn>
                                        <p:tgtEl>
                                          <p:spTgt spid="508"/>
                                        </p:tgtEl>
                                        <p:attrNameLst>
                                          <p:attrName>style.visibility</p:attrName>
                                        </p:attrNameLst>
                                      </p:cBhvr>
                                      <p:to>
                                        <p:strVal val="visible"/>
                                      </p:to>
                                    </p:set>
                                    <p:anim calcmode="lin" valueType="num">
                                      <p:cBhvr>
                                        <p:cTn id="262" dur="750" fill="hold"/>
                                        <p:tgtEl>
                                          <p:spTgt spid="508"/>
                                        </p:tgtEl>
                                        <p:attrNameLst>
                                          <p:attrName>ppt_w</p:attrName>
                                        </p:attrNameLst>
                                      </p:cBhvr>
                                      <p:tavLst>
                                        <p:tav tm="0">
                                          <p:val>
                                            <p:fltVal val="0"/>
                                          </p:val>
                                        </p:tav>
                                        <p:tav tm="100000">
                                          <p:val>
                                            <p:strVal val="#ppt_w"/>
                                          </p:val>
                                        </p:tav>
                                      </p:tavLst>
                                    </p:anim>
                                    <p:anim calcmode="lin" valueType="num">
                                      <p:cBhvr>
                                        <p:cTn id="263" dur="750" fill="hold"/>
                                        <p:tgtEl>
                                          <p:spTgt spid="508"/>
                                        </p:tgtEl>
                                        <p:attrNameLst>
                                          <p:attrName>ppt_h</p:attrName>
                                        </p:attrNameLst>
                                      </p:cBhvr>
                                      <p:tavLst>
                                        <p:tav tm="0">
                                          <p:val>
                                            <p:fltVal val="0"/>
                                          </p:val>
                                        </p:tav>
                                        <p:tav tm="100000">
                                          <p:val>
                                            <p:strVal val="#ppt_h"/>
                                          </p:val>
                                        </p:tav>
                                      </p:tavLst>
                                    </p:anim>
                                    <p:anim calcmode="lin" valueType="num">
                                      <p:cBhvr>
                                        <p:cTn id="264" dur="750" fill="hold"/>
                                        <p:tgtEl>
                                          <p:spTgt spid="508"/>
                                        </p:tgtEl>
                                        <p:attrNameLst>
                                          <p:attrName>style.rotation</p:attrName>
                                        </p:attrNameLst>
                                      </p:cBhvr>
                                      <p:tavLst>
                                        <p:tav tm="0">
                                          <p:val>
                                            <p:fltVal val="90"/>
                                          </p:val>
                                        </p:tav>
                                        <p:tav tm="100000">
                                          <p:val>
                                            <p:fltVal val="0"/>
                                          </p:val>
                                        </p:tav>
                                      </p:tavLst>
                                    </p:anim>
                                    <p:animEffect transition="in" filter="fade">
                                      <p:cBhvr>
                                        <p:cTn id="265" dur="750"/>
                                        <p:tgtEl>
                                          <p:spTgt spid="508"/>
                                        </p:tgtEl>
                                      </p:cBhvr>
                                    </p:animEffect>
                                  </p:childTnLst>
                                </p:cTn>
                              </p:par>
                            </p:childTnLst>
                          </p:cTn>
                        </p:par>
                        <p:par>
                          <p:cTn fill="hold">
                            <p:stCondLst>
                              <p:cond delay="750"/>
                            </p:stCondLst>
                            <p:childTnLst>
                              <p:par>
                                <p:cTn id="266" presetID="31" presetClass="entr" presetSubtype="0" fill="hold" grpId="7" nodeType="afterEffect">
                                  <p:stCondLst>
                                    <p:cond delay="0"/>
                                  </p:stCondLst>
                                  <p:iterate type="lt">
                                    <p:tmPct val="5000"/>
                                  </p:iterate>
                                  <p:childTnLst>
                                    <p:set>
                                      <p:cBhvr>
                                        <p:cTn id="267" dur="1" fill="hold">
                                          <p:stCondLst>
                                            <p:cond delay="0"/>
                                          </p:stCondLst>
                                        </p:cTn>
                                        <p:tgtEl>
                                          <p:spTgt spid="512"/>
                                        </p:tgtEl>
                                        <p:attrNameLst>
                                          <p:attrName>style.visibility</p:attrName>
                                        </p:attrNameLst>
                                      </p:cBhvr>
                                      <p:to>
                                        <p:strVal val="visible"/>
                                      </p:to>
                                    </p:set>
                                    <p:anim calcmode="lin" valueType="num">
                                      <p:cBhvr>
                                        <p:cTn id="268" dur="750" fill="hold"/>
                                        <p:tgtEl>
                                          <p:spTgt spid="512"/>
                                        </p:tgtEl>
                                        <p:attrNameLst>
                                          <p:attrName>ppt_w</p:attrName>
                                        </p:attrNameLst>
                                      </p:cBhvr>
                                      <p:tavLst>
                                        <p:tav tm="0">
                                          <p:val>
                                            <p:fltVal val="0"/>
                                          </p:val>
                                        </p:tav>
                                        <p:tav tm="100000">
                                          <p:val>
                                            <p:strVal val="#ppt_w"/>
                                          </p:val>
                                        </p:tav>
                                      </p:tavLst>
                                    </p:anim>
                                    <p:anim calcmode="lin" valueType="num">
                                      <p:cBhvr>
                                        <p:cTn id="269" dur="750" fill="hold"/>
                                        <p:tgtEl>
                                          <p:spTgt spid="512"/>
                                        </p:tgtEl>
                                        <p:attrNameLst>
                                          <p:attrName>ppt_h</p:attrName>
                                        </p:attrNameLst>
                                      </p:cBhvr>
                                      <p:tavLst>
                                        <p:tav tm="0">
                                          <p:val>
                                            <p:fltVal val="0"/>
                                          </p:val>
                                        </p:tav>
                                        <p:tav tm="100000">
                                          <p:val>
                                            <p:strVal val="#ppt_h"/>
                                          </p:val>
                                        </p:tav>
                                      </p:tavLst>
                                    </p:anim>
                                    <p:anim calcmode="lin" valueType="num">
                                      <p:cBhvr>
                                        <p:cTn id="270" dur="750" fill="hold"/>
                                        <p:tgtEl>
                                          <p:spTgt spid="512"/>
                                        </p:tgtEl>
                                        <p:attrNameLst>
                                          <p:attrName>style.rotation</p:attrName>
                                        </p:attrNameLst>
                                      </p:cBhvr>
                                      <p:tavLst>
                                        <p:tav tm="0">
                                          <p:val>
                                            <p:fltVal val="90"/>
                                          </p:val>
                                        </p:tav>
                                        <p:tav tm="100000">
                                          <p:val>
                                            <p:fltVal val="0"/>
                                          </p:val>
                                        </p:tav>
                                      </p:tavLst>
                                    </p:anim>
                                    <p:animEffect transition="in" filter="fade">
                                      <p:cBhvr>
                                        <p:cTn id="271" dur="750"/>
                                        <p:tgtEl>
                                          <p:spTgt spid="51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4.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522" name=""/>
        <p:cNvGrpSpPr/>
        <p:nvPr/>
      </p:nvGrpSpPr>
      <p:grpSpPr>
        <a:xfrm>
          <a:off x="0" y="0"/>
          <a:ext cx="0" cy="0"/>
          <a:chOff x="0" y="0"/>
          <a:chExt cx="0" cy="0"/>
        </a:xfrm>
      </p:grpSpPr>
      <p:pic>
        <p:nvPicPr>
          <p:cNvPr id="52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52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52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52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学习目标</a:t>
            </a:r>
            <a:endParaRPr lang="en-US" sz="2760"/>
          </a:p>
        </p:txBody>
      </p:sp>
      <p:grpSp>
        <p:nvGrpSpPr>
          <p:cNvPr id="527" name="组合 45"/>
          <p:cNvGrpSpPr/>
          <p:nvPr/>
        </p:nvGrpSpPr>
        <p:grpSpPr>
          <a:xfrm>
            <a:off x="609600" y="1371600"/>
            <a:ext cx="10972800" cy="853440"/>
            <a:chOff x="-635000" y="-635000"/>
            <a:chExt cx="10972800" cy="853440"/>
          </a:xfrm>
        </p:grpSpPr>
        <p:pic>
          <p:nvPicPr>
            <p:cNvPr id="528" name="Image 3" descr="TEMP_Z_ORDER_4"/>
            <p:cNvPicPr>
              <a:picLocks noChangeAspect="1"/>
            </p:cNvPicPr>
            <p:nvPr/>
          </p:nvPicPr>
          <p:blipFill>
            <a:blip>
              <a:extLst>
                <a:ext uri="{96DAC541-7B7A-43D3-8B79-37D633B846F1}">
                  <asvg:svgBlip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29" name="Text 1" descr="TEMP_Z_ORDER_5"/>
            <p:cNvSpPr/>
            <p:nvPr/>
          </p:nvSpPr>
          <p:spPr>
            <a:xfrm>
              <a:off x="-479520" y="-437431"/>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01</a:t>
              </a:r>
              <a:endParaRPr lang="en-US" sz="2400"/>
            </a:p>
          </p:txBody>
        </p:sp>
        <p:pic>
          <p:nvPicPr>
            <p:cNvPr id="530" name="Image 4" descr="TEMP_Z_ORDER_6"/>
            <p:cNvPicPr>
              <a:picLocks noChangeAspect="1"/>
            </p:cNvPicPr>
            <p:nvPr/>
          </p:nvPicPr>
          <p:blipFill>
            <a:blip r:embed="rId6"/>
            <a:stretch>
              <a:fillRect/>
            </a:stretch>
          </p:blipFill>
          <p:spPr>
            <a:xfrm>
              <a:off x="340360" y="-635000"/>
              <a:ext cx="9997440" cy="853440"/>
            </a:xfrm>
            <a:prstGeom prst="rect">
              <a:avLst/>
            </a:prstGeom>
          </p:spPr>
        </p:pic>
        <p:sp>
          <p:nvSpPr>
            <p:cNvPr id="531" name="Text 2" descr="TEMP_Z_ORDER_7"/>
            <p:cNvSpPr/>
            <p:nvPr/>
          </p:nvSpPr>
          <p:spPr>
            <a:xfrm>
              <a:off x="721360" y="-467360"/>
              <a:ext cx="520598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掌握</a:t>
              </a:r>
              <a:r>
                <a:rPr lang="en-US" sz="2160">
                  <a:solidFill>
                    <a:srgbClr val="000000"/>
                  </a:solidFill>
                  <a:latin typeface="思源黑体 CN Regular" pitchFamily="34" charset="0"/>
                  <a:ea typeface="思源黑体 CN Regular" pitchFamily="34" charset="-122"/>
                  <a:cs typeface="思源黑体 CN Regular" pitchFamily="34" charset="-120"/>
                </a:rPr>
                <a:t>云计算安全扩展要求的核心测评指标</a:t>
              </a:r>
              <a:endParaRPr lang="en-US" sz="2160"/>
            </a:p>
          </p:txBody>
        </p:sp>
      </p:grpSp>
      <p:grpSp>
        <p:nvGrpSpPr>
          <p:cNvPr id="532" name="组合 25"/>
          <p:cNvGrpSpPr/>
          <p:nvPr/>
        </p:nvGrpSpPr>
        <p:grpSpPr>
          <a:xfrm>
            <a:off x="609600" y="2453640"/>
            <a:ext cx="10972800" cy="853440"/>
            <a:chOff x="-635000" y="-635000"/>
            <a:chExt cx="10972800" cy="853440"/>
          </a:xfrm>
        </p:grpSpPr>
        <p:pic>
          <p:nvPicPr>
            <p:cNvPr id="533" name="Image 5" descr="TEMP_Z_ORDER_8"/>
            <p:cNvPicPr>
              <a:picLocks noChangeAspect="1"/>
            </p:cNvPicPr>
            <p:nvPr/>
          </p:nvPicPr>
          <p:blipFill>
            <a:blip>
              <a:extLst>
                <a:ext uri="{96DAC541-7B7A-43D3-8B79-37D633B846F1}">
                  <asvg:svgBlip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34" name="Text 3" descr="TEMP_Z_ORDER_9"/>
            <p:cNvSpPr/>
            <p:nvPr/>
          </p:nvSpPr>
          <p:spPr>
            <a:xfrm>
              <a:off x="-479520" y="-43743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02</a:t>
              </a:r>
              <a:endParaRPr lang="en-US" sz="2400"/>
            </a:p>
          </p:txBody>
        </p:sp>
        <p:pic>
          <p:nvPicPr>
            <p:cNvPr id="535" name="Image 6" descr="TEMP_Z_ORDER_10"/>
            <p:cNvPicPr>
              <a:picLocks noChangeAspect="1"/>
            </p:cNvPicPr>
            <p:nvPr/>
          </p:nvPicPr>
          <p:blipFill>
            <a:blip r:embed="rId6"/>
            <a:stretch>
              <a:fillRect/>
            </a:stretch>
          </p:blipFill>
          <p:spPr>
            <a:xfrm>
              <a:off x="340360" y="-635000"/>
              <a:ext cx="9997440" cy="853440"/>
            </a:xfrm>
            <a:prstGeom prst="rect">
              <a:avLst/>
            </a:prstGeom>
          </p:spPr>
        </p:pic>
        <p:sp>
          <p:nvSpPr>
            <p:cNvPr id="536" name="Text 4" descr="TEMP_Z_ORDER_11"/>
            <p:cNvSpPr/>
            <p:nvPr/>
          </p:nvSpPr>
          <p:spPr>
            <a:xfrm>
              <a:off x="721360" y="-467360"/>
              <a:ext cx="548030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理解</a:t>
              </a:r>
              <a:r>
                <a:rPr lang="en-US" sz="2160">
                  <a:solidFill>
                    <a:srgbClr val="000000"/>
                  </a:solidFill>
                  <a:latin typeface="思源黑体 CN Regular" pitchFamily="34" charset="0"/>
                  <a:ea typeface="思源黑体 CN Regular" pitchFamily="34" charset="-122"/>
                  <a:cs typeface="思源黑体 CN Regular" pitchFamily="34" charset="-120"/>
                </a:rPr>
                <a:t>云计算平台安全配置核查的方法与流程</a:t>
              </a:r>
              <a:endParaRPr lang="en-US" sz="2160"/>
            </a:p>
          </p:txBody>
        </p:sp>
      </p:grpSp>
      <p:grpSp>
        <p:nvGrpSpPr>
          <p:cNvPr id="537" name="组合 35"/>
          <p:cNvGrpSpPr/>
          <p:nvPr/>
        </p:nvGrpSpPr>
        <p:grpSpPr>
          <a:xfrm>
            <a:off x="609600" y="3535680"/>
            <a:ext cx="10972800" cy="853440"/>
            <a:chOff x="-635000" y="-635000"/>
            <a:chExt cx="10972800" cy="853440"/>
          </a:xfrm>
        </p:grpSpPr>
        <p:pic>
          <p:nvPicPr>
            <p:cNvPr id="538" name="Image 7" descr="TEMP_Z_ORDER_12"/>
            <p:cNvPicPr>
              <a:picLocks noChangeAspect="1"/>
            </p:cNvPicPr>
            <p:nvPr/>
          </p:nvPicPr>
          <p:blipFill>
            <a:blip>
              <a:extLst>
                <a:ext uri="{96DAC541-7B7A-43D3-8B79-37D633B846F1}">
                  <asvg:svgBlip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39" name="Text 5" descr="TEMP_Z_ORDER_13"/>
            <p:cNvSpPr/>
            <p:nvPr/>
          </p:nvSpPr>
          <p:spPr>
            <a:xfrm>
              <a:off x="-479520" y="-43743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03</a:t>
              </a:r>
              <a:endParaRPr lang="en-US" sz="2400"/>
            </a:p>
          </p:txBody>
        </p:sp>
        <p:pic>
          <p:nvPicPr>
            <p:cNvPr id="540" name="Image 8" descr="TEMP_Z_ORDER_14"/>
            <p:cNvPicPr>
              <a:picLocks noChangeAspect="1"/>
            </p:cNvPicPr>
            <p:nvPr/>
          </p:nvPicPr>
          <p:blipFill>
            <a:blip r:embed="rId6"/>
            <a:stretch>
              <a:fillRect/>
            </a:stretch>
          </p:blipFill>
          <p:spPr>
            <a:xfrm>
              <a:off x="340360" y="-635000"/>
              <a:ext cx="9997440" cy="853440"/>
            </a:xfrm>
            <a:prstGeom prst="rect">
              <a:avLst/>
            </a:prstGeom>
          </p:spPr>
        </p:pic>
        <p:sp>
          <p:nvSpPr>
            <p:cNvPr id="541" name="Text 6" descr="TEMP_Z_ORDER_15"/>
            <p:cNvSpPr/>
            <p:nvPr/>
          </p:nvSpPr>
          <p:spPr>
            <a:xfrm>
              <a:off x="721360" y="-467360"/>
              <a:ext cx="4657344" cy="35903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280" b="1">
                  <a:solidFill>
                    <a:srgbClr val="458BE6"/>
                  </a:solidFill>
                  <a:latin typeface="思源黑体 CN Bold" pitchFamily="34" charset="0"/>
                  <a:ea typeface="思源黑体 CN Bold" pitchFamily="34" charset="-122"/>
                  <a:cs typeface="思源黑体 CN Bold" pitchFamily="34" charset="-120"/>
                </a:rPr>
                <a:t>能够</a:t>
              </a:r>
              <a:r>
                <a:rPr lang="en-US" sz="2280">
                  <a:solidFill>
                    <a:srgbClr val="000000"/>
                  </a:solidFill>
                  <a:latin typeface="思源黑体 CN Regular" pitchFamily="34" charset="0"/>
                  <a:ea typeface="思源黑体 CN Regular" pitchFamily="34" charset="-122"/>
                  <a:cs typeface="思源黑体 CN Regular" pitchFamily="34" charset="-120"/>
                </a:rPr>
                <a:t>对模拟云平台进行安全配置核查</a:t>
              </a:r>
              <a:endParaRPr lang="en-US" sz="2280"/>
            </a:p>
          </p:txBody>
        </p:sp>
      </p:grpSp>
      <p:grpSp>
        <p:nvGrpSpPr>
          <p:cNvPr id="542" name="组合 40"/>
          <p:cNvGrpSpPr/>
          <p:nvPr/>
        </p:nvGrpSpPr>
        <p:grpSpPr>
          <a:xfrm>
            <a:off x="609600" y="4632960"/>
            <a:ext cx="10972800" cy="853440"/>
            <a:chOff x="-635000" y="-635000"/>
            <a:chExt cx="10972800" cy="853440"/>
          </a:xfrm>
        </p:grpSpPr>
        <p:pic>
          <p:nvPicPr>
            <p:cNvPr id="543" name="Image 9" descr="TEMP_Z_ORDER_16"/>
            <p:cNvPicPr>
              <a:picLocks noChangeAspect="1"/>
            </p:cNvPicPr>
            <p:nvPr/>
          </p:nvPicPr>
          <p:blipFill>
            <a:blip>
              <a:extLst>
                <a:ext uri="{96DAC541-7B7A-43D3-8B79-37D633B846F1}">
                  <asvg:svgBlip r:embed="rId5"/>
                </a:ext>
              </a:extLst>
            </a:blip>
            <a:stretch>
              <a:fillRect/>
            </a:stretch>
          </p:blipFill>
          <p:spPr>
            <a:xfrm>
              <a:off x="-635000" y="-589280"/>
              <a:ext cx="731520" cy="731520"/>
            </a:xfrm>
            <a:prstGeom prst="rect">
              <a:avLst/>
            </a:prstGeom>
            <a:effectLst>
              <a:outerShdw blurRad="30480" dist="15240" dir="5400000" algn="bl" rotWithShape="0">
                <a:srgbClr val="000000">
                  <a:alpha val="5000"/>
                </a:srgbClr>
              </a:outerShdw>
            </a:effectLst>
          </p:spPr>
        </p:pic>
        <p:sp>
          <p:nvSpPr>
            <p:cNvPr id="544" name="Text 7" descr="TEMP_Z_ORDER_17"/>
            <p:cNvSpPr/>
            <p:nvPr/>
          </p:nvSpPr>
          <p:spPr>
            <a:xfrm>
              <a:off x="-479520" y="-45267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04</a:t>
              </a:r>
              <a:endParaRPr lang="en-US" sz="2400"/>
            </a:p>
          </p:txBody>
        </p:sp>
        <p:pic>
          <p:nvPicPr>
            <p:cNvPr id="545" name="Image 10" descr="TEMP_Z_ORDER_18"/>
            <p:cNvPicPr>
              <a:picLocks noChangeAspect="1"/>
            </p:cNvPicPr>
            <p:nvPr/>
          </p:nvPicPr>
          <p:blipFill>
            <a:blip r:embed="rId6"/>
            <a:stretch>
              <a:fillRect/>
            </a:stretch>
          </p:blipFill>
          <p:spPr>
            <a:xfrm>
              <a:off x="340360" y="-635000"/>
              <a:ext cx="9997440" cy="853440"/>
            </a:xfrm>
            <a:prstGeom prst="rect">
              <a:avLst/>
            </a:prstGeom>
          </p:spPr>
        </p:pic>
        <p:sp>
          <p:nvSpPr>
            <p:cNvPr id="546" name="Text 8" descr="TEMP_Z_ORDER_19"/>
            <p:cNvSpPr/>
            <p:nvPr/>
          </p:nvSpPr>
          <p:spPr>
            <a:xfrm>
              <a:off x="721360" y="-482600"/>
              <a:ext cx="520598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能够</a:t>
              </a:r>
              <a:r>
                <a:rPr lang="en-US" sz="2160">
                  <a:solidFill>
                    <a:srgbClr val="000000"/>
                  </a:solidFill>
                  <a:latin typeface="思源黑体 CN Regular" pitchFamily="34" charset="0"/>
                  <a:ea typeface="思源黑体 CN Regular" pitchFamily="34" charset="-122"/>
                  <a:cs typeface="思源黑体 CN Regular" pitchFamily="34" charset="-120"/>
                </a:rPr>
                <a:t>规范填写《云计算安全测评记录表》</a:t>
              </a:r>
              <a:endParaRPr lang="en-US" sz="2160"/>
            </a:p>
          </p:txBody>
        </p:sp>
      </p:grpSp>
      <p:grpSp>
        <p:nvGrpSpPr>
          <p:cNvPr id="547" name="组合 30"/>
          <p:cNvGrpSpPr/>
          <p:nvPr/>
        </p:nvGrpSpPr>
        <p:grpSpPr>
          <a:xfrm>
            <a:off x="609600" y="5715000"/>
            <a:ext cx="10972800" cy="853440"/>
            <a:chOff x="-635000" y="-635000"/>
            <a:chExt cx="10972800" cy="853440"/>
          </a:xfrm>
        </p:grpSpPr>
        <p:pic>
          <p:nvPicPr>
            <p:cNvPr id="548" name="Image 11" descr="TEMP_Z_ORDER_20"/>
            <p:cNvPicPr>
              <a:picLocks noChangeAspect="1"/>
            </p:cNvPicPr>
            <p:nvPr/>
          </p:nvPicPr>
          <p:blipFill>
            <a:blip>
              <a:extLst>
                <a:ext uri="{96DAC541-7B7A-43D3-8B79-37D633B846F1}">
                  <asvg:svgBlip r:embed="rId5"/>
                </a:ext>
              </a:extLst>
            </a:blip>
            <a:stretch>
              <a:fillRect/>
            </a:stretch>
          </p:blipFill>
          <p:spPr>
            <a:xfrm>
              <a:off x="-635000" y="-589280"/>
              <a:ext cx="731520" cy="731520"/>
            </a:xfrm>
            <a:prstGeom prst="rect">
              <a:avLst/>
            </a:prstGeom>
            <a:effectLst>
              <a:outerShdw blurRad="30480" dist="15240" dir="5400000" algn="bl" rotWithShape="0">
                <a:srgbClr val="000000">
                  <a:alpha val="5000"/>
                </a:srgbClr>
              </a:outerShdw>
            </a:effectLst>
          </p:spPr>
        </p:pic>
        <p:sp>
          <p:nvSpPr>
            <p:cNvPr id="549" name="Text 9" descr="TEMP_Z_ORDER_21"/>
            <p:cNvSpPr/>
            <p:nvPr/>
          </p:nvSpPr>
          <p:spPr>
            <a:xfrm>
              <a:off x="-479520" y="-45267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05</a:t>
              </a:r>
              <a:endParaRPr lang="en-US" sz="2400"/>
            </a:p>
          </p:txBody>
        </p:sp>
        <p:pic>
          <p:nvPicPr>
            <p:cNvPr id="550" name="Image 12" descr="TEMP_Z_ORDER_22"/>
            <p:cNvPicPr>
              <a:picLocks noChangeAspect="1"/>
            </p:cNvPicPr>
            <p:nvPr/>
          </p:nvPicPr>
          <p:blipFill>
            <a:blip r:embed="rId6"/>
            <a:stretch>
              <a:fillRect/>
            </a:stretch>
          </p:blipFill>
          <p:spPr>
            <a:xfrm>
              <a:off x="340360" y="-635000"/>
              <a:ext cx="9997440" cy="853440"/>
            </a:xfrm>
            <a:prstGeom prst="rect">
              <a:avLst/>
            </a:prstGeom>
          </p:spPr>
        </p:pic>
        <p:sp>
          <p:nvSpPr>
            <p:cNvPr id="551" name="Text 10" descr="TEMP_Z_ORDER_23"/>
            <p:cNvSpPr/>
            <p:nvPr/>
          </p:nvSpPr>
          <p:spPr>
            <a:xfrm>
              <a:off x="721360" y="-467360"/>
              <a:ext cx="4383024" cy="35903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280" b="1">
                  <a:solidFill>
                    <a:srgbClr val="458BE6"/>
                  </a:solidFill>
                  <a:latin typeface="思源黑体 CN Bold" pitchFamily="34" charset="0"/>
                  <a:ea typeface="思源黑体 CN Bold" pitchFamily="34" charset="-122"/>
                  <a:cs typeface="思源黑体 CN Bold" pitchFamily="34" charset="-120"/>
                </a:rPr>
                <a:t>具备</a:t>
              </a:r>
              <a:r>
                <a:rPr lang="en-US" sz="2280">
                  <a:solidFill>
                    <a:srgbClr val="000000"/>
                  </a:solidFill>
                  <a:latin typeface="思源黑体 CN Regular" pitchFamily="34" charset="0"/>
                  <a:ea typeface="思源黑体 CN Regular" pitchFamily="34" charset="-122"/>
                  <a:cs typeface="思源黑体 CN Regular" pitchFamily="34" charset="-120"/>
                </a:rPr>
                <a:t>云平台安全配置风险识别能力</a:t>
              </a:r>
              <a:endParaRPr lang="en-US" sz="228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272" presetID="10" presetClass="entr" presetSubtype="0" fill="hold" grpId="1" nodeType="afterEffect">
                                  <p:stCondLst>
                                    <p:cond delay="0"/>
                                  </p:stCondLst>
                                  <p:childTnLst>
                                    <p:set>
                                      <p:cBhvr>
                                        <p:cTn id="273" dur="1" fill="hold">
                                          <p:stCondLst>
                                            <p:cond delay="0"/>
                                          </p:stCondLst>
                                        </p:cTn>
                                        <p:tgtEl>
                                          <p:spTgt spid="526"/>
                                        </p:tgtEl>
                                        <p:attrNameLst>
                                          <p:attrName>style.visibility</p:attrName>
                                        </p:attrNameLst>
                                      </p:cBhvr>
                                      <p:to>
                                        <p:strVal val="visible"/>
                                      </p:to>
                                    </p:set>
                                    <p:animEffect transition="in" filter="fade">
                                      <p:cBhvr>
                                        <p:cTn id="274" dur="750"/>
                                        <p:tgtEl>
                                          <p:spTgt spid="526"/>
                                        </p:tgtEl>
                                      </p:cBhvr>
                                    </p:animEffect>
                                  </p:childTnLst>
                                </p:cTn>
                              </p:par>
                            </p:childTnLst>
                          </p:cTn>
                        </p:par>
                        <p:par>
                          <p:cTn fill="hold">
                            <p:stCondLst>
                              <p:cond delay="0"/>
                            </p:stCondLst>
                            <p:childTnLst>
                              <p:par>
                                <p:cTn id="275" presetID="22" presetClass="entr" presetSubtype="1" fill="hold" grpId="2" nodeType="afterEffect">
                                  <p:stCondLst>
                                    <p:cond delay="0"/>
                                  </p:stCondLst>
                                  <p:childTnLst>
                                    <p:set>
                                      <p:cBhvr>
                                        <p:cTn id="276" dur="1" fill="hold">
                                          <p:stCondLst>
                                            <p:cond delay="0"/>
                                          </p:stCondLst>
                                        </p:cTn>
                                        <p:tgtEl>
                                          <p:spTgt spid="527"/>
                                        </p:tgtEl>
                                        <p:attrNameLst>
                                          <p:attrName>style.visibility</p:attrName>
                                        </p:attrNameLst>
                                      </p:cBhvr>
                                      <p:to>
                                        <p:strVal val="visible"/>
                                      </p:to>
                                    </p:set>
                                    <p:animEffect transition="in" filter="wipe(up)">
                                      <p:cBhvr>
                                        <p:cTn id="277" dur="750"/>
                                        <p:tgtEl>
                                          <p:spTgt spid="527"/>
                                        </p:tgtEl>
                                      </p:cBhvr>
                                    </p:animEffect>
                                  </p:childTnLst>
                                </p:cTn>
                              </p:par>
                            </p:childTnLst>
                          </p:cTn>
                        </p:par>
                        <p:par>
                          <p:cTn fill="hold">
                            <p:stCondLst>
                              <p:cond delay="0"/>
                            </p:stCondLst>
                            <p:childTnLst>
                              <p:par>
                                <p:cTn id="278" presetID="22" presetClass="entr" presetSubtype="1" fill="hold" grpId="3" nodeType="afterEffect">
                                  <p:stCondLst>
                                    <p:cond delay="0"/>
                                  </p:stCondLst>
                                  <p:childTnLst>
                                    <p:set>
                                      <p:cBhvr>
                                        <p:cTn id="279" dur="1" fill="hold">
                                          <p:stCondLst>
                                            <p:cond delay="0"/>
                                          </p:stCondLst>
                                        </p:cTn>
                                        <p:tgtEl>
                                          <p:spTgt spid="532"/>
                                        </p:tgtEl>
                                        <p:attrNameLst>
                                          <p:attrName>style.visibility</p:attrName>
                                        </p:attrNameLst>
                                      </p:cBhvr>
                                      <p:to>
                                        <p:strVal val="visible"/>
                                      </p:to>
                                    </p:set>
                                    <p:animEffect transition="in" filter="wipe(up)">
                                      <p:cBhvr>
                                        <p:cTn id="280" dur="750"/>
                                        <p:tgtEl>
                                          <p:spTgt spid="532"/>
                                        </p:tgtEl>
                                      </p:cBhvr>
                                    </p:animEffect>
                                  </p:childTnLst>
                                </p:cTn>
                              </p:par>
                            </p:childTnLst>
                          </p:cTn>
                        </p:par>
                        <p:par>
                          <p:cTn fill="hold">
                            <p:stCondLst>
                              <p:cond delay="0"/>
                            </p:stCondLst>
                            <p:childTnLst>
                              <p:par>
                                <p:cTn id="281" presetID="22" presetClass="entr" presetSubtype="1" fill="hold" grpId="4" nodeType="afterEffect">
                                  <p:stCondLst>
                                    <p:cond delay="0"/>
                                  </p:stCondLst>
                                  <p:childTnLst>
                                    <p:set>
                                      <p:cBhvr>
                                        <p:cTn id="282" dur="1" fill="hold">
                                          <p:stCondLst>
                                            <p:cond delay="0"/>
                                          </p:stCondLst>
                                        </p:cTn>
                                        <p:tgtEl>
                                          <p:spTgt spid="537"/>
                                        </p:tgtEl>
                                        <p:attrNameLst>
                                          <p:attrName>style.visibility</p:attrName>
                                        </p:attrNameLst>
                                      </p:cBhvr>
                                      <p:to>
                                        <p:strVal val="visible"/>
                                      </p:to>
                                    </p:set>
                                    <p:animEffect transition="in" filter="wipe(up)">
                                      <p:cBhvr>
                                        <p:cTn id="283" dur="750"/>
                                        <p:tgtEl>
                                          <p:spTgt spid="537"/>
                                        </p:tgtEl>
                                      </p:cBhvr>
                                    </p:animEffect>
                                  </p:childTnLst>
                                </p:cTn>
                              </p:par>
                            </p:childTnLst>
                          </p:cTn>
                        </p:par>
                        <p:par>
                          <p:cTn fill="hold">
                            <p:stCondLst>
                              <p:cond delay="0"/>
                            </p:stCondLst>
                            <p:childTnLst>
                              <p:par>
                                <p:cTn id="284" presetID="22" presetClass="entr" presetSubtype="1" fill="hold" grpId="5" nodeType="afterEffect">
                                  <p:stCondLst>
                                    <p:cond delay="0"/>
                                  </p:stCondLst>
                                  <p:childTnLst>
                                    <p:set>
                                      <p:cBhvr>
                                        <p:cTn id="285" dur="1" fill="hold">
                                          <p:stCondLst>
                                            <p:cond delay="0"/>
                                          </p:stCondLst>
                                        </p:cTn>
                                        <p:tgtEl>
                                          <p:spTgt spid="542"/>
                                        </p:tgtEl>
                                        <p:attrNameLst>
                                          <p:attrName>style.visibility</p:attrName>
                                        </p:attrNameLst>
                                      </p:cBhvr>
                                      <p:to>
                                        <p:strVal val="visible"/>
                                      </p:to>
                                    </p:set>
                                    <p:animEffect transition="in" filter="wipe(up)">
                                      <p:cBhvr>
                                        <p:cTn id="286" dur="750"/>
                                        <p:tgtEl>
                                          <p:spTgt spid="542"/>
                                        </p:tgtEl>
                                      </p:cBhvr>
                                    </p:animEffect>
                                  </p:childTnLst>
                                </p:cTn>
                              </p:par>
                            </p:childTnLst>
                          </p:cTn>
                        </p:par>
                        <p:par>
                          <p:cTn fill="hold">
                            <p:stCondLst>
                              <p:cond delay="0"/>
                            </p:stCondLst>
                            <p:childTnLst>
                              <p:par>
                                <p:cTn id="287" presetID="22" presetClass="entr" presetSubtype="1" fill="hold" grpId="6" nodeType="afterEffect">
                                  <p:stCondLst>
                                    <p:cond delay="0"/>
                                  </p:stCondLst>
                                  <p:childTnLst>
                                    <p:set>
                                      <p:cBhvr>
                                        <p:cTn id="288" dur="1" fill="hold">
                                          <p:stCondLst>
                                            <p:cond delay="0"/>
                                          </p:stCondLst>
                                        </p:cTn>
                                        <p:tgtEl>
                                          <p:spTgt spid="547"/>
                                        </p:tgtEl>
                                        <p:attrNameLst>
                                          <p:attrName>style.visibility</p:attrName>
                                        </p:attrNameLst>
                                      </p:cBhvr>
                                      <p:to>
                                        <p:strVal val="visible"/>
                                      </p:to>
                                    </p:set>
                                    <p:animEffect transition="in" filter="wipe(up)">
                                      <p:cBhvr>
                                        <p:cTn id="289" dur="750"/>
                                        <p:tgtEl>
                                          <p:spTgt spid="547"/>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5.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552" name=""/>
        <p:cNvGrpSpPr/>
        <p:nvPr/>
      </p:nvGrpSpPr>
      <p:grpSpPr>
        <a:xfrm>
          <a:off x="0" y="0"/>
          <a:ext cx="0" cy="0"/>
          <a:chOff x="0" y="0"/>
          <a:chExt cx="0" cy="0"/>
        </a:xfrm>
      </p:grpSpPr>
      <p:pic>
        <p:nvPicPr>
          <p:cNvPr id="5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5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5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5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复习导入——回顾云平台架构与责任共担</a:t>
            </a:r>
            <a:endParaRPr lang="en-US" sz="2760"/>
          </a:p>
        </p:txBody>
      </p:sp>
      <p:grpSp>
        <p:nvGrpSpPr>
          <p:cNvPr id="557" name="组合 22"/>
          <p:cNvGrpSpPr/>
          <p:nvPr/>
        </p:nvGrpSpPr>
        <p:grpSpPr>
          <a:xfrm>
            <a:off x="609600" y="4724400"/>
            <a:ext cx="10972800" cy="1616710"/>
            <a:chOff x="-635000" y="-635000"/>
            <a:chExt cx="10972800" cy="1844040"/>
          </a:xfrm>
        </p:grpSpPr>
        <p:pic>
          <p:nvPicPr>
            <p:cNvPr id="558" name="Image 3" descr="TEMP_Z_ORDER_4"/>
            <p:cNvPicPr>
              <a:picLocks noChangeAspect="1"/>
            </p:cNvPicPr>
            <p:nvPr/>
          </p:nvPicPr>
          <p:blipFill>
            <a:blip>
              <a:extLst>
                <a:ext uri="{96DAC541-7B7A-43D3-8B79-37D633B846F1}">
                  <asvg:svgBlip r:embed="rId5"/>
                </a:ext>
              </a:extLst>
            </a:blip>
            <a:stretch>
              <a:fillRect/>
            </a:stretch>
          </p:blipFill>
          <p:spPr>
            <a:xfrm>
              <a:off x="-635000" y="-635000"/>
              <a:ext cx="10972800" cy="1844040"/>
            </a:xfrm>
            <a:prstGeom prst="rect">
              <a:avLst/>
            </a:prstGeom>
            <a:effectLst>
              <a:outerShdw blurRad="91440" dist="60960" dir="5400000" algn="bl" rotWithShape="0">
                <a:srgbClr val="000000">
                  <a:alpha val="10000"/>
                </a:srgbClr>
              </a:outerShdw>
            </a:effectLst>
          </p:spPr>
        </p:pic>
        <p:pic>
          <p:nvPicPr>
            <p:cNvPr id="559" name="Image 4" descr="TEMP_Z_ORDER_5"/>
            <p:cNvPicPr>
              <a:picLocks noChangeAspect="1"/>
            </p:cNvPicPr>
            <p:nvPr/>
          </p:nvPicPr>
          <p:blipFill>
            <a:blip r:embed="rId6"/>
            <a:stretch>
              <a:fillRect/>
            </a:stretch>
          </p:blipFill>
          <p:spPr>
            <a:xfrm>
              <a:off x="-254000" y="-314960"/>
              <a:ext cx="609600" cy="609600"/>
            </a:xfrm>
            <a:prstGeom prst="rect">
              <a:avLst/>
            </a:prstGeom>
          </p:spPr>
        </p:pic>
        <p:pic>
          <p:nvPicPr>
            <p:cNvPr id="560" name="Image 5" descr="TEMP_Z_ORDER_6"/>
            <p:cNvPicPr>
              <a:picLocks noChangeAspect="1"/>
            </p:cNvPicPr>
            <p:nvPr/>
          </p:nvPicPr>
          <p:blipFill>
            <a:blip r:embed="rId7"/>
            <a:stretch>
              <a:fillRect/>
            </a:stretch>
          </p:blipFill>
          <p:spPr>
            <a:xfrm>
              <a:off x="-147320" y="-208280"/>
              <a:ext cx="396240" cy="396240"/>
            </a:xfrm>
            <a:prstGeom prst="rect">
              <a:avLst/>
            </a:prstGeom>
          </p:spPr>
        </p:pic>
        <p:sp>
          <p:nvSpPr>
            <p:cNvPr id="561" name="Text 1" descr="TEMP_Z_ORDER_7"/>
            <p:cNvSpPr/>
            <p:nvPr/>
          </p:nvSpPr>
          <p:spPr>
            <a:xfrm>
              <a:off x="599440" y="-375920"/>
              <a:ext cx="573239" cy="31434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b="1" kern="0" spc="72">
                  <a:solidFill>
                    <a:srgbClr val="FFFFFF"/>
                  </a:solidFill>
                  <a:latin typeface="思源黑体 CN Bold" pitchFamily="34" charset="0"/>
                  <a:ea typeface="思源黑体 CN Bold" pitchFamily="34" charset="-122"/>
                  <a:cs typeface="思源黑体 CN Bold" pitchFamily="34" charset="-120"/>
                </a:rPr>
                <a:t>结论</a:t>
              </a:r>
              <a:endParaRPr lang="en-US" sz="2160"/>
            </a:p>
          </p:txBody>
        </p:sp>
        <p:sp>
          <p:nvSpPr>
            <p:cNvPr id="562" name="Text 2" descr="TEMP_Z_ORDER_8"/>
            <p:cNvSpPr/>
            <p:nvPr/>
          </p:nvSpPr>
          <p:spPr>
            <a:xfrm>
              <a:off x="599440" y="111760"/>
              <a:ext cx="9366504" cy="97344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1920">
                  <a:solidFill>
                    <a:srgbClr val="FFFFFF">
                      <a:alpha val="90000"/>
                    </a:srgbClr>
                  </a:solidFill>
                  <a:latin typeface="思源黑体 CN Regular" pitchFamily="34" charset="0"/>
                  <a:ea typeface="思源黑体 CN Regular" pitchFamily="34" charset="-122"/>
                  <a:cs typeface="思源黑体 CN Regular" pitchFamily="34" charset="-120"/>
                </a:rPr>
                <a:t>云安全责任共担模型中，</a:t>
              </a:r>
              <a:r>
                <a:rPr lang="en-US" sz="2160" b="1">
                  <a:solidFill>
                    <a:srgbClr val="FFFFFF"/>
                  </a:solidFill>
                  <a:latin typeface="思源黑体 CN Bold" pitchFamily="34" charset="0"/>
                  <a:ea typeface="思源黑体 CN Bold" pitchFamily="34" charset="-122"/>
                  <a:cs typeface="思源黑体 CN Bold" pitchFamily="34" charset="-120"/>
                </a:rPr>
                <a:t>数据安全永远是客户的责任</a:t>
              </a:r>
              <a:r>
                <a:rPr lang="en-US" sz="1920">
                  <a:solidFill>
                    <a:srgbClr val="FFFFFF">
                      <a:alpha val="90000"/>
                    </a:srgbClr>
                  </a:solidFill>
                  <a:latin typeface="思源黑体 CN Regular" pitchFamily="34" charset="0"/>
                  <a:ea typeface="思源黑体 CN Regular" pitchFamily="34" charset="-122"/>
                  <a:cs typeface="思源黑体 CN Regular" pitchFamily="34" charset="-120"/>
                </a:rPr>
                <a:t>。云安全配置核查，就是帮助客户检查“自己负责的那部分”是否配置到位。</a:t>
              </a:r>
              <a:endParaRPr lang="en-US" sz="1920"/>
            </a:p>
          </p:txBody>
        </p:sp>
      </p:grpSp>
      <p:grpSp>
        <p:nvGrpSpPr>
          <p:cNvPr id="563" name="组合 16"/>
          <p:cNvGrpSpPr/>
          <p:nvPr/>
        </p:nvGrpSpPr>
        <p:grpSpPr>
          <a:xfrm>
            <a:off x="609600" y="1371600"/>
            <a:ext cx="10972800" cy="3108960"/>
            <a:chOff x="-635000" y="-635000"/>
            <a:chExt cx="10972800" cy="3108960"/>
          </a:xfrm>
        </p:grpSpPr>
        <p:pic>
          <p:nvPicPr>
            <p:cNvPr id="564" name="Image 6" descr="TEMP_Z_ORDER_9"/>
            <p:cNvPicPr>
              <a:picLocks noChangeAspect="1"/>
            </p:cNvPicPr>
            <p:nvPr/>
          </p:nvPicPr>
          <p:blipFill>
            <a:blip>
              <a:extLst>
                <a:ext uri="{96DAC541-7B7A-43D3-8B79-37D633B846F1}">
                  <asvg:svgBlip r:embed="rId8"/>
                </a:ext>
              </a:extLst>
            </a:blip>
            <a:stretch>
              <a:fillRect/>
            </a:stretch>
          </p:blipFill>
          <p:spPr>
            <a:xfrm>
              <a:off x="-635000" y="-635000"/>
              <a:ext cx="10972800" cy="3108960"/>
            </a:xfrm>
            <a:prstGeom prst="rect">
              <a:avLst/>
            </a:prstGeom>
            <a:effectLst>
              <a:outerShdw blurRad="228600" dist="152400" dir="5400000" algn="bl" rotWithShape="0">
                <a:srgbClr val="000000">
                  <a:alpha val="10000"/>
                </a:srgbClr>
              </a:outerShdw>
            </a:effectLst>
          </p:spPr>
        </p:pic>
        <p:pic>
          <p:nvPicPr>
            <p:cNvPr id="565" name="Image 7" descr="TEMP_Z_ORDER_10"/>
            <p:cNvPicPr>
              <a:picLocks noChangeAspect="1"/>
            </p:cNvPicPr>
            <p:nvPr/>
          </p:nvPicPr>
          <p:blipFill>
            <a:blip r:embed="rId9"/>
            <a:stretch>
              <a:fillRect/>
            </a:stretch>
          </p:blipFill>
          <p:spPr>
            <a:xfrm>
              <a:off x="-619760" y="-619760"/>
              <a:ext cx="10942320" cy="838200"/>
            </a:xfrm>
            <a:prstGeom prst="rect">
              <a:avLst/>
            </a:prstGeom>
          </p:spPr>
        </p:pic>
        <p:sp>
          <p:nvSpPr>
            <p:cNvPr id="566" name="Text 3" descr="TEMP_Z_ORDER_11"/>
            <p:cNvSpPr/>
            <p:nvPr/>
          </p:nvSpPr>
          <p:spPr>
            <a:xfrm>
              <a:off x="-254000" y="-436880"/>
              <a:ext cx="1272438" cy="44319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kern="0" spc="80">
                  <a:solidFill>
                    <a:srgbClr val="000000"/>
                  </a:solidFill>
                  <a:latin typeface="思源黑体 CN Bold" pitchFamily="34" charset="0"/>
                  <a:ea typeface="思源黑体 CN Bold" pitchFamily="34" charset="-122"/>
                  <a:cs typeface="思源黑体 CN Bold" pitchFamily="34" charset="-120"/>
                </a:rPr>
                <a:t>快速问答</a:t>
              </a:r>
              <a:endParaRPr lang="en-US" sz="2400"/>
            </a:p>
          </p:txBody>
        </p:sp>
        <p:pic>
          <p:nvPicPr>
            <p:cNvPr id="567" name="Image 8" descr="TEMP_Z_ORDER_12"/>
            <p:cNvPicPr>
              <a:picLocks noChangeAspect="1"/>
            </p:cNvPicPr>
            <p:nvPr/>
          </p:nvPicPr>
          <p:blipFill>
            <a:blip r:embed="rId10">
              <a:alphaModFix amt="80000"/>
            </a:blip>
            <a:stretch>
              <a:fillRect/>
            </a:stretch>
          </p:blipFill>
          <p:spPr>
            <a:xfrm>
              <a:off x="9591040" y="-391160"/>
              <a:ext cx="365760" cy="365760"/>
            </a:xfrm>
            <a:prstGeom prst="rect">
              <a:avLst/>
            </a:prstGeom>
          </p:spPr>
        </p:pic>
        <p:pic>
          <p:nvPicPr>
            <p:cNvPr id="568" name="Image 9" descr="TEMP_Z_ORDER_13"/>
            <p:cNvPicPr>
              <a:picLocks noChangeAspect="1"/>
            </p:cNvPicPr>
            <p:nvPr/>
          </p:nvPicPr>
          <p:blipFill>
            <a:blip r:embed="rId11"/>
            <a:stretch>
              <a:fillRect/>
            </a:stretch>
          </p:blipFill>
          <p:spPr>
            <a:xfrm>
              <a:off x="-619760" y="218440"/>
              <a:ext cx="10942320" cy="15240"/>
            </a:xfrm>
            <a:prstGeom prst="rect">
              <a:avLst/>
            </a:prstGeom>
          </p:spPr>
        </p:pic>
      </p:grpSp>
      <p:graphicFrame>
        <p:nvGraphicFramePr>
          <p:cNvPr id="569" name="Table 0"/>
          <p:cNvGraphicFramePr>
            <a:graphicFrameLocks noGrp="1"/>
          </p:cNvGraphicFramePr>
          <p:nvPr/>
        </p:nvGraphicFramePr>
        <p:xfrm>
          <a:off x="624840" y="2225040"/>
          <a:ext cx="10942319" cy="2255520"/>
        </p:xfrm>
        <a:graphic>
          <a:graphicData uri="http://schemas.openxmlformats.org/drawingml/2006/table">
            <a:tbl>
              <a:tblPr/>
              <a:tblGrid>
                <a:gridCol w="7065961">
                  <a:extLst>
                    <a:ext uri="{9D8B030D-6E8A-4147-A177-3AD203B41FA5}">
                      <a16:colId val="1"/>
                    </a:ext>
                  </a:extLst>
                </a:gridCol>
                <a:gridCol w="1938179">
                  <a:extLst>
                    <a:ext uri="{9D8B030D-6E8A-4147-A177-3AD203B41FA5}">
                      <a16:colId val="2"/>
                    </a:ext>
                  </a:extLst>
                </a:gridCol>
                <a:gridCol w="1938179">
                  <a:extLst>
                    <a:ext uri="{9D8B030D-6E8A-4147-A177-3AD203B41FA5}">
                      <a16:colId val="3"/>
                    </a:ext>
                  </a:extLst>
                </a:gridCol>
              </a:tblGrid>
              <a:tr h="451104">
                <a:tc>
                  <a:txBody>
                    <a:bodyPr wrap="square"/>
                    <a:lstStyle/>
                    <a:p>
                      <a:pPr marL="0" indent="0" algn="ctr">
                        <a:buNone/>
                      </a:pPr>
                      <a:r>
                        <a:rPr lang="en-US" sz="1680" b="1">
                          <a:solidFill>
                            <a:srgbClr val="000000"/>
                          </a:solidFill>
                        </a:rPr>
                        <a:t>问题</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学生回答</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教师点评</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451104">
                <a:tc>
                  <a:txBody>
                    <a:bodyPr wrap="square"/>
                    <a:lstStyle/>
                    <a:p>
                      <a:pPr marL="0" indent="0" algn="ctr">
                        <a:buNone/>
                      </a:pPr>
                      <a:r>
                        <a:rPr lang="en-US" sz="1680">
                          <a:solidFill>
                            <a:srgbClr val="000000"/>
                          </a:solidFill>
                        </a:rPr>
                        <a:t>云计算的三种服务模式是什么？</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451104">
                <a:tc>
                  <a:txBody>
                    <a:bodyPr wrap="square"/>
                    <a:lstStyle/>
                    <a:p>
                      <a:pPr marL="0" indent="0" algn="ctr">
                        <a:buNone/>
                      </a:pPr>
                      <a:r>
                        <a:rPr lang="en-US" sz="1680">
                          <a:solidFill>
                            <a:srgbClr val="000000"/>
                          </a:solidFill>
                        </a:rPr>
                        <a:t>IaaS模式下，谁负责操作系统的安全？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451104">
                <a:tc>
                  <a:txBody>
                    <a:bodyPr wrap="square"/>
                    <a:lstStyle/>
                    <a:p>
                      <a:pPr marL="0" indent="0" algn="ctr">
                        <a:buNone/>
                      </a:pPr>
                      <a:r>
                        <a:rPr lang="en-US" sz="1680">
                          <a:solidFill>
                            <a:srgbClr val="000000"/>
                          </a:solidFill>
                        </a:rPr>
                        <a:t>PaaS模式下，谁负责数据安全？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451104">
                <a:tc>
                  <a:txBody>
                    <a:bodyPr wrap="square"/>
                    <a:lstStyle/>
                    <a:p>
                      <a:pPr marL="0" indent="0" algn="ctr">
                        <a:buNone/>
                      </a:pPr>
                      <a:r>
                        <a:rPr lang="en-US" sz="1680">
                          <a:solidFill>
                            <a:srgbClr val="000000"/>
                          </a:solidFill>
                        </a:rPr>
                        <a:t>基础设施位于中国境内是谁的责任？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290" presetID="10" presetClass="entr" presetSubtype="0" fill="hold" grpId="1" nodeType="afterEffect">
                                  <p:stCondLst>
                                    <p:cond delay="0"/>
                                  </p:stCondLst>
                                  <p:childTnLst>
                                    <p:set>
                                      <p:cBhvr>
                                        <p:cTn id="291" dur="1" fill="hold">
                                          <p:stCondLst>
                                            <p:cond delay="0"/>
                                          </p:stCondLst>
                                        </p:cTn>
                                        <p:tgtEl>
                                          <p:spTgt spid="556"/>
                                        </p:tgtEl>
                                        <p:attrNameLst>
                                          <p:attrName>style.visibility</p:attrName>
                                        </p:attrNameLst>
                                      </p:cBhvr>
                                      <p:to>
                                        <p:strVal val="visible"/>
                                      </p:to>
                                    </p:set>
                                    <p:animEffect transition="in" filter="fade">
                                      <p:cBhvr>
                                        <p:cTn id="292" dur="750"/>
                                        <p:tgtEl>
                                          <p:spTgt spid="556"/>
                                        </p:tgtEl>
                                      </p:cBhvr>
                                    </p:animEffect>
                                  </p:childTnLst>
                                </p:cTn>
                              </p:par>
                            </p:childTnLst>
                          </p:cTn>
                        </p:par>
                        <p:par>
                          <p:cTn fill="hold">
                            <p:stCondLst>
                              <p:cond delay="0"/>
                            </p:stCondLst>
                            <p:childTnLst>
                              <p:par>
                                <p:cTn id="293" presetID="17" presetClass="entr" presetSubtype="10" fill="hold" grpId="2" nodeType="afterEffect">
                                  <p:stCondLst>
                                    <p:cond delay="0"/>
                                  </p:stCondLst>
                                  <p:childTnLst>
                                    <p:set>
                                      <p:cBhvr>
                                        <p:cTn id="294" dur="1" fill="hold">
                                          <p:stCondLst>
                                            <p:cond delay="0"/>
                                          </p:stCondLst>
                                        </p:cTn>
                                        <p:tgtEl>
                                          <p:spTgt spid="563"/>
                                        </p:tgtEl>
                                        <p:attrNameLst>
                                          <p:attrName>style.visibility</p:attrName>
                                        </p:attrNameLst>
                                      </p:cBhvr>
                                      <p:to>
                                        <p:strVal val="visible"/>
                                      </p:to>
                                    </p:set>
                                    <p:anim calcmode="lin" valueType="num">
                                      <p:cBhvr>
                                        <p:cTn id="295" dur="750" fill="hold"/>
                                        <p:tgtEl>
                                          <p:spTgt spid="563"/>
                                        </p:tgtEl>
                                        <p:attrNameLst>
                                          <p:attrName>ppt_w</p:attrName>
                                        </p:attrNameLst>
                                      </p:cBhvr>
                                      <p:tavLst>
                                        <p:tav tm="0">
                                          <p:val>
                                            <p:fltVal val="0"/>
                                          </p:val>
                                        </p:tav>
                                        <p:tav tm="100000">
                                          <p:val>
                                            <p:strVal val="#ppt_w"/>
                                          </p:val>
                                        </p:tav>
                                      </p:tavLst>
                                    </p:anim>
                                    <p:anim calcmode="lin" valueType="num">
                                      <p:cBhvr>
                                        <p:cTn id="296" dur="750" fill="hold"/>
                                        <p:tgtEl>
                                          <p:spTgt spid="563"/>
                                        </p:tgtEl>
                                        <p:attrNameLst>
                                          <p:attrName>ppt_h</p:attrName>
                                        </p:attrNameLst>
                                      </p:cBhvr>
                                      <p:tavLst>
                                        <p:tav tm="0">
                                          <p:val>
                                            <p:strVal val="#ppt_h"/>
                                          </p:val>
                                        </p:tav>
                                        <p:tav tm="100000">
                                          <p:val>
                                            <p:strVal val="#ppt_h"/>
                                          </p:val>
                                        </p:tav>
                                      </p:tavLst>
                                    </p:anim>
                                  </p:childTnLst>
                                </p:cTn>
                              </p:par>
                            </p:childTnLst>
                          </p:cTn>
                        </p:par>
                        <p:par>
                          <p:cTn fill="hold">
                            <p:stCondLst>
                              <p:cond delay="0"/>
                            </p:stCondLst>
                            <p:childTnLst>
                              <p:par>
                                <p:cTn id="297" presetID="17" presetClass="entr" presetSubtype="10" fill="hold" grpId="3" nodeType="afterEffect">
                                  <p:stCondLst>
                                    <p:cond delay="0"/>
                                  </p:stCondLst>
                                  <p:childTnLst>
                                    <p:set>
                                      <p:cBhvr>
                                        <p:cTn id="298" dur="1" fill="hold">
                                          <p:stCondLst>
                                            <p:cond delay="0"/>
                                          </p:stCondLst>
                                        </p:cTn>
                                        <p:tgtEl>
                                          <p:spTgt spid="557"/>
                                        </p:tgtEl>
                                        <p:attrNameLst>
                                          <p:attrName>style.visibility</p:attrName>
                                        </p:attrNameLst>
                                      </p:cBhvr>
                                      <p:to>
                                        <p:strVal val="visible"/>
                                      </p:to>
                                    </p:set>
                                    <p:anim calcmode="lin" valueType="num">
                                      <p:cBhvr>
                                        <p:cTn id="299" dur="750" fill="hold"/>
                                        <p:tgtEl>
                                          <p:spTgt spid="557"/>
                                        </p:tgtEl>
                                        <p:attrNameLst>
                                          <p:attrName>ppt_w</p:attrName>
                                        </p:attrNameLst>
                                      </p:cBhvr>
                                      <p:tavLst>
                                        <p:tav tm="0">
                                          <p:val>
                                            <p:fltVal val="0"/>
                                          </p:val>
                                        </p:tav>
                                        <p:tav tm="100000">
                                          <p:val>
                                            <p:strVal val="#ppt_w"/>
                                          </p:val>
                                        </p:tav>
                                      </p:tavLst>
                                    </p:anim>
                                    <p:anim calcmode="lin" valueType="num">
                                      <p:cBhvr>
                                        <p:cTn id="300" dur="750" fill="hold"/>
                                        <p:tgtEl>
                                          <p:spTgt spid="55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6.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570" name=""/>
        <p:cNvGrpSpPr/>
        <p:nvPr/>
      </p:nvGrpSpPr>
      <p:grpSpPr>
        <a:xfrm>
          <a:off x="0" y="0"/>
          <a:ext cx="0" cy="0"/>
          <a:chOff x="0" y="0"/>
          <a:chExt cx="0" cy="0"/>
        </a:xfrm>
      </p:grpSpPr>
      <p:pic>
        <p:nvPicPr>
          <p:cNvPr id="57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57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57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57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云计算安全扩展要求——在等保标准中的定位</a:t>
            </a:r>
            <a:endParaRPr lang="en-US" sz="2760"/>
          </a:p>
        </p:txBody>
      </p:sp>
      <p:grpSp>
        <p:nvGrpSpPr>
          <p:cNvPr id="575" name="组合 13"/>
          <p:cNvGrpSpPr/>
          <p:nvPr/>
        </p:nvGrpSpPr>
        <p:grpSpPr>
          <a:xfrm>
            <a:off x="1874520" y="1219200"/>
            <a:ext cx="8442960" cy="341676"/>
            <a:chOff x="-635000" y="-520700"/>
            <a:chExt cx="8442959" cy="256257"/>
          </a:xfrm>
        </p:grpSpPr>
        <p:pic>
          <p:nvPicPr>
            <p:cNvPr id="576" name="Image 3" descr="TEMP_Z_ORDER_4"/>
            <p:cNvPicPr>
              <a:picLocks noChangeAspect="1"/>
            </p:cNvPicPr>
            <p:nvPr/>
          </p:nvPicPr>
          <p:blipFill>
            <a:blip>
              <a:extLst>
                <a:ext uri="{96DAC541-7B7A-43D3-8B79-37D633B846F1}">
                  <asvg:svgBlip r:embed="rId5"/>
                </a:ext>
              </a:extLst>
            </a:blip>
            <a:stretch>
              <a:fillRect/>
            </a:stretch>
          </p:blipFill>
          <p:spPr>
            <a:xfrm>
              <a:off x="-635000" y="-482600"/>
              <a:ext cx="121920" cy="121920"/>
            </a:xfrm>
            <a:prstGeom prst="rect">
              <a:avLst/>
            </a:prstGeom>
          </p:spPr>
        </p:pic>
        <p:sp>
          <p:nvSpPr>
            <p:cNvPr id="577" name="Text 1" descr="TEMP_Z_ORDER_5"/>
            <p:cNvSpPr/>
            <p:nvPr/>
          </p:nvSpPr>
          <p:spPr>
            <a:xfrm>
              <a:off x="-391160" y="-520700"/>
              <a:ext cx="7681770" cy="25625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920" b="1">
                  <a:solidFill>
                    <a:srgbClr val="000000"/>
                  </a:solidFill>
                  <a:latin typeface="思源黑体 CN Bold" pitchFamily="34" charset="0"/>
                  <a:ea typeface="思源黑体 CN Bold" pitchFamily="34" charset="-122"/>
                  <a:cs typeface="思源黑体 CN Bold" pitchFamily="34" charset="-120"/>
                </a:rPr>
                <a:t>GB/T 22239-2019 第三级/第四级 → 8.2/9.2 云计算安全扩展要求</a:t>
              </a:r>
              <a:endParaRPr lang="en-US" sz="1920"/>
            </a:p>
          </p:txBody>
        </p:sp>
        <p:pic>
          <p:nvPicPr>
            <p:cNvPr id="578" name="Image 4" descr="TEMP_Z_ORDER_6"/>
            <p:cNvPicPr>
              <a:picLocks noChangeAspect="1"/>
            </p:cNvPicPr>
            <p:nvPr/>
          </p:nvPicPr>
          <p:blipFill>
            <a:blip>
              <a:extLst>
                <a:ext uri="{96DAC541-7B7A-43D3-8B79-37D633B846F1}">
                  <asvg:svgBlip r:embed="rId5"/>
                </a:ext>
              </a:extLst>
            </a:blip>
            <a:stretch>
              <a:fillRect/>
            </a:stretch>
          </p:blipFill>
          <p:spPr>
            <a:xfrm>
              <a:off x="7686039" y="-482600"/>
              <a:ext cx="121920" cy="121920"/>
            </a:xfrm>
            <a:prstGeom prst="rect">
              <a:avLst/>
            </a:prstGeom>
          </p:spPr>
        </p:pic>
      </p:grpSp>
      <p:sp>
        <p:nvSpPr>
          <p:cNvPr id="579" name="Text 2"/>
          <p:cNvSpPr/>
          <p:nvPr/>
        </p:nvSpPr>
        <p:spPr>
          <a:xfrm>
            <a:off x="731520" y="1645920"/>
            <a:ext cx="10738104" cy="36576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458BE6"/>
                </a:solidFill>
                <a:latin typeface="思源黑体 CN Bold" pitchFamily="34" charset="0"/>
                <a:ea typeface="思源黑体 CN Bold" pitchFamily="34" charset="-122"/>
                <a:cs typeface="思源黑体 CN Bold" pitchFamily="34" charset="-120"/>
              </a:rPr>
              <a:t>七个安全类：</a:t>
            </a:r>
            <a:endParaRPr lang="en-US" sz="1920"/>
          </a:p>
        </p:txBody>
      </p:sp>
      <p:grpSp>
        <p:nvGrpSpPr>
          <p:cNvPr id="580" name="组合 17"/>
          <p:cNvGrpSpPr/>
          <p:nvPr/>
        </p:nvGrpSpPr>
        <p:grpSpPr>
          <a:xfrm>
            <a:off x="2286000" y="5715000"/>
            <a:ext cx="7635240" cy="685800"/>
            <a:chOff x="-635000" y="-635000"/>
            <a:chExt cx="7635240" cy="685800"/>
          </a:xfrm>
        </p:grpSpPr>
        <p:pic>
          <p:nvPicPr>
            <p:cNvPr id="581" name="Image 5" descr="TEMP_Z_ORDER_8"/>
            <p:cNvPicPr>
              <a:picLocks noChangeAspect="1"/>
            </p:cNvPicPr>
            <p:nvPr/>
          </p:nvPicPr>
          <p:blipFill>
            <a:blip r:embed="rId6"/>
            <a:stretch>
              <a:fillRect/>
            </a:stretch>
          </p:blipFill>
          <p:spPr>
            <a:xfrm>
              <a:off x="-635000" y="-635000"/>
              <a:ext cx="7635240" cy="685800"/>
            </a:xfrm>
            <a:prstGeom prst="rect">
              <a:avLst/>
            </a:prstGeom>
          </p:spPr>
        </p:pic>
        <p:sp>
          <p:nvSpPr>
            <p:cNvPr id="582" name="Text 3" descr="TEMP_Z_ORDER_9"/>
            <p:cNvSpPr/>
            <p:nvPr/>
          </p:nvSpPr>
          <p:spPr>
            <a:xfrm>
              <a:off x="-254000" y="-497840"/>
              <a:ext cx="6882384" cy="37287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40" b="1">
                  <a:solidFill>
                    <a:srgbClr val="000000"/>
                  </a:solidFill>
                  <a:latin typeface="思源黑体 CN Bold" pitchFamily="34" charset="0"/>
                  <a:ea typeface="思源黑体 CN Bold" pitchFamily="34" charset="-122"/>
                  <a:cs typeface="思源黑体 CN Bold" pitchFamily="34" charset="-120"/>
                </a:rPr>
                <a:t>本节课重点：安全区域边界 + 安全计算环境（实操核查）</a:t>
              </a:r>
              <a:endParaRPr lang="en-US" sz="2040"/>
            </a:p>
          </p:txBody>
        </p:sp>
      </p:grpSp>
      <p:grpSp>
        <p:nvGrpSpPr>
          <p:cNvPr id="583" name="组合 20"/>
          <p:cNvGrpSpPr/>
          <p:nvPr/>
        </p:nvGrpSpPr>
        <p:grpSpPr>
          <a:xfrm>
            <a:off x="609600" y="2575560"/>
            <a:ext cx="10972800" cy="3048000"/>
            <a:chOff x="-635000" y="-635000"/>
            <a:chExt cx="10972800" cy="3048000"/>
          </a:xfrm>
        </p:grpSpPr>
        <p:pic>
          <p:nvPicPr>
            <p:cNvPr id="584" name="Image 6" descr="TEMP_Z_ORDER_10"/>
            <p:cNvPicPr>
              <a:picLocks noChangeAspect="1"/>
            </p:cNvPicPr>
            <p:nvPr/>
          </p:nvPicPr>
          <p:blipFill>
            <a:blip>
              <a:extLst>
                <a:ext uri="{96DAC541-7B7A-43D3-8B79-37D633B846F1}">
                  <asvg:svgBlip r:embed="rId7"/>
                </a:ext>
              </a:extLst>
            </a:blip>
            <a:stretch>
              <a:fillRect/>
            </a:stretch>
          </p:blipFill>
          <p:spPr>
            <a:xfrm>
              <a:off x="-635000" y="-635000"/>
              <a:ext cx="10972800" cy="3048000"/>
            </a:xfrm>
            <a:prstGeom prst="rect">
              <a:avLst/>
            </a:prstGeom>
            <a:effectLst>
              <a:outerShdw blurRad="228600" dist="152400" dir="5400000" algn="bl" rotWithShape="0">
                <a:srgbClr val="000000">
                  <a:alpha val="10000"/>
                </a:srgbClr>
              </a:outerShdw>
            </a:effectLst>
          </p:spPr>
        </p:pic>
      </p:grpSp>
      <p:graphicFrame>
        <p:nvGraphicFramePr>
          <p:cNvPr id="585" name="Table 0"/>
          <p:cNvGraphicFramePr>
            <a:graphicFrameLocks noGrp="1"/>
          </p:cNvGraphicFramePr>
          <p:nvPr/>
        </p:nvGraphicFramePr>
        <p:xfrm>
          <a:off x="1348740" y="2148840"/>
          <a:ext cx="9589135" cy="3373120"/>
        </p:xfrm>
        <a:graphic>
          <a:graphicData uri="http://schemas.openxmlformats.org/drawingml/2006/table">
            <a:tbl>
              <a:tblPr/>
              <a:tblGrid>
                <a:gridCol w="600710">
                  <a:extLst>
                    <a:ext uri="{9D8B030D-6E8A-4147-A177-3AD203B41FA5}">
                      <a16:colId val="1"/>
                    </a:ext>
                  </a:extLst>
                </a:gridCol>
                <a:gridCol w="1411605">
                  <a:extLst>
                    <a:ext uri="{9D8B030D-6E8A-4147-A177-3AD203B41FA5}">
                      <a16:colId val="2"/>
                    </a:ext>
                  </a:extLst>
                </a:gridCol>
                <a:gridCol w="6430645">
                  <a:extLst>
                    <a:ext uri="{9D8B030D-6E8A-4147-A177-3AD203B41FA5}">
                      <a16:colId val="3"/>
                    </a:ext>
                  </a:extLst>
                </a:gridCol>
                <a:gridCol w="1146175">
                  <a:extLst>
                    <a:ext uri="{9D8B030D-6E8A-4147-A177-3AD203B41FA5}">
                      <a16:colId val="4"/>
                    </a:ext>
                  </a:extLst>
                </a:gridCol>
              </a:tblGrid>
              <a:tr h="255322">
                <a:tc>
                  <a:txBody>
                    <a:bodyPr wrap="square"/>
                    <a:lstStyle/>
                    <a:p>
                      <a:pPr marL="0" indent="0" algn="ctr">
                        <a:buNone/>
                      </a:pPr>
                      <a:r>
                        <a:rPr lang="en-US" sz="1600">
                          <a:solidFill>
                            <a:srgbClr val="000000"/>
                          </a:solidFill>
                        </a:rPr>
                        <a:t>序号</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安全类</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核心关注点</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测评方法</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255322">
                <a:tc>
                  <a:txBody>
                    <a:bodyPr wrap="square"/>
                    <a:lstStyle/>
                    <a:p>
                      <a:pPr marL="0" indent="0" algn="ctr">
                        <a:buNone/>
                      </a:pPr>
                      <a:r>
                        <a:rPr lang="en-US" sz="1600">
                          <a:solidFill>
                            <a:srgbClr val="000000"/>
                          </a:solidFill>
                        </a:rPr>
                        <a:t>1</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安全物理环境</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基础设施位置</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文档审查</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255322">
                <a:tc>
                  <a:txBody>
                    <a:bodyPr wrap="square"/>
                    <a:lstStyle/>
                    <a:p>
                      <a:pPr marL="0" indent="0" algn="ctr">
                        <a:buNone/>
                      </a:pPr>
                      <a:r>
                        <a:rPr lang="en-US" sz="1600">
                          <a:solidFill>
                            <a:srgbClr val="000000"/>
                          </a:solidFill>
                        </a:rPr>
                        <a:t>2</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安全通信网络</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网络架构（隔离、冗余、自主配置）</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核查+访谈</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255322">
                <a:tc>
                  <a:txBody>
                    <a:bodyPr wrap="square"/>
                    <a:lstStyle/>
                    <a:p>
                      <a:pPr marL="0" indent="0" algn="ctr">
                        <a:buNone/>
                      </a:pPr>
                      <a:r>
                        <a:rPr lang="en-US" sz="1600">
                          <a:solidFill>
                            <a:srgbClr val="000000"/>
                          </a:solidFill>
                        </a:rPr>
                        <a:t>3</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安全区域边界</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访问控制、入侵防范、安全审计</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核查+测试</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255322">
                <a:tc>
                  <a:txBody>
                    <a:bodyPr wrap="square"/>
                    <a:lstStyle/>
                    <a:p>
                      <a:pPr marL="0" indent="0" algn="ctr">
                        <a:buNone/>
                      </a:pPr>
                      <a:r>
                        <a:rPr lang="en-US" sz="1600">
                          <a:solidFill>
                            <a:srgbClr val="000000"/>
                          </a:solidFill>
                        </a:rPr>
                        <a:t>4</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安全计算环境</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身份鉴别、访问控制、镜像快照、数据保护、备份恢复、剩余信息保护</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核查+测试</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255322">
                <a:tc>
                  <a:txBody>
                    <a:bodyPr wrap="square"/>
                    <a:lstStyle/>
                    <a:p>
                      <a:pPr marL="0" indent="0" algn="ctr">
                        <a:buNone/>
                      </a:pPr>
                      <a:r>
                        <a:rPr lang="en-US" sz="1600">
                          <a:solidFill>
                            <a:srgbClr val="000000"/>
                          </a:solidFill>
                        </a:rPr>
                        <a:t>5</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安全管理中心</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集中管控</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核查</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r h="255322">
                <a:tc>
                  <a:txBody>
                    <a:bodyPr wrap="square"/>
                    <a:lstStyle/>
                    <a:p>
                      <a:pPr marL="0" indent="0" algn="ctr">
                        <a:buNone/>
                      </a:pPr>
                      <a:r>
                        <a:rPr lang="en-US" sz="1600">
                          <a:solidFill>
                            <a:srgbClr val="000000"/>
                          </a:solidFill>
                        </a:rPr>
                        <a:t>6</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安全建设管理</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云服务商选择、供应链管理</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文档审查</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7"/>
                  </a:ext>
                </a:extLst>
              </a:tr>
              <a:tr h="255322">
                <a:tc>
                  <a:txBody>
                    <a:bodyPr wrap="square"/>
                    <a:lstStyle/>
                    <a:p>
                      <a:pPr marL="0" indent="0" algn="ctr">
                        <a:buNone/>
                      </a:pPr>
                      <a:r>
                        <a:rPr lang="en-US" sz="1600">
                          <a:solidFill>
                            <a:srgbClr val="000000"/>
                          </a:solidFill>
                        </a:rPr>
                        <a:t>7</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安全运维管理</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云计算环境管理</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核查+访谈</a:t>
                      </a:r>
                      <a:endParaRPr lang="en-US" sz="160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8"/>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301" presetID="10" presetClass="entr" presetSubtype="0" fill="hold" grpId="1" nodeType="afterEffect">
                                  <p:stCondLst>
                                    <p:cond delay="0"/>
                                  </p:stCondLst>
                                  <p:childTnLst>
                                    <p:set>
                                      <p:cBhvr>
                                        <p:cTn id="302" dur="1" fill="hold">
                                          <p:stCondLst>
                                            <p:cond delay="0"/>
                                          </p:stCondLst>
                                        </p:cTn>
                                        <p:tgtEl>
                                          <p:spTgt spid="574"/>
                                        </p:tgtEl>
                                        <p:attrNameLst>
                                          <p:attrName>style.visibility</p:attrName>
                                        </p:attrNameLst>
                                      </p:cBhvr>
                                      <p:to>
                                        <p:strVal val="visible"/>
                                      </p:to>
                                    </p:set>
                                    <p:animEffect transition="in" filter="fade">
                                      <p:cBhvr>
                                        <p:cTn id="303" dur="750"/>
                                        <p:tgtEl>
                                          <p:spTgt spid="574"/>
                                        </p:tgtEl>
                                      </p:cBhvr>
                                    </p:animEffect>
                                  </p:childTnLst>
                                </p:cTn>
                              </p:par>
                            </p:childTnLst>
                          </p:cTn>
                        </p:par>
                        <p:par>
                          <p:cTn fill="hold">
                            <p:stCondLst>
                              <p:cond delay="0"/>
                            </p:stCondLst>
                            <p:childTnLst>
                              <p:par>
                                <p:cTn id="304" presetID="2" presetClass="entr" presetSubtype="4" fill="hold" grpId="2" nodeType="afterEffect">
                                  <p:stCondLst>
                                    <p:cond delay="0"/>
                                  </p:stCondLst>
                                  <p:childTnLst>
                                    <p:set>
                                      <p:cBhvr>
                                        <p:cTn id="305" dur="1" fill="hold">
                                          <p:stCondLst>
                                            <p:cond delay="0"/>
                                          </p:stCondLst>
                                        </p:cTn>
                                        <p:tgtEl>
                                          <p:spTgt spid="575"/>
                                        </p:tgtEl>
                                        <p:attrNameLst>
                                          <p:attrName>style.visibility</p:attrName>
                                        </p:attrNameLst>
                                      </p:cBhvr>
                                      <p:to>
                                        <p:strVal val="visible"/>
                                      </p:to>
                                    </p:set>
                                    <p:anim calcmode="lin" valueType="num">
                                      <p:cBhvr additive="base">
                                        <p:cTn id="306" dur="750" fill="hold"/>
                                        <p:tgtEl>
                                          <p:spTgt spid="575"/>
                                        </p:tgtEl>
                                        <p:attrNameLst>
                                          <p:attrName>ppt_x</p:attrName>
                                        </p:attrNameLst>
                                      </p:cBhvr>
                                      <p:tavLst>
                                        <p:tav tm="0">
                                          <p:val>
                                            <p:strVal val="#ppt_x"/>
                                          </p:val>
                                        </p:tav>
                                        <p:tav tm="100000">
                                          <p:val>
                                            <p:strVal val="#ppt_x"/>
                                          </p:val>
                                        </p:tav>
                                      </p:tavLst>
                                    </p:anim>
                                    <p:anim calcmode="lin" valueType="num">
                                      <p:cBhvr additive="base">
                                        <p:cTn id="307" dur="750" fill="hold"/>
                                        <p:tgtEl>
                                          <p:spTgt spid="575"/>
                                        </p:tgtEl>
                                        <p:attrNameLst>
                                          <p:attrName>ppt_y</p:attrName>
                                        </p:attrNameLst>
                                      </p:cBhvr>
                                      <p:tavLst>
                                        <p:tav tm="0">
                                          <p:val>
                                            <p:strVal val="1+#ppt_h/2"/>
                                          </p:val>
                                        </p:tav>
                                        <p:tav tm="100000">
                                          <p:val>
                                            <p:strVal val="#ppt_y"/>
                                          </p:val>
                                        </p:tav>
                                      </p:tavLst>
                                    </p:anim>
                                  </p:childTnLst>
                                </p:cTn>
                              </p:par>
                            </p:childTnLst>
                          </p:cTn>
                        </p:par>
                        <p:par>
                          <p:cTn fill="hold">
                            <p:stCondLst>
                              <p:cond delay="0"/>
                            </p:stCondLst>
                            <p:childTnLst>
                              <p:par>
                                <p:cTn id="308" presetID="2" presetClass="entr" presetSubtype="4" fill="hold" grpId="3" nodeType="afterEffect">
                                  <p:stCondLst>
                                    <p:cond delay="0"/>
                                  </p:stCondLst>
                                  <p:childTnLst>
                                    <p:set>
                                      <p:cBhvr>
                                        <p:cTn id="309" dur="1" fill="hold">
                                          <p:stCondLst>
                                            <p:cond delay="0"/>
                                          </p:stCondLst>
                                        </p:cTn>
                                        <p:tgtEl>
                                          <p:spTgt spid="579"/>
                                        </p:tgtEl>
                                        <p:attrNameLst>
                                          <p:attrName>style.visibility</p:attrName>
                                        </p:attrNameLst>
                                      </p:cBhvr>
                                      <p:to>
                                        <p:strVal val="visible"/>
                                      </p:to>
                                    </p:set>
                                    <p:anim calcmode="lin" valueType="num">
                                      <p:cBhvr additive="base">
                                        <p:cTn id="310" dur="750" fill="hold"/>
                                        <p:tgtEl>
                                          <p:spTgt spid="579"/>
                                        </p:tgtEl>
                                        <p:attrNameLst>
                                          <p:attrName>ppt_x</p:attrName>
                                        </p:attrNameLst>
                                      </p:cBhvr>
                                      <p:tavLst>
                                        <p:tav tm="0">
                                          <p:val>
                                            <p:strVal val="#ppt_x"/>
                                          </p:val>
                                        </p:tav>
                                        <p:tav tm="100000">
                                          <p:val>
                                            <p:strVal val="#ppt_x"/>
                                          </p:val>
                                        </p:tav>
                                      </p:tavLst>
                                    </p:anim>
                                    <p:anim calcmode="lin" valueType="num">
                                      <p:cBhvr additive="base">
                                        <p:cTn id="311" dur="750" fill="hold"/>
                                        <p:tgtEl>
                                          <p:spTgt spid="579"/>
                                        </p:tgtEl>
                                        <p:attrNameLst>
                                          <p:attrName>ppt_y</p:attrName>
                                        </p:attrNameLst>
                                      </p:cBhvr>
                                      <p:tavLst>
                                        <p:tav tm="0">
                                          <p:val>
                                            <p:strVal val="1+#ppt_h/2"/>
                                          </p:val>
                                        </p:tav>
                                        <p:tav tm="100000">
                                          <p:val>
                                            <p:strVal val="#ppt_y"/>
                                          </p:val>
                                        </p:tav>
                                      </p:tavLst>
                                    </p:anim>
                                  </p:childTnLst>
                                </p:cTn>
                              </p:par>
                            </p:childTnLst>
                          </p:cTn>
                        </p:par>
                        <p:par>
                          <p:cTn fill="hold">
                            <p:stCondLst>
                              <p:cond delay="0"/>
                            </p:stCondLst>
                            <p:childTnLst>
                              <p:par>
                                <p:cTn id="312" presetID="2" presetClass="entr" presetSubtype="4" fill="hold" grpId="4" nodeType="afterEffect">
                                  <p:stCondLst>
                                    <p:cond delay="0"/>
                                  </p:stCondLst>
                                  <p:childTnLst>
                                    <p:set>
                                      <p:cBhvr>
                                        <p:cTn id="313" dur="1" fill="hold">
                                          <p:stCondLst>
                                            <p:cond delay="0"/>
                                          </p:stCondLst>
                                        </p:cTn>
                                        <p:tgtEl>
                                          <p:spTgt spid="583"/>
                                        </p:tgtEl>
                                        <p:attrNameLst>
                                          <p:attrName>style.visibility</p:attrName>
                                        </p:attrNameLst>
                                      </p:cBhvr>
                                      <p:to>
                                        <p:strVal val="visible"/>
                                      </p:to>
                                    </p:set>
                                    <p:anim calcmode="lin" valueType="num">
                                      <p:cBhvr additive="base">
                                        <p:cTn id="314" dur="750" fill="hold"/>
                                        <p:tgtEl>
                                          <p:spTgt spid="583"/>
                                        </p:tgtEl>
                                        <p:attrNameLst>
                                          <p:attrName>ppt_x</p:attrName>
                                        </p:attrNameLst>
                                      </p:cBhvr>
                                      <p:tavLst>
                                        <p:tav tm="0">
                                          <p:val>
                                            <p:strVal val="#ppt_x"/>
                                          </p:val>
                                        </p:tav>
                                        <p:tav tm="100000">
                                          <p:val>
                                            <p:strVal val="#ppt_x"/>
                                          </p:val>
                                        </p:tav>
                                      </p:tavLst>
                                    </p:anim>
                                    <p:anim calcmode="lin" valueType="num">
                                      <p:cBhvr additive="base">
                                        <p:cTn id="315" dur="750" fill="hold"/>
                                        <p:tgtEl>
                                          <p:spTgt spid="583"/>
                                        </p:tgtEl>
                                        <p:attrNameLst>
                                          <p:attrName>ppt_y</p:attrName>
                                        </p:attrNameLst>
                                      </p:cBhvr>
                                      <p:tavLst>
                                        <p:tav tm="0">
                                          <p:val>
                                            <p:strVal val="1+#ppt_h/2"/>
                                          </p:val>
                                        </p:tav>
                                        <p:tav tm="100000">
                                          <p:val>
                                            <p:strVal val="#ppt_y"/>
                                          </p:val>
                                        </p:tav>
                                      </p:tavLst>
                                    </p:anim>
                                  </p:childTnLst>
                                </p:cTn>
                              </p:par>
                            </p:childTnLst>
                          </p:cTn>
                        </p:par>
                        <p:par>
                          <p:cTn fill="hold">
                            <p:stCondLst>
                              <p:cond delay="0"/>
                            </p:stCondLst>
                            <p:childTnLst>
                              <p:par>
                                <p:cTn id="316" presetID="2" presetClass="entr" presetSubtype="4" fill="hold" grpId="5" nodeType="afterEffect">
                                  <p:stCondLst>
                                    <p:cond delay="0"/>
                                  </p:stCondLst>
                                  <p:childTnLst>
                                    <p:set>
                                      <p:cBhvr>
                                        <p:cTn id="317" dur="1" fill="hold">
                                          <p:stCondLst>
                                            <p:cond delay="0"/>
                                          </p:stCondLst>
                                        </p:cTn>
                                        <p:tgtEl>
                                          <p:spTgt spid="580"/>
                                        </p:tgtEl>
                                        <p:attrNameLst>
                                          <p:attrName>style.visibility</p:attrName>
                                        </p:attrNameLst>
                                      </p:cBhvr>
                                      <p:to>
                                        <p:strVal val="visible"/>
                                      </p:to>
                                    </p:set>
                                    <p:anim calcmode="lin" valueType="num">
                                      <p:cBhvr additive="base">
                                        <p:cTn id="318" dur="750" fill="hold"/>
                                        <p:tgtEl>
                                          <p:spTgt spid="580"/>
                                        </p:tgtEl>
                                        <p:attrNameLst>
                                          <p:attrName>ppt_x</p:attrName>
                                        </p:attrNameLst>
                                      </p:cBhvr>
                                      <p:tavLst>
                                        <p:tav tm="0">
                                          <p:val>
                                            <p:strVal val="#ppt_x"/>
                                          </p:val>
                                        </p:tav>
                                        <p:tav tm="100000">
                                          <p:val>
                                            <p:strVal val="#ppt_x"/>
                                          </p:val>
                                        </p:tav>
                                      </p:tavLst>
                                    </p:anim>
                                    <p:anim calcmode="lin" valueType="num">
                                      <p:cBhvr additive="base">
                                        <p:cTn id="319" dur="750" fill="hold"/>
                                        <p:tgtEl>
                                          <p:spTgt spid="5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7.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586" name=""/>
        <p:cNvGrpSpPr/>
        <p:nvPr/>
      </p:nvGrpSpPr>
      <p:grpSpPr>
        <a:xfrm>
          <a:off x="0" y="0"/>
          <a:ext cx="0" cy="0"/>
          <a:chOff x="0" y="0"/>
          <a:chExt cx="0" cy="0"/>
        </a:xfrm>
      </p:grpSpPr>
      <p:pic>
        <p:nvPicPr>
          <p:cNvPr id="587"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588"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589"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590"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测评指标适用性原则</a:t>
            </a:r>
            <a:endParaRPr lang="en-US" sz="2760"/>
          </a:p>
        </p:txBody>
      </p:sp>
      <p:sp>
        <p:nvSpPr>
          <p:cNvPr id="591" name="Text 1"/>
          <p:cNvSpPr/>
          <p:nvPr/>
        </p:nvSpPr>
        <p:spPr>
          <a:xfrm>
            <a:off x="609600" y="990600"/>
            <a:ext cx="10981944" cy="41783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2000">
                <a:solidFill>
                  <a:srgbClr val="000000"/>
                </a:solidFill>
                <a:latin typeface="思源黑体 CN Regular" pitchFamily="34" charset="0"/>
                <a:ea typeface="思源黑体 CN Regular" pitchFamily="34" charset="-122"/>
                <a:cs typeface="思源黑体 CN Regular" pitchFamily="34" charset="-120"/>
              </a:rPr>
              <a:t>云计算安全扩展要求中，不同指标适用于云计算平台或云服务客户业务系统，需要区分适用性。</a:t>
            </a:r>
            <a:endParaRPr lang="en-US" sz="2000">
              <a:solidFill>
                <a:srgbClr val="000000"/>
              </a:solidFill>
              <a:latin typeface="思源黑体 CN Regular" pitchFamily="34" charset="0"/>
              <a:ea typeface="思源黑体 CN Regular" pitchFamily="34" charset="-122"/>
              <a:cs typeface="思源黑体 CN Regular" pitchFamily="34" charset="-120"/>
            </a:endParaRPr>
          </a:p>
        </p:txBody>
      </p:sp>
      <p:grpSp>
        <p:nvGrpSpPr>
          <p:cNvPr id="592" name="组合 16"/>
          <p:cNvGrpSpPr/>
          <p:nvPr/>
        </p:nvGrpSpPr>
        <p:grpSpPr>
          <a:xfrm>
            <a:off x="609600" y="1600200"/>
            <a:ext cx="2356104" cy="457200"/>
            <a:chOff x="-635000" y="-635000"/>
            <a:chExt cx="2356104" cy="457200"/>
          </a:xfrm>
        </p:grpSpPr>
        <p:pic>
          <p:nvPicPr>
            <p:cNvPr id="593" name="Image 3" descr="TEMP_Z_ORDER_5"/>
            <p:cNvPicPr>
              <a:picLocks noChangeAspect="1"/>
            </p:cNvPicPr>
            <p:nvPr/>
          </p:nvPicPr>
          <p:blipFill>
            <a:blip>
              <a:extLst>
                <a:ext uri="{96DAC541-7B7A-43D3-8B79-37D633B846F1}">
                  <asvg:svgBlip r:embed="rId5"/>
                </a:ext>
              </a:extLst>
            </a:blip>
            <a:stretch>
              <a:fillRect/>
            </a:stretch>
          </p:blipFill>
          <p:spPr>
            <a:xfrm>
              <a:off x="-635000" y="-528320"/>
              <a:ext cx="91440" cy="243840"/>
            </a:xfrm>
            <a:prstGeom prst="rect">
              <a:avLst/>
            </a:prstGeom>
          </p:spPr>
        </p:pic>
        <p:sp>
          <p:nvSpPr>
            <p:cNvPr id="594" name="Text 2" descr="TEMP_Z_ORDER_6"/>
            <p:cNvSpPr/>
            <p:nvPr/>
          </p:nvSpPr>
          <p:spPr>
            <a:xfrm>
              <a:off x="-421640" y="-635000"/>
              <a:ext cx="2154936" cy="32023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000000"/>
                  </a:solidFill>
                  <a:latin typeface="思源黑体 CN Bold" pitchFamily="34" charset="0"/>
                  <a:ea typeface="思源黑体 CN Bold" pitchFamily="34" charset="-122"/>
                  <a:cs typeface="思源黑体 CN Bold" pitchFamily="34" charset="-120"/>
                </a:rPr>
                <a:t>四个区分原则：</a:t>
              </a:r>
              <a:endParaRPr lang="en-US" sz="2400"/>
            </a:p>
          </p:txBody>
        </p:sp>
      </p:grpSp>
      <p:graphicFrame>
        <p:nvGraphicFramePr>
          <p:cNvPr id="595" name="Table 0"/>
          <p:cNvGraphicFramePr>
            <a:graphicFrameLocks noGrp="1"/>
          </p:cNvGraphicFramePr>
          <p:nvPr/>
        </p:nvGraphicFramePr>
        <p:xfrm>
          <a:off x="984449" y="1950720"/>
          <a:ext cx="10223103" cy="2048270"/>
        </p:xfrm>
        <a:graphic>
          <a:graphicData uri="http://schemas.openxmlformats.org/drawingml/2006/table">
            <a:tbl>
              <a:tblPr/>
              <a:tblGrid>
                <a:gridCol w="1251228">
                  <a:extLst>
                    <a:ext uri="{9D8B030D-6E8A-4147-A177-3AD203B41FA5}">
                      <a16:colId val="1"/>
                    </a:ext>
                  </a:extLst>
                </a:gridCol>
                <a:gridCol w="5459905">
                  <a:extLst>
                    <a:ext uri="{9D8B030D-6E8A-4147-A177-3AD203B41FA5}">
                      <a16:colId val="2"/>
                    </a:ext>
                  </a:extLst>
                </a:gridCol>
                <a:gridCol w="3511970">
                  <a:extLst>
                    <a:ext uri="{9D8B030D-6E8A-4147-A177-3AD203B41FA5}">
                      <a16:colId val="3"/>
                    </a:ext>
                  </a:extLst>
                </a:gridCol>
              </a:tblGrid>
              <a:tr h="340770">
                <a:tc>
                  <a:txBody>
                    <a:bodyPr wrap="square"/>
                    <a:lstStyle/>
                    <a:p>
                      <a:pPr marL="0" indent="0" algn="ctr">
                        <a:buNone/>
                      </a:pPr>
                      <a:r>
                        <a:rPr lang="en-US" sz="1570" b="1">
                          <a:solidFill>
                            <a:srgbClr val="000000"/>
                          </a:solidFill>
                        </a:rPr>
                        <a:t>原则</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说明</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适用对象</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40770">
                <a:tc>
                  <a:txBody>
                    <a:bodyPr wrap="square"/>
                    <a:lstStyle/>
                    <a:p>
                      <a:pPr marL="0" indent="0" algn="ctr">
                        <a:buNone/>
                      </a:pPr>
                      <a:r>
                        <a:rPr lang="en-US" sz="1570">
                          <a:solidFill>
                            <a:srgbClr val="000000"/>
                          </a:solidFill>
                        </a:rPr>
                        <a:t>原则一</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仅关注云计算平台自身安全防护</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只适用于云计算平台</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340770">
                <a:tc>
                  <a:txBody>
                    <a:bodyPr wrap="square"/>
                    <a:lstStyle/>
                    <a:p>
                      <a:pPr marL="0" indent="0" algn="ctr">
                        <a:buNone/>
                      </a:pPr>
                      <a:r>
                        <a:rPr lang="en-US" sz="1570">
                          <a:solidFill>
                            <a:srgbClr val="000000"/>
                          </a:solidFill>
                        </a:rPr>
                        <a:t>原则二</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提供需要客户自操作的安全服务</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340770">
                <a:tc>
                  <a:txBody>
                    <a:bodyPr wrap="square"/>
                    <a:lstStyle/>
                    <a:p>
                      <a:pPr marL="0" indent="0" algn="ctr">
                        <a:buNone/>
                      </a:pPr>
                      <a:r>
                        <a:rPr lang="en-US" sz="1570">
                          <a:solidFill>
                            <a:srgbClr val="000000"/>
                          </a:solidFill>
                        </a:rPr>
                        <a:t>原则三</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分别关注平台和客户各自的安全需求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340770">
                <a:tc>
                  <a:txBody>
                    <a:bodyPr wrap="square"/>
                    <a:lstStyle/>
                    <a:p>
                      <a:pPr marL="0" indent="0" algn="ctr">
                        <a:buNone/>
                      </a:pPr>
                      <a:r>
                        <a:rPr lang="en-US" sz="1570">
                          <a:solidFill>
                            <a:srgbClr val="000000"/>
                          </a:solidFill>
                        </a:rPr>
                        <a:t>原则四</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仅关注云服务客户安全需求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只适用于客户业务系统</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bl>
          </a:graphicData>
        </a:graphic>
      </p:graphicFrame>
      <p:grpSp>
        <p:nvGrpSpPr>
          <p:cNvPr id="596" name="组合 19"/>
          <p:cNvGrpSpPr/>
          <p:nvPr/>
        </p:nvGrpSpPr>
        <p:grpSpPr>
          <a:xfrm>
            <a:off x="609600" y="4343400"/>
            <a:ext cx="6364224" cy="434340"/>
            <a:chOff x="-635000" y="-635000"/>
            <a:chExt cx="6364224" cy="434340"/>
          </a:xfrm>
        </p:grpSpPr>
        <p:pic>
          <p:nvPicPr>
            <p:cNvPr id="597" name="Image 4" descr="TEMP_Z_ORDER_8"/>
            <p:cNvPicPr>
              <a:picLocks noChangeAspect="1"/>
            </p:cNvPicPr>
            <p:nvPr/>
          </p:nvPicPr>
          <p:blipFill>
            <a:blip>
              <a:extLst>
                <a:ext uri="{96DAC541-7B7A-43D3-8B79-37D633B846F1}">
                  <asvg:svgBlip r:embed="rId5"/>
                </a:ext>
              </a:extLst>
            </a:blip>
            <a:stretch>
              <a:fillRect/>
            </a:stretch>
          </p:blipFill>
          <p:spPr>
            <a:xfrm>
              <a:off x="-635000" y="-528320"/>
              <a:ext cx="91440" cy="243840"/>
            </a:xfrm>
            <a:prstGeom prst="rect">
              <a:avLst/>
            </a:prstGeom>
          </p:spPr>
        </p:pic>
        <p:sp>
          <p:nvSpPr>
            <p:cNvPr id="598" name="Text 3" descr="TEMP_Z_ORDER_9"/>
            <p:cNvSpPr/>
            <p:nvPr/>
          </p:nvSpPr>
          <p:spPr>
            <a:xfrm>
              <a:off x="-421639" y="-635000"/>
              <a:ext cx="5966158" cy="30430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280" b="1">
                  <a:solidFill>
                    <a:srgbClr val="000000"/>
                  </a:solidFill>
                  <a:latin typeface="思源黑体 CN Bold" pitchFamily="34" charset="0"/>
                  <a:ea typeface="思源黑体 CN Bold" pitchFamily="34" charset="-122"/>
                  <a:cs typeface="思源黑体 CN Bold" pitchFamily="34" charset="-120"/>
                </a:rPr>
                <a:t>第三级云平台测评指标适用性（IaaS）示例：</a:t>
              </a:r>
              <a:endParaRPr lang="en-US" sz="2280"/>
            </a:p>
          </p:txBody>
        </p:sp>
      </p:grpSp>
      <p:graphicFrame>
        <p:nvGraphicFramePr>
          <p:cNvPr id="599" name="Table 1"/>
          <p:cNvGraphicFramePr>
            <a:graphicFrameLocks noGrp="1"/>
          </p:cNvGraphicFramePr>
          <p:nvPr/>
        </p:nvGraphicFramePr>
        <p:xfrm>
          <a:off x="5813425" y="4114800"/>
          <a:ext cx="5927090" cy="2310130"/>
        </p:xfrm>
        <a:graphic>
          <a:graphicData uri="http://schemas.openxmlformats.org/drawingml/2006/table">
            <a:tbl>
              <a:tblPr/>
              <a:tblGrid>
                <a:gridCol w="3408680">
                  <a:extLst>
                    <a:ext uri="{9D8B030D-6E8A-4147-A177-3AD203B41FA5}">
                      <a16:colId val="1"/>
                    </a:ext>
                  </a:extLst>
                </a:gridCol>
                <a:gridCol w="1045210">
                  <a:extLst>
                    <a:ext uri="{9D8B030D-6E8A-4147-A177-3AD203B41FA5}">
                      <a16:colId val="2"/>
                    </a:ext>
                  </a:extLst>
                </a:gridCol>
                <a:gridCol w="1473200">
                  <a:extLst>
                    <a:ext uri="{9D8B030D-6E8A-4147-A177-3AD203B41FA5}">
                      <a16:colId val="3"/>
                    </a:ext>
                  </a:extLst>
                </a:gridCol>
              </a:tblGrid>
              <a:tr h="188345">
                <a:tc>
                  <a:txBody>
                    <a:bodyPr wrap="square"/>
                    <a:lstStyle/>
                    <a:p>
                      <a:pPr marL="0" indent="0" algn="ctr">
                        <a:buNone/>
                      </a:pPr>
                      <a:r>
                        <a:rPr lang="en-US" sz="1160">
                          <a:solidFill>
                            <a:srgbClr val="000000"/>
                          </a:solidFill>
                        </a:rPr>
                        <a:t>要求项</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160">
                          <a:solidFill>
                            <a:srgbClr val="000000"/>
                          </a:solidFill>
                        </a:rPr>
                        <a:t>适用平台</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160">
                          <a:solidFill>
                            <a:srgbClr val="000000"/>
                          </a:solidFill>
                        </a:rPr>
                        <a:t>适用客户系统</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188345">
                <a:tc>
                  <a:txBody>
                    <a:bodyPr wrap="square"/>
                    <a:lstStyle/>
                    <a:p>
                      <a:pPr marL="0" indent="0" algn="ctr">
                        <a:buNone/>
                      </a:pPr>
                      <a:r>
                        <a:rPr lang="en-US" sz="1160">
                          <a:solidFill>
                            <a:srgbClr val="000000"/>
                          </a:solidFill>
                        </a:rPr>
                        <a:t>基础设施位置（中国境内）</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188345">
                <a:tc>
                  <a:txBody>
                    <a:bodyPr wrap="square"/>
                    <a:lstStyle/>
                    <a:p>
                      <a:pPr marL="0" indent="0" algn="ctr">
                        <a:buNone/>
                      </a:pPr>
                      <a:r>
                        <a:rPr lang="en-US" sz="1160">
                          <a:solidFill>
                            <a:srgbClr val="000000"/>
                          </a:solidFill>
                        </a:rPr>
                        <a:t>不同客户虚拟网络隔离</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188345">
                <a:tc>
                  <a:txBody>
                    <a:bodyPr wrap="square"/>
                    <a:lstStyle/>
                    <a:p>
                      <a:pPr marL="0" indent="0" algn="ctr">
                        <a:buNone/>
                      </a:pPr>
                      <a:r>
                        <a:rPr lang="en-US" sz="1160">
                          <a:solidFill>
                            <a:srgbClr val="000000"/>
                          </a:solidFill>
                        </a:rPr>
                        <a:t>虚拟化网络边界访问控制</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188345">
                <a:tc>
                  <a:txBody>
                    <a:bodyPr wrap="square"/>
                    <a:lstStyle/>
                    <a:p>
                      <a:pPr marL="0" indent="0" algn="ctr">
                        <a:buNone/>
                      </a:pPr>
                      <a:r>
                        <a:rPr lang="en-US" sz="1160">
                          <a:solidFill>
                            <a:srgbClr val="000000"/>
                          </a:solidFill>
                        </a:rPr>
                        <a:t>虚拟机迁移时策略随其迁移</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188345">
                <a:tc>
                  <a:txBody>
                    <a:bodyPr wrap="square"/>
                    <a:lstStyle/>
                    <a:p>
                      <a:pPr marL="0" indent="0" algn="ctr">
                        <a:buNone/>
                      </a:pPr>
                      <a:r>
                        <a:rPr lang="en-US" sz="1160">
                          <a:solidFill>
                            <a:srgbClr val="000000"/>
                          </a:solidFill>
                        </a:rPr>
                        <a:t>云服务客户设置虚拟机间访问控制</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320" presetID="10" presetClass="entr" presetSubtype="0" fill="hold" grpId="1" nodeType="afterEffect">
                                  <p:stCondLst>
                                    <p:cond delay="0"/>
                                  </p:stCondLst>
                                  <p:childTnLst>
                                    <p:set>
                                      <p:cBhvr>
                                        <p:cTn id="321" dur="1" fill="hold">
                                          <p:stCondLst>
                                            <p:cond delay="0"/>
                                          </p:stCondLst>
                                        </p:cTn>
                                        <p:tgtEl>
                                          <p:spTgt spid="590"/>
                                        </p:tgtEl>
                                        <p:attrNameLst>
                                          <p:attrName>style.visibility</p:attrName>
                                        </p:attrNameLst>
                                      </p:cBhvr>
                                      <p:to>
                                        <p:strVal val="visible"/>
                                      </p:to>
                                    </p:set>
                                    <p:animEffect transition="in" filter="fade">
                                      <p:cBhvr>
                                        <p:cTn id="322" dur="750"/>
                                        <p:tgtEl>
                                          <p:spTgt spid="590"/>
                                        </p:tgtEl>
                                      </p:cBhvr>
                                    </p:animEffect>
                                  </p:childTnLst>
                                </p:cTn>
                              </p:par>
                            </p:childTnLst>
                          </p:cTn>
                        </p:par>
                        <p:par>
                          <p:cTn fill="hold">
                            <p:stCondLst>
                              <p:cond delay="0"/>
                            </p:stCondLst>
                            <p:childTnLst>
                              <p:par>
                                <p:cTn id="323" presetID="2" presetClass="entr" presetSubtype="2" fill="hold" grpId="2" nodeType="afterEffect">
                                  <p:stCondLst>
                                    <p:cond delay="0"/>
                                  </p:stCondLst>
                                  <p:childTnLst>
                                    <p:set>
                                      <p:cBhvr>
                                        <p:cTn id="324" dur="1" fill="hold">
                                          <p:stCondLst>
                                            <p:cond delay="0"/>
                                          </p:stCondLst>
                                        </p:cTn>
                                        <p:tgtEl>
                                          <p:spTgt spid="591"/>
                                        </p:tgtEl>
                                        <p:attrNameLst>
                                          <p:attrName>style.visibility</p:attrName>
                                        </p:attrNameLst>
                                      </p:cBhvr>
                                      <p:to>
                                        <p:strVal val="visible"/>
                                      </p:to>
                                    </p:set>
                                    <p:anim calcmode="lin" valueType="num">
                                      <p:cBhvr additive="base">
                                        <p:cTn id="325" dur="750" fill="hold"/>
                                        <p:tgtEl>
                                          <p:spTgt spid="591"/>
                                        </p:tgtEl>
                                        <p:attrNameLst>
                                          <p:attrName>ppt_x</p:attrName>
                                        </p:attrNameLst>
                                      </p:cBhvr>
                                      <p:tavLst>
                                        <p:tav tm="0">
                                          <p:val>
                                            <p:strVal val="1+#ppt_w/2"/>
                                          </p:val>
                                        </p:tav>
                                        <p:tav tm="100000">
                                          <p:val>
                                            <p:strVal val="#ppt_x"/>
                                          </p:val>
                                        </p:tav>
                                      </p:tavLst>
                                    </p:anim>
                                    <p:anim calcmode="lin" valueType="num">
                                      <p:cBhvr additive="base">
                                        <p:cTn id="326" dur="750" fill="hold"/>
                                        <p:tgtEl>
                                          <p:spTgt spid="591"/>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327" presetID="2" presetClass="entr" presetSubtype="2" fill="hold" grpId="3" nodeType="afterEffect">
                                  <p:stCondLst>
                                    <p:cond delay="0"/>
                                  </p:stCondLst>
                                  <p:childTnLst>
                                    <p:set>
                                      <p:cBhvr>
                                        <p:cTn id="328" dur="1" fill="hold">
                                          <p:stCondLst>
                                            <p:cond delay="0"/>
                                          </p:stCondLst>
                                        </p:cTn>
                                        <p:tgtEl>
                                          <p:spTgt spid="592"/>
                                        </p:tgtEl>
                                        <p:attrNameLst>
                                          <p:attrName>style.visibility</p:attrName>
                                        </p:attrNameLst>
                                      </p:cBhvr>
                                      <p:to>
                                        <p:strVal val="visible"/>
                                      </p:to>
                                    </p:set>
                                    <p:anim calcmode="lin" valueType="num">
                                      <p:cBhvr additive="base">
                                        <p:cTn id="329" dur="750" fill="hold"/>
                                        <p:tgtEl>
                                          <p:spTgt spid="592"/>
                                        </p:tgtEl>
                                        <p:attrNameLst>
                                          <p:attrName>ppt_x</p:attrName>
                                        </p:attrNameLst>
                                      </p:cBhvr>
                                      <p:tavLst>
                                        <p:tav tm="0">
                                          <p:val>
                                            <p:strVal val="1+#ppt_w/2"/>
                                          </p:val>
                                        </p:tav>
                                        <p:tav tm="100000">
                                          <p:val>
                                            <p:strVal val="#ppt_x"/>
                                          </p:val>
                                        </p:tav>
                                      </p:tavLst>
                                    </p:anim>
                                    <p:anim calcmode="lin" valueType="num">
                                      <p:cBhvr additive="base">
                                        <p:cTn id="330" dur="750" fill="hold"/>
                                        <p:tgtEl>
                                          <p:spTgt spid="592"/>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331" presetID="2" presetClass="entr" presetSubtype="2" fill="hold" grpId="4" nodeType="afterEffect">
                                  <p:stCondLst>
                                    <p:cond delay="0"/>
                                  </p:stCondLst>
                                  <p:childTnLst>
                                    <p:set>
                                      <p:cBhvr>
                                        <p:cTn id="332" dur="1" fill="hold">
                                          <p:stCondLst>
                                            <p:cond delay="0"/>
                                          </p:stCondLst>
                                        </p:cTn>
                                        <p:tgtEl>
                                          <p:spTgt spid="596"/>
                                        </p:tgtEl>
                                        <p:attrNameLst>
                                          <p:attrName>style.visibility</p:attrName>
                                        </p:attrNameLst>
                                      </p:cBhvr>
                                      <p:to>
                                        <p:strVal val="visible"/>
                                      </p:to>
                                    </p:set>
                                    <p:anim calcmode="lin" valueType="num">
                                      <p:cBhvr additive="base">
                                        <p:cTn id="333" dur="750" fill="hold"/>
                                        <p:tgtEl>
                                          <p:spTgt spid="596"/>
                                        </p:tgtEl>
                                        <p:attrNameLst>
                                          <p:attrName>ppt_x</p:attrName>
                                        </p:attrNameLst>
                                      </p:cBhvr>
                                      <p:tavLst>
                                        <p:tav tm="0">
                                          <p:val>
                                            <p:strVal val="1+#ppt_w/2"/>
                                          </p:val>
                                        </p:tav>
                                        <p:tav tm="100000">
                                          <p:val>
                                            <p:strVal val="#ppt_x"/>
                                          </p:val>
                                        </p:tav>
                                      </p:tavLst>
                                    </p:anim>
                                    <p:anim calcmode="lin" valueType="num">
                                      <p:cBhvr additive="base">
                                        <p:cTn id="334" dur="750" fill="hold"/>
                                        <p:tgtEl>
                                          <p:spTgt spid="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8.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600" name=""/>
        <p:cNvGrpSpPr/>
        <p:nvPr/>
      </p:nvGrpSpPr>
      <p:grpSpPr>
        <a:xfrm>
          <a:off x="0" y="0"/>
          <a:ext cx="0" cy="0"/>
          <a:chOff x="0" y="0"/>
          <a:chExt cx="0" cy="0"/>
        </a:xfrm>
      </p:grpSpPr>
      <p:pic>
        <p:nvPicPr>
          <p:cNvPr id="60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60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60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60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测评指标解读——安全物理环境（1项）</a:t>
            </a:r>
            <a:endParaRPr lang="en-US" sz="2760"/>
          </a:p>
        </p:txBody>
      </p:sp>
      <p:grpSp>
        <p:nvGrpSpPr>
          <p:cNvPr id="605" name="组合 32"/>
          <p:cNvGrpSpPr/>
          <p:nvPr/>
        </p:nvGrpSpPr>
        <p:grpSpPr>
          <a:xfrm>
            <a:off x="670560" y="1371600"/>
            <a:ext cx="10920984" cy="320040"/>
            <a:chOff x="-635000" y="-635000"/>
            <a:chExt cx="10920984" cy="320040"/>
          </a:xfrm>
        </p:grpSpPr>
        <p:sp>
          <p:nvSpPr>
            <p:cNvPr id="606" name="Text 1" descr="TEMP_Z_ORDER_4"/>
            <p:cNvSpPr/>
            <p:nvPr/>
          </p:nvSpPr>
          <p:spPr>
            <a:xfrm>
              <a:off x="-635000" y="-635000"/>
              <a:ext cx="308489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8.2.1.1 / 9.2.1.1 基础设施位置</a:t>
              </a:r>
              <a:endParaRPr lang="en-US" sz="1680"/>
            </a:p>
          </p:txBody>
        </p:sp>
      </p:grpSp>
      <p:graphicFrame>
        <p:nvGraphicFramePr>
          <p:cNvPr id="607" name="Table 0"/>
          <p:cNvGraphicFramePr>
            <a:graphicFrameLocks noGrp="1"/>
          </p:cNvGraphicFramePr>
          <p:nvPr/>
        </p:nvGraphicFramePr>
        <p:xfrm>
          <a:off x="609600" y="1813560"/>
          <a:ext cx="10972800" cy="1377315"/>
        </p:xfrm>
        <a:graphic>
          <a:graphicData uri="http://schemas.openxmlformats.org/drawingml/2006/table">
            <a:tbl>
              <a:tblPr/>
              <a:tblGrid>
                <a:gridCol w="3281157">
                  <a:extLst>
                    <a:ext uri="{9D8B030D-6E8A-4147-A177-3AD203B41FA5}">
                      <a16:colId val="1"/>
                    </a:ext>
                  </a:extLst>
                </a:gridCol>
                <a:gridCol w="4837799">
                  <a:extLst>
                    <a:ext uri="{9D8B030D-6E8A-4147-A177-3AD203B41FA5}">
                      <a16:colId val="2"/>
                    </a:ext>
                  </a:extLst>
                </a:gridCol>
                <a:gridCol w="2853844">
                  <a:extLst>
                    <a:ext uri="{9D8B030D-6E8A-4147-A177-3AD203B41FA5}">
                      <a16:colId val="3"/>
                    </a:ext>
                  </a:extLst>
                </a:gridCol>
              </a:tblGrid>
              <a:tr h="615315">
                <a:tc>
                  <a:txBody>
                    <a:bodyPr wrap="square"/>
                    <a:lstStyle/>
                    <a:p>
                      <a:pPr marL="0" indent="0" algn="ctr">
                        <a:buNone/>
                      </a:pPr>
                      <a:r>
                        <a:rPr lang="en-US" sz="1600" b="1">
                          <a:solidFill>
                            <a:srgbClr val="000000"/>
                          </a:solidFill>
                        </a:rPr>
                        <a:t>测评内容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要求</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核查方法</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762000">
                <a:tc>
                  <a:txBody>
                    <a:bodyPr wrap="square"/>
                    <a:lstStyle/>
                    <a:p>
                      <a:pPr marL="0" indent="0" algn="l">
                        <a:buNone/>
                      </a:pPr>
                      <a:r>
                        <a:rPr lang="en-US" sz="1600">
                          <a:solidFill>
                            <a:srgbClr val="000000"/>
                          </a:solidFill>
                        </a:rPr>
                        <a:t>a）应保证云计算基础设施位于中国境内</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600">
                          <a:solidFill>
                            <a:srgbClr val="000000"/>
                          </a:solidFill>
                        </a:rPr>
                        <a:t>云计算平台/系统的硬件设备、数据存储设施必须在中国境内</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600">
                          <a:solidFill>
                            <a:srgbClr val="000000"/>
                          </a:solidFill>
                        </a:rPr>
                        <a:t>查阅服务协议、查看数据中心位置</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bl>
          </a:graphicData>
        </a:graphic>
      </p:graphicFrame>
      <p:grpSp>
        <p:nvGrpSpPr>
          <p:cNvPr id="608" name="组合 34"/>
          <p:cNvGrpSpPr/>
          <p:nvPr/>
        </p:nvGrpSpPr>
        <p:grpSpPr>
          <a:xfrm>
            <a:off x="609600" y="3352800"/>
            <a:ext cx="10972800" cy="1478280"/>
            <a:chOff x="-635000" y="-635000"/>
            <a:chExt cx="10972800" cy="1478280"/>
          </a:xfrm>
        </p:grpSpPr>
        <p:pic>
          <p:nvPicPr>
            <p:cNvPr id="609" name="Image 3" descr="TEMP_Z_ORDER_6"/>
            <p:cNvPicPr>
              <a:picLocks noChangeAspect="1"/>
            </p:cNvPicPr>
            <p:nvPr/>
          </p:nvPicPr>
          <p:blipFill>
            <a:blip>
              <a:extLst>
                <a:ext uri="{96DAC541-7B7A-43D3-8B79-37D633B846F1}">
                  <asvg:svgBlip r:embed="rId5"/>
                </a:ext>
              </a:extLst>
            </a:blip>
            <a:stretch>
              <a:fillRect/>
            </a:stretch>
          </p:blipFill>
          <p:spPr>
            <a:xfrm>
              <a:off x="-635000" y="-635000"/>
              <a:ext cx="10972800" cy="1478280"/>
            </a:xfrm>
            <a:prstGeom prst="rect">
              <a:avLst/>
            </a:prstGeom>
          </p:spPr>
        </p:pic>
        <p:sp>
          <p:nvSpPr>
            <p:cNvPr id="610" name="Text 2" descr="TEMP_Z_ORDER_7"/>
            <p:cNvSpPr/>
            <p:nvPr/>
          </p:nvSpPr>
          <p:spPr>
            <a:xfrm>
              <a:off x="-391160" y="-452120"/>
              <a:ext cx="1457468"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458BE6"/>
                  </a:solidFill>
                  <a:latin typeface="思源黑体 CN Bold" pitchFamily="34" charset="0"/>
                  <a:ea typeface="思源黑体 CN Bold" pitchFamily="34" charset="-122"/>
                  <a:cs typeface="思源黑体 CN Bold" pitchFamily="34" charset="-120"/>
                </a:rPr>
                <a:t>等保2.0依据：</a:t>
              </a:r>
              <a:endParaRPr lang="en-US" sz="1680"/>
            </a:p>
          </p:txBody>
        </p:sp>
        <p:sp>
          <p:nvSpPr>
            <p:cNvPr id="611" name="Text 3" descr="TEMP_Z_ORDER_8"/>
            <p:cNvSpPr/>
            <p:nvPr/>
          </p:nvSpPr>
          <p:spPr>
            <a:xfrm>
              <a:off x="-391160" y="-63710"/>
              <a:ext cx="10555224" cy="716699"/>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《网络安全法》第37条——“关键信息基础设施的运营者在中华人民共和国境内运营中收集和产生的个人信息和重要数据应当在境内存储。”</a:t>
              </a:r>
              <a:endParaRPr lang="en-US" sz="1920"/>
            </a:p>
          </p:txBody>
        </p:sp>
      </p:grpSp>
      <p:grpSp>
        <p:nvGrpSpPr>
          <p:cNvPr id="612" name="组合 21"/>
          <p:cNvGrpSpPr/>
          <p:nvPr/>
        </p:nvGrpSpPr>
        <p:grpSpPr>
          <a:xfrm>
            <a:off x="609600" y="5074920"/>
            <a:ext cx="10988040" cy="1346835"/>
            <a:chOff x="-635000" y="-635000"/>
            <a:chExt cx="10988040" cy="1249680"/>
          </a:xfrm>
        </p:grpSpPr>
        <p:sp>
          <p:nvSpPr>
            <p:cNvPr id="613" name="Text 4" descr="TEMP_Z_ORDER_9"/>
            <p:cNvSpPr/>
            <p:nvPr/>
          </p:nvSpPr>
          <p:spPr>
            <a:xfrm>
              <a:off x="-574040" y="-635000"/>
              <a:ext cx="1276350" cy="356462"/>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00" b="1">
                  <a:solidFill>
                    <a:srgbClr val="002060"/>
                  </a:solidFill>
                  <a:latin typeface="思源黑体 CN Bold" pitchFamily="34" charset="0"/>
                  <a:ea typeface="思源黑体 CN Bold" pitchFamily="34" charset="-122"/>
                  <a:cs typeface="思源黑体 CN Bold" pitchFamily="34" charset="-120"/>
                </a:rPr>
                <a:t>测评要点：</a:t>
              </a:r>
              <a:endParaRPr lang="en-US" sz="2000" b="1">
                <a:solidFill>
                  <a:srgbClr val="002060"/>
                </a:solidFill>
                <a:latin typeface="思源黑体 CN Bold" pitchFamily="34" charset="0"/>
                <a:ea typeface="思源黑体 CN Bold" pitchFamily="34" charset="-122"/>
                <a:cs typeface="思源黑体 CN Bold" pitchFamily="34" charset="-120"/>
              </a:endParaRPr>
            </a:p>
          </p:txBody>
        </p:sp>
        <p:pic>
          <p:nvPicPr>
            <p:cNvPr id="614" name="Image 4" descr="TEMP_Z_ORDER_10"/>
            <p:cNvPicPr>
              <a:picLocks noChangeAspect="1"/>
            </p:cNvPicPr>
            <p:nvPr/>
          </p:nvPicPr>
          <p:blipFill>
            <a:blip r:embed="rId6"/>
            <a:stretch>
              <a:fillRect/>
            </a:stretch>
          </p:blipFill>
          <p:spPr>
            <a:xfrm>
              <a:off x="-635000" y="-40640"/>
              <a:ext cx="3505200" cy="655320"/>
            </a:xfrm>
            <a:prstGeom prst="rect">
              <a:avLst/>
            </a:prstGeom>
          </p:spPr>
        </p:pic>
        <p:sp>
          <p:nvSpPr>
            <p:cNvPr id="615" name="Text 5" descr="TEMP_Z_ORDER_11"/>
            <p:cNvSpPr/>
            <p:nvPr/>
          </p:nvSpPr>
          <p:spPr>
            <a:xfrm>
              <a:off x="-510540" y="221099"/>
              <a:ext cx="3118485" cy="25394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查看云服务商的数据中心位置说明</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16" name="Image 5" descr="TEMP_Z_ORDER_12"/>
            <p:cNvPicPr>
              <a:picLocks noChangeAspect="1"/>
            </p:cNvPicPr>
            <p:nvPr/>
          </p:nvPicPr>
          <p:blipFill>
            <a:blip r:embed="rId7">
              <a:alphaModFix amt="50000"/>
            </a:blip>
            <a:stretch>
              <a:fillRect/>
            </a:stretch>
          </p:blipFill>
          <p:spPr>
            <a:xfrm>
              <a:off x="-619760" y="-25400"/>
              <a:ext cx="3474720" cy="60960"/>
            </a:xfrm>
            <a:prstGeom prst="rect">
              <a:avLst/>
            </a:prstGeom>
          </p:spPr>
        </p:pic>
        <p:pic>
          <p:nvPicPr>
            <p:cNvPr id="617" name="Image 6" descr="TEMP_Z_ORDER_13"/>
            <p:cNvPicPr>
              <a:picLocks noChangeAspect="1"/>
            </p:cNvPicPr>
            <p:nvPr/>
          </p:nvPicPr>
          <p:blipFill>
            <a:blip r:embed="rId6"/>
            <a:stretch>
              <a:fillRect/>
            </a:stretch>
          </p:blipFill>
          <p:spPr>
            <a:xfrm>
              <a:off x="3098800" y="-40640"/>
              <a:ext cx="3505200" cy="655320"/>
            </a:xfrm>
            <a:prstGeom prst="rect">
              <a:avLst/>
            </a:prstGeom>
          </p:spPr>
        </p:pic>
        <p:sp>
          <p:nvSpPr>
            <p:cNvPr id="618" name="Text 6" descr="TEMP_Z_ORDER_14"/>
            <p:cNvSpPr/>
            <p:nvPr/>
          </p:nvSpPr>
          <p:spPr>
            <a:xfrm>
              <a:off x="3390265" y="226990"/>
              <a:ext cx="2965450" cy="293419"/>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核查是否有数据出境的情况</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19" name="Image 7" descr="TEMP_Z_ORDER_15"/>
            <p:cNvPicPr>
              <a:picLocks noChangeAspect="1"/>
            </p:cNvPicPr>
            <p:nvPr/>
          </p:nvPicPr>
          <p:blipFill>
            <a:blip r:embed="rId7">
              <a:alphaModFix amt="50000"/>
            </a:blip>
            <a:stretch>
              <a:fillRect/>
            </a:stretch>
          </p:blipFill>
          <p:spPr>
            <a:xfrm>
              <a:off x="3114040" y="-25400"/>
              <a:ext cx="3474720" cy="60960"/>
            </a:xfrm>
            <a:prstGeom prst="rect">
              <a:avLst/>
            </a:prstGeom>
          </p:spPr>
        </p:pic>
        <p:pic>
          <p:nvPicPr>
            <p:cNvPr id="620" name="Image 8" descr="TEMP_Z_ORDER_16"/>
            <p:cNvPicPr>
              <a:picLocks noChangeAspect="1"/>
            </p:cNvPicPr>
            <p:nvPr/>
          </p:nvPicPr>
          <p:blipFill>
            <a:blip r:embed="rId6"/>
            <a:stretch>
              <a:fillRect/>
            </a:stretch>
          </p:blipFill>
          <p:spPr>
            <a:xfrm>
              <a:off x="6847840" y="-40640"/>
              <a:ext cx="3505200" cy="655320"/>
            </a:xfrm>
            <a:prstGeom prst="rect">
              <a:avLst/>
            </a:prstGeom>
          </p:spPr>
        </p:pic>
        <p:sp>
          <p:nvSpPr>
            <p:cNvPr id="621" name="Text 7" descr="TEMP_Z_ORDER_17"/>
            <p:cNvSpPr/>
            <p:nvPr/>
          </p:nvSpPr>
          <p:spPr>
            <a:xfrm>
              <a:off x="7021195" y="181623"/>
              <a:ext cx="3107055" cy="26808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关注：IaaS层的物理设施位置</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22" name="Image 9" descr="TEMP_Z_ORDER_18"/>
            <p:cNvPicPr>
              <a:picLocks noChangeAspect="1"/>
            </p:cNvPicPr>
            <p:nvPr/>
          </p:nvPicPr>
          <p:blipFill>
            <a:blip r:embed="rId7">
              <a:alphaModFix amt="50000"/>
            </a:blip>
            <a:stretch>
              <a:fillRect/>
            </a:stretch>
          </p:blipFill>
          <p:spPr>
            <a:xfrm>
              <a:off x="6863080" y="-25400"/>
              <a:ext cx="3474720" cy="60960"/>
            </a:xfrm>
            <a:prstGeom prst="rect">
              <a:avLst/>
            </a:prstGeom>
          </p:spPr>
        </p:pic>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335" presetID="10" presetClass="entr" presetSubtype="0" fill="hold" grpId="1" nodeType="afterEffect">
                                  <p:stCondLst>
                                    <p:cond delay="0"/>
                                  </p:stCondLst>
                                  <p:childTnLst>
                                    <p:set>
                                      <p:cBhvr>
                                        <p:cTn id="336" dur="1" fill="hold">
                                          <p:stCondLst>
                                            <p:cond delay="0"/>
                                          </p:stCondLst>
                                        </p:cTn>
                                        <p:tgtEl>
                                          <p:spTgt spid="604"/>
                                        </p:tgtEl>
                                        <p:attrNameLst>
                                          <p:attrName>style.visibility</p:attrName>
                                        </p:attrNameLst>
                                      </p:cBhvr>
                                      <p:to>
                                        <p:strVal val="visible"/>
                                      </p:to>
                                    </p:set>
                                    <p:animEffect transition="in" filter="fade">
                                      <p:cBhvr>
                                        <p:cTn id="337" dur="750"/>
                                        <p:tgtEl>
                                          <p:spTgt spid="604"/>
                                        </p:tgtEl>
                                      </p:cBhvr>
                                    </p:animEffect>
                                  </p:childTnLst>
                                </p:cTn>
                              </p:par>
                            </p:childTnLst>
                          </p:cTn>
                        </p:par>
                        <p:par>
                          <p:cTn fill="hold">
                            <p:stCondLst>
                              <p:cond delay="0"/>
                            </p:stCondLst>
                            <p:childTnLst>
                              <p:par>
                                <p:cTn id="338" presetID="31" presetClass="entr" presetSubtype="0" fill="hold" grpId="2" nodeType="afterEffect">
                                  <p:stCondLst>
                                    <p:cond delay="0"/>
                                  </p:stCondLst>
                                  <p:iterate type="lt">
                                    <p:tmPct val="5000"/>
                                  </p:iterate>
                                  <p:childTnLst>
                                    <p:set>
                                      <p:cBhvr>
                                        <p:cTn id="339" dur="1" fill="hold">
                                          <p:stCondLst>
                                            <p:cond delay="0"/>
                                          </p:stCondLst>
                                        </p:cTn>
                                        <p:tgtEl>
                                          <p:spTgt spid="605"/>
                                        </p:tgtEl>
                                        <p:attrNameLst>
                                          <p:attrName>style.visibility</p:attrName>
                                        </p:attrNameLst>
                                      </p:cBhvr>
                                      <p:to>
                                        <p:strVal val="visible"/>
                                      </p:to>
                                    </p:set>
                                    <p:anim calcmode="lin" valueType="num">
                                      <p:cBhvr>
                                        <p:cTn id="340" dur="750" fill="hold"/>
                                        <p:tgtEl>
                                          <p:spTgt spid="605"/>
                                        </p:tgtEl>
                                        <p:attrNameLst>
                                          <p:attrName>ppt_w</p:attrName>
                                        </p:attrNameLst>
                                      </p:cBhvr>
                                      <p:tavLst>
                                        <p:tav tm="0">
                                          <p:val>
                                            <p:fltVal val="0"/>
                                          </p:val>
                                        </p:tav>
                                        <p:tav tm="100000">
                                          <p:val>
                                            <p:strVal val="#ppt_w"/>
                                          </p:val>
                                        </p:tav>
                                      </p:tavLst>
                                    </p:anim>
                                    <p:anim calcmode="lin" valueType="num">
                                      <p:cBhvr>
                                        <p:cTn id="341" dur="750" fill="hold"/>
                                        <p:tgtEl>
                                          <p:spTgt spid="605"/>
                                        </p:tgtEl>
                                        <p:attrNameLst>
                                          <p:attrName>ppt_h</p:attrName>
                                        </p:attrNameLst>
                                      </p:cBhvr>
                                      <p:tavLst>
                                        <p:tav tm="0">
                                          <p:val>
                                            <p:fltVal val="0"/>
                                          </p:val>
                                        </p:tav>
                                        <p:tav tm="100000">
                                          <p:val>
                                            <p:strVal val="#ppt_h"/>
                                          </p:val>
                                        </p:tav>
                                      </p:tavLst>
                                    </p:anim>
                                    <p:anim calcmode="lin" valueType="num">
                                      <p:cBhvr>
                                        <p:cTn id="342" dur="750" fill="hold"/>
                                        <p:tgtEl>
                                          <p:spTgt spid="605"/>
                                        </p:tgtEl>
                                        <p:attrNameLst>
                                          <p:attrName>style.rotation</p:attrName>
                                        </p:attrNameLst>
                                      </p:cBhvr>
                                      <p:tavLst>
                                        <p:tav tm="0">
                                          <p:val>
                                            <p:fltVal val="90"/>
                                          </p:val>
                                        </p:tav>
                                        <p:tav tm="100000">
                                          <p:val>
                                            <p:fltVal val="0"/>
                                          </p:val>
                                        </p:tav>
                                      </p:tavLst>
                                    </p:anim>
                                    <p:animEffect transition="in" filter="fade">
                                      <p:cBhvr>
                                        <p:cTn id="343" dur="750"/>
                                        <p:tgtEl>
                                          <p:spTgt spid="605"/>
                                        </p:tgtEl>
                                      </p:cBhvr>
                                    </p:animEffect>
                                  </p:childTnLst>
                                </p:cTn>
                              </p:par>
                            </p:childTnLst>
                          </p:cTn>
                        </p:par>
                        <p:par>
                          <p:cTn fill="hold">
                            <p:stCondLst>
                              <p:cond delay="0"/>
                            </p:stCondLst>
                            <p:childTnLst>
                              <p:par>
                                <p:cTn id="344" presetID="31" presetClass="entr" presetSubtype="0" fill="hold" grpId="3" nodeType="afterEffect">
                                  <p:stCondLst>
                                    <p:cond delay="0"/>
                                  </p:stCondLst>
                                  <p:iterate type="lt">
                                    <p:tmPct val="5000"/>
                                  </p:iterate>
                                  <p:childTnLst>
                                    <p:set>
                                      <p:cBhvr>
                                        <p:cTn id="345" dur="1" fill="hold">
                                          <p:stCondLst>
                                            <p:cond delay="0"/>
                                          </p:stCondLst>
                                        </p:cTn>
                                        <p:tgtEl>
                                          <p:spTgt spid="608"/>
                                        </p:tgtEl>
                                        <p:attrNameLst>
                                          <p:attrName>style.visibility</p:attrName>
                                        </p:attrNameLst>
                                      </p:cBhvr>
                                      <p:to>
                                        <p:strVal val="visible"/>
                                      </p:to>
                                    </p:set>
                                    <p:anim calcmode="lin" valueType="num">
                                      <p:cBhvr>
                                        <p:cTn id="346" dur="750" fill="hold"/>
                                        <p:tgtEl>
                                          <p:spTgt spid="608"/>
                                        </p:tgtEl>
                                        <p:attrNameLst>
                                          <p:attrName>ppt_w</p:attrName>
                                        </p:attrNameLst>
                                      </p:cBhvr>
                                      <p:tavLst>
                                        <p:tav tm="0">
                                          <p:val>
                                            <p:fltVal val="0"/>
                                          </p:val>
                                        </p:tav>
                                        <p:tav tm="100000">
                                          <p:val>
                                            <p:strVal val="#ppt_w"/>
                                          </p:val>
                                        </p:tav>
                                      </p:tavLst>
                                    </p:anim>
                                    <p:anim calcmode="lin" valueType="num">
                                      <p:cBhvr>
                                        <p:cTn id="347" dur="750" fill="hold"/>
                                        <p:tgtEl>
                                          <p:spTgt spid="608"/>
                                        </p:tgtEl>
                                        <p:attrNameLst>
                                          <p:attrName>ppt_h</p:attrName>
                                        </p:attrNameLst>
                                      </p:cBhvr>
                                      <p:tavLst>
                                        <p:tav tm="0">
                                          <p:val>
                                            <p:fltVal val="0"/>
                                          </p:val>
                                        </p:tav>
                                        <p:tav tm="100000">
                                          <p:val>
                                            <p:strVal val="#ppt_h"/>
                                          </p:val>
                                        </p:tav>
                                      </p:tavLst>
                                    </p:anim>
                                    <p:anim calcmode="lin" valueType="num">
                                      <p:cBhvr>
                                        <p:cTn id="348" dur="750" fill="hold"/>
                                        <p:tgtEl>
                                          <p:spTgt spid="608"/>
                                        </p:tgtEl>
                                        <p:attrNameLst>
                                          <p:attrName>style.rotation</p:attrName>
                                        </p:attrNameLst>
                                      </p:cBhvr>
                                      <p:tavLst>
                                        <p:tav tm="0">
                                          <p:val>
                                            <p:fltVal val="90"/>
                                          </p:val>
                                        </p:tav>
                                        <p:tav tm="100000">
                                          <p:val>
                                            <p:fltVal val="0"/>
                                          </p:val>
                                        </p:tav>
                                      </p:tavLst>
                                    </p:anim>
                                    <p:animEffect transition="in" filter="fade">
                                      <p:cBhvr>
                                        <p:cTn id="349" dur="750"/>
                                        <p:tgtEl>
                                          <p:spTgt spid="608"/>
                                        </p:tgtEl>
                                      </p:cBhvr>
                                    </p:animEffect>
                                  </p:childTnLst>
                                </p:cTn>
                              </p:par>
                            </p:childTnLst>
                          </p:cTn>
                        </p:par>
                        <p:par>
                          <p:cTn fill="hold">
                            <p:stCondLst>
                              <p:cond delay="0"/>
                            </p:stCondLst>
                            <p:childTnLst>
                              <p:par>
                                <p:cTn id="350" presetID="31" presetClass="entr" presetSubtype="0" fill="hold" grpId="4" nodeType="afterEffect">
                                  <p:stCondLst>
                                    <p:cond delay="0"/>
                                  </p:stCondLst>
                                  <p:iterate type="lt">
                                    <p:tmPct val="5000"/>
                                  </p:iterate>
                                  <p:childTnLst>
                                    <p:set>
                                      <p:cBhvr>
                                        <p:cTn id="351" dur="1" fill="hold">
                                          <p:stCondLst>
                                            <p:cond delay="0"/>
                                          </p:stCondLst>
                                        </p:cTn>
                                        <p:tgtEl>
                                          <p:spTgt spid="612"/>
                                        </p:tgtEl>
                                        <p:attrNameLst>
                                          <p:attrName>style.visibility</p:attrName>
                                        </p:attrNameLst>
                                      </p:cBhvr>
                                      <p:to>
                                        <p:strVal val="visible"/>
                                      </p:to>
                                    </p:set>
                                    <p:anim calcmode="lin" valueType="num">
                                      <p:cBhvr>
                                        <p:cTn id="352" dur="750" fill="hold"/>
                                        <p:tgtEl>
                                          <p:spTgt spid="612"/>
                                        </p:tgtEl>
                                        <p:attrNameLst>
                                          <p:attrName>ppt_w</p:attrName>
                                        </p:attrNameLst>
                                      </p:cBhvr>
                                      <p:tavLst>
                                        <p:tav tm="0">
                                          <p:val>
                                            <p:fltVal val="0"/>
                                          </p:val>
                                        </p:tav>
                                        <p:tav tm="100000">
                                          <p:val>
                                            <p:strVal val="#ppt_w"/>
                                          </p:val>
                                        </p:tav>
                                      </p:tavLst>
                                    </p:anim>
                                    <p:anim calcmode="lin" valueType="num">
                                      <p:cBhvr>
                                        <p:cTn id="353" dur="750" fill="hold"/>
                                        <p:tgtEl>
                                          <p:spTgt spid="612"/>
                                        </p:tgtEl>
                                        <p:attrNameLst>
                                          <p:attrName>ppt_h</p:attrName>
                                        </p:attrNameLst>
                                      </p:cBhvr>
                                      <p:tavLst>
                                        <p:tav tm="0">
                                          <p:val>
                                            <p:fltVal val="0"/>
                                          </p:val>
                                        </p:tav>
                                        <p:tav tm="100000">
                                          <p:val>
                                            <p:strVal val="#ppt_h"/>
                                          </p:val>
                                        </p:tav>
                                      </p:tavLst>
                                    </p:anim>
                                    <p:anim calcmode="lin" valueType="num">
                                      <p:cBhvr>
                                        <p:cTn id="354" dur="750" fill="hold"/>
                                        <p:tgtEl>
                                          <p:spTgt spid="612"/>
                                        </p:tgtEl>
                                        <p:attrNameLst>
                                          <p:attrName>style.rotation</p:attrName>
                                        </p:attrNameLst>
                                      </p:cBhvr>
                                      <p:tavLst>
                                        <p:tav tm="0">
                                          <p:val>
                                            <p:fltVal val="90"/>
                                          </p:val>
                                        </p:tav>
                                        <p:tav tm="100000">
                                          <p:val>
                                            <p:fltVal val="0"/>
                                          </p:val>
                                        </p:tav>
                                      </p:tavLst>
                                    </p:anim>
                                    <p:animEffect transition="in" filter="fade">
                                      <p:cBhvr>
                                        <p:cTn id="355" dur="750"/>
                                        <p:tgtEl>
                                          <p:spTgt spid="61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9.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623" name=""/>
        <p:cNvGrpSpPr/>
        <p:nvPr/>
      </p:nvGrpSpPr>
      <p:grpSpPr>
        <a:xfrm>
          <a:off x="0" y="0"/>
          <a:ext cx="0" cy="0"/>
          <a:chOff x="0" y="0"/>
          <a:chExt cx="0" cy="0"/>
        </a:xfrm>
      </p:grpSpPr>
      <p:pic>
        <p:nvPicPr>
          <p:cNvPr id="62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625"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626"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627"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测评指标解读——安全通信网络（3项）</a:t>
            </a:r>
            <a:endParaRPr lang="en-US" sz="2760"/>
          </a:p>
        </p:txBody>
      </p:sp>
      <p:grpSp>
        <p:nvGrpSpPr>
          <p:cNvPr id="628" name="组合 36"/>
          <p:cNvGrpSpPr/>
          <p:nvPr/>
        </p:nvGrpSpPr>
        <p:grpSpPr>
          <a:xfrm>
            <a:off x="609600" y="1066800"/>
            <a:ext cx="10972800" cy="3192780"/>
            <a:chOff x="-635000" y="-635000"/>
            <a:chExt cx="10972800" cy="3108960"/>
          </a:xfrm>
        </p:grpSpPr>
        <p:pic>
          <p:nvPicPr>
            <p:cNvPr id="629" name="Image 3" descr="TEMP_Z_ORDER_4"/>
            <p:cNvPicPr>
              <a:picLocks noChangeAspect="1"/>
            </p:cNvPicPr>
            <p:nvPr/>
          </p:nvPicPr>
          <p:blipFill>
            <a:blip r:embed="rId5"/>
            <a:stretch>
              <a:fillRect/>
            </a:stretch>
          </p:blipFill>
          <p:spPr>
            <a:xfrm>
              <a:off x="-635000" y="-635000"/>
              <a:ext cx="10972800" cy="3108960"/>
            </a:xfrm>
            <a:prstGeom prst="rect">
              <a:avLst/>
            </a:prstGeom>
          </p:spPr>
        </p:pic>
        <p:pic>
          <p:nvPicPr>
            <p:cNvPr id="630" name="Image 4" descr="TEMP_Z_ORDER_5"/>
            <p:cNvPicPr>
              <a:picLocks noChangeAspect="1"/>
            </p:cNvPicPr>
            <p:nvPr/>
          </p:nvPicPr>
          <p:blipFill>
            <a:blip r:embed="rId6"/>
            <a:stretch>
              <a:fillRect/>
            </a:stretch>
          </p:blipFill>
          <p:spPr>
            <a:xfrm>
              <a:off x="-619760" y="-619760"/>
              <a:ext cx="10942320" cy="670560"/>
            </a:xfrm>
            <a:prstGeom prst="rect">
              <a:avLst/>
            </a:prstGeom>
          </p:spPr>
        </p:pic>
        <p:sp>
          <p:nvSpPr>
            <p:cNvPr id="631" name="Text 1" descr="TEMP_Z_ORDER_6"/>
            <p:cNvSpPr/>
            <p:nvPr/>
          </p:nvSpPr>
          <p:spPr>
            <a:xfrm>
              <a:off x="-375920" y="-497840"/>
              <a:ext cx="3673332" cy="40438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000000"/>
                  </a:solidFill>
                  <a:latin typeface="思源黑体 CN Bold" pitchFamily="34" charset="0"/>
                  <a:ea typeface="思源黑体 CN Bold" pitchFamily="34" charset="-122"/>
                  <a:cs typeface="思源黑体 CN Bold" pitchFamily="34" charset="-120"/>
                </a:rPr>
                <a:t>8.2.2.1 / 9.2.2.1 网络架构</a:t>
              </a:r>
              <a:endParaRPr lang="en-US" sz="2160"/>
            </a:p>
          </p:txBody>
        </p:sp>
        <p:pic>
          <p:nvPicPr>
            <p:cNvPr id="632" name="Image 5" descr="TEMP_Z_ORDER_7"/>
            <p:cNvPicPr>
              <a:picLocks noChangeAspect="1"/>
            </p:cNvPicPr>
            <p:nvPr/>
          </p:nvPicPr>
          <p:blipFill>
            <a:blip r:embed="rId7"/>
            <a:stretch>
              <a:fillRect/>
            </a:stretch>
          </p:blipFill>
          <p:spPr>
            <a:xfrm>
              <a:off x="-619760" y="50800"/>
              <a:ext cx="10942320" cy="15240"/>
            </a:xfrm>
            <a:prstGeom prst="rect">
              <a:avLst/>
            </a:prstGeom>
          </p:spPr>
        </p:pic>
      </p:grpSp>
      <p:graphicFrame>
        <p:nvGraphicFramePr>
          <p:cNvPr id="633" name="Table 0"/>
          <p:cNvGraphicFramePr>
            <a:graphicFrameLocks noGrp="1"/>
          </p:cNvGraphicFramePr>
          <p:nvPr/>
        </p:nvGraphicFramePr>
        <p:xfrm>
          <a:off x="1176364" y="1798320"/>
          <a:ext cx="9839272" cy="2426472"/>
        </p:xfrm>
        <a:graphic>
          <a:graphicData uri="http://schemas.openxmlformats.org/drawingml/2006/table">
            <a:tbl>
              <a:tblPr/>
              <a:tblGrid>
                <a:gridCol w="1066740">
                  <a:extLst>
                    <a:ext uri="{9D8B030D-6E8A-4147-A177-3AD203B41FA5}">
                      <a16:colId val="1"/>
                    </a:ext>
                  </a:extLst>
                </a:gridCol>
                <a:gridCol w="7425071">
                  <a:extLst>
                    <a:ext uri="{9D8B030D-6E8A-4147-A177-3AD203B41FA5}">
                      <a16:colId val="2"/>
                    </a:ext>
                  </a:extLst>
                </a:gridCol>
                <a:gridCol w="1347461">
                  <a:extLst>
                    <a:ext uri="{9D8B030D-6E8A-4147-A177-3AD203B41FA5}">
                      <a16:colId val="3"/>
                    </a:ext>
                  </a:extLst>
                </a:gridCol>
              </a:tblGrid>
              <a:tr h="331713">
                <a:tc>
                  <a:txBody>
                    <a:bodyPr wrap="square"/>
                    <a:lstStyle/>
                    <a:p>
                      <a:pPr marL="0" indent="0" algn="ctr">
                        <a:buNone/>
                      </a:pPr>
                      <a:r>
                        <a:rPr lang="en-US" sz="1550" b="1">
                          <a:solidFill>
                            <a:srgbClr val="000000"/>
                          </a:solidFill>
                        </a:rPr>
                        <a:t>要求项</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b="1">
                          <a:solidFill>
                            <a:srgbClr val="000000"/>
                          </a:solidFill>
                        </a:rPr>
                        <a:t>内容</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b="1">
                          <a:solidFill>
                            <a:srgbClr val="000000"/>
                          </a:solidFill>
                        </a:rPr>
                        <a:t>适用对象</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31713">
                <a:tc>
                  <a:txBody>
                    <a:bodyPr wrap="square"/>
                    <a:lstStyle/>
                    <a:p>
                      <a:pPr marL="0" indent="0" algn="ctr">
                        <a:buNone/>
                      </a:pPr>
                      <a:r>
                        <a:rPr lang="en-US" sz="1550">
                          <a:solidFill>
                            <a:srgbClr val="000000"/>
                          </a:solidFill>
                        </a:rPr>
                        <a:t>a)</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平台不承载高于自身安全等级的业务应用系统</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331713">
                <a:tc>
                  <a:txBody>
                    <a:bodyPr wrap="square"/>
                    <a:lstStyle/>
                    <a:p>
                      <a:pPr marL="0" indent="0" algn="ctr">
                        <a:buNone/>
                      </a:pPr>
                      <a:r>
                        <a:rPr lang="en-US" sz="1550">
                          <a:solidFill>
                            <a:srgbClr val="000000"/>
                          </a:solidFill>
                        </a:rPr>
                        <a:t>b)</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不同云服务客户虚拟网络之间隔离</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331713">
                <a:tc>
                  <a:txBody>
                    <a:bodyPr wrap="square"/>
                    <a:lstStyle/>
                    <a:p>
                      <a:pPr marL="0" indent="0" algn="ctr">
                        <a:buNone/>
                      </a:pPr>
                      <a:r>
                        <a:rPr lang="en-US" sz="1550">
                          <a:solidFill>
                            <a:srgbClr val="000000"/>
                          </a:solidFill>
                        </a:rPr>
                        <a:t>c)</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提供通信传输、边界防护、入侵防范等安全机制能力</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331713">
                <a:tc>
                  <a:txBody>
                    <a:bodyPr wrap="square"/>
                    <a:lstStyle/>
                    <a:p>
                      <a:pPr marL="0" indent="0" algn="ctr">
                        <a:buNone/>
                      </a:pPr>
                      <a:r>
                        <a:rPr lang="en-US" sz="1550">
                          <a:solidFill>
                            <a:srgbClr val="000000"/>
                          </a:solidFill>
                        </a:rPr>
                        <a:t>d)</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客户可自主设置安全策略（定义访问路径、选择安全组件）</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331713">
                <a:tc>
                  <a:txBody>
                    <a:bodyPr wrap="square"/>
                    <a:lstStyle/>
                    <a:p>
                      <a:pPr marL="0" indent="0" algn="ctr">
                        <a:buNone/>
                      </a:pPr>
                      <a:r>
                        <a:rPr lang="en-US" sz="1550">
                          <a:solidFill>
                            <a:srgbClr val="000000"/>
                          </a:solidFill>
                        </a:rPr>
                        <a:t>e)</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开放接口，允许客户接入第三方安全产品</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bl>
          </a:graphicData>
        </a:graphic>
      </p:graphicFrame>
      <p:grpSp>
        <p:nvGrpSpPr>
          <p:cNvPr id="634" name="组合 22"/>
          <p:cNvGrpSpPr/>
          <p:nvPr/>
        </p:nvGrpSpPr>
        <p:grpSpPr>
          <a:xfrm>
            <a:off x="609600" y="4495800"/>
            <a:ext cx="5364480" cy="1828800"/>
            <a:chOff x="-635000" y="-635000"/>
            <a:chExt cx="5364480" cy="1828800"/>
          </a:xfrm>
        </p:grpSpPr>
        <p:pic>
          <p:nvPicPr>
            <p:cNvPr id="635" name="Image 6" descr="TEMP_Z_ORDER_9"/>
            <p:cNvPicPr>
              <a:picLocks noChangeAspect="1"/>
            </p:cNvPicPr>
            <p:nvPr/>
          </p:nvPicPr>
          <p:blipFill>
            <a:blip r:embed="rId8"/>
            <a:stretch>
              <a:fillRect/>
            </a:stretch>
          </p:blipFill>
          <p:spPr>
            <a:xfrm>
              <a:off x="-635000" y="-635000"/>
              <a:ext cx="5364480" cy="1828800"/>
            </a:xfrm>
            <a:prstGeom prst="rect">
              <a:avLst/>
            </a:prstGeom>
          </p:spPr>
        </p:pic>
        <p:pic>
          <p:nvPicPr>
            <p:cNvPr id="636" name="Image 7" descr="TEMP_Z_ORDER_10"/>
            <p:cNvPicPr>
              <a:picLocks noChangeAspect="1"/>
            </p:cNvPicPr>
            <p:nvPr/>
          </p:nvPicPr>
          <p:blipFill>
            <a:blip>
              <a:extLst>
                <a:ext uri="{96DAC541-7B7A-43D3-8B79-37D633B846F1}">
                  <asvg:svgBlip r:embed="rId9"/>
                </a:ext>
              </a:extLst>
            </a:blip>
            <a:stretch>
              <a:fillRect/>
            </a:stretch>
          </p:blipFill>
          <p:spPr>
            <a:xfrm>
              <a:off x="-375920" y="-269240"/>
              <a:ext cx="121920" cy="121920"/>
            </a:xfrm>
            <a:prstGeom prst="rect">
              <a:avLst/>
            </a:prstGeom>
          </p:spPr>
        </p:pic>
        <p:sp>
          <p:nvSpPr>
            <p:cNvPr id="637" name="Text 2" descr="TEMP_Z_ORDER_11"/>
            <p:cNvSpPr/>
            <p:nvPr/>
          </p:nvSpPr>
          <p:spPr>
            <a:xfrm>
              <a:off x="-132080" y="-385557"/>
              <a:ext cx="987679" cy="3545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458BE6"/>
                  </a:solidFill>
                  <a:latin typeface="思源黑体 CN Bold" pitchFamily="34" charset="0"/>
                  <a:ea typeface="思源黑体 CN Bold" pitchFamily="34" charset="-122"/>
                  <a:cs typeface="思源黑体 CN Bold" pitchFamily="34" charset="-120"/>
                </a:rPr>
                <a:t>四级新增</a:t>
              </a:r>
              <a:endParaRPr lang="en-US" sz="1920"/>
            </a:p>
          </p:txBody>
        </p:sp>
        <p:sp>
          <p:nvSpPr>
            <p:cNvPr id="638" name="Text 3" descr="TEMP_Z_ORDER_12"/>
            <p:cNvSpPr/>
            <p:nvPr/>
          </p:nvSpPr>
          <p:spPr>
            <a:xfrm>
              <a:off x="-375920" y="81280"/>
              <a:ext cx="2805906"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f) 提供虚拟资源安全标记能力</a:t>
              </a:r>
              <a:endParaRPr lang="en-US" sz="1680"/>
            </a:p>
          </p:txBody>
        </p:sp>
        <p:sp>
          <p:nvSpPr>
            <p:cNvPr id="639" name="Text 4" descr="TEMP_Z_ORDER_13"/>
            <p:cNvSpPr/>
            <p:nvPr/>
          </p:nvSpPr>
          <p:spPr>
            <a:xfrm>
              <a:off x="-375920" y="416560"/>
              <a:ext cx="4013248"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g) 提供通信协议转换/隔离的数据交换方式</a:t>
              </a:r>
              <a:endParaRPr lang="en-US" sz="1680"/>
            </a:p>
          </p:txBody>
        </p:sp>
        <p:sp>
          <p:nvSpPr>
            <p:cNvPr id="640" name="Text 5" descr="TEMP_Z_ORDER_14"/>
            <p:cNvSpPr/>
            <p:nvPr/>
          </p:nvSpPr>
          <p:spPr>
            <a:xfrm>
              <a:off x="-375920" y="736600"/>
              <a:ext cx="3941096"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h) 为第四级业务应用系统划分独立资源池</a:t>
              </a:r>
              <a:endParaRPr lang="en-US" sz="1680"/>
            </a:p>
          </p:txBody>
        </p:sp>
        <p:pic>
          <p:nvPicPr>
            <p:cNvPr id="641" name="Image 8" descr="TEMP_Z_ORDER_15"/>
            <p:cNvPicPr>
              <a:picLocks noChangeAspect="1"/>
            </p:cNvPicPr>
            <p:nvPr/>
          </p:nvPicPr>
          <p:blipFill>
            <a:blip r:embed="rId10"/>
            <a:stretch>
              <a:fillRect/>
            </a:stretch>
          </p:blipFill>
          <p:spPr>
            <a:xfrm>
              <a:off x="-619760" y="-619760"/>
              <a:ext cx="60960" cy="1798320"/>
            </a:xfrm>
            <a:prstGeom prst="rect">
              <a:avLst/>
            </a:prstGeom>
          </p:spPr>
        </p:pic>
      </p:grpSp>
      <p:grpSp>
        <p:nvGrpSpPr>
          <p:cNvPr id="642" name="组合 30"/>
          <p:cNvGrpSpPr/>
          <p:nvPr/>
        </p:nvGrpSpPr>
        <p:grpSpPr>
          <a:xfrm>
            <a:off x="6217920" y="4495800"/>
            <a:ext cx="5364480" cy="1828800"/>
            <a:chOff x="-635000" y="-635000"/>
            <a:chExt cx="5364480" cy="1828800"/>
          </a:xfrm>
        </p:grpSpPr>
        <p:pic>
          <p:nvPicPr>
            <p:cNvPr id="643" name="Image 9" descr="TEMP_Z_ORDER_16"/>
            <p:cNvPicPr>
              <a:picLocks noChangeAspect="1"/>
            </p:cNvPicPr>
            <p:nvPr/>
          </p:nvPicPr>
          <p:blipFill>
            <a:blip r:embed="rId8"/>
            <a:stretch>
              <a:fillRect/>
            </a:stretch>
          </p:blipFill>
          <p:spPr>
            <a:xfrm>
              <a:off x="-635000" y="-635000"/>
              <a:ext cx="5364480" cy="1828800"/>
            </a:xfrm>
            <a:prstGeom prst="rect">
              <a:avLst/>
            </a:prstGeom>
          </p:spPr>
        </p:pic>
        <p:pic>
          <p:nvPicPr>
            <p:cNvPr id="644" name="Image 10" descr="TEMP_Z_ORDER_17"/>
            <p:cNvPicPr>
              <a:picLocks noChangeAspect="1"/>
            </p:cNvPicPr>
            <p:nvPr/>
          </p:nvPicPr>
          <p:blipFill>
            <a:blip>
              <a:extLst>
                <a:ext uri="{96DAC541-7B7A-43D3-8B79-37D633B846F1}">
                  <asvg:svgBlip r:embed="rId11"/>
                </a:ext>
              </a:extLst>
            </a:blip>
            <a:stretch>
              <a:fillRect/>
            </a:stretch>
          </p:blipFill>
          <p:spPr>
            <a:xfrm>
              <a:off x="-375920" y="-254000"/>
              <a:ext cx="121920" cy="121920"/>
            </a:xfrm>
            <a:prstGeom prst="rect">
              <a:avLst/>
            </a:prstGeom>
          </p:spPr>
        </p:pic>
        <p:sp>
          <p:nvSpPr>
            <p:cNvPr id="645" name="Text 6" descr="TEMP_Z_ORDER_18"/>
            <p:cNvSpPr/>
            <p:nvPr/>
          </p:nvSpPr>
          <p:spPr>
            <a:xfrm>
              <a:off x="-132080" y="-370317"/>
              <a:ext cx="987679" cy="3545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9E6405"/>
                  </a:solidFill>
                  <a:latin typeface="思源黑体 CN Bold" pitchFamily="34" charset="0"/>
                  <a:ea typeface="思源黑体 CN Bold" pitchFamily="34" charset="-122"/>
                  <a:cs typeface="思源黑体 CN Bold" pitchFamily="34" charset="-120"/>
                </a:rPr>
                <a:t>教学要点</a:t>
              </a:r>
              <a:endParaRPr lang="en-US" sz="1920"/>
            </a:p>
          </p:txBody>
        </p:sp>
        <p:sp>
          <p:nvSpPr>
            <p:cNvPr id="646" name="Text 7" descr="TEMP_Z_ORDER_19"/>
            <p:cNvSpPr/>
            <p:nvPr/>
          </p:nvSpPr>
          <p:spPr>
            <a:xfrm>
              <a:off x="-375919" y="127000"/>
              <a:ext cx="4855464" cy="77382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重点关注</a:t>
              </a:r>
              <a:r>
                <a:rPr lang="en-US" sz="1920" b="1">
                  <a:solidFill>
                    <a:srgbClr val="97680D"/>
                  </a:solidFill>
                  <a:highlight>
                    <a:srgbClr val="EA9508">
                      <a:alpha val="20000"/>
                    </a:srgbClr>
                  </a:highlight>
                  <a:latin typeface="思源黑体 CN Bold" pitchFamily="34" charset="0"/>
                  <a:ea typeface="思源黑体 CN Bold" pitchFamily="34" charset="-122"/>
                  <a:cs typeface="思源黑体 CN Bold" pitchFamily="34" charset="-120"/>
                </a:rPr>
                <a:t>b)虚拟网络隔离</a:t>
              </a:r>
              <a:r>
                <a:rPr lang="en-US" sz="1680">
                  <a:solidFill>
                    <a:srgbClr val="000000"/>
                  </a:solidFill>
                  <a:latin typeface="思源黑体 CN Regular" pitchFamily="34" charset="0"/>
                  <a:ea typeface="思源黑体 CN Regular" pitchFamily="34" charset="-122"/>
                  <a:cs typeface="思源黑体 CN Regular" pitchFamily="34" charset="-120"/>
                </a:rPr>
                <a:t>和</a:t>
              </a:r>
              <a:r>
                <a:rPr lang="en-US" sz="1920" b="1">
                  <a:solidFill>
                    <a:srgbClr val="97680D"/>
                  </a:solidFill>
                  <a:highlight>
                    <a:srgbClr val="EA9508">
                      <a:alpha val="20000"/>
                    </a:srgbClr>
                  </a:highlight>
                  <a:latin typeface="思源黑体 CN Bold" pitchFamily="34" charset="0"/>
                  <a:ea typeface="思源黑体 CN Bold" pitchFamily="34" charset="-122"/>
                  <a:cs typeface="思源黑体 CN Bold" pitchFamily="34" charset="-120"/>
                </a:rPr>
                <a:t>d)自主设置安全策略</a:t>
              </a:r>
              <a:r>
                <a:rPr lang="en-US" sz="1680">
                  <a:solidFill>
                    <a:srgbClr val="000000"/>
                  </a:solidFill>
                  <a:latin typeface="思源黑体 CN Regular" pitchFamily="34" charset="0"/>
                  <a:ea typeface="思源黑体 CN Regular" pitchFamily="34" charset="-122"/>
                  <a:cs typeface="思源黑体 CN Regular" pitchFamily="34" charset="-120"/>
                </a:rPr>
                <a:t>。</a:t>
              </a:r>
              <a:endParaRPr lang="en-US" sz="1680"/>
            </a:p>
          </p:txBody>
        </p:sp>
        <p:pic>
          <p:nvPicPr>
            <p:cNvPr id="647" name="Image 11" descr="TEMP_Z_ORDER_20"/>
            <p:cNvPicPr>
              <a:picLocks noChangeAspect="1"/>
            </p:cNvPicPr>
            <p:nvPr/>
          </p:nvPicPr>
          <p:blipFill>
            <a:blip r:embed="rId12"/>
            <a:stretch>
              <a:fillRect/>
            </a:stretch>
          </p:blipFill>
          <p:spPr>
            <a:xfrm>
              <a:off x="-619760" y="-619760"/>
              <a:ext cx="60960" cy="1798320"/>
            </a:xfrm>
            <a:prstGeom prst="rect">
              <a:avLst/>
            </a:prstGeom>
          </p:spPr>
        </p:pic>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356" presetID="10" presetClass="entr" presetSubtype="0" fill="hold" grpId="1" nodeType="afterEffect">
                                  <p:stCondLst>
                                    <p:cond delay="0"/>
                                  </p:stCondLst>
                                  <p:childTnLst>
                                    <p:set>
                                      <p:cBhvr>
                                        <p:cTn id="357" dur="1" fill="hold">
                                          <p:stCondLst>
                                            <p:cond delay="0"/>
                                          </p:stCondLst>
                                        </p:cTn>
                                        <p:tgtEl>
                                          <p:spTgt spid="627"/>
                                        </p:tgtEl>
                                        <p:attrNameLst>
                                          <p:attrName>style.visibility</p:attrName>
                                        </p:attrNameLst>
                                      </p:cBhvr>
                                      <p:to>
                                        <p:strVal val="visible"/>
                                      </p:to>
                                    </p:set>
                                    <p:animEffect transition="in" filter="fade">
                                      <p:cBhvr>
                                        <p:cTn id="358" dur="750"/>
                                        <p:tgtEl>
                                          <p:spTgt spid="627"/>
                                        </p:tgtEl>
                                      </p:cBhvr>
                                    </p:animEffect>
                                  </p:childTnLst>
                                </p:cTn>
                              </p:par>
                            </p:childTnLst>
                          </p:cTn>
                        </p:par>
                        <p:par>
                          <p:cTn fill="hold">
                            <p:stCondLst>
                              <p:cond delay="0"/>
                            </p:stCondLst>
                            <p:childTnLst>
                              <p:par>
                                <p:cTn id="359" presetID="2" presetClass="entr" presetSubtype="1" fill="hold" grpId="2" nodeType="afterEffect">
                                  <p:stCondLst>
                                    <p:cond delay="0"/>
                                  </p:stCondLst>
                                  <p:childTnLst>
                                    <p:set>
                                      <p:cBhvr>
                                        <p:cTn id="360" dur="1" fill="hold">
                                          <p:stCondLst>
                                            <p:cond delay="0"/>
                                          </p:stCondLst>
                                        </p:cTn>
                                        <p:tgtEl>
                                          <p:spTgt spid="628"/>
                                        </p:tgtEl>
                                        <p:attrNameLst>
                                          <p:attrName>style.visibility</p:attrName>
                                        </p:attrNameLst>
                                      </p:cBhvr>
                                      <p:to>
                                        <p:strVal val="visible"/>
                                      </p:to>
                                    </p:set>
                                    <p:anim calcmode="lin" valueType="num">
                                      <p:cBhvr additive="base">
                                        <p:cTn id="361" dur="750" fill="hold"/>
                                        <p:tgtEl>
                                          <p:spTgt spid="628"/>
                                        </p:tgtEl>
                                        <p:attrNameLst>
                                          <p:attrName>ppt_x</p:attrName>
                                        </p:attrNameLst>
                                      </p:cBhvr>
                                      <p:tavLst>
                                        <p:tav tm="0">
                                          <p:val>
                                            <p:strVal val="#ppt_x"/>
                                          </p:val>
                                        </p:tav>
                                        <p:tav tm="100000">
                                          <p:val>
                                            <p:strVal val="#ppt_x"/>
                                          </p:val>
                                        </p:tav>
                                      </p:tavLst>
                                    </p:anim>
                                    <p:anim calcmode="lin" valueType="num">
                                      <p:cBhvr additive="base">
                                        <p:cTn id="362" dur="750" fill="hold"/>
                                        <p:tgtEl>
                                          <p:spTgt spid="628"/>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363" presetID="2" presetClass="entr" presetSubtype="1" fill="hold" grpId="3" nodeType="afterEffect">
                                  <p:stCondLst>
                                    <p:cond delay="0"/>
                                  </p:stCondLst>
                                  <p:childTnLst>
                                    <p:set>
                                      <p:cBhvr>
                                        <p:cTn id="364" dur="1" fill="hold">
                                          <p:stCondLst>
                                            <p:cond delay="0"/>
                                          </p:stCondLst>
                                        </p:cTn>
                                        <p:tgtEl>
                                          <p:spTgt spid="634"/>
                                        </p:tgtEl>
                                        <p:attrNameLst>
                                          <p:attrName>style.visibility</p:attrName>
                                        </p:attrNameLst>
                                      </p:cBhvr>
                                      <p:to>
                                        <p:strVal val="visible"/>
                                      </p:to>
                                    </p:set>
                                    <p:anim calcmode="lin" valueType="num">
                                      <p:cBhvr additive="base">
                                        <p:cTn id="365" dur="750" fill="hold"/>
                                        <p:tgtEl>
                                          <p:spTgt spid="634"/>
                                        </p:tgtEl>
                                        <p:attrNameLst>
                                          <p:attrName>ppt_x</p:attrName>
                                        </p:attrNameLst>
                                      </p:cBhvr>
                                      <p:tavLst>
                                        <p:tav tm="0">
                                          <p:val>
                                            <p:strVal val="#ppt_x"/>
                                          </p:val>
                                        </p:tav>
                                        <p:tav tm="100000">
                                          <p:val>
                                            <p:strVal val="#ppt_x"/>
                                          </p:val>
                                        </p:tav>
                                      </p:tavLst>
                                    </p:anim>
                                    <p:anim calcmode="lin" valueType="num">
                                      <p:cBhvr additive="base">
                                        <p:cTn id="366" dur="750" fill="hold"/>
                                        <p:tgtEl>
                                          <p:spTgt spid="634"/>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367" presetID="2" presetClass="entr" presetSubtype="1" fill="hold" grpId="4" nodeType="afterEffect">
                                  <p:stCondLst>
                                    <p:cond delay="0"/>
                                  </p:stCondLst>
                                  <p:childTnLst>
                                    <p:set>
                                      <p:cBhvr>
                                        <p:cTn id="368" dur="1" fill="hold">
                                          <p:stCondLst>
                                            <p:cond delay="0"/>
                                          </p:stCondLst>
                                        </p:cTn>
                                        <p:tgtEl>
                                          <p:spTgt spid="642"/>
                                        </p:tgtEl>
                                        <p:attrNameLst>
                                          <p:attrName>style.visibility</p:attrName>
                                        </p:attrNameLst>
                                      </p:cBhvr>
                                      <p:to>
                                        <p:strVal val="visible"/>
                                      </p:to>
                                    </p:set>
                                    <p:anim calcmode="lin" valueType="num">
                                      <p:cBhvr additive="base">
                                        <p:cTn id="369" dur="750" fill="hold"/>
                                        <p:tgtEl>
                                          <p:spTgt spid="642"/>
                                        </p:tgtEl>
                                        <p:attrNameLst>
                                          <p:attrName>ppt_x</p:attrName>
                                        </p:attrNameLst>
                                      </p:cBhvr>
                                      <p:tavLst>
                                        <p:tav tm="0">
                                          <p:val>
                                            <p:strVal val="#ppt_x"/>
                                          </p:val>
                                        </p:tav>
                                        <p:tav tm="100000">
                                          <p:val>
                                            <p:strVal val="#ppt_x"/>
                                          </p:val>
                                        </p:tav>
                                      </p:tavLst>
                                    </p:anim>
                                    <p:anim calcmode="lin" valueType="num">
                                      <p:cBhvr additive="base">
                                        <p:cTn id="370" dur="750" fill="hold"/>
                                        <p:tgtEl>
                                          <p:spTgt spid="64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0.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12" name=""/>
        <p:cNvGrpSpPr/>
        <p:nvPr/>
      </p:nvGrpSpPr>
      <p:grpSpPr>
        <a:xfrm>
          <a:off x="0" y="0"/>
          <a:ext cx="0" cy="0"/>
          <a:chOff x="0" y="0"/>
          <a:chExt cx="0" cy="0"/>
        </a:xfrm>
      </p:grpSpPr>
      <p:pic>
        <p:nvPicPr>
          <p:cNvPr id="1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1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1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16" name="Text 0" descr="TEMP_Z_ORDER_3"/>
          <p:cNvSpPr/>
          <p:nvPr/>
        </p:nvSpPr>
        <p:spPr>
          <a:xfrm>
            <a:off x="822325" y="705485"/>
            <a:ext cx="5722620" cy="35179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测评指标解读——安全区域边界</a:t>
            </a:r>
            <a:endParaRPr lang="en-US" sz="2760"/>
          </a:p>
        </p:txBody>
      </p:sp>
      <p:grpSp>
        <p:nvGrpSpPr>
          <p:cNvPr id="17" name="组合 70"/>
          <p:cNvGrpSpPr/>
          <p:nvPr/>
        </p:nvGrpSpPr>
        <p:grpSpPr>
          <a:xfrm>
            <a:off x="609600" y="980363"/>
            <a:ext cx="10972800" cy="1762837"/>
            <a:chOff x="-635000" y="-713459"/>
            <a:chExt cx="10972800" cy="1785339"/>
          </a:xfrm>
        </p:grpSpPr>
        <p:pic>
          <p:nvPicPr>
            <p:cNvPr id="18" name="Image 4" descr="TEMP_Z_ORDER_5"/>
            <p:cNvPicPr>
              <a:picLocks noChangeAspect="1"/>
            </p:cNvPicPr>
            <p:nvPr/>
          </p:nvPicPr>
          <p:blipFill>
            <a:blip r:embed="rId5"/>
            <a:stretch>
              <a:fillRect/>
            </a:stretch>
          </p:blipFill>
          <p:spPr>
            <a:xfrm>
              <a:off x="-635000" y="-604520"/>
              <a:ext cx="10972800" cy="1676400"/>
            </a:xfrm>
            <a:prstGeom prst="rect">
              <a:avLst/>
            </a:prstGeom>
          </p:spPr>
        </p:pic>
        <p:pic>
          <p:nvPicPr>
            <p:cNvPr id="19" name="Image 5" descr="TEMP_Z_ORDER_6"/>
            <p:cNvPicPr>
              <a:picLocks noChangeAspect="1"/>
            </p:cNvPicPr>
            <p:nvPr/>
          </p:nvPicPr>
          <p:blipFill>
            <a:blip r:embed="rId6"/>
            <a:stretch>
              <a:fillRect/>
            </a:stretch>
          </p:blipFill>
          <p:spPr>
            <a:xfrm>
              <a:off x="-619760" y="-713459"/>
              <a:ext cx="10942320" cy="413517"/>
            </a:xfrm>
            <a:prstGeom prst="rect">
              <a:avLst/>
            </a:prstGeom>
          </p:spPr>
        </p:pic>
        <p:pic>
          <p:nvPicPr>
            <p:cNvPr id="20" name="Image 6" descr="TEMP_Z_ORDER_7"/>
            <p:cNvPicPr>
              <a:picLocks noChangeAspect="1"/>
            </p:cNvPicPr>
            <p:nvPr/>
          </p:nvPicPr>
          <p:blipFill>
            <a:blip>
              <a:extLst>
                <a:ext uri="{96DAC541-7B7A-43D3-8B79-37D633B846F1}">
                  <asvg:svgBlip r:embed="rId7"/>
                </a:ext>
              </a:extLst>
            </a:blip>
            <a:stretch>
              <a:fillRect/>
            </a:stretch>
          </p:blipFill>
          <p:spPr>
            <a:xfrm>
              <a:off x="-436880" y="-543560"/>
              <a:ext cx="60960" cy="182880"/>
            </a:xfrm>
            <a:prstGeom prst="rect">
              <a:avLst/>
            </a:prstGeom>
          </p:spPr>
        </p:pic>
        <p:sp>
          <p:nvSpPr>
            <p:cNvPr id="21" name="Text 1" descr="TEMP_Z_ORDER_8"/>
            <p:cNvSpPr/>
            <p:nvPr/>
          </p:nvSpPr>
          <p:spPr>
            <a:xfrm>
              <a:off x="-254000" y="-635000"/>
              <a:ext cx="2860421"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8.2.3.1 / 9.2.3.1 访问控制</a:t>
              </a:r>
              <a:endParaRPr lang="en-US" sz="1680"/>
            </a:p>
          </p:txBody>
        </p:sp>
        <p:pic>
          <p:nvPicPr>
            <p:cNvPr id="22" name="Image 7" descr="TEMP_Z_ORDER_9"/>
            <p:cNvPicPr>
              <a:picLocks noChangeAspect="1"/>
            </p:cNvPicPr>
            <p:nvPr/>
          </p:nvPicPr>
          <p:blipFill>
            <a:blip r:embed="rId8"/>
            <a:stretch>
              <a:fillRect/>
            </a:stretch>
          </p:blipFill>
          <p:spPr>
            <a:xfrm>
              <a:off x="-619760" y="-304749"/>
              <a:ext cx="10942320" cy="15240"/>
            </a:xfrm>
            <a:prstGeom prst="rect">
              <a:avLst/>
            </a:prstGeom>
          </p:spPr>
        </p:pic>
        <p:pic>
          <p:nvPicPr>
            <p:cNvPr id="23" name="Image 8" descr="TEMP_Z_ORDER_10"/>
            <p:cNvPicPr>
              <a:picLocks noChangeAspect="1"/>
            </p:cNvPicPr>
            <p:nvPr/>
          </p:nvPicPr>
          <p:blipFill>
            <a:blip r:embed="rId9"/>
            <a:stretch>
              <a:fillRect/>
            </a:stretch>
          </p:blipFill>
          <p:spPr>
            <a:xfrm>
              <a:off x="-619760" y="-299720"/>
              <a:ext cx="10942320" cy="457200"/>
            </a:xfrm>
            <a:prstGeom prst="rect">
              <a:avLst/>
            </a:prstGeom>
          </p:spPr>
        </p:pic>
        <p:sp>
          <p:nvSpPr>
            <p:cNvPr id="24" name="Text 2" descr="TEMP_Z_ORDER_11"/>
            <p:cNvSpPr/>
            <p:nvPr/>
          </p:nvSpPr>
          <p:spPr>
            <a:xfrm>
              <a:off x="-436880" y="-238760"/>
              <a:ext cx="644557"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要求项</a:t>
              </a:r>
              <a:endParaRPr lang="en-US" sz="1680"/>
            </a:p>
          </p:txBody>
        </p:sp>
        <p:pic>
          <p:nvPicPr>
            <p:cNvPr id="25" name="Image 9" descr="TEMP_Z_ORDER_12"/>
            <p:cNvPicPr>
              <a:picLocks noChangeAspect="1"/>
            </p:cNvPicPr>
            <p:nvPr/>
          </p:nvPicPr>
          <p:blipFill>
            <a:blip r:embed="rId10"/>
            <a:stretch>
              <a:fillRect/>
            </a:stretch>
          </p:blipFill>
          <p:spPr>
            <a:xfrm>
              <a:off x="-619760" y="144831"/>
              <a:ext cx="1094232" cy="15240"/>
            </a:xfrm>
            <a:prstGeom prst="rect">
              <a:avLst/>
            </a:prstGeom>
          </p:spPr>
        </p:pic>
        <p:sp>
          <p:nvSpPr>
            <p:cNvPr id="26" name="Text 3" descr="TEMP_Z_ORDER_13"/>
            <p:cNvSpPr/>
            <p:nvPr/>
          </p:nvSpPr>
          <p:spPr>
            <a:xfrm>
              <a:off x="660400" y="-238760"/>
              <a:ext cx="429704"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内容</a:t>
              </a:r>
              <a:endParaRPr lang="en-US" sz="1680"/>
            </a:p>
          </p:txBody>
        </p:sp>
        <p:pic>
          <p:nvPicPr>
            <p:cNvPr id="27" name="Image 10" descr="TEMP_Z_ORDER_14"/>
            <p:cNvPicPr>
              <a:picLocks noChangeAspect="1"/>
            </p:cNvPicPr>
            <p:nvPr/>
          </p:nvPicPr>
          <p:blipFill>
            <a:blip r:embed="rId11"/>
            <a:stretch>
              <a:fillRect/>
            </a:stretch>
          </p:blipFill>
          <p:spPr>
            <a:xfrm>
              <a:off x="474472" y="144831"/>
              <a:ext cx="8206740" cy="15240"/>
            </a:xfrm>
            <a:prstGeom prst="rect">
              <a:avLst/>
            </a:prstGeom>
          </p:spPr>
        </p:pic>
        <p:sp>
          <p:nvSpPr>
            <p:cNvPr id="28" name="Text 4" descr="TEMP_Z_ORDER_15"/>
            <p:cNvSpPr/>
            <p:nvPr/>
          </p:nvSpPr>
          <p:spPr>
            <a:xfrm>
              <a:off x="9074468" y="-238760"/>
              <a:ext cx="859409"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适用对象</a:t>
              </a:r>
              <a:endParaRPr lang="en-US" sz="1680"/>
            </a:p>
          </p:txBody>
        </p:sp>
        <p:pic>
          <p:nvPicPr>
            <p:cNvPr id="29" name="Image 11" descr="TEMP_Z_ORDER_16"/>
            <p:cNvPicPr>
              <a:picLocks noChangeAspect="1"/>
            </p:cNvPicPr>
            <p:nvPr/>
          </p:nvPicPr>
          <p:blipFill>
            <a:blip r:embed="rId12"/>
            <a:stretch>
              <a:fillRect/>
            </a:stretch>
          </p:blipFill>
          <p:spPr>
            <a:xfrm>
              <a:off x="8681212" y="144831"/>
              <a:ext cx="1641348" cy="15240"/>
            </a:xfrm>
            <a:prstGeom prst="rect">
              <a:avLst/>
            </a:prstGeom>
          </p:spPr>
        </p:pic>
        <p:sp>
          <p:nvSpPr>
            <p:cNvPr id="30" name="Text 5" descr="TEMP_Z_ORDER_17"/>
            <p:cNvSpPr/>
            <p:nvPr/>
          </p:nvSpPr>
          <p:spPr>
            <a:xfrm>
              <a:off x="-436880" y="203200"/>
              <a:ext cx="214852"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31" name="Text 6" descr="TEMP_Z_ORDER_18"/>
            <p:cNvSpPr/>
            <p:nvPr/>
          </p:nvSpPr>
          <p:spPr>
            <a:xfrm>
              <a:off x="660400" y="203200"/>
              <a:ext cx="3867340"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在虚拟网络边界部署访问控制，设置规则</a:t>
              </a:r>
              <a:endParaRPr lang="en-US" sz="1680"/>
            </a:p>
          </p:txBody>
        </p:sp>
        <p:sp>
          <p:nvSpPr>
            <p:cNvPr id="32" name="Text 7" descr="TEMP_Z_ORDER_19"/>
            <p:cNvSpPr/>
            <p:nvPr/>
          </p:nvSpPr>
          <p:spPr>
            <a:xfrm>
              <a:off x="8983876" y="203200"/>
              <a:ext cx="1040590"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33" name="Image 12" descr="TEMP_Z_ORDER_20"/>
            <p:cNvPicPr>
              <a:picLocks noChangeAspect="1"/>
            </p:cNvPicPr>
            <p:nvPr/>
          </p:nvPicPr>
          <p:blipFill>
            <a:blip r:embed="rId13"/>
            <a:stretch>
              <a:fillRect/>
            </a:stretch>
          </p:blipFill>
          <p:spPr>
            <a:xfrm>
              <a:off x="-619760" y="602031"/>
              <a:ext cx="10942320" cy="15240"/>
            </a:xfrm>
            <a:prstGeom prst="rect">
              <a:avLst/>
            </a:prstGeom>
          </p:spPr>
        </p:pic>
        <p:sp>
          <p:nvSpPr>
            <p:cNvPr id="34" name="Text 8" descr="TEMP_Z_ORDER_21"/>
            <p:cNvSpPr/>
            <p:nvPr/>
          </p:nvSpPr>
          <p:spPr>
            <a:xfrm>
              <a:off x="-436880" y="660400"/>
              <a:ext cx="219662"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35" name="Text 9" descr="TEMP_Z_ORDER_22"/>
            <p:cNvSpPr/>
            <p:nvPr/>
          </p:nvSpPr>
          <p:spPr>
            <a:xfrm>
              <a:off x="660400" y="660400"/>
              <a:ext cx="3652488"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在不同等级网络区域边界部署访问控制</a:t>
              </a:r>
              <a:endParaRPr lang="en-US" sz="1680"/>
            </a:p>
          </p:txBody>
        </p:sp>
        <p:sp>
          <p:nvSpPr>
            <p:cNvPr id="36" name="Text 10" descr="TEMP_Z_ORDER_23"/>
            <p:cNvSpPr/>
            <p:nvPr/>
          </p:nvSpPr>
          <p:spPr>
            <a:xfrm>
              <a:off x="8983876" y="660400"/>
              <a:ext cx="1040590"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grpSp>
        <p:nvGrpSpPr>
          <p:cNvPr id="37" name="组合 93"/>
          <p:cNvGrpSpPr/>
          <p:nvPr/>
        </p:nvGrpSpPr>
        <p:grpSpPr>
          <a:xfrm>
            <a:off x="609600" y="2773680"/>
            <a:ext cx="10972800" cy="2255520"/>
            <a:chOff x="-635000" y="-741680"/>
            <a:chExt cx="10972800" cy="2255520"/>
          </a:xfrm>
        </p:grpSpPr>
        <p:pic>
          <p:nvPicPr>
            <p:cNvPr id="38" name="Image 13" descr="TEMP_Z_ORDER_24"/>
            <p:cNvPicPr>
              <a:picLocks noChangeAspect="1"/>
            </p:cNvPicPr>
            <p:nvPr/>
          </p:nvPicPr>
          <p:blipFill>
            <a:blip r:embed="rId14"/>
            <a:stretch>
              <a:fillRect/>
            </a:stretch>
          </p:blipFill>
          <p:spPr>
            <a:xfrm>
              <a:off x="-635000" y="-574040"/>
              <a:ext cx="10972800" cy="2087880"/>
            </a:xfrm>
            <a:prstGeom prst="rect">
              <a:avLst/>
            </a:prstGeom>
          </p:spPr>
        </p:pic>
        <p:pic>
          <p:nvPicPr>
            <p:cNvPr id="39" name="Image 14" descr="TEMP_Z_ORDER_25"/>
            <p:cNvPicPr>
              <a:picLocks noChangeAspect="1"/>
            </p:cNvPicPr>
            <p:nvPr/>
          </p:nvPicPr>
          <p:blipFill>
            <a:blip r:embed="rId15"/>
            <a:stretch>
              <a:fillRect/>
            </a:stretch>
          </p:blipFill>
          <p:spPr>
            <a:xfrm>
              <a:off x="-619760" y="-741680"/>
              <a:ext cx="10942320" cy="426720"/>
            </a:xfrm>
            <a:prstGeom prst="rect">
              <a:avLst/>
            </a:prstGeom>
          </p:spPr>
        </p:pic>
        <p:pic>
          <p:nvPicPr>
            <p:cNvPr id="40" name="Image 15" descr="TEMP_Z_ORDER_26"/>
            <p:cNvPicPr>
              <a:picLocks noChangeAspect="1"/>
            </p:cNvPicPr>
            <p:nvPr/>
          </p:nvPicPr>
          <p:blipFill>
            <a:blip>
              <a:extLst>
                <a:ext uri="{96DAC541-7B7A-43D3-8B79-37D633B846F1}">
                  <asvg:svgBlip r:embed="rId7"/>
                </a:ext>
              </a:extLst>
            </a:blip>
            <a:stretch>
              <a:fillRect/>
            </a:stretch>
          </p:blipFill>
          <p:spPr>
            <a:xfrm>
              <a:off x="-436880" y="-543560"/>
              <a:ext cx="60960" cy="182880"/>
            </a:xfrm>
            <a:prstGeom prst="rect">
              <a:avLst/>
            </a:prstGeom>
          </p:spPr>
        </p:pic>
        <p:sp>
          <p:nvSpPr>
            <p:cNvPr id="41" name="Text 11" descr="TEMP_Z_ORDER_27"/>
            <p:cNvSpPr/>
            <p:nvPr/>
          </p:nvSpPr>
          <p:spPr>
            <a:xfrm>
              <a:off x="-254000" y="-635000"/>
              <a:ext cx="2860421"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8.2.3.2 / 9.2.3.2 入侵防范</a:t>
              </a:r>
              <a:endParaRPr lang="en-US" sz="1680"/>
            </a:p>
          </p:txBody>
        </p:sp>
        <p:pic>
          <p:nvPicPr>
            <p:cNvPr id="42" name="Image 16" descr="TEMP_Z_ORDER_28"/>
            <p:cNvPicPr>
              <a:picLocks noChangeAspect="1"/>
            </p:cNvPicPr>
            <p:nvPr/>
          </p:nvPicPr>
          <p:blipFill>
            <a:blip r:embed="rId8"/>
            <a:stretch>
              <a:fillRect/>
            </a:stretch>
          </p:blipFill>
          <p:spPr>
            <a:xfrm>
              <a:off x="-619760" y="-333096"/>
              <a:ext cx="10942320" cy="15240"/>
            </a:xfrm>
            <a:prstGeom prst="rect">
              <a:avLst/>
            </a:prstGeom>
          </p:spPr>
        </p:pic>
        <p:sp>
          <p:nvSpPr>
            <p:cNvPr id="43" name="Text 12" descr="TEMP_Z_ORDER_29"/>
            <p:cNvSpPr/>
            <p:nvPr/>
          </p:nvSpPr>
          <p:spPr>
            <a:xfrm>
              <a:off x="-436880" y="-269240"/>
              <a:ext cx="21485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44" name="Text 13" descr="TEMP_Z_ORDER_30"/>
            <p:cNvSpPr/>
            <p:nvPr/>
          </p:nvSpPr>
          <p:spPr>
            <a:xfrm>
              <a:off x="3230880" y="-269240"/>
              <a:ext cx="4257040"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检测客户发起网络攻击，记录类型/时间/流量</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45" name="Text 14" descr="TEMP_Z_ORDER_31"/>
            <p:cNvSpPr/>
            <p:nvPr/>
          </p:nvSpPr>
          <p:spPr>
            <a:xfrm>
              <a:off x="8298721" y="-269240"/>
              <a:ext cx="429704"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a:t>
              </a:r>
              <a:endParaRPr lang="en-US" sz="1680"/>
            </a:p>
          </p:txBody>
        </p:sp>
        <p:pic>
          <p:nvPicPr>
            <p:cNvPr id="46" name="Image 17" descr="TEMP_Z_ORDER_32"/>
            <p:cNvPicPr>
              <a:picLocks noChangeAspect="1"/>
            </p:cNvPicPr>
            <p:nvPr/>
          </p:nvPicPr>
          <p:blipFill>
            <a:blip r:embed="rId13"/>
            <a:stretch>
              <a:fillRect/>
            </a:stretch>
          </p:blipFill>
          <p:spPr>
            <a:xfrm>
              <a:off x="-619760" y="116484"/>
              <a:ext cx="10942320" cy="15240"/>
            </a:xfrm>
            <a:prstGeom prst="rect">
              <a:avLst/>
            </a:prstGeom>
          </p:spPr>
        </p:pic>
        <p:sp>
          <p:nvSpPr>
            <p:cNvPr id="47" name="Text 15" descr="TEMP_Z_ORDER_33"/>
            <p:cNvSpPr/>
            <p:nvPr/>
          </p:nvSpPr>
          <p:spPr>
            <a:xfrm>
              <a:off x="-436880" y="1727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48" name="Text 16" descr="TEMP_Z_ORDER_34"/>
            <p:cNvSpPr/>
            <p:nvPr/>
          </p:nvSpPr>
          <p:spPr>
            <a:xfrm>
              <a:off x="3205479" y="172720"/>
              <a:ext cx="3007932" cy="22416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检测对虚拟网络节点的攻击行为</a:t>
              </a:r>
              <a:endParaRPr lang="en-US" sz="1680"/>
            </a:p>
          </p:txBody>
        </p:sp>
        <p:sp>
          <p:nvSpPr>
            <p:cNvPr id="49" name="Text 17" descr="TEMP_Z_ORDER_35"/>
            <p:cNvSpPr/>
            <p:nvPr/>
          </p:nvSpPr>
          <p:spPr>
            <a:xfrm>
              <a:off x="7993277" y="1727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50" name="Image 18" descr="TEMP_Z_ORDER_36"/>
            <p:cNvPicPr>
              <a:picLocks noChangeAspect="1"/>
            </p:cNvPicPr>
            <p:nvPr/>
          </p:nvPicPr>
          <p:blipFill>
            <a:blip r:embed="rId13"/>
            <a:stretch>
              <a:fillRect/>
            </a:stretch>
          </p:blipFill>
          <p:spPr>
            <a:xfrm>
              <a:off x="-619760" y="573684"/>
              <a:ext cx="10942320" cy="15240"/>
            </a:xfrm>
            <a:prstGeom prst="rect">
              <a:avLst/>
            </a:prstGeom>
          </p:spPr>
        </p:pic>
        <p:sp>
          <p:nvSpPr>
            <p:cNvPr id="51" name="Text 18" descr="TEMP_Z_ORDER_37"/>
            <p:cNvSpPr/>
            <p:nvPr/>
          </p:nvSpPr>
          <p:spPr>
            <a:xfrm>
              <a:off x="-436880" y="629920"/>
              <a:ext cx="202025"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c)</a:t>
              </a:r>
              <a:endParaRPr lang="en-US" sz="1680"/>
            </a:p>
          </p:txBody>
        </p:sp>
        <p:sp>
          <p:nvSpPr>
            <p:cNvPr id="52" name="Text 19" descr="TEMP_Z_ORDER_38"/>
            <p:cNvSpPr/>
            <p:nvPr/>
          </p:nvSpPr>
          <p:spPr>
            <a:xfrm>
              <a:off x="3175000" y="523240"/>
              <a:ext cx="433260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检测虚拟机与宿主机、虚拟机间的异常流量</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53" name="Text 20" descr="TEMP_Z_ORDER_39"/>
            <p:cNvSpPr/>
            <p:nvPr/>
          </p:nvSpPr>
          <p:spPr>
            <a:xfrm>
              <a:off x="7993277" y="6299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54" name="Image 19" descr="TEMP_Z_ORDER_40"/>
            <p:cNvPicPr>
              <a:picLocks noChangeAspect="1"/>
            </p:cNvPicPr>
            <p:nvPr/>
          </p:nvPicPr>
          <p:blipFill>
            <a:blip r:embed="rId13"/>
            <a:stretch>
              <a:fillRect/>
            </a:stretch>
          </p:blipFill>
          <p:spPr>
            <a:xfrm>
              <a:off x="-619760" y="1030884"/>
              <a:ext cx="10942320" cy="15240"/>
            </a:xfrm>
            <a:prstGeom prst="rect">
              <a:avLst/>
            </a:prstGeom>
          </p:spPr>
        </p:pic>
        <p:sp>
          <p:nvSpPr>
            <p:cNvPr id="55" name="Text 21" descr="TEMP_Z_ORDER_41"/>
            <p:cNvSpPr/>
            <p:nvPr/>
          </p:nvSpPr>
          <p:spPr>
            <a:xfrm>
              <a:off x="-436880" y="10871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d)</a:t>
              </a:r>
              <a:endParaRPr lang="en-US" sz="1680"/>
            </a:p>
          </p:txBody>
        </p:sp>
        <p:sp>
          <p:nvSpPr>
            <p:cNvPr id="56" name="Text 22" descr="TEMP_Z_ORDER_42"/>
            <p:cNvSpPr/>
            <p:nvPr/>
          </p:nvSpPr>
          <p:spPr>
            <a:xfrm>
              <a:off x="3205480" y="1087120"/>
              <a:ext cx="396811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检测到攻击行为或异常流量时进行告警</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57" name="Text 23" descr="TEMP_Z_ORDER_43"/>
            <p:cNvSpPr/>
            <p:nvPr/>
          </p:nvSpPr>
          <p:spPr>
            <a:xfrm>
              <a:off x="7993277" y="10871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grpSp>
        <p:nvGrpSpPr>
          <p:cNvPr id="58" name="组合 57"/>
          <p:cNvGrpSpPr/>
          <p:nvPr/>
        </p:nvGrpSpPr>
        <p:grpSpPr>
          <a:xfrm>
            <a:off x="609600" y="5120640"/>
            <a:ext cx="10972800" cy="1295400"/>
            <a:chOff x="-635000" y="-635000"/>
            <a:chExt cx="10972800" cy="1295400"/>
          </a:xfrm>
        </p:grpSpPr>
        <p:pic>
          <p:nvPicPr>
            <p:cNvPr id="59" name="Image 20" descr="TEMP_Z_ORDER_44"/>
            <p:cNvPicPr>
              <a:picLocks noChangeAspect="1"/>
            </p:cNvPicPr>
            <p:nvPr/>
          </p:nvPicPr>
          <p:blipFill>
            <a:blip r:embed="rId16"/>
            <a:stretch>
              <a:fillRect/>
            </a:stretch>
          </p:blipFill>
          <p:spPr>
            <a:xfrm>
              <a:off x="-635000" y="-619760"/>
              <a:ext cx="10972800" cy="1280160"/>
            </a:xfrm>
            <a:prstGeom prst="rect">
              <a:avLst/>
            </a:prstGeom>
          </p:spPr>
        </p:pic>
        <p:pic>
          <p:nvPicPr>
            <p:cNvPr id="60" name="Image 21" descr="TEMP_Z_ORDER_45"/>
            <p:cNvPicPr>
              <a:picLocks noChangeAspect="1"/>
            </p:cNvPicPr>
            <p:nvPr/>
          </p:nvPicPr>
          <p:blipFill>
            <a:blip r:embed="rId17"/>
            <a:stretch>
              <a:fillRect/>
            </a:stretch>
          </p:blipFill>
          <p:spPr>
            <a:xfrm>
              <a:off x="-619760" y="-604520"/>
              <a:ext cx="10942320" cy="350520"/>
            </a:xfrm>
            <a:prstGeom prst="rect">
              <a:avLst/>
            </a:prstGeom>
          </p:spPr>
        </p:pic>
        <p:pic>
          <p:nvPicPr>
            <p:cNvPr id="61" name="Image 22" descr="TEMP_Z_ORDER_46"/>
            <p:cNvPicPr>
              <a:picLocks noChangeAspect="1"/>
            </p:cNvPicPr>
            <p:nvPr/>
          </p:nvPicPr>
          <p:blipFill>
            <a:blip>
              <a:extLst>
                <a:ext uri="{96DAC541-7B7A-43D3-8B79-37D633B846F1}">
                  <asvg:svgBlip r:embed="rId7"/>
                </a:ext>
              </a:extLst>
            </a:blip>
            <a:stretch>
              <a:fillRect/>
            </a:stretch>
          </p:blipFill>
          <p:spPr>
            <a:xfrm>
              <a:off x="-436880" y="-543560"/>
              <a:ext cx="60960" cy="182880"/>
            </a:xfrm>
            <a:prstGeom prst="rect">
              <a:avLst/>
            </a:prstGeom>
          </p:spPr>
        </p:pic>
        <p:sp>
          <p:nvSpPr>
            <p:cNvPr id="62" name="Text 24" descr="TEMP_Z_ORDER_47"/>
            <p:cNvSpPr/>
            <p:nvPr/>
          </p:nvSpPr>
          <p:spPr>
            <a:xfrm>
              <a:off x="-254000" y="-635000"/>
              <a:ext cx="2860421"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8.2.3.3 / 9.2.3.3 安全审计</a:t>
              </a:r>
              <a:endParaRPr lang="en-US" sz="1680"/>
            </a:p>
          </p:txBody>
        </p:sp>
        <p:pic>
          <p:nvPicPr>
            <p:cNvPr id="63" name="Image 23" descr="TEMP_Z_ORDER_48"/>
            <p:cNvPicPr>
              <a:picLocks noChangeAspect="1"/>
            </p:cNvPicPr>
            <p:nvPr/>
          </p:nvPicPr>
          <p:blipFill>
            <a:blip r:embed="rId8"/>
            <a:stretch>
              <a:fillRect/>
            </a:stretch>
          </p:blipFill>
          <p:spPr>
            <a:xfrm>
              <a:off x="-619760" y="-269240"/>
              <a:ext cx="10942320" cy="15240"/>
            </a:xfrm>
            <a:prstGeom prst="rect">
              <a:avLst/>
            </a:prstGeom>
          </p:spPr>
        </p:pic>
        <p:sp>
          <p:nvSpPr>
            <p:cNvPr id="64" name="Text 25" descr="TEMP_Z_ORDER_49"/>
            <p:cNvSpPr/>
            <p:nvPr/>
          </p:nvSpPr>
          <p:spPr>
            <a:xfrm>
              <a:off x="-436880" y="-208280"/>
              <a:ext cx="21485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65" name="Text 26" descr="TEMP_Z_ORDER_50"/>
            <p:cNvSpPr/>
            <p:nvPr/>
          </p:nvSpPr>
          <p:spPr>
            <a:xfrm>
              <a:off x="3205480" y="-208280"/>
              <a:ext cx="403923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对远程管理特权命令进行审计（如删/启等）</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66" name="Text 27" descr="TEMP_Z_ORDER_51"/>
            <p:cNvSpPr/>
            <p:nvPr/>
          </p:nvSpPr>
          <p:spPr>
            <a:xfrm>
              <a:off x="7993277" y="-20828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67" name="Image 24" descr="TEMP_Z_ORDER_52"/>
            <p:cNvPicPr>
              <a:picLocks noChangeAspect="1"/>
            </p:cNvPicPr>
            <p:nvPr/>
          </p:nvPicPr>
          <p:blipFill>
            <a:blip r:embed="rId13"/>
            <a:stretch>
              <a:fillRect/>
            </a:stretch>
          </p:blipFill>
          <p:spPr>
            <a:xfrm>
              <a:off x="-619760" y="180340"/>
              <a:ext cx="10942320" cy="15240"/>
            </a:xfrm>
            <a:prstGeom prst="rect">
              <a:avLst/>
            </a:prstGeom>
          </p:spPr>
        </p:pic>
        <p:sp>
          <p:nvSpPr>
            <p:cNvPr id="68" name="Text 28" descr="TEMP_Z_ORDER_53"/>
            <p:cNvSpPr/>
            <p:nvPr/>
          </p:nvSpPr>
          <p:spPr>
            <a:xfrm>
              <a:off x="-436880" y="2489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69" name="Text 29" descr="TEMP_Z_ORDER_54"/>
            <p:cNvSpPr/>
            <p:nvPr/>
          </p:nvSpPr>
          <p:spPr>
            <a:xfrm>
              <a:off x="3205480" y="248920"/>
              <a:ext cx="403923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云服务商对客户系统和数据的操作可被审计</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70" name="Text 30" descr="TEMP_Z_ORDER_55"/>
            <p:cNvSpPr/>
            <p:nvPr/>
          </p:nvSpPr>
          <p:spPr>
            <a:xfrm>
              <a:off x="7993277" y="248919"/>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6" presetID="17" presetClass="entr" presetSubtype="10" fill="hold" grpId="2" nodeType="after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p:cTn id="18" dur="750" fill="hold"/>
                                        <p:tgtEl>
                                          <p:spTgt spid="17"/>
                                        </p:tgtEl>
                                        <p:attrNameLst>
                                          <p:attrName>ppt_w</p:attrName>
                                        </p:attrNameLst>
                                      </p:cBhvr>
                                      <p:tavLst>
                                        <p:tav tm="0">
                                          <p:val>
                                            <p:fltVal val="0"/>
                                          </p:val>
                                        </p:tav>
                                        <p:tav tm="100000">
                                          <p:val>
                                            <p:strVal val="#ppt_w"/>
                                          </p:val>
                                        </p:tav>
                                      </p:tavLst>
                                    </p:anim>
                                    <p:anim calcmode="lin" valueType="num">
                                      <p:cBhvr>
                                        <p:cTn id="19" dur="750" fill="hold"/>
                                        <p:tgtEl>
                                          <p:spTgt spid="17"/>
                                        </p:tgtEl>
                                        <p:attrNameLst>
                                          <p:attrName>ppt_h</p:attrName>
                                        </p:attrNameLst>
                                      </p:cBhvr>
                                      <p:tavLst>
                                        <p:tav tm="0">
                                          <p:val>
                                            <p:strVal val="#ppt_h"/>
                                          </p:val>
                                        </p:tav>
                                        <p:tav tm="100000">
                                          <p:val>
                                            <p:strVal val="#ppt_h"/>
                                          </p:val>
                                        </p:tav>
                                      </p:tavLst>
                                    </p:anim>
                                  </p:childTnLst>
                                </p:cTn>
                              </p:par>
                            </p:childTnLst>
                          </p:cTn>
                        </p:par>
                        <p:par>
                          <p:cTn fill="hold">
                            <p:stCondLst>
                              <p:cond delay="0"/>
                            </p:stCondLst>
                            <p:childTnLst>
                              <p:par>
                                <p:cTn id="20" presetID="17" presetClass="entr" presetSubtype="10" fill="hold" grpId="3" nodeType="after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p:cTn id="22" dur="750" fill="hold"/>
                                        <p:tgtEl>
                                          <p:spTgt spid="37"/>
                                        </p:tgtEl>
                                        <p:attrNameLst>
                                          <p:attrName>ppt_w</p:attrName>
                                        </p:attrNameLst>
                                      </p:cBhvr>
                                      <p:tavLst>
                                        <p:tav tm="0">
                                          <p:val>
                                            <p:fltVal val="0"/>
                                          </p:val>
                                        </p:tav>
                                        <p:tav tm="100000">
                                          <p:val>
                                            <p:strVal val="#ppt_w"/>
                                          </p:val>
                                        </p:tav>
                                      </p:tavLst>
                                    </p:anim>
                                    <p:anim calcmode="lin" valueType="num">
                                      <p:cBhvr>
                                        <p:cTn id="23" dur="750" fill="hold"/>
                                        <p:tgtEl>
                                          <p:spTgt spid="37"/>
                                        </p:tgtEl>
                                        <p:attrNameLst>
                                          <p:attrName>ppt_h</p:attrName>
                                        </p:attrNameLst>
                                      </p:cBhvr>
                                      <p:tavLst>
                                        <p:tav tm="0">
                                          <p:val>
                                            <p:strVal val="#ppt_h"/>
                                          </p:val>
                                        </p:tav>
                                        <p:tav tm="100000">
                                          <p:val>
                                            <p:strVal val="#ppt_h"/>
                                          </p:val>
                                        </p:tav>
                                      </p:tavLst>
                                    </p:anim>
                                  </p:childTnLst>
                                </p:cTn>
                              </p:par>
                            </p:childTnLst>
                          </p:cTn>
                        </p:par>
                        <p:par>
                          <p:cTn fill="hold">
                            <p:stCondLst>
                              <p:cond delay="0"/>
                            </p:stCondLst>
                            <p:childTnLst>
                              <p:par>
                                <p:cTn id="24" presetID="17" presetClass="entr" presetSubtype="10" fill="hold" grpId="4" nodeType="afterEffect">
                                  <p:stCondLst>
                                    <p:cond delay="0"/>
                                  </p:stCondLst>
                                  <p:childTnLst>
                                    <p:set>
                                      <p:cBhvr>
                                        <p:cTn id="25" dur="1" fill="hold">
                                          <p:stCondLst>
                                            <p:cond delay="0"/>
                                          </p:stCondLst>
                                        </p:cTn>
                                        <p:tgtEl>
                                          <p:spTgt spid="58"/>
                                        </p:tgtEl>
                                        <p:attrNameLst>
                                          <p:attrName>style.visibility</p:attrName>
                                        </p:attrNameLst>
                                      </p:cBhvr>
                                      <p:to>
                                        <p:strVal val="visible"/>
                                      </p:to>
                                    </p:set>
                                    <p:anim calcmode="lin" valueType="num">
                                      <p:cBhvr>
                                        <p:cTn id="26" dur="750" fill="hold"/>
                                        <p:tgtEl>
                                          <p:spTgt spid="58"/>
                                        </p:tgtEl>
                                        <p:attrNameLst>
                                          <p:attrName>ppt_w</p:attrName>
                                        </p:attrNameLst>
                                      </p:cBhvr>
                                      <p:tavLst>
                                        <p:tav tm="0">
                                          <p:val>
                                            <p:fltVal val="0"/>
                                          </p:val>
                                        </p:tav>
                                        <p:tav tm="100000">
                                          <p:val>
                                            <p:strVal val="#ppt_w"/>
                                          </p:val>
                                        </p:tav>
                                      </p:tavLst>
                                    </p:anim>
                                    <p:anim calcmode="lin" valueType="num">
                                      <p:cBhvr>
                                        <p:cTn id="27" dur="750" fill="hold"/>
                                        <p:tgtEl>
                                          <p:spTgt spid="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xmlns:a16="http://schemas.microsoft.com/office/drawing/2014/main" xmlns:mc="http://schemas.openxmlformats.org/markup-compatibility/2006" mc:Ignorable="a16">
  <p:cSld>
    <p:bg>
      <p:bgPr>
        <a:solidFill>
          <a:srgbClr val="FFFFFF"/>
        </a:solidFill>
        <a:effectLst/>
      </p:bgPr>
    </p:bg>
    <p:spTree>
      <p:nvGrpSpPr>
        <p:cNvPr id="71" name=""/>
        <p:cNvGrpSpPr/>
        <p:nvPr/>
      </p:nvGrpSpPr>
      <p:grpSpPr>
        <a:xfrm>
          <a:off x="0" y="0"/>
          <a:ext cx="0" cy="0"/>
          <a:chOff x="0" y="0"/>
          <a:chExt cx="0" cy="0"/>
        </a:xfrm>
      </p:grpSpPr>
      <p:pic>
        <p:nvPicPr>
          <p:cNvPr id="7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7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7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75"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测评指标解读——安全计算环境</a:t>
            </a:r>
            <a:endParaRPr lang="en-US" sz="2760"/>
          </a:p>
        </p:txBody>
      </p:sp>
      <p:grpSp>
        <p:nvGrpSpPr>
          <p:cNvPr id="76" name="组合 42"/>
          <p:cNvGrpSpPr/>
          <p:nvPr/>
        </p:nvGrpSpPr>
        <p:grpSpPr>
          <a:xfrm>
            <a:off x="609600" y="990600"/>
            <a:ext cx="10981944" cy="457200"/>
            <a:chOff x="-635000" y="-635000"/>
            <a:chExt cx="10981944" cy="457200"/>
          </a:xfrm>
        </p:grpSpPr>
        <p:sp>
          <p:nvSpPr>
            <p:cNvPr id="77" name="Text 1" descr="TEMP_Z_ORDER_4"/>
            <p:cNvSpPr/>
            <p:nvPr/>
          </p:nvSpPr>
          <p:spPr>
            <a:xfrm>
              <a:off x="-635000" y="-635000"/>
              <a:ext cx="4087003"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8.2.4.1 / 9.2.4.1 身份鉴别</a:t>
              </a:r>
              <a:endParaRPr lang="en-US" sz="2400"/>
            </a:p>
          </p:txBody>
        </p:sp>
      </p:grpSp>
      <p:pic>
        <p:nvPicPr>
          <p:cNvPr id="78" name="Image 3" descr="https://test.web.static.jianzeppt.com/ppt-temp-img3/71d92427b23c9e988f8d3a581e9dbe02.png?x-oss-process=image/resize,w_1440,h_800,m_lfit/format,png"/>
          <p:cNvPicPr>
            <a:picLocks noChangeAspect="1"/>
          </p:cNvPicPr>
          <p:nvPr/>
        </p:nvPicPr>
        <p:blipFill>
          <a:blip r:embed="rId5"/>
          <a:stretch>
            <a:fillRect/>
          </a:stretch>
        </p:blipFill>
        <p:spPr>
          <a:xfrm>
            <a:off x="609600" y="2621280"/>
            <a:ext cx="10972800" cy="15240"/>
          </a:xfrm>
          <a:prstGeom prst="rect">
            <a:avLst/>
          </a:prstGeom>
        </p:spPr>
      </p:pic>
      <p:grpSp>
        <p:nvGrpSpPr>
          <p:cNvPr id="79" name="组合 34"/>
          <p:cNvGrpSpPr/>
          <p:nvPr/>
        </p:nvGrpSpPr>
        <p:grpSpPr>
          <a:xfrm>
            <a:off x="609600" y="2880360"/>
            <a:ext cx="10981944" cy="457200"/>
            <a:chOff x="-635000" y="-635000"/>
            <a:chExt cx="10981944" cy="457200"/>
          </a:xfrm>
        </p:grpSpPr>
        <p:sp>
          <p:nvSpPr>
            <p:cNvPr id="80" name="Text 2" descr="TEMP_Z_ORDER_6"/>
            <p:cNvSpPr/>
            <p:nvPr/>
          </p:nvSpPr>
          <p:spPr>
            <a:xfrm>
              <a:off x="-635000" y="-635000"/>
              <a:ext cx="4087003"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8.2.4.2 / 9.2.4.2 访问控制</a:t>
              </a:r>
              <a:endParaRPr lang="en-US" sz="2400"/>
            </a:p>
          </p:txBody>
        </p:sp>
      </p:grpSp>
      <p:pic>
        <p:nvPicPr>
          <p:cNvPr id="81" name="Image 4" descr="https://test.web.static.jianzeppt.com/ppt-temp-img3/71d92427b23c9e988f8d3a581e9dbe02.png?x-oss-process=image/resize,w_1440,h_800,m_lfit/format,png"/>
          <p:cNvPicPr>
            <a:picLocks noChangeAspect="1"/>
          </p:cNvPicPr>
          <p:nvPr/>
        </p:nvPicPr>
        <p:blipFill>
          <a:blip r:embed="rId5"/>
          <a:stretch>
            <a:fillRect/>
          </a:stretch>
        </p:blipFill>
        <p:spPr>
          <a:xfrm>
            <a:off x="609600" y="4526280"/>
            <a:ext cx="10972800" cy="15240"/>
          </a:xfrm>
          <a:prstGeom prst="rect">
            <a:avLst/>
          </a:prstGeom>
        </p:spPr>
      </p:pic>
      <p:grpSp>
        <p:nvGrpSpPr>
          <p:cNvPr id="82" name="组合 38"/>
          <p:cNvGrpSpPr/>
          <p:nvPr/>
        </p:nvGrpSpPr>
        <p:grpSpPr>
          <a:xfrm>
            <a:off x="609600" y="4556760"/>
            <a:ext cx="10981944" cy="457200"/>
            <a:chOff x="-635000" y="-635000"/>
            <a:chExt cx="10981944" cy="457200"/>
          </a:xfrm>
        </p:grpSpPr>
        <p:sp>
          <p:nvSpPr>
            <p:cNvPr id="83" name="Text 3" descr="TEMP_Z_ORDER_8"/>
            <p:cNvSpPr/>
            <p:nvPr/>
          </p:nvSpPr>
          <p:spPr>
            <a:xfrm>
              <a:off x="-635000" y="-635000"/>
              <a:ext cx="4087003"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8.2.4.3 / 9.2.4.3 入侵防范</a:t>
              </a:r>
              <a:endParaRPr lang="en-US" sz="2400"/>
            </a:p>
          </p:txBody>
        </p:sp>
      </p:grpSp>
      <p:grpSp>
        <p:nvGrpSpPr>
          <p:cNvPr id="84" name="组合 44"/>
          <p:cNvGrpSpPr/>
          <p:nvPr/>
        </p:nvGrpSpPr>
        <p:grpSpPr>
          <a:xfrm>
            <a:off x="609600" y="1569720"/>
            <a:ext cx="10972800" cy="822960"/>
            <a:chOff x="-635000" y="-635000"/>
            <a:chExt cx="10972800" cy="822960"/>
          </a:xfrm>
        </p:grpSpPr>
        <p:pic>
          <p:nvPicPr>
            <p:cNvPr id="85" name="Image 5" descr="TEMP_Z_ORDER_9"/>
            <p:cNvPicPr>
              <a:picLocks noChangeAspect="1"/>
            </p:cNvPicPr>
            <p:nvPr/>
          </p:nvPicPr>
          <p:blipFill>
            <a:blip r:embed="rId6"/>
            <a:stretch>
              <a:fillRect/>
            </a:stretch>
          </p:blipFill>
          <p:spPr>
            <a:xfrm>
              <a:off x="-635000" y="-635000"/>
              <a:ext cx="10972800" cy="822960"/>
            </a:xfrm>
            <a:prstGeom prst="rect">
              <a:avLst/>
            </a:prstGeom>
          </p:spPr>
        </p:pic>
      </p:grpSp>
      <p:graphicFrame>
        <p:nvGraphicFramePr>
          <p:cNvPr id="86" name="Table 0"/>
          <p:cNvGraphicFramePr>
            <a:graphicFrameLocks noGrp="1"/>
          </p:cNvGraphicFramePr>
          <p:nvPr/>
        </p:nvGraphicFramePr>
        <p:xfrm>
          <a:off x="624840" y="1584960"/>
          <a:ext cx="10942320" cy="804672"/>
        </p:xfrm>
        <a:graphic>
          <a:graphicData uri="http://schemas.openxmlformats.org/drawingml/2006/table">
            <a:tbl>
              <a:tblPr/>
              <a:tblGrid>
                <a:gridCol w="2685981">
                  <a:extLst>
                    <a:ext uri="{9D8B030D-6E8A-4147-A177-3AD203B41FA5}">
                      <a16:colId val="1"/>
                    </a:ext>
                  </a:extLst>
                </a:gridCol>
                <a:gridCol w="8256339">
                  <a:extLst>
                    <a:ext uri="{9D8B030D-6E8A-4147-A177-3AD203B41FA5}">
                      <a16:colId val="2"/>
                    </a:ext>
                  </a:extLst>
                </a:gridCol>
              </a:tblGrid>
              <a:tr h="396240">
                <a:tc>
                  <a:txBody>
                    <a:bodyPr wrap="square"/>
                    <a:lstStyle/>
                    <a:p>
                      <a:pPr marL="0" indent="0" algn="ctr">
                        <a:buNone/>
                      </a:pPr>
                      <a:r>
                        <a:rPr lang="en-US" sz="1600" b="1">
                          <a:solidFill>
                            <a:srgbClr val="000000"/>
                          </a:solidFill>
                        </a:rPr>
                        <a:t>要求项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内容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96240">
                <a:tc>
                  <a:txBody>
                    <a:bodyPr wrap="square"/>
                    <a:lstStyle/>
                    <a:p>
                      <a:pPr marL="0" indent="0" algn="ctr">
                        <a:buNone/>
                      </a:pPr>
                      <a:r>
                        <a:rPr lang="en-US" sz="1600">
                          <a:solidFill>
                            <a:srgbClr val="000000"/>
                          </a:solidFill>
                        </a:rPr>
                        <a:t>（第四级/第三级增强）</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远程管理云计算平台中设备时，管理终端和平台之间应建立双向身份验证机制</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bl>
          </a:graphicData>
        </a:graphic>
      </p:graphicFrame>
      <p:grpSp>
        <p:nvGrpSpPr>
          <p:cNvPr id="87" name="组合 36"/>
          <p:cNvGrpSpPr/>
          <p:nvPr/>
        </p:nvGrpSpPr>
        <p:grpSpPr>
          <a:xfrm>
            <a:off x="609600" y="3459480"/>
            <a:ext cx="10972800" cy="822960"/>
            <a:chOff x="-635000" y="-635000"/>
            <a:chExt cx="10972800" cy="822960"/>
          </a:xfrm>
        </p:grpSpPr>
        <p:pic>
          <p:nvPicPr>
            <p:cNvPr id="88" name="Image 6" descr="TEMP_Z_ORDER_11"/>
            <p:cNvPicPr>
              <a:picLocks noChangeAspect="1"/>
            </p:cNvPicPr>
            <p:nvPr/>
          </p:nvPicPr>
          <p:blipFill>
            <a:blip r:embed="rId6"/>
            <a:stretch>
              <a:fillRect/>
            </a:stretch>
          </p:blipFill>
          <p:spPr>
            <a:xfrm>
              <a:off x="-635000" y="-635000"/>
              <a:ext cx="10972800" cy="822960"/>
            </a:xfrm>
            <a:prstGeom prst="rect">
              <a:avLst/>
            </a:prstGeom>
          </p:spPr>
        </p:pic>
      </p:grpSp>
      <p:graphicFrame>
        <p:nvGraphicFramePr>
          <p:cNvPr id="89" name="Table 1"/>
          <p:cNvGraphicFramePr>
            <a:graphicFrameLocks noGrp="1"/>
          </p:cNvGraphicFramePr>
          <p:nvPr/>
        </p:nvGraphicFramePr>
        <p:xfrm>
          <a:off x="2427605" y="3228975"/>
          <a:ext cx="7334250" cy="1022985"/>
        </p:xfrm>
        <a:graphic>
          <a:graphicData uri="http://schemas.openxmlformats.org/drawingml/2006/table">
            <a:tbl>
              <a:tblPr/>
              <a:tblGrid>
                <a:gridCol w="869315">
                  <a:extLst>
                    <a:ext uri="{9D8B030D-6E8A-4147-A177-3AD203B41FA5}">
                      <a16:colId val="1"/>
                    </a:ext>
                  </a:extLst>
                </a:gridCol>
                <a:gridCol w="5370830">
                  <a:extLst>
                    <a:ext uri="{9D8B030D-6E8A-4147-A177-3AD203B41FA5}">
                      <a16:colId val="2"/>
                    </a:ext>
                  </a:extLst>
                </a:gridCol>
                <a:gridCol w="1094105">
                  <a:extLst>
                    <a:ext uri="{9D8B030D-6E8A-4147-A177-3AD203B41FA5}">
                      <a16:colId val="3"/>
                    </a:ext>
                  </a:extLst>
                </a:gridCol>
              </a:tblGrid>
              <a:tr h="340995">
                <a:tc>
                  <a:txBody>
                    <a:bodyPr wrap="square"/>
                    <a:lstStyle/>
                    <a:p>
                      <a:pPr marL="0" indent="0" algn="ctr">
                        <a:buNone/>
                      </a:pPr>
                      <a:r>
                        <a:rPr lang="en-US" sz="1600" b="1">
                          <a:solidFill>
                            <a:srgbClr val="000000"/>
                          </a:solidFill>
                        </a:rPr>
                        <a:t>要求项</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内容</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适用对象</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40995">
                <a:tc>
                  <a:txBody>
                    <a:bodyPr wrap="square"/>
                    <a:lstStyle/>
                    <a:p>
                      <a:pPr marL="0" indent="0" algn="ctr">
                        <a:buNone/>
                      </a:pPr>
                      <a:r>
                        <a:rPr lang="en-US" sz="1600">
                          <a:solidFill>
                            <a:srgbClr val="000000"/>
                          </a:solidFill>
                        </a:rPr>
                        <a:t>a)</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虚拟机迁移时，访问控制策略随其迁移</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340995">
                <a:tc>
                  <a:txBody>
                    <a:bodyPr wrap="square"/>
                    <a:lstStyle/>
                    <a:p>
                      <a:pPr marL="0" indent="0" algn="ctr">
                        <a:buNone/>
                      </a:pPr>
                      <a:r>
                        <a:rPr lang="en-US" sz="1600">
                          <a:solidFill>
                            <a:srgbClr val="000000"/>
                          </a:solidFill>
                        </a:rPr>
                        <a:t>b)</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允许云服务客户设置不同虚拟机之间的访问控制策略</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客户</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bl>
          </a:graphicData>
        </a:graphic>
      </p:graphicFrame>
      <p:grpSp>
        <p:nvGrpSpPr>
          <p:cNvPr id="90" name="组合 40"/>
          <p:cNvGrpSpPr/>
          <p:nvPr/>
        </p:nvGrpSpPr>
        <p:grpSpPr>
          <a:xfrm>
            <a:off x="609600" y="5364480"/>
            <a:ext cx="10972800" cy="822960"/>
            <a:chOff x="-635000" y="-635000"/>
            <a:chExt cx="10972800" cy="822960"/>
          </a:xfrm>
        </p:grpSpPr>
        <p:pic>
          <p:nvPicPr>
            <p:cNvPr id="91" name="Image 7" descr="TEMP_Z_ORDER_13"/>
            <p:cNvPicPr>
              <a:picLocks noChangeAspect="1"/>
            </p:cNvPicPr>
            <p:nvPr/>
          </p:nvPicPr>
          <p:blipFill>
            <a:blip r:embed="rId6"/>
            <a:stretch>
              <a:fillRect/>
            </a:stretch>
          </p:blipFill>
          <p:spPr>
            <a:xfrm>
              <a:off x="-635000" y="-635000"/>
              <a:ext cx="10972800" cy="822960"/>
            </a:xfrm>
            <a:prstGeom prst="rect">
              <a:avLst/>
            </a:prstGeom>
          </p:spPr>
        </p:pic>
      </p:grpSp>
      <p:graphicFrame>
        <p:nvGraphicFramePr>
          <p:cNvPr id="92" name="Table 2"/>
          <p:cNvGraphicFramePr>
            <a:graphicFrameLocks noGrp="1"/>
          </p:cNvGraphicFramePr>
          <p:nvPr/>
        </p:nvGraphicFramePr>
        <p:xfrm>
          <a:off x="2366010" y="5029200"/>
          <a:ext cx="7266305" cy="1346200"/>
        </p:xfrm>
        <a:graphic>
          <a:graphicData uri="http://schemas.openxmlformats.org/drawingml/2006/table">
            <a:tbl>
              <a:tblPr/>
              <a:tblGrid>
                <a:gridCol w="991235">
                  <a:extLst>
                    <a:ext uri="{9D8B030D-6E8A-4147-A177-3AD203B41FA5}">
                      <a16:colId val="1"/>
                    </a:ext>
                  </a:extLst>
                </a:gridCol>
                <a:gridCol w="4848225">
                  <a:extLst>
                    <a:ext uri="{9D8B030D-6E8A-4147-A177-3AD203B41FA5}">
                      <a16:colId val="2"/>
                    </a:ext>
                  </a:extLst>
                </a:gridCol>
                <a:gridCol w="1426845">
                  <a:extLst>
                    <a:ext uri="{9D8B030D-6E8A-4147-A177-3AD203B41FA5}">
                      <a16:colId val="3"/>
                    </a:ext>
                  </a:extLst>
                </a:gridCol>
              </a:tblGrid>
              <a:tr h="0">
                <a:tc>
                  <a:txBody>
                    <a:bodyPr wrap="square"/>
                    <a:lstStyle/>
                    <a:p>
                      <a:pPr marL="0" indent="0" algn="ctr">
                        <a:buNone/>
                      </a:pPr>
                      <a:r>
                        <a:rPr lang="en-US" sz="1600">
                          <a:solidFill>
                            <a:srgbClr val="000000"/>
                          </a:solidFill>
                        </a:rPr>
                        <a:t>要求项</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内容</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适用对象</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0">
                <a:tc>
                  <a:txBody>
                    <a:bodyPr wrap="square"/>
                    <a:lstStyle/>
                    <a:p>
                      <a:pPr marL="0" indent="0" algn="ctr">
                        <a:buNone/>
                      </a:pPr>
                      <a:r>
                        <a:rPr lang="en-US" sz="1600">
                          <a:solidFill>
                            <a:srgbClr val="000000"/>
                          </a:solidFill>
                        </a:rPr>
                        <a:t>a)</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检测虚拟机之间的资源隔离失效，并告警</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0">
                <a:tc>
                  <a:txBody>
                    <a:bodyPr wrap="square"/>
                    <a:lstStyle/>
                    <a:p>
                      <a:pPr marL="0" indent="0" algn="ctr">
                        <a:buNone/>
                      </a:pPr>
                      <a:r>
                        <a:rPr lang="en-US" sz="1600">
                          <a:solidFill>
                            <a:srgbClr val="000000"/>
                          </a:solidFill>
                        </a:rPr>
                        <a:t>b)</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检测非授权新建虚拟机或重新启用虚拟机</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0">
                <a:tc>
                  <a:txBody>
                    <a:bodyPr wrap="square"/>
                    <a:lstStyle/>
                    <a:p>
                      <a:pPr marL="0" indent="0" algn="ctr">
                        <a:buNone/>
                      </a:pPr>
                      <a:r>
                        <a:rPr lang="en-US" sz="1600">
                          <a:solidFill>
                            <a:srgbClr val="000000"/>
                          </a:solidFill>
                        </a:rPr>
                        <a:t>c)</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检测恶意代码感染及在虚拟机间蔓延</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平台+客户</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hildTnLst>
                              <p:par>
                                <p:cTn id="28" presetID="22" presetClass="entr" presetSubtype="1" fill="hold" grpId="3" nodeType="with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wipe(up)">
                                      <p:cBhvr>
                                        <p:cTn id="30" dur="750"/>
                                        <p:tgtEl>
                                          <p:spTgt spid="84"/>
                                        </p:tgtEl>
                                      </p:cBhvr>
                                    </p:animEffect>
                                  </p:childTnLst>
                                </p:cTn>
                              </p:par>
                              <p:par>
                                <p:cTn id="31" presetID="22" presetClass="entr" presetSubtype="1" fill="hold" grpId="6" nodeType="withEffect">
                                  <p:stCondLst>
                                    <p:cond delay="0"/>
                                  </p:stCondLst>
                                  <p:childTnLst>
                                    <p:set>
                                      <p:cBhvr>
                                        <p:cTn id="32" dur="1" fill="hold">
                                          <p:stCondLst>
                                            <p:cond delay="0"/>
                                          </p:stCondLst>
                                        </p:cTn>
                                        <p:tgtEl>
                                          <p:spTgt spid="87"/>
                                        </p:tgtEl>
                                        <p:attrNameLst>
                                          <p:attrName>style.visibility</p:attrName>
                                        </p:attrNameLst>
                                      </p:cBhvr>
                                      <p:to>
                                        <p:strVal val="visible"/>
                                      </p:to>
                                    </p:set>
                                    <p:animEffect transition="in" filter="wipe(up)">
                                      <p:cBhvr>
                                        <p:cTn id="33" dur="750"/>
                                        <p:tgtEl>
                                          <p:spTgt spid="87"/>
                                        </p:tgtEl>
                                      </p:cBhvr>
                                    </p:animEffect>
                                  </p:childTnLst>
                                </p:cTn>
                              </p:par>
                              <p:par>
                                <p:cTn id="34" presetID="22" presetClass="entr" presetSubtype="1" fill="hold" grpId="9" nodeType="withEffect">
                                  <p:stCondLst>
                                    <p:cond delay="0"/>
                                  </p:stCondLst>
                                  <p:childTnLst>
                                    <p:set>
                                      <p:cBhvr>
                                        <p:cTn id="35" dur="1" fill="hold">
                                          <p:stCondLst>
                                            <p:cond delay="0"/>
                                          </p:stCondLst>
                                        </p:cTn>
                                        <p:tgtEl>
                                          <p:spTgt spid="90"/>
                                        </p:tgtEl>
                                        <p:attrNameLst>
                                          <p:attrName>style.visibility</p:attrName>
                                        </p:attrNameLst>
                                      </p:cBhvr>
                                      <p:to>
                                        <p:strVal val="visible"/>
                                      </p:to>
                                    </p:set>
                                    <p:animEffect transition="in" filter="wipe(up)">
                                      <p:cBhvr>
                                        <p:cTn id="36" dur="750"/>
                                        <p:tgtEl>
                                          <p:spTgt spid="90"/>
                                        </p:tgtEl>
                                      </p:cBhvr>
                                    </p:animEffect>
                                  </p:childTnLst>
                                </p:cTn>
                              </p:par>
                            </p:childTnLst>
                          </p:cTn>
                        </p:par>
                        <p:par>
                          <p:cTn fill="hold">
                            <p:stCondLst>
                              <p:cond delay="0"/>
                            </p:stCondLst>
                            <p:childTnLst>
                              <p:par>
                                <p:cTn id="37" presetID="10" presetClass="entr" presetSubtype="0" fill="hold" grpId="1"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fade">
                                      <p:cBhvr>
                                        <p:cTn id="39" dur="750"/>
                                        <p:tgtEl>
                                          <p:spTgt spid="75"/>
                                        </p:tgtEl>
                                      </p:cBhvr>
                                    </p:animEffect>
                                  </p:childTnLst>
                                </p:cTn>
                              </p:par>
                            </p:childTnLst>
                          </p:cTn>
                        </p:par>
                        <p:par>
                          <p:cTn fill="hold">
                            <p:stCondLst>
                              <p:cond delay="0"/>
                            </p:stCondLst>
                            <p:childTnLst>
                              <p:par>
                                <p:cTn id="40" presetID="22" presetClass="entr" presetSubtype="1" fill="hold" grpId="2" nodeType="after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wipe(up)">
                                      <p:cBhvr>
                                        <p:cTn id="42" dur="750"/>
                                        <p:tgtEl>
                                          <p:spTgt spid="76"/>
                                        </p:tgtEl>
                                      </p:cBhvr>
                                    </p:animEffect>
                                  </p:childTnLst>
                                </p:cTn>
                              </p:par>
                            </p:childTnLst>
                          </p:cTn>
                        </p:par>
                        <p:par>
                          <p:cTn fill="hold">
                            <p:stCondLst>
                              <p:cond delay="750"/>
                            </p:stCondLst>
                            <p:childTnLst>
                              <p:par>
                                <p:cTn id="43" presetID="22" presetClass="entr" presetSubtype="1" fill="hold" grpId="4" nodeType="afterEffect">
                                  <p:stCondLst>
                                    <p:cond delay="0"/>
                                  </p:stCondLst>
                                  <p:childTnLst>
                                    <p:set>
                                      <p:cBhvr>
                                        <p:cTn id="44" dur="1" fill="hold">
                                          <p:stCondLst>
                                            <p:cond delay="0"/>
                                          </p:stCondLst>
                                        </p:cTn>
                                        <p:tgtEl>
                                          <p:spTgt spid="78"/>
                                        </p:tgtEl>
                                        <p:attrNameLst>
                                          <p:attrName>style.visibility</p:attrName>
                                        </p:attrNameLst>
                                      </p:cBhvr>
                                      <p:to>
                                        <p:strVal val="visible"/>
                                      </p:to>
                                    </p:set>
                                    <p:animEffect transition="in" filter="wipe(up)">
                                      <p:cBhvr>
                                        <p:cTn id="45" dur="750"/>
                                        <p:tgtEl>
                                          <p:spTgt spid="78"/>
                                        </p:tgtEl>
                                      </p:cBhvr>
                                    </p:animEffect>
                                  </p:childTnLst>
                                </p:cTn>
                              </p:par>
                            </p:childTnLst>
                          </p:cTn>
                        </p:par>
                        <p:par>
                          <p:cTn fill="hold">
                            <p:stCondLst>
                              <p:cond delay="750"/>
                            </p:stCondLst>
                            <p:childTnLst>
                              <p:par>
                                <p:cTn id="46" presetID="22" presetClass="entr" presetSubtype="1" fill="hold" grpId="5" nodeType="after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wipe(up)">
                                      <p:cBhvr>
                                        <p:cTn id="48" dur="750"/>
                                        <p:tgtEl>
                                          <p:spTgt spid="79"/>
                                        </p:tgtEl>
                                      </p:cBhvr>
                                    </p:animEffect>
                                  </p:childTnLst>
                                </p:cTn>
                              </p:par>
                            </p:childTnLst>
                          </p:cTn>
                        </p:par>
                        <p:par>
                          <p:cTn fill="hold">
                            <p:stCondLst>
                              <p:cond delay="750"/>
                            </p:stCondLst>
                            <p:childTnLst>
                              <p:par>
                                <p:cTn id="49" presetID="22" presetClass="entr" presetSubtype="1" fill="hold" grpId="7" nodeType="afterEffect">
                                  <p:stCondLst>
                                    <p:cond delay="0"/>
                                  </p:stCondLst>
                                  <p:childTnLst>
                                    <p:set>
                                      <p:cBhvr>
                                        <p:cTn id="50" dur="1" fill="hold">
                                          <p:stCondLst>
                                            <p:cond delay="0"/>
                                          </p:stCondLst>
                                        </p:cTn>
                                        <p:tgtEl>
                                          <p:spTgt spid="81"/>
                                        </p:tgtEl>
                                        <p:attrNameLst>
                                          <p:attrName>style.visibility</p:attrName>
                                        </p:attrNameLst>
                                      </p:cBhvr>
                                      <p:to>
                                        <p:strVal val="visible"/>
                                      </p:to>
                                    </p:set>
                                    <p:animEffect transition="in" filter="wipe(up)">
                                      <p:cBhvr>
                                        <p:cTn id="51" dur="750"/>
                                        <p:tgtEl>
                                          <p:spTgt spid="81"/>
                                        </p:tgtEl>
                                      </p:cBhvr>
                                    </p:animEffect>
                                  </p:childTnLst>
                                </p:cTn>
                              </p:par>
                            </p:childTnLst>
                          </p:cTn>
                        </p:par>
                        <p:par>
                          <p:cTn fill="hold">
                            <p:stCondLst>
                              <p:cond delay="750"/>
                            </p:stCondLst>
                            <p:childTnLst>
                              <p:par>
                                <p:cTn id="52" presetID="22" presetClass="entr" presetSubtype="1" fill="hold" grpId="8" nodeType="after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wipe(up)">
                                      <p:cBhvr>
                                        <p:cTn id="54" dur="750"/>
                                        <p:tgtEl>
                                          <p:spTgt spid="8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93" name=""/>
        <p:cNvGrpSpPr/>
        <p:nvPr/>
      </p:nvGrpSpPr>
      <p:grpSpPr>
        <a:xfrm>
          <a:off x="0" y="0"/>
          <a:ext cx="0" cy="0"/>
          <a:chOff x="0" y="0"/>
          <a:chExt cx="0" cy="0"/>
        </a:xfrm>
      </p:grpSpPr>
      <p:pic>
        <p:nvPicPr>
          <p:cNvPr id="9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95"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96"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97"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测评指标解读——镜像与数据保护</a:t>
            </a:r>
            <a:endParaRPr lang="en-US" sz="2760"/>
          </a:p>
        </p:txBody>
      </p:sp>
      <p:grpSp>
        <p:nvGrpSpPr>
          <p:cNvPr id="98" name="组合 65"/>
          <p:cNvGrpSpPr/>
          <p:nvPr/>
        </p:nvGrpSpPr>
        <p:grpSpPr>
          <a:xfrm>
            <a:off x="609600" y="1066800"/>
            <a:ext cx="5364480" cy="2468880"/>
            <a:chOff x="-635000" y="-635000"/>
            <a:chExt cx="5364480" cy="2468880"/>
          </a:xfrm>
        </p:grpSpPr>
        <p:pic>
          <p:nvPicPr>
            <p:cNvPr id="99" name="Image 3" descr="TEMP_Z_ORDER_4"/>
            <p:cNvPicPr>
              <a:picLocks noChangeAspect="1"/>
            </p:cNvPicPr>
            <p:nvPr/>
          </p:nvPicPr>
          <p:blipFill>
            <a:blip r:embed="rId5"/>
            <a:stretch>
              <a:fillRect/>
            </a:stretch>
          </p:blipFill>
          <p:spPr>
            <a:xfrm>
              <a:off x="-635000" y="-635000"/>
              <a:ext cx="5364480" cy="2468880"/>
            </a:xfrm>
            <a:prstGeom prst="rect">
              <a:avLst/>
            </a:prstGeom>
          </p:spPr>
        </p:pic>
        <p:sp>
          <p:nvSpPr>
            <p:cNvPr id="100" name="Text 1" descr="TEMP_Z_ORDER_5"/>
            <p:cNvSpPr/>
            <p:nvPr/>
          </p:nvSpPr>
          <p:spPr>
            <a:xfrm>
              <a:off x="-436880" y="-436880"/>
              <a:ext cx="5010547"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8.2.4.4 / 9.2.4.4 镜像和快照保护</a:t>
              </a:r>
              <a:endParaRPr lang="en-US" sz="2400"/>
            </a:p>
          </p:txBody>
        </p:sp>
        <p:pic>
          <p:nvPicPr>
            <p:cNvPr id="101" name="Image 4" descr="TEMP_Z_ORDER_6"/>
            <p:cNvPicPr>
              <a:picLocks noChangeAspect="1"/>
            </p:cNvPicPr>
            <p:nvPr/>
          </p:nvPicPr>
          <p:blipFill>
            <a:blip r:embed="rId6"/>
            <a:stretch>
              <a:fillRect/>
            </a:stretch>
          </p:blipFill>
          <p:spPr>
            <a:xfrm>
              <a:off x="-421640" y="157480"/>
              <a:ext cx="4953000" cy="838200"/>
            </a:xfrm>
            <a:prstGeom prst="rect">
              <a:avLst/>
            </a:prstGeom>
          </p:spPr>
        </p:pic>
        <p:pic>
          <p:nvPicPr>
            <p:cNvPr id="102" name="Image 5" descr="TEMP_Z_ORDER_7"/>
            <p:cNvPicPr>
              <a:picLocks noChangeAspect="1"/>
            </p:cNvPicPr>
            <p:nvPr/>
          </p:nvPicPr>
          <p:blipFill>
            <a:blip r:embed="rId7"/>
            <a:stretch>
              <a:fillRect/>
            </a:stretch>
          </p:blipFill>
          <p:spPr>
            <a:xfrm>
              <a:off x="-421640" y="157480"/>
              <a:ext cx="762000" cy="838200"/>
            </a:xfrm>
            <a:prstGeom prst="rect">
              <a:avLst/>
            </a:prstGeom>
          </p:spPr>
        </p:pic>
        <p:sp>
          <p:nvSpPr>
            <p:cNvPr id="103" name="Text 2" descr="TEMP_Z_ORDER_8"/>
            <p:cNvSpPr/>
            <p:nvPr/>
          </p:nvSpPr>
          <p:spPr>
            <a:xfrm>
              <a:off x="-330200" y="255358"/>
              <a:ext cx="435864" cy="627204"/>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要求项</a:t>
              </a:r>
              <a:endParaRPr lang="en-US" sz="1680"/>
            </a:p>
          </p:txBody>
        </p:sp>
        <p:pic>
          <p:nvPicPr>
            <p:cNvPr id="104" name="Image 6" descr="TEMP_Z_ORDER_9"/>
            <p:cNvPicPr>
              <a:picLocks noChangeAspect="1"/>
            </p:cNvPicPr>
            <p:nvPr/>
          </p:nvPicPr>
          <p:blipFill>
            <a:blip r:embed="rId8"/>
            <a:stretch>
              <a:fillRect/>
            </a:stretch>
          </p:blipFill>
          <p:spPr>
            <a:xfrm>
              <a:off x="340360" y="157480"/>
              <a:ext cx="4191000" cy="838200"/>
            </a:xfrm>
            <a:prstGeom prst="rect">
              <a:avLst/>
            </a:prstGeom>
          </p:spPr>
        </p:pic>
        <p:sp>
          <p:nvSpPr>
            <p:cNvPr id="105" name="Text 3" descr="TEMP_Z_ORDER_10"/>
            <p:cNvSpPr/>
            <p:nvPr/>
          </p:nvSpPr>
          <p:spPr>
            <a:xfrm>
              <a:off x="431800" y="416560"/>
              <a:ext cx="429704"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内容</a:t>
              </a:r>
              <a:endParaRPr lang="en-US" sz="1680"/>
            </a:p>
          </p:txBody>
        </p:sp>
        <p:pic>
          <p:nvPicPr>
            <p:cNvPr id="106" name="Image 7" descr="TEMP_Z_ORDER_11"/>
            <p:cNvPicPr>
              <a:picLocks noChangeAspect="1"/>
            </p:cNvPicPr>
            <p:nvPr/>
          </p:nvPicPr>
          <p:blipFill>
            <a:blip r:embed="rId9"/>
            <a:stretch>
              <a:fillRect/>
            </a:stretch>
          </p:blipFill>
          <p:spPr>
            <a:xfrm>
              <a:off x="-421640" y="995680"/>
              <a:ext cx="762000" cy="792480"/>
            </a:xfrm>
            <a:prstGeom prst="rect">
              <a:avLst/>
            </a:prstGeom>
          </p:spPr>
        </p:pic>
        <p:sp>
          <p:nvSpPr>
            <p:cNvPr id="107" name="Text 4" descr="TEMP_Z_ORDER_12"/>
            <p:cNvSpPr/>
            <p:nvPr/>
          </p:nvSpPr>
          <p:spPr>
            <a:xfrm>
              <a:off x="-330200" y="10871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08" name="Image 8" descr="TEMP_Z_ORDER_13"/>
            <p:cNvPicPr>
              <a:picLocks noChangeAspect="1"/>
            </p:cNvPicPr>
            <p:nvPr/>
          </p:nvPicPr>
          <p:blipFill>
            <a:blip r:embed="rId10"/>
            <a:stretch>
              <a:fillRect/>
            </a:stretch>
          </p:blipFill>
          <p:spPr>
            <a:xfrm>
              <a:off x="340360" y="995680"/>
              <a:ext cx="4191000" cy="792480"/>
            </a:xfrm>
            <a:prstGeom prst="rect">
              <a:avLst/>
            </a:prstGeom>
          </p:spPr>
        </p:pic>
        <p:sp>
          <p:nvSpPr>
            <p:cNvPr id="109" name="Text 5" descr="TEMP_Z_ORDER_14"/>
            <p:cNvSpPr/>
            <p:nvPr/>
          </p:nvSpPr>
          <p:spPr>
            <a:xfrm>
              <a:off x="431800" y="1078486"/>
              <a:ext cx="384962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针对重要业务系统提供加固的操作系统镜像或安全加固服务</a:t>
              </a:r>
              <a:endParaRPr lang="en-US" sz="1680"/>
            </a:p>
          </p:txBody>
        </p:sp>
      </p:grpSp>
      <p:grpSp>
        <p:nvGrpSpPr>
          <p:cNvPr id="110" name="组合 77"/>
          <p:cNvGrpSpPr/>
          <p:nvPr/>
        </p:nvGrpSpPr>
        <p:grpSpPr>
          <a:xfrm>
            <a:off x="6217920" y="1066800"/>
            <a:ext cx="5364480" cy="2468880"/>
            <a:chOff x="-635000" y="-635000"/>
            <a:chExt cx="5364480" cy="2468880"/>
          </a:xfrm>
        </p:grpSpPr>
        <p:pic>
          <p:nvPicPr>
            <p:cNvPr id="111" name="Image 9" descr="TEMP_Z_ORDER_15"/>
            <p:cNvPicPr>
              <a:picLocks noChangeAspect="1"/>
            </p:cNvPicPr>
            <p:nvPr/>
          </p:nvPicPr>
          <p:blipFill>
            <a:blip r:embed="rId5"/>
            <a:stretch>
              <a:fillRect/>
            </a:stretch>
          </p:blipFill>
          <p:spPr>
            <a:xfrm>
              <a:off x="-635000" y="-635000"/>
              <a:ext cx="5364480" cy="2468880"/>
            </a:xfrm>
            <a:prstGeom prst="rect">
              <a:avLst/>
            </a:prstGeom>
          </p:spPr>
        </p:pic>
        <p:sp>
          <p:nvSpPr>
            <p:cNvPr id="112" name="Text 6" descr="TEMP_Z_ORDER_16"/>
            <p:cNvSpPr/>
            <p:nvPr/>
          </p:nvSpPr>
          <p:spPr>
            <a:xfrm>
              <a:off x="-436880" y="-436880"/>
              <a:ext cx="4977384" cy="37287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40" b="1">
                  <a:solidFill>
                    <a:srgbClr val="458BE6"/>
                  </a:solidFill>
                  <a:latin typeface="思源黑体 CN Bold" pitchFamily="34" charset="0"/>
                  <a:ea typeface="思源黑体 CN Bold" pitchFamily="34" charset="-122"/>
                  <a:cs typeface="思源黑体 CN Bold" pitchFamily="34" charset="-120"/>
                </a:rPr>
                <a:t>8.2.4.5 / 9.2.4.5 数据完整性和保密性</a:t>
              </a:r>
              <a:endParaRPr lang="en-US" sz="2040"/>
            </a:p>
          </p:txBody>
        </p:sp>
        <p:pic>
          <p:nvPicPr>
            <p:cNvPr id="113" name="Image 10" descr="TEMP_Z_ORDER_17"/>
            <p:cNvPicPr>
              <a:picLocks noChangeAspect="1"/>
            </p:cNvPicPr>
            <p:nvPr/>
          </p:nvPicPr>
          <p:blipFill>
            <a:blip r:embed="rId11"/>
            <a:stretch>
              <a:fillRect/>
            </a:stretch>
          </p:blipFill>
          <p:spPr>
            <a:xfrm>
              <a:off x="-421640" y="142240"/>
              <a:ext cx="4953000" cy="914400"/>
            </a:xfrm>
            <a:prstGeom prst="rect">
              <a:avLst/>
            </a:prstGeom>
          </p:spPr>
        </p:pic>
        <p:pic>
          <p:nvPicPr>
            <p:cNvPr id="114" name="Image 11" descr="TEMP_Z_ORDER_18"/>
            <p:cNvPicPr>
              <a:picLocks noChangeAspect="1"/>
            </p:cNvPicPr>
            <p:nvPr/>
          </p:nvPicPr>
          <p:blipFill>
            <a:blip r:embed="rId12"/>
            <a:stretch>
              <a:fillRect/>
            </a:stretch>
          </p:blipFill>
          <p:spPr>
            <a:xfrm>
              <a:off x="-421640" y="142240"/>
              <a:ext cx="426720" cy="792480"/>
            </a:xfrm>
            <a:prstGeom prst="rect">
              <a:avLst/>
            </a:prstGeom>
          </p:spPr>
        </p:pic>
        <p:sp>
          <p:nvSpPr>
            <p:cNvPr id="115" name="Text 7" descr="TEMP_Z_ORDER_19"/>
            <p:cNvSpPr/>
            <p:nvPr/>
          </p:nvSpPr>
          <p:spPr>
            <a:xfrm>
              <a:off x="-330200" y="2489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16" name="Image 12" descr="TEMP_Z_ORDER_20"/>
            <p:cNvPicPr>
              <a:picLocks noChangeAspect="1"/>
            </p:cNvPicPr>
            <p:nvPr/>
          </p:nvPicPr>
          <p:blipFill>
            <a:blip r:embed="rId13"/>
            <a:stretch>
              <a:fillRect/>
            </a:stretch>
          </p:blipFill>
          <p:spPr>
            <a:xfrm>
              <a:off x="-10160" y="142240"/>
              <a:ext cx="4541520" cy="792480"/>
            </a:xfrm>
            <a:prstGeom prst="rect">
              <a:avLst/>
            </a:prstGeom>
          </p:spPr>
        </p:pic>
        <p:sp>
          <p:nvSpPr>
            <p:cNvPr id="117" name="Text 8" descr="TEMP_Z_ORDER_21"/>
            <p:cNvSpPr/>
            <p:nvPr/>
          </p:nvSpPr>
          <p:spPr>
            <a:xfrm>
              <a:off x="81280" y="240286"/>
              <a:ext cx="427634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云服务客户数据、用户个人信息存储于中国境内，出境需遵循国家规定</a:t>
              </a:r>
              <a:endParaRPr lang="en-US" sz="1680"/>
            </a:p>
          </p:txBody>
        </p:sp>
        <p:pic>
          <p:nvPicPr>
            <p:cNvPr id="118" name="Image 13" descr="TEMP_Z_ORDER_22"/>
            <p:cNvPicPr>
              <a:picLocks noChangeAspect="1"/>
            </p:cNvPicPr>
            <p:nvPr/>
          </p:nvPicPr>
          <p:blipFill>
            <a:blip r:embed="rId14"/>
            <a:stretch>
              <a:fillRect/>
            </a:stretch>
          </p:blipFill>
          <p:spPr>
            <a:xfrm>
              <a:off x="-421640" y="934720"/>
              <a:ext cx="426720" cy="792480"/>
            </a:xfrm>
            <a:prstGeom prst="rect">
              <a:avLst/>
            </a:prstGeom>
          </p:spPr>
        </p:pic>
        <p:sp>
          <p:nvSpPr>
            <p:cNvPr id="119" name="Text 9" descr="TEMP_Z_ORDER_23"/>
            <p:cNvSpPr/>
            <p:nvPr/>
          </p:nvSpPr>
          <p:spPr>
            <a:xfrm>
              <a:off x="-330200" y="1026160"/>
              <a:ext cx="25173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20" name="Image 14" descr="TEMP_Z_ORDER_24"/>
            <p:cNvPicPr>
              <a:picLocks noChangeAspect="1"/>
            </p:cNvPicPr>
            <p:nvPr/>
          </p:nvPicPr>
          <p:blipFill>
            <a:blip r:embed="rId15"/>
            <a:stretch>
              <a:fillRect/>
            </a:stretch>
          </p:blipFill>
          <p:spPr>
            <a:xfrm>
              <a:off x="-10160" y="934720"/>
              <a:ext cx="4541520" cy="792480"/>
            </a:xfrm>
            <a:prstGeom prst="rect">
              <a:avLst/>
            </a:prstGeom>
          </p:spPr>
        </p:pic>
        <p:sp>
          <p:nvSpPr>
            <p:cNvPr id="121" name="Text 10" descr="TEMP_Z_ORDER_25"/>
            <p:cNvSpPr/>
            <p:nvPr/>
          </p:nvSpPr>
          <p:spPr>
            <a:xfrm>
              <a:off x="81280" y="1017526"/>
              <a:ext cx="427634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只有在客户授权下，云服务商或第三方才具有数据管理权限</a:t>
              </a:r>
              <a:endParaRPr lang="en-US" sz="1680"/>
            </a:p>
          </p:txBody>
        </p:sp>
      </p:grpSp>
      <p:grpSp>
        <p:nvGrpSpPr>
          <p:cNvPr id="122" name="组合 89"/>
          <p:cNvGrpSpPr/>
          <p:nvPr/>
        </p:nvGrpSpPr>
        <p:grpSpPr>
          <a:xfrm>
            <a:off x="609600" y="3779520"/>
            <a:ext cx="5364480" cy="2880360"/>
            <a:chOff x="-635000" y="-635000"/>
            <a:chExt cx="5364480" cy="2880360"/>
          </a:xfrm>
        </p:grpSpPr>
        <p:pic>
          <p:nvPicPr>
            <p:cNvPr id="123" name="Image 15" descr="TEMP_Z_ORDER_26"/>
            <p:cNvPicPr>
              <a:picLocks noChangeAspect="1"/>
            </p:cNvPicPr>
            <p:nvPr/>
          </p:nvPicPr>
          <p:blipFill>
            <a:blip r:embed="rId5"/>
            <a:stretch>
              <a:fillRect/>
            </a:stretch>
          </p:blipFill>
          <p:spPr>
            <a:xfrm>
              <a:off x="-635000" y="-635000"/>
              <a:ext cx="5364480" cy="2468880"/>
            </a:xfrm>
            <a:prstGeom prst="rect">
              <a:avLst/>
            </a:prstGeom>
          </p:spPr>
        </p:pic>
        <p:sp>
          <p:nvSpPr>
            <p:cNvPr id="124" name="Text 11" descr="TEMP_Z_ORDER_27"/>
            <p:cNvSpPr/>
            <p:nvPr/>
          </p:nvSpPr>
          <p:spPr>
            <a:xfrm>
              <a:off x="-436880" y="-436880"/>
              <a:ext cx="4205605" cy="3689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2400" b="1">
                  <a:solidFill>
                    <a:srgbClr val="458BE6"/>
                  </a:solidFill>
                  <a:latin typeface="思源黑体 CN Bold" pitchFamily="34" charset="0"/>
                  <a:ea typeface="思源黑体 CN Bold" pitchFamily="34" charset="-122"/>
                  <a:cs typeface="思源黑体 CN Bold" pitchFamily="34" charset="-120"/>
                </a:rPr>
                <a:t>8.2.4.6 / 9.2.4.6 数据备份恢复</a:t>
              </a:r>
              <a:endParaRPr lang="en-US" sz="2400"/>
            </a:p>
          </p:txBody>
        </p:sp>
        <p:pic>
          <p:nvPicPr>
            <p:cNvPr id="125" name="Image 16" descr="TEMP_Z_ORDER_28"/>
            <p:cNvPicPr>
              <a:picLocks noChangeAspect="1"/>
            </p:cNvPicPr>
            <p:nvPr/>
          </p:nvPicPr>
          <p:blipFill>
            <a:blip r:embed="rId11"/>
            <a:stretch>
              <a:fillRect/>
            </a:stretch>
          </p:blipFill>
          <p:spPr>
            <a:xfrm>
              <a:off x="-421640" y="142240"/>
              <a:ext cx="4953000" cy="914400"/>
            </a:xfrm>
            <a:prstGeom prst="rect">
              <a:avLst/>
            </a:prstGeom>
          </p:spPr>
        </p:pic>
        <p:pic>
          <p:nvPicPr>
            <p:cNvPr id="126" name="Image 17" descr="TEMP_Z_ORDER_29"/>
            <p:cNvPicPr>
              <a:picLocks noChangeAspect="1"/>
            </p:cNvPicPr>
            <p:nvPr/>
          </p:nvPicPr>
          <p:blipFill>
            <a:blip r:embed="rId16"/>
            <a:stretch>
              <a:fillRect/>
            </a:stretch>
          </p:blipFill>
          <p:spPr>
            <a:xfrm>
              <a:off x="-421640" y="142240"/>
              <a:ext cx="426720" cy="518160"/>
            </a:xfrm>
            <a:prstGeom prst="rect">
              <a:avLst/>
            </a:prstGeom>
          </p:spPr>
        </p:pic>
        <p:sp>
          <p:nvSpPr>
            <p:cNvPr id="127" name="Text 12" descr="TEMP_Z_ORDER_30"/>
            <p:cNvSpPr/>
            <p:nvPr/>
          </p:nvSpPr>
          <p:spPr>
            <a:xfrm>
              <a:off x="-330200" y="248920"/>
              <a:ext cx="20828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28" name="Image 18" descr="TEMP_Z_ORDER_31"/>
            <p:cNvPicPr>
              <a:picLocks noChangeAspect="1"/>
            </p:cNvPicPr>
            <p:nvPr/>
          </p:nvPicPr>
          <p:blipFill>
            <a:blip r:embed="rId17"/>
            <a:stretch>
              <a:fillRect/>
            </a:stretch>
          </p:blipFill>
          <p:spPr>
            <a:xfrm>
              <a:off x="-10160" y="142240"/>
              <a:ext cx="4541520" cy="518160"/>
            </a:xfrm>
            <a:prstGeom prst="rect">
              <a:avLst/>
            </a:prstGeom>
          </p:spPr>
        </p:pic>
        <p:sp>
          <p:nvSpPr>
            <p:cNvPr id="129" name="Text 13" descr="TEMP_Z_ORDER_32"/>
            <p:cNvSpPr/>
            <p:nvPr/>
          </p:nvSpPr>
          <p:spPr>
            <a:xfrm>
              <a:off x="81280" y="233680"/>
              <a:ext cx="405384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云服务客户应在本地保存其业务数据的备份</a:t>
              </a:r>
              <a:endParaRPr lang="en-US" sz="1680"/>
            </a:p>
          </p:txBody>
        </p:sp>
        <p:pic>
          <p:nvPicPr>
            <p:cNvPr id="130" name="Image 19" descr="TEMP_Z_ORDER_33"/>
            <p:cNvPicPr>
              <a:picLocks noChangeAspect="1"/>
            </p:cNvPicPr>
            <p:nvPr/>
          </p:nvPicPr>
          <p:blipFill>
            <a:blip r:embed="rId14"/>
            <a:stretch>
              <a:fillRect/>
            </a:stretch>
          </p:blipFill>
          <p:spPr>
            <a:xfrm>
              <a:off x="-421640" y="660400"/>
              <a:ext cx="426720" cy="792480"/>
            </a:xfrm>
            <a:prstGeom prst="rect">
              <a:avLst/>
            </a:prstGeom>
          </p:spPr>
        </p:pic>
        <p:sp>
          <p:nvSpPr>
            <p:cNvPr id="131" name="Text 14" descr="TEMP_Z_ORDER_34"/>
            <p:cNvSpPr/>
            <p:nvPr/>
          </p:nvSpPr>
          <p:spPr>
            <a:xfrm>
              <a:off x="-330200" y="767080"/>
              <a:ext cx="219075"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32" name="Image 20" descr="TEMP_Z_ORDER_35"/>
            <p:cNvPicPr>
              <a:picLocks noChangeAspect="1"/>
            </p:cNvPicPr>
            <p:nvPr/>
          </p:nvPicPr>
          <p:blipFill>
            <a:blip r:embed="rId15"/>
            <a:stretch>
              <a:fillRect/>
            </a:stretch>
          </p:blipFill>
          <p:spPr>
            <a:xfrm>
              <a:off x="-10160" y="660400"/>
              <a:ext cx="4541520" cy="792480"/>
            </a:xfrm>
            <a:prstGeom prst="rect">
              <a:avLst/>
            </a:prstGeom>
          </p:spPr>
        </p:pic>
        <p:sp>
          <p:nvSpPr>
            <p:cNvPr id="133" name="Text 15" descr="TEMP_Z_ORDER_36"/>
            <p:cNvSpPr/>
            <p:nvPr/>
          </p:nvSpPr>
          <p:spPr>
            <a:xfrm>
              <a:off x="81280" y="638492"/>
              <a:ext cx="4276344" cy="51625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提供查询云服务客户数据及备份存储位置的能力</a:t>
              </a:r>
              <a:endParaRPr lang="en-US" sz="1680"/>
            </a:p>
          </p:txBody>
        </p:sp>
        <p:pic>
          <p:nvPicPr>
            <p:cNvPr id="134" name="Image 21" descr="TEMP_Z_ORDER_37"/>
            <p:cNvPicPr>
              <a:picLocks noChangeAspect="1"/>
            </p:cNvPicPr>
            <p:nvPr/>
          </p:nvPicPr>
          <p:blipFill>
            <a:blip r:embed="rId12"/>
            <a:stretch>
              <a:fillRect/>
            </a:stretch>
          </p:blipFill>
          <p:spPr>
            <a:xfrm>
              <a:off x="-421640" y="1452880"/>
              <a:ext cx="426720" cy="792480"/>
            </a:xfrm>
            <a:prstGeom prst="rect">
              <a:avLst/>
            </a:prstGeom>
          </p:spPr>
        </p:pic>
        <p:sp>
          <p:nvSpPr>
            <p:cNvPr id="135" name="Text 16" descr="TEMP_Z_ORDER_38"/>
            <p:cNvSpPr/>
            <p:nvPr/>
          </p:nvSpPr>
          <p:spPr>
            <a:xfrm>
              <a:off x="-330200" y="1315720"/>
              <a:ext cx="19431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2060"/>
                  </a:solidFill>
                  <a:latin typeface="思源黑体 CN Bold" pitchFamily="34" charset="0"/>
                  <a:ea typeface="思源黑体 CN Bold" pitchFamily="34" charset="-122"/>
                  <a:cs typeface="思源黑体 CN Bold" pitchFamily="34" charset="-120"/>
                </a:rPr>
                <a:t>c)</a:t>
              </a:r>
              <a:endParaRPr lang="en-US" sz="1680" b="1">
                <a:solidFill>
                  <a:srgbClr val="002060"/>
                </a:solidFill>
                <a:latin typeface="思源黑体 CN Bold" pitchFamily="34" charset="0"/>
                <a:ea typeface="思源黑体 CN Bold" pitchFamily="34" charset="-122"/>
                <a:cs typeface="思源黑体 CN Bold" pitchFamily="34" charset="-120"/>
              </a:endParaRPr>
            </a:p>
          </p:txBody>
        </p:sp>
        <p:pic>
          <p:nvPicPr>
            <p:cNvPr id="136" name="Image 22" descr="TEMP_Z_ORDER_39"/>
            <p:cNvPicPr>
              <a:picLocks noChangeAspect="1"/>
            </p:cNvPicPr>
            <p:nvPr/>
          </p:nvPicPr>
          <p:blipFill>
            <a:blip r:embed="rId13"/>
            <a:stretch>
              <a:fillRect/>
            </a:stretch>
          </p:blipFill>
          <p:spPr>
            <a:xfrm>
              <a:off x="-10160" y="1452880"/>
              <a:ext cx="4541520" cy="792480"/>
            </a:xfrm>
            <a:prstGeom prst="rect">
              <a:avLst/>
            </a:prstGeom>
          </p:spPr>
        </p:pic>
        <p:sp>
          <p:nvSpPr>
            <p:cNvPr id="137" name="Text 17" descr="TEMP_Z_ORDER_40"/>
            <p:cNvSpPr/>
            <p:nvPr/>
          </p:nvSpPr>
          <p:spPr>
            <a:xfrm>
              <a:off x="81280" y="1263334"/>
              <a:ext cx="4276344" cy="51625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2060"/>
                  </a:solidFill>
                  <a:latin typeface="思源黑体 CN Regular" pitchFamily="34" charset="0"/>
                  <a:ea typeface="思源黑体 CN Regular" pitchFamily="34" charset="-122"/>
                  <a:cs typeface="思源黑体 CN Regular" pitchFamily="34" charset="-120"/>
                </a:rPr>
                <a:t>云存储服务保证数据存在若干个可用副本，各副本内容一致</a:t>
              </a:r>
              <a:endParaRPr lang="en-US" sz="1680">
                <a:solidFill>
                  <a:srgbClr val="002060"/>
                </a:solidFill>
                <a:latin typeface="思源黑体 CN Regular" pitchFamily="34" charset="0"/>
                <a:ea typeface="思源黑体 CN Regular" pitchFamily="34" charset="-122"/>
                <a:cs typeface="思源黑体 CN Regular" pitchFamily="34" charset="-120"/>
              </a:endParaRPr>
            </a:p>
          </p:txBody>
        </p:sp>
      </p:grpSp>
      <p:grpSp>
        <p:nvGrpSpPr>
          <p:cNvPr id="138" name="组合 53"/>
          <p:cNvGrpSpPr/>
          <p:nvPr/>
        </p:nvGrpSpPr>
        <p:grpSpPr>
          <a:xfrm>
            <a:off x="6217920" y="3779520"/>
            <a:ext cx="5364480" cy="2468880"/>
            <a:chOff x="-635000" y="-635000"/>
            <a:chExt cx="5364480" cy="2468880"/>
          </a:xfrm>
        </p:grpSpPr>
        <p:pic>
          <p:nvPicPr>
            <p:cNvPr id="139" name="Image 23" descr="TEMP_Z_ORDER_41"/>
            <p:cNvPicPr>
              <a:picLocks noChangeAspect="1"/>
            </p:cNvPicPr>
            <p:nvPr/>
          </p:nvPicPr>
          <p:blipFill>
            <a:blip r:embed="rId5"/>
            <a:stretch>
              <a:fillRect/>
            </a:stretch>
          </p:blipFill>
          <p:spPr>
            <a:xfrm>
              <a:off x="-635000" y="-635000"/>
              <a:ext cx="5364480" cy="2468880"/>
            </a:xfrm>
            <a:prstGeom prst="rect">
              <a:avLst/>
            </a:prstGeom>
          </p:spPr>
        </p:pic>
        <p:sp>
          <p:nvSpPr>
            <p:cNvPr id="140" name="Text 18" descr="TEMP_Z_ORDER_42"/>
            <p:cNvSpPr/>
            <p:nvPr/>
          </p:nvSpPr>
          <p:spPr>
            <a:xfrm>
              <a:off x="-436880" y="-436880"/>
              <a:ext cx="4702699"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8.2.4.7 / 9.2.4.7 剩余信息保护</a:t>
              </a:r>
              <a:endParaRPr lang="en-US" sz="2400"/>
            </a:p>
          </p:txBody>
        </p:sp>
        <p:pic>
          <p:nvPicPr>
            <p:cNvPr id="141" name="Image 24" descr="TEMP_Z_ORDER_43"/>
            <p:cNvPicPr>
              <a:picLocks noChangeAspect="1"/>
            </p:cNvPicPr>
            <p:nvPr/>
          </p:nvPicPr>
          <p:blipFill>
            <a:blip r:embed="rId11"/>
            <a:stretch>
              <a:fillRect/>
            </a:stretch>
          </p:blipFill>
          <p:spPr>
            <a:xfrm>
              <a:off x="-421640" y="142240"/>
              <a:ext cx="4953000" cy="914400"/>
            </a:xfrm>
            <a:prstGeom prst="rect">
              <a:avLst/>
            </a:prstGeom>
          </p:spPr>
        </p:pic>
        <p:pic>
          <p:nvPicPr>
            <p:cNvPr id="142" name="Image 25" descr="TEMP_Z_ORDER_44"/>
            <p:cNvPicPr>
              <a:picLocks noChangeAspect="1"/>
            </p:cNvPicPr>
            <p:nvPr/>
          </p:nvPicPr>
          <p:blipFill>
            <a:blip r:embed="rId16"/>
            <a:stretch>
              <a:fillRect/>
            </a:stretch>
          </p:blipFill>
          <p:spPr>
            <a:xfrm>
              <a:off x="-421640" y="142240"/>
              <a:ext cx="426720" cy="518160"/>
            </a:xfrm>
            <a:prstGeom prst="rect">
              <a:avLst/>
            </a:prstGeom>
          </p:spPr>
        </p:pic>
        <p:sp>
          <p:nvSpPr>
            <p:cNvPr id="143" name="Text 19" descr="TEMP_Z_ORDER_45"/>
            <p:cNvSpPr/>
            <p:nvPr/>
          </p:nvSpPr>
          <p:spPr>
            <a:xfrm>
              <a:off x="-330200" y="2489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44" name="Image 26" descr="TEMP_Z_ORDER_46"/>
            <p:cNvPicPr>
              <a:picLocks noChangeAspect="1"/>
            </p:cNvPicPr>
            <p:nvPr/>
          </p:nvPicPr>
          <p:blipFill>
            <a:blip r:embed="rId17"/>
            <a:stretch>
              <a:fillRect/>
            </a:stretch>
          </p:blipFill>
          <p:spPr>
            <a:xfrm>
              <a:off x="-10160" y="142240"/>
              <a:ext cx="4541520" cy="518160"/>
            </a:xfrm>
            <a:prstGeom prst="rect">
              <a:avLst/>
            </a:prstGeom>
          </p:spPr>
        </p:pic>
        <p:sp>
          <p:nvSpPr>
            <p:cNvPr id="145" name="Text 20" descr="TEMP_Z_ORDER_47"/>
            <p:cNvSpPr/>
            <p:nvPr/>
          </p:nvSpPr>
          <p:spPr>
            <a:xfrm>
              <a:off x="96520" y="233680"/>
              <a:ext cx="4297045"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虚拟机使用的内存和存储空间回收时完全清除</a:t>
              </a:r>
              <a:endParaRPr lang="en-US" sz="1680"/>
            </a:p>
          </p:txBody>
        </p:sp>
        <p:pic>
          <p:nvPicPr>
            <p:cNvPr id="146" name="Image 27" descr="TEMP_Z_ORDER_48"/>
            <p:cNvPicPr>
              <a:picLocks noChangeAspect="1"/>
            </p:cNvPicPr>
            <p:nvPr/>
          </p:nvPicPr>
          <p:blipFill>
            <a:blip r:embed="rId18"/>
            <a:stretch>
              <a:fillRect/>
            </a:stretch>
          </p:blipFill>
          <p:spPr>
            <a:xfrm>
              <a:off x="-421640" y="660400"/>
              <a:ext cx="426720" cy="518160"/>
            </a:xfrm>
            <a:prstGeom prst="rect">
              <a:avLst/>
            </a:prstGeom>
          </p:spPr>
        </p:pic>
        <p:sp>
          <p:nvSpPr>
            <p:cNvPr id="147" name="Text 21" descr="TEMP_Z_ORDER_49"/>
            <p:cNvSpPr/>
            <p:nvPr/>
          </p:nvSpPr>
          <p:spPr>
            <a:xfrm>
              <a:off x="-330200" y="767080"/>
              <a:ext cx="25173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48" name="Image 28" descr="TEMP_Z_ORDER_50"/>
            <p:cNvPicPr>
              <a:picLocks noChangeAspect="1"/>
            </p:cNvPicPr>
            <p:nvPr/>
          </p:nvPicPr>
          <p:blipFill>
            <a:blip r:embed="rId19"/>
            <a:stretch>
              <a:fillRect/>
            </a:stretch>
          </p:blipFill>
          <p:spPr>
            <a:xfrm>
              <a:off x="-10160" y="660400"/>
              <a:ext cx="4541520" cy="518160"/>
            </a:xfrm>
            <a:prstGeom prst="rect">
              <a:avLst/>
            </a:prstGeom>
          </p:spPr>
        </p:pic>
        <p:sp>
          <p:nvSpPr>
            <p:cNvPr id="149" name="Text 22" descr="TEMP_Z_ORDER_51"/>
            <p:cNvSpPr/>
            <p:nvPr/>
          </p:nvSpPr>
          <p:spPr>
            <a:xfrm>
              <a:off x="96521" y="751840"/>
              <a:ext cx="4297045"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客户删除业务数据时，云存储中所有副本删除</a:t>
              </a:r>
              <a:endParaRPr lang="en-US" sz="168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55" presetID="10" presetClass="entr" presetSubtype="0" fill="hold" grpId="1" nodeType="afterEffect">
                                  <p:stCondLst>
                                    <p:cond delay="0"/>
                                  </p:stCondLst>
                                  <p:childTnLst>
                                    <p:set>
                                      <p:cBhvr>
                                        <p:cTn id="56" dur="1" fill="hold">
                                          <p:stCondLst>
                                            <p:cond delay="0"/>
                                          </p:stCondLst>
                                        </p:cTn>
                                        <p:tgtEl>
                                          <p:spTgt spid="97"/>
                                        </p:tgtEl>
                                        <p:attrNameLst>
                                          <p:attrName>style.visibility</p:attrName>
                                        </p:attrNameLst>
                                      </p:cBhvr>
                                      <p:to>
                                        <p:strVal val="visible"/>
                                      </p:to>
                                    </p:set>
                                    <p:animEffect transition="in" filter="fade">
                                      <p:cBhvr>
                                        <p:cTn id="57" dur="750"/>
                                        <p:tgtEl>
                                          <p:spTgt spid="97"/>
                                        </p:tgtEl>
                                      </p:cBhvr>
                                    </p:animEffect>
                                  </p:childTnLst>
                                </p:cTn>
                              </p:par>
                            </p:childTnLst>
                          </p:cTn>
                        </p:par>
                        <p:par>
                          <p:cTn fill="hold">
                            <p:stCondLst>
                              <p:cond delay="0"/>
                            </p:stCondLst>
                            <p:childTnLst>
                              <p:par>
                                <p:cTn id="58" presetID="2" presetClass="entr" presetSubtype="8" fill="hold" grpId="2" nodeType="afterEffect">
                                  <p:stCondLst>
                                    <p:cond delay="0"/>
                                  </p:stCondLst>
                                  <p:childTnLst>
                                    <p:set>
                                      <p:cBhvr>
                                        <p:cTn id="59" dur="1" fill="hold">
                                          <p:stCondLst>
                                            <p:cond delay="0"/>
                                          </p:stCondLst>
                                        </p:cTn>
                                        <p:tgtEl>
                                          <p:spTgt spid="98"/>
                                        </p:tgtEl>
                                        <p:attrNameLst>
                                          <p:attrName>style.visibility</p:attrName>
                                        </p:attrNameLst>
                                      </p:cBhvr>
                                      <p:to>
                                        <p:strVal val="visible"/>
                                      </p:to>
                                    </p:set>
                                    <p:anim calcmode="lin" valueType="num">
                                      <p:cBhvr additive="base">
                                        <p:cTn id="60" dur="750" fill="hold"/>
                                        <p:tgtEl>
                                          <p:spTgt spid="98"/>
                                        </p:tgtEl>
                                        <p:attrNameLst>
                                          <p:attrName>ppt_x</p:attrName>
                                        </p:attrNameLst>
                                      </p:cBhvr>
                                      <p:tavLst>
                                        <p:tav tm="0">
                                          <p:val>
                                            <p:strVal val="0-#ppt_w/2"/>
                                          </p:val>
                                        </p:tav>
                                        <p:tav tm="100000">
                                          <p:val>
                                            <p:strVal val="#ppt_x"/>
                                          </p:val>
                                        </p:tav>
                                      </p:tavLst>
                                    </p:anim>
                                    <p:anim calcmode="lin" valueType="num">
                                      <p:cBhvr additive="base">
                                        <p:cTn id="61" dur="750" fill="hold"/>
                                        <p:tgtEl>
                                          <p:spTgt spid="98"/>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62" presetID="2" presetClass="entr" presetSubtype="8" fill="hold" grpId="3" nodeType="afterEffect">
                                  <p:stCondLst>
                                    <p:cond delay="0"/>
                                  </p:stCondLst>
                                  <p:childTnLst>
                                    <p:set>
                                      <p:cBhvr>
                                        <p:cTn id="63" dur="1" fill="hold">
                                          <p:stCondLst>
                                            <p:cond delay="0"/>
                                          </p:stCondLst>
                                        </p:cTn>
                                        <p:tgtEl>
                                          <p:spTgt spid="110"/>
                                        </p:tgtEl>
                                        <p:attrNameLst>
                                          <p:attrName>style.visibility</p:attrName>
                                        </p:attrNameLst>
                                      </p:cBhvr>
                                      <p:to>
                                        <p:strVal val="visible"/>
                                      </p:to>
                                    </p:set>
                                    <p:anim calcmode="lin" valueType="num">
                                      <p:cBhvr additive="base">
                                        <p:cTn id="64" dur="750" fill="hold"/>
                                        <p:tgtEl>
                                          <p:spTgt spid="110"/>
                                        </p:tgtEl>
                                        <p:attrNameLst>
                                          <p:attrName>ppt_x</p:attrName>
                                        </p:attrNameLst>
                                      </p:cBhvr>
                                      <p:tavLst>
                                        <p:tav tm="0">
                                          <p:val>
                                            <p:strVal val="0-#ppt_w/2"/>
                                          </p:val>
                                        </p:tav>
                                        <p:tav tm="100000">
                                          <p:val>
                                            <p:strVal val="#ppt_x"/>
                                          </p:val>
                                        </p:tav>
                                      </p:tavLst>
                                    </p:anim>
                                    <p:anim calcmode="lin" valueType="num">
                                      <p:cBhvr additive="base">
                                        <p:cTn id="65" dur="750" fill="hold"/>
                                        <p:tgtEl>
                                          <p:spTgt spid="110"/>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66" presetID="2" presetClass="entr" presetSubtype="8" fill="hold" grpId="4" nodeType="afterEffect">
                                  <p:stCondLst>
                                    <p:cond delay="0"/>
                                  </p:stCondLst>
                                  <p:childTnLst>
                                    <p:set>
                                      <p:cBhvr>
                                        <p:cTn id="67" dur="1" fill="hold">
                                          <p:stCondLst>
                                            <p:cond delay="0"/>
                                          </p:stCondLst>
                                        </p:cTn>
                                        <p:tgtEl>
                                          <p:spTgt spid="122"/>
                                        </p:tgtEl>
                                        <p:attrNameLst>
                                          <p:attrName>style.visibility</p:attrName>
                                        </p:attrNameLst>
                                      </p:cBhvr>
                                      <p:to>
                                        <p:strVal val="visible"/>
                                      </p:to>
                                    </p:set>
                                    <p:anim calcmode="lin" valueType="num">
                                      <p:cBhvr additive="base">
                                        <p:cTn id="68" dur="750" fill="hold"/>
                                        <p:tgtEl>
                                          <p:spTgt spid="122"/>
                                        </p:tgtEl>
                                        <p:attrNameLst>
                                          <p:attrName>ppt_x</p:attrName>
                                        </p:attrNameLst>
                                      </p:cBhvr>
                                      <p:tavLst>
                                        <p:tav tm="0">
                                          <p:val>
                                            <p:strVal val="0-#ppt_w/2"/>
                                          </p:val>
                                        </p:tav>
                                        <p:tav tm="100000">
                                          <p:val>
                                            <p:strVal val="#ppt_x"/>
                                          </p:val>
                                        </p:tav>
                                      </p:tavLst>
                                    </p:anim>
                                    <p:anim calcmode="lin" valueType="num">
                                      <p:cBhvr additive="base">
                                        <p:cTn id="69" dur="750" fill="hold"/>
                                        <p:tgtEl>
                                          <p:spTgt spid="122"/>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70" presetID="2" presetClass="entr" presetSubtype="8" fill="hold" grpId="5" nodeType="afterEffect">
                                  <p:stCondLst>
                                    <p:cond delay="0"/>
                                  </p:stCondLst>
                                  <p:childTnLst>
                                    <p:set>
                                      <p:cBhvr>
                                        <p:cTn id="71" dur="1" fill="hold">
                                          <p:stCondLst>
                                            <p:cond delay="0"/>
                                          </p:stCondLst>
                                        </p:cTn>
                                        <p:tgtEl>
                                          <p:spTgt spid="138"/>
                                        </p:tgtEl>
                                        <p:attrNameLst>
                                          <p:attrName>style.visibility</p:attrName>
                                        </p:attrNameLst>
                                      </p:cBhvr>
                                      <p:to>
                                        <p:strVal val="visible"/>
                                      </p:to>
                                    </p:set>
                                    <p:anim calcmode="lin" valueType="num">
                                      <p:cBhvr additive="base">
                                        <p:cTn id="72" dur="750" fill="hold"/>
                                        <p:tgtEl>
                                          <p:spTgt spid="138"/>
                                        </p:tgtEl>
                                        <p:attrNameLst>
                                          <p:attrName>ppt_x</p:attrName>
                                        </p:attrNameLst>
                                      </p:cBhvr>
                                      <p:tavLst>
                                        <p:tav tm="0">
                                          <p:val>
                                            <p:strVal val="0-#ppt_w/2"/>
                                          </p:val>
                                        </p:tav>
                                        <p:tav tm="100000">
                                          <p:val>
                                            <p:strVal val="#ppt_x"/>
                                          </p:val>
                                        </p:tav>
                                      </p:tavLst>
                                    </p:anim>
                                    <p:anim calcmode="lin" valueType="num">
                                      <p:cBhvr additive="base">
                                        <p:cTn id="73" dur="750" fill="hold"/>
                                        <p:tgtEl>
                                          <p:spTgt spid="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3.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150" name=""/>
        <p:cNvGrpSpPr/>
        <p:nvPr/>
      </p:nvGrpSpPr>
      <p:grpSpPr>
        <a:xfrm>
          <a:off x="0" y="0"/>
          <a:ext cx="0" cy="0"/>
          <a:chOff x="0" y="0"/>
          <a:chExt cx="0" cy="0"/>
        </a:xfrm>
      </p:grpSpPr>
      <p:pic>
        <p:nvPicPr>
          <p:cNvPr id="15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15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15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15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云安全配置核查的“检查清单”</a:t>
            </a:r>
            <a:endParaRPr lang="en-US" sz="2760"/>
          </a:p>
        </p:txBody>
      </p:sp>
      <p:grpSp>
        <p:nvGrpSpPr>
          <p:cNvPr id="155" name="组合 14"/>
          <p:cNvGrpSpPr/>
          <p:nvPr/>
        </p:nvGrpSpPr>
        <p:grpSpPr>
          <a:xfrm>
            <a:off x="609600" y="1463040"/>
            <a:ext cx="10972800" cy="5044440"/>
            <a:chOff x="-635000" y="-635000"/>
            <a:chExt cx="10972800" cy="5044440"/>
          </a:xfrm>
        </p:grpSpPr>
        <p:pic>
          <p:nvPicPr>
            <p:cNvPr id="156" name="Image 3" descr="TEMP_Z_ORDER_4"/>
            <p:cNvPicPr>
              <a:picLocks noChangeAspect="1"/>
            </p:cNvPicPr>
            <p:nvPr/>
          </p:nvPicPr>
          <p:blipFill>
            <a:blip>
              <a:extLst>
                <a:ext uri="{96DAC541-7B7A-43D3-8B79-37D633B846F1}">
                  <asvg:svgBlip r:embed="rId5"/>
                </a:ext>
              </a:extLst>
            </a:blip>
            <a:stretch>
              <a:fillRect/>
            </a:stretch>
          </p:blipFill>
          <p:spPr>
            <a:xfrm>
              <a:off x="-635000" y="-635000"/>
              <a:ext cx="10972800" cy="5044440"/>
            </a:xfrm>
            <a:prstGeom prst="rect">
              <a:avLst/>
            </a:prstGeom>
            <a:effectLst>
              <a:outerShdw blurRad="228600" dist="152400" dir="5400000" algn="bl" rotWithShape="0">
                <a:srgbClr val="000000">
                  <a:alpha val="10000"/>
                </a:srgbClr>
              </a:outerShdw>
            </a:effectLst>
          </p:spPr>
        </p:pic>
        <p:sp>
          <p:nvSpPr>
            <p:cNvPr id="157" name="Text 1" descr="TEMP_Z_ORDER_5"/>
            <p:cNvSpPr/>
            <p:nvPr/>
          </p:nvSpPr>
          <p:spPr>
            <a:xfrm>
              <a:off x="2636901" y="-254000"/>
              <a:ext cx="4438142" cy="28820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将等保要求转化为可操作的检查项：</a:t>
              </a:r>
              <a:endParaRPr lang="en-US" sz="2160"/>
            </a:p>
          </p:txBody>
        </p:sp>
      </p:grpSp>
      <p:graphicFrame>
        <p:nvGraphicFramePr>
          <p:cNvPr id="158" name="Table 0"/>
          <p:cNvGraphicFramePr>
            <a:graphicFrameLocks noGrp="1"/>
          </p:cNvGraphicFramePr>
          <p:nvPr/>
        </p:nvGraphicFramePr>
        <p:xfrm>
          <a:off x="990600" y="2286000"/>
          <a:ext cx="10210801" cy="3627120"/>
        </p:xfrm>
        <a:graphic>
          <a:graphicData uri="http://schemas.openxmlformats.org/drawingml/2006/table">
            <a:tbl>
              <a:tblPr/>
              <a:tblGrid>
                <a:gridCol w="2503096">
                  <a:extLst>
                    <a:ext uri="{9D8B030D-6E8A-4147-A177-3AD203B41FA5}">
                      <a16:colId val="1"/>
                    </a:ext>
                  </a:extLst>
                </a:gridCol>
                <a:gridCol w="5937222">
                  <a:extLst>
                    <a:ext uri="{9D8B030D-6E8A-4147-A177-3AD203B41FA5}">
                      <a16:colId val="2"/>
                    </a:ext>
                  </a:extLst>
                </a:gridCol>
                <a:gridCol w="1770483">
                  <a:extLst>
                    <a:ext uri="{9D8B030D-6E8A-4147-A177-3AD203B41FA5}">
                      <a16:colId val="3"/>
                    </a:ext>
                  </a:extLst>
                </a:gridCol>
              </a:tblGrid>
              <a:tr h="518160">
                <a:tc>
                  <a:txBody>
                    <a:bodyPr wrap="square"/>
                    <a:lstStyle/>
                    <a:p>
                      <a:pPr marL="0" indent="0" algn="ctr">
                        <a:buNone/>
                      </a:pPr>
                      <a:r>
                        <a:rPr lang="en-US" sz="1680" b="1">
                          <a:solidFill>
                            <a:srgbClr val="000000"/>
                          </a:solidFill>
                        </a:rPr>
                        <a:t>检查维度</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检查内容</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对应标准</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518160">
                <a:tc>
                  <a:txBody>
                    <a:bodyPr wrap="square"/>
                    <a:lstStyle/>
                    <a:p>
                      <a:pPr marL="0" indent="0" algn="ctr">
                        <a:buNone/>
                      </a:pPr>
                      <a:r>
                        <a:rPr lang="en-US" sz="1680">
                          <a:solidFill>
                            <a:srgbClr val="000000"/>
                          </a:solidFill>
                        </a:rPr>
                        <a:t>虚拟网络隔离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不同租户的VPC是否隔离？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8.2.2.1b)</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518160">
                <a:tc>
                  <a:txBody>
                    <a:bodyPr wrap="square"/>
                    <a:lstStyle/>
                    <a:p>
                      <a:pPr marL="0" indent="0" algn="ctr">
                        <a:buNone/>
                      </a:pPr>
                      <a:r>
                        <a:rPr lang="en-US" sz="1680">
                          <a:solidFill>
                            <a:srgbClr val="000000"/>
                          </a:solidFill>
                        </a:rPr>
                        <a:t>访问控制策略</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安全组/防火墙策略是否最小权限？</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8.2.3.1a)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518160">
                <a:tc>
                  <a:txBody>
                    <a:bodyPr wrap="square"/>
                    <a:lstStyle/>
                    <a:p>
                      <a:pPr marL="0" indent="0" algn="ctr">
                        <a:buNone/>
                      </a:pPr>
                      <a:r>
                        <a:rPr lang="en-US" sz="1680">
                          <a:solidFill>
                            <a:srgbClr val="000000"/>
                          </a:solidFill>
                        </a:rPr>
                        <a:t>入侵检测</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是否启用入侵检测/告警？</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8.2.3.2d)</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518160">
                <a:tc>
                  <a:txBody>
                    <a:bodyPr wrap="square"/>
                    <a:lstStyle/>
                    <a:p>
                      <a:pPr marL="0" indent="0" algn="ctr">
                        <a:buNone/>
                      </a:pPr>
                      <a:r>
                        <a:rPr lang="en-US" sz="1680">
                          <a:solidFill>
                            <a:srgbClr val="000000"/>
                          </a:solidFill>
                        </a:rPr>
                        <a:t>安全审计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特权操作是否记录日志？</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8.2.3.3a)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518160">
                <a:tc>
                  <a:txBody>
                    <a:bodyPr wrap="square"/>
                    <a:lstStyle/>
                    <a:p>
                      <a:pPr marL="0" indent="0" algn="ctr">
                        <a:buNone/>
                      </a:pPr>
                      <a:r>
                        <a:rPr lang="en-US" sz="1680">
                          <a:solidFill>
                            <a:srgbClr val="000000"/>
                          </a:solidFill>
                        </a:rPr>
                        <a:t>镜像安全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是否使用加固镜像？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8.2.4.4a)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r h="518160">
                <a:tc>
                  <a:txBody>
                    <a:bodyPr wrap="square"/>
                    <a:lstStyle/>
                    <a:p>
                      <a:pPr marL="0" indent="0" algn="ctr">
                        <a:buNone/>
                      </a:pPr>
                      <a:r>
                        <a:rPr lang="en-US" sz="1680">
                          <a:solidFill>
                            <a:srgbClr val="000000"/>
                          </a:solidFill>
                        </a:rPr>
                        <a:t>数据备份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客户是否有本地备份？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8.2.4.6a)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7"/>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74" presetID="10" presetClass="entr" presetSubtype="0" fill="hold" grpId="1" nodeType="afterEffect">
                                  <p:stCondLst>
                                    <p:cond delay="0"/>
                                  </p:stCondLst>
                                  <p:childTnLst>
                                    <p:set>
                                      <p:cBhvr>
                                        <p:cTn id="75" dur="1" fill="hold">
                                          <p:stCondLst>
                                            <p:cond delay="0"/>
                                          </p:stCondLst>
                                        </p:cTn>
                                        <p:tgtEl>
                                          <p:spTgt spid="154"/>
                                        </p:tgtEl>
                                        <p:attrNameLst>
                                          <p:attrName>style.visibility</p:attrName>
                                        </p:attrNameLst>
                                      </p:cBhvr>
                                      <p:to>
                                        <p:strVal val="visible"/>
                                      </p:to>
                                    </p:set>
                                    <p:animEffect transition="in" filter="fade">
                                      <p:cBhvr>
                                        <p:cTn id="76" dur="750"/>
                                        <p:tgtEl>
                                          <p:spTgt spid="154"/>
                                        </p:tgtEl>
                                      </p:cBhvr>
                                    </p:animEffect>
                                  </p:childTnLst>
                                </p:cTn>
                              </p:par>
                            </p:childTnLst>
                          </p:cTn>
                        </p:par>
                        <p:par>
                          <p:cTn fill="hold">
                            <p:stCondLst>
                              <p:cond delay="0"/>
                            </p:stCondLst>
                            <p:childTnLst>
                              <p:par>
                                <p:cTn id="77" presetID="31" presetClass="entr" presetSubtype="0" fill="hold" grpId="2" nodeType="afterEffect">
                                  <p:stCondLst>
                                    <p:cond delay="0"/>
                                  </p:stCondLst>
                                  <p:iterate type="lt">
                                    <p:tmPct val="5000"/>
                                  </p:iterate>
                                  <p:childTnLst>
                                    <p:set>
                                      <p:cBhvr>
                                        <p:cTn id="78" dur="1" fill="hold">
                                          <p:stCondLst>
                                            <p:cond delay="0"/>
                                          </p:stCondLst>
                                        </p:cTn>
                                        <p:tgtEl>
                                          <p:spTgt spid="155"/>
                                        </p:tgtEl>
                                        <p:attrNameLst>
                                          <p:attrName>style.visibility</p:attrName>
                                        </p:attrNameLst>
                                      </p:cBhvr>
                                      <p:to>
                                        <p:strVal val="visible"/>
                                      </p:to>
                                    </p:set>
                                    <p:anim calcmode="lin" valueType="num">
                                      <p:cBhvr>
                                        <p:cTn id="79" dur="750" fill="hold"/>
                                        <p:tgtEl>
                                          <p:spTgt spid="155"/>
                                        </p:tgtEl>
                                        <p:attrNameLst>
                                          <p:attrName>ppt_w</p:attrName>
                                        </p:attrNameLst>
                                      </p:cBhvr>
                                      <p:tavLst>
                                        <p:tav tm="0">
                                          <p:val>
                                            <p:fltVal val="0"/>
                                          </p:val>
                                        </p:tav>
                                        <p:tav tm="100000">
                                          <p:val>
                                            <p:strVal val="#ppt_w"/>
                                          </p:val>
                                        </p:tav>
                                      </p:tavLst>
                                    </p:anim>
                                    <p:anim calcmode="lin" valueType="num">
                                      <p:cBhvr>
                                        <p:cTn id="80" dur="750" fill="hold"/>
                                        <p:tgtEl>
                                          <p:spTgt spid="155"/>
                                        </p:tgtEl>
                                        <p:attrNameLst>
                                          <p:attrName>ppt_h</p:attrName>
                                        </p:attrNameLst>
                                      </p:cBhvr>
                                      <p:tavLst>
                                        <p:tav tm="0">
                                          <p:val>
                                            <p:fltVal val="0"/>
                                          </p:val>
                                        </p:tav>
                                        <p:tav tm="100000">
                                          <p:val>
                                            <p:strVal val="#ppt_h"/>
                                          </p:val>
                                        </p:tav>
                                      </p:tavLst>
                                    </p:anim>
                                    <p:anim calcmode="lin" valueType="num">
                                      <p:cBhvr>
                                        <p:cTn id="81" dur="750" fill="hold"/>
                                        <p:tgtEl>
                                          <p:spTgt spid="155"/>
                                        </p:tgtEl>
                                        <p:attrNameLst>
                                          <p:attrName>style.rotation</p:attrName>
                                        </p:attrNameLst>
                                      </p:cBhvr>
                                      <p:tavLst>
                                        <p:tav tm="0">
                                          <p:val>
                                            <p:fltVal val="90"/>
                                          </p:val>
                                        </p:tav>
                                        <p:tav tm="100000">
                                          <p:val>
                                            <p:fltVal val="0"/>
                                          </p:val>
                                        </p:tav>
                                      </p:tavLst>
                                    </p:anim>
                                    <p:animEffect transition="in" filter="fade">
                                      <p:cBhvr>
                                        <p:cTn id="82" dur="750"/>
                                        <p:tgtEl>
                                          <p:spTgt spid="15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4.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159" name=""/>
        <p:cNvGrpSpPr/>
        <p:nvPr/>
      </p:nvGrpSpPr>
      <p:grpSpPr>
        <a:xfrm>
          <a:off x="0" y="0"/>
          <a:ext cx="0" cy="0"/>
          <a:chOff x="0" y="0"/>
          <a:chExt cx="0" cy="0"/>
        </a:xfrm>
      </p:grpSpPr>
      <p:pic>
        <p:nvPicPr>
          <p:cNvPr id="160"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161"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162"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163"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教师演示——云平台安全配置核查（15分钟）</a:t>
            </a:r>
            <a:endParaRPr lang="en-US" sz="2760"/>
          </a:p>
        </p:txBody>
      </p:sp>
      <p:grpSp>
        <p:nvGrpSpPr>
          <p:cNvPr id="164" name="组合 105"/>
          <p:cNvGrpSpPr/>
          <p:nvPr/>
        </p:nvGrpSpPr>
        <p:grpSpPr>
          <a:xfrm>
            <a:off x="609600" y="1371600"/>
            <a:ext cx="8351520" cy="777240"/>
            <a:chOff x="-635000" y="-635000"/>
            <a:chExt cx="8351520" cy="777240"/>
          </a:xfrm>
        </p:grpSpPr>
        <p:pic>
          <p:nvPicPr>
            <p:cNvPr id="165" name="Image 3" descr="TEMP_Z_ORDER_4"/>
            <p:cNvPicPr>
              <a:picLocks noChangeAspect="1"/>
            </p:cNvPicPr>
            <p:nvPr/>
          </p:nvPicPr>
          <p:blipFill>
            <a:blip r:embed="rId5"/>
            <a:stretch>
              <a:fillRect/>
            </a:stretch>
          </p:blipFill>
          <p:spPr>
            <a:xfrm>
              <a:off x="-635000" y="-635000"/>
              <a:ext cx="8351520" cy="777240"/>
            </a:xfrm>
            <a:prstGeom prst="rect">
              <a:avLst/>
            </a:prstGeom>
          </p:spPr>
        </p:pic>
        <p:pic>
          <p:nvPicPr>
            <p:cNvPr id="166" name="Image 4" descr="TEMP_Z_ORDER_5"/>
            <p:cNvPicPr>
              <a:picLocks noChangeAspect="1"/>
            </p:cNvPicPr>
            <p:nvPr/>
          </p:nvPicPr>
          <p:blipFill>
            <a:blip>
              <a:extLst>
                <a:ext uri="{96DAC541-7B7A-43D3-8B79-37D633B846F1}">
                  <asvg:svgBlip r:embed="rId6"/>
                </a:ext>
              </a:extLst>
            </a:blip>
            <a:stretch>
              <a:fillRect/>
            </a:stretch>
          </p:blipFill>
          <p:spPr>
            <a:xfrm>
              <a:off x="-452120" y="-421640"/>
              <a:ext cx="365760" cy="365760"/>
            </a:xfrm>
            <a:prstGeom prst="rect">
              <a:avLst/>
            </a:prstGeom>
          </p:spPr>
        </p:pic>
        <p:sp>
          <p:nvSpPr>
            <p:cNvPr id="167" name="Text 1" descr="TEMP_Z_ORDER_6"/>
            <p:cNvSpPr/>
            <p:nvPr/>
          </p:nvSpPr>
          <p:spPr>
            <a:xfrm>
              <a:off x="96520" y="-452120"/>
              <a:ext cx="14058900" cy="65836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zh-CN" sz="2160">
                  <a:solidFill>
                    <a:srgbClr val="000000"/>
                  </a:solidFill>
                  <a:latin typeface="思源黑体 CN Regular" pitchFamily="34" charset="0"/>
                  <a:ea typeface="思源黑体 CN Regular" pitchFamily="34" charset="-122"/>
                  <a:cs typeface="思源黑体 CN Regular" pitchFamily="34" charset="-120"/>
                </a:rPr>
                <a:t>演示环境：CloudLab 云计算实验平台（cloudlab-experiment.html，模拟环境）——核查步骤与平台页面一一对应</a:t>
              </a:r>
              <a:endParaRPr lang="en-US" sz="2160">
                <a:solidFill>
                  <a:srgbClr val="000000"/>
                </a:solidFill>
                <a:latin typeface="思源黑体 CN Regular" pitchFamily="34" charset="0"/>
                <a:ea typeface="思源黑体 CN Regular" pitchFamily="34" charset="-122"/>
                <a:cs typeface="思源黑体 CN Regular" pitchFamily="34" charset="-120"/>
              </a:endParaRPr>
            </a:p>
            <a:p>
              <a:pPr marL="0" indent="0" algn="l">
                <a:lnSpc>
                  <a:spcPct val="125000"/>
                </a:lnSpc>
                <a:buNone/>
              </a:pPr>
              <a:endParaRPr lang="en-US" sz="2160">
                <a:solidFill>
                  <a:srgbClr val="000000"/>
                </a:solidFill>
                <a:latin typeface="思源黑体 CN Regular" pitchFamily="34" charset="0"/>
                <a:ea typeface="思源黑体 CN Regular" pitchFamily="34" charset="-122"/>
                <a:cs typeface="思源黑体 CN Regular" pitchFamily="34" charset="-120"/>
              </a:endParaRPr>
            </a:p>
          </p:txBody>
        </p:sp>
      </p:grpSp>
      <p:grpSp>
        <p:nvGrpSpPr>
          <p:cNvPr id="168" name="组合 56"/>
          <p:cNvGrpSpPr/>
          <p:nvPr/>
        </p:nvGrpSpPr>
        <p:grpSpPr>
          <a:xfrm>
            <a:off x="609600" y="2087880"/>
            <a:ext cx="10972800" cy="4182517"/>
            <a:chOff x="-635000" y="-635000"/>
            <a:chExt cx="10972800" cy="4182517"/>
          </a:xfrm>
        </p:grpSpPr>
        <p:pic>
          <p:nvPicPr>
            <p:cNvPr id="169" name="Image 5" descr="TEMP_Z_ORDER_7"/>
            <p:cNvPicPr>
              <a:picLocks noChangeAspect="1"/>
            </p:cNvPicPr>
            <p:nvPr/>
          </p:nvPicPr>
          <p:blipFill>
            <a:blip r:embed="rId7"/>
            <a:stretch>
              <a:fillRect/>
            </a:stretch>
          </p:blipFill>
          <p:spPr>
            <a:xfrm>
              <a:off x="279400" y="-330200"/>
              <a:ext cx="9144000" cy="30480"/>
            </a:xfrm>
            <a:prstGeom prst="rect">
              <a:avLst/>
            </a:prstGeom>
          </p:spPr>
        </p:pic>
        <p:pic>
          <p:nvPicPr>
            <p:cNvPr id="170" name="Image 6" descr="TEMP_Z_ORDER_8"/>
            <p:cNvPicPr>
              <a:picLocks noChangeAspect="1"/>
            </p:cNvPicPr>
            <p:nvPr/>
          </p:nvPicPr>
          <p:blipFill>
            <a:blip r:embed="rId8"/>
            <a:stretch>
              <a:fillRect/>
            </a:stretch>
          </p:blipFill>
          <p:spPr>
            <a:xfrm>
              <a:off x="1483360" y="-406400"/>
              <a:ext cx="396240" cy="396240"/>
            </a:xfrm>
            <a:prstGeom prst="rect">
              <a:avLst/>
            </a:prstGeom>
          </p:spPr>
        </p:pic>
        <p:pic>
          <p:nvPicPr>
            <p:cNvPr id="171" name="Image 7" descr="TEMP_Z_ORDER_9"/>
            <p:cNvPicPr>
              <a:picLocks noChangeAspect="1"/>
            </p:cNvPicPr>
            <p:nvPr/>
          </p:nvPicPr>
          <p:blipFill>
            <a:blip r:embed="rId8"/>
            <a:stretch>
              <a:fillRect/>
            </a:stretch>
          </p:blipFill>
          <p:spPr>
            <a:xfrm>
              <a:off x="3693160" y="-406400"/>
              <a:ext cx="396240" cy="396240"/>
            </a:xfrm>
            <a:prstGeom prst="rect">
              <a:avLst/>
            </a:prstGeom>
          </p:spPr>
        </p:pic>
        <p:pic>
          <p:nvPicPr>
            <p:cNvPr id="172" name="Image 8" descr="TEMP_Z_ORDER_10"/>
            <p:cNvPicPr>
              <a:picLocks noChangeAspect="1"/>
            </p:cNvPicPr>
            <p:nvPr/>
          </p:nvPicPr>
          <p:blipFill>
            <a:blip r:embed="rId8"/>
            <a:stretch>
              <a:fillRect/>
            </a:stretch>
          </p:blipFill>
          <p:spPr>
            <a:xfrm>
              <a:off x="5902959" y="-406400"/>
              <a:ext cx="396240" cy="396240"/>
            </a:xfrm>
            <a:prstGeom prst="rect">
              <a:avLst/>
            </a:prstGeom>
          </p:spPr>
        </p:pic>
        <p:pic>
          <p:nvPicPr>
            <p:cNvPr id="173" name="Image 9" descr="TEMP_Z_ORDER_11"/>
            <p:cNvPicPr>
              <a:picLocks noChangeAspect="1"/>
            </p:cNvPicPr>
            <p:nvPr/>
          </p:nvPicPr>
          <p:blipFill>
            <a:blip r:embed="rId8"/>
            <a:stretch>
              <a:fillRect/>
            </a:stretch>
          </p:blipFill>
          <p:spPr>
            <a:xfrm>
              <a:off x="8112760" y="-406400"/>
              <a:ext cx="396240" cy="396240"/>
            </a:xfrm>
            <a:prstGeom prst="rect">
              <a:avLst/>
            </a:prstGeom>
          </p:spPr>
        </p:pic>
        <p:pic>
          <p:nvPicPr>
            <p:cNvPr id="174" name="Image 10" descr="TEMP_Z_ORDER_12"/>
            <p:cNvPicPr>
              <a:picLocks noChangeAspect="1"/>
            </p:cNvPicPr>
            <p:nvPr/>
          </p:nvPicPr>
          <p:blipFill>
            <a:blip>
              <a:extLst>
                <a:ext uri="{96DAC541-7B7A-43D3-8B79-37D633B846F1}">
                  <asvg:svgBlip r:embed="rId9"/>
                </a:ext>
              </a:extLst>
            </a:blip>
            <a:stretch>
              <a:fillRect/>
            </a:stretch>
          </p:blipFill>
          <p:spPr>
            <a:xfrm>
              <a:off x="-635000" y="96520"/>
              <a:ext cx="1828800" cy="1295400"/>
            </a:xfrm>
            <a:prstGeom prst="rect">
              <a:avLst/>
            </a:prstGeom>
            <a:effectLst>
              <a:outerShdw blurRad="91440" dist="60960" dir="5400000" algn="bl" rotWithShape="0">
                <a:srgbClr val="000000">
                  <a:alpha val="10000"/>
                </a:srgbClr>
              </a:outerShdw>
            </a:effectLst>
          </p:spPr>
        </p:pic>
        <p:sp>
          <p:nvSpPr>
            <p:cNvPr id="175" name="Text 2" descr="TEMP_Z_ORDER_13"/>
            <p:cNvSpPr/>
            <p:nvPr/>
          </p:nvSpPr>
          <p:spPr>
            <a:xfrm>
              <a:off x="-427125" y="279400"/>
              <a:ext cx="1422194"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登录/查看VPC</a:t>
              </a:r>
              <a:endParaRPr lang="en-US" sz="1680"/>
            </a:p>
          </p:txBody>
        </p:sp>
        <p:sp>
          <p:nvSpPr>
            <p:cNvPr id="176" name="Text 3" descr="TEMP_Z_ORDER_14"/>
            <p:cNvSpPr/>
            <p:nvPr/>
          </p:nvSpPr>
          <p:spPr>
            <a:xfrm>
              <a:off x="-267589" y="660400"/>
              <a:ext cx="1103122"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检查VPC隔离</a:t>
              </a:r>
              <a:endParaRPr lang="en-US" sz="1440"/>
            </a:p>
          </p:txBody>
        </p:sp>
        <p:pic>
          <p:nvPicPr>
            <p:cNvPr id="177" name="Image 11" descr="TEMP_Z_ORDER_15"/>
            <p:cNvPicPr>
              <a:picLocks noChangeAspect="1"/>
            </p:cNvPicPr>
            <p:nvPr/>
          </p:nvPicPr>
          <p:blipFill>
            <a:blip>
              <a:extLst>
                <a:ext uri="{96DAC541-7B7A-43D3-8B79-37D633B846F1}">
                  <asvg:svgBlip r:embed="rId10"/>
                </a:ext>
              </a:extLst>
            </a:blip>
            <a:stretch>
              <a:fillRect/>
            </a:stretch>
          </p:blipFill>
          <p:spPr>
            <a:xfrm>
              <a:off x="-513080" y="995680"/>
              <a:ext cx="1584960" cy="274320"/>
            </a:xfrm>
            <a:prstGeom prst="rect">
              <a:avLst/>
            </a:prstGeom>
          </p:spPr>
        </p:pic>
        <p:sp>
          <p:nvSpPr>
            <p:cNvPr id="178" name="Text 4" descr="TEMP_Z_ORDER_16"/>
            <p:cNvSpPr/>
            <p:nvPr/>
          </p:nvSpPr>
          <p:spPr>
            <a:xfrm>
              <a:off x="-155750" y="1026160"/>
              <a:ext cx="894683"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8.2.2.1 b)</a:t>
              </a:r>
              <a:endParaRPr lang="en-US" sz="1440"/>
            </a:p>
          </p:txBody>
        </p:sp>
        <p:pic>
          <p:nvPicPr>
            <p:cNvPr id="179" name="Image 12" descr="TEMP_Z_ORDER_17"/>
            <p:cNvPicPr>
              <a:picLocks noChangeAspect="1"/>
            </p:cNvPicPr>
            <p:nvPr/>
          </p:nvPicPr>
          <p:blipFill>
            <a:blip>
              <a:extLst>
                <a:ext uri="{96DAC541-7B7A-43D3-8B79-37D633B846F1}">
                  <asvg:svgBlip r:embed="rId11"/>
                </a:ext>
              </a:extLst>
            </a:blip>
            <a:stretch>
              <a:fillRect/>
            </a:stretch>
          </p:blipFill>
          <p:spPr>
            <a:xfrm>
              <a:off x="-25400" y="-635000"/>
              <a:ext cx="609600" cy="609600"/>
            </a:xfrm>
            <a:prstGeom prst="rect">
              <a:avLst/>
            </a:prstGeom>
            <a:effectLst>
              <a:outerShdw blurRad="228600" dist="152400" dir="5400000" algn="bl" rotWithShape="0">
                <a:srgbClr val="000000">
                  <a:alpha val="10000"/>
                </a:srgbClr>
              </a:outerShdw>
            </a:effectLst>
          </p:spPr>
        </p:pic>
        <p:sp>
          <p:nvSpPr>
            <p:cNvPr id="180" name="Text 5" descr="TEMP_Z_ORDER_18"/>
            <p:cNvSpPr/>
            <p:nvPr/>
          </p:nvSpPr>
          <p:spPr>
            <a:xfrm>
              <a:off x="195390" y="-521957"/>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1</a:t>
              </a:r>
              <a:endParaRPr lang="en-US" sz="2160"/>
            </a:p>
          </p:txBody>
        </p:sp>
        <p:pic>
          <p:nvPicPr>
            <p:cNvPr id="181" name="Image 13" descr="TEMP_Z_ORDER_19"/>
            <p:cNvPicPr>
              <a:picLocks noChangeAspect="1"/>
            </p:cNvPicPr>
            <p:nvPr/>
          </p:nvPicPr>
          <p:blipFill>
            <a:blip>
              <a:extLst>
                <a:ext uri="{96DAC541-7B7A-43D3-8B79-37D633B846F1}">
                  <asvg:svgBlip r:embed="rId9"/>
                </a:ext>
              </a:extLst>
            </a:blip>
            <a:stretch>
              <a:fillRect/>
            </a:stretch>
          </p:blipFill>
          <p:spPr>
            <a:xfrm>
              <a:off x="1651000" y="96520"/>
              <a:ext cx="1828800" cy="1295400"/>
            </a:xfrm>
            <a:prstGeom prst="rect">
              <a:avLst/>
            </a:prstGeom>
            <a:effectLst>
              <a:outerShdw blurRad="91440" dist="60960" dir="5400000" algn="bl" rotWithShape="0">
                <a:srgbClr val="000000">
                  <a:alpha val="10000"/>
                </a:srgbClr>
              </a:outerShdw>
            </a:effectLst>
          </p:spPr>
        </p:pic>
        <p:sp>
          <p:nvSpPr>
            <p:cNvPr id="182" name="Text 6" descr="TEMP_Z_ORDER_20"/>
            <p:cNvSpPr/>
            <p:nvPr/>
          </p:nvSpPr>
          <p:spPr>
            <a:xfrm>
              <a:off x="2032842" y="279400"/>
              <a:ext cx="1074261"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查看安全组</a:t>
              </a:r>
              <a:endParaRPr lang="en-US" sz="1680"/>
            </a:p>
          </p:txBody>
        </p:sp>
        <p:sp>
          <p:nvSpPr>
            <p:cNvPr id="183" name="Text 7" descr="TEMP_Z_ORDER_21"/>
            <p:cNvSpPr/>
            <p:nvPr/>
          </p:nvSpPr>
          <p:spPr>
            <a:xfrm>
              <a:off x="2064909" y="660400"/>
              <a:ext cx="101012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查0.0.0.0/0</a:t>
              </a:r>
              <a:endParaRPr lang="en-US" sz="1440"/>
            </a:p>
          </p:txBody>
        </p:sp>
        <p:pic>
          <p:nvPicPr>
            <p:cNvPr id="184" name="Image 14" descr="TEMP_Z_ORDER_22"/>
            <p:cNvPicPr>
              <a:picLocks noChangeAspect="1"/>
            </p:cNvPicPr>
            <p:nvPr/>
          </p:nvPicPr>
          <p:blipFill>
            <a:blip>
              <a:extLst>
                <a:ext uri="{96DAC541-7B7A-43D3-8B79-37D633B846F1}">
                  <asvg:svgBlip r:embed="rId10"/>
                </a:ext>
              </a:extLst>
            </a:blip>
            <a:stretch>
              <a:fillRect/>
            </a:stretch>
          </p:blipFill>
          <p:spPr>
            <a:xfrm>
              <a:off x="1772920" y="995680"/>
              <a:ext cx="1584960" cy="274320"/>
            </a:xfrm>
            <a:prstGeom prst="rect">
              <a:avLst/>
            </a:prstGeom>
          </p:spPr>
        </p:pic>
        <p:sp>
          <p:nvSpPr>
            <p:cNvPr id="185" name="Text 8" descr="TEMP_Z_ORDER_23"/>
            <p:cNvSpPr/>
            <p:nvPr/>
          </p:nvSpPr>
          <p:spPr>
            <a:xfrm>
              <a:off x="2124234" y="1026160"/>
              <a:ext cx="89147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8.2.3.1 a)</a:t>
              </a:r>
              <a:endParaRPr lang="en-US" sz="1440"/>
            </a:p>
          </p:txBody>
        </p:sp>
        <p:pic>
          <p:nvPicPr>
            <p:cNvPr id="186" name="Image 15" descr="TEMP_Z_ORDER_24"/>
            <p:cNvPicPr>
              <a:picLocks noChangeAspect="1"/>
            </p:cNvPicPr>
            <p:nvPr/>
          </p:nvPicPr>
          <p:blipFill>
            <a:blip>
              <a:extLst>
                <a:ext uri="{96DAC541-7B7A-43D3-8B79-37D633B846F1}">
                  <asvg:svgBlip r:embed="rId11"/>
                </a:ext>
              </a:extLst>
            </a:blip>
            <a:stretch>
              <a:fillRect/>
            </a:stretch>
          </p:blipFill>
          <p:spPr>
            <a:xfrm>
              <a:off x="2260600" y="-635000"/>
              <a:ext cx="609600" cy="609600"/>
            </a:xfrm>
            <a:prstGeom prst="rect">
              <a:avLst/>
            </a:prstGeom>
            <a:effectLst>
              <a:outerShdw blurRad="228600" dist="152400" dir="5400000" algn="bl" rotWithShape="0">
                <a:srgbClr val="000000">
                  <a:alpha val="10000"/>
                </a:srgbClr>
              </a:outerShdw>
            </a:effectLst>
          </p:spPr>
        </p:pic>
        <p:sp>
          <p:nvSpPr>
            <p:cNvPr id="187" name="Text 9" descr="TEMP_Z_ORDER_25"/>
            <p:cNvSpPr/>
            <p:nvPr/>
          </p:nvSpPr>
          <p:spPr>
            <a:xfrm>
              <a:off x="2481389" y="-521957"/>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2</a:t>
              </a:r>
              <a:endParaRPr lang="en-US" sz="2160"/>
            </a:p>
          </p:txBody>
        </p:sp>
        <p:pic>
          <p:nvPicPr>
            <p:cNvPr id="188" name="Image 16" descr="TEMP_Z_ORDER_26"/>
            <p:cNvPicPr>
              <a:picLocks noChangeAspect="1"/>
            </p:cNvPicPr>
            <p:nvPr/>
          </p:nvPicPr>
          <p:blipFill>
            <a:blip>
              <a:extLst>
                <a:ext uri="{96DAC541-7B7A-43D3-8B79-37D633B846F1}">
                  <asvg:svgBlip r:embed="rId9"/>
                </a:ext>
              </a:extLst>
            </a:blip>
            <a:stretch>
              <a:fillRect/>
            </a:stretch>
          </p:blipFill>
          <p:spPr>
            <a:xfrm>
              <a:off x="3937000" y="96520"/>
              <a:ext cx="1828800" cy="1295400"/>
            </a:xfrm>
            <a:prstGeom prst="rect">
              <a:avLst/>
            </a:prstGeom>
            <a:effectLst>
              <a:outerShdw blurRad="91440" dist="60960" dir="5400000" algn="bl" rotWithShape="0">
                <a:srgbClr val="000000">
                  <a:alpha val="10000"/>
                </a:srgbClr>
              </a:outerShdw>
            </a:effectLst>
          </p:spPr>
        </p:pic>
        <p:sp>
          <p:nvSpPr>
            <p:cNvPr id="189" name="Text 10" descr="TEMP_Z_ORDER_27"/>
            <p:cNvSpPr/>
            <p:nvPr/>
          </p:nvSpPr>
          <p:spPr>
            <a:xfrm>
              <a:off x="4318841" y="279400"/>
              <a:ext cx="1074261"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防火墙策略</a:t>
              </a:r>
              <a:endParaRPr lang="en-US" sz="1680"/>
            </a:p>
          </p:txBody>
        </p:sp>
        <p:sp>
          <p:nvSpPr>
            <p:cNvPr id="190" name="Text 11" descr="TEMP_Z_ORDER_28"/>
            <p:cNvSpPr/>
            <p:nvPr/>
          </p:nvSpPr>
          <p:spPr>
            <a:xfrm>
              <a:off x="4395002" y="660400"/>
              <a:ext cx="921941"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查最小权限</a:t>
              </a:r>
              <a:endParaRPr lang="en-US" sz="1440"/>
            </a:p>
          </p:txBody>
        </p:sp>
        <p:pic>
          <p:nvPicPr>
            <p:cNvPr id="191" name="Image 17" descr="TEMP_Z_ORDER_29"/>
            <p:cNvPicPr>
              <a:picLocks noChangeAspect="1"/>
            </p:cNvPicPr>
            <p:nvPr/>
          </p:nvPicPr>
          <p:blipFill>
            <a:blip>
              <a:extLst>
                <a:ext uri="{96DAC541-7B7A-43D3-8B79-37D633B846F1}">
                  <asvg:svgBlip r:embed="rId10"/>
                </a:ext>
              </a:extLst>
            </a:blip>
            <a:stretch>
              <a:fillRect/>
            </a:stretch>
          </p:blipFill>
          <p:spPr>
            <a:xfrm>
              <a:off x="4058920" y="995680"/>
              <a:ext cx="1584960" cy="274320"/>
            </a:xfrm>
            <a:prstGeom prst="rect">
              <a:avLst/>
            </a:prstGeom>
          </p:spPr>
        </p:pic>
        <p:sp>
          <p:nvSpPr>
            <p:cNvPr id="192" name="Text 12" descr="TEMP_Z_ORDER_30"/>
            <p:cNvSpPr/>
            <p:nvPr/>
          </p:nvSpPr>
          <p:spPr>
            <a:xfrm>
              <a:off x="4410234" y="1026160"/>
              <a:ext cx="89147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8.2.3.1 a)</a:t>
              </a:r>
              <a:endParaRPr lang="en-US" sz="1440"/>
            </a:p>
          </p:txBody>
        </p:sp>
        <p:pic>
          <p:nvPicPr>
            <p:cNvPr id="193" name="Image 18" descr="TEMP_Z_ORDER_31"/>
            <p:cNvPicPr>
              <a:picLocks noChangeAspect="1"/>
            </p:cNvPicPr>
            <p:nvPr/>
          </p:nvPicPr>
          <p:blipFill>
            <a:blip>
              <a:extLst>
                <a:ext uri="{96DAC541-7B7A-43D3-8B79-37D633B846F1}">
                  <asvg:svgBlip r:embed="rId11"/>
                </a:ext>
              </a:extLst>
            </a:blip>
            <a:stretch>
              <a:fillRect/>
            </a:stretch>
          </p:blipFill>
          <p:spPr>
            <a:xfrm>
              <a:off x="4546600" y="-635000"/>
              <a:ext cx="609600" cy="609600"/>
            </a:xfrm>
            <a:prstGeom prst="rect">
              <a:avLst/>
            </a:prstGeom>
            <a:effectLst>
              <a:outerShdw blurRad="228600" dist="152400" dir="5400000" algn="bl" rotWithShape="0">
                <a:srgbClr val="000000">
                  <a:alpha val="10000"/>
                </a:srgbClr>
              </a:outerShdw>
            </a:effectLst>
          </p:spPr>
        </p:pic>
        <p:sp>
          <p:nvSpPr>
            <p:cNvPr id="194" name="Text 13" descr="TEMP_Z_ORDER_32"/>
            <p:cNvSpPr/>
            <p:nvPr/>
          </p:nvSpPr>
          <p:spPr>
            <a:xfrm>
              <a:off x="4767389" y="-521957"/>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3</a:t>
              </a:r>
              <a:endParaRPr lang="en-US" sz="2160"/>
            </a:p>
          </p:txBody>
        </p:sp>
        <p:pic>
          <p:nvPicPr>
            <p:cNvPr id="195" name="Image 19" descr="TEMP_Z_ORDER_33"/>
            <p:cNvPicPr>
              <a:picLocks noChangeAspect="1"/>
            </p:cNvPicPr>
            <p:nvPr/>
          </p:nvPicPr>
          <p:blipFill>
            <a:blip>
              <a:extLst>
                <a:ext uri="{96DAC541-7B7A-43D3-8B79-37D633B846F1}">
                  <asvg:svgBlip r:embed="rId9"/>
                </a:ext>
              </a:extLst>
            </a:blip>
            <a:stretch>
              <a:fillRect/>
            </a:stretch>
          </p:blipFill>
          <p:spPr>
            <a:xfrm>
              <a:off x="6223000" y="96520"/>
              <a:ext cx="1828800" cy="1295400"/>
            </a:xfrm>
            <a:prstGeom prst="rect">
              <a:avLst/>
            </a:prstGeom>
            <a:effectLst>
              <a:outerShdw blurRad="91440" dist="60960" dir="5400000" algn="bl" rotWithShape="0">
                <a:srgbClr val="000000">
                  <a:alpha val="10000"/>
                </a:srgbClr>
              </a:outerShdw>
            </a:effectLst>
          </p:spPr>
        </p:pic>
        <p:sp>
          <p:nvSpPr>
            <p:cNvPr id="196" name="Text 14" descr="TEMP_Z_ORDER_34"/>
            <p:cNvSpPr/>
            <p:nvPr/>
          </p:nvSpPr>
          <p:spPr>
            <a:xfrm>
              <a:off x="6604841" y="279400"/>
              <a:ext cx="1074261"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查看云审计</a:t>
              </a:r>
              <a:endParaRPr lang="en-US" sz="1680"/>
            </a:p>
          </p:txBody>
        </p:sp>
        <p:sp>
          <p:nvSpPr>
            <p:cNvPr id="197" name="Text 15" descr="TEMP_Z_ORDER_35"/>
            <p:cNvSpPr/>
            <p:nvPr/>
          </p:nvSpPr>
          <p:spPr>
            <a:xfrm>
              <a:off x="6681002" y="660400"/>
              <a:ext cx="921941"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查特权记录</a:t>
              </a:r>
              <a:endParaRPr lang="en-US" sz="1440"/>
            </a:p>
          </p:txBody>
        </p:sp>
        <p:pic>
          <p:nvPicPr>
            <p:cNvPr id="198" name="Image 20" descr="TEMP_Z_ORDER_36"/>
            <p:cNvPicPr>
              <a:picLocks noChangeAspect="1"/>
            </p:cNvPicPr>
            <p:nvPr/>
          </p:nvPicPr>
          <p:blipFill>
            <a:blip>
              <a:extLst>
                <a:ext uri="{96DAC541-7B7A-43D3-8B79-37D633B846F1}">
                  <asvg:svgBlip r:embed="rId10"/>
                </a:ext>
              </a:extLst>
            </a:blip>
            <a:stretch>
              <a:fillRect/>
            </a:stretch>
          </p:blipFill>
          <p:spPr>
            <a:xfrm>
              <a:off x="6344920" y="995680"/>
              <a:ext cx="1584960" cy="274320"/>
            </a:xfrm>
            <a:prstGeom prst="rect">
              <a:avLst/>
            </a:prstGeom>
          </p:spPr>
        </p:pic>
        <p:sp>
          <p:nvSpPr>
            <p:cNvPr id="199" name="Text 16" descr="TEMP_Z_ORDER_37"/>
            <p:cNvSpPr/>
            <p:nvPr/>
          </p:nvSpPr>
          <p:spPr>
            <a:xfrm>
              <a:off x="6696234" y="1026160"/>
              <a:ext cx="89147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8.2.3.3 a)</a:t>
              </a:r>
              <a:endParaRPr lang="en-US" sz="1440"/>
            </a:p>
          </p:txBody>
        </p:sp>
        <p:pic>
          <p:nvPicPr>
            <p:cNvPr id="200" name="Image 21" descr="TEMP_Z_ORDER_38"/>
            <p:cNvPicPr>
              <a:picLocks noChangeAspect="1"/>
            </p:cNvPicPr>
            <p:nvPr/>
          </p:nvPicPr>
          <p:blipFill>
            <a:blip>
              <a:extLst>
                <a:ext uri="{96DAC541-7B7A-43D3-8B79-37D633B846F1}">
                  <asvg:svgBlip r:embed="rId11"/>
                </a:ext>
              </a:extLst>
            </a:blip>
            <a:stretch>
              <a:fillRect/>
            </a:stretch>
          </p:blipFill>
          <p:spPr>
            <a:xfrm>
              <a:off x="6832600" y="-635000"/>
              <a:ext cx="609600" cy="609600"/>
            </a:xfrm>
            <a:prstGeom prst="rect">
              <a:avLst/>
            </a:prstGeom>
            <a:effectLst>
              <a:outerShdw blurRad="228600" dist="152400" dir="5400000" algn="bl" rotWithShape="0">
                <a:srgbClr val="000000">
                  <a:alpha val="10000"/>
                </a:srgbClr>
              </a:outerShdw>
            </a:effectLst>
          </p:spPr>
        </p:pic>
        <p:sp>
          <p:nvSpPr>
            <p:cNvPr id="201" name="Text 17" descr="TEMP_Z_ORDER_39"/>
            <p:cNvSpPr/>
            <p:nvPr/>
          </p:nvSpPr>
          <p:spPr>
            <a:xfrm>
              <a:off x="7053389" y="-521957"/>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4</a:t>
              </a:r>
              <a:endParaRPr lang="en-US" sz="2160"/>
            </a:p>
          </p:txBody>
        </p:sp>
        <p:pic>
          <p:nvPicPr>
            <p:cNvPr id="202" name="Image 22" descr="TEMP_Z_ORDER_40"/>
            <p:cNvPicPr>
              <a:picLocks noChangeAspect="1"/>
            </p:cNvPicPr>
            <p:nvPr/>
          </p:nvPicPr>
          <p:blipFill>
            <a:blip>
              <a:extLst>
                <a:ext uri="{96DAC541-7B7A-43D3-8B79-37D633B846F1}">
                  <asvg:svgBlip r:embed="rId9"/>
                </a:ext>
              </a:extLst>
            </a:blip>
            <a:stretch>
              <a:fillRect/>
            </a:stretch>
          </p:blipFill>
          <p:spPr>
            <a:xfrm>
              <a:off x="8509000" y="96520"/>
              <a:ext cx="1828800" cy="1295400"/>
            </a:xfrm>
            <a:prstGeom prst="rect">
              <a:avLst/>
            </a:prstGeom>
            <a:effectLst>
              <a:outerShdw blurRad="91440" dist="60960" dir="5400000" algn="bl" rotWithShape="0">
                <a:srgbClr val="000000">
                  <a:alpha val="10000"/>
                </a:srgbClr>
              </a:outerShdw>
            </a:effectLst>
          </p:spPr>
        </p:pic>
        <p:sp>
          <p:nvSpPr>
            <p:cNvPr id="203" name="Text 18" descr="TEMP_Z_ORDER_41"/>
            <p:cNvSpPr/>
            <p:nvPr/>
          </p:nvSpPr>
          <p:spPr>
            <a:xfrm>
              <a:off x="8998267" y="279400"/>
              <a:ext cx="859409"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查看镜像</a:t>
              </a:r>
              <a:endParaRPr lang="en-US" sz="1680"/>
            </a:p>
          </p:txBody>
        </p:sp>
        <p:sp>
          <p:nvSpPr>
            <p:cNvPr id="204" name="Text 19" descr="TEMP_Z_ORDER_42"/>
            <p:cNvSpPr/>
            <p:nvPr/>
          </p:nvSpPr>
          <p:spPr>
            <a:xfrm>
              <a:off x="8967002" y="660400"/>
              <a:ext cx="921941"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查加固镜像</a:t>
              </a:r>
              <a:endParaRPr lang="en-US" sz="1440"/>
            </a:p>
          </p:txBody>
        </p:sp>
        <p:pic>
          <p:nvPicPr>
            <p:cNvPr id="205" name="Image 23" descr="TEMP_Z_ORDER_43"/>
            <p:cNvPicPr>
              <a:picLocks noChangeAspect="1"/>
            </p:cNvPicPr>
            <p:nvPr/>
          </p:nvPicPr>
          <p:blipFill>
            <a:blip>
              <a:extLst>
                <a:ext uri="{96DAC541-7B7A-43D3-8B79-37D633B846F1}">
                  <asvg:svgBlip r:embed="rId10"/>
                </a:ext>
              </a:extLst>
            </a:blip>
            <a:stretch>
              <a:fillRect/>
            </a:stretch>
          </p:blipFill>
          <p:spPr>
            <a:xfrm>
              <a:off x="8630920" y="995680"/>
              <a:ext cx="1584960" cy="274320"/>
            </a:xfrm>
            <a:prstGeom prst="rect">
              <a:avLst/>
            </a:prstGeom>
          </p:spPr>
        </p:pic>
        <p:sp>
          <p:nvSpPr>
            <p:cNvPr id="206" name="Text 20" descr="TEMP_Z_ORDER_44"/>
            <p:cNvSpPr/>
            <p:nvPr/>
          </p:nvSpPr>
          <p:spPr>
            <a:xfrm>
              <a:off x="8982234" y="1026160"/>
              <a:ext cx="89147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8.2.4.4 a)</a:t>
              </a:r>
              <a:endParaRPr lang="en-US" sz="1440"/>
            </a:p>
          </p:txBody>
        </p:sp>
        <p:pic>
          <p:nvPicPr>
            <p:cNvPr id="207" name="Image 24" descr="TEMP_Z_ORDER_45"/>
            <p:cNvPicPr>
              <a:picLocks noChangeAspect="1"/>
            </p:cNvPicPr>
            <p:nvPr/>
          </p:nvPicPr>
          <p:blipFill>
            <a:blip>
              <a:extLst>
                <a:ext uri="{96DAC541-7B7A-43D3-8B79-37D633B846F1}">
                  <asvg:svgBlip r:embed="rId11"/>
                </a:ext>
              </a:extLst>
            </a:blip>
            <a:stretch>
              <a:fillRect/>
            </a:stretch>
          </p:blipFill>
          <p:spPr>
            <a:xfrm>
              <a:off x="9118600" y="-635000"/>
              <a:ext cx="609600" cy="609600"/>
            </a:xfrm>
            <a:prstGeom prst="rect">
              <a:avLst/>
            </a:prstGeom>
            <a:effectLst>
              <a:outerShdw blurRad="228600" dist="152400" dir="5400000" algn="bl" rotWithShape="0">
                <a:srgbClr val="000000">
                  <a:alpha val="10000"/>
                </a:srgbClr>
              </a:outerShdw>
            </a:effectLst>
          </p:spPr>
        </p:pic>
        <p:sp>
          <p:nvSpPr>
            <p:cNvPr id="208" name="Text 21" descr="TEMP_Z_ORDER_46"/>
            <p:cNvSpPr/>
            <p:nvPr/>
          </p:nvSpPr>
          <p:spPr>
            <a:xfrm>
              <a:off x="9339389" y="-521957"/>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5</a:t>
              </a:r>
              <a:endParaRPr lang="en-US" sz="2160"/>
            </a:p>
          </p:txBody>
        </p:sp>
        <p:pic>
          <p:nvPicPr>
            <p:cNvPr id="209" name="Image 26" descr="TEMP_Z_ORDER_48"/>
            <p:cNvPicPr>
              <a:picLocks noChangeAspect="1"/>
            </p:cNvPicPr>
            <p:nvPr/>
          </p:nvPicPr>
          <p:blipFill>
            <a:blip>
              <a:extLst>
                <a:ext uri="{96DAC541-7B7A-43D3-8B79-37D633B846F1}">
                  <asvg:svgBlip r:embed="rId12"/>
                </a:ext>
              </a:extLst>
            </a:blip>
            <a:stretch>
              <a:fillRect/>
            </a:stretch>
          </p:blipFill>
          <p:spPr>
            <a:xfrm>
              <a:off x="4546600" y="1696720"/>
              <a:ext cx="609600" cy="548640"/>
            </a:xfrm>
            <a:prstGeom prst="rect">
              <a:avLst/>
            </a:prstGeom>
            <a:effectLst>
              <a:outerShdw blurRad="228600" dist="152400" dir="5400000" algn="bl" rotWithShape="0">
                <a:srgbClr val="000000">
                  <a:alpha val="10000"/>
                </a:srgbClr>
              </a:outerShdw>
            </a:effectLst>
          </p:spPr>
        </p:pic>
        <p:sp>
          <p:nvSpPr>
            <p:cNvPr id="210" name="Text 22" descr="TEMP_Z_ORDER_49"/>
            <p:cNvSpPr/>
            <p:nvPr/>
          </p:nvSpPr>
          <p:spPr>
            <a:xfrm>
              <a:off x="4767389" y="1764043"/>
              <a:ext cx="192405" cy="3987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rPr>
                <a:t>6</a:t>
              </a:r>
              <a:endParaRPr lang="en-US" sz="2160"/>
            </a:p>
          </p:txBody>
        </p:sp>
        <p:pic>
          <p:nvPicPr>
            <p:cNvPr id="211" name="Image 27" descr="TEMP_Z_ORDER_50"/>
            <p:cNvPicPr>
              <a:picLocks noChangeAspect="1"/>
            </p:cNvPicPr>
            <p:nvPr/>
          </p:nvPicPr>
          <p:blipFill>
            <a:blip>
              <a:extLst>
                <a:ext uri="{96DAC541-7B7A-43D3-8B79-37D633B846F1}">
                  <asvg:svgBlip r:embed="rId13"/>
                </a:ext>
              </a:extLst>
            </a:blip>
            <a:stretch>
              <a:fillRect/>
            </a:stretch>
          </p:blipFill>
          <p:spPr>
            <a:xfrm>
              <a:off x="3632200" y="2352040"/>
              <a:ext cx="2438400" cy="1188720"/>
            </a:xfrm>
            <a:prstGeom prst="rect">
              <a:avLst/>
            </a:prstGeom>
            <a:effectLst>
              <a:outerShdw blurRad="91440" dist="60960" dir="5400000" algn="bl" rotWithShape="0">
                <a:srgbClr val="000000">
                  <a:alpha val="10000"/>
                </a:srgbClr>
              </a:outerShdw>
            </a:effectLst>
          </p:spPr>
        </p:pic>
        <p:sp>
          <p:nvSpPr>
            <p:cNvPr id="212" name="Text 23" descr="TEMP_Z_ORDER_51"/>
            <p:cNvSpPr/>
            <p:nvPr/>
          </p:nvSpPr>
          <p:spPr>
            <a:xfrm>
              <a:off x="4211415" y="2534920"/>
              <a:ext cx="1289113"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53777"/>
                  </a:solidFill>
                  <a:latin typeface="思源黑体 CN Bold" pitchFamily="34" charset="0"/>
                  <a:ea typeface="思源黑体 CN Bold" pitchFamily="34" charset="-122"/>
                  <a:cs typeface="思源黑体 CN Bold" pitchFamily="34" charset="-120"/>
                </a:rPr>
                <a:t>查看备份策略</a:t>
              </a:r>
              <a:endParaRPr lang="en-US" sz="1680"/>
            </a:p>
          </p:txBody>
        </p:sp>
        <p:sp>
          <p:nvSpPr>
            <p:cNvPr id="213" name="Text 24" descr="TEMP_Z_ORDER_52"/>
            <p:cNvSpPr/>
            <p:nvPr/>
          </p:nvSpPr>
          <p:spPr>
            <a:xfrm>
              <a:off x="4395002" y="2915920"/>
              <a:ext cx="921941"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B5863"/>
                  </a:solidFill>
                </a:rPr>
                <a:t>查本地备份</a:t>
              </a:r>
              <a:endParaRPr lang="en-US" sz="1440"/>
            </a:p>
          </p:txBody>
        </p:sp>
        <p:pic>
          <p:nvPicPr>
            <p:cNvPr id="214" name="Image 28" descr="TEMP_Z_ORDER_53"/>
            <p:cNvPicPr>
              <a:picLocks noChangeAspect="1"/>
            </p:cNvPicPr>
            <p:nvPr/>
          </p:nvPicPr>
          <p:blipFill>
            <a:blip>
              <a:extLst>
                <a:ext uri="{96DAC541-7B7A-43D3-8B79-37D633B846F1}">
                  <asvg:svgBlip r:embed="rId14"/>
                </a:ext>
              </a:extLst>
            </a:blip>
            <a:stretch>
              <a:fillRect/>
            </a:stretch>
          </p:blipFill>
          <p:spPr>
            <a:xfrm>
              <a:off x="3754120" y="3251200"/>
              <a:ext cx="2194560" cy="274320"/>
            </a:xfrm>
            <a:prstGeom prst="rect">
              <a:avLst/>
            </a:prstGeom>
          </p:spPr>
        </p:pic>
        <p:sp>
          <p:nvSpPr>
            <p:cNvPr id="215" name="Text 25" descr="TEMP_Z_ORDER_54"/>
            <p:cNvSpPr/>
            <p:nvPr/>
          </p:nvSpPr>
          <p:spPr>
            <a:xfrm>
              <a:off x="4410234" y="3281680"/>
              <a:ext cx="891476" cy="26583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440">
                  <a:solidFill>
                    <a:srgbClr val="458BE6"/>
                  </a:solidFill>
                </a:rPr>
                <a:t>8.2.4.6 a)</a:t>
              </a:r>
              <a:endParaRPr lang="en-US" sz="1440"/>
            </a:p>
          </p:txBody>
        </p:sp>
      </p:grpSp>
      <p:cxnSp>
        <p:nvCxnSpPr>
          <p:cNvPr id="216" name="肘形连接符 5"/>
          <p:cNvCxnSpPr>
            <a:stCxn id="206" idx="2"/>
            <a:endCxn id="209" idx="3"/>
          </p:cNvCxnSpPr>
          <p:nvPr/>
        </p:nvCxnSpPr>
        <p:spPr>
          <a:xfrm rot="5400000">
            <a:off x="8197215" y="2218055"/>
            <a:ext cx="678815" cy="427164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217" name=""/>
          <p:cNvSpPr/>
          <p:nvPr/>
        </p:nvSpPr>
        <p:spPr>
          <a:xfrm>
            <a:off x="609600" y="6299200"/>
            <a:ext cx="10972800" cy="482600"/>
          </a:xfrm>
          <a:prstGeom prst="rect">
            <a:avLst/>
          </a:prstGeom>
          <a:solidFill>
            <a:srgbClr val="E3F2FD"/>
          </a:solidFill>
          <a:ln w="12700">
            <a:solidFill>
              <a:srgbClr val="64B5F6"/>
            </a:solidFill>
            <a:prstDash val="solid"/>
          </a:ln>
        </p:spPr>
        <p:txBody>
          <a:bodyPr/>
          <a:p>
            <a:pPr/>
            <a:r>
              <a:rPr lang="zh-CN" sz="1300">
                <a:solidFill>
                  <a:srgbClr val="0D47A1"/>
                </a:solidFill>
              </a:rPr>
              <a:t>🗂 CloudLab 页面对应：①②③→「网络与安全组」页　④→「审计与告警」页　⑤→「云主机管理」页　⑥→「存储与备份」页</a:t>
            </a:r>
            <a:endParaRPr/>
          </a:p>
        </p:txBody>
      </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83" presetID="10" presetClass="entr" presetSubtype="0" fill="hold" grpId="1" nodeType="afterEffect">
                                  <p:stCondLst>
                                    <p:cond delay="0"/>
                                  </p:stCondLst>
                                  <p:childTnLst>
                                    <p:set>
                                      <p:cBhvr>
                                        <p:cTn id="84" dur="1" fill="hold">
                                          <p:stCondLst>
                                            <p:cond delay="0"/>
                                          </p:stCondLst>
                                        </p:cTn>
                                        <p:tgtEl>
                                          <p:spTgt spid="163"/>
                                        </p:tgtEl>
                                        <p:attrNameLst>
                                          <p:attrName>style.visibility</p:attrName>
                                        </p:attrNameLst>
                                      </p:cBhvr>
                                      <p:to>
                                        <p:strVal val="visible"/>
                                      </p:to>
                                    </p:set>
                                    <p:animEffect transition="in" filter="fade">
                                      <p:cBhvr>
                                        <p:cTn id="85" dur="750"/>
                                        <p:tgtEl>
                                          <p:spTgt spid="163"/>
                                        </p:tgtEl>
                                      </p:cBhvr>
                                    </p:animEffect>
                                  </p:childTnLst>
                                </p:cTn>
                              </p:par>
                            </p:childTnLst>
                          </p:cTn>
                        </p:par>
                        <p:par>
                          <p:cTn fill="hold">
                            <p:stCondLst>
                              <p:cond delay="0"/>
                            </p:stCondLst>
                            <p:childTnLst>
                              <p:par>
                                <p:cTn id="86" presetID="2" presetClass="entr" presetSubtype="8" fill="hold" grpId="2" nodeType="after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additive="base">
                                        <p:cTn id="88" dur="750" fill="hold"/>
                                        <p:tgtEl>
                                          <p:spTgt spid="164"/>
                                        </p:tgtEl>
                                        <p:attrNameLst>
                                          <p:attrName>ppt_x</p:attrName>
                                        </p:attrNameLst>
                                      </p:cBhvr>
                                      <p:tavLst>
                                        <p:tav tm="0">
                                          <p:val>
                                            <p:strVal val="0-#ppt_w/2"/>
                                          </p:val>
                                        </p:tav>
                                        <p:tav tm="100000">
                                          <p:val>
                                            <p:strVal val="#ppt_x"/>
                                          </p:val>
                                        </p:tav>
                                      </p:tavLst>
                                    </p:anim>
                                    <p:anim calcmode="lin" valueType="num">
                                      <p:cBhvr additive="base">
                                        <p:cTn id="89" dur="750" fill="hold"/>
                                        <p:tgtEl>
                                          <p:spTgt spid="164"/>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90" presetID="2" presetClass="entr" presetSubtype="8" fill="hold" grpId="3" nodeType="afterEffect">
                                  <p:stCondLst>
                                    <p:cond delay="0"/>
                                  </p:stCondLst>
                                  <p:childTnLst>
                                    <p:set>
                                      <p:cBhvr>
                                        <p:cTn id="91" dur="1" fill="hold">
                                          <p:stCondLst>
                                            <p:cond delay="0"/>
                                          </p:stCondLst>
                                        </p:cTn>
                                        <p:tgtEl>
                                          <p:spTgt spid="168"/>
                                        </p:tgtEl>
                                        <p:attrNameLst>
                                          <p:attrName>style.visibility</p:attrName>
                                        </p:attrNameLst>
                                      </p:cBhvr>
                                      <p:to>
                                        <p:strVal val="visible"/>
                                      </p:to>
                                    </p:set>
                                    <p:anim calcmode="lin" valueType="num">
                                      <p:cBhvr additive="base">
                                        <p:cTn id="92" dur="750" fill="hold"/>
                                        <p:tgtEl>
                                          <p:spTgt spid="168"/>
                                        </p:tgtEl>
                                        <p:attrNameLst>
                                          <p:attrName>ppt_x</p:attrName>
                                        </p:attrNameLst>
                                      </p:cBhvr>
                                      <p:tavLst>
                                        <p:tav tm="0">
                                          <p:val>
                                            <p:strVal val="0-#ppt_w/2"/>
                                          </p:val>
                                        </p:tav>
                                        <p:tav tm="100000">
                                          <p:val>
                                            <p:strVal val="#ppt_x"/>
                                          </p:val>
                                        </p:tav>
                                      </p:tavLst>
                                    </p:anim>
                                    <p:anim calcmode="lin" valueType="num">
                                      <p:cBhvr additive="base">
                                        <p:cTn id="93" dur="750" fill="hold"/>
                                        <p:tgtEl>
                                          <p:spTgt spid="1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5.xml><?xml version="1.0" encoding="utf-8"?>
<p:sld xmlns:p="http://schemas.openxmlformats.org/presentationml/2006/main" xmlns:a="http://schemas.openxmlformats.org/drawingml/2006/main">
  <p:cSld>
    <p:spTree>
      <p:nvGrpSpPr>
        <p:cNvPr id="218" name=""/>
        <p:cNvGrpSpPr/>
        <p:nvPr/>
      </p:nvGrpSpPr>
      <p:grpSpPr>
        <a:xfrm>
          <a:off x="0" y="0"/>
          <a:ext cx="0" cy="0"/>
          <a:chOff x="0" y="0"/>
          <a:chExt cx="0" cy="0"/>
        </a:xfrm>
      </p:grpSpPr>
      <p:sp>
        <p:nvSpPr>
          <p:cNvPr id="219" name=""/>
          <p:cNvSpPr/>
          <p:nvPr/>
        </p:nvSpPr>
        <p:spPr>
          <a:xfrm>
            <a:off x="825500" y="533400"/>
            <a:ext cx="10922000" cy="431800"/>
          </a:xfrm>
          <a:prstGeom prst="rect">
            <a:avLst/>
          </a:prstGeom>
          <a:noFill/>
          <a:ln>
            <a:noFill/>
          </a:ln>
        </p:spPr>
        <p:txBody>
          <a:bodyPr/>
          <a:p>
            <a:pPr/>
            <a:r>
              <a:rPr lang="zh-CN" sz="2400">
                <a:solidFill>
                  <a:srgbClr val="1E1E1E"/>
                </a:solidFill>
                <a:latin typeface="思源黑体 CN Bold"/>
                <a:ea typeface="思源黑体 CN Bold"/>
              </a:rPr>
              <a:t>上机准备——CloudLab「等保核查任务」页导览</a:t>
            </a:r>
            <a:endParaRPr/>
          </a:p>
        </p:txBody>
      </p:sp>
      <p:sp>
        <p:nvSpPr>
          <p:cNvPr id="220" name=""/>
          <p:cNvSpPr/>
          <p:nvPr/>
        </p:nvSpPr>
        <p:spPr>
          <a:xfrm>
            <a:off x="609600" y="1206500"/>
            <a:ext cx="10972800" cy="635000"/>
          </a:xfrm>
          <a:prstGeom prst="rect">
            <a:avLst/>
          </a:prstGeom>
          <a:solidFill>
            <a:srgbClr val="E3F2FD"/>
          </a:solidFill>
          <a:ln w="12700">
            <a:solidFill>
              <a:srgbClr val="64B5F6"/>
            </a:solidFill>
            <a:prstDash val="solid"/>
          </a:ln>
        </p:spPr>
        <p:txBody>
          <a:bodyPr/>
          <a:p>
            <a:pPr/>
            <a:r>
              <a:rPr lang="zh-CN" sz="1400">
                <a:solidFill>
                  <a:srgbClr val="0D47A1"/>
                </a:solidFill>
              </a:rPr>
              <a:t>🌐 打开 CloudLab 实验平台（cloudlab-experiment.html，浏览器直接打开）→ 点击左侧「📝 等保核查任务」。两个任务都在这一页完成，取证时点击链接跳转到对应页面。</a:t>
            </a:r>
            <a:endParaRPr/>
          </a:p>
        </p:txBody>
      </p:sp>
      <p:sp>
        <p:nvSpPr>
          <p:cNvPr id="221" name=""/>
          <p:cNvSpPr/>
          <p:nvPr/>
        </p:nvSpPr>
        <p:spPr>
          <a:xfrm>
            <a:off x="609600" y="2032000"/>
            <a:ext cx="10972800" cy="3454400"/>
          </a:xfrm>
          <a:prstGeom prst="rect">
            <a:avLst/>
          </a:prstGeom>
          <a:solidFill>
            <a:srgbClr val="FFFFFF"/>
          </a:solidFill>
          <a:ln w="12700">
            <a:solidFill>
              <a:srgbClr val="90CAF9"/>
            </a:solidFill>
            <a:prstDash val="solid"/>
          </a:ln>
        </p:spPr>
        <p:txBody>
          <a:bodyPr/>
          <a:p>
            <a:pPr/>
            <a:r>
              <a:rPr lang="zh-CN" sz="1400">
                <a:solidFill>
                  <a:srgbClr val="333333"/>
                </a:solidFill>
              </a:rPr>
              <a:t>📝 任务一：《云计算安全测评记录表》（30分钟）</a:t>
            </a:r>
            <a:endParaRPr/>
          </a:p>
          <a:p>
            <a:pPr/>
            <a:r>
              <a:rPr lang="zh-CN" sz="1400">
                <a:solidFill>
                  <a:srgbClr val="333333"/>
                </a:solidFill>
              </a:rPr>
              <a:t>　· 页面列出 7 项测评指标，与本节课 7 个核查项一一对应（8.2.2.1b / 8.2.3.1a / 8.2.3.2d / 8.2.3.3a / 8.2.4.4a / 8.2.4.6a / 8.2.4.5a）</a:t>
            </a:r>
            <a:endParaRPr/>
          </a:p>
          <a:p>
            <a:pPr/>
            <a:r>
              <a:rPr lang="zh-CN" sz="1400">
                <a:solidFill>
                  <a:srgbClr val="333333"/>
                </a:solidFill>
              </a:rPr>
              <a:t>　· 每项点「前往取证页」→ 对照“现场情况”选择测评结果 → 填问题描述与整改建议 → 点「导出」生成记录表</a:t>
            </a:r>
            <a:endParaRPr/>
          </a:p>
          <a:p>
            <a:pPr/>
            <a:endParaRPr/>
          </a:p>
          <a:p>
            <a:pPr/>
            <a:r>
              <a:rPr lang="zh-CN" sz="1400">
                <a:solidFill>
                  <a:srgbClr val="333333"/>
                </a:solidFill>
              </a:rPr>
              <a:t>🕵️ 任务二：云平台配置风险模拟分析（15分钟）</a:t>
            </a:r>
            <a:endParaRPr/>
          </a:p>
          <a:p>
            <a:pPr/>
            <a:r>
              <a:rPr lang="zh-CN" sz="1400">
                <a:solidFill>
                  <a:srgbClr val="333333"/>
                </a:solidFill>
              </a:rPr>
              <a:t>　· 平台内已埋 5 处配置风险（混有干扰项），从候选发现中勾选后提交评分</a:t>
            </a:r>
            <a:endParaRPr/>
          </a:p>
          <a:p>
            <a:pPr/>
            <a:r>
              <a:rPr lang="zh-CN" sz="1400">
                <a:solidFill>
                  <a:srgbClr val="333333"/>
                </a:solidFill>
              </a:rPr>
              <a:t>　· 要求：至少找出 3 处真实风险，并说出对应的等保要求项</a:t>
            </a:r>
            <a:endParaRPr/>
          </a:p>
        </p:txBody>
      </p:sp>
      <p:sp>
        <p:nvSpPr>
          <p:cNvPr id="222" name=""/>
          <p:cNvSpPr/>
          <p:nvPr/>
        </p:nvSpPr>
        <p:spPr>
          <a:xfrm>
            <a:off x="609600" y="5676900"/>
            <a:ext cx="10972800" cy="635000"/>
          </a:xfrm>
          <a:prstGeom prst="rect">
            <a:avLst/>
          </a:prstGeom>
          <a:solidFill>
            <a:srgbClr val="FFF8E1"/>
          </a:solidFill>
          <a:ln w="12700">
            <a:solidFill>
              <a:srgbClr val="FFB300"/>
            </a:solidFill>
            <a:prstDash val="solid"/>
          </a:ln>
        </p:spPr>
        <p:txBody>
          <a:bodyPr/>
          <a:p>
            <a:pPr/>
            <a:r>
              <a:rPr lang="zh-CN" sz="1300">
                <a:solidFill>
                  <a:srgbClr val="B26A00"/>
                </a:solidFill>
              </a:rPr>
              <a:t>🗂 取证页面对应：VPC / 安全组→「网络与安全组」　镜像→「云主机管理」　备份 / 存储桶→「存储与备份」　审计 / 告警→「审计与告警」</a:t>
            </a:r>
            <a:endParaRPr/>
          </a:p>
        </p:txBody>
      </p:sp>
    </p:spTree>
  </p:cSld>
</p:sld>
</file>

<file path=ppt/slides/slide16.xml><?xml version="1.0" encoding="utf-8"?>
<p:sld xmlns:p="http://schemas.openxmlformats.org/presentationml/2006/main" xmlns:a="http://schemas.openxmlformats.org/drawingml/2006/main" xmlns:r="http://schemas.openxmlformats.org/officeDocument/2006/relationships" xmlns:a16="http://schemas.microsoft.com/office/drawing/2014/main" xmlns:mc="http://schemas.openxmlformats.org/markup-compatibility/2006" mc:Ignorable="a16">
  <p:cSld>
    <p:bg>
      <p:bgPr>
        <a:solidFill>
          <a:srgbClr val="FFFFFF"/>
        </a:solidFill>
        <a:effectLst/>
      </p:bgPr>
    </p:bg>
    <p:spTree>
      <p:nvGrpSpPr>
        <p:cNvPr id="223" name=""/>
        <p:cNvGrpSpPr/>
        <p:nvPr/>
      </p:nvGrpSpPr>
      <p:grpSpPr>
        <a:xfrm>
          <a:off x="0" y="0"/>
          <a:ext cx="0" cy="0"/>
          <a:chOff x="0" y="0"/>
          <a:chExt cx="0" cy="0"/>
        </a:xfrm>
      </p:grpSpPr>
      <p:pic>
        <p:nvPicPr>
          <p:cNvPr id="22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225"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226"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227"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实践任务1——云平台安全配置核查（30分钟）</a:t>
            </a:r>
            <a:endParaRPr lang="en-US" sz="2760"/>
          </a:p>
        </p:txBody>
      </p:sp>
      <p:grpSp>
        <p:nvGrpSpPr>
          <p:cNvPr id="228" name="组合 16"/>
          <p:cNvGrpSpPr/>
          <p:nvPr/>
        </p:nvGrpSpPr>
        <p:grpSpPr>
          <a:xfrm>
            <a:off x="609600" y="1371600"/>
            <a:ext cx="10972800" cy="5181600"/>
            <a:chOff x="-635000" y="-635000"/>
            <a:chExt cx="10972800" cy="5181600"/>
          </a:xfrm>
        </p:grpSpPr>
        <p:pic>
          <p:nvPicPr>
            <p:cNvPr id="229" name="Image 3" descr="TEMP_Z_ORDER_4"/>
            <p:cNvPicPr>
              <a:picLocks noChangeAspect="1"/>
            </p:cNvPicPr>
            <p:nvPr/>
          </p:nvPicPr>
          <p:blipFill>
            <a:blip r:embed="rId5"/>
            <a:stretch>
              <a:fillRect/>
            </a:stretch>
          </p:blipFill>
          <p:spPr>
            <a:xfrm>
              <a:off x="-635000" y="-635000"/>
              <a:ext cx="10972800" cy="5181600"/>
            </a:xfrm>
            <a:prstGeom prst="rect">
              <a:avLst/>
            </a:prstGeom>
          </p:spPr>
        </p:pic>
      </p:grpSp>
      <p:graphicFrame>
        <p:nvGraphicFramePr>
          <p:cNvPr id="230" name="Table 0"/>
          <p:cNvGraphicFramePr>
            <a:graphicFrameLocks noGrp="1"/>
          </p:cNvGraphicFramePr>
          <p:nvPr/>
        </p:nvGraphicFramePr>
        <p:xfrm>
          <a:off x="990600" y="1371600"/>
          <a:ext cx="10210800" cy="4419600"/>
        </p:xfrm>
        <a:graphic>
          <a:graphicData uri="http://schemas.openxmlformats.org/drawingml/2006/table">
            <a:tbl>
              <a:tblPr/>
              <a:tblGrid>
                <a:gridCol w="778402">
                  <a:extLst>
                    <a:ext uri="{9D8B030D-6E8A-4147-A177-3AD203B41FA5}">
                      <a16:colId val="1"/>
                    </a:ext>
                  </a:extLst>
                </a:gridCol>
                <a:gridCol w="9432398">
                  <a:extLst>
                    <a:ext uri="{9D8B030D-6E8A-4147-A177-3AD203B41FA5}">
                      <a16:colId val="2"/>
                    </a:ext>
                  </a:extLst>
                </a:gridCol>
              </a:tblGrid>
              <a:tr h="883920">
                <a:tc>
                  <a:txBody>
                    <a:bodyPr wrap="square"/>
                    <a:lstStyle/>
                    <a:p>
                      <a:pPr marL="0" indent="0" algn="ctr">
                        <a:buNone/>
                      </a:pPr>
                      <a:r>
                        <a:rPr lang="en-US" sz="2000" b="1">
                          <a:solidFill>
                            <a:srgbClr val="000000"/>
                          </a:solidFill>
                        </a:rPr>
                        <a:t>要素</a:t>
                      </a:r>
                      <a:endParaRPr lang="en-US" sz="20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2000" b="1">
                          <a:solidFill>
                            <a:srgbClr val="000000"/>
                          </a:solidFill>
                        </a:rPr>
                        <a:t>内容</a:t>
                      </a:r>
                      <a:endParaRPr lang="en-US" sz="20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883920">
                <a:tc>
                  <a:txBody>
                    <a:bodyPr wrap="square"/>
                    <a:lstStyle/>
                    <a:p>
                      <a:pPr marL="0" indent="0" algn="ctr">
                        <a:buNone/>
                      </a:pPr>
                      <a:r>
                        <a:rPr lang="en-US" sz="2000">
                          <a:solidFill>
                            <a:srgbClr val="000000"/>
                          </a:solidFill>
                        </a:rPr>
                        <a:t>任务名称</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2000">
                          <a:solidFill>
                            <a:srgbClr val="000000"/>
                          </a:solidFill>
                        </a:rPr>
                        <a:t>云平台安全配置核查实操</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883920">
                <a:tc>
                  <a:txBody>
                    <a:bodyPr wrap="square"/>
                    <a:lstStyle/>
                    <a:p>
                      <a:pPr marL="0" indent="0" algn="ctr">
                        <a:buNone/>
                      </a:pPr>
                      <a:r>
                        <a:rPr lang="en-US" sz="2000">
                          <a:solidFill>
                            <a:srgbClr val="000000"/>
                          </a:solidFill>
                        </a:rPr>
                        <a:t>任务场景</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r>
                        <a:rPr lang="en-US"/>
                        <a:t>打开 CloudLab 实验平台「等保核查任务」页，对 7 项指标逐项取证核查</a:t>
                      </a:r>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883920">
                <a:tc>
                  <a:txBody>
                    <a:bodyPr wrap="square"/>
                    <a:lstStyle/>
                    <a:p>
                      <a:pPr marL="0" indent="0" algn="ctr">
                        <a:buNone/>
                      </a:pPr>
                      <a:r>
                        <a:rPr lang="en-US" sz="2000">
                          <a:solidFill>
                            <a:srgbClr val="000000"/>
                          </a:solidFill>
                        </a:rPr>
                        <a:t>任务内容</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r>
                        <a:rPr lang="en-US"/>
                        <a:t>点击「查看位置」跳转取证页，逐项填写测评结果与整改建议，最后一键导出记录表</a:t>
                      </a:r>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883920">
                <a:tc>
                  <a:txBody>
                    <a:bodyPr wrap="square"/>
                    <a:lstStyle/>
                    <a:p>
                      <a:pPr marL="0" indent="0" algn="ctr">
                        <a:buNone/>
                      </a:pPr>
                      <a:r>
                        <a:rPr lang="en-US" sz="2000">
                          <a:solidFill>
                            <a:srgbClr val="000000"/>
                          </a:solidFill>
                        </a:rPr>
                        <a:t>时间安排</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2000">
                          <a:solidFill>
                            <a:srgbClr val="000000"/>
                          </a:solidFill>
                        </a:rPr>
                        <a:t>约30分钟</a:t>
                      </a:r>
                      <a:endParaRPr lang="en-US" sz="20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bl>
          </a:graphicData>
        </a:graphic>
      </p:graphicFrame>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94" presetID="10" presetClass="entr" presetSubtype="0" fill="hold" grpId="1" nodeType="afterEffect">
                                  <p:stCondLst>
                                    <p:cond delay="0"/>
                                  </p:stCondLst>
                                  <p:childTnLst>
                                    <p:set>
                                      <p:cBhvr>
                                        <p:cTn id="95" dur="1" fill="hold">
                                          <p:stCondLst>
                                            <p:cond delay="0"/>
                                          </p:stCondLst>
                                        </p:cTn>
                                        <p:tgtEl>
                                          <p:spTgt spid="227"/>
                                        </p:tgtEl>
                                        <p:attrNameLst>
                                          <p:attrName>style.visibility</p:attrName>
                                        </p:attrNameLst>
                                      </p:cBhvr>
                                      <p:to>
                                        <p:strVal val="visible"/>
                                      </p:to>
                                    </p:set>
                                    <p:animEffect transition="in" filter="fade">
                                      <p:cBhvr>
                                        <p:cTn id="96" dur="750"/>
                                        <p:tgtEl>
                                          <p:spTgt spid="227"/>
                                        </p:tgtEl>
                                      </p:cBhvr>
                                    </p:animEffect>
                                  </p:childTnLst>
                                </p:cTn>
                              </p:par>
                            </p:childTnLst>
                          </p:cTn>
                        </p:par>
                        <p:par>
                          <p:cTn fill="hold">
                            <p:stCondLst>
                              <p:cond delay="0"/>
                            </p:stCondLst>
                            <p:childTnLst>
                              <p:par>
                                <p:cTn id="97" presetID="10" presetClass="entr" presetSubtype="0" fill="hold" grpId="2" nodeType="afterEffect">
                                  <p:stCondLst>
                                    <p:cond delay="0"/>
                                  </p:stCondLst>
                                  <p:childTnLst>
                                    <p:set>
                                      <p:cBhvr>
                                        <p:cTn id="98" dur="1" fill="hold">
                                          <p:stCondLst>
                                            <p:cond delay="0"/>
                                          </p:stCondLst>
                                        </p:cTn>
                                        <p:tgtEl>
                                          <p:spTgt spid="228"/>
                                        </p:tgtEl>
                                        <p:attrNameLst>
                                          <p:attrName>style.visibility</p:attrName>
                                        </p:attrNameLst>
                                      </p:cBhvr>
                                      <p:to>
                                        <p:strVal val="visible"/>
                                      </p:to>
                                    </p:set>
                                    <p:animEffect transition="in" filter="fade">
                                      <p:cBhvr>
                                        <p:cTn id="99" dur="750"/>
                                        <p:tgtEl>
                                          <p:spTgt spid="228"/>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7.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231" name=""/>
        <p:cNvGrpSpPr/>
        <p:nvPr/>
      </p:nvGrpSpPr>
      <p:grpSpPr>
        <a:xfrm>
          <a:off x="0" y="0"/>
          <a:ext cx="0" cy="0"/>
          <a:chOff x="0" y="0"/>
          <a:chExt cx="0" cy="0"/>
        </a:xfrm>
      </p:grpSpPr>
      <p:pic>
        <p:nvPicPr>
          <p:cNvPr id="23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23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23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235"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实践任务1——《云计算安全测评记录表》</a:t>
            </a:r>
            <a:endParaRPr lang="en-US" sz="2760"/>
          </a:p>
        </p:txBody>
      </p:sp>
      <p:grpSp>
        <p:nvGrpSpPr>
          <p:cNvPr id="236" name="组合 27"/>
          <p:cNvGrpSpPr/>
          <p:nvPr/>
        </p:nvGrpSpPr>
        <p:grpSpPr>
          <a:xfrm>
            <a:off x="609600" y="1371600"/>
            <a:ext cx="10972800" cy="2286000"/>
            <a:chOff x="-635000" y="-635000"/>
            <a:chExt cx="10972800" cy="2286000"/>
          </a:xfrm>
        </p:grpSpPr>
        <p:pic>
          <p:nvPicPr>
            <p:cNvPr id="237" name="Image 3" descr="TEMP_Z_ORDER_4"/>
            <p:cNvPicPr>
              <a:picLocks noChangeAspect="1"/>
            </p:cNvPicPr>
            <p:nvPr/>
          </p:nvPicPr>
          <p:blipFill>
            <a:blip r:embed="rId5">
              <a:alphaModFix amt="10000"/>
            </a:blip>
            <a:stretch>
              <a:fillRect/>
            </a:stretch>
          </p:blipFill>
          <p:spPr>
            <a:xfrm>
              <a:off x="-635000" y="-635000"/>
              <a:ext cx="10972800" cy="2286000"/>
            </a:xfrm>
            <a:prstGeom prst="rect">
              <a:avLst/>
            </a:prstGeom>
          </p:spPr>
        </p:pic>
      </p:grpSp>
      <p:graphicFrame>
        <p:nvGraphicFramePr>
          <p:cNvPr id="238" name="Table 0"/>
          <p:cNvGraphicFramePr>
            <a:graphicFrameLocks noGrp="1"/>
          </p:cNvGraphicFramePr>
          <p:nvPr/>
        </p:nvGraphicFramePr>
        <p:xfrm>
          <a:off x="1143000" y="1371600"/>
          <a:ext cx="9831705" cy="3017520"/>
        </p:xfrm>
        <a:graphic>
          <a:graphicData uri="http://schemas.openxmlformats.org/drawingml/2006/table">
            <a:tbl>
              <a:tblPr/>
              <a:tblGrid>
                <a:gridCol w="1759585">
                  <a:extLst>
                    <a:ext uri="{9D8B030D-6E8A-4147-A177-3AD203B41FA5}">
                      <a16:colId val="1"/>
                    </a:ext>
                  </a:extLst>
                </a:gridCol>
                <a:gridCol w="3053715">
                  <a:extLst>
                    <a:ext uri="{9D8B030D-6E8A-4147-A177-3AD203B41FA5}">
                      <a16:colId val="2"/>
                    </a:ext>
                  </a:extLst>
                </a:gridCol>
                <a:gridCol w="1254760">
                  <a:extLst>
                    <a:ext uri="{9D8B030D-6E8A-4147-A177-3AD203B41FA5}">
                      <a16:colId val="3"/>
                    </a:ext>
                  </a:extLst>
                </a:gridCol>
                <a:gridCol w="1254760">
                  <a:extLst>
                    <a:ext uri="{9D8B030D-6E8A-4147-A177-3AD203B41FA5}">
                      <a16:colId val="4"/>
                    </a:ext>
                  </a:extLst>
                </a:gridCol>
                <a:gridCol w="1254125">
                  <a:extLst>
                    <a:ext uri="{9D8B030D-6E8A-4147-A177-3AD203B41FA5}">
                      <a16:colId val="5"/>
                    </a:ext>
                  </a:extLst>
                </a:gridCol>
                <a:gridCol w="1254760">
                  <a:extLst>
                    <a:ext uri="{9D8B030D-6E8A-4147-A177-3AD203B41FA5}">
                      <a16:colId val="6"/>
                    </a:ext>
                  </a:extLst>
                </a:gridCol>
              </a:tblGrid>
              <a:tr h="377190">
                <a:tc>
                  <a:txBody>
                    <a:bodyPr wrap="square"/>
                    <a:lstStyle/>
                    <a:p>
                      <a:pPr marL="0" indent="0" algn="ctr">
                        <a:buNone/>
                      </a:pPr>
                      <a:r>
                        <a:rPr lang="en-US" sz="1600" b="1">
                          <a:solidFill>
                            <a:srgbClr val="000000"/>
                          </a:solidFill>
                        </a:rPr>
                        <a:t>测评指标编号</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测评指标名称</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测评结果</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问题描述</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风险分析</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整改建议</a:t>
                      </a:r>
                      <a:endParaRPr lang="en-US" sz="1600" b="1">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77190">
                <a:tc>
                  <a:txBody>
                    <a:bodyPr wrap="square"/>
                    <a:lstStyle/>
                    <a:p>
                      <a:pPr marL="0" indent="0" algn="ctr">
                        <a:buNone/>
                      </a:pPr>
                      <a:r>
                        <a:rPr lang="en-US" sz="1600">
                          <a:solidFill>
                            <a:srgbClr val="000000"/>
                          </a:solidFill>
                        </a:rPr>
                        <a:t>8.2.2.1b)</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虚拟网络隔离</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377190">
                <a:tc>
                  <a:txBody>
                    <a:bodyPr wrap="square"/>
                    <a:lstStyle/>
                    <a:p>
                      <a:pPr marL="0" indent="0" algn="ctr">
                        <a:buNone/>
                      </a:pPr>
                      <a:r>
                        <a:rPr lang="en-US" sz="1600">
                          <a:solidFill>
                            <a:srgbClr val="000000"/>
                          </a:solidFill>
                        </a:rPr>
                        <a:t>8.2.3.1a)</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虚拟化网络边界访问控制</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377190">
                <a:tc>
                  <a:txBody>
                    <a:bodyPr wrap="square"/>
                    <a:lstStyle/>
                    <a:p>
                      <a:pPr marL="0" indent="0" algn="ctr">
                        <a:buNone/>
                      </a:pPr>
                      <a:r>
                        <a:rPr lang="en-US" sz="1600">
                          <a:solidFill>
                            <a:srgbClr val="000000"/>
                          </a:solidFill>
                        </a:rPr>
                        <a:t>8.2.3.2d)</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攻击行为告警</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377190">
                <a:tc>
                  <a:txBody>
                    <a:bodyPr wrap="square"/>
                    <a:lstStyle/>
                    <a:p>
                      <a:pPr marL="0" indent="0" algn="ctr">
                        <a:buNone/>
                      </a:pPr>
                      <a:r>
                        <a:rPr lang="en-US" sz="1600">
                          <a:solidFill>
                            <a:srgbClr val="000000"/>
                          </a:solidFill>
                        </a:rPr>
                        <a:t>8.2.3.3a)</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特权命令审计</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377190">
                <a:tc>
                  <a:txBody>
                    <a:bodyPr wrap="square"/>
                    <a:lstStyle/>
                    <a:p>
                      <a:pPr marL="0" indent="0" algn="ctr">
                        <a:buNone/>
                      </a:pPr>
                      <a:r>
                        <a:rPr lang="en-US" sz="1600">
                          <a:solidFill>
                            <a:srgbClr val="000000"/>
                          </a:solidFill>
                        </a:rPr>
                        <a:t>8.2.4.4a)</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加固镜像</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r h="377190">
                <a:tc>
                  <a:txBody>
                    <a:bodyPr wrap="square"/>
                    <a:lstStyle/>
                    <a:p>
                      <a:pPr marL="0" indent="0" algn="ctr">
                        <a:buNone/>
                      </a:pPr>
                      <a:r>
                        <a:rPr lang="en-US" sz="1600">
                          <a:solidFill>
                            <a:srgbClr val="000000"/>
                          </a:solidFill>
                        </a:rPr>
                        <a:t>8.2.4.6a)</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本地数据备份</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7"/>
                  </a:ext>
                </a:extLst>
              </a:tr>
              <a:tr h="377190">
                <a:tc>
                  <a:txBody>
                    <a:bodyPr wrap="square"/>
                    <a:lstStyle/>
                    <a:p>
                      <a:pPr marL="0" indent="0" algn="ctr">
                        <a:buNone/>
                      </a:pPr>
                      <a:r>
                        <a:rPr lang="en-US" sz="1600">
                          <a:solidFill>
                            <a:srgbClr val="000000"/>
                          </a:solidFill>
                        </a:rPr>
                        <a:t>8.2.4.7a)</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剩余信息保护</a:t>
                      </a:r>
                      <a:endParaRPr lang="en-US" sz="1600">
                        <a:solidFill>
                          <a:srgbClr val="000000"/>
                        </a:solidFill>
                      </a:endParaRPr>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00"/>
                    </a:p>
                  </a:txBody>
                  <a:tcPr marL="66712" marR="66712" marT="66712" marB="66712"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8"/>
                  </a:ext>
                </a:extLst>
              </a:tr>
            </a:tbl>
          </a:graphicData>
        </a:graphic>
      </p:graphicFrame>
      <p:grpSp>
        <p:nvGrpSpPr>
          <p:cNvPr id="239" name="组合 17"/>
          <p:cNvGrpSpPr/>
          <p:nvPr/>
        </p:nvGrpSpPr>
        <p:grpSpPr>
          <a:xfrm>
            <a:off x="883920" y="4069080"/>
            <a:ext cx="10424160" cy="2374900"/>
            <a:chOff x="-635000" y="-635000"/>
            <a:chExt cx="10424160" cy="2712720"/>
          </a:xfrm>
        </p:grpSpPr>
        <p:pic>
          <p:nvPicPr>
            <p:cNvPr id="240" name="Image 4" descr="TEMP_Z_ORDER_6"/>
            <p:cNvPicPr>
              <a:picLocks noChangeAspect="1"/>
            </p:cNvPicPr>
            <p:nvPr/>
          </p:nvPicPr>
          <p:blipFill>
            <a:blip r:embed="rId6"/>
            <a:stretch>
              <a:fillRect/>
            </a:stretch>
          </p:blipFill>
          <p:spPr>
            <a:xfrm>
              <a:off x="-635000" y="-635000"/>
              <a:ext cx="10424160" cy="2712720"/>
            </a:xfrm>
            <a:prstGeom prst="rect">
              <a:avLst/>
            </a:prstGeom>
          </p:spPr>
        </p:pic>
        <p:pic>
          <p:nvPicPr>
            <p:cNvPr id="241" name="Image 5" descr="TEMP_Z_ORDER_7"/>
            <p:cNvPicPr>
              <a:picLocks noChangeAspect="1"/>
            </p:cNvPicPr>
            <p:nvPr/>
          </p:nvPicPr>
          <p:blipFill>
            <a:blip>
              <a:extLst>
                <a:ext uri="{96DAC541-7B7A-43D3-8B79-37D633B846F1}">
                  <asvg:svgBlip r:embed="rId7"/>
                </a:ext>
              </a:extLst>
            </a:blip>
            <a:stretch>
              <a:fillRect/>
            </a:stretch>
          </p:blipFill>
          <p:spPr>
            <a:xfrm>
              <a:off x="-452120" y="-86360"/>
              <a:ext cx="60960" cy="243840"/>
            </a:xfrm>
            <a:prstGeom prst="rect">
              <a:avLst/>
            </a:prstGeom>
          </p:spPr>
        </p:pic>
        <p:sp>
          <p:nvSpPr>
            <p:cNvPr id="242" name="Text 1" descr="TEMP_Z_ORDER_8"/>
            <p:cNvSpPr/>
            <p:nvPr/>
          </p:nvSpPr>
          <p:spPr>
            <a:xfrm>
              <a:off x="-269240" y="-162560"/>
              <a:ext cx="1276350" cy="35105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2000" b="1">
                  <a:solidFill>
                    <a:srgbClr val="000000"/>
                  </a:solidFill>
                  <a:latin typeface="思源黑体 CN Bold" pitchFamily="34" charset="0"/>
                  <a:ea typeface="思源黑体 CN Bold" pitchFamily="34" charset="-122"/>
                  <a:cs typeface="思源黑体 CN Bold" pitchFamily="34" charset="-120"/>
                </a:rPr>
                <a:t>填写说明：</a:t>
              </a:r>
              <a:endParaRPr lang="en-US" sz="2000" b="1">
                <a:solidFill>
                  <a:srgbClr val="000000"/>
                </a:solidFill>
                <a:latin typeface="思源黑体 CN Bold" pitchFamily="34" charset="0"/>
                <a:ea typeface="思源黑体 CN Bold" pitchFamily="34" charset="-122"/>
                <a:cs typeface="思源黑体 CN Bold" pitchFamily="34" charset="-120"/>
              </a:endParaRPr>
            </a:p>
          </p:txBody>
        </p:sp>
        <p:pic>
          <p:nvPicPr>
            <p:cNvPr id="243" name="Image 6" descr="TEMP_Z_ORDER_9"/>
            <p:cNvPicPr>
              <a:picLocks noChangeAspect="1"/>
            </p:cNvPicPr>
            <p:nvPr/>
          </p:nvPicPr>
          <p:blipFill>
            <a:blip>
              <a:extLst>
                <a:ext uri="{96DAC541-7B7A-43D3-8B79-37D633B846F1}">
                  <asvg:svgBlip r:embed="rId8"/>
                </a:ext>
              </a:extLst>
            </a:blip>
            <a:stretch>
              <a:fillRect/>
            </a:stretch>
          </p:blipFill>
          <p:spPr>
            <a:xfrm>
              <a:off x="-452120" y="492760"/>
              <a:ext cx="76200" cy="76200"/>
            </a:xfrm>
            <a:prstGeom prst="rect">
              <a:avLst/>
            </a:prstGeom>
          </p:spPr>
        </p:pic>
        <p:sp>
          <p:nvSpPr>
            <p:cNvPr id="244" name="Text 2" descr="TEMP_Z_ORDER_10"/>
            <p:cNvSpPr/>
            <p:nvPr/>
          </p:nvSpPr>
          <p:spPr>
            <a:xfrm>
              <a:off x="-254000" y="355600"/>
              <a:ext cx="4443984" cy="3162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b="1">
                  <a:solidFill>
                    <a:srgbClr val="000000"/>
                  </a:solidFill>
                  <a:latin typeface="思源黑体 CN Bold" pitchFamily="34" charset="0"/>
                  <a:ea typeface="思源黑体 CN Bold" pitchFamily="34" charset="-122"/>
                  <a:cs typeface="思源黑体 CN Bold" pitchFamily="34" charset="-120"/>
                </a:rPr>
                <a:t>测评结果：</a:t>
              </a:r>
              <a:r>
                <a:rPr lang="en-US">
                  <a:solidFill>
                    <a:srgbClr val="000000"/>
                  </a:solidFill>
                  <a:latin typeface="思源黑体 CN Regular" pitchFamily="34" charset="0"/>
                  <a:ea typeface="思源黑体 CN Regular" pitchFamily="34" charset="-122"/>
                  <a:cs typeface="思源黑体 CN Regular" pitchFamily="34" charset="-120"/>
                </a:rPr>
                <a:t>符合/部分符合/不符合/不适用</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pic>
          <p:nvPicPr>
            <p:cNvPr id="245" name="Image 7" descr="TEMP_Z_ORDER_11"/>
            <p:cNvPicPr>
              <a:picLocks noChangeAspect="1"/>
            </p:cNvPicPr>
            <p:nvPr/>
          </p:nvPicPr>
          <p:blipFill>
            <a:blip>
              <a:extLst>
                <a:ext uri="{96DAC541-7B7A-43D3-8B79-37D633B846F1}">
                  <asvg:svgBlip r:embed="rId8"/>
                </a:ext>
              </a:extLst>
            </a:blip>
            <a:stretch>
              <a:fillRect/>
            </a:stretch>
          </p:blipFill>
          <p:spPr>
            <a:xfrm>
              <a:off x="-452120" y="949960"/>
              <a:ext cx="76200" cy="76200"/>
            </a:xfrm>
            <a:prstGeom prst="rect">
              <a:avLst/>
            </a:prstGeom>
          </p:spPr>
        </p:pic>
        <p:sp>
          <p:nvSpPr>
            <p:cNvPr id="246" name="Text 3" descr="TEMP_Z_ORDER_12"/>
            <p:cNvSpPr/>
            <p:nvPr/>
          </p:nvSpPr>
          <p:spPr>
            <a:xfrm>
              <a:off x="-254000" y="812800"/>
              <a:ext cx="9579864" cy="3162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b="1">
                  <a:solidFill>
                    <a:srgbClr val="000000"/>
                  </a:solidFill>
                  <a:latin typeface="思源黑体 CN Bold" pitchFamily="34" charset="0"/>
                  <a:ea typeface="思源黑体 CN Bold" pitchFamily="34" charset="-122"/>
                  <a:cs typeface="思源黑体 CN Bold" pitchFamily="34" charset="-120"/>
                </a:rPr>
                <a:t>问题描述：</a:t>
              </a:r>
              <a:r>
                <a:rPr lang="en-US">
                  <a:solidFill>
                    <a:srgbClr val="000000"/>
                  </a:solidFill>
                  <a:latin typeface="思源黑体 CN Regular" pitchFamily="34" charset="0"/>
                  <a:ea typeface="思源黑体 CN Regular" pitchFamily="34" charset="-122"/>
                  <a:cs typeface="思源黑体 CN Regular" pitchFamily="34" charset="-120"/>
                </a:rPr>
                <a:t>具体（如：安全组规则中，入方向策略存在“0.0.0.0/0”允许访问3389端口）</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pic>
          <p:nvPicPr>
            <p:cNvPr id="247" name="Image 8" descr="TEMP_Z_ORDER_13"/>
            <p:cNvPicPr>
              <a:picLocks noChangeAspect="1"/>
            </p:cNvPicPr>
            <p:nvPr/>
          </p:nvPicPr>
          <p:blipFill>
            <a:blip>
              <a:extLst>
                <a:ext uri="{96DAC541-7B7A-43D3-8B79-37D633B846F1}">
                  <asvg:svgBlip r:embed="rId8"/>
                </a:ext>
              </a:extLst>
            </a:blip>
            <a:stretch>
              <a:fillRect/>
            </a:stretch>
          </p:blipFill>
          <p:spPr>
            <a:xfrm>
              <a:off x="-452120" y="1407160"/>
              <a:ext cx="76200" cy="76200"/>
            </a:xfrm>
            <a:prstGeom prst="rect">
              <a:avLst/>
            </a:prstGeom>
          </p:spPr>
        </p:pic>
        <p:sp>
          <p:nvSpPr>
            <p:cNvPr id="248" name="Text 4" descr="TEMP_Z_ORDER_14"/>
            <p:cNvSpPr/>
            <p:nvPr/>
          </p:nvSpPr>
          <p:spPr>
            <a:xfrm>
              <a:off x="-254000" y="1270000"/>
              <a:ext cx="8071104" cy="3162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b="1">
                  <a:solidFill>
                    <a:srgbClr val="000000"/>
                  </a:solidFill>
                  <a:latin typeface="思源黑体 CN Bold" pitchFamily="34" charset="0"/>
                  <a:ea typeface="思源黑体 CN Bold" pitchFamily="34" charset="-122"/>
                  <a:cs typeface="思源黑体 CN Bold" pitchFamily="34" charset="-120"/>
                </a:rPr>
                <a:t>整改建议：</a:t>
              </a:r>
              <a:r>
                <a:rPr lang="en-US">
                  <a:solidFill>
                    <a:srgbClr val="000000"/>
                  </a:solidFill>
                  <a:latin typeface="思源黑体 CN Regular" pitchFamily="34" charset="0"/>
                  <a:ea typeface="思源黑体 CN Regular" pitchFamily="34" charset="-122"/>
                  <a:cs typeface="思源黑体 CN Regular" pitchFamily="34" charset="-120"/>
                </a:rPr>
                <a:t>可操作（如：删除“0.0.0.0/0”策略，仅开放必要的业务端口）</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grpSp>
      <p:sp>
        <p:nvSpPr>
          <p:cNvPr id="249" name=""/>
          <p:cNvSpPr/>
          <p:nvPr/>
        </p:nvSpPr>
        <p:spPr>
          <a:xfrm>
            <a:off x="609600" y="6451600"/>
            <a:ext cx="10972800" cy="355600"/>
          </a:xfrm>
          <a:prstGeom prst="rect">
            <a:avLst/>
          </a:prstGeom>
          <a:solidFill>
            <a:srgbClr val="FFF8E1"/>
          </a:solidFill>
          <a:ln w="12700">
            <a:solidFill>
              <a:srgbClr val="FFB300"/>
            </a:solidFill>
            <a:prstDash val="solid"/>
          </a:ln>
        </p:spPr>
        <p:txBody>
          <a:bodyPr/>
          <a:p>
            <a:pPr/>
            <a:r>
              <a:rPr lang="zh-CN" sz="1200">
                <a:solidFill>
                  <a:srgbClr val="B26A00"/>
                </a:solidFill>
              </a:rPr>
              <a:t>🧪 CloudLab「等保核查任务」页已内置本表：逐项填写后点击「导出」生成《云计算安全测评记录表》，可直接提交学习通。</a:t>
            </a:r>
            <a:endParaRPr/>
          </a:p>
        </p:txBody>
      </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00" presetID="10" presetClass="entr" presetSubtype="0" fill="hold" grpId="1" nodeType="afterEffect">
                                  <p:stCondLst>
                                    <p:cond delay="0"/>
                                  </p:stCondLst>
                                  <p:childTnLst>
                                    <p:set>
                                      <p:cBhvr>
                                        <p:cTn id="101" dur="1" fill="hold">
                                          <p:stCondLst>
                                            <p:cond delay="0"/>
                                          </p:stCondLst>
                                        </p:cTn>
                                        <p:tgtEl>
                                          <p:spTgt spid="235"/>
                                        </p:tgtEl>
                                        <p:attrNameLst>
                                          <p:attrName>style.visibility</p:attrName>
                                        </p:attrNameLst>
                                      </p:cBhvr>
                                      <p:to>
                                        <p:strVal val="visible"/>
                                      </p:to>
                                    </p:set>
                                    <p:animEffect transition="in" filter="fade">
                                      <p:cBhvr>
                                        <p:cTn id="102" dur="750"/>
                                        <p:tgtEl>
                                          <p:spTgt spid="235"/>
                                        </p:tgtEl>
                                      </p:cBhvr>
                                    </p:animEffect>
                                  </p:childTnLst>
                                </p:cTn>
                              </p:par>
                            </p:childTnLst>
                          </p:cTn>
                        </p:par>
                        <p:par>
                          <p:cTn fill="hold">
                            <p:stCondLst>
                              <p:cond delay="0"/>
                            </p:stCondLst>
                            <p:childTnLst>
                              <p:par>
                                <p:cTn id="103" presetID="2" presetClass="entr" presetSubtype="2" fill="hold" grpId="2" nodeType="afterEffect">
                                  <p:stCondLst>
                                    <p:cond delay="0"/>
                                  </p:stCondLst>
                                  <p:childTnLst>
                                    <p:set>
                                      <p:cBhvr>
                                        <p:cTn id="104" dur="1" fill="hold">
                                          <p:stCondLst>
                                            <p:cond delay="0"/>
                                          </p:stCondLst>
                                        </p:cTn>
                                        <p:tgtEl>
                                          <p:spTgt spid="236"/>
                                        </p:tgtEl>
                                        <p:attrNameLst>
                                          <p:attrName>style.visibility</p:attrName>
                                        </p:attrNameLst>
                                      </p:cBhvr>
                                      <p:to>
                                        <p:strVal val="visible"/>
                                      </p:to>
                                    </p:set>
                                    <p:anim calcmode="lin" valueType="num">
                                      <p:cBhvr additive="base">
                                        <p:cTn id="105" dur="750" fill="hold"/>
                                        <p:tgtEl>
                                          <p:spTgt spid="236"/>
                                        </p:tgtEl>
                                        <p:attrNameLst>
                                          <p:attrName>ppt_x</p:attrName>
                                        </p:attrNameLst>
                                      </p:cBhvr>
                                      <p:tavLst>
                                        <p:tav tm="0">
                                          <p:val>
                                            <p:strVal val="1+#ppt_w/2"/>
                                          </p:val>
                                        </p:tav>
                                        <p:tav tm="100000">
                                          <p:val>
                                            <p:strVal val="#ppt_x"/>
                                          </p:val>
                                        </p:tav>
                                      </p:tavLst>
                                    </p:anim>
                                    <p:anim calcmode="lin" valueType="num">
                                      <p:cBhvr additive="base">
                                        <p:cTn id="106" dur="750" fill="hold"/>
                                        <p:tgtEl>
                                          <p:spTgt spid="236"/>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107" presetID="2" presetClass="entr" presetSubtype="2" fill="hold" grpId="3" nodeType="afterEffect">
                                  <p:stCondLst>
                                    <p:cond delay="0"/>
                                  </p:stCondLst>
                                  <p:childTnLst>
                                    <p:set>
                                      <p:cBhvr>
                                        <p:cTn id="108" dur="1" fill="hold">
                                          <p:stCondLst>
                                            <p:cond delay="0"/>
                                          </p:stCondLst>
                                        </p:cTn>
                                        <p:tgtEl>
                                          <p:spTgt spid="239"/>
                                        </p:tgtEl>
                                        <p:attrNameLst>
                                          <p:attrName>style.visibility</p:attrName>
                                        </p:attrNameLst>
                                      </p:cBhvr>
                                      <p:to>
                                        <p:strVal val="visible"/>
                                      </p:to>
                                    </p:set>
                                    <p:anim calcmode="lin" valueType="num">
                                      <p:cBhvr additive="base">
                                        <p:cTn id="109" dur="750" fill="hold"/>
                                        <p:tgtEl>
                                          <p:spTgt spid="239"/>
                                        </p:tgtEl>
                                        <p:attrNameLst>
                                          <p:attrName>ppt_x</p:attrName>
                                        </p:attrNameLst>
                                      </p:cBhvr>
                                      <p:tavLst>
                                        <p:tav tm="0">
                                          <p:val>
                                            <p:strVal val="1+#ppt_w/2"/>
                                          </p:val>
                                        </p:tav>
                                        <p:tav tm="100000">
                                          <p:val>
                                            <p:strVal val="#ppt_x"/>
                                          </p:val>
                                        </p:tav>
                                      </p:tavLst>
                                    </p:anim>
                                    <p:anim calcmode="lin" valueType="num">
                                      <p:cBhvr additive="base">
                                        <p:cTn id="110" dur="750" fill="hold"/>
                                        <p:tgtEl>
                                          <p:spTgt spid="2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xmlns:a16="http://schemas.microsoft.com/office/drawing/2014/main" xmlns:mc="http://schemas.openxmlformats.org/markup-compatibility/2006" mc:Ignorable="a16">
  <p:cSld>
    <p:bg>
      <p:bgPr>
        <a:solidFill>
          <a:srgbClr val="FFFFFF"/>
        </a:solidFill>
        <a:effectLst/>
      </p:bgPr>
    </p:bg>
    <p:spTree>
      <p:nvGrpSpPr>
        <p:cNvPr id="250" name=""/>
        <p:cNvGrpSpPr/>
        <p:nvPr/>
      </p:nvGrpSpPr>
      <p:grpSpPr>
        <a:xfrm>
          <a:off x="0" y="0"/>
          <a:ext cx="0" cy="0"/>
          <a:chOff x="0" y="0"/>
          <a:chExt cx="0" cy="0"/>
        </a:xfrm>
      </p:grpSpPr>
      <p:pic>
        <p:nvPicPr>
          <p:cNvPr id="25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25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25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25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实践任务2——云平台配置风险模拟分析（15分钟）</a:t>
            </a:r>
            <a:endParaRPr lang="en-US" sz="2760"/>
          </a:p>
        </p:txBody>
      </p:sp>
      <p:graphicFrame>
        <p:nvGraphicFramePr>
          <p:cNvPr id="255" name="Table 0"/>
          <p:cNvGraphicFramePr>
            <a:graphicFrameLocks noGrp="1"/>
          </p:cNvGraphicFramePr>
          <p:nvPr/>
        </p:nvGraphicFramePr>
        <p:xfrm>
          <a:off x="609600" y="1066800"/>
          <a:ext cx="10972800" cy="5181600"/>
        </p:xfrm>
        <a:graphic>
          <a:graphicData uri="http://schemas.openxmlformats.org/drawingml/2006/table">
            <a:tbl>
              <a:tblPr/>
              <a:tblGrid>
                <a:gridCol w="824105">
                  <a:extLst>
                    <a:ext uri="{9D8B030D-6E8A-4147-A177-3AD203B41FA5}">
                      <a16:colId val="1"/>
                    </a:ext>
                  </a:extLst>
                </a:gridCol>
                <a:gridCol w="10148695">
                  <a:extLst>
                    <a:ext uri="{9D8B030D-6E8A-4147-A177-3AD203B41FA5}">
                      <a16:colId val="2"/>
                    </a:ext>
                  </a:extLst>
                </a:gridCol>
              </a:tblGrid>
              <a:tr h="863600">
                <a:tc>
                  <a:txBody>
                    <a:bodyPr wrap="square"/>
                    <a:lstStyle/>
                    <a:p>
                      <a:pPr marL="0" indent="0" algn="ctr">
                        <a:buNone/>
                      </a:pPr>
                      <a:r>
                        <a:rPr lang="en-US" sz="1800" b="1">
                          <a:solidFill>
                            <a:srgbClr val="000000"/>
                          </a:solidFill>
                        </a:rPr>
                        <a:t>要素</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1">
                          <a:solidFill>
                            <a:srgbClr val="000000"/>
                          </a:solidFill>
                        </a:rPr>
                        <a:t>内容</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863600">
                <a:tc>
                  <a:txBody>
                    <a:bodyPr wrap="square"/>
                    <a:lstStyle/>
                    <a:p>
                      <a:pPr marL="0" indent="0" algn="ctr">
                        <a:buNone/>
                      </a:pPr>
                      <a:r>
                        <a:rPr lang="en-US" sz="1800">
                          <a:solidFill>
                            <a:srgbClr val="000000"/>
                          </a:solidFill>
                        </a:rPr>
                        <a:t>任务名称</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a:solidFill>
                            <a:srgbClr val="000000"/>
                          </a:solidFill>
                        </a:rPr>
                        <a:t>云平台配置风险模拟分析</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863600">
                <a:tc>
                  <a:txBody>
                    <a:bodyPr wrap="square"/>
                    <a:lstStyle/>
                    <a:p>
                      <a:pPr marL="0" indent="0" algn="ctr">
                        <a:buNone/>
                      </a:pPr>
                      <a:r>
                        <a:rPr lang="en-US" sz="1800">
                          <a:solidFill>
                            <a:srgbClr val="000000"/>
                          </a:solidFill>
                        </a:rPr>
                        <a:t>任务场景</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r>
                        <a:rPr lang="en-US"/>
                        <a:t>打开 CloudLab「等保核查任务→任务二」，平台内已埋 5 处配置风险（混有干扰项）</a:t>
                      </a:r>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863600">
                <a:tc>
                  <a:txBody>
                    <a:bodyPr wrap="square"/>
                    <a:lstStyle/>
                    <a:p>
                      <a:pPr marL="0" indent="0" algn="ctr">
                        <a:buNone/>
                      </a:pPr>
                      <a:r>
                        <a:rPr lang="en-US" sz="1800">
                          <a:solidFill>
                            <a:srgbClr val="000000"/>
                          </a:solidFill>
                        </a:rPr>
                        <a:t>风险配置示例</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a:solidFill>
                            <a:srgbClr val="000000"/>
                          </a:solidFill>
                        </a:rPr>
                        <a:t>对象存储桶权限为公共读数据泄露风险安全组放行所有端口（0.0.0.0/0）攻击面过大未启用操作审计无法追溯操作云主机使用默认镜像（未加固）存在已知漏洞未配置自动备份数据丢失风险</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863600">
                <a:tc>
                  <a:txBody>
                    <a:bodyPr wrap="square"/>
                    <a:lstStyle/>
                    <a:p>
                      <a:pPr marL="0" indent="0" algn="ctr">
                        <a:buNone/>
                      </a:pPr>
                      <a:r>
                        <a:rPr lang="en-US" sz="1800">
                          <a:solidFill>
                            <a:srgbClr val="000000"/>
                          </a:solidFill>
                        </a:rPr>
                        <a:t>任务内容</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a:r>
                        <a:rPr lang="en-US"/>
                        <a:t>从候选发现中勾选真实风险并提交评分（至少找出 3 处），说出对应等保要求与整改建议</a:t>
                      </a:r>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863600">
                <a:tc>
                  <a:txBody>
                    <a:bodyPr wrap="square"/>
                    <a:lstStyle/>
                    <a:p>
                      <a:pPr marL="0" indent="0" algn="ctr">
                        <a:buNone/>
                      </a:pPr>
                      <a:r>
                        <a:rPr lang="en-US" sz="1800">
                          <a:solidFill>
                            <a:srgbClr val="000000"/>
                          </a:solidFill>
                        </a:rPr>
                        <a:t>时间安排</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a:solidFill>
                            <a:srgbClr val="000000"/>
                          </a:solidFill>
                        </a:rPr>
                        <a:t>约15分钟</a:t>
                      </a:r>
                      <a:endParaRPr lang="en-US" sz="18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bl>
          </a:graphicData>
        </a:graphic>
      </p:graphicFrame>
      <p:pic>
        <p:nvPicPr>
          <p:cNvPr id="256" name="图片 1024"/>
          <p:cNvPicPr/>
          <p:nvPr/>
        </p:nvPicPr>
        <p:blipFill>
          <a:blip r:embed="rId5"/>
          <a:stretch>
            <a:fillRect/>
          </a:stretch>
        </p:blipFill>
        <p:spPr>
          <a:xfrm>
            <a:off x="8915400" y="400050"/>
            <a:ext cx="971550" cy="666750"/>
          </a:xfrm>
          <a:prstGeom prst="rect">
            <a:avLst/>
          </a:prstGeom>
        </p:spPr>
      </p:pic>
      <p:pic>
        <p:nvPicPr>
          <p:cNvPr id="257" name="图片 1025"/>
          <p:cNvPicPr/>
          <p:nvPr/>
        </p:nvPicPr>
        <p:blipFill>
          <a:blip r:embed="rId6"/>
          <a:stretch>
            <a:fillRect/>
          </a:stretch>
        </p:blipFill>
        <p:spPr>
          <a:xfrm>
            <a:off x="10134600" y="381000"/>
            <a:ext cx="971550" cy="666750"/>
          </a:xfrm>
          <a:prstGeom prst="rect">
            <a:avLst/>
          </a:prstGeom>
        </p:spPr>
      </p:pic>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11" presetID="10" presetClass="entr" presetSubtype="0" fill="hold" grpId="1" nodeType="afterEffect">
                                  <p:stCondLst>
                                    <p:cond delay="0"/>
                                  </p:stCondLst>
                                  <p:childTnLst>
                                    <p:set>
                                      <p:cBhvr>
                                        <p:cTn id="112" dur="1" fill="hold">
                                          <p:stCondLst>
                                            <p:cond delay="0"/>
                                          </p:stCondLst>
                                        </p:cTn>
                                        <p:tgtEl>
                                          <p:spTgt spid="254"/>
                                        </p:tgtEl>
                                        <p:attrNameLst>
                                          <p:attrName>style.visibility</p:attrName>
                                        </p:attrNameLst>
                                      </p:cBhvr>
                                      <p:to>
                                        <p:strVal val="visible"/>
                                      </p:to>
                                    </p:set>
                                    <p:animEffect transition="in" filter="fade">
                                      <p:cBhvr>
                                        <p:cTn id="113" dur="750"/>
                                        <p:tgtEl>
                                          <p:spTgt spid="254"/>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9.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258" name=""/>
        <p:cNvGrpSpPr/>
        <p:nvPr/>
      </p:nvGrpSpPr>
      <p:grpSpPr>
        <a:xfrm>
          <a:off x="0" y="0"/>
          <a:ext cx="0" cy="0"/>
          <a:chOff x="0" y="0"/>
          <a:chExt cx="0" cy="0"/>
        </a:xfrm>
      </p:grpSpPr>
      <p:pic>
        <p:nvPicPr>
          <p:cNvPr id="259"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260"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261"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262"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云平台配置检查工具介绍</a:t>
            </a:r>
            <a:endParaRPr lang="en-US" sz="2760"/>
          </a:p>
        </p:txBody>
      </p:sp>
      <p:grpSp>
        <p:nvGrpSpPr>
          <p:cNvPr id="263" name="组合 43"/>
          <p:cNvGrpSpPr/>
          <p:nvPr/>
        </p:nvGrpSpPr>
        <p:grpSpPr>
          <a:xfrm>
            <a:off x="609600" y="1371600"/>
            <a:ext cx="3749040" cy="3048000"/>
            <a:chOff x="-635000" y="-635000"/>
            <a:chExt cx="3749040" cy="3048000"/>
          </a:xfrm>
        </p:grpSpPr>
        <p:pic>
          <p:nvPicPr>
            <p:cNvPr id="264" name="Image 3" descr="TEMP_Z_ORDER_4"/>
            <p:cNvPicPr>
              <a:picLocks noChangeAspect="1"/>
            </p:cNvPicPr>
            <p:nvPr/>
          </p:nvPicPr>
          <p:blipFill>
            <a:blip r:embed="rId5"/>
            <a:stretch>
              <a:fillRect/>
            </a:stretch>
          </p:blipFill>
          <p:spPr>
            <a:xfrm>
              <a:off x="-635000" y="-635000"/>
              <a:ext cx="3749040" cy="3048000"/>
            </a:xfrm>
            <a:prstGeom prst="rect">
              <a:avLst/>
            </a:prstGeom>
          </p:spPr>
        </p:pic>
        <p:pic>
          <p:nvPicPr>
            <p:cNvPr id="265" name="Image 4" descr="TEMP_Z_ORDER_5"/>
            <p:cNvPicPr>
              <a:picLocks noChangeAspect="1"/>
            </p:cNvPicPr>
            <p:nvPr/>
          </p:nvPicPr>
          <p:blipFill>
            <a:blip>
              <a:extLst>
                <a:ext uri="{96DAC541-7B7A-43D3-8B79-37D633B846F1}">
                  <asvg:svgBlip r:embed="rId6"/>
                </a:ext>
              </a:extLst>
            </a:blip>
            <a:stretch>
              <a:fillRect/>
            </a:stretch>
          </p:blipFill>
          <p:spPr>
            <a:xfrm>
              <a:off x="-314960" y="-314960"/>
              <a:ext cx="60960" cy="243840"/>
            </a:xfrm>
            <a:prstGeom prst="rect">
              <a:avLst/>
            </a:prstGeom>
          </p:spPr>
        </p:pic>
        <p:sp>
          <p:nvSpPr>
            <p:cNvPr id="266" name="Text 1" descr="TEMP_Z_ORDER_6"/>
            <p:cNvSpPr/>
            <p:nvPr/>
          </p:nvSpPr>
          <p:spPr>
            <a:xfrm>
              <a:off x="-132080" y="-421640"/>
              <a:ext cx="1231392" cy="32023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000000"/>
                  </a:solidFill>
                  <a:latin typeface="思源黑体 CN Bold" pitchFamily="34" charset="0"/>
                  <a:ea typeface="思源黑体 CN Bold" pitchFamily="34" charset="-122"/>
                  <a:cs typeface="思源黑体 CN Bold" pitchFamily="34" charset="-120"/>
                </a:rPr>
                <a:t>功能概述</a:t>
              </a:r>
              <a:endParaRPr lang="en-US" sz="2400"/>
            </a:p>
          </p:txBody>
        </p:sp>
        <p:sp>
          <p:nvSpPr>
            <p:cNvPr id="267" name="Text 2" descr="TEMP_Z_ORDER_7"/>
            <p:cNvSpPr/>
            <p:nvPr/>
          </p:nvSpPr>
          <p:spPr>
            <a:xfrm>
              <a:off x="-314960" y="96520"/>
              <a:ext cx="3118104" cy="196151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云安全中心（阿里云）/ 安全中心（华为云）等平台提供了“云平台配置检查”功能。自动检查云产品的安全配置是否符合最佳实践和合规要求（如等保2.0、CIS基线），识别配置风险并给出修复建议。</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grpSp>
      <p:grpSp>
        <p:nvGrpSpPr>
          <p:cNvPr id="268" name="组合 48"/>
          <p:cNvGrpSpPr/>
          <p:nvPr/>
        </p:nvGrpSpPr>
        <p:grpSpPr>
          <a:xfrm>
            <a:off x="4663440" y="1143000"/>
            <a:ext cx="6934200" cy="3048000"/>
            <a:chOff x="-635000" y="-635000"/>
            <a:chExt cx="6934200" cy="3048000"/>
          </a:xfrm>
        </p:grpSpPr>
        <p:pic>
          <p:nvPicPr>
            <p:cNvPr id="269" name="Image 5" descr="TEMP_Z_ORDER_8"/>
            <p:cNvPicPr>
              <a:picLocks noChangeAspect="1"/>
            </p:cNvPicPr>
            <p:nvPr/>
          </p:nvPicPr>
          <p:blipFill>
            <a:blip r:embed="rId7"/>
            <a:stretch>
              <a:fillRect/>
            </a:stretch>
          </p:blipFill>
          <p:spPr>
            <a:xfrm>
              <a:off x="-635000" y="-635000"/>
              <a:ext cx="6934200" cy="3048000"/>
            </a:xfrm>
            <a:prstGeom prst="rect">
              <a:avLst/>
            </a:prstGeom>
          </p:spPr>
        </p:pic>
        <p:pic>
          <p:nvPicPr>
            <p:cNvPr id="270" name="Image 6" descr="TEMP_Z_ORDER_9"/>
            <p:cNvPicPr>
              <a:picLocks noChangeAspect="1"/>
            </p:cNvPicPr>
            <p:nvPr/>
          </p:nvPicPr>
          <p:blipFill>
            <a:blip>
              <a:extLst>
                <a:ext uri="{96DAC541-7B7A-43D3-8B79-37D633B846F1}">
                  <asvg:svgBlip r:embed="rId8"/>
                </a:ext>
              </a:extLst>
            </a:blip>
            <a:stretch>
              <a:fillRect/>
            </a:stretch>
          </p:blipFill>
          <p:spPr>
            <a:xfrm>
              <a:off x="-314960" y="-314960"/>
              <a:ext cx="121920" cy="121920"/>
            </a:xfrm>
            <a:prstGeom prst="rect">
              <a:avLst/>
            </a:prstGeom>
          </p:spPr>
        </p:pic>
        <p:sp>
          <p:nvSpPr>
            <p:cNvPr id="271" name="Text 3" descr="TEMP_Z_ORDER_10"/>
            <p:cNvSpPr/>
            <p:nvPr/>
          </p:nvSpPr>
          <p:spPr>
            <a:xfrm>
              <a:off x="-71120" y="-436880"/>
              <a:ext cx="3456877"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检查范围示例（以阿里云为例）</a:t>
              </a:r>
              <a:endParaRPr lang="en-US" sz="1920"/>
            </a:p>
          </p:txBody>
        </p:sp>
      </p:grpSp>
      <p:graphicFrame>
        <p:nvGraphicFramePr>
          <p:cNvPr id="272" name="Table 0"/>
          <p:cNvGraphicFramePr>
            <a:graphicFrameLocks noGrp="1"/>
          </p:cNvGraphicFramePr>
          <p:nvPr/>
        </p:nvGraphicFramePr>
        <p:xfrm>
          <a:off x="4862830" y="1828800"/>
          <a:ext cx="6630035" cy="2499360"/>
        </p:xfrm>
        <a:graphic>
          <a:graphicData uri="http://schemas.openxmlformats.org/drawingml/2006/table">
            <a:tbl>
              <a:tblPr/>
              <a:tblGrid>
                <a:gridCol w="1181100">
                  <a:extLst>
                    <a:ext uri="{9D8B030D-6E8A-4147-A177-3AD203B41FA5}">
                      <a16:colId val="1"/>
                    </a:ext>
                  </a:extLst>
                </a:gridCol>
                <a:gridCol w="5448935">
                  <a:extLst>
                    <a:ext uri="{9D8B030D-6E8A-4147-A177-3AD203B41FA5}">
                      <a16:colId val="2"/>
                    </a:ext>
                  </a:extLst>
                </a:gridCol>
              </a:tblGrid>
              <a:tr h="331713">
                <a:tc>
                  <a:txBody>
                    <a:bodyPr wrap="square"/>
                    <a:lstStyle/>
                    <a:p>
                      <a:pPr marL="0" indent="0" algn="ctr">
                        <a:buNone/>
                      </a:pPr>
                      <a:r>
                        <a:rPr lang="en-US" sz="1400">
                          <a:solidFill>
                            <a:srgbClr val="000000"/>
                          </a:solidFill>
                        </a:rPr>
                        <a:t>检查项类别</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检查内容</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331713">
                <a:tc>
                  <a:txBody>
                    <a:bodyPr wrap="square"/>
                    <a:lstStyle/>
                    <a:p>
                      <a:pPr marL="0" indent="0" algn="ctr">
                        <a:buNone/>
                      </a:pPr>
                      <a:r>
                        <a:rPr lang="en-US" sz="1400">
                          <a:solidFill>
                            <a:srgbClr val="000000"/>
                          </a:solidFill>
                        </a:rPr>
                        <a:t>身份认证</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400">
                          <a:solidFill>
                            <a:srgbClr val="000000"/>
                          </a:solidFill>
                        </a:rPr>
                        <a:t>是否启用MFA（多因素认证）、是否存在闲置账户、是否存在弱密码策略</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331713">
                <a:tc>
                  <a:txBody>
                    <a:bodyPr wrap="square"/>
                    <a:lstStyle/>
                    <a:p>
                      <a:pPr marL="0" indent="0" algn="ctr">
                        <a:buNone/>
                      </a:pPr>
                      <a:r>
                        <a:rPr lang="en-US" sz="1400">
                          <a:solidFill>
                            <a:srgbClr val="000000"/>
                          </a:solidFill>
                        </a:rPr>
                        <a:t>网络安全</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安全组规则是否过于宽松、是否开放高危端口（22/3389/3306等）</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331713">
                <a:tc>
                  <a:txBody>
                    <a:bodyPr wrap="square"/>
                    <a:lstStyle/>
                    <a:p>
                      <a:pPr marL="0" indent="0" algn="ctr">
                        <a:buNone/>
                      </a:pPr>
                      <a:r>
                        <a:rPr lang="en-US" sz="1400">
                          <a:solidFill>
                            <a:srgbClr val="000000"/>
                          </a:solidFill>
                        </a:rPr>
                        <a:t>数据安全</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OSS存储桶是否公共访问、RDS实例是否开启加密、是否启用备份</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331713">
                <a:tc>
                  <a:txBody>
                    <a:bodyPr wrap="square"/>
                    <a:lstStyle/>
                    <a:p>
                      <a:pPr marL="0" indent="0" algn="ctr">
                        <a:buNone/>
                      </a:pPr>
                      <a:r>
                        <a:rPr lang="en-US" sz="1400">
                          <a:solidFill>
                            <a:srgbClr val="000000"/>
                          </a:solidFill>
                        </a:rPr>
                        <a:t>审计日志</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是否启用操作审计、日志留存时间是否满足合规要求</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331713">
                <a:tc>
                  <a:txBody>
                    <a:bodyPr wrap="square"/>
                    <a:lstStyle/>
                    <a:p>
                      <a:pPr marL="0" indent="0" algn="ctr">
                        <a:buNone/>
                      </a:pPr>
                      <a:r>
                        <a:rPr lang="en-US" sz="1400">
                          <a:solidFill>
                            <a:srgbClr val="000000"/>
                          </a:solidFill>
                        </a:rPr>
                        <a:t>合规基线</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是否满足等保2.0、CIS、ISO27001等基线要求</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bl>
          </a:graphicData>
        </a:graphic>
      </p:graphicFrame>
      <p:grpSp>
        <p:nvGrpSpPr>
          <p:cNvPr id="273" name="组合 28"/>
          <p:cNvGrpSpPr/>
          <p:nvPr/>
        </p:nvGrpSpPr>
        <p:grpSpPr>
          <a:xfrm>
            <a:off x="609600" y="4724400"/>
            <a:ext cx="10972800" cy="1828800"/>
            <a:chOff x="-635000" y="-635000"/>
            <a:chExt cx="10972800" cy="1828800"/>
          </a:xfrm>
        </p:grpSpPr>
        <p:pic>
          <p:nvPicPr>
            <p:cNvPr id="274" name="Image 7" descr="TEMP_Z_ORDER_12"/>
            <p:cNvPicPr>
              <a:picLocks noChangeAspect="1"/>
            </p:cNvPicPr>
            <p:nvPr/>
          </p:nvPicPr>
          <p:blipFill>
            <a:blip r:embed="rId9"/>
            <a:stretch>
              <a:fillRect/>
            </a:stretch>
          </p:blipFill>
          <p:spPr>
            <a:xfrm>
              <a:off x="-635000" y="-635000"/>
              <a:ext cx="10972800" cy="1828800"/>
            </a:xfrm>
            <a:prstGeom prst="rect">
              <a:avLst/>
            </a:prstGeom>
          </p:spPr>
        </p:pic>
        <p:pic>
          <p:nvPicPr>
            <p:cNvPr id="275" name="Image 8" descr="TEMP_Z_ORDER_13"/>
            <p:cNvPicPr>
              <a:picLocks noChangeAspect="1"/>
            </p:cNvPicPr>
            <p:nvPr/>
          </p:nvPicPr>
          <p:blipFill>
            <a:blip r:embed="rId10"/>
            <a:stretch>
              <a:fillRect/>
            </a:stretch>
          </p:blipFill>
          <p:spPr>
            <a:xfrm>
              <a:off x="767080" y="-208280"/>
              <a:ext cx="8168640" cy="30480"/>
            </a:xfrm>
            <a:prstGeom prst="rect">
              <a:avLst/>
            </a:prstGeom>
          </p:spPr>
        </p:pic>
        <p:pic>
          <p:nvPicPr>
            <p:cNvPr id="276" name="Image 9" descr="TEMP_Z_ORDER_14"/>
            <p:cNvPicPr>
              <a:picLocks noChangeAspect="1"/>
            </p:cNvPicPr>
            <p:nvPr/>
          </p:nvPicPr>
          <p:blipFill>
            <a:blip>
              <a:extLst>
                <a:ext uri="{96DAC541-7B7A-43D3-8B79-37D633B846F1}">
                  <asvg:svgBlip r:embed="rId11"/>
                </a:ext>
              </a:extLst>
            </a:blip>
            <a:stretch>
              <a:fillRect/>
            </a:stretch>
          </p:blipFill>
          <p:spPr>
            <a:xfrm>
              <a:off x="614680" y="-452120"/>
              <a:ext cx="518160" cy="518160"/>
            </a:xfrm>
            <a:prstGeom prst="rect">
              <a:avLst/>
            </a:prstGeom>
            <a:effectLst>
              <a:outerShdw blurRad="152400" dist="50800" dir="16200000" algn="bl" rotWithShape="0">
                <a:srgbClr val="4576E6">
                  <a:alpha val="50000"/>
                </a:srgbClr>
              </a:outerShdw>
            </a:effectLst>
          </p:spPr>
        </p:pic>
        <p:sp>
          <p:nvSpPr>
            <p:cNvPr id="277" name="Text 4" descr="TEMP_Z_ORDER_15"/>
            <p:cNvSpPr/>
            <p:nvPr/>
          </p:nvSpPr>
          <p:spPr>
            <a:xfrm>
              <a:off x="69915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01</a:t>
              </a:r>
              <a:endParaRPr lang="en-US" sz="1920"/>
            </a:p>
          </p:txBody>
        </p:sp>
        <p:sp>
          <p:nvSpPr>
            <p:cNvPr id="278" name="Text 5" descr="TEMP_Z_ORDER_16"/>
            <p:cNvSpPr/>
            <p:nvPr/>
          </p:nvSpPr>
          <p:spPr>
            <a:xfrm>
              <a:off x="-254000" y="233680"/>
              <a:ext cx="2264664" cy="5888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授权云安全中心访问云资源</a:t>
              </a:r>
              <a:r>
                <a:rPr lang="en-US" sz="1440">
                  <a:solidFill>
                    <a:srgbClr val="000000"/>
                  </a:solidFill>
                  <a:latin typeface="思源黑体 CN Regular" pitchFamily="34" charset="0"/>
                  <a:ea typeface="思源黑体 CN Regular" pitchFamily="34" charset="-122"/>
                  <a:cs typeface="思源黑体 CN Regular" pitchFamily="34" charset="-120"/>
                </a:rPr>
                <a:t>（创建服务关联角色）</a:t>
              </a:r>
              <a:endParaRPr lang="en-US" sz="1680"/>
            </a:p>
          </p:txBody>
        </p:sp>
        <p:pic>
          <p:nvPicPr>
            <p:cNvPr id="279" name="Image 10" descr="TEMP_Z_ORDER_17"/>
            <p:cNvPicPr>
              <a:picLocks noChangeAspect="1"/>
            </p:cNvPicPr>
            <p:nvPr/>
          </p:nvPicPr>
          <p:blipFill>
            <a:blip>
              <a:extLst>
                <a:ext uri="{96DAC541-7B7A-43D3-8B79-37D633B846F1}">
                  <asvg:svgBlip r:embed="rId11"/>
                </a:ext>
              </a:extLst>
            </a:blip>
            <a:stretch>
              <a:fillRect/>
            </a:stretch>
          </p:blipFill>
          <p:spPr>
            <a:xfrm>
              <a:off x="3266440" y="-452120"/>
              <a:ext cx="518160" cy="518160"/>
            </a:xfrm>
            <a:prstGeom prst="rect">
              <a:avLst/>
            </a:prstGeom>
            <a:effectLst>
              <a:outerShdw blurRad="152400" dist="50800" dir="16200000" algn="bl" rotWithShape="0">
                <a:srgbClr val="4576E6">
                  <a:alpha val="50000"/>
                </a:srgbClr>
              </a:outerShdw>
            </a:effectLst>
          </p:spPr>
        </p:pic>
        <p:sp>
          <p:nvSpPr>
            <p:cNvPr id="280" name="Text 6" descr="TEMP_Z_ORDER_18"/>
            <p:cNvSpPr/>
            <p:nvPr/>
          </p:nvSpPr>
          <p:spPr>
            <a:xfrm>
              <a:off x="335091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02</a:t>
              </a:r>
              <a:endParaRPr lang="en-US" sz="1920"/>
            </a:p>
          </p:txBody>
        </p:sp>
        <p:sp>
          <p:nvSpPr>
            <p:cNvPr id="281" name="Text 7" descr="TEMP_Z_ORDER_19"/>
            <p:cNvSpPr/>
            <p:nvPr/>
          </p:nvSpPr>
          <p:spPr>
            <a:xfrm>
              <a:off x="2885440" y="233680"/>
              <a:ext cx="1289304" cy="5888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执行全量扫描或按策略扫描</a:t>
              </a:r>
              <a:endParaRPr lang="en-US" sz="1680"/>
            </a:p>
          </p:txBody>
        </p:sp>
        <p:pic>
          <p:nvPicPr>
            <p:cNvPr id="282" name="Image 11" descr="TEMP_Z_ORDER_20"/>
            <p:cNvPicPr>
              <a:picLocks noChangeAspect="1"/>
            </p:cNvPicPr>
            <p:nvPr/>
          </p:nvPicPr>
          <p:blipFill>
            <a:blip>
              <a:extLst>
                <a:ext uri="{96DAC541-7B7A-43D3-8B79-37D633B846F1}">
                  <asvg:svgBlip r:embed="rId11"/>
                </a:ext>
              </a:extLst>
            </a:blip>
            <a:stretch>
              <a:fillRect/>
            </a:stretch>
          </p:blipFill>
          <p:spPr>
            <a:xfrm>
              <a:off x="5918200" y="-452120"/>
              <a:ext cx="518160" cy="518160"/>
            </a:xfrm>
            <a:prstGeom prst="rect">
              <a:avLst/>
            </a:prstGeom>
            <a:effectLst>
              <a:outerShdw blurRad="152400" dist="50800" dir="16200000" algn="bl" rotWithShape="0">
                <a:srgbClr val="4576E6">
                  <a:alpha val="50000"/>
                </a:srgbClr>
              </a:outerShdw>
            </a:effectLst>
          </p:spPr>
        </p:pic>
        <p:sp>
          <p:nvSpPr>
            <p:cNvPr id="283" name="Text 8" descr="TEMP_Z_ORDER_21"/>
            <p:cNvSpPr/>
            <p:nvPr/>
          </p:nvSpPr>
          <p:spPr>
            <a:xfrm>
              <a:off x="601791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03</a:t>
              </a:r>
              <a:endParaRPr lang="en-US" sz="1920"/>
            </a:p>
          </p:txBody>
        </p:sp>
        <p:sp>
          <p:nvSpPr>
            <p:cNvPr id="284" name="Text 9" descr="TEMP_Z_ORDER_22"/>
            <p:cNvSpPr/>
            <p:nvPr/>
          </p:nvSpPr>
          <p:spPr>
            <a:xfrm>
              <a:off x="5537200" y="233680"/>
              <a:ext cx="1304544" cy="5473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查看检查结果</a:t>
              </a:r>
              <a:r>
                <a:rPr lang="en-US" sz="1440">
                  <a:solidFill>
                    <a:srgbClr val="000000"/>
                  </a:solidFill>
                  <a:latin typeface="思源黑体 CN Regular" pitchFamily="34" charset="0"/>
                  <a:ea typeface="思源黑体 CN Regular" pitchFamily="34" charset="-122"/>
                  <a:cs typeface="思源黑体 CN Regular" pitchFamily="34" charset="-120"/>
                </a:rPr>
                <a:t>（风险项列表）</a:t>
              </a:r>
              <a:endParaRPr lang="en-US" sz="1680"/>
            </a:p>
          </p:txBody>
        </p:sp>
        <p:pic>
          <p:nvPicPr>
            <p:cNvPr id="285" name="Image 12" descr="TEMP_Z_ORDER_23"/>
            <p:cNvPicPr>
              <a:picLocks noChangeAspect="1"/>
            </p:cNvPicPr>
            <p:nvPr/>
          </p:nvPicPr>
          <p:blipFill>
            <a:blip>
              <a:extLst>
                <a:ext uri="{96DAC541-7B7A-43D3-8B79-37D633B846F1}">
                  <asvg:svgBlip r:embed="rId11"/>
                </a:ext>
              </a:extLst>
            </a:blip>
            <a:stretch>
              <a:fillRect/>
            </a:stretch>
          </p:blipFill>
          <p:spPr>
            <a:xfrm>
              <a:off x="8569960" y="-452120"/>
              <a:ext cx="518160" cy="518160"/>
            </a:xfrm>
            <a:prstGeom prst="rect">
              <a:avLst/>
            </a:prstGeom>
            <a:effectLst>
              <a:outerShdw blurRad="152400" dist="50800" dir="16200000" algn="bl" rotWithShape="0">
                <a:srgbClr val="4576E6">
                  <a:alpha val="50000"/>
                </a:srgbClr>
              </a:outerShdw>
            </a:effectLst>
          </p:spPr>
        </p:pic>
        <p:sp>
          <p:nvSpPr>
            <p:cNvPr id="286" name="Text 10" descr="TEMP_Z_ORDER_24"/>
            <p:cNvSpPr/>
            <p:nvPr/>
          </p:nvSpPr>
          <p:spPr>
            <a:xfrm>
              <a:off x="8669672"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04</a:t>
              </a:r>
              <a:endParaRPr lang="en-US" sz="1920"/>
            </a:p>
          </p:txBody>
        </p:sp>
        <p:sp>
          <p:nvSpPr>
            <p:cNvPr id="287" name="Text 11" descr="TEMP_Z_ORDER_25"/>
            <p:cNvSpPr/>
            <p:nvPr/>
          </p:nvSpPr>
          <p:spPr>
            <a:xfrm>
              <a:off x="8036560" y="233680"/>
              <a:ext cx="1624584" cy="5473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处理风险</a:t>
              </a:r>
              <a:r>
                <a:rPr lang="en-US" sz="1440">
                  <a:solidFill>
                    <a:srgbClr val="000000"/>
                  </a:solidFill>
                  <a:latin typeface="思源黑体 CN Regular" pitchFamily="34" charset="0"/>
                  <a:ea typeface="思源黑体 CN Regular" pitchFamily="34" charset="-122"/>
                  <a:cs typeface="思源黑体 CN Regular" pitchFamily="34" charset="-120"/>
                </a:rPr>
                <a:t>（修复/加白/忽略）</a:t>
              </a:r>
              <a:endParaRPr lang="en-US" sz="168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14" presetID="10" presetClass="entr" presetSubtype="0" fill="hold" grpId="1" nodeType="afterEffect">
                                  <p:stCondLst>
                                    <p:cond delay="0"/>
                                  </p:stCondLst>
                                  <p:childTnLst>
                                    <p:set>
                                      <p:cBhvr>
                                        <p:cTn id="115" dur="1" fill="hold">
                                          <p:stCondLst>
                                            <p:cond delay="0"/>
                                          </p:stCondLst>
                                        </p:cTn>
                                        <p:tgtEl>
                                          <p:spTgt spid="262"/>
                                        </p:tgtEl>
                                        <p:attrNameLst>
                                          <p:attrName>style.visibility</p:attrName>
                                        </p:attrNameLst>
                                      </p:cBhvr>
                                      <p:to>
                                        <p:strVal val="visible"/>
                                      </p:to>
                                    </p:set>
                                    <p:animEffect transition="in" filter="fade">
                                      <p:cBhvr>
                                        <p:cTn id="116" dur="750"/>
                                        <p:tgtEl>
                                          <p:spTgt spid="262"/>
                                        </p:tgtEl>
                                      </p:cBhvr>
                                    </p:animEffect>
                                  </p:childTnLst>
                                </p:cTn>
                              </p:par>
                            </p:childTnLst>
                          </p:cTn>
                        </p:par>
                        <p:par>
                          <p:cTn fill="hold">
                            <p:stCondLst>
                              <p:cond delay="0"/>
                            </p:stCondLst>
                            <p:childTnLst>
                              <p:par>
                                <p:cTn id="117" presetID="2" presetClass="entr" presetSubtype="4" fill="hold" grpId="2" nodeType="afterEffect">
                                  <p:stCondLst>
                                    <p:cond delay="0"/>
                                  </p:stCondLst>
                                  <p:childTnLst>
                                    <p:set>
                                      <p:cBhvr>
                                        <p:cTn id="118" dur="1" fill="hold">
                                          <p:stCondLst>
                                            <p:cond delay="0"/>
                                          </p:stCondLst>
                                        </p:cTn>
                                        <p:tgtEl>
                                          <p:spTgt spid="263"/>
                                        </p:tgtEl>
                                        <p:attrNameLst>
                                          <p:attrName>style.visibility</p:attrName>
                                        </p:attrNameLst>
                                      </p:cBhvr>
                                      <p:to>
                                        <p:strVal val="visible"/>
                                      </p:to>
                                    </p:set>
                                    <p:anim calcmode="lin" valueType="num">
                                      <p:cBhvr additive="base">
                                        <p:cTn id="119" dur="750" fill="hold"/>
                                        <p:tgtEl>
                                          <p:spTgt spid="263"/>
                                        </p:tgtEl>
                                        <p:attrNameLst>
                                          <p:attrName>ppt_x</p:attrName>
                                        </p:attrNameLst>
                                      </p:cBhvr>
                                      <p:tavLst>
                                        <p:tav tm="0">
                                          <p:val>
                                            <p:strVal val="#ppt_x"/>
                                          </p:val>
                                        </p:tav>
                                        <p:tav tm="100000">
                                          <p:val>
                                            <p:strVal val="#ppt_x"/>
                                          </p:val>
                                        </p:tav>
                                      </p:tavLst>
                                    </p:anim>
                                    <p:anim calcmode="lin" valueType="num">
                                      <p:cBhvr additive="base">
                                        <p:cTn id="120" dur="750" fill="hold"/>
                                        <p:tgtEl>
                                          <p:spTgt spid="263"/>
                                        </p:tgtEl>
                                        <p:attrNameLst>
                                          <p:attrName>ppt_y</p:attrName>
                                        </p:attrNameLst>
                                      </p:cBhvr>
                                      <p:tavLst>
                                        <p:tav tm="0">
                                          <p:val>
                                            <p:strVal val="1+#ppt_h/2"/>
                                          </p:val>
                                        </p:tav>
                                        <p:tav tm="100000">
                                          <p:val>
                                            <p:strVal val="#ppt_y"/>
                                          </p:val>
                                        </p:tav>
                                      </p:tavLst>
                                    </p:anim>
                                  </p:childTnLst>
                                </p:cTn>
                              </p:par>
                            </p:childTnLst>
                          </p:cTn>
                        </p:par>
                        <p:par>
                          <p:cTn fill="hold">
                            <p:stCondLst>
                              <p:cond delay="0"/>
                            </p:stCondLst>
                            <p:childTnLst>
                              <p:par>
                                <p:cTn id="121" presetID="2" presetClass="entr" presetSubtype="4" fill="hold" grpId="3" nodeType="afterEffect">
                                  <p:stCondLst>
                                    <p:cond delay="0"/>
                                  </p:stCondLst>
                                  <p:childTnLst>
                                    <p:set>
                                      <p:cBhvr>
                                        <p:cTn id="122" dur="1" fill="hold">
                                          <p:stCondLst>
                                            <p:cond delay="0"/>
                                          </p:stCondLst>
                                        </p:cTn>
                                        <p:tgtEl>
                                          <p:spTgt spid="268"/>
                                        </p:tgtEl>
                                        <p:attrNameLst>
                                          <p:attrName>style.visibility</p:attrName>
                                        </p:attrNameLst>
                                      </p:cBhvr>
                                      <p:to>
                                        <p:strVal val="visible"/>
                                      </p:to>
                                    </p:set>
                                    <p:anim calcmode="lin" valueType="num">
                                      <p:cBhvr additive="base">
                                        <p:cTn id="123" dur="750" fill="hold"/>
                                        <p:tgtEl>
                                          <p:spTgt spid="268"/>
                                        </p:tgtEl>
                                        <p:attrNameLst>
                                          <p:attrName>ppt_x</p:attrName>
                                        </p:attrNameLst>
                                      </p:cBhvr>
                                      <p:tavLst>
                                        <p:tav tm="0">
                                          <p:val>
                                            <p:strVal val="#ppt_x"/>
                                          </p:val>
                                        </p:tav>
                                        <p:tav tm="100000">
                                          <p:val>
                                            <p:strVal val="#ppt_x"/>
                                          </p:val>
                                        </p:tav>
                                      </p:tavLst>
                                    </p:anim>
                                    <p:anim calcmode="lin" valueType="num">
                                      <p:cBhvr additive="base">
                                        <p:cTn id="124" dur="750" fill="hold"/>
                                        <p:tgtEl>
                                          <p:spTgt spid="268"/>
                                        </p:tgtEl>
                                        <p:attrNameLst>
                                          <p:attrName>ppt_y</p:attrName>
                                        </p:attrNameLst>
                                      </p:cBhvr>
                                      <p:tavLst>
                                        <p:tav tm="0">
                                          <p:val>
                                            <p:strVal val="1+#ppt_h/2"/>
                                          </p:val>
                                        </p:tav>
                                        <p:tav tm="100000">
                                          <p:val>
                                            <p:strVal val="#ppt_y"/>
                                          </p:val>
                                        </p:tav>
                                      </p:tavLst>
                                    </p:anim>
                                  </p:childTnLst>
                                </p:cTn>
                              </p:par>
                            </p:childTnLst>
                          </p:cTn>
                        </p:par>
                        <p:par>
                          <p:cTn fill="hold">
                            <p:stCondLst>
                              <p:cond delay="0"/>
                            </p:stCondLst>
                            <p:childTnLst>
                              <p:par>
                                <p:cTn id="125" presetID="2" presetClass="entr" presetSubtype="4" fill="hold" grpId="4" nodeType="afterEffect">
                                  <p:stCondLst>
                                    <p:cond delay="0"/>
                                  </p:stCondLst>
                                  <p:childTnLst>
                                    <p:set>
                                      <p:cBhvr>
                                        <p:cTn id="126" dur="1" fill="hold">
                                          <p:stCondLst>
                                            <p:cond delay="0"/>
                                          </p:stCondLst>
                                        </p:cTn>
                                        <p:tgtEl>
                                          <p:spTgt spid="273"/>
                                        </p:tgtEl>
                                        <p:attrNameLst>
                                          <p:attrName>style.visibility</p:attrName>
                                        </p:attrNameLst>
                                      </p:cBhvr>
                                      <p:to>
                                        <p:strVal val="visible"/>
                                      </p:to>
                                    </p:set>
                                    <p:anim calcmode="lin" valueType="num">
                                      <p:cBhvr additive="base">
                                        <p:cTn id="127" dur="750" fill="hold"/>
                                        <p:tgtEl>
                                          <p:spTgt spid="273"/>
                                        </p:tgtEl>
                                        <p:attrNameLst>
                                          <p:attrName>ppt_x</p:attrName>
                                        </p:attrNameLst>
                                      </p:cBhvr>
                                      <p:tavLst>
                                        <p:tav tm="0">
                                          <p:val>
                                            <p:strVal val="#ppt_x"/>
                                          </p:val>
                                        </p:tav>
                                        <p:tav tm="100000">
                                          <p:val>
                                            <p:strVal val="#ppt_x"/>
                                          </p:val>
                                        </p:tav>
                                      </p:tavLst>
                                    </p:anim>
                                    <p:anim calcmode="lin" valueType="num">
                                      <p:cBhvr additive="base">
                                        <p:cTn id="128" dur="750" fill="hold"/>
                                        <p:tgtEl>
                                          <p:spTgt spid="2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0.xml><?xml version="1.0" encoding="utf-8"?>
<p:sld xmlns:p="http://schemas.openxmlformats.org/presentationml/2006/main" xmlns:a="http://schemas.openxmlformats.org/drawingml/2006/main" xmlns:asvg="http://schemas.microsoft.com/office/drawing/2016/SVG/main" xmlns:r="http://schemas.openxmlformats.org/officeDocument/2006/relationships" xmlns:a16="http://schemas.microsoft.com/office/drawing/2014/main" xmlns:mc="http://schemas.openxmlformats.org/markup-compatibility/2006" mc:Ignorable="asvg a16">
  <p:cSld>
    <p:bg>
      <p:bgPr>
        <a:solidFill>
          <a:srgbClr val="FFFFFF"/>
        </a:solidFill>
        <a:effectLst/>
      </p:bgPr>
    </p:bg>
    <p:spTree>
      <p:nvGrpSpPr>
        <p:cNvPr id="301" name=""/>
        <p:cNvGrpSpPr/>
        <p:nvPr/>
      </p:nvGrpSpPr>
      <p:grpSpPr>
        <a:xfrm>
          <a:off x="0" y="0"/>
          <a:ext cx="0" cy="0"/>
          <a:chOff x="0" y="0"/>
          <a:chExt cx="0" cy="0"/>
        </a:xfrm>
      </p:grpSpPr>
      <p:pic>
        <p:nvPicPr>
          <p:cNvPr id="30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30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30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305"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云平台配置检查——等保测评视角</a:t>
            </a:r>
            <a:endParaRPr lang="en-US" sz="2760"/>
          </a:p>
        </p:txBody>
      </p:sp>
      <p:grpSp>
        <p:nvGrpSpPr>
          <p:cNvPr id="306" name="组合 20"/>
          <p:cNvGrpSpPr/>
          <p:nvPr/>
        </p:nvGrpSpPr>
        <p:grpSpPr>
          <a:xfrm>
            <a:off x="609600" y="5212080"/>
            <a:ext cx="10972800" cy="1126490"/>
            <a:chOff x="-635000" y="-635000"/>
            <a:chExt cx="10972800" cy="1341120"/>
          </a:xfrm>
        </p:grpSpPr>
        <p:pic>
          <p:nvPicPr>
            <p:cNvPr id="307" name="Image 3" descr="TEMP_Z_ORDER_4"/>
            <p:cNvPicPr>
              <a:picLocks noChangeAspect="1"/>
            </p:cNvPicPr>
            <p:nvPr/>
          </p:nvPicPr>
          <p:blipFill>
            <a:blip>
              <a:extLst>
                <a:ext uri="{96DAC541-7B7A-43D3-8B79-37D633B846F1}">
                  <asvg:svgBlip r:embed="rId5"/>
                </a:ext>
              </a:extLst>
            </a:blip>
            <a:stretch>
              <a:fillRect/>
            </a:stretch>
          </p:blipFill>
          <p:spPr>
            <a:xfrm>
              <a:off x="-635000" y="-635000"/>
              <a:ext cx="10972800" cy="1341120"/>
            </a:xfrm>
            <a:prstGeom prst="rect">
              <a:avLst/>
            </a:prstGeom>
            <a:effectLst>
              <a:outerShdw blurRad="91440" dist="60960" dir="5400000" algn="bl" rotWithShape="0">
                <a:srgbClr val="000000">
                  <a:alpha val="10000"/>
                </a:srgbClr>
              </a:outerShdw>
            </a:effectLst>
          </p:spPr>
        </p:pic>
        <p:pic>
          <p:nvPicPr>
            <p:cNvPr id="308" name="Image 4" descr="TEMP_Z_ORDER_5"/>
            <p:cNvPicPr>
              <a:picLocks noChangeAspect="1"/>
            </p:cNvPicPr>
            <p:nvPr/>
          </p:nvPicPr>
          <p:blipFill>
            <a:blip r:embed="rId6"/>
            <a:stretch>
              <a:fillRect/>
            </a:stretch>
          </p:blipFill>
          <p:spPr>
            <a:xfrm>
              <a:off x="-375920" y="-269240"/>
              <a:ext cx="609600" cy="609600"/>
            </a:xfrm>
            <a:prstGeom prst="rect">
              <a:avLst/>
            </a:prstGeom>
          </p:spPr>
        </p:pic>
        <p:pic>
          <p:nvPicPr>
            <p:cNvPr id="309" name="Image 5" descr="TEMP_Z_ORDER_6"/>
            <p:cNvPicPr>
              <a:picLocks noChangeAspect="1"/>
            </p:cNvPicPr>
            <p:nvPr/>
          </p:nvPicPr>
          <p:blipFill>
            <a:blip>
              <a:extLst>
                <a:ext uri="{96DAC541-7B7A-43D3-8B79-37D633B846F1}">
                  <asvg:svgBlip r:embed="rId7"/>
                </a:ext>
              </a:extLst>
            </a:blip>
            <a:stretch>
              <a:fillRect/>
            </a:stretch>
          </p:blipFill>
          <p:spPr>
            <a:xfrm>
              <a:off x="-254000" y="-147320"/>
              <a:ext cx="365760" cy="365760"/>
            </a:xfrm>
            <a:prstGeom prst="rect">
              <a:avLst/>
            </a:prstGeom>
          </p:spPr>
        </p:pic>
        <p:sp>
          <p:nvSpPr>
            <p:cNvPr id="310" name="Text 1" descr="TEMP_Z_ORDER_7"/>
            <p:cNvSpPr/>
            <p:nvPr/>
          </p:nvSpPr>
          <p:spPr>
            <a:xfrm>
              <a:off x="416560" y="-375920"/>
              <a:ext cx="9671304" cy="9155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00" b="1">
                  <a:solidFill>
                    <a:srgbClr val="FFFFFF"/>
                  </a:solidFill>
                  <a:latin typeface="思源黑体 CN Bold" pitchFamily="34" charset="0"/>
                  <a:ea typeface="思源黑体 CN Bold" pitchFamily="34" charset="-122"/>
                  <a:cs typeface="思源黑体 CN Bold" pitchFamily="34" charset="-120"/>
                </a:rPr>
                <a:t>教学要点：</a:t>
              </a:r>
              <a:r>
                <a:rPr lang="en-US" sz="2000">
                  <a:solidFill>
                    <a:srgbClr val="FFFFFF">
                      <a:alpha val="90000"/>
                    </a:srgbClr>
                  </a:solidFill>
                  <a:latin typeface="思源黑体 CN Regular" pitchFamily="34" charset="0"/>
                  <a:ea typeface="思源黑体 CN Regular" pitchFamily="34" charset="-122"/>
                  <a:cs typeface="思源黑体 CN Regular" pitchFamily="34" charset="-120"/>
                </a:rPr>
                <a:t>云平台配置检查是云安全测评的重要技术手段，但不是唯一手段——需要结合登录核查、访谈等综合判断。</a:t>
              </a:r>
              <a:endParaRPr lang="en-US" sz="2000">
                <a:solidFill>
                  <a:srgbClr val="FFFFFF">
                    <a:alpha val="90000"/>
                  </a:srgbClr>
                </a:solidFill>
                <a:latin typeface="思源黑体 CN Regular" pitchFamily="34" charset="0"/>
                <a:ea typeface="思源黑体 CN Regular" pitchFamily="34" charset="-122"/>
                <a:cs typeface="思源黑体 CN Regular" pitchFamily="34" charset="-120"/>
              </a:endParaRPr>
            </a:p>
          </p:txBody>
        </p:sp>
      </p:grpSp>
      <p:grpSp>
        <p:nvGrpSpPr>
          <p:cNvPr id="311" name="组合 25"/>
          <p:cNvGrpSpPr/>
          <p:nvPr/>
        </p:nvGrpSpPr>
        <p:grpSpPr>
          <a:xfrm>
            <a:off x="609600" y="1371600"/>
            <a:ext cx="10972800" cy="3535680"/>
            <a:chOff x="-635000" y="-635000"/>
            <a:chExt cx="10972800" cy="3535680"/>
          </a:xfrm>
        </p:grpSpPr>
        <p:pic>
          <p:nvPicPr>
            <p:cNvPr id="312" name="Image 6" descr="TEMP_Z_ORDER_8"/>
            <p:cNvPicPr>
              <a:picLocks noChangeAspect="1"/>
            </p:cNvPicPr>
            <p:nvPr/>
          </p:nvPicPr>
          <p:blipFill>
            <a:blip>
              <a:extLst>
                <a:ext uri="{96DAC541-7B7A-43D3-8B79-37D633B846F1}">
                  <asvg:svgBlip r:embed="rId8"/>
                </a:ext>
              </a:extLst>
            </a:blip>
            <a:stretch>
              <a:fillRect/>
            </a:stretch>
          </p:blipFill>
          <p:spPr>
            <a:xfrm>
              <a:off x="-635000" y="-635000"/>
              <a:ext cx="10972800" cy="3535680"/>
            </a:xfrm>
            <a:prstGeom prst="rect">
              <a:avLst/>
            </a:prstGeom>
            <a:effectLst>
              <a:outerShdw blurRad="228600" dist="152400" dir="5400000" algn="bl" rotWithShape="0">
                <a:srgbClr val="000000">
                  <a:alpha val="10000"/>
                </a:srgbClr>
              </a:outerShdw>
            </a:effectLst>
          </p:spPr>
        </p:pic>
      </p:grpSp>
      <p:graphicFrame>
        <p:nvGraphicFramePr>
          <p:cNvPr id="313" name="Table 0"/>
          <p:cNvGraphicFramePr>
            <a:graphicFrameLocks noGrp="1"/>
          </p:cNvGraphicFramePr>
          <p:nvPr/>
        </p:nvGraphicFramePr>
        <p:xfrm>
          <a:off x="868680" y="1630680"/>
          <a:ext cx="10454639" cy="3017520"/>
        </p:xfrm>
        <a:graphic>
          <a:graphicData uri="http://schemas.openxmlformats.org/drawingml/2006/table">
            <a:tbl>
              <a:tblPr/>
              <a:tblGrid>
                <a:gridCol w="2045141">
                  <a:extLst>
                    <a:ext uri="{9D8B030D-6E8A-4147-A177-3AD203B41FA5}">
                      <a16:colId val="1"/>
                    </a:ext>
                  </a:extLst>
                </a:gridCol>
                <a:gridCol w="4013971">
                  <a:extLst>
                    <a:ext uri="{9D8B030D-6E8A-4147-A177-3AD203B41FA5}">
                      <a16:colId val="2"/>
                    </a:ext>
                  </a:extLst>
                </a:gridCol>
                <a:gridCol w="4395527">
                  <a:extLst>
                    <a:ext uri="{9D8B030D-6E8A-4147-A177-3AD203B41FA5}">
                      <a16:colId val="3"/>
                    </a:ext>
                  </a:extLst>
                </a:gridCol>
              </a:tblGrid>
              <a:tr h="502920">
                <a:tc>
                  <a:txBody>
                    <a:bodyPr wrap="square"/>
                    <a:lstStyle/>
                    <a:p>
                      <a:pPr marL="0" indent="0" algn="ctr">
                        <a:buNone/>
                      </a:pPr>
                      <a:r>
                        <a:rPr lang="en-US" sz="1800" b="1">
                          <a:solidFill>
                            <a:srgbClr val="000000"/>
                          </a:solidFill>
                        </a:rPr>
                        <a:t>配置检查结果</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1">
                          <a:solidFill>
                            <a:srgbClr val="000000"/>
                          </a:solidFill>
                        </a:rPr>
                        <a:t>等保测评影响</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1">
                          <a:solidFill>
                            <a:srgbClr val="000000"/>
                          </a:solidFill>
                        </a:rPr>
                        <a:t>处理方式</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1"/>
                  </a:ext>
                </a:extLst>
              </a:tr>
              <a:tr h="502920">
                <a:tc>
                  <a:txBody>
                    <a:bodyPr wrap="square"/>
                    <a:lstStyle/>
                    <a:p>
                      <a:pPr marL="0" indent="0" algn="ctr">
                        <a:buNone/>
                      </a:pPr>
                      <a:r>
                        <a:rPr lang="en-US" sz="1680">
                          <a:solidFill>
                            <a:srgbClr val="000000"/>
                          </a:solidFill>
                        </a:rPr>
                        <a:t>存储桶公共访问</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不符合数据保密性（8.2.4.5）</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记录为不符合项，建议修改权限</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2"/>
                  </a:ext>
                </a:extLst>
              </a:tr>
              <a:tr h="502920">
                <a:tc>
                  <a:txBody>
                    <a:bodyPr wrap="square"/>
                    <a:lstStyle/>
                    <a:p>
                      <a:pPr marL="0" indent="0" algn="ctr">
                        <a:buNone/>
                      </a:pPr>
                      <a:r>
                        <a:rPr lang="en-US" sz="1680">
                          <a:solidFill>
                            <a:srgbClr val="000000"/>
                          </a:solidFill>
                        </a:rPr>
                        <a:t>安全组过于宽松</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不符合访问控制（8.2.3.1）</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记录为不符合项，建议重新配置</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3"/>
                  </a:ext>
                </a:extLst>
              </a:tr>
              <a:tr h="502920">
                <a:tc>
                  <a:txBody>
                    <a:bodyPr wrap="square"/>
                    <a:lstStyle/>
                    <a:p>
                      <a:pPr marL="0" indent="0" algn="ctr">
                        <a:buNone/>
                      </a:pPr>
                      <a:r>
                        <a:rPr lang="en-US" sz="1680">
                          <a:solidFill>
                            <a:srgbClr val="000000"/>
                          </a:solidFill>
                        </a:rPr>
                        <a:t>未启用操作审计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不符合安全审计（8.2.3.3）</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记录为不符合项，建议启用审计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4"/>
                  </a:ext>
                </a:extLst>
              </a:tr>
              <a:tr h="502920">
                <a:tc>
                  <a:txBody>
                    <a:bodyPr wrap="square"/>
                    <a:lstStyle/>
                    <a:p>
                      <a:pPr marL="0" indent="0" algn="ctr">
                        <a:buNone/>
                      </a:pPr>
                      <a:r>
                        <a:rPr lang="en-US" sz="1680">
                          <a:solidFill>
                            <a:srgbClr val="000000"/>
                          </a:solidFill>
                        </a:rPr>
                        <a:t>使用默认镜像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不符合入侵防范（8.2.4.3）</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记录为部分符合，建议使用加固镜像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5"/>
                  </a:ext>
                </a:extLst>
              </a:tr>
              <a:tr h="502920">
                <a:tc>
                  <a:txBody>
                    <a:bodyPr wrap="square"/>
                    <a:lstStyle/>
                    <a:p>
                      <a:pPr marL="0" indent="0" algn="ctr">
                        <a:buNone/>
                      </a:pPr>
                      <a:r>
                        <a:rPr lang="en-US" sz="1680">
                          <a:solidFill>
                            <a:srgbClr val="000000"/>
                          </a:solidFill>
                        </a:rPr>
                        <a:t>未配置备份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不符合数据备份恢复（8.2.4.6）</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记录为不符合项，建议配置备份策略</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val="6"/>
                  </a:ext>
                </a:extLst>
              </a:tr>
            </a:tbl>
          </a:graphicData>
        </a:graphic>
      </p:graphicFrame>
      <p:grpSp>
        <p:nvGrpSpPr>
          <p:cNvPr id="314" name="组合 27"/>
          <p:cNvGrpSpPr/>
          <p:nvPr/>
        </p:nvGrpSpPr>
        <p:grpSpPr>
          <a:xfrm>
            <a:off x="624840" y="1386840"/>
            <a:ext cx="10942320" cy="60960"/>
            <a:chOff x="-635000" y="-635000"/>
            <a:chExt cx="10942320" cy="60960"/>
          </a:xfrm>
        </p:grpSpPr>
        <p:pic>
          <p:nvPicPr>
            <p:cNvPr id="315" name="Image 7" descr="TEMP_Z_ORDER_10"/>
            <p:cNvPicPr>
              <a:picLocks noChangeAspect="1"/>
            </p:cNvPicPr>
            <p:nvPr/>
          </p:nvPicPr>
          <p:blipFill>
            <a:blip r:embed="rId9"/>
            <a:stretch>
              <a:fillRect/>
            </a:stretch>
          </p:blipFill>
          <p:spPr>
            <a:xfrm>
              <a:off x="-635000" y="-635000"/>
              <a:ext cx="10942320" cy="60960"/>
            </a:xfrm>
            <a:prstGeom prst="rect">
              <a:avLst/>
            </a:prstGeom>
          </p:spPr>
        </p:pic>
      </p:grpSp>
      <p:pic>
        <p:nvPicPr>
          <p:cNvPr id="316" name="图片 2048"/>
          <p:cNvPicPr/>
          <p:nvPr/>
        </p:nvPicPr>
        <p:blipFill>
          <a:blip r:embed="rId10"/>
          <a:stretch>
            <a:fillRect/>
          </a:stretch>
        </p:blipFill>
        <p:spPr>
          <a:xfrm>
            <a:off x="10439400" y="457200"/>
            <a:ext cx="971550" cy="666750"/>
          </a:xfrm>
          <a:prstGeom prst="rect">
            <a:avLst/>
          </a:prstGeom>
        </p:spPr>
      </p:pic>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hildTnLst>
                              <p:par>
                                <p:cTn id="129" presetID="22" presetClass="entr" presetSubtype="1" fill="hold" grpId="3" nodeType="withEffect">
                                  <p:stCondLst>
                                    <p:cond delay="0"/>
                                  </p:stCondLst>
                                  <p:childTnLst>
                                    <p:set>
                                      <p:cBhvr>
                                        <p:cTn id="130" dur="1" fill="hold">
                                          <p:stCondLst>
                                            <p:cond delay="0"/>
                                          </p:stCondLst>
                                        </p:cTn>
                                        <p:tgtEl>
                                          <p:spTgt spid="314"/>
                                        </p:tgtEl>
                                        <p:attrNameLst>
                                          <p:attrName>style.visibility</p:attrName>
                                        </p:attrNameLst>
                                      </p:cBhvr>
                                      <p:to>
                                        <p:strVal val="visible"/>
                                      </p:to>
                                    </p:set>
                                    <p:animEffect transition="in" filter="wipe(up)">
                                      <p:cBhvr>
                                        <p:cTn id="131" dur="750"/>
                                        <p:tgtEl>
                                          <p:spTgt spid="314"/>
                                        </p:tgtEl>
                                      </p:cBhvr>
                                    </p:animEffect>
                                  </p:childTnLst>
                                </p:cTn>
                              </p:par>
                            </p:childTnLst>
                          </p:cTn>
                        </p:par>
                        <p:par>
                          <p:cTn fill="hold">
                            <p:stCondLst>
                              <p:cond delay="0"/>
                            </p:stCondLst>
                            <p:childTnLst>
                              <p:par>
                                <p:cTn id="132" presetID="10" presetClass="entr" presetSubtype="0" fill="hold" grpId="1" nodeType="afterEffect">
                                  <p:stCondLst>
                                    <p:cond delay="0"/>
                                  </p:stCondLst>
                                  <p:childTnLst>
                                    <p:set>
                                      <p:cBhvr>
                                        <p:cTn id="133" dur="1" fill="hold">
                                          <p:stCondLst>
                                            <p:cond delay="0"/>
                                          </p:stCondLst>
                                        </p:cTn>
                                        <p:tgtEl>
                                          <p:spTgt spid="305"/>
                                        </p:tgtEl>
                                        <p:attrNameLst>
                                          <p:attrName>style.visibility</p:attrName>
                                        </p:attrNameLst>
                                      </p:cBhvr>
                                      <p:to>
                                        <p:strVal val="visible"/>
                                      </p:to>
                                    </p:set>
                                    <p:animEffect transition="in" filter="fade">
                                      <p:cBhvr>
                                        <p:cTn id="134" dur="750"/>
                                        <p:tgtEl>
                                          <p:spTgt spid="305"/>
                                        </p:tgtEl>
                                      </p:cBhvr>
                                    </p:animEffect>
                                  </p:childTnLst>
                                </p:cTn>
                              </p:par>
                            </p:childTnLst>
                          </p:cTn>
                        </p:par>
                        <p:par>
                          <p:cTn fill="hold">
                            <p:stCondLst>
                              <p:cond delay="0"/>
                            </p:stCondLst>
                            <p:childTnLst>
                              <p:par>
                                <p:cTn id="135" presetID="22" presetClass="entr" presetSubtype="1" fill="hold" grpId="2" nodeType="afterEffect">
                                  <p:stCondLst>
                                    <p:cond delay="0"/>
                                  </p:stCondLst>
                                  <p:childTnLst>
                                    <p:set>
                                      <p:cBhvr>
                                        <p:cTn id="136" dur="1" fill="hold">
                                          <p:stCondLst>
                                            <p:cond delay="0"/>
                                          </p:stCondLst>
                                        </p:cTn>
                                        <p:tgtEl>
                                          <p:spTgt spid="311"/>
                                        </p:tgtEl>
                                        <p:attrNameLst>
                                          <p:attrName>style.visibility</p:attrName>
                                        </p:attrNameLst>
                                      </p:cBhvr>
                                      <p:to>
                                        <p:strVal val="visible"/>
                                      </p:to>
                                    </p:set>
                                    <p:animEffect transition="in" filter="wipe(up)">
                                      <p:cBhvr>
                                        <p:cTn id="137" dur="750"/>
                                        <p:tgtEl>
                                          <p:spTgt spid="311"/>
                                        </p:tgtEl>
                                      </p:cBhvr>
                                    </p:animEffect>
                                  </p:childTnLst>
                                </p:cTn>
                              </p:par>
                            </p:childTnLst>
                          </p:cTn>
                        </p:par>
                        <p:par>
                          <p:cTn fill="hold">
                            <p:stCondLst>
                              <p:cond delay="750"/>
                            </p:stCondLst>
                            <p:childTnLst>
                              <p:par>
                                <p:cTn id="138" presetID="22" presetClass="entr" presetSubtype="1" fill="hold" grpId="4" nodeType="afterEffect">
                                  <p:stCondLst>
                                    <p:cond delay="0"/>
                                  </p:stCondLst>
                                  <p:childTnLst>
                                    <p:set>
                                      <p:cBhvr>
                                        <p:cTn id="139" dur="1" fill="hold">
                                          <p:stCondLst>
                                            <p:cond delay="0"/>
                                          </p:stCondLst>
                                        </p:cTn>
                                        <p:tgtEl>
                                          <p:spTgt spid="306"/>
                                        </p:tgtEl>
                                        <p:attrNameLst>
                                          <p:attrName>style.visibility</p:attrName>
                                        </p:attrNameLst>
                                      </p:cBhvr>
                                      <p:to>
                                        <p:strVal val="visible"/>
                                      </p:to>
                                    </p:set>
                                    <p:animEffect transition="in" filter="wipe(up)">
                                      <p:cBhvr>
                                        <p:cTn id="140" dur="750"/>
                                        <p:tgtEl>
                                          <p:spTgt spid="306"/>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1.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317" name=""/>
        <p:cNvGrpSpPr/>
        <p:nvPr/>
      </p:nvGrpSpPr>
      <p:grpSpPr>
        <a:xfrm>
          <a:off x="0" y="0"/>
          <a:ext cx="0" cy="0"/>
          <a:chOff x="0" y="0"/>
          <a:chExt cx="0" cy="0"/>
        </a:xfrm>
      </p:grpSpPr>
      <p:pic>
        <p:nvPicPr>
          <p:cNvPr id="318"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319"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320"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321"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思政融入——云上安全，“每一个配置都是责任”</a:t>
            </a:r>
            <a:endParaRPr lang="en-US" sz="2760"/>
          </a:p>
        </p:txBody>
      </p:sp>
      <p:grpSp>
        <p:nvGrpSpPr>
          <p:cNvPr id="322" name="组合 43"/>
          <p:cNvGrpSpPr/>
          <p:nvPr/>
        </p:nvGrpSpPr>
        <p:grpSpPr>
          <a:xfrm>
            <a:off x="609600" y="1615440"/>
            <a:ext cx="3413760" cy="3794760"/>
            <a:chOff x="-635000" y="-635000"/>
            <a:chExt cx="3413760" cy="3794760"/>
          </a:xfrm>
        </p:grpSpPr>
        <p:pic>
          <p:nvPicPr>
            <p:cNvPr id="323" name="Image 3" descr="TEMP_Z_ORDER_4"/>
            <p:cNvPicPr>
              <a:picLocks noChangeAspect="1"/>
            </p:cNvPicPr>
            <p:nvPr/>
          </p:nvPicPr>
          <p:blipFill>
            <a:blip r:embed="rId5"/>
            <a:stretch>
              <a:fillRect/>
            </a:stretch>
          </p:blipFill>
          <p:spPr>
            <a:xfrm>
              <a:off x="-635000" y="-635000"/>
              <a:ext cx="3413760" cy="3794760"/>
            </a:xfrm>
            <a:prstGeom prst="rect">
              <a:avLst/>
            </a:prstGeom>
          </p:spPr>
        </p:pic>
        <p:pic>
          <p:nvPicPr>
            <p:cNvPr id="324" name="Image 4" descr="TEMP_Z_ORDER_5"/>
            <p:cNvPicPr>
              <a:picLocks noChangeAspect="1"/>
            </p:cNvPicPr>
            <p:nvPr/>
          </p:nvPicPr>
          <p:blipFill>
            <a:blip>
              <a:extLst>
                <a:ext uri="{96DAC541-7B7A-43D3-8B79-37D633B846F1}">
                  <asvg:svgBlip r:embed="rId6"/>
                </a:ext>
              </a:extLst>
            </a:blip>
            <a:stretch>
              <a:fillRect/>
            </a:stretch>
          </p:blipFill>
          <p:spPr>
            <a:xfrm>
              <a:off x="645160" y="-314960"/>
              <a:ext cx="853440" cy="716280"/>
            </a:xfrm>
            <a:prstGeom prst="rect">
              <a:avLst/>
            </a:prstGeom>
            <a:effectLst>
              <a:outerShdw blurRad="91440" dist="60960" dir="5400000" algn="bl" rotWithShape="0">
                <a:srgbClr val="000000">
                  <a:alpha val="10000"/>
                </a:srgbClr>
              </a:outerShdw>
            </a:effectLst>
          </p:spPr>
        </p:pic>
        <p:pic>
          <p:nvPicPr>
            <p:cNvPr id="325" name="Image 5" descr="TEMP_Z_ORDER_6"/>
            <p:cNvPicPr>
              <a:picLocks noChangeAspect="1"/>
            </p:cNvPicPr>
            <p:nvPr/>
          </p:nvPicPr>
          <p:blipFill>
            <a:blip>
              <a:extLst>
                <a:ext uri="{96DAC541-7B7A-43D3-8B79-37D633B846F1}">
                  <asvg:svgBlip r:embed="rId7"/>
                </a:ext>
              </a:extLst>
            </a:blip>
            <a:stretch>
              <a:fillRect/>
            </a:stretch>
          </p:blipFill>
          <p:spPr>
            <a:xfrm>
              <a:off x="828040" y="-208280"/>
              <a:ext cx="487680" cy="487680"/>
            </a:xfrm>
            <a:prstGeom prst="rect">
              <a:avLst/>
            </a:prstGeom>
          </p:spPr>
        </p:pic>
        <p:sp>
          <p:nvSpPr>
            <p:cNvPr id="326" name="Text 1" descr="TEMP_Z_ORDER_7"/>
            <p:cNvSpPr/>
            <p:nvPr/>
          </p:nvSpPr>
          <p:spPr>
            <a:xfrm>
              <a:off x="736600" y="629920"/>
              <a:ext cx="554768"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b="1">
                  <a:solidFill>
                    <a:srgbClr val="458BE6"/>
                  </a:solidFill>
                </a:rPr>
                <a:t>合规</a:t>
              </a:r>
              <a:endParaRPr lang="en-US" sz="2160"/>
            </a:p>
          </p:txBody>
        </p:sp>
        <p:sp>
          <p:nvSpPr>
            <p:cNvPr id="327" name="Text 2" descr="TEMP_Z_ORDER_8"/>
            <p:cNvSpPr/>
            <p:nvPr/>
          </p:nvSpPr>
          <p:spPr>
            <a:xfrm>
              <a:off x="-314960" y="136144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28" name="Text 3" descr="TEMP_Z_ORDER_9"/>
            <p:cNvSpPr/>
            <p:nvPr/>
          </p:nvSpPr>
          <p:spPr>
            <a:xfrm>
              <a:off x="-55880" y="130048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等保2.0明确要求“云计算基础设施位于中国境内”</a:t>
              </a:r>
              <a:endParaRPr lang="en-US" sz="1800"/>
            </a:p>
          </p:txBody>
        </p:sp>
        <p:sp>
          <p:nvSpPr>
            <p:cNvPr id="329" name="Text 4" descr="TEMP_Z_ORDER_10"/>
            <p:cNvSpPr/>
            <p:nvPr/>
          </p:nvSpPr>
          <p:spPr>
            <a:xfrm>
              <a:off x="-314960" y="235204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0" name="Text 5" descr="TEMP_Z_ORDER_11"/>
            <p:cNvSpPr/>
            <p:nvPr/>
          </p:nvSpPr>
          <p:spPr>
            <a:xfrm>
              <a:off x="-55880" y="229108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数据安全是国家安全的组成部分</a:t>
              </a:r>
              <a:endParaRPr lang="en-US" sz="1800"/>
            </a:p>
          </p:txBody>
        </p:sp>
      </p:grpSp>
      <p:grpSp>
        <p:nvGrpSpPr>
          <p:cNvPr id="331" name="组合 52"/>
          <p:cNvGrpSpPr/>
          <p:nvPr/>
        </p:nvGrpSpPr>
        <p:grpSpPr>
          <a:xfrm>
            <a:off x="4389120" y="1615440"/>
            <a:ext cx="3413760" cy="3794760"/>
            <a:chOff x="-635000" y="-635000"/>
            <a:chExt cx="3413760" cy="3794760"/>
          </a:xfrm>
        </p:grpSpPr>
        <p:pic>
          <p:nvPicPr>
            <p:cNvPr id="332" name="Image 6" descr="TEMP_Z_ORDER_12"/>
            <p:cNvPicPr>
              <a:picLocks noChangeAspect="1"/>
            </p:cNvPicPr>
            <p:nvPr/>
          </p:nvPicPr>
          <p:blipFill>
            <a:blip r:embed="rId5"/>
            <a:stretch>
              <a:fillRect/>
            </a:stretch>
          </p:blipFill>
          <p:spPr>
            <a:xfrm>
              <a:off x="-635000" y="-635000"/>
              <a:ext cx="3413760" cy="3794760"/>
            </a:xfrm>
            <a:prstGeom prst="rect">
              <a:avLst/>
            </a:prstGeom>
          </p:spPr>
        </p:pic>
        <p:pic>
          <p:nvPicPr>
            <p:cNvPr id="333" name="Image 7" descr="TEMP_Z_ORDER_13"/>
            <p:cNvPicPr>
              <a:picLocks noChangeAspect="1"/>
            </p:cNvPicPr>
            <p:nvPr/>
          </p:nvPicPr>
          <p:blipFill>
            <a:blip>
              <a:extLst>
                <a:ext uri="{96DAC541-7B7A-43D3-8B79-37D633B846F1}">
                  <asvg:svgBlip r:embed="rId8"/>
                </a:ext>
              </a:extLst>
            </a:blip>
            <a:stretch>
              <a:fillRect/>
            </a:stretch>
          </p:blipFill>
          <p:spPr>
            <a:xfrm>
              <a:off x="645160" y="-314960"/>
              <a:ext cx="853440" cy="594360"/>
            </a:xfrm>
            <a:prstGeom prst="rect">
              <a:avLst/>
            </a:prstGeom>
            <a:effectLst>
              <a:outerShdw blurRad="91440" dist="60960" dir="5400000" algn="bl" rotWithShape="0">
                <a:srgbClr val="000000">
                  <a:alpha val="10000"/>
                </a:srgbClr>
              </a:outerShdw>
            </a:effectLst>
          </p:spPr>
        </p:pic>
        <p:pic>
          <p:nvPicPr>
            <p:cNvPr id="334" name="Image 8" descr="TEMP_Z_ORDER_14"/>
            <p:cNvPicPr>
              <a:picLocks noChangeAspect="1"/>
            </p:cNvPicPr>
            <p:nvPr/>
          </p:nvPicPr>
          <p:blipFill>
            <a:blip>
              <a:extLst>
                <a:ext uri="{96DAC541-7B7A-43D3-8B79-37D633B846F1}">
                  <asvg:svgBlip r:embed="rId9"/>
                </a:ext>
              </a:extLst>
            </a:blip>
            <a:stretch>
              <a:fillRect/>
            </a:stretch>
          </p:blipFill>
          <p:spPr>
            <a:xfrm>
              <a:off x="828040" y="-269240"/>
              <a:ext cx="487680" cy="487680"/>
            </a:xfrm>
            <a:prstGeom prst="rect">
              <a:avLst/>
            </a:prstGeom>
          </p:spPr>
        </p:pic>
        <p:sp>
          <p:nvSpPr>
            <p:cNvPr id="335" name="Text 6" descr="TEMP_Z_ORDER_15"/>
            <p:cNvSpPr/>
            <p:nvPr/>
          </p:nvSpPr>
          <p:spPr>
            <a:xfrm>
              <a:off x="736600" y="508000"/>
              <a:ext cx="461772" cy="24024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800" b="1">
                  <a:solidFill>
                    <a:srgbClr val="458BE6"/>
                  </a:solidFill>
                </a:rPr>
                <a:t>责任</a:t>
              </a:r>
              <a:endParaRPr lang="en-US" sz="1800"/>
            </a:p>
          </p:txBody>
        </p:sp>
        <p:sp>
          <p:nvSpPr>
            <p:cNvPr id="336" name="Text 7" descr="TEMP_Z_ORDER_16"/>
            <p:cNvSpPr/>
            <p:nvPr/>
          </p:nvSpPr>
          <p:spPr>
            <a:xfrm>
              <a:off x="-314960" y="116332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7" name="Text 8" descr="TEMP_Z_ORDER_17"/>
            <p:cNvSpPr/>
            <p:nvPr/>
          </p:nvSpPr>
          <p:spPr>
            <a:xfrm>
              <a:off x="-55880" y="110236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云平台配置错误——哪怕是“一个复选框”，也可能导致大规模数据泄露</a:t>
              </a:r>
              <a:endParaRPr lang="en-US" sz="1800"/>
            </a:p>
          </p:txBody>
        </p:sp>
        <p:sp>
          <p:nvSpPr>
            <p:cNvPr id="338" name="Text 9" descr="TEMP_Z_ORDER_18"/>
            <p:cNvSpPr/>
            <p:nvPr/>
          </p:nvSpPr>
          <p:spPr>
            <a:xfrm>
              <a:off x="-314960" y="223012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9" name="Text 10" descr="TEMP_Z_ORDER_19"/>
            <p:cNvSpPr/>
            <p:nvPr/>
          </p:nvSpPr>
          <p:spPr>
            <a:xfrm>
              <a:off x="-55880" y="216916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测评师的每一次核查，都是在守护用户的“数据资产”</a:t>
              </a:r>
              <a:endParaRPr lang="en-US" sz="1800"/>
            </a:p>
          </p:txBody>
        </p:sp>
      </p:grpSp>
      <p:grpSp>
        <p:nvGrpSpPr>
          <p:cNvPr id="340" name="组合 31"/>
          <p:cNvGrpSpPr/>
          <p:nvPr/>
        </p:nvGrpSpPr>
        <p:grpSpPr>
          <a:xfrm>
            <a:off x="8168639" y="1615440"/>
            <a:ext cx="3413760" cy="3794760"/>
            <a:chOff x="-635000" y="-635000"/>
            <a:chExt cx="3413760" cy="3794760"/>
          </a:xfrm>
        </p:grpSpPr>
        <p:pic>
          <p:nvPicPr>
            <p:cNvPr id="341" name="Image 9" descr="TEMP_Z_ORDER_20"/>
            <p:cNvPicPr>
              <a:picLocks noChangeAspect="1"/>
            </p:cNvPicPr>
            <p:nvPr/>
          </p:nvPicPr>
          <p:blipFill>
            <a:blip r:embed="rId5"/>
            <a:stretch>
              <a:fillRect/>
            </a:stretch>
          </p:blipFill>
          <p:spPr>
            <a:xfrm>
              <a:off x="-635000" y="-635000"/>
              <a:ext cx="3413760" cy="3794760"/>
            </a:xfrm>
            <a:prstGeom prst="rect">
              <a:avLst/>
            </a:prstGeom>
          </p:spPr>
        </p:pic>
        <p:pic>
          <p:nvPicPr>
            <p:cNvPr id="342" name="Image 10" descr="TEMP_Z_ORDER_21"/>
            <p:cNvPicPr>
              <a:picLocks noChangeAspect="1"/>
            </p:cNvPicPr>
            <p:nvPr/>
          </p:nvPicPr>
          <p:blipFill>
            <a:blip>
              <a:extLst>
                <a:ext uri="{96DAC541-7B7A-43D3-8B79-37D633B846F1}">
                  <asvg:svgBlip r:embed="rId10"/>
                </a:ext>
              </a:extLst>
            </a:blip>
            <a:stretch>
              <a:fillRect/>
            </a:stretch>
          </p:blipFill>
          <p:spPr>
            <a:xfrm>
              <a:off x="645160" y="-314960"/>
              <a:ext cx="853440" cy="792480"/>
            </a:xfrm>
            <a:prstGeom prst="rect">
              <a:avLst/>
            </a:prstGeom>
            <a:effectLst>
              <a:outerShdw blurRad="91440" dist="60960" dir="5400000" algn="bl" rotWithShape="0">
                <a:srgbClr val="000000">
                  <a:alpha val="10000"/>
                </a:srgbClr>
              </a:outerShdw>
            </a:effectLst>
          </p:spPr>
        </p:pic>
        <p:pic>
          <p:nvPicPr>
            <p:cNvPr id="343" name="Image 11" descr="TEMP_Z_ORDER_22"/>
            <p:cNvPicPr>
              <a:picLocks noChangeAspect="1"/>
            </p:cNvPicPr>
            <p:nvPr/>
          </p:nvPicPr>
          <p:blipFill>
            <a:blip>
              <a:extLst>
                <a:ext uri="{96DAC541-7B7A-43D3-8B79-37D633B846F1}">
                  <asvg:svgBlip r:embed="rId11"/>
                </a:ext>
              </a:extLst>
            </a:blip>
            <a:stretch>
              <a:fillRect/>
            </a:stretch>
          </p:blipFill>
          <p:spPr>
            <a:xfrm>
              <a:off x="828041" y="-162560"/>
              <a:ext cx="487680" cy="487680"/>
            </a:xfrm>
            <a:prstGeom prst="rect">
              <a:avLst/>
            </a:prstGeom>
          </p:spPr>
        </p:pic>
        <p:sp>
          <p:nvSpPr>
            <p:cNvPr id="344" name="Text 11" descr="TEMP_Z_ORDER_23"/>
            <p:cNvSpPr/>
            <p:nvPr/>
          </p:nvSpPr>
          <p:spPr>
            <a:xfrm>
              <a:off x="736600" y="721360"/>
              <a:ext cx="615696"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rPr>
                <a:t>严谨</a:t>
              </a:r>
              <a:endParaRPr lang="en-US" sz="2400"/>
            </a:p>
          </p:txBody>
        </p:sp>
        <p:sp>
          <p:nvSpPr>
            <p:cNvPr id="345" name="Text 12" descr="TEMP_Z_ORDER_24"/>
            <p:cNvSpPr/>
            <p:nvPr/>
          </p:nvSpPr>
          <p:spPr>
            <a:xfrm>
              <a:off x="-314959" y="148336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46" name="Text 13" descr="TEMP_Z_ORDER_25"/>
            <p:cNvSpPr/>
            <p:nvPr/>
          </p:nvSpPr>
          <p:spPr>
            <a:xfrm>
              <a:off x="-55880" y="142240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云安全配置核查需要“逐项对照标准”</a:t>
              </a:r>
              <a:endParaRPr lang="en-US" sz="1800"/>
            </a:p>
          </p:txBody>
        </p:sp>
        <p:sp>
          <p:nvSpPr>
            <p:cNvPr id="347" name="Text 14" descr="TEMP_Z_ORDER_26"/>
            <p:cNvSpPr/>
            <p:nvPr/>
          </p:nvSpPr>
          <p:spPr>
            <a:xfrm>
              <a:off x="-314959" y="229108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48" name="Text 15" descr="TEMP_Z_ORDER_27"/>
            <p:cNvSpPr/>
            <p:nvPr/>
          </p:nvSpPr>
          <p:spPr>
            <a:xfrm>
              <a:off x="-55880" y="223012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“差不多”在安全面前，就是“差很多”</a:t>
              </a:r>
              <a:endParaRPr lang="en-US" sz="1800"/>
            </a:p>
          </p:txBody>
        </p:sp>
      </p:grpSp>
      <p:grpSp>
        <p:nvGrpSpPr>
          <p:cNvPr id="349" name="组合 40"/>
          <p:cNvGrpSpPr/>
          <p:nvPr/>
        </p:nvGrpSpPr>
        <p:grpSpPr>
          <a:xfrm>
            <a:off x="777240" y="5654040"/>
            <a:ext cx="10637520" cy="665480"/>
            <a:chOff x="-635000" y="-635000"/>
            <a:chExt cx="10637520" cy="777240"/>
          </a:xfrm>
        </p:grpSpPr>
        <p:pic>
          <p:nvPicPr>
            <p:cNvPr id="350" name="Image 12" descr="TEMP_Z_ORDER_28"/>
            <p:cNvPicPr>
              <a:picLocks noChangeAspect="1"/>
            </p:cNvPicPr>
            <p:nvPr/>
          </p:nvPicPr>
          <p:blipFill>
            <a:blip>
              <a:extLst>
                <a:ext uri="{96DAC541-7B7A-43D3-8B79-37D633B846F1}">
                  <asvg:svgBlip r:embed="rId12"/>
                </a:ext>
              </a:extLst>
            </a:blip>
            <a:stretch>
              <a:fillRect/>
            </a:stretch>
          </p:blipFill>
          <p:spPr>
            <a:xfrm>
              <a:off x="-635000" y="-635000"/>
              <a:ext cx="10637520" cy="777240"/>
            </a:xfrm>
            <a:prstGeom prst="rect">
              <a:avLst/>
            </a:prstGeom>
          </p:spPr>
        </p:pic>
        <p:sp>
          <p:nvSpPr>
            <p:cNvPr id="351" name="Text 16" descr="TEMP_Z_ORDER_29"/>
            <p:cNvSpPr/>
            <p:nvPr/>
          </p:nvSpPr>
          <p:spPr>
            <a:xfrm>
              <a:off x="-297023" y="-363123"/>
              <a:ext cx="10031671" cy="32187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83000"/>
                </a:lnSpc>
                <a:buNone/>
              </a:pPr>
              <a:r>
                <a:rPr lang="en-US" sz="2160" b="1" kern="0" spc="72">
                  <a:solidFill>
                    <a:srgbClr val="458BE6"/>
                  </a:solidFill>
                </a:rPr>
                <a:t>云上的每一行配置，都关乎数据安全；测评师的每一份记录，都关乎合规底线。</a:t>
              </a:r>
              <a:endParaRPr lang="en-US" sz="216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41" presetID="10" presetClass="entr" presetSubtype="0" fill="hold" grpId="1" nodeType="afterEffect">
                                  <p:stCondLst>
                                    <p:cond delay="0"/>
                                  </p:stCondLst>
                                  <p:childTnLst>
                                    <p:set>
                                      <p:cBhvr>
                                        <p:cTn id="142" dur="1" fill="hold">
                                          <p:stCondLst>
                                            <p:cond delay="0"/>
                                          </p:stCondLst>
                                        </p:cTn>
                                        <p:tgtEl>
                                          <p:spTgt spid="321"/>
                                        </p:tgtEl>
                                        <p:attrNameLst>
                                          <p:attrName>style.visibility</p:attrName>
                                        </p:attrNameLst>
                                      </p:cBhvr>
                                      <p:to>
                                        <p:strVal val="visible"/>
                                      </p:to>
                                    </p:set>
                                    <p:animEffect transition="in" filter="fade">
                                      <p:cBhvr>
                                        <p:cTn id="143" dur="750"/>
                                        <p:tgtEl>
                                          <p:spTgt spid="321"/>
                                        </p:tgtEl>
                                      </p:cBhvr>
                                    </p:animEffect>
                                  </p:childTnLst>
                                </p:cTn>
                              </p:par>
                            </p:childTnLst>
                          </p:cTn>
                        </p:par>
                        <p:par>
                          <p:cTn fill="hold">
                            <p:stCondLst>
                              <p:cond delay="0"/>
                            </p:stCondLst>
                            <p:childTnLst>
                              <p:par>
                                <p:cTn id="144" presetID="2" presetClass="entr" presetSubtype="2" fill="hold" grpId="2" nodeType="afterEffect">
                                  <p:stCondLst>
                                    <p:cond delay="0"/>
                                  </p:stCondLst>
                                  <p:childTnLst>
                                    <p:set>
                                      <p:cBhvr>
                                        <p:cTn id="145" dur="1" fill="hold">
                                          <p:stCondLst>
                                            <p:cond delay="0"/>
                                          </p:stCondLst>
                                        </p:cTn>
                                        <p:tgtEl>
                                          <p:spTgt spid="322"/>
                                        </p:tgtEl>
                                        <p:attrNameLst>
                                          <p:attrName>style.visibility</p:attrName>
                                        </p:attrNameLst>
                                      </p:cBhvr>
                                      <p:to>
                                        <p:strVal val="visible"/>
                                      </p:to>
                                    </p:set>
                                    <p:anim calcmode="lin" valueType="num">
                                      <p:cBhvr additive="base">
                                        <p:cTn id="146" dur="750" fill="hold"/>
                                        <p:tgtEl>
                                          <p:spTgt spid="322"/>
                                        </p:tgtEl>
                                        <p:attrNameLst>
                                          <p:attrName>ppt_x</p:attrName>
                                        </p:attrNameLst>
                                      </p:cBhvr>
                                      <p:tavLst>
                                        <p:tav tm="0">
                                          <p:val>
                                            <p:strVal val="1+#ppt_w/2"/>
                                          </p:val>
                                        </p:tav>
                                        <p:tav tm="100000">
                                          <p:val>
                                            <p:strVal val="#ppt_x"/>
                                          </p:val>
                                        </p:tav>
                                      </p:tavLst>
                                    </p:anim>
                                    <p:anim calcmode="lin" valueType="num">
                                      <p:cBhvr additive="base">
                                        <p:cTn id="147" dur="750" fill="hold"/>
                                        <p:tgtEl>
                                          <p:spTgt spid="322"/>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148" presetID="2" presetClass="entr" presetSubtype="2" fill="hold" grpId="3" nodeType="afterEffect">
                                  <p:stCondLst>
                                    <p:cond delay="0"/>
                                  </p:stCondLst>
                                  <p:childTnLst>
                                    <p:set>
                                      <p:cBhvr>
                                        <p:cTn id="149" dur="1" fill="hold">
                                          <p:stCondLst>
                                            <p:cond delay="0"/>
                                          </p:stCondLst>
                                        </p:cTn>
                                        <p:tgtEl>
                                          <p:spTgt spid="331"/>
                                        </p:tgtEl>
                                        <p:attrNameLst>
                                          <p:attrName>style.visibility</p:attrName>
                                        </p:attrNameLst>
                                      </p:cBhvr>
                                      <p:to>
                                        <p:strVal val="visible"/>
                                      </p:to>
                                    </p:set>
                                    <p:anim calcmode="lin" valueType="num">
                                      <p:cBhvr additive="base">
                                        <p:cTn id="150" dur="750" fill="hold"/>
                                        <p:tgtEl>
                                          <p:spTgt spid="331"/>
                                        </p:tgtEl>
                                        <p:attrNameLst>
                                          <p:attrName>ppt_x</p:attrName>
                                        </p:attrNameLst>
                                      </p:cBhvr>
                                      <p:tavLst>
                                        <p:tav tm="0">
                                          <p:val>
                                            <p:strVal val="1+#ppt_w/2"/>
                                          </p:val>
                                        </p:tav>
                                        <p:tav tm="100000">
                                          <p:val>
                                            <p:strVal val="#ppt_x"/>
                                          </p:val>
                                        </p:tav>
                                      </p:tavLst>
                                    </p:anim>
                                    <p:anim calcmode="lin" valueType="num">
                                      <p:cBhvr additive="base">
                                        <p:cTn id="151" dur="750" fill="hold"/>
                                        <p:tgtEl>
                                          <p:spTgt spid="331"/>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152" presetID="2" presetClass="entr" presetSubtype="2" fill="hold" grpId="4" nodeType="afterEffect">
                                  <p:stCondLst>
                                    <p:cond delay="0"/>
                                  </p:stCondLst>
                                  <p:childTnLst>
                                    <p:set>
                                      <p:cBhvr>
                                        <p:cTn id="153" dur="1" fill="hold">
                                          <p:stCondLst>
                                            <p:cond delay="0"/>
                                          </p:stCondLst>
                                        </p:cTn>
                                        <p:tgtEl>
                                          <p:spTgt spid="340"/>
                                        </p:tgtEl>
                                        <p:attrNameLst>
                                          <p:attrName>style.visibility</p:attrName>
                                        </p:attrNameLst>
                                      </p:cBhvr>
                                      <p:to>
                                        <p:strVal val="visible"/>
                                      </p:to>
                                    </p:set>
                                    <p:anim calcmode="lin" valueType="num">
                                      <p:cBhvr additive="base">
                                        <p:cTn id="154" dur="750" fill="hold"/>
                                        <p:tgtEl>
                                          <p:spTgt spid="340"/>
                                        </p:tgtEl>
                                        <p:attrNameLst>
                                          <p:attrName>ppt_x</p:attrName>
                                        </p:attrNameLst>
                                      </p:cBhvr>
                                      <p:tavLst>
                                        <p:tav tm="0">
                                          <p:val>
                                            <p:strVal val="1+#ppt_w/2"/>
                                          </p:val>
                                        </p:tav>
                                        <p:tav tm="100000">
                                          <p:val>
                                            <p:strVal val="#ppt_x"/>
                                          </p:val>
                                        </p:tav>
                                      </p:tavLst>
                                    </p:anim>
                                    <p:anim calcmode="lin" valueType="num">
                                      <p:cBhvr additive="base">
                                        <p:cTn id="155" dur="750" fill="hold"/>
                                        <p:tgtEl>
                                          <p:spTgt spid="340"/>
                                        </p:tgtEl>
                                        <p:attrNameLst>
                                          <p:attrName>ppt_y</p:attrName>
                                        </p:attrNameLst>
                                      </p:cBhvr>
                                      <p:tavLst>
                                        <p:tav tm="0">
                                          <p:val>
                                            <p:strVal val="#ppt_y"/>
                                          </p:val>
                                        </p:tav>
                                        <p:tav tm="100000">
                                          <p:val>
                                            <p:strVal val="#ppt_y"/>
                                          </p:val>
                                        </p:tav>
                                      </p:tavLst>
                                    </p:anim>
                                  </p:childTnLst>
                                </p:cTn>
                              </p:par>
                            </p:childTnLst>
                          </p:cTn>
                        </p:par>
                        <p:par>
                          <p:cTn fill="hold">
                            <p:stCondLst>
                              <p:cond delay="0"/>
                            </p:stCondLst>
                            <p:childTnLst>
                              <p:par>
                                <p:cTn id="156" presetID="2" presetClass="entr" presetSubtype="2" fill="hold" grpId="5" nodeType="afterEffect">
                                  <p:stCondLst>
                                    <p:cond delay="0"/>
                                  </p:stCondLst>
                                  <p:childTnLst>
                                    <p:set>
                                      <p:cBhvr>
                                        <p:cTn id="157" dur="1" fill="hold">
                                          <p:stCondLst>
                                            <p:cond delay="0"/>
                                          </p:stCondLst>
                                        </p:cTn>
                                        <p:tgtEl>
                                          <p:spTgt spid="349"/>
                                        </p:tgtEl>
                                        <p:attrNameLst>
                                          <p:attrName>style.visibility</p:attrName>
                                        </p:attrNameLst>
                                      </p:cBhvr>
                                      <p:to>
                                        <p:strVal val="visible"/>
                                      </p:to>
                                    </p:set>
                                    <p:anim calcmode="lin" valueType="num">
                                      <p:cBhvr additive="base">
                                        <p:cTn id="158" dur="750" fill="hold"/>
                                        <p:tgtEl>
                                          <p:spTgt spid="349"/>
                                        </p:tgtEl>
                                        <p:attrNameLst>
                                          <p:attrName>ppt_x</p:attrName>
                                        </p:attrNameLst>
                                      </p:cBhvr>
                                      <p:tavLst>
                                        <p:tav tm="0">
                                          <p:val>
                                            <p:strVal val="1+#ppt_w/2"/>
                                          </p:val>
                                        </p:tav>
                                        <p:tav tm="100000">
                                          <p:val>
                                            <p:strVal val="#ppt_x"/>
                                          </p:val>
                                        </p:tav>
                                      </p:tavLst>
                                    </p:anim>
                                    <p:anim calcmode="lin" valueType="num">
                                      <p:cBhvr additive="base">
                                        <p:cTn id="159" dur="750" fill="hold"/>
                                        <p:tgtEl>
                                          <p:spTgt spid="3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2.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352" name=""/>
        <p:cNvGrpSpPr/>
        <p:nvPr/>
      </p:nvGrpSpPr>
      <p:grpSpPr>
        <a:xfrm>
          <a:off x="0" y="0"/>
          <a:ext cx="0" cy="0"/>
          <a:chOff x="0" y="0"/>
          <a:chExt cx="0" cy="0"/>
        </a:xfrm>
      </p:grpSpPr>
      <p:pic>
        <p:nvPicPr>
          <p:cNvPr id="3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3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3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3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知识点回顾（5分钟）</a:t>
            </a:r>
            <a:endParaRPr lang="en-US" sz="2760"/>
          </a:p>
        </p:txBody>
      </p:sp>
      <p:grpSp>
        <p:nvGrpSpPr>
          <p:cNvPr id="357" name="组合 85"/>
          <p:cNvGrpSpPr/>
          <p:nvPr/>
        </p:nvGrpSpPr>
        <p:grpSpPr>
          <a:xfrm>
            <a:off x="1981200" y="1371600"/>
            <a:ext cx="8229600" cy="1264920"/>
            <a:chOff x="-635000" y="-635000"/>
            <a:chExt cx="8229600" cy="1264920"/>
          </a:xfrm>
        </p:grpSpPr>
        <p:pic>
          <p:nvPicPr>
            <p:cNvPr id="358" name="Image 3" descr="TEMP_Z_ORDER_4"/>
            <p:cNvPicPr>
              <a:picLocks noChangeAspect="1"/>
            </p:cNvPicPr>
            <p:nvPr/>
          </p:nvPicPr>
          <p:blipFill>
            <a:blip>
              <a:alphaModFix amt="80000"/>
              <a:extLst>
                <a:ext uri="{96DAC541-7B7A-43D3-8B79-37D633B846F1}">
                  <asvg:svgBlip r:embed="rId5"/>
                </a:ext>
              </a:extLst>
            </a:blip>
            <a:stretch>
              <a:fillRect/>
            </a:stretch>
          </p:blipFill>
          <p:spPr>
            <a:xfrm>
              <a:off x="3464560" y="294640"/>
              <a:ext cx="30480" cy="304800"/>
            </a:xfrm>
            <a:prstGeom prst="rect">
              <a:avLst/>
            </a:prstGeom>
          </p:spPr>
        </p:pic>
        <p:pic>
          <p:nvPicPr>
            <p:cNvPr id="359" name="Image 4" descr="TEMP_Z_ORDER_5"/>
            <p:cNvPicPr>
              <a:picLocks noChangeAspect="1"/>
            </p:cNvPicPr>
            <p:nvPr/>
          </p:nvPicPr>
          <p:blipFill>
            <a:blip>
              <a:alphaModFix amt="80000"/>
              <a:extLst>
                <a:ext uri="{96DAC541-7B7A-43D3-8B79-37D633B846F1}">
                  <asvg:svgBlip r:embed="rId6"/>
                </a:ext>
              </a:extLst>
            </a:blip>
            <a:stretch>
              <a:fillRect/>
            </a:stretch>
          </p:blipFill>
          <p:spPr>
            <a:xfrm>
              <a:off x="-635000" y="599440"/>
              <a:ext cx="8229600" cy="30480"/>
            </a:xfrm>
            <a:prstGeom prst="rect">
              <a:avLst/>
            </a:prstGeom>
          </p:spPr>
        </p:pic>
        <p:pic>
          <p:nvPicPr>
            <p:cNvPr id="360" name="Image 5" descr="TEMP_Z_ORDER_6"/>
            <p:cNvPicPr>
              <a:picLocks noChangeAspect="1"/>
            </p:cNvPicPr>
            <p:nvPr/>
          </p:nvPicPr>
          <p:blipFill>
            <a:blip>
              <a:extLst>
                <a:ext uri="{96DAC541-7B7A-43D3-8B79-37D633B846F1}">
                  <asvg:svgBlip r:embed="rId7"/>
                </a:ext>
              </a:extLst>
            </a:blip>
            <a:stretch>
              <a:fillRect/>
            </a:stretch>
          </p:blipFill>
          <p:spPr>
            <a:xfrm>
              <a:off x="1788159" y="-635000"/>
              <a:ext cx="3398520" cy="929640"/>
            </a:xfrm>
            <a:prstGeom prst="rect">
              <a:avLst/>
            </a:prstGeom>
            <a:effectLst>
              <a:outerShdw blurRad="228600" dist="152400" dir="5400000" algn="bl" rotWithShape="0">
                <a:srgbClr val="4576E6">
                  <a:alpha val="30000"/>
                </a:srgbClr>
              </a:outerShdw>
            </a:effectLst>
          </p:spPr>
        </p:pic>
        <p:sp>
          <p:nvSpPr>
            <p:cNvPr id="361" name="Text 1" descr="TEMP_Z_ORDER_7"/>
            <p:cNvSpPr/>
            <p:nvPr/>
          </p:nvSpPr>
          <p:spPr>
            <a:xfrm>
              <a:off x="2306320" y="-421640"/>
              <a:ext cx="2368185" cy="48751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FFFFFF"/>
                  </a:solidFill>
                  <a:latin typeface="思源黑体 CN Bold" pitchFamily="34" charset="0"/>
                  <a:ea typeface="思源黑体 CN Bold" pitchFamily="34" charset="-122"/>
                  <a:cs typeface="思源黑体 CN Bold" pitchFamily="34" charset="-120"/>
                </a:rPr>
                <a:t>云安全配置核查</a:t>
              </a:r>
              <a:endParaRPr lang="en-US" sz="2640"/>
            </a:p>
          </p:txBody>
        </p:sp>
      </p:grpSp>
      <p:grpSp>
        <p:nvGrpSpPr>
          <p:cNvPr id="362" name="组合 65"/>
          <p:cNvGrpSpPr/>
          <p:nvPr/>
        </p:nvGrpSpPr>
        <p:grpSpPr>
          <a:xfrm>
            <a:off x="609600" y="2910840"/>
            <a:ext cx="2606040" cy="3642360"/>
            <a:chOff x="-635000" y="-635000"/>
            <a:chExt cx="2606040" cy="3642360"/>
          </a:xfrm>
        </p:grpSpPr>
        <p:pic>
          <p:nvPicPr>
            <p:cNvPr id="363" name="Image 6" descr="TEMP_Z_ORDER_8"/>
            <p:cNvPicPr>
              <a:picLocks noChangeAspect="1"/>
            </p:cNvPicPr>
            <p:nvPr/>
          </p:nvPicPr>
          <p:blipFill>
            <a:blip>
              <a:alphaModFix amt="80000"/>
              <a:extLst>
                <a:ext uri="{96DAC541-7B7A-43D3-8B79-37D633B846F1}">
                  <asvg:svgBlip r:embed="rId8"/>
                </a:ext>
              </a:extLst>
            </a:blip>
            <a:stretch>
              <a:fillRect/>
            </a:stretch>
          </p:blipFill>
          <p:spPr>
            <a:xfrm>
              <a:off x="660400" y="-635000"/>
              <a:ext cx="30480" cy="228600"/>
            </a:xfrm>
            <a:prstGeom prst="rect">
              <a:avLst/>
            </a:prstGeom>
          </p:spPr>
        </p:pic>
        <p:pic>
          <p:nvPicPr>
            <p:cNvPr id="364" name="Image 7" descr="TEMP_Z_ORDER_9"/>
            <p:cNvPicPr>
              <a:picLocks noChangeAspect="1"/>
            </p:cNvPicPr>
            <p:nvPr/>
          </p:nvPicPr>
          <p:blipFill>
            <a:blip r:embed="rId9"/>
            <a:stretch>
              <a:fillRect/>
            </a:stretch>
          </p:blipFill>
          <p:spPr>
            <a:xfrm>
              <a:off x="-635000" y="-284480"/>
              <a:ext cx="2606040" cy="3291840"/>
            </a:xfrm>
            <a:prstGeom prst="rect">
              <a:avLst/>
            </a:prstGeom>
          </p:spPr>
        </p:pic>
        <p:sp>
          <p:nvSpPr>
            <p:cNvPr id="365" name="Text 2" descr="TEMP_Z_ORDER_10"/>
            <p:cNvSpPr/>
            <p:nvPr/>
          </p:nvSpPr>
          <p:spPr>
            <a:xfrm>
              <a:off x="-406400" y="-85126"/>
              <a:ext cx="2157984" cy="607132"/>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一、等保2.0云计算扩展要求</a:t>
              </a:r>
              <a:endParaRPr lang="en-US" sz="1920"/>
            </a:p>
          </p:txBody>
        </p:sp>
        <p:pic>
          <p:nvPicPr>
            <p:cNvPr id="366" name="Image 8" descr="TEMP_Z_ORDER_11"/>
            <p:cNvPicPr>
              <a:picLocks noChangeAspect="1"/>
            </p:cNvPicPr>
            <p:nvPr/>
          </p:nvPicPr>
          <p:blipFill>
            <a:blip r:embed="rId10"/>
            <a:stretch>
              <a:fillRect/>
            </a:stretch>
          </p:blipFill>
          <p:spPr>
            <a:xfrm>
              <a:off x="-436880" y="660400"/>
              <a:ext cx="2209800" cy="15240"/>
            </a:xfrm>
            <a:prstGeom prst="rect">
              <a:avLst/>
            </a:prstGeom>
          </p:spPr>
        </p:pic>
        <p:pic>
          <p:nvPicPr>
            <p:cNvPr id="367" name="Image 9" descr="TEMP_Z_ORDER_12"/>
            <p:cNvPicPr>
              <a:picLocks noChangeAspect="1"/>
            </p:cNvPicPr>
            <p:nvPr/>
          </p:nvPicPr>
          <p:blipFill>
            <a:blip>
              <a:extLst>
                <a:ext uri="{96DAC541-7B7A-43D3-8B79-37D633B846F1}">
                  <asvg:svgBlip r:embed="rId11"/>
                </a:ext>
              </a:extLst>
            </a:blip>
            <a:stretch>
              <a:fillRect/>
            </a:stretch>
          </p:blipFill>
          <p:spPr>
            <a:xfrm>
              <a:off x="-436880" y="934720"/>
              <a:ext cx="91440" cy="91440"/>
            </a:xfrm>
            <a:prstGeom prst="rect">
              <a:avLst/>
            </a:prstGeom>
          </p:spPr>
        </p:pic>
        <p:sp>
          <p:nvSpPr>
            <p:cNvPr id="368" name="Text 3" descr="TEMP_Z_ORDER_13"/>
            <p:cNvSpPr/>
            <p:nvPr/>
          </p:nvSpPr>
          <p:spPr>
            <a:xfrm>
              <a:off x="-254000" y="84988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安全物理环境（基础设施位置）</a:t>
              </a:r>
              <a:endParaRPr lang="en-US" sz="1680"/>
            </a:p>
          </p:txBody>
        </p:sp>
        <p:pic>
          <p:nvPicPr>
            <p:cNvPr id="369" name="Image 10" descr="TEMP_Z_ORDER_14"/>
            <p:cNvPicPr>
              <a:picLocks noChangeAspect="1"/>
            </p:cNvPicPr>
            <p:nvPr/>
          </p:nvPicPr>
          <p:blipFill>
            <a:blip>
              <a:extLst>
                <a:ext uri="{96DAC541-7B7A-43D3-8B79-37D633B846F1}">
                  <asvg:svgBlip r:embed="rId11"/>
                </a:ext>
              </a:extLst>
            </a:blip>
            <a:stretch>
              <a:fillRect/>
            </a:stretch>
          </p:blipFill>
          <p:spPr>
            <a:xfrm>
              <a:off x="-436880" y="1651000"/>
              <a:ext cx="91440" cy="91440"/>
            </a:xfrm>
            <a:prstGeom prst="rect">
              <a:avLst/>
            </a:prstGeom>
          </p:spPr>
        </p:pic>
        <p:sp>
          <p:nvSpPr>
            <p:cNvPr id="370" name="Text 4" descr="TEMP_Z_ORDER_15"/>
            <p:cNvSpPr/>
            <p:nvPr/>
          </p:nvSpPr>
          <p:spPr>
            <a:xfrm>
              <a:off x="-254000" y="156616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安全通信网络（网络架构、隔离）</a:t>
              </a:r>
              <a:endParaRPr lang="en-US" sz="1680"/>
            </a:p>
          </p:txBody>
        </p:sp>
        <p:pic>
          <p:nvPicPr>
            <p:cNvPr id="371" name="Image 11" descr="TEMP_Z_ORDER_16"/>
            <p:cNvPicPr>
              <a:picLocks noChangeAspect="1"/>
            </p:cNvPicPr>
            <p:nvPr/>
          </p:nvPicPr>
          <p:blipFill>
            <a:blip>
              <a:extLst>
                <a:ext uri="{96DAC541-7B7A-43D3-8B79-37D633B846F1}">
                  <asvg:svgBlip r:embed="rId11"/>
                </a:ext>
              </a:extLst>
            </a:blip>
            <a:stretch>
              <a:fillRect/>
            </a:stretch>
          </p:blipFill>
          <p:spPr>
            <a:xfrm>
              <a:off x="-436880" y="2352040"/>
              <a:ext cx="91440" cy="91440"/>
            </a:xfrm>
            <a:prstGeom prst="rect">
              <a:avLst/>
            </a:prstGeom>
          </p:spPr>
        </p:pic>
        <p:sp>
          <p:nvSpPr>
            <p:cNvPr id="372" name="Text 5" descr="TEMP_Z_ORDER_17"/>
            <p:cNvSpPr/>
            <p:nvPr/>
          </p:nvSpPr>
          <p:spPr>
            <a:xfrm>
              <a:off x="-254000" y="2177415"/>
              <a:ext cx="2165985" cy="5937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2060">
                      <a:alpha val="80000"/>
                    </a:srgbClr>
                  </a:solidFill>
                  <a:latin typeface="思源黑体 CN Regular" pitchFamily="34" charset="0"/>
                  <a:ea typeface="思源黑体 CN Regular" pitchFamily="34" charset="-122"/>
                  <a:cs typeface="思源黑体 CN Regular" pitchFamily="34" charset="-120"/>
                </a:rPr>
                <a:t>安全区域边界（访问控制、入侵防范、审计）</a:t>
              </a:r>
              <a:endParaRPr lang="en-US" sz="1680">
                <a:solidFill>
                  <a:srgbClr val="002060">
                    <a:alpha val="80000"/>
                  </a:srgbClr>
                </a:solidFill>
                <a:latin typeface="思源黑体 CN Regular" pitchFamily="34" charset="0"/>
                <a:ea typeface="思源黑体 CN Regular" pitchFamily="34" charset="-122"/>
                <a:cs typeface="思源黑体 CN Regular" pitchFamily="34" charset="-120"/>
              </a:endParaRPr>
            </a:p>
          </p:txBody>
        </p:sp>
      </p:grpSp>
      <p:grpSp>
        <p:nvGrpSpPr>
          <p:cNvPr id="373" name="组合 45"/>
          <p:cNvGrpSpPr/>
          <p:nvPr/>
        </p:nvGrpSpPr>
        <p:grpSpPr>
          <a:xfrm>
            <a:off x="3398520" y="2910840"/>
            <a:ext cx="2606040" cy="3642360"/>
            <a:chOff x="-635000" y="-635000"/>
            <a:chExt cx="2606040" cy="3642360"/>
          </a:xfrm>
        </p:grpSpPr>
        <p:pic>
          <p:nvPicPr>
            <p:cNvPr id="374" name="Image 12" descr="TEMP_Z_ORDER_18"/>
            <p:cNvPicPr>
              <a:picLocks noChangeAspect="1"/>
            </p:cNvPicPr>
            <p:nvPr/>
          </p:nvPicPr>
          <p:blipFill>
            <a:blip>
              <a:alphaModFix amt="80000"/>
              <a:extLst>
                <a:ext uri="{96DAC541-7B7A-43D3-8B79-37D633B846F1}">
                  <asvg:svgBlip r:embed="rId12"/>
                </a:ext>
              </a:extLst>
            </a:blip>
            <a:stretch>
              <a:fillRect/>
            </a:stretch>
          </p:blipFill>
          <p:spPr>
            <a:xfrm>
              <a:off x="660400" y="-635000"/>
              <a:ext cx="30480" cy="213360"/>
            </a:xfrm>
            <a:prstGeom prst="rect">
              <a:avLst/>
            </a:prstGeom>
          </p:spPr>
        </p:pic>
        <p:pic>
          <p:nvPicPr>
            <p:cNvPr id="375" name="Image 13" descr="TEMP_Z_ORDER_19"/>
            <p:cNvPicPr>
              <a:picLocks noChangeAspect="1"/>
            </p:cNvPicPr>
            <p:nvPr/>
          </p:nvPicPr>
          <p:blipFill>
            <a:blip r:embed="rId13"/>
            <a:stretch>
              <a:fillRect/>
            </a:stretch>
          </p:blipFill>
          <p:spPr>
            <a:xfrm>
              <a:off x="-635000" y="-314960"/>
              <a:ext cx="2606040" cy="3322320"/>
            </a:xfrm>
            <a:prstGeom prst="rect">
              <a:avLst/>
            </a:prstGeom>
          </p:spPr>
        </p:pic>
        <p:sp>
          <p:nvSpPr>
            <p:cNvPr id="376" name="Text 6" descr="TEMP_Z_ORDER_20"/>
            <p:cNvSpPr/>
            <p:nvPr/>
          </p:nvSpPr>
          <p:spPr>
            <a:xfrm>
              <a:off x="-438547" y="-116840"/>
              <a:ext cx="2222278" cy="305354"/>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二、测评指标适用性</a:t>
              </a:r>
              <a:endParaRPr lang="en-US" sz="1920"/>
            </a:p>
          </p:txBody>
        </p:sp>
        <p:pic>
          <p:nvPicPr>
            <p:cNvPr id="377" name="Image 14" descr="TEMP_Z_ORDER_21"/>
            <p:cNvPicPr>
              <a:picLocks noChangeAspect="1"/>
            </p:cNvPicPr>
            <p:nvPr/>
          </p:nvPicPr>
          <p:blipFill>
            <a:blip r:embed="rId10"/>
            <a:stretch>
              <a:fillRect/>
            </a:stretch>
          </p:blipFill>
          <p:spPr>
            <a:xfrm>
              <a:off x="-436880" y="332435"/>
              <a:ext cx="2209800" cy="15240"/>
            </a:xfrm>
            <a:prstGeom prst="rect">
              <a:avLst/>
            </a:prstGeom>
          </p:spPr>
        </p:pic>
        <p:pic>
          <p:nvPicPr>
            <p:cNvPr id="378" name="Image 15" descr="TEMP_Z_ORDER_22"/>
            <p:cNvPicPr>
              <a:picLocks noChangeAspect="1"/>
            </p:cNvPicPr>
            <p:nvPr/>
          </p:nvPicPr>
          <p:blipFill>
            <a:blip>
              <a:extLst>
                <a:ext uri="{96DAC541-7B7A-43D3-8B79-37D633B846F1}">
                  <asvg:svgBlip r:embed="rId11"/>
                </a:ext>
              </a:extLst>
            </a:blip>
            <a:stretch>
              <a:fillRect/>
            </a:stretch>
          </p:blipFill>
          <p:spPr>
            <a:xfrm>
              <a:off x="-436880" y="599440"/>
              <a:ext cx="91440" cy="91440"/>
            </a:xfrm>
            <a:prstGeom prst="rect">
              <a:avLst/>
            </a:prstGeom>
          </p:spPr>
        </p:pic>
        <p:sp>
          <p:nvSpPr>
            <p:cNvPr id="379" name="Text 7" descr="TEMP_Z_ORDER_23"/>
            <p:cNvSpPr/>
            <p:nvPr/>
          </p:nvSpPr>
          <p:spPr>
            <a:xfrm>
              <a:off x="-254000" y="508000"/>
              <a:ext cx="2097214" cy="28952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平台责任 vs 客户责任</a:t>
              </a:r>
              <a:endParaRPr lang="en-US" sz="1680"/>
            </a:p>
          </p:txBody>
        </p:sp>
        <p:pic>
          <p:nvPicPr>
            <p:cNvPr id="380" name="Image 16" descr="TEMP_Z_ORDER_24"/>
            <p:cNvPicPr>
              <a:picLocks noChangeAspect="1"/>
            </p:cNvPicPr>
            <p:nvPr/>
          </p:nvPicPr>
          <p:blipFill>
            <a:blip>
              <a:extLst>
                <a:ext uri="{96DAC541-7B7A-43D3-8B79-37D633B846F1}">
                  <asvg:svgBlip r:embed="rId11"/>
                </a:ext>
              </a:extLst>
            </a:blip>
            <a:stretch>
              <a:fillRect/>
            </a:stretch>
          </p:blipFill>
          <p:spPr>
            <a:xfrm>
              <a:off x="-436880" y="1056640"/>
              <a:ext cx="91440" cy="91440"/>
            </a:xfrm>
            <a:prstGeom prst="rect">
              <a:avLst/>
            </a:prstGeom>
          </p:spPr>
        </p:pic>
        <p:sp>
          <p:nvSpPr>
            <p:cNvPr id="381" name="Text 8" descr="TEMP_Z_ORDER_25"/>
            <p:cNvSpPr/>
            <p:nvPr/>
          </p:nvSpPr>
          <p:spPr>
            <a:xfrm>
              <a:off x="-254001" y="965200"/>
              <a:ext cx="1289113"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四个区分原则</a:t>
              </a:r>
              <a:endParaRPr lang="en-US" sz="1680"/>
            </a:p>
          </p:txBody>
        </p:sp>
      </p:grpSp>
      <p:grpSp>
        <p:nvGrpSpPr>
          <p:cNvPr id="382" name="组合 54"/>
          <p:cNvGrpSpPr/>
          <p:nvPr/>
        </p:nvGrpSpPr>
        <p:grpSpPr>
          <a:xfrm>
            <a:off x="6187440" y="2910840"/>
            <a:ext cx="2606040" cy="3642360"/>
            <a:chOff x="-635000" y="-635000"/>
            <a:chExt cx="2606040" cy="3642360"/>
          </a:xfrm>
        </p:grpSpPr>
        <p:pic>
          <p:nvPicPr>
            <p:cNvPr id="383" name="Image 17" descr="TEMP_Z_ORDER_26"/>
            <p:cNvPicPr>
              <a:picLocks noChangeAspect="1"/>
            </p:cNvPicPr>
            <p:nvPr/>
          </p:nvPicPr>
          <p:blipFill>
            <a:blip>
              <a:alphaModFix amt="80000"/>
              <a:extLst>
                <a:ext uri="{96DAC541-7B7A-43D3-8B79-37D633B846F1}">
                  <asvg:svgBlip r:embed="rId12"/>
                </a:ext>
              </a:extLst>
            </a:blip>
            <a:stretch>
              <a:fillRect/>
            </a:stretch>
          </p:blipFill>
          <p:spPr>
            <a:xfrm>
              <a:off x="660400" y="-635000"/>
              <a:ext cx="30480" cy="213360"/>
            </a:xfrm>
            <a:prstGeom prst="rect">
              <a:avLst/>
            </a:prstGeom>
          </p:spPr>
        </p:pic>
        <p:pic>
          <p:nvPicPr>
            <p:cNvPr id="384" name="Image 18" descr="TEMP_Z_ORDER_27"/>
            <p:cNvPicPr>
              <a:picLocks noChangeAspect="1"/>
            </p:cNvPicPr>
            <p:nvPr/>
          </p:nvPicPr>
          <p:blipFill>
            <a:blip r:embed="rId13"/>
            <a:stretch>
              <a:fillRect/>
            </a:stretch>
          </p:blipFill>
          <p:spPr>
            <a:xfrm>
              <a:off x="-635000" y="-314960"/>
              <a:ext cx="2606040" cy="3322320"/>
            </a:xfrm>
            <a:prstGeom prst="rect">
              <a:avLst/>
            </a:prstGeom>
          </p:spPr>
        </p:pic>
        <p:sp>
          <p:nvSpPr>
            <p:cNvPr id="385" name="Text 9" descr="TEMP_Z_ORDER_28"/>
            <p:cNvSpPr/>
            <p:nvPr/>
          </p:nvSpPr>
          <p:spPr>
            <a:xfrm>
              <a:off x="-315087" y="-116840"/>
              <a:ext cx="1975358" cy="305354"/>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三、配置核查实操</a:t>
              </a:r>
              <a:endParaRPr lang="en-US" sz="1920"/>
            </a:p>
          </p:txBody>
        </p:sp>
        <p:pic>
          <p:nvPicPr>
            <p:cNvPr id="386" name="Image 19" descr="TEMP_Z_ORDER_29"/>
            <p:cNvPicPr>
              <a:picLocks noChangeAspect="1"/>
            </p:cNvPicPr>
            <p:nvPr/>
          </p:nvPicPr>
          <p:blipFill>
            <a:blip r:embed="rId10"/>
            <a:stretch>
              <a:fillRect/>
            </a:stretch>
          </p:blipFill>
          <p:spPr>
            <a:xfrm>
              <a:off x="-436880" y="332435"/>
              <a:ext cx="2209800" cy="15240"/>
            </a:xfrm>
            <a:prstGeom prst="rect">
              <a:avLst/>
            </a:prstGeom>
          </p:spPr>
        </p:pic>
        <p:pic>
          <p:nvPicPr>
            <p:cNvPr id="387" name="Image 20" descr="TEMP_Z_ORDER_30"/>
            <p:cNvPicPr>
              <a:picLocks noChangeAspect="1"/>
            </p:cNvPicPr>
            <p:nvPr/>
          </p:nvPicPr>
          <p:blipFill>
            <a:blip>
              <a:extLst>
                <a:ext uri="{96DAC541-7B7A-43D3-8B79-37D633B846F1}">
                  <asvg:svgBlip r:embed="rId11"/>
                </a:ext>
              </a:extLst>
            </a:blip>
            <a:stretch>
              <a:fillRect/>
            </a:stretch>
          </p:blipFill>
          <p:spPr>
            <a:xfrm>
              <a:off x="-436880" y="599440"/>
              <a:ext cx="91440" cy="91440"/>
            </a:xfrm>
            <a:prstGeom prst="rect">
              <a:avLst/>
            </a:prstGeom>
          </p:spPr>
        </p:pic>
        <p:sp>
          <p:nvSpPr>
            <p:cNvPr id="388" name="Text 10" descr="TEMP_Z_ORDER_31"/>
            <p:cNvSpPr/>
            <p:nvPr/>
          </p:nvSpPr>
          <p:spPr>
            <a:xfrm>
              <a:off x="-254001" y="51460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VPC隔离、安全组策略</a:t>
              </a:r>
              <a:endParaRPr lang="en-US" sz="1680"/>
            </a:p>
          </p:txBody>
        </p:sp>
        <p:pic>
          <p:nvPicPr>
            <p:cNvPr id="389" name="Image 21" descr="TEMP_Z_ORDER_32"/>
            <p:cNvPicPr>
              <a:picLocks noChangeAspect="1"/>
            </p:cNvPicPr>
            <p:nvPr/>
          </p:nvPicPr>
          <p:blipFill>
            <a:blip>
              <a:extLst>
                <a:ext uri="{96DAC541-7B7A-43D3-8B79-37D633B846F1}">
                  <asvg:svgBlip r:embed="rId11"/>
                </a:ext>
              </a:extLst>
            </a:blip>
            <a:stretch>
              <a:fillRect/>
            </a:stretch>
          </p:blipFill>
          <p:spPr>
            <a:xfrm>
              <a:off x="-436880" y="1346200"/>
              <a:ext cx="91440" cy="91440"/>
            </a:xfrm>
            <a:prstGeom prst="rect">
              <a:avLst/>
            </a:prstGeom>
          </p:spPr>
        </p:pic>
        <p:sp>
          <p:nvSpPr>
            <p:cNvPr id="390" name="Text 11" descr="TEMP_Z_ORDER_33"/>
            <p:cNvSpPr/>
            <p:nvPr/>
          </p:nvSpPr>
          <p:spPr>
            <a:xfrm>
              <a:off x="-254000" y="1254760"/>
              <a:ext cx="1933670"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审计日志、加固镜像</a:t>
              </a:r>
              <a:endParaRPr lang="en-US" sz="1680"/>
            </a:p>
          </p:txBody>
        </p:sp>
        <p:pic>
          <p:nvPicPr>
            <p:cNvPr id="391" name="Image 22" descr="TEMP_Z_ORDER_34"/>
            <p:cNvPicPr>
              <a:picLocks noChangeAspect="1"/>
            </p:cNvPicPr>
            <p:nvPr/>
          </p:nvPicPr>
          <p:blipFill>
            <a:blip>
              <a:extLst>
                <a:ext uri="{96DAC541-7B7A-43D3-8B79-37D633B846F1}">
                  <asvg:svgBlip r:embed="rId11"/>
                </a:ext>
              </a:extLst>
            </a:blip>
            <a:stretch>
              <a:fillRect/>
            </a:stretch>
          </p:blipFill>
          <p:spPr>
            <a:xfrm>
              <a:off x="-436880" y="1788160"/>
              <a:ext cx="91440" cy="91440"/>
            </a:xfrm>
            <a:prstGeom prst="rect">
              <a:avLst/>
            </a:prstGeom>
          </p:spPr>
        </p:pic>
        <p:sp>
          <p:nvSpPr>
            <p:cNvPr id="392" name="Text 12" descr="TEMP_Z_ORDER_35"/>
            <p:cNvSpPr/>
            <p:nvPr/>
          </p:nvSpPr>
          <p:spPr>
            <a:xfrm>
              <a:off x="-254000" y="170332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备份策略、剩余信息保护</a:t>
              </a:r>
              <a:endParaRPr lang="en-US" sz="1680"/>
            </a:p>
          </p:txBody>
        </p:sp>
      </p:grpSp>
      <p:grpSp>
        <p:nvGrpSpPr>
          <p:cNvPr id="393" name="组合 76"/>
          <p:cNvGrpSpPr/>
          <p:nvPr/>
        </p:nvGrpSpPr>
        <p:grpSpPr>
          <a:xfrm>
            <a:off x="8976360" y="2910840"/>
            <a:ext cx="2606040" cy="3642360"/>
            <a:chOff x="-635000" y="-635000"/>
            <a:chExt cx="2606040" cy="3642360"/>
          </a:xfrm>
        </p:grpSpPr>
        <p:pic>
          <p:nvPicPr>
            <p:cNvPr id="394" name="Image 23" descr="TEMP_Z_ORDER_36"/>
            <p:cNvPicPr>
              <a:picLocks noChangeAspect="1"/>
            </p:cNvPicPr>
            <p:nvPr/>
          </p:nvPicPr>
          <p:blipFill>
            <a:blip>
              <a:alphaModFix amt="80000"/>
              <a:extLst>
                <a:ext uri="{96DAC541-7B7A-43D3-8B79-37D633B846F1}">
                  <asvg:svgBlip r:embed="rId12"/>
                </a:ext>
              </a:extLst>
            </a:blip>
            <a:stretch>
              <a:fillRect/>
            </a:stretch>
          </p:blipFill>
          <p:spPr>
            <a:xfrm>
              <a:off x="660400" y="-635000"/>
              <a:ext cx="30480" cy="213360"/>
            </a:xfrm>
            <a:prstGeom prst="rect">
              <a:avLst/>
            </a:prstGeom>
          </p:spPr>
        </p:pic>
        <p:pic>
          <p:nvPicPr>
            <p:cNvPr id="395" name="Image 24" descr="TEMP_Z_ORDER_37"/>
            <p:cNvPicPr>
              <a:picLocks noChangeAspect="1"/>
            </p:cNvPicPr>
            <p:nvPr/>
          </p:nvPicPr>
          <p:blipFill>
            <a:blip r:embed="rId13"/>
            <a:stretch>
              <a:fillRect/>
            </a:stretch>
          </p:blipFill>
          <p:spPr>
            <a:xfrm>
              <a:off x="-635000" y="-314960"/>
              <a:ext cx="2606040" cy="3322320"/>
            </a:xfrm>
            <a:prstGeom prst="rect">
              <a:avLst/>
            </a:prstGeom>
          </p:spPr>
        </p:pic>
        <p:sp>
          <p:nvSpPr>
            <p:cNvPr id="396" name="Text 13" descr="TEMP_Z_ORDER_38"/>
            <p:cNvSpPr/>
            <p:nvPr/>
          </p:nvSpPr>
          <p:spPr>
            <a:xfrm>
              <a:off x="-436879" y="-115606"/>
              <a:ext cx="2218944" cy="607132"/>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四、云平台配置检查工具</a:t>
              </a:r>
              <a:endParaRPr lang="en-US" sz="1920"/>
            </a:p>
          </p:txBody>
        </p:sp>
        <p:pic>
          <p:nvPicPr>
            <p:cNvPr id="397" name="Image 25" descr="TEMP_Z_ORDER_39"/>
            <p:cNvPicPr>
              <a:picLocks noChangeAspect="1"/>
            </p:cNvPicPr>
            <p:nvPr/>
          </p:nvPicPr>
          <p:blipFill>
            <a:blip r:embed="rId10"/>
            <a:stretch>
              <a:fillRect/>
            </a:stretch>
          </p:blipFill>
          <p:spPr>
            <a:xfrm>
              <a:off x="-436879" y="637235"/>
              <a:ext cx="2209800" cy="15240"/>
            </a:xfrm>
            <a:prstGeom prst="rect">
              <a:avLst/>
            </a:prstGeom>
          </p:spPr>
        </p:pic>
        <p:pic>
          <p:nvPicPr>
            <p:cNvPr id="398" name="Image 26" descr="TEMP_Z_ORDER_40"/>
            <p:cNvPicPr>
              <a:picLocks noChangeAspect="1"/>
            </p:cNvPicPr>
            <p:nvPr/>
          </p:nvPicPr>
          <p:blipFill>
            <a:blip>
              <a:extLst>
                <a:ext uri="{96DAC541-7B7A-43D3-8B79-37D633B846F1}">
                  <asvg:svgBlip r:embed="rId11"/>
                </a:ext>
              </a:extLst>
            </a:blip>
            <a:stretch>
              <a:fillRect/>
            </a:stretch>
          </p:blipFill>
          <p:spPr>
            <a:xfrm>
              <a:off x="-436880" y="904240"/>
              <a:ext cx="91440" cy="91440"/>
            </a:xfrm>
            <a:prstGeom prst="rect">
              <a:avLst/>
            </a:prstGeom>
          </p:spPr>
        </p:pic>
        <p:sp>
          <p:nvSpPr>
            <p:cNvPr id="399" name="Text 14" descr="TEMP_Z_ORDER_41"/>
            <p:cNvSpPr/>
            <p:nvPr/>
          </p:nvSpPr>
          <p:spPr>
            <a:xfrm>
              <a:off x="-254000" y="812800"/>
              <a:ext cx="1718818"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自动扫描配置风险</a:t>
              </a:r>
              <a:endParaRPr lang="en-US" sz="1680"/>
            </a:p>
          </p:txBody>
        </p:sp>
        <p:pic>
          <p:nvPicPr>
            <p:cNvPr id="400" name="Image 27" descr="TEMP_Z_ORDER_42"/>
            <p:cNvPicPr>
              <a:picLocks noChangeAspect="1"/>
            </p:cNvPicPr>
            <p:nvPr/>
          </p:nvPicPr>
          <p:blipFill>
            <a:blip>
              <a:extLst>
                <a:ext uri="{96DAC541-7B7A-43D3-8B79-37D633B846F1}">
                  <asvg:svgBlip r:embed="rId11"/>
                </a:ext>
              </a:extLst>
            </a:blip>
            <a:stretch>
              <a:fillRect/>
            </a:stretch>
          </p:blipFill>
          <p:spPr>
            <a:xfrm>
              <a:off x="-436879" y="1361440"/>
              <a:ext cx="91440" cy="91440"/>
            </a:xfrm>
            <a:prstGeom prst="rect">
              <a:avLst/>
            </a:prstGeom>
          </p:spPr>
        </p:pic>
        <p:sp>
          <p:nvSpPr>
            <p:cNvPr id="401" name="Text 15" descr="TEMP_Z_ORDER_43"/>
            <p:cNvSpPr/>
            <p:nvPr/>
          </p:nvSpPr>
          <p:spPr>
            <a:xfrm>
              <a:off x="-254000" y="1270000"/>
              <a:ext cx="1718818"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与等保测评的关联</a:t>
              </a:r>
              <a:endParaRPr lang="en-US" sz="168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60" presetID="10" presetClass="entr" presetSubtype="0" fill="hold" grpId="1" nodeType="afterEffect">
                                  <p:stCondLst>
                                    <p:cond delay="0"/>
                                  </p:stCondLst>
                                  <p:childTnLst>
                                    <p:set>
                                      <p:cBhvr>
                                        <p:cTn id="161" dur="1" fill="hold">
                                          <p:stCondLst>
                                            <p:cond delay="0"/>
                                          </p:stCondLst>
                                        </p:cTn>
                                        <p:tgtEl>
                                          <p:spTgt spid="356"/>
                                        </p:tgtEl>
                                        <p:attrNameLst>
                                          <p:attrName>style.visibility</p:attrName>
                                        </p:attrNameLst>
                                      </p:cBhvr>
                                      <p:to>
                                        <p:strVal val="visible"/>
                                      </p:to>
                                    </p:set>
                                    <p:animEffect transition="in" filter="fade">
                                      <p:cBhvr>
                                        <p:cTn id="162" dur="750"/>
                                        <p:tgtEl>
                                          <p:spTgt spid="356"/>
                                        </p:tgtEl>
                                      </p:cBhvr>
                                    </p:animEffect>
                                  </p:childTnLst>
                                </p:cTn>
                              </p:par>
                            </p:childTnLst>
                          </p:cTn>
                        </p:par>
                        <p:par>
                          <p:cTn fill="hold">
                            <p:stCondLst>
                              <p:cond delay="0"/>
                            </p:stCondLst>
                            <p:childTnLst>
                              <p:par>
                                <p:cTn id="163" presetID="2" presetClass="entr" presetSubtype="1" fill="hold" grpId="2" nodeType="afterEffect">
                                  <p:stCondLst>
                                    <p:cond delay="0"/>
                                  </p:stCondLst>
                                  <p:childTnLst>
                                    <p:set>
                                      <p:cBhvr>
                                        <p:cTn id="164" dur="1" fill="hold">
                                          <p:stCondLst>
                                            <p:cond delay="0"/>
                                          </p:stCondLst>
                                        </p:cTn>
                                        <p:tgtEl>
                                          <p:spTgt spid="357"/>
                                        </p:tgtEl>
                                        <p:attrNameLst>
                                          <p:attrName>style.visibility</p:attrName>
                                        </p:attrNameLst>
                                      </p:cBhvr>
                                      <p:to>
                                        <p:strVal val="visible"/>
                                      </p:to>
                                    </p:set>
                                    <p:anim calcmode="lin" valueType="num">
                                      <p:cBhvr additive="base">
                                        <p:cTn id="165" dur="750" fill="hold"/>
                                        <p:tgtEl>
                                          <p:spTgt spid="357"/>
                                        </p:tgtEl>
                                        <p:attrNameLst>
                                          <p:attrName>ppt_x</p:attrName>
                                        </p:attrNameLst>
                                      </p:cBhvr>
                                      <p:tavLst>
                                        <p:tav tm="0">
                                          <p:val>
                                            <p:strVal val="#ppt_x"/>
                                          </p:val>
                                        </p:tav>
                                        <p:tav tm="100000">
                                          <p:val>
                                            <p:strVal val="#ppt_x"/>
                                          </p:val>
                                        </p:tav>
                                      </p:tavLst>
                                    </p:anim>
                                    <p:anim calcmode="lin" valueType="num">
                                      <p:cBhvr additive="base">
                                        <p:cTn id="166" dur="750" fill="hold"/>
                                        <p:tgtEl>
                                          <p:spTgt spid="357"/>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67" presetID="2" presetClass="entr" presetSubtype="1" fill="hold" grpId="3" nodeType="afterEffect">
                                  <p:stCondLst>
                                    <p:cond delay="0"/>
                                  </p:stCondLst>
                                  <p:childTnLst>
                                    <p:set>
                                      <p:cBhvr>
                                        <p:cTn id="168" dur="1" fill="hold">
                                          <p:stCondLst>
                                            <p:cond delay="0"/>
                                          </p:stCondLst>
                                        </p:cTn>
                                        <p:tgtEl>
                                          <p:spTgt spid="362"/>
                                        </p:tgtEl>
                                        <p:attrNameLst>
                                          <p:attrName>style.visibility</p:attrName>
                                        </p:attrNameLst>
                                      </p:cBhvr>
                                      <p:to>
                                        <p:strVal val="visible"/>
                                      </p:to>
                                    </p:set>
                                    <p:anim calcmode="lin" valueType="num">
                                      <p:cBhvr additive="base">
                                        <p:cTn id="169" dur="750" fill="hold"/>
                                        <p:tgtEl>
                                          <p:spTgt spid="362"/>
                                        </p:tgtEl>
                                        <p:attrNameLst>
                                          <p:attrName>ppt_x</p:attrName>
                                        </p:attrNameLst>
                                      </p:cBhvr>
                                      <p:tavLst>
                                        <p:tav tm="0">
                                          <p:val>
                                            <p:strVal val="#ppt_x"/>
                                          </p:val>
                                        </p:tav>
                                        <p:tav tm="100000">
                                          <p:val>
                                            <p:strVal val="#ppt_x"/>
                                          </p:val>
                                        </p:tav>
                                      </p:tavLst>
                                    </p:anim>
                                    <p:anim calcmode="lin" valueType="num">
                                      <p:cBhvr additive="base">
                                        <p:cTn id="170" dur="750" fill="hold"/>
                                        <p:tgtEl>
                                          <p:spTgt spid="362"/>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71" presetID="2" presetClass="entr" presetSubtype="1" fill="hold" grpId="4" nodeType="afterEffect">
                                  <p:stCondLst>
                                    <p:cond delay="0"/>
                                  </p:stCondLst>
                                  <p:childTnLst>
                                    <p:set>
                                      <p:cBhvr>
                                        <p:cTn id="172" dur="1" fill="hold">
                                          <p:stCondLst>
                                            <p:cond delay="0"/>
                                          </p:stCondLst>
                                        </p:cTn>
                                        <p:tgtEl>
                                          <p:spTgt spid="373"/>
                                        </p:tgtEl>
                                        <p:attrNameLst>
                                          <p:attrName>style.visibility</p:attrName>
                                        </p:attrNameLst>
                                      </p:cBhvr>
                                      <p:to>
                                        <p:strVal val="visible"/>
                                      </p:to>
                                    </p:set>
                                    <p:anim calcmode="lin" valueType="num">
                                      <p:cBhvr additive="base">
                                        <p:cTn id="173" dur="750" fill="hold"/>
                                        <p:tgtEl>
                                          <p:spTgt spid="373"/>
                                        </p:tgtEl>
                                        <p:attrNameLst>
                                          <p:attrName>ppt_x</p:attrName>
                                        </p:attrNameLst>
                                      </p:cBhvr>
                                      <p:tavLst>
                                        <p:tav tm="0">
                                          <p:val>
                                            <p:strVal val="#ppt_x"/>
                                          </p:val>
                                        </p:tav>
                                        <p:tav tm="100000">
                                          <p:val>
                                            <p:strVal val="#ppt_x"/>
                                          </p:val>
                                        </p:tav>
                                      </p:tavLst>
                                    </p:anim>
                                    <p:anim calcmode="lin" valueType="num">
                                      <p:cBhvr additive="base">
                                        <p:cTn id="174" dur="750" fill="hold"/>
                                        <p:tgtEl>
                                          <p:spTgt spid="373"/>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75" presetID="2" presetClass="entr" presetSubtype="1" fill="hold" grpId="5" nodeType="afterEffect">
                                  <p:stCondLst>
                                    <p:cond delay="0"/>
                                  </p:stCondLst>
                                  <p:childTnLst>
                                    <p:set>
                                      <p:cBhvr>
                                        <p:cTn id="176" dur="1" fill="hold">
                                          <p:stCondLst>
                                            <p:cond delay="0"/>
                                          </p:stCondLst>
                                        </p:cTn>
                                        <p:tgtEl>
                                          <p:spTgt spid="382"/>
                                        </p:tgtEl>
                                        <p:attrNameLst>
                                          <p:attrName>style.visibility</p:attrName>
                                        </p:attrNameLst>
                                      </p:cBhvr>
                                      <p:to>
                                        <p:strVal val="visible"/>
                                      </p:to>
                                    </p:set>
                                    <p:anim calcmode="lin" valueType="num">
                                      <p:cBhvr additive="base">
                                        <p:cTn id="177" dur="750" fill="hold"/>
                                        <p:tgtEl>
                                          <p:spTgt spid="382"/>
                                        </p:tgtEl>
                                        <p:attrNameLst>
                                          <p:attrName>ppt_x</p:attrName>
                                        </p:attrNameLst>
                                      </p:cBhvr>
                                      <p:tavLst>
                                        <p:tav tm="0">
                                          <p:val>
                                            <p:strVal val="#ppt_x"/>
                                          </p:val>
                                        </p:tav>
                                        <p:tav tm="100000">
                                          <p:val>
                                            <p:strVal val="#ppt_x"/>
                                          </p:val>
                                        </p:tav>
                                      </p:tavLst>
                                    </p:anim>
                                    <p:anim calcmode="lin" valueType="num">
                                      <p:cBhvr additive="base">
                                        <p:cTn id="178" dur="750" fill="hold"/>
                                        <p:tgtEl>
                                          <p:spTgt spid="382"/>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79" presetID="2" presetClass="entr" presetSubtype="1" fill="hold" grpId="6" nodeType="afterEffect">
                                  <p:stCondLst>
                                    <p:cond delay="0"/>
                                  </p:stCondLst>
                                  <p:childTnLst>
                                    <p:set>
                                      <p:cBhvr>
                                        <p:cTn id="180" dur="1" fill="hold">
                                          <p:stCondLst>
                                            <p:cond delay="0"/>
                                          </p:stCondLst>
                                        </p:cTn>
                                        <p:tgtEl>
                                          <p:spTgt spid="393"/>
                                        </p:tgtEl>
                                        <p:attrNameLst>
                                          <p:attrName>style.visibility</p:attrName>
                                        </p:attrNameLst>
                                      </p:cBhvr>
                                      <p:to>
                                        <p:strVal val="visible"/>
                                      </p:to>
                                    </p:set>
                                    <p:anim calcmode="lin" valueType="num">
                                      <p:cBhvr additive="base">
                                        <p:cTn id="181" dur="750" fill="hold"/>
                                        <p:tgtEl>
                                          <p:spTgt spid="393"/>
                                        </p:tgtEl>
                                        <p:attrNameLst>
                                          <p:attrName>ppt_x</p:attrName>
                                        </p:attrNameLst>
                                      </p:cBhvr>
                                      <p:tavLst>
                                        <p:tav tm="0">
                                          <p:val>
                                            <p:strVal val="#ppt_x"/>
                                          </p:val>
                                        </p:tav>
                                        <p:tav tm="100000">
                                          <p:val>
                                            <p:strVal val="#ppt_x"/>
                                          </p:val>
                                        </p:tav>
                                      </p:tavLst>
                                    </p:anim>
                                    <p:anim calcmode="lin" valueType="num">
                                      <p:cBhvr additive="base">
                                        <p:cTn id="182" dur="750" fill="hold"/>
                                        <p:tgtEl>
                                          <p:spTgt spid="39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3.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402" name=""/>
        <p:cNvGrpSpPr/>
        <p:nvPr/>
      </p:nvGrpSpPr>
      <p:grpSpPr>
        <a:xfrm>
          <a:off x="0" y="0"/>
          <a:ext cx="0" cy="0"/>
          <a:chOff x="0" y="0"/>
          <a:chExt cx="0" cy="0"/>
        </a:xfrm>
      </p:grpSpPr>
      <p:pic>
        <p:nvPicPr>
          <p:cNvPr id="40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40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40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40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课后作业</a:t>
            </a:r>
            <a:endParaRPr lang="en-US" sz="2760"/>
          </a:p>
        </p:txBody>
      </p:sp>
      <p:grpSp>
        <p:nvGrpSpPr>
          <p:cNvPr id="407" name="组合 36"/>
          <p:cNvGrpSpPr/>
          <p:nvPr/>
        </p:nvGrpSpPr>
        <p:grpSpPr>
          <a:xfrm>
            <a:off x="609600" y="1371600"/>
            <a:ext cx="10972800" cy="1295400"/>
            <a:chOff x="-635000" y="-635000"/>
            <a:chExt cx="10972800" cy="1295400"/>
          </a:xfrm>
        </p:grpSpPr>
        <p:pic>
          <p:nvPicPr>
            <p:cNvPr id="408" name="Image 3" descr="TEMP_Z_ORDER_4"/>
            <p:cNvPicPr>
              <a:picLocks noChangeAspect="1"/>
            </p:cNvPicPr>
            <p:nvPr/>
          </p:nvPicPr>
          <p:blipFill>
            <a:blip r:embed="rId5"/>
            <a:stretch>
              <a:fillRect/>
            </a:stretch>
          </p:blipFill>
          <p:spPr>
            <a:xfrm>
              <a:off x="-635000" y="-635000"/>
              <a:ext cx="10972800" cy="1295400"/>
            </a:xfrm>
            <a:prstGeom prst="rect">
              <a:avLst/>
            </a:prstGeom>
          </p:spPr>
        </p:pic>
        <p:pic>
          <p:nvPicPr>
            <p:cNvPr id="409" name="Image 4" descr="TEMP_Z_ORDER_5"/>
            <p:cNvPicPr>
              <a:picLocks noChangeAspect="1"/>
            </p:cNvPicPr>
            <p:nvPr/>
          </p:nvPicPr>
          <p:blipFill>
            <a:blip>
              <a:extLst>
                <a:ext uri="{96DAC541-7B7A-43D3-8B79-37D633B846F1}">
                  <asvg:svgBlip r:embed="rId6"/>
                </a:ext>
              </a:extLst>
            </a:blip>
            <a:stretch>
              <a:fillRect/>
            </a:stretch>
          </p:blipFill>
          <p:spPr>
            <a:xfrm>
              <a:off x="-314960" y="-269240"/>
              <a:ext cx="990600" cy="548640"/>
            </a:xfrm>
            <a:prstGeom prst="rect">
              <a:avLst/>
            </a:prstGeom>
          </p:spPr>
        </p:pic>
        <p:sp>
          <p:nvSpPr>
            <p:cNvPr id="410" name="Text 1" descr="TEMP_Z_ORDER_6"/>
            <p:cNvSpPr/>
            <p:nvPr/>
          </p:nvSpPr>
          <p:spPr>
            <a:xfrm>
              <a:off x="-71120" y="-17780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必做</a:t>
              </a:r>
              <a:endParaRPr lang="en-US" sz="1920"/>
            </a:p>
          </p:txBody>
        </p:sp>
        <p:sp>
          <p:nvSpPr>
            <p:cNvPr id="411" name="Text 2" descr="TEMP_Z_ORDER_7"/>
            <p:cNvSpPr/>
            <p:nvPr/>
          </p:nvSpPr>
          <p:spPr>
            <a:xfrm>
              <a:off x="1026160" y="-436880"/>
              <a:ext cx="13578840" cy="8705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zh-CN" sz="2160">
                  <a:solidFill>
                    <a:srgbClr val="000000"/>
                  </a:solidFill>
                  <a:latin typeface="思源黑体 CN Regular" pitchFamily="34" charset="0"/>
                  <a:ea typeface="思源黑体 CN Regular" pitchFamily="34" charset="-122"/>
                  <a:cs typeface="思源黑体 CN Regular" pitchFamily="34" charset="-120"/>
                </a:rPr>
                <a:t>完成《云计算安全测评记录表》（基于 CloudLab 实验平台核查结果，可从页面直接导出），提交至学习通平台</a:t>
              </a:r>
              <a:endParaRPr lang="en-US" sz="2160">
                <a:solidFill>
                  <a:srgbClr val="000000"/>
                </a:solidFill>
                <a:latin typeface="思源黑体 CN Regular" pitchFamily="34" charset="0"/>
                <a:ea typeface="思源黑体 CN Regular" pitchFamily="34" charset="-122"/>
                <a:cs typeface="思源黑体 CN Regular" pitchFamily="34" charset="-120"/>
              </a:endParaRPr>
            </a:p>
            <a:p>
              <a:pPr marL="0" indent="0" algn="l">
                <a:lnSpc>
                  <a:spcPct val="136000"/>
                </a:lnSpc>
                <a:buNone/>
              </a:pPr>
              <a:endParaRPr lang="en-US" sz="2160">
                <a:solidFill>
                  <a:srgbClr val="000000"/>
                </a:solidFill>
                <a:latin typeface="思源黑体 CN Regular" pitchFamily="34" charset="0"/>
                <a:ea typeface="思源黑体 CN Regular" pitchFamily="34" charset="-122"/>
                <a:cs typeface="思源黑体 CN Regular" pitchFamily="34" charset="-120"/>
              </a:endParaRPr>
            </a:p>
          </p:txBody>
        </p:sp>
      </p:grpSp>
      <p:grpSp>
        <p:nvGrpSpPr>
          <p:cNvPr id="412" name="组合 21"/>
          <p:cNvGrpSpPr/>
          <p:nvPr/>
        </p:nvGrpSpPr>
        <p:grpSpPr>
          <a:xfrm>
            <a:off x="609600" y="2910840"/>
            <a:ext cx="10972800" cy="1051560"/>
            <a:chOff x="-635000" y="-635000"/>
            <a:chExt cx="10972800" cy="1051560"/>
          </a:xfrm>
        </p:grpSpPr>
        <p:pic>
          <p:nvPicPr>
            <p:cNvPr id="413" name="Image 5" descr="TEMP_Z_ORDER_8"/>
            <p:cNvPicPr>
              <a:picLocks noChangeAspect="1"/>
            </p:cNvPicPr>
            <p:nvPr/>
          </p:nvPicPr>
          <p:blipFill>
            <a:blip r:embed="rId7"/>
            <a:stretch>
              <a:fillRect/>
            </a:stretch>
          </p:blipFill>
          <p:spPr>
            <a:xfrm>
              <a:off x="-635000" y="-635000"/>
              <a:ext cx="10972800" cy="1051560"/>
            </a:xfrm>
            <a:prstGeom prst="rect">
              <a:avLst/>
            </a:prstGeom>
          </p:spPr>
        </p:pic>
        <p:pic>
          <p:nvPicPr>
            <p:cNvPr id="414" name="Image 6" descr="TEMP_Z_ORDER_9"/>
            <p:cNvPicPr>
              <a:picLocks noChangeAspect="1"/>
            </p:cNvPicPr>
            <p:nvPr/>
          </p:nvPicPr>
          <p:blipFill>
            <a:blip>
              <a:extLst>
                <a:ext uri="{96DAC541-7B7A-43D3-8B79-37D633B846F1}">
                  <asvg:svgBlip r:embed="rId6"/>
                </a:ext>
              </a:extLst>
            </a:blip>
            <a:stretch>
              <a:fillRect/>
            </a:stretch>
          </p:blipFill>
          <p:spPr>
            <a:xfrm>
              <a:off x="-314960" y="-391160"/>
              <a:ext cx="990600" cy="548640"/>
            </a:xfrm>
            <a:prstGeom prst="rect">
              <a:avLst/>
            </a:prstGeom>
          </p:spPr>
        </p:pic>
        <p:sp>
          <p:nvSpPr>
            <p:cNvPr id="415" name="Text 3" descr="TEMP_Z_ORDER_10"/>
            <p:cNvSpPr/>
            <p:nvPr/>
          </p:nvSpPr>
          <p:spPr>
            <a:xfrm>
              <a:off x="-71120" y="-29972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必做</a:t>
              </a:r>
              <a:endParaRPr lang="en-US" sz="1920"/>
            </a:p>
          </p:txBody>
        </p:sp>
        <p:sp>
          <p:nvSpPr>
            <p:cNvPr id="416" name="Text 4" descr="TEMP_Z_ORDER_11"/>
            <p:cNvSpPr/>
            <p:nvPr/>
          </p:nvSpPr>
          <p:spPr>
            <a:xfrm>
              <a:off x="1026160" y="-269240"/>
              <a:ext cx="6561010"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完成活动7.1.2在线测试（选择题+判断题，共15题）</a:t>
              </a:r>
              <a:endParaRPr lang="en-US" sz="2160"/>
            </a:p>
          </p:txBody>
        </p:sp>
      </p:grpSp>
      <p:grpSp>
        <p:nvGrpSpPr>
          <p:cNvPr id="417" name="组合 26"/>
          <p:cNvGrpSpPr/>
          <p:nvPr/>
        </p:nvGrpSpPr>
        <p:grpSpPr>
          <a:xfrm>
            <a:off x="609600" y="4191000"/>
            <a:ext cx="10972800" cy="1066800"/>
            <a:chOff x="-635000" y="-635000"/>
            <a:chExt cx="10972800" cy="1066800"/>
          </a:xfrm>
        </p:grpSpPr>
        <p:pic>
          <p:nvPicPr>
            <p:cNvPr id="418" name="Image 7" descr="TEMP_Z_ORDER_12"/>
            <p:cNvPicPr>
              <a:picLocks noChangeAspect="1"/>
            </p:cNvPicPr>
            <p:nvPr/>
          </p:nvPicPr>
          <p:blipFill>
            <a:blip r:embed="rId8"/>
            <a:stretch>
              <a:fillRect/>
            </a:stretch>
          </p:blipFill>
          <p:spPr>
            <a:xfrm>
              <a:off x="-635000" y="-635000"/>
              <a:ext cx="10972800" cy="1066800"/>
            </a:xfrm>
            <a:prstGeom prst="rect">
              <a:avLst/>
            </a:prstGeom>
          </p:spPr>
        </p:pic>
        <p:pic>
          <p:nvPicPr>
            <p:cNvPr id="419" name="Image 8" descr="TEMP_Z_ORDER_13"/>
            <p:cNvPicPr>
              <a:picLocks noChangeAspect="1"/>
            </p:cNvPicPr>
            <p:nvPr/>
          </p:nvPicPr>
          <p:blipFill>
            <a:blip r:embed="rId9"/>
            <a:stretch>
              <a:fillRect/>
            </a:stretch>
          </p:blipFill>
          <p:spPr>
            <a:xfrm>
              <a:off x="-314960" y="-391160"/>
              <a:ext cx="1021080" cy="579120"/>
            </a:xfrm>
            <a:prstGeom prst="rect">
              <a:avLst/>
            </a:prstGeom>
          </p:spPr>
        </p:pic>
        <p:sp>
          <p:nvSpPr>
            <p:cNvPr id="420" name="Text 5" descr="TEMP_Z_ORDER_14"/>
            <p:cNvSpPr/>
            <p:nvPr/>
          </p:nvSpPr>
          <p:spPr>
            <a:xfrm>
              <a:off x="-55880" y="-28448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选做</a:t>
              </a:r>
              <a:endParaRPr lang="en-US" sz="1920"/>
            </a:p>
          </p:txBody>
        </p:sp>
        <p:sp>
          <p:nvSpPr>
            <p:cNvPr id="421" name="Text 6" descr="TEMP_Z_ORDER_15"/>
            <p:cNvSpPr/>
            <p:nvPr/>
          </p:nvSpPr>
          <p:spPr>
            <a:xfrm>
              <a:off x="1056640" y="-254000"/>
              <a:ext cx="8425735"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登录阿里云/华为云免费试用，体验“云平台配置检查”功能（可截图）</a:t>
              </a:r>
              <a:endParaRPr lang="en-US" sz="2160"/>
            </a:p>
          </p:txBody>
        </p:sp>
      </p:grpSp>
      <p:grpSp>
        <p:nvGrpSpPr>
          <p:cNvPr id="422" name="组合 31"/>
          <p:cNvGrpSpPr/>
          <p:nvPr/>
        </p:nvGrpSpPr>
        <p:grpSpPr>
          <a:xfrm>
            <a:off x="609600" y="5486400"/>
            <a:ext cx="10972800" cy="970280"/>
            <a:chOff x="-635000" y="-635000"/>
            <a:chExt cx="10972800" cy="1066800"/>
          </a:xfrm>
        </p:grpSpPr>
        <p:pic>
          <p:nvPicPr>
            <p:cNvPr id="423" name="Image 9" descr="TEMP_Z_ORDER_16"/>
            <p:cNvPicPr>
              <a:picLocks noChangeAspect="1"/>
            </p:cNvPicPr>
            <p:nvPr/>
          </p:nvPicPr>
          <p:blipFill>
            <a:blip r:embed="rId8"/>
            <a:stretch>
              <a:fillRect/>
            </a:stretch>
          </p:blipFill>
          <p:spPr>
            <a:xfrm>
              <a:off x="-635000" y="-635000"/>
              <a:ext cx="10972800" cy="1066800"/>
            </a:xfrm>
            <a:prstGeom prst="rect">
              <a:avLst/>
            </a:prstGeom>
          </p:spPr>
        </p:pic>
        <p:pic>
          <p:nvPicPr>
            <p:cNvPr id="424" name="Image 10" descr="TEMP_Z_ORDER_17"/>
            <p:cNvPicPr>
              <a:picLocks noChangeAspect="1"/>
            </p:cNvPicPr>
            <p:nvPr/>
          </p:nvPicPr>
          <p:blipFill>
            <a:blip r:embed="rId9"/>
            <a:stretch>
              <a:fillRect/>
            </a:stretch>
          </p:blipFill>
          <p:spPr>
            <a:xfrm>
              <a:off x="-314960" y="-391160"/>
              <a:ext cx="1021080" cy="579120"/>
            </a:xfrm>
            <a:prstGeom prst="rect">
              <a:avLst/>
            </a:prstGeom>
          </p:spPr>
        </p:pic>
        <p:sp>
          <p:nvSpPr>
            <p:cNvPr id="425" name="Text 7" descr="TEMP_Z_ORDER_18"/>
            <p:cNvSpPr/>
            <p:nvPr/>
          </p:nvSpPr>
          <p:spPr>
            <a:xfrm>
              <a:off x="-55880" y="-284480"/>
              <a:ext cx="493839" cy="40563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预习</a:t>
              </a:r>
              <a:endParaRPr lang="en-US" sz="1920"/>
            </a:p>
          </p:txBody>
        </p:sp>
        <p:sp>
          <p:nvSpPr>
            <p:cNvPr id="426" name="Text 8" descr="TEMP_Z_ORDER_19"/>
            <p:cNvSpPr/>
            <p:nvPr/>
          </p:nvSpPr>
          <p:spPr>
            <a:xfrm>
              <a:off x="1056640" y="-231459"/>
              <a:ext cx="6282690" cy="35327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预习7.2.1“移动互联架构认知”相关内容</a:t>
              </a:r>
              <a:endParaRPr lang="en-US" sz="216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183" presetID="10" presetClass="entr" presetSubtype="0" fill="hold" grpId="1" nodeType="afterEffect">
                                  <p:stCondLst>
                                    <p:cond delay="0"/>
                                  </p:stCondLst>
                                  <p:childTnLst>
                                    <p:set>
                                      <p:cBhvr>
                                        <p:cTn id="184" dur="1" fill="hold">
                                          <p:stCondLst>
                                            <p:cond delay="0"/>
                                          </p:stCondLst>
                                        </p:cTn>
                                        <p:tgtEl>
                                          <p:spTgt spid="406"/>
                                        </p:tgtEl>
                                        <p:attrNameLst>
                                          <p:attrName>style.visibility</p:attrName>
                                        </p:attrNameLst>
                                      </p:cBhvr>
                                      <p:to>
                                        <p:strVal val="visible"/>
                                      </p:to>
                                    </p:set>
                                    <p:animEffect transition="in" filter="fade">
                                      <p:cBhvr>
                                        <p:cTn id="185" dur="750"/>
                                        <p:tgtEl>
                                          <p:spTgt spid="406"/>
                                        </p:tgtEl>
                                      </p:cBhvr>
                                    </p:animEffect>
                                  </p:childTnLst>
                                </p:cTn>
                              </p:par>
                            </p:childTnLst>
                          </p:cTn>
                        </p:par>
                        <p:par>
                          <p:cTn fill="hold">
                            <p:stCondLst>
                              <p:cond delay="0"/>
                            </p:stCondLst>
                            <p:childTnLst>
                              <p:par>
                                <p:cTn id="186" presetID="2" presetClass="entr" presetSubtype="1" fill="hold" grpId="2" nodeType="afterEffect">
                                  <p:stCondLst>
                                    <p:cond delay="0"/>
                                  </p:stCondLst>
                                  <p:childTnLst>
                                    <p:set>
                                      <p:cBhvr>
                                        <p:cTn id="187" dur="1" fill="hold">
                                          <p:stCondLst>
                                            <p:cond delay="0"/>
                                          </p:stCondLst>
                                        </p:cTn>
                                        <p:tgtEl>
                                          <p:spTgt spid="407"/>
                                        </p:tgtEl>
                                        <p:attrNameLst>
                                          <p:attrName>style.visibility</p:attrName>
                                        </p:attrNameLst>
                                      </p:cBhvr>
                                      <p:to>
                                        <p:strVal val="visible"/>
                                      </p:to>
                                    </p:set>
                                    <p:anim calcmode="lin" valueType="num">
                                      <p:cBhvr additive="base">
                                        <p:cTn id="188" dur="750" fill="hold"/>
                                        <p:tgtEl>
                                          <p:spTgt spid="407"/>
                                        </p:tgtEl>
                                        <p:attrNameLst>
                                          <p:attrName>ppt_x</p:attrName>
                                        </p:attrNameLst>
                                      </p:cBhvr>
                                      <p:tavLst>
                                        <p:tav tm="0">
                                          <p:val>
                                            <p:strVal val="#ppt_x"/>
                                          </p:val>
                                        </p:tav>
                                        <p:tav tm="100000">
                                          <p:val>
                                            <p:strVal val="#ppt_x"/>
                                          </p:val>
                                        </p:tav>
                                      </p:tavLst>
                                    </p:anim>
                                    <p:anim calcmode="lin" valueType="num">
                                      <p:cBhvr additive="base">
                                        <p:cTn id="189" dur="750" fill="hold"/>
                                        <p:tgtEl>
                                          <p:spTgt spid="407"/>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90" presetID="2" presetClass="entr" presetSubtype="1" fill="hold" grpId="3" nodeType="afterEffect">
                                  <p:stCondLst>
                                    <p:cond delay="0"/>
                                  </p:stCondLst>
                                  <p:childTnLst>
                                    <p:set>
                                      <p:cBhvr>
                                        <p:cTn id="191" dur="1" fill="hold">
                                          <p:stCondLst>
                                            <p:cond delay="0"/>
                                          </p:stCondLst>
                                        </p:cTn>
                                        <p:tgtEl>
                                          <p:spTgt spid="412"/>
                                        </p:tgtEl>
                                        <p:attrNameLst>
                                          <p:attrName>style.visibility</p:attrName>
                                        </p:attrNameLst>
                                      </p:cBhvr>
                                      <p:to>
                                        <p:strVal val="visible"/>
                                      </p:to>
                                    </p:set>
                                    <p:anim calcmode="lin" valueType="num">
                                      <p:cBhvr additive="base">
                                        <p:cTn id="192" dur="750" fill="hold"/>
                                        <p:tgtEl>
                                          <p:spTgt spid="412"/>
                                        </p:tgtEl>
                                        <p:attrNameLst>
                                          <p:attrName>ppt_x</p:attrName>
                                        </p:attrNameLst>
                                      </p:cBhvr>
                                      <p:tavLst>
                                        <p:tav tm="0">
                                          <p:val>
                                            <p:strVal val="#ppt_x"/>
                                          </p:val>
                                        </p:tav>
                                        <p:tav tm="100000">
                                          <p:val>
                                            <p:strVal val="#ppt_x"/>
                                          </p:val>
                                        </p:tav>
                                      </p:tavLst>
                                    </p:anim>
                                    <p:anim calcmode="lin" valueType="num">
                                      <p:cBhvr additive="base">
                                        <p:cTn id="193" dur="750" fill="hold"/>
                                        <p:tgtEl>
                                          <p:spTgt spid="412"/>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94" presetID="2" presetClass="entr" presetSubtype="1" fill="hold" grpId="4" nodeType="afterEffect">
                                  <p:stCondLst>
                                    <p:cond delay="0"/>
                                  </p:stCondLst>
                                  <p:childTnLst>
                                    <p:set>
                                      <p:cBhvr>
                                        <p:cTn id="195" dur="1" fill="hold">
                                          <p:stCondLst>
                                            <p:cond delay="0"/>
                                          </p:stCondLst>
                                        </p:cTn>
                                        <p:tgtEl>
                                          <p:spTgt spid="417"/>
                                        </p:tgtEl>
                                        <p:attrNameLst>
                                          <p:attrName>style.visibility</p:attrName>
                                        </p:attrNameLst>
                                      </p:cBhvr>
                                      <p:to>
                                        <p:strVal val="visible"/>
                                      </p:to>
                                    </p:set>
                                    <p:anim calcmode="lin" valueType="num">
                                      <p:cBhvr additive="base">
                                        <p:cTn id="196" dur="750" fill="hold"/>
                                        <p:tgtEl>
                                          <p:spTgt spid="417"/>
                                        </p:tgtEl>
                                        <p:attrNameLst>
                                          <p:attrName>ppt_x</p:attrName>
                                        </p:attrNameLst>
                                      </p:cBhvr>
                                      <p:tavLst>
                                        <p:tav tm="0">
                                          <p:val>
                                            <p:strVal val="#ppt_x"/>
                                          </p:val>
                                        </p:tav>
                                        <p:tav tm="100000">
                                          <p:val>
                                            <p:strVal val="#ppt_x"/>
                                          </p:val>
                                        </p:tav>
                                      </p:tavLst>
                                    </p:anim>
                                    <p:anim calcmode="lin" valueType="num">
                                      <p:cBhvr additive="base">
                                        <p:cTn id="197" dur="750" fill="hold"/>
                                        <p:tgtEl>
                                          <p:spTgt spid="417"/>
                                        </p:tgtEl>
                                        <p:attrNameLst>
                                          <p:attrName>ppt_y</p:attrName>
                                        </p:attrNameLst>
                                      </p:cBhvr>
                                      <p:tavLst>
                                        <p:tav tm="0">
                                          <p:val>
                                            <p:strVal val="0-#ppt_h/2"/>
                                          </p:val>
                                        </p:tav>
                                        <p:tav tm="100000">
                                          <p:val>
                                            <p:strVal val="#ppt_y"/>
                                          </p:val>
                                        </p:tav>
                                      </p:tavLst>
                                    </p:anim>
                                  </p:childTnLst>
                                </p:cTn>
                              </p:par>
                            </p:childTnLst>
                          </p:cTn>
                        </p:par>
                        <p:par>
                          <p:cTn fill="hold">
                            <p:stCondLst>
                              <p:cond delay="0"/>
                            </p:stCondLst>
                            <p:childTnLst>
                              <p:par>
                                <p:cTn id="198" presetID="2" presetClass="entr" presetSubtype="1" fill="hold" grpId="5" nodeType="afterEffect">
                                  <p:stCondLst>
                                    <p:cond delay="0"/>
                                  </p:stCondLst>
                                  <p:childTnLst>
                                    <p:set>
                                      <p:cBhvr>
                                        <p:cTn id="199" dur="1" fill="hold">
                                          <p:stCondLst>
                                            <p:cond delay="0"/>
                                          </p:stCondLst>
                                        </p:cTn>
                                        <p:tgtEl>
                                          <p:spTgt spid="422"/>
                                        </p:tgtEl>
                                        <p:attrNameLst>
                                          <p:attrName>style.visibility</p:attrName>
                                        </p:attrNameLst>
                                      </p:cBhvr>
                                      <p:to>
                                        <p:strVal val="visible"/>
                                      </p:to>
                                    </p:set>
                                    <p:anim calcmode="lin" valueType="num">
                                      <p:cBhvr additive="base">
                                        <p:cTn id="200" dur="750" fill="hold"/>
                                        <p:tgtEl>
                                          <p:spTgt spid="422"/>
                                        </p:tgtEl>
                                        <p:attrNameLst>
                                          <p:attrName>ppt_x</p:attrName>
                                        </p:attrNameLst>
                                      </p:cBhvr>
                                      <p:tavLst>
                                        <p:tav tm="0">
                                          <p:val>
                                            <p:strVal val="#ppt_x"/>
                                          </p:val>
                                        </p:tav>
                                        <p:tav tm="100000">
                                          <p:val>
                                            <p:strVal val="#ppt_x"/>
                                          </p:val>
                                        </p:tav>
                                      </p:tavLst>
                                    </p:anim>
                                    <p:anim calcmode="lin" valueType="num">
                                      <p:cBhvr additive="base">
                                        <p:cTn id="201" dur="750" fill="hold"/>
                                        <p:tgtEl>
                                          <p:spTgt spid="4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4.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427" name=""/>
        <p:cNvGrpSpPr/>
        <p:nvPr/>
      </p:nvGrpSpPr>
      <p:grpSpPr>
        <a:xfrm>
          <a:off x="0" y="0"/>
          <a:ext cx="0" cy="0"/>
          <a:chOff x="0" y="0"/>
          <a:chExt cx="0" cy="0"/>
        </a:xfrm>
      </p:grpSpPr>
      <p:pic>
        <p:nvPicPr>
          <p:cNvPr id="428"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429"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430"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431"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下节课预告</a:t>
            </a:r>
            <a:endParaRPr lang="en-US" sz="2760"/>
          </a:p>
        </p:txBody>
      </p:sp>
      <p:grpSp>
        <p:nvGrpSpPr>
          <p:cNvPr id="432" name="组合 23"/>
          <p:cNvGrpSpPr/>
          <p:nvPr/>
        </p:nvGrpSpPr>
        <p:grpSpPr>
          <a:xfrm>
            <a:off x="609600" y="1371600"/>
            <a:ext cx="5242560" cy="5075555"/>
            <a:chOff x="-635000" y="-635000"/>
            <a:chExt cx="5242560" cy="5181600"/>
          </a:xfrm>
        </p:grpSpPr>
        <p:pic>
          <p:nvPicPr>
            <p:cNvPr id="433" name="Image 3" descr="TEMP_Z_ORDER_4"/>
            <p:cNvPicPr>
              <a:picLocks noChangeAspect="1"/>
            </p:cNvPicPr>
            <p:nvPr/>
          </p:nvPicPr>
          <p:blipFill>
            <a:blip r:embed="rId5"/>
            <a:stretch>
              <a:fillRect/>
            </a:stretch>
          </p:blipFill>
          <p:spPr>
            <a:xfrm>
              <a:off x="-635000" y="-635000"/>
              <a:ext cx="5242560" cy="5181600"/>
            </a:xfrm>
            <a:prstGeom prst="rect">
              <a:avLst/>
            </a:prstGeom>
          </p:spPr>
        </p:pic>
        <p:pic>
          <p:nvPicPr>
            <p:cNvPr id="434" name="Image 4" descr="TEMP_Z_ORDER_5"/>
            <p:cNvPicPr>
              <a:picLocks noChangeAspect="1"/>
            </p:cNvPicPr>
            <p:nvPr/>
          </p:nvPicPr>
          <p:blipFill>
            <a:blip>
              <a:extLst>
                <a:ext uri="{96DAC541-7B7A-43D3-8B79-37D633B846F1}">
                  <asvg:svgBlip r:embed="rId6"/>
                </a:ext>
              </a:extLst>
            </a:blip>
            <a:stretch>
              <a:fillRect/>
            </a:stretch>
          </p:blipFill>
          <p:spPr>
            <a:xfrm>
              <a:off x="-254000" y="-177800"/>
              <a:ext cx="365760" cy="365760"/>
            </a:xfrm>
            <a:prstGeom prst="rect">
              <a:avLst/>
            </a:prstGeom>
          </p:spPr>
        </p:pic>
        <p:sp>
          <p:nvSpPr>
            <p:cNvPr id="435" name="Text 1" descr="TEMP_Z_ORDER_6"/>
            <p:cNvSpPr/>
            <p:nvPr/>
          </p:nvSpPr>
          <p:spPr>
            <a:xfrm>
              <a:off x="233680" y="-269142"/>
              <a:ext cx="1353249" cy="51796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458BE6"/>
                  </a:solidFill>
                  <a:latin typeface="思源黑体 CN Bold" pitchFamily="34" charset="0"/>
                  <a:ea typeface="思源黑体 CN Bold" pitchFamily="34" charset="-122"/>
                  <a:cs typeface="思源黑体 CN Bold" pitchFamily="34" charset="-120"/>
                </a:rPr>
                <a:t>预告内容</a:t>
              </a:r>
              <a:endParaRPr lang="en-US" sz="2640"/>
            </a:p>
          </p:txBody>
        </p:sp>
        <p:pic>
          <p:nvPicPr>
            <p:cNvPr id="436" name="Image 5" descr="TEMP_Z_ORDER_7"/>
            <p:cNvPicPr>
              <a:picLocks noChangeAspect="1"/>
            </p:cNvPicPr>
            <p:nvPr/>
          </p:nvPicPr>
          <p:blipFill>
            <a:blip>
              <a:extLst>
                <a:ext uri="{96DAC541-7B7A-43D3-8B79-37D633B846F1}">
                  <asvg:svgBlip r:embed="rId7"/>
                </a:ext>
              </a:extLst>
            </a:blip>
            <a:stretch>
              <a:fillRect/>
            </a:stretch>
          </p:blipFill>
          <p:spPr>
            <a:xfrm>
              <a:off x="-254000" y="614680"/>
              <a:ext cx="121920" cy="121920"/>
            </a:xfrm>
            <a:prstGeom prst="rect">
              <a:avLst/>
            </a:prstGeom>
          </p:spPr>
        </p:pic>
        <p:sp>
          <p:nvSpPr>
            <p:cNvPr id="437" name="Text 2" descr="TEMP_Z_ORDER_8"/>
            <p:cNvSpPr/>
            <p:nvPr/>
          </p:nvSpPr>
          <p:spPr>
            <a:xfrm>
              <a:off x="50800" y="492760"/>
              <a:ext cx="2773839"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移动互联系统架构特点</a:t>
              </a:r>
              <a:endParaRPr lang="en-US" sz="2160"/>
            </a:p>
          </p:txBody>
        </p:sp>
        <p:pic>
          <p:nvPicPr>
            <p:cNvPr id="438" name="Image 6" descr="TEMP_Z_ORDER_9"/>
            <p:cNvPicPr>
              <a:picLocks noChangeAspect="1"/>
            </p:cNvPicPr>
            <p:nvPr/>
          </p:nvPicPr>
          <p:blipFill>
            <a:blip>
              <a:extLst>
                <a:ext uri="{96DAC541-7B7A-43D3-8B79-37D633B846F1}">
                  <asvg:svgBlip r:embed="rId7"/>
                </a:ext>
              </a:extLst>
            </a:blip>
            <a:stretch>
              <a:fillRect/>
            </a:stretch>
          </p:blipFill>
          <p:spPr>
            <a:xfrm>
              <a:off x="-254000" y="1270000"/>
              <a:ext cx="121920" cy="121920"/>
            </a:xfrm>
            <a:prstGeom prst="rect">
              <a:avLst/>
            </a:prstGeom>
          </p:spPr>
        </p:pic>
        <p:sp>
          <p:nvSpPr>
            <p:cNvPr id="439" name="Text 3" descr="TEMP_Z_ORDER_10"/>
            <p:cNvSpPr/>
            <p:nvPr/>
          </p:nvSpPr>
          <p:spPr>
            <a:xfrm>
              <a:off x="50800" y="1148080"/>
              <a:ext cx="2773839"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移动安全扩展要求概述</a:t>
              </a:r>
              <a:endParaRPr lang="en-US" sz="2160"/>
            </a:p>
          </p:txBody>
        </p:sp>
        <p:pic>
          <p:nvPicPr>
            <p:cNvPr id="440" name="Image 7" descr="TEMP_Z_ORDER_11"/>
            <p:cNvPicPr>
              <a:picLocks noChangeAspect="1"/>
            </p:cNvPicPr>
            <p:nvPr/>
          </p:nvPicPr>
          <p:blipFill>
            <a:blip>
              <a:extLst>
                <a:ext uri="{96DAC541-7B7A-43D3-8B79-37D633B846F1}">
                  <asvg:svgBlip r:embed="rId7"/>
                </a:ext>
              </a:extLst>
            </a:blip>
            <a:stretch>
              <a:fillRect/>
            </a:stretch>
          </p:blipFill>
          <p:spPr>
            <a:xfrm>
              <a:off x="-254000" y="1925320"/>
              <a:ext cx="121920" cy="121920"/>
            </a:xfrm>
            <a:prstGeom prst="rect">
              <a:avLst/>
            </a:prstGeom>
          </p:spPr>
        </p:pic>
        <p:sp>
          <p:nvSpPr>
            <p:cNvPr id="441" name="Text 4" descr="TEMP_Z_ORDER_12"/>
            <p:cNvSpPr/>
            <p:nvPr/>
          </p:nvSpPr>
          <p:spPr>
            <a:xfrm>
              <a:off x="50800" y="1803400"/>
              <a:ext cx="3883374"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移动终端、移动应用、无线网络</a:t>
              </a:r>
              <a:endParaRPr lang="en-US" sz="2160"/>
            </a:p>
          </p:txBody>
        </p:sp>
      </p:grpSp>
      <p:grpSp>
        <p:nvGrpSpPr>
          <p:cNvPr id="442" name="组合 33"/>
          <p:cNvGrpSpPr/>
          <p:nvPr/>
        </p:nvGrpSpPr>
        <p:grpSpPr>
          <a:xfrm>
            <a:off x="6339840" y="1371600"/>
            <a:ext cx="5242560" cy="5075555"/>
            <a:chOff x="-635000" y="-635000"/>
            <a:chExt cx="5242560" cy="5181600"/>
          </a:xfrm>
        </p:grpSpPr>
        <p:pic>
          <p:nvPicPr>
            <p:cNvPr id="443" name="Image 8" descr="TEMP_Z_ORDER_13"/>
            <p:cNvPicPr>
              <a:picLocks noChangeAspect="1"/>
            </p:cNvPicPr>
            <p:nvPr/>
          </p:nvPicPr>
          <p:blipFill>
            <a:blip r:embed="rId8"/>
            <a:stretch>
              <a:fillRect/>
            </a:stretch>
          </p:blipFill>
          <p:spPr>
            <a:xfrm>
              <a:off x="-635000" y="-635000"/>
              <a:ext cx="5242560" cy="2880360"/>
            </a:xfrm>
            <a:prstGeom prst="rect">
              <a:avLst/>
            </a:prstGeom>
          </p:spPr>
        </p:pic>
        <p:pic>
          <p:nvPicPr>
            <p:cNvPr id="444" name="Image 9" descr="TEMP_Z_ORDER_14"/>
            <p:cNvPicPr>
              <a:picLocks noChangeAspect="1"/>
            </p:cNvPicPr>
            <p:nvPr/>
          </p:nvPicPr>
          <p:blipFill>
            <a:blip>
              <a:extLst>
                <a:ext uri="{96DAC541-7B7A-43D3-8B79-37D633B846F1}">
                  <asvg:svgBlip r:embed="rId9"/>
                </a:ext>
              </a:extLst>
            </a:blip>
            <a:stretch>
              <a:fillRect/>
            </a:stretch>
          </p:blipFill>
          <p:spPr>
            <a:xfrm>
              <a:off x="-254000" y="-177800"/>
              <a:ext cx="365760" cy="365760"/>
            </a:xfrm>
            <a:prstGeom prst="rect">
              <a:avLst/>
            </a:prstGeom>
          </p:spPr>
        </p:pic>
        <p:sp>
          <p:nvSpPr>
            <p:cNvPr id="445" name="Text 5" descr="TEMP_Z_ORDER_15"/>
            <p:cNvSpPr/>
            <p:nvPr/>
          </p:nvSpPr>
          <p:spPr>
            <a:xfrm>
              <a:off x="233680" y="-269142"/>
              <a:ext cx="1353249" cy="51796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458BE6"/>
                  </a:solidFill>
                  <a:latin typeface="思源黑体 CN Bold" pitchFamily="34" charset="0"/>
                  <a:ea typeface="思源黑体 CN Bold" pitchFamily="34" charset="-122"/>
                  <a:cs typeface="思源黑体 CN Bold" pitchFamily="34" charset="-120"/>
                </a:rPr>
                <a:t>课前准备</a:t>
              </a:r>
              <a:endParaRPr lang="en-US" sz="2640"/>
            </a:p>
          </p:txBody>
        </p:sp>
        <p:sp>
          <p:nvSpPr>
            <p:cNvPr id="446" name="Text 6" descr="TEMP_Z_ORDER_16"/>
            <p:cNvSpPr/>
            <p:nvPr/>
          </p:nvSpPr>
          <p:spPr>
            <a:xfrm>
              <a:off x="-254000" y="492760"/>
              <a:ext cx="298228"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1.</a:t>
              </a:r>
              <a:endParaRPr lang="en-US" sz="2160"/>
            </a:p>
          </p:txBody>
        </p:sp>
        <p:sp>
          <p:nvSpPr>
            <p:cNvPr id="447" name="Text 7" descr="TEMP_Z_ORDER_17"/>
            <p:cNvSpPr/>
            <p:nvPr/>
          </p:nvSpPr>
          <p:spPr>
            <a:xfrm>
              <a:off x="172720" y="492760"/>
              <a:ext cx="3605990"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了解移动互联安全的基本概念</a:t>
              </a:r>
              <a:endParaRPr lang="en-US" sz="2160"/>
            </a:p>
          </p:txBody>
        </p:sp>
        <p:sp>
          <p:nvSpPr>
            <p:cNvPr id="448" name="Text 8" descr="TEMP_Z_ORDER_18"/>
            <p:cNvSpPr/>
            <p:nvPr/>
          </p:nvSpPr>
          <p:spPr>
            <a:xfrm>
              <a:off x="-254000" y="1087120"/>
              <a:ext cx="298228"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2.</a:t>
              </a:r>
              <a:endParaRPr lang="en-US" sz="2160"/>
            </a:p>
          </p:txBody>
        </p:sp>
        <p:sp>
          <p:nvSpPr>
            <p:cNvPr id="449" name="Text 9" descr="TEMP_Z_ORDER_19"/>
            <p:cNvSpPr/>
            <p:nvPr/>
          </p:nvSpPr>
          <p:spPr>
            <a:xfrm>
              <a:off x="172720" y="1087121"/>
              <a:ext cx="3544824"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思考：</a:t>
              </a:r>
              <a:r>
                <a:rPr lang="en-US" sz="2160">
                  <a:solidFill>
                    <a:srgbClr val="000000"/>
                  </a:solidFill>
                  <a:latin typeface="思源黑体 CN Regular" pitchFamily="34" charset="0"/>
                  <a:ea typeface="思源黑体 CN Regular" pitchFamily="34" charset="-122"/>
                  <a:cs typeface="思源黑体 CN Regular" pitchFamily="34" charset="-120"/>
                </a:rPr>
                <a:t>手机里的APP安全吗？</a:t>
              </a:r>
              <a:endParaRPr lang="en-US" sz="2160"/>
            </a:p>
          </p:txBody>
        </p:sp>
        <p:pic>
          <p:nvPicPr>
            <p:cNvPr id="450" name="Image 10" descr="TEMP_Z_ORDER_20"/>
            <p:cNvPicPr>
              <a:picLocks noChangeAspect="1"/>
            </p:cNvPicPr>
            <p:nvPr/>
          </p:nvPicPr>
          <p:blipFill>
            <a:blip r:embed="rId10"/>
            <a:stretch>
              <a:fillRect/>
            </a:stretch>
          </p:blipFill>
          <p:spPr>
            <a:xfrm>
              <a:off x="-635000" y="2489200"/>
              <a:ext cx="5242560" cy="2057400"/>
            </a:xfrm>
            <a:prstGeom prst="rect">
              <a:avLst/>
            </a:prstGeom>
          </p:spPr>
        </p:pic>
        <p:pic>
          <p:nvPicPr>
            <p:cNvPr id="451" name="Image 11" descr="TEMP_Z_ORDER_21"/>
            <p:cNvPicPr>
              <a:picLocks noChangeAspect="1"/>
            </p:cNvPicPr>
            <p:nvPr/>
          </p:nvPicPr>
          <p:blipFill>
            <a:blip r:embed="rId11"/>
            <a:stretch>
              <a:fillRect/>
            </a:stretch>
          </p:blipFill>
          <p:spPr>
            <a:xfrm>
              <a:off x="-619760" y="2504440"/>
              <a:ext cx="5212080" cy="2026920"/>
            </a:xfrm>
            <a:prstGeom prst="rect">
              <a:avLst/>
            </a:prstGeom>
          </p:spPr>
        </p:pic>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202" presetID="10" presetClass="entr" presetSubtype="0" fill="hold" grpId="1" nodeType="afterEffect">
                                  <p:stCondLst>
                                    <p:cond delay="0"/>
                                  </p:stCondLst>
                                  <p:childTnLst>
                                    <p:set>
                                      <p:cBhvr>
                                        <p:cTn id="203" dur="1" fill="hold">
                                          <p:stCondLst>
                                            <p:cond delay="0"/>
                                          </p:stCondLst>
                                        </p:cTn>
                                        <p:tgtEl>
                                          <p:spTgt spid="431"/>
                                        </p:tgtEl>
                                        <p:attrNameLst>
                                          <p:attrName>style.visibility</p:attrName>
                                        </p:attrNameLst>
                                      </p:cBhvr>
                                      <p:to>
                                        <p:strVal val="visible"/>
                                      </p:to>
                                    </p:set>
                                    <p:animEffect transition="in" filter="fade">
                                      <p:cBhvr>
                                        <p:cTn id="204" dur="750"/>
                                        <p:tgtEl>
                                          <p:spTgt spid="431"/>
                                        </p:tgtEl>
                                      </p:cBhvr>
                                    </p:animEffect>
                                  </p:childTnLst>
                                </p:cTn>
                              </p:par>
                            </p:childTnLst>
                          </p:cTn>
                        </p:par>
                        <p:par>
                          <p:cTn fill="hold">
                            <p:stCondLst>
                              <p:cond delay="0"/>
                            </p:stCondLst>
                            <p:childTnLst>
                              <p:par>
                                <p:cTn id="205" presetID="10" presetClass="entr" presetSubtype="0" fill="hold" grpId="2" nodeType="afterEffect">
                                  <p:stCondLst>
                                    <p:cond delay="0"/>
                                  </p:stCondLst>
                                  <p:childTnLst>
                                    <p:set>
                                      <p:cBhvr>
                                        <p:cTn id="206" dur="1" fill="hold">
                                          <p:stCondLst>
                                            <p:cond delay="0"/>
                                          </p:stCondLst>
                                        </p:cTn>
                                        <p:tgtEl>
                                          <p:spTgt spid="432"/>
                                        </p:tgtEl>
                                        <p:attrNameLst>
                                          <p:attrName>style.visibility</p:attrName>
                                        </p:attrNameLst>
                                      </p:cBhvr>
                                      <p:to>
                                        <p:strVal val="visible"/>
                                      </p:to>
                                    </p:set>
                                    <p:animEffect transition="in" filter="fade">
                                      <p:cBhvr>
                                        <p:cTn id="207" dur="750"/>
                                        <p:tgtEl>
                                          <p:spTgt spid="432"/>
                                        </p:tgtEl>
                                      </p:cBhvr>
                                    </p:animEffect>
                                  </p:childTnLst>
                                </p:cTn>
                              </p:par>
                            </p:childTnLst>
                          </p:cTn>
                        </p:par>
                        <p:par>
                          <p:cTn fill="hold">
                            <p:stCondLst>
                              <p:cond delay="0"/>
                            </p:stCondLst>
                            <p:childTnLst>
                              <p:par>
                                <p:cTn id="208" presetID="10" presetClass="entr" presetSubtype="0" fill="hold" grpId="3" nodeType="afterEffect">
                                  <p:stCondLst>
                                    <p:cond delay="0"/>
                                  </p:stCondLst>
                                  <p:childTnLst>
                                    <p:set>
                                      <p:cBhvr>
                                        <p:cTn id="209" dur="1" fill="hold">
                                          <p:stCondLst>
                                            <p:cond delay="0"/>
                                          </p:stCondLst>
                                        </p:cTn>
                                        <p:tgtEl>
                                          <p:spTgt spid="442"/>
                                        </p:tgtEl>
                                        <p:attrNameLst>
                                          <p:attrName>style.visibility</p:attrName>
                                        </p:attrNameLst>
                                      </p:cBhvr>
                                      <p:to>
                                        <p:strVal val="visible"/>
                                      </p:to>
                                    </p:set>
                                    <p:animEffect transition="in" filter="fade">
                                      <p:cBhvr>
                                        <p:cTn id="210" dur="750"/>
                                        <p:tgtEl>
                                          <p:spTgt spid="44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452" name=""/>
        <p:cNvGrpSpPr/>
        <p:nvPr/>
      </p:nvGrpSpPr>
      <p:grpSpPr>
        <a:xfrm>
          <a:off x="0" y="0"/>
          <a:ext cx="0" cy="0"/>
          <a:chOff x="0" y="0"/>
          <a:chExt cx="0" cy="0"/>
        </a:xfrm>
      </p:grpSpPr>
      <p:pic>
        <p:nvPicPr>
          <p:cNvPr id="4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4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4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4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常见问题与答疑</a:t>
            </a:r>
            <a:endParaRPr lang="en-US" sz="2760"/>
          </a:p>
        </p:txBody>
      </p:sp>
      <p:grpSp>
        <p:nvGrpSpPr>
          <p:cNvPr id="457" name="组合 18"/>
          <p:cNvGrpSpPr/>
          <p:nvPr/>
        </p:nvGrpSpPr>
        <p:grpSpPr>
          <a:xfrm>
            <a:off x="609600" y="1371600"/>
            <a:ext cx="10981944" cy="1569720"/>
            <a:chOff x="-635000" y="-635000"/>
            <a:chExt cx="10972800" cy="1569720"/>
          </a:xfrm>
        </p:grpSpPr>
        <p:sp>
          <p:nvSpPr>
            <p:cNvPr id="458" name="Text 1" descr="TEMP_Z_ORDER_4"/>
            <p:cNvSpPr/>
            <p:nvPr/>
          </p:nvSpPr>
          <p:spPr>
            <a:xfrm>
              <a:off x="-635000" y="-635000"/>
              <a:ext cx="6325314" cy="44306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Q1：云平台配置检查工具能替代人工核查吗？</a:t>
              </a:r>
              <a:endParaRPr lang="en-US" sz="2400"/>
            </a:p>
          </p:txBody>
        </p:sp>
        <p:pic>
          <p:nvPicPr>
            <p:cNvPr id="459" name="Image 3" descr="TEMP_Z_ORDER_5"/>
            <p:cNvPicPr>
              <a:picLocks noChangeAspect="1"/>
            </p:cNvPicPr>
            <p:nvPr/>
          </p:nvPicPr>
          <p:blipFill>
            <a:blip r:embed="rId5"/>
            <a:stretch>
              <a:fillRect/>
            </a:stretch>
          </p:blipFill>
          <p:spPr>
            <a:xfrm>
              <a:off x="-635000" y="-116840"/>
              <a:ext cx="10972800" cy="1051560"/>
            </a:xfrm>
            <a:prstGeom prst="rect">
              <a:avLst/>
            </a:prstGeom>
          </p:spPr>
        </p:pic>
        <p:sp>
          <p:nvSpPr>
            <p:cNvPr id="460" name="Text 2" descr="TEMP_Z_ORDER_6"/>
            <p:cNvSpPr/>
            <p:nvPr/>
          </p:nvSpPr>
          <p:spPr>
            <a:xfrm>
              <a:off x="-452120" y="78207"/>
              <a:ext cx="10387584" cy="7605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不能完全替代。工具可以发现配置类风险（如权限错误、端口开放），但无法判断业务逻辑合理性（如“这个端口是否真的需要开放？”）。人工核查是必要的补充。</a:t>
              </a:r>
              <a:endParaRPr lang="en-US" sz="1920"/>
            </a:p>
          </p:txBody>
        </p:sp>
      </p:grpSp>
      <p:grpSp>
        <p:nvGrpSpPr>
          <p:cNvPr id="461" name="组合 22"/>
          <p:cNvGrpSpPr/>
          <p:nvPr/>
        </p:nvGrpSpPr>
        <p:grpSpPr>
          <a:xfrm>
            <a:off x="609600" y="3185160"/>
            <a:ext cx="10981944" cy="1569720"/>
            <a:chOff x="-635000" y="-635000"/>
            <a:chExt cx="10972800" cy="1569720"/>
          </a:xfrm>
        </p:grpSpPr>
        <p:sp>
          <p:nvSpPr>
            <p:cNvPr id="462" name="Text 3" descr="TEMP_Z_ORDER_7"/>
            <p:cNvSpPr/>
            <p:nvPr/>
          </p:nvSpPr>
          <p:spPr>
            <a:xfrm>
              <a:off x="-635000" y="-635000"/>
              <a:ext cx="8480251" cy="44306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Q2：如果一个云平台承载了多个等级的业务系统，怎么测评？</a:t>
              </a:r>
              <a:endParaRPr lang="en-US" sz="2400"/>
            </a:p>
          </p:txBody>
        </p:sp>
        <p:pic>
          <p:nvPicPr>
            <p:cNvPr id="463" name="Image 4" descr="TEMP_Z_ORDER_8"/>
            <p:cNvPicPr>
              <a:picLocks noChangeAspect="1"/>
            </p:cNvPicPr>
            <p:nvPr/>
          </p:nvPicPr>
          <p:blipFill>
            <a:blip r:embed="rId5"/>
            <a:stretch>
              <a:fillRect/>
            </a:stretch>
          </p:blipFill>
          <p:spPr>
            <a:xfrm>
              <a:off x="-635000" y="-116840"/>
              <a:ext cx="10972800" cy="1051560"/>
            </a:xfrm>
            <a:prstGeom prst="rect">
              <a:avLst/>
            </a:prstGeom>
          </p:spPr>
        </p:pic>
        <p:sp>
          <p:nvSpPr>
            <p:cNvPr id="464" name="Text 4" descr="TEMP_Z_ORDER_9"/>
            <p:cNvSpPr/>
            <p:nvPr/>
          </p:nvSpPr>
          <p:spPr>
            <a:xfrm>
              <a:off x="-452120" y="78137"/>
              <a:ext cx="10509504" cy="76066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原则：云平台的安全保护等级应不低于其承载的最高等级业务系统。即如果云平台承载了三级业务系统，云平台本身至少应按三级要求测评。</a:t>
              </a:r>
              <a:endParaRPr lang="en-US" sz="1920"/>
            </a:p>
          </p:txBody>
        </p:sp>
      </p:grpSp>
      <p:grpSp>
        <p:nvGrpSpPr>
          <p:cNvPr id="465" name="组合 14"/>
          <p:cNvGrpSpPr/>
          <p:nvPr/>
        </p:nvGrpSpPr>
        <p:grpSpPr>
          <a:xfrm>
            <a:off x="609600" y="4983480"/>
            <a:ext cx="10981690" cy="1503680"/>
            <a:chOff x="-635000" y="-635000"/>
            <a:chExt cx="10972800" cy="1569720"/>
          </a:xfrm>
        </p:grpSpPr>
        <p:sp>
          <p:nvSpPr>
            <p:cNvPr id="466" name="Text 5" descr="TEMP_Z_ORDER_10"/>
            <p:cNvSpPr/>
            <p:nvPr/>
          </p:nvSpPr>
          <p:spPr>
            <a:xfrm>
              <a:off x="-635000" y="-635000"/>
              <a:ext cx="4478226" cy="48192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Q3：混合云场景怎么划分责任？</a:t>
              </a:r>
              <a:endParaRPr lang="en-US" sz="2400"/>
            </a:p>
          </p:txBody>
        </p:sp>
        <p:pic>
          <p:nvPicPr>
            <p:cNvPr id="467" name="Image 5" descr="TEMP_Z_ORDER_11"/>
            <p:cNvPicPr>
              <a:picLocks noChangeAspect="1"/>
            </p:cNvPicPr>
            <p:nvPr/>
          </p:nvPicPr>
          <p:blipFill>
            <a:blip r:embed="rId5"/>
            <a:stretch>
              <a:fillRect/>
            </a:stretch>
          </p:blipFill>
          <p:spPr>
            <a:xfrm>
              <a:off x="-635000" y="-116840"/>
              <a:ext cx="10972800" cy="1051560"/>
            </a:xfrm>
            <a:prstGeom prst="rect">
              <a:avLst/>
            </a:prstGeom>
          </p:spPr>
        </p:pic>
        <p:sp>
          <p:nvSpPr>
            <p:cNvPr id="468" name="Text 6" descr="TEMP_Z_ORDER_12"/>
            <p:cNvSpPr/>
            <p:nvPr/>
          </p:nvSpPr>
          <p:spPr>
            <a:xfrm>
              <a:off x="-452272" y="78105"/>
              <a:ext cx="10509382" cy="681355"/>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混合云中，公有云部分适用云计算扩展要求，私有云部分适用安全通用要求。责任划分需根据具体服务模式确定。</a:t>
              </a:r>
              <a:endParaRPr lang="en-US" sz="192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211" presetID="10" presetClass="entr" presetSubtype="0" fill="hold" grpId="1" nodeType="afterEffect">
                                  <p:stCondLst>
                                    <p:cond delay="0"/>
                                  </p:stCondLst>
                                  <p:childTnLst>
                                    <p:set>
                                      <p:cBhvr>
                                        <p:cTn id="212" dur="1" fill="hold">
                                          <p:stCondLst>
                                            <p:cond delay="0"/>
                                          </p:stCondLst>
                                        </p:cTn>
                                        <p:tgtEl>
                                          <p:spTgt spid="456"/>
                                        </p:tgtEl>
                                        <p:attrNameLst>
                                          <p:attrName>style.visibility</p:attrName>
                                        </p:attrNameLst>
                                      </p:cBhvr>
                                      <p:to>
                                        <p:strVal val="visible"/>
                                      </p:to>
                                    </p:set>
                                    <p:animEffect transition="in" filter="fade">
                                      <p:cBhvr>
                                        <p:cTn id="213" dur="750"/>
                                        <p:tgtEl>
                                          <p:spTgt spid="456"/>
                                        </p:tgtEl>
                                      </p:cBhvr>
                                    </p:animEffect>
                                  </p:childTnLst>
                                </p:cTn>
                              </p:par>
                            </p:childTnLst>
                          </p:cTn>
                        </p:par>
                        <p:par>
                          <p:cTn fill="hold">
                            <p:stCondLst>
                              <p:cond delay="0"/>
                            </p:stCondLst>
                            <p:childTnLst>
                              <p:par>
                                <p:cTn id="214" presetID="17" presetClass="entr" presetSubtype="10" fill="hold" grpId="2" nodeType="afterEffect">
                                  <p:stCondLst>
                                    <p:cond delay="0"/>
                                  </p:stCondLst>
                                  <p:childTnLst>
                                    <p:set>
                                      <p:cBhvr>
                                        <p:cTn id="215" dur="1" fill="hold">
                                          <p:stCondLst>
                                            <p:cond delay="0"/>
                                          </p:stCondLst>
                                        </p:cTn>
                                        <p:tgtEl>
                                          <p:spTgt spid="457"/>
                                        </p:tgtEl>
                                        <p:attrNameLst>
                                          <p:attrName>style.visibility</p:attrName>
                                        </p:attrNameLst>
                                      </p:cBhvr>
                                      <p:to>
                                        <p:strVal val="visible"/>
                                      </p:to>
                                    </p:set>
                                    <p:anim calcmode="lin" valueType="num">
                                      <p:cBhvr>
                                        <p:cTn id="216" dur="750" fill="hold"/>
                                        <p:tgtEl>
                                          <p:spTgt spid="457"/>
                                        </p:tgtEl>
                                        <p:attrNameLst>
                                          <p:attrName>ppt_w</p:attrName>
                                        </p:attrNameLst>
                                      </p:cBhvr>
                                      <p:tavLst>
                                        <p:tav tm="0">
                                          <p:val>
                                            <p:fltVal val="0"/>
                                          </p:val>
                                        </p:tav>
                                        <p:tav tm="100000">
                                          <p:val>
                                            <p:strVal val="#ppt_w"/>
                                          </p:val>
                                        </p:tav>
                                      </p:tavLst>
                                    </p:anim>
                                    <p:anim calcmode="lin" valueType="num">
                                      <p:cBhvr>
                                        <p:cTn id="217" dur="750" fill="hold"/>
                                        <p:tgtEl>
                                          <p:spTgt spid="457"/>
                                        </p:tgtEl>
                                        <p:attrNameLst>
                                          <p:attrName>ppt_h</p:attrName>
                                        </p:attrNameLst>
                                      </p:cBhvr>
                                      <p:tavLst>
                                        <p:tav tm="0">
                                          <p:val>
                                            <p:strVal val="#ppt_h"/>
                                          </p:val>
                                        </p:tav>
                                        <p:tav tm="100000">
                                          <p:val>
                                            <p:strVal val="#ppt_h"/>
                                          </p:val>
                                        </p:tav>
                                      </p:tavLst>
                                    </p:anim>
                                  </p:childTnLst>
                                </p:cTn>
                              </p:par>
                            </p:childTnLst>
                          </p:cTn>
                        </p:par>
                        <p:par>
                          <p:cTn fill="hold">
                            <p:stCondLst>
                              <p:cond delay="0"/>
                            </p:stCondLst>
                            <p:childTnLst>
                              <p:par>
                                <p:cTn id="218" presetID="17" presetClass="entr" presetSubtype="10" fill="hold" grpId="3" nodeType="afterEffect">
                                  <p:stCondLst>
                                    <p:cond delay="0"/>
                                  </p:stCondLst>
                                  <p:childTnLst>
                                    <p:set>
                                      <p:cBhvr>
                                        <p:cTn id="219" dur="1" fill="hold">
                                          <p:stCondLst>
                                            <p:cond delay="0"/>
                                          </p:stCondLst>
                                        </p:cTn>
                                        <p:tgtEl>
                                          <p:spTgt spid="461"/>
                                        </p:tgtEl>
                                        <p:attrNameLst>
                                          <p:attrName>style.visibility</p:attrName>
                                        </p:attrNameLst>
                                      </p:cBhvr>
                                      <p:to>
                                        <p:strVal val="visible"/>
                                      </p:to>
                                    </p:set>
                                    <p:anim calcmode="lin" valueType="num">
                                      <p:cBhvr>
                                        <p:cTn id="220" dur="750" fill="hold"/>
                                        <p:tgtEl>
                                          <p:spTgt spid="461"/>
                                        </p:tgtEl>
                                        <p:attrNameLst>
                                          <p:attrName>ppt_w</p:attrName>
                                        </p:attrNameLst>
                                      </p:cBhvr>
                                      <p:tavLst>
                                        <p:tav tm="0">
                                          <p:val>
                                            <p:fltVal val="0"/>
                                          </p:val>
                                        </p:tav>
                                        <p:tav tm="100000">
                                          <p:val>
                                            <p:strVal val="#ppt_w"/>
                                          </p:val>
                                        </p:tav>
                                      </p:tavLst>
                                    </p:anim>
                                    <p:anim calcmode="lin" valueType="num">
                                      <p:cBhvr>
                                        <p:cTn id="221" dur="750" fill="hold"/>
                                        <p:tgtEl>
                                          <p:spTgt spid="461"/>
                                        </p:tgtEl>
                                        <p:attrNameLst>
                                          <p:attrName>ppt_h</p:attrName>
                                        </p:attrNameLst>
                                      </p:cBhvr>
                                      <p:tavLst>
                                        <p:tav tm="0">
                                          <p:val>
                                            <p:strVal val="#ppt_h"/>
                                          </p:val>
                                        </p:tav>
                                        <p:tav tm="100000">
                                          <p:val>
                                            <p:strVal val="#ppt_h"/>
                                          </p:val>
                                        </p:tav>
                                      </p:tavLst>
                                    </p:anim>
                                  </p:childTnLst>
                                </p:cTn>
                              </p:par>
                            </p:childTnLst>
                          </p:cTn>
                        </p:par>
                        <p:par>
                          <p:cTn fill="hold">
                            <p:stCondLst>
                              <p:cond delay="0"/>
                            </p:stCondLst>
                            <p:childTnLst>
                              <p:par>
                                <p:cTn id="222" presetID="17" presetClass="entr" presetSubtype="10" fill="hold" grpId="4" nodeType="afterEffect">
                                  <p:stCondLst>
                                    <p:cond delay="0"/>
                                  </p:stCondLst>
                                  <p:childTnLst>
                                    <p:set>
                                      <p:cBhvr>
                                        <p:cTn id="223" dur="1" fill="hold">
                                          <p:stCondLst>
                                            <p:cond delay="0"/>
                                          </p:stCondLst>
                                        </p:cTn>
                                        <p:tgtEl>
                                          <p:spTgt spid="465"/>
                                        </p:tgtEl>
                                        <p:attrNameLst>
                                          <p:attrName>style.visibility</p:attrName>
                                        </p:attrNameLst>
                                      </p:cBhvr>
                                      <p:to>
                                        <p:strVal val="visible"/>
                                      </p:to>
                                    </p:set>
                                    <p:anim calcmode="lin" valueType="num">
                                      <p:cBhvr>
                                        <p:cTn id="224" dur="750" fill="hold"/>
                                        <p:tgtEl>
                                          <p:spTgt spid="465"/>
                                        </p:tgtEl>
                                        <p:attrNameLst>
                                          <p:attrName>ppt_w</p:attrName>
                                        </p:attrNameLst>
                                      </p:cBhvr>
                                      <p:tavLst>
                                        <p:tav tm="0">
                                          <p:val>
                                            <p:fltVal val="0"/>
                                          </p:val>
                                        </p:tav>
                                        <p:tav tm="100000">
                                          <p:val>
                                            <p:strVal val="#ppt_w"/>
                                          </p:val>
                                        </p:tav>
                                      </p:tavLst>
                                    </p:anim>
                                    <p:anim calcmode="lin" valueType="num">
                                      <p:cBhvr>
                                        <p:cTn id="225" dur="750" fill="hold"/>
                                        <p:tgtEl>
                                          <p:spTgt spid="4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6.xml><?xml version="1.0" encoding="utf-8"?>
<p:sld xmlns:p="http://schemas.openxmlformats.org/presentationml/2006/main" xmlns:a="http://schemas.openxmlformats.org/drawingml/2006/main" xmlns:asvg="http://schemas.microsoft.com/office/drawing/2016/SVG/main" xmlns:r="http://schemas.openxmlformats.org/officeDocument/2006/relationships" xmlns:mc="http://schemas.openxmlformats.org/markup-compatibility/2006" mc:Ignorable="asvg">
  <p:cSld>
    <p:bg>
      <p:bgPr>
        <a:solidFill>
          <a:srgbClr val="FFFFFF"/>
        </a:solidFill>
        <a:effectLst/>
      </p:bgPr>
    </p:bg>
    <p:spTree>
      <p:nvGrpSpPr>
        <p:cNvPr id="469" name=""/>
        <p:cNvGrpSpPr/>
        <p:nvPr/>
      </p:nvGrpSpPr>
      <p:grpSpPr>
        <a:xfrm>
          <a:off x="0" y="0"/>
          <a:ext cx="0" cy="0"/>
          <a:chOff x="0" y="0"/>
          <a:chExt cx="0" cy="0"/>
        </a:xfrm>
      </p:grpSpPr>
      <p:pic>
        <p:nvPicPr>
          <p:cNvPr id="470"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pic>
        <p:nvPicPr>
          <p:cNvPr id="471"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3"/>
          <a:stretch>
            <a:fillRect/>
          </a:stretch>
        </p:blipFill>
        <p:spPr>
          <a:xfrm>
            <a:off x="206948" y="209725"/>
            <a:ext cx="11778103" cy="6283330"/>
          </a:xfrm>
          <a:prstGeom prst="rect">
            <a:avLst/>
          </a:prstGeom>
        </p:spPr>
      </p:pic>
      <p:pic>
        <p:nvPicPr>
          <p:cNvPr id="472"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4"/>
          <a:stretch>
            <a:fillRect/>
          </a:stretch>
        </p:blipFill>
        <p:spPr>
          <a:xfrm>
            <a:off x="481856" y="550584"/>
            <a:ext cx="116485" cy="429934"/>
          </a:xfrm>
          <a:prstGeom prst="rect">
            <a:avLst/>
          </a:prstGeom>
        </p:spPr>
      </p:pic>
      <p:sp>
        <p:nvSpPr>
          <p:cNvPr id="473"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课堂小结</a:t>
            </a:r>
            <a:endParaRPr lang="en-US" sz="2760"/>
          </a:p>
        </p:txBody>
      </p:sp>
      <p:grpSp>
        <p:nvGrpSpPr>
          <p:cNvPr id="474" name="组合 23"/>
          <p:cNvGrpSpPr/>
          <p:nvPr/>
        </p:nvGrpSpPr>
        <p:grpSpPr>
          <a:xfrm>
            <a:off x="609600" y="1371600"/>
            <a:ext cx="10972800" cy="5102860"/>
            <a:chOff x="-635000" y="-635000"/>
            <a:chExt cx="10972800" cy="5181600"/>
          </a:xfrm>
        </p:grpSpPr>
        <p:pic>
          <p:nvPicPr>
            <p:cNvPr id="475" name="Image 3" descr="TEMP_Z_ORDER_4"/>
            <p:cNvPicPr>
              <a:picLocks noChangeAspect="1"/>
            </p:cNvPicPr>
            <p:nvPr/>
          </p:nvPicPr>
          <p:blipFill>
            <a:blip r:embed="rId5"/>
            <a:stretch>
              <a:fillRect/>
            </a:stretch>
          </p:blipFill>
          <p:spPr>
            <a:xfrm>
              <a:off x="-635000" y="-635000"/>
              <a:ext cx="3459480" cy="5181600"/>
            </a:xfrm>
            <a:prstGeom prst="rect">
              <a:avLst/>
            </a:prstGeom>
          </p:spPr>
        </p:pic>
        <p:pic>
          <p:nvPicPr>
            <p:cNvPr id="476" name="Image 4" descr="TEMP_Z_ORDER_5"/>
            <p:cNvPicPr>
              <a:picLocks noChangeAspect="1"/>
            </p:cNvPicPr>
            <p:nvPr/>
          </p:nvPicPr>
          <p:blipFill>
            <a:blip>
              <a:extLst>
                <a:ext uri="{96DAC541-7B7A-43D3-8B79-37D633B846F1}">
                  <asvg:svgBlip r:embed="rId6"/>
                </a:ext>
              </a:extLst>
            </a:blip>
            <a:stretch>
              <a:fillRect/>
            </a:stretch>
          </p:blipFill>
          <p:spPr>
            <a:xfrm>
              <a:off x="-314960" y="-162560"/>
              <a:ext cx="548640" cy="548640"/>
            </a:xfrm>
            <a:prstGeom prst="rect">
              <a:avLst/>
            </a:prstGeom>
          </p:spPr>
        </p:pic>
        <p:sp>
          <p:nvSpPr>
            <p:cNvPr id="477" name="Text 1" descr="TEMP_Z_ORDER_6"/>
            <p:cNvSpPr/>
            <p:nvPr/>
          </p:nvSpPr>
          <p:spPr>
            <a:xfrm>
              <a:off x="-124650" y="-11432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1</a:t>
              </a:r>
              <a:endParaRPr lang="en-US" sz="2160"/>
            </a:p>
          </p:txBody>
        </p:sp>
        <p:sp>
          <p:nvSpPr>
            <p:cNvPr id="478" name="Text 2" descr="TEMP_Z_ORDER_7"/>
            <p:cNvSpPr/>
            <p:nvPr/>
          </p:nvSpPr>
          <p:spPr>
            <a:xfrm>
              <a:off x="416560" y="-160428"/>
              <a:ext cx="2272665" cy="38945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400" b="1">
                  <a:solidFill>
                    <a:srgbClr val="458BE6"/>
                  </a:solidFill>
                  <a:latin typeface="思源黑体 CN Bold" pitchFamily="34" charset="0"/>
                  <a:ea typeface="思源黑体 CN Bold" pitchFamily="34" charset="-122"/>
                  <a:cs typeface="思源黑体 CN Bold" pitchFamily="34" charset="-120"/>
                </a:rPr>
                <a:t>三个核心知识点</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79" name="Text 3" descr="TEMP_Z_ORDER_8"/>
            <p:cNvSpPr/>
            <p:nvPr/>
          </p:nvSpPr>
          <p:spPr>
            <a:xfrm>
              <a:off x="-314960" y="534952"/>
              <a:ext cx="2828544" cy="112066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b="1">
                  <a:solidFill>
                    <a:srgbClr val="458BE6"/>
                  </a:solidFill>
                  <a:latin typeface="思源黑体 CN Bold" pitchFamily="34" charset="0"/>
                  <a:ea typeface="思源黑体 CN Bold" pitchFamily="34" charset="-122"/>
                  <a:cs typeface="思源黑体 CN Bold" pitchFamily="34" charset="-120"/>
                </a:rPr>
                <a:t>①</a:t>
              </a:r>
              <a:r>
                <a:rPr lang="en-US">
                  <a:solidFill>
                    <a:srgbClr val="000000"/>
                  </a:solidFill>
                  <a:latin typeface="思源黑体 CN Regular" pitchFamily="34" charset="0"/>
                  <a:ea typeface="思源黑体 CN Regular" pitchFamily="34" charset="-122"/>
                  <a:cs typeface="思源黑体 CN Regular" pitchFamily="34" charset="-120"/>
                </a:rPr>
                <a:t>云计算安全扩展要求包含7个安全类，需区分平台责任与客户责任；</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sp>
          <p:nvSpPr>
            <p:cNvPr id="480" name="Text 4" descr="TEMP_Z_ORDER_9"/>
            <p:cNvSpPr/>
            <p:nvPr/>
          </p:nvSpPr>
          <p:spPr>
            <a:xfrm>
              <a:off x="-314960" y="1724848"/>
              <a:ext cx="2828544" cy="149464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800" b="1">
                  <a:solidFill>
                    <a:srgbClr val="458BE6"/>
                  </a:solidFill>
                  <a:latin typeface="思源黑体 CN Bold" pitchFamily="34" charset="0"/>
                  <a:ea typeface="思源黑体 CN Bold" pitchFamily="34" charset="-122"/>
                  <a:cs typeface="思源黑体 CN Bold" pitchFamily="34" charset="-120"/>
                </a:rPr>
                <a:t>②</a:t>
              </a:r>
              <a:r>
                <a:rPr lang="en-US" sz="1800">
                  <a:solidFill>
                    <a:srgbClr val="000000"/>
                  </a:solidFill>
                  <a:latin typeface="思源黑体 CN Regular" pitchFamily="34" charset="0"/>
                  <a:ea typeface="思源黑体 CN Regular" pitchFamily="34" charset="-122"/>
                  <a:cs typeface="思源黑体 CN Regular" pitchFamily="34" charset="-120"/>
                </a:rPr>
                <a:t>安全区域边界（访问控制/入侵防范/审计）和安全计算环境（身份鉴别/镜像/数据保护）是核查重点；</a:t>
              </a:r>
              <a:endParaRPr lang="en-US" sz="1800"/>
            </a:p>
          </p:txBody>
        </p:sp>
        <p:sp>
          <p:nvSpPr>
            <p:cNvPr id="481" name="Text 5" descr="TEMP_Z_ORDER_10"/>
            <p:cNvSpPr/>
            <p:nvPr/>
          </p:nvSpPr>
          <p:spPr>
            <a:xfrm>
              <a:off x="-314960" y="3292216"/>
              <a:ext cx="2828544" cy="74732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b="1">
                  <a:solidFill>
                    <a:srgbClr val="458BE6"/>
                  </a:solidFill>
                  <a:latin typeface="思源黑体 CN Bold" pitchFamily="34" charset="0"/>
                  <a:ea typeface="思源黑体 CN Bold" pitchFamily="34" charset="-122"/>
                  <a:cs typeface="思源黑体 CN Bold" pitchFamily="34" charset="-120"/>
                </a:rPr>
                <a:t>③</a:t>
              </a:r>
              <a:r>
                <a:rPr lang="en-US">
                  <a:solidFill>
                    <a:srgbClr val="000000"/>
                  </a:solidFill>
                  <a:latin typeface="思源黑体 CN Regular" pitchFamily="34" charset="0"/>
                  <a:ea typeface="思源黑体 CN Regular" pitchFamily="34" charset="-122"/>
                  <a:cs typeface="思源黑体 CN Regular" pitchFamily="34" charset="-120"/>
                </a:rPr>
                <a:t>云平台配置检查工具可辅助识别配置风险</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pic>
          <p:nvPicPr>
            <p:cNvPr id="482" name="Image 5" descr="TEMP_Z_ORDER_11"/>
            <p:cNvPicPr>
              <a:picLocks noChangeAspect="1"/>
            </p:cNvPicPr>
            <p:nvPr/>
          </p:nvPicPr>
          <p:blipFill>
            <a:blip r:embed="rId5"/>
            <a:stretch>
              <a:fillRect/>
            </a:stretch>
          </p:blipFill>
          <p:spPr>
            <a:xfrm>
              <a:off x="3129280" y="-635000"/>
              <a:ext cx="3459480" cy="5181600"/>
            </a:xfrm>
            <a:prstGeom prst="rect">
              <a:avLst/>
            </a:prstGeom>
          </p:spPr>
        </p:pic>
        <p:pic>
          <p:nvPicPr>
            <p:cNvPr id="483" name="Image 6" descr="TEMP_Z_ORDER_12"/>
            <p:cNvPicPr>
              <a:picLocks noChangeAspect="1"/>
            </p:cNvPicPr>
            <p:nvPr/>
          </p:nvPicPr>
          <p:blipFill>
            <a:blip>
              <a:extLst>
                <a:ext uri="{96DAC541-7B7A-43D3-8B79-37D633B846F1}">
                  <asvg:svgBlip r:embed="rId6"/>
                </a:ext>
              </a:extLst>
            </a:blip>
            <a:stretch>
              <a:fillRect/>
            </a:stretch>
          </p:blipFill>
          <p:spPr>
            <a:xfrm>
              <a:off x="3449320" y="-314960"/>
              <a:ext cx="548640" cy="548640"/>
            </a:xfrm>
            <a:prstGeom prst="rect">
              <a:avLst/>
            </a:prstGeom>
          </p:spPr>
        </p:pic>
        <p:sp>
          <p:nvSpPr>
            <p:cNvPr id="484" name="Text 6" descr="TEMP_Z_ORDER_13"/>
            <p:cNvSpPr/>
            <p:nvPr/>
          </p:nvSpPr>
          <p:spPr>
            <a:xfrm>
              <a:off x="3624389" y="-25148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2</a:t>
              </a:r>
              <a:endParaRPr lang="en-US" sz="2160"/>
            </a:p>
          </p:txBody>
        </p:sp>
        <p:sp>
          <p:nvSpPr>
            <p:cNvPr id="485" name="Text 7" descr="TEMP_Z_ORDER_14"/>
            <p:cNvSpPr/>
            <p:nvPr/>
          </p:nvSpPr>
          <p:spPr>
            <a:xfrm>
              <a:off x="4180840" y="-176624"/>
              <a:ext cx="2029873" cy="31079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两个关键技能</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86" name="Text 8" descr="TEMP_Z_ORDER_15"/>
            <p:cNvSpPr/>
            <p:nvPr/>
          </p:nvSpPr>
          <p:spPr>
            <a:xfrm>
              <a:off x="3449320" y="477520"/>
              <a:ext cx="2828544" cy="79632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b="1">
                  <a:solidFill>
                    <a:srgbClr val="458BE6"/>
                  </a:solidFill>
                  <a:latin typeface="思源黑体 CN Bold" pitchFamily="34" charset="0"/>
                  <a:ea typeface="思源黑体 CN Bold" pitchFamily="34" charset="-122"/>
                  <a:cs typeface="思源黑体 CN Bold" pitchFamily="34" charset="-120"/>
                </a:rPr>
                <a:t>①</a:t>
              </a:r>
              <a:r>
                <a:rPr lang="en-US" sz="1920">
                  <a:solidFill>
                    <a:srgbClr val="000000"/>
                  </a:solidFill>
                  <a:latin typeface="思源黑体 CN Regular" pitchFamily="34" charset="0"/>
                  <a:ea typeface="思源黑体 CN Regular" pitchFamily="34" charset="-122"/>
                  <a:cs typeface="思源黑体 CN Regular" pitchFamily="34" charset="-120"/>
                </a:rPr>
                <a:t>能依据等保要求对云平台进行安全配置核查；</a:t>
              </a:r>
              <a:endParaRPr lang="en-US" sz="1920"/>
            </a:p>
          </p:txBody>
        </p:sp>
        <p:sp>
          <p:nvSpPr>
            <p:cNvPr id="487" name="Text 9" descr="TEMP_Z_ORDER_16"/>
            <p:cNvSpPr/>
            <p:nvPr/>
          </p:nvSpPr>
          <p:spPr>
            <a:xfrm>
              <a:off x="3449320" y="1437640"/>
              <a:ext cx="2828544" cy="79632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b="1">
                  <a:solidFill>
                    <a:srgbClr val="458BE6"/>
                  </a:solidFill>
                  <a:latin typeface="思源黑体 CN Bold" pitchFamily="34" charset="0"/>
                  <a:ea typeface="思源黑体 CN Bold" pitchFamily="34" charset="-122"/>
                  <a:cs typeface="思源黑体 CN Bold" pitchFamily="34" charset="-120"/>
                </a:rPr>
                <a:t>②</a:t>
              </a:r>
              <a:r>
                <a:rPr lang="en-US" sz="1920">
                  <a:solidFill>
                    <a:srgbClr val="000000"/>
                  </a:solidFill>
                  <a:latin typeface="思源黑体 CN Regular" pitchFamily="34" charset="0"/>
                  <a:ea typeface="思源黑体 CN Regular" pitchFamily="34" charset="-122"/>
                  <a:cs typeface="思源黑体 CN Regular" pitchFamily="34" charset="-120"/>
                </a:rPr>
                <a:t>能规范填写《云计算安全测评记录表》</a:t>
              </a:r>
              <a:endParaRPr lang="en-US" sz="1920"/>
            </a:p>
          </p:txBody>
        </p:sp>
        <p:pic>
          <p:nvPicPr>
            <p:cNvPr id="488" name="Image 7" descr="TEMP_Z_ORDER_17"/>
            <p:cNvPicPr>
              <a:picLocks noChangeAspect="1"/>
            </p:cNvPicPr>
            <p:nvPr/>
          </p:nvPicPr>
          <p:blipFill>
            <a:blip r:embed="rId5"/>
            <a:stretch>
              <a:fillRect/>
            </a:stretch>
          </p:blipFill>
          <p:spPr>
            <a:xfrm>
              <a:off x="6878320" y="-635000"/>
              <a:ext cx="3459480" cy="5181600"/>
            </a:xfrm>
            <a:prstGeom prst="rect">
              <a:avLst/>
            </a:prstGeom>
          </p:spPr>
        </p:pic>
        <p:pic>
          <p:nvPicPr>
            <p:cNvPr id="489" name="Image 8" descr="TEMP_Z_ORDER_18"/>
            <p:cNvPicPr>
              <a:picLocks noChangeAspect="1"/>
            </p:cNvPicPr>
            <p:nvPr/>
          </p:nvPicPr>
          <p:blipFill>
            <a:blip>
              <a:extLst>
                <a:ext uri="{96DAC541-7B7A-43D3-8B79-37D633B846F1}">
                  <asvg:svgBlip r:embed="rId6"/>
                </a:ext>
              </a:extLst>
            </a:blip>
            <a:stretch>
              <a:fillRect/>
            </a:stretch>
          </p:blipFill>
          <p:spPr>
            <a:xfrm>
              <a:off x="7198360" y="-314960"/>
              <a:ext cx="548640" cy="548640"/>
            </a:xfrm>
            <a:prstGeom prst="rect">
              <a:avLst/>
            </a:prstGeom>
          </p:spPr>
        </p:pic>
        <p:sp>
          <p:nvSpPr>
            <p:cNvPr id="490" name="Text 10" descr="TEMP_Z_ORDER_19"/>
            <p:cNvSpPr/>
            <p:nvPr/>
          </p:nvSpPr>
          <p:spPr>
            <a:xfrm>
              <a:off x="7388670" y="-25148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3</a:t>
              </a:r>
              <a:endParaRPr lang="en-US" sz="2160"/>
            </a:p>
          </p:txBody>
        </p:sp>
        <p:sp>
          <p:nvSpPr>
            <p:cNvPr id="491" name="Text 11" descr="TEMP_Z_ORDER_20"/>
            <p:cNvSpPr/>
            <p:nvPr/>
          </p:nvSpPr>
          <p:spPr>
            <a:xfrm>
              <a:off x="7929880" y="-176624"/>
              <a:ext cx="2029873" cy="31079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一个职业准则</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92" name="Text 12" descr="TEMP_Z_ORDER_21"/>
            <p:cNvSpPr/>
            <p:nvPr/>
          </p:nvSpPr>
          <p:spPr>
            <a:xfrm>
              <a:off x="7198360" y="477520"/>
              <a:ext cx="2828544" cy="119481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云安全测评需要“</a:t>
              </a:r>
              <a:r>
                <a:rPr lang="en-US" sz="1920" b="1">
                  <a:solidFill>
                    <a:srgbClr val="458BE6"/>
                  </a:solidFill>
                  <a:latin typeface="思源黑体 CN Bold" pitchFamily="34" charset="0"/>
                  <a:ea typeface="思源黑体 CN Bold" pitchFamily="34" charset="-122"/>
                  <a:cs typeface="思源黑体 CN Bold" pitchFamily="34" charset="-120"/>
                </a:rPr>
                <a:t>逐项对照、逐条记录</a:t>
              </a:r>
              <a:r>
                <a:rPr lang="en-US" sz="1920">
                  <a:solidFill>
                    <a:srgbClr val="000000"/>
                  </a:solidFill>
                  <a:latin typeface="思源黑体 CN Regular" pitchFamily="34" charset="0"/>
                  <a:ea typeface="思源黑体 CN Regular" pitchFamily="34" charset="-122"/>
                  <a:cs typeface="思源黑体 CN Regular" pitchFamily="34" charset="-120"/>
                </a:rPr>
                <a:t>”，严谨是对数据安全的最大尊重</a:t>
              </a:r>
              <a:endParaRPr lang="en-US" sz="1920"/>
            </a:p>
          </p:txBody>
        </p:sp>
      </p:grpSp>
    </p:spTree>
  </p:cSld>
  <p:clrMapOvr>
    <a:masterClrMapping/>
  </p:clrMapOvr>
  <p:transition/>
  <p:timing>
    <p:tnLst>
      <p:par>
        <p:cTn dur="indefinite" restart="never" nodeType="tmRoot">
          <p:childTnLst>
            <p:seq concurrent="1" nextAc="seek">
              <p:cTn dur="indefinite" nodeType="mainSeq">
                <p:childTnLst>
                  <p:par>
                    <p:cTn fill="hold">
                      <p:stCondLst>
                        <p:cond delay="indefinite"/>
                      </p:stCondLst>
                      <p:childTnLst>
                        <p:par>
                          <p:cTn fill="hold">
                            <p:stCondLst>
                              <p:cond delay="0"/>
                            </p:stCondLst>
                          </p:cTn>
                        </p:par>
                        <p:par>
                          <p:cTn fill="hold">
                            <p:stCondLst>
                              <p:cond delay="0"/>
                            </p:stCondLst>
                            <p:childTnLst>
                              <p:par>
                                <p:cTn id="226" presetID="10" presetClass="entr" presetSubtype="0" fill="hold" grpId="1" nodeType="afterEffect">
                                  <p:stCondLst>
                                    <p:cond delay="0"/>
                                  </p:stCondLst>
                                  <p:childTnLst>
                                    <p:set>
                                      <p:cBhvr>
                                        <p:cTn id="227" dur="1" fill="hold">
                                          <p:stCondLst>
                                            <p:cond delay="0"/>
                                          </p:stCondLst>
                                        </p:cTn>
                                        <p:tgtEl>
                                          <p:spTgt spid="473"/>
                                        </p:tgtEl>
                                        <p:attrNameLst>
                                          <p:attrName>style.visibility</p:attrName>
                                        </p:attrNameLst>
                                      </p:cBhvr>
                                      <p:to>
                                        <p:strVal val="visible"/>
                                      </p:to>
                                    </p:set>
                                    <p:animEffect transition="in" filter="fade">
                                      <p:cBhvr>
                                        <p:cTn id="228" dur="750"/>
                                        <p:tgtEl>
                                          <p:spTgt spid="473"/>
                                        </p:tgtEl>
                                      </p:cBhvr>
                                    </p:animEffect>
                                  </p:childTnLst>
                                </p:cTn>
                              </p:par>
                            </p:childTnLst>
                          </p:cTn>
                        </p:par>
                        <p:par>
                          <p:cTn fill="hold">
                            <p:stCondLst>
                              <p:cond delay="0"/>
                            </p:stCondLst>
                            <p:childTnLst>
                              <p:par>
                                <p:cTn id="229" presetID="2" presetClass="entr" presetSubtype="4" fill="hold" grpId="2" nodeType="afterEffect">
                                  <p:stCondLst>
                                    <p:cond delay="0"/>
                                  </p:stCondLst>
                                  <p:childTnLst>
                                    <p:set>
                                      <p:cBhvr>
                                        <p:cTn id="230" dur="1" fill="hold">
                                          <p:stCondLst>
                                            <p:cond delay="0"/>
                                          </p:stCondLst>
                                        </p:cTn>
                                        <p:tgtEl>
                                          <p:spTgt spid="474"/>
                                        </p:tgtEl>
                                        <p:attrNameLst>
                                          <p:attrName>style.visibility</p:attrName>
                                        </p:attrNameLst>
                                      </p:cBhvr>
                                      <p:to>
                                        <p:strVal val="visible"/>
                                      </p:to>
                                    </p:set>
                                    <p:anim calcmode="lin" valueType="num">
                                      <p:cBhvr additive="base">
                                        <p:cTn id="231" dur="750" fill="hold"/>
                                        <p:tgtEl>
                                          <p:spTgt spid="474"/>
                                        </p:tgtEl>
                                        <p:attrNameLst>
                                          <p:attrName>ppt_x</p:attrName>
                                        </p:attrNameLst>
                                      </p:cBhvr>
                                      <p:tavLst>
                                        <p:tav tm="0">
                                          <p:val>
                                            <p:strVal val="#ppt_x"/>
                                          </p:val>
                                        </p:tav>
                                        <p:tav tm="100000">
                                          <p:val>
                                            <p:strVal val="#ppt_x"/>
                                          </p:val>
                                        </p:tav>
                                      </p:tavLst>
                                    </p:anim>
                                    <p:anim calcmode="lin" valueType="num">
                                      <p:cBhvr additive="base">
                                        <p:cTn id="232" dur="750" fill="hold"/>
                                        <p:tgtEl>
                                          <p:spTgt spid="4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493" name=""/>
        <p:cNvGrpSpPr/>
        <p:nvPr/>
      </p:nvGrpSpPr>
      <p:grpSpPr>
        <a:xfrm>
          <a:off x="0" y="0"/>
          <a:ext cx="0" cy="0"/>
          <a:chOff x="0" y="0"/>
          <a:chExt cx="0" cy="0"/>
        </a:xfrm>
      </p:grpSpPr>
      <p:pic>
        <p:nvPicPr>
          <p:cNvPr id="49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2"/>
          <a:stretch>
            <a:fillRect/>
          </a:stretch>
        </p:blipFill>
        <p:spPr>
          <a:xfrm>
            <a:off x="0" y="0"/>
            <a:ext cx="12192000" cy="6858000"/>
          </a:xfrm>
          <a:prstGeom prst="rect">
            <a:avLst/>
          </a:prstGeom>
        </p:spPr>
      </p:pic>
      <p:sp>
        <p:nvSpPr>
          <p:cNvPr id="495"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2026-10-25T13:01:49Z</dcterms:created>
  <dcterms:modified xsi:type="dcterms:W3CDTF">2026-10-25T13:01:49Z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A2E5F76C798E4FE4A399DCC3E5552BF5_12</vt:lpwstr>
  </property>
</Properties>
</file>