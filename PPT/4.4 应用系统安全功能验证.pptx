
<file path=[Content_Types].xml><?xml version="1.0" encoding="utf-8"?>
<Types xmlns="http://schemas.openxmlformats.org/package/2006/content-types">
  <Default Extension="vml" ContentType="application/vnd.openxmlformats-officedocument.vmlDrawing"/>
  <Default Extension="docx" ContentType="application/vnd.openxmlformats-officedocument.wordprocessingml.document"/>
  <Default Extension="png" ContentType="image/png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1.svg" ContentType="image/svg+xml"/>
  <Override PartName="/ppt/media/image103.svg" ContentType="image/svg+xml"/>
  <Override PartName="/ppt/media/image105.svg" ContentType="image/svg+xml"/>
  <Override PartName="/ppt/media/image107.svg" ContentType="image/svg+xml"/>
  <Override PartName="/ppt/media/image109.svg" ContentType="image/svg+xml"/>
  <Override PartName="/ppt/media/image114.svg" ContentType="image/svg+xml"/>
  <Override PartName="/ppt/media/image116.svg" ContentType="image/svg+xml"/>
  <Override PartName="/ppt/media/image119.svg" ContentType="image/svg+xml"/>
  <Override PartName="/ppt/media/image121.svg" ContentType="image/svg+xml"/>
  <Override PartName="/ppt/media/image123.svg" ContentType="image/svg+xml"/>
  <Override PartName="/ppt/media/image128.svg" ContentType="image/svg+xml"/>
  <Override PartName="/ppt/media/image133.svg" ContentType="image/svg+xml"/>
  <Override PartName="/ppt/media/image135.svg" ContentType="image/svg+xml"/>
  <Override PartName="/ppt/media/image138.svg" ContentType="image/svg+xml"/>
  <Override PartName="/ppt/media/image141.svg" ContentType="image/svg+xml"/>
  <Override PartName="/ppt/media/image144.svg" ContentType="image/svg+xml"/>
  <Override PartName="/ppt/media/image148.svg" ContentType="image/svg+xml"/>
  <Override PartName="/ppt/media/image152.svg" ContentType="image/svg+xml"/>
  <Override PartName="/ppt/media/image154.svg" ContentType="image/svg+xml"/>
  <Override PartName="/ppt/media/image156.svg" ContentType="image/svg+xml"/>
  <Override PartName="/ppt/media/image159.svg" ContentType="image/svg+xml"/>
  <Override PartName="/ppt/media/image16.svg" ContentType="image/svg+xml"/>
  <Override PartName="/ppt/media/image162.svg" ContentType="image/svg+xml"/>
  <Override PartName="/ppt/media/image164.svg" ContentType="image/svg+xml"/>
  <Override PartName="/ppt/media/image170.svg" ContentType="image/svg+xml"/>
  <Override PartName="/ppt/media/image172.svg" ContentType="image/svg+xml"/>
  <Override PartName="/ppt/media/image174.svg" ContentType="image/svg+xml"/>
  <Override PartName="/ppt/media/image177.svg" ContentType="image/svg+xml"/>
  <Override PartName="/ppt/media/image18.svg" ContentType="image/svg+xml"/>
  <Override PartName="/ppt/media/image182.svg" ContentType="image/svg+xml"/>
  <Override PartName="/ppt/media/image186.svg" ContentType="image/svg+xml"/>
  <Override PartName="/ppt/media/image189.svg" ContentType="image/svg+xml"/>
  <Override PartName="/ppt/media/image191.svg" ContentType="image/svg+xml"/>
  <Override PartName="/ppt/media/image195.svg" ContentType="image/svg+xml"/>
  <Override PartName="/ppt/media/image197.svg" ContentType="image/svg+xml"/>
  <Override PartName="/ppt/media/image207.svg" ContentType="image/svg+xml"/>
  <Override PartName="/ppt/media/image21.svg" ContentType="image/svg+xml"/>
  <Override PartName="/ppt/media/image214.svg" ContentType="image/svg+xml"/>
  <Override PartName="/ppt/media/image216.svg" ContentType="image/svg+xml"/>
  <Override PartName="/ppt/media/image218.svg" ContentType="image/svg+xml"/>
  <Override PartName="/ppt/media/image222.svg" ContentType="image/svg+xml"/>
  <Override PartName="/ppt/media/image224.svg" ContentType="image/svg+xml"/>
  <Override PartName="/ppt/media/image227.svg" ContentType="image/svg+xml"/>
  <Override PartName="/ppt/media/image231.svg" ContentType="image/svg+xml"/>
  <Override PartName="/ppt/media/image233.svg" ContentType="image/svg+xml"/>
  <Override PartName="/ppt/media/image235.svg" ContentType="image/svg+xml"/>
  <Override PartName="/ppt/media/image237.svg" ContentType="image/svg+xml"/>
  <Override PartName="/ppt/media/image239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1.svg" ContentType="image/svg+xml"/>
  <Override PartName="/ppt/media/image33.svg" ContentType="image/svg+xml"/>
  <Override PartName="/ppt/media/image36.svg" ContentType="image/svg+xml"/>
  <Override PartName="/ppt/media/image38.svg" ContentType="image/svg+xml"/>
  <Override PartName="/ppt/media/image40.svg" ContentType="image/svg+xml"/>
  <Override PartName="/ppt/media/image42.svg" ContentType="image/svg+xml"/>
  <Override PartName="/ppt/media/image45.svg" ContentType="image/svg+xml"/>
  <Override PartName="/ppt/media/image50.svg" ContentType="image/svg+xml"/>
  <Override PartName="/ppt/media/image54.svg" ContentType="image/svg+xml"/>
  <Override PartName="/ppt/media/image56.svg" ContentType="image/svg+xml"/>
  <Override PartName="/ppt/media/image59.svg" ContentType="image/svg+xml"/>
  <Override PartName="/ppt/media/image61.svg" ContentType="image/svg+xml"/>
  <Override PartName="/ppt/media/image63.svg" ContentType="image/svg+xml"/>
  <Override PartName="/ppt/media/image66.svg" ContentType="image/svg+xml"/>
  <Override PartName="/ppt/media/image68.svg" ContentType="image/svg+xml"/>
  <Override PartName="/ppt/media/image70.svg" ContentType="image/svg+xml"/>
  <Override PartName="/ppt/media/image72.svg" ContentType="image/svg+xml"/>
  <Override PartName="/ppt/media/image74.svg" ContentType="image/svg+xml"/>
  <Override PartName="/ppt/media/image76.svg" ContentType="image/svg+xml"/>
  <Override PartName="/ppt/media/image78.svg" ContentType="image/svg+xml"/>
  <Override PartName="/ppt/media/image80.svg" ContentType="image/svg+xml"/>
  <Override PartName="/ppt/media/image82.svg" ContentType="image/svg+xml"/>
  <Override PartName="/ppt/media/image84.svg" ContentType="image/svg+xml"/>
  <Override PartName="/ppt/media/image86.svg" ContentType="image/svg+xml"/>
  <Override PartName="/ppt/media/image89.svg" ContentType="image/svg+xml"/>
  <Override PartName="/ppt/media/image92.svg" ContentType="image/svg+xml"/>
  <Override PartName="/ppt/media/image94.svg" ContentType="image/svg+xml"/>
  <Override PartName="/ppt/media/image96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2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87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50.w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203.w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204.w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228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0" Type="http://schemas.openxmlformats.org/officeDocument/2006/relationships/notesSlide" Target="../notesSlides/notesSlide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.svg"/><Relationship Id="rId8" Type="http://schemas.openxmlformats.org/officeDocument/2006/relationships/image" Target="../media/image17.png"/><Relationship Id="rId7" Type="http://schemas.openxmlformats.org/officeDocument/2006/relationships/image" Target="../media/image16.svg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7" Type="http://schemas.openxmlformats.org/officeDocument/2006/relationships/notesSlide" Target="../notesSlides/notesSlide3.xml"/><Relationship Id="rId16" Type="http://schemas.openxmlformats.org/officeDocument/2006/relationships/vmlDrawing" Target="../drawings/vmlDrawing1.v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22.wmf"/><Relationship Id="rId13" Type="http://schemas.openxmlformats.org/officeDocument/2006/relationships/package" Target="../embeddings/Document1.docx"/><Relationship Id="rId12" Type="http://schemas.openxmlformats.org/officeDocument/2006/relationships/image" Target="../media/image21.svg"/><Relationship Id="rId11" Type="http://schemas.openxmlformats.org/officeDocument/2006/relationships/image" Target="../media/image20.png"/><Relationship Id="rId10" Type="http://schemas.openxmlformats.org/officeDocument/2006/relationships/image" Target="../media/image19.png"/><Relationship Id="rId1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28.svg"/><Relationship Id="rId8" Type="http://schemas.openxmlformats.org/officeDocument/2006/relationships/image" Target="../media/image27.png"/><Relationship Id="rId7" Type="http://schemas.openxmlformats.org/officeDocument/2006/relationships/image" Target="../media/image26.svg"/><Relationship Id="rId6" Type="http://schemas.openxmlformats.org/officeDocument/2006/relationships/image" Target="../media/image25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4" Type="http://schemas.openxmlformats.org/officeDocument/2006/relationships/notesSlide" Target="../notesSlides/notesSlide4.xml"/><Relationship Id="rId13" Type="http://schemas.openxmlformats.org/officeDocument/2006/relationships/slideLayout" Target="../slideLayouts/slideLayout1.xml"/><Relationship Id="rId12" Type="http://schemas.openxmlformats.org/officeDocument/2006/relationships/image" Target="../media/image31.svg"/><Relationship Id="rId11" Type="http://schemas.openxmlformats.org/officeDocument/2006/relationships/image" Target="../media/image30.png"/><Relationship Id="rId10" Type="http://schemas.openxmlformats.org/officeDocument/2006/relationships/image" Target="../media/image29.png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37.png"/><Relationship Id="rId8" Type="http://schemas.openxmlformats.org/officeDocument/2006/relationships/image" Target="../media/image36.svg"/><Relationship Id="rId7" Type="http://schemas.openxmlformats.org/officeDocument/2006/relationships/image" Target="../media/image35.png"/><Relationship Id="rId6" Type="http://schemas.openxmlformats.org/officeDocument/2006/relationships/image" Target="../media/image34.png"/><Relationship Id="rId5" Type="http://schemas.openxmlformats.org/officeDocument/2006/relationships/image" Target="../media/image33.svg"/><Relationship Id="rId4" Type="http://schemas.openxmlformats.org/officeDocument/2006/relationships/image" Target="../media/image32.png"/><Relationship Id="rId3" Type="http://schemas.openxmlformats.org/officeDocument/2006/relationships/image" Target="../media/image12.png"/><Relationship Id="rId25" Type="http://schemas.openxmlformats.org/officeDocument/2006/relationships/notesSlide" Target="../notesSlides/notesSlide5.xml"/><Relationship Id="rId24" Type="http://schemas.openxmlformats.org/officeDocument/2006/relationships/slideLayout" Target="../slideLayouts/slideLayout1.xml"/><Relationship Id="rId23" Type="http://schemas.openxmlformats.org/officeDocument/2006/relationships/image" Target="../media/image51.png"/><Relationship Id="rId22" Type="http://schemas.openxmlformats.org/officeDocument/2006/relationships/image" Target="../media/image50.svg"/><Relationship Id="rId21" Type="http://schemas.openxmlformats.org/officeDocument/2006/relationships/image" Target="../media/image49.png"/><Relationship Id="rId20" Type="http://schemas.openxmlformats.org/officeDocument/2006/relationships/image" Target="../media/image48.png"/><Relationship Id="rId2" Type="http://schemas.openxmlformats.org/officeDocument/2006/relationships/image" Target="../media/image11.png"/><Relationship Id="rId19" Type="http://schemas.openxmlformats.org/officeDocument/2006/relationships/image" Target="../media/image47.png"/><Relationship Id="rId18" Type="http://schemas.openxmlformats.org/officeDocument/2006/relationships/image" Target="../media/image46.png"/><Relationship Id="rId17" Type="http://schemas.openxmlformats.org/officeDocument/2006/relationships/image" Target="../media/image45.svg"/><Relationship Id="rId16" Type="http://schemas.openxmlformats.org/officeDocument/2006/relationships/image" Target="../media/image44.png"/><Relationship Id="rId15" Type="http://schemas.openxmlformats.org/officeDocument/2006/relationships/image" Target="../media/image43.png"/><Relationship Id="rId14" Type="http://schemas.openxmlformats.org/officeDocument/2006/relationships/image" Target="../media/image42.svg"/><Relationship Id="rId13" Type="http://schemas.openxmlformats.org/officeDocument/2006/relationships/image" Target="../media/image41.png"/><Relationship Id="rId12" Type="http://schemas.openxmlformats.org/officeDocument/2006/relationships/image" Target="../media/image40.svg"/><Relationship Id="rId11" Type="http://schemas.openxmlformats.org/officeDocument/2006/relationships/image" Target="../media/image39.png"/><Relationship Id="rId10" Type="http://schemas.openxmlformats.org/officeDocument/2006/relationships/image" Target="../media/image38.svg"/><Relationship Id="rId1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57.png"/><Relationship Id="rId8" Type="http://schemas.openxmlformats.org/officeDocument/2006/relationships/image" Target="../media/image56.svg"/><Relationship Id="rId7" Type="http://schemas.openxmlformats.org/officeDocument/2006/relationships/image" Target="../media/image55.png"/><Relationship Id="rId6" Type="http://schemas.openxmlformats.org/officeDocument/2006/relationships/image" Target="../media/image54.svg"/><Relationship Id="rId5" Type="http://schemas.openxmlformats.org/officeDocument/2006/relationships/image" Target="../media/image53.png"/><Relationship Id="rId4" Type="http://schemas.openxmlformats.org/officeDocument/2006/relationships/image" Target="../media/image52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7" Type="http://schemas.openxmlformats.org/officeDocument/2006/relationships/notesSlide" Target="../notesSlides/notesSlide6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61.svg"/><Relationship Id="rId14" Type="http://schemas.openxmlformats.org/officeDocument/2006/relationships/image" Target="../media/image60.png"/><Relationship Id="rId13" Type="http://schemas.openxmlformats.org/officeDocument/2006/relationships/image" Target="../media/image59.svg"/><Relationship Id="rId12" Type="http://schemas.openxmlformats.org/officeDocument/2006/relationships/image" Target="../media/image58.png"/><Relationship Id="rId11" Type="http://schemas.openxmlformats.org/officeDocument/2006/relationships/image" Target="../media/image45.svg"/><Relationship Id="rId10" Type="http://schemas.openxmlformats.org/officeDocument/2006/relationships/image" Target="../media/image44.png"/><Relationship Id="rId1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67.png"/><Relationship Id="rId8" Type="http://schemas.openxmlformats.org/officeDocument/2006/relationships/image" Target="../media/image66.svg"/><Relationship Id="rId7" Type="http://schemas.openxmlformats.org/officeDocument/2006/relationships/image" Target="../media/image65.png"/><Relationship Id="rId6" Type="http://schemas.openxmlformats.org/officeDocument/2006/relationships/image" Target="../media/image64.png"/><Relationship Id="rId5" Type="http://schemas.openxmlformats.org/officeDocument/2006/relationships/image" Target="../media/image63.svg"/><Relationship Id="rId4" Type="http://schemas.openxmlformats.org/officeDocument/2006/relationships/image" Target="../media/image62.png"/><Relationship Id="rId33" Type="http://schemas.openxmlformats.org/officeDocument/2006/relationships/notesSlide" Target="../notesSlides/notesSlide7.xml"/><Relationship Id="rId32" Type="http://schemas.openxmlformats.org/officeDocument/2006/relationships/vmlDrawing" Target="../drawings/vmlDrawing2.vml"/><Relationship Id="rId31" Type="http://schemas.openxmlformats.org/officeDocument/2006/relationships/slideLayout" Target="../slideLayouts/slideLayout1.xml"/><Relationship Id="rId30" Type="http://schemas.openxmlformats.org/officeDocument/2006/relationships/image" Target="../media/image87.wmf"/><Relationship Id="rId3" Type="http://schemas.openxmlformats.org/officeDocument/2006/relationships/image" Target="../media/image12.png"/><Relationship Id="rId29" Type="http://schemas.openxmlformats.org/officeDocument/2006/relationships/package" Target="../embeddings/Document2.docx"/><Relationship Id="rId28" Type="http://schemas.openxmlformats.org/officeDocument/2006/relationships/image" Target="../media/image86.svg"/><Relationship Id="rId27" Type="http://schemas.openxmlformats.org/officeDocument/2006/relationships/image" Target="../media/image85.png"/><Relationship Id="rId26" Type="http://schemas.openxmlformats.org/officeDocument/2006/relationships/image" Target="../media/image84.svg"/><Relationship Id="rId25" Type="http://schemas.openxmlformats.org/officeDocument/2006/relationships/image" Target="../media/image83.png"/><Relationship Id="rId24" Type="http://schemas.openxmlformats.org/officeDocument/2006/relationships/image" Target="../media/image82.svg"/><Relationship Id="rId23" Type="http://schemas.openxmlformats.org/officeDocument/2006/relationships/image" Target="../media/image81.png"/><Relationship Id="rId22" Type="http://schemas.openxmlformats.org/officeDocument/2006/relationships/image" Target="../media/image80.svg"/><Relationship Id="rId21" Type="http://schemas.openxmlformats.org/officeDocument/2006/relationships/image" Target="../media/image79.png"/><Relationship Id="rId20" Type="http://schemas.openxmlformats.org/officeDocument/2006/relationships/image" Target="../media/image78.svg"/><Relationship Id="rId2" Type="http://schemas.openxmlformats.org/officeDocument/2006/relationships/image" Target="../media/image11.png"/><Relationship Id="rId19" Type="http://schemas.openxmlformats.org/officeDocument/2006/relationships/image" Target="../media/image77.png"/><Relationship Id="rId18" Type="http://schemas.openxmlformats.org/officeDocument/2006/relationships/image" Target="../media/image76.svg"/><Relationship Id="rId17" Type="http://schemas.openxmlformats.org/officeDocument/2006/relationships/image" Target="../media/image75.png"/><Relationship Id="rId16" Type="http://schemas.openxmlformats.org/officeDocument/2006/relationships/image" Target="../media/image74.svg"/><Relationship Id="rId15" Type="http://schemas.openxmlformats.org/officeDocument/2006/relationships/image" Target="../media/image73.png"/><Relationship Id="rId14" Type="http://schemas.openxmlformats.org/officeDocument/2006/relationships/image" Target="../media/image72.svg"/><Relationship Id="rId13" Type="http://schemas.openxmlformats.org/officeDocument/2006/relationships/image" Target="../media/image71.png"/><Relationship Id="rId12" Type="http://schemas.openxmlformats.org/officeDocument/2006/relationships/image" Target="../media/image70.svg"/><Relationship Id="rId11" Type="http://schemas.openxmlformats.org/officeDocument/2006/relationships/image" Target="../media/image69.png"/><Relationship Id="rId10" Type="http://schemas.openxmlformats.org/officeDocument/2006/relationships/image" Target="../media/image68.svg"/><Relationship Id="rId1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93.png"/><Relationship Id="rId8" Type="http://schemas.openxmlformats.org/officeDocument/2006/relationships/image" Target="../media/image92.svg"/><Relationship Id="rId7" Type="http://schemas.openxmlformats.org/officeDocument/2006/relationships/image" Target="../media/image91.png"/><Relationship Id="rId6" Type="http://schemas.openxmlformats.org/officeDocument/2006/relationships/image" Target="../media/image90.png"/><Relationship Id="rId5" Type="http://schemas.openxmlformats.org/officeDocument/2006/relationships/image" Target="../media/image89.svg"/><Relationship Id="rId4" Type="http://schemas.openxmlformats.org/officeDocument/2006/relationships/image" Target="../media/image88.png"/><Relationship Id="rId3" Type="http://schemas.openxmlformats.org/officeDocument/2006/relationships/image" Target="../media/image12.png"/><Relationship Id="rId29" Type="http://schemas.openxmlformats.org/officeDocument/2006/relationships/notesSlide" Target="../notesSlides/notesSlide8.xml"/><Relationship Id="rId28" Type="http://schemas.openxmlformats.org/officeDocument/2006/relationships/slideLayout" Target="../slideLayouts/slideLayout1.xml"/><Relationship Id="rId27" Type="http://schemas.openxmlformats.org/officeDocument/2006/relationships/image" Target="../media/image111.png"/><Relationship Id="rId26" Type="http://schemas.openxmlformats.org/officeDocument/2006/relationships/image" Target="../media/image110.png"/><Relationship Id="rId25" Type="http://schemas.openxmlformats.org/officeDocument/2006/relationships/image" Target="../media/image109.svg"/><Relationship Id="rId24" Type="http://schemas.openxmlformats.org/officeDocument/2006/relationships/image" Target="../media/image108.png"/><Relationship Id="rId23" Type="http://schemas.openxmlformats.org/officeDocument/2006/relationships/image" Target="../media/image107.svg"/><Relationship Id="rId22" Type="http://schemas.openxmlformats.org/officeDocument/2006/relationships/image" Target="../media/image106.png"/><Relationship Id="rId21" Type="http://schemas.openxmlformats.org/officeDocument/2006/relationships/image" Target="../media/image105.svg"/><Relationship Id="rId20" Type="http://schemas.openxmlformats.org/officeDocument/2006/relationships/image" Target="../media/image104.png"/><Relationship Id="rId2" Type="http://schemas.openxmlformats.org/officeDocument/2006/relationships/image" Target="../media/image11.png"/><Relationship Id="rId19" Type="http://schemas.openxmlformats.org/officeDocument/2006/relationships/image" Target="../media/image103.svg"/><Relationship Id="rId18" Type="http://schemas.openxmlformats.org/officeDocument/2006/relationships/image" Target="../media/image102.png"/><Relationship Id="rId17" Type="http://schemas.openxmlformats.org/officeDocument/2006/relationships/image" Target="../media/image101.svg"/><Relationship Id="rId16" Type="http://schemas.openxmlformats.org/officeDocument/2006/relationships/image" Target="../media/image100.png"/><Relationship Id="rId15" Type="http://schemas.openxmlformats.org/officeDocument/2006/relationships/image" Target="../media/image99.svg"/><Relationship Id="rId14" Type="http://schemas.openxmlformats.org/officeDocument/2006/relationships/image" Target="../media/image98.png"/><Relationship Id="rId13" Type="http://schemas.openxmlformats.org/officeDocument/2006/relationships/image" Target="../media/image97.png"/><Relationship Id="rId12" Type="http://schemas.openxmlformats.org/officeDocument/2006/relationships/image" Target="../media/image96.svg"/><Relationship Id="rId11" Type="http://schemas.openxmlformats.org/officeDocument/2006/relationships/image" Target="../media/image95.png"/><Relationship Id="rId10" Type="http://schemas.openxmlformats.org/officeDocument/2006/relationships/image" Target="../media/image94.svg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7.png"/><Relationship Id="rId8" Type="http://schemas.openxmlformats.org/officeDocument/2006/relationships/image" Target="../media/image116.svg"/><Relationship Id="rId7" Type="http://schemas.openxmlformats.org/officeDocument/2006/relationships/image" Target="../media/image115.png"/><Relationship Id="rId6" Type="http://schemas.openxmlformats.org/officeDocument/2006/relationships/image" Target="../media/image114.svg"/><Relationship Id="rId5" Type="http://schemas.openxmlformats.org/officeDocument/2006/relationships/image" Target="../media/image113.png"/><Relationship Id="rId4" Type="http://schemas.openxmlformats.org/officeDocument/2006/relationships/image" Target="../media/image112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8" Type="http://schemas.openxmlformats.org/officeDocument/2006/relationships/notesSlide" Target="../notesSlides/notesSlide9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124.png"/><Relationship Id="rId15" Type="http://schemas.openxmlformats.org/officeDocument/2006/relationships/image" Target="../media/image123.svg"/><Relationship Id="rId14" Type="http://schemas.openxmlformats.org/officeDocument/2006/relationships/image" Target="../media/image122.png"/><Relationship Id="rId13" Type="http://schemas.openxmlformats.org/officeDocument/2006/relationships/image" Target="../media/image121.svg"/><Relationship Id="rId12" Type="http://schemas.openxmlformats.org/officeDocument/2006/relationships/image" Target="../media/image120.png"/><Relationship Id="rId11" Type="http://schemas.openxmlformats.org/officeDocument/2006/relationships/image" Target="../media/image119.svg"/><Relationship Id="rId10" Type="http://schemas.openxmlformats.org/officeDocument/2006/relationships/image" Target="../media/image118.png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0.png"/><Relationship Id="rId8" Type="http://schemas.openxmlformats.org/officeDocument/2006/relationships/image" Target="../media/image129.png"/><Relationship Id="rId7" Type="http://schemas.openxmlformats.org/officeDocument/2006/relationships/image" Target="../media/image128.svg"/><Relationship Id="rId6" Type="http://schemas.openxmlformats.org/officeDocument/2006/relationships/image" Target="../media/image127.png"/><Relationship Id="rId5" Type="http://schemas.openxmlformats.org/officeDocument/2006/relationships/image" Target="../media/image126.png"/><Relationship Id="rId4" Type="http://schemas.openxmlformats.org/officeDocument/2006/relationships/image" Target="../media/image125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7" Type="http://schemas.openxmlformats.org/officeDocument/2006/relationships/notesSlide" Target="../notesSlides/notesSlide10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136.png"/><Relationship Id="rId14" Type="http://schemas.openxmlformats.org/officeDocument/2006/relationships/image" Target="../media/image135.svg"/><Relationship Id="rId13" Type="http://schemas.openxmlformats.org/officeDocument/2006/relationships/image" Target="../media/image134.png"/><Relationship Id="rId12" Type="http://schemas.openxmlformats.org/officeDocument/2006/relationships/image" Target="../media/image133.svg"/><Relationship Id="rId11" Type="http://schemas.openxmlformats.org/officeDocument/2006/relationships/image" Target="../media/image132.png"/><Relationship Id="rId10" Type="http://schemas.openxmlformats.org/officeDocument/2006/relationships/image" Target="../media/image131.png"/><Relationship Id="rId1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1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38.svg"/><Relationship Id="rId4" Type="http://schemas.openxmlformats.org/officeDocument/2006/relationships/image" Target="../media/image137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4.svg"/><Relationship Id="rId8" Type="http://schemas.openxmlformats.org/officeDocument/2006/relationships/image" Target="../media/image143.png"/><Relationship Id="rId7" Type="http://schemas.openxmlformats.org/officeDocument/2006/relationships/image" Target="../media/image142.png"/><Relationship Id="rId6" Type="http://schemas.openxmlformats.org/officeDocument/2006/relationships/image" Target="../media/image141.svg"/><Relationship Id="rId5" Type="http://schemas.openxmlformats.org/officeDocument/2006/relationships/image" Target="../media/image140.png"/><Relationship Id="rId4" Type="http://schemas.openxmlformats.org/officeDocument/2006/relationships/image" Target="../media/image139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3" Type="http://schemas.openxmlformats.org/officeDocument/2006/relationships/notesSlide" Target="../notesSlides/notesSlide12.xml"/><Relationship Id="rId12" Type="http://schemas.openxmlformats.org/officeDocument/2006/relationships/slideLayout" Target="../slideLayouts/slideLayout1.xml"/><Relationship Id="rId11" Type="http://schemas.openxmlformats.org/officeDocument/2006/relationships/image" Target="../media/image146.png"/><Relationship Id="rId10" Type="http://schemas.openxmlformats.org/officeDocument/2006/relationships/image" Target="../media/image145.png"/><Relationship Id="rId1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9.png"/><Relationship Id="rId8" Type="http://schemas.openxmlformats.org/officeDocument/2006/relationships/tags" Target="../tags/tag3.xml"/><Relationship Id="rId7" Type="http://schemas.openxmlformats.org/officeDocument/2006/relationships/tags" Target="../tags/tag2.xml"/><Relationship Id="rId6" Type="http://schemas.openxmlformats.org/officeDocument/2006/relationships/image" Target="../media/image148.svg"/><Relationship Id="rId5" Type="http://schemas.openxmlformats.org/officeDocument/2006/relationships/image" Target="../media/image147.png"/><Relationship Id="rId4" Type="http://schemas.openxmlformats.org/officeDocument/2006/relationships/tags" Target="../tags/tag1.xml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5" Type="http://schemas.openxmlformats.org/officeDocument/2006/relationships/notesSlide" Target="../notesSlides/notesSlide13.xml"/><Relationship Id="rId14" Type="http://schemas.openxmlformats.org/officeDocument/2006/relationships/vmlDrawing" Target="../drawings/vmlDrawing3.vml"/><Relationship Id="rId13" Type="http://schemas.openxmlformats.org/officeDocument/2006/relationships/slideLayout" Target="../slideLayouts/slideLayout1.xml"/><Relationship Id="rId12" Type="http://schemas.openxmlformats.org/officeDocument/2006/relationships/image" Target="../media/image150.wmf"/><Relationship Id="rId11" Type="http://schemas.openxmlformats.org/officeDocument/2006/relationships/package" Target="../embeddings/Document3.docx"/><Relationship Id="rId10" Type="http://schemas.openxmlformats.org/officeDocument/2006/relationships/tags" Target="../tags/tag4.xml"/><Relationship Id="rId1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6.svg"/><Relationship Id="rId8" Type="http://schemas.openxmlformats.org/officeDocument/2006/relationships/image" Target="../media/image155.png"/><Relationship Id="rId7" Type="http://schemas.openxmlformats.org/officeDocument/2006/relationships/image" Target="../media/image154.svg"/><Relationship Id="rId6" Type="http://schemas.openxmlformats.org/officeDocument/2006/relationships/image" Target="../media/image153.png"/><Relationship Id="rId5" Type="http://schemas.openxmlformats.org/officeDocument/2006/relationships/image" Target="../media/image152.svg"/><Relationship Id="rId4" Type="http://schemas.openxmlformats.org/officeDocument/2006/relationships/image" Target="../media/image151.png"/><Relationship Id="rId3" Type="http://schemas.openxmlformats.org/officeDocument/2006/relationships/image" Target="../media/image12.png"/><Relationship Id="rId23" Type="http://schemas.openxmlformats.org/officeDocument/2006/relationships/notesSlide" Target="../notesSlides/notesSlide14.xml"/><Relationship Id="rId22" Type="http://schemas.openxmlformats.org/officeDocument/2006/relationships/slideLayout" Target="../slideLayouts/slideLayout1.xml"/><Relationship Id="rId21" Type="http://schemas.openxmlformats.org/officeDocument/2006/relationships/image" Target="../media/image168.png"/><Relationship Id="rId20" Type="http://schemas.openxmlformats.org/officeDocument/2006/relationships/image" Target="../media/image167.png"/><Relationship Id="rId2" Type="http://schemas.openxmlformats.org/officeDocument/2006/relationships/image" Target="../media/image11.png"/><Relationship Id="rId19" Type="http://schemas.openxmlformats.org/officeDocument/2006/relationships/image" Target="../media/image166.png"/><Relationship Id="rId18" Type="http://schemas.openxmlformats.org/officeDocument/2006/relationships/image" Target="../media/image165.png"/><Relationship Id="rId17" Type="http://schemas.openxmlformats.org/officeDocument/2006/relationships/image" Target="../media/image164.svg"/><Relationship Id="rId16" Type="http://schemas.openxmlformats.org/officeDocument/2006/relationships/image" Target="../media/image163.png"/><Relationship Id="rId15" Type="http://schemas.openxmlformats.org/officeDocument/2006/relationships/image" Target="../media/image162.svg"/><Relationship Id="rId14" Type="http://schemas.openxmlformats.org/officeDocument/2006/relationships/image" Target="../media/image161.png"/><Relationship Id="rId13" Type="http://schemas.openxmlformats.org/officeDocument/2006/relationships/image" Target="../media/image160.png"/><Relationship Id="rId12" Type="http://schemas.openxmlformats.org/officeDocument/2006/relationships/image" Target="../media/image159.svg"/><Relationship Id="rId11" Type="http://schemas.openxmlformats.org/officeDocument/2006/relationships/image" Target="../media/image158.png"/><Relationship Id="rId10" Type="http://schemas.openxmlformats.org/officeDocument/2006/relationships/image" Target="../media/image157.png"/><Relationship Id="rId1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4.svg"/><Relationship Id="rId8" Type="http://schemas.openxmlformats.org/officeDocument/2006/relationships/image" Target="../media/image173.png"/><Relationship Id="rId7" Type="http://schemas.openxmlformats.org/officeDocument/2006/relationships/image" Target="../media/image172.svg"/><Relationship Id="rId6" Type="http://schemas.openxmlformats.org/officeDocument/2006/relationships/image" Target="../media/image171.png"/><Relationship Id="rId5" Type="http://schemas.openxmlformats.org/officeDocument/2006/relationships/image" Target="../media/image170.svg"/><Relationship Id="rId4" Type="http://schemas.openxmlformats.org/officeDocument/2006/relationships/image" Target="../media/image169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2" Type="http://schemas.openxmlformats.org/officeDocument/2006/relationships/notesSlide" Target="../notesSlides/notesSlide15.x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175.png"/><Relationship Id="rId1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1.png"/><Relationship Id="rId8" Type="http://schemas.openxmlformats.org/officeDocument/2006/relationships/image" Target="../media/image180.png"/><Relationship Id="rId7" Type="http://schemas.openxmlformats.org/officeDocument/2006/relationships/image" Target="../media/image179.png"/><Relationship Id="rId6" Type="http://schemas.openxmlformats.org/officeDocument/2006/relationships/image" Target="../media/image178.png"/><Relationship Id="rId5" Type="http://schemas.openxmlformats.org/officeDocument/2006/relationships/image" Target="../media/image177.svg"/><Relationship Id="rId4" Type="http://schemas.openxmlformats.org/officeDocument/2006/relationships/image" Target="../media/image176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4" Type="http://schemas.openxmlformats.org/officeDocument/2006/relationships/notesSlide" Target="../notesSlides/notesSlide16.xml"/><Relationship Id="rId13" Type="http://schemas.openxmlformats.org/officeDocument/2006/relationships/slideLayout" Target="../slideLayouts/slideLayout1.xml"/><Relationship Id="rId12" Type="http://schemas.openxmlformats.org/officeDocument/2006/relationships/image" Target="../media/image184.png"/><Relationship Id="rId11" Type="http://schemas.openxmlformats.org/officeDocument/2006/relationships/image" Target="../media/image183.png"/><Relationship Id="rId10" Type="http://schemas.openxmlformats.org/officeDocument/2006/relationships/image" Target="../media/image182.svg"/><Relationship Id="rId1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0.png"/><Relationship Id="rId8" Type="http://schemas.openxmlformats.org/officeDocument/2006/relationships/image" Target="../media/image189.svg"/><Relationship Id="rId7" Type="http://schemas.openxmlformats.org/officeDocument/2006/relationships/image" Target="../media/image188.png"/><Relationship Id="rId6" Type="http://schemas.openxmlformats.org/officeDocument/2006/relationships/image" Target="../media/image187.png"/><Relationship Id="rId5" Type="http://schemas.openxmlformats.org/officeDocument/2006/relationships/image" Target="../media/image186.svg"/><Relationship Id="rId4" Type="http://schemas.openxmlformats.org/officeDocument/2006/relationships/image" Target="../media/image185.png"/><Relationship Id="rId3" Type="http://schemas.openxmlformats.org/officeDocument/2006/relationships/image" Target="../media/image12.png"/><Relationship Id="rId26" Type="http://schemas.openxmlformats.org/officeDocument/2006/relationships/notesSlide" Target="../notesSlides/notesSlide17.xml"/><Relationship Id="rId25" Type="http://schemas.openxmlformats.org/officeDocument/2006/relationships/vmlDrawing" Target="../drawings/vmlDrawing4.vml"/><Relationship Id="rId24" Type="http://schemas.openxmlformats.org/officeDocument/2006/relationships/slideLayout" Target="../slideLayouts/slideLayout1.xml"/><Relationship Id="rId23" Type="http://schemas.openxmlformats.org/officeDocument/2006/relationships/image" Target="../media/image203.wmf"/><Relationship Id="rId22" Type="http://schemas.openxmlformats.org/officeDocument/2006/relationships/package" Target="../embeddings/Document4.docx"/><Relationship Id="rId21" Type="http://schemas.openxmlformats.org/officeDocument/2006/relationships/image" Target="../media/image202.png"/><Relationship Id="rId20" Type="http://schemas.openxmlformats.org/officeDocument/2006/relationships/image" Target="../media/image201.png"/><Relationship Id="rId2" Type="http://schemas.openxmlformats.org/officeDocument/2006/relationships/image" Target="../media/image11.png"/><Relationship Id="rId19" Type="http://schemas.openxmlformats.org/officeDocument/2006/relationships/image" Target="../media/image200.png"/><Relationship Id="rId18" Type="http://schemas.openxmlformats.org/officeDocument/2006/relationships/image" Target="../media/image199.png"/><Relationship Id="rId17" Type="http://schemas.openxmlformats.org/officeDocument/2006/relationships/image" Target="../media/image198.png"/><Relationship Id="rId16" Type="http://schemas.openxmlformats.org/officeDocument/2006/relationships/image" Target="../media/image197.svg"/><Relationship Id="rId15" Type="http://schemas.openxmlformats.org/officeDocument/2006/relationships/image" Target="../media/image196.png"/><Relationship Id="rId14" Type="http://schemas.openxmlformats.org/officeDocument/2006/relationships/image" Target="../media/image195.svg"/><Relationship Id="rId13" Type="http://schemas.openxmlformats.org/officeDocument/2006/relationships/image" Target="../media/image194.png"/><Relationship Id="rId12" Type="http://schemas.openxmlformats.org/officeDocument/2006/relationships/image" Target="../media/image193.png"/><Relationship Id="rId11" Type="http://schemas.openxmlformats.org/officeDocument/2006/relationships/image" Target="../media/image192.png"/><Relationship Id="rId10" Type="http://schemas.openxmlformats.org/officeDocument/2006/relationships/image" Target="../media/image191.svg"/><Relationship Id="rId1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8.xml"/><Relationship Id="rId7" Type="http://schemas.openxmlformats.org/officeDocument/2006/relationships/vmlDrawing" Target="../drawings/vmlDrawing5.v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204.wmf"/><Relationship Id="rId4" Type="http://schemas.openxmlformats.org/officeDocument/2006/relationships/package" Target="../embeddings/Document5.docx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image" Target="../media/image210.png"/><Relationship Id="rId8" Type="http://schemas.openxmlformats.org/officeDocument/2006/relationships/image" Target="../media/image209.png"/><Relationship Id="rId7" Type="http://schemas.openxmlformats.org/officeDocument/2006/relationships/image" Target="../media/image208.png"/><Relationship Id="rId6" Type="http://schemas.openxmlformats.org/officeDocument/2006/relationships/image" Target="../media/image207.svg"/><Relationship Id="rId5" Type="http://schemas.openxmlformats.org/officeDocument/2006/relationships/image" Target="../media/image206.png"/><Relationship Id="rId4" Type="http://schemas.openxmlformats.org/officeDocument/2006/relationships/image" Target="../media/image205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6" Type="http://schemas.openxmlformats.org/officeDocument/2006/relationships/notesSlide" Target="../notesSlides/notesSlide19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214.svg"/><Relationship Id="rId13" Type="http://schemas.openxmlformats.org/officeDocument/2006/relationships/image" Target="../media/image213.png"/><Relationship Id="rId12" Type="http://schemas.openxmlformats.org/officeDocument/2006/relationships/image" Target="../media/image66.svg"/><Relationship Id="rId11" Type="http://schemas.openxmlformats.org/officeDocument/2006/relationships/image" Target="../media/image212.png"/><Relationship Id="rId10" Type="http://schemas.openxmlformats.org/officeDocument/2006/relationships/image" Target="../media/image211.png"/><Relationship Id="rId1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image" Target="../media/image220.png"/><Relationship Id="rId8" Type="http://schemas.openxmlformats.org/officeDocument/2006/relationships/image" Target="../media/image219.png"/><Relationship Id="rId7" Type="http://schemas.openxmlformats.org/officeDocument/2006/relationships/image" Target="../media/image218.svg"/><Relationship Id="rId6" Type="http://schemas.openxmlformats.org/officeDocument/2006/relationships/image" Target="../media/image217.png"/><Relationship Id="rId5" Type="http://schemas.openxmlformats.org/officeDocument/2006/relationships/image" Target="../media/image216.svg"/><Relationship Id="rId4" Type="http://schemas.openxmlformats.org/officeDocument/2006/relationships/image" Target="../media/image215.png"/><Relationship Id="rId3" Type="http://schemas.openxmlformats.org/officeDocument/2006/relationships/image" Target="../media/image12.png"/><Relationship Id="rId21" Type="http://schemas.openxmlformats.org/officeDocument/2006/relationships/notesSlide" Target="../notesSlides/notesSlide20.xml"/><Relationship Id="rId20" Type="http://schemas.openxmlformats.org/officeDocument/2006/relationships/vmlDrawing" Target="../drawings/vmlDrawing6.vml"/><Relationship Id="rId2" Type="http://schemas.openxmlformats.org/officeDocument/2006/relationships/image" Target="../media/image11.png"/><Relationship Id="rId19" Type="http://schemas.openxmlformats.org/officeDocument/2006/relationships/slideLayout" Target="../slideLayouts/slideLayout1.xml"/><Relationship Id="rId18" Type="http://schemas.openxmlformats.org/officeDocument/2006/relationships/image" Target="../media/image228.wmf"/><Relationship Id="rId17" Type="http://schemas.openxmlformats.org/officeDocument/2006/relationships/package" Target="../embeddings/Document6.docx"/><Relationship Id="rId16" Type="http://schemas.openxmlformats.org/officeDocument/2006/relationships/image" Target="../media/image227.svg"/><Relationship Id="rId15" Type="http://schemas.openxmlformats.org/officeDocument/2006/relationships/image" Target="../media/image226.png"/><Relationship Id="rId14" Type="http://schemas.openxmlformats.org/officeDocument/2006/relationships/image" Target="../media/image225.png"/><Relationship Id="rId13" Type="http://schemas.openxmlformats.org/officeDocument/2006/relationships/image" Target="../media/image224.svg"/><Relationship Id="rId12" Type="http://schemas.openxmlformats.org/officeDocument/2006/relationships/image" Target="../media/image223.png"/><Relationship Id="rId11" Type="http://schemas.openxmlformats.org/officeDocument/2006/relationships/image" Target="../media/image222.svg"/><Relationship Id="rId10" Type="http://schemas.openxmlformats.org/officeDocument/2006/relationships/image" Target="../media/image221.png"/><Relationship Id="rId1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image" Target="../media/image237.svg"/><Relationship Id="rId8" Type="http://schemas.openxmlformats.org/officeDocument/2006/relationships/image" Target="../media/image236.png"/><Relationship Id="rId7" Type="http://schemas.openxmlformats.org/officeDocument/2006/relationships/image" Target="../media/image235.svg"/><Relationship Id="rId6" Type="http://schemas.openxmlformats.org/officeDocument/2006/relationships/image" Target="../media/image234.png"/><Relationship Id="rId5" Type="http://schemas.openxmlformats.org/officeDocument/2006/relationships/image" Target="../media/image233.svg"/><Relationship Id="rId4" Type="http://schemas.openxmlformats.org/officeDocument/2006/relationships/image" Target="../media/image232.png"/><Relationship Id="rId3" Type="http://schemas.openxmlformats.org/officeDocument/2006/relationships/image" Target="../media/image231.svg"/><Relationship Id="rId2" Type="http://schemas.openxmlformats.org/officeDocument/2006/relationships/image" Target="../media/image230.png"/><Relationship Id="rId13" Type="http://schemas.openxmlformats.org/officeDocument/2006/relationships/notesSlide" Target="../notesSlides/notesSlide21.xml"/><Relationship Id="rId12" Type="http://schemas.openxmlformats.org/officeDocument/2006/relationships/slideLayout" Target="../slideLayouts/slideLayout1.xml"/><Relationship Id="rId11" Type="http://schemas.openxmlformats.org/officeDocument/2006/relationships/image" Target="../media/image239.svg"/><Relationship Id="rId10" Type="http://schemas.openxmlformats.org/officeDocument/2006/relationships/image" Target="../media/image238.png"/><Relationship Id="rId1" Type="http://schemas.openxmlformats.org/officeDocument/2006/relationships/image" Target="../media/image2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5E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test.web.static.jianzeppt.com/ppt-temp-img3/53c8b2a610a31b616cbf03a52510cc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596" y="-13894"/>
            <a:ext cx="8051010" cy="6858000"/>
          </a:xfrm>
          <a:prstGeom prst="rect">
            <a:avLst/>
          </a:prstGeom>
        </p:spPr>
      </p:pic>
      <p:pic>
        <p:nvPicPr>
          <p:cNvPr id="4" name="Image 2" descr="https://test.web.static.jianzeppt.com/ppt-temp-img3/eaa44f0a61b44187c8898f2fb3b10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"/>
            <a:ext cx="1799718" cy="1829017"/>
          </a:xfrm>
          <a:prstGeom prst="rect">
            <a:avLst/>
          </a:prstGeom>
        </p:spPr>
      </p:pic>
      <p:pic>
        <p:nvPicPr>
          <p:cNvPr id="5" name="Image 3" descr="https://test.web.static.jianzeppt.com/ppt-temp-img3/d51ae2a74993343c0d3360504948edf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08901"/>
            <a:ext cx="961132" cy="1724746"/>
          </a:xfrm>
          <a:prstGeom prst="rect">
            <a:avLst/>
          </a:prstGeom>
        </p:spPr>
      </p:pic>
      <p:pic>
        <p:nvPicPr>
          <p:cNvPr id="6" name="Image 4" descr="https://test.web.static.jianzeppt.com/ppt-temp-img3/b3f94c3112269735e7d84215f42c973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069" y="4530971"/>
            <a:ext cx="3482974" cy="637829"/>
          </a:xfrm>
          <a:prstGeom prst="rect">
            <a:avLst/>
          </a:prstGeom>
        </p:spPr>
      </p:pic>
      <p:pic>
        <p:nvPicPr>
          <p:cNvPr id="7" name="Image 5" descr="https://test.web.static.jianzeppt.com/ppt-temp-img3/c7fcd71bde55d7089a0a7c912de83d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1383" y="2273111"/>
            <a:ext cx="2105868" cy="4595809"/>
          </a:xfrm>
          <a:prstGeom prst="rect">
            <a:avLst/>
          </a:prstGeom>
        </p:spPr>
      </p:pic>
      <p:pic>
        <p:nvPicPr>
          <p:cNvPr id="8" name="Image 6" descr="https://test.web.static.jianzeppt.com/ppt-temp-img3/785b4c7764742237954fb25c8a197f9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82024" y="3802120"/>
            <a:ext cx="2104426" cy="3069770"/>
          </a:xfrm>
          <a:prstGeom prst="rect">
            <a:avLst/>
          </a:prstGeom>
        </p:spPr>
      </p:pic>
      <p:pic>
        <p:nvPicPr>
          <p:cNvPr id="9" name="Image 7" descr="https://test.web.static.jianzeppt.com/ppt-temp-img3/d6b73fd749a971aade8e0c5073b6680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13224" y="2284033"/>
            <a:ext cx="2578776" cy="4584889"/>
          </a:xfrm>
          <a:prstGeom prst="rect">
            <a:avLst/>
          </a:prstGeom>
        </p:spPr>
      </p:pic>
      <p:sp>
        <p:nvSpPr>
          <p:cNvPr id="10" name="Text 0"/>
          <p:cNvSpPr/>
          <p:nvPr/>
        </p:nvSpPr>
        <p:spPr>
          <a:xfrm>
            <a:off x="577080" y="4577763"/>
            <a:ext cx="3321262" cy="5442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40" dirty="0">
                <a:solidFill>
                  <a:srgbClr val="000000"/>
                </a:solidFill>
              </a:rPr>
              <a:t>授课教师</a:t>
            </a:r>
            <a:endParaRPr lang="en-US" sz="2040" dirty="0"/>
          </a:p>
        </p:txBody>
      </p:sp>
      <p:sp>
        <p:nvSpPr>
          <p:cNvPr id="11" name="Text 1"/>
          <p:cNvSpPr/>
          <p:nvPr/>
        </p:nvSpPr>
        <p:spPr>
          <a:xfrm>
            <a:off x="577068" y="1683313"/>
            <a:ext cx="5490553" cy="18288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6000" dirty="0">
                <a:solidFill>
                  <a:srgbClr val="FFFFFF"/>
                </a:solidFill>
              </a:rPr>
              <a:t>信息安全测评与风险评估</a:t>
            </a:r>
            <a:endParaRPr lang="en-US" sz="6000" dirty="0"/>
          </a:p>
        </p:txBody>
      </p:sp>
      <p:sp>
        <p:nvSpPr>
          <p:cNvPr id="12" name="Text 2"/>
          <p:cNvSpPr/>
          <p:nvPr/>
        </p:nvSpPr>
        <p:spPr>
          <a:xfrm>
            <a:off x="577068" y="3867726"/>
            <a:ext cx="4339657" cy="2590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80" dirty="0">
                <a:solidFill>
                  <a:srgbClr val="FFFFFF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4.4 应用系统安全功能验证</a:t>
            </a:r>
            <a:endParaRPr lang="en-US" sz="1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3d7a216c70ecba8f9c09a39add3fad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45" y="245378"/>
            <a:ext cx="11803310" cy="63672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69119" y="1653024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01</a:t>
            </a:r>
            <a:endParaRPr lang="en-US" sz="3360" dirty="0"/>
          </a:p>
        </p:txBody>
      </p:sp>
      <p:sp>
        <p:nvSpPr>
          <p:cNvPr id="5" name="Text 1"/>
          <p:cNvSpPr/>
          <p:nvPr/>
        </p:nvSpPr>
        <p:spPr>
          <a:xfrm>
            <a:off x="5769119" y="2669616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02</a:t>
            </a:r>
            <a:endParaRPr lang="en-US" sz="3360" dirty="0"/>
          </a:p>
        </p:txBody>
      </p:sp>
      <p:sp>
        <p:nvSpPr>
          <p:cNvPr id="6" name="Text 2"/>
          <p:cNvSpPr/>
          <p:nvPr/>
        </p:nvSpPr>
        <p:spPr>
          <a:xfrm>
            <a:off x="5769119" y="3686208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03</a:t>
            </a:r>
            <a:endParaRPr lang="en-US" sz="3360" dirty="0"/>
          </a:p>
        </p:txBody>
      </p:sp>
      <p:sp>
        <p:nvSpPr>
          <p:cNvPr id="7" name="Text 3"/>
          <p:cNvSpPr/>
          <p:nvPr/>
        </p:nvSpPr>
        <p:spPr>
          <a:xfrm>
            <a:off x="5769119" y="4702801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04</a:t>
            </a:r>
            <a:endParaRPr lang="en-US" sz="3360" dirty="0"/>
          </a:p>
        </p:txBody>
      </p:sp>
      <p:sp>
        <p:nvSpPr>
          <p:cNvPr id="8" name="Text 4"/>
          <p:cNvSpPr/>
          <p:nvPr/>
        </p:nvSpPr>
        <p:spPr>
          <a:xfrm>
            <a:off x="965498" y="2799393"/>
            <a:ext cx="1769654" cy="73152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4800" dirty="0">
                <a:solidFill>
                  <a:srgbClr val="000000"/>
                </a:solidFill>
              </a:rPr>
              <a:t>目录</a:t>
            </a:r>
            <a:endParaRPr lang="en-US" sz="4800" dirty="0"/>
          </a:p>
        </p:txBody>
      </p:sp>
      <p:sp>
        <p:nvSpPr>
          <p:cNvPr id="9" name="Text 5"/>
          <p:cNvSpPr/>
          <p:nvPr/>
        </p:nvSpPr>
        <p:spPr>
          <a:xfrm>
            <a:off x="953110" y="3733353"/>
            <a:ext cx="3150109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40" dirty="0">
                <a:solidFill>
                  <a:srgbClr val="000000"/>
                </a:solidFill>
              </a:rPr>
              <a:t>CONTENTS</a:t>
            </a:r>
            <a:endParaRPr lang="en-US" sz="2040" dirty="0"/>
          </a:p>
        </p:txBody>
      </p:sp>
      <p:sp>
        <p:nvSpPr>
          <p:cNvPr id="10" name="Text 6"/>
          <p:cNvSpPr/>
          <p:nvPr/>
        </p:nvSpPr>
        <p:spPr>
          <a:xfrm>
            <a:off x="7064048" y="4771160"/>
            <a:ext cx="4878288" cy="9144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000" dirty="0">
                <a:solidFill>
                  <a:srgbClr val="000000"/>
                </a:solidFill>
              </a:rPr>
              <a:t>身份鉴别测评——核心检查项</a:t>
            </a:r>
            <a:endParaRPr lang="en-US" sz="3000" dirty="0"/>
          </a:p>
        </p:txBody>
      </p:sp>
      <p:sp>
        <p:nvSpPr>
          <p:cNvPr id="11" name="Text 7"/>
          <p:cNvSpPr/>
          <p:nvPr/>
        </p:nvSpPr>
        <p:spPr>
          <a:xfrm>
            <a:off x="7064048" y="1677568"/>
            <a:ext cx="4878288" cy="9144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000" dirty="0">
                <a:solidFill>
                  <a:srgbClr val="000000"/>
                </a:solidFill>
              </a:rPr>
              <a:t>案例导入——一次越权访问引发的数据泄露</a:t>
            </a:r>
            <a:endParaRPr lang="en-US" sz="3000" dirty="0"/>
          </a:p>
        </p:txBody>
      </p:sp>
      <p:sp>
        <p:nvSpPr>
          <p:cNvPr id="12" name="Text 8"/>
          <p:cNvSpPr/>
          <p:nvPr/>
        </p:nvSpPr>
        <p:spPr>
          <a:xfrm>
            <a:off x="7064048" y="3710752"/>
            <a:ext cx="4878288" cy="9144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000" dirty="0">
                <a:solidFill>
                  <a:srgbClr val="000000"/>
                </a:solidFill>
              </a:rPr>
              <a:t>应用系统安全功能验证——在等保标准中的位置</a:t>
            </a:r>
            <a:endParaRPr lang="en-US" sz="3000" dirty="0"/>
          </a:p>
        </p:txBody>
      </p:sp>
      <p:sp>
        <p:nvSpPr>
          <p:cNvPr id="13" name="Text 9"/>
          <p:cNvSpPr/>
          <p:nvPr/>
        </p:nvSpPr>
        <p:spPr>
          <a:xfrm>
            <a:off x="7064048" y="2737975"/>
            <a:ext cx="4878288" cy="4572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000" dirty="0">
                <a:solidFill>
                  <a:srgbClr val="000000"/>
                </a:solidFill>
              </a:rPr>
              <a:t>学习目标</a:t>
            </a: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案例导入——一次越权访问引发的数据泄露</a:t>
            </a:r>
            <a:endParaRPr lang="en-US" sz="2760" dirty="0"/>
          </a:p>
        </p:txBody>
      </p:sp>
      <p:pic>
        <p:nvPicPr>
          <p:cNvPr id="6" name="Image 3" descr="https://test.web.static.jianzeppt.com/ppt-temp-img3/3e19e9fb5f1bcf42af2e543fecd9b9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295400"/>
            <a:ext cx="3962400" cy="518160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4876800" y="1219200"/>
            <a:ext cx="67147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应用系统的“身份证”和“门禁系统”靠谱吗？</a:t>
            </a:r>
            <a:endParaRPr lang="en-US" sz="2160" dirty="0"/>
          </a:p>
        </p:txBody>
      </p:sp>
      <p:pic>
        <p:nvPicPr>
          <p:cNvPr id="8" name="Image 4" descr="https://test.web.static.jianzeppt.com/ppt-temp-img3/330a8efb1c001b26308d901db7ccfe8f.png?x-oss-process=image/resize,w_1440,h_800,m_lfit/format,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6800" y="2026920"/>
            <a:ext cx="6705600" cy="1783080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5074920" y="2209800"/>
            <a:ext cx="6318504" cy="5943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案例：</a:t>
            </a:r>
            <a:r>
              <a:rPr lang="en-US" sz="1680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某电商平台发生数据泄露。攻击者发现订单查询接口存在越权漏洞：只需修改URL中的订单ID参数，即可查看他人订单信息。</a:t>
            </a:r>
            <a:endParaRPr lang="en-US" sz="1680" dirty="0"/>
          </a:p>
        </p:txBody>
      </p:sp>
      <p:sp>
        <p:nvSpPr>
          <p:cNvPr id="10" name="Text 3"/>
          <p:cNvSpPr/>
          <p:nvPr/>
        </p:nvSpPr>
        <p:spPr>
          <a:xfrm>
            <a:off x="5074920" y="2956560"/>
            <a:ext cx="6187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6666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漏洞：</a:t>
            </a:r>
            <a:endParaRPr lang="en-US" sz="1560" dirty="0"/>
          </a:p>
        </p:txBody>
      </p:sp>
      <p:sp>
        <p:nvSpPr>
          <p:cNvPr id="11" name="Text 4"/>
          <p:cNvSpPr/>
          <p:nvPr/>
        </p:nvSpPr>
        <p:spPr>
          <a:xfrm>
            <a:off x="5730240" y="2956560"/>
            <a:ext cx="81686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水平越权</a:t>
            </a:r>
            <a:endParaRPr lang="en-US" sz="1560" dirty="0"/>
          </a:p>
        </p:txBody>
      </p:sp>
      <p:sp>
        <p:nvSpPr>
          <p:cNvPr id="12" name="Text 5"/>
          <p:cNvSpPr/>
          <p:nvPr/>
        </p:nvSpPr>
        <p:spPr>
          <a:xfrm>
            <a:off x="8321040" y="2956560"/>
            <a:ext cx="6187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6666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方式：</a:t>
            </a:r>
            <a:endParaRPr lang="en-US" sz="1560" dirty="0"/>
          </a:p>
        </p:txBody>
      </p:sp>
      <p:sp>
        <p:nvSpPr>
          <p:cNvPr id="13" name="Text 6"/>
          <p:cNvSpPr/>
          <p:nvPr/>
        </p:nvSpPr>
        <p:spPr>
          <a:xfrm>
            <a:off x="8976360" y="2956560"/>
            <a:ext cx="119786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333333"/>
                </a:solidFill>
              </a:rPr>
              <a:t>修改URL参数</a:t>
            </a:r>
            <a:endParaRPr lang="en-US" sz="1560" dirty="0"/>
          </a:p>
        </p:txBody>
      </p:sp>
      <p:sp>
        <p:nvSpPr>
          <p:cNvPr id="14" name="Text 7"/>
          <p:cNvSpPr/>
          <p:nvPr/>
        </p:nvSpPr>
        <p:spPr>
          <a:xfrm>
            <a:off x="5074920" y="3307080"/>
            <a:ext cx="6187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6666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范围：</a:t>
            </a:r>
            <a:endParaRPr lang="en-US" sz="1560" dirty="0"/>
          </a:p>
        </p:txBody>
      </p:sp>
      <p:sp>
        <p:nvSpPr>
          <p:cNvPr id="15" name="Text 8"/>
          <p:cNvSpPr/>
          <p:nvPr/>
        </p:nvSpPr>
        <p:spPr>
          <a:xfrm>
            <a:off x="5730240" y="3307080"/>
            <a:ext cx="141122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333333"/>
                </a:solidFill>
              </a:rPr>
              <a:t>数百万用户信息</a:t>
            </a:r>
            <a:endParaRPr lang="en-US" sz="1560" dirty="0"/>
          </a:p>
        </p:txBody>
      </p:sp>
      <p:sp>
        <p:nvSpPr>
          <p:cNvPr id="16" name="Text 9"/>
          <p:cNvSpPr/>
          <p:nvPr/>
        </p:nvSpPr>
        <p:spPr>
          <a:xfrm>
            <a:off x="8321040" y="3307080"/>
            <a:ext cx="6187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6666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后果：</a:t>
            </a:r>
            <a:endParaRPr lang="en-US" sz="1560" dirty="0"/>
          </a:p>
        </p:txBody>
      </p:sp>
      <p:sp>
        <p:nvSpPr>
          <p:cNvPr id="17" name="Text 10"/>
          <p:cNvSpPr/>
          <p:nvPr/>
        </p:nvSpPr>
        <p:spPr>
          <a:xfrm>
            <a:off x="8976360" y="3307080"/>
            <a:ext cx="81686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信任受损</a:t>
            </a:r>
            <a:endParaRPr lang="en-US" sz="156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76800" y="4267200"/>
            <a:ext cx="60960" cy="21336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5029200" y="4206240"/>
            <a:ext cx="938784" cy="3200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问题讨论</a:t>
            </a:r>
            <a:endParaRPr lang="en-US" sz="1800" dirty="0"/>
          </a:p>
        </p:txBody>
      </p:sp>
      <p:grpSp>
        <p:nvGrpSpPr>
          <p:cNvPr id="29" name="组合 28"/>
          <p:cNvGrpSpPr/>
          <p:nvPr/>
        </p:nvGrpSpPr>
        <p:grpSpPr>
          <a:xfrm>
            <a:off x="4847590" y="5739130"/>
            <a:ext cx="6705600" cy="624840"/>
            <a:chOff x="7680" y="9360"/>
            <a:chExt cx="10560" cy="984"/>
          </a:xfrm>
        </p:grpSpPr>
        <p:pic>
          <p:nvPicPr>
            <p:cNvPr id="20" name="Image 6" descr="preencoded.png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680" y="9360"/>
              <a:ext cx="10560" cy="984"/>
            </a:xfrm>
            <a:prstGeom prst="rect">
              <a:avLst/>
            </a:prstGeom>
          </p:spPr>
        </p:pic>
        <p:pic>
          <p:nvPicPr>
            <p:cNvPr id="21" name="Image 7" descr="https://test.web.static.jianzeppt.com/ppt-temp-img3/2d1da975737510704030dcda6c939f74.png?x-oss-process=image/resize,w_1440,h_800,m_lfit/format,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896" y="9600"/>
              <a:ext cx="480" cy="480"/>
            </a:xfrm>
            <a:prstGeom prst="rect">
              <a:avLst/>
            </a:prstGeom>
          </p:spPr>
        </p:pic>
        <p:sp>
          <p:nvSpPr>
            <p:cNvPr id="22" name="Text 12"/>
            <p:cNvSpPr/>
            <p:nvPr/>
          </p:nvSpPr>
          <p:spPr>
            <a:xfrm>
              <a:off x="8544" y="9576"/>
              <a:ext cx="8414" cy="4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680" dirty="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结论：</a:t>
              </a:r>
              <a:r>
                <a:rPr lang="en-US" sz="1680" dirty="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应用系统安全功能验证，是发现逻辑漏洞的关键。</a:t>
              </a:r>
              <a:endParaRPr lang="en-US" sz="1680" dirty="0"/>
            </a:p>
          </p:txBody>
        </p:sp>
      </p:grpSp>
      <p:sp>
        <p:nvSpPr>
          <p:cNvPr id="23" name="Text 13"/>
          <p:cNvSpPr/>
          <p:nvPr/>
        </p:nvSpPr>
        <p:spPr>
          <a:xfrm>
            <a:off x="5090160" y="4617720"/>
            <a:ext cx="256946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555555"/>
                </a:solidFill>
              </a:rPr>
              <a:t>系统哪个安全功能失效了？</a:t>
            </a:r>
            <a:endParaRPr lang="en-US" sz="1680" dirty="0"/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937760" y="4724400"/>
            <a:ext cx="76200" cy="76200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5090160" y="4937760"/>
            <a:ext cx="278282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555555"/>
                </a:solidFill>
              </a:rPr>
              <a:t>测评工程师如何发现此问题？</a:t>
            </a:r>
            <a:endParaRPr lang="en-US" sz="168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937760" y="5044440"/>
            <a:ext cx="76200" cy="76200"/>
          </a:xfrm>
          <a:prstGeom prst="rect">
            <a:avLst/>
          </a:prstGeom>
        </p:spPr>
      </p:pic>
      <p:sp>
        <p:nvSpPr>
          <p:cNvPr id="27" name="Text 15"/>
          <p:cNvSpPr/>
          <p:nvPr/>
        </p:nvSpPr>
        <p:spPr>
          <a:xfrm>
            <a:off x="5090160" y="5273040"/>
            <a:ext cx="256946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555555"/>
                </a:solidFill>
              </a:rPr>
              <a:t>还可能存在哪些安全问题？</a:t>
            </a:r>
            <a:endParaRPr lang="en-US" sz="1680" dirty="0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937760" y="5379720"/>
            <a:ext cx="76200" cy="76200"/>
          </a:xfrm>
          <a:prstGeom prst="rect">
            <a:avLst/>
          </a:prstGeom>
        </p:spPr>
      </p:pic>
      <p:graphicFrame>
        <p:nvGraphicFramePr>
          <p:cNvPr id="30" name="对象 29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0300335" y="445770"/>
          <a:ext cx="971550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showAsIcon="1" r:id="rId13" imgW="971550" imgH="666750" progId="Word.Document.12">
                  <p:embed/>
                </p:oleObj>
              </mc:Choice>
              <mc:Fallback>
                <p:oleObj name="" showAsIcon="1" r:id="rId13" imgW="971550" imgH="666750" progId="Word.Document.12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0300335" y="445770"/>
                        <a:ext cx="971550" cy="666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学习目标</a:t>
            </a:r>
            <a:endParaRPr lang="en-US" sz="2760" dirty="0"/>
          </a:p>
        </p:txBody>
      </p:sp>
      <p:sp>
        <p:nvSpPr>
          <p:cNvPr id="6" name="Text 1"/>
          <p:cNvSpPr/>
          <p:nvPr/>
        </p:nvSpPr>
        <p:spPr>
          <a:xfrm>
            <a:off x="609600" y="1371600"/>
            <a:ext cx="109819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666666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通过本课学习，你将能够：</a:t>
            </a:r>
            <a:endParaRPr lang="en-US" sz="1920" dirty="0"/>
          </a:p>
        </p:txBody>
      </p:sp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981200"/>
            <a:ext cx="3505200" cy="21031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3440" y="2179320"/>
            <a:ext cx="548640" cy="548640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5360" y="2301240"/>
            <a:ext cx="304800" cy="30480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1554480" y="2209800"/>
            <a:ext cx="69494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理解</a:t>
            </a:r>
            <a:endParaRPr lang="en-US" sz="2640" dirty="0"/>
          </a:p>
        </p:txBody>
      </p:sp>
      <p:sp>
        <p:nvSpPr>
          <p:cNvPr id="11" name="Text 3"/>
          <p:cNvSpPr/>
          <p:nvPr/>
        </p:nvSpPr>
        <p:spPr>
          <a:xfrm>
            <a:off x="853440" y="2880360"/>
            <a:ext cx="3026664" cy="9601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应用系统安全功能验证的三个核心维度（身份鉴别、访问控制、安全审计）</a:t>
            </a:r>
            <a:endParaRPr lang="en-US" sz="1680" dirty="0"/>
          </a:p>
        </p:txBody>
      </p:sp>
      <p:pic>
        <p:nvPicPr>
          <p:cNvPr id="12" name="Image 6" descr="https://test.web.static.jianzeppt.com/ppt-temp-img3/e43d887a6b074a34eecdb6dd34dd8126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" y="1981200"/>
            <a:ext cx="60960" cy="2103120"/>
          </a:xfrm>
          <a:prstGeom prst="rect">
            <a:avLst/>
          </a:prstGeom>
        </p:spPr>
      </p:pic>
      <p:pic>
        <p:nvPicPr>
          <p:cNvPr id="13" name="Image 7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43400" y="1981200"/>
            <a:ext cx="3505200" cy="21031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14" name="Image 8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87240" y="2179320"/>
            <a:ext cx="548640" cy="548640"/>
          </a:xfrm>
          <a:prstGeom prst="rect">
            <a:avLst/>
          </a:prstGeom>
        </p:spPr>
      </p:pic>
      <p:pic>
        <p:nvPicPr>
          <p:cNvPr id="15" name="Image 9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709160" y="2301240"/>
            <a:ext cx="304800" cy="304800"/>
          </a:xfrm>
          <a:prstGeom prst="rect">
            <a:avLst/>
          </a:prstGeom>
        </p:spPr>
      </p:pic>
      <p:sp>
        <p:nvSpPr>
          <p:cNvPr id="16" name="Text 4"/>
          <p:cNvSpPr/>
          <p:nvPr/>
        </p:nvSpPr>
        <p:spPr>
          <a:xfrm>
            <a:off x="5288280" y="2209800"/>
            <a:ext cx="69494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掌握</a:t>
            </a:r>
            <a:endParaRPr lang="en-US" sz="2640" dirty="0"/>
          </a:p>
        </p:txBody>
      </p:sp>
      <p:sp>
        <p:nvSpPr>
          <p:cNvPr id="17" name="Text 5"/>
          <p:cNvSpPr/>
          <p:nvPr/>
        </p:nvSpPr>
        <p:spPr>
          <a:xfrm>
            <a:off x="4587240" y="2880360"/>
            <a:ext cx="3026664" cy="9601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身份鉴别功能的验证方法（密码策略、登录失败处理、多因素认证等）</a:t>
            </a:r>
            <a:endParaRPr lang="en-US" sz="1680" dirty="0"/>
          </a:p>
        </p:txBody>
      </p:sp>
      <p:pic>
        <p:nvPicPr>
          <p:cNvPr id="18" name="Image 10" descr="https://test.web.static.jianzeppt.com/ppt-temp-img3/b54f943523838155028f7744978a0f4f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43400" y="1981200"/>
            <a:ext cx="60960" cy="2103120"/>
          </a:xfrm>
          <a:prstGeom prst="rect">
            <a:avLst/>
          </a:prstGeom>
        </p:spPr>
      </p:pic>
      <p:pic>
        <p:nvPicPr>
          <p:cNvPr id="19" name="Image 1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92440" y="1981200"/>
            <a:ext cx="3505200" cy="21031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20" name="Image 12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36280" y="2179320"/>
            <a:ext cx="548640" cy="548640"/>
          </a:xfrm>
          <a:prstGeom prst="rect">
            <a:avLst/>
          </a:prstGeom>
        </p:spPr>
      </p:pic>
      <p:pic>
        <p:nvPicPr>
          <p:cNvPr id="21" name="Image 13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458200" y="2301240"/>
            <a:ext cx="304800" cy="304800"/>
          </a:xfrm>
          <a:prstGeom prst="rect">
            <a:avLst/>
          </a:prstGeom>
        </p:spPr>
      </p:pic>
      <p:sp>
        <p:nvSpPr>
          <p:cNvPr id="22" name="Text 6"/>
          <p:cNvSpPr/>
          <p:nvPr/>
        </p:nvSpPr>
        <p:spPr>
          <a:xfrm>
            <a:off x="9037320" y="2209800"/>
            <a:ext cx="69494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掌握</a:t>
            </a:r>
            <a:endParaRPr lang="en-US" sz="2640" dirty="0"/>
          </a:p>
        </p:txBody>
      </p:sp>
      <p:sp>
        <p:nvSpPr>
          <p:cNvPr id="23" name="Text 7"/>
          <p:cNvSpPr/>
          <p:nvPr/>
        </p:nvSpPr>
        <p:spPr>
          <a:xfrm>
            <a:off x="8336280" y="2880360"/>
            <a:ext cx="3026664" cy="6858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访问控制功能的验证方法（垂直越权、水平越权测试）</a:t>
            </a:r>
            <a:endParaRPr lang="en-US" sz="1800" dirty="0"/>
          </a:p>
        </p:txBody>
      </p:sp>
      <p:pic>
        <p:nvPicPr>
          <p:cNvPr id="24" name="Image 14" descr="https://test.web.static.jianzeppt.com/ppt-temp-img3/b58cc9b5b39f21e3f8a33ae0e3e999c8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92440" y="1981200"/>
            <a:ext cx="60960" cy="2103120"/>
          </a:xfrm>
          <a:prstGeom prst="rect">
            <a:avLst/>
          </a:prstGeom>
        </p:spPr>
      </p:pic>
      <p:pic>
        <p:nvPicPr>
          <p:cNvPr id="25" name="Image 15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09600" y="4312920"/>
            <a:ext cx="7239000" cy="21031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26" name="Image 16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3440" y="4556760"/>
            <a:ext cx="548640" cy="548640"/>
          </a:xfrm>
          <a:prstGeom prst="rect">
            <a:avLst/>
          </a:prstGeom>
        </p:spPr>
      </p:pic>
      <p:pic>
        <p:nvPicPr>
          <p:cNvPr id="27" name="Image 17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5360" y="4678680"/>
            <a:ext cx="304800" cy="304800"/>
          </a:xfrm>
          <a:prstGeom prst="rect">
            <a:avLst/>
          </a:prstGeom>
        </p:spPr>
      </p:pic>
      <p:sp>
        <p:nvSpPr>
          <p:cNvPr id="28" name="Text 8"/>
          <p:cNvSpPr/>
          <p:nvPr/>
        </p:nvSpPr>
        <p:spPr>
          <a:xfrm>
            <a:off x="1554480" y="4572000"/>
            <a:ext cx="69494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能够</a:t>
            </a:r>
            <a:endParaRPr lang="en-US" sz="2640" dirty="0"/>
          </a:p>
        </p:txBody>
      </p:sp>
      <p:sp>
        <p:nvSpPr>
          <p:cNvPr id="29" name="Text 9"/>
          <p:cNvSpPr/>
          <p:nvPr/>
        </p:nvSpPr>
        <p:spPr>
          <a:xfrm>
            <a:off x="853440" y="5288280"/>
            <a:ext cx="67604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规范填写《应用系统安全测评记录表》</a:t>
            </a:r>
            <a:endParaRPr lang="en-US" sz="1920" dirty="0"/>
          </a:p>
        </p:txBody>
      </p:sp>
      <p:pic>
        <p:nvPicPr>
          <p:cNvPr id="30" name="Image 18" descr="https://test.web.static.jianzeppt.com/ppt-temp-img3/c4608b05e2401283b56f9b9da0d3521f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" y="4312920"/>
            <a:ext cx="60960" cy="2103120"/>
          </a:xfrm>
          <a:prstGeom prst="rect">
            <a:avLst/>
          </a:prstGeom>
        </p:spPr>
      </p:pic>
      <p:pic>
        <p:nvPicPr>
          <p:cNvPr id="31" name="Image 19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92440" y="4312920"/>
            <a:ext cx="3505200" cy="21031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32" name="Image 20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36280" y="4556760"/>
            <a:ext cx="548640" cy="548640"/>
          </a:xfrm>
          <a:prstGeom prst="rect">
            <a:avLst/>
          </a:prstGeom>
        </p:spPr>
      </p:pic>
      <p:pic>
        <p:nvPicPr>
          <p:cNvPr id="33" name="Image 21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458200" y="4678680"/>
            <a:ext cx="304800" cy="304800"/>
          </a:xfrm>
          <a:prstGeom prst="rect">
            <a:avLst/>
          </a:prstGeom>
        </p:spPr>
      </p:pic>
      <p:sp>
        <p:nvSpPr>
          <p:cNvPr id="34" name="Text 10"/>
          <p:cNvSpPr/>
          <p:nvPr/>
        </p:nvSpPr>
        <p:spPr>
          <a:xfrm>
            <a:off x="9037320" y="4572000"/>
            <a:ext cx="69494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具备</a:t>
            </a:r>
            <a:endParaRPr lang="en-US" sz="2640" dirty="0"/>
          </a:p>
        </p:txBody>
      </p:sp>
      <p:sp>
        <p:nvSpPr>
          <p:cNvPr id="35" name="Text 11"/>
          <p:cNvSpPr/>
          <p:nvPr/>
        </p:nvSpPr>
        <p:spPr>
          <a:xfrm>
            <a:off x="8336280" y="5288280"/>
            <a:ext cx="3232785" cy="44259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应用系统安全测评的实操能力</a:t>
            </a:r>
            <a:endParaRPr lang="en-US" sz="1920" dirty="0"/>
          </a:p>
        </p:txBody>
      </p:sp>
      <p:pic>
        <p:nvPicPr>
          <p:cNvPr id="36" name="Image 22" descr="https://test.web.static.jianzeppt.com/ppt-temp-img3/09dbf9eaa46e5c6eb8473e988759a6dc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92440" y="4312920"/>
            <a:ext cx="6096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应用系统安全功能验证——在等保标准中的位置</a:t>
            </a:r>
            <a:endParaRPr lang="en-US" sz="2760" dirty="0"/>
          </a:p>
        </p:txBody>
      </p:sp>
      <p:sp>
        <p:nvSpPr>
          <p:cNvPr id="6" name="Text 1"/>
          <p:cNvSpPr/>
          <p:nvPr/>
        </p:nvSpPr>
        <p:spPr>
          <a:xfrm>
            <a:off x="624840" y="1691640"/>
            <a:ext cx="10981690" cy="6858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GB/T 22239-2019</a:t>
            </a:r>
            <a:r>
              <a:rPr lang="en-US" sz="2000" dirty="0">
                <a:solidFill>
                  <a:srgbClr val="514D37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安全技术要求 → 安全计算环境</a:t>
            </a:r>
            <a:endParaRPr lang="en-US" sz="2000" dirty="0">
              <a:solidFill>
                <a:srgbClr val="514D37"/>
              </a:solidFill>
              <a:latin typeface="思源黑体 CN Regular" pitchFamily="34" charset="0"/>
              <a:ea typeface="思源黑体 CN Regular" pitchFamily="34" charset="-122"/>
              <a:cs typeface="思源黑体 CN Regular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514D37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  <a:sym typeface="+mn-ea"/>
              </a:rPr>
              <a:t>应用系统属于安全计算环境的一部分，核心测评维度：</a:t>
            </a:r>
            <a:endParaRPr lang="en-US" sz="2000" dirty="0">
              <a:solidFill>
                <a:srgbClr val="514D37"/>
              </a:solidFill>
              <a:latin typeface="思源黑体 CN Regular" pitchFamily="34" charset="0"/>
              <a:ea typeface="思源黑体 CN Regular" pitchFamily="34" charset="-122"/>
              <a:cs typeface="思源黑体 CN Regular" pitchFamily="34" charset="-120"/>
            </a:endParaRPr>
          </a:p>
          <a:p>
            <a:pPr marL="0" indent="0" algn="l">
              <a:lnSpc>
                <a:spcPct val="163000"/>
              </a:lnSpc>
              <a:buNone/>
            </a:pPr>
            <a:endParaRPr lang="en-US" sz="2000" dirty="0">
              <a:solidFill>
                <a:srgbClr val="514D37"/>
              </a:solidFill>
              <a:latin typeface="思源黑体 CN Regular" pitchFamily="34" charset="0"/>
              <a:ea typeface="思源黑体 CN Regular" pitchFamily="34" charset="-122"/>
              <a:cs typeface="思源黑体 CN Regular" pitchFamily="34" charset="-120"/>
            </a:endParaRPr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2377440"/>
            <a:ext cx="10972800" cy="33223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9" name="Image 4" descr="https://test.web.static.jianzeppt.com/ppt-temp-img3/38bb5d4f9f2a91ed51b886e115439c8a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" y="2583815"/>
            <a:ext cx="10942320" cy="1012825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944880" y="2738120"/>
            <a:ext cx="591820" cy="49784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序号</a:t>
            </a:r>
            <a:endParaRPr lang="en-US" sz="2160" dirty="0"/>
          </a:p>
        </p:txBody>
      </p:sp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4840" y="3581857"/>
            <a:ext cx="911809" cy="15240"/>
          </a:xfrm>
          <a:prstGeom prst="rect">
            <a:avLst/>
          </a:prstGeom>
        </p:spPr>
      </p:pic>
      <p:sp>
        <p:nvSpPr>
          <p:cNvPr id="12" name="Text 4"/>
          <p:cNvSpPr/>
          <p:nvPr/>
        </p:nvSpPr>
        <p:spPr>
          <a:xfrm>
            <a:off x="2179320" y="2773680"/>
            <a:ext cx="55778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维度</a:t>
            </a:r>
            <a:endParaRPr lang="en-US" sz="216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36649" y="3581857"/>
            <a:ext cx="1823618" cy="15240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4038600" y="2773680"/>
            <a:ext cx="13807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标准要求节</a:t>
            </a:r>
            <a:endParaRPr lang="en-US" sz="2160" dirty="0"/>
          </a:p>
        </p:txBody>
      </p:sp>
      <p:pic>
        <p:nvPicPr>
          <p:cNvPr id="15" name="Image 7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60115" y="3581857"/>
            <a:ext cx="2735580" cy="15240"/>
          </a:xfrm>
          <a:prstGeom prst="rect">
            <a:avLst/>
          </a:prstGeom>
        </p:spPr>
      </p:pic>
      <p:sp>
        <p:nvSpPr>
          <p:cNvPr id="16" name="Text 6"/>
          <p:cNvSpPr/>
          <p:nvPr/>
        </p:nvSpPr>
        <p:spPr>
          <a:xfrm>
            <a:off x="8138160" y="2773680"/>
            <a:ext cx="13807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核心关注点</a:t>
            </a:r>
            <a:endParaRPr lang="en-US" sz="2160" dirty="0"/>
          </a:p>
        </p:txBody>
      </p:sp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095695" y="3581857"/>
            <a:ext cx="5471465" cy="15240"/>
          </a:xfrm>
          <a:prstGeom prst="rect">
            <a:avLst/>
          </a:prstGeom>
        </p:spPr>
      </p:pic>
      <p:pic>
        <p:nvPicPr>
          <p:cNvPr id="18" name="Image 9" descr="https://test.web.static.jianzeppt.com/ppt-temp-img3/a5548020548e1d48ca4682dd82412bf6.png?x-oss-process=image/resize,w_1440,h_800,m_lfit/format,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4840" y="3581400"/>
            <a:ext cx="10942320" cy="685800"/>
          </a:xfrm>
          <a:prstGeom prst="rect">
            <a:avLst/>
          </a:prstGeom>
        </p:spPr>
      </p:pic>
      <p:sp>
        <p:nvSpPr>
          <p:cNvPr id="19" name="Text 7"/>
          <p:cNvSpPr/>
          <p:nvPr/>
        </p:nvSpPr>
        <p:spPr>
          <a:xfrm>
            <a:off x="868680" y="3733800"/>
            <a:ext cx="4358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</a:t>
            </a:r>
            <a:endParaRPr lang="en-US" sz="1920" dirty="0"/>
          </a:p>
        </p:txBody>
      </p:sp>
      <p:sp>
        <p:nvSpPr>
          <p:cNvPr id="20" name="Text 8"/>
          <p:cNvSpPr/>
          <p:nvPr/>
        </p:nvSpPr>
        <p:spPr>
          <a:xfrm>
            <a:off x="1783080" y="3733800"/>
            <a:ext cx="13502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身份鉴别</a:t>
            </a:r>
            <a:endParaRPr lang="en-US" sz="1920" dirty="0"/>
          </a:p>
        </p:txBody>
      </p:sp>
      <p:sp>
        <p:nvSpPr>
          <p:cNvPr id="21" name="Text 9"/>
          <p:cNvSpPr/>
          <p:nvPr/>
        </p:nvSpPr>
        <p:spPr>
          <a:xfrm>
            <a:off x="3596640" y="3733800"/>
            <a:ext cx="22646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8.1.4.1</a:t>
            </a:r>
            <a:endParaRPr lang="en-US" sz="1920" dirty="0"/>
          </a:p>
        </p:txBody>
      </p:sp>
      <p:sp>
        <p:nvSpPr>
          <p:cNvPr id="22" name="Text 10"/>
          <p:cNvSpPr/>
          <p:nvPr/>
        </p:nvSpPr>
        <p:spPr>
          <a:xfrm>
            <a:off x="6339840" y="3733800"/>
            <a:ext cx="50078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用户身份认证是否可靠</a:t>
            </a:r>
            <a:endParaRPr lang="en-US" sz="1920" dirty="0"/>
          </a:p>
        </p:txBody>
      </p:sp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4840" y="4267657"/>
            <a:ext cx="10942320" cy="15240"/>
          </a:xfrm>
          <a:prstGeom prst="rect">
            <a:avLst/>
          </a:prstGeom>
        </p:spPr>
      </p:pic>
      <p:pic>
        <p:nvPicPr>
          <p:cNvPr id="24" name="Image 11" descr="https://test.web.static.jianzeppt.com/ppt-temp-img3/a5548020548e1d48ca4682dd82412bf6.png?x-oss-process=image/resize,w_1440,h_800,m_lfit/format,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4840" y="4267200"/>
            <a:ext cx="10942320" cy="685800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868680" y="4419600"/>
            <a:ext cx="4358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2</a:t>
            </a:r>
            <a:endParaRPr lang="en-US" sz="1920" dirty="0"/>
          </a:p>
        </p:txBody>
      </p:sp>
      <p:sp>
        <p:nvSpPr>
          <p:cNvPr id="26" name="Text 12"/>
          <p:cNvSpPr/>
          <p:nvPr/>
        </p:nvSpPr>
        <p:spPr>
          <a:xfrm>
            <a:off x="1783080" y="4419600"/>
            <a:ext cx="13502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访问控制</a:t>
            </a:r>
            <a:endParaRPr lang="en-US" sz="1920" dirty="0"/>
          </a:p>
        </p:txBody>
      </p:sp>
      <p:sp>
        <p:nvSpPr>
          <p:cNvPr id="27" name="Text 13"/>
          <p:cNvSpPr/>
          <p:nvPr/>
        </p:nvSpPr>
        <p:spPr>
          <a:xfrm>
            <a:off x="3596640" y="4419600"/>
            <a:ext cx="22646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8.1.4.2</a:t>
            </a:r>
            <a:endParaRPr lang="en-US" sz="1920" dirty="0"/>
          </a:p>
        </p:txBody>
      </p:sp>
      <p:sp>
        <p:nvSpPr>
          <p:cNvPr id="28" name="Text 14"/>
          <p:cNvSpPr/>
          <p:nvPr/>
        </p:nvSpPr>
        <p:spPr>
          <a:xfrm>
            <a:off x="6339840" y="4419600"/>
            <a:ext cx="50078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用户权限管理是否严格</a:t>
            </a:r>
            <a:endParaRPr lang="en-US" sz="1920" dirty="0"/>
          </a:p>
        </p:txBody>
      </p:sp>
      <p:pic>
        <p:nvPicPr>
          <p:cNvPr id="29" name="Image 12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4840" y="4953457"/>
            <a:ext cx="10942320" cy="15240"/>
          </a:xfrm>
          <a:prstGeom prst="rect">
            <a:avLst/>
          </a:prstGeom>
        </p:spPr>
      </p:pic>
      <p:pic>
        <p:nvPicPr>
          <p:cNvPr id="30" name="Image 13" descr="https://test.web.static.jianzeppt.com/ppt-temp-img3/f6af37134257d5c5d4c1a25c75a84736.png?x-oss-process=image/resize,w_1440,h_800,m_lfit/format,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4840" y="4953000"/>
            <a:ext cx="10942320" cy="685800"/>
          </a:xfrm>
          <a:prstGeom prst="rect">
            <a:avLst/>
          </a:prstGeom>
        </p:spPr>
      </p:pic>
      <p:sp>
        <p:nvSpPr>
          <p:cNvPr id="31" name="Text 15"/>
          <p:cNvSpPr/>
          <p:nvPr/>
        </p:nvSpPr>
        <p:spPr>
          <a:xfrm>
            <a:off x="868680" y="5105400"/>
            <a:ext cx="4358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</a:t>
            </a:r>
            <a:endParaRPr lang="en-US" sz="1920" dirty="0"/>
          </a:p>
        </p:txBody>
      </p:sp>
      <p:sp>
        <p:nvSpPr>
          <p:cNvPr id="32" name="Text 16"/>
          <p:cNvSpPr/>
          <p:nvPr/>
        </p:nvSpPr>
        <p:spPr>
          <a:xfrm>
            <a:off x="1783080" y="5105400"/>
            <a:ext cx="13502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安全审计</a:t>
            </a:r>
            <a:endParaRPr lang="en-US" sz="1920" dirty="0"/>
          </a:p>
        </p:txBody>
      </p:sp>
      <p:sp>
        <p:nvSpPr>
          <p:cNvPr id="33" name="Text 17"/>
          <p:cNvSpPr/>
          <p:nvPr/>
        </p:nvSpPr>
        <p:spPr>
          <a:xfrm>
            <a:off x="3596640" y="5105400"/>
            <a:ext cx="22646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8.1.4.3</a:t>
            </a:r>
            <a:endParaRPr lang="en-US" sz="1920" dirty="0"/>
          </a:p>
        </p:txBody>
      </p:sp>
      <p:sp>
        <p:nvSpPr>
          <p:cNvPr id="34" name="Text 18"/>
          <p:cNvSpPr/>
          <p:nvPr/>
        </p:nvSpPr>
        <p:spPr>
          <a:xfrm>
            <a:off x="6339840" y="5105400"/>
            <a:ext cx="50078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操作日志记录是否完整</a:t>
            </a:r>
            <a:endParaRPr lang="en-US" sz="1920" dirty="0"/>
          </a:p>
        </p:txBody>
      </p:sp>
      <p:pic>
        <p:nvPicPr>
          <p:cNvPr id="35" name="Image 14" descr="https://test.web.static.jianzeppt.com/ppt-temp-img3/ce89a7b2cc68c8aa6c02a85b100ee7c5.png?x-oss-process=image/resize,w_1440,h_800,m_lfit/format,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24840" y="5639257"/>
            <a:ext cx="10942320" cy="15240"/>
          </a:xfrm>
          <a:prstGeom prst="rect">
            <a:avLst/>
          </a:prstGeom>
        </p:spPr>
      </p:pic>
      <p:pic>
        <p:nvPicPr>
          <p:cNvPr id="36" name="Image 15" descr="https://test.web.static.jianzeppt.com/ppt-temp-img3/b66a29c42fd7dfd8bac9ae61de5ae372.png?x-oss-process=image/resize,w_1440,h_800,m_lfit/format,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24840" y="5638800"/>
            <a:ext cx="10942320" cy="685800"/>
          </a:xfrm>
          <a:prstGeom prst="rect">
            <a:avLst/>
          </a:prstGeom>
        </p:spPr>
      </p:pic>
      <p:sp>
        <p:nvSpPr>
          <p:cNvPr id="37" name="Text 19"/>
          <p:cNvSpPr/>
          <p:nvPr/>
        </p:nvSpPr>
        <p:spPr>
          <a:xfrm>
            <a:off x="868680" y="5791200"/>
            <a:ext cx="4358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514D37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4</a:t>
            </a:r>
            <a:endParaRPr lang="en-US" sz="1920" dirty="0"/>
          </a:p>
        </p:txBody>
      </p:sp>
      <p:sp>
        <p:nvSpPr>
          <p:cNvPr id="38" name="Text 20"/>
          <p:cNvSpPr/>
          <p:nvPr/>
        </p:nvSpPr>
        <p:spPr>
          <a:xfrm>
            <a:off x="1783080" y="5791200"/>
            <a:ext cx="13502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514D37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数据完整性</a:t>
            </a:r>
            <a:endParaRPr lang="en-US" sz="1920" dirty="0"/>
          </a:p>
        </p:txBody>
      </p:sp>
      <p:sp>
        <p:nvSpPr>
          <p:cNvPr id="39" name="Text 21"/>
          <p:cNvSpPr/>
          <p:nvPr/>
        </p:nvSpPr>
        <p:spPr>
          <a:xfrm>
            <a:off x="3596640" y="5791200"/>
            <a:ext cx="22646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514D37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8.1.4.7</a:t>
            </a:r>
            <a:endParaRPr lang="en-US" sz="1920" dirty="0"/>
          </a:p>
        </p:txBody>
      </p:sp>
      <p:sp>
        <p:nvSpPr>
          <p:cNvPr id="40" name="Text 22"/>
          <p:cNvSpPr/>
          <p:nvPr/>
        </p:nvSpPr>
        <p:spPr>
          <a:xfrm>
            <a:off x="6339840" y="5791200"/>
            <a:ext cx="50078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514D37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重要数据是否被篡改</a:t>
            </a:r>
            <a:endParaRPr lang="en-US" sz="1920" dirty="0"/>
          </a:p>
        </p:txBody>
      </p:sp>
      <p:grpSp>
        <p:nvGrpSpPr>
          <p:cNvPr id="44" name="组合 43"/>
          <p:cNvGrpSpPr/>
          <p:nvPr/>
        </p:nvGrpSpPr>
        <p:grpSpPr>
          <a:xfrm>
            <a:off x="1536700" y="1034415"/>
            <a:ext cx="7292340" cy="474345"/>
            <a:chOff x="2640" y="9384"/>
            <a:chExt cx="13944" cy="1104"/>
          </a:xfrm>
        </p:grpSpPr>
        <p:pic>
          <p:nvPicPr>
            <p:cNvPr id="41" name="Image 16" descr="preencoded.png"/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2640" y="9384"/>
              <a:ext cx="13944" cy="1104"/>
            </a:xfrm>
            <a:prstGeom prst="rect">
              <a:avLst/>
            </a:prstGeom>
            <a:effectLst>
              <a:outerShdw blurRad="1161288000" dist="774192000" dir="-1" algn="bl" rotWithShape="0">
                <a:srgbClr val="000000">
                  <a:alpha val="1000000000"/>
                </a:srgbClr>
              </a:outerShdw>
            </a:effectLst>
          </p:spPr>
        </p:pic>
        <p:pic>
          <p:nvPicPr>
            <p:cNvPr id="42" name="Image 17" descr="https://test.web.static.jianzeppt.com/ppt-temp-img3/d778744b35549414fd29c8dbc5768202.png?x-oss-process=image/resize,w_1440,h_800,m_lfit/format,png"/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3216" y="9648"/>
              <a:ext cx="576" cy="576"/>
            </a:xfrm>
            <a:prstGeom prst="rect">
              <a:avLst/>
            </a:prstGeom>
          </p:spPr>
        </p:pic>
        <p:sp>
          <p:nvSpPr>
            <p:cNvPr id="43" name="Text 23"/>
            <p:cNvSpPr/>
            <p:nvPr/>
          </p:nvSpPr>
          <p:spPr>
            <a:xfrm>
              <a:off x="3984" y="9576"/>
              <a:ext cx="12038" cy="696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2000" dirty="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本节课重点：身份鉴别 + 访问控制 + 安全审计（占90%）</a:t>
              </a:r>
              <a:endParaRPr lang="en-US" sz="2000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身份鉴别测评——核心检查项</a:t>
            </a:r>
            <a:endParaRPr lang="en-US" sz="2760" dirty="0"/>
          </a:p>
        </p:txBody>
      </p:sp>
      <p:pic>
        <p:nvPicPr>
          <p:cNvPr id="6" name="Image 3" descr="https://test.web.static.jianzeppt.com/ppt-temp-img3/f4f4948a1a6271336cb0522859b5403d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371600"/>
            <a:ext cx="10972800" cy="731520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8680" y="1554480"/>
            <a:ext cx="365760" cy="365760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1417320" y="1508760"/>
            <a:ext cx="4611624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dirty="0">
                <a:solidFill>
                  <a:srgbClr val="37331F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身份鉴别的目标是：</a:t>
            </a:r>
            <a:r>
              <a:rPr lang="en-US" sz="240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验证“你是谁”</a:t>
            </a:r>
            <a:endParaRPr lang="en-US" sz="2160" dirty="0"/>
          </a:p>
        </p:txBody>
      </p:sp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9600" y="2286000"/>
            <a:ext cx="10972800" cy="4199255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10" name="Image 6" descr="https://test.web.static.jianzeppt.com/ppt-temp-img3/bff281e3062848ee529be9808407214a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840" y="2301240"/>
            <a:ext cx="10942320" cy="579120"/>
          </a:xfrm>
          <a:prstGeom prst="rect">
            <a:avLst/>
          </a:prstGeom>
        </p:spPr>
      </p:pic>
      <p:sp>
        <p:nvSpPr>
          <p:cNvPr id="11" name="Text 2"/>
          <p:cNvSpPr/>
          <p:nvPr/>
        </p:nvSpPr>
        <p:spPr>
          <a:xfrm>
            <a:off x="868680" y="2423160"/>
            <a:ext cx="104637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b="1" dirty="0">
                <a:solidFill>
                  <a:srgbClr val="635F4B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GB/T 22239 8.1.4.1 身份鉴别要求：</a:t>
            </a:r>
            <a:endParaRPr lang="en-US" sz="1680" dirty="0"/>
          </a:p>
        </p:txBody>
      </p:sp>
      <p:grpSp>
        <p:nvGrpSpPr>
          <p:cNvPr id="38" name="组合 37"/>
          <p:cNvGrpSpPr/>
          <p:nvPr/>
        </p:nvGrpSpPr>
        <p:grpSpPr>
          <a:xfrm>
            <a:off x="624840" y="2758440"/>
            <a:ext cx="10942320" cy="3596640"/>
            <a:chOff x="984" y="4536"/>
            <a:chExt cx="17232" cy="5664"/>
          </a:xfrm>
        </p:grpSpPr>
        <p:pic>
          <p:nvPicPr>
            <p:cNvPr id="12" name="Image 7" descr="preencoded.png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84" y="4536"/>
              <a:ext cx="17232" cy="24"/>
            </a:xfrm>
            <a:prstGeom prst="rect">
              <a:avLst/>
            </a:prstGeom>
          </p:spPr>
        </p:pic>
        <p:pic>
          <p:nvPicPr>
            <p:cNvPr id="13" name="Image 8" descr="preencoded.png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84" y="4536"/>
              <a:ext cx="17232" cy="960"/>
            </a:xfrm>
            <a:prstGeom prst="rect">
              <a:avLst/>
            </a:prstGeom>
          </p:spPr>
        </p:pic>
        <p:sp>
          <p:nvSpPr>
            <p:cNvPr id="14" name="Text 3"/>
            <p:cNvSpPr/>
            <p:nvPr/>
          </p:nvSpPr>
          <p:spPr>
            <a:xfrm>
              <a:off x="1272" y="4728"/>
              <a:ext cx="772" cy="46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920" b="1" dirty="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序号</a:t>
              </a:r>
              <a:endParaRPr lang="en-US" sz="1920" dirty="0"/>
            </a:p>
          </p:txBody>
        </p:sp>
        <p:sp>
          <p:nvSpPr>
            <p:cNvPr id="15" name="Text 4"/>
            <p:cNvSpPr/>
            <p:nvPr/>
          </p:nvSpPr>
          <p:spPr>
            <a:xfrm>
              <a:off x="2640" y="4728"/>
              <a:ext cx="1158" cy="46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920" b="1" dirty="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检查项</a:t>
              </a:r>
              <a:endParaRPr lang="en-US" sz="1920" dirty="0"/>
            </a:p>
          </p:txBody>
        </p:sp>
        <p:sp>
          <p:nvSpPr>
            <p:cNvPr id="16" name="Text 5"/>
            <p:cNvSpPr/>
            <p:nvPr/>
          </p:nvSpPr>
          <p:spPr>
            <a:xfrm>
              <a:off x="6096" y="4728"/>
              <a:ext cx="772" cy="46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920" b="1" dirty="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内容</a:t>
              </a:r>
              <a:endParaRPr lang="en-US" sz="1920" dirty="0"/>
            </a:p>
          </p:txBody>
        </p:sp>
        <p:sp>
          <p:nvSpPr>
            <p:cNvPr id="17" name="Text 6"/>
            <p:cNvSpPr/>
            <p:nvPr/>
          </p:nvSpPr>
          <p:spPr>
            <a:xfrm>
              <a:off x="13848" y="4728"/>
              <a:ext cx="1544" cy="46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920" b="1" dirty="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测评方法</a:t>
              </a:r>
              <a:endParaRPr lang="en-US" sz="1920" dirty="0"/>
            </a:p>
          </p:txBody>
        </p:sp>
        <p:sp>
          <p:nvSpPr>
            <p:cNvPr id="18" name="Text 7"/>
            <p:cNvSpPr/>
            <p:nvPr/>
          </p:nvSpPr>
          <p:spPr>
            <a:xfrm>
              <a:off x="1272" y="5688"/>
              <a:ext cx="830" cy="936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b="1" dirty="0">
                  <a:solidFill>
                    <a:srgbClr val="635F4B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a)</a:t>
              </a:r>
              <a:endParaRPr lang="en-US" sz="1680" dirty="0"/>
            </a:p>
          </p:txBody>
        </p:sp>
        <p:sp>
          <p:nvSpPr>
            <p:cNvPr id="19" name="Text 8"/>
            <p:cNvSpPr/>
            <p:nvPr/>
          </p:nvSpPr>
          <p:spPr>
            <a:xfrm>
              <a:off x="2640" y="5688"/>
              <a:ext cx="2894" cy="936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b="1" dirty="0">
                  <a:solidFill>
                    <a:srgbClr val="272511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身份唯一性</a:t>
              </a:r>
              <a:endParaRPr lang="en-US" sz="1680" dirty="0"/>
            </a:p>
          </p:txBody>
        </p:sp>
        <p:sp>
          <p:nvSpPr>
            <p:cNvPr id="20" name="Text 9"/>
            <p:cNvSpPr/>
            <p:nvPr/>
          </p:nvSpPr>
          <p:spPr>
            <a:xfrm>
              <a:off x="6096" y="5750"/>
              <a:ext cx="7214" cy="81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每个用户应有唯一标识，鉴别信息具复杂度并定期更换</a:t>
              </a:r>
              <a:endParaRPr lang="en-US" sz="1680" dirty="0"/>
            </a:p>
          </p:txBody>
        </p:sp>
        <p:sp>
          <p:nvSpPr>
            <p:cNvPr id="21" name="Text 10"/>
            <p:cNvSpPr/>
            <p:nvPr/>
          </p:nvSpPr>
          <p:spPr>
            <a:xfrm>
              <a:off x="13848" y="5688"/>
              <a:ext cx="4094" cy="936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dirty="0">
                  <a:solidFill>
                    <a:srgbClr val="635F4B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看管理界面 + 查密码策略</a:t>
              </a:r>
              <a:endParaRPr lang="en-US" sz="1680" dirty="0"/>
            </a:p>
          </p:txBody>
        </p:sp>
        <p:pic>
          <p:nvPicPr>
            <p:cNvPr id="22" name="Image 9" descr="preencoded.png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84" y="6816"/>
              <a:ext cx="17232" cy="24"/>
            </a:xfrm>
            <a:prstGeom prst="rect">
              <a:avLst/>
            </a:prstGeom>
          </p:spPr>
        </p:pic>
        <p:pic>
          <p:nvPicPr>
            <p:cNvPr id="23" name="Image 10" descr="preencoded.png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984" y="6816"/>
              <a:ext cx="17232" cy="1344"/>
            </a:xfrm>
            <a:prstGeom prst="rect">
              <a:avLst/>
            </a:prstGeom>
          </p:spPr>
        </p:pic>
        <p:sp>
          <p:nvSpPr>
            <p:cNvPr id="24" name="Text 11"/>
            <p:cNvSpPr/>
            <p:nvPr/>
          </p:nvSpPr>
          <p:spPr>
            <a:xfrm>
              <a:off x="1272" y="7008"/>
              <a:ext cx="830" cy="960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b="1" dirty="0">
                  <a:solidFill>
                    <a:srgbClr val="635F4B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b)</a:t>
              </a:r>
              <a:endParaRPr lang="en-US" sz="1680" dirty="0"/>
            </a:p>
          </p:txBody>
        </p:sp>
        <p:sp>
          <p:nvSpPr>
            <p:cNvPr id="25" name="Text 12"/>
            <p:cNvSpPr/>
            <p:nvPr/>
          </p:nvSpPr>
          <p:spPr>
            <a:xfrm>
              <a:off x="2640" y="7008"/>
              <a:ext cx="2894" cy="960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b="1" dirty="0">
                  <a:solidFill>
                    <a:srgbClr val="272511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登录失败处理</a:t>
              </a:r>
              <a:endParaRPr lang="en-US" sz="1680" dirty="0"/>
            </a:p>
          </p:txBody>
        </p:sp>
        <p:sp>
          <p:nvSpPr>
            <p:cNvPr id="26" name="Text 13"/>
            <p:cNvSpPr/>
            <p:nvPr/>
          </p:nvSpPr>
          <p:spPr>
            <a:xfrm>
              <a:off x="6096" y="7070"/>
              <a:ext cx="7214" cy="81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配置结束会话、限非法登录次数、连接超时自动退出</a:t>
              </a:r>
              <a:endParaRPr lang="en-US" sz="1680" dirty="0"/>
            </a:p>
          </p:txBody>
        </p:sp>
        <p:sp>
          <p:nvSpPr>
            <p:cNvPr id="27" name="Text 14"/>
            <p:cNvSpPr/>
            <p:nvPr/>
          </p:nvSpPr>
          <p:spPr>
            <a:xfrm>
              <a:off x="13848" y="7008"/>
              <a:ext cx="4094" cy="960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dirty="0">
                  <a:solidFill>
                    <a:srgbClr val="635F4B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模拟连续错误登录测试</a:t>
              </a:r>
              <a:endParaRPr lang="en-US" sz="1680" dirty="0"/>
            </a:p>
          </p:txBody>
        </p:sp>
        <p:pic>
          <p:nvPicPr>
            <p:cNvPr id="28" name="Image 11" descr="preencoded.png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84" y="8148"/>
              <a:ext cx="17232" cy="24"/>
            </a:xfrm>
            <a:prstGeom prst="rect">
              <a:avLst/>
            </a:prstGeom>
          </p:spPr>
        </p:pic>
        <p:sp>
          <p:nvSpPr>
            <p:cNvPr id="29" name="Text 15"/>
            <p:cNvSpPr/>
            <p:nvPr/>
          </p:nvSpPr>
          <p:spPr>
            <a:xfrm>
              <a:off x="1272" y="8352"/>
              <a:ext cx="306" cy="40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b="1" dirty="0">
                  <a:solidFill>
                    <a:srgbClr val="635F4B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c)</a:t>
              </a:r>
              <a:endParaRPr lang="en-US" sz="1680" dirty="0"/>
            </a:p>
          </p:txBody>
        </p:sp>
        <p:sp>
          <p:nvSpPr>
            <p:cNvPr id="30" name="Text 16"/>
            <p:cNvSpPr/>
            <p:nvPr/>
          </p:nvSpPr>
          <p:spPr>
            <a:xfrm>
              <a:off x="2640" y="8352"/>
              <a:ext cx="2028" cy="40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b="1" dirty="0">
                  <a:solidFill>
                    <a:srgbClr val="272511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远程管理安全</a:t>
              </a:r>
              <a:endParaRPr lang="en-US" sz="1680" dirty="0"/>
            </a:p>
          </p:txBody>
        </p:sp>
        <p:sp>
          <p:nvSpPr>
            <p:cNvPr id="31" name="Text 17"/>
            <p:cNvSpPr/>
            <p:nvPr/>
          </p:nvSpPr>
          <p:spPr>
            <a:xfrm>
              <a:off x="6096" y="8352"/>
              <a:ext cx="6720" cy="40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远程管理时，鉴别信息不应在网络中明文传输</a:t>
              </a:r>
              <a:endParaRPr lang="en-US" sz="1680" dirty="0"/>
            </a:p>
          </p:txBody>
        </p:sp>
        <p:sp>
          <p:nvSpPr>
            <p:cNvPr id="32" name="Text 18"/>
            <p:cNvSpPr/>
            <p:nvPr/>
          </p:nvSpPr>
          <p:spPr>
            <a:xfrm>
              <a:off x="13848" y="8352"/>
              <a:ext cx="2970" cy="40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dirty="0">
                  <a:solidFill>
                    <a:srgbClr val="635F4B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抓包分析 / 查看协议</a:t>
              </a:r>
              <a:endParaRPr lang="en-US" sz="1680" dirty="0"/>
            </a:p>
          </p:txBody>
        </p:sp>
        <p:pic>
          <p:nvPicPr>
            <p:cNvPr id="33" name="Image 12" descr="preencoded.png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84" y="9060"/>
              <a:ext cx="17232" cy="24"/>
            </a:xfrm>
            <a:prstGeom prst="rect">
              <a:avLst/>
            </a:prstGeom>
          </p:spPr>
        </p:pic>
        <p:sp>
          <p:nvSpPr>
            <p:cNvPr id="34" name="Text 19"/>
            <p:cNvSpPr/>
            <p:nvPr/>
          </p:nvSpPr>
          <p:spPr>
            <a:xfrm>
              <a:off x="1272" y="9264"/>
              <a:ext cx="830" cy="936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b="1" dirty="0">
                  <a:solidFill>
                    <a:srgbClr val="635F4B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d)</a:t>
              </a:r>
              <a:endParaRPr lang="en-US" sz="1680" dirty="0"/>
            </a:p>
          </p:txBody>
        </p:sp>
        <p:sp>
          <p:nvSpPr>
            <p:cNvPr id="35" name="Text 20"/>
            <p:cNvSpPr/>
            <p:nvPr/>
          </p:nvSpPr>
          <p:spPr>
            <a:xfrm>
              <a:off x="2640" y="9264"/>
              <a:ext cx="2894" cy="936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b="1" dirty="0">
                  <a:solidFill>
                    <a:srgbClr val="272511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多因素认证</a:t>
              </a:r>
              <a:endParaRPr lang="en-US" sz="1680" dirty="0"/>
            </a:p>
          </p:txBody>
        </p:sp>
        <p:sp>
          <p:nvSpPr>
            <p:cNvPr id="36" name="Text 21"/>
            <p:cNvSpPr/>
            <p:nvPr/>
          </p:nvSpPr>
          <p:spPr>
            <a:xfrm>
              <a:off x="6096" y="9326"/>
              <a:ext cx="7214" cy="81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采用口令、密码技术、生物技术等组合（三级及以上）</a:t>
              </a:r>
              <a:endParaRPr lang="en-US" sz="1680" dirty="0"/>
            </a:p>
          </p:txBody>
        </p:sp>
        <p:sp>
          <p:nvSpPr>
            <p:cNvPr id="37" name="Text 22"/>
            <p:cNvSpPr/>
            <p:nvPr/>
          </p:nvSpPr>
          <p:spPr>
            <a:xfrm>
              <a:off x="13848" y="9264"/>
              <a:ext cx="4094" cy="936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dirty="0">
                  <a:solidFill>
                    <a:srgbClr val="635F4B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查看认证配置</a:t>
              </a:r>
              <a:endParaRPr lang="en-US" sz="168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身份鉴别验证——实操演示（一）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325880"/>
            <a:ext cx="91440" cy="30480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22960" y="1219200"/>
            <a:ext cx="491642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37331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检查项a：密码复杂度与更换周期</a:t>
            </a:r>
            <a:endParaRPr lang="en-US" sz="2640" dirty="0"/>
          </a:p>
        </p:txBody>
      </p:sp>
      <p:pic>
        <p:nvPicPr>
          <p:cNvPr id="8" name="Image 4" descr="https://test.web.static.jianzeppt.com/ppt-temp-img3/fc27d17f9a463aaef26cdbd9e6bb74c4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965960"/>
            <a:ext cx="3307080" cy="4487545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7720" y="3581400"/>
            <a:ext cx="91440" cy="9144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1021080" y="3459480"/>
            <a:ext cx="2173224" cy="3048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920" dirty="0">
                <a:solidFill>
                  <a:srgbClr val="37331F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密码最小长度</a:t>
            </a:r>
            <a:r>
              <a:rPr lang="en-US" sz="192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≥8位</a:t>
            </a:r>
            <a:endParaRPr lang="en-US" sz="1920" dirty="0"/>
          </a:p>
        </p:txBody>
      </p:sp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7720" y="4038600"/>
            <a:ext cx="91440" cy="91440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1021080" y="3916680"/>
            <a:ext cx="2706624" cy="6096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920" dirty="0">
                <a:solidFill>
                  <a:srgbClr val="37331F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含大小写字母、数字、特殊字符中的</a:t>
            </a:r>
            <a:r>
              <a:rPr lang="en-US" sz="192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至少3类</a:t>
            </a:r>
            <a:endParaRPr lang="en-US" sz="1920" dirty="0"/>
          </a:p>
        </p:txBody>
      </p:sp>
      <p:pic>
        <p:nvPicPr>
          <p:cNvPr id="13" name="Image 7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7720" y="4800600"/>
            <a:ext cx="91440" cy="91440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1021080" y="4678680"/>
            <a:ext cx="2066544" cy="3048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920" dirty="0">
                <a:solidFill>
                  <a:srgbClr val="37331F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密码有效期</a:t>
            </a:r>
            <a:r>
              <a:rPr lang="en-US" sz="192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≤90天</a:t>
            </a:r>
            <a:endParaRPr lang="en-US" sz="1920" dirty="0"/>
          </a:p>
        </p:txBody>
      </p:sp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7720" y="5257800"/>
            <a:ext cx="91440" cy="91440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1021080" y="5135880"/>
            <a:ext cx="2097024" cy="3048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92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禁止</a:t>
            </a:r>
            <a:r>
              <a:rPr lang="en-US" sz="1920" dirty="0">
                <a:solidFill>
                  <a:srgbClr val="37331F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使用前5次密码</a:t>
            </a:r>
            <a:endParaRPr lang="en-US" sz="1920" dirty="0"/>
          </a:p>
        </p:txBody>
      </p:sp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24840" y="1981200"/>
            <a:ext cx="1356360" cy="487680"/>
          </a:xfrm>
          <a:prstGeom prst="rect">
            <a:avLst/>
          </a:prstGeom>
        </p:spPr>
      </p:pic>
      <p:sp>
        <p:nvSpPr>
          <p:cNvPr id="18" name="Text 6"/>
          <p:cNvSpPr/>
          <p:nvPr/>
        </p:nvSpPr>
        <p:spPr>
          <a:xfrm>
            <a:off x="807720" y="2042160"/>
            <a:ext cx="999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合格标准</a:t>
            </a:r>
            <a:endParaRPr lang="en-US" sz="1920" dirty="0"/>
          </a:p>
        </p:txBody>
      </p:sp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084320" y="1965960"/>
            <a:ext cx="4023360" cy="450723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282440" y="2834640"/>
            <a:ext cx="304800" cy="304800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4373880" y="2880360"/>
            <a:ext cx="146304" cy="2133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</a:rPr>
              <a:t>1</a:t>
            </a:r>
            <a:endParaRPr lang="en-US" sz="1440" dirty="0"/>
          </a:p>
        </p:txBody>
      </p:sp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709160" y="2804160"/>
            <a:ext cx="3200400" cy="807720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4846320" y="2926080"/>
            <a:ext cx="2950464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514D37"/>
                </a:solidFill>
              </a:rPr>
              <a:t>尝试: "123456"</a:t>
            </a:r>
            <a:r>
              <a:rPr lang="en-US" sz="1560" b="1" dirty="0">
                <a:solidFill>
                  <a:srgbClr val="2274D9"/>
                </a:solidFill>
              </a:rPr>
              <a:t>➔ 预期：被拒绝</a:t>
            </a:r>
            <a:endParaRPr lang="en-US" sz="1680" dirty="0"/>
          </a:p>
        </p:txBody>
      </p:sp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282440" y="3764280"/>
            <a:ext cx="304800" cy="304800"/>
          </a:xfrm>
          <a:prstGeom prst="rect">
            <a:avLst/>
          </a:prstGeom>
        </p:spPr>
      </p:pic>
      <p:sp>
        <p:nvSpPr>
          <p:cNvPr id="25" name="Text 9"/>
          <p:cNvSpPr/>
          <p:nvPr/>
        </p:nvSpPr>
        <p:spPr>
          <a:xfrm>
            <a:off x="4373880" y="3810000"/>
            <a:ext cx="146304" cy="2133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</a:rPr>
              <a:t>2</a:t>
            </a:r>
            <a:endParaRPr lang="en-US" sz="1440" dirty="0"/>
          </a:p>
        </p:txBody>
      </p:sp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709160" y="3733800"/>
            <a:ext cx="3200400" cy="807720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4846320" y="3724275"/>
            <a:ext cx="2950464" cy="5943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514D37"/>
                </a:solidFill>
              </a:rPr>
              <a:t>尝试: "Password123"</a:t>
            </a:r>
            <a:r>
              <a:rPr lang="en-US" sz="1560" b="1" dirty="0">
                <a:solidFill>
                  <a:srgbClr val="2274D9"/>
                </a:solidFill>
              </a:rPr>
              <a:t>➔ 预期：被拒绝(缺特殊字符)</a:t>
            </a:r>
            <a:endParaRPr lang="en-US" sz="168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282440" y="4678680"/>
            <a:ext cx="304800" cy="304800"/>
          </a:xfrm>
          <a:prstGeom prst="rect">
            <a:avLst/>
          </a:prstGeom>
        </p:spPr>
      </p:pic>
      <p:sp>
        <p:nvSpPr>
          <p:cNvPr id="29" name="Text 11"/>
          <p:cNvSpPr/>
          <p:nvPr/>
        </p:nvSpPr>
        <p:spPr>
          <a:xfrm>
            <a:off x="4373880" y="4724400"/>
            <a:ext cx="146304" cy="2133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</a:rPr>
              <a:t>3</a:t>
            </a:r>
            <a:endParaRPr lang="en-US" sz="1440" dirty="0"/>
          </a:p>
        </p:txBody>
      </p:sp>
      <p:pic>
        <p:nvPicPr>
          <p:cNvPr id="30" name="Image 16" descr="preencoded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709160" y="4648200"/>
            <a:ext cx="3200400" cy="807720"/>
          </a:xfrm>
          <a:prstGeom prst="rect">
            <a:avLst/>
          </a:prstGeom>
        </p:spPr>
      </p:pic>
      <p:sp>
        <p:nvSpPr>
          <p:cNvPr id="31" name="Text 12"/>
          <p:cNvSpPr/>
          <p:nvPr/>
        </p:nvSpPr>
        <p:spPr>
          <a:xfrm>
            <a:off x="4846320" y="4770120"/>
            <a:ext cx="2950464" cy="5943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514D37"/>
                </a:solidFill>
              </a:rPr>
              <a:t>尝试: "P@ssw0rd123"</a:t>
            </a:r>
            <a:r>
              <a:rPr lang="en-US" sz="1560" b="1" dirty="0">
                <a:solidFill>
                  <a:srgbClr val="A3164E"/>
                </a:solidFill>
              </a:rPr>
              <a:t>➔ 预期：通过</a:t>
            </a:r>
            <a:endParaRPr lang="en-US" sz="168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282440" y="5669280"/>
            <a:ext cx="304800" cy="304800"/>
          </a:xfrm>
          <a:prstGeom prst="rect">
            <a:avLst/>
          </a:prstGeom>
        </p:spPr>
      </p:pic>
      <p:sp>
        <p:nvSpPr>
          <p:cNvPr id="33" name="Text 13"/>
          <p:cNvSpPr/>
          <p:nvPr/>
        </p:nvSpPr>
        <p:spPr>
          <a:xfrm>
            <a:off x="4373880" y="5715000"/>
            <a:ext cx="146304" cy="2133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</a:rPr>
              <a:t>4</a:t>
            </a:r>
            <a:endParaRPr lang="en-US" sz="1440" dirty="0"/>
          </a:p>
        </p:txBody>
      </p:sp>
      <p:pic>
        <p:nvPicPr>
          <p:cNvPr id="34" name="Image 18" descr="preencoded.png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709160" y="5577840"/>
            <a:ext cx="3200400" cy="518160"/>
          </a:xfrm>
          <a:prstGeom prst="rect">
            <a:avLst/>
          </a:prstGeom>
        </p:spPr>
      </p:pic>
      <p:sp>
        <p:nvSpPr>
          <p:cNvPr id="35" name="Text 14"/>
          <p:cNvSpPr/>
          <p:nvPr/>
        </p:nvSpPr>
        <p:spPr>
          <a:xfrm>
            <a:off x="4846320" y="5699760"/>
            <a:ext cx="192938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514D37"/>
                </a:solidFill>
              </a:rPr>
              <a:t>确认密码有效期设置</a:t>
            </a:r>
            <a:endParaRPr lang="en-US" sz="1680" dirty="0"/>
          </a:p>
        </p:txBody>
      </p:sp>
      <p:pic>
        <p:nvPicPr>
          <p:cNvPr id="36" name="Image 19" descr="preencoded.png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303520" y="1981200"/>
            <a:ext cx="1600200" cy="487680"/>
          </a:xfrm>
          <a:prstGeom prst="rect">
            <a:avLst/>
          </a:prstGeom>
        </p:spPr>
      </p:pic>
      <p:sp>
        <p:nvSpPr>
          <p:cNvPr id="37" name="Text 15"/>
          <p:cNvSpPr/>
          <p:nvPr/>
        </p:nvSpPr>
        <p:spPr>
          <a:xfrm>
            <a:off x="5608320" y="2042160"/>
            <a:ext cx="999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验证方法</a:t>
            </a:r>
            <a:endParaRPr lang="en-US" sz="1920" dirty="0"/>
          </a:p>
        </p:txBody>
      </p:sp>
      <p:pic>
        <p:nvPicPr>
          <p:cNvPr id="38" name="Image 20" descr="preencoded.png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0560" y="1965960"/>
            <a:ext cx="3307080" cy="4507230"/>
          </a:xfrm>
          <a:prstGeom prst="rect">
            <a:avLst/>
          </a:prstGeom>
        </p:spPr>
      </p:pic>
      <p:pic>
        <p:nvPicPr>
          <p:cNvPr id="39" name="Image 21" descr="preencoded.png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8488680" y="3291840"/>
            <a:ext cx="2910840" cy="62484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40" name="Text 16"/>
          <p:cNvSpPr/>
          <p:nvPr/>
        </p:nvSpPr>
        <p:spPr>
          <a:xfrm>
            <a:off x="8625840" y="3459480"/>
            <a:ext cx="3063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2C819B"/>
                </a:solidFill>
              </a:rPr>
              <a:t>❌</a:t>
            </a:r>
            <a:endParaRPr lang="en-US" sz="1680" dirty="0"/>
          </a:p>
        </p:txBody>
      </p:sp>
      <p:sp>
        <p:nvSpPr>
          <p:cNvPr id="41" name="Text 17"/>
          <p:cNvSpPr/>
          <p:nvPr/>
        </p:nvSpPr>
        <p:spPr>
          <a:xfrm>
            <a:off x="8839200" y="3429000"/>
            <a:ext cx="18531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514D37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密码复杂度未强制</a:t>
            </a:r>
            <a:endParaRPr lang="en-US" sz="1800" dirty="0"/>
          </a:p>
        </p:txBody>
      </p:sp>
      <p:pic>
        <p:nvPicPr>
          <p:cNvPr id="42" name="Image 22" descr="preencoded.png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8488680" y="4099560"/>
            <a:ext cx="2910840" cy="62484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43" name="Text 18"/>
          <p:cNvSpPr/>
          <p:nvPr/>
        </p:nvSpPr>
        <p:spPr>
          <a:xfrm>
            <a:off x="8625840" y="4267200"/>
            <a:ext cx="3063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2C819B"/>
                </a:solidFill>
              </a:rPr>
              <a:t>❌</a:t>
            </a:r>
            <a:endParaRPr lang="en-US" sz="1680" dirty="0"/>
          </a:p>
        </p:txBody>
      </p:sp>
      <p:sp>
        <p:nvSpPr>
          <p:cNvPr id="44" name="Text 19"/>
          <p:cNvSpPr/>
          <p:nvPr/>
        </p:nvSpPr>
        <p:spPr>
          <a:xfrm>
            <a:off x="8839200" y="4236720"/>
            <a:ext cx="13959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514D37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密码永不过期</a:t>
            </a:r>
            <a:endParaRPr lang="en-US" sz="1800" dirty="0"/>
          </a:p>
        </p:txBody>
      </p:sp>
      <p:pic>
        <p:nvPicPr>
          <p:cNvPr id="45" name="Image 23" descr="preencoded.png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8488680" y="4907280"/>
            <a:ext cx="2910840" cy="62484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46" name="Text 20"/>
          <p:cNvSpPr/>
          <p:nvPr/>
        </p:nvSpPr>
        <p:spPr>
          <a:xfrm>
            <a:off x="8625840" y="5074920"/>
            <a:ext cx="3063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2C819B"/>
                </a:solidFill>
              </a:rPr>
              <a:t>❌</a:t>
            </a:r>
            <a:endParaRPr lang="en-US" sz="1680" dirty="0"/>
          </a:p>
        </p:txBody>
      </p:sp>
      <p:sp>
        <p:nvSpPr>
          <p:cNvPr id="47" name="Text 21"/>
          <p:cNvSpPr/>
          <p:nvPr/>
        </p:nvSpPr>
        <p:spPr>
          <a:xfrm>
            <a:off x="8839200" y="5044440"/>
            <a:ext cx="23103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514D37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未禁止重复使用旧密码</a:t>
            </a:r>
            <a:endParaRPr lang="en-US" sz="1800" dirty="0"/>
          </a:p>
        </p:txBody>
      </p:sp>
      <p:grpSp>
        <p:nvGrpSpPr>
          <p:cNvPr id="50" name="组合 49"/>
          <p:cNvGrpSpPr/>
          <p:nvPr/>
        </p:nvGrpSpPr>
        <p:grpSpPr>
          <a:xfrm>
            <a:off x="10226040" y="1981200"/>
            <a:ext cx="1356360" cy="487680"/>
            <a:chOff x="15816" y="2832"/>
            <a:chExt cx="2136" cy="768"/>
          </a:xfrm>
        </p:grpSpPr>
        <p:pic>
          <p:nvPicPr>
            <p:cNvPr id="48" name="Image 24" descr="preencoded.png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15816" y="2832"/>
              <a:ext cx="2136" cy="768"/>
            </a:xfrm>
            <a:prstGeom prst="rect">
              <a:avLst/>
            </a:prstGeom>
            <a:effectLst>
              <a:outerShdw blurRad="387096000" dist="193548000" dir="-1" algn="bl" rotWithShape="0">
                <a:srgbClr val="000000">
                  <a:alpha val="500000000"/>
                </a:srgbClr>
              </a:outerShdw>
            </a:effectLst>
          </p:spPr>
        </p:pic>
        <p:sp>
          <p:nvSpPr>
            <p:cNvPr id="49" name="Text 22"/>
            <p:cNvSpPr/>
            <p:nvPr/>
          </p:nvSpPr>
          <p:spPr>
            <a:xfrm>
              <a:off x="16104" y="2928"/>
              <a:ext cx="1574" cy="57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920" b="1" dirty="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常见问题</a:t>
              </a:r>
              <a:endParaRPr lang="en-US" sz="1920" dirty="0"/>
            </a:p>
          </p:txBody>
        </p:sp>
      </p:grpSp>
      <p:graphicFrame>
        <p:nvGraphicFramePr>
          <p:cNvPr id="51" name="对象 50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0436860" y="659130"/>
          <a:ext cx="971550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1" name="" showAsIcon="1" r:id="rId29" imgW="971550" imgH="666750" progId="Word.Document.12">
                  <p:embed/>
                </p:oleObj>
              </mc:Choice>
              <mc:Fallback>
                <p:oleObj name="" showAsIcon="1" r:id="rId29" imgW="971550" imgH="666750" progId="Word.Document.12">
                  <p:embed/>
                  <p:pic>
                    <p:nvPicPr>
                      <p:cNvPr id="0" name="图片 5120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10436860" y="659130"/>
                        <a:ext cx="971550" cy="666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身份鉴别验证——实操演示（二）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371600"/>
            <a:ext cx="3261360" cy="128016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53440" y="1554480"/>
            <a:ext cx="2843784" cy="9144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检查项b：登录失败处理</a:t>
            </a:r>
            <a:endParaRPr lang="en-US" sz="2400" dirty="0"/>
          </a:p>
        </p:txBody>
      </p:sp>
      <p:pic>
        <p:nvPicPr>
          <p:cNvPr id="8" name="Image 4" descr="https://test.web.static.jianzeppt.com/ppt-temp-img3/189cf43180bb52ef911b42f467286759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2834640"/>
            <a:ext cx="3261360" cy="3718560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3440" y="3093720"/>
            <a:ext cx="426720" cy="426720"/>
          </a:xfrm>
          <a:prstGeom prst="rect">
            <a:avLst/>
          </a:prstGeom>
        </p:spPr>
      </p:pic>
      <p:pic>
        <p:nvPicPr>
          <p:cNvPr id="10" name="Image 6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4880" y="3185160"/>
            <a:ext cx="243840" cy="243840"/>
          </a:xfrm>
          <a:prstGeom prst="rect">
            <a:avLst/>
          </a:prstGeom>
        </p:spPr>
      </p:pic>
      <p:sp>
        <p:nvSpPr>
          <p:cNvPr id="11" name="Text 2"/>
          <p:cNvSpPr/>
          <p:nvPr/>
        </p:nvSpPr>
        <p:spPr>
          <a:xfrm>
            <a:off x="1402080" y="3078480"/>
            <a:ext cx="15331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合格标准：</a:t>
            </a:r>
            <a:endParaRPr lang="en-US" sz="2400" dirty="0"/>
          </a:p>
        </p:txBody>
      </p:sp>
      <p:sp>
        <p:nvSpPr>
          <p:cNvPr id="12" name="Text 3"/>
          <p:cNvSpPr/>
          <p:nvPr/>
        </p:nvSpPr>
        <p:spPr>
          <a:xfrm>
            <a:off x="853440" y="3688080"/>
            <a:ext cx="2682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•</a:t>
            </a:r>
            <a:endParaRPr lang="en-US" sz="1920" dirty="0"/>
          </a:p>
        </p:txBody>
      </p:sp>
      <p:sp>
        <p:nvSpPr>
          <p:cNvPr id="13" name="Text 4"/>
          <p:cNvSpPr/>
          <p:nvPr/>
        </p:nvSpPr>
        <p:spPr>
          <a:xfrm>
            <a:off x="1219200" y="3611880"/>
            <a:ext cx="2417064" cy="7315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连续失败</a:t>
            </a:r>
            <a:r>
              <a:rPr lang="en-US" sz="264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5次</a:t>
            </a: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锁定（或限制）</a:t>
            </a:r>
            <a:endParaRPr lang="en-US" sz="1920" dirty="0"/>
          </a:p>
        </p:txBody>
      </p:sp>
      <p:sp>
        <p:nvSpPr>
          <p:cNvPr id="14" name="Text 5"/>
          <p:cNvSpPr/>
          <p:nvPr/>
        </p:nvSpPr>
        <p:spPr>
          <a:xfrm>
            <a:off x="853440" y="4541520"/>
            <a:ext cx="2682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•</a:t>
            </a:r>
            <a:endParaRPr lang="en-US" sz="1920" dirty="0"/>
          </a:p>
        </p:txBody>
      </p:sp>
      <p:sp>
        <p:nvSpPr>
          <p:cNvPr id="15" name="Text 6"/>
          <p:cNvSpPr/>
          <p:nvPr/>
        </p:nvSpPr>
        <p:spPr>
          <a:xfrm>
            <a:off x="1219200" y="4465320"/>
            <a:ext cx="2417064" cy="7239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锁定时间≥</a:t>
            </a:r>
            <a:r>
              <a:rPr lang="en-US" sz="264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15分钟</a:t>
            </a: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（或需解锁）</a:t>
            </a:r>
            <a:endParaRPr lang="en-US" sz="1920" dirty="0"/>
          </a:p>
        </p:txBody>
      </p:sp>
      <p:sp>
        <p:nvSpPr>
          <p:cNvPr id="16" name="Text 7"/>
          <p:cNvSpPr/>
          <p:nvPr/>
        </p:nvSpPr>
        <p:spPr>
          <a:xfrm>
            <a:off x="853440" y="5501640"/>
            <a:ext cx="2682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•</a:t>
            </a:r>
            <a:endParaRPr lang="en-US" sz="1920" dirty="0"/>
          </a:p>
        </p:txBody>
      </p:sp>
      <p:sp>
        <p:nvSpPr>
          <p:cNvPr id="17" name="Text 8"/>
          <p:cNvSpPr/>
          <p:nvPr/>
        </p:nvSpPr>
        <p:spPr>
          <a:xfrm>
            <a:off x="1219200" y="5425440"/>
            <a:ext cx="2417064" cy="7239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空闲超时≤</a:t>
            </a:r>
            <a:r>
              <a:rPr lang="en-US" sz="264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15分钟</a:t>
            </a: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自动退出</a:t>
            </a:r>
            <a:endParaRPr lang="en-US" sz="192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099560" y="1371600"/>
            <a:ext cx="4069080" cy="5106670"/>
          </a:xfrm>
          <a:prstGeom prst="rect">
            <a:avLst/>
          </a:prstGeom>
          <a:effectLst>
            <a:outerShdw blurRad="1548384000" dist="387096000" dir="-1" algn="bl" rotWithShape="0">
              <a:srgbClr val="D95C22">
                <a:alpha val="800000000"/>
              </a:srgbClr>
            </a:outerShdw>
          </a:effectLst>
        </p:spPr>
      </p:pic>
      <p:pic>
        <p:nvPicPr>
          <p:cNvPr id="19" name="Image 8" descr="https://test.web.static.jianzeppt.com/ppt-temp-img3/f3cd619c0fcfc9faf6c26d4e8bc4fe8a.png?x-oss-process=image/resize,w_1440,h_800,m_lfit/format,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58640" y="1645920"/>
            <a:ext cx="426720" cy="426720"/>
          </a:xfrm>
          <a:prstGeom prst="rect">
            <a:avLst/>
          </a:prstGeom>
        </p:spPr>
      </p:pic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450080" y="1737360"/>
            <a:ext cx="243840" cy="243840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4907280" y="1630680"/>
            <a:ext cx="15331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验证方法：</a:t>
            </a:r>
            <a:endParaRPr lang="en-US" sz="2400" dirty="0"/>
          </a:p>
        </p:txBody>
      </p:sp>
      <p:pic>
        <p:nvPicPr>
          <p:cNvPr id="22" name="Image 10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358640" y="2636520"/>
            <a:ext cx="3550920" cy="594360"/>
          </a:xfrm>
          <a:prstGeom prst="rect">
            <a:avLst/>
          </a:prstGeom>
        </p:spPr>
      </p:pic>
      <p:sp>
        <p:nvSpPr>
          <p:cNvPr id="23" name="Text 10"/>
          <p:cNvSpPr/>
          <p:nvPr/>
        </p:nvSpPr>
        <p:spPr>
          <a:xfrm>
            <a:off x="4511040" y="2788920"/>
            <a:ext cx="3255264" cy="2857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步骤：</a:t>
            </a:r>
            <a:r>
              <a:rPr lang="en-US" sz="1800" dirty="0">
                <a:solidFill>
                  <a:srgbClr val="555555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连续输入错误密码5次</a:t>
            </a:r>
            <a:endParaRPr lang="en-US" sz="1800" dirty="0"/>
          </a:p>
        </p:txBody>
      </p:sp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358640" y="3352800"/>
            <a:ext cx="3550920" cy="883920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4511040" y="3505200"/>
            <a:ext cx="3255264" cy="5715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预期：</a:t>
            </a:r>
            <a:r>
              <a:rPr lang="en-US" sz="1800" dirty="0">
                <a:solidFill>
                  <a:srgbClr val="555555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账户锁定或提示15分钟后重试</a:t>
            </a:r>
            <a:endParaRPr lang="en-US" sz="1800" dirty="0"/>
          </a:p>
        </p:txBody>
      </p:sp>
      <p:pic>
        <p:nvPicPr>
          <p:cNvPr id="26" name="Image 12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358640" y="4343400"/>
            <a:ext cx="3550920" cy="594360"/>
          </a:xfrm>
          <a:prstGeom prst="rect">
            <a:avLst/>
          </a:prstGeom>
        </p:spPr>
      </p:pic>
      <p:sp>
        <p:nvSpPr>
          <p:cNvPr id="27" name="Text 12"/>
          <p:cNvSpPr/>
          <p:nvPr/>
        </p:nvSpPr>
        <p:spPr>
          <a:xfrm>
            <a:off x="4511040" y="4495800"/>
            <a:ext cx="3255264" cy="2857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锁定再试：</a:t>
            </a:r>
            <a:r>
              <a:rPr lang="en-US" sz="1800" dirty="0">
                <a:solidFill>
                  <a:srgbClr val="555555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预期被拒绝</a:t>
            </a:r>
            <a:endParaRPr lang="en-US" sz="1800" dirty="0"/>
          </a:p>
        </p:txBody>
      </p:sp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358640" y="5059680"/>
            <a:ext cx="3550920" cy="883920"/>
          </a:xfrm>
          <a:prstGeom prst="rect">
            <a:avLst/>
          </a:prstGeom>
        </p:spPr>
      </p:pic>
      <p:sp>
        <p:nvSpPr>
          <p:cNvPr id="29" name="Text 13"/>
          <p:cNvSpPr/>
          <p:nvPr/>
        </p:nvSpPr>
        <p:spPr>
          <a:xfrm>
            <a:off x="4511040" y="5212080"/>
            <a:ext cx="3255264" cy="2895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闲置15分：</a:t>
            </a:r>
            <a:r>
              <a:rPr lang="en-US" sz="1800" dirty="0">
                <a:solidFill>
                  <a:srgbClr val="555555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预期自动退出需重认</a:t>
            </a:r>
            <a:endParaRPr lang="en-US" sz="1800" dirty="0"/>
          </a:p>
        </p:txBody>
      </p:sp>
      <p:pic>
        <p:nvPicPr>
          <p:cNvPr id="30" name="Image 14" descr="preencoded.png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412480" y="1371600"/>
            <a:ext cx="3185160" cy="5106670"/>
          </a:xfrm>
          <a:prstGeom prst="rect">
            <a:avLst/>
          </a:prstGeom>
        </p:spPr>
      </p:pic>
      <p:pic>
        <p:nvPicPr>
          <p:cNvPr id="31" name="Image 15" descr="preencoded.png"/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8671560" y="1645920"/>
            <a:ext cx="426720" cy="426720"/>
          </a:xfrm>
          <a:prstGeom prst="rect">
            <a:avLst/>
          </a:prstGeom>
        </p:spPr>
      </p:pic>
      <p:pic>
        <p:nvPicPr>
          <p:cNvPr id="32" name="Image 16" descr="preencoded.png"/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8763000" y="1737360"/>
            <a:ext cx="243840" cy="243840"/>
          </a:xfrm>
          <a:prstGeom prst="rect">
            <a:avLst/>
          </a:prstGeom>
        </p:spPr>
      </p:pic>
      <p:sp>
        <p:nvSpPr>
          <p:cNvPr id="33" name="Text 14"/>
          <p:cNvSpPr/>
          <p:nvPr/>
        </p:nvSpPr>
        <p:spPr>
          <a:xfrm>
            <a:off x="9220200" y="1630680"/>
            <a:ext cx="15331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常见问题：</a:t>
            </a:r>
            <a:endParaRPr lang="en-US" sz="2400" dirty="0"/>
          </a:p>
        </p:txBody>
      </p:sp>
      <p:sp>
        <p:nvSpPr>
          <p:cNvPr id="34" name="Text 15"/>
          <p:cNvSpPr/>
          <p:nvPr/>
        </p:nvSpPr>
        <p:spPr>
          <a:xfrm>
            <a:off x="8671560" y="2301240"/>
            <a:ext cx="30632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2A7B9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❌</a:t>
            </a:r>
            <a:endParaRPr lang="en-US" sz="1680" dirty="0"/>
          </a:p>
        </p:txBody>
      </p:sp>
      <p:sp>
        <p:nvSpPr>
          <p:cNvPr id="35" name="Text 16"/>
          <p:cNvSpPr/>
          <p:nvPr/>
        </p:nvSpPr>
        <p:spPr>
          <a:xfrm>
            <a:off x="8976360" y="2270760"/>
            <a:ext cx="16245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666666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无失败次数限制</a:t>
            </a:r>
            <a:endParaRPr lang="en-US" sz="1800" dirty="0"/>
          </a:p>
        </p:txBody>
      </p:sp>
      <p:sp>
        <p:nvSpPr>
          <p:cNvPr id="36" name="Text 17"/>
          <p:cNvSpPr/>
          <p:nvPr/>
        </p:nvSpPr>
        <p:spPr>
          <a:xfrm>
            <a:off x="8671560" y="2804160"/>
            <a:ext cx="30632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2A7B9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❌</a:t>
            </a:r>
            <a:endParaRPr lang="en-US" sz="1680" dirty="0"/>
          </a:p>
        </p:txBody>
      </p:sp>
      <p:sp>
        <p:nvSpPr>
          <p:cNvPr id="37" name="Text 18"/>
          <p:cNvSpPr/>
          <p:nvPr/>
        </p:nvSpPr>
        <p:spPr>
          <a:xfrm>
            <a:off x="8976360" y="2773680"/>
            <a:ext cx="16245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666666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无空闲超时退出</a:t>
            </a:r>
            <a:endParaRPr lang="en-US" sz="1800" dirty="0"/>
          </a:p>
        </p:txBody>
      </p:sp>
      <p:sp>
        <p:nvSpPr>
          <p:cNvPr id="38" name="Text 19"/>
          <p:cNvSpPr/>
          <p:nvPr/>
        </p:nvSpPr>
        <p:spPr>
          <a:xfrm>
            <a:off x="8671560" y="3322320"/>
            <a:ext cx="30632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2A7B9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❌</a:t>
            </a:r>
            <a:endParaRPr lang="en-US" sz="1680" dirty="0"/>
          </a:p>
        </p:txBody>
      </p:sp>
      <p:sp>
        <p:nvSpPr>
          <p:cNvPr id="39" name="Text 20"/>
          <p:cNvSpPr/>
          <p:nvPr/>
        </p:nvSpPr>
        <p:spPr>
          <a:xfrm>
            <a:off x="8976360" y="3291840"/>
            <a:ext cx="18531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666666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锁定后立即可重试</a:t>
            </a:r>
            <a:endParaRPr lang="en-US" sz="1800" dirty="0"/>
          </a:p>
        </p:txBody>
      </p:sp>
      <p:pic>
        <p:nvPicPr>
          <p:cNvPr id="40" name="Image 17" descr="https://test.web.static.jianzeppt.com/ppt-temp-img3/190cae19b2f975cb46be46376e9d9e14.png"/>
          <p:cNvPicPr>
            <a:picLocks noChangeAspect="1"/>
          </p:cNvPicPr>
          <p:nvPr/>
        </p:nvPicPr>
        <p:blipFill>
          <a:blip r:embed="rId26">
            <a:alphaModFix amt="80000"/>
          </a:blip>
          <a:stretch>
            <a:fillRect/>
          </a:stretch>
        </p:blipFill>
        <p:spPr>
          <a:xfrm>
            <a:off x="8671560" y="5227320"/>
            <a:ext cx="2667000" cy="1066800"/>
          </a:xfrm>
          <a:prstGeom prst="rect">
            <a:avLst/>
          </a:prstGeom>
        </p:spPr>
      </p:pic>
      <p:pic>
        <p:nvPicPr>
          <p:cNvPr id="41" name="Image 18" descr="https://test.web.static.jianzeppt.com/ppt-temp-img3/0fd770652d3965fa47cc20515dbdf6ed.png?x-oss-process=image/resize,w_1440,h_800,m_lfit/format,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665921" y="5074920"/>
            <a:ext cx="2657551" cy="15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身份鉴别验证——实操演示（三）</a:t>
            </a:r>
            <a:endParaRPr lang="en-US" sz="2760" dirty="0"/>
          </a:p>
        </p:txBody>
      </p:sp>
      <p:sp>
        <p:nvSpPr>
          <p:cNvPr id="6" name="Text 1"/>
          <p:cNvSpPr/>
          <p:nvPr/>
        </p:nvSpPr>
        <p:spPr>
          <a:xfrm>
            <a:off x="609600" y="1143000"/>
            <a:ext cx="3544824" cy="4800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520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检查项c：远程管理安全</a:t>
            </a:r>
            <a:endParaRPr lang="en-US" sz="2520" dirty="0"/>
          </a:p>
        </p:txBody>
      </p:sp>
      <p:pic>
        <p:nvPicPr>
          <p:cNvPr id="7" name="Image 3" descr="https://test.web.static.jianzeppt.com/ppt-temp-img3/3da65aec027b82a06dbb2dfd0df189e8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676400"/>
            <a:ext cx="3550920" cy="3169920"/>
          </a:xfrm>
          <a:prstGeom prst="rect">
            <a:avLst/>
          </a:prstGeom>
        </p:spPr>
      </p:pic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05800" y="1935480"/>
            <a:ext cx="487680" cy="487680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27720" y="2057400"/>
            <a:ext cx="243840" cy="24384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8915400" y="1950720"/>
            <a:ext cx="12283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常见问题</a:t>
            </a:r>
            <a:endParaRPr lang="en-US" sz="2400" dirty="0"/>
          </a:p>
        </p:txBody>
      </p:sp>
      <p:sp>
        <p:nvSpPr>
          <p:cNvPr id="11" name="Text 3"/>
          <p:cNvSpPr/>
          <p:nvPr/>
        </p:nvSpPr>
        <p:spPr>
          <a:xfrm>
            <a:off x="8305800" y="2489200"/>
            <a:ext cx="245110" cy="2946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❌</a:t>
            </a:r>
            <a:endParaRPr lang="en-US" sz="1920" dirty="0"/>
          </a:p>
        </p:txBody>
      </p:sp>
      <p:sp>
        <p:nvSpPr>
          <p:cNvPr id="12" name="Text 4"/>
          <p:cNvSpPr/>
          <p:nvPr/>
        </p:nvSpPr>
        <p:spPr>
          <a:xfrm>
            <a:off x="8671560" y="2560003"/>
            <a:ext cx="2676144" cy="58991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仅支持HTTP，未启用HTTPS</a:t>
            </a:r>
            <a:endParaRPr lang="en-US" sz="1920" dirty="0"/>
          </a:p>
        </p:txBody>
      </p:sp>
      <p:sp>
        <p:nvSpPr>
          <p:cNvPr id="13" name="Text 5"/>
          <p:cNvSpPr/>
          <p:nvPr/>
        </p:nvSpPr>
        <p:spPr>
          <a:xfrm>
            <a:off x="8305800" y="3281680"/>
            <a:ext cx="245110" cy="2946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❌</a:t>
            </a:r>
            <a:endParaRPr lang="en-US" sz="1920" dirty="0"/>
          </a:p>
        </p:txBody>
      </p:sp>
      <p:sp>
        <p:nvSpPr>
          <p:cNvPr id="14" name="Text 6"/>
          <p:cNvSpPr/>
          <p:nvPr/>
        </p:nvSpPr>
        <p:spPr>
          <a:xfrm>
            <a:off x="8671560" y="3352483"/>
            <a:ext cx="2676144" cy="58991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HTTPS未强制（可降级为HTTP）</a:t>
            </a:r>
            <a:endParaRPr lang="en-US" sz="1920" dirty="0"/>
          </a:p>
        </p:txBody>
      </p:sp>
      <p:sp>
        <p:nvSpPr>
          <p:cNvPr id="15" name="Text 7"/>
          <p:cNvSpPr/>
          <p:nvPr/>
        </p:nvSpPr>
        <p:spPr>
          <a:xfrm>
            <a:off x="8305800" y="4074160"/>
            <a:ext cx="245110" cy="2946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❌</a:t>
            </a:r>
            <a:endParaRPr lang="en-US" sz="1920" dirty="0"/>
          </a:p>
        </p:txBody>
      </p:sp>
      <p:sp>
        <p:nvSpPr>
          <p:cNvPr id="16" name="Text 8"/>
          <p:cNvSpPr/>
          <p:nvPr/>
        </p:nvSpPr>
        <p:spPr>
          <a:xfrm>
            <a:off x="8671560" y="4144963"/>
            <a:ext cx="2676144" cy="58991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自签名证书（浏览器提示不安全）</a:t>
            </a:r>
            <a:endParaRPr lang="en-US" sz="1920" dirty="0"/>
          </a:p>
        </p:txBody>
      </p:sp>
      <p:pic>
        <p:nvPicPr>
          <p:cNvPr id="17" name="Image 6" descr="https://test.web.static.jianzeppt.com/ppt-temp-img3/fec60f1f4233773a6a0d2c8666b63b25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1676400"/>
            <a:ext cx="3474720" cy="4876800"/>
          </a:xfrm>
          <a:prstGeom prst="rect">
            <a:avLst/>
          </a:prstGeom>
        </p:spPr>
      </p:pic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8680" y="1935480"/>
            <a:ext cx="487680" cy="487680"/>
          </a:xfrm>
          <a:prstGeom prst="rect">
            <a:avLst/>
          </a:prstGeom>
        </p:spPr>
      </p:pic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90600" y="2057400"/>
            <a:ext cx="243840" cy="243840"/>
          </a:xfrm>
          <a:prstGeom prst="rect">
            <a:avLst/>
          </a:prstGeom>
        </p:spPr>
      </p:pic>
      <p:sp>
        <p:nvSpPr>
          <p:cNvPr id="20" name="Text 9"/>
          <p:cNvSpPr/>
          <p:nvPr/>
        </p:nvSpPr>
        <p:spPr>
          <a:xfrm>
            <a:off x="1478280" y="1950720"/>
            <a:ext cx="12283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合格标准</a:t>
            </a:r>
            <a:endParaRPr lang="en-US" sz="2400" dirty="0"/>
          </a:p>
        </p:txBody>
      </p:sp>
      <p:sp>
        <p:nvSpPr>
          <p:cNvPr id="21" name="Text 10"/>
          <p:cNvSpPr/>
          <p:nvPr/>
        </p:nvSpPr>
        <p:spPr>
          <a:xfrm>
            <a:off x="868680" y="2667000"/>
            <a:ext cx="2682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·</a:t>
            </a:r>
            <a:endParaRPr lang="en-US" sz="1920" dirty="0"/>
          </a:p>
        </p:txBody>
      </p:sp>
      <p:sp>
        <p:nvSpPr>
          <p:cNvPr id="22" name="Text 11"/>
          <p:cNvSpPr/>
          <p:nvPr/>
        </p:nvSpPr>
        <p:spPr>
          <a:xfrm>
            <a:off x="1234440" y="2606040"/>
            <a:ext cx="2599944" cy="73152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远程管理应采用加密协议（HTTPS、SSH等）</a:t>
            </a:r>
            <a:endParaRPr lang="en-US" sz="1920" dirty="0"/>
          </a:p>
        </p:txBody>
      </p:sp>
      <p:sp>
        <p:nvSpPr>
          <p:cNvPr id="23" name="Text 12"/>
          <p:cNvSpPr/>
          <p:nvPr/>
        </p:nvSpPr>
        <p:spPr>
          <a:xfrm>
            <a:off x="868680" y="3520440"/>
            <a:ext cx="2682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·</a:t>
            </a:r>
            <a:endParaRPr lang="en-US" sz="1920" dirty="0"/>
          </a:p>
        </p:txBody>
      </p:sp>
      <p:sp>
        <p:nvSpPr>
          <p:cNvPr id="24" name="Text 13"/>
          <p:cNvSpPr/>
          <p:nvPr/>
        </p:nvSpPr>
        <p:spPr>
          <a:xfrm>
            <a:off x="1234440" y="3459480"/>
            <a:ext cx="2599944" cy="109728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不应使用明文传输协议（HTTP、Telnet、FTP等）</a:t>
            </a:r>
            <a:endParaRPr lang="en-US" sz="1920" dirty="0"/>
          </a:p>
        </p:txBody>
      </p:sp>
      <p:pic>
        <p:nvPicPr>
          <p:cNvPr id="25" name="Image 9" descr="https://test.web.static.jianzeppt.com/ppt-temp-img3/fec60f1f4233773a6a0d2c8666b63b25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28160" y="1676400"/>
            <a:ext cx="3474720" cy="4876800"/>
          </a:xfrm>
          <a:prstGeom prst="rect">
            <a:avLst/>
          </a:prstGeom>
        </p:spPr>
      </p:pic>
      <p:pic>
        <p:nvPicPr>
          <p:cNvPr id="26" name="Image 10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87240" y="1935480"/>
            <a:ext cx="487680" cy="487680"/>
          </a:xfrm>
          <a:prstGeom prst="rect">
            <a:avLst/>
          </a:prstGeom>
        </p:spPr>
      </p:pic>
      <p:pic>
        <p:nvPicPr>
          <p:cNvPr id="27" name="Image 11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709160" y="2057400"/>
            <a:ext cx="243840" cy="243840"/>
          </a:xfrm>
          <a:prstGeom prst="rect">
            <a:avLst/>
          </a:prstGeom>
        </p:spPr>
      </p:pic>
      <p:sp>
        <p:nvSpPr>
          <p:cNvPr id="28" name="Text 14"/>
          <p:cNvSpPr/>
          <p:nvPr/>
        </p:nvSpPr>
        <p:spPr>
          <a:xfrm>
            <a:off x="5196840" y="1950720"/>
            <a:ext cx="12283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验证方法</a:t>
            </a:r>
            <a:endParaRPr lang="en-US" sz="2400" dirty="0"/>
          </a:p>
        </p:txBody>
      </p:sp>
      <p:sp>
        <p:nvSpPr>
          <p:cNvPr id="29" name="Text 15"/>
          <p:cNvSpPr/>
          <p:nvPr/>
        </p:nvSpPr>
        <p:spPr>
          <a:xfrm>
            <a:off x="4587240" y="2564765"/>
            <a:ext cx="245110" cy="2946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·</a:t>
            </a:r>
            <a:endParaRPr lang="en-US" sz="1920" dirty="0"/>
          </a:p>
        </p:txBody>
      </p:sp>
      <p:sp>
        <p:nvSpPr>
          <p:cNvPr id="30" name="Text 16"/>
          <p:cNvSpPr/>
          <p:nvPr/>
        </p:nvSpPr>
        <p:spPr>
          <a:xfrm>
            <a:off x="4953000" y="2610168"/>
            <a:ext cx="2599944" cy="88455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查看应用系统的访问协议（地址栏是否为https://）</a:t>
            </a:r>
            <a:endParaRPr lang="en-US" sz="1920" dirty="0"/>
          </a:p>
        </p:txBody>
      </p:sp>
      <p:sp>
        <p:nvSpPr>
          <p:cNvPr id="31" name="Text 17"/>
          <p:cNvSpPr/>
          <p:nvPr/>
        </p:nvSpPr>
        <p:spPr>
          <a:xfrm>
            <a:off x="4587240" y="3783965"/>
            <a:ext cx="245110" cy="2946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·</a:t>
            </a:r>
            <a:endParaRPr lang="en-US" sz="1920" dirty="0"/>
          </a:p>
        </p:txBody>
      </p:sp>
      <p:sp>
        <p:nvSpPr>
          <p:cNvPr id="32" name="Text 18"/>
          <p:cNvSpPr/>
          <p:nvPr/>
        </p:nvSpPr>
        <p:spPr>
          <a:xfrm>
            <a:off x="4953000" y="3793808"/>
            <a:ext cx="2599944" cy="58991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如果支持HTTP，查看是否自动跳转到HTTPS</a:t>
            </a:r>
            <a:endParaRPr lang="en-US" sz="1920" dirty="0"/>
          </a:p>
        </p:txBody>
      </p:sp>
      <p:sp>
        <p:nvSpPr>
          <p:cNvPr id="33" name="Text 19"/>
          <p:cNvSpPr/>
          <p:nvPr/>
        </p:nvSpPr>
        <p:spPr>
          <a:xfrm>
            <a:off x="4587240" y="4637405"/>
            <a:ext cx="245110" cy="2946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·</a:t>
            </a:r>
            <a:endParaRPr lang="en-US" sz="1920" dirty="0"/>
          </a:p>
        </p:txBody>
      </p:sp>
      <p:sp>
        <p:nvSpPr>
          <p:cNvPr id="34" name="Text 20"/>
          <p:cNvSpPr/>
          <p:nvPr/>
        </p:nvSpPr>
        <p:spPr>
          <a:xfrm>
            <a:off x="4953000" y="4682808"/>
            <a:ext cx="2599944" cy="88455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使用抓包工具（如Wireshark）验证数据是否加密</a:t>
            </a:r>
            <a:endParaRPr lang="en-US" sz="1920" dirty="0"/>
          </a:p>
        </p:txBody>
      </p:sp>
      <p:sp>
        <p:nvSpPr>
          <p:cNvPr id="35" name="Text 21"/>
          <p:cNvSpPr/>
          <p:nvPr/>
        </p:nvSpPr>
        <p:spPr>
          <a:xfrm>
            <a:off x="4587240" y="5856605"/>
            <a:ext cx="245110" cy="2946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·</a:t>
            </a:r>
            <a:endParaRPr lang="en-US" sz="1920" dirty="0"/>
          </a:p>
        </p:txBody>
      </p:sp>
      <p:sp>
        <p:nvSpPr>
          <p:cNvPr id="36" name="Text 22"/>
          <p:cNvSpPr/>
          <p:nvPr/>
        </p:nvSpPr>
        <p:spPr>
          <a:xfrm>
            <a:off x="4953000" y="5866448"/>
            <a:ext cx="2599944" cy="58991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检查是否部署了有效的数字证书</a:t>
            </a:r>
            <a:endParaRPr lang="en-US" sz="1920" dirty="0"/>
          </a:p>
        </p:txBody>
      </p:sp>
      <p:pic>
        <p:nvPicPr>
          <p:cNvPr id="37" name="Image 12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046720" y="5029200"/>
            <a:ext cx="3550920" cy="1406525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38" name="Image 13" descr="https://test.web.static.jianzeppt.com/ppt-temp-img3/fab767110b2b408c94ca053997bd8614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83880" y="5107940"/>
            <a:ext cx="3276600" cy="1249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身份鉴别验证——实操演示（四）</a:t>
            </a:r>
            <a:endParaRPr lang="en-US" sz="2760" dirty="0"/>
          </a:p>
        </p:txBody>
      </p:sp>
      <p:pic>
        <p:nvPicPr>
          <p:cNvPr id="6" name="Image 3" descr="https://test.web.static.jianzeppt.com/ppt-temp-img3/2a565f817e94b089178e89dd192f6649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371600"/>
            <a:ext cx="6096000" cy="210312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07720" y="1473200"/>
            <a:ext cx="5708904" cy="110744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检查项d：多因素认证（三级及以上强制要求）</a:t>
            </a:r>
            <a:endParaRPr lang="en-US" sz="2400" dirty="0">
              <a:solidFill>
                <a:srgbClr val="2274D9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8" name="Text 2"/>
          <p:cNvSpPr/>
          <p:nvPr/>
        </p:nvSpPr>
        <p:spPr>
          <a:xfrm>
            <a:off x="807720" y="2590800"/>
            <a:ext cx="5708904" cy="6781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920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合格标准：</a:t>
            </a: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应采用两种或以上组合的鉴别技术，其中至少一种应为</a:t>
            </a:r>
            <a:r>
              <a:rPr lang="en-US" sz="192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密码技术</a:t>
            </a: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。</a:t>
            </a:r>
            <a:endParaRPr lang="en-US" sz="1920" dirty="0"/>
          </a:p>
        </p:txBody>
      </p:sp>
      <p:sp>
        <p:nvSpPr>
          <p:cNvPr id="9" name="Text 3"/>
          <p:cNvSpPr/>
          <p:nvPr/>
        </p:nvSpPr>
        <p:spPr>
          <a:xfrm>
            <a:off x="609600" y="3718560"/>
            <a:ext cx="61051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组合方式举例</a:t>
            </a:r>
            <a:endParaRPr lang="en-US" sz="2400" dirty="0"/>
          </a:p>
        </p:txBody>
      </p:sp>
      <p:pic>
        <p:nvPicPr>
          <p:cNvPr id="10" name="Image 4" descr="https://test.web.static.jianzeppt.com/ppt-temp-img3/240aa4af893cee05d5a13323685ce559.png?x-oss-process=image/resize,w_1440,h_800,m_lfit/format,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3840480"/>
            <a:ext cx="6096000" cy="1844040"/>
          </a:xfrm>
          <a:prstGeom prst="rect">
            <a:avLst/>
          </a:prstGeom>
        </p:spPr>
      </p:pic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24840" y="3855720"/>
            <a:ext cx="6080760" cy="457200"/>
          </a:xfrm>
          <a:prstGeom prst="rect">
            <a:avLst/>
          </a:prstGeom>
        </p:spPr>
      </p:pic>
      <p:pic>
        <p:nvPicPr>
          <p:cNvPr id="12" name="Image 6" descr="https://test.web.static.jianzeppt.com/ppt-temp-img3/5a50e3e2e531e634c819632db2645287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40" y="3855720"/>
            <a:ext cx="1524000" cy="457200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944880" y="3916680"/>
            <a:ext cx="8625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因素类型</a:t>
            </a:r>
            <a:endParaRPr lang="en-US" sz="1680" dirty="0"/>
          </a:p>
        </p:txBody>
      </p:sp>
      <p:pic>
        <p:nvPicPr>
          <p:cNvPr id="14" name="Image 7" descr="https://test.web.static.jianzeppt.com/ppt-temp-img3/d1fd87283ba4d12b845526078227ba06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33600" y="3855720"/>
            <a:ext cx="3352800" cy="457200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3596640" y="3916680"/>
            <a:ext cx="43586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示例</a:t>
            </a:r>
            <a:endParaRPr lang="en-US" sz="1680" dirty="0"/>
          </a:p>
        </p:txBody>
      </p:sp>
      <p:pic>
        <p:nvPicPr>
          <p:cNvPr id="16" name="Image 8" descr="https://test.web.static.jianzeppt.com/ppt-temp-img3/f0ba3577796d4cdef9ec70f7322d84cf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0" y="3855720"/>
            <a:ext cx="1219200" cy="457200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5882640" y="3916680"/>
            <a:ext cx="43586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特点</a:t>
            </a:r>
            <a:endParaRPr lang="en-US" sz="1680" dirty="0"/>
          </a:p>
        </p:txBody>
      </p:sp>
      <p:pic>
        <p:nvPicPr>
          <p:cNvPr id="18" name="Image 9" descr="https://test.web.static.jianzeppt.com/ppt-temp-img3/5a50e3e2e531e634c819632db2645287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40" y="4312920"/>
            <a:ext cx="1524000" cy="457200"/>
          </a:xfrm>
          <a:prstGeom prst="rect">
            <a:avLst/>
          </a:prstGeom>
        </p:spPr>
      </p:pic>
      <p:sp>
        <p:nvSpPr>
          <p:cNvPr id="19" name="Text 7"/>
          <p:cNvSpPr/>
          <p:nvPr/>
        </p:nvSpPr>
        <p:spPr>
          <a:xfrm>
            <a:off x="944880" y="4373880"/>
            <a:ext cx="8625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所知因素</a:t>
            </a:r>
            <a:endParaRPr lang="en-US" sz="1680" dirty="0"/>
          </a:p>
        </p:txBody>
      </p:sp>
      <p:pic>
        <p:nvPicPr>
          <p:cNvPr id="20" name="Image 10" descr="https://test.web.static.jianzeppt.com/ppt-temp-img3/d1fd87283ba4d12b845526078227ba06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33600" y="4312920"/>
            <a:ext cx="3352800" cy="457200"/>
          </a:xfrm>
          <a:prstGeom prst="rect">
            <a:avLst/>
          </a:prstGeom>
        </p:spPr>
      </p:pic>
      <p:sp>
        <p:nvSpPr>
          <p:cNvPr id="21" name="Text 8"/>
          <p:cNvSpPr/>
          <p:nvPr/>
        </p:nvSpPr>
        <p:spPr>
          <a:xfrm>
            <a:off x="2270760" y="4373880"/>
            <a:ext cx="122834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密码、PIN码</a:t>
            </a:r>
            <a:endParaRPr lang="en-US" sz="1680" dirty="0"/>
          </a:p>
        </p:txBody>
      </p:sp>
      <p:pic>
        <p:nvPicPr>
          <p:cNvPr id="22" name="Image 11" descr="https://test.web.static.jianzeppt.com/ppt-temp-img3/f0ba3577796d4cdef9ec70f7322d84cf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0" y="4312920"/>
            <a:ext cx="1219200" cy="457200"/>
          </a:xfrm>
          <a:prstGeom prst="rect">
            <a:avLst/>
          </a:prstGeom>
        </p:spPr>
      </p:pic>
      <p:sp>
        <p:nvSpPr>
          <p:cNvPr id="23" name="Text 9"/>
          <p:cNvSpPr/>
          <p:nvPr/>
        </p:nvSpPr>
        <p:spPr>
          <a:xfrm>
            <a:off x="5882640" y="4373880"/>
            <a:ext cx="43586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807E6B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知识</a:t>
            </a:r>
            <a:endParaRPr lang="en-US" sz="1680" dirty="0"/>
          </a:p>
        </p:txBody>
      </p:sp>
      <p:pic>
        <p:nvPicPr>
          <p:cNvPr id="24" name="Image 12" descr="https://test.web.static.jianzeppt.com/ppt-temp-img3/5a50e3e2e531e634c819632db2645287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40" y="4770120"/>
            <a:ext cx="1524000" cy="457200"/>
          </a:xfrm>
          <a:prstGeom prst="rect">
            <a:avLst/>
          </a:prstGeom>
        </p:spPr>
      </p:pic>
      <p:sp>
        <p:nvSpPr>
          <p:cNvPr id="25" name="Text 10"/>
          <p:cNvSpPr/>
          <p:nvPr/>
        </p:nvSpPr>
        <p:spPr>
          <a:xfrm>
            <a:off x="944880" y="4831080"/>
            <a:ext cx="8625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所有因素</a:t>
            </a:r>
            <a:endParaRPr lang="en-US" sz="1680" dirty="0"/>
          </a:p>
        </p:txBody>
      </p:sp>
      <p:pic>
        <p:nvPicPr>
          <p:cNvPr id="26" name="Image 13" descr="https://test.web.static.jianzeppt.com/ppt-temp-img3/d1fd87283ba4d12b845526078227ba06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33600" y="4770120"/>
            <a:ext cx="3352800" cy="457200"/>
          </a:xfrm>
          <a:prstGeom prst="rect">
            <a:avLst/>
          </a:prstGeom>
        </p:spPr>
      </p:pic>
      <p:sp>
        <p:nvSpPr>
          <p:cNvPr id="27" name="Text 11"/>
          <p:cNvSpPr/>
          <p:nvPr/>
        </p:nvSpPr>
        <p:spPr>
          <a:xfrm>
            <a:off x="2270760" y="4831080"/>
            <a:ext cx="298094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短信验证、硬件令牌、USB Key</a:t>
            </a:r>
            <a:endParaRPr lang="en-US" sz="1680" dirty="0"/>
          </a:p>
        </p:txBody>
      </p:sp>
      <p:pic>
        <p:nvPicPr>
          <p:cNvPr id="28" name="Image 14" descr="https://test.web.static.jianzeppt.com/ppt-temp-img3/f0ba3577796d4cdef9ec70f7322d84cf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0" y="4770120"/>
            <a:ext cx="1219200" cy="457200"/>
          </a:xfrm>
          <a:prstGeom prst="rect">
            <a:avLst/>
          </a:prstGeom>
        </p:spPr>
      </p:pic>
      <p:sp>
        <p:nvSpPr>
          <p:cNvPr id="29" name="Text 12"/>
          <p:cNvSpPr/>
          <p:nvPr/>
        </p:nvSpPr>
        <p:spPr>
          <a:xfrm>
            <a:off x="5882640" y="4831080"/>
            <a:ext cx="43586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807E6B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持有</a:t>
            </a:r>
            <a:endParaRPr lang="en-US" sz="1680" dirty="0"/>
          </a:p>
        </p:txBody>
      </p:sp>
      <p:pic>
        <p:nvPicPr>
          <p:cNvPr id="30" name="Image 15" descr="https://test.web.static.jianzeppt.com/ppt-temp-img3/5a50e3e2e531e634c819632db2645287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40" y="5227320"/>
            <a:ext cx="1524000" cy="457200"/>
          </a:xfrm>
          <a:prstGeom prst="rect">
            <a:avLst/>
          </a:prstGeom>
        </p:spPr>
      </p:pic>
      <p:sp>
        <p:nvSpPr>
          <p:cNvPr id="31" name="Text 13"/>
          <p:cNvSpPr/>
          <p:nvPr/>
        </p:nvSpPr>
        <p:spPr>
          <a:xfrm>
            <a:off x="944880" y="5288280"/>
            <a:ext cx="8625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所是因素</a:t>
            </a:r>
            <a:endParaRPr lang="en-US" sz="1680" dirty="0"/>
          </a:p>
        </p:txBody>
      </p:sp>
      <p:pic>
        <p:nvPicPr>
          <p:cNvPr id="32" name="Image 16" descr="https://test.web.static.jianzeppt.com/ppt-temp-img3/d1fd87283ba4d12b845526078227ba06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33600" y="5227320"/>
            <a:ext cx="3352800" cy="457200"/>
          </a:xfrm>
          <a:prstGeom prst="rect">
            <a:avLst/>
          </a:prstGeom>
        </p:spPr>
      </p:pic>
      <p:sp>
        <p:nvSpPr>
          <p:cNvPr id="33" name="Text 14"/>
          <p:cNvSpPr/>
          <p:nvPr/>
        </p:nvSpPr>
        <p:spPr>
          <a:xfrm>
            <a:off x="2270760" y="5288280"/>
            <a:ext cx="214274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指纹、人脸识别、虹膜</a:t>
            </a:r>
            <a:endParaRPr lang="en-US" sz="1680" dirty="0"/>
          </a:p>
        </p:txBody>
      </p:sp>
      <p:pic>
        <p:nvPicPr>
          <p:cNvPr id="34" name="Image 17" descr="https://test.web.static.jianzeppt.com/ppt-temp-img3/f0ba3577796d4cdef9ec70f7322d84cf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0" y="5227320"/>
            <a:ext cx="1219200" cy="457200"/>
          </a:xfrm>
          <a:prstGeom prst="rect">
            <a:avLst/>
          </a:prstGeom>
        </p:spPr>
      </p:pic>
      <p:sp>
        <p:nvSpPr>
          <p:cNvPr id="35" name="Text 15"/>
          <p:cNvSpPr/>
          <p:nvPr/>
        </p:nvSpPr>
        <p:spPr>
          <a:xfrm>
            <a:off x="5882640" y="5288280"/>
            <a:ext cx="43586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807E6B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生物</a:t>
            </a:r>
            <a:endParaRPr lang="en-US" sz="1680" dirty="0"/>
          </a:p>
        </p:txBody>
      </p:sp>
      <p:pic>
        <p:nvPicPr>
          <p:cNvPr id="36" name="Image 18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09600" y="5151120"/>
            <a:ext cx="6096000" cy="1270635"/>
          </a:xfrm>
          <a:prstGeom prst="rect">
            <a:avLst/>
          </a:prstGeom>
        </p:spPr>
      </p:pic>
      <p:sp>
        <p:nvSpPr>
          <p:cNvPr id="37" name="Text 16"/>
          <p:cNvSpPr/>
          <p:nvPr/>
        </p:nvSpPr>
        <p:spPr>
          <a:xfrm>
            <a:off x="746760" y="5288280"/>
            <a:ext cx="58308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常见问题：</a:t>
            </a:r>
            <a:endParaRPr lang="en-US" sz="1920" dirty="0"/>
          </a:p>
        </p:txBody>
      </p:sp>
      <p:sp>
        <p:nvSpPr>
          <p:cNvPr id="38" name="Text 17"/>
          <p:cNvSpPr/>
          <p:nvPr/>
        </p:nvSpPr>
        <p:spPr>
          <a:xfrm>
            <a:off x="746760" y="5715000"/>
            <a:ext cx="58308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000000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❌ 仅使用单因素（仅密码）</a:t>
            </a:r>
            <a:endParaRPr lang="en-US" sz="1680" dirty="0"/>
          </a:p>
        </p:txBody>
      </p:sp>
      <p:sp>
        <p:nvSpPr>
          <p:cNvPr id="39" name="Text 18"/>
          <p:cNvSpPr/>
          <p:nvPr/>
        </p:nvSpPr>
        <p:spPr>
          <a:xfrm>
            <a:off x="746760" y="6096000"/>
            <a:ext cx="58308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000000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❌ 多因素认证形同虚设（可绕过）</a:t>
            </a:r>
            <a:endParaRPr lang="en-US" sz="1680" dirty="0"/>
          </a:p>
        </p:txBody>
      </p:sp>
      <p:pic>
        <p:nvPicPr>
          <p:cNvPr id="40" name="Image 19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010400" y="1371600"/>
            <a:ext cx="4572000" cy="5050155"/>
          </a:xfrm>
          <a:prstGeom prst="rect">
            <a:avLst/>
          </a:prstGeom>
        </p:spPr>
      </p:pic>
      <p:pic>
        <p:nvPicPr>
          <p:cNvPr id="41" name="Image 20" descr="https://test.web.static.jianzeppt.com/ppt-temp-img3/90c1703e852a1a9c3a48f287906d5a61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147560" y="1508760"/>
            <a:ext cx="4297680" cy="49072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访问控制测评——核心检查项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371600"/>
            <a:ext cx="10972800" cy="115824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53440" y="1554480"/>
            <a:ext cx="10555224" cy="4114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访问控制的目标是：</a:t>
            </a:r>
            <a:r>
              <a:rPr lang="en-US" sz="2160" dirty="0">
                <a:solidFill>
                  <a:srgbClr val="514D37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验证“你能做什么”</a:t>
            </a:r>
            <a:endParaRPr lang="en-US" sz="2160" dirty="0"/>
          </a:p>
        </p:txBody>
      </p:sp>
      <p:sp>
        <p:nvSpPr>
          <p:cNvPr id="8" name="Text 2"/>
          <p:cNvSpPr/>
          <p:nvPr/>
        </p:nvSpPr>
        <p:spPr>
          <a:xfrm>
            <a:off x="853440" y="2026920"/>
            <a:ext cx="105552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807E6B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GB/T 22239 8.1.4.2 访问控制要求：</a:t>
            </a:r>
            <a:endParaRPr lang="en-US" sz="168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/>
        </p:nvGraphicFramePr>
        <p:xfrm>
          <a:off x="609600" y="2642235"/>
          <a:ext cx="10972800" cy="3779520"/>
        </p:xfrm>
        <a:graphic>
          <a:graphicData uri="http://schemas.openxmlformats.org/drawingml/2006/table">
            <a:tbl>
              <a:tblPr/>
              <a:tblGrid>
                <a:gridCol w="702015"/>
                <a:gridCol w="1205634"/>
                <a:gridCol w="6867538"/>
                <a:gridCol w="2197612"/>
              </a:tblGrid>
              <a:tr h="4724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序号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检查项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内容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测评方法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a)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账户分配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登录用户应分配账户和权限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查看用户权限配置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b)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默认账户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应重命名或删除默认账户，修改默认口令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查看默认账户状态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c)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过期账户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及时删除或停用多余的、过期的账户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查看账户列表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d)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最小权限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授予管理用户所需的最小权限，实现管理用户的权限分离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查看权限分配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e)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授权主体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应由授权主体配置访问控制策略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查看权限管理流程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f)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粒度控制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访问控制粒度应达到用户级/进程级，客体为文件/数据库表级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查看权限配置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g)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安全标记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应对重要主体和客体设置安全标记（三级及以上）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查看标记配置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访问控制验证——两种越权漏洞</a:t>
            </a:r>
            <a:endParaRPr lang="en-US" sz="2760" dirty="0"/>
          </a:p>
        </p:txBody>
      </p:sp>
      <p:pic>
        <p:nvPicPr>
          <p:cNvPr id="6" name="Image 3" descr="https://test.web.static.jianzeppt.com/ppt-temp-img3/f8f0e1d72d65333e4d7cb504fa1ac823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371600"/>
            <a:ext cx="10972800" cy="60960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53440" y="1493520"/>
            <a:ext cx="490118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555555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越权漏洞是应用系统最严重的安全问题之一。</a:t>
            </a:r>
            <a:endParaRPr lang="en-US" sz="192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600" y="2164080"/>
            <a:ext cx="5334000" cy="4328160"/>
          </a:xfrm>
          <a:prstGeom prst="rect">
            <a:avLst/>
          </a:prstGeom>
        </p:spPr>
      </p:pic>
      <p:pic>
        <p:nvPicPr>
          <p:cNvPr id="9" name="Image 5" descr="https://test.web.static.jianzeppt.com/ppt-temp-img3/3cc882572e85e52ff163eef3f4c9280f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" y="2179320"/>
            <a:ext cx="5303520" cy="99060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807720" y="2331720"/>
            <a:ext cx="4946904" cy="3810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垂直越权</a:t>
            </a:r>
            <a:endParaRPr lang="en-US" sz="2400" dirty="0"/>
          </a:p>
        </p:txBody>
      </p:sp>
      <p:sp>
        <p:nvSpPr>
          <p:cNvPr id="11" name="Text 3"/>
          <p:cNvSpPr/>
          <p:nvPr/>
        </p:nvSpPr>
        <p:spPr>
          <a:xfrm>
            <a:off x="807720" y="2743200"/>
            <a:ext cx="494690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40" dirty="0">
                <a:solidFill>
                  <a:srgbClr val="FFFFFF">
                    <a:alpha val="80000"/>
                  </a:srgbClr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(Vertical Privilege Escalation)</a:t>
            </a:r>
            <a:endParaRPr lang="en-US" sz="1440" dirty="0"/>
          </a:p>
        </p:txBody>
      </p:sp>
      <p:sp>
        <p:nvSpPr>
          <p:cNvPr id="12" name="Text 4"/>
          <p:cNvSpPr/>
          <p:nvPr/>
        </p:nvSpPr>
        <p:spPr>
          <a:xfrm>
            <a:off x="807720" y="3337560"/>
            <a:ext cx="4946904" cy="3200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6666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定义：</a:t>
            </a:r>
            <a:r>
              <a:rPr lang="en-US" sz="168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低权限用户获取高权限操作</a:t>
            </a:r>
            <a:endParaRPr lang="en-US" sz="1680" dirty="0"/>
          </a:p>
        </p:txBody>
      </p:sp>
      <p:sp>
        <p:nvSpPr>
          <p:cNvPr id="13" name="Text 5"/>
          <p:cNvSpPr/>
          <p:nvPr/>
        </p:nvSpPr>
        <p:spPr>
          <a:xfrm>
            <a:off x="807720" y="3779520"/>
            <a:ext cx="4946904" cy="3200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6666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示例：</a:t>
            </a:r>
            <a:r>
              <a:rPr lang="en-US" sz="168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普通用户访问管理员后台</a:t>
            </a:r>
            <a:endParaRPr lang="en-US" sz="1680" dirty="0"/>
          </a:p>
        </p:txBody>
      </p:sp>
      <p:sp>
        <p:nvSpPr>
          <p:cNvPr id="14" name="Text 6"/>
          <p:cNvSpPr/>
          <p:nvPr/>
        </p:nvSpPr>
        <p:spPr>
          <a:xfrm>
            <a:off x="807720" y="4236720"/>
            <a:ext cx="9845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6666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测试：</a:t>
            </a:r>
            <a:endParaRPr lang="en-US" sz="1680" dirty="0"/>
          </a:p>
        </p:txBody>
      </p:sp>
      <p:sp>
        <p:nvSpPr>
          <p:cNvPr id="15" name="Text 7"/>
          <p:cNvSpPr/>
          <p:nvPr/>
        </p:nvSpPr>
        <p:spPr>
          <a:xfrm>
            <a:off x="1783080" y="4236720"/>
            <a:ext cx="39715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① 普通用户登录</a:t>
            </a:r>
            <a:endParaRPr lang="en-US" sz="1680" dirty="0"/>
          </a:p>
        </p:txBody>
      </p:sp>
      <p:sp>
        <p:nvSpPr>
          <p:cNvPr id="16" name="Text 8"/>
          <p:cNvSpPr/>
          <p:nvPr/>
        </p:nvSpPr>
        <p:spPr>
          <a:xfrm>
            <a:off x="1783080" y="4556760"/>
            <a:ext cx="39715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② 尝试访问/admin</a:t>
            </a:r>
            <a:endParaRPr lang="en-US" sz="1680" dirty="0"/>
          </a:p>
        </p:txBody>
      </p:sp>
      <p:sp>
        <p:nvSpPr>
          <p:cNvPr id="17" name="Text 9"/>
          <p:cNvSpPr/>
          <p:nvPr/>
        </p:nvSpPr>
        <p:spPr>
          <a:xfrm>
            <a:off x="1783080" y="4892040"/>
            <a:ext cx="39715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③ 预期：被拒绝</a:t>
            </a:r>
            <a:endParaRPr lang="en-US" sz="168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7720" y="5714365"/>
            <a:ext cx="4937760" cy="655320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929640" y="5867400"/>
            <a:ext cx="9845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6666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风险：</a:t>
            </a:r>
            <a:endParaRPr lang="en-US" sz="1680" dirty="0"/>
          </a:p>
        </p:txBody>
      </p:sp>
      <p:sp>
        <p:nvSpPr>
          <p:cNvPr id="20" name="Text 11"/>
          <p:cNvSpPr/>
          <p:nvPr/>
        </p:nvSpPr>
        <p:spPr>
          <a:xfrm>
            <a:off x="1905000" y="5821680"/>
            <a:ext cx="9997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🔴 高危</a:t>
            </a:r>
            <a:endParaRPr lang="en-US" sz="2160" dirty="0"/>
          </a:p>
        </p:txBody>
      </p:sp>
      <p:pic>
        <p:nvPicPr>
          <p:cNvPr id="21" name="Image 7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48400" y="2164080"/>
            <a:ext cx="5334000" cy="4314190"/>
          </a:xfrm>
          <a:prstGeom prst="rect">
            <a:avLst/>
          </a:prstGeom>
        </p:spPr>
      </p:pic>
      <p:pic>
        <p:nvPicPr>
          <p:cNvPr id="22" name="Image 8" descr="https://test.web.static.jianzeppt.com/ppt-temp-img3/5a7de79c58d4cc8955e5fb65f70a42c6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640" y="2179320"/>
            <a:ext cx="5303520" cy="990600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6446520" y="2331720"/>
            <a:ext cx="4946904" cy="3810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水平越权</a:t>
            </a:r>
            <a:endParaRPr lang="en-US" sz="2400" dirty="0"/>
          </a:p>
        </p:txBody>
      </p:sp>
      <p:sp>
        <p:nvSpPr>
          <p:cNvPr id="24" name="Text 13"/>
          <p:cNvSpPr/>
          <p:nvPr/>
        </p:nvSpPr>
        <p:spPr>
          <a:xfrm>
            <a:off x="6446520" y="2743200"/>
            <a:ext cx="494690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40" dirty="0">
                <a:solidFill>
                  <a:srgbClr val="FFFFFF">
                    <a:alpha val="80000"/>
                  </a:srgbClr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(Horizontal Privilege Escalation)</a:t>
            </a:r>
            <a:endParaRPr lang="en-US" sz="1440" dirty="0"/>
          </a:p>
        </p:txBody>
      </p:sp>
      <p:sp>
        <p:nvSpPr>
          <p:cNvPr id="25" name="Text 14"/>
          <p:cNvSpPr/>
          <p:nvPr/>
        </p:nvSpPr>
        <p:spPr>
          <a:xfrm>
            <a:off x="6446520" y="3337560"/>
            <a:ext cx="4946904" cy="3200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6666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定义：</a:t>
            </a:r>
            <a:r>
              <a:rPr lang="en-US" sz="168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访问其他同级用户的数据</a:t>
            </a:r>
            <a:endParaRPr lang="en-US" sz="1680" dirty="0"/>
          </a:p>
        </p:txBody>
      </p:sp>
      <p:sp>
        <p:nvSpPr>
          <p:cNvPr id="26" name="Text 15"/>
          <p:cNvSpPr/>
          <p:nvPr/>
        </p:nvSpPr>
        <p:spPr>
          <a:xfrm>
            <a:off x="6446520" y="3779520"/>
            <a:ext cx="4946904" cy="3200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6666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示例：</a:t>
            </a:r>
            <a:r>
              <a:rPr lang="en-US" sz="168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用户A修改ID查看用户B订单</a:t>
            </a:r>
            <a:endParaRPr lang="en-US" sz="1680" dirty="0"/>
          </a:p>
        </p:txBody>
      </p:sp>
      <p:sp>
        <p:nvSpPr>
          <p:cNvPr id="27" name="Text 16"/>
          <p:cNvSpPr/>
          <p:nvPr/>
        </p:nvSpPr>
        <p:spPr>
          <a:xfrm>
            <a:off x="6446520" y="4236720"/>
            <a:ext cx="9845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6666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测试：</a:t>
            </a:r>
            <a:endParaRPr lang="en-US" sz="1680" dirty="0"/>
          </a:p>
        </p:txBody>
      </p:sp>
      <p:sp>
        <p:nvSpPr>
          <p:cNvPr id="28" name="Text 17"/>
          <p:cNvSpPr/>
          <p:nvPr/>
        </p:nvSpPr>
        <p:spPr>
          <a:xfrm>
            <a:off x="7421880" y="4236720"/>
            <a:ext cx="39715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① 用户A登录</a:t>
            </a:r>
            <a:endParaRPr lang="en-US" sz="1680" dirty="0"/>
          </a:p>
        </p:txBody>
      </p:sp>
      <p:sp>
        <p:nvSpPr>
          <p:cNvPr id="29" name="Text 18"/>
          <p:cNvSpPr/>
          <p:nvPr/>
        </p:nvSpPr>
        <p:spPr>
          <a:xfrm>
            <a:off x="7421880" y="4556760"/>
            <a:ext cx="39715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② 修改资源ID参数</a:t>
            </a:r>
            <a:endParaRPr lang="en-US" sz="1680" dirty="0"/>
          </a:p>
        </p:txBody>
      </p:sp>
      <p:sp>
        <p:nvSpPr>
          <p:cNvPr id="30" name="Text 19"/>
          <p:cNvSpPr/>
          <p:nvPr/>
        </p:nvSpPr>
        <p:spPr>
          <a:xfrm>
            <a:off x="7421880" y="4892040"/>
            <a:ext cx="39715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③ 预期：无法查看</a:t>
            </a:r>
            <a:endParaRPr lang="en-US" sz="1680" dirty="0"/>
          </a:p>
        </p:txBody>
      </p:sp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46520" y="5699760"/>
            <a:ext cx="4937760" cy="655320"/>
          </a:xfrm>
          <a:prstGeom prst="rect">
            <a:avLst/>
          </a:prstGeom>
        </p:spPr>
      </p:pic>
      <p:sp>
        <p:nvSpPr>
          <p:cNvPr id="32" name="Text 20"/>
          <p:cNvSpPr/>
          <p:nvPr/>
        </p:nvSpPr>
        <p:spPr>
          <a:xfrm>
            <a:off x="6568440" y="5867400"/>
            <a:ext cx="9845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6666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风险：</a:t>
            </a:r>
            <a:endParaRPr lang="en-US" sz="1680" dirty="0"/>
          </a:p>
        </p:txBody>
      </p:sp>
      <p:sp>
        <p:nvSpPr>
          <p:cNvPr id="33" name="Text 21"/>
          <p:cNvSpPr/>
          <p:nvPr/>
        </p:nvSpPr>
        <p:spPr>
          <a:xfrm>
            <a:off x="7543800" y="5821680"/>
            <a:ext cx="9997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🔴 高危</a:t>
            </a:r>
            <a:endParaRPr lang="en-US" sz="216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访问控制验证——实操演示（五）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600" y="1447800"/>
            <a:ext cx="91440" cy="335280"/>
          </a:xfrm>
          <a:prstGeom prst="rect">
            <a:avLst/>
          </a:prstGeom>
        </p:spPr>
      </p:pic>
      <p:sp>
        <p:nvSpPr>
          <p:cNvPr id="7" name="Text 1"/>
          <p:cNvSpPr/>
          <p:nvPr>
            <p:custDataLst>
              <p:tags r:id="rId7"/>
            </p:custDataLst>
          </p:nvPr>
        </p:nvSpPr>
        <p:spPr>
          <a:xfrm>
            <a:off x="822960" y="1371600"/>
            <a:ext cx="3041904" cy="4876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垂直越权测试演示：</a:t>
            </a:r>
            <a:endParaRPr lang="en-US" sz="264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/>
        </p:nvGraphicFramePr>
        <p:xfrm>
          <a:off x="984449" y="1923415"/>
          <a:ext cx="10223103" cy="1703850"/>
        </p:xfrm>
        <a:graphic>
          <a:graphicData uri="http://schemas.openxmlformats.org/drawingml/2006/table">
            <a:tbl>
              <a:tblPr/>
              <a:tblGrid>
                <a:gridCol w="639833"/>
                <a:gridCol w="4606794"/>
                <a:gridCol w="3142289"/>
                <a:gridCol w="1834187"/>
              </a:tblGrid>
              <a:tr h="3407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步骤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5193" marR="85193" marT="85193" marB="8519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操作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5193" marR="85193" marT="85193" marB="8519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预期结果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5193" marR="85193" marT="85193" marB="8519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实际观察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5193" marR="85193" marT="85193" marB="8519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07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5193" marR="85193" marT="85193" marB="8519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以普通用户登录系统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5193" marR="85193" marT="85193" marB="8519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登录成功，只能看到普通功能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5193" marR="85193" marT="85193" marB="8519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2400"/>
                    </a:p>
                  </a:txBody>
                  <a:tcPr marL="85193" marR="85193" marT="85193" marB="8519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07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5193" marR="85193" marT="85193" marB="8519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尝试访问管理员功能URL（如/admin/dashboard）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5193" marR="85193" marT="85193" marB="8519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被拒绝访问，跳转至403或登录页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5193" marR="85193" marT="85193" marB="8519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记录是否被拒绝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5193" marR="85193" marT="85193" marB="8519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07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5193" marR="85193" marT="85193" marB="8519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尝试通过修改请求参数访问管理功能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5193" marR="85193" marT="85193" marB="8519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被拒绝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5193" marR="85193" marT="85193" marB="8519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记录是否被拒绝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5193" marR="85193" marT="85193" marB="8519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07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5193" marR="85193" marT="85193" marB="8519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尝试使用管理员账户登录，确认功能可用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5193" marR="85193" marT="85193" marB="8519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可以访问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5193" marR="85193" marT="85193" marB="8519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确认功能本身正常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5193" marR="85193" marT="85193" marB="8519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Image 4" descr="preencoded.png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600" y="4191000"/>
            <a:ext cx="91440" cy="335280"/>
          </a:xfrm>
          <a:prstGeom prst="rect">
            <a:avLst/>
          </a:prstGeom>
        </p:spPr>
      </p:pic>
      <p:sp>
        <p:nvSpPr>
          <p:cNvPr id="10" name="Text 2"/>
          <p:cNvSpPr/>
          <p:nvPr>
            <p:custDataLst>
              <p:tags r:id="rId10"/>
            </p:custDataLst>
          </p:nvPr>
        </p:nvSpPr>
        <p:spPr>
          <a:xfrm>
            <a:off x="822960" y="4056380"/>
            <a:ext cx="3041904" cy="4876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水平越权测试演示：</a:t>
            </a:r>
            <a:endParaRPr lang="en-US" sz="264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/>
        </p:nvGraphicFramePr>
        <p:xfrm>
          <a:off x="609600" y="4622800"/>
          <a:ext cx="10972800" cy="1828800"/>
        </p:xfrm>
        <a:graphic>
          <a:graphicData uri="http://schemas.openxmlformats.org/drawingml/2006/table">
            <a:tbl>
              <a:tblPr/>
              <a:tblGrid>
                <a:gridCol w="640970"/>
                <a:gridCol w="4242613"/>
                <a:gridCol w="3128545"/>
                <a:gridCol w="2960672"/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步骤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操作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预期结果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实际观察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以用户A登录，查看自己的订单详情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正常显示订单A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修改URL中的订单ID（如从1001改为1002）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被拒绝，提示无权限或返回空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记录是否可查看其他用户数据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尝试修改POST请求中的用户ID参数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被拒绝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记录是否可越权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对象 7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0235565" y="529590"/>
          <a:ext cx="971550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45" name="" showAsIcon="1" r:id="rId11" imgW="971550" imgH="666750" progId="Word.Document.12">
                  <p:embed/>
                </p:oleObj>
              </mc:Choice>
              <mc:Fallback>
                <p:oleObj name="" showAsIcon="1" r:id="rId11" imgW="971550" imgH="666750" progId="Word.Document.12">
                  <p:embed/>
                  <p:pic>
                    <p:nvPicPr>
                      <p:cNvPr id="0" name="图片 6144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0235565" y="529590"/>
                        <a:ext cx="971550" cy="666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安全审计测评——核心检查项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371600"/>
            <a:ext cx="10972800" cy="6553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8680" y="1554480"/>
            <a:ext cx="304800" cy="304800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1356360" y="1508760"/>
            <a:ext cx="5495544" cy="3810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安全审计的目标是：记录“你做了什么”</a:t>
            </a:r>
            <a:endParaRPr lang="en-US" sz="2400" dirty="0"/>
          </a:p>
        </p:txBody>
      </p:sp>
      <p:sp>
        <p:nvSpPr>
          <p:cNvPr id="9" name="Text 2"/>
          <p:cNvSpPr/>
          <p:nvPr/>
        </p:nvSpPr>
        <p:spPr>
          <a:xfrm>
            <a:off x="670560" y="2209800"/>
            <a:ext cx="109209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807E6B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GB/T 22239 8.1.4.3 安全审计要求：</a:t>
            </a:r>
            <a:endParaRPr lang="en-US" sz="1680" dirty="0"/>
          </a:p>
        </p:txBody>
      </p:sp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9600" y="2651760"/>
            <a:ext cx="10972800" cy="38455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11" name="Image 6" descr="https://test.web.static.jianzeppt.com/ppt-temp-img3/1d93eeff88baedd81a0807298aee4e30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840" y="2667000"/>
            <a:ext cx="10942320" cy="609600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868680" y="2788920"/>
            <a:ext cx="618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序号</a:t>
            </a:r>
            <a:endParaRPr lang="en-US" sz="1920" dirty="0"/>
          </a:p>
        </p:txBody>
      </p:sp>
      <p:sp>
        <p:nvSpPr>
          <p:cNvPr id="13" name="Text 4"/>
          <p:cNvSpPr/>
          <p:nvPr/>
        </p:nvSpPr>
        <p:spPr>
          <a:xfrm>
            <a:off x="1965960" y="2788920"/>
            <a:ext cx="17160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检查项</a:t>
            </a:r>
            <a:endParaRPr lang="en-US" sz="1920" dirty="0"/>
          </a:p>
        </p:txBody>
      </p:sp>
      <p:sp>
        <p:nvSpPr>
          <p:cNvPr id="14" name="Text 5"/>
          <p:cNvSpPr/>
          <p:nvPr/>
        </p:nvSpPr>
        <p:spPr>
          <a:xfrm>
            <a:off x="4145280" y="2788920"/>
            <a:ext cx="718718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内容</a:t>
            </a:r>
            <a:endParaRPr lang="en-US" sz="1920" dirty="0"/>
          </a:p>
        </p:txBody>
      </p:sp>
      <p:pic>
        <p:nvPicPr>
          <p:cNvPr id="15" name="Image 7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24840" y="3276600"/>
            <a:ext cx="10942320" cy="3032760"/>
          </a:xfrm>
          <a:prstGeom prst="rect">
            <a:avLst/>
          </a:prstGeom>
        </p:spPr>
      </p:pic>
      <p:pic>
        <p:nvPicPr>
          <p:cNvPr id="16" name="Image 8" descr="https://test.web.static.jianzeppt.com/ppt-temp-img3/b0f31d3e1cd53ac65ce6a044138f3ffc.png?x-oss-process=image/resize,w_1440,h_800,m_lfit/format,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4840" y="3276600"/>
            <a:ext cx="10942320" cy="990600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868680" y="3429000"/>
            <a:ext cx="618744" cy="685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7331F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a)</a:t>
            </a:r>
            <a:endParaRPr lang="en-US" sz="1920" dirty="0"/>
          </a:p>
        </p:txBody>
      </p:sp>
      <p:sp>
        <p:nvSpPr>
          <p:cNvPr id="18" name="Text 7"/>
          <p:cNvSpPr/>
          <p:nvPr/>
        </p:nvSpPr>
        <p:spPr>
          <a:xfrm>
            <a:off x="1965960" y="3429000"/>
            <a:ext cx="1716024" cy="685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审计启用</a:t>
            </a:r>
            <a:endParaRPr lang="en-US" sz="1920" dirty="0"/>
          </a:p>
        </p:txBody>
      </p:sp>
      <p:sp>
        <p:nvSpPr>
          <p:cNvPr id="19" name="Text 8"/>
          <p:cNvSpPr/>
          <p:nvPr/>
        </p:nvSpPr>
        <p:spPr>
          <a:xfrm>
            <a:off x="4145280" y="3429000"/>
            <a:ext cx="7187184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920" dirty="0">
                <a:solidFill>
                  <a:srgbClr val="514D37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应启用安全审计功能，审计覆盖到每个用户，对重要的行为和事件进行审计</a:t>
            </a:r>
            <a:endParaRPr lang="en-US" sz="1920" dirty="0"/>
          </a:p>
        </p:txBody>
      </p:sp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24840" y="4259580"/>
            <a:ext cx="10942320" cy="15240"/>
          </a:xfrm>
          <a:prstGeom prst="rect">
            <a:avLst/>
          </a:prstGeom>
        </p:spPr>
      </p:pic>
      <p:pic>
        <p:nvPicPr>
          <p:cNvPr id="21" name="Image 10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4840" y="4267200"/>
            <a:ext cx="10942320" cy="685800"/>
          </a:xfrm>
          <a:prstGeom prst="rect">
            <a:avLst/>
          </a:prstGeom>
        </p:spPr>
      </p:pic>
      <p:sp>
        <p:nvSpPr>
          <p:cNvPr id="22" name="Text 9"/>
          <p:cNvSpPr/>
          <p:nvPr/>
        </p:nvSpPr>
        <p:spPr>
          <a:xfrm>
            <a:off x="868680" y="4419600"/>
            <a:ext cx="618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7331F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b)</a:t>
            </a:r>
            <a:endParaRPr lang="en-US" sz="1920" dirty="0"/>
          </a:p>
        </p:txBody>
      </p:sp>
      <p:sp>
        <p:nvSpPr>
          <p:cNvPr id="23" name="Text 10"/>
          <p:cNvSpPr/>
          <p:nvPr/>
        </p:nvSpPr>
        <p:spPr>
          <a:xfrm>
            <a:off x="1965960" y="4419600"/>
            <a:ext cx="17160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审计内容</a:t>
            </a:r>
            <a:endParaRPr lang="en-US" sz="1920" dirty="0"/>
          </a:p>
        </p:txBody>
      </p:sp>
      <p:sp>
        <p:nvSpPr>
          <p:cNvPr id="24" name="Text 11"/>
          <p:cNvSpPr/>
          <p:nvPr/>
        </p:nvSpPr>
        <p:spPr>
          <a:xfrm>
            <a:off x="4145280" y="4419600"/>
            <a:ext cx="718718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920" dirty="0">
                <a:solidFill>
                  <a:srgbClr val="514D37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记录应包括日期时间、用户、事件类型、是否成功及其他相关信息</a:t>
            </a:r>
            <a:endParaRPr lang="en-US" sz="1920" dirty="0"/>
          </a:p>
        </p:txBody>
      </p:sp>
      <p:pic>
        <p:nvPicPr>
          <p:cNvPr id="25" name="Image 11" descr="preencoded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24840" y="4945380"/>
            <a:ext cx="10942320" cy="15240"/>
          </a:xfrm>
          <a:prstGeom prst="rect">
            <a:avLst/>
          </a:prstGeom>
        </p:spPr>
      </p:pic>
      <p:pic>
        <p:nvPicPr>
          <p:cNvPr id="26" name="Image 12" descr="https://test.web.static.jianzeppt.com/ppt-temp-img3/d054b983e8a0b32468812a66ba64b286.png?x-oss-process=image/resize,w_1440,h_800,m_lfit/format,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24840" y="4953000"/>
            <a:ext cx="10942320" cy="685800"/>
          </a:xfrm>
          <a:prstGeom prst="rect">
            <a:avLst/>
          </a:prstGeom>
        </p:spPr>
      </p:pic>
      <p:sp>
        <p:nvSpPr>
          <p:cNvPr id="27" name="Text 12"/>
          <p:cNvSpPr/>
          <p:nvPr/>
        </p:nvSpPr>
        <p:spPr>
          <a:xfrm>
            <a:off x="868680" y="5105400"/>
            <a:ext cx="618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7331F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c)</a:t>
            </a:r>
            <a:endParaRPr lang="en-US" sz="1920" dirty="0"/>
          </a:p>
        </p:txBody>
      </p:sp>
      <p:sp>
        <p:nvSpPr>
          <p:cNvPr id="28" name="Text 13"/>
          <p:cNvSpPr/>
          <p:nvPr/>
        </p:nvSpPr>
        <p:spPr>
          <a:xfrm>
            <a:off x="1965960" y="5105400"/>
            <a:ext cx="17160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审计保护</a:t>
            </a:r>
            <a:endParaRPr lang="en-US" sz="1920" dirty="0"/>
          </a:p>
        </p:txBody>
      </p:sp>
      <p:sp>
        <p:nvSpPr>
          <p:cNvPr id="29" name="Text 14"/>
          <p:cNvSpPr/>
          <p:nvPr/>
        </p:nvSpPr>
        <p:spPr>
          <a:xfrm>
            <a:off x="4145280" y="5105400"/>
            <a:ext cx="718718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920" dirty="0">
                <a:solidFill>
                  <a:srgbClr val="514D37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应对记录进行保护，定期备份，避免未预期的删除、修改或覆盖</a:t>
            </a:r>
            <a:endParaRPr lang="en-US" sz="1920" dirty="0"/>
          </a:p>
        </p:txBody>
      </p:sp>
      <p:pic>
        <p:nvPicPr>
          <p:cNvPr id="30" name="Image 13" descr="preencoded.png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24840" y="5631180"/>
            <a:ext cx="10942320" cy="15240"/>
          </a:xfrm>
          <a:prstGeom prst="rect">
            <a:avLst/>
          </a:prstGeom>
        </p:spPr>
      </p:pic>
      <p:pic>
        <p:nvPicPr>
          <p:cNvPr id="31" name="Image 14" descr="preencoded.png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4840" y="5638800"/>
            <a:ext cx="10942320" cy="685800"/>
          </a:xfrm>
          <a:prstGeom prst="rect">
            <a:avLst/>
          </a:prstGeom>
        </p:spPr>
      </p:pic>
      <p:sp>
        <p:nvSpPr>
          <p:cNvPr id="32" name="Text 15"/>
          <p:cNvSpPr/>
          <p:nvPr/>
        </p:nvSpPr>
        <p:spPr>
          <a:xfrm>
            <a:off x="868680" y="5791200"/>
            <a:ext cx="618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7331F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d)</a:t>
            </a:r>
            <a:endParaRPr lang="en-US" sz="1920" dirty="0"/>
          </a:p>
        </p:txBody>
      </p:sp>
      <p:sp>
        <p:nvSpPr>
          <p:cNvPr id="33" name="Text 16"/>
          <p:cNvSpPr/>
          <p:nvPr/>
        </p:nvSpPr>
        <p:spPr>
          <a:xfrm>
            <a:off x="1965960" y="5791200"/>
            <a:ext cx="17160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进程保护</a:t>
            </a:r>
            <a:endParaRPr lang="en-US" sz="1920" dirty="0"/>
          </a:p>
        </p:txBody>
      </p:sp>
      <p:sp>
        <p:nvSpPr>
          <p:cNvPr id="34" name="Text 17"/>
          <p:cNvSpPr/>
          <p:nvPr/>
        </p:nvSpPr>
        <p:spPr>
          <a:xfrm>
            <a:off x="4145280" y="5791200"/>
            <a:ext cx="718718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920" dirty="0">
                <a:solidFill>
                  <a:srgbClr val="514D37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应对审计进程进行保护，防止未经授权的中断（三级及以上）</a:t>
            </a:r>
            <a:endParaRPr lang="en-US" sz="19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安全审计验证——实操演示（六）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447800"/>
            <a:ext cx="365760" cy="36576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1097280" y="1371600"/>
            <a:ext cx="170078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4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验证方法：</a:t>
            </a:r>
            <a:endParaRPr lang="en-US" sz="264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600" y="1996440"/>
            <a:ext cx="10972800" cy="24841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624840" y="2011680"/>
          <a:ext cx="10942320" cy="2453640"/>
        </p:xfrm>
        <a:graphic>
          <a:graphicData uri="http://schemas.openxmlformats.org/drawingml/2006/table">
            <a:tbl>
              <a:tblPr/>
              <a:tblGrid>
                <a:gridCol w="1388774"/>
                <a:gridCol w="2777548"/>
                <a:gridCol w="6775997"/>
              </a:tblGrid>
              <a:tr h="4907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b="1" dirty="0">
                          <a:solidFill>
                            <a:srgbClr val="000000"/>
                          </a:solidFill>
                        </a:rPr>
                        <a:t>测试场景</a:t>
                      </a:r>
                      <a:endParaRPr lang="en-US" sz="143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b="1" dirty="0">
                          <a:solidFill>
                            <a:srgbClr val="000000"/>
                          </a:solidFill>
                        </a:rPr>
                        <a:t>操作</a:t>
                      </a:r>
                      <a:endParaRPr lang="en-US" sz="143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b="1" dirty="0">
                          <a:solidFill>
                            <a:srgbClr val="000000"/>
                          </a:solidFill>
                        </a:rPr>
                        <a:t>预期结果</a:t>
                      </a:r>
                      <a:endParaRPr lang="en-US" sz="143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登录审计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成功登录一次、失败登录一次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审计日志中应有两条记录，包含用户名、登录时间、来源IP、成功/失败状态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权限变更审计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管理员修改用户权限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审计日志中应有记录，包含操作人、操作时间、操作内容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重要操作审计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删除数据、修改配置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审计日志中应有记录，包含操作人、操作时间、操作内容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日志保护验证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尝试普通用户删除审计日志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被拒绝（仅审计管理员可操作）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9600" y="4800600"/>
            <a:ext cx="365760" cy="365760"/>
          </a:xfrm>
          <a:prstGeom prst="rect">
            <a:avLst/>
          </a:prstGeom>
        </p:spPr>
      </p:pic>
      <p:sp>
        <p:nvSpPr>
          <p:cNvPr id="11" name="Text 2"/>
          <p:cNvSpPr/>
          <p:nvPr/>
        </p:nvSpPr>
        <p:spPr>
          <a:xfrm>
            <a:off x="1097280" y="4724400"/>
            <a:ext cx="170078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4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常见问题：</a:t>
            </a:r>
            <a:endParaRPr lang="en-US" sz="2640" dirty="0"/>
          </a:p>
        </p:txBody>
      </p:sp>
      <p:pic>
        <p:nvPicPr>
          <p:cNvPr id="12" name="Image 6" descr="https://test.web.static.jianzeppt.com/ppt-temp-img3/6dc595dc9a1bac790a066ae58579434d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" y="5334000"/>
            <a:ext cx="10972800" cy="1203960"/>
          </a:xfrm>
          <a:prstGeom prst="rect">
            <a:avLst/>
          </a:prstGeom>
        </p:spPr>
      </p:pic>
      <p:sp>
        <p:nvSpPr>
          <p:cNvPr id="13" name="Text 3"/>
          <p:cNvSpPr/>
          <p:nvPr/>
        </p:nvSpPr>
        <p:spPr>
          <a:xfrm>
            <a:off x="868680" y="5471160"/>
            <a:ext cx="3901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❌</a:t>
            </a:r>
            <a:endParaRPr lang="en-US" sz="2160" dirty="0"/>
          </a:p>
        </p:txBody>
      </p:sp>
      <p:sp>
        <p:nvSpPr>
          <p:cNvPr id="14" name="Text 4"/>
          <p:cNvSpPr/>
          <p:nvPr/>
        </p:nvSpPr>
        <p:spPr>
          <a:xfrm>
            <a:off x="1325880" y="5471160"/>
            <a:ext cx="192938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未启用审计功能</a:t>
            </a:r>
            <a:endParaRPr lang="en-US" sz="2160" dirty="0"/>
          </a:p>
        </p:txBody>
      </p:sp>
      <p:sp>
        <p:nvSpPr>
          <p:cNvPr id="15" name="Text 5"/>
          <p:cNvSpPr/>
          <p:nvPr/>
        </p:nvSpPr>
        <p:spPr>
          <a:xfrm>
            <a:off x="868680" y="5745480"/>
            <a:ext cx="3901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❌</a:t>
            </a:r>
            <a:endParaRPr lang="en-US" sz="2160" dirty="0"/>
          </a:p>
        </p:txBody>
      </p:sp>
      <p:sp>
        <p:nvSpPr>
          <p:cNvPr id="9" name="Text 6"/>
          <p:cNvSpPr/>
          <p:nvPr/>
        </p:nvSpPr>
        <p:spPr>
          <a:xfrm>
            <a:off x="1325880" y="5745480"/>
            <a:ext cx="41239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审计日志不完整（缺少关键字段）</a:t>
            </a:r>
            <a:endParaRPr lang="en-US" sz="2160" dirty="0"/>
          </a:p>
        </p:txBody>
      </p:sp>
      <p:sp>
        <p:nvSpPr>
          <p:cNvPr id="17" name="Text 7"/>
          <p:cNvSpPr/>
          <p:nvPr/>
        </p:nvSpPr>
        <p:spPr>
          <a:xfrm>
            <a:off x="868680" y="6019800"/>
            <a:ext cx="3901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❌</a:t>
            </a:r>
            <a:endParaRPr lang="en-US" sz="2160" dirty="0"/>
          </a:p>
        </p:txBody>
      </p:sp>
      <p:sp>
        <p:nvSpPr>
          <p:cNvPr id="18" name="Text 8"/>
          <p:cNvSpPr/>
          <p:nvPr/>
        </p:nvSpPr>
        <p:spPr>
          <a:xfrm>
            <a:off x="1325880" y="6019800"/>
            <a:ext cx="330098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审计日志可被普通用户删除</a:t>
            </a:r>
            <a:endParaRPr lang="en-US" sz="216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思政融入——应用安全测评的社会责任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609600"/>
            <a:ext cx="91440" cy="487680"/>
          </a:xfrm>
          <a:prstGeom prst="rect">
            <a:avLst/>
          </a:prstGeom>
        </p:spPr>
      </p:pic>
      <p:pic>
        <p:nvPicPr>
          <p:cNvPr id="7" name="Image 4" descr="https://test.web.static.jianzeppt.com/ppt-temp-img3/9ad5fe541b6860dc76693735cbbed4ab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7800" y="5623560"/>
            <a:ext cx="9311640" cy="807720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1950720" y="5821680"/>
            <a:ext cx="83149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160" kern="0" spc="72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应用系统安全功能验证，是在为千万用户的数字生活“站岗放哨”。</a:t>
            </a:r>
            <a:endParaRPr lang="en-US" sz="2160" dirty="0"/>
          </a:p>
        </p:txBody>
      </p:sp>
      <p:pic>
        <p:nvPicPr>
          <p:cNvPr id="9" name="Image 5" descr="https://test.web.static.jianzeppt.com/ppt-temp-img3/5100fa13e1824b1d812703b3f69cd462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371600"/>
            <a:ext cx="3505200" cy="381000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1981200" y="1691640"/>
            <a:ext cx="75590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640" kern="0" spc="352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守护</a:t>
            </a:r>
            <a:endParaRPr lang="en-US" sz="2640" dirty="0"/>
          </a:p>
        </p:txBody>
      </p:sp>
      <p:pic>
        <p:nvPicPr>
          <p:cNvPr id="11" name="Image 6" descr="https://test.web.static.jianzeppt.com/ppt-temp-img3/8ae6100fbe82f59eed11d1374cc60361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2468880"/>
            <a:ext cx="91440" cy="91440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1082040" y="2377440"/>
            <a:ext cx="2782824" cy="6824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20" dirty="0">
                <a:solidFill>
                  <a:srgbClr val="444444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应用系统承载着海量用户数据</a:t>
            </a:r>
            <a:endParaRPr lang="en-US" sz="1920" dirty="0"/>
          </a:p>
        </p:txBody>
      </p:sp>
      <p:pic>
        <p:nvPicPr>
          <p:cNvPr id="13" name="Image 7" descr="https://test.web.static.jianzeppt.com/ppt-temp-img3/8ae6100fbe82f59eed11d1374cc60361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3307080"/>
            <a:ext cx="91440" cy="91440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1082040" y="3215640"/>
            <a:ext cx="2782824" cy="6824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20" dirty="0">
                <a:solidFill>
                  <a:srgbClr val="444444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一次安全功能失效，可能导致千万用户信息泄露</a:t>
            </a:r>
            <a:endParaRPr lang="en-US" sz="1920" dirty="0"/>
          </a:p>
        </p:txBody>
      </p:sp>
      <p:pic>
        <p:nvPicPr>
          <p:cNvPr id="15" name="Image 8" descr="https://test.web.static.jianzeppt.com/ppt-temp-img3/8ae6100fbe82f59eed11d1374cc60361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145280"/>
            <a:ext cx="91440" cy="91440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1082040" y="4053840"/>
            <a:ext cx="2782824" cy="6824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20" dirty="0">
                <a:solidFill>
                  <a:srgbClr val="444444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每一次验证，都是在守护用户隐私</a:t>
            </a:r>
            <a:endParaRPr lang="en-US" sz="1920" dirty="0"/>
          </a:p>
        </p:txBody>
      </p:sp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24840" y="1386840"/>
            <a:ext cx="3474720" cy="60960"/>
          </a:xfrm>
          <a:prstGeom prst="rect">
            <a:avLst/>
          </a:prstGeom>
        </p:spPr>
      </p:pic>
      <p:pic>
        <p:nvPicPr>
          <p:cNvPr id="18" name="Image 10" descr="https://test.web.static.jianzeppt.com/ppt-temp-img3/5100fa13e1824b1d812703b3f69cd462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1371600"/>
            <a:ext cx="3505200" cy="3810000"/>
          </a:xfrm>
          <a:prstGeom prst="rect">
            <a:avLst/>
          </a:prstGeom>
        </p:spPr>
      </p:pic>
      <p:sp>
        <p:nvSpPr>
          <p:cNvPr id="19" name="Text 6"/>
          <p:cNvSpPr/>
          <p:nvPr/>
        </p:nvSpPr>
        <p:spPr>
          <a:xfrm>
            <a:off x="5730240" y="1691640"/>
            <a:ext cx="75590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640" kern="0" spc="352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担当</a:t>
            </a:r>
            <a:endParaRPr lang="en-US" sz="2640" dirty="0"/>
          </a:p>
        </p:txBody>
      </p:sp>
      <p:pic>
        <p:nvPicPr>
          <p:cNvPr id="20" name="Image 11" descr="https://test.web.static.jianzeppt.com/ppt-temp-img3/8ae6100fbe82f59eed11d1374cc60361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02480" y="2438400"/>
            <a:ext cx="91440" cy="91440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4815840" y="2346960"/>
            <a:ext cx="2782824" cy="10287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20" dirty="0">
                <a:solidFill>
                  <a:srgbClr val="444444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《个保法》规定处理个人信息遵循“最小必要”原则</a:t>
            </a:r>
            <a:endParaRPr lang="en-US" sz="1920" dirty="0"/>
          </a:p>
        </p:txBody>
      </p:sp>
      <p:pic>
        <p:nvPicPr>
          <p:cNvPr id="22" name="Image 12" descr="https://test.web.static.jianzeppt.com/ppt-temp-img3/8ae6100fbe82f59eed11d1374cc60361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02480" y="3566160"/>
            <a:ext cx="91440" cy="91440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4815840" y="3474720"/>
            <a:ext cx="2782824" cy="6824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20" dirty="0">
                <a:solidFill>
                  <a:srgbClr val="444444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系统安全功能合规，是法律的基本要求</a:t>
            </a:r>
            <a:endParaRPr lang="en-US" sz="1920" dirty="0"/>
          </a:p>
        </p:txBody>
      </p:sp>
      <p:pic>
        <p:nvPicPr>
          <p:cNvPr id="24" name="Image 13" descr="https://test.web.static.jianzeppt.com/ppt-temp-img3/8ae6100fbe82f59eed11d1374cc60361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02480" y="4373880"/>
            <a:ext cx="91440" cy="91440"/>
          </a:xfrm>
          <a:prstGeom prst="rect">
            <a:avLst/>
          </a:prstGeom>
        </p:spPr>
      </p:pic>
      <p:sp>
        <p:nvSpPr>
          <p:cNvPr id="25" name="Text 9"/>
          <p:cNvSpPr/>
          <p:nvPr/>
        </p:nvSpPr>
        <p:spPr>
          <a:xfrm>
            <a:off x="4815840" y="4282440"/>
            <a:ext cx="2782824" cy="6824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20" dirty="0">
                <a:solidFill>
                  <a:srgbClr val="444444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测评工程师为“依法治网”提供技术支撑</a:t>
            </a:r>
            <a:endParaRPr lang="en-US" sz="1920" dirty="0"/>
          </a:p>
        </p:txBody>
      </p:sp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58640" y="1386840"/>
            <a:ext cx="3474720" cy="60960"/>
          </a:xfrm>
          <a:prstGeom prst="rect">
            <a:avLst/>
          </a:prstGeom>
        </p:spPr>
      </p:pic>
      <p:pic>
        <p:nvPicPr>
          <p:cNvPr id="27" name="Image 15" descr="https://test.web.static.jianzeppt.com/ppt-temp-img3/5100fa13e1824b1d812703b3f69cd462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2440" y="1371600"/>
            <a:ext cx="3505200" cy="3810000"/>
          </a:xfrm>
          <a:prstGeom prst="rect">
            <a:avLst/>
          </a:prstGeom>
        </p:spPr>
      </p:pic>
      <p:sp>
        <p:nvSpPr>
          <p:cNvPr id="28" name="Text 10"/>
          <p:cNvSpPr/>
          <p:nvPr/>
        </p:nvSpPr>
        <p:spPr>
          <a:xfrm>
            <a:off x="9464040" y="1691640"/>
            <a:ext cx="75590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640" kern="0" spc="352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匠心</a:t>
            </a:r>
            <a:endParaRPr lang="en-US" sz="2640" dirty="0"/>
          </a:p>
        </p:txBody>
      </p:sp>
      <p:pic>
        <p:nvPicPr>
          <p:cNvPr id="29" name="Image 16" descr="https://test.web.static.jianzeppt.com/ppt-temp-img3/8ae6100fbe82f59eed11d1374cc60361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1520" y="2468880"/>
            <a:ext cx="91440" cy="91440"/>
          </a:xfrm>
          <a:prstGeom prst="rect">
            <a:avLst/>
          </a:prstGeom>
        </p:spPr>
      </p:pic>
      <p:sp>
        <p:nvSpPr>
          <p:cNvPr id="30" name="Text 11"/>
          <p:cNvSpPr/>
          <p:nvPr/>
        </p:nvSpPr>
        <p:spPr>
          <a:xfrm>
            <a:off x="8564880" y="2377440"/>
            <a:ext cx="2782824" cy="6824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20" dirty="0">
                <a:solidFill>
                  <a:srgbClr val="444444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越权漏洞隐藏在参数、请求体等细微之处</a:t>
            </a:r>
            <a:endParaRPr lang="en-US" sz="1920" dirty="0"/>
          </a:p>
        </p:txBody>
      </p:sp>
      <p:pic>
        <p:nvPicPr>
          <p:cNvPr id="31" name="Image 17" descr="https://test.web.static.jianzeppt.com/ppt-temp-img3/8ae6100fbe82f59eed11d1374cc60361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1520" y="3307080"/>
            <a:ext cx="91440" cy="91440"/>
          </a:xfrm>
          <a:prstGeom prst="rect">
            <a:avLst/>
          </a:prstGeom>
        </p:spPr>
      </p:pic>
      <p:sp>
        <p:nvSpPr>
          <p:cNvPr id="32" name="Text 12"/>
          <p:cNvSpPr/>
          <p:nvPr/>
        </p:nvSpPr>
        <p:spPr>
          <a:xfrm>
            <a:off x="8564880" y="3215640"/>
            <a:ext cx="2782824" cy="6824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20" dirty="0">
                <a:solidFill>
                  <a:srgbClr val="444444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需耐心细致，不放过任何一个可疑点</a:t>
            </a:r>
            <a:endParaRPr lang="en-US" sz="1920" dirty="0"/>
          </a:p>
        </p:txBody>
      </p:sp>
      <p:pic>
        <p:nvPicPr>
          <p:cNvPr id="33" name="Image 18" descr="https://test.web.static.jianzeppt.com/ppt-temp-img3/8ae6100fbe82f59eed11d1374cc60361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1520" y="4145280"/>
            <a:ext cx="91440" cy="91440"/>
          </a:xfrm>
          <a:prstGeom prst="rect">
            <a:avLst/>
          </a:prstGeom>
        </p:spPr>
      </p:pic>
      <p:sp>
        <p:nvSpPr>
          <p:cNvPr id="34" name="Text 13"/>
          <p:cNvSpPr/>
          <p:nvPr/>
        </p:nvSpPr>
        <p:spPr>
          <a:xfrm>
            <a:off x="8564880" y="4053840"/>
            <a:ext cx="2782824" cy="6824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20" dirty="0">
                <a:solidFill>
                  <a:srgbClr val="444444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精益求精是对职业的敬畏与对用户负责</a:t>
            </a:r>
            <a:endParaRPr lang="en-US" sz="1920" dirty="0"/>
          </a:p>
        </p:txBody>
      </p:sp>
      <p:pic>
        <p:nvPicPr>
          <p:cNvPr id="35" name="Image 19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07680" y="1386840"/>
            <a:ext cx="3474720" cy="609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实践任务——应用系统安全功能验证（35分钟）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alphaModFix amt="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264920"/>
            <a:ext cx="10972800" cy="53949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7" name="Image 4" descr="https://test.web.static.jianzeppt.com/ppt-temp-img3/582af097caa18837a8bd7a129f464e69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264920"/>
            <a:ext cx="10972800" cy="822960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853440" y="1447800"/>
            <a:ext cx="171602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要素</a:t>
            </a:r>
            <a:endParaRPr lang="en-US" sz="2400" dirty="0"/>
          </a:p>
        </p:txBody>
      </p:sp>
      <p:sp>
        <p:nvSpPr>
          <p:cNvPr id="9" name="Text 2"/>
          <p:cNvSpPr/>
          <p:nvPr/>
        </p:nvSpPr>
        <p:spPr>
          <a:xfrm>
            <a:off x="3048000" y="1447800"/>
            <a:ext cx="829970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内容</a:t>
            </a:r>
            <a:endParaRPr lang="en-US" sz="2400" dirty="0"/>
          </a:p>
        </p:txBody>
      </p:sp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9600" y="2087880"/>
            <a:ext cx="10972800" cy="746760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853440" y="2270760"/>
            <a:ext cx="17160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任务名称</a:t>
            </a:r>
            <a:endParaRPr lang="en-US" sz="1920" dirty="0"/>
          </a:p>
        </p:txBody>
      </p:sp>
      <p:sp>
        <p:nvSpPr>
          <p:cNvPr id="12" name="Text 4"/>
          <p:cNvSpPr/>
          <p:nvPr/>
        </p:nvSpPr>
        <p:spPr>
          <a:xfrm>
            <a:off x="3048000" y="2270760"/>
            <a:ext cx="829970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模拟应用系统安全功能验证</a:t>
            </a:r>
            <a:endParaRPr lang="en-US" sz="192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09600" y="2828696"/>
            <a:ext cx="10972800" cy="15240"/>
          </a:xfrm>
          <a:prstGeom prst="rect">
            <a:avLst/>
          </a:prstGeom>
        </p:spPr>
      </p:pic>
      <p:pic>
        <p:nvPicPr>
          <p:cNvPr id="14" name="Image 7" descr="https://test.web.static.jianzeppt.com/ppt-temp-img3/d511bb326a1c6d93ff613249514a8a0b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2834640"/>
            <a:ext cx="10972800" cy="777240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853440" y="3017520"/>
            <a:ext cx="17160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任务场景</a:t>
            </a:r>
            <a:endParaRPr lang="en-US" sz="1920" dirty="0"/>
          </a:p>
        </p:txBody>
      </p:sp>
      <p:sp>
        <p:nvSpPr>
          <p:cNvPr id="16" name="Text 6"/>
          <p:cNvSpPr/>
          <p:nvPr/>
        </p:nvSpPr>
        <p:spPr>
          <a:xfrm>
            <a:off x="3048000" y="3017520"/>
            <a:ext cx="8299704" cy="3962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教师提供模拟Web应用系统（如简易OA系统），该系统预设了多种安全缺陷</a:t>
            </a:r>
            <a:endParaRPr lang="en-US" sz="1920" dirty="0"/>
          </a:p>
        </p:txBody>
      </p:sp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09600" y="3599688"/>
            <a:ext cx="10972800" cy="15240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09600" y="3596640"/>
            <a:ext cx="10972800" cy="2331720"/>
          </a:xfrm>
          <a:prstGeom prst="rect">
            <a:avLst/>
          </a:prstGeom>
        </p:spPr>
      </p:pic>
      <p:sp>
        <p:nvSpPr>
          <p:cNvPr id="19" name="Text 7"/>
          <p:cNvSpPr/>
          <p:nvPr/>
        </p:nvSpPr>
        <p:spPr>
          <a:xfrm>
            <a:off x="853440" y="3779520"/>
            <a:ext cx="1716024" cy="19659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任务内容</a:t>
            </a:r>
            <a:endParaRPr lang="en-US" sz="1920" dirty="0"/>
          </a:p>
        </p:txBody>
      </p:sp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048000" y="3825240"/>
            <a:ext cx="365760" cy="365760"/>
          </a:xfrm>
          <a:prstGeom prst="rect">
            <a:avLst/>
          </a:prstGeom>
        </p:spPr>
      </p:pic>
      <p:sp>
        <p:nvSpPr>
          <p:cNvPr id="21" name="Text 8"/>
          <p:cNvSpPr/>
          <p:nvPr/>
        </p:nvSpPr>
        <p:spPr>
          <a:xfrm>
            <a:off x="3124200" y="3840480"/>
            <a:ext cx="2225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80000"/>
              </a:lnSpc>
              <a:buNone/>
            </a:pPr>
            <a:r>
              <a:rPr lang="en-US" sz="1680" dirty="0">
                <a:solidFill>
                  <a:srgbClr val="FFFFFF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①</a:t>
            </a:r>
            <a:endParaRPr lang="en-US" sz="1680" dirty="0"/>
          </a:p>
        </p:txBody>
      </p:sp>
      <p:sp>
        <p:nvSpPr>
          <p:cNvPr id="22" name="Text 9"/>
          <p:cNvSpPr/>
          <p:nvPr/>
        </p:nvSpPr>
        <p:spPr>
          <a:xfrm>
            <a:off x="3535680" y="3825240"/>
            <a:ext cx="6120384" cy="4419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身份鉴别验证：检查密码策略、登录失败处理、会话管理</a:t>
            </a:r>
            <a:endParaRPr lang="en-US" sz="1920" dirty="0"/>
          </a:p>
        </p:txBody>
      </p:sp>
      <p:pic>
        <p:nvPicPr>
          <p:cNvPr id="23" name="Image 11" descr="preencoded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048000" y="4328160"/>
            <a:ext cx="365760" cy="365760"/>
          </a:xfrm>
          <a:prstGeom prst="rect">
            <a:avLst/>
          </a:prstGeom>
        </p:spPr>
      </p:pic>
      <p:sp>
        <p:nvSpPr>
          <p:cNvPr id="24" name="Text 10"/>
          <p:cNvSpPr/>
          <p:nvPr/>
        </p:nvSpPr>
        <p:spPr>
          <a:xfrm>
            <a:off x="3124200" y="4343400"/>
            <a:ext cx="2225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80000"/>
              </a:lnSpc>
              <a:buNone/>
            </a:pPr>
            <a:r>
              <a:rPr lang="en-US" sz="1680" dirty="0">
                <a:solidFill>
                  <a:srgbClr val="FFFFFF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②</a:t>
            </a:r>
            <a:endParaRPr lang="en-US" sz="1680" dirty="0"/>
          </a:p>
        </p:txBody>
      </p:sp>
      <p:sp>
        <p:nvSpPr>
          <p:cNvPr id="25" name="Text 11"/>
          <p:cNvSpPr/>
          <p:nvPr/>
        </p:nvSpPr>
        <p:spPr>
          <a:xfrm>
            <a:off x="3535680" y="4328160"/>
            <a:ext cx="4413504" cy="4419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访问控制验证：测试垂直越权和水平越权</a:t>
            </a:r>
            <a:endParaRPr lang="en-US" sz="1920" dirty="0"/>
          </a:p>
        </p:txBody>
      </p:sp>
      <p:pic>
        <p:nvPicPr>
          <p:cNvPr id="26" name="Image 12" descr="preencoded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048000" y="4815840"/>
            <a:ext cx="365760" cy="365760"/>
          </a:xfrm>
          <a:prstGeom prst="rect">
            <a:avLst/>
          </a:prstGeom>
        </p:spPr>
      </p:pic>
      <p:sp>
        <p:nvSpPr>
          <p:cNvPr id="27" name="Text 12"/>
          <p:cNvSpPr/>
          <p:nvPr/>
        </p:nvSpPr>
        <p:spPr>
          <a:xfrm>
            <a:off x="3124200" y="4846320"/>
            <a:ext cx="2225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80000"/>
              </a:lnSpc>
              <a:buNone/>
            </a:pPr>
            <a:r>
              <a:rPr lang="en-US" sz="1680" dirty="0">
                <a:solidFill>
                  <a:srgbClr val="FFFFFF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③</a:t>
            </a:r>
            <a:endParaRPr lang="en-US" sz="1680" dirty="0"/>
          </a:p>
        </p:txBody>
      </p:sp>
      <p:sp>
        <p:nvSpPr>
          <p:cNvPr id="28" name="Text 13"/>
          <p:cNvSpPr/>
          <p:nvPr/>
        </p:nvSpPr>
        <p:spPr>
          <a:xfrm>
            <a:off x="3535680" y="4815840"/>
            <a:ext cx="6120384" cy="4419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安全审计验证：检查审计日志完整性、审计功能是否启用</a:t>
            </a:r>
            <a:endParaRPr lang="en-US" sz="1920" dirty="0"/>
          </a:p>
        </p:txBody>
      </p:sp>
      <p:pic>
        <p:nvPicPr>
          <p:cNvPr id="29" name="Image 13" descr="preencoded.png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048000" y="5318760"/>
            <a:ext cx="365760" cy="365760"/>
          </a:xfrm>
          <a:prstGeom prst="rect">
            <a:avLst/>
          </a:prstGeom>
        </p:spPr>
      </p:pic>
      <p:sp>
        <p:nvSpPr>
          <p:cNvPr id="30" name="Text 14"/>
          <p:cNvSpPr/>
          <p:nvPr/>
        </p:nvSpPr>
        <p:spPr>
          <a:xfrm>
            <a:off x="3124200" y="5349240"/>
            <a:ext cx="2225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80000"/>
              </a:lnSpc>
              <a:buNone/>
            </a:pPr>
            <a:r>
              <a:rPr lang="en-US" sz="1680" dirty="0">
                <a:solidFill>
                  <a:srgbClr val="FFFFFF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④</a:t>
            </a:r>
            <a:endParaRPr lang="en-US" sz="1680" dirty="0"/>
          </a:p>
        </p:txBody>
      </p:sp>
      <p:sp>
        <p:nvSpPr>
          <p:cNvPr id="31" name="Text 15"/>
          <p:cNvSpPr/>
          <p:nvPr/>
        </p:nvSpPr>
        <p:spPr>
          <a:xfrm>
            <a:off x="3535680" y="5318760"/>
            <a:ext cx="3681984" cy="4419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填写《应用系统安全测评记录表》</a:t>
            </a:r>
            <a:endParaRPr lang="en-US" sz="1920" dirty="0"/>
          </a:p>
        </p:txBody>
      </p:sp>
      <p:pic>
        <p:nvPicPr>
          <p:cNvPr id="32" name="Image 14" descr="preencoded.png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09600" y="5919064"/>
            <a:ext cx="10972800" cy="15240"/>
          </a:xfrm>
          <a:prstGeom prst="rect">
            <a:avLst/>
          </a:prstGeom>
        </p:spPr>
      </p:pic>
      <p:pic>
        <p:nvPicPr>
          <p:cNvPr id="33" name="Image 15" descr="https://test.web.static.jianzeppt.com/ppt-temp-img3/7a10bbd5850a7dbe8f5ecf4b824eb51b.png?x-oss-process=image/resize,w_1440,h_800,m_lfit/format,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09600" y="5913120"/>
            <a:ext cx="10972800" cy="746760"/>
          </a:xfrm>
          <a:prstGeom prst="rect">
            <a:avLst/>
          </a:prstGeom>
        </p:spPr>
      </p:pic>
      <p:sp>
        <p:nvSpPr>
          <p:cNvPr id="34" name="Text 16"/>
          <p:cNvSpPr/>
          <p:nvPr/>
        </p:nvSpPr>
        <p:spPr>
          <a:xfrm>
            <a:off x="853440" y="6096000"/>
            <a:ext cx="17160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时间安排</a:t>
            </a:r>
            <a:endParaRPr lang="en-US" sz="1920" dirty="0"/>
          </a:p>
        </p:txBody>
      </p:sp>
      <p:sp>
        <p:nvSpPr>
          <p:cNvPr id="35" name="Text 17"/>
          <p:cNvSpPr/>
          <p:nvPr/>
        </p:nvSpPr>
        <p:spPr>
          <a:xfrm>
            <a:off x="3048000" y="6096000"/>
            <a:ext cx="829970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约35分钟</a:t>
            </a:r>
            <a:endParaRPr lang="en-US" sz="1920" dirty="0"/>
          </a:p>
        </p:txBody>
      </p:sp>
      <p:graphicFrame>
        <p:nvGraphicFramePr>
          <p:cNvPr id="36" name="对象 3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0481310" y="1280160"/>
          <a:ext cx="971550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9" name="" showAsIcon="1" r:id="rId22" imgW="971550" imgH="666750" progId="Word.Document.12">
                  <p:embed/>
                </p:oleObj>
              </mc:Choice>
              <mc:Fallback>
                <p:oleObj name="" showAsIcon="1" r:id="rId22" imgW="971550" imgH="666750" progId="Word.Document.12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10481310" y="1280160"/>
                        <a:ext cx="971550" cy="666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实践任务——《应用系统安全测评记录表》填写说明</a:t>
            </a:r>
            <a:endParaRPr lang="en-US" sz="276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/>
        </p:nvGraphicFramePr>
        <p:xfrm>
          <a:off x="822325" y="1201420"/>
          <a:ext cx="10455275" cy="5152390"/>
        </p:xfrm>
        <a:graphic>
          <a:graphicData uri="http://schemas.openxmlformats.org/drawingml/2006/table">
            <a:tbl>
              <a:tblPr/>
              <a:tblGrid>
                <a:gridCol w="1478915"/>
                <a:gridCol w="2062480"/>
                <a:gridCol w="6913880"/>
              </a:tblGrid>
              <a:tr h="5092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字段</a:t>
                      </a:r>
                      <a:endParaRPr lang="en-US" sz="160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填写要求</a:t>
                      </a:r>
                      <a:endParaRPr lang="en-US" sz="160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示例</a:t>
                      </a:r>
                      <a:endParaRPr lang="en-US" sz="160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应用名称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被测应用系统名称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XX市人社公共服务平台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05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测评指标编号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按GB/T22239编号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8.1.4.1a)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05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测评指标名称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标准条款名称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身份鉴别-唯一性与复杂度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验证方法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描述具体操作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尝试设置密码为123456，系统提示不符合复杂度要求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验证结果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符合/部分符合/不符合/不适用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部分符合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问题描述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具体、准确、可验证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密码复杂度要求已启用，但密码有效期未设置（管理员账户密码自2021年启用以来未更换）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风险分析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说明安全影响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长期不更换密码，管理员账户存在被暴力破解或泄露后长期被利用的风险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2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整改建议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具体、可操作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建议启用密码有效期策略，设置密码有效期不超过90天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对象 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0768965" y="431800"/>
          <a:ext cx="971550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097" name="" showAsIcon="1" r:id="rId4" imgW="971550" imgH="666750" progId="Word.Document.12">
                  <p:embed/>
                </p:oleObj>
              </mc:Choice>
              <mc:Fallback>
                <p:oleObj name="" showAsIcon="1" r:id="rId4" imgW="971550" imgH="666750" progId="Word.Document.12">
                  <p:embed/>
                  <p:pic>
                    <p:nvPicPr>
                      <p:cNvPr id="0" name="图片 4096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0768965" y="431800"/>
                        <a:ext cx="971550" cy="666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知识点回顾（5分钟）</a:t>
            </a:r>
            <a:endParaRPr lang="en-US" sz="2760" dirty="0"/>
          </a:p>
        </p:txBody>
      </p:sp>
      <p:grpSp>
        <p:nvGrpSpPr>
          <p:cNvPr id="42" name="组合 41"/>
          <p:cNvGrpSpPr/>
          <p:nvPr/>
        </p:nvGrpSpPr>
        <p:grpSpPr>
          <a:xfrm>
            <a:off x="609600" y="1108710"/>
            <a:ext cx="10972800" cy="5181600"/>
            <a:chOff x="960" y="1746"/>
            <a:chExt cx="17280" cy="8160"/>
          </a:xfrm>
        </p:grpSpPr>
        <p:pic>
          <p:nvPicPr>
            <p:cNvPr id="6" name="Image 3" descr="https://test.web.static.jianzeppt.com/ppt-temp-img3/e37b5a1a6275d03b21065218e47ebea7.png?x-oss-process=image/resize,w_1440,h_800,m_lfit/format,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0" y="3066"/>
              <a:ext cx="17280" cy="864"/>
            </a:xfrm>
            <a:prstGeom prst="rect">
              <a:avLst/>
            </a:prstGeom>
          </p:spPr>
        </p:pic>
        <p:pic>
          <p:nvPicPr>
            <p:cNvPr id="7" name="Image 4" descr="preencoded.png"/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04" y="3882"/>
              <a:ext cx="4032" cy="6024"/>
            </a:xfrm>
            <a:prstGeom prst="rect">
              <a:avLst/>
            </a:prstGeom>
            <a:effectLst>
              <a:outerShdw blurRad="387096000" dist="193548000" dir="-1" algn="bl" rotWithShape="0">
                <a:srgbClr val="000000">
                  <a:alpha val="500000000"/>
                </a:srgbClr>
              </a:outerShdw>
            </a:effectLst>
          </p:spPr>
        </p:pic>
        <p:sp>
          <p:nvSpPr>
            <p:cNvPr id="8" name="Text 1"/>
            <p:cNvSpPr/>
            <p:nvPr/>
          </p:nvSpPr>
          <p:spPr>
            <a:xfrm>
              <a:off x="1416" y="4432"/>
              <a:ext cx="3422" cy="60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2000" b="1" dirty="0">
                  <a:solidFill>
                    <a:srgbClr val="2274D9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一、身份鉴别验证</a:t>
              </a:r>
              <a:endParaRPr lang="en-US" sz="200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pic>
          <p:nvPicPr>
            <p:cNvPr id="9" name="Image 5" descr="https://test.web.static.jianzeppt.com/ppt-temp-img3/8e4d8fc2cd68740c92f80f0bbdbffd6a.png?x-oss-process=image/resize,w_1440,h_800,m_lfit/format,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736" y="5346"/>
              <a:ext cx="768" cy="48"/>
            </a:xfrm>
            <a:prstGeom prst="rect">
              <a:avLst/>
            </a:prstGeom>
          </p:spPr>
        </p:pic>
        <p:pic>
          <p:nvPicPr>
            <p:cNvPr id="10" name="Image 6" descr="preencoded.png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424" y="3882"/>
              <a:ext cx="4032" cy="6024"/>
            </a:xfrm>
            <a:prstGeom prst="rect">
              <a:avLst/>
            </a:prstGeom>
            <a:effectLst>
              <a:outerShdw blurRad="387096000" dist="193548000" dir="-1" algn="bl" rotWithShape="0">
                <a:srgbClr val="000000">
                  <a:alpha val="500000000"/>
                </a:srgbClr>
              </a:outerShdw>
            </a:effectLst>
          </p:spPr>
        </p:pic>
        <p:sp>
          <p:nvSpPr>
            <p:cNvPr id="11" name="Text 2"/>
            <p:cNvSpPr/>
            <p:nvPr/>
          </p:nvSpPr>
          <p:spPr>
            <a:xfrm>
              <a:off x="5736" y="4432"/>
              <a:ext cx="3422" cy="60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2000" b="1" dirty="0">
                  <a:solidFill>
                    <a:srgbClr val="2274D9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二、访问控制验证</a:t>
              </a:r>
              <a:endParaRPr lang="en-US" sz="200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pic>
          <p:nvPicPr>
            <p:cNvPr id="12" name="Image 7" descr="https://test.web.static.jianzeppt.com/ppt-temp-img3/8e4d8fc2cd68740c92f80f0bbdbffd6a.png?x-oss-process=image/resize,w_1440,h_800,m_lfit/format,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056" y="5466"/>
              <a:ext cx="768" cy="48"/>
            </a:xfrm>
            <a:prstGeom prst="rect">
              <a:avLst/>
            </a:prstGeom>
          </p:spPr>
        </p:pic>
        <p:pic>
          <p:nvPicPr>
            <p:cNvPr id="13" name="Image 8" descr="preencoded.png"/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744" y="3882"/>
              <a:ext cx="4032" cy="6024"/>
            </a:xfrm>
            <a:prstGeom prst="rect">
              <a:avLst/>
            </a:prstGeom>
            <a:effectLst>
              <a:outerShdw blurRad="387096000" dist="193548000" dir="-1" algn="bl" rotWithShape="0">
                <a:srgbClr val="000000">
                  <a:alpha val="500000000"/>
                </a:srgbClr>
              </a:outerShdw>
            </a:effectLst>
          </p:spPr>
        </p:pic>
        <p:sp>
          <p:nvSpPr>
            <p:cNvPr id="14" name="Text 3"/>
            <p:cNvSpPr/>
            <p:nvPr/>
          </p:nvSpPr>
          <p:spPr>
            <a:xfrm>
              <a:off x="10056" y="4432"/>
              <a:ext cx="3422" cy="60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2000" b="1" dirty="0">
                  <a:solidFill>
                    <a:srgbClr val="2274D9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三、安全审计验证</a:t>
              </a:r>
              <a:endParaRPr lang="en-US" sz="200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pic>
          <p:nvPicPr>
            <p:cNvPr id="15" name="Image 9" descr="https://test.web.static.jianzeppt.com/ppt-temp-img3/8e4d8fc2cd68740c92f80f0bbdbffd6a.png?x-oss-process=image/resize,w_1440,h_800,m_lfit/format,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376" y="5466"/>
              <a:ext cx="768" cy="48"/>
            </a:xfrm>
            <a:prstGeom prst="rect">
              <a:avLst/>
            </a:prstGeom>
          </p:spPr>
        </p:pic>
        <p:pic>
          <p:nvPicPr>
            <p:cNvPr id="16" name="Image 10" descr="preencoded.png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4064" y="3882"/>
              <a:ext cx="4032" cy="6024"/>
            </a:xfrm>
            <a:prstGeom prst="rect">
              <a:avLst/>
            </a:prstGeom>
            <a:effectLst>
              <a:outerShdw blurRad="387096000" dist="193548000" dir="-1" algn="bl" rotWithShape="0">
                <a:srgbClr val="000000">
                  <a:alpha val="500000000"/>
                </a:srgbClr>
              </a:outerShdw>
            </a:effectLst>
          </p:spPr>
        </p:pic>
        <p:sp>
          <p:nvSpPr>
            <p:cNvPr id="17" name="Text 4"/>
            <p:cNvSpPr/>
            <p:nvPr/>
          </p:nvSpPr>
          <p:spPr>
            <a:xfrm>
              <a:off x="14376" y="4432"/>
              <a:ext cx="3422" cy="60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2000" b="1" dirty="0">
                  <a:solidFill>
                    <a:srgbClr val="2274D9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四、常见安全问题</a:t>
              </a:r>
              <a:endParaRPr lang="en-US" sz="200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pic>
          <p:nvPicPr>
            <p:cNvPr id="18" name="Image 11" descr="https://test.web.static.jianzeppt.com/ppt-temp-img3/8e4d8fc2cd68740c92f80f0bbdbffd6a.png?x-oss-process=image/resize,w_1440,h_800,m_lfit/format,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5696" y="5466"/>
              <a:ext cx="768" cy="48"/>
            </a:xfrm>
            <a:prstGeom prst="rect">
              <a:avLst/>
            </a:prstGeom>
          </p:spPr>
        </p:pic>
        <p:sp>
          <p:nvSpPr>
            <p:cNvPr id="19" name="Text 5"/>
            <p:cNvSpPr/>
            <p:nvPr/>
          </p:nvSpPr>
          <p:spPr>
            <a:xfrm>
              <a:off x="1800" y="5658"/>
              <a:ext cx="3038" cy="96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唯一性与复杂度</a:t>
              </a:r>
              <a:r>
                <a:rPr lang="en-US" sz="1680" dirty="0">
                  <a:solidFill>
                    <a:srgbClr val="807E6B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（密码策略）</a:t>
              </a:r>
              <a:endParaRPr lang="en-US" sz="1920" dirty="0"/>
            </a:p>
          </p:txBody>
        </p:sp>
        <p:sp>
          <p:nvSpPr>
            <p:cNvPr id="20" name="Text 6"/>
            <p:cNvSpPr/>
            <p:nvPr/>
          </p:nvSpPr>
          <p:spPr>
            <a:xfrm>
              <a:off x="1800" y="6834"/>
              <a:ext cx="3038" cy="96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登录失败处理</a:t>
              </a:r>
              <a:r>
                <a:rPr lang="en-US" sz="1680" dirty="0">
                  <a:solidFill>
                    <a:srgbClr val="807E6B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（锁定机制）</a:t>
              </a:r>
              <a:endParaRPr lang="en-US" sz="1920" dirty="0"/>
            </a:p>
          </p:txBody>
        </p:sp>
        <p:sp>
          <p:nvSpPr>
            <p:cNvPr id="21" name="Text 7"/>
            <p:cNvSpPr/>
            <p:nvPr/>
          </p:nvSpPr>
          <p:spPr>
            <a:xfrm>
              <a:off x="1800" y="7986"/>
              <a:ext cx="3038" cy="96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远程管理安全</a:t>
              </a:r>
              <a:r>
                <a:rPr lang="en-US" sz="1680" dirty="0">
                  <a:solidFill>
                    <a:srgbClr val="807E6B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（加密协议）</a:t>
              </a:r>
              <a:endParaRPr lang="en-US" sz="1920" dirty="0"/>
            </a:p>
          </p:txBody>
        </p:sp>
        <p:sp>
          <p:nvSpPr>
            <p:cNvPr id="22" name="Text 8"/>
            <p:cNvSpPr/>
            <p:nvPr/>
          </p:nvSpPr>
          <p:spPr>
            <a:xfrm>
              <a:off x="1800" y="9162"/>
              <a:ext cx="3038" cy="33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25000"/>
                </a:lnSpc>
                <a:buNone/>
              </a:pPr>
              <a:r>
                <a:rPr lang="en-US" sz="132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多因素认证</a:t>
              </a:r>
              <a:r>
                <a:rPr lang="en-US" sz="1320" dirty="0">
                  <a:solidFill>
                    <a:srgbClr val="807E6B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（三级以上）</a:t>
              </a:r>
              <a:endParaRPr lang="en-US" sz="1320" dirty="0"/>
            </a:p>
          </p:txBody>
        </p:sp>
        <p:sp>
          <p:nvSpPr>
            <p:cNvPr id="23" name="Text 9"/>
            <p:cNvSpPr/>
            <p:nvPr/>
          </p:nvSpPr>
          <p:spPr>
            <a:xfrm>
              <a:off x="6120" y="5802"/>
              <a:ext cx="3038" cy="96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账户管理</a:t>
              </a:r>
              <a:r>
                <a:rPr lang="en-US" sz="1680" dirty="0">
                  <a:solidFill>
                    <a:srgbClr val="807E6B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（默认/最小权限）</a:t>
              </a:r>
              <a:endParaRPr lang="en-US" sz="1920" dirty="0"/>
            </a:p>
          </p:txBody>
        </p:sp>
        <p:sp>
          <p:nvSpPr>
            <p:cNvPr id="24" name="Text 10"/>
            <p:cNvSpPr/>
            <p:nvPr/>
          </p:nvSpPr>
          <p:spPr>
            <a:xfrm>
              <a:off x="6120" y="6978"/>
              <a:ext cx="3038" cy="96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垂直越权测试</a:t>
              </a:r>
              <a:r>
                <a:rPr lang="en-US" sz="1680" dirty="0">
                  <a:solidFill>
                    <a:srgbClr val="807E6B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（低→高权限）</a:t>
              </a:r>
              <a:endParaRPr lang="en-US" sz="1920" dirty="0"/>
            </a:p>
          </p:txBody>
        </p:sp>
        <p:sp>
          <p:nvSpPr>
            <p:cNvPr id="25" name="Text 11"/>
            <p:cNvSpPr/>
            <p:nvPr/>
          </p:nvSpPr>
          <p:spPr>
            <a:xfrm>
              <a:off x="6120" y="8130"/>
              <a:ext cx="3038" cy="96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水平越权测试</a:t>
              </a:r>
              <a:r>
                <a:rPr lang="en-US" sz="1680" dirty="0">
                  <a:solidFill>
                    <a:srgbClr val="807E6B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（同级用户数据）</a:t>
              </a:r>
              <a:endParaRPr lang="en-US" sz="1920" dirty="0"/>
            </a:p>
          </p:txBody>
        </p:sp>
        <p:sp>
          <p:nvSpPr>
            <p:cNvPr id="26" name="Text 12"/>
            <p:cNvSpPr/>
            <p:nvPr/>
          </p:nvSpPr>
          <p:spPr>
            <a:xfrm>
              <a:off x="10440" y="5778"/>
              <a:ext cx="2726" cy="1068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92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审计功能是否启用</a:t>
              </a:r>
              <a:endParaRPr lang="en-US" sz="1920" dirty="0"/>
            </a:p>
          </p:txBody>
        </p:sp>
        <p:pic>
          <p:nvPicPr>
            <p:cNvPr id="27" name="Image 12" descr="preencoded.png"/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0152" y="5994"/>
              <a:ext cx="144" cy="144"/>
            </a:xfrm>
            <a:prstGeom prst="rect">
              <a:avLst/>
            </a:prstGeom>
          </p:spPr>
        </p:pic>
        <p:sp>
          <p:nvSpPr>
            <p:cNvPr id="28" name="Text 13"/>
            <p:cNvSpPr/>
            <p:nvPr/>
          </p:nvSpPr>
          <p:spPr>
            <a:xfrm>
              <a:off x="10440" y="7122"/>
              <a:ext cx="2726" cy="1068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92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审计内容是否完整</a:t>
              </a:r>
              <a:endParaRPr lang="en-US" sz="1920" dirty="0"/>
            </a:p>
          </p:txBody>
        </p:sp>
        <p:pic>
          <p:nvPicPr>
            <p:cNvPr id="29" name="Image 13" descr="preencoded.png"/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0152" y="7338"/>
              <a:ext cx="144" cy="144"/>
            </a:xfrm>
            <a:prstGeom prst="rect">
              <a:avLst/>
            </a:prstGeom>
          </p:spPr>
        </p:pic>
        <p:sp>
          <p:nvSpPr>
            <p:cNvPr id="30" name="Text 14"/>
            <p:cNvSpPr/>
            <p:nvPr/>
          </p:nvSpPr>
          <p:spPr>
            <a:xfrm>
              <a:off x="10440" y="8466"/>
              <a:ext cx="2726" cy="1068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92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审计记录是否受保护</a:t>
              </a:r>
              <a:endParaRPr lang="en-US" sz="1920" dirty="0"/>
            </a:p>
          </p:txBody>
        </p:sp>
        <p:pic>
          <p:nvPicPr>
            <p:cNvPr id="31" name="Image 14" descr="preencoded.png"/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0152" y="8682"/>
              <a:ext cx="144" cy="144"/>
            </a:xfrm>
            <a:prstGeom prst="rect">
              <a:avLst/>
            </a:prstGeom>
          </p:spPr>
        </p:pic>
        <p:sp>
          <p:nvSpPr>
            <p:cNvPr id="32" name="Text 15"/>
            <p:cNvSpPr/>
            <p:nvPr/>
          </p:nvSpPr>
          <p:spPr>
            <a:xfrm>
              <a:off x="14760" y="5778"/>
              <a:ext cx="2726" cy="54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92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密码策略未强制</a:t>
              </a:r>
              <a:endParaRPr lang="en-US" sz="1920" dirty="0"/>
            </a:p>
          </p:txBody>
        </p:sp>
        <p:pic>
          <p:nvPicPr>
            <p:cNvPr id="33" name="Image 15" descr="preencoded.png"/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4472" y="5994"/>
              <a:ext cx="144" cy="144"/>
            </a:xfrm>
            <a:prstGeom prst="rect">
              <a:avLst/>
            </a:prstGeom>
          </p:spPr>
        </p:pic>
        <p:sp>
          <p:nvSpPr>
            <p:cNvPr id="34" name="Text 16"/>
            <p:cNvSpPr/>
            <p:nvPr/>
          </p:nvSpPr>
          <p:spPr>
            <a:xfrm>
              <a:off x="14760" y="6594"/>
              <a:ext cx="2726" cy="54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92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无登录失败限制</a:t>
              </a:r>
              <a:endParaRPr lang="en-US" sz="1920" dirty="0"/>
            </a:p>
          </p:txBody>
        </p:sp>
        <p:pic>
          <p:nvPicPr>
            <p:cNvPr id="35" name="Image 16" descr="preencoded.png"/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4472" y="6810"/>
              <a:ext cx="144" cy="144"/>
            </a:xfrm>
            <a:prstGeom prst="rect">
              <a:avLst/>
            </a:prstGeom>
          </p:spPr>
        </p:pic>
        <p:sp>
          <p:nvSpPr>
            <p:cNvPr id="36" name="Text 17"/>
            <p:cNvSpPr/>
            <p:nvPr/>
          </p:nvSpPr>
          <p:spPr>
            <a:xfrm>
              <a:off x="14760" y="7410"/>
              <a:ext cx="1574" cy="54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92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越权漏洞</a:t>
              </a:r>
              <a:endParaRPr lang="en-US" sz="1920" dirty="0"/>
            </a:p>
          </p:txBody>
        </p:sp>
        <p:pic>
          <p:nvPicPr>
            <p:cNvPr id="37" name="Image 17" descr="preencoded.png"/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4472" y="7626"/>
              <a:ext cx="144" cy="144"/>
            </a:xfrm>
            <a:prstGeom prst="rect">
              <a:avLst/>
            </a:prstGeom>
          </p:spPr>
        </p:pic>
        <p:sp>
          <p:nvSpPr>
            <p:cNvPr id="38" name="Text 18"/>
            <p:cNvSpPr/>
            <p:nvPr/>
          </p:nvSpPr>
          <p:spPr>
            <a:xfrm>
              <a:off x="14760" y="8226"/>
              <a:ext cx="2342" cy="54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92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审计功能缺失</a:t>
              </a:r>
              <a:endParaRPr lang="en-US" sz="1920" dirty="0"/>
            </a:p>
          </p:txBody>
        </p:sp>
        <p:pic>
          <p:nvPicPr>
            <p:cNvPr id="39" name="Image 18" descr="preencoded.png"/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4472" y="8442"/>
              <a:ext cx="144" cy="144"/>
            </a:xfrm>
            <a:prstGeom prst="rect">
              <a:avLst/>
            </a:prstGeom>
          </p:spPr>
        </p:pic>
        <p:pic>
          <p:nvPicPr>
            <p:cNvPr id="40" name="Image 19" descr="preencoded.png"/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6192" y="1746"/>
              <a:ext cx="6840" cy="1368"/>
            </a:xfrm>
            <a:prstGeom prst="rect">
              <a:avLst/>
            </a:prstGeom>
            <a:effectLst>
              <a:outerShdw blurRad="1161288000" dist="774192000" dir="-1" algn="bl" rotWithShape="0">
                <a:srgbClr val="000000">
                  <a:alpha val="1000000000"/>
                </a:srgbClr>
              </a:outerShdw>
            </a:effectLst>
          </p:spPr>
        </p:pic>
        <p:sp>
          <p:nvSpPr>
            <p:cNvPr id="41" name="Text 19"/>
            <p:cNvSpPr/>
            <p:nvPr/>
          </p:nvSpPr>
          <p:spPr>
            <a:xfrm>
              <a:off x="6960" y="2034"/>
              <a:ext cx="5318" cy="792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2640" b="1" dirty="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应用系统安全功能验证</a:t>
              </a:r>
              <a:endParaRPr lang="en-US" sz="264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课后作业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371600"/>
            <a:ext cx="10972800" cy="11125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8680" y="1630680"/>
            <a:ext cx="975360" cy="487680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1112520" y="1691640"/>
            <a:ext cx="512064" cy="3657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必做</a:t>
            </a:r>
            <a:endParaRPr lang="en-US" sz="1920" dirty="0"/>
          </a:p>
        </p:txBody>
      </p:sp>
      <p:sp>
        <p:nvSpPr>
          <p:cNvPr id="9" name="Text 2"/>
          <p:cNvSpPr/>
          <p:nvPr/>
        </p:nvSpPr>
        <p:spPr>
          <a:xfrm>
            <a:off x="2087880" y="1630680"/>
            <a:ext cx="9244584" cy="5943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完成实践任务中的《应用系统安全测评记录表》填写，提交至学习通平台</a:t>
            </a:r>
            <a:endParaRPr lang="en-US" sz="2160" dirty="0"/>
          </a:p>
        </p:txBody>
      </p:sp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2727960"/>
            <a:ext cx="10972800" cy="11125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8680" y="2987040"/>
            <a:ext cx="975360" cy="487680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1112520" y="3048000"/>
            <a:ext cx="512064" cy="3657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必做</a:t>
            </a:r>
            <a:endParaRPr lang="en-US" sz="1920" dirty="0"/>
          </a:p>
        </p:txBody>
      </p:sp>
      <p:sp>
        <p:nvSpPr>
          <p:cNvPr id="13" name="Text 4"/>
          <p:cNvSpPr/>
          <p:nvPr/>
        </p:nvSpPr>
        <p:spPr>
          <a:xfrm>
            <a:off x="2087880" y="2987040"/>
            <a:ext cx="9244584" cy="5943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完成作业：04.4 应用系统安全功能验证（含越权漏洞分析题）</a:t>
            </a:r>
            <a:endParaRPr lang="en-US" sz="216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09600" y="4084320"/>
            <a:ext cx="10972800" cy="11125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68680" y="4343400"/>
            <a:ext cx="975360" cy="487680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1112520" y="4404360"/>
            <a:ext cx="512064" cy="3657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选做</a:t>
            </a:r>
            <a:endParaRPr lang="en-US" sz="1920" dirty="0"/>
          </a:p>
        </p:txBody>
      </p:sp>
      <p:sp>
        <p:nvSpPr>
          <p:cNvPr id="17" name="Text 6"/>
          <p:cNvSpPr/>
          <p:nvPr/>
        </p:nvSpPr>
        <p:spPr>
          <a:xfrm>
            <a:off x="2087880" y="4343400"/>
            <a:ext cx="9244584" cy="5943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注册任意一个Web应用，分析其密码策略和登录失败处理机制</a:t>
            </a:r>
            <a:endParaRPr lang="en-US" sz="216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09600" y="5440680"/>
            <a:ext cx="10972800" cy="11125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68680" y="5699760"/>
            <a:ext cx="975360" cy="487680"/>
          </a:xfrm>
          <a:prstGeom prst="rect">
            <a:avLst/>
          </a:prstGeom>
        </p:spPr>
      </p:pic>
      <p:sp>
        <p:nvSpPr>
          <p:cNvPr id="20" name="Text 7"/>
          <p:cNvSpPr/>
          <p:nvPr/>
        </p:nvSpPr>
        <p:spPr>
          <a:xfrm>
            <a:off x="1112520" y="5760720"/>
            <a:ext cx="512064" cy="3657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6666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预习</a:t>
            </a:r>
            <a:endParaRPr lang="en-US" sz="1920" dirty="0"/>
          </a:p>
        </p:txBody>
      </p:sp>
      <p:sp>
        <p:nvSpPr>
          <p:cNvPr id="21" name="Text 8"/>
          <p:cNvSpPr/>
          <p:nvPr/>
        </p:nvSpPr>
        <p:spPr>
          <a:xfrm>
            <a:off x="2087880" y="5699760"/>
            <a:ext cx="9244584" cy="5943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预习4.5“漏洞扫描与结果分析”相关内容</a:t>
            </a:r>
            <a:endParaRPr lang="en-US" sz="2160" dirty="0"/>
          </a:p>
        </p:txBody>
      </p:sp>
      <p:graphicFrame>
        <p:nvGraphicFramePr>
          <p:cNvPr id="22" name="对象 21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2543810" y="461010"/>
          <a:ext cx="971550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3" name="" showAsIcon="1" r:id="rId17" imgW="971550" imgH="666750" progId="Word.Document.12">
                  <p:embed/>
                </p:oleObj>
              </mc:Choice>
              <mc:Fallback>
                <p:oleObj name="" showAsIcon="1" r:id="rId17" imgW="971550" imgH="666750" progId="Word.Document.12">
                  <p:embed/>
                  <p:pic>
                    <p:nvPicPr>
                      <p:cNvPr id="0" name="图片 3072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2543810" y="461010"/>
                        <a:ext cx="971550" cy="666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a98a11d194ece0f125776874041874d2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0"/>
            <a:ext cx="6227064" cy="609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840" b="1" dirty="0">
                <a:solidFill>
                  <a:srgbClr val="2274D9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下节课预告</a:t>
            </a:r>
            <a:endParaRPr lang="en-US" sz="384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914400"/>
            <a:ext cx="6217920" cy="10668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5" name="Text 1"/>
          <p:cNvSpPr/>
          <p:nvPr/>
        </p:nvSpPr>
        <p:spPr>
          <a:xfrm>
            <a:off x="1219200" y="1158240"/>
            <a:ext cx="567842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活动4.5：漏洞扫描与结果分析</a:t>
            </a:r>
            <a:endParaRPr lang="en-US" sz="240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4400" y="2286000"/>
            <a:ext cx="6217920" cy="268224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7" name="Text 2"/>
          <p:cNvSpPr/>
          <p:nvPr/>
        </p:nvSpPr>
        <p:spPr>
          <a:xfrm>
            <a:off x="1173480" y="2545080"/>
            <a:ext cx="570890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2274D9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预告内容：</a:t>
            </a:r>
            <a:endParaRPr lang="en-US" sz="1920" dirty="0"/>
          </a:p>
        </p:txBody>
      </p:sp>
      <p:sp>
        <p:nvSpPr>
          <p:cNvPr id="8" name="Text 3"/>
          <p:cNvSpPr/>
          <p:nvPr/>
        </p:nvSpPr>
        <p:spPr>
          <a:xfrm>
            <a:off x="1173480" y="3063240"/>
            <a:ext cx="222504" cy="3505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2274D9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▪</a:t>
            </a:r>
            <a:endParaRPr lang="en-US" sz="1680" dirty="0"/>
          </a:p>
        </p:txBody>
      </p:sp>
      <p:sp>
        <p:nvSpPr>
          <p:cNvPr id="9" name="Text 4"/>
          <p:cNvSpPr/>
          <p:nvPr/>
        </p:nvSpPr>
        <p:spPr>
          <a:xfrm>
            <a:off x="1478280" y="3048000"/>
            <a:ext cx="491642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漏洞扫描原理（漏洞库匹配、端口扫描、服务识别）</a:t>
            </a:r>
            <a:endParaRPr lang="en-US" sz="1680" dirty="0"/>
          </a:p>
        </p:txBody>
      </p:sp>
      <p:sp>
        <p:nvSpPr>
          <p:cNvPr id="10" name="Text 5"/>
          <p:cNvSpPr/>
          <p:nvPr/>
        </p:nvSpPr>
        <p:spPr>
          <a:xfrm>
            <a:off x="1173480" y="3489960"/>
            <a:ext cx="222504" cy="3505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2274D9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▪</a:t>
            </a:r>
            <a:endParaRPr lang="en-US" sz="1680" dirty="0"/>
          </a:p>
        </p:txBody>
      </p:sp>
      <p:sp>
        <p:nvSpPr>
          <p:cNvPr id="11" name="Text 6"/>
          <p:cNvSpPr/>
          <p:nvPr/>
        </p:nvSpPr>
        <p:spPr>
          <a:xfrm>
            <a:off x="1478280" y="3474720"/>
            <a:ext cx="384962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漏洞扫描工具使用（Nessus/OpenVAS）</a:t>
            </a:r>
            <a:endParaRPr lang="en-US" sz="1680" dirty="0"/>
          </a:p>
        </p:txBody>
      </p:sp>
      <p:sp>
        <p:nvSpPr>
          <p:cNvPr id="12" name="Text 7"/>
          <p:cNvSpPr/>
          <p:nvPr/>
        </p:nvSpPr>
        <p:spPr>
          <a:xfrm>
            <a:off x="1173480" y="3931920"/>
            <a:ext cx="222504" cy="3505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2274D9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▪</a:t>
            </a:r>
            <a:endParaRPr lang="en-US" sz="1680" dirty="0"/>
          </a:p>
        </p:txBody>
      </p:sp>
      <p:sp>
        <p:nvSpPr>
          <p:cNvPr id="13" name="Text 8"/>
          <p:cNvSpPr/>
          <p:nvPr/>
        </p:nvSpPr>
        <p:spPr>
          <a:xfrm>
            <a:off x="1478280" y="3916680"/>
            <a:ext cx="479450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扫描报告解读（CVSS评分、漏洞分类、修复建议）</a:t>
            </a:r>
            <a:endParaRPr lang="en-US" sz="1680" dirty="0"/>
          </a:p>
        </p:txBody>
      </p:sp>
      <p:sp>
        <p:nvSpPr>
          <p:cNvPr id="14" name="Text 9"/>
          <p:cNvSpPr/>
          <p:nvPr/>
        </p:nvSpPr>
        <p:spPr>
          <a:xfrm>
            <a:off x="1173480" y="4358640"/>
            <a:ext cx="222504" cy="3505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2274D9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▪</a:t>
            </a:r>
            <a:endParaRPr lang="en-US" sz="1680" dirty="0"/>
          </a:p>
        </p:txBody>
      </p:sp>
      <p:sp>
        <p:nvSpPr>
          <p:cNvPr id="15" name="Text 10"/>
          <p:cNvSpPr/>
          <p:nvPr/>
        </p:nvSpPr>
        <p:spPr>
          <a:xfrm>
            <a:off x="1478280" y="4343400"/>
            <a:ext cx="192938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漏洞验证与风险评估</a:t>
            </a:r>
            <a:endParaRPr lang="en-US" sz="168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4400" y="5005070"/>
            <a:ext cx="6217920" cy="18135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17" name="Text 11"/>
          <p:cNvSpPr/>
          <p:nvPr/>
        </p:nvSpPr>
        <p:spPr>
          <a:xfrm>
            <a:off x="1173480" y="5278755"/>
            <a:ext cx="570890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2274D9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课前准备：</a:t>
            </a:r>
            <a:endParaRPr lang="en-US" sz="1920" dirty="0"/>
          </a:p>
        </p:txBody>
      </p:sp>
      <p:sp>
        <p:nvSpPr>
          <p:cNvPr id="18" name="Text 12"/>
          <p:cNvSpPr/>
          <p:nvPr/>
        </p:nvSpPr>
        <p:spPr>
          <a:xfrm>
            <a:off x="1173480" y="5796915"/>
            <a:ext cx="222504" cy="3505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2274D9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▪</a:t>
            </a:r>
            <a:endParaRPr lang="en-US" sz="1680" dirty="0"/>
          </a:p>
        </p:txBody>
      </p:sp>
      <p:sp>
        <p:nvSpPr>
          <p:cNvPr id="19" name="Text 13"/>
          <p:cNvSpPr/>
          <p:nvPr/>
        </p:nvSpPr>
        <p:spPr>
          <a:xfrm>
            <a:off x="1478280" y="5781675"/>
            <a:ext cx="235610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复习漏洞扫描的基本原理</a:t>
            </a:r>
            <a:endParaRPr lang="en-US" sz="1680" dirty="0"/>
          </a:p>
        </p:txBody>
      </p:sp>
      <p:sp>
        <p:nvSpPr>
          <p:cNvPr id="20" name="Text 14"/>
          <p:cNvSpPr/>
          <p:nvPr/>
        </p:nvSpPr>
        <p:spPr>
          <a:xfrm>
            <a:off x="1173480" y="6223635"/>
            <a:ext cx="222504" cy="3505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2274D9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▪</a:t>
            </a:r>
            <a:endParaRPr lang="en-US" sz="1680" dirty="0"/>
          </a:p>
        </p:txBody>
      </p:sp>
      <p:sp>
        <p:nvSpPr>
          <p:cNvPr id="21" name="Text 15"/>
          <p:cNvSpPr/>
          <p:nvPr/>
        </p:nvSpPr>
        <p:spPr>
          <a:xfrm>
            <a:off x="1478280" y="6208395"/>
            <a:ext cx="214274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准备漏洞扫描工具环境</a:t>
            </a:r>
            <a:endParaRPr lang="en-US" sz="1680" dirty="0"/>
          </a:p>
        </p:txBody>
      </p:sp>
      <p:sp>
        <p:nvSpPr>
          <p:cNvPr id="22" name="Text 16"/>
          <p:cNvSpPr/>
          <p:nvPr/>
        </p:nvSpPr>
        <p:spPr>
          <a:xfrm>
            <a:off x="7650480" y="1280160"/>
            <a:ext cx="3240024" cy="838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5280" b="1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谢谢观看</a:t>
            </a:r>
            <a:endParaRPr lang="en-US" sz="5280" dirty="0"/>
          </a:p>
        </p:txBody>
      </p:sp>
      <p:sp>
        <p:nvSpPr>
          <p:cNvPr id="23" name="Text 17"/>
          <p:cNvSpPr/>
          <p:nvPr/>
        </p:nvSpPr>
        <p:spPr>
          <a:xfrm>
            <a:off x="7650480" y="2270760"/>
            <a:ext cx="3240024" cy="8229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r">
              <a:lnSpc>
                <a:spcPct val="150000"/>
              </a:lnSpc>
              <a:buNone/>
            </a:pPr>
            <a:r>
              <a:rPr lang="en-US" sz="2160" kern="0" spc="288" dirty="0">
                <a:solidFill>
                  <a:srgbClr val="888888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THANKS FOR WATCHING</a:t>
            </a:r>
            <a:endParaRPr lang="en-US" sz="216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186160" y="1120140"/>
            <a:ext cx="91440" cy="2118360"/>
          </a:xfrm>
          <a:prstGeom prst="rect">
            <a:avLst/>
          </a:prstGeom>
        </p:spPr>
      </p:pic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10">
            <a:alphaModFix amt="50000"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363200" y="3703320"/>
            <a:ext cx="914400" cy="6096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54.4,&quot;left&quot;:48,&quot;top&quot;:108,&quot;width&quot;:256.32}"/>
</p:tagLst>
</file>

<file path=ppt/tags/tag2.xml><?xml version="1.0" encoding="utf-8"?>
<p:tagLst xmlns:p="http://schemas.openxmlformats.org/presentationml/2006/main">
  <p:tag name="KSO_WM_DIAGRAM_VIRTUALLY_FRAME" val="{&quot;height&quot;:254.4,&quot;left&quot;:48,&quot;top&quot;:108,&quot;width&quot;:256.32}"/>
</p:tagLst>
</file>

<file path=ppt/tags/tag3.xml><?xml version="1.0" encoding="utf-8"?>
<p:tagLst xmlns:p="http://schemas.openxmlformats.org/presentationml/2006/main">
  <p:tag name="KSO_WM_DIAGRAM_VIRTUALLY_FRAME" val="{&quot;height&quot;:254.4,&quot;left&quot;:48,&quot;top&quot;:108,&quot;width&quot;:256.32}"/>
</p:tagLst>
</file>

<file path=ppt/tags/tag4.xml><?xml version="1.0" encoding="utf-8"?>
<p:tagLst xmlns:p="http://schemas.openxmlformats.org/presentationml/2006/main">
  <p:tag name="KSO_WM_DIAGRAM_VIRTUALLY_FRAME" val="{&quot;height&quot;:254.4,&quot;left&quot;:48,&quot;top&quot;:108,&quot;width&quot;:256.32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4092</Words>
  <Application>WPS 演示</Application>
  <PresentationFormat>On-screen Show (16:9)</PresentationFormat>
  <Paragraphs>834</Paragraphs>
  <Slides>21</Slides>
  <Notes>21</Notes>
  <HiddenSlides>0</HiddenSlides>
  <MMClips>0</MMClips>
  <ScaleCrop>false</ScaleCrop>
  <HeadingPairs>
    <vt:vector size="8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6</vt:i4>
      </vt:variant>
      <vt:variant>
        <vt:lpstr>幻灯片标题</vt:lpstr>
      </vt:variant>
      <vt:variant>
        <vt:i4>21</vt:i4>
      </vt:variant>
    </vt:vector>
  </HeadingPairs>
  <TitlesOfParts>
    <vt:vector size="49" baseType="lpstr">
      <vt:lpstr>Arial</vt:lpstr>
      <vt:lpstr>宋体</vt:lpstr>
      <vt:lpstr>Wingdings</vt:lpstr>
      <vt:lpstr>思源黑体 CN</vt:lpstr>
      <vt:lpstr>黑体</vt:lpstr>
      <vt:lpstr>思源黑体 CN</vt:lpstr>
      <vt:lpstr>思源黑体 CN Bold</vt:lpstr>
      <vt:lpstr>思源黑体 CN Bold</vt:lpstr>
      <vt:lpstr>思源黑体 CN Bold</vt:lpstr>
      <vt:lpstr>思源黑体 CN Regular</vt:lpstr>
      <vt:lpstr>思源黑体 CN Regular</vt:lpstr>
      <vt:lpstr>思源黑体 CN Regular</vt:lpstr>
      <vt:lpstr>Calibri</vt:lpstr>
      <vt:lpstr>微软雅黑</vt:lpstr>
      <vt:lpstr>Arial Unicode MS</vt:lpstr>
      <vt:lpstr>等线</vt:lpstr>
      <vt:lpstr>KSOFD723FC5D</vt:lpstr>
      <vt:lpstr>FFont-Family</vt:lpstr>
      <vt:lpstr>KSOF28C8607A</vt:lpstr>
      <vt:lpstr>KSOFD72470BC</vt:lpstr>
      <vt:lpstr>KSOF28C8D4D9</vt:lpstr>
      <vt:lpstr>Office Theme</vt:lpstr>
      <vt:lpstr>Word.Document.12</vt:lpstr>
      <vt:lpstr>Word.Document.12</vt:lpstr>
      <vt:lpstr>Word.Document.12</vt:lpstr>
      <vt:lpstr>Word.Document.12</vt:lpstr>
      <vt:lpstr>Word.Document.12</vt:lpstr>
      <vt:lpstr>Word.Document.12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杨传筠</cp:lastModifiedBy>
  <cp:revision>4</cp:revision>
  <dcterms:created xsi:type="dcterms:W3CDTF">2026-08-30T08:29:00Z</dcterms:created>
  <dcterms:modified xsi:type="dcterms:W3CDTF">2026-09-05T08:39:05Z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2AB731BA7C9549EF8031A4C7D3F17B34_12</vt:lpwstr>
  </property>
  <property fmtid="{D5CDD505-2E9C-101B-9397-08002B2CF9AE}" pid="3" name="KSOProductBuildVer">
    <vt:lpwstr>2052-12.1.0.28043</vt:lpwstr>
  </property>
</Properties>
</file>