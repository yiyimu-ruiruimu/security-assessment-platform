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1.svg" ContentType="image/svg+xml"/>
  <Override PartName="/ppt/media/image113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3.svg" ContentType="image/svg+xml"/>
  <Override PartName="/ppt/media/image126.svg" ContentType="image/svg+xml"/>
  <Override PartName="/ppt/media/image129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9.svg" ContentType="image/svg+xml"/>
  <Override PartName="/ppt/media/image142.svg" ContentType="image/svg+xml"/>
  <Override PartName="/ppt/media/image144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4.svg" ContentType="image/svg+xml"/>
  <Override PartName="/ppt/media/image157.svg" ContentType="image/svg+xml"/>
  <Override PartName="/ppt/media/image159.svg" ContentType="image/svg+xml"/>
  <Override PartName="/ppt/media/image16.svg" ContentType="image/svg+xml"/>
  <Override PartName="/ppt/media/image162.svg" ContentType="image/svg+xml"/>
  <Override PartName="/ppt/media/image164.svg" ContentType="image/svg+xml"/>
  <Override PartName="/ppt/media/image167.svg" ContentType="image/svg+xml"/>
  <Override PartName="/ppt/media/image172.svg" ContentType="image/svg+xml"/>
  <Override PartName="/ppt/media/image175.svg" ContentType="image/svg+xml"/>
  <Override PartName="/ppt/media/image179.svg" ContentType="image/svg+xml"/>
  <Override PartName="/ppt/media/image18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7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6"/>
    <p:sldId id="258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66" r:id="rId15"/>
    <p:sldId id="267" r:id="rId16"/>
    <p:sldId id="269" r:id="rId17"/>
    <p:sldId id="270" r:id="rId18"/>
    <p:sldId id="279" r:id="rId19"/>
    <p:sldId id="272" r:id="rId20"/>
    <p:sldId id="282" r:id="rId21"/>
    <p:sldId id="280" r:id="rId22"/>
    <p:sldId id="271" r:id="rId23"/>
    <p:sldId id="274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## Q1</a:t>
            </a:r>
            <a:r>
              <a:rPr lang="zh-CN" altLang="en-US"/>
              <a:t>：这个漏洞对应等保哪一条？（提示：</a:t>
            </a:r>
            <a:r>
              <a:rPr lang="en-US" altLang="zh-CN"/>
              <a:t>8.1.4.2 </a:t>
            </a:r>
            <a:r>
              <a:rPr lang="zh-CN" altLang="en-US"/>
              <a:t>访问控制）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**</a:t>
            </a:r>
            <a:r>
              <a:rPr lang="zh-CN" altLang="en-US"/>
              <a:t>答案：</a:t>
            </a:r>
            <a:r>
              <a:rPr lang="en-US" altLang="zh-CN"/>
              <a:t>GB/T 22239-2019 8.1.4.2 </a:t>
            </a:r>
            <a:r>
              <a:rPr lang="zh-CN" altLang="en-US"/>
              <a:t>访问控制</a:t>
            </a:r>
            <a:r>
              <a:rPr lang="en-US" altLang="zh-CN"/>
              <a:t>**</a:t>
            </a:r>
            <a:endParaRPr lang="en-US" altLang="zh-CN"/>
          </a:p>
          <a:p>
            <a:r>
              <a:rPr lang="zh-CN" altLang="en-US"/>
              <a:t>要求：</a:t>
            </a:r>
            <a:r>
              <a:rPr lang="en-US" altLang="zh-CN"/>
              <a:t>**</a:t>
            </a:r>
            <a:r>
              <a:rPr lang="zh-CN" altLang="en-US"/>
              <a:t>应启用访问控制功能，依据安全策略控制用户对资源的访问，保证授权用户只能访问其被授权访问的资源，不能访问未授权资源</a:t>
            </a:r>
            <a:r>
              <a:rPr lang="en-US" altLang="zh-CN"/>
              <a:t>**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本案例水平越权就是访问控制失效，用户可以访问不属于自己的订单数据，违反该条款。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一句话简答版：</a:t>
            </a:r>
            <a:r>
              <a:rPr lang="en-US" altLang="zh-CN"/>
              <a:t>**</a:t>
            </a:r>
            <a:r>
              <a:rPr lang="zh-CN" altLang="en-US"/>
              <a:t>访问控制，应限制用户仅能访问自身授权资源，防止越权访问。</a:t>
            </a:r>
            <a:r>
              <a:rPr lang="en-US" altLang="zh-CN"/>
              <a:t>**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Q2</a:t>
            </a:r>
            <a:r>
              <a:rPr lang="zh-CN" altLang="en-US"/>
              <a:t>：不拿源码、不改代码，你怎么把它测出来？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**</a:t>
            </a:r>
            <a:r>
              <a:rPr lang="zh-CN" altLang="en-US"/>
              <a:t>答案：使用两个同权限普通账号进行测试</a:t>
            </a:r>
            <a:r>
              <a:rPr lang="en-US" altLang="zh-CN"/>
              <a:t>**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注册</a:t>
            </a:r>
            <a:r>
              <a:rPr lang="en-US" altLang="zh-CN"/>
              <a:t> / </a:t>
            </a:r>
            <a:r>
              <a:rPr lang="zh-CN" altLang="en-US"/>
              <a:t>准备账号</a:t>
            </a:r>
            <a:r>
              <a:rPr lang="en-US" altLang="zh-CN"/>
              <a:t> A</a:t>
            </a:r>
            <a:r>
              <a:rPr lang="zh-CN" altLang="en-US"/>
              <a:t>、账号</a:t>
            </a:r>
            <a:r>
              <a:rPr lang="en-US" altLang="zh-CN"/>
              <a:t> B</a:t>
            </a:r>
            <a:r>
              <a:rPr lang="zh-CN" altLang="en-US"/>
              <a:t>（都是普通用户，平级）；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登录账号</a:t>
            </a:r>
            <a:r>
              <a:rPr lang="en-US" altLang="zh-CN"/>
              <a:t> A</a:t>
            </a:r>
            <a:r>
              <a:rPr lang="zh-CN" altLang="en-US"/>
              <a:t>，访问订单页面，拿到自己的订单</a:t>
            </a:r>
            <a:r>
              <a:rPr lang="en-US" altLang="zh-CN"/>
              <a:t> ID</a:t>
            </a:r>
            <a:r>
              <a:rPr lang="zh-CN" altLang="en-US"/>
              <a:t>，</a:t>
            </a:r>
            <a:r>
              <a:rPr lang="en-US" altLang="zh-CN"/>
              <a:t>URL </a:t>
            </a:r>
            <a:r>
              <a:rPr lang="zh-CN" altLang="en-US"/>
              <a:t>类似</a:t>
            </a:r>
            <a:r>
              <a:rPr lang="en-US" altLang="zh-CN"/>
              <a:t>`?orderId=10001`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3. **</a:t>
            </a:r>
            <a:r>
              <a:rPr lang="zh-CN" altLang="en-US"/>
              <a:t>保持</a:t>
            </a:r>
            <a:r>
              <a:rPr lang="en-US" altLang="zh-CN"/>
              <a:t> A </a:t>
            </a:r>
            <a:r>
              <a:rPr lang="zh-CN" altLang="en-US"/>
              <a:t>账号会话不变</a:t>
            </a:r>
            <a:r>
              <a:rPr lang="en-US" altLang="zh-CN"/>
              <a:t>**</a:t>
            </a:r>
            <a:r>
              <a:rPr lang="zh-CN" altLang="en-US"/>
              <a:t>，修改</a:t>
            </a:r>
            <a:r>
              <a:rPr lang="en-US" altLang="zh-CN"/>
              <a:t> URL </a:t>
            </a:r>
            <a:r>
              <a:rPr lang="zh-CN" altLang="en-US"/>
              <a:t>里</a:t>
            </a:r>
            <a:r>
              <a:rPr lang="en-US" altLang="zh-CN"/>
              <a:t> orderId</a:t>
            </a:r>
            <a:r>
              <a:rPr lang="zh-CN" altLang="en-US"/>
              <a:t>，替换成账号</a:t>
            </a:r>
            <a:r>
              <a:rPr lang="en-US" altLang="zh-CN"/>
              <a:t> B </a:t>
            </a:r>
            <a:r>
              <a:rPr lang="zh-CN" altLang="en-US"/>
              <a:t>的订单编号；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访问新链接，如果能直接看到</a:t>
            </a:r>
            <a:r>
              <a:rPr lang="en-US" altLang="zh-CN"/>
              <a:t> B </a:t>
            </a:r>
            <a:r>
              <a:rPr lang="zh-CN" altLang="en-US"/>
              <a:t>的订单信息，证明存在水平越权漏洞。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en-US" altLang="zh-CN"/>
              <a:t>&gt; </a:t>
            </a:r>
            <a:r>
              <a:rPr lang="zh-CN" altLang="en-US"/>
              <a:t>可以配合抓包工具（</a:t>
            </a:r>
            <a:r>
              <a:rPr lang="en-US" altLang="zh-CN"/>
              <a:t>BurpSuite</a:t>
            </a:r>
            <a:r>
              <a:rPr lang="zh-CN" altLang="en-US"/>
              <a:t>）修改请求参数，全程</a:t>
            </a:r>
            <a:r>
              <a:rPr lang="en-US" altLang="zh-CN"/>
              <a:t>**</a:t>
            </a:r>
            <a:r>
              <a:rPr lang="zh-CN" altLang="en-US"/>
              <a:t>不需要源码、不用修改代码</a:t>
            </a:r>
            <a:r>
              <a:rPr lang="en-US" altLang="zh-CN"/>
              <a:t>**</a:t>
            </a:r>
            <a:r>
              <a:rPr lang="zh-CN" altLang="en-US"/>
              <a:t>，纯黑盒测试。</a:t>
            </a:r>
            <a:endParaRPr lang="zh-CN" altLang="en-US"/>
          </a:p>
          <a:p>
            <a:r>
              <a:rPr lang="en-US" altLang="zh-CN"/>
              <a:t>Q3</a:t>
            </a:r>
            <a:r>
              <a:rPr lang="zh-CN" altLang="en-US"/>
              <a:t>：越权之外，这个系统还可能漏了什么？</a:t>
            </a:r>
            <a:endParaRPr lang="zh-CN" altLang="en-US"/>
          </a:p>
          <a:p>
            <a:r>
              <a:rPr lang="en-US" altLang="zh-CN"/>
              <a:t>ID </a:t>
            </a:r>
            <a:r>
              <a:rPr lang="zh-CN" altLang="en-US"/>
              <a:t>遍历批量爬取数据、垂直越权、安全审计日志缺失、敏感数据明文传输、会话不安全、注入漏洞。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3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9.wmf"/><Relationship Id="rId10" Type="http://schemas.openxmlformats.org/officeDocument/2006/relationships/package" Target="../embeddings/Document1.docx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8.png"/><Relationship Id="rId22" Type="http://schemas.openxmlformats.org/officeDocument/2006/relationships/image" Target="../media/image47.svg"/><Relationship Id="rId21" Type="http://schemas.openxmlformats.org/officeDocument/2006/relationships/image" Target="../media/image46.png"/><Relationship Id="rId20" Type="http://schemas.openxmlformats.org/officeDocument/2006/relationships/image" Target="../media/image45.png"/><Relationship Id="rId2" Type="http://schemas.openxmlformats.org/officeDocument/2006/relationships/image" Target="../media/image11.png"/><Relationship Id="rId19" Type="http://schemas.openxmlformats.org/officeDocument/2006/relationships/image" Target="../media/image44.pn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png"/><Relationship Id="rId14" Type="http://schemas.openxmlformats.org/officeDocument/2006/relationships/image" Target="../media/image39.svg"/><Relationship Id="rId13" Type="http://schemas.openxmlformats.org/officeDocument/2006/relationships/image" Target="../media/image38.png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image" Target="../media/image35.sv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58.svg"/><Relationship Id="rId14" Type="http://schemas.openxmlformats.org/officeDocument/2006/relationships/image" Target="../media/image57.png"/><Relationship Id="rId13" Type="http://schemas.openxmlformats.org/officeDocument/2006/relationships/image" Target="../media/image56.svg"/><Relationship Id="rId12" Type="http://schemas.openxmlformats.org/officeDocument/2006/relationships/image" Target="../media/image55.pn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sv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3" Type="http://schemas.openxmlformats.org/officeDocument/2006/relationships/notesSlide" Target="../notesSlides/notesSlide7.xml"/><Relationship Id="rId32" Type="http://schemas.openxmlformats.org/officeDocument/2006/relationships/vmlDrawing" Target="../drawings/vmlDrawing2.vml"/><Relationship Id="rId31" Type="http://schemas.openxmlformats.org/officeDocument/2006/relationships/slideLayout" Target="../slideLayouts/slideLayout1.xml"/><Relationship Id="rId30" Type="http://schemas.openxmlformats.org/officeDocument/2006/relationships/image" Target="../media/image84.wmf"/><Relationship Id="rId3" Type="http://schemas.openxmlformats.org/officeDocument/2006/relationships/image" Target="../media/image12.png"/><Relationship Id="rId29" Type="http://schemas.openxmlformats.org/officeDocument/2006/relationships/package" Target="../embeddings/Document2.docx"/><Relationship Id="rId28" Type="http://schemas.openxmlformats.org/officeDocument/2006/relationships/image" Target="../media/image83.svg"/><Relationship Id="rId27" Type="http://schemas.openxmlformats.org/officeDocument/2006/relationships/image" Target="../media/image82.png"/><Relationship Id="rId26" Type="http://schemas.openxmlformats.org/officeDocument/2006/relationships/image" Target="../media/image81.svg"/><Relationship Id="rId25" Type="http://schemas.openxmlformats.org/officeDocument/2006/relationships/image" Target="../media/image80.png"/><Relationship Id="rId24" Type="http://schemas.openxmlformats.org/officeDocument/2006/relationships/image" Target="../media/image79.svg"/><Relationship Id="rId23" Type="http://schemas.openxmlformats.org/officeDocument/2006/relationships/image" Target="../media/image78.png"/><Relationship Id="rId22" Type="http://schemas.openxmlformats.org/officeDocument/2006/relationships/image" Target="../media/image77.svg"/><Relationship Id="rId21" Type="http://schemas.openxmlformats.org/officeDocument/2006/relationships/image" Target="../media/image76.png"/><Relationship Id="rId20" Type="http://schemas.openxmlformats.org/officeDocument/2006/relationships/image" Target="../media/image75.svg"/><Relationship Id="rId2" Type="http://schemas.openxmlformats.org/officeDocument/2006/relationships/image" Target="../media/image11.png"/><Relationship Id="rId19" Type="http://schemas.openxmlformats.org/officeDocument/2006/relationships/image" Target="../media/image74.png"/><Relationship Id="rId18" Type="http://schemas.openxmlformats.org/officeDocument/2006/relationships/image" Target="../media/image73.svg"/><Relationship Id="rId17" Type="http://schemas.openxmlformats.org/officeDocument/2006/relationships/image" Target="../media/image72.png"/><Relationship Id="rId16" Type="http://schemas.openxmlformats.org/officeDocument/2006/relationships/image" Target="../media/image71.svg"/><Relationship Id="rId15" Type="http://schemas.openxmlformats.org/officeDocument/2006/relationships/image" Target="../media/image70.png"/><Relationship Id="rId14" Type="http://schemas.openxmlformats.org/officeDocument/2006/relationships/image" Target="../media/image69.svg"/><Relationship Id="rId13" Type="http://schemas.openxmlformats.org/officeDocument/2006/relationships/image" Target="../media/image68.png"/><Relationship Id="rId12" Type="http://schemas.openxmlformats.org/officeDocument/2006/relationships/image" Target="../media/image67.svg"/><Relationship Id="rId11" Type="http://schemas.openxmlformats.org/officeDocument/2006/relationships/image" Target="../media/image66.png"/><Relationship Id="rId10" Type="http://schemas.openxmlformats.org/officeDocument/2006/relationships/image" Target="../media/image65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sv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Relationship Id="rId3" Type="http://schemas.openxmlformats.org/officeDocument/2006/relationships/image" Target="../media/image12.png"/><Relationship Id="rId29" Type="http://schemas.openxmlformats.org/officeDocument/2006/relationships/notesSlide" Target="../notesSlides/notesSlide8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08.png"/><Relationship Id="rId26" Type="http://schemas.openxmlformats.org/officeDocument/2006/relationships/image" Target="../media/image107.png"/><Relationship Id="rId25" Type="http://schemas.openxmlformats.org/officeDocument/2006/relationships/image" Target="../media/image106.svg"/><Relationship Id="rId24" Type="http://schemas.openxmlformats.org/officeDocument/2006/relationships/image" Target="../media/image105.png"/><Relationship Id="rId23" Type="http://schemas.openxmlformats.org/officeDocument/2006/relationships/image" Target="../media/image104.svg"/><Relationship Id="rId22" Type="http://schemas.openxmlformats.org/officeDocument/2006/relationships/image" Target="../media/image103.png"/><Relationship Id="rId21" Type="http://schemas.openxmlformats.org/officeDocument/2006/relationships/image" Target="../media/image102.svg"/><Relationship Id="rId20" Type="http://schemas.openxmlformats.org/officeDocument/2006/relationships/image" Target="../media/image101.png"/><Relationship Id="rId2" Type="http://schemas.openxmlformats.org/officeDocument/2006/relationships/image" Target="../media/image11.png"/><Relationship Id="rId19" Type="http://schemas.openxmlformats.org/officeDocument/2006/relationships/image" Target="../media/image100.svg"/><Relationship Id="rId18" Type="http://schemas.openxmlformats.org/officeDocument/2006/relationships/image" Target="../media/image99.png"/><Relationship Id="rId17" Type="http://schemas.openxmlformats.org/officeDocument/2006/relationships/image" Target="../media/image98.svg"/><Relationship Id="rId16" Type="http://schemas.openxmlformats.org/officeDocument/2006/relationships/image" Target="../media/image97.png"/><Relationship Id="rId15" Type="http://schemas.openxmlformats.org/officeDocument/2006/relationships/image" Target="../media/image96.svg"/><Relationship Id="rId14" Type="http://schemas.openxmlformats.org/officeDocument/2006/relationships/image" Target="../media/image95.png"/><Relationship Id="rId13" Type="http://schemas.openxmlformats.org/officeDocument/2006/relationships/image" Target="../media/image94.png"/><Relationship Id="rId12" Type="http://schemas.openxmlformats.org/officeDocument/2006/relationships/image" Target="../media/image93.svg"/><Relationship Id="rId11" Type="http://schemas.openxmlformats.org/officeDocument/2006/relationships/image" Target="../media/image92.png"/><Relationship Id="rId10" Type="http://schemas.openxmlformats.org/officeDocument/2006/relationships/image" Target="../media/image91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svg"/><Relationship Id="rId7" Type="http://schemas.openxmlformats.org/officeDocument/2006/relationships/image" Target="../media/image112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21.png"/><Relationship Id="rId15" Type="http://schemas.openxmlformats.org/officeDocument/2006/relationships/image" Target="../media/image120.svg"/><Relationship Id="rId14" Type="http://schemas.openxmlformats.org/officeDocument/2006/relationships/image" Target="../media/image119.png"/><Relationship Id="rId13" Type="http://schemas.openxmlformats.org/officeDocument/2006/relationships/image" Target="../media/image118.svg"/><Relationship Id="rId12" Type="http://schemas.openxmlformats.org/officeDocument/2006/relationships/image" Target="../media/image117.png"/><Relationship Id="rId11" Type="http://schemas.openxmlformats.org/officeDocument/2006/relationships/image" Target="../media/image116.svg"/><Relationship Id="rId10" Type="http://schemas.openxmlformats.org/officeDocument/2006/relationships/image" Target="../media/image115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3.svg"/><Relationship Id="rId4" Type="http://schemas.openxmlformats.org/officeDocument/2006/relationships/image" Target="../media/image12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svg"/><Relationship Id="rId8" Type="http://schemas.openxmlformats.org/officeDocument/2006/relationships/image" Target="../media/image128.png"/><Relationship Id="rId7" Type="http://schemas.openxmlformats.org/officeDocument/2006/relationships/image" Target="../media/image127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11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0.wmf"/><Relationship Id="rId10" Type="http://schemas.openxmlformats.org/officeDocument/2006/relationships/package" Target="../embeddings/Document3.docx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svg"/><Relationship Id="rId8" Type="http://schemas.openxmlformats.org/officeDocument/2006/relationships/image" Target="../media/image135.png"/><Relationship Id="rId7" Type="http://schemas.openxmlformats.org/officeDocument/2006/relationships/image" Target="../media/image134.svg"/><Relationship Id="rId6" Type="http://schemas.openxmlformats.org/officeDocument/2006/relationships/image" Target="../media/image133.png"/><Relationship Id="rId5" Type="http://schemas.openxmlformats.org/officeDocument/2006/relationships/image" Target="../media/image132.svg"/><Relationship Id="rId4" Type="http://schemas.openxmlformats.org/officeDocument/2006/relationships/image" Target="../media/image131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45.png"/><Relationship Id="rId17" Type="http://schemas.openxmlformats.org/officeDocument/2006/relationships/image" Target="../media/image144.svg"/><Relationship Id="rId16" Type="http://schemas.openxmlformats.org/officeDocument/2006/relationships/image" Target="../media/image143.png"/><Relationship Id="rId15" Type="http://schemas.openxmlformats.org/officeDocument/2006/relationships/image" Target="../media/image142.svg"/><Relationship Id="rId14" Type="http://schemas.openxmlformats.org/officeDocument/2006/relationships/image" Target="../media/image141.png"/><Relationship Id="rId13" Type="http://schemas.openxmlformats.org/officeDocument/2006/relationships/image" Target="../media/image140.png"/><Relationship Id="rId12" Type="http://schemas.openxmlformats.org/officeDocument/2006/relationships/image" Target="../media/image139.svg"/><Relationship Id="rId11" Type="http://schemas.openxmlformats.org/officeDocument/2006/relationships/image" Target="../media/image138.png"/><Relationship Id="rId10" Type="http://schemas.openxmlformats.org/officeDocument/2006/relationships/image" Target="../media/image137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svg"/><Relationship Id="rId8" Type="http://schemas.openxmlformats.org/officeDocument/2006/relationships/image" Target="../media/image150.png"/><Relationship Id="rId7" Type="http://schemas.openxmlformats.org/officeDocument/2006/relationships/image" Target="../media/image149.svg"/><Relationship Id="rId6" Type="http://schemas.openxmlformats.org/officeDocument/2006/relationships/image" Target="../media/image148.png"/><Relationship Id="rId5" Type="http://schemas.openxmlformats.org/officeDocument/2006/relationships/image" Target="../media/image147.svg"/><Relationship Id="rId4" Type="http://schemas.openxmlformats.org/officeDocument/2006/relationships/image" Target="../media/image14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2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png"/><Relationship Id="rId8" Type="http://schemas.openxmlformats.org/officeDocument/2006/relationships/image" Target="../media/image157.svg"/><Relationship Id="rId7" Type="http://schemas.openxmlformats.org/officeDocument/2006/relationships/image" Target="../media/image156.png"/><Relationship Id="rId6" Type="http://schemas.openxmlformats.org/officeDocument/2006/relationships/image" Target="../media/image155.png"/><Relationship Id="rId5" Type="http://schemas.openxmlformats.org/officeDocument/2006/relationships/image" Target="../media/image154.svg"/><Relationship Id="rId4" Type="http://schemas.openxmlformats.org/officeDocument/2006/relationships/image" Target="../media/image15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5.png"/><Relationship Id="rId15" Type="http://schemas.openxmlformats.org/officeDocument/2006/relationships/image" Target="../media/image164.svg"/><Relationship Id="rId14" Type="http://schemas.openxmlformats.org/officeDocument/2006/relationships/image" Target="../media/image163.png"/><Relationship Id="rId13" Type="http://schemas.openxmlformats.org/officeDocument/2006/relationships/image" Target="../media/image162.svg"/><Relationship Id="rId12" Type="http://schemas.openxmlformats.org/officeDocument/2006/relationships/image" Target="../media/image161.png"/><Relationship Id="rId11" Type="http://schemas.openxmlformats.org/officeDocument/2006/relationships/image" Target="../media/image160.png"/><Relationship Id="rId10" Type="http://schemas.openxmlformats.org/officeDocument/2006/relationships/image" Target="../media/image159.sv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2.svg"/><Relationship Id="rId8" Type="http://schemas.openxmlformats.org/officeDocument/2006/relationships/image" Target="../media/image161.png"/><Relationship Id="rId7" Type="http://schemas.openxmlformats.org/officeDocument/2006/relationships/tags" Target="../tags/tag1.xml"/><Relationship Id="rId6" Type="http://schemas.openxmlformats.org/officeDocument/2006/relationships/image" Target="../media/image155.png"/><Relationship Id="rId5" Type="http://schemas.openxmlformats.org/officeDocument/2006/relationships/image" Target="../media/image154.svg"/><Relationship Id="rId4" Type="http://schemas.openxmlformats.org/officeDocument/2006/relationships/image" Target="../media/image153.png"/><Relationship Id="rId3" Type="http://schemas.openxmlformats.org/officeDocument/2006/relationships/image" Target="../media/image12.png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65.png"/><Relationship Id="rId26" Type="http://schemas.openxmlformats.org/officeDocument/2006/relationships/image" Target="../media/image159.svg"/><Relationship Id="rId25" Type="http://schemas.openxmlformats.org/officeDocument/2006/relationships/image" Target="../media/image158.png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11.png"/><Relationship Id="rId19" Type="http://schemas.openxmlformats.org/officeDocument/2006/relationships/tags" Target="../tags/tag9.xml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tags" Target="../tags/tag3.xml"/><Relationship Id="rId12" Type="http://schemas.openxmlformats.org/officeDocument/2006/relationships/image" Target="../media/image164.svg"/><Relationship Id="rId11" Type="http://schemas.openxmlformats.org/officeDocument/2006/relationships/image" Target="../media/image163.png"/><Relationship Id="rId10" Type="http://schemas.openxmlformats.org/officeDocument/2006/relationships/tags" Target="../tags/tag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png"/><Relationship Id="rId8" Type="http://schemas.openxmlformats.org/officeDocument/2006/relationships/image" Target="../media/image170.png"/><Relationship Id="rId7" Type="http://schemas.openxmlformats.org/officeDocument/2006/relationships/image" Target="../media/image169.png"/><Relationship Id="rId6" Type="http://schemas.openxmlformats.org/officeDocument/2006/relationships/image" Target="../media/image168.png"/><Relationship Id="rId5" Type="http://schemas.openxmlformats.org/officeDocument/2006/relationships/image" Target="../media/image167.svg"/><Relationship Id="rId4" Type="http://schemas.openxmlformats.org/officeDocument/2006/relationships/image" Target="../media/image16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72.sv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sv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79.svg"/><Relationship Id="rId10" Type="http://schemas.openxmlformats.org/officeDocument/2006/relationships/image" Target="../media/image178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svg"/><Relationship Id="rId8" Type="http://schemas.openxmlformats.org/officeDocument/2006/relationships/image" Target="../media/image187.png"/><Relationship Id="rId7" Type="http://schemas.openxmlformats.org/officeDocument/2006/relationships/image" Target="../media/image186.svg"/><Relationship Id="rId6" Type="http://schemas.openxmlformats.org/officeDocument/2006/relationships/image" Target="../media/image185.png"/><Relationship Id="rId5" Type="http://schemas.openxmlformats.org/officeDocument/2006/relationships/image" Target="../media/image184.svg"/><Relationship Id="rId4" Type="http://schemas.openxmlformats.org/officeDocument/2006/relationships/image" Target="../media/image183.png"/><Relationship Id="rId3" Type="http://schemas.openxmlformats.org/officeDocument/2006/relationships/image" Target="../media/image182.svg"/><Relationship Id="rId2" Type="http://schemas.openxmlformats.org/officeDocument/2006/relationships/image" Target="../media/image181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90.svg"/><Relationship Id="rId10" Type="http://schemas.openxmlformats.org/officeDocument/2006/relationships/image" Target="../media/image189.png"/><Relationship Id="rId1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4.4 应用系统安全功能验证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7559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427559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427559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427559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5599430" y="4752975"/>
            <a:ext cx="639826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回顾拓展：易错点、作业与下节预告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5599430" y="1699895"/>
            <a:ext cx="639826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案例导入：改一个订单号，就能看到别人的信息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5599430" y="3753485"/>
            <a:ext cx="639826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动手实验：西普平台 WVS Web 扫描 + 记录表判定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599430" y="2719705"/>
            <a:ext cx="639826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关键知识：四个维度怎么验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956629" y="2042281"/>
            <a:ext cx="10728960" cy="24371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改一个订单号，就能看到别人的信息</a:t>
            </a:r>
            <a:endParaRPr lang="en-US" sz="5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案例导入——一次越权访问引发的数据泄露</a:t>
            </a:r>
            <a:endParaRPr lang="en-US" sz="2760" dirty="0"/>
          </a:p>
        </p:txBody>
      </p:sp>
      <p:pic>
        <p:nvPicPr>
          <p:cNvPr id="6" name="Image 3" descr="https://test.web.static.jianzeppt.com/ppt-temp-img3/3e19e9fb5f1bcf42af2e543fecd9b9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3962400" cy="5181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876800" y="1219200"/>
            <a:ext cx="6714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应用系统的“身份证”和“门禁系统”靠谱吗？</a:t>
            </a:r>
            <a:endParaRPr lang="en-US" sz="2160" dirty="0"/>
          </a:p>
        </p:txBody>
      </p:sp>
      <p:pic>
        <p:nvPicPr>
          <p:cNvPr id="8" name="Image 4" descr="https://test.web.static.jianzeppt.com/ppt-temp-img3/330a8efb1c001b26308d901db7ccfe8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026920"/>
            <a:ext cx="6705600" cy="1783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074920" y="2209800"/>
            <a:ext cx="631850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案例：</a:t>
            </a: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某电商平台发生数据泄露。攻击者发现订单查询接口存在越权漏洞：只需修改URL中的订单ID参数，即可查看他人订单信息。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5074920" y="29565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漏洞：</a:t>
            </a:r>
            <a:endParaRPr lang="en-US" sz="1560" dirty="0"/>
          </a:p>
        </p:txBody>
      </p:sp>
      <p:sp>
        <p:nvSpPr>
          <p:cNvPr id="11" name="Text 4"/>
          <p:cNvSpPr/>
          <p:nvPr/>
        </p:nvSpPr>
        <p:spPr>
          <a:xfrm>
            <a:off x="5730240" y="2956560"/>
            <a:ext cx="816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水平越权</a:t>
            </a:r>
            <a:endParaRPr lang="en-US" sz="1560" dirty="0"/>
          </a:p>
        </p:txBody>
      </p:sp>
      <p:sp>
        <p:nvSpPr>
          <p:cNvPr id="12" name="Text 5"/>
          <p:cNvSpPr/>
          <p:nvPr/>
        </p:nvSpPr>
        <p:spPr>
          <a:xfrm>
            <a:off x="8321040" y="29565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方式：</a:t>
            </a:r>
            <a:endParaRPr lang="en-US" sz="1560" dirty="0"/>
          </a:p>
        </p:txBody>
      </p:sp>
      <p:sp>
        <p:nvSpPr>
          <p:cNvPr id="13" name="Text 6"/>
          <p:cNvSpPr/>
          <p:nvPr/>
        </p:nvSpPr>
        <p:spPr>
          <a:xfrm>
            <a:off x="8976360" y="2956560"/>
            <a:ext cx="1197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333333"/>
                </a:solidFill>
              </a:rPr>
              <a:t>修改URL参数</a:t>
            </a:r>
            <a:endParaRPr lang="en-US" sz="1560" dirty="0"/>
          </a:p>
        </p:txBody>
      </p:sp>
      <p:sp>
        <p:nvSpPr>
          <p:cNvPr id="14" name="Text 7"/>
          <p:cNvSpPr/>
          <p:nvPr/>
        </p:nvSpPr>
        <p:spPr>
          <a:xfrm>
            <a:off x="5074920" y="330708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范围：</a:t>
            </a:r>
            <a:endParaRPr lang="en-US" sz="1560" dirty="0"/>
          </a:p>
        </p:txBody>
      </p:sp>
      <p:sp>
        <p:nvSpPr>
          <p:cNvPr id="15" name="Text 8"/>
          <p:cNvSpPr/>
          <p:nvPr/>
        </p:nvSpPr>
        <p:spPr>
          <a:xfrm>
            <a:off x="5730240" y="3307080"/>
            <a:ext cx="14112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333333"/>
                </a:solidFill>
              </a:rPr>
              <a:t>数百万用户信息</a:t>
            </a:r>
            <a:endParaRPr lang="en-US" sz="1560" dirty="0"/>
          </a:p>
        </p:txBody>
      </p:sp>
      <p:sp>
        <p:nvSpPr>
          <p:cNvPr id="16" name="Text 9"/>
          <p:cNvSpPr/>
          <p:nvPr/>
        </p:nvSpPr>
        <p:spPr>
          <a:xfrm>
            <a:off x="8321040" y="330708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后果：</a:t>
            </a:r>
            <a:endParaRPr lang="en-US" sz="1560" dirty="0"/>
          </a:p>
        </p:txBody>
      </p:sp>
      <p:sp>
        <p:nvSpPr>
          <p:cNvPr id="17" name="Text 10"/>
          <p:cNvSpPr/>
          <p:nvPr/>
        </p:nvSpPr>
        <p:spPr>
          <a:xfrm>
            <a:off x="8976360" y="3307080"/>
            <a:ext cx="8168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信任受损</a:t>
            </a:r>
            <a:endParaRPr lang="en-US" sz="156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6800" y="4267200"/>
            <a:ext cx="60960" cy="213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29200" y="4206240"/>
            <a:ext cx="9387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先想一想（30 秒）</a:t>
            </a:r>
            <a:endParaRPr lang="en-US" sz="1800" dirty="0"/>
          </a:p>
        </p:txBody>
      </p:sp>
      <p:sp>
        <p:nvSpPr>
          <p:cNvPr id="23" name="Text 13"/>
          <p:cNvSpPr/>
          <p:nvPr/>
        </p:nvSpPr>
        <p:spPr>
          <a:xfrm>
            <a:off x="5090160" y="4617720"/>
            <a:ext cx="25694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1. 这个漏洞对应等保哪一条？（提示：8.1.4.2 访问控制）</a:t>
            </a:r>
            <a:endParaRPr lang="en-US" sz="16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7760" y="4724400"/>
            <a:ext cx="76200" cy="762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0160" y="4937760"/>
            <a:ext cx="278282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2. 不拿源码、不改代码，你怎么把它测出来？</a:t>
            </a:r>
            <a:endParaRPr lang="en-US" sz="168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7760" y="5044440"/>
            <a:ext cx="76200" cy="762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090160" y="5273040"/>
            <a:ext cx="25694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3. 越权之外，这个系统还可能漏了什么？</a:t>
            </a:r>
            <a:endParaRPr lang="en-US" sz="16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7760" y="5379720"/>
            <a:ext cx="76200" cy="76200"/>
          </a:xfrm>
          <a:prstGeom prst="rect">
            <a:avLst/>
          </a:prstGeom>
        </p:spPr>
      </p:pic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00335" y="4457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0" imgW="971550" imgH="666750" progId="Word.Document.12">
                  <p:embed/>
                </p:oleObj>
              </mc:Choice>
              <mc:Fallback>
                <p:oleObj name="" showAsIcon="1" r:id="rId10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300335" y="4457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学完这一节，你应该能做到：</a:t>
            </a:r>
            <a:endParaRPr lang="en-US" sz="192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2179320"/>
            <a:ext cx="548640" cy="54864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360" y="2301240"/>
            <a:ext cx="304800" cy="30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55448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</a:t>
            </a:r>
            <a:endParaRPr lang="en-US" sz="2640" dirty="0"/>
          </a:p>
        </p:txBody>
      </p:sp>
      <p:sp>
        <p:nvSpPr>
          <p:cNvPr id="11" name="Text 3"/>
          <p:cNvSpPr/>
          <p:nvPr/>
        </p:nvSpPr>
        <p:spPr>
          <a:xfrm>
            <a:off x="853440" y="2880360"/>
            <a:ext cx="3026664" cy="7740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说清应用系统在等保里主要</a:t>
            </a:r>
            <a:r>
              <a:rPr lang="zh-CN" alt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测哪些</a:t>
            </a:r>
            <a:r>
              <a:rPr lang="zh-CN" alt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维度</a:t>
            </a:r>
            <a:endParaRPr lang="zh-CN" altLang="en-US" sz="168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2" name="Image 6" descr="https://test.web.static.jianzeppt.com/ppt-temp-img3/e43d887a6b074a34eecdb6dd34dd812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981200"/>
            <a:ext cx="60960" cy="210312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7240" y="2179320"/>
            <a:ext cx="548640" cy="54864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09160" y="2301240"/>
            <a:ext cx="304800" cy="30480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28828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640" dirty="0"/>
          </a:p>
        </p:txBody>
      </p:sp>
      <p:sp>
        <p:nvSpPr>
          <p:cNvPr id="17" name="Text 5"/>
          <p:cNvSpPr/>
          <p:nvPr/>
        </p:nvSpPr>
        <p:spPr>
          <a:xfrm>
            <a:off x="4587240" y="2880360"/>
            <a:ext cx="3026664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在浏览器和靶场上亲手验口令复杂度、登录失败锁定、空闲超时与传输加密</a:t>
            </a:r>
            <a:endParaRPr lang="en-US" sz="1680" dirty="0"/>
          </a:p>
        </p:txBody>
      </p:sp>
      <p:pic>
        <p:nvPicPr>
          <p:cNvPr id="18" name="Image 10" descr="https://test.web.static.jianzeppt.com/ppt-temp-img3/b54f943523838155028f7744978a0f4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1981200"/>
            <a:ext cx="60960" cy="210312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198120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280" y="2179320"/>
            <a:ext cx="548640" cy="54864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8200" y="2301240"/>
            <a:ext cx="304800" cy="304800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9037320" y="2209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640" dirty="0"/>
          </a:p>
        </p:txBody>
      </p:sp>
      <p:sp>
        <p:nvSpPr>
          <p:cNvPr id="23" name="Text 7"/>
          <p:cNvSpPr/>
          <p:nvPr/>
        </p:nvSpPr>
        <p:spPr>
          <a:xfrm>
            <a:off x="8336280" y="2880360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用改参数、换账号的办法把垂直越权和水平越权真正测出来</a:t>
            </a:r>
            <a:endParaRPr lang="en-US" sz="1800" dirty="0"/>
          </a:p>
        </p:txBody>
      </p:sp>
      <p:pic>
        <p:nvPicPr>
          <p:cNvPr id="24" name="Image 14" descr="https://test.web.static.jianzeppt.com/ppt-temp-img3/b58cc9b5b39f21e3f8a33ae0e3e999c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1981200"/>
            <a:ext cx="60960" cy="2103120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4312920"/>
            <a:ext cx="72390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4556760"/>
            <a:ext cx="548640" cy="548640"/>
          </a:xfrm>
          <a:prstGeom prst="rect">
            <a:avLst/>
          </a:prstGeom>
        </p:spPr>
      </p:pic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360" y="4678680"/>
            <a:ext cx="304800" cy="304800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1554480" y="45720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640" dirty="0"/>
          </a:p>
        </p:txBody>
      </p:sp>
      <p:sp>
        <p:nvSpPr>
          <p:cNvPr id="29" name="Text 9"/>
          <p:cNvSpPr/>
          <p:nvPr/>
        </p:nvSpPr>
        <p:spPr>
          <a:xfrm>
            <a:off x="853440" y="5288280"/>
            <a:ext cx="590677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把 WVS 扫描结果录入测评记录表、做四档判定，产出规范的测评记录表</a:t>
            </a:r>
            <a:endParaRPr lang="en-US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0" name="Image 18" descr="https://test.web.static.jianzeppt.com/ppt-temp-img3/c4608b05e2401283b56f9b9da0d3521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312920"/>
            <a:ext cx="60960" cy="2103120"/>
          </a:xfrm>
          <a:prstGeom prst="rect">
            <a:avLst/>
          </a:prstGeom>
        </p:spPr>
      </p:pic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440" y="4312920"/>
            <a:ext cx="3505200" cy="2103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280" y="4556760"/>
            <a:ext cx="548640" cy="548640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8200" y="4678680"/>
            <a:ext cx="304800" cy="3048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9037320" y="45720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具备</a:t>
            </a:r>
            <a:endParaRPr lang="en-US" sz="2640" dirty="0"/>
          </a:p>
        </p:txBody>
      </p:sp>
      <p:sp>
        <p:nvSpPr>
          <p:cNvPr id="35" name="Text 11"/>
          <p:cNvSpPr/>
          <p:nvPr/>
        </p:nvSpPr>
        <p:spPr>
          <a:xfrm>
            <a:off x="8336280" y="5288280"/>
            <a:ext cx="32327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对不合规项写出可执行的整改建议，说清"差在哪、怎么改"</a:t>
            </a:r>
            <a:endParaRPr lang="en-US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6" name="Image 22" descr="https://test.web.static.jianzeppt.com/ppt-temp-img3/09dbf9eaa46e5c6eb8473e988759a6d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4312920"/>
            <a:ext cx="60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2145349" y="1609846"/>
            <a:ext cx="7919720" cy="81216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</a:t>
            </a:r>
            <a:r>
              <a:rPr lang="zh-CN" altLang="en-US" sz="5280" dirty="0">
                <a:solidFill>
                  <a:srgbClr val="FFFFFF"/>
                </a:solidFill>
              </a:rPr>
              <a:t>测哪些维度？</a:t>
            </a:r>
            <a:endParaRPr lang="en-US" sz="5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350520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应用系统安全功能验证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24840" y="1076960"/>
            <a:ext cx="1098169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1E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在等保标准中的位置</a:t>
            </a:r>
            <a:r>
              <a:rPr lang="zh-CN" altLang="en-US" sz="2000" dirty="0">
                <a:solidFill>
                  <a:srgbClr val="1E1E1E"/>
                </a:solidFill>
                <a:sym typeface="+mn-ea"/>
              </a:rPr>
              <a:t>：</a:t>
            </a:r>
            <a:r>
              <a:rPr lang="en-US" sz="20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</a:t>
            </a:r>
            <a:r>
              <a:rPr lang="en-US" sz="20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安全技术要求 → 安全计算环境</a:t>
            </a: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应用系统属于安全计算环境的一部分，核心测评维度：</a:t>
            </a: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63000"/>
              </a:lnSpc>
              <a:buNone/>
            </a:pPr>
            <a:endParaRPr lang="en-US" sz="2000" dirty="0">
              <a:solidFill>
                <a:srgbClr val="514D37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762760"/>
            <a:ext cx="10972800" cy="3322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4" descr="https://test.web.static.jianzeppt.com/ppt-temp-img3/38bb5d4f9f2a91ed51b886e115439c8a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69135"/>
            <a:ext cx="10942320" cy="101282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44880" y="2123440"/>
            <a:ext cx="591820" cy="4978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216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2967177"/>
            <a:ext cx="911809" cy="15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179320" y="215900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维度</a:t>
            </a:r>
            <a:endParaRPr lang="en-US" sz="216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6649" y="2967177"/>
            <a:ext cx="1823618" cy="1524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038600" y="215900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标准要求节</a:t>
            </a:r>
            <a:endParaRPr lang="en-US" sz="216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60115" y="2967177"/>
            <a:ext cx="2735580" cy="152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138160" y="215900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核心关注点</a:t>
            </a:r>
            <a:endParaRPr lang="en-US" sz="216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5695" y="2967177"/>
            <a:ext cx="5471465" cy="15240"/>
          </a:xfrm>
          <a:prstGeom prst="rect">
            <a:avLst/>
          </a:prstGeom>
        </p:spPr>
      </p:pic>
      <p:pic>
        <p:nvPicPr>
          <p:cNvPr id="18" name="Image 9" descr="https://test.web.static.jianzeppt.com/ppt-temp-img3/a5548020548e1d48ca4682dd82412bf6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2966720"/>
            <a:ext cx="10942320" cy="68580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68680" y="311912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920" dirty="0"/>
          </a:p>
        </p:txBody>
      </p:sp>
      <p:sp>
        <p:nvSpPr>
          <p:cNvPr id="20" name="Text 8"/>
          <p:cNvSpPr/>
          <p:nvPr/>
        </p:nvSpPr>
        <p:spPr>
          <a:xfrm>
            <a:off x="1783080" y="311912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</a:t>
            </a:r>
            <a:endParaRPr lang="en-US" sz="1920" dirty="0"/>
          </a:p>
        </p:txBody>
      </p:sp>
      <p:sp>
        <p:nvSpPr>
          <p:cNvPr id="21" name="Text 9"/>
          <p:cNvSpPr/>
          <p:nvPr/>
        </p:nvSpPr>
        <p:spPr>
          <a:xfrm>
            <a:off x="3596640" y="311912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8.1.4.1</a:t>
            </a:r>
            <a:endParaRPr lang="en-US" sz="1920" dirty="0"/>
          </a:p>
        </p:txBody>
      </p:sp>
      <p:sp>
        <p:nvSpPr>
          <p:cNvPr id="22" name="Text 10"/>
          <p:cNvSpPr/>
          <p:nvPr/>
        </p:nvSpPr>
        <p:spPr>
          <a:xfrm>
            <a:off x="6339840" y="311912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用户身份认证是否可靠</a:t>
            </a:r>
            <a:endParaRPr lang="en-US" sz="192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3652977"/>
            <a:ext cx="10942320" cy="15240"/>
          </a:xfrm>
          <a:prstGeom prst="rect">
            <a:avLst/>
          </a:prstGeom>
        </p:spPr>
      </p:pic>
      <p:pic>
        <p:nvPicPr>
          <p:cNvPr id="24" name="Image 11" descr="https://test.web.static.jianzeppt.com/ppt-temp-img3/a5548020548e1d48ca4682dd82412bf6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3652520"/>
            <a:ext cx="10942320" cy="6858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68680" y="380492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920" dirty="0"/>
          </a:p>
        </p:txBody>
      </p:sp>
      <p:sp>
        <p:nvSpPr>
          <p:cNvPr id="26" name="Text 12"/>
          <p:cNvSpPr/>
          <p:nvPr/>
        </p:nvSpPr>
        <p:spPr>
          <a:xfrm>
            <a:off x="1783080" y="380492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</a:t>
            </a:r>
            <a:endParaRPr lang="en-US" sz="1920" dirty="0"/>
          </a:p>
        </p:txBody>
      </p:sp>
      <p:sp>
        <p:nvSpPr>
          <p:cNvPr id="27" name="Text 13"/>
          <p:cNvSpPr/>
          <p:nvPr/>
        </p:nvSpPr>
        <p:spPr>
          <a:xfrm>
            <a:off x="3596640" y="380492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8.1.4.2</a:t>
            </a:r>
            <a:endParaRPr lang="en-US" sz="1920" dirty="0"/>
          </a:p>
        </p:txBody>
      </p:sp>
      <p:sp>
        <p:nvSpPr>
          <p:cNvPr id="28" name="Text 14"/>
          <p:cNvSpPr/>
          <p:nvPr/>
        </p:nvSpPr>
        <p:spPr>
          <a:xfrm>
            <a:off x="6339840" y="380492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用户权限管理是否严格</a:t>
            </a:r>
            <a:endParaRPr lang="en-US" sz="192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4338777"/>
            <a:ext cx="10942320" cy="15240"/>
          </a:xfrm>
          <a:prstGeom prst="rect">
            <a:avLst/>
          </a:prstGeom>
        </p:spPr>
      </p:pic>
      <p:pic>
        <p:nvPicPr>
          <p:cNvPr id="30" name="Image 13" descr="https://test.web.static.jianzeppt.com/ppt-temp-img3/f6af37134257d5c5d4c1a25c75a84736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" y="4338320"/>
            <a:ext cx="10942320" cy="685800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868680" y="449072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920" dirty="0"/>
          </a:p>
        </p:txBody>
      </p:sp>
      <p:sp>
        <p:nvSpPr>
          <p:cNvPr id="32" name="Text 16"/>
          <p:cNvSpPr/>
          <p:nvPr/>
        </p:nvSpPr>
        <p:spPr>
          <a:xfrm>
            <a:off x="1783080" y="449072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</a:t>
            </a:r>
            <a:endParaRPr lang="en-US" sz="1920" dirty="0"/>
          </a:p>
        </p:txBody>
      </p:sp>
      <p:sp>
        <p:nvSpPr>
          <p:cNvPr id="33" name="Text 17"/>
          <p:cNvSpPr/>
          <p:nvPr/>
        </p:nvSpPr>
        <p:spPr>
          <a:xfrm>
            <a:off x="3596640" y="449072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8.1.4.3</a:t>
            </a:r>
            <a:endParaRPr lang="en-US" sz="1920" dirty="0"/>
          </a:p>
        </p:txBody>
      </p:sp>
      <p:sp>
        <p:nvSpPr>
          <p:cNvPr id="34" name="Text 18"/>
          <p:cNvSpPr/>
          <p:nvPr/>
        </p:nvSpPr>
        <p:spPr>
          <a:xfrm>
            <a:off x="6339840" y="449072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操作日志记录是否完整</a:t>
            </a:r>
            <a:endParaRPr lang="en-US" sz="1920" dirty="0"/>
          </a:p>
        </p:txBody>
      </p:sp>
      <p:pic>
        <p:nvPicPr>
          <p:cNvPr id="35" name="Image 14" descr="https://test.web.static.jianzeppt.com/ppt-temp-img3/ce89a7b2cc68c8aa6c02a85b100ee7c5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" y="5024577"/>
            <a:ext cx="10942320" cy="15240"/>
          </a:xfrm>
          <a:prstGeom prst="rect">
            <a:avLst/>
          </a:prstGeom>
        </p:spPr>
      </p:pic>
      <p:pic>
        <p:nvPicPr>
          <p:cNvPr id="36" name="Image 15" descr="https://test.web.static.jianzeppt.com/ppt-temp-img3/b66a29c42fd7dfd8bac9ae61de5ae37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" y="5024120"/>
            <a:ext cx="10942320" cy="685800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868680" y="5176520"/>
            <a:ext cx="435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4</a:t>
            </a:r>
            <a:endParaRPr lang="en-US" sz="1920" dirty="0"/>
          </a:p>
        </p:txBody>
      </p:sp>
      <p:sp>
        <p:nvSpPr>
          <p:cNvPr id="38" name="Text 20"/>
          <p:cNvSpPr/>
          <p:nvPr/>
        </p:nvSpPr>
        <p:spPr>
          <a:xfrm>
            <a:off x="1783080" y="5176520"/>
            <a:ext cx="1350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数据完整性</a:t>
            </a:r>
            <a:endParaRPr lang="en-US" sz="1920" dirty="0"/>
          </a:p>
        </p:txBody>
      </p:sp>
      <p:sp>
        <p:nvSpPr>
          <p:cNvPr id="39" name="Text 21"/>
          <p:cNvSpPr/>
          <p:nvPr/>
        </p:nvSpPr>
        <p:spPr>
          <a:xfrm>
            <a:off x="3596640" y="5176520"/>
            <a:ext cx="2264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8.1.4.7</a:t>
            </a:r>
            <a:endParaRPr lang="en-US" sz="1920" dirty="0"/>
          </a:p>
        </p:txBody>
      </p:sp>
      <p:sp>
        <p:nvSpPr>
          <p:cNvPr id="40" name="Text 22"/>
          <p:cNvSpPr/>
          <p:nvPr/>
        </p:nvSpPr>
        <p:spPr>
          <a:xfrm>
            <a:off x="6339840" y="5176520"/>
            <a:ext cx="5007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重要数据是否被篡改</a:t>
            </a:r>
            <a:endParaRPr lang="en-US" sz="192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1837690" y="5909310"/>
            <a:ext cx="7292340" cy="474345"/>
            <a:chOff x="2640" y="9384"/>
            <a:chExt cx="13944" cy="1104"/>
          </a:xfrm>
        </p:grpSpPr>
        <p:pic>
          <p:nvPicPr>
            <p:cNvPr id="41" name="Image 16" descr="preencoded.png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640" y="9384"/>
              <a:ext cx="13944" cy="1104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pic>
          <p:nvPicPr>
            <p:cNvPr id="42" name="Image 17" descr="https://test.web.static.jianzeppt.com/ppt-temp-img3/d778744b35549414fd29c8dbc5768202.png?x-oss-process=image/resize,w_1440,h_800,m_lfit/format,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216" y="9648"/>
              <a:ext cx="576" cy="576"/>
            </a:xfrm>
            <a:prstGeom prst="rect">
              <a:avLst/>
            </a:prstGeom>
          </p:spPr>
        </p:pic>
        <p:sp>
          <p:nvSpPr>
            <p:cNvPr id="43" name="Text 23"/>
            <p:cNvSpPr/>
            <p:nvPr/>
          </p:nvSpPr>
          <p:spPr>
            <a:xfrm>
              <a:off x="3984" y="9576"/>
              <a:ext cx="12038" cy="69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本节课重点：身份鉴别 + 访问控制 + 安全审计（占90%）</a:t>
              </a:r>
              <a:endParaRPr lang="en-US" sz="20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身份鉴别测评——核心检查项</a:t>
            </a:r>
            <a:endParaRPr lang="en-US" sz="2760" dirty="0"/>
          </a:p>
        </p:txBody>
      </p:sp>
      <p:pic>
        <p:nvPicPr>
          <p:cNvPr id="6" name="Image 3" descr="https://test.web.static.jianzeppt.com/ppt-temp-img3/f4f4948a1a6271336cb0522859b5403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73152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417320" y="1508760"/>
            <a:ext cx="461162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身份鉴别的目标是：</a:t>
            </a:r>
            <a:r>
              <a:rPr lang="en-US" sz="24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验证“你是谁”</a:t>
            </a:r>
            <a:endParaRPr lang="en-US" sz="216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286000"/>
            <a:ext cx="10972800" cy="419925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0" name="Image 6" descr="https://test.web.static.jianzeppt.com/ppt-temp-img3/bff281e3062848ee529be9808407214a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301240"/>
            <a:ext cx="10942320" cy="57912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868680" y="2423160"/>
            <a:ext cx="10463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35F4B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8.1.4.1 身份鉴别要求：</a:t>
            </a:r>
            <a:endParaRPr lang="en-US" sz="168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624840" y="2758440"/>
            <a:ext cx="10942320" cy="3596640"/>
            <a:chOff x="984" y="4536"/>
            <a:chExt cx="17232" cy="5664"/>
          </a:xfrm>
        </p:grpSpPr>
        <p:pic>
          <p:nvPicPr>
            <p:cNvPr id="12" name="Image 7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4536"/>
              <a:ext cx="17232" cy="24"/>
            </a:xfrm>
            <a:prstGeom prst="rect">
              <a:avLst/>
            </a:prstGeom>
          </p:spPr>
        </p:pic>
        <p:pic>
          <p:nvPicPr>
            <p:cNvPr id="13" name="Image 8" descr="preencoded.png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4" y="4536"/>
              <a:ext cx="17232" cy="960"/>
            </a:xfrm>
            <a:prstGeom prst="rect">
              <a:avLst/>
            </a:prstGeom>
          </p:spPr>
        </p:pic>
        <p:sp>
          <p:nvSpPr>
            <p:cNvPr id="14" name="Text 3"/>
            <p:cNvSpPr/>
            <p:nvPr/>
          </p:nvSpPr>
          <p:spPr>
            <a:xfrm>
              <a:off x="1272" y="4728"/>
              <a:ext cx="772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序号</a:t>
              </a:r>
              <a:endParaRPr lang="en-US" sz="1920" dirty="0"/>
            </a:p>
          </p:txBody>
        </p:sp>
        <p:sp>
          <p:nvSpPr>
            <p:cNvPr id="15" name="Text 4"/>
            <p:cNvSpPr/>
            <p:nvPr/>
          </p:nvSpPr>
          <p:spPr>
            <a:xfrm>
              <a:off x="2640" y="4728"/>
              <a:ext cx="1158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检查项</a:t>
              </a:r>
              <a:endParaRPr lang="en-US" sz="1920" dirty="0"/>
            </a:p>
          </p:txBody>
        </p:sp>
        <p:sp>
          <p:nvSpPr>
            <p:cNvPr id="16" name="Text 5"/>
            <p:cNvSpPr/>
            <p:nvPr/>
          </p:nvSpPr>
          <p:spPr>
            <a:xfrm>
              <a:off x="6096" y="4728"/>
              <a:ext cx="772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内容</a:t>
              </a:r>
              <a:endParaRPr lang="en-US" sz="1920" dirty="0"/>
            </a:p>
          </p:txBody>
        </p:sp>
        <p:sp>
          <p:nvSpPr>
            <p:cNvPr id="17" name="Text 6"/>
            <p:cNvSpPr/>
            <p:nvPr/>
          </p:nvSpPr>
          <p:spPr>
            <a:xfrm>
              <a:off x="13848" y="4728"/>
              <a:ext cx="1544" cy="46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测评方法</a:t>
              </a:r>
              <a:endParaRPr lang="en-US" sz="1920" dirty="0"/>
            </a:p>
          </p:txBody>
        </p:sp>
        <p:sp>
          <p:nvSpPr>
            <p:cNvPr id="18" name="Text 7"/>
            <p:cNvSpPr/>
            <p:nvPr/>
          </p:nvSpPr>
          <p:spPr>
            <a:xfrm>
              <a:off x="1272" y="5688"/>
              <a:ext cx="830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a)</a:t>
              </a:r>
              <a:endParaRPr lang="en-US" sz="1680" dirty="0"/>
            </a:p>
          </p:txBody>
        </p:sp>
        <p:sp>
          <p:nvSpPr>
            <p:cNvPr id="19" name="Text 8"/>
            <p:cNvSpPr/>
            <p:nvPr/>
          </p:nvSpPr>
          <p:spPr>
            <a:xfrm>
              <a:off x="2640" y="5688"/>
              <a:ext cx="28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身份唯一性</a:t>
              </a:r>
              <a:endParaRPr lang="en-US" sz="1680" dirty="0"/>
            </a:p>
          </p:txBody>
        </p:sp>
        <p:sp>
          <p:nvSpPr>
            <p:cNvPr id="20" name="Text 9"/>
            <p:cNvSpPr/>
            <p:nvPr/>
          </p:nvSpPr>
          <p:spPr>
            <a:xfrm>
              <a:off x="6096" y="5750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每个用户应有唯一标识，鉴别信息具复杂度并定期更换</a:t>
              </a:r>
              <a:endParaRPr lang="en-US" sz="1680" dirty="0"/>
            </a:p>
          </p:txBody>
        </p:sp>
        <p:sp>
          <p:nvSpPr>
            <p:cNvPr id="21" name="Text 10"/>
            <p:cNvSpPr/>
            <p:nvPr/>
          </p:nvSpPr>
          <p:spPr>
            <a:xfrm>
              <a:off x="13848" y="5688"/>
              <a:ext cx="40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看管理界面 + 查密码策略</a:t>
              </a:r>
              <a:endParaRPr lang="en-US" sz="1680" dirty="0"/>
            </a:p>
          </p:txBody>
        </p:sp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6816"/>
              <a:ext cx="17232" cy="24"/>
            </a:xfrm>
            <a:prstGeom prst="rect">
              <a:avLst/>
            </a:prstGeom>
          </p:spPr>
        </p:pic>
        <p:pic>
          <p:nvPicPr>
            <p:cNvPr id="23" name="Image 10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84" y="6816"/>
              <a:ext cx="17232" cy="1344"/>
            </a:xfrm>
            <a:prstGeom prst="rect">
              <a:avLst/>
            </a:prstGeom>
          </p:spPr>
        </p:pic>
        <p:sp>
          <p:nvSpPr>
            <p:cNvPr id="24" name="Text 11"/>
            <p:cNvSpPr/>
            <p:nvPr/>
          </p:nvSpPr>
          <p:spPr>
            <a:xfrm>
              <a:off x="1272" y="7008"/>
              <a:ext cx="830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b)</a:t>
              </a:r>
              <a:endParaRPr lang="en-US" sz="1680" dirty="0"/>
            </a:p>
          </p:txBody>
        </p:sp>
        <p:sp>
          <p:nvSpPr>
            <p:cNvPr id="25" name="Text 12"/>
            <p:cNvSpPr/>
            <p:nvPr/>
          </p:nvSpPr>
          <p:spPr>
            <a:xfrm>
              <a:off x="2640" y="7008"/>
              <a:ext cx="2894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登录失败处理</a:t>
              </a:r>
              <a:endParaRPr lang="en-US" sz="1680" dirty="0"/>
            </a:p>
          </p:txBody>
        </p:sp>
        <p:sp>
          <p:nvSpPr>
            <p:cNvPr id="26" name="Text 13"/>
            <p:cNvSpPr/>
            <p:nvPr/>
          </p:nvSpPr>
          <p:spPr>
            <a:xfrm>
              <a:off x="6096" y="7070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配置结束会话、限非法登录次数、连接超时自动退出</a:t>
              </a:r>
              <a:endParaRPr lang="en-US" sz="1680" dirty="0"/>
            </a:p>
          </p:txBody>
        </p:sp>
        <p:sp>
          <p:nvSpPr>
            <p:cNvPr id="27" name="Text 14"/>
            <p:cNvSpPr/>
            <p:nvPr/>
          </p:nvSpPr>
          <p:spPr>
            <a:xfrm>
              <a:off x="13848" y="7008"/>
              <a:ext cx="4094" cy="9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模拟连续错误登录测试</a:t>
              </a:r>
              <a:endParaRPr lang="en-US" sz="1680" dirty="0"/>
            </a:p>
          </p:txBody>
        </p:sp>
        <p:pic>
          <p:nvPicPr>
            <p:cNvPr id="28" name="Image 11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8148"/>
              <a:ext cx="17232" cy="24"/>
            </a:xfrm>
            <a:prstGeom prst="rect">
              <a:avLst/>
            </a:prstGeom>
          </p:spPr>
        </p:pic>
        <p:sp>
          <p:nvSpPr>
            <p:cNvPr id="29" name="Text 15"/>
            <p:cNvSpPr/>
            <p:nvPr/>
          </p:nvSpPr>
          <p:spPr>
            <a:xfrm>
              <a:off x="1272" y="8352"/>
              <a:ext cx="306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c)</a:t>
              </a:r>
              <a:endParaRPr lang="en-US" sz="1680" dirty="0"/>
            </a:p>
          </p:txBody>
        </p:sp>
        <p:sp>
          <p:nvSpPr>
            <p:cNvPr id="30" name="Text 16"/>
            <p:cNvSpPr/>
            <p:nvPr/>
          </p:nvSpPr>
          <p:spPr>
            <a:xfrm>
              <a:off x="2640" y="8352"/>
              <a:ext cx="2028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远程管理安全</a:t>
              </a:r>
              <a:endParaRPr lang="en-US" sz="1680" dirty="0"/>
            </a:p>
          </p:txBody>
        </p:sp>
        <p:sp>
          <p:nvSpPr>
            <p:cNvPr id="31" name="Text 17"/>
            <p:cNvSpPr/>
            <p:nvPr/>
          </p:nvSpPr>
          <p:spPr>
            <a:xfrm>
              <a:off x="6096" y="8352"/>
              <a:ext cx="6720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远程管理时，鉴别信息不应在网络中明文传输</a:t>
              </a:r>
              <a:endParaRPr lang="en-US" sz="1680" dirty="0"/>
            </a:p>
          </p:txBody>
        </p:sp>
        <p:sp>
          <p:nvSpPr>
            <p:cNvPr id="32" name="Text 18"/>
            <p:cNvSpPr/>
            <p:nvPr/>
          </p:nvSpPr>
          <p:spPr>
            <a:xfrm>
              <a:off x="13848" y="8352"/>
              <a:ext cx="2970" cy="4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抓包分析 / 查看协议</a:t>
              </a:r>
              <a:endParaRPr lang="en-US" sz="1680" dirty="0"/>
            </a:p>
          </p:txBody>
        </p:sp>
        <p:pic>
          <p:nvPicPr>
            <p:cNvPr id="33" name="Image 12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4" y="9060"/>
              <a:ext cx="17232" cy="24"/>
            </a:xfrm>
            <a:prstGeom prst="rect">
              <a:avLst/>
            </a:prstGeom>
          </p:spPr>
        </p:pic>
        <p:sp>
          <p:nvSpPr>
            <p:cNvPr id="34" name="Text 19"/>
            <p:cNvSpPr/>
            <p:nvPr/>
          </p:nvSpPr>
          <p:spPr>
            <a:xfrm>
              <a:off x="1272" y="9264"/>
              <a:ext cx="830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635F4B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d)</a:t>
              </a:r>
              <a:endParaRPr lang="en-US" sz="1680" dirty="0"/>
            </a:p>
          </p:txBody>
        </p:sp>
        <p:sp>
          <p:nvSpPr>
            <p:cNvPr id="35" name="Text 20"/>
            <p:cNvSpPr/>
            <p:nvPr/>
          </p:nvSpPr>
          <p:spPr>
            <a:xfrm>
              <a:off x="2640" y="9264"/>
              <a:ext cx="28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b="1" dirty="0">
                  <a:solidFill>
                    <a:srgbClr val="272511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多因素认证</a:t>
              </a:r>
              <a:endParaRPr lang="en-US" sz="1680" dirty="0"/>
            </a:p>
          </p:txBody>
        </p:sp>
        <p:sp>
          <p:nvSpPr>
            <p:cNvPr id="36" name="Text 21"/>
            <p:cNvSpPr/>
            <p:nvPr/>
          </p:nvSpPr>
          <p:spPr>
            <a:xfrm>
              <a:off x="6096" y="9326"/>
              <a:ext cx="7214" cy="8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采用口令、密码技术、生物技术等组合（三级及以上）</a:t>
              </a:r>
              <a:endParaRPr lang="en-US" sz="1680" dirty="0"/>
            </a:p>
          </p:txBody>
        </p:sp>
        <p:sp>
          <p:nvSpPr>
            <p:cNvPr id="37" name="Text 22"/>
            <p:cNvSpPr/>
            <p:nvPr/>
          </p:nvSpPr>
          <p:spPr>
            <a:xfrm>
              <a:off x="13848" y="9264"/>
              <a:ext cx="4094" cy="93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80" dirty="0">
                  <a:solidFill>
                    <a:srgbClr val="635F4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查看认证配置</a:t>
              </a:r>
              <a:endParaRPr lang="en-US" sz="168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①——口令复杂度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25880"/>
            <a:ext cx="9144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22960" y="1219200"/>
            <a:ext cx="49164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37331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检查项a：密码复杂度与更换周期</a:t>
            </a:r>
            <a:endParaRPr lang="en-US" sz="2640" dirty="0"/>
          </a:p>
        </p:txBody>
      </p:sp>
      <p:pic>
        <p:nvPicPr>
          <p:cNvPr id="8" name="Image 4" descr="https://test.web.static.jianzeppt.com/ppt-temp-img3/fc27d17f9a463aaef26cdbd9e6bb74c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65960"/>
            <a:ext cx="3307080" cy="448754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3581400"/>
            <a:ext cx="91440" cy="914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21080" y="3459480"/>
            <a:ext cx="217322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密码最小长度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≥8位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4038600"/>
            <a:ext cx="91440" cy="914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21080" y="3916680"/>
            <a:ext cx="2706624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含大小写字母、数字、特殊字符中的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至少3类</a:t>
            </a:r>
            <a:endParaRPr lang="en-US" sz="192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4800600"/>
            <a:ext cx="91440" cy="914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21080" y="4678680"/>
            <a:ext cx="206654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密码有效期</a:t>
            </a: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≤90天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5257800"/>
            <a:ext cx="91440" cy="9144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21080" y="5135880"/>
            <a:ext cx="2097024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禁止</a:t>
            </a: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使用前5次密码</a:t>
            </a:r>
            <a:endParaRPr lang="en-US" sz="192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1981200"/>
            <a:ext cx="1356360" cy="48768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807720" y="2042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</a:t>
            </a:r>
            <a:endParaRPr lang="en-US" sz="192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84320" y="1965960"/>
            <a:ext cx="4023360" cy="450723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2834640"/>
            <a:ext cx="304800" cy="30480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373880" y="288036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1</a:t>
            </a:r>
            <a:endParaRPr lang="en-US" sz="144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9160" y="2804160"/>
            <a:ext cx="3200400" cy="80772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4846320" y="2926080"/>
            <a:ext cx="295046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"123456"</a:t>
            </a:r>
            <a:r>
              <a:rPr lang="en-US" sz="1560" b="1" dirty="0">
                <a:solidFill>
                  <a:srgbClr val="2274D9"/>
                </a:solidFill>
              </a:rPr>
              <a:t>➔ 预期：被拒绝</a:t>
            </a:r>
            <a:endParaRPr lang="en-US" sz="168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3764280"/>
            <a:ext cx="304800" cy="30480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373880" y="38100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2</a:t>
            </a:r>
            <a:endParaRPr lang="en-US" sz="144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9160" y="3733800"/>
            <a:ext cx="3200400" cy="80772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4846320" y="3724275"/>
            <a:ext cx="29504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"Password123"</a:t>
            </a:r>
            <a:r>
              <a:rPr lang="en-US" sz="1560" b="1" dirty="0">
                <a:solidFill>
                  <a:srgbClr val="2274D9"/>
                </a:solidFill>
              </a:rPr>
              <a:t>➔ 预期：被拒绝(缺特殊字符)</a:t>
            </a:r>
            <a:endParaRPr lang="en-US" sz="168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4678680"/>
            <a:ext cx="304800" cy="30480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4373880" y="47244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3</a:t>
            </a:r>
            <a:endParaRPr lang="en-US" sz="144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09160" y="4648200"/>
            <a:ext cx="3200400" cy="80772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4846320" y="4770120"/>
            <a:ext cx="29504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尝试: "P@ssw0rd123"</a:t>
            </a:r>
            <a:r>
              <a:rPr lang="en-US" sz="1560" b="1" dirty="0">
                <a:solidFill>
                  <a:srgbClr val="A3164E"/>
                </a:solidFill>
              </a:rPr>
              <a:t>➔ 预期：通过</a:t>
            </a:r>
            <a:endParaRPr lang="en-US" sz="168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2440" y="5669280"/>
            <a:ext cx="304800" cy="30480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4373880" y="571500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</a:rPr>
              <a:t>4</a:t>
            </a:r>
            <a:endParaRPr lang="en-US" sz="144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09160" y="5577840"/>
            <a:ext cx="3200400" cy="518160"/>
          </a:xfrm>
          <a:prstGeom prst="rect">
            <a:avLst/>
          </a:prstGeom>
        </p:spPr>
      </p:pic>
      <p:sp>
        <p:nvSpPr>
          <p:cNvPr id="35" name="Text 14"/>
          <p:cNvSpPr/>
          <p:nvPr/>
        </p:nvSpPr>
        <p:spPr>
          <a:xfrm>
            <a:off x="4846320" y="5699760"/>
            <a:ext cx="19293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514D37"/>
                </a:solidFill>
              </a:rPr>
              <a:t>确认密码有效期设置</a:t>
            </a:r>
            <a:endParaRPr lang="en-US" sz="168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03520" y="1981200"/>
            <a:ext cx="1600200" cy="487680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5608320" y="20421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</a:t>
            </a:r>
            <a:endParaRPr lang="en-US" sz="192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90560" y="1965960"/>
            <a:ext cx="3307080" cy="450723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329184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16"/>
          <p:cNvSpPr/>
          <p:nvPr/>
        </p:nvSpPr>
        <p:spPr>
          <a:xfrm>
            <a:off x="8625840" y="345948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1" name="Text 17"/>
          <p:cNvSpPr/>
          <p:nvPr/>
        </p:nvSpPr>
        <p:spPr>
          <a:xfrm>
            <a:off x="8839200" y="3429000"/>
            <a:ext cx="1853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密码复杂度未强制</a:t>
            </a:r>
            <a:endParaRPr lang="en-US" sz="180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409956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3" name="Text 18"/>
          <p:cNvSpPr/>
          <p:nvPr/>
        </p:nvSpPr>
        <p:spPr>
          <a:xfrm>
            <a:off x="8625840" y="426720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4" name="Text 19"/>
          <p:cNvSpPr/>
          <p:nvPr/>
        </p:nvSpPr>
        <p:spPr>
          <a:xfrm>
            <a:off x="8839200" y="4236720"/>
            <a:ext cx="1395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密码永不过期</a:t>
            </a:r>
            <a:endParaRPr lang="en-US" sz="1800" dirty="0"/>
          </a:p>
        </p:txBody>
      </p:sp>
      <p:pic>
        <p:nvPicPr>
          <p:cNvPr id="45" name="Image 2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88680" y="4907280"/>
            <a:ext cx="2910840" cy="624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6" name="Text 20"/>
          <p:cNvSpPr/>
          <p:nvPr/>
        </p:nvSpPr>
        <p:spPr>
          <a:xfrm>
            <a:off x="8625840" y="50749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2C819B"/>
                </a:solidFill>
              </a:rPr>
              <a:t>❌</a:t>
            </a:r>
            <a:endParaRPr lang="en-US" sz="1680" dirty="0"/>
          </a:p>
        </p:txBody>
      </p:sp>
      <p:sp>
        <p:nvSpPr>
          <p:cNvPr id="47" name="Text 21"/>
          <p:cNvSpPr/>
          <p:nvPr/>
        </p:nvSpPr>
        <p:spPr>
          <a:xfrm>
            <a:off x="8839200" y="504444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未禁止重复使用旧密码</a:t>
            </a:r>
            <a:endParaRPr lang="en-US" sz="180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10226040" y="1981200"/>
            <a:ext cx="1356360" cy="487680"/>
            <a:chOff x="15816" y="2832"/>
            <a:chExt cx="2136" cy="768"/>
          </a:xfrm>
        </p:grpSpPr>
        <p:pic>
          <p:nvPicPr>
            <p:cNvPr id="48" name="Image 24" descr="preencoded.png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816" y="2832"/>
              <a:ext cx="2136" cy="76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49" name="Text 22"/>
            <p:cNvSpPr/>
            <p:nvPr/>
          </p:nvSpPr>
          <p:spPr>
            <a:xfrm>
              <a:off x="16104" y="2928"/>
              <a:ext cx="1574" cy="5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92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 dirty="0"/>
            </a:p>
          </p:txBody>
        </p:sp>
      </p:grpSp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6860" y="65913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29" imgW="971550" imgH="666750" progId="Word.Document.12">
                  <p:embed/>
                </p:oleObj>
              </mc:Choice>
              <mc:Fallback>
                <p:oleObj name="" showAsIcon="1" r:id="rId29" imgW="971550" imgH="666750" progId="Word.Document.12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436860" y="65913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②——登录失败与会话超时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3261360" cy="12801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284378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检查项b：登录失败处理</a:t>
            </a:r>
            <a:endParaRPr lang="en-US" sz="2400" dirty="0"/>
          </a:p>
        </p:txBody>
      </p:sp>
      <p:pic>
        <p:nvPicPr>
          <p:cNvPr id="8" name="Image 4" descr="https://test.web.static.jianzeppt.com/ppt-temp-img3/189cf43180bb52ef911b42f46728675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34640"/>
            <a:ext cx="3261360" cy="371856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3093720"/>
            <a:ext cx="426720" cy="42672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4880" y="318516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402080" y="30784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合格标准：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53440" y="368808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3" name="Text 4"/>
          <p:cNvSpPr/>
          <p:nvPr/>
        </p:nvSpPr>
        <p:spPr>
          <a:xfrm>
            <a:off x="1219200" y="3611880"/>
            <a:ext cx="241706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连续失败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5次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锁定（或限制）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853440" y="454152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5" name="Text 6"/>
          <p:cNvSpPr/>
          <p:nvPr/>
        </p:nvSpPr>
        <p:spPr>
          <a:xfrm>
            <a:off x="1219200" y="4465320"/>
            <a:ext cx="2417064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锁定时间≥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15分钟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（或需解锁）</a:t>
            </a:r>
            <a:endParaRPr lang="en-US" sz="1920" dirty="0"/>
          </a:p>
        </p:txBody>
      </p:sp>
      <p:sp>
        <p:nvSpPr>
          <p:cNvPr id="16" name="Text 7"/>
          <p:cNvSpPr/>
          <p:nvPr/>
        </p:nvSpPr>
        <p:spPr>
          <a:xfrm>
            <a:off x="853440" y="550164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•</a:t>
            </a:r>
            <a:endParaRPr lang="en-US" sz="1920" dirty="0"/>
          </a:p>
        </p:txBody>
      </p:sp>
      <p:sp>
        <p:nvSpPr>
          <p:cNvPr id="17" name="Text 8"/>
          <p:cNvSpPr/>
          <p:nvPr/>
        </p:nvSpPr>
        <p:spPr>
          <a:xfrm>
            <a:off x="1219200" y="5425440"/>
            <a:ext cx="2417064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空闲超时≤</a:t>
            </a: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15分钟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自动退出</a:t>
            </a:r>
            <a:endParaRPr lang="en-US" sz="192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99560" y="1371600"/>
            <a:ext cx="4069080" cy="5106670"/>
          </a:xfrm>
          <a:prstGeom prst="rect">
            <a:avLst/>
          </a:prstGeom>
          <a:effectLst>
            <a:outerShdw blurRad="1548384000" dist="387096000" dir="-1" algn="bl" rotWithShape="0">
              <a:srgbClr val="D95C22">
                <a:alpha val="800000000"/>
              </a:srgbClr>
            </a:outerShdw>
          </a:effectLst>
        </p:spPr>
      </p:pic>
      <p:pic>
        <p:nvPicPr>
          <p:cNvPr id="19" name="Image 8" descr="https://test.web.static.jianzeppt.com/ppt-temp-img3/f3cd619c0fcfc9faf6c26d4e8bc4fe8a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8640" y="1645920"/>
            <a:ext cx="426720" cy="42672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1737360"/>
            <a:ext cx="243840" cy="2438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907280" y="16306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验证方法：</a:t>
            </a:r>
            <a:endParaRPr lang="en-US" sz="24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8640" y="2636520"/>
            <a:ext cx="3550920" cy="59436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511040" y="2788920"/>
            <a:ext cx="325526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步骤：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连续输入错误密码5次</a:t>
            </a:r>
            <a:endParaRPr lang="en-US" sz="18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58640" y="3352800"/>
            <a:ext cx="3550920" cy="88392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4511040" y="3505200"/>
            <a:ext cx="3255264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账户锁定或提示15分钟后重试</a:t>
            </a:r>
            <a:endParaRPr lang="en-US" sz="18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8640" y="4343400"/>
            <a:ext cx="3550920" cy="59436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4511040" y="4495800"/>
            <a:ext cx="325526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锁定再试：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预期被拒绝</a:t>
            </a:r>
            <a:endParaRPr lang="en-US" sz="18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58640" y="5059680"/>
            <a:ext cx="3550920" cy="88392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4511040" y="5212080"/>
            <a:ext cx="3255264" cy="2895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闲置15分：</a:t>
            </a:r>
            <a:r>
              <a:rPr lang="en-US" sz="180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预期自动退出需重认</a:t>
            </a:r>
            <a:endParaRPr lang="en-US" sz="18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12480" y="1371600"/>
            <a:ext cx="3185160" cy="510667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1560" y="1645920"/>
            <a:ext cx="426720" cy="426720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63000" y="1737360"/>
            <a:ext cx="243840" cy="243840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9220200" y="16306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常见问题：</a:t>
            </a:r>
            <a:endParaRPr lang="en-US" sz="2400" dirty="0"/>
          </a:p>
        </p:txBody>
      </p:sp>
      <p:sp>
        <p:nvSpPr>
          <p:cNvPr id="34" name="Text 15"/>
          <p:cNvSpPr/>
          <p:nvPr/>
        </p:nvSpPr>
        <p:spPr>
          <a:xfrm>
            <a:off x="8671560" y="230124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5" name="Text 16"/>
          <p:cNvSpPr/>
          <p:nvPr/>
        </p:nvSpPr>
        <p:spPr>
          <a:xfrm>
            <a:off x="8976360" y="227076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无失败次数限制</a:t>
            </a:r>
            <a:endParaRPr lang="en-US" sz="1800" dirty="0"/>
          </a:p>
        </p:txBody>
      </p:sp>
      <p:sp>
        <p:nvSpPr>
          <p:cNvPr id="36" name="Text 17"/>
          <p:cNvSpPr/>
          <p:nvPr/>
        </p:nvSpPr>
        <p:spPr>
          <a:xfrm>
            <a:off x="8671560" y="280416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7" name="Text 18"/>
          <p:cNvSpPr/>
          <p:nvPr/>
        </p:nvSpPr>
        <p:spPr>
          <a:xfrm>
            <a:off x="8976360" y="2773680"/>
            <a:ext cx="1624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无空闲超时退出</a:t>
            </a:r>
            <a:endParaRPr lang="en-US" sz="1800" dirty="0"/>
          </a:p>
        </p:txBody>
      </p:sp>
      <p:sp>
        <p:nvSpPr>
          <p:cNvPr id="38" name="Text 19"/>
          <p:cNvSpPr/>
          <p:nvPr/>
        </p:nvSpPr>
        <p:spPr>
          <a:xfrm>
            <a:off x="8671560" y="3322320"/>
            <a:ext cx="3063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2A7B9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❌</a:t>
            </a:r>
            <a:endParaRPr lang="en-US" sz="1680" dirty="0"/>
          </a:p>
        </p:txBody>
      </p:sp>
      <p:sp>
        <p:nvSpPr>
          <p:cNvPr id="39" name="Text 20"/>
          <p:cNvSpPr/>
          <p:nvPr/>
        </p:nvSpPr>
        <p:spPr>
          <a:xfrm>
            <a:off x="8976360" y="3291840"/>
            <a:ext cx="1853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锁定后立即可重试</a:t>
            </a:r>
            <a:endParaRPr lang="en-US" sz="1800" dirty="0"/>
          </a:p>
        </p:txBody>
      </p:sp>
      <p:pic>
        <p:nvPicPr>
          <p:cNvPr id="40" name="Image 17" descr="https://test.web.static.jianzeppt.com/ppt-temp-img3/190cae19b2f975cb46be46376e9d9e14.png"/>
          <p:cNvPicPr>
            <a:picLocks noChangeAspect="1"/>
          </p:cNvPicPr>
          <p:nvPr/>
        </p:nvPicPr>
        <p:blipFill>
          <a:blip r:embed="rId26">
            <a:alphaModFix amt="80000"/>
          </a:blip>
          <a:stretch>
            <a:fillRect/>
          </a:stretch>
        </p:blipFill>
        <p:spPr>
          <a:xfrm>
            <a:off x="8671560" y="5227320"/>
            <a:ext cx="2667000" cy="1066800"/>
          </a:xfrm>
          <a:prstGeom prst="rect">
            <a:avLst/>
          </a:prstGeom>
        </p:spPr>
      </p:pic>
      <p:pic>
        <p:nvPicPr>
          <p:cNvPr id="41" name="Image 18" descr="https://test.web.static.jianzeppt.com/ppt-temp-img3/0fd770652d3965fa47cc20515dbdf6ed.png?x-oss-process=image/resize,w_1440,h_800,m_lfit/format,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65921" y="5074920"/>
            <a:ext cx="2657551" cy="15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身份鉴别怎么验 ③——远程管理是否加密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143000"/>
            <a:ext cx="3544824" cy="4800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2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检查项c：远程管理安全</a:t>
            </a:r>
            <a:endParaRPr lang="en-US" sz="2520" dirty="0"/>
          </a:p>
        </p:txBody>
      </p:sp>
      <p:pic>
        <p:nvPicPr>
          <p:cNvPr id="7" name="Image 3" descr="https://test.web.static.jianzeppt.com/ppt-temp-img3/3da65aec027b82a06dbb2dfd0df189e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76400"/>
            <a:ext cx="3550920" cy="316992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1935480"/>
            <a:ext cx="487680" cy="4876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7720" y="2057400"/>
            <a:ext cx="243840" cy="2438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91540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8305800" y="248920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8671560" y="256000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仅支持HTTP，未启用HTTPS</a:t>
            </a:r>
            <a:endParaRPr lang="en-US" sz="1920" dirty="0"/>
          </a:p>
        </p:txBody>
      </p:sp>
      <p:sp>
        <p:nvSpPr>
          <p:cNvPr id="13" name="Text 5"/>
          <p:cNvSpPr/>
          <p:nvPr/>
        </p:nvSpPr>
        <p:spPr>
          <a:xfrm>
            <a:off x="8305800" y="328168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4" name="Text 6"/>
          <p:cNvSpPr/>
          <p:nvPr/>
        </p:nvSpPr>
        <p:spPr>
          <a:xfrm>
            <a:off x="8671560" y="335248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HTTPS未强制（可降级为HTTP）</a:t>
            </a:r>
            <a:endParaRPr lang="en-US" sz="1920" dirty="0"/>
          </a:p>
        </p:txBody>
      </p:sp>
      <p:sp>
        <p:nvSpPr>
          <p:cNvPr id="15" name="Text 7"/>
          <p:cNvSpPr/>
          <p:nvPr/>
        </p:nvSpPr>
        <p:spPr>
          <a:xfrm>
            <a:off x="8305800" y="4074160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1920" dirty="0"/>
          </a:p>
        </p:txBody>
      </p:sp>
      <p:sp>
        <p:nvSpPr>
          <p:cNvPr id="16" name="Text 8"/>
          <p:cNvSpPr/>
          <p:nvPr/>
        </p:nvSpPr>
        <p:spPr>
          <a:xfrm>
            <a:off x="8671560" y="4144963"/>
            <a:ext cx="26761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自签名证书（浏览器提示不安全）</a:t>
            </a:r>
            <a:endParaRPr lang="en-US" sz="1920" dirty="0"/>
          </a:p>
        </p:txBody>
      </p:sp>
      <p:pic>
        <p:nvPicPr>
          <p:cNvPr id="17" name="Image 6" descr="https://test.web.static.jianzeppt.com/ppt-temp-img3/fec60f1f4233773a6a0d2c8666b63b2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676400"/>
            <a:ext cx="3474720" cy="487680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935480"/>
            <a:ext cx="487680" cy="48768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2057400"/>
            <a:ext cx="243840" cy="2438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47828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合格标准</a:t>
            </a:r>
            <a:endParaRPr lang="en-US" sz="2400" dirty="0"/>
          </a:p>
        </p:txBody>
      </p:sp>
      <p:sp>
        <p:nvSpPr>
          <p:cNvPr id="21" name="Text 10"/>
          <p:cNvSpPr/>
          <p:nvPr/>
        </p:nvSpPr>
        <p:spPr>
          <a:xfrm>
            <a:off x="868680" y="266700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22" name="Text 11"/>
          <p:cNvSpPr/>
          <p:nvPr/>
        </p:nvSpPr>
        <p:spPr>
          <a:xfrm>
            <a:off x="1234440" y="2606040"/>
            <a:ext cx="259994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远程管理应采用加密协议（HTTPS、SSH等）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868680" y="352044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24" name="Text 13"/>
          <p:cNvSpPr/>
          <p:nvPr/>
        </p:nvSpPr>
        <p:spPr>
          <a:xfrm>
            <a:off x="1234440" y="3459480"/>
            <a:ext cx="2599944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不应使用明文传输协议（HTTP、Telnet、FTP等）</a:t>
            </a:r>
            <a:endParaRPr lang="en-US" sz="1920" dirty="0"/>
          </a:p>
        </p:txBody>
      </p:sp>
      <p:pic>
        <p:nvPicPr>
          <p:cNvPr id="25" name="Image 9" descr="https://test.web.static.jianzeppt.com/ppt-temp-img3/fec60f1f4233773a6a0d2c8666b63b25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8160" y="1676400"/>
            <a:ext cx="3474720" cy="487680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7240" y="1935480"/>
            <a:ext cx="487680" cy="487680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09160" y="2057400"/>
            <a:ext cx="243840" cy="24384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196840" y="195072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</a:t>
            </a:r>
            <a:endParaRPr lang="en-US" sz="2400" dirty="0"/>
          </a:p>
        </p:txBody>
      </p:sp>
      <p:sp>
        <p:nvSpPr>
          <p:cNvPr id="29" name="Text 15"/>
          <p:cNvSpPr/>
          <p:nvPr/>
        </p:nvSpPr>
        <p:spPr>
          <a:xfrm>
            <a:off x="4587240" y="256476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0" name="Text 16"/>
          <p:cNvSpPr/>
          <p:nvPr/>
        </p:nvSpPr>
        <p:spPr>
          <a:xfrm>
            <a:off x="4953000" y="2610168"/>
            <a:ext cx="2599944" cy="8845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查看应用系统的访问协议（地址栏是否为https://）</a:t>
            </a:r>
            <a:endParaRPr lang="en-US" sz="1920" dirty="0"/>
          </a:p>
        </p:txBody>
      </p:sp>
      <p:sp>
        <p:nvSpPr>
          <p:cNvPr id="31" name="Text 17"/>
          <p:cNvSpPr/>
          <p:nvPr/>
        </p:nvSpPr>
        <p:spPr>
          <a:xfrm>
            <a:off x="4587240" y="378396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2" name="Text 18"/>
          <p:cNvSpPr/>
          <p:nvPr/>
        </p:nvSpPr>
        <p:spPr>
          <a:xfrm>
            <a:off x="4953000" y="3793808"/>
            <a:ext cx="2599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如果支持HTTP，查看是否自动跳转到HTTPS</a:t>
            </a:r>
            <a:endParaRPr lang="en-US" sz="1920" dirty="0"/>
          </a:p>
        </p:txBody>
      </p:sp>
      <p:sp>
        <p:nvSpPr>
          <p:cNvPr id="33" name="Text 19"/>
          <p:cNvSpPr/>
          <p:nvPr/>
        </p:nvSpPr>
        <p:spPr>
          <a:xfrm>
            <a:off x="4587240" y="463740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4" name="Text 20"/>
          <p:cNvSpPr/>
          <p:nvPr/>
        </p:nvSpPr>
        <p:spPr>
          <a:xfrm>
            <a:off x="4953000" y="4682808"/>
            <a:ext cx="2599944" cy="8845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使用抓包工具（如Wireshark）验证数据是否加密</a:t>
            </a:r>
            <a:endParaRPr lang="en-US" sz="1920" dirty="0"/>
          </a:p>
        </p:txBody>
      </p:sp>
      <p:sp>
        <p:nvSpPr>
          <p:cNvPr id="35" name="Text 21"/>
          <p:cNvSpPr/>
          <p:nvPr/>
        </p:nvSpPr>
        <p:spPr>
          <a:xfrm>
            <a:off x="4587240" y="5856605"/>
            <a:ext cx="24511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·</a:t>
            </a:r>
            <a:endParaRPr lang="en-US" sz="1920" dirty="0"/>
          </a:p>
        </p:txBody>
      </p:sp>
      <p:sp>
        <p:nvSpPr>
          <p:cNvPr id="36" name="Text 22"/>
          <p:cNvSpPr/>
          <p:nvPr/>
        </p:nvSpPr>
        <p:spPr>
          <a:xfrm>
            <a:off x="4953000" y="5866448"/>
            <a:ext cx="259994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检查是否部署了有效的数字证书</a:t>
            </a:r>
            <a:endParaRPr lang="en-US" sz="192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46720" y="5029200"/>
            <a:ext cx="3550920" cy="140652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8" name="Image 13" descr="https://test.web.static.jianzeppt.com/ppt-temp-img3/fab767110b2b408c94ca053997bd86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83880" y="5107940"/>
            <a:ext cx="327660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访问控制测评——核心检查项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1582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1055522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访问控制的目标是：</a:t>
            </a:r>
            <a:r>
              <a:rPr lang="en-US" sz="216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验证“你能做什么”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853440" y="2026920"/>
            <a:ext cx="10555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 8.1.4.2 访问控制要求：</a:t>
            </a:r>
            <a:endParaRPr lang="en-US" sz="16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09600" y="2642235"/>
          <a:ext cx="10972800" cy="3779520"/>
        </p:xfrm>
        <a:graphic>
          <a:graphicData uri="http://schemas.openxmlformats.org/drawingml/2006/table">
            <a:tbl>
              <a:tblPr/>
              <a:tblGrid>
                <a:gridCol w="702015"/>
                <a:gridCol w="1205634"/>
                <a:gridCol w="6867538"/>
                <a:gridCol w="2197612"/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内容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a)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账户分配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登录用户应分配账户和权限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查看用户权限配置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b)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默认账户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应重命名或删除默认账户，修改默认口令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查看默认账户状态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c)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过期账户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及时删除或停用多余的、过期的账户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查看账户列表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d)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最小权限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授予管理用户所需的最小权限，实现管理用户的权限分离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查看权限分配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e)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授权主体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应由授权主体配置访问控制策略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查看权限管理流程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f)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粒度控制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访问控制粒度应达到用户级/进程级，客体为文件/数据库表级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g)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安全标记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应对重要主体和客体设置安全标记（三级及以上）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查看标记配置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访问控制验证——两种越权漏洞</a:t>
            </a:r>
            <a:endParaRPr lang="en-US" sz="2760" dirty="0"/>
          </a:p>
        </p:txBody>
      </p:sp>
      <p:pic>
        <p:nvPicPr>
          <p:cNvPr id="6" name="Image 3" descr="https://test.web.static.jianzeppt.com/ppt-temp-img3/f8f0e1d72d65333e4d7cb504fa1ac823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609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493520"/>
            <a:ext cx="4901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越权漏洞是应用系统最严重的安全问题之一。</a:t>
            </a:r>
            <a:endParaRPr lang="en-US" sz="192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164080"/>
            <a:ext cx="5334000" cy="4328160"/>
          </a:xfrm>
          <a:prstGeom prst="rect">
            <a:avLst/>
          </a:prstGeom>
        </p:spPr>
      </p:pic>
      <p:pic>
        <p:nvPicPr>
          <p:cNvPr id="9" name="Image 5" descr="https://test.web.static.jianzeppt.com/ppt-temp-img3/3cc882572e85e52ff163eef3f4c9280f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179320"/>
            <a:ext cx="5303520" cy="9906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07720" y="2331720"/>
            <a:ext cx="494690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垂直越权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807720" y="2743200"/>
            <a:ext cx="4946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(Vertical Privilege Escalation)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807720" y="333756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低权限用户获取高权限操作</a:t>
            </a:r>
            <a:endParaRPr lang="en-US" sz="1680" dirty="0"/>
          </a:p>
        </p:txBody>
      </p:sp>
      <p:sp>
        <p:nvSpPr>
          <p:cNvPr id="13" name="Text 5"/>
          <p:cNvSpPr/>
          <p:nvPr/>
        </p:nvSpPr>
        <p:spPr>
          <a:xfrm>
            <a:off x="807720" y="377952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普通用户访问管理员后台</a:t>
            </a:r>
            <a:endParaRPr lang="en-US" sz="1680" dirty="0"/>
          </a:p>
        </p:txBody>
      </p:sp>
      <p:sp>
        <p:nvSpPr>
          <p:cNvPr id="14" name="Text 6"/>
          <p:cNvSpPr/>
          <p:nvPr/>
        </p:nvSpPr>
        <p:spPr>
          <a:xfrm>
            <a:off x="807720" y="42367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测试：</a:t>
            </a:r>
            <a:endParaRPr lang="en-US" sz="1680" dirty="0"/>
          </a:p>
        </p:txBody>
      </p:sp>
      <p:sp>
        <p:nvSpPr>
          <p:cNvPr id="15" name="Text 7"/>
          <p:cNvSpPr/>
          <p:nvPr/>
        </p:nvSpPr>
        <p:spPr>
          <a:xfrm>
            <a:off x="1783080" y="423672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普通用户登录</a:t>
            </a:r>
            <a:endParaRPr lang="en-US" sz="1680" dirty="0"/>
          </a:p>
        </p:txBody>
      </p:sp>
      <p:sp>
        <p:nvSpPr>
          <p:cNvPr id="16" name="Text 8"/>
          <p:cNvSpPr/>
          <p:nvPr/>
        </p:nvSpPr>
        <p:spPr>
          <a:xfrm>
            <a:off x="1783080" y="455676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尝试访问/admin</a:t>
            </a:r>
            <a:endParaRPr lang="en-US" sz="1680" dirty="0"/>
          </a:p>
        </p:txBody>
      </p:sp>
      <p:sp>
        <p:nvSpPr>
          <p:cNvPr id="17" name="Text 9"/>
          <p:cNvSpPr/>
          <p:nvPr/>
        </p:nvSpPr>
        <p:spPr>
          <a:xfrm>
            <a:off x="1783080" y="489204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预期：被拒绝</a:t>
            </a:r>
            <a:endParaRPr lang="en-US" sz="168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720" y="5714365"/>
            <a:ext cx="4937760" cy="655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29640" y="586740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风险：</a:t>
            </a:r>
            <a:endParaRPr lang="en-US" sz="1680" dirty="0"/>
          </a:p>
        </p:txBody>
      </p:sp>
      <p:sp>
        <p:nvSpPr>
          <p:cNvPr id="20" name="Text 11"/>
          <p:cNvSpPr/>
          <p:nvPr/>
        </p:nvSpPr>
        <p:spPr>
          <a:xfrm>
            <a:off x="1905000" y="5821680"/>
            <a:ext cx="999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🔴 高危</a:t>
            </a:r>
            <a:endParaRPr lang="en-US" sz="216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2164080"/>
            <a:ext cx="5334000" cy="4314190"/>
          </a:xfrm>
          <a:prstGeom prst="rect">
            <a:avLst/>
          </a:prstGeom>
        </p:spPr>
      </p:pic>
      <p:pic>
        <p:nvPicPr>
          <p:cNvPr id="22" name="Image 8" descr="https://test.web.static.jianzeppt.com/ppt-temp-img3/5a7de79c58d4cc8955e5fb65f70a42c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179320"/>
            <a:ext cx="5303520" cy="990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446520" y="2331720"/>
            <a:ext cx="494690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水平越权</a:t>
            </a:r>
            <a:endParaRPr lang="en-US" sz="2400" dirty="0"/>
          </a:p>
        </p:txBody>
      </p:sp>
      <p:sp>
        <p:nvSpPr>
          <p:cNvPr id="24" name="Text 13"/>
          <p:cNvSpPr/>
          <p:nvPr/>
        </p:nvSpPr>
        <p:spPr>
          <a:xfrm>
            <a:off x="6446520" y="2743200"/>
            <a:ext cx="4946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dirty="0">
                <a:solidFill>
                  <a:srgbClr val="FFFFFF">
                    <a:alpha val="8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(Horizontal Privilege Escalation)</a:t>
            </a:r>
            <a:endParaRPr lang="en-US" sz="1440" dirty="0"/>
          </a:p>
        </p:txBody>
      </p:sp>
      <p:sp>
        <p:nvSpPr>
          <p:cNvPr id="25" name="Text 14"/>
          <p:cNvSpPr/>
          <p:nvPr/>
        </p:nvSpPr>
        <p:spPr>
          <a:xfrm>
            <a:off x="6446520" y="333756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定义：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访问其他同级用户的数据</a:t>
            </a:r>
            <a:endParaRPr lang="en-US" sz="1680" dirty="0"/>
          </a:p>
        </p:txBody>
      </p:sp>
      <p:sp>
        <p:nvSpPr>
          <p:cNvPr id="26" name="Text 15"/>
          <p:cNvSpPr/>
          <p:nvPr/>
        </p:nvSpPr>
        <p:spPr>
          <a:xfrm>
            <a:off x="6446520" y="3779520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示例：</a:t>
            </a: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用户A修改ID查看用户B订单</a:t>
            </a:r>
            <a:endParaRPr lang="en-US" sz="1680" dirty="0"/>
          </a:p>
        </p:txBody>
      </p:sp>
      <p:sp>
        <p:nvSpPr>
          <p:cNvPr id="27" name="Text 16"/>
          <p:cNvSpPr/>
          <p:nvPr/>
        </p:nvSpPr>
        <p:spPr>
          <a:xfrm>
            <a:off x="6446520" y="42367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测试：</a:t>
            </a:r>
            <a:endParaRPr lang="en-US" sz="1680" dirty="0"/>
          </a:p>
        </p:txBody>
      </p:sp>
      <p:sp>
        <p:nvSpPr>
          <p:cNvPr id="28" name="Text 17"/>
          <p:cNvSpPr/>
          <p:nvPr/>
        </p:nvSpPr>
        <p:spPr>
          <a:xfrm>
            <a:off x="7421880" y="423672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 用户A登录</a:t>
            </a:r>
            <a:endParaRPr lang="en-US" sz="1680" dirty="0"/>
          </a:p>
        </p:txBody>
      </p:sp>
      <p:sp>
        <p:nvSpPr>
          <p:cNvPr id="29" name="Text 18"/>
          <p:cNvSpPr/>
          <p:nvPr/>
        </p:nvSpPr>
        <p:spPr>
          <a:xfrm>
            <a:off x="7421880" y="455676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 修改资源ID参数</a:t>
            </a:r>
            <a:endParaRPr lang="en-US" sz="1680" dirty="0"/>
          </a:p>
        </p:txBody>
      </p:sp>
      <p:sp>
        <p:nvSpPr>
          <p:cNvPr id="30" name="Text 19"/>
          <p:cNvSpPr/>
          <p:nvPr/>
        </p:nvSpPr>
        <p:spPr>
          <a:xfrm>
            <a:off x="7421880" y="4892040"/>
            <a:ext cx="3971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 预期：无法查看</a:t>
            </a:r>
            <a:endParaRPr lang="en-US" sz="168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6520" y="5699760"/>
            <a:ext cx="4937760" cy="655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568440" y="586740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风险：</a:t>
            </a:r>
            <a:endParaRPr lang="en-US" sz="1680" dirty="0"/>
          </a:p>
        </p:txBody>
      </p:sp>
      <p:sp>
        <p:nvSpPr>
          <p:cNvPr id="33" name="Text 21"/>
          <p:cNvSpPr/>
          <p:nvPr/>
        </p:nvSpPr>
        <p:spPr>
          <a:xfrm>
            <a:off x="7543800" y="5821680"/>
            <a:ext cx="999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🔴 高危</a:t>
            </a:r>
            <a:endParaRPr lang="en-US" sz="2160" dirty="0"/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10445" y="49784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10" imgW="971550" imgH="800100" progId="Word.Document.12">
                  <p:embed/>
                </p:oleObj>
              </mc:Choice>
              <mc:Fallback>
                <p:oleObj name="" showAsIcon="1" r:id="rId10" imgW="971550" imgH="80010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10445" y="49784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安全审计测评——核心检查项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655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55448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6360" y="1508760"/>
            <a:ext cx="549554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安全审计的目标是：记录“你做了什么”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670560" y="2209800"/>
            <a:ext cx="10920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807E6B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8.1.4.3 安全审计要求：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2651760"/>
            <a:ext cx="10972800" cy="3845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1" name="Image 6" descr="https://test.web.static.jianzeppt.com/ppt-temp-img3/1d93eeff88baedd81a0807298aee4e30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667000"/>
            <a:ext cx="10942320" cy="6096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68680" y="278892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920" dirty="0"/>
          </a:p>
        </p:txBody>
      </p:sp>
      <p:sp>
        <p:nvSpPr>
          <p:cNvPr id="13" name="Text 4"/>
          <p:cNvSpPr/>
          <p:nvPr/>
        </p:nvSpPr>
        <p:spPr>
          <a:xfrm>
            <a:off x="1965960" y="27889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4145280" y="2788920"/>
            <a:ext cx="7187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内容</a:t>
            </a:r>
            <a:endParaRPr lang="en-US" sz="192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3276600"/>
            <a:ext cx="10942320" cy="3032760"/>
          </a:xfrm>
          <a:prstGeom prst="rect">
            <a:avLst/>
          </a:prstGeom>
        </p:spPr>
      </p:pic>
      <p:pic>
        <p:nvPicPr>
          <p:cNvPr id="16" name="Image 8" descr="https://test.web.static.jianzeppt.com/ppt-temp-img3/b0f31d3e1cd53ac65ce6a044138f3ffc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3276600"/>
            <a:ext cx="10942320" cy="9906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68680" y="3429000"/>
            <a:ext cx="61874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a)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1965960" y="3429000"/>
            <a:ext cx="171602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审计启用</a:t>
            </a:r>
            <a:endParaRPr lang="en-US" sz="1920" dirty="0"/>
          </a:p>
        </p:txBody>
      </p:sp>
      <p:sp>
        <p:nvSpPr>
          <p:cNvPr id="19" name="Text 8"/>
          <p:cNvSpPr/>
          <p:nvPr/>
        </p:nvSpPr>
        <p:spPr>
          <a:xfrm>
            <a:off x="4145280" y="3429000"/>
            <a:ext cx="71871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应启用安全审计功能，审计覆盖到每个用户，对重要的行为和事件进行审计</a:t>
            </a:r>
            <a:endParaRPr lang="en-US" sz="192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259580"/>
            <a:ext cx="10942320" cy="15240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4267200"/>
            <a:ext cx="10942320" cy="6858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68680" y="44196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b)</a:t>
            </a:r>
            <a:endParaRPr lang="en-US" sz="1920" dirty="0"/>
          </a:p>
        </p:txBody>
      </p:sp>
      <p:sp>
        <p:nvSpPr>
          <p:cNvPr id="23" name="Text 10"/>
          <p:cNvSpPr/>
          <p:nvPr/>
        </p:nvSpPr>
        <p:spPr>
          <a:xfrm>
            <a:off x="1965960" y="44196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审计内容</a:t>
            </a:r>
            <a:endParaRPr lang="en-US" sz="1920" dirty="0"/>
          </a:p>
        </p:txBody>
      </p:sp>
      <p:sp>
        <p:nvSpPr>
          <p:cNvPr id="24" name="Text 11"/>
          <p:cNvSpPr/>
          <p:nvPr/>
        </p:nvSpPr>
        <p:spPr>
          <a:xfrm>
            <a:off x="4145280" y="44196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记录应包括日期时间、用户、事件类型、是否成功及其他相关信息</a:t>
            </a:r>
            <a:endParaRPr lang="en-US" sz="192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945380"/>
            <a:ext cx="10942320" cy="15240"/>
          </a:xfrm>
          <a:prstGeom prst="rect">
            <a:avLst/>
          </a:prstGeom>
        </p:spPr>
      </p:pic>
      <p:pic>
        <p:nvPicPr>
          <p:cNvPr id="26" name="Image 12" descr="https://test.web.static.jianzeppt.com/ppt-temp-img3/d054b983e8a0b32468812a66ba64b286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" y="4953000"/>
            <a:ext cx="10942320" cy="6858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68680" y="51054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c)</a:t>
            </a:r>
            <a:endParaRPr lang="en-US" sz="1920" dirty="0"/>
          </a:p>
        </p:txBody>
      </p:sp>
      <p:sp>
        <p:nvSpPr>
          <p:cNvPr id="28" name="Text 13"/>
          <p:cNvSpPr/>
          <p:nvPr/>
        </p:nvSpPr>
        <p:spPr>
          <a:xfrm>
            <a:off x="1965960" y="51054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审计保护</a:t>
            </a:r>
            <a:endParaRPr lang="en-US" sz="1920" dirty="0"/>
          </a:p>
        </p:txBody>
      </p:sp>
      <p:sp>
        <p:nvSpPr>
          <p:cNvPr id="29" name="Text 14"/>
          <p:cNvSpPr/>
          <p:nvPr/>
        </p:nvSpPr>
        <p:spPr>
          <a:xfrm>
            <a:off x="4145280" y="51054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应对记录进行保护，定期备份，避免未预期的删除、修改或覆盖</a:t>
            </a:r>
            <a:endParaRPr lang="en-US" sz="192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5631180"/>
            <a:ext cx="10942320" cy="15240"/>
          </a:xfrm>
          <a:prstGeom prst="rect">
            <a:avLst/>
          </a:prstGeom>
        </p:spPr>
      </p:pic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4840" y="5638800"/>
            <a:ext cx="10942320" cy="6858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868680" y="5791200"/>
            <a:ext cx="618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331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d)</a:t>
            </a:r>
            <a:endParaRPr lang="en-US" sz="1920" dirty="0"/>
          </a:p>
        </p:txBody>
      </p:sp>
      <p:sp>
        <p:nvSpPr>
          <p:cNvPr id="33" name="Text 16"/>
          <p:cNvSpPr/>
          <p:nvPr/>
        </p:nvSpPr>
        <p:spPr>
          <a:xfrm>
            <a:off x="1965960" y="579120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进程保护</a:t>
            </a:r>
            <a:endParaRPr lang="en-US" sz="1920" dirty="0"/>
          </a:p>
        </p:txBody>
      </p:sp>
      <p:sp>
        <p:nvSpPr>
          <p:cNvPr id="34" name="Text 17"/>
          <p:cNvSpPr/>
          <p:nvPr/>
        </p:nvSpPr>
        <p:spPr>
          <a:xfrm>
            <a:off x="4145280" y="5791200"/>
            <a:ext cx="71871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514D37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应对审计进程进行保护，防止未经授权的中断（三级及以上）</a:t>
            </a:r>
            <a:endParaRPr lang="en-US" sz="1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安全审计怎么验 ⑥——日志有没有、全不全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47800"/>
            <a:ext cx="365760" cy="3657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097280" y="1371600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验证方法：</a:t>
            </a:r>
            <a:endParaRPr lang="en-US" sz="264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1996440"/>
            <a:ext cx="10972800" cy="2484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24840" y="2011680"/>
          <a:ext cx="10942320" cy="2453640"/>
        </p:xfrm>
        <a:graphic>
          <a:graphicData uri="http://schemas.openxmlformats.org/drawingml/2006/table">
            <a:tbl>
              <a:tblPr/>
              <a:tblGrid>
                <a:gridCol w="1388774"/>
                <a:gridCol w="2777548"/>
                <a:gridCol w="6775997"/>
              </a:tblGrid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测试场景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b="1" dirty="0">
                          <a:solidFill>
                            <a:srgbClr val="000000"/>
                          </a:solidFill>
                        </a:rPr>
                        <a:t>预期结果</a:t>
                      </a:r>
                      <a:endParaRPr lang="en-US" sz="143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登录审计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成功登录一次、失败登录一次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审计日志中应有两条记录，包含用户名、登录时间、来源IP、成功/失败状态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权限变更审计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管理员修改用户权限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审计日志中应有记录，包含操作人、操作时间、操作内容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重要操作审计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删除数据、修改配置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审计日志中应有记录，包含操作人、操作时间、操作内容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日志保护验证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尝试普通用户删除审计日志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0" dirty="0">
                          <a:solidFill>
                            <a:srgbClr val="000000"/>
                          </a:solidFill>
                        </a:rPr>
                        <a:t>被拒绝（仅审计管理员可操作）</a:t>
                      </a:r>
                      <a:endParaRPr lang="en-US" sz="143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4800600"/>
            <a:ext cx="365760" cy="3657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97280" y="4724400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常见问题：</a:t>
            </a:r>
            <a:endParaRPr lang="en-US" sz="2640" dirty="0"/>
          </a:p>
        </p:txBody>
      </p:sp>
      <p:pic>
        <p:nvPicPr>
          <p:cNvPr id="12" name="Image 6" descr="https://test.web.static.jianzeppt.com/ppt-temp-img3/6dc595dc9a1bac790a066ae58579434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334000"/>
            <a:ext cx="10972800" cy="12039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868680" y="547116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14" name="Text 4"/>
          <p:cNvSpPr/>
          <p:nvPr/>
        </p:nvSpPr>
        <p:spPr>
          <a:xfrm>
            <a:off x="1325880" y="5471160"/>
            <a:ext cx="19293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未启用审计功能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868680" y="574548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1325880" y="574548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审计日志不完整（缺少关键字段）</a:t>
            </a:r>
            <a:endParaRPr lang="en-US" sz="2160" dirty="0"/>
          </a:p>
        </p:txBody>
      </p:sp>
      <p:sp>
        <p:nvSpPr>
          <p:cNvPr id="17" name="Text 7"/>
          <p:cNvSpPr/>
          <p:nvPr/>
        </p:nvSpPr>
        <p:spPr>
          <a:xfrm>
            <a:off x="868680" y="6019800"/>
            <a:ext cx="3901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❌</a:t>
            </a:r>
            <a:endParaRPr lang="en-US" sz="2160" dirty="0"/>
          </a:p>
        </p:txBody>
      </p:sp>
      <p:sp>
        <p:nvSpPr>
          <p:cNvPr id="18" name="Text 8"/>
          <p:cNvSpPr/>
          <p:nvPr/>
        </p:nvSpPr>
        <p:spPr>
          <a:xfrm>
            <a:off x="1325880" y="6019800"/>
            <a:ext cx="33009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审计日志可被普通用户删除</a:t>
            </a:r>
            <a:endParaRPr lang="en-US" sz="21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Part.03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2624139" y="1940046"/>
            <a:ext cx="7167880" cy="24371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sz="5280" dirty="0">
                <a:solidFill>
                  <a:srgbClr val="FFFFFF"/>
                </a:solidFill>
              </a:rPr>
              <a:t>西普</a:t>
            </a:r>
            <a:r>
              <a:rPr lang="en-US" sz="5280" dirty="0">
                <a:solidFill>
                  <a:srgbClr val="FFFFFF"/>
                </a:solidFill>
              </a:rPr>
              <a:t>平台 WVS Web 扫描 </a:t>
            </a:r>
            <a:endParaRPr lang="en-US" sz="5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实验①做什么——本讲实验任务与清单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64920"/>
            <a:ext cx="10972800" cy="5394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82af097caa18837a8bd7a129f464e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64920"/>
            <a:ext cx="10972800" cy="8229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53440" y="1447800"/>
            <a:ext cx="17160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3048000" y="1447800"/>
            <a:ext cx="82997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说明</a:t>
            </a:r>
            <a:endParaRPr lang="en-US" sz="2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087880"/>
            <a:ext cx="10972800" cy="7467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53440" y="227076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实验名称</a:t>
            </a:r>
            <a:endParaRPr lang="en-US" sz="1920" dirty="0"/>
          </a:p>
        </p:txBody>
      </p:sp>
      <p:sp>
        <p:nvSpPr>
          <p:cNvPr id="12" name="Text 4"/>
          <p:cNvSpPr/>
          <p:nvPr/>
        </p:nvSpPr>
        <p:spPr>
          <a:xfrm>
            <a:off x="3048000" y="2270760"/>
            <a:ext cx="8299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应用系统安全功能验证（西普平台 WVS Web 扫描 + 记录表判定）</a:t>
            </a:r>
            <a:endParaRPr lang="en-US" sz="192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2828696"/>
            <a:ext cx="10972800" cy="15240"/>
          </a:xfrm>
          <a:prstGeom prst="rect">
            <a:avLst/>
          </a:prstGeom>
        </p:spPr>
      </p:pic>
      <p:pic>
        <p:nvPicPr>
          <p:cNvPr id="14" name="Image 7" descr="https://test.web.static.jianzeppt.com/ppt-temp-img3/d511bb326a1c6d93ff613249514a8a0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34640"/>
            <a:ext cx="10972800" cy="7772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53440" y="3017520"/>
            <a:ext cx="17160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实验环境</a:t>
            </a:r>
            <a:endParaRPr lang="en-US" sz="1920" dirty="0"/>
          </a:p>
        </p:txBody>
      </p:sp>
      <p:sp>
        <p:nvSpPr>
          <p:cNvPr id="16" name="Text 6"/>
          <p:cNvSpPr/>
          <p:nvPr/>
        </p:nvSpPr>
        <p:spPr>
          <a:xfrm>
            <a:off x="3048000" y="2870200"/>
            <a:ext cx="5283200" cy="7874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西普实验平台（10.11.0.70）「应用系统安全测评」实验：</a:t>
            </a:r>
            <a:endParaRPr lang="en-US" sz="160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 使用 WVS 进行 Web 扫描 / Web 应用扫描结果分析</a:t>
            </a:r>
            <a:endParaRPr lang="en-US" sz="160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599688"/>
            <a:ext cx="10972800" cy="1524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3596640"/>
            <a:ext cx="10972800" cy="233172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53440" y="3779520"/>
            <a:ext cx="1715770" cy="1965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实验清单</a:t>
            </a:r>
            <a:endParaRPr lang="en-US" sz="1920" dirty="0">
              <a:solidFill>
                <a:srgbClr val="2274D9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（W1 → W2</a:t>
            </a:r>
            <a:r>
              <a:rPr lang="zh-CN" altLang="en-US" sz="16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）</a:t>
            </a:r>
            <a:endParaRPr lang="zh-CN" altLang="en-US" sz="1600" dirty="0">
              <a:solidFill>
                <a:srgbClr val="2274D9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 按顺序做</a:t>
            </a:r>
            <a:endParaRPr lang="en-US" sz="1600" dirty="0">
              <a:solidFill>
                <a:srgbClr val="2274D9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48000" y="3825240"/>
            <a:ext cx="365760" cy="36576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3124200" y="384048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</a:t>
            </a:r>
            <a:endParaRPr lang="en-US" sz="1680" dirty="0"/>
          </a:p>
        </p:txBody>
      </p:sp>
      <p:sp>
        <p:nvSpPr>
          <p:cNvPr id="22" name="Text 9"/>
          <p:cNvSpPr/>
          <p:nvPr/>
        </p:nvSpPr>
        <p:spPr>
          <a:xfrm>
            <a:off x="3535680" y="3710940"/>
            <a:ext cx="8458200" cy="497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W1  使用 WVS 进行 Web 扫描：对平台靶站新建扫描任务，执行完整扫描并导出报告</a:t>
            </a:r>
            <a:endParaRPr lang="en-US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48000" y="432816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124200" y="434340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</a:t>
            </a:r>
            <a:endParaRPr lang="en-US" sz="1680" dirty="0"/>
          </a:p>
        </p:txBody>
      </p:sp>
      <p:sp>
        <p:nvSpPr>
          <p:cNvPr id="25" name="Text 11"/>
          <p:cNvSpPr/>
          <p:nvPr/>
        </p:nvSpPr>
        <p:spPr>
          <a:xfrm>
            <a:off x="3535680" y="4293870"/>
            <a:ext cx="8222615" cy="885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00" kern="1000" dirty="0">
                <a:solidFill>
                  <a:srgbClr val="333333"/>
                </a:solidFill>
                <a:uFillTx/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W2  Web 应用扫描结果分析：按高 / 中 / 低危分档，锁定需人工复核的缺陷（弱口令 / 注入 / 越权）</a:t>
            </a:r>
            <a:endParaRPr lang="en-US" sz="160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48000" y="5415280"/>
            <a:ext cx="365760" cy="36576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3124200" y="544576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</a:t>
            </a:r>
            <a:endParaRPr lang="en-US" sz="1680" dirty="0"/>
          </a:p>
        </p:txBody>
      </p:sp>
      <p:sp>
        <p:nvSpPr>
          <p:cNvPr id="31" name="Text 15"/>
          <p:cNvSpPr/>
          <p:nvPr/>
        </p:nvSpPr>
        <p:spPr>
          <a:xfrm>
            <a:off x="3535680" y="5478780"/>
            <a:ext cx="5588000" cy="4921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填写《应用系统安全测评记录表》：</a:t>
            </a:r>
            <a:endParaRPr lang="en-US" sz="160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indent="0" algn="l" fontAlgn="auto">
              <a:lnSpc>
                <a:spcPct val="10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身份鉴别 / 访问控制 / 安全审计逐条填实测结果 + 四档判定</a:t>
            </a:r>
            <a:endParaRPr lang="en-US" sz="1600" dirty="0">
              <a:solidFill>
                <a:srgbClr val="333333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6113374"/>
            <a:ext cx="10972800" cy="15240"/>
          </a:xfrm>
          <a:prstGeom prst="rect">
            <a:avLst/>
          </a:prstGeom>
        </p:spPr>
      </p:pic>
      <p:pic>
        <p:nvPicPr>
          <p:cNvPr id="33" name="Image 15" descr="https://test.web.static.jianzeppt.com/ppt-temp-img3/7a10bbd5850a7dbe8f5ecf4b824eb51b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6221730"/>
            <a:ext cx="10972800" cy="746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实验③交什么——成果与提交前自查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alphaModFix amt="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264920"/>
            <a:ext cx="10972800" cy="416115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582af097caa18837a8bd7a129f464e6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64920"/>
            <a:ext cx="10972800" cy="8229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92200" y="1447800"/>
            <a:ext cx="82997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要求</a:t>
            </a:r>
            <a:endParaRPr lang="en-US" sz="24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2164" t="9069"/>
          <a:stretch>
            <a:fillRect/>
          </a:stretch>
        </p:blipFill>
        <p:spPr>
          <a:xfrm>
            <a:off x="925830" y="2360295"/>
            <a:ext cx="9638030" cy="2120265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2200" y="2377440"/>
            <a:ext cx="365760" cy="365760"/>
          </a:xfrm>
          <a:prstGeom prst="rect">
            <a:avLst/>
          </a:prstGeom>
        </p:spPr>
      </p:pic>
      <p:sp>
        <p:nvSpPr>
          <p:cNvPr id="21" name="Text 8"/>
          <p:cNvSpPr/>
          <p:nvPr>
            <p:custDataLst>
              <p:tags r:id="rId13"/>
            </p:custDataLst>
          </p:nvPr>
        </p:nvSpPr>
        <p:spPr>
          <a:xfrm>
            <a:off x="1168400" y="239268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①</a:t>
            </a:r>
            <a:endParaRPr lang="en-US" sz="1680" dirty="0"/>
          </a:p>
        </p:txBody>
      </p:sp>
      <p:sp>
        <p:nvSpPr>
          <p:cNvPr id="22" name="Text 9"/>
          <p:cNvSpPr/>
          <p:nvPr>
            <p:custDataLst>
              <p:tags r:id="rId14"/>
            </p:custDataLst>
          </p:nvPr>
        </p:nvSpPr>
        <p:spPr>
          <a:xfrm>
            <a:off x="1579880" y="228600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平台登录与实验列表截图（含个人信息、实验名称、完成状态）</a:t>
            </a:r>
            <a:endParaRPr lang="en-US" sz="1920" dirty="0"/>
          </a:p>
        </p:txBody>
      </p:sp>
      <p:pic>
        <p:nvPicPr>
          <p:cNvPr id="23" name="Image 11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2200" y="288036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>
            <p:custDataLst>
              <p:tags r:id="rId16"/>
            </p:custDataLst>
          </p:nvPr>
        </p:nvSpPr>
        <p:spPr>
          <a:xfrm>
            <a:off x="1168400" y="289560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②</a:t>
            </a:r>
            <a:endParaRPr lang="en-US" sz="1680" dirty="0"/>
          </a:p>
        </p:txBody>
      </p:sp>
      <p:sp>
        <p:nvSpPr>
          <p:cNvPr id="25" name="Text 11"/>
          <p:cNvSpPr/>
          <p:nvPr>
            <p:custDataLst>
              <p:tags r:id="rId17"/>
            </p:custDataLst>
          </p:nvPr>
        </p:nvSpPr>
        <p:spPr>
          <a:xfrm>
            <a:off x="1579880" y="2788920"/>
            <a:ext cx="9144000" cy="5314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命名：班级-学号-姓名-4.4实验_记录表.docx </a:t>
            </a:r>
            <a:r>
              <a:rPr lang="zh-CN" alt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和</a:t>
            </a: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 班级-学号-姓名-4.4实验_截图.zip</a:t>
            </a:r>
            <a:endParaRPr lang="en-US" sz="1920" dirty="0"/>
          </a:p>
        </p:txBody>
      </p:sp>
      <p:pic>
        <p:nvPicPr>
          <p:cNvPr id="26" name="Image 12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2200" y="3368040"/>
            <a:ext cx="365760" cy="365760"/>
          </a:xfrm>
          <a:prstGeom prst="rect">
            <a:avLst/>
          </a:prstGeom>
        </p:spPr>
      </p:pic>
      <p:sp>
        <p:nvSpPr>
          <p:cNvPr id="27" name="Text 12"/>
          <p:cNvSpPr/>
          <p:nvPr>
            <p:custDataLst>
              <p:tags r:id="rId19"/>
            </p:custDataLst>
          </p:nvPr>
        </p:nvSpPr>
        <p:spPr>
          <a:xfrm>
            <a:off x="1168400" y="339852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③</a:t>
            </a:r>
            <a:endParaRPr lang="en-US" sz="1680" dirty="0"/>
          </a:p>
        </p:txBody>
      </p:sp>
      <p:sp>
        <p:nvSpPr>
          <p:cNvPr id="28" name="Text 13"/>
          <p:cNvSpPr/>
          <p:nvPr>
            <p:custDataLst>
              <p:tags r:id="rId20"/>
            </p:custDataLst>
          </p:nvPr>
        </p:nvSpPr>
        <p:spPr>
          <a:xfrm>
            <a:off x="1579880" y="3276600"/>
            <a:ext cx="61203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提交至学习通 → 任务 4.4 → 作业区（课内完成并提交）</a:t>
            </a:r>
            <a:endParaRPr lang="en-US" sz="1920" dirty="0"/>
          </a:p>
        </p:txBody>
      </p:sp>
      <p:pic>
        <p:nvPicPr>
          <p:cNvPr id="29" name="Image 13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2200" y="3870960"/>
            <a:ext cx="365760" cy="365760"/>
          </a:xfrm>
          <a:prstGeom prst="rect">
            <a:avLst/>
          </a:prstGeom>
        </p:spPr>
      </p:pic>
      <p:sp>
        <p:nvSpPr>
          <p:cNvPr id="30" name="Text 14"/>
          <p:cNvSpPr/>
          <p:nvPr>
            <p:custDataLst>
              <p:tags r:id="rId22"/>
            </p:custDataLst>
          </p:nvPr>
        </p:nvSpPr>
        <p:spPr>
          <a:xfrm>
            <a:off x="1168400" y="3901440"/>
            <a:ext cx="222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④</a:t>
            </a:r>
            <a:endParaRPr lang="en-US" sz="1680" dirty="0"/>
          </a:p>
        </p:txBody>
      </p:sp>
      <p:sp>
        <p:nvSpPr>
          <p:cNvPr id="31" name="Text 15"/>
          <p:cNvSpPr/>
          <p:nvPr>
            <p:custDataLst>
              <p:tags r:id="rId23"/>
            </p:custDataLst>
          </p:nvPr>
        </p:nvSpPr>
        <p:spPr>
          <a:xfrm>
            <a:off x="1579880" y="3779520"/>
            <a:ext cx="3681984" cy="4419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自查：☐ 每条判定都有截图或抓包 ☐ 核查结果写的是事实不是结论</a:t>
            </a:r>
            <a:endParaRPr lang="en-US" sz="1920" dirty="0"/>
          </a:p>
        </p:txBody>
      </p:sp>
      <p:pic>
        <p:nvPicPr>
          <p:cNvPr id="32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9282" t="-637500"/>
          <a:stretch>
            <a:fillRect/>
          </a:stretch>
        </p:blipFill>
        <p:spPr>
          <a:xfrm>
            <a:off x="609600" y="4373880"/>
            <a:ext cx="9954260" cy="112395"/>
          </a:xfrm>
          <a:prstGeom prst="rect">
            <a:avLst/>
          </a:prstGeom>
        </p:spPr>
      </p:pic>
      <p:pic>
        <p:nvPicPr>
          <p:cNvPr id="33" name="Image 15" descr="https://test.web.static.jianzeppt.com/ppt-temp-img3/7a10bbd5850a7dbe8f5ecf4b824eb51b.png?x-oss-process=image/resize,w_1440,h_800,m_lfit/format,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5913120"/>
            <a:ext cx="10972800" cy="746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回顾与拓展——易错点、作业与下节预告</a:t>
            </a:r>
            <a:endParaRPr lang="en-US" sz="5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职业提醒——你放过的那次越权，会变成别人的信息泄露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09600"/>
            <a:ext cx="91440" cy="487680"/>
          </a:xfrm>
          <a:prstGeom prst="rect">
            <a:avLst/>
          </a:prstGeom>
        </p:spPr>
      </p:pic>
      <p:pic>
        <p:nvPicPr>
          <p:cNvPr id="7" name="Image 4" descr="https://test.web.static.jianzeppt.com/ppt-temp-img3/9ad5fe541b6860dc76693735cbbed4a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5623560"/>
            <a:ext cx="9311640" cy="80772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950720" y="5821680"/>
            <a:ext cx="8314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kern="0" spc="7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一句话：你多试一次越权，上线后就少一次真实的信息泄露。</a:t>
            </a:r>
            <a:endParaRPr lang="en-US" sz="2160" dirty="0"/>
          </a:p>
        </p:txBody>
      </p:sp>
      <p:pic>
        <p:nvPicPr>
          <p:cNvPr id="9" name="Image 5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71600"/>
            <a:ext cx="3505200" cy="3810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98120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640" dirty="0"/>
          </a:p>
        </p:txBody>
      </p:sp>
      <p:pic>
        <p:nvPicPr>
          <p:cNvPr id="11" name="Image 6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2468880"/>
            <a:ext cx="91440" cy="9144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82040" y="2377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应用系统承载着海量用户数据</a:t>
            </a:r>
            <a:endParaRPr lang="en-US" sz="1920" dirty="0"/>
          </a:p>
        </p:txBody>
      </p:sp>
      <p:pic>
        <p:nvPicPr>
          <p:cNvPr id="13" name="Image 7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307080"/>
            <a:ext cx="91440" cy="914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82040" y="32156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一次安全功能失效，可能导致千万用户信息泄露</a:t>
            </a:r>
            <a:endParaRPr lang="en-US" sz="1920" dirty="0"/>
          </a:p>
        </p:txBody>
      </p:sp>
      <p:pic>
        <p:nvPicPr>
          <p:cNvPr id="15" name="Image 8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145280"/>
            <a:ext cx="91440" cy="9144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082040" y="40538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每一次验证，都是在守护用户隐私</a:t>
            </a:r>
            <a:endParaRPr lang="en-US" sz="192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" y="1386840"/>
            <a:ext cx="3474720" cy="60960"/>
          </a:xfrm>
          <a:prstGeom prst="rect">
            <a:avLst/>
          </a:prstGeom>
        </p:spPr>
      </p:pic>
      <p:pic>
        <p:nvPicPr>
          <p:cNvPr id="18" name="Image 10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371600"/>
            <a:ext cx="3505200" cy="38100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573024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担当</a:t>
            </a:r>
            <a:endParaRPr lang="en-US" sz="2640" dirty="0"/>
          </a:p>
        </p:txBody>
      </p:sp>
      <p:pic>
        <p:nvPicPr>
          <p:cNvPr id="20" name="Image 11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2438400"/>
            <a:ext cx="91440" cy="9144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4815840" y="2346960"/>
            <a:ext cx="2782824" cy="1028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《个保法》规定处理个人信息遵循“最小必要”原则</a:t>
            </a:r>
            <a:endParaRPr lang="en-US" sz="1920" dirty="0"/>
          </a:p>
        </p:txBody>
      </p:sp>
      <p:pic>
        <p:nvPicPr>
          <p:cNvPr id="22" name="Image 12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3566160"/>
            <a:ext cx="91440" cy="9144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4815840" y="347472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系统安全功能合规，是法律的基本要求</a:t>
            </a:r>
            <a:endParaRPr lang="en-US" sz="1920" dirty="0"/>
          </a:p>
        </p:txBody>
      </p:sp>
      <p:pic>
        <p:nvPicPr>
          <p:cNvPr id="24" name="Image 13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2480" y="4373880"/>
            <a:ext cx="91440" cy="9144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815840" y="4282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测评工程师为“依法治网”提供技术支撑</a:t>
            </a:r>
            <a:endParaRPr lang="en-US" sz="192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58640" y="1386840"/>
            <a:ext cx="3474720" cy="60960"/>
          </a:xfrm>
          <a:prstGeom prst="rect">
            <a:avLst/>
          </a:prstGeom>
        </p:spPr>
      </p:pic>
      <p:pic>
        <p:nvPicPr>
          <p:cNvPr id="27" name="Image 15" descr="https://test.web.static.jianzeppt.com/ppt-temp-img3/5100fa13e1824b1d812703b3f69cd46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1371600"/>
            <a:ext cx="3505200" cy="381000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9464040" y="1691640"/>
            <a:ext cx="755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kern="0" spc="352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匠心</a:t>
            </a:r>
            <a:endParaRPr lang="en-US" sz="2640" dirty="0"/>
          </a:p>
        </p:txBody>
      </p:sp>
      <p:pic>
        <p:nvPicPr>
          <p:cNvPr id="29" name="Image 16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2468880"/>
            <a:ext cx="91440" cy="9144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8564880" y="23774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越权漏洞隐藏在参数、请求体等细微之处</a:t>
            </a:r>
            <a:endParaRPr lang="en-US" sz="1920" dirty="0"/>
          </a:p>
        </p:txBody>
      </p:sp>
      <p:pic>
        <p:nvPicPr>
          <p:cNvPr id="31" name="Image 17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3307080"/>
            <a:ext cx="91440" cy="9144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8564880" y="32156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需耐心细致，不放过任何一个可疑点</a:t>
            </a:r>
            <a:endParaRPr lang="en-US" sz="1920" dirty="0"/>
          </a:p>
        </p:txBody>
      </p:sp>
      <p:pic>
        <p:nvPicPr>
          <p:cNvPr id="33" name="Image 18" descr="https://test.web.static.jianzeppt.com/ppt-temp-img3/8ae6100fbe82f59eed11d1374cc6036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1520" y="4145280"/>
            <a:ext cx="91440" cy="9144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564880" y="4053840"/>
            <a:ext cx="27828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444444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精益求精是对职业的敬畏与对用户负责</a:t>
            </a:r>
            <a:endParaRPr lang="en-US" sz="1920" dirty="0"/>
          </a:p>
        </p:txBody>
      </p:sp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7680" y="1386840"/>
            <a:ext cx="3474720" cy="60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</a:t>
            </a:r>
            <a:endParaRPr lang="en-US" sz="276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09600" y="1108710"/>
            <a:ext cx="10972800" cy="5181600"/>
            <a:chOff x="960" y="1746"/>
            <a:chExt cx="17280" cy="8160"/>
          </a:xfrm>
        </p:grpSpPr>
        <p:pic>
          <p:nvPicPr>
            <p:cNvPr id="6" name="Image 3" descr="https://test.web.static.jianzeppt.com/ppt-temp-img3/e37b5a1a6275d03b21065218e47ebea7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" y="3066"/>
              <a:ext cx="17280" cy="864"/>
            </a:xfrm>
            <a:prstGeom prst="rect">
              <a:avLst/>
            </a:prstGeom>
          </p:spPr>
        </p:pic>
        <p:pic>
          <p:nvPicPr>
            <p:cNvPr id="7" name="Image 4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" name="Text 1"/>
            <p:cNvSpPr/>
            <p:nvPr/>
          </p:nvSpPr>
          <p:spPr>
            <a:xfrm>
              <a:off x="141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一、身份鉴别验证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9" name="Image 5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6" y="5346"/>
              <a:ext cx="768" cy="48"/>
            </a:xfrm>
            <a:prstGeom prst="rect">
              <a:avLst/>
            </a:prstGeom>
          </p:spPr>
        </p:pic>
        <p:pic>
          <p:nvPicPr>
            <p:cNvPr id="10" name="Image 6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2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1" name="Text 2"/>
            <p:cNvSpPr/>
            <p:nvPr/>
          </p:nvSpPr>
          <p:spPr>
            <a:xfrm>
              <a:off x="573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二、访问控制验证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2" name="Image 7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56" y="5466"/>
              <a:ext cx="768" cy="48"/>
            </a:xfrm>
            <a:prstGeom prst="rect">
              <a:avLst/>
            </a:prstGeom>
          </p:spPr>
        </p:pic>
        <p:pic>
          <p:nvPicPr>
            <p:cNvPr id="13" name="Image 8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4" name="Text 3"/>
            <p:cNvSpPr/>
            <p:nvPr/>
          </p:nvSpPr>
          <p:spPr>
            <a:xfrm>
              <a:off x="1005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三、安全审计验证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5" name="Image 9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376" y="5466"/>
              <a:ext cx="768" cy="48"/>
            </a:xfrm>
            <a:prstGeom prst="rect">
              <a:avLst/>
            </a:prstGeom>
          </p:spPr>
        </p:pic>
        <p:pic>
          <p:nvPicPr>
            <p:cNvPr id="16" name="Image 10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064" y="3882"/>
              <a:ext cx="4032" cy="6024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7" name="Text 4"/>
            <p:cNvSpPr/>
            <p:nvPr/>
          </p:nvSpPr>
          <p:spPr>
            <a:xfrm>
              <a:off x="14376" y="4432"/>
              <a:ext cx="3422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 dirty="0">
                  <a:solidFill>
                    <a:srgbClr val="2274D9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四、常见安全问题</a:t>
              </a:r>
              <a:endParaRPr lang="en-US" sz="2000" b="1" dirty="0">
                <a:solidFill>
                  <a:srgbClr val="2274D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8" name="Image 11" descr="https://test.web.static.jianzeppt.com/ppt-temp-img3/8e4d8fc2cd68740c92f80f0bbdbffd6a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696" y="5466"/>
              <a:ext cx="768" cy="48"/>
            </a:xfrm>
            <a:prstGeom prst="rect">
              <a:avLst/>
            </a:prstGeom>
          </p:spPr>
        </p:pic>
        <p:sp>
          <p:nvSpPr>
            <p:cNvPr id="19" name="Text 5"/>
            <p:cNvSpPr/>
            <p:nvPr/>
          </p:nvSpPr>
          <p:spPr>
            <a:xfrm>
              <a:off x="1800" y="5658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唯一性与复杂度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（密码策略）</a:t>
              </a:r>
              <a:endParaRPr lang="en-US" sz="1920" dirty="0"/>
            </a:p>
          </p:txBody>
        </p:sp>
        <p:sp>
          <p:nvSpPr>
            <p:cNvPr id="20" name="Text 6"/>
            <p:cNvSpPr/>
            <p:nvPr/>
          </p:nvSpPr>
          <p:spPr>
            <a:xfrm>
              <a:off x="1800" y="6834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登录失败处理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（锁定机制）</a:t>
              </a:r>
              <a:endParaRPr lang="en-US" sz="1920" dirty="0"/>
            </a:p>
          </p:txBody>
        </p:sp>
        <p:sp>
          <p:nvSpPr>
            <p:cNvPr id="21" name="Text 7"/>
            <p:cNvSpPr/>
            <p:nvPr/>
          </p:nvSpPr>
          <p:spPr>
            <a:xfrm>
              <a:off x="1800" y="7986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远程管理安全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（加密协议）</a:t>
              </a:r>
              <a:endParaRPr lang="en-US" sz="1920" dirty="0"/>
            </a:p>
          </p:txBody>
        </p:sp>
        <p:sp>
          <p:nvSpPr>
            <p:cNvPr id="22" name="Text 8"/>
            <p:cNvSpPr/>
            <p:nvPr/>
          </p:nvSpPr>
          <p:spPr>
            <a:xfrm>
              <a:off x="1800" y="9162"/>
              <a:ext cx="3038" cy="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3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多因素认证</a:t>
              </a:r>
              <a:r>
                <a:rPr lang="en-US" sz="132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（三级以上）</a:t>
              </a:r>
              <a:endParaRPr lang="en-US" sz="132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6120" y="5802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账户管理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（默认/最小权限）</a:t>
              </a:r>
              <a:endParaRPr lang="en-US" sz="1920" dirty="0"/>
            </a:p>
          </p:txBody>
        </p:sp>
        <p:sp>
          <p:nvSpPr>
            <p:cNvPr id="24" name="Text 10"/>
            <p:cNvSpPr/>
            <p:nvPr/>
          </p:nvSpPr>
          <p:spPr>
            <a:xfrm>
              <a:off x="6120" y="6978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垂直越权测试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（低→高权限）</a:t>
              </a:r>
              <a:endParaRPr lang="en-US" sz="1920" dirty="0"/>
            </a:p>
          </p:txBody>
        </p:sp>
        <p:sp>
          <p:nvSpPr>
            <p:cNvPr id="25" name="Text 11"/>
            <p:cNvSpPr/>
            <p:nvPr/>
          </p:nvSpPr>
          <p:spPr>
            <a:xfrm>
              <a:off x="6120" y="8130"/>
              <a:ext cx="3038" cy="9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水平越权测试</a:t>
              </a:r>
              <a:r>
                <a:rPr lang="en-US" sz="1680" dirty="0">
                  <a:solidFill>
                    <a:srgbClr val="807E6B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（同级用户数据）</a:t>
              </a:r>
              <a:endParaRPr lang="en-US" sz="1920" dirty="0"/>
            </a:p>
          </p:txBody>
        </p:sp>
        <p:sp>
          <p:nvSpPr>
            <p:cNvPr id="26" name="Text 12"/>
            <p:cNvSpPr/>
            <p:nvPr/>
          </p:nvSpPr>
          <p:spPr>
            <a:xfrm>
              <a:off x="10440" y="5778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审计功能是否启用</a:t>
              </a:r>
              <a:endParaRPr lang="en-US" sz="1920" dirty="0"/>
            </a:p>
          </p:txBody>
        </p:sp>
        <p:pic>
          <p:nvPicPr>
            <p:cNvPr id="27" name="Image 12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52" y="5994"/>
              <a:ext cx="144" cy="144"/>
            </a:xfrm>
            <a:prstGeom prst="rect">
              <a:avLst/>
            </a:prstGeom>
          </p:spPr>
        </p:pic>
        <p:sp>
          <p:nvSpPr>
            <p:cNvPr id="28" name="Text 13"/>
            <p:cNvSpPr/>
            <p:nvPr/>
          </p:nvSpPr>
          <p:spPr>
            <a:xfrm>
              <a:off x="10440" y="7122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审计内容是否完整</a:t>
              </a:r>
              <a:endParaRPr lang="en-US" sz="1920" dirty="0"/>
            </a:p>
          </p:txBody>
        </p:sp>
        <p:pic>
          <p:nvPicPr>
            <p:cNvPr id="29" name="Image 13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52" y="7338"/>
              <a:ext cx="144" cy="144"/>
            </a:xfrm>
            <a:prstGeom prst="rect">
              <a:avLst/>
            </a:prstGeom>
          </p:spPr>
        </p:pic>
        <p:sp>
          <p:nvSpPr>
            <p:cNvPr id="30" name="Text 14"/>
            <p:cNvSpPr/>
            <p:nvPr/>
          </p:nvSpPr>
          <p:spPr>
            <a:xfrm>
              <a:off x="10440" y="8466"/>
              <a:ext cx="2726" cy="10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审计记录是否受保护</a:t>
              </a:r>
              <a:endParaRPr lang="en-US" sz="1920" dirty="0"/>
            </a:p>
          </p:txBody>
        </p:sp>
        <p:pic>
          <p:nvPicPr>
            <p:cNvPr id="31" name="Image 14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52" y="8682"/>
              <a:ext cx="144" cy="144"/>
            </a:xfrm>
            <a:prstGeom prst="rect">
              <a:avLst/>
            </a:prstGeom>
          </p:spPr>
        </p:pic>
        <p:sp>
          <p:nvSpPr>
            <p:cNvPr id="32" name="Text 15"/>
            <p:cNvSpPr/>
            <p:nvPr/>
          </p:nvSpPr>
          <p:spPr>
            <a:xfrm>
              <a:off x="14760" y="5778"/>
              <a:ext cx="2726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密码策略未强制</a:t>
              </a:r>
              <a:endParaRPr lang="en-US" sz="1920" dirty="0"/>
            </a:p>
          </p:txBody>
        </p:sp>
        <p:pic>
          <p:nvPicPr>
            <p:cNvPr id="33" name="Image 15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472" y="5994"/>
              <a:ext cx="144" cy="144"/>
            </a:xfrm>
            <a:prstGeom prst="rect">
              <a:avLst/>
            </a:prstGeom>
          </p:spPr>
        </p:pic>
        <p:sp>
          <p:nvSpPr>
            <p:cNvPr id="34" name="Text 16"/>
            <p:cNvSpPr/>
            <p:nvPr/>
          </p:nvSpPr>
          <p:spPr>
            <a:xfrm>
              <a:off x="14760" y="6594"/>
              <a:ext cx="2726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无登录失败限制</a:t>
              </a:r>
              <a:endParaRPr lang="en-US" sz="1920" dirty="0"/>
            </a:p>
          </p:txBody>
        </p:sp>
        <p:pic>
          <p:nvPicPr>
            <p:cNvPr id="35" name="Image 16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472" y="6810"/>
              <a:ext cx="144" cy="144"/>
            </a:xfrm>
            <a:prstGeom prst="rect">
              <a:avLst/>
            </a:prstGeom>
          </p:spPr>
        </p:pic>
        <p:sp>
          <p:nvSpPr>
            <p:cNvPr id="36" name="Text 17"/>
            <p:cNvSpPr/>
            <p:nvPr/>
          </p:nvSpPr>
          <p:spPr>
            <a:xfrm>
              <a:off x="14760" y="7410"/>
              <a:ext cx="1574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越权漏洞</a:t>
              </a:r>
              <a:endParaRPr lang="en-US" sz="1920" dirty="0"/>
            </a:p>
          </p:txBody>
        </p:sp>
        <p:pic>
          <p:nvPicPr>
            <p:cNvPr id="37" name="Image 17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472" y="7626"/>
              <a:ext cx="144" cy="144"/>
            </a:xfrm>
            <a:prstGeom prst="rect">
              <a:avLst/>
            </a:prstGeom>
          </p:spPr>
        </p:pic>
        <p:sp>
          <p:nvSpPr>
            <p:cNvPr id="38" name="Text 18"/>
            <p:cNvSpPr/>
            <p:nvPr/>
          </p:nvSpPr>
          <p:spPr>
            <a:xfrm>
              <a:off x="14760" y="8226"/>
              <a:ext cx="2342" cy="5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920" dirty="0">
                  <a:solidFill>
                    <a:srgbClr val="37331F"/>
                  </a:solidFill>
                  <a:latin typeface="思源黑体 CN Regular" pitchFamily="34" charset="0"/>
                  <a:ea typeface="思源黑体 CN Regular" pitchFamily="34" charset="-122"/>
                  <a:cs typeface="思源黑体 CN Regular" pitchFamily="34" charset="-120"/>
                </a:rPr>
                <a:t>审计功能缺失</a:t>
              </a:r>
              <a:endParaRPr lang="en-US" sz="1920" dirty="0"/>
            </a:p>
          </p:txBody>
        </p:sp>
        <p:pic>
          <p:nvPicPr>
            <p:cNvPr id="39" name="Image 18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472" y="8442"/>
              <a:ext cx="144" cy="144"/>
            </a:xfrm>
            <a:prstGeom prst="rect">
              <a:avLst/>
            </a:prstGeom>
          </p:spPr>
        </p:pic>
        <p:pic>
          <p:nvPicPr>
            <p:cNvPr id="40" name="Image 19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92" y="1746"/>
              <a:ext cx="6840" cy="1368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sp>
          <p:nvSpPr>
            <p:cNvPr id="41" name="Text 19"/>
            <p:cNvSpPr/>
            <p:nvPr/>
          </p:nvSpPr>
          <p:spPr>
            <a:xfrm>
              <a:off x="6960" y="2034"/>
              <a:ext cx="5318" cy="79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64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应用系统安全功能验证</a:t>
              </a:r>
              <a:endParaRPr lang="en-US" sz="264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a98a11d194ece0f125776874041874d2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0"/>
            <a:ext cx="6227064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4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下节课预告</a:t>
            </a:r>
            <a:endParaRPr lang="en-US" sz="384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6217920" cy="106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1219200" y="1158240"/>
            <a:ext cx="56784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活动4.5：漏洞扫描与结果分析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286000"/>
            <a:ext cx="6217920" cy="2682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73480" y="2545080"/>
            <a:ext cx="5708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预告内容：</a:t>
            </a:r>
            <a:endParaRPr lang="en-US" sz="1920" dirty="0"/>
          </a:p>
        </p:txBody>
      </p:sp>
      <p:sp>
        <p:nvSpPr>
          <p:cNvPr id="8" name="Text 3"/>
          <p:cNvSpPr/>
          <p:nvPr/>
        </p:nvSpPr>
        <p:spPr>
          <a:xfrm>
            <a:off x="1173480" y="30632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9" name="Text 4"/>
          <p:cNvSpPr/>
          <p:nvPr/>
        </p:nvSpPr>
        <p:spPr>
          <a:xfrm>
            <a:off x="1478280" y="3048000"/>
            <a:ext cx="4916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漏洞扫描原理（漏洞库匹配、端口扫描、服务识别）</a:t>
            </a:r>
            <a:endParaRPr lang="en-US" sz="1680" dirty="0"/>
          </a:p>
        </p:txBody>
      </p:sp>
      <p:sp>
        <p:nvSpPr>
          <p:cNvPr id="10" name="Text 5"/>
          <p:cNvSpPr/>
          <p:nvPr/>
        </p:nvSpPr>
        <p:spPr>
          <a:xfrm>
            <a:off x="1173480" y="348996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1" name="Text 6"/>
          <p:cNvSpPr/>
          <p:nvPr/>
        </p:nvSpPr>
        <p:spPr>
          <a:xfrm>
            <a:off x="1478280" y="3474720"/>
            <a:ext cx="38496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漏洞扫描工具使用（Nessus/OpenVAS）</a:t>
            </a:r>
            <a:endParaRPr lang="en-US" sz="1680" dirty="0"/>
          </a:p>
        </p:txBody>
      </p:sp>
      <p:sp>
        <p:nvSpPr>
          <p:cNvPr id="12" name="Text 7"/>
          <p:cNvSpPr/>
          <p:nvPr/>
        </p:nvSpPr>
        <p:spPr>
          <a:xfrm>
            <a:off x="1173480" y="393192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3" name="Text 8"/>
          <p:cNvSpPr/>
          <p:nvPr/>
        </p:nvSpPr>
        <p:spPr>
          <a:xfrm>
            <a:off x="1478280" y="3916680"/>
            <a:ext cx="47945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扫描报告解读（CVSS评分、漏洞分类、修复建议）</a:t>
            </a:r>
            <a:endParaRPr lang="en-US" sz="1680" dirty="0"/>
          </a:p>
        </p:txBody>
      </p:sp>
      <p:sp>
        <p:nvSpPr>
          <p:cNvPr id="14" name="Text 9"/>
          <p:cNvSpPr/>
          <p:nvPr/>
        </p:nvSpPr>
        <p:spPr>
          <a:xfrm>
            <a:off x="1173480" y="4358640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5" name="Text 10"/>
          <p:cNvSpPr/>
          <p:nvPr/>
        </p:nvSpPr>
        <p:spPr>
          <a:xfrm>
            <a:off x="1478280" y="4343400"/>
            <a:ext cx="19293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漏洞验证与风险评估</a:t>
            </a:r>
            <a:endParaRPr lang="en-US" sz="168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5005070"/>
            <a:ext cx="6217920" cy="1813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7" name="Text 11"/>
          <p:cNvSpPr/>
          <p:nvPr/>
        </p:nvSpPr>
        <p:spPr>
          <a:xfrm>
            <a:off x="1173480" y="5278755"/>
            <a:ext cx="57089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课前准备：</a:t>
            </a:r>
            <a:endParaRPr lang="en-US" sz="1920" dirty="0"/>
          </a:p>
        </p:txBody>
      </p:sp>
      <p:sp>
        <p:nvSpPr>
          <p:cNvPr id="18" name="Text 12"/>
          <p:cNvSpPr/>
          <p:nvPr/>
        </p:nvSpPr>
        <p:spPr>
          <a:xfrm>
            <a:off x="1173480" y="5796915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19" name="Text 13"/>
          <p:cNvSpPr/>
          <p:nvPr/>
        </p:nvSpPr>
        <p:spPr>
          <a:xfrm>
            <a:off x="1478280" y="5781675"/>
            <a:ext cx="2356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复习漏洞扫描的基本原理</a:t>
            </a:r>
            <a:endParaRPr lang="en-US" sz="1680" dirty="0"/>
          </a:p>
        </p:txBody>
      </p:sp>
      <p:sp>
        <p:nvSpPr>
          <p:cNvPr id="20" name="Text 14"/>
          <p:cNvSpPr/>
          <p:nvPr/>
        </p:nvSpPr>
        <p:spPr>
          <a:xfrm>
            <a:off x="1173480" y="6223635"/>
            <a:ext cx="22250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2274D9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▪</a:t>
            </a:r>
            <a:endParaRPr lang="en-US" sz="1680" dirty="0"/>
          </a:p>
        </p:txBody>
      </p:sp>
      <p:sp>
        <p:nvSpPr>
          <p:cNvPr id="22" name="Text 16"/>
          <p:cNvSpPr/>
          <p:nvPr/>
        </p:nvSpPr>
        <p:spPr>
          <a:xfrm>
            <a:off x="7650480" y="1280160"/>
            <a:ext cx="3240024" cy="838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280" b="1" dirty="0">
                <a:solidFill>
                  <a:srgbClr val="333333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谢谢观看</a:t>
            </a:r>
            <a:endParaRPr lang="en-US" sz="5280" dirty="0"/>
          </a:p>
        </p:txBody>
      </p:sp>
      <p:sp>
        <p:nvSpPr>
          <p:cNvPr id="23" name="Text 17"/>
          <p:cNvSpPr/>
          <p:nvPr/>
        </p:nvSpPr>
        <p:spPr>
          <a:xfrm>
            <a:off x="7650480" y="2270760"/>
            <a:ext cx="324002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160" kern="0" spc="288" dirty="0">
                <a:solidFill>
                  <a:srgbClr val="88888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THANKS FOR WATCHING</a:t>
            </a:r>
            <a:endParaRPr lang="en-US" sz="216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6160" y="1120140"/>
            <a:ext cx="91440" cy="2118360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0">
            <a:alphaModFix amt="5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63200" y="3703320"/>
            <a:ext cx="914400" cy="609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2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3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4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5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6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7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8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9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10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11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12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13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ags/tag14.xml><?xml version="1.0" encoding="utf-8"?>
<p:tagLst xmlns:p="http://schemas.openxmlformats.org/presentationml/2006/main">
  <p:tag name="KSO_WM_DIAGRAM_VIRTUALLY_FRAME" val="{&quot;height&quot;:184.06803149606299,&quot;left&quot;:-32.2,&quot;top&quot;:169.2,&quot;width&quot;:876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3650</Words>
  <Application>WPS 演示</Application>
  <PresentationFormat>On-screen Show (16:9)</PresentationFormat>
  <Paragraphs>680</Paragraphs>
  <Slides>22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思源黑体 CN Regular</vt:lpstr>
      <vt:lpstr>思源黑体 CN Regular</vt:lpstr>
      <vt:lpstr>思源黑体 CN Regular</vt:lpstr>
      <vt:lpstr>Calibri</vt:lpstr>
      <vt:lpstr>等线</vt:lpstr>
      <vt:lpstr>微软雅黑</vt:lpstr>
      <vt:lpstr>Arial Unicode MS</vt:lpstr>
      <vt:lpstr>Office Theme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10</cp:revision>
  <dcterms:created xsi:type="dcterms:W3CDTF">2026-08-30T08:29:00Z</dcterms:created>
  <dcterms:modified xsi:type="dcterms:W3CDTF">2026-10-15T04:38:20Z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2AB731BA7C9549EF8031A4C7D3F17B34_12</vt:lpwstr>
  </property>
  <property fmtid="{D5CDD505-2E9C-101B-9397-08002B2CF9AE}" pid="3" name="KSOProductBuildVer">
    <vt:lpwstr>2052-12.1.0.19302</vt:lpwstr>
  </property>
</Properties>
</file>