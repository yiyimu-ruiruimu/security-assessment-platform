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3.svg" ContentType="image/svg+xml"/>
  <Override PartName="/ppt/media/image106.svg" ContentType="image/svg+xml"/>
  <Override PartName="/ppt/media/image108.svg" ContentType="image/svg+xml"/>
  <Override PartName="/ppt/media/image110.svg" ContentType="image/svg+xml"/>
  <Override PartName="/ppt/media/image112.svg" ContentType="image/svg+xml"/>
  <Override PartName="/ppt/media/image115.svg" ContentType="image/svg+xml"/>
  <Override PartName="/ppt/media/image118.svg" ContentType="image/svg+xml"/>
  <Override PartName="/ppt/media/image121.svg" ContentType="image/svg+xml"/>
  <Override PartName="/ppt/media/image124.svg" ContentType="image/svg+xml"/>
  <Override PartName="/ppt/media/image129.svg" ContentType="image/svg+xml"/>
  <Override PartName="/ppt/media/image131.svg" ContentType="image/svg+xml"/>
  <Override PartName="/ppt/media/image133.svg" ContentType="image/svg+xml"/>
  <Override PartName="/ppt/media/image135.svg" ContentType="image/svg+xml"/>
  <Override PartName="/ppt/media/image143.svg" ContentType="image/svg+xml"/>
  <Override PartName="/ppt/media/image145.svg" ContentType="image/svg+xml"/>
  <Override PartName="/ppt/media/image147.svg" ContentType="image/svg+xml"/>
  <Override PartName="/ppt/media/image149.svg" ContentType="image/svg+xml"/>
  <Override PartName="/ppt/media/image152.svg" ContentType="image/svg+xml"/>
  <Override PartName="/ppt/media/image158.svg" ContentType="image/svg+xml"/>
  <Override PartName="/ppt/media/image16.svg" ContentType="image/svg+xml"/>
  <Override PartName="/ppt/media/image161.svg" ContentType="image/svg+xml"/>
  <Override PartName="/ppt/media/image164.svg" ContentType="image/svg+xml"/>
  <Override PartName="/ppt/media/image166.svg" ContentType="image/svg+xml"/>
  <Override PartName="/ppt/media/image169.svg" ContentType="image/svg+xml"/>
  <Override PartName="/ppt/media/image171.svg" ContentType="image/svg+xml"/>
  <Override PartName="/ppt/media/image19.svg" ContentType="image/svg+xml"/>
  <Override PartName="/ppt/media/image22.svg" ContentType="image/svg+xml"/>
  <Override PartName="/ppt/media/image24.svg" ContentType="image/svg+xml"/>
  <Override PartName="/ppt/media/image27.svg" ContentType="image/svg+xml"/>
  <Override PartName="/ppt/media/image30.svg" ContentType="image/svg+xml"/>
  <Override PartName="/ppt/media/image32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0.svg" ContentType="image/svg+xml"/>
  <Override PartName="/ppt/media/image42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2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7.svg" ContentType="image/svg+xml"/>
  <Override PartName="/ppt/media/image82.svg" ContentType="image/svg+xml"/>
  <Override PartName="/ppt/media/image85.svg" ContentType="image/svg+xml"/>
  <Override PartName="/ppt/media/image87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8" r:id="rId6"/>
    <p:sldId id="259" r:id="rId7"/>
    <p:sldId id="260" r:id="rId8"/>
    <p:sldId id="288" r:id="rId9"/>
    <p:sldId id="261" r:id="rId10"/>
    <p:sldId id="289" r:id="rId34"/>
    <p:sldId id="290" r:id="rId35"/>
    <p:sldId id="291" r:id="rId36"/>
    <p:sldId id="262" r:id="rId11"/>
    <p:sldId id="264" r:id="rId12"/>
    <p:sldId id="265" r:id="rId13"/>
    <p:sldId id="266" r:id="rId14"/>
    <p:sldId id="267" r:id="rId15"/>
    <p:sldId id="268" r:id="rId16"/>
    <p:sldId id="269" r:id="rId17"/>
    <p:sldId id="287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92" r:id="rId37"/>
    <p:sldId id="284" r:id="rId29"/>
  </p:sldIdLst>
  <p:sldSz cx="12192000" cy="6858000"/>
  <p:notesSz cx="6858000" cy="12192000"/>
  <p:custDataLst>
    <p:tags r:id="rId33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9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ableStyles" Target="tableStyles.xml"/><Relationship Id="rId33" Type="http://schemas.openxmlformats.org/officeDocument/2006/relationships/tags" Target="tags/tag192.xml"/><Relationship Id="rId34" Type="http://schemas.openxmlformats.org/officeDocument/2006/relationships/slide" Target="slides/slide7.xml"/><Relationship Id="rId35" Type="http://schemas.openxmlformats.org/officeDocument/2006/relationships/slide" Target="slides/slide8.xml"/><Relationship Id="rId36" Type="http://schemas.openxmlformats.org/officeDocument/2006/relationships/slide" Target="slides/slide9.xml"/><Relationship Id="rId37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那到底该如何才能编制出专业规范的等保测评方案呢？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【课堂跳转入口】</a:t>
            </a:r>
          </a:p>
          <a:p>
            <a:r>
              <a:t>点击左下角「▶ 进入技能挑战平台」按钮，直接打开闯关平台「挑战一 · 测前准备」。</a:t>
            </a:r>
          </a:p>
          <a:p>
            <a:r>
              <a:t>本地路径：D:\信息安全测评实践教学平台\实践测试\denbao-pm-game\index.html</a:t>
            </a:r>
          </a:p>
          <a:p>
            <a:r>
              <a:t>若换机器演示，请右键按钮 → 编辑链接 → 改成新路径或线上地址。</a:t>
            </a:r>
          </a:p>
          <a:p>
            <a:r>
              <a:t>配套教案：环节 2 末「跳转触发点」即本按钮。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【平台入口（备用）】</a:t>
            </a:r>
          </a:p>
          <a:p>
            <a:r>
              <a:t>点击右上角「▶ 进入技能挑战平台（本地）」按钮启动平台。</a:t>
            </a:r>
          </a:p>
          <a:p>
            <a:r>
              <a:t>本地路径：D:\信息安全测评实践教学平台\实践测试\denbao-pm-game\index.html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tags" Target="../tags/tag1.xml"/><Relationship Id="rId7" Type="http://schemas.openxmlformats.org/officeDocument/2006/relationships/image" Target="../media/image14.png"/><Relationship Id="rId8" Type="http://schemas.openxmlformats.org/officeDocument/2006/relationships/tags" Target="../tags/tag2.xml"/><Relationship Id="rId9" Type="http://schemas.openxmlformats.org/officeDocument/2006/relationships/image" Target="../media/image15.png"/><Relationship Id="rId10" Type="http://schemas.openxmlformats.org/officeDocument/2006/relationships/image" Target="../media/image16.svg"/><Relationship Id="rId11" Type="http://schemas.openxmlformats.org/officeDocument/2006/relationships/tags" Target="../tags/tag3.xml"/><Relationship Id="rId12" Type="http://schemas.openxmlformats.org/officeDocument/2006/relationships/tags" Target="../tags/tag4.xml"/><Relationship Id="rId13" Type="http://schemas.openxmlformats.org/officeDocument/2006/relationships/tags" Target="../tags/tag5.xml"/><Relationship Id="rId14" Type="http://schemas.openxmlformats.org/officeDocument/2006/relationships/tags" Target="../tags/tag6.xml"/><Relationship Id="rId15" Type="http://schemas.openxmlformats.org/officeDocument/2006/relationships/tags" Target="../tags/tag7.xml"/><Relationship Id="rId16" Type="http://schemas.openxmlformats.org/officeDocument/2006/relationships/image" Target="../media/image17.png"/><Relationship Id="rId17" Type="http://schemas.openxmlformats.org/officeDocument/2006/relationships/tags" Target="../tags/tag8.xml"/><Relationship Id="rId18" Type="http://schemas.openxmlformats.org/officeDocument/2006/relationships/tags" Target="../tags/tag9.xml"/><Relationship Id="rId19" Type="http://schemas.openxmlformats.org/officeDocument/2006/relationships/tags" Target="../tags/tag10.xml"/><Relationship Id="rId20" Type="http://schemas.openxmlformats.org/officeDocument/2006/relationships/tags" Target="../tags/tag11.xml"/><Relationship Id="rId21" Type="http://schemas.openxmlformats.org/officeDocument/2006/relationships/tags" Target="../tags/tag12.xml"/><Relationship Id="rId22" Type="http://schemas.openxmlformats.org/officeDocument/2006/relationships/tags" Target="../tags/tag13.xml"/><Relationship Id="rId23" Type="http://schemas.openxmlformats.org/officeDocument/2006/relationships/tags" Target="../tags/tag14.xml"/><Relationship Id="rId24" Type="http://schemas.openxmlformats.org/officeDocument/2006/relationships/tags" Target="../tags/tag15.xml"/><Relationship Id="rId25" Type="http://schemas.openxmlformats.org/officeDocument/2006/relationships/tags" Target="../tags/tag16.xml"/><Relationship Id="rId26" Type="http://schemas.openxmlformats.org/officeDocument/2006/relationships/tags" Target="../tags/tag17.xml"/><Relationship Id="rId27" Type="http://schemas.openxmlformats.org/officeDocument/2006/relationships/tags" Target="../tags/tag18.xml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8.png"/><Relationship Id="rId4" Type="http://schemas.openxmlformats.org/officeDocument/2006/relationships/image" Target="../media/image19.sv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svg"/><Relationship Id="rId8" Type="http://schemas.openxmlformats.org/officeDocument/2006/relationships/tags" Target="../tags/tag19.xml"/><Relationship Id="rId9" Type="http://schemas.openxmlformats.org/officeDocument/2006/relationships/image" Target="../media/image23.png"/><Relationship Id="rId10" Type="http://schemas.openxmlformats.org/officeDocument/2006/relationships/image" Target="../media/image24.svg"/><Relationship Id="rId11" Type="http://schemas.openxmlformats.org/officeDocument/2006/relationships/tags" Target="../tags/tag20.xml"/><Relationship Id="rId12" Type="http://schemas.openxmlformats.org/officeDocument/2006/relationships/tags" Target="../tags/tag21.xml"/><Relationship Id="rId13" Type="http://schemas.openxmlformats.org/officeDocument/2006/relationships/tags" Target="../tags/tag22.xml"/><Relationship Id="rId14" Type="http://schemas.openxmlformats.org/officeDocument/2006/relationships/tags" Target="../tags/tag23.xml"/><Relationship Id="rId15" Type="http://schemas.openxmlformats.org/officeDocument/2006/relationships/tags" Target="../tags/tag24.xml"/><Relationship Id="rId16" Type="http://schemas.openxmlformats.org/officeDocument/2006/relationships/tags" Target="../tags/tag25.xml"/><Relationship Id="rId17" Type="http://schemas.openxmlformats.org/officeDocument/2006/relationships/tags" Target="../tags/tag26.xml"/><Relationship Id="rId18" Type="http://schemas.openxmlformats.org/officeDocument/2006/relationships/tags" Target="../tags/tag27.xml"/><Relationship Id="rId19" Type="http://schemas.openxmlformats.org/officeDocument/2006/relationships/image" Target="../media/image25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26.png"/><Relationship Id="rId5" Type="http://schemas.openxmlformats.org/officeDocument/2006/relationships/image" Target="../media/image27.svg"/><Relationship Id="rId6" Type="http://schemas.openxmlformats.org/officeDocument/2006/relationships/tags" Target="../tags/tag28.xml"/><Relationship Id="rId7" Type="http://schemas.openxmlformats.org/officeDocument/2006/relationships/image" Target="../media/image28.png"/><Relationship Id="rId8" Type="http://schemas.openxmlformats.org/officeDocument/2006/relationships/tags" Target="../tags/tag29.xml"/><Relationship Id="rId9" Type="http://schemas.openxmlformats.org/officeDocument/2006/relationships/tags" Target="../tags/tag30.xml"/><Relationship Id="rId10" Type="http://schemas.openxmlformats.org/officeDocument/2006/relationships/image" Target="../media/image29.png"/><Relationship Id="rId11" Type="http://schemas.openxmlformats.org/officeDocument/2006/relationships/image" Target="../media/image30.svg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tags" Target="../tags/tag44.xml"/><Relationship Id="rId5" Type="http://schemas.openxmlformats.org/officeDocument/2006/relationships/tags" Target="../tags/tag45.xml"/><Relationship Id="rId6" Type="http://schemas.openxmlformats.org/officeDocument/2006/relationships/tags" Target="../tags/tag46.xml"/><Relationship Id="rId7" Type="http://schemas.openxmlformats.org/officeDocument/2006/relationships/tags" Target="../tags/tag47.xml"/><Relationship Id="rId8" Type="http://schemas.openxmlformats.org/officeDocument/2006/relationships/tags" Target="../tags/tag48.xml"/><Relationship Id="rId9" Type="http://schemas.openxmlformats.org/officeDocument/2006/relationships/tags" Target="../tags/tag49.xml"/><Relationship Id="rId10" Type="http://schemas.openxmlformats.org/officeDocument/2006/relationships/tags" Target="../tags/tag50.xml"/><Relationship Id="rId11" Type="http://schemas.openxmlformats.org/officeDocument/2006/relationships/tags" Target="../tags/tag51.xml"/><Relationship Id="rId12" Type="http://schemas.openxmlformats.org/officeDocument/2006/relationships/image" Target="../media/image31.png"/><Relationship Id="rId13" Type="http://schemas.openxmlformats.org/officeDocument/2006/relationships/image" Target="../media/image32.svg"/><Relationship Id="rId14" Type="http://schemas.openxmlformats.org/officeDocument/2006/relationships/tags" Target="../tags/tag52.xml"/><Relationship Id="rId15" Type="http://schemas.openxmlformats.org/officeDocument/2006/relationships/tags" Target="../tags/tag53.xml"/><Relationship Id="rId16" Type="http://schemas.openxmlformats.org/officeDocument/2006/relationships/image" Target="../media/image33.png"/><Relationship Id="rId17" Type="http://schemas.openxmlformats.org/officeDocument/2006/relationships/tags" Target="../tags/tag54.xml"/><Relationship Id="rId18" Type="http://schemas.openxmlformats.org/officeDocument/2006/relationships/tags" Target="../tags/tag55.xml"/><Relationship Id="rId19" Type="http://schemas.openxmlformats.org/officeDocument/2006/relationships/tags" Target="../tags/tag56.xml"/><Relationship Id="rId20" Type="http://schemas.openxmlformats.org/officeDocument/2006/relationships/tags" Target="../tags/tag57.xml"/><Relationship Id="rId21" Type="http://schemas.openxmlformats.org/officeDocument/2006/relationships/image" Target="../media/image34.png"/><Relationship Id="rId22" Type="http://schemas.openxmlformats.org/officeDocument/2006/relationships/image" Target="../media/image35.svg"/><Relationship Id="rId23" Type="http://schemas.openxmlformats.org/officeDocument/2006/relationships/tags" Target="../tags/tag58.xml"/><Relationship Id="rId24" Type="http://schemas.openxmlformats.org/officeDocument/2006/relationships/tags" Target="../tags/tag59.xml"/><Relationship Id="rId25" Type="http://schemas.openxmlformats.org/officeDocument/2006/relationships/tags" Target="../tags/tag60.xml"/><Relationship Id="rId26" Type="http://schemas.openxmlformats.org/officeDocument/2006/relationships/tags" Target="../tags/tag61.xml"/><Relationship Id="rId27" Type="http://schemas.openxmlformats.org/officeDocument/2006/relationships/tags" Target="../tags/tag62.xml"/><Relationship Id="rId28" Type="http://schemas.openxmlformats.org/officeDocument/2006/relationships/tags" Target="../tags/tag63.xml"/><Relationship Id="rId29" Type="http://schemas.openxmlformats.org/officeDocument/2006/relationships/tags" Target="../tags/tag64.xml"/><Relationship Id="rId30" Type="http://schemas.openxmlformats.org/officeDocument/2006/relationships/tags" Target="../tags/tag65.xml"/><Relationship Id="rId31" Type="http://schemas.openxmlformats.org/officeDocument/2006/relationships/tags" Target="../tags/tag66.xml"/><Relationship Id="rId32" Type="http://schemas.openxmlformats.org/officeDocument/2006/relationships/tags" Target="../tags/tag67.xml"/><Relationship Id="rId33" Type="http://schemas.openxmlformats.org/officeDocument/2006/relationships/tags" Target="../tags/tag68.xml"/><Relationship Id="rId34" Type="http://schemas.openxmlformats.org/officeDocument/2006/relationships/tags" Target="../tags/tag69.xml"/><Relationship Id="rId35" Type="http://schemas.openxmlformats.org/officeDocument/2006/relationships/tags" Target="../tags/tag70.xml"/><Relationship Id="rId36" Type="http://schemas.openxmlformats.org/officeDocument/2006/relationships/tags" Target="../tags/tag71.xml"/><Relationship Id="rId37" Type="http://schemas.openxmlformats.org/officeDocument/2006/relationships/tags" Target="../tags/tag72.xml"/><Relationship Id="rId38" Type="http://schemas.openxmlformats.org/officeDocument/2006/relationships/tags" Target="../tags/tag73.xml"/><Relationship Id="rId39" Type="http://schemas.openxmlformats.org/officeDocument/2006/relationships/tags" Target="../tags/tag74.xml"/><Relationship Id="rId40" Type="http://schemas.openxmlformats.org/officeDocument/2006/relationships/tags" Target="../tags/tag75.xml"/><Relationship Id="rId41" Type="http://schemas.openxmlformats.org/officeDocument/2006/relationships/image" Target="../media/image36.png"/><Relationship Id="rId42" Type="http://schemas.openxmlformats.org/officeDocument/2006/relationships/image" Target="../media/image37.svg"/><Relationship Id="rId43" Type="http://schemas.openxmlformats.org/officeDocument/2006/relationships/tags" Target="../tags/tag76.xml"/><Relationship Id="rId44" Type="http://schemas.openxmlformats.org/officeDocument/2006/relationships/tags" Target="../tags/tag77.xml"/><Relationship Id="rId45" Type="http://schemas.openxmlformats.org/officeDocument/2006/relationships/tags" Target="../tags/tag78.xml"/><Relationship Id="rId46" Type="http://schemas.openxmlformats.org/officeDocument/2006/relationships/tags" Target="../tags/tag79.xml"/><Relationship Id="rId47" Type="http://schemas.openxmlformats.org/officeDocument/2006/relationships/tags" Target="../tags/tag80.xml"/><Relationship Id="rId48" Type="http://schemas.openxmlformats.org/officeDocument/2006/relationships/image" Target="../media/image38.png"/><Relationship Id="rId49" Type="http://schemas.openxmlformats.org/officeDocument/2006/relationships/image" Target="../media/image39.svg"/><Relationship Id="rId50" Type="http://schemas.openxmlformats.org/officeDocument/2006/relationships/tags" Target="../tags/tag81.xml"/><Relationship Id="rId51" Type="http://schemas.openxmlformats.org/officeDocument/2006/relationships/image" Target="../media/image40.svg"/><Relationship Id="rId52" Type="http://schemas.openxmlformats.org/officeDocument/2006/relationships/tags" Target="../tags/tag82.xml"/><Relationship Id="rId53" Type="http://schemas.openxmlformats.org/officeDocument/2006/relationships/tags" Target="../tags/tag83.xml"/><Relationship Id="rId54" Type="http://schemas.openxmlformats.org/officeDocument/2006/relationships/tags" Target="../tags/tag84.xml"/><Relationship Id="rId55" Type="http://schemas.openxmlformats.org/officeDocument/2006/relationships/tags" Target="../tags/tag85.xml"/><Relationship Id="rId56" Type="http://schemas.openxmlformats.org/officeDocument/2006/relationships/tags" Target="../tags/tag86.xml"/><Relationship Id="rId57" Type="http://schemas.openxmlformats.org/officeDocument/2006/relationships/tags" Target="../tags/tag87.xml"/><Relationship Id="rId58" Type="http://schemas.openxmlformats.org/officeDocument/2006/relationships/tags" Target="../tags/tag88.xml"/><Relationship Id="rId59" Type="http://schemas.openxmlformats.org/officeDocument/2006/relationships/hyperlink" Target="..\&#23454;&#36341;&#27979;&#35797;\denbao-pm-game\index.html" TargetMode="External"/><Relationship Id="rId60" Type="http://schemas.openxmlformats.org/officeDocument/2006/relationships/tags" Target="../tags/tag89.xml"/><Relationship Id="rId61" Type="http://schemas.openxmlformats.org/officeDocument/2006/relationships/image" Target="../media/image41.png"/><Relationship Id="rId62" Type="http://schemas.openxmlformats.org/officeDocument/2006/relationships/image" Target="../media/image42.svg"/><Relationship Id="rId63" Type="http://schemas.openxmlformats.org/officeDocument/2006/relationships/tags" Target="../tags/tag90.xml"/><Relationship Id="rId64" Type="http://schemas.openxmlformats.org/officeDocument/2006/relationships/tags" Target="../tags/tag91.xml"/><Relationship Id="rId65" Type="http://schemas.openxmlformats.org/officeDocument/2006/relationships/tags" Target="../tags/tag92.xml"/><Relationship Id="rId66" Type="http://schemas.openxmlformats.org/officeDocument/2006/relationships/tags" Target="../tags/tag93.xml"/><Relationship Id="rId67" Type="http://schemas.openxmlformats.org/officeDocument/2006/relationships/tags" Target="../tags/tag94.xml"/><Relationship Id="rId68" Type="http://schemas.openxmlformats.org/officeDocument/2006/relationships/tags" Target="../tags/tag95.xml"/><Relationship Id="rId69" Type="http://schemas.openxmlformats.org/officeDocument/2006/relationships/tags" Target="../tags/tag96.xml"/><Relationship Id="rId70" Type="http://schemas.openxmlformats.org/officeDocument/2006/relationships/image" Target="../media/image43.svg"/><Relationship Id="rId71" Type="http://schemas.openxmlformats.org/officeDocument/2006/relationships/tags" Target="../tags/tag97.xml"/><Relationship Id="rId72" Type="http://schemas.openxmlformats.org/officeDocument/2006/relationships/tags" Target="../tags/tag98.xml"/><Relationship Id="rId73" Type="http://schemas.openxmlformats.org/officeDocument/2006/relationships/tags" Target="../tags/tag99.xml"/><Relationship Id="rId74" Type="http://schemas.openxmlformats.org/officeDocument/2006/relationships/tags" Target="../tags/tag100.xml"/><Relationship Id="rId75" Type="http://schemas.openxmlformats.org/officeDocument/2006/relationships/slideLayout" Target="../slideLayouts/slideLayout1.xml"/><Relationship Id="rId76" Type="http://schemas.openxmlformats.org/officeDocument/2006/relationships/notesSlide" Target="../notesSlides/notesSlide5.xml"/><Relationship Id="rId77" Type="http://schemas.openxmlformats.org/officeDocument/2006/relationships/hyperlink" Target="D:\&#20449;&#24687;&#23433;&#20840;&#27979;&#35780;&#23454;&#36341;&#25945;&#23398;&#24179;&#21488;\&#23454;&#36341;&#27979;&#35797;\denbao-pm-game\index.html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tags" Target="../tags/tag101.xml"/><Relationship Id="rId5" Type="http://schemas.openxmlformats.org/officeDocument/2006/relationships/image" Target="../media/image44.png"/><Relationship Id="rId6" Type="http://schemas.openxmlformats.org/officeDocument/2006/relationships/image" Target="../media/image45.svg"/><Relationship Id="rId7" Type="http://schemas.openxmlformats.org/officeDocument/2006/relationships/tags" Target="../tags/tag102.xml"/><Relationship Id="rId8" Type="http://schemas.openxmlformats.org/officeDocument/2006/relationships/tags" Target="../tags/tag103.xml"/><Relationship Id="rId9" Type="http://schemas.openxmlformats.org/officeDocument/2006/relationships/tags" Target="../tags/tag104.xml"/><Relationship Id="rId10" Type="http://schemas.openxmlformats.org/officeDocument/2006/relationships/image" Target="../media/image46.png"/><Relationship Id="rId11" Type="http://schemas.openxmlformats.org/officeDocument/2006/relationships/image" Target="../media/image47.svg"/><Relationship Id="rId12" Type="http://schemas.openxmlformats.org/officeDocument/2006/relationships/tags" Target="../tags/tag105.xml"/><Relationship Id="rId13" Type="http://schemas.openxmlformats.org/officeDocument/2006/relationships/tags" Target="../tags/tag106.xml"/><Relationship Id="rId14" Type="http://schemas.openxmlformats.org/officeDocument/2006/relationships/image" Target="../media/image34.png"/><Relationship Id="rId15" Type="http://schemas.openxmlformats.org/officeDocument/2006/relationships/image" Target="../media/image35.svg"/><Relationship Id="rId16" Type="http://schemas.openxmlformats.org/officeDocument/2006/relationships/tags" Target="../tags/tag107.xml"/><Relationship Id="rId17" Type="http://schemas.openxmlformats.org/officeDocument/2006/relationships/tags" Target="../tags/tag108.xml"/><Relationship Id="rId18" Type="http://schemas.openxmlformats.org/officeDocument/2006/relationships/image" Target="../media/image33.png"/><Relationship Id="rId19" Type="http://schemas.openxmlformats.org/officeDocument/2006/relationships/tags" Target="../tags/tag109.xml"/><Relationship Id="rId20" Type="http://schemas.openxmlformats.org/officeDocument/2006/relationships/tags" Target="../tags/tag110.xml"/><Relationship Id="rId21" Type="http://schemas.openxmlformats.org/officeDocument/2006/relationships/tags" Target="../tags/tag111.xml"/><Relationship Id="rId22" Type="http://schemas.openxmlformats.org/officeDocument/2006/relationships/tags" Target="../tags/tag112.xml"/><Relationship Id="rId23" Type="http://schemas.openxmlformats.org/officeDocument/2006/relationships/tags" Target="../tags/tag113.xml"/><Relationship Id="rId24" Type="http://schemas.openxmlformats.org/officeDocument/2006/relationships/tags" Target="../tags/tag114.xml"/><Relationship Id="rId25" Type="http://schemas.openxmlformats.org/officeDocument/2006/relationships/tags" Target="../tags/tag115.xml"/><Relationship Id="rId26" Type="http://schemas.openxmlformats.org/officeDocument/2006/relationships/tags" Target="../tags/tag116.xml"/><Relationship Id="rId27" Type="http://schemas.openxmlformats.org/officeDocument/2006/relationships/tags" Target="../tags/tag117.xml"/><Relationship Id="rId28" Type="http://schemas.openxmlformats.org/officeDocument/2006/relationships/tags" Target="../tags/tag118.xml"/><Relationship Id="rId29" Type="http://schemas.openxmlformats.org/officeDocument/2006/relationships/tags" Target="../tags/tag119.xml"/><Relationship Id="rId30" Type="http://schemas.openxmlformats.org/officeDocument/2006/relationships/tags" Target="../tags/tag120.xml"/><Relationship Id="rId31" Type="http://schemas.openxmlformats.org/officeDocument/2006/relationships/tags" Target="../tags/tag121.xml"/><Relationship Id="rId32" Type="http://schemas.openxmlformats.org/officeDocument/2006/relationships/tags" Target="../tags/tag122.xml"/><Relationship Id="rId33" Type="http://schemas.openxmlformats.org/officeDocument/2006/relationships/tags" Target="../tags/tag123.xml"/><Relationship Id="rId34" Type="http://schemas.openxmlformats.org/officeDocument/2006/relationships/tags" Target="../tags/tag124.xml"/><Relationship Id="rId35" Type="http://schemas.openxmlformats.org/officeDocument/2006/relationships/tags" Target="../tags/tag125.xml"/><Relationship Id="rId36" Type="http://schemas.openxmlformats.org/officeDocument/2006/relationships/tags" Target="../tags/tag126.xml"/><Relationship Id="rId37" Type="http://schemas.openxmlformats.org/officeDocument/2006/relationships/tags" Target="../tags/tag127.xml"/><Relationship Id="rId38" Type="http://schemas.openxmlformats.org/officeDocument/2006/relationships/tags" Target="../tags/tag128.xml"/><Relationship Id="rId39" Type="http://schemas.openxmlformats.org/officeDocument/2006/relationships/tags" Target="../tags/tag129.xml"/><Relationship Id="rId40" Type="http://schemas.openxmlformats.org/officeDocument/2006/relationships/tags" Target="../tags/tag130.xml"/><Relationship Id="rId41" Type="http://schemas.openxmlformats.org/officeDocument/2006/relationships/tags" Target="../tags/tag131.xml"/><Relationship Id="rId42" Type="http://schemas.openxmlformats.org/officeDocument/2006/relationships/tags" Target="../tags/tag132.xml"/><Relationship Id="rId43" Type="http://schemas.openxmlformats.org/officeDocument/2006/relationships/tags" Target="../tags/tag133.xml"/><Relationship Id="rId44" Type="http://schemas.openxmlformats.org/officeDocument/2006/relationships/tags" Target="../tags/tag134.xml"/><Relationship Id="rId45" Type="http://schemas.openxmlformats.org/officeDocument/2006/relationships/tags" Target="../tags/tag135.xml"/><Relationship Id="rId46" Type="http://schemas.openxmlformats.org/officeDocument/2006/relationships/tags" Target="../tags/tag136.xml"/><Relationship Id="rId47" Type="http://schemas.openxmlformats.org/officeDocument/2006/relationships/tags" Target="../tags/tag137.xml"/><Relationship Id="rId48" Type="http://schemas.openxmlformats.org/officeDocument/2006/relationships/tags" Target="../tags/tag138.xml"/><Relationship Id="rId49" Type="http://schemas.openxmlformats.org/officeDocument/2006/relationships/tags" Target="../tags/tag139.xml"/><Relationship Id="rId50" Type="http://schemas.openxmlformats.org/officeDocument/2006/relationships/tags" Target="../tags/tag140.xml"/><Relationship Id="rId51" Type="http://schemas.openxmlformats.org/officeDocument/2006/relationships/tags" Target="../tags/tag141.xml"/><Relationship Id="rId52" Type="http://schemas.openxmlformats.org/officeDocument/2006/relationships/slideLayout" Target="../slideLayouts/slideLayout1.xml"/><Relationship Id="rId5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tags" Target="../tags/tag101.xml"/><Relationship Id="rId5" Type="http://schemas.openxmlformats.org/officeDocument/2006/relationships/image" Target="../media/image44.png"/><Relationship Id="rId6" Type="http://schemas.openxmlformats.org/officeDocument/2006/relationships/image" Target="../media/image45.svg"/><Relationship Id="rId7" Type="http://schemas.openxmlformats.org/officeDocument/2006/relationships/tags" Target="../tags/tag102.xml"/><Relationship Id="rId8" Type="http://schemas.openxmlformats.org/officeDocument/2006/relationships/tags" Target="../tags/tag103.xml"/><Relationship Id="rId9" Type="http://schemas.openxmlformats.org/officeDocument/2006/relationships/tags" Target="../tags/tag104.xml"/><Relationship Id="rId10" Type="http://schemas.openxmlformats.org/officeDocument/2006/relationships/image" Target="../media/image46.png"/><Relationship Id="rId11" Type="http://schemas.openxmlformats.org/officeDocument/2006/relationships/image" Target="../media/image47.svg"/><Relationship Id="rId12" Type="http://schemas.openxmlformats.org/officeDocument/2006/relationships/tags" Target="../tags/tag105.xml"/><Relationship Id="rId13" Type="http://schemas.openxmlformats.org/officeDocument/2006/relationships/tags" Target="../tags/tag106.xml"/><Relationship Id="rId14" Type="http://schemas.openxmlformats.org/officeDocument/2006/relationships/image" Target="../media/image34.png"/><Relationship Id="rId15" Type="http://schemas.openxmlformats.org/officeDocument/2006/relationships/image" Target="../media/image35.svg"/><Relationship Id="rId16" Type="http://schemas.openxmlformats.org/officeDocument/2006/relationships/tags" Target="../tags/tag107.xml"/><Relationship Id="rId17" Type="http://schemas.openxmlformats.org/officeDocument/2006/relationships/tags" Target="../tags/tag108.xml"/><Relationship Id="rId18" Type="http://schemas.openxmlformats.org/officeDocument/2006/relationships/image" Target="../media/image33.png"/><Relationship Id="rId19" Type="http://schemas.openxmlformats.org/officeDocument/2006/relationships/tags" Target="../tags/tag109.xml"/><Relationship Id="rId20" Type="http://schemas.openxmlformats.org/officeDocument/2006/relationships/tags" Target="../tags/tag110.xml"/><Relationship Id="rId21" Type="http://schemas.openxmlformats.org/officeDocument/2006/relationships/tags" Target="../tags/tag111.xml"/><Relationship Id="rId22" Type="http://schemas.openxmlformats.org/officeDocument/2006/relationships/tags" Target="../tags/tag112.xml"/><Relationship Id="rId23" Type="http://schemas.openxmlformats.org/officeDocument/2006/relationships/tags" Target="../tags/tag113.xml"/><Relationship Id="rId24" Type="http://schemas.openxmlformats.org/officeDocument/2006/relationships/tags" Target="../tags/tag114.xml"/><Relationship Id="rId25" Type="http://schemas.openxmlformats.org/officeDocument/2006/relationships/tags" Target="../tags/tag115.xml"/><Relationship Id="rId26" Type="http://schemas.openxmlformats.org/officeDocument/2006/relationships/tags" Target="../tags/tag116.xml"/><Relationship Id="rId27" Type="http://schemas.openxmlformats.org/officeDocument/2006/relationships/tags" Target="../tags/tag117.xml"/><Relationship Id="rId28" Type="http://schemas.openxmlformats.org/officeDocument/2006/relationships/tags" Target="../tags/tag118.xml"/><Relationship Id="rId29" Type="http://schemas.openxmlformats.org/officeDocument/2006/relationships/tags" Target="../tags/tag119.xml"/><Relationship Id="rId30" Type="http://schemas.openxmlformats.org/officeDocument/2006/relationships/tags" Target="../tags/tag120.xml"/><Relationship Id="rId31" Type="http://schemas.openxmlformats.org/officeDocument/2006/relationships/tags" Target="../tags/tag121.xml"/><Relationship Id="rId32" Type="http://schemas.openxmlformats.org/officeDocument/2006/relationships/tags" Target="../tags/tag122.xml"/><Relationship Id="rId33" Type="http://schemas.openxmlformats.org/officeDocument/2006/relationships/tags" Target="../tags/tag123.xml"/><Relationship Id="rId34" Type="http://schemas.openxmlformats.org/officeDocument/2006/relationships/tags" Target="../tags/tag124.xml"/><Relationship Id="rId35" Type="http://schemas.openxmlformats.org/officeDocument/2006/relationships/tags" Target="../tags/tag125.xml"/><Relationship Id="rId36" Type="http://schemas.openxmlformats.org/officeDocument/2006/relationships/tags" Target="../tags/tag126.xml"/><Relationship Id="rId37" Type="http://schemas.openxmlformats.org/officeDocument/2006/relationships/tags" Target="../tags/tag127.xml"/><Relationship Id="rId38" Type="http://schemas.openxmlformats.org/officeDocument/2006/relationships/tags" Target="../tags/tag128.xml"/><Relationship Id="rId39" Type="http://schemas.openxmlformats.org/officeDocument/2006/relationships/tags" Target="../tags/tag129.xml"/><Relationship Id="rId40" Type="http://schemas.openxmlformats.org/officeDocument/2006/relationships/tags" Target="../tags/tag130.xml"/><Relationship Id="rId41" Type="http://schemas.openxmlformats.org/officeDocument/2006/relationships/tags" Target="../tags/tag131.xml"/><Relationship Id="rId42" Type="http://schemas.openxmlformats.org/officeDocument/2006/relationships/tags" Target="../tags/tag132.xml"/><Relationship Id="rId43" Type="http://schemas.openxmlformats.org/officeDocument/2006/relationships/tags" Target="../tags/tag133.xml"/><Relationship Id="rId44" Type="http://schemas.openxmlformats.org/officeDocument/2006/relationships/tags" Target="../tags/tag134.xml"/><Relationship Id="rId45" Type="http://schemas.openxmlformats.org/officeDocument/2006/relationships/tags" Target="../tags/tag135.xml"/><Relationship Id="rId46" Type="http://schemas.openxmlformats.org/officeDocument/2006/relationships/tags" Target="../tags/tag136.xml"/><Relationship Id="rId47" Type="http://schemas.openxmlformats.org/officeDocument/2006/relationships/tags" Target="../tags/tag137.xml"/><Relationship Id="rId48" Type="http://schemas.openxmlformats.org/officeDocument/2006/relationships/tags" Target="../tags/tag138.xml"/><Relationship Id="rId49" Type="http://schemas.openxmlformats.org/officeDocument/2006/relationships/tags" Target="../tags/tag139.xml"/><Relationship Id="rId50" Type="http://schemas.openxmlformats.org/officeDocument/2006/relationships/tags" Target="../tags/tag140.xml"/><Relationship Id="rId51" Type="http://schemas.openxmlformats.org/officeDocument/2006/relationships/tags" Target="../tags/tag141.xml"/><Relationship Id="rId52" Type="http://schemas.openxmlformats.org/officeDocument/2006/relationships/slideLayout" Target="../slideLayouts/slideLayout1.xml"/><Relationship Id="rId53" Type="http://schemas.openxmlformats.org/officeDocument/2006/relationships/hyperlink" Target="D:\&#20449;&#24687;&#23433;&#20840;&#27979;&#35780;&#23454;&#36341;&#25945;&#23398;&#24179;&#21488;\&#23454;&#36341;&#27979;&#35797;\denbao-pm-game\index.ht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tags" Target="../tags/tag164.xml"/><Relationship Id="rId5" Type="http://schemas.openxmlformats.org/officeDocument/2006/relationships/image" Target="../media/image156.png"/><Relationship Id="rId6" Type="http://schemas.openxmlformats.org/officeDocument/2006/relationships/tags" Target="../tags/tag165.xml"/><Relationship Id="rId7" Type="http://schemas.openxmlformats.org/officeDocument/2006/relationships/image" Target="../media/image157.png"/><Relationship Id="rId8" Type="http://schemas.openxmlformats.org/officeDocument/2006/relationships/image" Target="../media/image158.svg"/><Relationship Id="rId9" Type="http://schemas.openxmlformats.org/officeDocument/2006/relationships/tags" Target="../tags/tag166.xml"/><Relationship Id="rId10" Type="http://schemas.openxmlformats.org/officeDocument/2006/relationships/tags" Target="../tags/tag167.xml"/><Relationship Id="rId11" Type="http://schemas.openxmlformats.org/officeDocument/2006/relationships/tags" Target="../tags/tag168.xml"/><Relationship Id="rId12" Type="http://schemas.openxmlformats.org/officeDocument/2006/relationships/tags" Target="../tags/tag169.xml"/><Relationship Id="rId13" Type="http://schemas.openxmlformats.org/officeDocument/2006/relationships/image" Target="../media/image159.png"/><Relationship Id="rId14" Type="http://schemas.openxmlformats.org/officeDocument/2006/relationships/tags" Target="../tags/tag170.xml"/><Relationship Id="rId15" Type="http://schemas.openxmlformats.org/officeDocument/2006/relationships/tags" Target="../tags/tag171.xml"/><Relationship Id="rId16" Type="http://schemas.openxmlformats.org/officeDocument/2006/relationships/tags" Target="../tags/tag172.xml"/><Relationship Id="rId17" Type="http://schemas.openxmlformats.org/officeDocument/2006/relationships/tags" Target="../tags/tag173.xml"/><Relationship Id="rId18" Type="http://schemas.openxmlformats.org/officeDocument/2006/relationships/tags" Target="../tags/tag174.xml"/><Relationship Id="rId19" Type="http://schemas.openxmlformats.org/officeDocument/2006/relationships/tags" Target="../tags/tag175.xml"/><Relationship Id="rId20" Type="http://schemas.openxmlformats.org/officeDocument/2006/relationships/tags" Target="../tags/tag176.xml"/><Relationship Id="rId21" Type="http://schemas.openxmlformats.org/officeDocument/2006/relationships/tags" Target="../tags/tag177.xml"/><Relationship Id="rId22" Type="http://schemas.openxmlformats.org/officeDocument/2006/relationships/tags" Target="../tags/tag178.xml"/><Relationship Id="rId23" Type="http://schemas.openxmlformats.org/officeDocument/2006/relationships/tags" Target="../tags/tag179.xml"/><Relationship Id="rId24" Type="http://schemas.openxmlformats.org/officeDocument/2006/relationships/tags" Target="../tags/tag180.xml"/><Relationship Id="rId25" Type="http://schemas.openxmlformats.org/officeDocument/2006/relationships/tags" Target="../tags/tag181.xml"/><Relationship Id="rId26" Type="http://schemas.openxmlformats.org/officeDocument/2006/relationships/tags" Target="../tags/tag182.xml"/><Relationship Id="rId27" Type="http://schemas.openxmlformats.org/officeDocument/2006/relationships/tags" Target="../tags/tag183.xml"/><Relationship Id="rId28" Type="http://schemas.openxmlformats.org/officeDocument/2006/relationships/tags" Target="../tags/tag184.xml"/><Relationship Id="rId29" Type="http://schemas.openxmlformats.org/officeDocument/2006/relationships/tags" Target="../tags/tag185.xml"/><Relationship Id="rId30" Type="http://schemas.openxmlformats.org/officeDocument/2006/relationships/tags" Target="../tags/tag186.xml"/><Relationship Id="rId31" Type="http://schemas.openxmlformats.org/officeDocument/2006/relationships/tags" Target="../tags/tag187.xml"/><Relationship Id="rId32" Type="http://schemas.openxmlformats.org/officeDocument/2006/relationships/image" Target="../media/image160.png"/><Relationship Id="rId33" Type="http://schemas.openxmlformats.org/officeDocument/2006/relationships/image" Target="../media/image161.svg"/><Relationship Id="rId34" Type="http://schemas.openxmlformats.org/officeDocument/2006/relationships/tags" Target="../tags/tag188.xml"/><Relationship Id="rId35" Type="http://schemas.openxmlformats.org/officeDocument/2006/relationships/image" Target="../media/image162.png"/><Relationship Id="rId36" Type="http://schemas.openxmlformats.org/officeDocument/2006/relationships/tags" Target="../tags/tag189.xml"/><Relationship Id="rId37" Type="http://schemas.openxmlformats.org/officeDocument/2006/relationships/tags" Target="../tags/tag190.xml"/><Relationship Id="rId38" Type="http://schemas.openxmlformats.org/officeDocument/2006/relationships/tags" Target="../tags/tag191.xml"/><Relationship Id="rId39" Type="http://schemas.openxmlformats.org/officeDocument/2006/relationships/slideLayout" Target="../slideLayouts/slideLayout1.xml"/><Relationship Id="rId40" Type="http://schemas.openxmlformats.org/officeDocument/2006/relationships/hyperlink" Target="D:\&#20449;&#24687;&#23433;&#20840;&#27979;&#35780;&#23454;&#36341;&#25945;&#23398;&#24179;&#21488;\&#23454;&#36341;&#27979;&#35797;\denbao-pm-game\index.html" TargetMode="External"/><Relationship Id="rId41" Type="http://schemas.openxmlformats.org/officeDocument/2006/relationships/notesSlide" Target="../notesSlides/notesSlide2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63.png"/><Relationship Id="rId5" Type="http://schemas.openxmlformats.org/officeDocument/2006/relationships/image" Target="../media/image164.svg"/><Relationship Id="rId6" Type="http://schemas.openxmlformats.org/officeDocument/2006/relationships/image" Target="../media/image165.png"/><Relationship Id="rId7" Type="http://schemas.openxmlformats.org/officeDocument/2006/relationships/image" Target="../media/image166.svg"/><Relationship Id="rId8" Type="http://schemas.openxmlformats.org/officeDocument/2006/relationships/image" Target="../media/image167.png"/><Relationship Id="rId9" Type="http://schemas.openxmlformats.org/officeDocument/2006/relationships/image" Target="../media/image168.png"/><Relationship Id="rId10" Type="http://schemas.openxmlformats.org/officeDocument/2006/relationships/image" Target="../media/image169.svg"/><Relationship Id="rId11" Type="http://schemas.openxmlformats.org/officeDocument/2006/relationships/image" Target="../media/image170.png"/><Relationship Id="rId12" Type="http://schemas.openxmlformats.org/officeDocument/2006/relationships/image" Target="../media/image171.svg"/><Relationship Id="rId13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48.png"/><Relationship Id="rId5" Type="http://schemas.openxmlformats.org/officeDocument/2006/relationships/image" Target="../media/image49.sv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svg"/><Relationship Id="rId9" Type="http://schemas.openxmlformats.org/officeDocument/2006/relationships/image" Target="../media/image53.png"/><Relationship Id="rId10" Type="http://schemas.openxmlformats.org/officeDocument/2006/relationships/image" Target="../media/image54.png"/><Relationship Id="rId11" Type="http://schemas.openxmlformats.org/officeDocument/2006/relationships/image" Target="../media/image55.png"/><Relationship Id="rId12" Type="http://schemas.openxmlformats.org/officeDocument/2006/relationships/image" Target="../media/image56.svg"/><Relationship Id="rId13" Type="http://schemas.openxmlformats.org/officeDocument/2006/relationships/image" Target="../media/image57.png"/><Relationship Id="rId14" Type="http://schemas.openxmlformats.org/officeDocument/2006/relationships/image" Target="../media/image58.svg"/><Relationship Id="rId15" Type="http://schemas.openxmlformats.org/officeDocument/2006/relationships/image" Target="../media/image59.png"/><Relationship Id="rId16" Type="http://schemas.openxmlformats.org/officeDocument/2006/relationships/image" Target="../media/image60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6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svg"/><Relationship Id="rId8" Type="http://schemas.openxmlformats.org/officeDocument/2006/relationships/image" Target="../media/image66.png"/><Relationship Id="rId9" Type="http://schemas.openxmlformats.org/officeDocument/2006/relationships/image" Target="../media/image67.svg"/><Relationship Id="rId10" Type="http://schemas.openxmlformats.org/officeDocument/2006/relationships/image" Target="../media/image68.png"/><Relationship Id="rId11" Type="http://schemas.openxmlformats.org/officeDocument/2006/relationships/image" Target="../media/image69.sv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svg"/><Relationship Id="rId12" Type="http://schemas.openxmlformats.org/officeDocument/2006/relationships/image" Target="../media/image78.png"/><Relationship Id="rId13" Type="http://schemas.openxmlformats.org/officeDocument/2006/relationships/image" Target="../media/image79.png"/><Relationship Id="rId14" Type="http://schemas.openxmlformats.org/officeDocument/2006/relationships/image" Target="../media/image27.svg"/><Relationship Id="rId15" Type="http://schemas.openxmlformats.org/officeDocument/2006/relationships/image" Target="../media/image80.png"/><Relationship Id="rId16" Type="http://schemas.openxmlformats.org/officeDocument/2006/relationships/image" Target="../media/image81.png"/><Relationship Id="rId17" Type="http://schemas.openxmlformats.org/officeDocument/2006/relationships/image" Target="../media/image82.sv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86.png"/><Relationship Id="rId5" Type="http://schemas.openxmlformats.org/officeDocument/2006/relationships/image" Target="../media/image87.svg"/><Relationship Id="rId6" Type="http://schemas.openxmlformats.org/officeDocument/2006/relationships/image" Target="../media/image88.png"/><Relationship Id="rId7" Type="http://schemas.openxmlformats.org/officeDocument/2006/relationships/image" Target="../media/image89.png"/><Relationship Id="rId8" Type="http://schemas.openxmlformats.org/officeDocument/2006/relationships/image" Target="../media/image90.png"/><Relationship Id="rId9" Type="http://schemas.openxmlformats.org/officeDocument/2006/relationships/image" Target="../media/image91.svg"/><Relationship Id="rId10" Type="http://schemas.openxmlformats.org/officeDocument/2006/relationships/image" Target="../media/image92.png"/><Relationship Id="rId11" Type="http://schemas.openxmlformats.org/officeDocument/2006/relationships/image" Target="../media/image93.svg"/><Relationship Id="rId12" Type="http://schemas.openxmlformats.org/officeDocument/2006/relationships/image" Target="../media/image94.png"/><Relationship Id="rId13" Type="http://schemas.openxmlformats.org/officeDocument/2006/relationships/image" Target="../media/image95.svg"/><Relationship Id="rId14" Type="http://schemas.openxmlformats.org/officeDocument/2006/relationships/image" Target="../media/image96.png"/><Relationship Id="rId15" Type="http://schemas.openxmlformats.org/officeDocument/2006/relationships/image" Target="../media/image97.svg"/><Relationship Id="rId16" Type="http://schemas.openxmlformats.org/officeDocument/2006/relationships/image" Target="../media/image98.png"/><Relationship Id="rId17" Type="http://schemas.openxmlformats.org/officeDocument/2006/relationships/image" Target="../media/image99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00.png"/><Relationship Id="rId5" Type="http://schemas.openxmlformats.org/officeDocument/2006/relationships/image" Target="../media/image102.png"/><Relationship Id="rId6" Type="http://schemas.openxmlformats.org/officeDocument/2006/relationships/image" Target="../media/image103.svg"/><Relationship Id="rId7" Type="http://schemas.openxmlformats.org/officeDocument/2006/relationships/image" Target="../media/image10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04.png"/><Relationship Id="rId5" Type="http://schemas.openxmlformats.org/officeDocument/2006/relationships/image" Target="../media/image105.png"/><Relationship Id="rId6" Type="http://schemas.openxmlformats.org/officeDocument/2006/relationships/image" Target="../media/image106.svg"/><Relationship Id="rId7" Type="http://schemas.openxmlformats.org/officeDocument/2006/relationships/image" Target="../media/image107.png"/><Relationship Id="rId8" Type="http://schemas.openxmlformats.org/officeDocument/2006/relationships/image" Target="../media/image108.svg"/><Relationship Id="rId9" Type="http://schemas.openxmlformats.org/officeDocument/2006/relationships/image" Target="../media/image109.png"/><Relationship Id="rId10" Type="http://schemas.openxmlformats.org/officeDocument/2006/relationships/image" Target="../media/image110.svg"/><Relationship Id="rId11" Type="http://schemas.openxmlformats.org/officeDocument/2006/relationships/image" Target="../media/image111.png"/><Relationship Id="rId12" Type="http://schemas.openxmlformats.org/officeDocument/2006/relationships/image" Target="../media/image112.svg"/><Relationship Id="rId13" Type="http://schemas.openxmlformats.org/officeDocument/2006/relationships/image" Target="../media/image101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13.png"/><Relationship Id="rId5" Type="http://schemas.openxmlformats.org/officeDocument/2006/relationships/image" Target="../media/image114.png"/><Relationship Id="rId6" Type="http://schemas.openxmlformats.org/officeDocument/2006/relationships/image" Target="../media/image115.svg"/><Relationship Id="rId7" Type="http://schemas.openxmlformats.org/officeDocument/2006/relationships/image" Target="../media/image116.png"/><Relationship Id="rId8" Type="http://schemas.openxmlformats.org/officeDocument/2006/relationships/image" Target="../media/image117.png"/><Relationship Id="rId9" Type="http://schemas.openxmlformats.org/officeDocument/2006/relationships/image" Target="../media/image118.svg"/><Relationship Id="rId10" Type="http://schemas.openxmlformats.org/officeDocument/2006/relationships/image" Target="../media/image119.png"/><Relationship Id="rId11" Type="http://schemas.openxmlformats.org/officeDocument/2006/relationships/image" Target="../media/image120.png"/><Relationship Id="rId12" Type="http://schemas.openxmlformats.org/officeDocument/2006/relationships/image" Target="../media/image121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3.png"/><Relationship Id="rId5" Type="http://schemas.openxmlformats.org/officeDocument/2006/relationships/image" Target="../media/image124.sv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tags" Target="../tags/tag142.xml"/><Relationship Id="rId5" Type="http://schemas.openxmlformats.org/officeDocument/2006/relationships/image" Target="../media/image127.png"/><Relationship Id="rId6" Type="http://schemas.openxmlformats.org/officeDocument/2006/relationships/tags" Target="../tags/tag143.xml"/><Relationship Id="rId7" Type="http://schemas.openxmlformats.org/officeDocument/2006/relationships/image" Target="../media/image128.png"/><Relationship Id="rId8" Type="http://schemas.openxmlformats.org/officeDocument/2006/relationships/image" Target="../media/image129.svg"/><Relationship Id="rId9" Type="http://schemas.openxmlformats.org/officeDocument/2006/relationships/tags" Target="../tags/tag144.xml"/><Relationship Id="rId10" Type="http://schemas.openxmlformats.org/officeDocument/2006/relationships/tags" Target="../tags/tag145.xml"/><Relationship Id="rId11" Type="http://schemas.openxmlformats.org/officeDocument/2006/relationships/image" Target="../media/image130.png"/><Relationship Id="rId12" Type="http://schemas.openxmlformats.org/officeDocument/2006/relationships/image" Target="../media/image131.svg"/><Relationship Id="rId13" Type="http://schemas.openxmlformats.org/officeDocument/2006/relationships/tags" Target="../tags/tag146.xml"/><Relationship Id="rId14" Type="http://schemas.openxmlformats.org/officeDocument/2006/relationships/tags" Target="../tags/tag147.xml"/><Relationship Id="rId15" Type="http://schemas.openxmlformats.org/officeDocument/2006/relationships/tags" Target="../tags/tag148.xml"/><Relationship Id="rId16" Type="http://schemas.openxmlformats.org/officeDocument/2006/relationships/tags" Target="../tags/tag149.xml"/><Relationship Id="rId17" Type="http://schemas.openxmlformats.org/officeDocument/2006/relationships/tags" Target="../tags/tag150.xml"/><Relationship Id="rId18" Type="http://schemas.openxmlformats.org/officeDocument/2006/relationships/tags" Target="../tags/tag151.xml"/><Relationship Id="rId19" Type="http://schemas.openxmlformats.org/officeDocument/2006/relationships/tags" Target="../tags/tag152.xml"/><Relationship Id="rId20" Type="http://schemas.openxmlformats.org/officeDocument/2006/relationships/image" Target="../media/image132.png"/><Relationship Id="rId21" Type="http://schemas.openxmlformats.org/officeDocument/2006/relationships/image" Target="../media/image133.svg"/><Relationship Id="rId22" Type="http://schemas.openxmlformats.org/officeDocument/2006/relationships/tags" Target="../tags/tag153.xml"/><Relationship Id="rId23" Type="http://schemas.openxmlformats.org/officeDocument/2006/relationships/tags" Target="../tags/tag154.xml"/><Relationship Id="rId24" Type="http://schemas.openxmlformats.org/officeDocument/2006/relationships/tags" Target="../tags/tag155.xml"/><Relationship Id="rId25" Type="http://schemas.openxmlformats.org/officeDocument/2006/relationships/tags" Target="../tags/tag156.xml"/><Relationship Id="rId26" Type="http://schemas.openxmlformats.org/officeDocument/2006/relationships/tags" Target="../tags/tag157.xml"/><Relationship Id="rId27" Type="http://schemas.openxmlformats.org/officeDocument/2006/relationships/tags" Target="../tags/tag158.xml"/><Relationship Id="rId28" Type="http://schemas.openxmlformats.org/officeDocument/2006/relationships/tags" Target="../tags/tag159.xml"/><Relationship Id="rId29" Type="http://schemas.openxmlformats.org/officeDocument/2006/relationships/image" Target="../media/image134.png"/><Relationship Id="rId30" Type="http://schemas.openxmlformats.org/officeDocument/2006/relationships/image" Target="../media/image135.svg"/><Relationship Id="rId31" Type="http://schemas.openxmlformats.org/officeDocument/2006/relationships/tags" Target="../tags/tag160.xml"/><Relationship Id="rId32" Type="http://schemas.openxmlformats.org/officeDocument/2006/relationships/tags" Target="../tags/tag161.xml"/><Relationship Id="rId33" Type="http://schemas.openxmlformats.org/officeDocument/2006/relationships/tags" Target="../tags/tag162.xml"/><Relationship Id="rId34" Type="http://schemas.openxmlformats.org/officeDocument/2006/relationships/tags" Target="../tags/tag163.xml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36.png"/><Relationship Id="rId5" Type="http://schemas.openxmlformats.org/officeDocument/2006/relationships/image" Target="../media/image137.png"/><Relationship Id="rId6" Type="http://schemas.openxmlformats.org/officeDocument/2006/relationships/image" Target="../media/image138.png"/><Relationship Id="rId7" Type="http://schemas.openxmlformats.org/officeDocument/2006/relationships/image" Target="../media/image139.png"/><Relationship Id="rId8" Type="http://schemas.openxmlformats.org/officeDocument/2006/relationships/image" Target="../media/image140.png"/><Relationship Id="rId9" Type="http://schemas.openxmlformats.org/officeDocument/2006/relationships/image" Target="../media/image14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42.png"/><Relationship Id="rId5" Type="http://schemas.openxmlformats.org/officeDocument/2006/relationships/image" Target="../media/image143.svg"/><Relationship Id="rId6" Type="http://schemas.openxmlformats.org/officeDocument/2006/relationships/image" Target="../media/image144.png"/><Relationship Id="rId7" Type="http://schemas.openxmlformats.org/officeDocument/2006/relationships/image" Target="../media/image145.svg"/><Relationship Id="rId8" Type="http://schemas.openxmlformats.org/officeDocument/2006/relationships/image" Target="../media/image146.png"/><Relationship Id="rId9" Type="http://schemas.openxmlformats.org/officeDocument/2006/relationships/image" Target="../media/image147.svg"/><Relationship Id="rId10" Type="http://schemas.openxmlformats.org/officeDocument/2006/relationships/image" Target="../media/image148.png"/><Relationship Id="rId11" Type="http://schemas.openxmlformats.org/officeDocument/2006/relationships/image" Target="../media/image149.svg"/><Relationship Id="rId12" Type="http://schemas.openxmlformats.org/officeDocument/2006/relationships/image" Target="../media/image150.png"/><Relationship Id="rId13" Type="http://schemas.openxmlformats.org/officeDocument/2006/relationships/image" Target="../media/image151.png"/><Relationship Id="rId14" Type="http://schemas.openxmlformats.org/officeDocument/2006/relationships/image" Target="../media/image152.svg"/><Relationship Id="rId15" Type="http://schemas.openxmlformats.org/officeDocument/2006/relationships/image" Target="../media/image153.png"/><Relationship Id="rId16" Type="http://schemas.openxmlformats.org/officeDocument/2006/relationships/image" Target="../media/image154.png"/><Relationship Id="rId17" Type="http://schemas.openxmlformats.org/officeDocument/2006/relationships/image" Target="../media/image155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tags" Target="../tags/tag164.xml"/><Relationship Id="rId5" Type="http://schemas.openxmlformats.org/officeDocument/2006/relationships/image" Target="../media/image156.png"/><Relationship Id="rId6" Type="http://schemas.openxmlformats.org/officeDocument/2006/relationships/tags" Target="../tags/tag165.xml"/><Relationship Id="rId7" Type="http://schemas.openxmlformats.org/officeDocument/2006/relationships/image" Target="../media/image157.png"/><Relationship Id="rId8" Type="http://schemas.openxmlformats.org/officeDocument/2006/relationships/image" Target="../media/image158.svg"/><Relationship Id="rId9" Type="http://schemas.openxmlformats.org/officeDocument/2006/relationships/tags" Target="../tags/tag166.xml"/><Relationship Id="rId10" Type="http://schemas.openxmlformats.org/officeDocument/2006/relationships/tags" Target="../tags/tag167.xml"/><Relationship Id="rId11" Type="http://schemas.openxmlformats.org/officeDocument/2006/relationships/tags" Target="../tags/tag168.xml"/><Relationship Id="rId12" Type="http://schemas.openxmlformats.org/officeDocument/2006/relationships/tags" Target="../tags/tag169.xml"/><Relationship Id="rId13" Type="http://schemas.openxmlformats.org/officeDocument/2006/relationships/image" Target="../media/image159.png"/><Relationship Id="rId14" Type="http://schemas.openxmlformats.org/officeDocument/2006/relationships/tags" Target="../tags/tag170.xml"/><Relationship Id="rId15" Type="http://schemas.openxmlformats.org/officeDocument/2006/relationships/tags" Target="../tags/tag171.xml"/><Relationship Id="rId16" Type="http://schemas.openxmlformats.org/officeDocument/2006/relationships/tags" Target="../tags/tag172.xml"/><Relationship Id="rId17" Type="http://schemas.openxmlformats.org/officeDocument/2006/relationships/tags" Target="../tags/tag173.xml"/><Relationship Id="rId18" Type="http://schemas.openxmlformats.org/officeDocument/2006/relationships/tags" Target="../tags/tag174.xml"/><Relationship Id="rId19" Type="http://schemas.openxmlformats.org/officeDocument/2006/relationships/tags" Target="../tags/tag175.xml"/><Relationship Id="rId20" Type="http://schemas.openxmlformats.org/officeDocument/2006/relationships/tags" Target="../tags/tag176.xml"/><Relationship Id="rId21" Type="http://schemas.openxmlformats.org/officeDocument/2006/relationships/tags" Target="../tags/tag177.xml"/><Relationship Id="rId22" Type="http://schemas.openxmlformats.org/officeDocument/2006/relationships/tags" Target="../tags/tag178.xml"/><Relationship Id="rId23" Type="http://schemas.openxmlformats.org/officeDocument/2006/relationships/tags" Target="../tags/tag179.xml"/><Relationship Id="rId24" Type="http://schemas.openxmlformats.org/officeDocument/2006/relationships/tags" Target="../tags/tag180.xml"/><Relationship Id="rId25" Type="http://schemas.openxmlformats.org/officeDocument/2006/relationships/tags" Target="../tags/tag181.xml"/><Relationship Id="rId26" Type="http://schemas.openxmlformats.org/officeDocument/2006/relationships/tags" Target="../tags/tag182.xml"/><Relationship Id="rId27" Type="http://schemas.openxmlformats.org/officeDocument/2006/relationships/tags" Target="../tags/tag183.xml"/><Relationship Id="rId28" Type="http://schemas.openxmlformats.org/officeDocument/2006/relationships/tags" Target="../tags/tag184.xml"/><Relationship Id="rId29" Type="http://schemas.openxmlformats.org/officeDocument/2006/relationships/tags" Target="../tags/tag185.xml"/><Relationship Id="rId30" Type="http://schemas.openxmlformats.org/officeDocument/2006/relationships/tags" Target="../tags/tag186.xml"/><Relationship Id="rId31" Type="http://schemas.openxmlformats.org/officeDocument/2006/relationships/tags" Target="../tags/tag187.xml"/><Relationship Id="rId32" Type="http://schemas.openxmlformats.org/officeDocument/2006/relationships/image" Target="../media/image160.png"/><Relationship Id="rId33" Type="http://schemas.openxmlformats.org/officeDocument/2006/relationships/image" Target="../media/image161.svg"/><Relationship Id="rId34" Type="http://schemas.openxmlformats.org/officeDocument/2006/relationships/tags" Target="../tags/tag188.xml"/><Relationship Id="rId35" Type="http://schemas.openxmlformats.org/officeDocument/2006/relationships/image" Target="../media/image162.png"/><Relationship Id="rId36" Type="http://schemas.openxmlformats.org/officeDocument/2006/relationships/tags" Target="../tags/tag189.xml"/><Relationship Id="rId37" Type="http://schemas.openxmlformats.org/officeDocument/2006/relationships/tags" Target="../tags/tag190.xml"/><Relationship Id="rId38" Type="http://schemas.openxmlformats.org/officeDocument/2006/relationships/tags" Target="../tags/tag191.xml"/><Relationship Id="rId39" Type="http://schemas.openxmlformats.org/officeDocument/2006/relationships/slideLayout" Target="../slideLayouts/slideLayout1.xml"/><Relationship Id="rId40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63.png"/><Relationship Id="rId5" Type="http://schemas.openxmlformats.org/officeDocument/2006/relationships/image" Target="../media/image164.svg"/><Relationship Id="rId6" Type="http://schemas.openxmlformats.org/officeDocument/2006/relationships/image" Target="../media/image165.png"/><Relationship Id="rId7" Type="http://schemas.openxmlformats.org/officeDocument/2006/relationships/image" Target="../media/image166.svg"/><Relationship Id="rId8" Type="http://schemas.openxmlformats.org/officeDocument/2006/relationships/image" Target="../media/image167.png"/><Relationship Id="rId9" Type="http://schemas.openxmlformats.org/officeDocument/2006/relationships/image" Target="../media/image168.png"/><Relationship Id="rId10" Type="http://schemas.openxmlformats.org/officeDocument/2006/relationships/image" Target="../media/image169.svg"/><Relationship Id="rId11" Type="http://schemas.openxmlformats.org/officeDocument/2006/relationships/image" Target="../media/image170.png"/><Relationship Id="rId12" Type="http://schemas.openxmlformats.org/officeDocument/2006/relationships/image" Target="../media/image171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E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.web.static.jianzeppt.com/ppt-temp-img3/4bbf78d39a1ae7d50fa38e3b11fcab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test.web.static.jianzeppt.com/ppt-temp-img3/53c8b2a610a31b616cbf03a52510cc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596" y="-13894"/>
            <a:ext cx="8051010" cy="6858000"/>
          </a:xfrm>
          <a:prstGeom prst="rect">
            <a:avLst/>
          </a:prstGeom>
        </p:spPr>
      </p:pic>
      <p:pic>
        <p:nvPicPr>
          <p:cNvPr id="4" name="Image 2" descr="https://test.web.static.jianzeppt.com/ppt-temp-img3/eaa44f0a61b44187c8898f2fb3b10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"/>
            <a:ext cx="1799718" cy="1829017"/>
          </a:xfrm>
          <a:prstGeom prst="rect">
            <a:avLst/>
          </a:prstGeom>
        </p:spPr>
      </p:pic>
      <p:pic>
        <p:nvPicPr>
          <p:cNvPr id="5" name="Image 3" descr="https://test.web.static.jianzeppt.com/ppt-temp-img3/d51ae2a74993343c0d3360504948ed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08901"/>
            <a:ext cx="961132" cy="1724746"/>
          </a:xfrm>
          <a:prstGeom prst="rect">
            <a:avLst/>
          </a:prstGeom>
        </p:spPr>
      </p:pic>
      <p:pic>
        <p:nvPicPr>
          <p:cNvPr id="6" name="Image 4" descr="https://test.web.static.jianzeppt.com/ppt-temp-img3/b3f94c3112269735e7d84215f42c97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069" y="4530971"/>
            <a:ext cx="3482974" cy="637829"/>
          </a:xfrm>
          <a:prstGeom prst="rect">
            <a:avLst/>
          </a:prstGeom>
        </p:spPr>
      </p:pic>
      <p:pic>
        <p:nvPicPr>
          <p:cNvPr id="7" name="Image 5" descr="https://test.web.static.jianzeppt.com/ppt-temp-img3/c7fcd71bde55d7089a0a7c912de83d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1383" y="2273111"/>
            <a:ext cx="2105868" cy="4595809"/>
          </a:xfrm>
          <a:prstGeom prst="rect">
            <a:avLst/>
          </a:prstGeom>
        </p:spPr>
      </p:pic>
      <p:pic>
        <p:nvPicPr>
          <p:cNvPr id="8" name="Image 6" descr="https://test.web.static.jianzeppt.com/ppt-temp-img3/785b4c7764742237954fb25c8a197f9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2024" y="3802120"/>
            <a:ext cx="2104426" cy="3069770"/>
          </a:xfrm>
          <a:prstGeom prst="rect">
            <a:avLst/>
          </a:prstGeom>
        </p:spPr>
      </p:pic>
      <p:pic>
        <p:nvPicPr>
          <p:cNvPr id="9" name="Image 7" descr="https://test.web.static.jianzeppt.com/ppt-temp-img3/d6b73fd749a971aade8e0c5073b668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3224" y="2284033"/>
            <a:ext cx="2578776" cy="4584889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-70620" y="4577763"/>
            <a:ext cx="3321262" cy="5442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40" b="1" dirty="0">
                <a:solidFill>
                  <a:srgbClr val="000000"/>
                </a:solidFill>
                <a:latin typeface="方正仿宋_GBK" panose="03000509000000000000" charset="-122"/>
                <a:ea typeface="方正仿宋_GBK" panose="03000509000000000000" charset="-122"/>
              </a:rPr>
              <a:t>授课教师：</a:t>
            </a:r>
            <a:r>
              <a:rPr lang="zh-CN" altLang="en-US" sz="2040" b="1" dirty="0">
                <a:solidFill>
                  <a:srgbClr val="000000"/>
                </a:solidFill>
                <a:latin typeface="方正仿宋_GBK" panose="03000509000000000000" charset="-122"/>
                <a:ea typeface="方正仿宋_GBK" panose="03000509000000000000" charset="-122"/>
              </a:rPr>
              <a:t>张玉</a:t>
            </a:r>
            <a:endParaRPr lang="zh-CN" altLang="en-US" sz="2040" b="1" dirty="0">
              <a:solidFill>
                <a:srgbClr val="000000"/>
              </a:solidFill>
              <a:latin typeface="方正仿宋_GBK" panose="03000509000000000000" charset="-122"/>
              <a:ea typeface="方正仿宋_GBK" panose="03000509000000000000" charset="-122"/>
            </a:endParaRPr>
          </a:p>
        </p:txBody>
      </p:sp>
      <p:sp>
        <p:nvSpPr>
          <p:cNvPr id="11" name="Text 1"/>
          <p:cNvSpPr/>
          <p:nvPr/>
        </p:nvSpPr>
        <p:spPr>
          <a:xfrm>
            <a:off x="577068" y="1649785"/>
            <a:ext cx="5490553" cy="18745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400" dirty="0">
                <a:solidFill>
                  <a:srgbClr val="FFFFFF"/>
                </a:solidFill>
              </a:rPr>
              <a:t>信息安全测</a:t>
            </a:r>
            <a:r>
              <a:rPr lang="zh-CN" altLang="en-US" sz="5400" dirty="0">
                <a:solidFill>
                  <a:srgbClr val="FFFFFF"/>
                </a:solidFill>
              </a:rPr>
              <a:t>评</a:t>
            </a:r>
            <a:r>
              <a:rPr lang="en-US" sz="5400" dirty="0">
                <a:solidFill>
                  <a:srgbClr val="FFFFFF"/>
                </a:solidFill>
              </a:rPr>
              <a:t>与风险评估</a:t>
            </a:r>
            <a:endParaRPr lang="en-US" sz="5400" dirty="0">
              <a:solidFill>
                <a:srgbClr val="FFFFFF"/>
              </a:solidFill>
            </a:endParaRPr>
          </a:p>
        </p:txBody>
      </p:sp>
      <p:sp>
        <p:nvSpPr>
          <p:cNvPr id="12" name="Text 2"/>
          <p:cNvSpPr/>
          <p:nvPr/>
        </p:nvSpPr>
        <p:spPr>
          <a:xfrm>
            <a:off x="616585" y="3724910"/>
            <a:ext cx="263398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FFC000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2.2编制完整测评方案</a:t>
            </a:r>
            <a:endParaRPr lang="en-US" sz="2000" dirty="0">
              <a:solidFill>
                <a:srgbClr val="FFC000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0" y="59690"/>
            <a:ext cx="717105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 b="1">
                <a:solidFill>
                  <a:schemeClr val="bg1"/>
                </a:solidFill>
              </a:rPr>
              <a:t>《北京市高等教育学会计算机教育研究分会</a:t>
            </a:r>
            <a:r>
              <a:rPr lang="en-US" altLang="zh-CN" sz="1600" b="1">
                <a:solidFill>
                  <a:schemeClr val="bg1"/>
                </a:solidFill>
              </a:rPr>
              <a:t>       2026 </a:t>
            </a:r>
            <a:r>
              <a:rPr lang="zh-CN" altLang="en-US" sz="1600" b="1">
                <a:solidFill>
                  <a:schemeClr val="bg1"/>
                </a:solidFill>
              </a:rPr>
              <a:t>年计算机教学创新大赛》</a:t>
            </a:r>
            <a:endParaRPr lang="zh-CN" altLang="en-US" sz="16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6" name="Image 3" descr="https://test.web.static.jianzeppt.com/ppt-temp-img3/aed384931c37bbab83c2b7cbdb0f1f15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423160"/>
            <a:ext cx="3154680" cy="161544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019810" y="2827655"/>
            <a:ext cx="2334895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3200" b="1" dirty="0"/>
              <a:t>方案六要素</a:t>
            </a:r>
            <a:endParaRPr lang="zh-CN" altLang="en-US" sz="3200" b="1" dirty="0"/>
          </a:p>
        </p:txBody>
      </p:sp>
      <p:pic>
        <p:nvPicPr>
          <p:cNvPr id="10" name="Image 5" descr="https://test.web.static.jianzeppt.com/ppt-temp-img3/a2fe1ea2c00b6866f3b07321ad418a49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3792" y="609600"/>
            <a:ext cx="30480" cy="5638800"/>
          </a:xfrm>
          <a:prstGeom prst="rect">
            <a:avLst/>
          </a:prstGeom>
        </p:spPr>
      </p:pic>
      <p:pic>
        <p:nvPicPr>
          <p:cNvPr id="11" name="Image 6" descr="https://test.web.static.jianzeppt.com/ppt-temp-img3/11aa901f059f39e8f78a0fd22b9e717c.png?x-oss-process=image/resize,w_1440,h_800,m_lfit/format,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526280" y="609600"/>
            <a:ext cx="7071360" cy="1965960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70120" y="853440"/>
            <a:ext cx="960120" cy="441960"/>
          </a:xfrm>
          <a:prstGeom prst="rect">
            <a:avLst/>
          </a:prstGeom>
        </p:spPr>
      </p:pic>
      <p:sp>
        <p:nvSpPr>
          <p:cNvPr id="13" name="Text 3"/>
          <p:cNvSpPr/>
          <p:nvPr>
            <p:custDataLst>
              <p:tags r:id="rId11"/>
            </p:custDataLst>
          </p:nvPr>
        </p:nvSpPr>
        <p:spPr>
          <a:xfrm>
            <a:off x="4953000" y="914400"/>
            <a:ext cx="603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问题 1</a:t>
            </a:r>
            <a:endParaRPr lang="en-US" sz="1680" dirty="0"/>
          </a:p>
        </p:txBody>
      </p:sp>
      <p:sp>
        <p:nvSpPr>
          <p:cNvPr id="14" name="Text 4"/>
          <p:cNvSpPr/>
          <p:nvPr>
            <p:custDataLst>
              <p:tags r:id="rId12"/>
            </p:custDataLst>
          </p:nvPr>
        </p:nvSpPr>
        <p:spPr>
          <a:xfrm>
            <a:off x="5852160" y="853440"/>
            <a:ext cx="5510784" cy="7567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一份完整的等保测评方案包含哪六个核心要素？</a:t>
            </a:r>
            <a:endParaRPr lang="en-US" sz="2160" dirty="0"/>
          </a:p>
        </p:txBody>
      </p:sp>
      <p:sp>
        <p:nvSpPr>
          <p:cNvPr id="15" name="Text 5"/>
          <p:cNvSpPr/>
          <p:nvPr>
            <p:custDataLst>
              <p:tags r:id="rId13"/>
            </p:custDataLst>
          </p:nvPr>
        </p:nvSpPr>
        <p:spPr>
          <a:xfrm>
            <a:off x="5013960" y="1722120"/>
            <a:ext cx="10759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00234E">
                    <a:alpha val="6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参考答案：</a:t>
            </a:r>
            <a:endParaRPr lang="en-US" sz="1680" dirty="0"/>
          </a:p>
        </p:txBody>
      </p:sp>
      <p:sp>
        <p:nvSpPr>
          <p:cNvPr id="16" name="Text 6"/>
          <p:cNvSpPr/>
          <p:nvPr>
            <p:custDataLst>
              <p:tags r:id="rId14"/>
            </p:custDataLst>
          </p:nvPr>
        </p:nvSpPr>
        <p:spPr>
          <a:xfrm>
            <a:off x="6202680" y="1691640"/>
            <a:ext cx="5160264" cy="7639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项目概述、测评范围、</a:t>
            </a:r>
            <a:r>
              <a:rPr lang="zh-CN" altLang="en-US" sz="1800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测评对象、测评指标、</a:t>
            </a:r>
            <a:r>
              <a:rPr lang="en-US" sz="1800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测评方法、日程安排</a:t>
            </a:r>
            <a:endParaRPr lang="en-US" sz="1800" dirty="0"/>
          </a:p>
        </p:txBody>
      </p:sp>
      <p:pic>
        <p:nvPicPr>
          <p:cNvPr id="17" name="Image 8" descr="https://test.web.static.jianzeppt.com/ppt-temp-img3/65d9e86e256dfb778ad9a541af5d3fcc.png?x-oss-process=image/resize,w_1440,h_800,m_lfit/format,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4526280" y="2743200"/>
            <a:ext cx="7071360" cy="1661160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70120" y="2987040"/>
            <a:ext cx="960120" cy="441960"/>
          </a:xfrm>
          <a:prstGeom prst="rect">
            <a:avLst/>
          </a:prstGeom>
        </p:spPr>
      </p:pic>
      <p:sp>
        <p:nvSpPr>
          <p:cNvPr id="19" name="Text 7"/>
          <p:cNvSpPr/>
          <p:nvPr>
            <p:custDataLst>
              <p:tags r:id="rId18"/>
            </p:custDataLst>
          </p:nvPr>
        </p:nvSpPr>
        <p:spPr>
          <a:xfrm>
            <a:off x="4953000" y="3048000"/>
            <a:ext cx="603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问题 2</a:t>
            </a:r>
            <a:endParaRPr lang="en-US" sz="1680" dirty="0"/>
          </a:p>
        </p:txBody>
      </p:sp>
      <p:sp>
        <p:nvSpPr>
          <p:cNvPr id="20" name="Text 8"/>
          <p:cNvSpPr/>
          <p:nvPr>
            <p:custDataLst>
              <p:tags r:id="rId19"/>
            </p:custDataLst>
          </p:nvPr>
        </p:nvSpPr>
        <p:spPr>
          <a:xfrm>
            <a:off x="5852160" y="2987040"/>
            <a:ext cx="3858260" cy="332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u="sng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测评对象</a:t>
            </a: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选取应遵循哪些原则？</a:t>
            </a:r>
            <a:endParaRPr lang="en-US" sz="2160" dirty="0"/>
          </a:p>
        </p:txBody>
      </p:sp>
      <p:sp>
        <p:nvSpPr>
          <p:cNvPr id="21" name="Text 9"/>
          <p:cNvSpPr/>
          <p:nvPr>
            <p:custDataLst>
              <p:tags r:id="rId20"/>
            </p:custDataLst>
          </p:nvPr>
        </p:nvSpPr>
        <p:spPr>
          <a:xfrm>
            <a:off x="5013960" y="3566160"/>
            <a:ext cx="10759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00234E">
                    <a:alpha val="6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参考答案：</a:t>
            </a:r>
            <a:endParaRPr lang="en-US" sz="1680" dirty="0"/>
          </a:p>
        </p:txBody>
      </p:sp>
      <p:sp>
        <p:nvSpPr>
          <p:cNvPr id="22" name="Text 10"/>
          <p:cNvSpPr/>
          <p:nvPr>
            <p:custDataLst>
              <p:tags r:id="rId21"/>
            </p:custDataLst>
          </p:nvPr>
        </p:nvSpPr>
        <p:spPr>
          <a:xfrm>
            <a:off x="6202680" y="3535680"/>
            <a:ext cx="5160264" cy="7639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b="1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应测尽测</a:t>
            </a:r>
            <a:r>
              <a:rPr lang="zh-CN" altLang="en-US" sz="1800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原则</a:t>
            </a:r>
            <a:r>
              <a:rPr lang="en-US" sz="1800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、</a:t>
            </a:r>
            <a:r>
              <a:rPr lang="en-US" sz="1800" b="1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关键性</a:t>
            </a:r>
            <a:r>
              <a:rPr lang="en-US" sz="1800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原则、</a:t>
            </a:r>
            <a:r>
              <a:rPr lang="en-US" sz="1800" b="1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代表性</a:t>
            </a:r>
            <a:r>
              <a:rPr lang="en-US" sz="1800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原则、</a:t>
            </a:r>
            <a:r>
              <a:rPr lang="en-US" sz="1800" b="1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抽样原则</a:t>
            </a:r>
            <a:r>
              <a:rPr lang="en-US" sz="1800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（不低于30%）</a:t>
            </a:r>
            <a:endParaRPr lang="en-US" sz="1800" dirty="0"/>
          </a:p>
        </p:txBody>
      </p:sp>
      <p:pic>
        <p:nvPicPr>
          <p:cNvPr id="23" name="Image 10" descr="https://test.web.static.jianzeppt.com/ppt-temp-img3/65d9e86e256dfb778ad9a541af5d3fcc.png?x-oss-process=image/resize,w_1440,h_800,m_lfit/format,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4526280" y="4587240"/>
            <a:ext cx="7071360" cy="1661160"/>
          </a:xfrm>
          <a:prstGeom prst="rect">
            <a:avLst/>
          </a:prstGeom>
        </p:spPr>
      </p:pic>
      <p:pic>
        <p:nvPicPr>
          <p:cNvPr id="24" name="Image 11" descr="preencoded.png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70120" y="4831080"/>
            <a:ext cx="960120" cy="441960"/>
          </a:xfrm>
          <a:prstGeom prst="rect">
            <a:avLst/>
          </a:prstGeom>
        </p:spPr>
      </p:pic>
      <p:sp>
        <p:nvSpPr>
          <p:cNvPr id="25" name="Text 11"/>
          <p:cNvSpPr/>
          <p:nvPr>
            <p:custDataLst>
              <p:tags r:id="rId24"/>
            </p:custDataLst>
          </p:nvPr>
        </p:nvSpPr>
        <p:spPr>
          <a:xfrm>
            <a:off x="4953000" y="4892040"/>
            <a:ext cx="6035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问题 3</a:t>
            </a:r>
            <a:endParaRPr lang="en-US" sz="1680" dirty="0"/>
          </a:p>
        </p:txBody>
      </p:sp>
      <p:sp>
        <p:nvSpPr>
          <p:cNvPr id="26" name="Text 12"/>
          <p:cNvSpPr/>
          <p:nvPr>
            <p:custDataLst>
              <p:tags r:id="rId25"/>
            </p:custDataLst>
          </p:nvPr>
        </p:nvSpPr>
        <p:spPr>
          <a:xfrm>
            <a:off x="5852160" y="4831080"/>
            <a:ext cx="4685030" cy="332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什么情况下可以对</a:t>
            </a:r>
            <a:r>
              <a:rPr lang="en-US" sz="2160" b="1" u="sng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测评指标</a:t>
            </a: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进行裁剪？</a:t>
            </a:r>
            <a:endParaRPr lang="en-US" sz="2160" dirty="0"/>
          </a:p>
        </p:txBody>
      </p:sp>
      <p:sp>
        <p:nvSpPr>
          <p:cNvPr id="27" name="Text 13"/>
          <p:cNvSpPr/>
          <p:nvPr>
            <p:custDataLst>
              <p:tags r:id="rId26"/>
            </p:custDataLst>
          </p:nvPr>
        </p:nvSpPr>
        <p:spPr>
          <a:xfrm>
            <a:off x="5013960" y="5410200"/>
            <a:ext cx="10759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00234E">
                    <a:alpha val="6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参考答案：</a:t>
            </a:r>
            <a:endParaRPr lang="en-US" sz="1680" dirty="0"/>
          </a:p>
        </p:txBody>
      </p:sp>
      <p:sp>
        <p:nvSpPr>
          <p:cNvPr id="28" name="Text 14"/>
          <p:cNvSpPr/>
          <p:nvPr>
            <p:custDataLst>
              <p:tags r:id="rId27"/>
            </p:custDataLst>
          </p:nvPr>
        </p:nvSpPr>
        <p:spPr>
          <a:xfrm>
            <a:off x="6202680" y="5439410"/>
            <a:ext cx="5160264" cy="7639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系统不涉及某项技术领域时（如无无线网络则不测“无线接入控制”）</a:t>
            </a:r>
            <a:r>
              <a:rPr lang="zh-CN" altLang="en-US" sz="1800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需裁剪</a:t>
            </a:r>
            <a:r>
              <a:rPr lang="en-US" sz="1800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，</a:t>
            </a:r>
            <a:r>
              <a:rPr lang="zh-CN" altLang="en-US" sz="1800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且</a:t>
            </a:r>
            <a:r>
              <a:rPr lang="en-US" sz="1800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需说明</a:t>
            </a:r>
            <a:r>
              <a:rPr lang="zh-CN" altLang="en-US" sz="1800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裁剪</a:t>
            </a:r>
            <a:r>
              <a:rPr lang="en-US" sz="1800" dirty="0">
                <a:solidFill>
                  <a:srgbClr val="00234E">
                    <a:alpha val="80000"/>
                  </a:srgb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理由</a:t>
            </a:r>
            <a:endParaRPr lang="en-US" sz="1800" dirty="0"/>
          </a:p>
        </p:txBody>
      </p:sp>
      <p:sp>
        <p:nvSpPr>
          <p:cNvPr id="29" name="Text 15"/>
          <p:cNvSpPr/>
          <p:nvPr/>
        </p:nvSpPr>
        <p:spPr>
          <a:xfrm>
            <a:off x="822497" y="463992"/>
            <a:ext cx="1633220" cy="492125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E1E1E"/>
                </a:solidFill>
              </a:rPr>
              <a:t>复习回顾</a:t>
            </a:r>
            <a:endParaRPr lang="en-US" sz="3200" b="1" dirty="0">
              <a:solidFill>
                <a:srgbClr val="1E1E1E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06120" y="4663440"/>
            <a:ext cx="3091815" cy="92202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zh-CN" altLang="en-US" sz="18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了解了这些，是不是就可以很容易地生成一份测评方案了呢？</a:t>
            </a:r>
            <a:endParaRPr lang="zh-CN" altLang="en-US" sz="18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  <p:bldP spid="28" grpId="0"/>
      <p:bldP spid="30" grpId="0"/>
      <p:bldP spid="30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" y="828675"/>
            <a:ext cx="4815840" cy="218186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6" name="Image 4" descr="https://test.web.static.jianzeppt.com/ppt-temp-img3/d732a324263e58591e01d90dd5d6ecad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0" y="996315"/>
            <a:ext cx="4785360" cy="7620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99160" y="996315"/>
            <a:ext cx="125882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kern="0" spc="80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情景案例</a:t>
            </a:r>
            <a:endParaRPr lang="en-US" sz="2400" dirty="0"/>
          </a:p>
        </p:txBody>
      </p:sp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76800" y="1072515"/>
            <a:ext cx="304800" cy="30480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899160" y="1849755"/>
            <a:ext cx="4306824" cy="1146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小王接到三级系统等保测评任务，下载</a:t>
            </a:r>
            <a:r>
              <a:rPr lang="zh-CN" altLang="en-US" sz="18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了测评</a:t>
            </a:r>
            <a:r>
              <a:rPr lang="en-US" sz="18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通用模板</a:t>
            </a:r>
            <a:r>
              <a:rPr lang="zh-CN" altLang="en-US" sz="18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，按照任务信息大概修改了一下，</a:t>
            </a:r>
            <a:r>
              <a:rPr lang="en-US" sz="18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便带到</a:t>
            </a:r>
            <a:r>
              <a:rPr lang="zh-CN" altLang="en-US" sz="18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了</a:t>
            </a:r>
            <a:r>
              <a:rPr lang="en-US" sz="18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现场</a:t>
            </a:r>
            <a:r>
              <a:rPr lang="zh-CN" altLang="en-US" sz="18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开展测评</a:t>
            </a:r>
            <a:r>
              <a:rPr lang="en-US" sz="18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。</a:t>
            </a:r>
            <a:endParaRPr lang="en-US" sz="1800" dirty="0"/>
          </a:p>
        </p:txBody>
      </p:sp>
      <p:sp>
        <p:nvSpPr>
          <p:cNvPr id="31" name="Text 18"/>
          <p:cNvSpPr/>
          <p:nvPr/>
        </p:nvSpPr>
        <p:spPr>
          <a:xfrm>
            <a:off x="4066540" y="4251325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</a:rPr>
              <a:t>引出主题</a:t>
            </a:r>
            <a:endParaRPr lang="en-US" sz="1680" dirty="0"/>
          </a:p>
        </p:txBody>
      </p:sp>
      <p:sp>
        <p:nvSpPr>
          <p:cNvPr id="32" name="Text 19"/>
          <p:cNvSpPr/>
          <p:nvPr/>
        </p:nvSpPr>
        <p:spPr>
          <a:xfrm>
            <a:off x="3807460" y="3784600"/>
            <a:ext cx="4890135" cy="229425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indent="0" algn="ctr" fontAlgn="auto">
              <a:lnSpc>
                <a:spcPct val="138000"/>
              </a:lnSpc>
              <a:spcBef>
                <a:spcPts val="1200"/>
              </a:spcBef>
              <a:buNone/>
            </a:pPr>
            <a:r>
              <a:rPr lang="zh-CN" altLang="en-US" b="1" dirty="0">
                <a:solidFill>
                  <a:srgbClr val="C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客观、严谨的工作态度</a:t>
            </a:r>
            <a:endParaRPr lang="zh-CN" altLang="en-US" b="1" dirty="0">
              <a:solidFill>
                <a:srgbClr val="C00000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  <a:p>
            <a:pPr marL="0" indent="0" algn="l">
              <a:lnSpc>
                <a:spcPct val="138000"/>
              </a:lnSpc>
              <a:buNone/>
            </a:pPr>
            <a:endParaRPr lang="zh-CN" altLang="en-US" b="1" dirty="0">
              <a:solidFill>
                <a:srgbClr val="C00000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  <a:p>
            <a:pPr marL="0" indent="0" algn="ctr">
              <a:lnSpc>
                <a:spcPct val="138000"/>
              </a:lnSpc>
              <a:buNone/>
            </a:pPr>
            <a:r>
              <a:rPr lang="zh-CN" altLang="en-US" b="1" dirty="0">
                <a:solidFill>
                  <a:srgbClr val="C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内容：</a:t>
            </a:r>
            <a:r>
              <a:rPr lang="en-US" b="1" dirty="0">
                <a:solidFill>
                  <a:srgbClr val="C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学习编制专业、规范的等保测评方案。</a:t>
            </a:r>
            <a:endParaRPr lang="en-US" b="1" dirty="0">
              <a:solidFill>
                <a:srgbClr val="C00000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  <a:p>
            <a:pPr marL="0" indent="0" algn="l">
              <a:lnSpc>
                <a:spcPct val="138000"/>
              </a:lnSpc>
              <a:buNone/>
            </a:pPr>
            <a:endParaRPr lang="en-US" b="1" dirty="0">
              <a:solidFill>
                <a:srgbClr val="C00000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  <a:p>
            <a:pPr marL="0" indent="0" algn="ctr">
              <a:lnSpc>
                <a:spcPct val="138000"/>
              </a:lnSpc>
              <a:buNone/>
            </a:pPr>
            <a:r>
              <a:rPr lang="zh-CN" altLang="en-US" b="1" dirty="0">
                <a:solidFill>
                  <a:srgbClr val="C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目标：</a:t>
            </a:r>
            <a:r>
              <a:rPr lang="en-US" b="1" dirty="0">
                <a:solidFill>
                  <a:srgbClr val="C0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每位同学需完成一份完整方案。</a:t>
            </a:r>
            <a:endParaRPr lang="en-US" b="1" dirty="0">
              <a:solidFill>
                <a:srgbClr val="C00000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grpSp>
        <p:nvGrpSpPr>
          <p:cNvPr id="4" name="组合 3"/>
          <p:cNvGrpSpPr/>
          <p:nvPr>
            <p:custDataLst>
              <p:tags r:id="rId8"/>
            </p:custDataLst>
          </p:nvPr>
        </p:nvGrpSpPr>
        <p:grpSpPr>
          <a:xfrm>
            <a:off x="6499860" y="1072515"/>
            <a:ext cx="5394960" cy="1924050"/>
            <a:chOff x="10236" y="1689"/>
            <a:chExt cx="8496" cy="3030"/>
          </a:xfrm>
        </p:grpSpPr>
        <p:pic>
          <p:nvPicPr>
            <p:cNvPr id="10" name="Image 6" descr="preencoded.png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236" y="1689"/>
              <a:ext cx="6768" cy="3030"/>
            </a:xfrm>
            <a:prstGeom prst="rect">
              <a:avLst/>
            </a:prstGeom>
          </p:spPr>
        </p:pic>
        <p:sp>
          <p:nvSpPr>
            <p:cNvPr id="11" name="Text 2"/>
            <p:cNvSpPr/>
            <p:nvPr/>
          </p:nvSpPr>
          <p:spPr>
            <a:xfrm>
              <a:off x="10620" y="1977"/>
              <a:ext cx="6110" cy="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440" b="1" dirty="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结果：</a:t>
              </a:r>
              <a:endParaRPr lang="en-US" sz="1440" dirty="0"/>
            </a:p>
          </p:txBody>
        </p:sp>
        <p:sp>
          <p:nvSpPr>
            <p:cNvPr id="12" name="Text 3"/>
            <p:cNvSpPr/>
            <p:nvPr>
              <p:custDataLst>
                <p:tags r:id="rId11"/>
              </p:custDataLst>
            </p:nvPr>
          </p:nvSpPr>
          <p:spPr>
            <a:xfrm>
              <a:off x="10620" y="2505"/>
              <a:ext cx="350" cy="48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680" b="1" dirty="0">
                  <a:solidFill>
                    <a:srgbClr val="00234E"/>
                  </a:solidFill>
                </a:rPr>
                <a:t>①</a:t>
              </a:r>
              <a:endParaRPr lang="en-US" sz="1680" dirty="0"/>
            </a:p>
          </p:txBody>
        </p:sp>
        <p:sp>
          <p:nvSpPr>
            <p:cNvPr id="13" name="Text 4"/>
            <p:cNvSpPr/>
            <p:nvPr>
              <p:custDataLst>
                <p:tags r:id="rId12"/>
              </p:custDataLst>
            </p:nvPr>
          </p:nvSpPr>
          <p:spPr>
            <a:xfrm>
              <a:off x="11052" y="2457"/>
              <a:ext cx="4382" cy="48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680" dirty="0">
                  <a:solidFill>
                    <a:srgbClr val="4B5563"/>
                  </a:solidFill>
                </a:rPr>
                <a:t>架构不同，大量指标不适用；</a:t>
              </a:r>
              <a:endParaRPr lang="en-US" sz="1680" dirty="0"/>
            </a:p>
          </p:txBody>
        </p:sp>
        <p:sp>
          <p:nvSpPr>
            <p:cNvPr id="14" name="Text 5"/>
            <p:cNvSpPr/>
            <p:nvPr>
              <p:custDataLst>
                <p:tags r:id="rId13"/>
              </p:custDataLst>
            </p:nvPr>
          </p:nvSpPr>
          <p:spPr>
            <a:xfrm>
              <a:off x="10620" y="2961"/>
              <a:ext cx="350" cy="48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680" b="1" dirty="0">
                  <a:solidFill>
                    <a:srgbClr val="00234E"/>
                  </a:solidFill>
                </a:rPr>
                <a:t>②</a:t>
              </a:r>
              <a:endParaRPr lang="en-US" sz="1680" dirty="0"/>
            </a:p>
          </p:txBody>
        </p:sp>
        <p:sp>
          <p:nvSpPr>
            <p:cNvPr id="15" name="Text 6"/>
            <p:cNvSpPr/>
            <p:nvPr>
              <p:custDataLst>
                <p:tags r:id="rId14"/>
              </p:custDataLst>
            </p:nvPr>
          </p:nvSpPr>
          <p:spPr>
            <a:xfrm>
              <a:off x="11052" y="2961"/>
              <a:ext cx="4382" cy="48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680" dirty="0">
                  <a:solidFill>
                    <a:srgbClr val="4B5563"/>
                  </a:solidFill>
                </a:rPr>
                <a:t>未定对象，现场找指标耗时；</a:t>
              </a:r>
              <a:endParaRPr lang="en-US" sz="1680" dirty="0"/>
            </a:p>
          </p:txBody>
        </p:sp>
        <p:sp>
          <p:nvSpPr>
            <p:cNvPr id="16" name="Text 7"/>
            <p:cNvSpPr/>
            <p:nvPr>
              <p:custDataLst>
                <p:tags r:id="rId15"/>
              </p:custDataLst>
            </p:nvPr>
          </p:nvSpPr>
          <p:spPr>
            <a:xfrm>
              <a:off x="10620" y="3465"/>
              <a:ext cx="350" cy="48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680" b="1" dirty="0">
                  <a:solidFill>
                    <a:srgbClr val="00234E"/>
                  </a:solidFill>
                </a:rPr>
                <a:t>③</a:t>
              </a:r>
              <a:endParaRPr lang="en-US" sz="1680" dirty="0"/>
            </a:p>
          </p:txBody>
        </p:sp>
        <p:sp>
          <p:nvSpPr>
            <p:cNvPr id="17" name="Text 8"/>
            <p:cNvSpPr/>
            <p:nvPr>
              <p:custDataLst>
                <p:tags r:id="rId16"/>
              </p:custDataLst>
            </p:nvPr>
          </p:nvSpPr>
          <p:spPr>
            <a:xfrm>
              <a:off x="11052" y="3465"/>
              <a:ext cx="4382" cy="48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680" dirty="0">
                  <a:solidFill>
                    <a:srgbClr val="4B5563"/>
                  </a:solidFill>
                </a:rPr>
                <a:t>范围不清，漏测与多测并存；</a:t>
              </a:r>
              <a:endParaRPr lang="en-US" sz="1680" dirty="0"/>
            </a:p>
          </p:txBody>
        </p:sp>
        <p:sp>
          <p:nvSpPr>
            <p:cNvPr id="18" name="Text 9"/>
            <p:cNvSpPr/>
            <p:nvPr>
              <p:custDataLst>
                <p:tags r:id="rId17"/>
              </p:custDataLst>
            </p:nvPr>
          </p:nvSpPr>
          <p:spPr>
            <a:xfrm>
              <a:off x="10620" y="3945"/>
              <a:ext cx="350" cy="48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680" b="1" dirty="0">
                  <a:solidFill>
                    <a:srgbClr val="00234E"/>
                  </a:solidFill>
                </a:rPr>
                <a:t>④</a:t>
              </a:r>
              <a:endParaRPr lang="en-US" sz="1680" dirty="0"/>
            </a:p>
          </p:txBody>
        </p:sp>
        <p:sp>
          <p:nvSpPr>
            <p:cNvPr id="19" name="Text 10"/>
            <p:cNvSpPr/>
            <p:nvPr>
              <p:custDataLst>
                <p:tags r:id="rId18"/>
              </p:custDataLst>
            </p:nvPr>
          </p:nvSpPr>
          <p:spPr>
            <a:xfrm>
              <a:off x="11052" y="3945"/>
              <a:ext cx="4718" cy="48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680" dirty="0">
                  <a:solidFill>
                    <a:srgbClr val="4B5563"/>
                  </a:solidFill>
                </a:rPr>
                <a:t>客户质疑，项目延期满意度低。</a:t>
              </a:r>
              <a:endParaRPr lang="en-US" sz="1680" dirty="0"/>
            </a:p>
          </p:txBody>
        </p:sp>
        <p:pic>
          <p:nvPicPr>
            <p:cNvPr id="33" name="Image 11" descr="https://test.web.static.jianzeppt.com/ppt-temp-img3/29b8adf20d89c1572060c46b5af19dad.png?x-oss-process=image/resize,w_1440,h_800,m_lfit/format,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5852" y="2409"/>
              <a:ext cx="2880" cy="2016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7040" y="5273040"/>
            <a:ext cx="975360" cy="975360"/>
          </a:xfrm>
          <a:prstGeom prst="rect">
            <a:avLst/>
          </a:prstGeom>
        </p:spPr>
      </p:pic>
      <p:pic>
        <p:nvPicPr>
          <p:cNvPr id="6" name="Image 4" descr="https://test.web.static.jianzeppt.com/ppt-temp-img3/04fccfed0eb256804ba98b98fa6bdb7f.png?x-oss-process=image/resize,w_1440,h_800,m_lfit/format,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09600" y="1371600"/>
            <a:ext cx="5303520" cy="1981200"/>
          </a:xfrm>
          <a:prstGeom prst="rect">
            <a:avLst/>
          </a:prstGeom>
        </p:spPr>
      </p:pic>
      <p:sp>
        <p:nvSpPr>
          <p:cNvPr id="7" name="Text 0"/>
          <p:cNvSpPr/>
          <p:nvPr>
            <p:custDataLst>
              <p:tags r:id="rId8"/>
            </p:custDataLst>
          </p:nvPr>
        </p:nvSpPr>
        <p:spPr>
          <a:xfrm>
            <a:off x="929640" y="1935480"/>
            <a:ext cx="4672584" cy="7567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能够依据定级报告和系统架构，正确选取测评对象并说明理由</a:t>
            </a:r>
            <a:endParaRPr lang="en-US" sz="2160" dirty="0"/>
          </a:p>
        </p:txBody>
      </p:sp>
      <p:pic>
        <p:nvPicPr>
          <p:cNvPr id="8" name="Image 5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9600" y="1173480"/>
            <a:ext cx="1645920" cy="426720"/>
          </a:xfrm>
          <a:prstGeom prst="rect">
            <a:avLst/>
          </a:prstGeom>
        </p:spPr>
      </p:pic>
      <p:sp>
        <p:nvSpPr>
          <p:cNvPr id="9" name="Text 1"/>
          <p:cNvSpPr/>
          <p:nvPr>
            <p:custDataLst>
              <p:tags r:id="rId12"/>
            </p:custDataLst>
          </p:nvPr>
        </p:nvSpPr>
        <p:spPr>
          <a:xfrm>
            <a:off x="853440" y="1234440"/>
            <a:ext cx="301625" cy="3867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01 </a:t>
            </a:r>
            <a:endParaRPr lang="en-US" sz="1680" dirty="0"/>
          </a:p>
        </p:txBody>
      </p:sp>
      <p:pic>
        <p:nvPicPr>
          <p:cNvPr id="10" name="Image 6" descr="https://test.web.static.jianzeppt.com/ppt-temp-img3/04fccfed0eb256804ba98b98fa6bdb7f.png?x-oss-process=image/resize,w_1440,h_800,m_lfit/format,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278880" y="1371600"/>
            <a:ext cx="5303520" cy="1981200"/>
          </a:xfrm>
          <a:prstGeom prst="rect">
            <a:avLst/>
          </a:prstGeom>
        </p:spPr>
      </p:pic>
      <p:sp>
        <p:nvSpPr>
          <p:cNvPr id="11" name="Text 2"/>
          <p:cNvSpPr/>
          <p:nvPr>
            <p:custDataLst>
              <p:tags r:id="rId14"/>
            </p:custDataLst>
          </p:nvPr>
        </p:nvSpPr>
        <p:spPr>
          <a:xfrm>
            <a:off x="6598920" y="1935480"/>
            <a:ext cx="4672584" cy="7567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能够对照GB/T 22239标准，准确选取适用的测评指标</a:t>
            </a:r>
            <a:endParaRPr lang="en-US" sz="2160" dirty="0"/>
          </a:p>
        </p:txBody>
      </p:sp>
      <p:pic>
        <p:nvPicPr>
          <p:cNvPr id="12" name="Image 7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78880" y="1173480"/>
            <a:ext cx="1645920" cy="426720"/>
          </a:xfrm>
          <a:prstGeom prst="rect">
            <a:avLst/>
          </a:prstGeom>
        </p:spPr>
      </p:pic>
      <p:sp>
        <p:nvSpPr>
          <p:cNvPr id="13" name="Text 3"/>
          <p:cNvSpPr/>
          <p:nvPr>
            <p:custDataLst>
              <p:tags r:id="rId16"/>
            </p:custDataLst>
          </p:nvPr>
        </p:nvSpPr>
        <p:spPr>
          <a:xfrm>
            <a:off x="6522720" y="1234440"/>
            <a:ext cx="301625" cy="3867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02 </a:t>
            </a:r>
            <a:endParaRPr lang="en-US" sz="1680" dirty="0"/>
          </a:p>
        </p:txBody>
      </p:sp>
      <p:pic>
        <p:nvPicPr>
          <p:cNvPr id="14" name="Image 8" descr="https://test.web.static.jianzeppt.com/ppt-temp-img3/04fccfed0eb256804ba98b98fa6bdb7f.png?x-oss-process=image/resize,w_1440,h_800,m_lfit/format,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09600" y="3657600"/>
            <a:ext cx="5303520" cy="1981200"/>
          </a:xfrm>
          <a:prstGeom prst="rect">
            <a:avLst/>
          </a:prstGeom>
        </p:spPr>
      </p:pic>
      <p:sp>
        <p:nvSpPr>
          <p:cNvPr id="15" name="Text 4"/>
          <p:cNvSpPr/>
          <p:nvPr>
            <p:custDataLst>
              <p:tags r:id="rId18"/>
            </p:custDataLst>
          </p:nvPr>
        </p:nvSpPr>
        <p:spPr>
          <a:xfrm>
            <a:off x="929640" y="4221480"/>
            <a:ext cx="4672584" cy="7567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能够参照模板，独立编制一份完整的等保测评方案</a:t>
            </a:r>
            <a:endParaRPr lang="en-US" sz="2160" dirty="0"/>
          </a:p>
        </p:txBody>
      </p:sp>
      <p:pic>
        <p:nvPicPr>
          <p:cNvPr id="16" name="Image 9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9600" y="3459480"/>
            <a:ext cx="1645920" cy="426720"/>
          </a:xfrm>
          <a:prstGeom prst="rect">
            <a:avLst/>
          </a:prstGeom>
        </p:spPr>
      </p:pic>
      <p:sp>
        <p:nvSpPr>
          <p:cNvPr id="17" name="Text 5"/>
          <p:cNvSpPr/>
          <p:nvPr>
            <p:custDataLst>
              <p:tags r:id="rId20"/>
            </p:custDataLst>
          </p:nvPr>
        </p:nvSpPr>
        <p:spPr>
          <a:xfrm>
            <a:off x="853440" y="3520440"/>
            <a:ext cx="301625" cy="3867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03 </a:t>
            </a:r>
            <a:endParaRPr lang="en-US" sz="1680" dirty="0"/>
          </a:p>
        </p:txBody>
      </p:sp>
      <p:pic>
        <p:nvPicPr>
          <p:cNvPr id="18" name="Image 10" descr="https://test.web.static.jianzeppt.com/ppt-temp-img3/04fccfed0eb256804ba98b98fa6bdb7f.png?x-oss-process=image/resize,w_1440,h_800,m_lfit/format,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278880" y="3657600"/>
            <a:ext cx="5303520" cy="1981200"/>
          </a:xfrm>
          <a:prstGeom prst="rect">
            <a:avLst/>
          </a:prstGeom>
        </p:spPr>
      </p:pic>
      <p:sp>
        <p:nvSpPr>
          <p:cNvPr id="19" name="Text 6"/>
          <p:cNvSpPr/>
          <p:nvPr>
            <p:custDataLst>
              <p:tags r:id="rId22"/>
            </p:custDataLst>
          </p:nvPr>
        </p:nvSpPr>
        <p:spPr>
          <a:xfrm>
            <a:off x="6598920" y="4221480"/>
            <a:ext cx="4672584" cy="3783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6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培养严谨、细致、规范的职业工作习惯</a:t>
            </a:r>
            <a:endParaRPr lang="en-US" sz="2160" dirty="0"/>
          </a:p>
        </p:txBody>
      </p:sp>
      <p:pic>
        <p:nvPicPr>
          <p:cNvPr id="20" name="Image 11" descr="preencoded.png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78880" y="3459480"/>
            <a:ext cx="1645920" cy="426720"/>
          </a:xfrm>
          <a:prstGeom prst="rect">
            <a:avLst/>
          </a:prstGeom>
        </p:spPr>
      </p:pic>
      <p:sp>
        <p:nvSpPr>
          <p:cNvPr id="21" name="Text 7"/>
          <p:cNvSpPr/>
          <p:nvPr>
            <p:custDataLst>
              <p:tags r:id="rId24"/>
            </p:custDataLst>
          </p:nvPr>
        </p:nvSpPr>
        <p:spPr>
          <a:xfrm>
            <a:off x="6522720" y="3520440"/>
            <a:ext cx="301625" cy="3867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04 </a:t>
            </a:r>
            <a:endParaRPr lang="en-US" sz="1680" dirty="0"/>
          </a:p>
        </p:txBody>
      </p:sp>
      <p:sp>
        <p:nvSpPr>
          <p:cNvPr id="22" name="Text 8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学习目标</a:t>
            </a:r>
            <a:endParaRPr lang="en-US" sz="27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53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46" name="Text 18"/>
          <p:cNvSpPr/>
          <p:nvPr/>
        </p:nvSpPr>
        <p:spPr>
          <a:xfrm>
            <a:off x="822497" y="531937"/>
            <a:ext cx="2114550" cy="42418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b="1" dirty="0">
                <a:solidFill>
                  <a:srgbClr val="1E1E1E"/>
                </a:solidFill>
              </a:rPr>
              <a:t>方案编制流程</a:t>
            </a:r>
            <a:endParaRPr lang="en-US" sz="2760" b="1" dirty="0">
              <a:solidFill>
                <a:srgbClr val="1E1E1E"/>
              </a:solidFill>
            </a:endParaRPr>
          </a:p>
        </p:txBody>
      </p:sp>
      <p:sp>
        <p:nvSpPr>
          <p:cNvPr id="48" name="圆角矩形 47"/>
          <p:cNvSpPr/>
          <p:nvPr>
            <p:custDataLst>
              <p:tags r:id="rId4"/>
            </p:custDataLst>
          </p:nvPr>
        </p:nvSpPr>
        <p:spPr>
          <a:xfrm>
            <a:off x="1018540" y="1759585"/>
            <a:ext cx="1301115" cy="4889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项目概述</a:t>
            </a:r>
            <a:endParaRPr lang="zh-CN" altLang="en-US"/>
          </a:p>
        </p:txBody>
      </p:sp>
      <p:sp>
        <p:nvSpPr>
          <p:cNvPr id="49" name="圆角矩形 48"/>
          <p:cNvSpPr/>
          <p:nvPr>
            <p:custDataLst>
              <p:tags r:id="rId5"/>
            </p:custDataLst>
          </p:nvPr>
        </p:nvSpPr>
        <p:spPr>
          <a:xfrm>
            <a:off x="2754630" y="1759585"/>
            <a:ext cx="1246505" cy="4889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>
                <a:solidFill>
                  <a:schemeClr val="bg1">
                    <a:alpha val="80000"/>
                  </a:scheme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  <a:sym typeface="+mn-ea"/>
              </a:rPr>
              <a:t>测评范围</a:t>
            </a:r>
            <a:endParaRPr lang="zh-CN" altLang="en-US" dirty="0">
              <a:solidFill>
                <a:schemeClr val="bg1">
                  <a:alpha val="80000"/>
                </a:schemeClr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  <a:sym typeface="+mn-ea"/>
            </a:endParaRPr>
          </a:p>
        </p:txBody>
      </p:sp>
      <p:sp>
        <p:nvSpPr>
          <p:cNvPr id="50" name="圆角矩形 49"/>
          <p:cNvSpPr/>
          <p:nvPr>
            <p:custDataLst>
              <p:tags r:id="rId6"/>
            </p:custDataLst>
          </p:nvPr>
        </p:nvSpPr>
        <p:spPr>
          <a:xfrm>
            <a:off x="6154420" y="1770380"/>
            <a:ext cx="1319530" cy="4889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>
                <a:solidFill>
                  <a:schemeClr val="bg1">
                    <a:alpha val="80000"/>
                  </a:scheme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  <a:sym typeface="+mn-ea"/>
              </a:rPr>
              <a:t>测评</a:t>
            </a:r>
            <a:r>
              <a:rPr lang="zh-CN" dirty="0">
                <a:solidFill>
                  <a:schemeClr val="bg1">
                    <a:alpha val="80000"/>
                  </a:scheme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  <a:sym typeface="+mn-ea"/>
              </a:rPr>
              <a:t>指标</a:t>
            </a:r>
            <a:endParaRPr lang="zh-CN" dirty="0">
              <a:solidFill>
                <a:schemeClr val="bg1">
                  <a:alpha val="80000"/>
                </a:schemeClr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  <a:sym typeface="+mn-ea"/>
            </a:endParaRPr>
          </a:p>
        </p:txBody>
      </p:sp>
      <p:sp>
        <p:nvSpPr>
          <p:cNvPr id="51" name="圆角矩形 50"/>
          <p:cNvSpPr/>
          <p:nvPr>
            <p:custDataLst>
              <p:tags r:id="rId7"/>
            </p:custDataLst>
          </p:nvPr>
        </p:nvSpPr>
        <p:spPr>
          <a:xfrm>
            <a:off x="7924165" y="1759585"/>
            <a:ext cx="1503045" cy="4889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>
                <a:solidFill>
                  <a:schemeClr val="bg1">
                    <a:alpha val="80000"/>
                  </a:scheme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  <a:sym typeface="+mn-ea"/>
              </a:rPr>
              <a:t>测评</a:t>
            </a:r>
            <a:r>
              <a:rPr lang="zh-CN" altLang="en-US" dirty="0">
                <a:solidFill>
                  <a:schemeClr val="bg1">
                    <a:alpha val="80000"/>
                  </a:scheme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  <a:sym typeface="+mn-ea"/>
              </a:rPr>
              <a:t>方法</a:t>
            </a:r>
            <a:endParaRPr lang="zh-CN" altLang="en-US" dirty="0">
              <a:solidFill>
                <a:schemeClr val="bg1">
                  <a:alpha val="80000"/>
                </a:schemeClr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  <a:sym typeface="+mn-ea"/>
            </a:endParaRPr>
          </a:p>
        </p:txBody>
      </p:sp>
      <p:sp>
        <p:nvSpPr>
          <p:cNvPr id="52" name="圆角矩形 51"/>
          <p:cNvSpPr/>
          <p:nvPr>
            <p:custDataLst>
              <p:tags r:id="rId8"/>
            </p:custDataLst>
          </p:nvPr>
        </p:nvSpPr>
        <p:spPr>
          <a:xfrm>
            <a:off x="9885680" y="1759585"/>
            <a:ext cx="1334135" cy="4889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dirty="0">
                <a:solidFill>
                  <a:schemeClr val="bg1">
                    <a:alpha val="80000"/>
                  </a:scheme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  <a:sym typeface="+mn-ea"/>
              </a:rPr>
              <a:t>日程安排</a:t>
            </a:r>
            <a:endParaRPr lang="zh-CN" dirty="0">
              <a:solidFill>
                <a:schemeClr val="bg1">
                  <a:alpha val="80000"/>
                </a:schemeClr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  <a:sym typeface="+mn-ea"/>
            </a:endParaRPr>
          </a:p>
        </p:txBody>
      </p:sp>
      <p:sp>
        <p:nvSpPr>
          <p:cNvPr id="53" name="圆角矩形 52"/>
          <p:cNvSpPr/>
          <p:nvPr>
            <p:custDataLst>
              <p:tags r:id="rId9"/>
            </p:custDataLst>
          </p:nvPr>
        </p:nvSpPr>
        <p:spPr>
          <a:xfrm>
            <a:off x="4457700" y="1759585"/>
            <a:ext cx="1246505" cy="4889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dirty="0">
                <a:solidFill>
                  <a:schemeClr val="bg1">
                    <a:alpha val="80000"/>
                  </a:scheme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  <a:sym typeface="+mn-ea"/>
              </a:rPr>
              <a:t>测评</a:t>
            </a:r>
            <a:r>
              <a:rPr lang="zh-CN" altLang="en-US" dirty="0">
                <a:solidFill>
                  <a:schemeClr val="bg1">
                    <a:alpha val="80000"/>
                  </a:schemeClr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  <a:sym typeface="+mn-ea"/>
              </a:rPr>
              <a:t>对象</a:t>
            </a:r>
            <a:endParaRPr lang="zh-CN" altLang="en-US" dirty="0">
              <a:solidFill>
                <a:schemeClr val="bg1">
                  <a:alpha val="80000"/>
                </a:schemeClr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  <a:sym typeface="+mn-ea"/>
            </a:endParaRPr>
          </a:p>
        </p:txBody>
      </p:sp>
      <p:grpSp>
        <p:nvGrpSpPr>
          <p:cNvPr id="75" name="组合 74"/>
          <p:cNvGrpSpPr/>
          <p:nvPr>
            <p:custDataLst>
              <p:tags r:id="rId10"/>
            </p:custDataLst>
          </p:nvPr>
        </p:nvGrpSpPr>
        <p:grpSpPr>
          <a:xfrm rot="0">
            <a:off x="4769485" y="2972435"/>
            <a:ext cx="1981835" cy="1115695"/>
            <a:chOff x="13056" y="7392"/>
            <a:chExt cx="5184" cy="2448"/>
          </a:xfrm>
          <a:solidFill>
            <a:srgbClr val="C00000"/>
          </a:solidFill>
        </p:grpSpPr>
        <p:pic>
          <p:nvPicPr>
            <p:cNvPr id="71" name="Image 18" descr="preencoded.png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3056" y="7392"/>
              <a:ext cx="5184" cy="2448"/>
            </a:xfrm>
            <a:prstGeom prst="rect">
              <a:avLst/>
            </a:prstGeom>
            <a:effectLst>
              <a:outerShdw blurRad="387096000" dist="193548000" dir="-1" algn="bl" rotWithShape="0">
                <a:srgbClr val="000000">
                  <a:alpha val="500000000"/>
                </a:srgbClr>
              </a:outerShdw>
            </a:effectLst>
          </p:spPr>
        </p:pic>
        <p:sp>
          <p:nvSpPr>
            <p:cNvPr id="72" name="Text 10"/>
            <p:cNvSpPr/>
            <p:nvPr>
              <p:custDataLst>
                <p:tags r:id="rId14"/>
              </p:custDataLst>
            </p:nvPr>
          </p:nvSpPr>
          <p:spPr>
            <a:xfrm>
              <a:off x="13341" y="7676"/>
              <a:ext cx="4601" cy="809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600" b="1" dirty="0">
                  <a:solidFill>
                    <a:schemeClr val="bg1"/>
                  </a:solidFill>
                </a:rPr>
                <a:t>选取测评对象</a:t>
              </a:r>
              <a:endParaRPr lang="en-US" sz="1600" b="1" dirty="0">
                <a:solidFill>
                  <a:schemeClr val="bg1"/>
                </a:solidFill>
              </a:endParaRPr>
            </a:p>
          </p:txBody>
        </p:sp>
        <p:pic>
          <p:nvPicPr>
            <p:cNvPr id="73" name="Image 19" descr="https://test.web.static.jianzeppt.com/ppt-temp-img3/26789e569394ebb4695e716b15c9df00.png?x-oss-process=image/resize,w_1440,h_800,m_lfit/format,png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13368" y="8520"/>
              <a:ext cx="4560" cy="24"/>
            </a:xfrm>
            <a:prstGeom prst="rect">
              <a:avLst/>
            </a:prstGeom>
            <a:grpFill/>
          </p:spPr>
        </p:pic>
        <p:sp>
          <p:nvSpPr>
            <p:cNvPr id="74" name="Text 11"/>
            <p:cNvSpPr/>
            <p:nvPr>
              <p:custDataLst>
                <p:tags r:id="rId17"/>
              </p:custDataLst>
            </p:nvPr>
          </p:nvSpPr>
          <p:spPr>
            <a:xfrm>
              <a:off x="13368" y="8578"/>
              <a:ext cx="4574" cy="1013"/>
            </a:xfrm>
            <a:prstGeom prst="rect">
              <a:avLst/>
            </a:prstGeom>
            <a:grp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200" dirty="0">
                  <a:solidFill>
                    <a:schemeClr val="bg1"/>
                  </a:solidFill>
                </a:rPr>
                <a:t>依据架构分析，确定具体设备与系统清单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" name="文本框 106"/>
          <p:cNvSpPr txBox="1"/>
          <p:nvPr>
            <p:custDataLst>
              <p:tags r:id="rId18"/>
            </p:custDataLst>
          </p:nvPr>
        </p:nvSpPr>
        <p:spPr>
          <a:xfrm>
            <a:off x="4791075" y="3103245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④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8" name="组合 97"/>
          <p:cNvGrpSpPr/>
          <p:nvPr>
            <p:custDataLst>
              <p:tags r:id="rId19"/>
            </p:custDataLst>
          </p:nvPr>
        </p:nvGrpSpPr>
        <p:grpSpPr>
          <a:xfrm rot="0">
            <a:off x="7053580" y="2982595"/>
            <a:ext cx="1818640" cy="1099820"/>
            <a:chOff x="7008" y="7392"/>
            <a:chExt cx="5184" cy="2448"/>
          </a:xfrm>
        </p:grpSpPr>
        <p:pic>
          <p:nvPicPr>
            <p:cNvPr id="94" name="Image 21" descr="preencoded.png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7008" y="7392"/>
              <a:ext cx="5184" cy="2448"/>
            </a:xfrm>
            <a:prstGeom prst="rect">
              <a:avLst/>
            </a:prstGeom>
            <a:effectLst>
              <a:outerShdw blurRad="387096000" dist="193548000" dir="-1" algn="bl" rotWithShape="0">
                <a:srgbClr val="000000">
                  <a:alpha val="500000000"/>
                </a:srgbClr>
              </a:outerShdw>
            </a:effectLst>
          </p:spPr>
        </p:pic>
        <p:sp>
          <p:nvSpPr>
            <p:cNvPr id="95" name="Text 13"/>
            <p:cNvSpPr/>
            <p:nvPr>
              <p:custDataLst>
                <p:tags r:id="rId23"/>
              </p:custDataLst>
            </p:nvPr>
          </p:nvSpPr>
          <p:spPr>
            <a:xfrm>
              <a:off x="7293" y="7623"/>
              <a:ext cx="4371" cy="82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600" b="1" dirty="0">
                  <a:solidFill>
                    <a:srgbClr val="00234E"/>
                  </a:solidFill>
                </a:rPr>
                <a:t>确定测评指标</a:t>
              </a:r>
              <a:endParaRPr lang="en-US" sz="1600" b="1" dirty="0">
                <a:solidFill>
                  <a:srgbClr val="00234E"/>
                </a:solidFill>
              </a:endParaRPr>
            </a:p>
          </p:txBody>
        </p:sp>
        <p:pic>
          <p:nvPicPr>
            <p:cNvPr id="96" name="Image 22" descr="https://test.web.static.jianzeppt.com/ppt-temp-img3/26789e569394ebb4695e716b15c9df00.png?x-oss-process=image/resize,w_1440,h_800,m_lfit/format,png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7320" y="8520"/>
              <a:ext cx="4560" cy="24"/>
            </a:xfrm>
            <a:prstGeom prst="rect">
              <a:avLst/>
            </a:prstGeom>
          </p:spPr>
        </p:pic>
        <p:sp>
          <p:nvSpPr>
            <p:cNvPr id="97" name="Text 14"/>
            <p:cNvSpPr/>
            <p:nvPr>
              <p:custDataLst>
                <p:tags r:id="rId25"/>
              </p:custDataLst>
            </p:nvPr>
          </p:nvSpPr>
          <p:spPr>
            <a:xfrm>
              <a:off x="7320" y="8571"/>
              <a:ext cx="4574" cy="102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200" dirty="0">
                  <a:solidFill>
                    <a:srgbClr val="333333"/>
                  </a:solidFill>
                </a:rPr>
                <a:t>对照</a:t>
              </a:r>
              <a:r>
                <a:rPr lang="en-US" sz="1200" b="1" dirty="0">
                  <a:solidFill>
                    <a:srgbClr val="C00000"/>
                  </a:solidFill>
                </a:rPr>
                <a:t>国家标准</a:t>
              </a:r>
              <a:r>
                <a:rPr lang="en-US" sz="1200" dirty="0">
                  <a:solidFill>
                    <a:srgbClr val="333333"/>
                  </a:solidFill>
                </a:rPr>
                <a:t>，逐项选取适用安全指标</a:t>
              </a:r>
              <a:endParaRPr lang="en-US" sz="1200" dirty="0">
                <a:solidFill>
                  <a:srgbClr val="333333"/>
                </a:solidFill>
              </a:endParaRPr>
            </a:p>
          </p:txBody>
        </p:sp>
      </p:grpSp>
      <p:sp>
        <p:nvSpPr>
          <p:cNvPr id="108" name="文本框 107"/>
          <p:cNvSpPr txBox="1"/>
          <p:nvPr>
            <p:custDataLst>
              <p:tags r:id="rId26"/>
            </p:custDataLst>
          </p:nvPr>
        </p:nvSpPr>
        <p:spPr>
          <a:xfrm>
            <a:off x="6985000" y="3105785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⑤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03" name="组合 102"/>
          <p:cNvGrpSpPr/>
          <p:nvPr>
            <p:custDataLst>
              <p:tags r:id="rId27"/>
            </p:custDataLst>
          </p:nvPr>
        </p:nvGrpSpPr>
        <p:grpSpPr>
          <a:xfrm rot="0">
            <a:off x="9427210" y="3006090"/>
            <a:ext cx="1707515" cy="1076325"/>
            <a:chOff x="960" y="7392"/>
            <a:chExt cx="5184" cy="2448"/>
          </a:xfrm>
        </p:grpSpPr>
        <p:pic>
          <p:nvPicPr>
            <p:cNvPr id="99" name="Image 24" descr="preencoded.png"/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960" y="7392"/>
              <a:ext cx="5184" cy="2448"/>
            </a:xfrm>
            <a:prstGeom prst="rect">
              <a:avLst/>
            </a:prstGeom>
            <a:effectLst>
              <a:outerShdw blurRad="387096000" dist="193548000" dir="-1" algn="bl" rotWithShape="0">
                <a:srgbClr val="000000">
                  <a:alpha val="500000000"/>
                </a:srgbClr>
              </a:outerShdw>
            </a:effectLst>
          </p:spPr>
        </p:pic>
        <p:sp>
          <p:nvSpPr>
            <p:cNvPr id="100" name="Text 16"/>
            <p:cNvSpPr/>
            <p:nvPr>
              <p:custDataLst>
                <p:tags r:id="rId29"/>
              </p:custDataLst>
            </p:nvPr>
          </p:nvSpPr>
          <p:spPr>
            <a:xfrm>
              <a:off x="1270" y="7594"/>
              <a:ext cx="4561" cy="83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600" b="1" dirty="0">
                  <a:solidFill>
                    <a:srgbClr val="00234E"/>
                  </a:solidFill>
                </a:rPr>
                <a:t>编制完整方案</a:t>
              </a:r>
              <a:endParaRPr lang="en-US" sz="1600" b="1" dirty="0">
                <a:solidFill>
                  <a:srgbClr val="00234E"/>
                </a:solidFill>
              </a:endParaRPr>
            </a:p>
          </p:txBody>
        </p:sp>
        <p:pic>
          <p:nvPicPr>
            <p:cNvPr id="101" name="Image 25" descr="https://test.web.static.jianzeppt.com/ppt-temp-img3/26789e569394ebb4695e716b15c9df00.png?x-oss-process=image/resize,w_1440,h_800,m_lfit/format,png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1272" y="8520"/>
              <a:ext cx="4560" cy="24"/>
            </a:xfrm>
            <a:prstGeom prst="rect">
              <a:avLst/>
            </a:prstGeom>
          </p:spPr>
        </p:pic>
        <p:sp>
          <p:nvSpPr>
            <p:cNvPr id="102" name="Text 17"/>
            <p:cNvSpPr/>
            <p:nvPr>
              <p:custDataLst>
                <p:tags r:id="rId31"/>
              </p:custDataLst>
            </p:nvPr>
          </p:nvSpPr>
          <p:spPr>
            <a:xfrm>
              <a:off x="1272" y="8561"/>
              <a:ext cx="4574" cy="10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200" dirty="0">
                  <a:solidFill>
                    <a:srgbClr val="333333"/>
                  </a:solidFill>
                </a:rPr>
                <a:t>按标准模板撰写，形成正式方案文档</a:t>
              </a:r>
              <a:endParaRPr lang="en-US" sz="1200" dirty="0">
                <a:solidFill>
                  <a:srgbClr val="333333"/>
                </a:solidFill>
              </a:endParaRPr>
            </a:p>
          </p:txBody>
        </p:sp>
      </p:grpSp>
      <p:sp>
        <p:nvSpPr>
          <p:cNvPr id="109" name="文本框 108"/>
          <p:cNvSpPr txBox="1"/>
          <p:nvPr>
            <p:custDataLst>
              <p:tags r:id="rId32"/>
            </p:custDataLst>
          </p:nvPr>
        </p:nvSpPr>
        <p:spPr>
          <a:xfrm>
            <a:off x="9368155" y="3117215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⑥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0" name="组合 69"/>
          <p:cNvGrpSpPr/>
          <p:nvPr>
            <p:custDataLst>
              <p:tags r:id="rId33"/>
            </p:custDataLst>
          </p:nvPr>
        </p:nvGrpSpPr>
        <p:grpSpPr>
          <a:xfrm rot="0">
            <a:off x="2393315" y="3006090"/>
            <a:ext cx="2004060" cy="1075690"/>
            <a:chOff x="13056" y="4528"/>
            <a:chExt cx="5184" cy="2448"/>
          </a:xfrm>
        </p:grpSpPr>
        <p:pic>
          <p:nvPicPr>
            <p:cNvPr id="65" name="Image 13" descr="preencoded.png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3056" y="4528"/>
              <a:ext cx="5184" cy="2448"/>
            </a:xfrm>
            <a:prstGeom prst="rect">
              <a:avLst/>
            </a:prstGeom>
            <a:effectLst>
              <a:outerShdw blurRad="387096000" dist="193548000" dir="-1" algn="bl" rotWithShape="0">
                <a:srgbClr val="000000">
                  <a:alpha val="500000000"/>
                </a:srgbClr>
              </a:outerShdw>
            </a:effectLst>
          </p:spPr>
        </p:pic>
        <p:sp>
          <p:nvSpPr>
            <p:cNvPr id="66" name="Text 7"/>
            <p:cNvSpPr/>
            <p:nvPr>
              <p:custDataLst>
                <p:tags r:id="rId35"/>
              </p:custDataLst>
            </p:nvPr>
          </p:nvSpPr>
          <p:spPr>
            <a:xfrm>
              <a:off x="13854" y="4808"/>
              <a:ext cx="3690" cy="84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600" b="1" dirty="0">
                  <a:solidFill>
                    <a:srgbClr val="00234E"/>
                  </a:solidFill>
                </a:rPr>
                <a:t>确定测评范围</a:t>
              </a:r>
              <a:endParaRPr lang="en-US" sz="1600" b="1" dirty="0">
                <a:solidFill>
                  <a:srgbClr val="00234E"/>
                </a:solidFill>
              </a:endParaRPr>
            </a:p>
          </p:txBody>
        </p:sp>
        <p:pic>
          <p:nvPicPr>
            <p:cNvPr id="67" name="Image 14" descr="https://test.web.static.jianzeppt.com/ppt-temp-img3/26789e569394ebb4695e716b15c9df00.png?x-oss-process=image/resize,w_1440,h_800,m_lfit/format,png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13368" y="5656"/>
              <a:ext cx="4560" cy="24"/>
            </a:xfrm>
            <a:prstGeom prst="rect">
              <a:avLst/>
            </a:prstGeom>
          </p:spPr>
        </p:pic>
        <p:sp>
          <p:nvSpPr>
            <p:cNvPr id="68" name="Text 8"/>
            <p:cNvSpPr/>
            <p:nvPr>
              <p:custDataLst>
                <p:tags r:id="rId37"/>
              </p:custDataLst>
            </p:nvPr>
          </p:nvSpPr>
          <p:spPr>
            <a:xfrm>
              <a:off x="13368" y="5694"/>
              <a:ext cx="4574" cy="105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200" dirty="0">
                  <a:solidFill>
                    <a:srgbClr val="333333"/>
                  </a:solidFill>
                </a:rPr>
                <a:t>明确本次测评覆盖的位置、网络区域、边界</a:t>
              </a:r>
              <a:endParaRPr lang="en-US" sz="1200" dirty="0">
                <a:solidFill>
                  <a:srgbClr val="333333"/>
                </a:solidFill>
              </a:endParaRPr>
            </a:p>
          </p:txBody>
        </p:sp>
      </p:grpSp>
      <p:sp>
        <p:nvSpPr>
          <p:cNvPr id="110" name="文本框 109"/>
          <p:cNvSpPr txBox="1"/>
          <p:nvPr>
            <p:custDataLst>
              <p:tags r:id="rId38"/>
            </p:custDataLst>
          </p:nvPr>
        </p:nvSpPr>
        <p:spPr>
          <a:xfrm>
            <a:off x="2470150" y="3135630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③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2" name="组合 91"/>
          <p:cNvGrpSpPr/>
          <p:nvPr>
            <p:custDataLst>
              <p:tags r:id="rId39"/>
            </p:custDataLst>
          </p:nvPr>
        </p:nvGrpSpPr>
        <p:grpSpPr>
          <a:xfrm rot="0">
            <a:off x="3343910" y="4504690"/>
            <a:ext cx="2348865" cy="1158875"/>
            <a:chOff x="4848" y="5184"/>
            <a:chExt cx="5183" cy="2622"/>
          </a:xfrm>
          <a:solidFill>
            <a:schemeClr val="accent4"/>
          </a:solidFill>
        </p:grpSpPr>
        <p:pic>
          <p:nvPicPr>
            <p:cNvPr id="88" name="Image 10" descr="preencoded.png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4848" y="5184"/>
              <a:ext cx="5183" cy="2622"/>
            </a:xfrm>
            <a:prstGeom prst="rect">
              <a:avLst/>
            </a:prstGeom>
            <a:effectLst>
              <a:outerShdw blurRad="387096000" dist="193548000" dir="-1" algn="bl" rotWithShape="0">
                <a:srgbClr val="000000">
                  <a:alpha val="500000000"/>
                </a:srgbClr>
              </a:outerShdw>
            </a:effectLst>
          </p:spPr>
        </p:pic>
        <p:sp>
          <p:nvSpPr>
            <p:cNvPr id="89" name="Text 4"/>
            <p:cNvSpPr/>
            <p:nvPr>
              <p:custDataLst>
                <p:tags r:id="rId43"/>
              </p:custDataLst>
            </p:nvPr>
          </p:nvSpPr>
          <p:spPr>
            <a:xfrm>
              <a:off x="5641" y="5490"/>
              <a:ext cx="3471" cy="868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600" b="1" dirty="0">
                  <a:solidFill>
                    <a:srgbClr val="00234E"/>
                  </a:solidFill>
                </a:rPr>
                <a:t>分析</a:t>
              </a:r>
              <a:r>
                <a:rPr lang="en-US" sz="1600" b="1" dirty="0">
                  <a:solidFill>
                    <a:srgbClr val="00234E"/>
                  </a:solidFill>
                  <a:highlight>
                    <a:srgbClr val="FFFF00"/>
                  </a:highlight>
                </a:rPr>
                <a:t>系统架构</a:t>
              </a:r>
              <a:endParaRPr lang="en-US" sz="1600" b="1" dirty="0">
                <a:solidFill>
                  <a:srgbClr val="00234E"/>
                </a:solidFill>
                <a:highlight>
                  <a:srgbClr val="FFFF00"/>
                </a:highlight>
              </a:endParaRPr>
            </a:p>
          </p:txBody>
        </p:sp>
        <p:pic>
          <p:nvPicPr>
            <p:cNvPr id="90" name="Image 11" descr="https://test.web.static.jianzeppt.com/ppt-temp-img3/26789e569394ebb4695e716b15c9df00.png?x-oss-process=image/resize,w_1440,h_800,m_lfit/format,png"/>
            <p:cNvPicPr>
              <a:picLocks noChangeAspect="1"/>
            </p:cNvPicPr>
            <p:nvPr>
              <p:custDataLst>
                <p:tags r:id="rId44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5160" y="6312"/>
              <a:ext cx="4560" cy="24"/>
            </a:xfrm>
            <a:prstGeom prst="rect">
              <a:avLst/>
            </a:prstGeom>
            <a:grpFill/>
          </p:spPr>
        </p:pic>
        <p:sp>
          <p:nvSpPr>
            <p:cNvPr id="91" name="Text 5"/>
            <p:cNvSpPr/>
            <p:nvPr>
              <p:custDataLst>
                <p:tags r:id="rId45"/>
              </p:custDataLst>
            </p:nvPr>
          </p:nvSpPr>
          <p:spPr>
            <a:xfrm>
              <a:off x="5160" y="6491"/>
              <a:ext cx="4574" cy="1044"/>
            </a:xfrm>
            <a:prstGeom prst="rect">
              <a:avLst/>
            </a:prstGeom>
            <a:grp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zh-CN" altLang="en-US" sz="1200" dirty="0">
                  <a:solidFill>
                    <a:schemeClr val="tx1"/>
                  </a:solidFill>
                </a:rPr>
                <a:t>《系统情况说明》等</a:t>
              </a:r>
              <a:r>
                <a:rPr lang="en-US" sz="1200" dirty="0">
                  <a:solidFill>
                    <a:srgbClr val="333333"/>
                  </a:solidFill>
                </a:rPr>
                <a:t>梳理网络拓扑、设备清单、业务应用</a:t>
              </a:r>
              <a:r>
                <a:rPr lang="zh-CN" altLang="en-US" sz="1200" dirty="0">
                  <a:solidFill>
                    <a:srgbClr val="333333"/>
                  </a:solidFill>
                </a:rPr>
                <a:t>等</a:t>
              </a:r>
              <a:endParaRPr lang="zh-CN" altLang="en-US" sz="1200" dirty="0">
                <a:solidFill>
                  <a:srgbClr val="333333"/>
                </a:solidFill>
              </a:endParaRPr>
            </a:p>
          </p:txBody>
        </p:sp>
      </p:grpSp>
      <p:sp>
        <p:nvSpPr>
          <p:cNvPr id="111" name="文本框 110"/>
          <p:cNvSpPr txBox="1"/>
          <p:nvPr>
            <p:custDataLst>
              <p:tags r:id="rId46"/>
            </p:custDataLst>
          </p:nvPr>
        </p:nvSpPr>
        <p:spPr>
          <a:xfrm>
            <a:off x="3531235" y="4665980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②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4" name="Image 4" descr="preencoded.png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3073400" y="4915535"/>
            <a:ext cx="304800" cy="304800"/>
          </a:xfrm>
          <a:prstGeom prst="rect">
            <a:avLst/>
          </a:prstGeom>
        </p:spPr>
      </p:pic>
      <p:pic>
        <p:nvPicPr>
          <p:cNvPr id="115" name="Image 4" descr="preencoded.png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4450080" y="3348990"/>
            <a:ext cx="304800" cy="304800"/>
          </a:xfrm>
          <a:prstGeom prst="rect">
            <a:avLst/>
          </a:prstGeom>
        </p:spPr>
      </p:pic>
      <p:pic>
        <p:nvPicPr>
          <p:cNvPr id="116" name="Image 4" descr="preencoded.png"/>
          <p:cNvPicPr>
            <a:picLocks noChangeAspect="1"/>
          </p:cNvPicPr>
          <p:nvPr>
            <p:custDataLst>
              <p:tags r:id="rId52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6748780" y="3348990"/>
            <a:ext cx="304800" cy="304800"/>
          </a:xfrm>
          <a:prstGeom prst="rect">
            <a:avLst/>
          </a:prstGeom>
        </p:spPr>
      </p:pic>
      <p:pic>
        <p:nvPicPr>
          <p:cNvPr id="117" name="Image 4" descr="preencoded.png"/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8988425" y="3348990"/>
            <a:ext cx="304800" cy="304800"/>
          </a:xfrm>
          <a:prstGeom prst="rect">
            <a:avLst/>
          </a:prstGeom>
        </p:spPr>
      </p:pic>
      <p:pic>
        <p:nvPicPr>
          <p:cNvPr id="118" name="Image 4" descr="preencoded.png"/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 rot="14280000">
            <a:off x="3810635" y="4119245"/>
            <a:ext cx="386080" cy="304800"/>
          </a:xfrm>
          <a:prstGeom prst="rect">
            <a:avLst/>
          </a:prstGeom>
        </p:spPr>
      </p:pic>
      <p:sp>
        <p:nvSpPr>
          <p:cNvPr id="119" name="文本框 118"/>
          <p:cNvSpPr txBox="1"/>
          <p:nvPr/>
        </p:nvSpPr>
        <p:spPr>
          <a:xfrm>
            <a:off x="5229225" y="1072515"/>
            <a:ext cx="380428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2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方案六要素</a:t>
            </a:r>
            <a:endParaRPr lang="zh-CN" altLang="en-US" sz="2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5166360" y="585724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2400" b="1">
                <a:ln w="15875"/>
                <a:solidFill>
                  <a:srgbClr val="C00000"/>
                </a:solidFill>
                <a:effectLst/>
              </a:rPr>
              <a:t>方案编制六步骤</a:t>
            </a:r>
            <a:endParaRPr lang="zh-CN" altLang="en-US" sz="2400" b="1">
              <a:ln w="15875"/>
              <a:solidFill>
                <a:srgbClr val="C00000"/>
              </a:solidFill>
              <a:effectLst/>
            </a:endParaRPr>
          </a:p>
        </p:txBody>
      </p:sp>
      <p:cxnSp>
        <p:nvCxnSpPr>
          <p:cNvPr id="121" name="曲线连接符 120"/>
          <p:cNvCxnSpPr/>
          <p:nvPr>
            <p:custDataLst>
              <p:tags r:id="rId55"/>
            </p:custDataLst>
          </p:nvPr>
        </p:nvCxnSpPr>
        <p:spPr>
          <a:xfrm rot="16200000" flipV="1">
            <a:off x="648970" y="3288665"/>
            <a:ext cx="2150745" cy="92075"/>
          </a:xfrm>
          <a:prstGeom prst="curvedConnector3">
            <a:avLst>
              <a:gd name="adj1" fmla="val 49985"/>
            </a:avLst>
          </a:prstGeom>
          <a:ln w="28575" cmpd="sng">
            <a:solidFill>
              <a:srgbClr val="FFC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2" name="曲线连接符 121"/>
          <p:cNvCxnSpPr>
            <a:stCxn id="51" idx="2"/>
          </p:cNvCxnSpPr>
          <p:nvPr>
            <p:custDataLst>
              <p:tags r:id="rId56"/>
            </p:custDataLst>
          </p:nvPr>
        </p:nvCxnSpPr>
        <p:spPr>
          <a:xfrm rot="5400000" flipV="1">
            <a:off x="9029700" y="1894840"/>
            <a:ext cx="723900" cy="1431290"/>
          </a:xfrm>
          <a:prstGeom prst="curvedConnector2">
            <a:avLst/>
          </a:prstGeom>
          <a:ln w="28575">
            <a:solidFill>
              <a:srgbClr val="FFC000"/>
            </a:solidFill>
            <a:prstDash val="lg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4" name="曲线连接符 123"/>
          <p:cNvCxnSpPr>
            <a:stCxn id="52" idx="2"/>
            <a:endCxn id="99" idx="0"/>
          </p:cNvCxnSpPr>
          <p:nvPr>
            <p:custDataLst>
              <p:tags r:id="rId57"/>
            </p:custDataLst>
          </p:nvPr>
        </p:nvCxnSpPr>
        <p:spPr>
          <a:xfrm rot="5400000">
            <a:off x="10038715" y="2491105"/>
            <a:ext cx="757555" cy="271780"/>
          </a:xfrm>
          <a:prstGeom prst="curvedConnector3">
            <a:avLst>
              <a:gd name="adj1" fmla="val 50083"/>
            </a:avLst>
          </a:prstGeom>
          <a:ln w="25400">
            <a:solidFill>
              <a:srgbClr val="FFC000"/>
            </a:solidFill>
            <a:prstDash val="lg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5" name="直接连接符 124"/>
          <p:cNvCxnSpPr/>
          <p:nvPr>
            <p:custDataLst>
              <p:tags r:id="rId58"/>
            </p:custDataLst>
          </p:nvPr>
        </p:nvCxnSpPr>
        <p:spPr>
          <a:xfrm>
            <a:off x="1018540" y="2658110"/>
            <a:ext cx="102012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29" name="图片 128" descr="箭头-尖尾-向右">
            <a:hlinkClick r:id="rId59" action="ppaction://hlinkfile"/>
          </p:cNvPr>
          <p:cNvPicPr>
            <a:picLocks noChangeAspect="1"/>
          </p:cNvPicPr>
          <p:nvPr>
            <p:custDataLst>
              <p:tags r:id="rId60"/>
            </p:custDataLst>
          </p:nvPr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 rot="20820000">
            <a:off x="10407650" y="5594350"/>
            <a:ext cx="914400" cy="410845"/>
          </a:xfrm>
          <a:prstGeom prst="rect">
            <a:avLst/>
          </a:prstGeom>
        </p:spPr>
      </p:pic>
      <p:sp>
        <p:nvSpPr>
          <p:cNvPr id="130" name="文本框 129"/>
          <p:cNvSpPr txBox="1"/>
          <p:nvPr/>
        </p:nvSpPr>
        <p:spPr>
          <a:xfrm>
            <a:off x="10017125" y="5904865"/>
            <a:ext cx="416560" cy="36830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  <a:ea typeface="微软雅黑" panose="020B0503020204020204" charset="-122"/>
              </a:rPr>
              <a:t>知</a:t>
            </a:r>
            <a:endParaRPr lang="zh-CN" altLang="en-US" sz="1800" b="1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11277600" y="5536565"/>
            <a:ext cx="416560" cy="36830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charset="-122"/>
              </a:rPr>
              <a:t>行</a:t>
            </a:r>
            <a:endParaRPr lang="zh-CN" altLang="en-US" sz="18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134" name="直接连接符 133"/>
          <p:cNvCxnSpPr>
            <a:stCxn id="48" idx="3"/>
            <a:endCxn id="49" idx="1"/>
          </p:cNvCxnSpPr>
          <p:nvPr>
            <p:custDataLst>
              <p:tags r:id="rId63"/>
            </p:custDataLst>
          </p:nvPr>
        </p:nvCxnSpPr>
        <p:spPr>
          <a:xfrm>
            <a:off x="2319655" y="2004060"/>
            <a:ext cx="43497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5" name="直接连接符 134"/>
          <p:cNvCxnSpPr>
            <a:stCxn id="49" idx="3"/>
            <a:endCxn id="53" idx="1"/>
          </p:cNvCxnSpPr>
          <p:nvPr>
            <p:custDataLst>
              <p:tags r:id="rId64"/>
            </p:custDataLst>
          </p:nvPr>
        </p:nvCxnSpPr>
        <p:spPr>
          <a:xfrm>
            <a:off x="4001135" y="2004060"/>
            <a:ext cx="4565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6" name="直接连接符 135"/>
          <p:cNvCxnSpPr>
            <a:stCxn id="53" idx="3"/>
            <a:endCxn id="50" idx="1"/>
          </p:cNvCxnSpPr>
          <p:nvPr>
            <p:custDataLst>
              <p:tags r:id="rId65"/>
            </p:custDataLst>
          </p:nvPr>
        </p:nvCxnSpPr>
        <p:spPr>
          <a:xfrm>
            <a:off x="5704205" y="2004060"/>
            <a:ext cx="450215" cy="107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7" name="直接连接符 136"/>
          <p:cNvCxnSpPr>
            <a:stCxn id="50" idx="3"/>
            <a:endCxn id="51" idx="1"/>
          </p:cNvCxnSpPr>
          <p:nvPr>
            <p:custDataLst>
              <p:tags r:id="rId66"/>
            </p:custDataLst>
          </p:nvPr>
        </p:nvCxnSpPr>
        <p:spPr>
          <a:xfrm flipV="1">
            <a:off x="7473950" y="2004060"/>
            <a:ext cx="450215" cy="107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8" name="直接连接符 137"/>
          <p:cNvCxnSpPr>
            <a:stCxn id="51" idx="3"/>
            <a:endCxn id="52" idx="1"/>
          </p:cNvCxnSpPr>
          <p:nvPr>
            <p:custDataLst>
              <p:tags r:id="rId67"/>
            </p:custDataLst>
          </p:nvPr>
        </p:nvCxnSpPr>
        <p:spPr>
          <a:xfrm>
            <a:off x="9427210" y="2004060"/>
            <a:ext cx="4584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>
            <p:custDataLst>
              <p:tags r:id="rId68"/>
            </p:custDataLst>
          </p:nvPr>
        </p:nvGrpSpPr>
        <p:grpSpPr>
          <a:xfrm rot="0">
            <a:off x="949325" y="4491355"/>
            <a:ext cx="2124075" cy="1153160"/>
            <a:chOff x="960" y="3168"/>
            <a:chExt cx="5184" cy="2448"/>
          </a:xfrm>
          <a:solidFill>
            <a:schemeClr val="accent4"/>
          </a:solidFill>
        </p:grpSpPr>
        <p:pic>
          <p:nvPicPr>
            <p:cNvPr id="80" name="Image 7" descr="preencoded.png"/>
            <p:cNvPicPr>
              <a:picLocks noChangeAspect="1"/>
            </p:cNvPicPr>
            <p:nvPr>
              <p:custDataLst>
                <p:tags r:id="rId69"/>
              </p:custDataLst>
            </p:nvPr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70"/>
                </a:ext>
              </a:extLst>
            </a:blip>
            <a:stretch>
              <a:fillRect/>
            </a:stretch>
          </p:blipFill>
          <p:spPr>
            <a:xfrm>
              <a:off x="960" y="3168"/>
              <a:ext cx="5184" cy="2448"/>
            </a:xfrm>
            <a:prstGeom prst="rect">
              <a:avLst/>
            </a:prstGeom>
            <a:effectLst>
              <a:outerShdw blurRad="387096000" dist="193548000" dir="-1" algn="bl" rotWithShape="0">
                <a:srgbClr val="000000">
                  <a:alpha val="500000000"/>
                </a:srgbClr>
              </a:outerShdw>
            </a:effectLst>
          </p:spPr>
        </p:pic>
        <p:sp>
          <p:nvSpPr>
            <p:cNvPr id="81" name="Text 1"/>
            <p:cNvSpPr/>
            <p:nvPr>
              <p:custDataLst>
                <p:tags r:id="rId71"/>
              </p:custDataLst>
            </p:nvPr>
          </p:nvSpPr>
          <p:spPr>
            <a:xfrm>
              <a:off x="1893" y="3504"/>
              <a:ext cx="3551" cy="783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600" b="1" dirty="0">
                  <a:solidFill>
                    <a:srgbClr val="00234E"/>
                  </a:solidFill>
                </a:rPr>
                <a:t>解读</a:t>
              </a:r>
              <a:r>
                <a:rPr lang="en-US" sz="1600" b="1" dirty="0">
                  <a:solidFill>
                    <a:srgbClr val="00234E"/>
                  </a:solidFill>
                  <a:highlight>
                    <a:srgbClr val="FFFF00"/>
                  </a:highlight>
                </a:rPr>
                <a:t>定级报告</a:t>
              </a:r>
              <a:endParaRPr lang="en-US" sz="1600" b="1" dirty="0">
                <a:solidFill>
                  <a:srgbClr val="00234E"/>
                </a:solidFill>
                <a:highlight>
                  <a:srgbClr val="FFFF00"/>
                </a:highlight>
              </a:endParaRPr>
            </a:p>
          </p:txBody>
        </p:sp>
        <p:pic>
          <p:nvPicPr>
            <p:cNvPr id="82" name="Image 8" descr="https://test.web.static.jianzeppt.com/ppt-temp-img3/26789e569394ebb4695e716b15c9df00.png?x-oss-process=image/resize,w_1440,h_800,m_lfit/format,png"/>
            <p:cNvPicPr>
              <a:picLocks noChangeAspect="1"/>
            </p:cNvPicPr>
            <p:nvPr>
              <p:custDataLst>
                <p:tags r:id="rId72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1272" y="4296"/>
              <a:ext cx="4560" cy="24"/>
            </a:xfrm>
            <a:prstGeom prst="rect">
              <a:avLst/>
            </a:prstGeom>
            <a:grpFill/>
          </p:spPr>
        </p:pic>
        <p:sp>
          <p:nvSpPr>
            <p:cNvPr id="83" name="Text 2"/>
            <p:cNvSpPr/>
            <p:nvPr>
              <p:custDataLst>
                <p:tags r:id="rId73"/>
              </p:custDataLst>
            </p:nvPr>
          </p:nvSpPr>
          <p:spPr>
            <a:xfrm>
              <a:off x="1272" y="4370"/>
              <a:ext cx="4574" cy="980"/>
            </a:xfrm>
            <a:prstGeom prst="rect">
              <a:avLst/>
            </a:prstGeom>
            <a:grp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200" dirty="0">
                  <a:solidFill>
                    <a:srgbClr val="333333"/>
                  </a:solidFill>
                </a:rPr>
                <a:t>了解系统名称、安全等级、业务描述等关键信息</a:t>
              </a:r>
              <a:endParaRPr lang="en-US" sz="1200" dirty="0">
                <a:solidFill>
                  <a:srgbClr val="333333"/>
                </a:solidFill>
              </a:endParaRPr>
            </a:p>
          </p:txBody>
        </p:sp>
      </p:grpSp>
      <p:sp>
        <p:nvSpPr>
          <p:cNvPr id="112" name="文本框 111"/>
          <p:cNvSpPr txBox="1"/>
          <p:nvPr>
            <p:custDataLst>
              <p:tags r:id="rId74"/>
            </p:custDataLst>
          </p:nvPr>
        </p:nvSpPr>
        <p:spPr>
          <a:xfrm>
            <a:off x="1076960" y="4689475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①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5325" y="2376170"/>
            <a:ext cx="11095990" cy="4025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9" name="Rounded Rectangle 138"/>
          <p:cNvSpPr/>
          <p:nvPr/>
        </p:nvSpPr>
        <p:spPr>
          <a:xfrm>
            <a:off x="685800" y="5816600"/>
            <a:ext cx="2794000" cy="508000"/>
          </a:xfrm>
          <a:prstGeom prst="roundRect">
            <a:avLst>
              <a:gd name="adj" fmla="val 24000"/>
            </a:avLst>
          </a:prstGeom>
          <a:solidFill>
            <a:srgbClr val="00234E"/>
          </a:solidFill>
          <a:ln w="15875">
            <a:solidFill>
              <a:srgbClr val="4CC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hlinkClick r:id="rId77"/>
              </a:rPr>
              <a:t>▶ 进入技能挑战平台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9845040" y="3566160"/>
            <a:ext cx="365760" cy="36576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23360" y="2316480"/>
            <a:ext cx="3048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63840" y="2316480"/>
            <a:ext cx="3048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9600" y="1371600"/>
            <a:ext cx="3291840" cy="640080"/>
          </a:xfrm>
          <a:prstGeom prst="rect">
            <a:avLst/>
          </a:prstGeom>
        </p:spPr>
      </p:pic>
      <p:sp>
        <p:nvSpPr>
          <p:cNvPr id="9" name="Text 0"/>
          <p:cNvSpPr/>
          <p:nvPr>
            <p:custDataLst>
              <p:tags r:id="rId12"/>
            </p:custDataLst>
          </p:nvPr>
        </p:nvSpPr>
        <p:spPr>
          <a:xfrm>
            <a:off x="1645920" y="150876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第一阶段</a:t>
            </a:r>
            <a:endParaRPr lang="en-US" sz="2400" dirty="0"/>
          </a:p>
        </p:txBody>
      </p:sp>
      <p:pic>
        <p:nvPicPr>
          <p:cNvPr id="10" name="Image 7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9600" y="2011680"/>
            <a:ext cx="3291840" cy="15544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11" name="Text 1"/>
          <p:cNvSpPr/>
          <p:nvPr>
            <p:custDataLst>
              <p:tags r:id="rId16"/>
            </p:custDataLst>
          </p:nvPr>
        </p:nvSpPr>
        <p:spPr>
          <a:xfrm>
            <a:off x="1432560" y="2255520"/>
            <a:ext cx="16550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</a:rPr>
              <a:t>解读定级报告</a:t>
            </a:r>
            <a:endParaRPr lang="en-US" sz="2160" dirty="0"/>
          </a:p>
        </p:txBody>
      </p:sp>
      <p:pic>
        <p:nvPicPr>
          <p:cNvPr id="12" name="Image 8" descr="https://test.web.static.jianzeppt.com/ppt-temp-img3/26789e569394ebb4695e716b15c9df00.png?x-oss-process=image/resize,w_1440,h_800,m_lfit/format,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07720" y="2727960"/>
            <a:ext cx="2895600" cy="15240"/>
          </a:xfrm>
          <a:prstGeom prst="rect">
            <a:avLst/>
          </a:prstGeom>
        </p:spPr>
      </p:pic>
      <p:sp>
        <p:nvSpPr>
          <p:cNvPr id="13" name="Text 2"/>
          <p:cNvSpPr/>
          <p:nvPr>
            <p:custDataLst>
              <p:tags r:id="rId19"/>
            </p:custDataLst>
          </p:nvPr>
        </p:nvSpPr>
        <p:spPr>
          <a:xfrm>
            <a:off x="807720" y="2819400"/>
            <a:ext cx="2904744" cy="5334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80" dirty="0">
                <a:solidFill>
                  <a:srgbClr val="333333"/>
                </a:solidFill>
              </a:rPr>
              <a:t>了解系统名称、安全等级、业务描述等关键信息</a:t>
            </a:r>
            <a:endParaRPr lang="en-US" sz="1680" dirty="0"/>
          </a:p>
        </p:txBody>
      </p:sp>
      <p:pic>
        <p:nvPicPr>
          <p:cNvPr id="14" name="Image 9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50080" y="1371600"/>
            <a:ext cx="3291840" cy="640080"/>
          </a:xfrm>
          <a:prstGeom prst="rect">
            <a:avLst/>
          </a:prstGeom>
        </p:spPr>
      </p:pic>
      <p:sp>
        <p:nvSpPr>
          <p:cNvPr id="15" name="Text 3"/>
          <p:cNvSpPr/>
          <p:nvPr>
            <p:custDataLst>
              <p:tags r:id="rId21"/>
            </p:custDataLst>
          </p:nvPr>
        </p:nvSpPr>
        <p:spPr>
          <a:xfrm>
            <a:off x="5486400" y="150876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第二阶段</a:t>
            </a:r>
            <a:endParaRPr lang="en-US" sz="2400" dirty="0"/>
          </a:p>
        </p:txBody>
      </p:sp>
      <p:pic>
        <p:nvPicPr>
          <p:cNvPr id="16" name="Image 10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50080" y="2011680"/>
            <a:ext cx="3291840" cy="15544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17" name="Text 4"/>
          <p:cNvSpPr/>
          <p:nvPr>
            <p:custDataLst>
              <p:tags r:id="rId23"/>
            </p:custDataLst>
          </p:nvPr>
        </p:nvSpPr>
        <p:spPr>
          <a:xfrm>
            <a:off x="5273040" y="2255520"/>
            <a:ext cx="16550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</a:rPr>
              <a:t>分析系统架构</a:t>
            </a:r>
            <a:endParaRPr lang="en-US" sz="2160" dirty="0"/>
          </a:p>
        </p:txBody>
      </p:sp>
      <p:pic>
        <p:nvPicPr>
          <p:cNvPr id="18" name="Image 11" descr="https://test.web.static.jianzeppt.com/ppt-temp-img3/26789e569394ebb4695e716b15c9df00.png?x-oss-process=image/resize,w_1440,h_800,m_lfit/format,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648200" y="2727960"/>
            <a:ext cx="2895600" cy="15240"/>
          </a:xfrm>
          <a:prstGeom prst="rect">
            <a:avLst/>
          </a:prstGeom>
        </p:spPr>
      </p:pic>
      <p:sp>
        <p:nvSpPr>
          <p:cNvPr id="19" name="Text 5"/>
          <p:cNvSpPr/>
          <p:nvPr>
            <p:custDataLst>
              <p:tags r:id="rId25"/>
            </p:custDataLst>
          </p:nvPr>
        </p:nvSpPr>
        <p:spPr>
          <a:xfrm>
            <a:off x="4648200" y="2819400"/>
            <a:ext cx="2904744" cy="5334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80" dirty="0">
                <a:solidFill>
                  <a:srgbClr val="333333"/>
                </a:solidFill>
              </a:rPr>
              <a:t>梳理网络拓扑、设备清单、业务应用、数据流向</a:t>
            </a:r>
            <a:endParaRPr lang="en-US" sz="1680" dirty="0"/>
          </a:p>
        </p:txBody>
      </p:sp>
      <p:pic>
        <p:nvPicPr>
          <p:cNvPr id="20" name="Image 12" descr="preencoded.png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90560" y="1371600"/>
            <a:ext cx="3291840" cy="640080"/>
          </a:xfrm>
          <a:prstGeom prst="rect">
            <a:avLst/>
          </a:prstGeom>
        </p:spPr>
      </p:pic>
      <p:sp>
        <p:nvSpPr>
          <p:cNvPr id="21" name="Text 6"/>
          <p:cNvSpPr/>
          <p:nvPr>
            <p:custDataLst>
              <p:tags r:id="rId27"/>
            </p:custDataLst>
          </p:nvPr>
        </p:nvSpPr>
        <p:spPr>
          <a:xfrm>
            <a:off x="9326880" y="150876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第三阶段</a:t>
            </a:r>
            <a:endParaRPr lang="en-US" sz="2400" dirty="0"/>
          </a:p>
        </p:txBody>
      </p:sp>
      <p:pic>
        <p:nvPicPr>
          <p:cNvPr id="22" name="Image 13" descr="preencoded.png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90560" y="2011680"/>
            <a:ext cx="3291840" cy="15544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3" name="Text 7"/>
          <p:cNvSpPr/>
          <p:nvPr>
            <p:custDataLst>
              <p:tags r:id="rId29"/>
            </p:custDataLst>
          </p:nvPr>
        </p:nvSpPr>
        <p:spPr>
          <a:xfrm>
            <a:off x="9113520" y="2255520"/>
            <a:ext cx="16550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</a:rPr>
              <a:t>确定测评范围</a:t>
            </a:r>
            <a:endParaRPr lang="en-US" sz="2160" dirty="0"/>
          </a:p>
        </p:txBody>
      </p:sp>
      <p:pic>
        <p:nvPicPr>
          <p:cNvPr id="24" name="Image 14" descr="https://test.web.static.jianzeppt.com/ppt-temp-img3/26789e569394ebb4695e716b15c9df00.png?x-oss-process=image/resize,w_1440,h_800,m_lfit/format,png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488680" y="2727960"/>
            <a:ext cx="2895600" cy="15240"/>
          </a:xfrm>
          <a:prstGeom prst="rect">
            <a:avLst/>
          </a:prstGeom>
        </p:spPr>
      </p:pic>
      <p:sp>
        <p:nvSpPr>
          <p:cNvPr id="25" name="Text 8"/>
          <p:cNvSpPr/>
          <p:nvPr>
            <p:custDataLst>
              <p:tags r:id="rId31"/>
            </p:custDataLst>
          </p:nvPr>
        </p:nvSpPr>
        <p:spPr>
          <a:xfrm>
            <a:off x="8488680" y="2819400"/>
            <a:ext cx="2904744" cy="5334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80" dirty="0">
                <a:solidFill>
                  <a:srgbClr val="333333"/>
                </a:solidFill>
              </a:rPr>
              <a:t>明确本次测评覆盖的位置、网络区域、边界</a:t>
            </a:r>
            <a:endParaRPr lang="en-US" sz="1680" dirty="0"/>
          </a:p>
        </p:txBody>
      </p:sp>
      <p:pic>
        <p:nvPicPr>
          <p:cNvPr id="26" name="Image 15" descr="preencoded.png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7863840" y="4998720"/>
            <a:ext cx="304800" cy="304800"/>
          </a:xfrm>
          <a:prstGeom prst="rect">
            <a:avLst/>
          </a:prstGeom>
        </p:spPr>
      </p:pic>
      <p:pic>
        <p:nvPicPr>
          <p:cNvPr id="27" name="Image 16" descr="preencoded.png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4023360" y="4998720"/>
            <a:ext cx="304800" cy="304800"/>
          </a:xfrm>
          <a:prstGeom prst="rect">
            <a:avLst/>
          </a:prstGeom>
        </p:spPr>
      </p:pic>
      <p:pic>
        <p:nvPicPr>
          <p:cNvPr id="28" name="Image 17" descr="preencoded.png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90560" y="4053840"/>
            <a:ext cx="3291840" cy="640080"/>
          </a:xfrm>
          <a:prstGeom prst="rect">
            <a:avLst/>
          </a:prstGeom>
        </p:spPr>
      </p:pic>
      <p:sp>
        <p:nvSpPr>
          <p:cNvPr id="29" name="Text 9"/>
          <p:cNvSpPr/>
          <p:nvPr>
            <p:custDataLst>
              <p:tags r:id="rId35"/>
            </p:custDataLst>
          </p:nvPr>
        </p:nvSpPr>
        <p:spPr>
          <a:xfrm>
            <a:off x="9326880" y="419100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第四阶段</a:t>
            </a:r>
            <a:endParaRPr lang="en-US" sz="2400" dirty="0"/>
          </a:p>
        </p:txBody>
      </p:sp>
      <p:pic>
        <p:nvPicPr>
          <p:cNvPr id="30" name="Image 18" descr="preencoded.png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90560" y="4693920"/>
            <a:ext cx="3291840" cy="15544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31" name="Text 10"/>
          <p:cNvSpPr/>
          <p:nvPr>
            <p:custDataLst>
              <p:tags r:id="rId37"/>
            </p:custDataLst>
          </p:nvPr>
        </p:nvSpPr>
        <p:spPr>
          <a:xfrm>
            <a:off x="9113520" y="4937760"/>
            <a:ext cx="16550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</a:rPr>
              <a:t>选取测评对象</a:t>
            </a:r>
            <a:endParaRPr lang="en-US" sz="2160" dirty="0"/>
          </a:p>
        </p:txBody>
      </p:sp>
      <p:pic>
        <p:nvPicPr>
          <p:cNvPr id="32" name="Image 19" descr="https://test.web.static.jianzeppt.com/ppt-temp-img3/26789e569394ebb4695e716b15c9df00.png?x-oss-process=image/resize,w_1440,h_800,m_lfit/format,png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488680" y="5410200"/>
            <a:ext cx="2895600" cy="15240"/>
          </a:xfrm>
          <a:prstGeom prst="rect">
            <a:avLst/>
          </a:prstGeom>
        </p:spPr>
      </p:pic>
      <p:sp>
        <p:nvSpPr>
          <p:cNvPr id="33" name="Text 11"/>
          <p:cNvSpPr/>
          <p:nvPr>
            <p:custDataLst>
              <p:tags r:id="rId39"/>
            </p:custDataLst>
          </p:nvPr>
        </p:nvSpPr>
        <p:spPr>
          <a:xfrm>
            <a:off x="8488680" y="5501640"/>
            <a:ext cx="2904744" cy="5334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80" dirty="0">
                <a:solidFill>
                  <a:srgbClr val="333333"/>
                </a:solidFill>
              </a:rPr>
              <a:t>依据架构分析，确定具体设备与系统清单</a:t>
            </a:r>
            <a:endParaRPr lang="en-US" sz="1680" dirty="0"/>
          </a:p>
        </p:txBody>
      </p:sp>
      <p:pic>
        <p:nvPicPr>
          <p:cNvPr id="34" name="Image 20" descr="preencoded.png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50080" y="4053840"/>
            <a:ext cx="3291840" cy="640080"/>
          </a:xfrm>
          <a:prstGeom prst="rect">
            <a:avLst/>
          </a:prstGeom>
        </p:spPr>
      </p:pic>
      <p:sp>
        <p:nvSpPr>
          <p:cNvPr id="35" name="Text 12"/>
          <p:cNvSpPr/>
          <p:nvPr>
            <p:custDataLst>
              <p:tags r:id="rId41"/>
            </p:custDataLst>
          </p:nvPr>
        </p:nvSpPr>
        <p:spPr>
          <a:xfrm>
            <a:off x="5486400" y="419100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第五阶段</a:t>
            </a:r>
            <a:endParaRPr lang="en-US" sz="2400" dirty="0"/>
          </a:p>
        </p:txBody>
      </p:sp>
      <p:pic>
        <p:nvPicPr>
          <p:cNvPr id="36" name="Image 21" descr="preencoded.png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50080" y="4693920"/>
            <a:ext cx="3291840" cy="15544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37" name="Text 13"/>
          <p:cNvSpPr/>
          <p:nvPr>
            <p:custDataLst>
              <p:tags r:id="rId43"/>
            </p:custDataLst>
          </p:nvPr>
        </p:nvSpPr>
        <p:spPr>
          <a:xfrm>
            <a:off x="5273040" y="4937760"/>
            <a:ext cx="16550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</a:rPr>
              <a:t>确定测评指标</a:t>
            </a:r>
            <a:endParaRPr lang="en-US" sz="2160" dirty="0"/>
          </a:p>
        </p:txBody>
      </p:sp>
      <p:pic>
        <p:nvPicPr>
          <p:cNvPr id="38" name="Image 22" descr="https://test.web.static.jianzeppt.com/ppt-temp-img3/26789e569394ebb4695e716b15c9df00.png?x-oss-process=image/resize,w_1440,h_800,m_lfit/format,png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648200" y="5410200"/>
            <a:ext cx="2895600" cy="15240"/>
          </a:xfrm>
          <a:prstGeom prst="rect">
            <a:avLst/>
          </a:prstGeom>
        </p:spPr>
      </p:pic>
      <p:sp>
        <p:nvSpPr>
          <p:cNvPr id="39" name="Text 14"/>
          <p:cNvSpPr/>
          <p:nvPr>
            <p:custDataLst>
              <p:tags r:id="rId45"/>
            </p:custDataLst>
          </p:nvPr>
        </p:nvSpPr>
        <p:spPr>
          <a:xfrm>
            <a:off x="4648200" y="5501640"/>
            <a:ext cx="2904744" cy="5334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80" dirty="0">
                <a:solidFill>
                  <a:srgbClr val="333333"/>
                </a:solidFill>
              </a:rPr>
              <a:t>对照国家标准，逐项选取适用安全指标</a:t>
            </a:r>
            <a:endParaRPr lang="en-US" sz="1680" dirty="0"/>
          </a:p>
        </p:txBody>
      </p:sp>
      <p:pic>
        <p:nvPicPr>
          <p:cNvPr id="40" name="Image 23" descr="preencoded.png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9600" y="4053840"/>
            <a:ext cx="3291840" cy="640080"/>
          </a:xfrm>
          <a:prstGeom prst="rect">
            <a:avLst/>
          </a:prstGeom>
        </p:spPr>
      </p:pic>
      <p:sp>
        <p:nvSpPr>
          <p:cNvPr id="41" name="Text 15"/>
          <p:cNvSpPr/>
          <p:nvPr>
            <p:custDataLst>
              <p:tags r:id="rId47"/>
            </p:custDataLst>
          </p:nvPr>
        </p:nvSpPr>
        <p:spPr>
          <a:xfrm>
            <a:off x="1645920" y="419100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第六阶段</a:t>
            </a:r>
            <a:endParaRPr lang="en-US" sz="2400" dirty="0"/>
          </a:p>
        </p:txBody>
      </p:sp>
      <p:pic>
        <p:nvPicPr>
          <p:cNvPr id="42" name="Image 24" descr="preencoded.png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9600" y="4693920"/>
            <a:ext cx="3291840" cy="15544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43" name="Text 16"/>
          <p:cNvSpPr/>
          <p:nvPr>
            <p:custDataLst>
              <p:tags r:id="rId49"/>
            </p:custDataLst>
          </p:nvPr>
        </p:nvSpPr>
        <p:spPr>
          <a:xfrm>
            <a:off x="1432560" y="4937760"/>
            <a:ext cx="16550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</a:rPr>
              <a:t>编制完整方案</a:t>
            </a:r>
            <a:endParaRPr lang="en-US" sz="2160" dirty="0"/>
          </a:p>
        </p:txBody>
      </p:sp>
      <p:pic>
        <p:nvPicPr>
          <p:cNvPr id="44" name="Image 25" descr="https://test.web.static.jianzeppt.com/ppt-temp-img3/26789e569394ebb4695e716b15c9df00.png?x-oss-process=image/resize,w_1440,h_800,m_lfit/format,png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07720" y="5410200"/>
            <a:ext cx="2895600" cy="15240"/>
          </a:xfrm>
          <a:prstGeom prst="rect">
            <a:avLst/>
          </a:prstGeom>
        </p:spPr>
      </p:pic>
      <p:sp>
        <p:nvSpPr>
          <p:cNvPr id="45" name="Text 17"/>
          <p:cNvSpPr/>
          <p:nvPr>
            <p:custDataLst>
              <p:tags r:id="rId51"/>
            </p:custDataLst>
          </p:nvPr>
        </p:nvSpPr>
        <p:spPr>
          <a:xfrm>
            <a:off x="807720" y="5501640"/>
            <a:ext cx="2904744" cy="5334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80" dirty="0">
                <a:solidFill>
                  <a:srgbClr val="333333"/>
                </a:solidFill>
              </a:rPr>
              <a:t>按标准模板撰写，形成正式方案文档</a:t>
            </a:r>
            <a:endParaRPr lang="en-US" sz="1680" dirty="0"/>
          </a:p>
        </p:txBody>
      </p:sp>
      <p:sp>
        <p:nvSpPr>
          <p:cNvPr id="46" name="Text 18"/>
          <p:cNvSpPr/>
          <p:nvPr/>
        </p:nvSpPr>
        <p:spPr>
          <a:xfrm>
            <a:off x="822497" y="531937"/>
            <a:ext cx="2103120" cy="42418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方案编制流程</a:t>
            </a:r>
            <a:endParaRPr lang="en-US" sz="27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9845040" y="3566160"/>
            <a:ext cx="365760" cy="36576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23360" y="2316480"/>
            <a:ext cx="3048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63840" y="2316480"/>
            <a:ext cx="3048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9600" y="1371600"/>
            <a:ext cx="3291840" cy="640080"/>
          </a:xfrm>
          <a:prstGeom prst="rect">
            <a:avLst/>
          </a:prstGeom>
        </p:spPr>
      </p:pic>
      <p:sp>
        <p:nvSpPr>
          <p:cNvPr id="9" name="Text 0"/>
          <p:cNvSpPr/>
          <p:nvPr>
            <p:custDataLst>
              <p:tags r:id="rId12"/>
            </p:custDataLst>
          </p:nvPr>
        </p:nvSpPr>
        <p:spPr>
          <a:xfrm>
            <a:off x="1645920" y="150876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第一阶段</a:t>
            </a:r>
            <a:endParaRPr lang="en-US" sz="2400" dirty="0"/>
          </a:p>
        </p:txBody>
      </p:sp>
      <p:pic>
        <p:nvPicPr>
          <p:cNvPr id="10" name="Image 7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9600" y="2011680"/>
            <a:ext cx="3291840" cy="15544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11" name="Text 1"/>
          <p:cNvSpPr/>
          <p:nvPr>
            <p:custDataLst>
              <p:tags r:id="rId16"/>
            </p:custDataLst>
          </p:nvPr>
        </p:nvSpPr>
        <p:spPr>
          <a:xfrm>
            <a:off x="1432560" y="2255520"/>
            <a:ext cx="16550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</a:rPr>
              <a:t>解读定级报告</a:t>
            </a:r>
            <a:endParaRPr lang="en-US" sz="2160" dirty="0"/>
          </a:p>
        </p:txBody>
      </p:sp>
      <p:pic>
        <p:nvPicPr>
          <p:cNvPr id="12" name="Image 8" descr="https://test.web.static.jianzeppt.com/ppt-temp-img3/26789e569394ebb4695e716b15c9df00.png?x-oss-process=image/resize,w_1440,h_800,m_lfit/format,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07720" y="2727960"/>
            <a:ext cx="2895600" cy="15240"/>
          </a:xfrm>
          <a:prstGeom prst="rect">
            <a:avLst/>
          </a:prstGeom>
        </p:spPr>
      </p:pic>
      <p:sp>
        <p:nvSpPr>
          <p:cNvPr id="13" name="Text 2"/>
          <p:cNvSpPr/>
          <p:nvPr>
            <p:custDataLst>
              <p:tags r:id="rId19"/>
            </p:custDataLst>
          </p:nvPr>
        </p:nvSpPr>
        <p:spPr>
          <a:xfrm>
            <a:off x="807720" y="2819400"/>
            <a:ext cx="3048000" cy="7112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</a:rPr>
              <a:t>L1S4 – L1S8　共 5 关</a:t>
            </a:r>
            <a:endParaRPr lang="en-US" sz="168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</a:rPr>
              <a:t>定级结论 → 提取信息 → 评定 S / A → 取高者定级闭环</a:t>
            </a:r>
            <a:endParaRPr lang="en-US" sz="1680" dirty="0"/>
          </a:p>
        </p:txBody>
      </p:sp>
      <p:pic>
        <p:nvPicPr>
          <p:cNvPr id="14" name="Image 9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50080" y="1371600"/>
            <a:ext cx="3291840" cy="640080"/>
          </a:xfrm>
          <a:prstGeom prst="rect">
            <a:avLst/>
          </a:prstGeom>
        </p:spPr>
      </p:pic>
      <p:sp>
        <p:nvSpPr>
          <p:cNvPr id="15" name="Text 3"/>
          <p:cNvSpPr/>
          <p:nvPr>
            <p:custDataLst>
              <p:tags r:id="rId21"/>
            </p:custDataLst>
          </p:nvPr>
        </p:nvSpPr>
        <p:spPr>
          <a:xfrm>
            <a:off x="5486400" y="150876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第二阶段</a:t>
            </a:r>
            <a:endParaRPr lang="en-US" sz="2400" dirty="0"/>
          </a:p>
        </p:txBody>
      </p:sp>
      <p:pic>
        <p:nvPicPr>
          <p:cNvPr id="16" name="Image 10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50080" y="2011680"/>
            <a:ext cx="3291840" cy="15544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17" name="Text 4"/>
          <p:cNvSpPr/>
          <p:nvPr>
            <p:custDataLst>
              <p:tags r:id="rId23"/>
            </p:custDataLst>
          </p:nvPr>
        </p:nvSpPr>
        <p:spPr>
          <a:xfrm>
            <a:off x="5273040" y="2255520"/>
            <a:ext cx="16550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</a:rPr>
              <a:t>分析系统架构</a:t>
            </a:r>
            <a:endParaRPr lang="en-US" sz="2160" dirty="0"/>
          </a:p>
        </p:txBody>
      </p:sp>
      <p:pic>
        <p:nvPicPr>
          <p:cNvPr id="18" name="Image 11" descr="https://test.web.static.jianzeppt.com/ppt-temp-img3/26789e569394ebb4695e716b15c9df00.png?x-oss-process=image/resize,w_1440,h_800,m_lfit/format,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648200" y="2727960"/>
            <a:ext cx="2895600" cy="15240"/>
          </a:xfrm>
          <a:prstGeom prst="rect">
            <a:avLst/>
          </a:prstGeom>
        </p:spPr>
      </p:pic>
      <p:sp>
        <p:nvSpPr>
          <p:cNvPr id="19" name="Text 5"/>
          <p:cNvSpPr/>
          <p:nvPr>
            <p:custDataLst>
              <p:tags r:id="rId25"/>
            </p:custDataLst>
          </p:nvPr>
        </p:nvSpPr>
        <p:spPr>
          <a:xfrm>
            <a:off x="4648200" y="2819400"/>
            <a:ext cx="3048000" cy="7112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</a:rPr>
              <a:t>L1S9　共 1 关</a:t>
            </a:r>
            <a:endParaRPr lang="en-US" sz="168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</a:rPr>
              <a:t>梳理网络拓扑与设备清单，明确系统边界与资产构成</a:t>
            </a:r>
            <a:endParaRPr lang="en-US" sz="1680" dirty="0"/>
          </a:p>
        </p:txBody>
      </p:sp>
      <p:pic>
        <p:nvPicPr>
          <p:cNvPr id="20" name="Image 12" descr="preencoded.png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90560" y="1371600"/>
            <a:ext cx="3291840" cy="640080"/>
          </a:xfrm>
          <a:prstGeom prst="rect">
            <a:avLst/>
          </a:prstGeom>
        </p:spPr>
      </p:pic>
      <p:sp>
        <p:nvSpPr>
          <p:cNvPr id="21" name="Text 6"/>
          <p:cNvSpPr/>
          <p:nvPr>
            <p:custDataLst>
              <p:tags r:id="rId27"/>
            </p:custDataLst>
          </p:nvPr>
        </p:nvSpPr>
        <p:spPr>
          <a:xfrm>
            <a:off x="9326880" y="150876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第三阶段</a:t>
            </a:r>
            <a:endParaRPr lang="en-US" sz="2400" dirty="0"/>
          </a:p>
        </p:txBody>
      </p:sp>
      <p:pic>
        <p:nvPicPr>
          <p:cNvPr id="22" name="Image 13" descr="preencoded.png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90560" y="2011680"/>
            <a:ext cx="3291840" cy="15544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23" name="Text 7"/>
          <p:cNvSpPr/>
          <p:nvPr>
            <p:custDataLst>
              <p:tags r:id="rId29"/>
            </p:custDataLst>
          </p:nvPr>
        </p:nvSpPr>
        <p:spPr>
          <a:xfrm>
            <a:off x="9113520" y="2255520"/>
            <a:ext cx="16550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</a:rPr>
              <a:t>确定测评范围</a:t>
            </a:r>
            <a:endParaRPr lang="en-US" sz="2160" dirty="0"/>
          </a:p>
        </p:txBody>
      </p:sp>
      <p:pic>
        <p:nvPicPr>
          <p:cNvPr id="24" name="Image 14" descr="https://test.web.static.jianzeppt.com/ppt-temp-img3/26789e569394ebb4695e716b15c9df00.png?x-oss-process=image/resize,w_1440,h_800,m_lfit/format,png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488680" y="2727960"/>
            <a:ext cx="2895600" cy="15240"/>
          </a:xfrm>
          <a:prstGeom prst="rect">
            <a:avLst/>
          </a:prstGeom>
        </p:spPr>
      </p:pic>
      <p:sp>
        <p:nvSpPr>
          <p:cNvPr id="25" name="Text 8"/>
          <p:cNvSpPr/>
          <p:nvPr>
            <p:custDataLst>
              <p:tags r:id="rId31"/>
            </p:custDataLst>
          </p:nvPr>
        </p:nvSpPr>
        <p:spPr>
          <a:xfrm>
            <a:off x="8488680" y="2819400"/>
            <a:ext cx="3048000" cy="7112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</a:rPr>
              <a:t>L1S10　共 1 关</a:t>
            </a:r>
            <a:endParaRPr lang="en-US" sz="168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</a:rPr>
              <a:t>界定物理位置、网络区域、系统边界，应测尽测</a:t>
            </a:r>
            <a:endParaRPr lang="en-US" sz="1680" dirty="0"/>
          </a:p>
        </p:txBody>
      </p:sp>
      <p:pic>
        <p:nvPicPr>
          <p:cNvPr id="26" name="Image 15" descr="preencoded.png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7863840" y="4998720"/>
            <a:ext cx="304800" cy="304800"/>
          </a:xfrm>
          <a:prstGeom prst="rect">
            <a:avLst/>
          </a:prstGeom>
        </p:spPr>
      </p:pic>
      <p:pic>
        <p:nvPicPr>
          <p:cNvPr id="27" name="Image 16" descr="preencoded.png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4023360" y="4998720"/>
            <a:ext cx="304800" cy="304800"/>
          </a:xfrm>
          <a:prstGeom prst="rect">
            <a:avLst/>
          </a:prstGeom>
        </p:spPr>
      </p:pic>
      <p:pic>
        <p:nvPicPr>
          <p:cNvPr id="28" name="Image 17" descr="preencoded.png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90560" y="4053840"/>
            <a:ext cx="3291840" cy="640080"/>
          </a:xfrm>
          <a:prstGeom prst="rect">
            <a:avLst/>
          </a:prstGeom>
        </p:spPr>
      </p:pic>
      <p:sp>
        <p:nvSpPr>
          <p:cNvPr id="29" name="Text 9"/>
          <p:cNvSpPr/>
          <p:nvPr>
            <p:custDataLst>
              <p:tags r:id="rId35"/>
            </p:custDataLst>
          </p:nvPr>
        </p:nvSpPr>
        <p:spPr>
          <a:xfrm>
            <a:off x="9326880" y="419100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第四阶段</a:t>
            </a:r>
            <a:endParaRPr lang="en-US" sz="2400" dirty="0"/>
          </a:p>
        </p:txBody>
      </p:sp>
      <p:pic>
        <p:nvPicPr>
          <p:cNvPr id="30" name="Image 18" descr="preencoded.png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90560" y="4693920"/>
            <a:ext cx="3291840" cy="15544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31" name="Text 10"/>
          <p:cNvSpPr/>
          <p:nvPr>
            <p:custDataLst>
              <p:tags r:id="rId37"/>
            </p:custDataLst>
          </p:nvPr>
        </p:nvSpPr>
        <p:spPr>
          <a:xfrm>
            <a:off x="9113520" y="4937760"/>
            <a:ext cx="16550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</a:rPr>
              <a:t>选取测评对象</a:t>
            </a:r>
            <a:endParaRPr lang="en-US" sz="2160" dirty="0"/>
          </a:p>
        </p:txBody>
      </p:sp>
      <p:pic>
        <p:nvPicPr>
          <p:cNvPr id="32" name="Image 19" descr="https://test.web.static.jianzeppt.com/ppt-temp-img3/26789e569394ebb4695e716b15c9df00.png?x-oss-process=image/resize,w_1440,h_800,m_lfit/format,png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488680" y="5410200"/>
            <a:ext cx="2895600" cy="15240"/>
          </a:xfrm>
          <a:prstGeom prst="rect">
            <a:avLst/>
          </a:prstGeom>
        </p:spPr>
      </p:pic>
      <p:sp>
        <p:nvSpPr>
          <p:cNvPr id="33" name="Text 11"/>
          <p:cNvSpPr/>
          <p:nvPr>
            <p:custDataLst>
              <p:tags r:id="rId39"/>
            </p:custDataLst>
          </p:nvPr>
        </p:nvSpPr>
        <p:spPr>
          <a:xfrm>
            <a:off x="8488680" y="5501640"/>
            <a:ext cx="3048000" cy="7112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</a:rPr>
              <a:t>L1S11　共 1 关</a:t>
            </a:r>
            <a:endParaRPr lang="en-US" sz="168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</a:rPr>
              <a:t>四大原则选取对象，抽样不低于 30%，逐项写明理由</a:t>
            </a:r>
            <a:endParaRPr lang="en-US" sz="1680" dirty="0"/>
          </a:p>
        </p:txBody>
      </p:sp>
      <p:pic>
        <p:nvPicPr>
          <p:cNvPr id="34" name="Image 20" descr="preencoded.png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50080" y="4053840"/>
            <a:ext cx="3291840" cy="640080"/>
          </a:xfrm>
          <a:prstGeom prst="rect">
            <a:avLst/>
          </a:prstGeom>
        </p:spPr>
      </p:pic>
      <p:sp>
        <p:nvSpPr>
          <p:cNvPr id="35" name="Text 12"/>
          <p:cNvSpPr/>
          <p:nvPr>
            <p:custDataLst>
              <p:tags r:id="rId41"/>
            </p:custDataLst>
          </p:nvPr>
        </p:nvSpPr>
        <p:spPr>
          <a:xfrm>
            <a:off x="5486400" y="419100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第五阶段</a:t>
            </a:r>
            <a:endParaRPr lang="en-US" sz="2400" dirty="0"/>
          </a:p>
        </p:txBody>
      </p:sp>
      <p:pic>
        <p:nvPicPr>
          <p:cNvPr id="36" name="Image 21" descr="preencoded.png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50080" y="4693920"/>
            <a:ext cx="3291840" cy="15544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37" name="Text 13"/>
          <p:cNvSpPr/>
          <p:nvPr>
            <p:custDataLst>
              <p:tags r:id="rId43"/>
            </p:custDataLst>
          </p:nvPr>
        </p:nvSpPr>
        <p:spPr>
          <a:xfrm>
            <a:off x="5273040" y="4937760"/>
            <a:ext cx="16550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</a:rPr>
              <a:t>确定测评指标</a:t>
            </a:r>
            <a:endParaRPr lang="en-US" sz="2160" dirty="0"/>
          </a:p>
        </p:txBody>
      </p:sp>
      <p:pic>
        <p:nvPicPr>
          <p:cNvPr id="38" name="Image 22" descr="https://test.web.static.jianzeppt.com/ppt-temp-img3/26789e569394ebb4695e716b15c9df00.png?x-oss-process=image/resize,w_1440,h_800,m_lfit/format,png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648200" y="5410200"/>
            <a:ext cx="2895600" cy="15240"/>
          </a:xfrm>
          <a:prstGeom prst="rect">
            <a:avLst/>
          </a:prstGeom>
        </p:spPr>
      </p:pic>
      <p:sp>
        <p:nvSpPr>
          <p:cNvPr id="39" name="Text 14"/>
          <p:cNvSpPr/>
          <p:nvPr>
            <p:custDataLst>
              <p:tags r:id="rId45"/>
            </p:custDataLst>
          </p:nvPr>
        </p:nvSpPr>
        <p:spPr>
          <a:xfrm>
            <a:off x="4648200" y="5501640"/>
            <a:ext cx="3048000" cy="7112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</a:rPr>
              <a:t>L1S12 – L1S13　共 2 关</a:t>
            </a:r>
            <a:endParaRPr lang="en-US" sz="168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</a:rPr>
              <a:t>判定指标适用性 + 访谈 / 核查 / 测试三种方法</a:t>
            </a:r>
            <a:endParaRPr lang="en-US" sz="1680" dirty="0"/>
          </a:p>
        </p:txBody>
      </p:sp>
      <p:pic>
        <p:nvPicPr>
          <p:cNvPr id="40" name="Image 23" descr="preencoded.png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9600" y="4053840"/>
            <a:ext cx="3291840" cy="640080"/>
          </a:xfrm>
          <a:prstGeom prst="rect">
            <a:avLst/>
          </a:prstGeom>
        </p:spPr>
      </p:pic>
      <p:sp>
        <p:nvSpPr>
          <p:cNvPr id="41" name="Text 15"/>
          <p:cNvSpPr/>
          <p:nvPr>
            <p:custDataLst>
              <p:tags r:id="rId47"/>
            </p:custDataLst>
          </p:nvPr>
        </p:nvSpPr>
        <p:spPr>
          <a:xfrm>
            <a:off x="1645920" y="419100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第六阶段</a:t>
            </a:r>
            <a:endParaRPr lang="en-US" sz="2400" dirty="0"/>
          </a:p>
        </p:txBody>
      </p:sp>
      <p:pic>
        <p:nvPicPr>
          <p:cNvPr id="42" name="Image 24" descr="preencoded.png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9600" y="4693920"/>
            <a:ext cx="3291840" cy="15544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sp>
        <p:nvSpPr>
          <p:cNvPr id="43" name="Text 16"/>
          <p:cNvSpPr/>
          <p:nvPr>
            <p:custDataLst>
              <p:tags r:id="rId49"/>
            </p:custDataLst>
          </p:nvPr>
        </p:nvSpPr>
        <p:spPr>
          <a:xfrm>
            <a:off x="1432560" y="4937760"/>
            <a:ext cx="165506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</a:rPr>
              <a:t>编制完整方案</a:t>
            </a:r>
            <a:endParaRPr lang="en-US" sz="2160" dirty="0"/>
          </a:p>
        </p:txBody>
      </p:sp>
      <p:pic>
        <p:nvPicPr>
          <p:cNvPr id="44" name="Image 25" descr="https://test.web.static.jianzeppt.com/ppt-temp-img3/26789e569394ebb4695e716b15c9df00.png?x-oss-process=image/resize,w_1440,h_800,m_lfit/format,png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07720" y="5410200"/>
            <a:ext cx="2895600" cy="15240"/>
          </a:xfrm>
          <a:prstGeom prst="rect">
            <a:avLst/>
          </a:prstGeom>
        </p:spPr>
      </p:pic>
      <p:sp>
        <p:nvSpPr>
          <p:cNvPr id="45" name="Text 17"/>
          <p:cNvSpPr/>
          <p:nvPr>
            <p:custDataLst>
              <p:tags r:id="rId51"/>
            </p:custDataLst>
          </p:nvPr>
        </p:nvSpPr>
        <p:spPr>
          <a:xfrm>
            <a:off x="807720" y="5501640"/>
            <a:ext cx="3048000" cy="7112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</a:rPr>
              <a:t>L1S14 – L1S16　共 3 关</a:t>
            </a:r>
            <a:endParaRPr lang="en-US" sz="168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</a:rPr>
              <a:t>日程分工 → 风险控制 → 生成方案并签字定稿</a:t>
            </a:r>
            <a:endParaRPr lang="en-US" sz="1680" dirty="0"/>
          </a:p>
        </p:txBody>
      </p:sp>
      <p:sp>
        <p:nvSpPr>
          <p:cNvPr id="46" name="Text 18"/>
          <p:cNvSpPr/>
          <p:nvPr/>
        </p:nvSpPr>
        <p:spPr>
          <a:xfrm>
            <a:off x="822497" y="531937"/>
            <a:ext cx="5461000" cy="42418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闯关地图 · 挑战一 16 关与六步法</a:t>
            </a:r>
            <a:endParaRPr lang="en-US" sz="2760" dirty="0"/>
          </a:p>
        </p:txBody>
      </p:sp>
      <p:sp>
        <p:nvSpPr>
          <p:cNvPr id="47" name="TextBox 46"/>
          <p:cNvSpPr txBox="1"/>
          <p:nvPr/>
        </p:nvSpPr>
        <p:spPr>
          <a:xfrm>
            <a:off x="6299200" y="584200"/>
            <a:ext cx="5283200" cy="43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234E"/>
                </a:solidFill>
                <a:latin typeface="思源黑体 CN Bold"/>
                <a:ea typeface="思源黑体 CN Bold"/>
                <a:cs typeface="思源黑体 CN Bold"/>
              </a:rPr>
              <a:t>前置 L1S1 – L1S3：项目启动 · 项目信息认知表 · 定级确认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90000" y="5867400"/>
            <a:ext cx="2641600" cy="457200"/>
          </a:xfrm>
          <a:prstGeom prst="roundRect">
            <a:avLst>
              <a:gd name="adj" fmla="val 24000"/>
            </a:avLst>
          </a:prstGeom>
          <a:solidFill>
            <a:srgbClr val="00234E"/>
          </a:solidFill>
          <a:ln w="15875">
            <a:solidFill>
              <a:srgbClr val="4CC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hlinkClick r:id="rId53"/>
              </a:rPr>
              <a:t>▶ 进入技能挑战平台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371600"/>
            <a:ext cx="42611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实操演示路径</a:t>
            </a:r>
            <a:endParaRPr lang="en-US" sz="2640" dirty="0"/>
          </a:p>
        </p:txBody>
      </p:sp>
      <p:sp>
        <p:nvSpPr>
          <p:cNvPr id="6" name="Text 1"/>
          <p:cNvSpPr/>
          <p:nvPr/>
        </p:nvSpPr>
        <p:spPr>
          <a:xfrm>
            <a:off x="5212080" y="1371600"/>
            <a:ext cx="637946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关键要点与评判标准</a:t>
            </a:r>
            <a:endParaRPr lang="en-US" sz="2640" dirty="0"/>
          </a:p>
        </p:txBody>
      </p:sp>
      <p:pic>
        <p:nvPicPr>
          <p:cNvPr id="7" name="Image 3" descr="https://test.web.static.jianzeppt.com/ppt-temp-img3/03f287f62c2a551b61ead9332ce2e35b.png?x-oss-process=image/resize,w_1440,h_800,m_lfit/format,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09600" y="2057400"/>
            <a:ext cx="4251960" cy="91440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8680" y="2225040"/>
            <a:ext cx="502920" cy="381000"/>
          </a:xfrm>
          <a:prstGeom prst="rect">
            <a:avLst/>
          </a:prstGeom>
        </p:spPr>
      </p:pic>
      <p:sp>
        <p:nvSpPr>
          <p:cNvPr id="9" name="Text 2"/>
          <p:cNvSpPr/>
          <p:nvPr>
            <p:custDataLst>
              <p:tags r:id="rId9"/>
            </p:custDataLst>
          </p:nvPr>
        </p:nvSpPr>
        <p:spPr>
          <a:xfrm>
            <a:off x="990600" y="2255520"/>
            <a:ext cx="268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01</a:t>
            </a:r>
            <a:endParaRPr lang="en-US" sz="1680" dirty="0"/>
          </a:p>
        </p:txBody>
      </p:sp>
      <p:sp>
        <p:nvSpPr>
          <p:cNvPr id="10" name="Text 3"/>
          <p:cNvSpPr/>
          <p:nvPr>
            <p:custDataLst>
              <p:tags r:id="rId10"/>
            </p:custDataLst>
          </p:nvPr>
        </p:nvSpPr>
        <p:spPr>
          <a:xfrm>
            <a:off x="1493520" y="2209800"/>
            <a:ext cx="1379220" cy="4152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进入实训场景</a:t>
            </a:r>
            <a:endParaRPr lang="en-US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11" name="Text 4"/>
          <p:cNvSpPr/>
          <p:nvPr>
            <p:custDataLst>
              <p:tags r:id="rId11"/>
            </p:custDataLst>
          </p:nvPr>
        </p:nvSpPr>
        <p:spPr>
          <a:xfrm>
            <a:off x="868680" y="2644140"/>
            <a:ext cx="3048000" cy="2457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跳过平台首页与导航，直接进入任务</a:t>
            </a:r>
            <a:endParaRPr lang="en-US" sz="1600" dirty="0">
              <a:solidFill>
                <a:srgbClr val="374151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12" name="Image 5" descr="https://test.web.static.jianzeppt.com/ppt-temp-img3/14fe58a59bad19cf4e63d6a09b046410.png?x-oss-process=image/resize,w_1440,h_800,m_lfit/format,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24840" y="2072640"/>
            <a:ext cx="60960" cy="883920"/>
          </a:xfrm>
          <a:prstGeom prst="rect">
            <a:avLst/>
          </a:prstGeom>
        </p:spPr>
      </p:pic>
      <p:pic>
        <p:nvPicPr>
          <p:cNvPr id="13" name="Image 6" descr="https://test.web.static.jianzeppt.com/ppt-temp-img3/03f287f62c2a551b61ead9332ce2e35b.png?x-oss-process=image/resize,w_1440,h_800,m_lfit/format,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09600" y="3154680"/>
            <a:ext cx="4251960" cy="914400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8680" y="3307080"/>
            <a:ext cx="502920" cy="381000"/>
          </a:xfrm>
          <a:prstGeom prst="rect">
            <a:avLst/>
          </a:prstGeom>
        </p:spPr>
      </p:pic>
      <p:sp>
        <p:nvSpPr>
          <p:cNvPr id="15" name="Text 5"/>
          <p:cNvSpPr/>
          <p:nvPr>
            <p:custDataLst>
              <p:tags r:id="rId16"/>
            </p:custDataLst>
          </p:nvPr>
        </p:nvSpPr>
        <p:spPr>
          <a:xfrm>
            <a:off x="990600" y="3337560"/>
            <a:ext cx="268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02</a:t>
            </a:r>
            <a:endParaRPr lang="en-US" sz="1680" dirty="0"/>
          </a:p>
        </p:txBody>
      </p:sp>
      <p:sp>
        <p:nvSpPr>
          <p:cNvPr id="16" name="Text 6"/>
          <p:cNvSpPr/>
          <p:nvPr>
            <p:custDataLst>
              <p:tags r:id="rId17"/>
            </p:custDataLst>
          </p:nvPr>
        </p:nvSpPr>
        <p:spPr>
          <a:xfrm>
            <a:off x="1493520" y="3291840"/>
            <a:ext cx="1379220" cy="4152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选取测评对象</a:t>
            </a:r>
            <a:endParaRPr lang="en-US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17" name="Text 7"/>
          <p:cNvSpPr/>
          <p:nvPr>
            <p:custDataLst>
              <p:tags r:id="rId18"/>
            </p:custDataLst>
          </p:nvPr>
        </p:nvSpPr>
        <p:spPr>
          <a:xfrm>
            <a:off x="868680" y="3741420"/>
            <a:ext cx="2235200" cy="2457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关键设备 100%，同质设备抽样 ≥ 30%</a:t>
            </a:r>
            <a:endParaRPr lang="en-US" sz="1600" dirty="0">
              <a:solidFill>
                <a:srgbClr val="374151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18" name="Image 8" descr="https://test.web.static.jianzeppt.com/ppt-temp-img3/c15bd3289ee427f7ffda9ce44011fe63.png?x-oss-process=image/resize,w_1440,h_800,m_lfit/format,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24840" y="3169920"/>
            <a:ext cx="60960" cy="883920"/>
          </a:xfrm>
          <a:prstGeom prst="rect">
            <a:avLst/>
          </a:prstGeom>
        </p:spPr>
      </p:pic>
      <p:pic>
        <p:nvPicPr>
          <p:cNvPr id="19" name="Image 9" descr="https://test.web.static.jianzeppt.com/ppt-temp-img3/03f287f62c2a551b61ead9332ce2e35b.png?x-oss-process=image/resize,w_1440,h_800,m_lfit/format,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09600" y="4251960"/>
            <a:ext cx="4251960" cy="914400"/>
          </a:xfrm>
          <a:prstGeom prst="rect">
            <a:avLst/>
          </a:prstGeom>
        </p:spPr>
      </p:pic>
      <p:pic>
        <p:nvPicPr>
          <p:cNvPr id="20" name="Image 10" descr="preencoded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8680" y="4404360"/>
            <a:ext cx="502920" cy="381000"/>
          </a:xfrm>
          <a:prstGeom prst="rect">
            <a:avLst/>
          </a:prstGeom>
        </p:spPr>
      </p:pic>
      <p:sp>
        <p:nvSpPr>
          <p:cNvPr id="21" name="Text 8"/>
          <p:cNvSpPr/>
          <p:nvPr>
            <p:custDataLst>
              <p:tags r:id="rId22"/>
            </p:custDataLst>
          </p:nvPr>
        </p:nvSpPr>
        <p:spPr>
          <a:xfrm>
            <a:off x="990600" y="4434840"/>
            <a:ext cx="268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03</a:t>
            </a:r>
            <a:endParaRPr lang="en-US" sz="1680" dirty="0"/>
          </a:p>
        </p:txBody>
      </p:sp>
      <p:sp>
        <p:nvSpPr>
          <p:cNvPr id="22" name="Text 9"/>
          <p:cNvSpPr/>
          <p:nvPr>
            <p:custDataLst>
              <p:tags r:id="rId23"/>
            </p:custDataLst>
          </p:nvPr>
        </p:nvSpPr>
        <p:spPr>
          <a:xfrm>
            <a:off x="1493520" y="4389120"/>
            <a:ext cx="1379220" cy="4152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AI 导师纠错</a:t>
            </a:r>
            <a:endParaRPr lang="en-US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3" name="Text 10"/>
          <p:cNvSpPr/>
          <p:nvPr>
            <p:custDataLst>
              <p:tags r:id="rId24"/>
            </p:custDataLst>
          </p:nvPr>
        </p:nvSpPr>
        <p:spPr>
          <a:xfrm>
            <a:off x="868680" y="4823460"/>
            <a:ext cx="2844800" cy="2457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故意错选一次，AI 导师张工即时批注</a:t>
            </a:r>
            <a:endParaRPr lang="en-US" sz="1600" dirty="0">
              <a:solidFill>
                <a:srgbClr val="374151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24" name="Image 11" descr="https://test.web.static.jianzeppt.com/ppt-temp-img3/8e399bfd7b1bc6983a74512e6a97ccea.png?x-oss-process=image/resize,w_1440,h_800,m_lfit/format,png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24840" y="4267200"/>
            <a:ext cx="60960" cy="883920"/>
          </a:xfrm>
          <a:prstGeom prst="rect">
            <a:avLst/>
          </a:prstGeom>
        </p:spPr>
      </p:pic>
      <p:pic>
        <p:nvPicPr>
          <p:cNvPr id="25" name="Image 12" descr="https://test.web.static.jianzeppt.com/ppt-temp-img3/03f287f62c2a551b61ead9332ce2e35b.png?x-oss-process=image/resize,w_1440,h_800,m_lfit/format,png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09600" y="5334000"/>
            <a:ext cx="4251960" cy="914400"/>
          </a:xfrm>
          <a:prstGeom prst="rect">
            <a:avLst/>
          </a:prstGeom>
        </p:spPr>
      </p:pic>
      <p:pic>
        <p:nvPicPr>
          <p:cNvPr id="26" name="Image 13" descr="preencoded.pn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8680" y="5501640"/>
            <a:ext cx="502920" cy="381000"/>
          </a:xfrm>
          <a:prstGeom prst="rect">
            <a:avLst/>
          </a:prstGeom>
        </p:spPr>
      </p:pic>
      <p:sp>
        <p:nvSpPr>
          <p:cNvPr id="27" name="Text 11"/>
          <p:cNvSpPr/>
          <p:nvPr>
            <p:custDataLst>
              <p:tags r:id="rId28"/>
            </p:custDataLst>
          </p:nvPr>
        </p:nvSpPr>
        <p:spPr>
          <a:xfrm>
            <a:off x="990600" y="5532120"/>
            <a:ext cx="268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04</a:t>
            </a:r>
            <a:endParaRPr lang="en-US" sz="1680" dirty="0"/>
          </a:p>
        </p:txBody>
      </p:sp>
      <p:sp>
        <p:nvSpPr>
          <p:cNvPr id="28" name="Text 12"/>
          <p:cNvSpPr/>
          <p:nvPr>
            <p:custDataLst>
              <p:tags r:id="rId29"/>
            </p:custDataLst>
          </p:nvPr>
        </p:nvSpPr>
        <p:spPr>
          <a:xfrm>
            <a:off x="1493520" y="5486400"/>
            <a:ext cx="1379220" cy="4152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生成方案签字</a:t>
            </a:r>
            <a:endParaRPr lang="en-US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9" name="Text 13"/>
          <p:cNvSpPr/>
          <p:nvPr>
            <p:custDataLst>
              <p:tags r:id="rId30"/>
            </p:custDataLst>
          </p:nvPr>
        </p:nvSpPr>
        <p:spPr>
          <a:xfrm>
            <a:off x="868680" y="5920740"/>
            <a:ext cx="3048000" cy="2457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一键生成《测评方案》，项目经理签字定稿</a:t>
            </a:r>
            <a:endParaRPr lang="en-US" sz="1600" dirty="0">
              <a:solidFill>
                <a:srgbClr val="374151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30" name="Image 14" descr="https://test.web.static.jianzeppt.com/ppt-temp-img3/a4d1c5daed3616ce0a21f3ab1c078386.png?x-oss-process=image/resize,w_1440,h_800,m_lfit/format,png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24840" y="5349240"/>
            <a:ext cx="60960" cy="883920"/>
          </a:xfrm>
          <a:prstGeom prst="rect">
            <a:avLst/>
          </a:prstGeom>
        </p:spPr>
      </p:pic>
      <p:pic>
        <p:nvPicPr>
          <p:cNvPr id="31" name="Image 15" descr="preencoded.png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212080" y="2057400"/>
            <a:ext cx="6370320" cy="914400"/>
          </a:xfrm>
          <a:prstGeom prst="rect">
            <a:avLst/>
          </a:prstGeom>
          <a:effectLst>
            <a:outerShdw blurRad="1548384000" dist="387096000" dir="-1" algn="bl" rotWithShape="0">
              <a:srgbClr val="00234E">
                <a:alpha val="800000000"/>
              </a:srgbClr>
            </a:outerShdw>
          </a:effectLst>
        </p:spPr>
      </p:pic>
      <p:sp>
        <p:nvSpPr>
          <p:cNvPr id="32" name="Text 14"/>
          <p:cNvSpPr/>
          <p:nvPr/>
        </p:nvSpPr>
        <p:spPr>
          <a:xfrm>
            <a:off x="5715000" y="2171700"/>
            <a:ext cx="5617464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43840" indent="-24384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场景：XX市政务服务中心综合管理平台</a:t>
            </a:r>
            <a:endParaRPr lang="en-US" sz="1600" dirty="0"/>
          </a:p>
          <a:p>
            <a:pPr marL="243840" indent="-24384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等级：第三级（S3A3），含公民敏感信息</a:t>
            </a:r>
            <a:endParaRPr lang="en-US" sz="1600" dirty="0"/>
          </a:p>
          <a:p>
            <a:pPr marL="243840" indent="-24384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原则：不介绍平台功能，只模拟岗位实操</a:t>
            </a:r>
            <a:endParaRPr lang="en-US" sz="1600" dirty="0"/>
          </a:p>
        </p:txBody>
      </p:sp>
      <p:pic>
        <p:nvPicPr>
          <p:cNvPr id="33" name="Image 16" descr="https://test.web.static.jianzeppt.com/ppt-temp-img3/90ad6a5230da8b81e88837c5f888c426.png?x-oss-process=image/resize,w_1440,h_800,m_lfit/format,png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alphaModFix amt="16000"/>
          </a:blip>
          <a:stretch>
            <a:fillRect/>
          </a:stretch>
        </p:blipFill>
        <p:spPr>
          <a:xfrm>
            <a:off x="4937760" y="2407920"/>
            <a:ext cx="213360" cy="213360"/>
          </a:xfrm>
          <a:prstGeom prst="rect">
            <a:avLst/>
          </a:prstGeom>
        </p:spPr>
      </p:pic>
      <p:pic>
        <p:nvPicPr>
          <p:cNvPr id="34" name="Image 17" descr="preencoded.png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212080" y="3154680"/>
            <a:ext cx="6370320" cy="914400"/>
          </a:xfrm>
          <a:prstGeom prst="rect">
            <a:avLst/>
          </a:prstGeom>
          <a:effectLst>
            <a:outerShdw blurRad="1548384000" dist="387096000" dir="-1" algn="bl" rotWithShape="0">
              <a:srgbClr val="00234E">
                <a:alpha val="800000000"/>
              </a:srgbClr>
            </a:outerShdw>
          </a:effectLst>
        </p:spPr>
      </p:pic>
      <p:sp>
        <p:nvSpPr>
          <p:cNvPr id="35" name="Text 15"/>
          <p:cNvSpPr/>
          <p:nvPr/>
        </p:nvSpPr>
        <p:spPr>
          <a:xfrm>
            <a:off x="5715000" y="3246120"/>
            <a:ext cx="5617464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43840" indent="-24384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100% 测评：防火墙、堡垒机、日志审计、WAF</a:t>
            </a:r>
            <a:endParaRPr lang="en-US" sz="1600" dirty="0"/>
          </a:p>
          <a:p>
            <a:pPr marL="243840" indent="-24384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抽样：Web 服务器 3 台抽 2 台（66%）</a:t>
            </a:r>
            <a:endParaRPr lang="en-US" sz="1600" dirty="0"/>
          </a:p>
          <a:p>
            <a:pPr marL="243840" indent="-24384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排除：办公终端、打印机——须写明排除理由</a:t>
            </a:r>
            <a:endParaRPr lang="en-US" sz="1600" dirty="0"/>
          </a:p>
        </p:txBody>
      </p:sp>
      <p:pic>
        <p:nvPicPr>
          <p:cNvPr id="36" name="Image 18" descr="https://test.web.static.jianzeppt.com/ppt-temp-img3/90ad6a5230da8b81e88837c5f888c426.png?x-oss-process=image/resize,w_1440,h_800,m_lfit/format,png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5">
            <a:alphaModFix amt="16000"/>
          </a:blip>
          <a:stretch>
            <a:fillRect/>
          </a:stretch>
        </p:blipFill>
        <p:spPr>
          <a:xfrm>
            <a:off x="4937760" y="3505200"/>
            <a:ext cx="213360" cy="213360"/>
          </a:xfrm>
          <a:prstGeom prst="rect">
            <a:avLst/>
          </a:prstGeom>
        </p:spPr>
      </p:pic>
      <p:pic>
        <p:nvPicPr>
          <p:cNvPr id="37" name="Image 19" descr="preencoded.png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212080" y="4251960"/>
            <a:ext cx="6370320" cy="914400"/>
          </a:xfrm>
          <a:prstGeom prst="rect">
            <a:avLst/>
          </a:prstGeom>
          <a:effectLst>
            <a:outerShdw blurRad="1548384000" dist="387096000" dir="-1" algn="bl" rotWithShape="0">
              <a:srgbClr val="00234E">
                <a:alpha val="800000000"/>
              </a:srgbClr>
            </a:outerShdw>
          </a:effectLst>
        </p:spPr>
      </p:pic>
      <p:sp>
        <p:nvSpPr>
          <p:cNvPr id="38" name="Text 16"/>
          <p:cNvSpPr/>
          <p:nvPr/>
        </p:nvSpPr>
        <p:spPr>
          <a:xfrm>
            <a:off x="5715000" y="4343400"/>
            <a:ext cx="5617464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43840" indent="-24384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错误示范：把办公终端勾选为测评对象</a:t>
            </a:r>
            <a:endParaRPr lang="en-US" sz="1600" dirty="0"/>
          </a:p>
          <a:p>
            <a:pPr marL="243840" indent="-24384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AI 批注：该设备不属于测评边界，请写清理由</a:t>
            </a:r>
            <a:endParaRPr lang="en-US" sz="1600" dirty="0"/>
          </a:p>
          <a:p>
            <a:pPr marL="243840" indent="-24384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岗位要求：每项选入或排除都要写理由</a:t>
            </a:r>
            <a:endParaRPr lang="en-US" sz="1600" dirty="0"/>
          </a:p>
        </p:txBody>
      </p:sp>
      <p:pic>
        <p:nvPicPr>
          <p:cNvPr id="39" name="Image 20" descr="https://test.web.static.jianzeppt.com/ppt-temp-img3/90ad6a5230da8b81e88837c5f888c426.png?x-oss-process=image/resize,w_1440,h_800,m_lfit/format,png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5">
            <a:alphaModFix amt="16000"/>
          </a:blip>
          <a:stretch>
            <a:fillRect/>
          </a:stretch>
        </p:blipFill>
        <p:spPr>
          <a:xfrm>
            <a:off x="4937760" y="4587240"/>
            <a:ext cx="213360" cy="213360"/>
          </a:xfrm>
          <a:prstGeom prst="rect">
            <a:avLst/>
          </a:prstGeom>
        </p:spPr>
      </p:pic>
      <p:pic>
        <p:nvPicPr>
          <p:cNvPr id="40" name="Image 21" descr="preencoded.png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212080" y="5334000"/>
            <a:ext cx="6370320" cy="914400"/>
          </a:xfrm>
          <a:prstGeom prst="rect">
            <a:avLst/>
          </a:prstGeom>
          <a:effectLst>
            <a:outerShdw blurRad="1548384000" dist="387096000" dir="-1" algn="bl" rotWithShape="0">
              <a:srgbClr val="00234E">
                <a:alpha val="800000000"/>
              </a:srgbClr>
            </a:outerShdw>
          </a:effectLst>
        </p:spPr>
      </p:pic>
      <p:sp>
        <p:nvSpPr>
          <p:cNvPr id="41" name="Text 17"/>
          <p:cNvSpPr/>
          <p:nvPr/>
        </p:nvSpPr>
        <p:spPr>
          <a:xfrm>
            <a:off x="5715000" y="5448300"/>
            <a:ext cx="5617464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43840" indent="-24384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自动汇总：概述、范围、对象、指标、日程</a:t>
            </a:r>
            <a:endParaRPr lang="en-US" sz="1600" dirty="0"/>
          </a:p>
          <a:p>
            <a:pPr marL="243840" indent="-24384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签字确认：项目经理为项目第一责任人</a:t>
            </a:r>
            <a:endParaRPr lang="en-US" sz="1600" dirty="0"/>
          </a:p>
          <a:p>
            <a:pPr marL="243840" indent="-24384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方案定稿：基于架构分析生成，而非套模板</a:t>
            </a:r>
            <a:endParaRPr lang="en-US" sz="1600" dirty="0"/>
          </a:p>
        </p:txBody>
      </p:sp>
      <p:pic>
        <p:nvPicPr>
          <p:cNvPr id="42" name="Image 22" descr="https://test.web.static.jianzeppt.com/ppt-temp-img3/90ad6a5230da8b81e88837c5f888c426.png?x-oss-process=image/resize,w_1440,h_800,m_lfit/format,png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5">
            <a:alphaModFix amt="16000"/>
          </a:blip>
          <a:stretch>
            <a:fillRect/>
          </a:stretch>
        </p:blipFill>
        <p:spPr>
          <a:xfrm>
            <a:off x="4937760" y="5684520"/>
            <a:ext cx="213360" cy="213360"/>
          </a:xfrm>
          <a:prstGeom prst="rect">
            <a:avLst/>
          </a:prstGeom>
        </p:spPr>
      </p:pic>
      <p:sp>
        <p:nvSpPr>
          <p:cNvPr id="43" name="Text 18"/>
          <p:cNvSpPr/>
          <p:nvPr/>
        </p:nvSpPr>
        <p:spPr>
          <a:xfrm>
            <a:off x="822497" y="529635"/>
            <a:ext cx="7620000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平台实操演示 · 四步走</a:t>
            </a:r>
            <a:endParaRPr lang="en-US" sz="2760" dirty="0"/>
          </a:p>
        </p:txBody>
      </p:sp>
      <p:sp>
        <p:nvSpPr>
          <p:cNvPr id="44" name="Rounded Rectangle 43"/>
          <p:cNvSpPr/>
          <p:nvPr/>
        </p:nvSpPr>
        <p:spPr>
          <a:xfrm>
            <a:off x="8128000" y="558800"/>
            <a:ext cx="3352800" cy="431800"/>
          </a:xfrm>
          <a:prstGeom prst="roundRect">
            <a:avLst>
              <a:gd name="adj" fmla="val 24000"/>
            </a:avLst>
          </a:prstGeom>
          <a:solidFill>
            <a:srgbClr val="00234E"/>
          </a:solidFill>
          <a:ln w="15875">
            <a:solidFill>
              <a:srgbClr val="4CC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  <a:hlinkClick r:id="rId40"/>
              </a:rPr>
              <a:t>▶ 进入技能挑战平台（本地）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5364480" cy="23164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8680" y="1630680"/>
            <a:ext cx="365760" cy="36576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944880" y="1676400"/>
            <a:ext cx="23774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01</a:t>
            </a:r>
            <a:endParaRPr lang="en-US" sz="1440" dirty="0"/>
          </a:p>
        </p:txBody>
      </p:sp>
      <p:sp>
        <p:nvSpPr>
          <p:cNvPr id="8" name="Text 1"/>
          <p:cNvSpPr/>
          <p:nvPr/>
        </p:nvSpPr>
        <p:spPr>
          <a:xfrm>
            <a:off x="1356360" y="1584960"/>
            <a:ext cx="4318000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① 抽样：30% 是底线</a:t>
            </a:r>
            <a:endParaRPr lang="en-US" sz="2400" dirty="0"/>
          </a:p>
        </p:txBody>
      </p:sp>
      <p:sp>
        <p:nvSpPr>
          <p:cNvPr id="9" name="Text 2"/>
          <p:cNvSpPr/>
          <p:nvPr/>
        </p:nvSpPr>
        <p:spPr>
          <a:xfrm>
            <a:off x="868680" y="2118360"/>
            <a:ext cx="4855464" cy="5162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30% 是抽样底线，不是最优目标；关键设备必须 100% 全测。</a:t>
            </a:r>
            <a:endParaRPr lang="en-US" sz="1680" dirty="0"/>
          </a:p>
        </p:txBody>
      </p:sp>
      <p:sp>
        <p:nvSpPr>
          <p:cNvPr id="10" name="Text 3"/>
          <p:cNvSpPr/>
          <p:nvPr/>
        </p:nvSpPr>
        <p:spPr>
          <a:xfrm>
            <a:off x="868680" y="2667635"/>
            <a:ext cx="4851400" cy="2578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Web 服务器 3 台抽 2 台（66%），已过底线</a:t>
            </a:r>
            <a:endParaRPr lang="en-US" sz="1680" dirty="0"/>
          </a:p>
        </p:txBody>
      </p:sp>
      <p:sp>
        <p:nvSpPr>
          <p:cNvPr id="11" name="Text 4"/>
          <p:cNvSpPr/>
          <p:nvPr/>
        </p:nvSpPr>
        <p:spPr>
          <a:xfrm>
            <a:off x="868680" y="2959100"/>
            <a:ext cx="4851400" cy="2578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边界防火墙、堡垒机、WAF 等关键设备 100%</a:t>
            </a:r>
            <a:endParaRPr lang="en-US" sz="1680" dirty="0"/>
          </a:p>
        </p:txBody>
      </p:sp>
      <p:pic>
        <p:nvPicPr>
          <p:cNvPr id="12" name="Image 5" descr="https://test.web.static.jianzeppt.com/ppt-temp-img3/4fa993c4174dc748d59e08178f34ca03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1371600"/>
            <a:ext cx="5364480" cy="2316480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1661160"/>
            <a:ext cx="365760" cy="36576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6553200" y="1706880"/>
            <a:ext cx="23774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02</a:t>
            </a:r>
            <a:endParaRPr lang="en-US" sz="1440" dirty="0"/>
          </a:p>
        </p:txBody>
      </p:sp>
      <p:sp>
        <p:nvSpPr>
          <p:cNvPr id="15" name="Text 6"/>
          <p:cNvSpPr/>
          <p:nvPr/>
        </p:nvSpPr>
        <p:spPr>
          <a:xfrm>
            <a:off x="6964680" y="1615440"/>
            <a:ext cx="4318000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② 裁剪：理由要落地</a:t>
            </a:r>
            <a:endParaRPr lang="en-US" sz="2400" dirty="0"/>
          </a:p>
        </p:txBody>
      </p:sp>
      <p:sp>
        <p:nvSpPr>
          <p:cNvPr id="16" name="Text 7"/>
          <p:cNvSpPr/>
          <p:nvPr/>
        </p:nvSpPr>
        <p:spPr>
          <a:xfrm>
            <a:off x="6477000" y="2164080"/>
            <a:ext cx="176784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20" dirty="0">
                <a:solidFill>
                  <a:srgbClr val="00234E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☑</a:t>
            </a:r>
            <a:endParaRPr lang="en-US" sz="1320" dirty="0"/>
          </a:p>
        </p:txBody>
      </p:sp>
      <p:sp>
        <p:nvSpPr>
          <p:cNvPr id="17" name="Text 8"/>
          <p:cNvSpPr/>
          <p:nvPr/>
        </p:nvSpPr>
        <p:spPr>
          <a:xfrm>
            <a:off x="6705600" y="2148840"/>
            <a:ext cx="226060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裁剪必写理由</a:t>
            </a:r>
            <a:endParaRPr lang="en-US" sz="1440" dirty="0"/>
          </a:p>
        </p:txBody>
      </p:sp>
      <p:sp>
        <p:nvSpPr>
          <p:cNvPr id="18" name="Text 9"/>
          <p:cNvSpPr/>
          <p:nvPr/>
        </p:nvSpPr>
        <p:spPr>
          <a:xfrm>
            <a:off x="8961120" y="2164080"/>
            <a:ext cx="176784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20" dirty="0">
                <a:solidFill>
                  <a:srgbClr val="00234E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☑</a:t>
            </a:r>
            <a:endParaRPr lang="en-US" sz="1320" dirty="0"/>
          </a:p>
        </p:txBody>
      </p:sp>
      <p:sp>
        <p:nvSpPr>
          <p:cNvPr id="19" name="Text 10"/>
          <p:cNvSpPr/>
          <p:nvPr/>
        </p:nvSpPr>
        <p:spPr>
          <a:xfrm>
            <a:off x="9189720" y="2148840"/>
            <a:ext cx="226060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逐条说明，不得笼统</a:t>
            </a:r>
            <a:endParaRPr lang="en-US" sz="1440" dirty="0"/>
          </a:p>
        </p:txBody>
      </p:sp>
      <p:sp>
        <p:nvSpPr>
          <p:cNvPr id="20" name="Text 11"/>
          <p:cNvSpPr/>
          <p:nvPr/>
        </p:nvSpPr>
        <p:spPr>
          <a:xfrm>
            <a:off x="6477000" y="2438400"/>
            <a:ext cx="176784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20" dirty="0">
                <a:solidFill>
                  <a:srgbClr val="00234E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☑</a:t>
            </a:r>
            <a:endParaRPr lang="en-US" sz="1320" dirty="0"/>
          </a:p>
        </p:txBody>
      </p:sp>
      <p:sp>
        <p:nvSpPr>
          <p:cNvPr id="21" name="Text 12"/>
          <p:cNvSpPr/>
          <p:nvPr/>
        </p:nvSpPr>
        <p:spPr>
          <a:xfrm>
            <a:off x="6705600" y="2423160"/>
            <a:ext cx="226060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理由须具体可核查</a:t>
            </a:r>
            <a:endParaRPr lang="en-US" sz="1440" dirty="0"/>
          </a:p>
        </p:txBody>
      </p:sp>
      <p:sp>
        <p:nvSpPr>
          <p:cNvPr id="22" name="Text 13"/>
          <p:cNvSpPr/>
          <p:nvPr/>
        </p:nvSpPr>
        <p:spPr>
          <a:xfrm>
            <a:off x="8961120" y="2438400"/>
            <a:ext cx="176784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20" dirty="0">
                <a:solidFill>
                  <a:srgbClr val="00234E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☑</a:t>
            </a:r>
            <a:endParaRPr lang="en-US" sz="1320" dirty="0"/>
          </a:p>
        </p:txBody>
      </p:sp>
      <p:sp>
        <p:nvSpPr>
          <p:cNvPr id="23" name="Text 14"/>
          <p:cNvSpPr/>
          <p:nvPr/>
        </p:nvSpPr>
        <p:spPr>
          <a:xfrm>
            <a:off x="9189720" y="2423160"/>
            <a:ext cx="226060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核心指标不得裁剪</a:t>
            </a:r>
            <a:endParaRPr lang="en-US" sz="1440" dirty="0"/>
          </a:p>
        </p:txBody>
      </p:sp>
      <p:sp>
        <p:nvSpPr>
          <p:cNvPr id="24" name="Text 15"/>
          <p:cNvSpPr/>
          <p:nvPr/>
        </p:nvSpPr>
        <p:spPr>
          <a:xfrm>
            <a:off x="6477000" y="2697480"/>
            <a:ext cx="176784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20" dirty="0">
                <a:solidFill>
                  <a:srgbClr val="00234E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☑</a:t>
            </a:r>
            <a:endParaRPr lang="en-US" sz="1320" dirty="0"/>
          </a:p>
        </p:txBody>
      </p:sp>
      <p:sp>
        <p:nvSpPr>
          <p:cNvPr id="25" name="Text 16"/>
          <p:cNvSpPr/>
          <p:nvPr/>
        </p:nvSpPr>
        <p:spPr>
          <a:xfrm>
            <a:off x="6705600" y="2682240"/>
            <a:ext cx="226060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不涉该领域才可裁</a:t>
            </a:r>
            <a:endParaRPr lang="en-US" sz="1440" dirty="0"/>
          </a:p>
        </p:txBody>
      </p:sp>
      <p:sp>
        <p:nvSpPr>
          <p:cNvPr id="26" name="Text 17"/>
          <p:cNvSpPr/>
          <p:nvPr/>
        </p:nvSpPr>
        <p:spPr>
          <a:xfrm>
            <a:off x="8961120" y="2697480"/>
            <a:ext cx="176784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20" dirty="0">
                <a:solidFill>
                  <a:srgbClr val="00234E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☑</a:t>
            </a:r>
            <a:endParaRPr lang="en-US" sz="1320" dirty="0"/>
          </a:p>
        </p:txBody>
      </p:sp>
      <p:sp>
        <p:nvSpPr>
          <p:cNvPr id="27" name="Text 18"/>
          <p:cNvSpPr/>
          <p:nvPr/>
        </p:nvSpPr>
        <p:spPr>
          <a:xfrm>
            <a:off x="9189720" y="2682240"/>
            <a:ext cx="226060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裁剪不等于偷工减料</a:t>
            </a:r>
            <a:endParaRPr lang="en-US" sz="1440" dirty="0"/>
          </a:p>
        </p:txBody>
      </p:sp>
      <p:pic>
        <p:nvPicPr>
          <p:cNvPr id="49" name="Card3Backdrop49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3931920"/>
            <a:ext cx="5364480" cy="23164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8680" y="4221480"/>
            <a:ext cx="365760" cy="36576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356360" y="4175760"/>
            <a:ext cx="4318000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③ 责任：签字即担责</a:t>
            </a:r>
            <a:endParaRPr lang="en-US" sz="2400" dirty="0"/>
          </a:p>
        </p:txBody>
      </p:sp>
      <p:sp>
        <p:nvSpPr>
          <p:cNvPr id="41" name="Text 30"/>
          <p:cNvSpPr/>
          <p:nvPr/>
        </p:nvSpPr>
        <p:spPr>
          <a:xfrm>
            <a:off x="868680" y="5394960"/>
            <a:ext cx="4851400" cy="2578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依据要经得起评审与监管检查</a:t>
            </a:r>
            <a:endParaRPr lang="en-US" sz="1680" dirty="0">
              <a:solidFill>
                <a:srgbClr val="374151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17920" y="3931920"/>
            <a:ext cx="5364480" cy="231648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50" name="DutyLine50"/>
          <p:cNvSpPr/>
          <p:nvPr/>
        </p:nvSpPr>
        <p:spPr>
          <a:xfrm>
            <a:off x="868680" y="4754880"/>
            <a:ext cx="3810000" cy="2578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选入或排除，都要写清依据，不能凭感觉勾选</a:t>
            </a:r>
            <a:endParaRPr lang="en-US" sz="1680" dirty="0"/>
          </a:p>
        </p:txBody>
      </p:sp>
      <p:sp>
        <p:nvSpPr>
          <p:cNvPr id="51" name="DutyLine51"/>
          <p:cNvSpPr/>
          <p:nvPr/>
        </p:nvSpPr>
        <p:spPr>
          <a:xfrm>
            <a:off x="868680" y="5059680"/>
            <a:ext cx="3810000" cy="2578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签字即担责，项目经理是方案第一责任人</a:t>
            </a:r>
            <a:endParaRPr lang="en-US" sz="1680" dirty="0"/>
          </a:p>
        </p:txBody>
      </p:sp>
      <p:sp>
        <p:nvSpPr>
          <p:cNvPr id="52" name="DutyLine52"/>
          <p:cNvSpPr/>
          <p:nvPr/>
        </p:nvSpPr>
        <p:spPr>
          <a:xfrm>
            <a:off x="868680" y="5745480"/>
            <a:ext cx="3810000" cy="2578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签字后方案定稿生效，成为现场实施依据</a:t>
            </a:r>
            <a:endParaRPr lang="en-US" sz="1680" dirty="0"/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61760" y="4221480"/>
            <a:ext cx="365760" cy="365760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6949440" y="4175760"/>
            <a:ext cx="4318000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④ 两种工作模式对比</a:t>
            </a:r>
            <a:endParaRPr lang="en-US" sz="2400" dirty="0"/>
          </a:p>
        </p:txBody>
      </p:sp>
      <p:sp>
        <p:nvSpPr>
          <p:cNvPr id="46" name="Text 33"/>
          <p:cNvSpPr/>
          <p:nvPr/>
        </p:nvSpPr>
        <p:spPr>
          <a:xfrm>
            <a:off x="6461760" y="4815840"/>
            <a:ext cx="4885944" cy="10826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模板照搬：架构不适配 → 指标大量不适用 → 现场临时找指标 → 漏测多测并存 → 客户质疑、项目延期。</a:t>
            </a:r>
            <a:endParaRPr lang="en-US" sz="1440" dirty="0"/>
          </a:p>
          <a:p>
            <a:pPr marL="0" indent="0" algn="l">
              <a:lnSpc>
                <a:spcPct val="163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分析生成：读懂定级报告 → 摸清架构 → 界定范围 → 有据选对象 → 逐项剪指标 → 方案一次成型。</a:t>
            </a:r>
            <a:endParaRPr lang="en-US" sz="1440" dirty="0"/>
          </a:p>
        </p:txBody>
      </p:sp>
      <p:sp>
        <p:nvSpPr>
          <p:cNvPr id="47" name="Text 34"/>
          <p:cNvSpPr/>
          <p:nvPr/>
        </p:nvSpPr>
        <p:spPr>
          <a:xfrm>
            <a:off x="822497" y="529635"/>
            <a:ext cx="7620000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复盘板书 · 三个高频易错点</a:t>
            </a:r>
            <a:endParaRPr lang="en-US" sz="2760" dirty="0"/>
          </a:p>
        </p:txBody>
      </p:sp>
      <p:sp>
        <p:nvSpPr>
          <p:cNvPr id="48" name="Text 4"/>
          <p:cNvSpPr/>
          <p:nvPr/>
        </p:nvSpPr>
        <p:spPr>
          <a:xfrm>
            <a:off x="880110" y="3263900"/>
            <a:ext cx="4851400" cy="2578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抽样前提：同类、同配置才可抽样</a:t>
            </a:r>
            <a:endParaRPr lang="en-US" sz="1680" dirty="0">
              <a:solidFill>
                <a:srgbClr val="374151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30040" y="1219200"/>
            <a:ext cx="7467600" cy="5108575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6" name="Image 4" descr="https://test.web.static.jianzeppt.com/ppt-temp-img3/3f6c7900dff6a00424ed09b0542c5c53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0040" y="1219200"/>
            <a:ext cx="7437120" cy="79565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434840" y="1405573"/>
            <a:ext cx="1639824" cy="46164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项目基本信息</a:t>
            </a:r>
            <a:endParaRPr lang="en-US" sz="20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8" name="Text 1"/>
          <p:cNvSpPr/>
          <p:nvPr/>
        </p:nvSpPr>
        <p:spPr>
          <a:xfrm>
            <a:off x="6675120" y="1224915"/>
            <a:ext cx="4611624" cy="822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详细说明</a:t>
            </a:r>
            <a:endParaRPr lang="en-US" sz="2000" b="1" dirty="0">
              <a:solidFill>
                <a:srgbClr val="FFFFFF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45940" y="2514600"/>
            <a:ext cx="7221220" cy="65532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4434840" y="2127885"/>
            <a:ext cx="16398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系统名称</a:t>
            </a:r>
            <a:endParaRPr lang="en-US" sz="1920" dirty="0"/>
          </a:p>
        </p:txBody>
      </p:sp>
      <p:sp>
        <p:nvSpPr>
          <p:cNvPr id="11" name="Text 3"/>
          <p:cNvSpPr/>
          <p:nvPr/>
        </p:nvSpPr>
        <p:spPr>
          <a:xfrm>
            <a:off x="6506845" y="2127885"/>
            <a:ext cx="46116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XX市政务服务中心综合管理平台</a:t>
            </a:r>
            <a:endParaRPr lang="en-US" sz="1920" dirty="0"/>
          </a:p>
        </p:txBody>
      </p:sp>
      <p:sp>
        <p:nvSpPr>
          <p:cNvPr id="14" name="Text 4"/>
          <p:cNvSpPr/>
          <p:nvPr/>
        </p:nvSpPr>
        <p:spPr>
          <a:xfrm>
            <a:off x="4434840" y="2559685"/>
            <a:ext cx="16398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安全保护等级</a:t>
            </a:r>
            <a:endParaRPr lang="en-US" sz="1920" dirty="0"/>
          </a:p>
        </p:txBody>
      </p:sp>
      <p:sp>
        <p:nvSpPr>
          <p:cNvPr id="15" name="Text 5"/>
          <p:cNvSpPr/>
          <p:nvPr/>
        </p:nvSpPr>
        <p:spPr>
          <a:xfrm>
            <a:off x="6506845" y="2559685"/>
            <a:ext cx="46116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第三级（S3A3）</a:t>
            </a:r>
            <a:endParaRPr lang="en-US" sz="1920" dirty="0"/>
          </a:p>
        </p:txBody>
      </p:sp>
      <p:sp>
        <p:nvSpPr>
          <p:cNvPr id="18" name="Text 6"/>
          <p:cNvSpPr/>
          <p:nvPr/>
        </p:nvSpPr>
        <p:spPr>
          <a:xfrm>
            <a:off x="4434840" y="2984500"/>
            <a:ext cx="16398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主管部门</a:t>
            </a:r>
            <a:endParaRPr lang="en-US" sz="1920" dirty="0"/>
          </a:p>
        </p:txBody>
      </p:sp>
      <p:sp>
        <p:nvSpPr>
          <p:cNvPr id="19" name="Text 7"/>
          <p:cNvSpPr/>
          <p:nvPr/>
        </p:nvSpPr>
        <p:spPr>
          <a:xfrm>
            <a:off x="6506845" y="2984500"/>
            <a:ext cx="46116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XX市政务服务管理局</a:t>
            </a:r>
            <a:endParaRPr lang="en-US" sz="1920" dirty="0"/>
          </a:p>
        </p:txBody>
      </p:sp>
      <p:sp>
        <p:nvSpPr>
          <p:cNvPr id="22" name="Text 8"/>
          <p:cNvSpPr/>
          <p:nvPr/>
        </p:nvSpPr>
        <p:spPr>
          <a:xfrm>
            <a:off x="4434840" y="3424555"/>
            <a:ext cx="16398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建设单位</a:t>
            </a:r>
            <a:endParaRPr lang="en-US" sz="1920" dirty="0"/>
          </a:p>
        </p:txBody>
      </p:sp>
      <p:sp>
        <p:nvSpPr>
          <p:cNvPr id="23" name="Text 9"/>
          <p:cNvSpPr/>
          <p:nvPr/>
        </p:nvSpPr>
        <p:spPr>
          <a:xfrm>
            <a:off x="6506845" y="3424555"/>
            <a:ext cx="46116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XX市大数据发展局</a:t>
            </a:r>
            <a:endParaRPr lang="en-US" sz="1920" dirty="0"/>
          </a:p>
        </p:txBody>
      </p:sp>
      <p:sp>
        <p:nvSpPr>
          <p:cNvPr id="26" name="Text 10"/>
          <p:cNvSpPr/>
          <p:nvPr/>
        </p:nvSpPr>
        <p:spPr>
          <a:xfrm>
            <a:off x="4434840" y="3903345"/>
            <a:ext cx="1639824" cy="7010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系统功能</a:t>
            </a:r>
            <a:endParaRPr lang="en-US" sz="1920" dirty="0"/>
          </a:p>
        </p:txBody>
      </p:sp>
      <p:sp>
        <p:nvSpPr>
          <p:cNvPr id="27" name="Text 11"/>
          <p:cNvSpPr/>
          <p:nvPr/>
        </p:nvSpPr>
        <p:spPr>
          <a:xfrm>
            <a:off x="6506845" y="3903345"/>
            <a:ext cx="4611624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统一政务服务门户、事项管理、预约排号、排队叫号、综合评价、数据统计</a:t>
            </a:r>
            <a:endParaRPr lang="en-US" sz="1920" dirty="0"/>
          </a:p>
        </p:txBody>
      </p:sp>
      <p:sp>
        <p:nvSpPr>
          <p:cNvPr id="30" name="Text 12"/>
          <p:cNvSpPr/>
          <p:nvPr/>
        </p:nvSpPr>
        <p:spPr>
          <a:xfrm>
            <a:off x="4434840" y="4662805"/>
            <a:ext cx="16398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用户规模</a:t>
            </a:r>
            <a:endParaRPr lang="en-US" sz="1920" dirty="0"/>
          </a:p>
        </p:txBody>
      </p:sp>
      <p:sp>
        <p:nvSpPr>
          <p:cNvPr id="31" name="Text 13"/>
          <p:cNvSpPr/>
          <p:nvPr/>
        </p:nvSpPr>
        <p:spPr>
          <a:xfrm>
            <a:off x="6506845" y="4662805"/>
            <a:ext cx="4611624" cy="3429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20" dirty="0">
                <a:solidFill>
                  <a:schemeClr val="tx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约200个窗口、日均接待群众约5000人次</a:t>
            </a:r>
            <a:endParaRPr lang="en-US" sz="1920" dirty="0">
              <a:solidFill>
                <a:schemeClr val="tx1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32" name="Image 16" descr="https://test.web.static.jianzeppt.com/ppt-temp-img3/0aebefbcf39da17ff21e20ef6a957df8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1371600"/>
            <a:ext cx="3078480" cy="4876800"/>
          </a:xfrm>
          <a:prstGeom prst="rect">
            <a:avLst/>
          </a:prstGeom>
        </p:spPr>
      </p:pic>
      <p:pic>
        <p:nvPicPr>
          <p:cNvPr id="33" name="Image 17" descr="https://test.web.static.jianzeppt.com/ppt-temp-img3/816fbc8241bfc7cd69456a90011da40a.png?x-oss-process=image/resize,w_1440,h_800,m_lfit/format,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" y="1386840"/>
            <a:ext cx="3048000" cy="914400"/>
          </a:xfrm>
          <a:prstGeom prst="rect">
            <a:avLst/>
          </a:prstGeom>
        </p:spPr>
      </p:pic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82040" y="1889760"/>
            <a:ext cx="2133600" cy="213360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35" name="Image 19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00200" y="2407920"/>
            <a:ext cx="1097280" cy="1097280"/>
          </a:xfrm>
          <a:prstGeom prst="rect">
            <a:avLst/>
          </a:prstGeom>
        </p:spPr>
      </p:pic>
      <p:sp>
        <p:nvSpPr>
          <p:cNvPr id="36" name="Text 14"/>
          <p:cNvSpPr/>
          <p:nvPr/>
        </p:nvSpPr>
        <p:spPr>
          <a:xfrm>
            <a:off x="1143000" y="4511040"/>
            <a:ext cx="203606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综合管理平台</a:t>
            </a:r>
            <a:endParaRPr lang="en-US" sz="2640" dirty="0"/>
          </a:p>
        </p:txBody>
      </p:sp>
      <p:sp>
        <p:nvSpPr>
          <p:cNvPr id="37" name="Text 15"/>
          <p:cNvSpPr/>
          <p:nvPr/>
        </p:nvSpPr>
        <p:spPr>
          <a:xfrm>
            <a:off x="1143000" y="5135880"/>
            <a:ext cx="20360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666666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XX市政务服务中心</a:t>
            </a:r>
            <a:endParaRPr lang="en-US" sz="1680" dirty="0"/>
          </a:p>
        </p:txBody>
      </p:sp>
      <p:pic>
        <p:nvPicPr>
          <p:cNvPr id="38" name="Image 20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920240" y="5699760"/>
            <a:ext cx="457200" cy="45720"/>
          </a:xfrm>
          <a:prstGeom prst="rect">
            <a:avLst/>
          </a:prstGeom>
        </p:spPr>
      </p:pic>
      <p:sp>
        <p:nvSpPr>
          <p:cNvPr id="39" name="Text 16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示范场景——XX市政务服务中心项目</a:t>
            </a:r>
            <a:endParaRPr lang="en-US" sz="2760" dirty="0"/>
          </a:p>
        </p:txBody>
      </p:sp>
      <p:sp>
        <p:nvSpPr>
          <p:cNvPr id="40" name="Text 12"/>
          <p:cNvSpPr/>
          <p:nvPr/>
        </p:nvSpPr>
        <p:spPr>
          <a:xfrm>
            <a:off x="4434840" y="5203190"/>
            <a:ext cx="1225550" cy="4425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数据敏感性</a:t>
            </a:r>
            <a:endParaRPr lang="en-US" sz="1920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41" name="Text 12"/>
          <p:cNvSpPr/>
          <p:nvPr/>
        </p:nvSpPr>
        <p:spPr>
          <a:xfrm>
            <a:off x="4434840" y="5807710"/>
            <a:ext cx="980440" cy="44259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关键业务</a:t>
            </a:r>
            <a:endParaRPr lang="zh-CN" altLang="en-US" sz="1920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407150" y="5154295"/>
            <a:ext cx="6096000" cy="6813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920" dirty="0"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  <a:sym typeface="+mn-ea"/>
              </a:rPr>
              <a:t>含公民身份信息、联系方式、办事记录等个人</a:t>
            </a:r>
            <a:endParaRPr lang="zh-CN" altLang="en-US" sz="1920" dirty="0"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  <a:sym typeface="+mn-ea"/>
            </a:endParaRPr>
          </a:p>
          <a:p>
            <a:r>
              <a:rPr lang="zh-CN" altLang="en-US" sz="1920" dirty="0"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  <a:sym typeface="+mn-ea"/>
              </a:rPr>
              <a:t>敏感信息</a:t>
            </a:r>
            <a:endParaRPr lang="zh-CN" altLang="en-US" sz="1920" dirty="0"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407150" y="5861685"/>
            <a:ext cx="6096000" cy="386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920" dirty="0"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  <a:sym typeface="+mn-ea"/>
              </a:rPr>
              <a:t>在线预约、窗口叫号、评价管理、数据上报</a:t>
            </a:r>
            <a:endParaRPr lang="zh-CN" altLang="en-US" sz="1920" dirty="0"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31520" y="1371600"/>
            <a:ext cx="102108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解读步骤</a:t>
            </a:r>
            <a:endParaRPr lang="en-US" sz="2000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2667635" y="1878965"/>
          <a:ext cx="6781800" cy="1676400"/>
        </p:xfrm>
        <a:graphic>
          <a:graphicData uri="http://schemas.openxmlformats.org/drawingml/2006/table">
            <a:tbl>
              <a:tblPr/>
              <a:tblGrid>
                <a:gridCol w="558165"/>
                <a:gridCol w="1731010"/>
                <a:gridCol w="4492625"/>
              </a:tblGrid>
              <a:tr h="279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步骤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5077" marR="55077" marT="55077" marB="5507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操作内容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5077" marR="55077" marT="55077" marB="5507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关键信息提取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5077" marR="55077" marT="55077" marB="5507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5077" marR="55077" marT="55077" marB="5507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阅读定级报告封面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5077" marR="55077" marT="55077" marB="5507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系统名称、定级结论、定级日期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5077" marR="55077" marT="55077" marB="5507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5077" marR="55077" marT="55077" marB="5507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查看定级依据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5077" marR="55077" marT="55077" marB="5507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依据GB/T22240标准，采用何种定级方法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5077" marR="55077" marT="55077" marB="5507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5077" marR="55077" marT="55077" marB="5507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确认安全等级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5077" marR="55077" marT="55077" marB="5507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业务信息安全等级（S）+系统服务安全等级（A）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5077" marR="55077" marT="55077" marB="5507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5077" marR="55077" marT="55077" marB="5507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了解系统描述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5077" marR="55077" marT="55077" marB="5507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系统功能、网络结构、数据流程、业务范围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5077" marR="55077" marT="55077" marB="5507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5077" marR="55077" marT="55077" marB="5507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记录关键信息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5077" marR="55077" marT="55077" marB="5507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主管部门、建设单位、运维单位、联系人信息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55077" marR="55077" marT="55077" marB="5507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1"/>
          <p:cNvSpPr/>
          <p:nvPr/>
        </p:nvSpPr>
        <p:spPr>
          <a:xfrm>
            <a:off x="731520" y="4175760"/>
            <a:ext cx="1073810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定级报告解读要点</a:t>
            </a:r>
            <a:endParaRPr lang="en-US" sz="1920" dirty="0"/>
          </a:p>
        </p:txBody>
      </p:sp>
      <p:pic>
        <p:nvPicPr>
          <p:cNvPr id="9" name="Image 4" descr="https://test.web.static.jianzeppt.com/ppt-temp-img3/9cd65114a91170634311fe80a67608c9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663440"/>
            <a:ext cx="5364480" cy="13411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68680" y="4922520"/>
            <a:ext cx="255270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三级系统意味着什么？</a:t>
            </a:r>
            <a:endParaRPr lang="en-US" sz="2000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11" name="Text 3"/>
          <p:cNvSpPr/>
          <p:nvPr/>
        </p:nvSpPr>
        <p:spPr>
          <a:xfrm>
            <a:off x="868680" y="5364480"/>
            <a:ext cx="4855464" cy="25217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测评指标更多、要求更严格、测评周期更短（每年一次）</a:t>
            </a:r>
            <a:endParaRPr lang="en-US" sz="1440" dirty="0"/>
          </a:p>
        </p:txBody>
      </p:sp>
      <p:pic>
        <p:nvPicPr>
          <p:cNvPr id="12" name="Image 5" descr="https://test.web.static.jianzeppt.com/ppt-temp-img3/9cd65114a91170634311fe80a67608c9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663440"/>
            <a:ext cx="5364480" cy="134112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6477000" y="4922520"/>
            <a:ext cx="1792224" cy="33647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S3A3的含义？</a:t>
            </a:r>
            <a:endParaRPr lang="en-US" sz="1920" dirty="0"/>
          </a:p>
        </p:txBody>
      </p:sp>
      <p:sp>
        <p:nvSpPr>
          <p:cNvPr id="14" name="Text 5"/>
          <p:cNvSpPr/>
          <p:nvPr/>
        </p:nvSpPr>
        <p:spPr>
          <a:xfrm>
            <a:off x="6477000" y="5364480"/>
            <a:ext cx="4855464" cy="29432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业务信息安全等级为3级，系统服务安全等级为3级</a:t>
            </a:r>
            <a:endParaRPr lang="en-US" sz="1680" dirty="0"/>
          </a:p>
        </p:txBody>
      </p:sp>
      <p:sp>
        <p:nvSpPr>
          <p:cNvPr id="15" name="Text 6"/>
          <p:cNvSpPr/>
          <p:nvPr/>
        </p:nvSpPr>
        <p:spPr>
          <a:xfrm>
            <a:off x="822497" y="531937"/>
            <a:ext cx="4159250" cy="42418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b="1" dirty="0">
                <a:solidFill>
                  <a:srgbClr val="1E1E1E"/>
                </a:solidFill>
              </a:rPr>
              <a:t>第一阶段——解读定级报告</a:t>
            </a:r>
            <a:endParaRPr lang="en-US" sz="276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74439a75fd8e51019c271e8face49780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10972800" cy="307848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853440" y="1615440"/>
          <a:ext cx="10485120" cy="2590800"/>
        </p:xfrm>
        <a:graphic>
          <a:graphicData uri="http://schemas.openxmlformats.org/drawingml/2006/table">
            <a:tbl>
              <a:tblPr/>
              <a:tblGrid>
                <a:gridCol w="1526218"/>
                <a:gridCol w="5601221"/>
                <a:gridCol w="3357680"/>
              </a:tblGrid>
              <a:tr h="431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分析维度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分析内容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记录要求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网络拓扑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网络是如何分区的？边界在哪里？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绘制或确认拓扑图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设备清单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有哪些网络设备、安全设备、服务器？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记录型号、数量、IP段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业务应用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运行了哪些业务系统？面向什么用户？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记录应用名称、功能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数据流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数据从哪里来、到哪里去？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标注核心数据流向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管理方式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系统如何管理？是否有远程管理？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80" dirty="0">
                          <a:solidFill>
                            <a:srgbClr val="000000"/>
                          </a:solidFill>
                        </a:rPr>
                        <a:t>记录管理方式</a:t>
                      </a:r>
                      <a:endParaRPr lang="en-US" sz="1680" dirty="0"/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Image 4" descr="https://test.web.static.jianzeppt.com/ppt-temp-img3/d7060cef1020835a0c4d897821a91156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589145"/>
            <a:ext cx="5334000" cy="1355725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3440" y="4746625"/>
            <a:ext cx="487680" cy="487680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5360" y="4868545"/>
            <a:ext cx="243840" cy="24384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1524000" y="4724400"/>
            <a:ext cx="41849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实操技巧 1</a:t>
            </a:r>
            <a:endParaRPr lang="en-US" sz="1680" dirty="0"/>
          </a:p>
        </p:txBody>
      </p:sp>
      <p:sp>
        <p:nvSpPr>
          <p:cNvPr id="6" name="Text 1"/>
          <p:cNvSpPr/>
          <p:nvPr/>
        </p:nvSpPr>
        <p:spPr>
          <a:xfrm>
            <a:off x="1524000" y="5074920"/>
            <a:ext cx="4184904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如果客户没有提供现成的架构图，可以通过访谈和现场勘察绘制</a:t>
            </a:r>
            <a:endParaRPr lang="en-US" sz="1680" dirty="0"/>
          </a:p>
        </p:txBody>
      </p:sp>
      <p:pic>
        <p:nvPicPr>
          <p:cNvPr id="12" name="Image 7" descr="https://test.web.static.jianzeppt.com/ppt-temp-img3/d7060cef1020835a0c4d897821a91156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4588510"/>
            <a:ext cx="5334000" cy="1377315"/>
          </a:xfrm>
          <a:prstGeom prst="rect">
            <a:avLst/>
          </a:prstGeom>
        </p:spPr>
      </p:pic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2240" y="4746625"/>
            <a:ext cx="487680" cy="487680"/>
          </a:xfrm>
          <a:prstGeom prst="rect">
            <a:avLst/>
          </a:prstGeom>
        </p:spPr>
      </p:pic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160" y="4865370"/>
            <a:ext cx="243840" cy="243840"/>
          </a:xfrm>
          <a:prstGeom prst="rect">
            <a:avLst/>
          </a:prstGeom>
        </p:spPr>
      </p:pic>
      <p:sp>
        <p:nvSpPr>
          <p:cNvPr id="15" name="Text 2"/>
          <p:cNvSpPr/>
          <p:nvPr/>
        </p:nvSpPr>
        <p:spPr>
          <a:xfrm>
            <a:off x="7162800" y="4724400"/>
            <a:ext cx="38496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实操技巧 2</a:t>
            </a:r>
            <a:endParaRPr lang="en-US" sz="1680" dirty="0"/>
          </a:p>
        </p:txBody>
      </p:sp>
      <p:sp>
        <p:nvSpPr>
          <p:cNvPr id="16" name="Text 3"/>
          <p:cNvSpPr/>
          <p:nvPr/>
        </p:nvSpPr>
        <p:spPr>
          <a:xfrm>
            <a:off x="7162800" y="5112385"/>
            <a:ext cx="3937000" cy="241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设备清单是后续</a:t>
            </a: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选取测评对象的核心依据</a:t>
            </a:r>
            <a:endParaRPr lang="en-US" sz="1680" dirty="0"/>
          </a:p>
        </p:txBody>
      </p:sp>
      <p:sp>
        <p:nvSpPr>
          <p:cNvPr id="17" name="Text 4"/>
          <p:cNvSpPr/>
          <p:nvPr/>
        </p:nvSpPr>
        <p:spPr>
          <a:xfrm>
            <a:off x="822497" y="531937"/>
            <a:ext cx="4159250" cy="42418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b="1" dirty="0">
                <a:solidFill>
                  <a:srgbClr val="1E1E1E"/>
                </a:solidFill>
              </a:rPr>
              <a:t>第二阶段——分析系统架构</a:t>
            </a:r>
            <a:endParaRPr lang="en-US" sz="276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6" grpId="0"/>
      <p:bldP spid="15" grpId="0"/>
      <p:bldP spid="16" grpId="0"/>
      <p:bldP spid="10" grpId="1"/>
      <p:bldP spid="6" grpId="1"/>
      <p:bldP spid="15" grpId="1"/>
      <p:bldP spid="16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8bf05befd1172dbcc9972e6b484c4d0b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10972800" cy="2637155"/>
          </a:xfrm>
          <a:prstGeom prst="rect">
            <a:avLst/>
          </a:prstGeom>
        </p:spPr>
      </p:pic>
      <p:pic>
        <p:nvPicPr>
          <p:cNvPr id="6" name="Image 4" descr="https://test.web.static.jianzeppt.com/ppt-temp-img3/051d3e4135c0335908fd3112d2497982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" y="1386840"/>
            <a:ext cx="10942320" cy="6096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68680" y="1508760"/>
            <a:ext cx="14874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测评范围维度</a:t>
            </a:r>
            <a:endParaRPr lang="en-US" sz="1920" dirty="0"/>
          </a:p>
        </p:txBody>
      </p:sp>
      <p:pic>
        <p:nvPicPr>
          <p:cNvPr id="8" name="Image 5" descr="https://test.web.static.jianzeppt.com/ppt-temp-img3/3f8d662bf084e34c13547f34a192fcde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0" y="1386840"/>
            <a:ext cx="15240" cy="60960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733800" y="1508760"/>
            <a:ext cx="148742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本次覆盖内容</a:t>
            </a:r>
            <a:endParaRPr lang="en-US" sz="1920" dirty="0"/>
          </a:p>
        </p:txBody>
      </p:sp>
      <p:pic>
        <p:nvPicPr>
          <p:cNvPr id="10" name="Image 6" descr="https://test.web.static.jianzeppt.com/ppt-temp-img3/3f8d662bf084e34c13547f34a192fcde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2040" y="1386840"/>
            <a:ext cx="15240" cy="60960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8961120" y="1508760"/>
            <a:ext cx="237134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说明</a:t>
            </a:r>
            <a:endParaRPr lang="en-US" sz="1920" dirty="0"/>
          </a:p>
        </p:txBody>
      </p:sp>
      <p:sp>
        <p:nvSpPr>
          <p:cNvPr id="12" name="Text 3"/>
          <p:cNvSpPr/>
          <p:nvPr/>
        </p:nvSpPr>
        <p:spPr>
          <a:xfrm>
            <a:off x="868680" y="2118360"/>
            <a:ext cx="8128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物理位置</a:t>
            </a:r>
            <a:endParaRPr lang="en-US" sz="1600" dirty="0">
              <a:solidFill>
                <a:srgbClr val="374151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13" name="Image 7" descr="https://test.web.static.jianzeppt.com/ppt-temp-img3/6be5e44f9d26b2cfddec71d68a62cc3b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1996440"/>
            <a:ext cx="15240" cy="460553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3524250" y="2118360"/>
            <a:ext cx="4032885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XX市政务服务中心数据中心机房（主楼5楼）</a:t>
            </a:r>
            <a:endParaRPr lang="en-US" sz="1600" dirty="0">
              <a:solidFill>
                <a:srgbClr val="374151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15" name="Image 8" descr="https://test.web.static.jianzeppt.com/ppt-temp-img3/6be5e44f9d26b2cfddec71d68a62cc3b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2040" y="1996440"/>
            <a:ext cx="15240" cy="460553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8961120" y="2118360"/>
            <a:ext cx="8128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核心机房</a:t>
            </a:r>
            <a:endParaRPr lang="en-US" sz="1600" dirty="0">
              <a:solidFill>
                <a:srgbClr val="6B7280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17" name="Image 9" descr="https://test.web.static.jianzeppt.com/ppt-temp-img3/b7aab395a766e6708480a1c63bee46cb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" y="2472233"/>
            <a:ext cx="10942320" cy="15240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868680" y="2590800"/>
            <a:ext cx="8128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网络区域</a:t>
            </a:r>
            <a:endParaRPr lang="en-US" sz="1600" dirty="0">
              <a:solidFill>
                <a:srgbClr val="374151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19" name="Image 10" descr="https://test.web.static.jianzeppt.com/ppt-temp-img3/3bc79a170f1a8bb5ffdd3b4d1d3bd79b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2472233"/>
            <a:ext cx="15240" cy="460248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3524250" y="2590800"/>
            <a:ext cx="42672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互联网边界区、核心交换区、服务器区、管理区</a:t>
            </a:r>
            <a:endParaRPr lang="en-US" sz="1600" dirty="0">
              <a:solidFill>
                <a:srgbClr val="374151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21" name="Image 11" descr="https://test.web.static.jianzeppt.com/ppt-temp-img3/3bc79a170f1a8bb5ffdd3b4d1d3bd79b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2040" y="2472233"/>
            <a:ext cx="15240" cy="460248"/>
          </a:xfrm>
          <a:prstGeom prst="rect">
            <a:avLst/>
          </a:prstGeom>
        </p:spPr>
      </p:pic>
      <p:sp>
        <p:nvSpPr>
          <p:cNvPr id="22" name="Text 8"/>
          <p:cNvSpPr/>
          <p:nvPr/>
        </p:nvSpPr>
        <p:spPr>
          <a:xfrm>
            <a:off x="8961120" y="2590800"/>
            <a:ext cx="12192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四个关键区域</a:t>
            </a:r>
            <a:endParaRPr lang="en-US" sz="1600" dirty="0">
              <a:solidFill>
                <a:srgbClr val="6B7280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23" name="Image 12" descr="https://test.web.static.jianzeppt.com/ppt-temp-img3/b7aab395a766e6708480a1c63bee46cb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" y="2947721"/>
            <a:ext cx="10942320" cy="15240"/>
          </a:xfrm>
          <a:prstGeom prst="rect">
            <a:avLst/>
          </a:prstGeom>
        </p:spPr>
      </p:pic>
      <p:sp>
        <p:nvSpPr>
          <p:cNvPr id="24" name="Text 9"/>
          <p:cNvSpPr/>
          <p:nvPr/>
        </p:nvSpPr>
        <p:spPr>
          <a:xfrm>
            <a:off x="868680" y="3063240"/>
            <a:ext cx="8128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系统边界</a:t>
            </a:r>
            <a:endParaRPr lang="en-US" sz="1600" dirty="0">
              <a:solidFill>
                <a:srgbClr val="374151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25" name="Image 13" descr="https://test.web.static.jianzeppt.com/ppt-temp-img3/6be5e44f9d26b2cfddec71d68a62cc3b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2947721"/>
            <a:ext cx="15240" cy="460553"/>
          </a:xfrm>
          <a:prstGeom prst="rect">
            <a:avLst/>
          </a:prstGeom>
        </p:spPr>
      </p:pic>
      <p:sp>
        <p:nvSpPr>
          <p:cNvPr id="26" name="Text 10"/>
          <p:cNvSpPr/>
          <p:nvPr/>
        </p:nvSpPr>
        <p:spPr>
          <a:xfrm>
            <a:off x="3524250" y="3063240"/>
            <a:ext cx="28448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从互联网入口到数据库的全链路</a:t>
            </a:r>
            <a:endParaRPr lang="en-US" sz="1600" dirty="0">
              <a:solidFill>
                <a:srgbClr val="374151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27" name="Image 14" descr="https://test.web.static.jianzeppt.com/ppt-temp-img3/6be5e44f9d26b2cfddec71d68a62cc3b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2040" y="2947721"/>
            <a:ext cx="15240" cy="460553"/>
          </a:xfrm>
          <a:prstGeom prst="rect">
            <a:avLst/>
          </a:prstGeom>
        </p:spPr>
      </p:pic>
      <p:sp>
        <p:nvSpPr>
          <p:cNvPr id="28" name="Text 11"/>
          <p:cNvSpPr/>
          <p:nvPr/>
        </p:nvSpPr>
        <p:spPr>
          <a:xfrm>
            <a:off x="8961120" y="3063240"/>
            <a:ext cx="16256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涵盖所有关键节点</a:t>
            </a:r>
            <a:endParaRPr lang="en-US" sz="1600" dirty="0">
              <a:solidFill>
                <a:srgbClr val="6B7280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29" name="Image 15" descr="https://test.web.static.jianzeppt.com/ppt-temp-img3/b7aab395a766e6708480a1c63bee46cb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" y="3423514"/>
            <a:ext cx="10942320" cy="15240"/>
          </a:xfrm>
          <a:prstGeom prst="rect">
            <a:avLst/>
          </a:prstGeom>
        </p:spPr>
      </p:pic>
      <p:sp>
        <p:nvSpPr>
          <p:cNvPr id="30" name="Text 12"/>
          <p:cNvSpPr/>
          <p:nvPr/>
        </p:nvSpPr>
        <p:spPr>
          <a:xfrm>
            <a:off x="868680" y="3550920"/>
            <a:ext cx="8128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业务范围</a:t>
            </a:r>
            <a:endParaRPr lang="en-US" sz="1600" dirty="0">
              <a:solidFill>
                <a:srgbClr val="374151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31" name="Image 16" descr="https://test.web.static.jianzeppt.com/ppt-temp-img3/37aeb6b25b8b0d10da4a980a0e112671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720" y="3423514"/>
            <a:ext cx="15240" cy="721766"/>
          </a:xfrm>
          <a:prstGeom prst="rect">
            <a:avLst/>
          </a:prstGeom>
        </p:spPr>
      </p:pic>
      <p:sp>
        <p:nvSpPr>
          <p:cNvPr id="32" name="Text 13"/>
          <p:cNvSpPr/>
          <p:nvPr/>
        </p:nvSpPr>
        <p:spPr>
          <a:xfrm>
            <a:off x="3524250" y="3550920"/>
            <a:ext cx="5227320" cy="36893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政务服务门户、事项管理、预约排号、叫号、评价、统计</a:t>
            </a:r>
            <a:endParaRPr lang="en-US" sz="1600" dirty="0">
              <a:solidFill>
                <a:srgbClr val="374151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33" name="Image 17" descr="https://test.web.static.jianzeppt.com/ppt-temp-img3/37aeb6b25b8b0d10da4a980a0e112671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02040" y="3423514"/>
            <a:ext cx="15240" cy="721766"/>
          </a:xfrm>
          <a:prstGeom prst="rect">
            <a:avLst/>
          </a:prstGeom>
        </p:spPr>
      </p:pic>
      <p:sp>
        <p:nvSpPr>
          <p:cNvPr id="34" name="Text 14"/>
          <p:cNvSpPr/>
          <p:nvPr/>
        </p:nvSpPr>
        <p:spPr>
          <a:xfrm>
            <a:off x="8961120" y="3488055"/>
            <a:ext cx="237134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6个功能模块</a:t>
            </a:r>
            <a:endParaRPr lang="en-US" sz="1600" dirty="0">
              <a:solidFill>
                <a:srgbClr val="6B7280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35" name="Image 18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9600" y="4419600"/>
            <a:ext cx="3505200" cy="18288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36" name="Image 19" descr="https://test.web.static.jianzeppt.com/ppt-temp-img3/97de0e6d4f653d25358b781291fb71b4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7400" y="4678680"/>
            <a:ext cx="609600" cy="487680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79320" y="4739640"/>
            <a:ext cx="365760" cy="365760"/>
          </a:xfrm>
          <a:prstGeom prst="rect">
            <a:avLst/>
          </a:prstGeom>
        </p:spPr>
      </p:pic>
      <p:sp>
        <p:nvSpPr>
          <p:cNvPr id="38" name="Text 15"/>
          <p:cNvSpPr/>
          <p:nvPr/>
        </p:nvSpPr>
        <p:spPr>
          <a:xfrm>
            <a:off x="1630680" y="5288280"/>
            <a:ext cx="148742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“应测尽测”</a:t>
            </a:r>
            <a:endParaRPr lang="en-US" sz="1440" dirty="0"/>
          </a:p>
        </p:txBody>
      </p:sp>
      <p:sp>
        <p:nvSpPr>
          <p:cNvPr id="39" name="Text 16"/>
          <p:cNvSpPr/>
          <p:nvPr/>
        </p:nvSpPr>
        <p:spPr>
          <a:xfrm>
            <a:off x="868680" y="5623560"/>
            <a:ext cx="2996184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所有承载核心业务的设备和系统都应纳入范围</a:t>
            </a:r>
            <a:endParaRPr lang="en-US" sz="1400" dirty="0">
              <a:solidFill>
                <a:srgbClr val="4B5563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40" name="Image 21" descr="https://test.web.static.jianzeppt.com/ppt-temp-img3/129f7659252fb20a9547e0bb6cde3f7f.png?x-oss-process=image/resize,w_1440,h_800,m_lfit/format,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840" y="4434840"/>
            <a:ext cx="60960" cy="1798320"/>
          </a:xfrm>
          <a:prstGeom prst="rect">
            <a:avLst/>
          </a:prstGeom>
        </p:spPr>
      </p:pic>
      <p:pic>
        <p:nvPicPr>
          <p:cNvPr id="41" name="Image 22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43400" y="4419600"/>
            <a:ext cx="3505200" cy="18288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42" name="Image 23" descr="https://test.web.static.jianzeppt.com/ppt-temp-img3/97de0e6d4f653d25358b781291fb71b4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91200" y="4678680"/>
            <a:ext cx="609600" cy="487680"/>
          </a:xfrm>
          <a:prstGeom prst="rect">
            <a:avLst/>
          </a:prstGeom>
        </p:spPr>
      </p:pic>
      <p:pic>
        <p:nvPicPr>
          <p:cNvPr id="43" name="Image 24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13120" y="4739640"/>
            <a:ext cx="365760" cy="365760"/>
          </a:xfrm>
          <a:prstGeom prst="rect">
            <a:avLst/>
          </a:prstGeom>
        </p:spPr>
      </p:pic>
      <p:sp>
        <p:nvSpPr>
          <p:cNvPr id="44" name="Text 17"/>
          <p:cNvSpPr/>
          <p:nvPr/>
        </p:nvSpPr>
        <p:spPr>
          <a:xfrm>
            <a:off x="5364480" y="5288280"/>
            <a:ext cx="148742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“边界清晰”</a:t>
            </a:r>
            <a:endParaRPr lang="en-US" sz="1440" dirty="0"/>
          </a:p>
        </p:txBody>
      </p:sp>
      <p:sp>
        <p:nvSpPr>
          <p:cNvPr id="45" name="Text 18"/>
          <p:cNvSpPr/>
          <p:nvPr/>
        </p:nvSpPr>
        <p:spPr>
          <a:xfrm>
            <a:off x="4602480" y="5623560"/>
            <a:ext cx="2996184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明确哪些在范围内、哪些在范围外，避免争议</a:t>
            </a:r>
            <a:endParaRPr lang="en-US" sz="1400" dirty="0">
              <a:solidFill>
                <a:srgbClr val="4B5563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46" name="Image 25" descr="https://test.web.static.jianzeppt.com/ppt-temp-img3/14b0c7d2b323b4031c054da657992eda.png?x-oss-process=image/resize,w_1440,h_800,m_lfit/format,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58640" y="4434840"/>
            <a:ext cx="60960" cy="1798320"/>
          </a:xfrm>
          <a:prstGeom prst="rect">
            <a:avLst/>
          </a:prstGeom>
        </p:spPr>
      </p:pic>
      <p:pic>
        <p:nvPicPr>
          <p:cNvPr id="47" name="Image 2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92440" y="4419600"/>
            <a:ext cx="3505200" cy="18288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48" name="Image 27" descr="https://test.web.static.jianzeppt.com/ppt-temp-img3/97de0e6d4f653d25358b781291fb71b4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25000" y="4678680"/>
            <a:ext cx="609600" cy="487680"/>
          </a:xfrm>
          <a:prstGeom prst="rect">
            <a:avLst/>
          </a:prstGeom>
        </p:spPr>
      </p:pic>
      <p:pic>
        <p:nvPicPr>
          <p:cNvPr id="49" name="Image 28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646920" y="4739640"/>
            <a:ext cx="365760" cy="365760"/>
          </a:xfrm>
          <a:prstGeom prst="rect">
            <a:avLst/>
          </a:prstGeom>
        </p:spPr>
      </p:pic>
      <p:sp>
        <p:nvSpPr>
          <p:cNvPr id="50" name="Text 19"/>
          <p:cNvSpPr/>
          <p:nvPr/>
        </p:nvSpPr>
        <p:spPr>
          <a:xfrm>
            <a:off x="9098280" y="5288280"/>
            <a:ext cx="148742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“合理裁剪”</a:t>
            </a:r>
            <a:endParaRPr lang="en-US" sz="1440" dirty="0"/>
          </a:p>
        </p:txBody>
      </p:sp>
      <p:sp>
        <p:nvSpPr>
          <p:cNvPr id="51" name="Text 20"/>
          <p:cNvSpPr/>
          <p:nvPr/>
        </p:nvSpPr>
        <p:spPr>
          <a:xfrm>
            <a:off x="8351520" y="5623560"/>
            <a:ext cx="2996184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对不涉及的技术领域可以裁剪，但须说明理由</a:t>
            </a:r>
            <a:endParaRPr lang="en-US" sz="1400" dirty="0">
              <a:solidFill>
                <a:srgbClr val="4B5563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52" name="Image 29" descr="https://test.web.static.jianzeppt.com/ppt-temp-img3/137174c3136eceb0a7fdc7eabcb9bab9.png?x-oss-process=image/resize,w_1440,h_800,m_lfit/format,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07680" y="4434840"/>
            <a:ext cx="60960" cy="1798320"/>
          </a:xfrm>
          <a:prstGeom prst="rect">
            <a:avLst/>
          </a:prstGeom>
        </p:spPr>
      </p:pic>
      <p:sp>
        <p:nvSpPr>
          <p:cNvPr id="53" name="Text 21"/>
          <p:cNvSpPr/>
          <p:nvPr/>
        </p:nvSpPr>
        <p:spPr>
          <a:xfrm>
            <a:off x="822497" y="531937"/>
            <a:ext cx="4159250" cy="42418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b="1" dirty="0">
                <a:solidFill>
                  <a:srgbClr val="1E1E1E"/>
                </a:solidFill>
              </a:rPr>
              <a:t>第三阶段——确定测评范围</a:t>
            </a:r>
            <a:endParaRPr lang="en-US" sz="276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5d4bfe1a93fccb09658015969c071be1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5645785"/>
            <a:ext cx="10972800" cy="60261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680" y="5768340"/>
            <a:ext cx="304800" cy="3048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356360" y="5638800"/>
            <a:ext cx="9976104" cy="4508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b="1" dirty="0">
                <a:solidFill>
                  <a:srgbClr val="00234E"/>
                </a:solidFill>
              </a:rPr>
              <a:t>说明：</a:t>
            </a:r>
            <a:r>
              <a:rPr lang="en-US" dirty="0">
                <a:solidFill>
                  <a:srgbClr val="1F2937"/>
                </a:solidFill>
              </a:rPr>
              <a:t>Web服务器3台抽2台（</a:t>
            </a:r>
            <a:r>
              <a:rPr lang="en-US" b="1" dirty="0">
                <a:solidFill>
                  <a:srgbClr val="00234E"/>
                </a:solidFill>
              </a:rPr>
              <a:t>66%</a:t>
            </a:r>
            <a:r>
              <a:rPr lang="en-US" dirty="0">
                <a:solidFill>
                  <a:srgbClr val="1F2937"/>
                </a:solidFill>
              </a:rPr>
              <a:t>），数据库服务器2台抽1台（</a:t>
            </a:r>
            <a:r>
              <a:rPr lang="en-US" b="1" dirty="0">
                <a:solidFill>
                  <a:srgbClr val="00234E"/>
                </a:solidFill>
              </a:rPr>
              <a:t>50%</a:t>
            </a:r>
            <a:r>
              <a:rPr lang="en-US" dirty="0">
                <a:solidFill>
                  <a:srgbClr val="1F2937"/>
                </a:solidFill>
              </a:rPr>
              <a:t>），均超过</a:t>
            </a:r>
            <a:r>
              <a:rPr lang="en-US" b="1" dirty="0">
                <a:solidFill>
                  <a:srgbClr val="00234E"/>
                </a:solidFill>
              </a:rPr>
              <a:t>30%</a:t>
            </a:r>
            <a:r>
              <a:rPr lang="en-US" dirty="0">
                <a:solidFill>
                  <a:srgbClr val="1F2937"/>
                </a:solidFill>
              </a:rPr>
              <a:t>的抽样比例要求。</a:t>
            </a:r>
            <a:endParaRPr lang="en-US" dirty="0">
              <a:solidFill>
                <a:srgbClr val="1F2937"/>
              </a:solidFill>
            </a:endParaRPr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1093180" y="1127760"/>
          <a:ext cx="9609455" cy="4631055"/>
        </p:xfrm>
        <a:graphic>
          <a:graphicData uri="http://schemas.openxmlformats.org/drawingml/2006/table">
            <a:tbl>
              <a:tblPr/>
              <a:tblGrid>
                <a:gridCol w="548726"/>
                <a:gridCol w="1378507"/>
                <a:gridCol w="2355508"/>
                <a:gridCol w="1217905"/>
                <a:gridCol w="1284822"/>
                <a:gridCol w="2823932"/>
              </a:tblGrid>
              <a:tr h="30173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序号</a:t>
                      </a:r>
                      <a:endParaRPr lang="en-US" sz="1400" b="1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设备/系统名称</a:t>
                      </a:r>
                      <a:endParaRPr lang="en-US" sz="1400" b="1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型号/规格</a:t>
                      </a:r>
                      <a:endParaRPr lang="en-US" sz="1400" b="1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数量</a:t>
                      </a:r>
                      <a:endParaRPr lang="en-US" sz="1400" b="1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是否测评</a:t>
                      </a:r>
                      <a:endParaRPr lang="en-US" sz="1400" b="1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选取理由</a:t>
                      </a:r>
                      <a:endParaRPr lang="en-US" sz="1400" b="1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0173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边界防火墙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华为USG6000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1台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√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边界防护核心设备，三级必须测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3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核心交换机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华为S12708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2台（堆叠）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√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网络核心，承载所有业务流量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3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Web服务器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华为RH2288（Linux）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3台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√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（抽2台）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同质化设备，抽样30%以上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3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应用服务器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华为RH2288（Linux）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2台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√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业务核心，全部测评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3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数据库服务器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华为RH2288（Windows）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2台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√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（抽1台）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同质化设备，抽样50%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3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堡垒机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齐治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1台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√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运维管理核心，三级必须测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3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日志审计系统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天融信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1台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√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安全审计核心，三级要求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3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WAF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安恒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1台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√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Web安全防护，必须测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3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办公终端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联想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50台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Arial" panose="020B0604020202020204" pitchFamily="34" charset="0"/>
                        </a:rPr>
                        <a:t>×</a:t>
                      </a:r>
                      <a:endParaRPr sz="1600">
                        <a:latin typeface="Arial" panose="020B0604020202020204" pitchFamily="34" charset="0"/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非核心设备，不纳入测评范围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3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打印机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惠普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10台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Arial" panose="020B0604020202020204" pitchFamily="34" charset="0"/>
                          <a:sym typeface="+mn-ea"/>
                        </a:rPr>
                        <a:t>×</a:t>
                      </a:r>
                      <a:endParaRPr sz="1600">
                        <a:latin typeface="Arial" panose="020B0604020202020204" pitchFamily="34" charset="0"/>
                        <a:sym typeface="+mn-ea"/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非信息系统设备，不纳入抽样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0301" marR="80301" marT="80301" marB="80301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1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第四阶段——选取测评对象</a:t>
            </a:r>
            <a:endParaRPr lang="en-US" sz="27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143000"/>
            <a:ext cx="10972800" cy="533400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6" name="Image 4" descr="https://test.web.static.jianzeppt.com/ppt-temp-img3/7b745879df0bfae6def3e095e984a9e9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" y="1158240"/>
            <a:ext cx="10942320" cy="54864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716280" y="1280160"/>
            <a:ext cx="43586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序号</a:t>
            </a:r>
            <a:endParaRPr lang="en-US" sz="1680" dirty="0"/>
          </a:p>
        </p:txBody>
      </p:sp>
      <p:pic>
        <p:nvPicPr>
          <p:cNvPr id="8" name="Image 5" descr="https://test.web.static.jianzeppt.com/ppt-temp-img3/9f235f5bc4a4a1ef8cf088a18bcd28aa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00" y="1211580"/>
            <a:ext cx="15240" cy="44196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1356360" y="1280160"/>
            <a:ext cx="12893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测评指标大类</a:t>
            </a:r>
            <a:endParaRPr lang="en-US" sz="1680" dirty="0"/>
          </a:p>
        </p:txBody>
      </p:sp>
      <p:pic>
        <p:nvPicPr>
          <p:cNvPr id="10" name="Image 6" descr="https://test.web.static.jianzeppt.com/ppt-temp-img3/9f235f5bc4a4a1ef8cf088a18bcd28aa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1211580"/>
            <a:ext cx="15240" cy="44196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2773680" y="1280160"/>
            <a:ext cx="17160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三级要求指标项数</a:t>
            </a:r>
            <a:endParaRPr lang="en-US" sz="1680" dirty="0"/>
          </a:p>
        </p:txBody>
      </p:sp>
      <p:pic>
        <p:nvPicPr>
          <p:cNvPr id="12" name="Image 7" descr="https://test.web.static.jianzeppt.com/ppt-temp-img3/9f235f5bc4a4a1ef8cf088a18bcd28aa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4792" y="1211580"/>
            <a:ext cx="15240" cy="441960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4968240" y="1280160"/>
            <a:ext cx="86258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适用项数</a:t>
            </a:r>
            <a:endParaRPr lang="en-US" sz="1680" dirty="0"/>
          </a:p>
        </p:txBody>
      </p:sp>
      <p:pic>
        <p:nvPicPr>
          <p:cNvPr id="14" name="Image 8" descr="https://test.web.static.jianzeppt.com/ppt-temp-img3/9f235f5bc4a4a1ef8cf088a18bcd28aa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536" y="1211580"/>
            <a:ext cx="15240" cy="441960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6614160" y="1280160"/>
            <a:ext cx="107594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不适用项数</a:t>
            </a:r>
            <a:endParaRPr lang="en-US" sz="1680" dirty="0"/>
          </a:p>
        </p:txBody>
      </p:sp>
      <p:pic>
        <p:nvPicPr>
          <p:cNvPr id="16" name="Image 9" descr="https://test.web.static.jianzeppt.com/ppt-temp-img3/9f235f5bc4a4a1ef8cf088a18bcd28aa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8432" y="1211580"/>
            <a:ext cx="15240" cy="441960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8046720" y="1280160"/>
            <a:ext cx="35448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不适用理由</a:t>
            </a:r>
            <a:endParaRPr lang="en-US" sz="1680" dirty="0"/>
          </a:p>
        </p:txBody>
      </p:sp>
      <p:pic>
        <p:nvPicPr>
          <p:cNvPr id="18" name="Image 10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4840" y="1706880"/>
            <a:ext cx="10942320" cy="396240"/>
          </a:xfrm>
          <a:prstGeom prst="rect">
            <a:avLst/>
          </a:prstGeom>
        </p:spPr>
      </p:pic>
      <p:sp>
        <p:nvSpPr>
          <p:cNvPr id="19" name="Text 6"/>
          <p:cNvSpPr/>
          <p:nvPr/>
        </p:nvSpPr>
        <p:spPr>
          <a:xfrm>
            <a:off x="624840" y="1752600"/>
            <a:ext cx="6187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1</a:t>
            </a:r>
            <a:endParaRPr lang="en-US" sz="1440" dirty="0"/>
          </a:p>
        </p:txBody>
      </p:sp>
      <p:sp>
        <p:nvSpPr>
          <p:cNvPr id="20" name="Text 7"/>
          <p:cNvSpPr/>
          <p:nvPr/>
        </p:nvSpPr>
        <p:spPr>
          <a:xfrm>
            <a:off x="1234440" y="1752600"/>
            <a:ext cx="15331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身份鉴别</a:t>
            </a:r>
            <a:endParaRPr lang="en-US" sz="1440" dirty="0"/>
          </a:p>
        </p:txBody>
      </p:sp>
      <p:sp>
        <p:nvSpPr>
          <p:cNvPr id="21" name="Text 8"/>
          <p:cNvSpPr/>
          <p:nvPr/>
        </p:nvSpPr>
        <p:spPr>
          <a:xfrm>
            <a:off x="2758440" y="175260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4项</a:t>
            </a:r>
            <a:endParaRPr lang="en-US" sz="1440" dirty="0"/>
          </a:p>
        </p:txBody>
      </p:sp>
      <p:sp>
        <p:nvSpPr>
          <p:cNvPr id="22" name="Text 9"/>
          <p:cNvSpPr/>
          <p:nvPr/>
        </p:nvSpPr>
        <p:spPr>
          <a:xfrm>
            <a:off x="4526280" y="175260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4项</a:t>
            </a:r>
            <a:endParaRPr lang="en-US" sz="1440" dirty="0"/>
          </a:p>
        </p:txBody>
      </p:sp>
      <p:sp>
        <p:nvSpPr>
          <p:cNvPr id="23" name="Text 10"/>
          <p:cNvSpPr/>
          <p:nvPr/>
        </p:nvSpPr>
        <p:spPr>
          <a:xfrm>
            <a:off x="6278880" y="175260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0项</a:t>
            </a:r>
            <a:endParaRPr lang="en-US" sz="1440" dirty="0"/>
          </a:p>
        </p:txBody>
      </p:sp>
      <p:sp>
        <p:nvSpPr>
          <p:cNvPr id="24" name="Text 11"/>
          <p:cNvSpPr/>
          <p:nvPr/>
        </p:nvSpPr>
        <p:spPr>
          <a:xfrm>
            <a:off x="8046720" y="1752600"/>
            <a:ext cx="354482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—</a:t>
            </a:r>
            <a:endParaRPr lang="en-US" sz="1440" dirty="0"/>
          </a:p>
        </p:txBody>
      </p:sp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4840" y="2100529"/>
            <a:ext cx="10942320" cy="15240"/>
          </a:xfrm>
          <a:prstGeom prst="rect">
            <a:avLst/>
          </a:prstGeom>
        </p:spPr>
      </p:pic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4840" y="2103120"/>
            <a:ext cx="10942320" cy="396240"/>
          </a:xfrm>
          <a:prstGeom prst="rect">
            <a:avLst/>
          </a:prstGeom>
        </p:spPr>
      </p:pic>
      <p:sp>
        <p:nvSpPr>
          <p:cNvPr id="27" name="Text 12"/>
          <p:cNvSpPr/>
          <p:nvPr/>
        </p:nvSpPr>
        <p:spPr>
          <a:xfrm>
            <a:off x="624840" y="2148840"/>
            <a:ext cx="6187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2</a:t>
            </a:r>
            <a:endParaRPr lang="en-US" sz="1440" dirty="0"/>
          </a:p>
        </p:txBody>
      </p:sp>
      <p:sp>
        <p:nvSpPr>
          <p:cNvPr id="28" name="Text 13"/>
          <p:cNvSpPr/>
          <p:nvPr/>
        </p:nvSpPr>
        <p:spPr>
          <a:xfrm>
            <a:off x="1234440" y="2148840"/>
            <a:ext cx="15331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访问控制</a:t>
            </a:r>
            <a:endParaRPr lang="en-US" sz="1440" dirty="0"/>
          </a:p>
        </p:txBody>
      </p:sp>
      <p:sp>
        <p:nvSpPr>
          <p:cNvPr id="29" name="Text 14"/>
          <p:cNvSpPr/>
          <p:nvPr/>
        </p:nvSpPr>
        <p:spPr>
          <a:xfrm>
            <a:off x="2758440" y="214884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7项</a:t>
            </a:r>
            <a:endParaRPr lang="en-US" sz="1440" dirty="0"/>
          </a:p>
        </p:txBody>
      </p:sp>
      <p:sp>
        <p:nvSpPr>
          <p:cNvPr id="30" name="Text 15"/>
          <p:cNvSpPr/>
          <p:nvPr/>
        </p:nvSpPr>
        <p:spPr>
          <a:xfrm>
            <a:off x="4526280" y="214884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7项</a:t>
            </a:r>
            <a:endParaRPr lang="en-US" sz="1440" dirty="0"/>
          </a:p>
        </p:txBody>
      </p:sp>
      <p:sp>
        <p:nvSpPr>
          <p:cNvPr id="31" name="Text 16"/>
          <p:cNvSpPr/>
          <p:nvPr/>
        </p:nvSpPr>
        <p:spPr>
          <a:xfrm>
            <a:off x="6278880" y="214884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0项</a:t>
            </a:r>
            <a:endParaRPr lang="en-US" sz="1440" dirty="0"/>
          </a:p>
        </p:txBody>
      </p:sp>
      <p:sp>
        <p:nvSpPr>
          <p:cNvPr id="32" name="Text 17"/>
          <p:cNvSpPr/>
          <p:nvPr/>
        </p:nvSpPr>
        <p:spPr>
          <a:xfrm>
            <a:off x="8046720" y="2148840"/>
            <a:ext cx="354482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—</a:t>
            </a:r>
            <a:endParaRPr lang="en-US" sz="1440" dirty="0"/>
          </a:p>
        </p:txBody>
      </p:sp>
      <p:pic>
        <p:nvPicPr>
          <p:cNvPr id="33" name="Image 13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4840" y="2493874"/>
            <a:ext cx="10942320" cy="15240"/>
          </a:xfrm>
          <a:prstGeom prst="rect">
            <a:avLst/>
          </a:prstGeom>
        </p:spPr>
      </p:pic>
      <p:pic>
        <p:nvPicPr>
          <p:cNvPr id="34" name="Image 1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4840" y="2499360"/>
            <a:ext cx="10942320" cy="396240"/>
          </a:xfrm>
          <a:prstGeom prst="rect">
            <a:avLst/>
          </a:prstGeom>
        </p:spPr>
      </p:pic>
      <p:sp>
        <p:nvSpPr>
          <p:cNvPr id="35" name="Text 18"/>
          <p:cNvSpPr/>
          <p:nvPr/>
        </p:nvSpPr>
        <p:spPr>
          <a:xfrm>
            <a:off x="624840" y="2545080"/>
            <a:ext cx="6187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3</a:t>
            </a:r>
            <a:endParaRPr lang="en-US" sz="1440" dirty="0"/>
          </a:p>
        </p:txBody>
      </p:sp>
      <p:sp>
        <p:nvSpPr>
          <p:cNvPr id="36" name="Text 19"/>
          <p:cNvSpPr/>
          <p:nvPr/>
        </p:nvSpPr>
        <p:spPr>
          <a:xfrm>
            <a:off x="1234440" y="2545080"/>
            <a:ext cx="15331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安全审计</a:t>
            </a:r>
            <a:endParaRPr lang="en-US" sz="1440" dirty="0"/>
          </a:p>
        </p:txBody>
      </p:sp>
      <p:sp>
        <p:nvSpPr>
          <p:cNvPr id="37" name="Text 20"/>
          <p:cNvSpPr/>
          <p:nvPr/>
        </p:nvSpPr>
        <p:spPr>
          <a:xfrm>
            <a:off x="2758440" y="254508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4项</a:t>
            </a:r>
            <a:endParaRPr lang="en-US" sz="1440" dirty="0"/>
          </a:p>
        </p:txBody>
      </p:sp>
      <p:sp>
        <p:nvSpPr>
          <p:cNvPr id="38" name="Text 21"/>
          <p:cNvSpPr/>
          <p:nvPr/>
        </p:nvSpPr>
        <p:spPr>
          <a:xfrm>
            <a:off x="4526280" y="254508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4项</a:t>
            </a:r>
            <a:endParaRPr lang="en-US" sz="1440" dirty="0"/>
          </a:p>
        </p:txBody>
      </p:sp>
      <p:sp>
        <p:nvSpPr>
          <p:cNvPr id="39" name="Text 22"/>
          <p:cNvSpPr/>
          <p:nvPr/>
        </p:nvSpPr>
        <p:spPr>
          <a:xfrm>
            <a:off x="6278880" y="254508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0项</a:t>
            </a:r>
            <a:endParaRPr lang="en-US" sz="1440" dirty="0"/>
          </a:p>
        </p:txBody>
      </p:sp>
      <p:sp>
        <p:nvSpPr>
          <p:cNvPr id="40" name="Text 23"/>
          <p:cNvSpPr/>
          <p:nvPr/>
        </p:nvSpPr>
        <p:spPr>
          <a:xfrm>
            <a:off x="8046720" y="2545080"/>
            <a:ext cx="354482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—</a:t>
            </a:r>
            <a:endParaRPr lang="en-US" sz="1440" dirty="0"/>
          </a:p>
        </p:txBody>
      </p:sp>
      <p:pic>
        <p:nvPicPr>
          <p:cNvPr id="41" name="Image 1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4840" y="2887523"/>
            <a:ext cx="10942320" cy="15240"/>
          </a:xfrm>
          <a:prstGeom prst="rect">
            <a:avLst/>
          </a:prstGeom>
        </p:spPr>
      </p:pic>
      <p:pic>
        <p:nvPicPr>
          <p:cNvPr id="42" name="Image 16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4840" y="2880360"/>
            <a:ext cx="10942320" cy="396240"/>
          </a:xfrm>
          <a:prstGeom prst="rect">
            <a:avLst/>
          </a:prstGeom>
        </p:spPr>
      </p:pic>
      <p:sp>
        <p:nvSpPr>
          <p:cNvPr id="43" name="Text 24"/>
          <p:cNvSpPr/>
          <p:nvPr/>
        </p:nvSpPr>
        <p:spPr>
          <a:xfrm>
            <a:off x="624840" y="2941320"/>
            <a:ext cx="6187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4</a:t>
            </a:r>
            <a:endParaRPr lang="en-US" sz="1440" dirty="0"/>
          </a:p>
        </p:txBody>
      </p:sp>
      <p:sp>
        <p:nvSpPr>
          <p:cNvPr id="44" name="Text 25"/>
          <p:cNvSpPr/>
          <p:nvPr/>
        </p:nvSpPr>
        <p:spPr>
          <a:xfrm>
            <a:off x="1234440" y="2941320"/>
            <a:ext cx="15331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入侵防范</a:t>
            </a:r>
            <a:endParaRPr lang="en-US" sz="1440" dirty="0"/>
          </a:p>
        </p:txBody>
      </p:sp>
      <p:sp>
        <p:nvSpPr>
          <p:cNvPr id="45" name="Text 26"/>
          <p:cNvSpPr/>
          <p:nvPr/>
        </p:nvSpPr>
        <p:spPr>
          <a:xfrm>
            <a:off x="2758440" y="294132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6项</a:t>
            </a:r>
            <a:endParaRPr lang="en-US" sz="1440" dirty="0"/>
          </a:p>
        </p:txBody>
      </p:sp>
      <p:sp>
        <p:nvSpPr>
          <p:cNvPr id="46" name="Text 27"/>
          <p:cNvSpPr/>
          <p:nvPr/>
        </p:nvSpPr>
        <p:spPr>
          <a:xfrm>
            <a:off x="4526280" y="294132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6项</a:t>
            </a:r>
            <a:endParaRPr lang="en-US" sz="1440" dirty="0"/>
          </a:p>
        </p:txBody>
      </p:sp>
      <p:sp>
        <p:nvSpPr>
          <p:cNvPr id="47" name="Text 28"/>
          <p:cNvSpPr/>
          <p:nvPr/>
        </p:nvSpPr>
        <p:spPr>
          <a:xfrm>
            <a:off x="6278880" y="294132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0项</a:t>
            </a:r>
            <a:endParaRPr lang="en-US" sz="1440" dirty="0"/>
          </a:p>
        </p:txBody>
      </p:sp>
      <p:sp>
        <p:nvSpPr>
          <p:cNvPr id="48" name="Text 29"/>
          <p:cNvSpPr/>
          <p:nvPr/>
        </p:nvSpPr>
        <p:spPr>
          <a:xfrm>
            <a:off x="8046720" y="2941320"/>
            <a:ext cx="354482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—</a:t>
            </a:r>
            <a:endParaRPr lang="en-US" sz="1440" dirty="0"/>
          </a:p>
        </p:txBody>
      </p:sp>
      <p:pic>
        <p:nvPicPr>
          <p:cNvPr id="49" name="Image 17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4840" y="3280867"/>
            <a:ext cx="10942320" cy="15240"/>
          </a:xfrm>
          <a:prstGeom prst="rect">
            <a:avLst/>
          </a:prstGeom>
        </p:spPr>
      </p:pic>
      <p:pic>
        <p:nvPicPr>
          <p:cNvPr id="50" name="Image 18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4840" y="3276600"/>
            <a:ext cx="10942320" cy="396240"/>
          </a:xfrm>
          <a:prstGeom prst="rect">
            <a:avLst/>
          </a:prstGeom>
        </p:spPr>
      </p:pic>
      <p:sp>
        <p:nvSpPr>
          <p:cNvPr id="51" name="Text 30"/>
          <p:cNvSpPr/>
          <p:nvPr/>
        </p:nvSpPr>
        <p:spPr>
          <a:xfrm>
            <a:off x="624840" y="3337560"/>
            <a:ext cx="6187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5</a:t>
            </a:r>
            <a:endParaRPr lang="en-US" sz="1440" dirty="0"/>
          </a:p>
        </p:txBody>
      </p:sp>
      <p:sp>
        <p:nvSpPr>
          <p:cNvPr id="52" name="Text 31"/>
          <p:cNvSpPr/>
          <p:nvPr/>
        </p:nvSpPr>
        <p:spPr>
          <a:xfrm>
            <a:off x="1234440" y="3337560"/>
            <a:ext cx="15331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恶意代码防范</a:t>
            </a:r>
            <a:endParaRPr lang="en-US" sz="1440" dirty="0"/>
          </a:p>
        </p:txBody>
      </p:sp>
      <p:sp>
        <p:nvSpPr>
          <p:cNvPr id="53" name="Text 32"/>
          <p:cNvSpPr/>
          <p:nvPr/>
        </p:nvSpPr>
        <p:spPr>
          <a:xfrm>
            <a:off x="2758440" y="333756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1项</a:t>
            </a:r>
            <a:endParaRPr lang="en-US" sz="1440" dirty="0"/>
          </a:p>
        </p:txBody>
      </p:sp>
      <p:sp>
        <p:nvSpPr>
          <p:cNvPr id="54" name="Text 33"/>
          <p:cNvSpPr/>
          <p:nvPr/>
        </p:nvSpPr>
        <p:spPr>
          <a:xfrm>
            <a:off x="4526280" y="333756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1项</a:t>
            </a:r>
            <a:endParaRPr lang="en-US" sz="1440" dirty="0"/>
          </a:p>
        </p:txBody>
      </p:sp>
      <p:sp>
        <p:nvSpPr>
          <p:cNvPr id="55" name="Text 34"/>
          <p:cNvSpPr/>
          <p:nvPr/>
        </p:nvSpPr>
        <p:spPr>
          <a:xfrm>
            <a:off x="6278880" y="333756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0项</a:t>
            </a:r>
            <a:endParaRPr lang="en-US" sz="1440" dirty="0"/>
          </a:p>
        </p:txBody>
      </p:sp>
      <p:sp>
        <p:nvSpPr>
          <p:cNvPr id="56" name="Text 35"/>
          <p:cNvSpPr/>
          <p:nvPr/>
        </p:nvSpPr>
        <p:spPr>
          <a:xfrm>
            <a:off x="8046720" y="3337560"/>
            <a:ext cx="354482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—</a:t>
            </a:r>
            <a:endParaRPr lang="en-US" sz="1440" dirty="0"/>
          </a:p>
        </p:txBody>
      </p:sp>
      <p:pic>
        <p:nvPicPr>
          <p:cNvPr id="57" name="Image 19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4840" y="3674516"/>
            <a:ext cx="10942320" cy="15240"/>
          </a:xfrm>
          <a:prstGeom prst="rect">
            <a:avLst/>
          </a:prstGeom>
        </p:spPr>
      </p:pic>
      <p:pic>
        <p:nvPicPr>
          <p:cNvPr id="58" name="Image 20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4840" y="3672840"/>
            <a:ext cx="10942320" cy="396240"/>
          </a:xfrm>
          <a:prstGeom prst="rect">
            <a:avLst/>
          </a:prstGeom>
        </p:spPr>
      </p:pic>
      <p:sp>
        <p:nvSpPr>
          <p:cNvPr id="59" name="Text 36"/>
          <p:cNvSpPr/>
          <p:nvPr/>
        </p:nvSpPr>
        <p:spPr>
          <a:xfrm>
            <a:off x="624840" y="3733800"/>
            <a:ext cx="6187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CC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6</a:t>
            </a:r>
            <a:endParaRPr lang="en-US" sz="1440" dirty="0"/>
          </a:p>
        </p:txBody>
      </p:sp>
      <p:sp>
        <p:nvSpPr>
          <p:cNvPr id="60" name="Text 37"/>
          <p:cNvSpPr/>
          <p:nvPr/>
        </p:nvSpPr>
        <p:spPr>
          <a:xfrm>
            <a:off x="1234440" y="3733800"/>
            <a:ext cx="15331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CC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可信验证</a:t>
            </a:r>
            <a:endParaRPr lang="en-US" sz="1440" dirty="0"/>
          </a:p>
        </p:txBody>
      </p:sp>
      <p:sp>
        <p:nvSpPr>
          <p:cNvPr id="61" name="Text 38"/>
          <p:cNvSpPr/>
          <p:nvPr/>
        </p:nvSpPr>
        <p:spPr>
          <a:xfrm>
            <a:off x="2758440" y="373380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CC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1项</a:t>
            </a:r>
            <a:endParaRPr lang="en-US" sz="1440" dirty="0"/>
          </a:p>
        </p:txBody>
      </p:sp>
      <p:sp>
        <p:nvSpPr>
          <p:cNvPr id="62" name="Text 39"/>
          <p:cNvSpPr/>
          <p:nvPr/>
        </p:nvSpPr>
        <p:spPr>
          <a:xfrm>
            <a:off x="4526280" y="373380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CC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0项</a:t>
            </a:r>
            <a:endParaRPr lang="en-US" sz="1440" dirty="0"/>
          </a:p>
        </p:txBody>
      </p:sp>
      <p:sp>
        <p:nvSpPr>
          <p:cNvPr id="63" name="Text 40"/>
          <p:cNvSpPr/>
          <p:nvPr/>
        </p:nvSpPr>
        <p:spPr>
          <a:xfrm>
            <a:off x="6278880" y="373380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CC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1项</a:t>
            </a:r>
            <a:endParaRPr lang="en-US" sz="1440" dirty="0"/>
          </a:p>
        </p:txBody>
      </p:sp>
      <p:sp>
        <p:nvSpPr>
          <p:cNvPr id="64" name="Text 41"/>
          <p:cNvSpPr/>
          <p:nvPr/>
        </p:nvSpPr>
        <p:spPr>
          <a:xfrm>
            <a:off x="8168640" y="3749040"/>
            <a:ext cx="330098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40" b="1" dirty="0">
                <a:solidFill>
                  <a:srgbClr val="CC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系统未部署可信计算模块，暂不适用</a:t>
            </a:r>
            <a:endParaRPr lang="en-US" sz="1440" dirty="0"/>
          </a:p>
        </p:txBody>
      </p:sp>
      <p:pic>
        <p:nvPicPr>
          <p:cNvPr id="65" name="Image 21" descr="https://test.web.static.jianzeppt.com/ppt-temp-img3/dc352b43ba88c9de0a172655b3d0b008.png?x-oss-process=image/resize,w_1440,h_800,m_lfit/format,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4840" y="4067861"/>
            <a:ext cx="10942320" cy="15240"/>
          </a:xfrm>
          <a:prstGeom prst="rect">
            <a:avLst/>
          </a:prstGeom>
        </p:spPr>
      </p:pic>
      <p:pic>
        <p:nvPicPr>
          <p:cNvPr id="66" name="Image 22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4840" y="4069080"/>
            <a:ext cx="10942320" cy="396240"/>
          </a:xfrm>
          <a:prstGeom prst="rect">
            <a:avLst/>
          </a:prstGeom>
        </p:spPr>
      </p:pic>
      <p:sp>
        <p:nvSpPr>
          <p:cNvPr id="67" name="Text 42"/>
          <p:cNvSpPr/>
          <p:nvPr/>
        </p:nvSpPr>
        <p:spPr>
          <a:xfrm>
            <a:off x="624840" y="4114800"/>
            <a:ext cx="6187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7</a:t>
            </a:r>
            <a:endParaRPr lang="en-US" sz="1440" dirty="0"/>
          </a:p>
        </p:txBody>
      </p:sp>
      <p:sp>
        <p:nvSpPr>
          <p:cNvPr id="68" name="Text 43"/>
          <p:cNvSpPr/>
          <p:nvPr/>
        </p:nvSpPr>
        <p:spPr>
          <a:xfrm>
            <a:off x="1234440" y="4114800"/>
            <a:ext cx="15331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数据完整性</a:t>
            </a:r>
            <a:endParaRPr lang="en-US" sz="1440" dirty="0"/>
          </a:p>
        </p:txBody>
      </p:sp>
      <p:sp>
        <p:nvSpPr>
          <p:cNvPr id="69" name="Text 44"/>
          <p:cNvSpPr/>
          <p:nvPr/>
        </p:nvSpPr>
        <p:spPr>
          <a:xfrm>
            <a:off x="2758440" y="411480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2项</a:t>
            </a:r>
            <a:endParaRPr lang="en-US" sz="1440" dirty="0"/>
          </a:p>
        </p:txBody>
      </p:sp>
      <p:sp>
        <p:nvSpPr>
          <p:cNvPr id="70" name="Text 45"/>
          <p:cNvSpPr/>
          <p:nvPr/>
        </p:nvSpPr>
        <p:spPr>
          <a:xfrm>
            <a:off x="4526280" y="411480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2项</a:t>
            </a:r>
            <a:endParaRPr lang="en-US" sz="1440" dirty="0"/>
          </a:p>
        </p:txBody>
      </p:sp>
      <p:sp>
        <p:nvSpPr>
          <p:cNvPr id="71" name="Text 46"/>
          <p:cNvSpPr/>
          <p:nvPr/>
        </p:nvSpPr>
        <p:spPr>
          <a:xfrm>
            <a:off x="6278880" y="411480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0项</a:t>
            </a:r>
            <a:endParaRPr lang="en-US" sz="1440" dirty="0"/>
          </a:p>
        </p:txBody>
      </p:sp>
      <p:sp>
        <p:nvSpPr>
          <p:cNvPr id="72" name="Text 47"/>
          <p:cNvSpPr/>
          <p:nvPr/>
        </p:nvSpPr>
        <p:spPr>
          <a:xfrm>
            <a:off x="8046720" y="4114800"/>
            <a:ext cx="354482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—</a:t>
            </a:r>
            <a:endParaRPr lang="en-US" sz="1440" dirty="0"/>
          </a:p>
        </p:txBody>
      </p:sp>
      <p:pic>
        <p:nvPicPr>
          <p:cNvPr id="73" name="Image 23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4840" y="4461510"/>
            <a:ext cx="10942320" cy="15240"/>
          </a:xfrm>
          <a:prstGeom prst="rect">
            <a:avLst/>
          </a:prstGeom>
        </p:spPr>
      </p:pic>
      <p:pic>
        <p:nvPicPr>
          <p:cNvPr id="74" name="Image 24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4840" y="4465320"/>
            <a:ext cx="10942320" cy="396240"/>
          </a:xfrm>
          <a:prstGeom prst="rect">
            <a:avLst/>
          </a:prstGeom>
        </p:spPr>
      </p:pic>
      <p:sp>
        <p:nvSpPr>
          <p:cNvPr id="75" name="Text 48"/>
          <p:cNvSpPr/>
          <p:nvPr/>
        </p:nvSpPr>
        <p:spPr>
          <a:xfrm>
            <a:off x="624840" y="4511040"/>
            <a:ext cx="6187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8</a:t>
            </a:r>
            <a:endParaRPr lang="en-US" sz="1440" dirty="0"/>
          </a:p>
        </p:txBody>
      </p:sp>
      <p:sp>
        <p:nvSpPr>
          <p:cNvPr id="76" name="Text 49"/>
          <p:cNvSpPr/>
          <p:nvPr/>
        </p:nvSpPr>
        <p:spPr>
          <a:xfrm>
            <a:off x="1234440" y="4511040"/>
            <a:ext cx="15331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数据保密性</a:t>
            </a:r>
            <a:endParaRPr lang="en-US" sz="1440" dirty="0"/>
          </a:p>
        </p:txBody>
      </p:sp>
      <p:sp>
        <p:nvSpPr>
          <p:cNvPr id="77" name="Text 50"/>
          <p:cNvSpPr/>
          <p:nvPr/>
        </p:nvSpPr>
        <p:spPr>
          <a:xfrm>
            <a:off x="2758440" y="451104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2项</a:t>
            </a:r>
            <a:endParaRPr lang="en-US" sz="1440" dirty="0"/>
          </a:p>
        </p:txBody>
      </p:sp>
      <p:sp>
        <p:nvSpPr>
          <p:cNvPr id="78" name="Text 51"/>
          <p:cNvSpPr/>
          <p:nvPr/>
        </p:nvSpPr>
        <p:spPr>
          <a:xfrm>
            <a:off x="4526280" y="451104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2项</a:t>
            </a:r>
            <a:endParaRPr lang="en-US" sz="1440" dirty="0"/>
          </a:p>
        </p:txBody>
      </p:sp>
      <p:sp>
        <p:nvSpPr>
          <p:cNvPr id="79" name="Text 52"/>
          <p:cNvSpPr/>
          <p:nvPr/>
        </p:nvSpPr>
        <p:spPr>
          <a:xfrm>
            <a:off x="6278880" y="451104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0项</a:t>
            </a:r>
            <a:endParaRPr lang="en-US" sz="1440" dirty="0"/>
          </a:p>
        </p:txBody>
      </p:sp>
      <p:sp>
        <p:nvSpPr>
          <p:cNvPr id="80" name="Text 53"/>
          <p:cNvSpPr/>
          <p:nvPr/>
        </p:nvSpPr>
        <p:spPr>
          <a:xfrm>
            <a:off x="8046720" y="4511040"/>
            <a:ext cx="354482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—</a:t>
            </a:r>
            <a:endParaRPr lang="en-US" sz="1440" dirty="0"/>
          </a:p>
        </p:txBody>
      </p:sp>
      <p:pic>
        <p:nvPicPr>
          <p:cNvPr id="81" name="Image 2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4840" y="4854854"/>
            <a:ext cx="10942320" cy="15240"/>
          </a:xfrm>
          <a:prstGeom prst="rect">
            <a:avLst/>
          </a:prstGeom>
        </p:spPr>
      </p:pic>
      <p:pic>
        <p:nvPicPr>
          <p:cNvPr id="82" name="Image 2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4840" y="4861560"/>
            <a:ext cx="10942320" cy="396240"/>
          </a:xfrm>
          <a:prstGeom prst="rect">
            <a:avLst/>
          </a:prstGeom>
        </p:spPr>
      </p:pic>
      <p:sp>
        <p:nvSpPr>
          <p:cNvPr id="83" name="Text 54"/>
          <p:cNvSpPr/>
          <p:nvPr/>
        </p:nvSpPr>
        <p:spPr>
          <a:xfrm>
            <a:off x="624840" y="4907280"/>
            <a:ext cx="6187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9</a:t>
            </a:r>
            <a:endParaRPr lang="en-US" sz="1440" dirty="0"/>
          </a:p>
        </p:txBody>
      </p:sp>
      <p:sp>
        <p:nvSpPr>
          <p:cNvPr id="84" name="Text 55"/>
          <p:cNvSpPr/>
          <p:nvPr/>
        </p:nvSpPr>
        <p:spPr>
          <a:xfrm>
            <a:off x="1234440" y="4907280"/>
            <a:ext cx="15331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数据备份恢复</a:t>
            </a:r>
            <a:endParaRPr lang="en-US" sz="1440" dirty="0"/>
          </a:p>
        </p:txBody>
      </p:sp>
      <p:sp>
        <p:nvSpPr>
          <p:cNvPr id="85" name="Text 56"/>
          <p:cNvSpPr/>
          <p:nvPr/>
        </p:nvSpPr>
        <p:spPr>
          <a:xfrm>
            <a:off x="2758440" y="490728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3项</a:t>
            </a:r>
            <a:endParaRPr lang="en-US" sz="1440" dirty="0"/>
          </a:p>
        </p:txBody>
      </p:sp>
      <p:sp>
        <p:nvSpPr>
          <p:cNvPr id="86" name="Text 57"/>
          <p:cNvSpPr/>
          <p:nvPr/>
        </p:nvSpPr>
        <p:spPr>
          <a:xfrm>
            <a:off x="4526280" y="490728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3项</a:t>
            </a:r>
            <a:endParaRPr lang="en-US" sz="1440" dirty="0"/>
          </a:p>
        </p:txBody>
      </p:sp>
      <p:sp>
        <p:nvSpPr>
          <p:cNvPr id="87" name="Text 58"/>
          <p:cNvSpPr/>
          <p:nvPr/>
        </p:nvSpPr>
        <p:spPr>
          <a:xfrm>
            <a:off x="6278880" y="490728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0项</a:t>
            </a:r>
            <a:endParaRPr lang="en-US" sz="1440" dirty="0"/>
          </a:p>
        </p:txBody>
      </p:sp>
      <p:sp>
        <p:nvSpPr>
          <p:cNvPr id="88" name="Text 59"/>
          <p:cNvSpPr/>
          <p:nvPr/>
        </p:nvSpPr>
        <p:spPr>
          <a:xfrm>
            <a:off x="8046720" y="4907280"/>
            <a:ext cx="354482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—</a:t>
            </a:r>
            <a:endParaRPr lang="en-US" sz="1440" dirty="0"/>
          </a:p>
        </p:txBody>
      </p:sp>
      <p:pic>
        <p:nvPicPr>
          <p:cNvPr id="89" name="Image 27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4840" y="5248351"/>
            <a:ext cx="10942320" cy="15240"/>
          </a:xfrm>
          <a:prstGeom prst="rect">
            <a:avLst/>
          </a:prstGeom>
        </p:spPr>
      </p:pic>
      <p:pic>
        <p:nvPicPr>
          <p:cNvPr id="90" name="Image 28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4840" y="5242560"/>
            <a:ext cx="10942320" cy="396240"/>
          </a:xfrm>
          <a:prstGeom prst="rect">
            <a:avLst/>
          </a:prstGeom>
        </p:spPr>
      </p:pic>
      <p:sp>
        <p:nvSpPr>
          <p:cNvPr id="91" name="Text 60"/>
          <p:cNvSpPr/>
          <p:nvPr/>
        </p:nvSpPr>
        <p:spPr>
          <a:xfrm>
            <a:off x="624840" y="5303520"/>
            <a:ext cx="6187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10</a:t>
            </a:r>
            <a:endParaRPr lang="en-US" sz="1440" dirty="0"/>
          </a:p>
        </p:txBody>
      </p:sp>
      <p:sp>
        <p:nvSpPr>
          <p:cNvPr id="92" name="Text 61"/>
          <p:cNvSpPr/>
          <p:nvPr/>
        </p:nvSpPr>
        <p:spPr>
          <a:xfrm>
            <a:off x="1234440" y="5303520"/>
            <a:ext cx="15331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剩余信息保护</a:t>
            </a:r>
            <a:endParaRPr lang="en-US" sz="1440" dirty="0"/>
          </a:p>
        </p:txBody>
      </p:sp>
      <p:sp>
        <p:nvSpPr>
          <p:cNvPr id="93" name="Text 62"/>
          <p:cNvSpPr/>
          <p:nvPr/>
        </p:nvSpPr>
        <p:spPr>
          <a:xfrm>
            <a:off x="2758440" y="530352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2项</a:t>
            </a:r>
            <a:endParaRPr lang="en-US" sz="1440" dirty="0"/>
          </a:p>
        </p:txBody>
      </p:sp>
      <p:sp>
        <p:nvSpPr>
          <p:cNvPr id="94" name="Text 63"/>
          <p:cNvSpPr/>
          <p:nvPr/>
        </p:nvSpPr>
        <p:spPr>
          <a:xfrm>
            <a:off x="4526280" y="530352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2项</a:t>
            </a:r>
            <a:endParaRPr lang="en-US" sz="1440" dirty="0"/>
          </a:p>
        </p:txBody>
      </p:sp>
      <p:sp>
        <p:nvSpPr>
          <p:cNvPr id="95" name="Text 64"/>
          <p:cNvSpPr/>
          <p:nvPr/>
        </p:nvSpPr>
        <p:spPr>
          <a:xfrm>
            <a:off x="6278880" y="530352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0项</a:t>
            </a:r>
            <a:endParaRPr lang="en-US" sz="1440" dirty="0"/>
          </a:p>
        </p:txBody>
      </p:sp>
      <p:sp>
        <p:nvSpPr>
          <p:cNvPr id="96" name="Text 65"/>
          <p:cNvSpPr/>
          <p:nvPr/>
        </p:nvSpPr>
        <p:spPr>
          <a:xfrm>
            <a:off x="8046720" y="5303520"/>
            <a:ext cx="354482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—</a:t>
            </a:r>
            <a:endParaRPr lang="en-US" sz="1440" dirty="0"/>
          </a:p>
        </p:txBody>
      </p:sp>
      <p:pic>
        <p:nvPicPr>
          <p:cNvPr id="97" name="Image 29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4840" y="5641696"/>
            <a:ext cx="10942320" cy="15240"/>
          </a:xfrm>
          <a:prstGeom prst="rect">
            <a:avLst/>
          </a:prstGeom>
        </p:spPr>
      </p:pic>
      <p:pic>
        <p:nvPicPr>
          <p:cNvPr id="98" name="Image 30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4840" y="5638800"/>
            <a:ext cx="10942320" cy="396240"/>
          </a:xfrm>
          <a:prstGeom prst="rect">
            <a:avLst/>
          </a:prstGeom>
        </p:spPr>
      </p:pic>
      <p:sp>
        <p:nvSpPr>
          <p:cNvPr id="99" name="Text 66"/>
          <p:cNvSpPr/>
          <p:nvPr/>
        </p:nvSpPr>
        <p:spPr>
          <a:xfrm>
            <a:off x="624840" y="5699760"/>
            <a:ext cx="6187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11</a:t>
            </a:r>
            <a:endParaRPr lang="en-US" sz="1440" dirty="0"/>
          </a:p>
        </p:txBody>
      </p:sp>
      <p:sp>
        <p:nvSpPr>
          <p:cNvPr id="100" name="Text 67"/>
          <p:cNvSpPr/>
          <p:nvPr/>
        </p:nvSpPr>
        <p:spPr>
          <a:xfrm>
            <a:off x="1234440" y="5699760"/>
            <a:ext cx="15331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个人信息保护</a:t>
            </a:r>
            <a:endParaRPr lang="en-US" sz="1440" dirty="0"/>
          </a:p>
        </p:txBody>
      </p:sp>
      <p:sp>
        <p:nvSpPr>
          <p:cNvPr id="101" name="Text 68"/>
          <p:cNvSpPr/>
          <p:nvPr/>
        </p:nvSpPr>
        <p:spPr>
          <a:xfrm>
            <a:off x="2758440" y="569976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2项</a:t>
            </a:r>
            <a:endParaRPr lang="en-US" sz="1440" dirty="0"/>
          </a:p>
        </p:txBody>
      </p:sp>
      <p:sp>
        <p:nvSpPr>
          <p:cNvPr id="102" name="Text 69"/>
          <p:cNvSpPr/>
          <p:nvPr/>
        </p:nvSpPr>
        <p:spPr>
          <a:xfrm>
            <a:off x="4526280" y="569976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2项</a:t>
            </a:r>
            <a:endParaRPr lang="en-US" sz="1440" dirty="0"/>
          </a:p>
        </p:txBody>
      </p:sp>
      <p:sp>
        <p:nvSpPr>
          <p:cNvPr id="103" name="Text 70"/>
          <p:cNvSpPr/>
          <p:nvPr/>
        </p:nvSpPr>
        <p:spPr>
          <a:xfrm>
            <a:off x="6278880" y="569976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0项</a:t>
            </a:r>
            <a:endParaRPr lang="en-US" sz="1440" dirty="0"/>
          </a:p>
        </p:txBody>
      </p:sp>
      <p:sp>
        <p:nvSpPr>
          <p:cNvPr id="104" name="Text 71"/>
          <p:cNvSpPr/>
          <p:nvPr/>
        </p:nvSpPr>
        <p:spPr>
          <a:xfrm>
            <a:off x="8046720" y="5699760"/>
            <a:ext cx="354482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—</a:t>
            </a:r>
            <a:endParaRPr lang="en-US" sz="1440" dirty="0"/>
          </a:p>
        </p:txBody>
      </p:sp>
      <p:pic>
        <p:nvPicPr>
          <p:cNvPr id="105" name="Image 31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4840" y="6035040"/>
            <a:ext cx="10942320" cy="15240"/>
          </a:xfrm>
          <a:prstGeom prst="rect">
            <a:avLst/>
          </a:prstGeom>
        </p:spPr>
      </p:pic>
      <p:pic>
        <p:nvPicPr>
          <p:cNvPr id="106" name="Image 32" descr="https://test.web.static.jianzeppt.com/ppt-temp-img3/74c239b6313d97477817ee56dccab130.png?x-oss-process=image/resize,w_1440,h_800,m_lfit/format,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4840" y="6035040"/>
            <a:ext cx="10942320" cy="426720"/>
          </a:xfrm>
          <a:prstGeom prst="rect">
            <a:avLst/>
          </a:prstGeom>
        </p:spPr>
      </p:pic>
      <p:sp>
        <p:nvSpPr>
          <p:cNvPr id="107" name="Text 72"/>
          <p:cNvSpPr/>
          <p:nvPr/>
        </p:nvSpPr>
        <p:spPr>
          <a:xfrm>
            <a:off x="624840" y="6111240"/>
            <a:ext cx="21427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合计</a:t>
            </a:r>
            <a:endParaRPr lang="en-US" sz="1440" dirty="0"/>
          </a:p>
        </p:txBody>
      </p:sp>
      <p:sp>
        <p:nvSpPr>
          <p:cNvPr id="108" name="Text 73"/>
          <p:cNvSpPr/>
          <p:nvPr/>
        </p:nvSpPr>
        <p:spPr>
          <a:xfrm>
            <a:off x="2758440" y="611124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34项</a:t>
            </a:r>
            <a:endParaRPr lang="en-US" sz="1440" dirty="0"/>
          </a:p>
        </p:txBody>
      </p:sp>
      <p:sp>
        <p:nvSpPr>
          <p:cNvPr id="109" name="Text 74"/>
          <p:cNvSpPr/>
          <p:nvPr/>
        </p:nvSpPr>
        <p:spPr>
          <a:xfrm>
            <a:off x="4526280" y="611124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33项</a:t>
            </a:r>
            <a:endParaRPr lang="en-US" sz="1440" dirty="0"/>
          </a:p>
        </p:txBody>
      </p:sp>
      <p:sp>
        <p:nvSpPr>
          <p:cNvPr id="110" name="Text 75"/>
          <p:cNvSpPr/>
          <p:nvPr/>
        </p:nvSpPr>
        <p:spPr>
          <a:xfrm>
            <a:off x="6278880" y="6111240"/>
            <a:ext cx="177698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CC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1项</a:t>
            </a:r>
            <a:endParaRPr lang="en-US" sz="1440" dirty="0"/>
          </a:p>
        </p:txBody>
      </p:sp>
      <p:sp>
        <p:nvSpPr>
          <p:cNvPr id="111" name="Text 76"/>
          <p:cNvSpPr/>
          <p:nvPr/>
        </p:nvSpPr>
        <p:spPr>
          <a:xfrm>
            <a:off x="8046720" y="6111240"/>
            <a:ext cx="354482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CC0000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可信验证项暂不适用</a:t>
            </a:r>
            <a:endParaRPr lang="en-US" sz="1440" dirty="0"/>
          </a:p>
        </p:txBody>
      </p:sp>
      <p:sp>
        <p:nvSpPr>
          <p:cNvPr id="112" name="Text 77"/>
          <p:cNvSpPr/>
          <p:nvPr/>
        </p:nvSpPr>
        <p:spPr>
          <a:xfrm>
            <a:off x="822497" y="531937"/>
            <a:ext cx="7748270" cy="42418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第五阶段——确定测评指标</a:t>
            </a:r>
            <a:r>
              <a:rPr lang="en-US" sz="2400" dirty="0">
                <a:solidFill>
                  <a:srgbClr val="1E1E1E"/>
                </a:solidFill>
              </a:rPr>
              <a:t>（以“安全计算环境”为例）</a:t>
            </a:r>
            <a:endParaRPr lang="en-US" sz="2400" dirty="0">
              <a:solidFill>
                <a:srgbClr val="1E1E1E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1491107" y="1371600"/>
          <a:ext cx="9209786" cy="3581584"/>
        </p:xfrm>
        <a:graphic>
          <a:graphicData uri="http://schemas.openxmlformats.org/drawingml/2006/table">
            <a:tbl>
              <a:tblPr/>
              <a:tblGrid>
                <a:gridCol w="973496"/>
                <a:gridCol w="1396198"/>
                <a:gridCol w="6840092"/>
              </a:tblGrid>
              <a:tr h="2755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b="1" dirty="0">
                          <a:solidFill>
                            <a:srgbClr val="000000"/>
                          </a:solidFill>
                        </a:rPr>
                        <a:t>章节</a:t>
                      </a:r>
                      <a:endParaRPr lang="en-US" sz="1410" b="1" dirty="0">
                        <a:solidFill>
                          <a:srgbClr val="000000"/>
                        </a:solidFill>
                      </a:endParaRPr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b="1" dirty="0">
                          <a:solidFill>
                            <a:srgbClr val="000000"/>
                          </a:solidFill>
                        </a:rPr>
                        <a:t>标题</a:t>
                      </a:r>
                      <a:endParaRPr lang="en-US" sz="1410" b="1" dirty="0">
                        <a:solidFill>
                          <a:srgbClr val="000000"/>
                        </a:solidFill>
                      </a:endParaRPr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b="1" dirty="0">
                          <a:solidFill>
                            <a:srgbClr val="000000"/>
                          </a:solidFill>
                        </a:rPr>
                        <a:t>核心内容</a:t>
                      </a:r>
                      <a:endParaRPr lang="en-US" sz="1410" b="1" dirty="0">
                        <a:solidFill>
                          <a:srgbClr val="000000"/>
                        </a:solidFill>
                      </a:endParaRPr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2755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封面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——</a:t>
                      </a:r>
                      <a:endParaRPr lang="en-US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项目名称、委托单位、测评机构、编制日期、版本号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5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目录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——</a:t>
                      </a:r>
                      <a:endParaRPr lang="en-US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自动生成，页码标注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5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第1章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项目概述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项目背景、目的意义、系统描述、安全等级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5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第2章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测评依据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列明全部依据（标准、法规、文件）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5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第3章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测评范围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物理范围、网络范围、业务范围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5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第4章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测评对象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设备清单、选取理由、抽样说明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5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第5章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测评指标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指标清单、适用性分析、不适用理由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5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第6章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测评方法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访谈、核查、测试方法说明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5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第7章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日程安排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每日工作计划、时间节点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5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第8章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人员分工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项目组成员及职责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5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第9章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风险控制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实施风险及应对措施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5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附件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ym typeface="+mn-ea"/>
                        </a:rPr>
                        <a:t>——</a:t>
                      </a:r>
                      <a:endParaRPr lang="en-US" sz="1800">
                        <a:sym typeface="+mn-ea"/>
                      </a:endParaRPr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10" dirty="0">
                          <a:solidFill>
                            <a:srgbClr val="000000"/>
                          </a:solidFill>
                        </a:rPr>
                        <a:t>参考文献、补充说明</a:t>
                      </a:r>
                      <a:endParaRPr lang="en-US" sz="1410" dirty="0"/>
                    </a:p>
                  </a:txBody>
                  <a:tcPr marL="76748" marR="76748" marT="76748" marB="76748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0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方案结构——完整内容框架</a:t>
            </a:r>
            <a:endParaRPr lang="en-US" sz="27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f360be421ff961165cf40878441c93af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4220" y="1089660"/>
            <a:ext cx="5904865" cy="487680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4740910" y="1371600"/>
            <a:ext cx="2874264" cy="7816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63000"/>
              </a:lnSpc>
              <a:buNone/>
            </a:pPr>
            <a:r>
              <a:rPr lang="zh-CN" altLang="en-US" sz="1560" b="1" dirty="0"/>
              <a:t>信息安全等级保护测评方案</a:t>
            </a:r>
            <a:endParaRPr lang="zh-CN" altLang="en-US" sz="1560" b="1" dirty="0"/>
          </a:p>
          <a:p>
            <a:pPr marL="0" indent="0" algn="ctr">
              <a:lnSpc>
                <a:spcPct val="163000"/>
              </a:lnSpc>
              <a:buNone/>
            </a:pPr>
            <a:r>
              <a:rPr lang="zh-CN" altLang="en-US" sz="1560" b="1" dirty="0"/>
              <a:t>（第三级 评估）</a:t>
            </a:r>
            <a:endParaRPr lang="zh-CN" altLang="en-US" sz="1560" b="1" dirty="0"/>
          </a:p>
        </p:txBody>
      </p:sp>
      <p:sp>
        <p:nvSpPr>
          <p:cNvPr id="24" name="Text 12"/>
          <p:cNvSpPr/>
          <p:nvPr/>
        </p:nvSpPr>
        <p:spPr>
          <a:xfrm>
            <a:off x="822497" y="531937"/>
            <a:ext cx="3505200" cy="42418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测评方案模板（</a:t>
            </a:r>
            <a:r>
              <a:rPr lang="zh-CN" altLang="en-US" sz="2760" dirty="0">
                <a:solidFill>
                  <a:srgbClr val="1E1E1E"/>
                </a:solidFill>
              </a:rPr>
              <a:t>封面</a:t>
            </a:r>
            <a:r>
              <a:rPr lang="en-US" sz="2760" dirty="0">
                <a:solidFill>
                  <a:srgbClr val="1E1E1E"/>
                </a:solidFill>
              </a:rPr>
              <a:t>）</a:t>
            </a:r>
            <a:endParaRPr lang="en-US" sz="2760" dirty="0"/>
          </a:p>
        </p:txBody>
      </p:sp>
      <p:sp>
        <p:nvSpPr>
          <p:cNvPr id="25" name="文本框 24"/>
          <p:cNvSpPr txBox="1"/>
          <p:nvPr/>
        </p:nvSpPr>
        <p:spPr>
          <a:xfrm>
            <a:off x="3838575" y="2762250"/>
            <a:ext cx="5282565" cy="2461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项目名称：</a:t>
            </a:r>
            <a:r>
              <a:rPr lang="en-US" altLang="zh-CN" sz="1400"/>
              <a:t>XX</a:t>
            </a:r>
            <a:r>
              <a:rPr lang="zh-CN" altLang="en-US" sz="1400"/>
              <a:t>市政务服务中心综合管理平台等保测评 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委托单位：</a:t>
            </a:r>
            <a:r>
              <a:rPr lang="en-US" altLang="zh-CN" sz="1400"/>
              <a:t>XX</a:t>
            </a:r>
            <a:r>
              <a:rPr lang="zh-CN" altLang="en-US" sz="1400"/>
              <a:t>市政务服务管理局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测评机构：</a:t>
            </a:r>
            <a:r>
              <a:rPr lang="en-US" altLang="zh-CN" sz="1400"/>
              <a:t>XX</a:t>
            </a:r>
            <a:r>
              <a:rPr lang="zh-CN" altLang="en-US" sz="1400"/>
              <a:t>信息安全测评中心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编制日期：2026年9月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版本号：</a:t>
            </a:r>
            <a:r>
              <a:rPr lang="en-US" altLang="zh-CN" sz="1400"/>
              <a:t>V1.0</a:t>
            </a:r>
            <a:endParaRPr lang="en-US" altLang="zh-CN" sz="1400"/>
          </a:p>
          <a:p>
            <a:endParaRPr lang="en-US" altLang="zh-CN" sz="1400"/>
          </a:p>
          <a:p>
            <a:r>
              <a:rPr lang="zh-CN" altLang="en-US" sz="1400"/>
              <a:t>编制：_________ </a:t>
            </a:r>
            <a:r>
              <a:rPr lang="en-US" altLang="zh-CN" sz="1400"/>
              <a:t>   </a:t>
            </a:r>
            <a:r>
              <a:rPr lang="zh-CN" altLang="en-US" sz="1400"/>
              <a:t> </a:t>
            </a:r>
            <a:r>
              <a:rPr lang="en-US" altLang="zh-CN" sz="1400"/>
              <a:t>  </a:t>
            </a:r>
            <a:r>
              <a:rPr lang="zh-CN" altLang="en-US" sz="1400"/>
              <a:t>审核：_________  </a:t>
            </a:r>
            <a:r>
              <a:rPr lang="en-US" altLang="zh-CN" sz="1400"/>
              <a:t>     </a:t>
            </a:r>
            <a:r>
              <a:rPr lang="zh-CN" altLang="en-US" sz="1400"/>
              <a:t>批准：_________</a:t>
            </a:r>
            <a:endParaRPr lang="zh-CN" altLang="en-US" sz="1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310" y="1009650"/>
            <a:ext cx="2181225" cy="48387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81965" y="1549400"/>
            <a:ext cx="640715" cy="365760"/>
          </a:xfrm>
          <a:prstGeom prst="rect">
            <a:avLst/>
          </a:prstGeom>
          <a:ln w="28575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f360be421ff961165cf40878441c93af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9855" y="1411605"/>
            <a:ext cx="2814320" cy="4876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71320" y="1798320"/>
            <a:ext cx="91440" cy="3048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3183890" y="1572260"/>
            <a:ext cx="136550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项目背景</a:t>
            </a:r>
            <a:endParaRPr lang="en-US" sz="2640" dirty="0"/>
          </a:p>
        </p:txBody>
      </p:sp>
      <p:sp>
        <p:nvSpPr>
          <p:cNvPr id="8" name="Text 1"/>
          <p:cNvSpPr/>
          <p:nvPr/>
        </p:nvSpPr>
        <p:spPr>
          <a:xfrm>
            <a:off x="2798445" y="2336800"/>
            <a:ext cx="2622550" cy="39109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56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XX市政务服务中心综合管理平台是XX市政务服务“一网通办”的核心支撑系统，承载全市200个政务服务窗口的日常业务，日均服务群众约5000人次。为落实《网络安全法》及等级保护制度要求，确保系统安全稳定运行，特委托XX信息安全测评中心对该系统进行第三级等级保护测评。</a:t>
            </a:r>
            <a:endParaRPr lang="en-US" sz="1560" dirty="0"/>
          </a:p>
        </p:txBody>
      </p:sp>
      <p:pic>
        <p:nvPicPr>
          <p:cNvPr id="9" name="Image 5" descr="https://test.web.static.jianzeppt.com/ppt-temp-img3/f360be421ff961165cf40878441c93af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8015" y="1371600"/>
            <a:ext cx="2140585" cy="4876800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08015" y="1831340"/>
            <a:ext cx="76200" cy="30480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5829300" y="1648460"/>
            <a:ext cx="1116965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测评目的</a:t>
            </a:r>
            <a:endParaRPr lang="en-US" sz="2640" dirty="0"/>
          </a:p>
        </p:txBody>
      </p:sp>
      <p:sp>
        <p:nvSpPr>
          <p:cNvPr id="12" name="Text 3"/>
          <p:cNvSpPr/>
          <p:nvPr/>
        </p:nvSpPr>
        <p:spPr>
          <a:xfrm>
            <a:off x="5889625" y="2489200"/>
            <a:ext cx="102235" cy="3505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400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1.</a:t>
            </a:r>
            <a:endParaRPr lang="en-US" sz="1400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13" name="Text 4"/>
          <p:cNvSpPr/>
          <p:nvPr/>
        </p:nvSpPr>
        <p:spPr>
          <a:xfrm>
            <a:off x="6096000" y="2472690"/>
            <a:ext cx="1441450" cy="86169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思源黑体 CN" panose="020B0800000000000000" pitchFamily="34" charset="-120"/>
              </a:rPr>
              <a:t>全面检查系统安全保护措施与国家等级保护标准的符合性；</a:t>
            </a:r>
            <a:endParaRPr lang="en-US" sz="1400" dirty="0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思源黑体 CN" panose="020B0800000000000000" pitchFamily="34" charset="-120"/>
            </a:endParaRPr>
          </a:p>
        </p:txBody>
      </p:sp>
      <p:sp>
        <p:nvSpPr>
          <p:cNvPr id="14" name="Text 5"/>
          <p:cNvSpPr/>
          <p:nvPr/>
        </p:nvSpPr>
        <p:spPr>
          <a:xfrm>
            <a:off x="5889625" y="3566160"/>
            <a:ext cx="102235" cy="3505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400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2.</a:t>
            </a:r>
            <a:endParaRPr lang="en-US" sz="1400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15" name="Text 6"/>
          <p:cNvSpPr/>
          <p:nvPr/>
        </p:nvSpPr>
        <p:spPr>
          <a:xfrm>
            <a:off x="6096000" y="3670935"/>
            <a:ext cx="1441450" cy="4305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思源黑体 CN" panose="020B0800000000000000" pitchFamily="34" charset="-120"/>
              </a:rPr>
              <a:t>发现系统存在的安全隐患和薄弱环节；</a:t>
            </a:r>
            <a:endParaRPr lang="en-US" sz="1400" dirty="0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思源黑体 CN" panose="020B0800000000000000" pitchFamily="34" charset="-120"/>
            </a:endParaRPr>
          </a:p>
        </p:txBody>
      </p:sp>
      <p:sp>
        <p:nvSpPr>
          <p:cNvPr id="16" name="Text 7"/>
          <p:cNvSpPr/>
          <p:nvPr/>
        </p:nvSpPr>
        <p:spPr>
          <a:xfrm>
            <a:off x="5889625" y="4389120"/>
            <a:ext cx="102235" cy="3505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400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3.</a:t>
            </a:r>
            <a:endParaRPr lang="en-US" sz="1400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17" name="Text 8"/>
          <p:cNvSpPr/>
          <p:nvPr/>
        </p:nvSpPr>
        <p:spPr>
          <a:xfrm>
            <a:off x="6096000" y="4494530"/>
            <a:ext cx="1441450" cy="4305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思源黑体 CN" panose="020B0800000000000000" pitchFamily="34" charset="-120"/>
              </a:rPr>
              <a:t>提出针对性的安全整改建议；</a:t>
            </a:r>
            <a:endParaRPr lang="en-US" sz="1400" dirty="0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思源黑体 CN" panose="020B0800000000000000" pitchFamily="34" charset="-120"/>
            </a:endParaRPr>
          </a:p>
        </p:txBody>
      </p:sp>
      <p:sp>
        <p:nvSpPr>
          <p:cNvPr id="18" name="Text 9"/>
          <p:cNvSpPr/>
          <p:nvPr/>
        </p:nvSpPr>
        <p:spPr>
          <a:xfrm>
            <a:off x="5889625" y="5196840"/>
            <a:ext cx="102235" cy="3505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400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4.</a:t>
            </a:r>
            <a:endParaRPr lang="en-US" sz="1400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6096000" y="5302250"/>
            <a:ext cx="1441450" cy="4305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思源黑体 CN" panose="020B0800000000000000" pitchFamily="34" charset="-120"/>
              </a:rPr>
              <a:t>为系统安全运行提供保障依据。</a:t>
            </a:r>
            <a:endParaRPr lang="en-US" sz="1400" dirty="0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思源黑体 CN" panose="020B0800000000000000" pitchFamily="34" charset="-120"/>
            </a:endParaRPr>
          </a:p>
        </p:txBody>
      </p:sp>
      <p:pic>
        <p:nvPicPr>
          <p:cNvPr id="20" name="Image 7" descr="https://test.web.static.jianzeppt.com/ppt-temp-img3/f360be421ff961165cf40878441c93af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7060" y="1371600"/>
            <a:ext cx="3370580" cy="4876800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12480" y="1798320"/>
            <a:ext cx="91440" cy="30480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8625840" y="1691640"/>
            <a:ext cx="136550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系统描述</a:t>
            </a:r>
            <a:endParaRPr lang="en-US" sz="264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8412480" y="2377440"/>
          <a:ext cx="2865120" cy="3550920"/>
        </p:xfrm>
        <a:graphic>
          <a:graphicData uri="http://schemas.openxmlformats.org/drawingml/2006/table">
            <a:tbl>
              <a:tblPr/>
              <a:tblGrid>
                <a:gridCol w="1054735"/>
                <a:gridCol w="1810385"/>
              </a:tblGrid>
              <a:tr h="5072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系统名称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XX市政务服务中心综合管理平台</a:t>
                      </a:r>
                      <a:endParaRPr lang="en-US" sz="1000" dirty="0">
                        <a:solidFill>
                          <a:srgbClr val="374151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2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安全保护等级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第三级（S3A3）</a:t>
                      </a:r>
                      <a:endParaRPr lang="en-US" sz="1000" dirty="0">
                        <a:solidFill>
                          <a:srgbClr val="374151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2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主管部门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XX市政务服务管理局</a:t>
                      </a:r>
                      <a:endParaRPr lang="en-US" sz="1000" dirty="0">
                        <a:solidFill>
                          <a:srgbClr val="374151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2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建设单位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XX市大数据发展局</a:t>
                      </a:r>
                      <a:endParaRPr lang="en-US" sz="1000" dirty="0">
                        <a:solidFill>
                          <a:srgbClr val="374151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2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系统功能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统一政务服务门户、事项管理、预约排号、排队叫号、综合评价、数据统计</a:t>
                      </a:r>
                      <a:endParaRPr lang="en-US" sz="1000" dirty="0">
                        <a:solidFill>
                          <a:srgbClr val="374151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2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用户规模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约200个窗口、日均服务约5000人次</a:t>
                      </a:r>
                      <a:endParaRPr lang="en-US" sz="1000" dirty="0">
                        <a:solidFill>
                          <a:srgbClr val="374151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2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数据敏感性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含公民身份信息、联系方式、办事记录等个人敏感信息</a:t>
                      </a:r>
                      <a:endParaRPr lang="en-US" sz="1000" dirty="0">
                        <a:solidFill>
                          <a:srgbClr val="374151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12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测评方案模板（第一章 项目概述）</a:t>
            </a:r>
            <a:endParaRPr lang="en-US" sz="2760" dirty="0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10" y="1009650"/>
            <a:ext cx="2181225" cy="4838700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421005" y="2319020"/>
            <a:ext cx="640715" cy="365760"/>
          </a:xfrm>
          <a:prstGeom prst="rect">
            <a:avLst/>
          </a:prstGeom>
          <a:ln w="28575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2671693" y="1371600"/>
            <a:ext cx="8925947" cy="4876800"/>
            <a:chOff x="921" y="2160"/>
            <a:chExt cx="17343" cy="7680"/>
          </a:xfrm>
        </p:grpSpPr>
        <p:pic>
          <p:nvPicPr>
            <p:cNvPr id="5" name="Image 3" descr="https://test.web.static.jianzeppt.com/ppt-temp-img3/d68cb75258cbd93a80536be036ea8bf0.png?x-oss-process=image/resize,w_1440,h_800,m_lfit/format,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0" y="2160"/>
              <a:ext cx="5520" cy="7680"/>
            </a:xfrm>
            <a:prstGeom prst="rect">
              <a:avLst/>
            </a:prstGeom>
          </p:spPr>
        </p:pic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144" y="2568"/>
              <a:ext cx="1152" cy="1152"/>
            </a:xfrm>
            <a:prstGeom prst="rect">
              <a:avLst/>
            </a:prstGeom>
          </p:spPr>
        </p:pic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432" y="2856"/>
              <a:ext cx="576" cy="576"/>
            </a:xfrm>
            <a:prstGeom prst="rect">
              <a:avLst/>
            </a:prstGeom>
          </p:spPr>
        </p:pic>
        <p:sp>
          <p:nvSpPr>
            <p:cNvPr id="8" name="Text 0"/>
            <p:cNvSpPr/>
            <p:nvPr/>
          </p:nvSpPr>
          <p:spPr>
            <a:xfrm>
              <a:off x="2328" y="3912"/>
              <a:ext cx="3540" cy="52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2160" b="1" dirty="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2.1 法律法规</a:t>
              </a:r>
              <a:endParaRPr lang="en-US" sz="2160" dirty="0"/>
            </a:p>
          </p:txBody>
        </p:sp>
        <p:sp>
          <p:nvSpPr>
            <p:cNvPr id="9" name="Text 1"/>
            <p:cNvSpPr/>
            <p:nvPr/>
          </p:nvSpPr>
          <p:spPr>
            <a:xfrm>
              <a:off x="960" y="4920"/>
              <a:ext cx="5574" cy="56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680" dirty="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  <a:sym typeface="+mn-ea"/>
                </a:rPr>
                <a:t>（1）</a:t>
              </a:r>
              <a:r>
                <a:rPr lang="zh-CN" altLang="en-US" sz="1680" dirty="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《中华人民共和国网络安全法》</a:t>
              </a:r>
              <a:endParaRPr lang="zh-CN" alt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endParaRPr>
            </a:p>
          </p:txBody>
        </p:sp>
        <p:sp>
          <p:nvSpPr>
            <p:cNvPr id="10" name="Text 2"/>
            <p:cNvSpPr/>
            <p:nvPr/>
          </p:nvSpPr>
          <p:spPr>
            <a:xfrm>
              <a:off x="921" y="6240"/>
              <a:ext cx="5574" cy="56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680" dirty="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（2）</a:t>
              </a:r>
              <a:r>
                <a:rPr lang="zh-CN" altLang="en-US" sz="1680" dirty="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《中华人民共和国数据安全法》</a:t>
              </a:r>
              <a:endParaRPr lang="zh-CN" alt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endParaRPr>
            </a:p>
          </p:txBody>
        </p:sp>
        <p:sp>
          <p:nvSpPr>
            <p:cNvPr id="11" name="Text 3"/>
            <p:cNvSpPr/>
            <p:nvPr/>
          </p:nvSpPr>
          <p:spPr>
            <a:xfrm>
              <a:off x="966" y="7560"/>
              <a:ext cx="4902" cy="112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680" dirty="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（3）</a:t>
              </a:r>
              <a:r>
                <a:rPr lang="zh-CN" altLang="en-US" sz="1680" dirty="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《中华人民共和国个人信息保护法》</a:t>
              </a:r>
              <a:endParaRPr lang="zh-CN" alt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endParaRPr>
            </a:p>
          </p:txBody>
        </p:sp>
        <p:pic>
          <p:nvPicPr>
            <p:cNvPr id="12" name="Image 6" descr="https://test.web.static.jianzeppt.com/ppt-temp-img3/d68cb75258cbd93a80536be036ea8bf0.png?x-oss-process=image/resize,w_1440,h_800,m_lfit/format,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40" y="2160"/>
              <a:ext cx="5520" cy="7680"/>
            </a:xfrm>
            <a:prstGeom prst="rect">
              <a:avLst/>
            </a:prstGeom>
          </p:spPr>
        </p:pic>
        <p:pic>
          <p:nvPicPr>
            <p:cNvPr id="13" name="Image 7" descr="preencoded.png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024" y="2568"/>
              <a:ext cx="1152" cy="1152"/>
            </a:xfrm>
            <a:prstGeom prst="rect">
              <a:avLst/>
            </a:prstGeom>
          </p:spPr>
        </p:pic>
        <p:pic>
          <p:nvPicPr>
            <p:cNvPr id="14" name="Image 8" descr="preencoded.png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312" y="2856"/>
              <a:ext cx="576" cy="576"/>
            </a:xfrm>
            <a:prstGeom prst="rect">
              <a:avLst/>
            </a:prstGeom>
          </p:spPr>
        </p:pic>
        <p:sp>
          <p:nvSpPr>
            <p:cNvPr id="15" name="Text 4"/>
            <p:cNvSpPr/>
            <p:nvPr/>
          </p:nvSpPr>
          <p:spPr>
            <a:xfrm>
              <a:off x="8232" y="3912"/>
              <a:ext cx="3583" cy="52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2160" b="1" dirty="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2.2 国家标准</a:t>
              </a:r>
              <a:endParaRPr lang="en-US" sz="2160" dirty="0"/>
            </a:p>
          </p:txBody>
        </p:sp>
        <p:sp>
          <p:nvSpPr>
            <p:cNvPr id="16" name="Text 5"/>
            <p:cNvSpPr/>
            <p:nvPr/>
          </p:nvSpPr>
          <p:spPr>
            <a:xfrm>
              <a:off x="7248" y="4587"/>
              <a:ext cx="4780" cy="160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600" dirty="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（1）</a:t>
              </a:r>
              <a:r>
                <a:rPr lang="en-US" altLang="zh-CN" sz="1600" dirty="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GB/T 22239-2019《</a:t>
              </a:r>
              <a:r>
                <a:rPr lang="zh-CN" altLang="en-US" sz="1600" dirty="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信息安全技术 网络安全等级保护基本要求》</a:t>
              </a:r>
              <a:endParaRPr lang="zh-CN" altLang="en-US" sz="160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endParaRPr>
            </a:p>
          </p:txBody>
        </p:sp>
        <p:sp>
          <p:nvSpPr>
            <p:cNvPr id="17" name="Text 6"/>
            <p:cNvSpPr/>
            <p:nvPr/>
          </p:nvSpPr>
          <p:spPr>
            <a:xfrm>
              <a:off x="7253" y="6281"/>
              <a:ext cx="4845" cy="160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600" dirty="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（2）</a:t>
              </a:r>
              <a:r>
                <a:rPr lang="en-US" altLang="zh-CN" sz="1600" dirty="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GB/T 28448-2019《</a:t>
              </a:r>
              <a:r>
                <a:rPr lang="zh-CN" altLang="en-US" sz="1600" dirty="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信息安全技术 网络安全等级保护测评要求》</a:t>
              </a:r>
              <a:endParaRPr lang="zh-CN" altLang="en-US" sz="160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endParaRPr>
            </a:p>
          </p:txBody>
        </p:sp>
        <p:sp>
          <p:nvSpPr>
            <p:cNvPr id="18" name="Text 7"/>
            <p:cNvSpPr/>
            <p:nvPr/>
          </p:nvSpPr>
          <p:spPr>
            <a:xfrm>
              <a:off x="7253" y="7887"/>
              <a:ext cx="4845" cy="160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600" dirty="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（3）</a:t>
              </a:r>
              <a:r>
                <a:rPr lang="en-US" altLang="zh-CN" sz="1600" dirty="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GB/T 28449-2018《</a:t>
              </a:r>
              <a:r>
                <a:rPr lang="zh-CN" altLang="en-US" sz="1600" dirty="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信息安全技术 网络安全等级保护测评过程指南》</a:t>
              </a:r>
              <a:endParaRPr lang="zh-CN" altLang="en-US" sz="160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endParaRPr>
            </a:p>
          </p:txBody>
        </p:sp>
        <p:pic>
          <p:nvPicPr>
            <p:cNvPr id="19" name="Image 9" descr="https://test.web.static.jianzeppt.com/ppt-temp-img3/d68cb75258cbd93a80536be036ea8bf0.png?x-oss-process=image/resize,w_1440,h_800,m_lfit/format,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744" y="2160"/>
              <a:ext cx="5520" cy="7680"/>
            </a:xfrm>
            <a:prstGeom prst="rect">
              <a:avLst/>
            </a:prstGeom>
          </p:spPr>
        </p:pic>
        <p:pic>
          <p:nvPicPr>
            <p:cNvPr id="20" name="Image 10" descr="preencoded.png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4904" y="2568"/>
              <a:ext cx="1152" cy="1152"/>
            </a:xfrm>
            <a:prstGeom prst="rect">
              <a:avLst/>
            </a:prstGeom>
          </p:spPr>
        </p:pic>
        <p:pic>
          <p:nvPicPr>
            <p:cNvPr id="21" name="Image 11" descr="preencoded.png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5192" y="2856"/>
              <a:ext cx="576" cy="576"/>
            </a:xfrm>
            <a:prstGeom prst="rect">
              <a:avLst/>
            </a:prstGeom>
          </p:spPr>
        </p:pic>
        <p:sp>
          <p:nvSpPr>
            <p:cNvPr id="22" name="Text 8"/>
            <p:cNvSpPr/>
            <p:nvPr/>
          </p:nvSpPr>
          <p:spPr>
            <a:xfrm>
              <a:off x="14112" y="3912"/>
              <a:ext cx="3661" cy="52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2160" b="1" dirty="0">
                  <a:solidFill>
                    <a:srgbClr val="00234E"/>
                  </a:solidFill>
                  <a:latin typeface="思源黑体 CN Bold" pitchFamily="34" charset="0"/>
                  <a:ea typeface="思源黑体 CN Bold" pitchFamily="34" charset="-122"/>
                  <a:cs typeface="思源黑体 CN Bold" pitchFamily="34" charset="-120"/>
                </a:rPr>
                <a:t>2.3 其他文件</a:t>
              </a:r>
              <a:endParaRPr lang="en-US" sz="2160" dirty="0"/>
            </a:p>
          </p:txBody>
        </p:sp>
        <p:sp>
          <p:nvSpPr>
            <p:cNvPr id="23" name="Text 9"/>
            <p:cNvSpPr/>
            <p:nvPr/>
          </p:nvSpPr>
          <p:spPr>
            <a:xfrm>
              <a:off x="13152" y="4920"/>
              <a:ext cx="4881" cy="112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680" dirty="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（1）</a:t>
              </a:r>
              <a:r>
                <a:rPr lang="en-US" altLang="zh-CN" sz="1680" dirty="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《XX</a:t>
              </a:r>
              <a:r>
                <a:rPr lang="zh-CN" altLang="en-US" sz="1680" dirty="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市政务服务中心综合管理平台定级报告》</a:t>
              </a:r>
              <a:endParaRPr lang="zh-CN" alt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endParaRPr>
            </a:p>
          </p:txBody>
        </p:sp>
        <p:sp>
          <p:nvSpPr>
            <p:cNvPr id="24" name="Text 10"/>
            <p:cNvSpPr/>
            <p:nvPr/>
          </p:nvSpPr>
          <p:spPr>
            <a:xfrm>
              <a:off x="13152" y="6424"/>
              <a:ext cx="4880" cy="168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680" dirty="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（2）</a:t>
              </a:r>
              <a:r>
                <a:rPr lang="en-US" altLang="zh-CN" sz="1680" dirty="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《XX</a:t>
              </a:r>
              <a:r>
                <a:rPr lang="zh-CN" altLang="en-US" sz="1680" dirty="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市政务服务中心综合管理平台系统设计方案》</a:t>
              </a:r>
              <a:endParaRPr lang="zh-CN" alt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endParaRPr>
            </a:p>
          </p:txBody>
        </p:sp>
        <p:sp>
          <p:nvSpPr>
            <p:cNvPr id="25" name="Text 11"/>
            <p:cNvSpPr/>
            <p:nvPr/>
          </p:nvSpPr>
          <p:spPr>
            <a:xfrm>
              <a:off x="13152" y="8394"/>
              <a:ext cx="4590" cy="112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38000"/>
                </a:lnSpc>
                <a:buNone/>
              </a:pPr>
              <a:r>
                <a:rPr lang="en-US" sz="1680" dirty="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（3）</a:t>
              </a:r>
              <a:r>
                <a:rPr lang="zh-CN" altLang="en-US" sz="1680" dirty="0">
                  <a:solidFill>
                    <a:srgbClr val="333333"/>
                  </a:solidFill>
                  <a:latin typeface="思源黑体 CN" panose="020B0800000000000000" pitchFamily="34" charset="-122"/>
                  <a:ea typeface="思源黑体 CN" panose="020B0800000000000000" pitchFamily="34" charset="-122"/>
                  <a:cs typeface="思源黑体 CN" panose="020B0800000000000000" pitchFamily="34" charset="-120"/>
                </a:rPr>
                <a:t>客户提供的其他技术文档和管理文档</a:t>
              </a:r>
              <a:endParaRPr lang="zh-CN" alt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endParaRPr>
            </a:p>
          </p:txBody>
        </p:sp>
      </p:grpSp>
      <p:sp>
        <p:nvSpPr>
          <p:cNvPr id="26" name="Text 12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测评方案模板（第二章 测评依据）</a:t>
            </a:r>
            <a:endParaRPr lang="en-US" sz="2760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2270" y="1052830"/>
            <a:ext cx="2181225" cy="4838700"/>
          </a:xfrm>
          <a:prstGeom prst="rect">
            <a:avLst/>
          </a:prstGeom>
        </p:spPr>
      </p:pic>
      <p:sp>
        <p:nvSpPr>
          <p:cNvPr id="29" name="矩形 28"/>
          <p:cNvSpPr/>
          <p:nvPr/>
        </p:nvSpPr>
        <p:spPr>
          <a:xfrm>
            <a:off x="481965" y="2727960"/>
            <a:ext cx="640715" cy="365760"/>
          </a:xfrm>
          <a:prstGeom prst="rect">
            <a:avLst/>
          </a:prstGeom>
          <a:ln w="28575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822325" y="1244600"/>
            <a:ext cx="11163300" cy="4312920"/>
            <a:chOff x="960" y="2112"/>
            <a:chExt cx="17280" cy="6792"/>
          </a:xfrm>
        </p:grpSpPr>
        <p:pic>
          <p:nvPicPr>
            <p:cNvPr id="5" name="Image 3" descr="https://test.web.static.jianzeppt.com/ppt-temp-img3/7e7f605593a39db2ff12633cff3a65af.png?x-oss-process=image/resize,w_1440,h_800,m_lfit/format,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0" y="2160"/>
              <a:ext cx="17280" cy="1416"/>
            </a:xfrm>
            <a:prstGeom prst="rect">
              <a:avLst/>
            </a:prstGeom>
          </p:spPr>
        </p:pic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60" y="2160"/>
              <a:ext cx="3360" cy="1416"/>
            </a:xfrm>
            <a:prstGeom prst="rect">
              <a:avLst/>
            </a:prstGeom>
          </p:spPr>
        </p:pic>
        <p:sp>
          <p:nvSpPr>
            <p:cNvPr id="7" name="Text 0"/>
            <p:cNvSpPr/>
            <p:nvPr/>
          </p:nvSpPr>
          <p:spPr>
            <a:xfrm>
              <a:off x="2256" y="2112"/>
              <a:ext cx="782" cy="78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160" b="1" dirty="0">
                  <a:solidFill>
                    <a:srgbClr val="FFFFFF"/>
                  </a:solidFill>
                </a:rPr>
                <a:t>3.1</a:t>
              </a:r>
              <a:endParaRPr lang="en-US" sz="2160" dirty="0"/>
            </a:p>
          </p:txBody>
        </p:sp>
        <p:sp>
          <p:nvSpPr>
            <p:cNvPr id="8" name="Text 1"/>
            <p:cNvSpPr/>
            <p:nvPr/>
          </p:nvSpPr>
          <p:spPr>
            <a:xfrm>
              <a:off x="1680" y="2604"/>
              <a:ext cx="1934" cy="8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400" b="1" dirty="0">
                  <a:solidFill>
                    <a:srgbClr val="FFFFFF"/>
                  </a:solidFill>
                </a:rPr>
                <a:t>物理范围</a:t>
              </a:r>
              <a:endParaRPr lang="en-US" sz="2400" dirty="0"/>
            </a:p>
          </p:txBody>
        </p:sp>
        <p:sp>
          <p:nvSpPr>
            <p:cNvPr id="9" name="Text 2"/>
            <p:cNvSpPr/>
            <p:nvPr/>
          </p:nvSpPr>
          <p:spPr>
            <a:xfrm>
              <a:off x="4704" y="2556"/>
              <a:ext cx="13166" cy="77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1F2937"/>
                  </a:solidFill>
                </a:rPr>
                <a:t>本次测评覆盖XX市政务服务中心数据中心机房（主楼5楼），面积约200平方米，包含服务器机柜、网络机柜、安全设备机柜、配电柜等。</a:t>
              </a:r>
              <a:endParaRPr lang="en-US" sz="1600" dirty="0">
                <a:solidFill>
                  <a:srgbClr val="1F2937"/>
                </a:solidFill>
              </a:endParaRPr>
            </a:p>
          </p:txBody>
        </p:sp>
        <p:pic>
          <p:nvPicPr>
            <p:cNvPr id="10" name="Image 5" descr="https://test.web.static.jianzeppt.com/ppt-temp-img3/386b2e09b76d5a0051a486c83940d39b.png?x-oss-process=image/resize,w_1440,h_800,m_lfit/format,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60" y="3936"/>
              <a:ext cx="17280" cy="2400"/>
            </a:xfrm>
            <a:prstGeom prst="rect">
              <a:avLst/>
            </a:prstGeom>
          </p:spPr>
        </p:pic>
        <p:pic>
          <p:nvPicPr>
            <p:cNvPr id="11" name="Image 6" descr="preencoded.png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60" y="3936"/>
              <a:ext cx="3360" cy="2400"/>
            </a:xfrm>
            <a:prstGeom prst="rect">
              <a:avLst/>
            </a:prstGeom>
          </p:spPr>
        </p:pic>
        <p:sp>
          <p:nvSpPr>
            <p:cNvPr id="12" name="Text 3"/>
            <p:cNvSpPr/>
            <p:nvPr/>
          </p:nvSpPr>
          <p:spPr>
            <a:xfrm>
              <a:off x="2256" y="4272"/>
              <a:ext cx="782" cy="78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160" b="1" dirty="0">
                  <a:solidFill>
                    <a:srgbClr val="FFFFFF"/>
                  </a:solidFill>
                </a:rPr>
                <a:t>3.2</a:t>
              </a:r>
              <a:endParaRPr lang="en-US" sz="2160" dirty="0"/>
            </a:p>
          </p:txBody>
        </p:sp>
        <p:sp>
          <p:nvSpPr>
            <p:cNvPr id="13" name="Text 4"/>
            <p:cNvSpPr/>
            <p:nvPr/>
          </p:nvSpPr>
          <p:spPr>
            <a:xfrm>
              <a:off x="1680" y="4920"/>
              <a:ext cx="1934" cy="8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400" b="1" dirty="0">
                  <a:solidFill>
                    <a:srgbClr val="FFFFFF"/>
                  </a:solidFill>
                </a:rPr>
                <a:t>网络范围</a:t>
              </a:r>
              <a:endParaRPr lang="en-US" sz="2400" dirty="0"/>
            </a:p>
          </p:txBody>
        </p:sp>
        <p:sp>
          <p:nvSpPr>
            <p:cNvPr id="14" name="Text 5"/>
            <p:cNvSpPr/>
            <p:nvPr/>
          </p:nvSpPr>
          <p:spPr>
            <a:xfrm>
              <a:off x="4704" y="4320"/>
              <a:ext cx="4160" cy="3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1F2937"/>
                  </a:solidFill>
                </a:rPr>
                <a:t>本次测评覆盖以下网络区域：</a:t>
              </a:r>
              <a:endParaRPr lang="en-US" sz="1600" dirty="0">
                <a:solidFill>
                  <a:srgbClr val="1F2937"/>
                </a:solidFill>
              </a:endParaRPr>
            </a:p>
          </p:txBody>
        </p:sp>
        <p:sp>
          <p:nvSpPr>
            <p:cNvPr id="15" name="Text 6"/>
            <p:cNvSpPr/>
            <p:nvPr/>
          </p:nvSpPr>
          <p:spPr>
            <a:xfrm>
              <a:off x="4704" y="4716"/>
              <a:ext cx="10082" cy="3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374151"/>
                  </a:solidFill>
                </a:rPr>
                <a:t>（1）互联网边界区：从互联网出口至边界防火墙，含边界防火墙设备；</a:t>
              </a:r>
              <a:endParaRPr lang="en-US" sz="1600" dirty="0">
                <a:solidFill>
                  <a:srgbClr val="374151"/>
                </a:solidFill>
              </a:endParaRPr>
            </a:p>
          </p:txBody>
        </p:sp>
        <p:sp>
          <p:nvSpPr>
            <p:cNvPr id="16" name="Text 7"/>
            <p:cNvSpPr/>
            <p:nvPr/>
          </p:nvSpPr>
          <p:spPr>
            <a:xfrm>
              <a:off x="4704" y="5074"/>
              <a:ext cx="6882" cy="3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374151"/>
                  </a:solidFill>
                </a:rPr>
                <a:t>（2）核心交换区：核心交换机及核心网络链路；</a:t>
              </a:r>
              <a:endParaRPr lang="en-US" sz="1600" dirty="0">
                <a:solidFill>
                  <a:srgbClr val="374151"/>
                </a:solidFill>
              </a:endParaRPr>
            </a:p>
          </p:txBody>
        </p:sp>
        <p:sp>
          <p:nvSpPr>
            <p:cNvPr id="17" name="Text 8"/>
            <p:cNvSpPr/>
            <p:nvPr/>
          </p:nvSpPr>
          <p:spPr>
            <a:xfrm>
              <a:off x="4704" y="5432"/>
              <a:ext cx="11642" cy="3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374151"/>
                  </a:solidFill>
                </a:rPr>
                <a:t>（3）服务器区：Web服务器、应用服务器、数据库服务器所在的服务器网络区域；</a:t>
              </a:r>
              <a:endParaRPr lang="en-US" sz="1600" dirty="0">
                <a:solidFill>
                  <a:srgbClr val="374151"/>
                </a:solidFill>
              </a:endParaRPr>
            </a:p>
          </p:txBody>
        </p:sp>
        <p:sp>
          <p:nvSpPr>
            <p:cNvPr id="18" name="Text 9"/>
            <p:cNvSpPr/>
            <p:nvPr/>
          </p:nvSpPr>
          <p:spPr>
            <a:xfrm>
              <a:off x="4704" y="5790"/>
              <a:ext cx="7842" cy="3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374151"/>
                  </a:solidFill>
                </a:rPr>
                <a:t>（4）管理区：堡垒机、日志审计系统所在的管理区域。</a:t>
              </a:r>
              <a:endParaRPr lang="en-US" sz="1600" dirty="0">
                <a:solidFill>
                  <a:srgbClr val="374151"/>
                </a:solidFill>
              </a:endParaRPr>
            </a:p>
          </p:txBody>
        </p:sp>
        <p:pic>
          <p:nvPicPr>
            <p:cNvPr id="19" name="Image 7" descr="https://test.web.static.jianzeppt.com/ppt-temp-img3/7f7a68ab6f4fce4251d15a2249467b55.png?x-oss-process=image/resize,w_1440,h_800,m_lfit/format,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60" y="6720"/>
              <a:ext cx="17280" cy="2184"/>
            </a:xfrm>
            <a:prstGeom prst="rect">
              <a:avLst/>
            </a:prstGeom>
          </p:spPr>
        </p:pic>
        <p:pic>
          <p:nvPicPr>
            <p:cNvPr id="20" name="Image 8" descr="preencoded.png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60" y="6720"/>
              <a:ext cx="3360" cy="2184"/>
            </a:xfrm>
            <a:prstGeom prst="rect">
              <a:avLst/>
            </a:prstGeom>
          </p:spPr>
        </p:pic>
        <p:sp>
          <p:nvSpPr>
            <p:cNvPr id="21" name="Text 10"/>
            <p:cNvSpPr/>
            <p:nvPr/>
          </p:nvSpPr>
          <p:spPr>
            <a:xfrm>
              <a:off x="2256" y="6972"/>
              <a:ext cx="782" cy="78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160" b="1" dirty="0">
                  <a:solidFill>
                    <a:srgbClr val="FFFFFF"/>
                  </a:solidFill>
                </a:rPr>
                <a:t>3.3</a:t>
              </a:r>
              <a:endParaRPr lang="en-US" sz="2160" dirty="0"/>
            </a:p>
          </p:txBody>
        </p:sp>
        <p:sp>
          <p:nvSpPr>
            <p:cNvPr id="22" name="Text 11"/>
            <p:cNvSpPr/>
            <p:nvPr/>
          </p:nvSpPr>
          <p:spPr>
            <a:xfrm>
              <a:off x="1680" y="7596"/>
              <a:ext cx="1934" cy="87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400" b="1" dirty="0">
                  <a:solidFill>
                    <a:srgbClr val="FFFFFF"/>
                  </a:solidFill>
                </a:rPr>
                <a:t>业务范围</a:t>
              </a:r>
              <a:endParaRPr lang="en-US" sz="2400" dirty="0"/>
            </a:p>
          </p:txBody>
        </p:sp>
        <p:sp>
          <p:nvSpPr>
            <p:cNvPr id="23" name="Text 12"/>
            <p:cNvSpPr/>
            <p:nvPr/>
          </p:nvSpPr>
          <p:spPr>
            <a:xfrm>
              <a:off x="4704" y="7104"/>
              <a:ext cx="5282" cy="3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1F2937"/>
                  </a:solidFill>
                </a:rPr>
                <a:t>本次测评覆盖以下6个业务功能模块：</a:t>
              </a:r>
              <a:endParaRPr lang="en-US" sz="1600" dirty="0">
                <a:solidFill>
                  <a:srgbClr val="1F2937"/>
                </a:solidFill>
              </a:endParaRPr>
            </a:p>
          </p:txBody>
        </p:sp>
        <p:sp>
          <p:nvSpPr>
            <p:cNvPr id="24" name="Text 13"/>
            <p:cNvSpPr/>
            <p:nvPr/>
          </p:nvSpPr>
          <p:spPr>
            <a:xfrm>
              <a:off x="4704" y="7512"/>
              <a:ext cx="3362" cy="3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374151"/>
                  </a:solidFill>
                </a:rPr>
                <a:t>（1）统一政务服务门户</a:t>
              </a:r>
              <a:endParaRPr lang="en-US" sz="1600" dirty="0">
                <a:solidFill>
                  <a:srgbClr val="374151"/>
                </a:solidFill>
              </a:endParaRPr>
            </a:p>
          </p:txBody>
        </p:sp>
        <p:sp>
          <p:nvSpPr>
            <p:cNvPr id="25" name="Text 14"/>
            <p:cNvSpPr/>
            <p:nvPr/>
          </p:nvSpPr>
          <p:spPr>
            <a:xfrm>
              <a:off x="11472" y="7512"/>
              <a:ext cx="2722" cy="3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374151"/>
                  </a:solidFill>
                </a:rPr>
                <a:t>（2）事项管理系统</a:t>
              </a:r>
              <a:endParaRPr lang="en-US" sz="1600" dirty="0">
                <a:solidFill>
                  <a:srgbClr val="374151"/>
                </a:solidFill>
              </a:endParaRPr>
            </a:p>
          </p:txBody>
        </p:sp>
        <p:sp>
          <p:nvSpPr>
            <p:cNvPr id="26" name="Text 15"/>
            <p:cNvSpPr/>
            <p:nvPr/>
          </p:nvSpPr>
          <p:spPr>
            <a:xfrm>
              <a:off x="4704" y="7872"/>
              <a:ext cx="2722" cy="3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374151"/>
                  </a:solidFill>
                </a:rPr>
                <a:t>（3）预约排号系统</a:t>
              </a:r>
              <a:endParaRPr lang="en-US" sz="1600" dirty="0">
                <a:solidFill>
                  <a:srgbClr val="374151"/>
                </a:solidFill>
              </a:endParaRPr>
            </a:p>
          </p:txBody>
        </p:sp>
        <p:sp>
          <p:nvSpPr>
            <p:cNvPr id="27" name="Text 16"/>
            <p:cNvSpPr/>
            <p:nvPr/>
          </p:nvSpPr>
          <p:spPr>
            <a:xfrm>
              <a:off x="11472" y="7872"/>
              <a:ext cx="2722" cy="3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374151"/>
                  </a:solidFill>
                </a:rPr>
                <a:t>（4）排队叫号系统</a:t>
              </a:r>
              <a:endParaRPr lang="en-US" sz="1600" dirty="0">
                <a:solidFill>
                  <a:srgbClr val="374151"/>
                </a:solidFill>
              </a:endParaRPr>
            </a:p>
          </p:txBody>
        </p:sp>
        <p:sp>
          <p:nvSpPr>
            <p:cNvPr id="28" name="Text 17"/>
            <p:cNvSpPr/>
            <p:nvPr/>
          </p:nvSpPr>
          <p:spPr>
            <a:xfrm>
              <a:off x="4704" y="8232"/>
              <a:ext cx="2722" cy="3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374151"/>
                  </a:solidFill>
                </a:rPr>
                <a:t>（5）综合评价系统</a:t>
              </a:r>
              <a:endParaRPr lang="en-US" sz="1600" dirty="0">
                <a:solidFill>
                  <a:srgbClr val="374151"/>
                </a:solidFill>
              </a:endParaRPr>
            </a:p>
          </p:txBody>
        </p:sp>
        <p:sp>
          <p:nvSpPr>
            <p:cNvPr id="29" name="Text 18"/>
            <p:cNvSpPr/>
            <p:nvPr/>
          </p:nvSpPr>
          <p:spPr>
            <a:xfrm>
              <a:off x="11472" y="8232"/>
              <a:ext cx="3362" cy="3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374151"/>
                  </a:solidFill>
                </a:rPr>
                <a:t>（6）数据统计分析系统</a:t>
              </a:r>
              <a:endParaRPr lang="en-US" sz="1600" dirty="0">
                <a:solidFill>
                  <a:srgbClr val="374151"/>
                </a:solidFill>
              </a:endParaRPr>
            </a:p>
          </p:txBody>
        </p:sp>
      </p:grpSp>
      <p:sp>
        <p:nvSpPr>
          <p:cNvPr id="30" name="Text 19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测评方案模板（第三章 测评范围）</a:t>
            </a:r>
            <a:endParaRPr lang="en-US" sz="276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318260"/>
            <a:ext cx="109819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4.1 测评对象清单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3281680" y="1371600"/>
          <a:ext cx="6708140" cy="2480310"/>
        </p:xfrm>
        <a:graphic>
          <a:graphicData uri="http://schemas.openxmlformats.org/drawingml/2006/table">
            <a:tbl>
              <a:tblPr/>
              <a:tblGrid>
                <a:gridCol w="504190"/>
                <a:gridCol w="1292860"/>
                <a:gridCol w="1889760"/>
                <a:gridCol w="504190"/>
                <a:gridCol w="861695"/>
                <a:gridCol w="1655445"/>
              </a:tblGrid>
              <a:tr h="264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序号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设备/系统名称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型号/规格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数量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是否测评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抽样说明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边界防火墙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华为USG6000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1台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是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100%测评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核心交换机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华为S12708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2台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是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100%测评（堆叠）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Web服务器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华为RH2288（Linux）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3台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是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抽2台（66%）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应用服务器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华为RH2288（Linux）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2台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是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100%测评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数据库服务器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华为RH2288（Win）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2台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是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抽1台（50%）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堡垒机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齐治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1台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是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100%测评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日志审计系统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天融信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1台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是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100%测评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WAF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安恒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1台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是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100%测评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31245" marR="31245" marT="31245" marB="31245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Image 4" descr="https://test.web.static.jianzeppt.com/ppt-temp-img3/da57eabb321655a2866dab580479f3f4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068445"/>
            <a:ext cx="10972800" cy="1875155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822325" y="4160520"/>
            <a:ext cx="23713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4.2 抽样理由说明</a:t>
            </a:r>
            <a:endParaRPr lang="en-US" sz="2400" dirty="0"/>
          </a:p>
        </p:txBody>
      </p:sp>
      <p:sp>
        <p:nvSpPr>
          <p:cNvPr id="11" name="Text 2"/>
          <p:cNvSpPr/>
          <p:nvPr/>
        </p:nvSpPr>
        <p:spPr>
          <a:xfrm>
            <a:off x="868680" y="4739640"/>
            <a:ext cx="10463784" cy="584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（1）Web服务器3台配置一致、部署相同应用，按照抽样原则抽取2台（</a:t>
            </a:r>
            <a:r>
              <a:rPr lang="en-US" sz="20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66%</a:t>
            </a:r>
            <a:r>
              <a:rPr lang="en-US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），超过</a:t>
            </a:r>
            <a:r>
              <a:rPr lang="en-US" sz="20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30%</a:t>
            </a:r>
            <a:r>
              <a:rPr lang="en-US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的抽样比例要求；</a:t>
            </a:r>
            <a:endParaRPr lang="en-US" dirty="0">
              <a:solidFill>
                <a:srgbClr val="374151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sp>
        <p:nvSpPr>
          <p:cNvPr id="12" name="Text 3"/>
          <p:cNvSpPr/>
          <p:nvPr/>
        </p:nvSpPr>
        <p:spPr>
          <a:xfrm>
            <a:off x="868680" y="5425440"/>
            <a:ext cx="10463784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（2）数据库服务器2台配置一致，抽取1台（</a:t>
            </a:r>
            <a:r>
              <a:rPr lang="en-US" sz="20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50%</a:t>
            </a:r>
            <a:r>
              <a:rPr lang="en-US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），满足抽样要求。</a:t>
            </a:r>
            <a:endParaRPr lang="en-US" dirty="0">
              <a:solidFill>
                <a:srgbClr val="374151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sp>
        <p:nvSpPr>
          <p:cNvPr id="13" name="Text 4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测评方案模板（第四章 测评对象）</a:t>
            </a:r>
            <a:endParaRPr lang="en-US" sz="276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2925" y="1234440"/>
            <a:ext cx="3675380" cy="11074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</a:rPr>
              <a:t>5.1 安全物理环境</a:t>
            </a:r>
            <a:endParaRPr lang="en-US" sz="2400" b="1" dirty="0">
              <a:solidFill>
                <a:srgbClr val="00234E"/>
              </a:solidFill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</a:rPr>
              <a:t>（共10个子类，全部适用）</a:t>
            </a:r>
            <a:endParaRPr lang="en-US" sz="2400" dirty="0"/>
          </a:p>
        </p:txBody>
      </p:sp>
      <p:sp>
        <p:nvSpPr>
          <p:cNvPr id="6" name="Text 1"/>
          <p:cNvSpPr/>
          <p:nvPr/>
        </p:nvSpPr>
        <p:spPr>
          <a:xfrm>
            <a:off x="609600" y="4084320"/>
            <a:ext cx="109819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</a:rPr>
              <a:t>5.2 安全通信网络（共3个子类，全部适用）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4580255" y="1447800"/>
          <a:ext cx="5713730" cy="2645410"/>
        </p:xfrm>
        <a:graphic>
          <a:graphicData uri="http://schemas.openxmlformats.org/drawingml/2006/table">
            <a:tbl>
              <a:tblPr/>
              <a:tblGrid>
                <a:gridCol w="574040"/>
                <a:gridCol w="1585595"/>
                <a:gridCol w="1386205"/>
                <a:gridCol w="980440"/>
                <a:gridCol w="1187450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序号</a:t>
                      </a:r>
                      <a:endParaRPr lang="en-US" sz="1050" b="1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子类名称</a:t>
                      </a:r>
                      <a:endParaRPr lang="en-US" sz="1050" b="1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三级要求项数</a:t>
                      </a:r>
                      <a:endParaRPr lang="en-US" sz="1050" b="1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适用项数</a:t>
                      </a:r>
                      <a:endParaRPr lang="en-US" sz="1050" b="1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不适用理由</a:t>
                      </a:r>
                      <a:endParaRPr lang="en-US" sz="1050" b="1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21209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物理位置选择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2项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2项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/>
                        <a:t>——</a:t>
                      </a:r>
                      <a:endParaRPr lang="en-US" sz="1200"/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物理访问控制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1项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1项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/>
                        <a:t>——</a:t>
                      </a:r>
                      <a:endParaRPr lang="en-US" sz="1200"/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防盗窃和防破坏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3项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3项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/>
                        <a:t>——</a:t>
                      </a:r>
                      <a:endParaRPr lang="en-US" sz="1200"/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防雷击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2项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2项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/>
                        <a:t>——</a:t>
                      </a:r>
                      <a:endParaRPr lang="en-US" sz="1200"/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防火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3项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3项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/>
                        <a:t>——</a:t>
                      </a:r>
                      <a:endParaRPr lang="en-US" sz="1200"/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防水和防潮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3项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3项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/>
                        <a:t>——</a:t>
                      </a:r>
                      <a:endParaRPr lang="en-US" sz="1200"/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防静电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2项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2项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/>
                        <a:t>——</a:t>
                      </a:r>
                      <a:endParaRPr lang="en-US" sz="1200"/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温湿度控制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1项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1项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/>
                        <a:t>——</a:t>
                      </a:r>
                      <a:endParaRPr lang="en-US" sz="1200"/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电力供应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3项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3项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/>
                        <a:t>——</a:t>
                      </a:r>
                      <a:endParaRPr lang="en-US" sz="1200"/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电磁防护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2项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2项</a:t>
                      </a:r>
                      <a:endParaRPr lang="en-US" sz="1050" dirty="0">
                        <a:solidFill>
                          <a:srgbClr val="000000"/>
                        </a:solidFill>
                      </a:endParaRPr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/>
                        <a:t>——</a:t>
                      </a:r>
                      <a:endParaRPr lang="en-US" sz="1200"/>
                    </a:p>
                  </a:txBody>
                  <a:tcPr marL="29789" marR="29789" marT="29789" marB="29789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1"/>
          <p:cNvGraphicFramePr>
            <a:graphicFrameLocks noGrp="1"/>
          </p:cNvGraphicFramePr>
          <p:nvPr/>
        </p:nvGraphicFramePr>
        <p:xfrm>
          <a:off x="1218606" y="4640580"/>
          <a:ext cx="9274810" cy="1564640"/>
        </p:xfrm>
        <a:graphic>
          <a:graphicData uri="http://schemas.openxmlformats.org/drawingml/2006/table">
            <a:tbl>
              <a:tblPr/>
              <a:tblGrid>
                <a:gridCol w="952350"/>
                <a:gridCol w="2205355"/>
                <a:gridCol w="2019681"/>
                <a:gridCol w="1663976"/>
                <a:gridCol w="2433320"/>
              </a:tblGrid>
              <a:tr h="3124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序号</a:t>
                      </a:r>
                      <a:endParaRPr lang="en-US" sz="1400" b="1" dirty="0">
                        <a:solidFill>
                          <a:srgbClr val="000000"/>
                        </a:solidFill>
                      </a:endParaRPr>
                    </a:p>
                  </a:txBody>
                  <a:tcPr marL="81516" marR="81516" marT="81516" marB="8151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子类名称</a:t>
                      </a:r>
                      <a:endParaRPr lang="en-US" sz="1400" b="1" dirty="0">
                        <a:solidFill>
                          <a:srgbClr val="000000"/>
                        </a:solidFill>
                      </a:endParaRPr>
                    </a:p>
                  </a:txBody>
                  <a:tcPr marL="81516" marR="81516" marT="81516" marB="8151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三级要求项数</a:t>
                      </a:r>
                      <a:endParaRPr lang="en-US" sz="1400" b="1" dirty="0">
                        <a:solidFill>
                          <a:srgbClr val="000000"/>
                        </a:solidFill>
                      </a:endParaRPr>
                    </a:p>
                  </a:txBody>
                  <a:tcPr marL="81516" marR="81516" marT="81516" marB="8151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适用项数</a:t>
                      </a:r>
                      <a:endParaRPr lang="en-US" sz="1400" b="1" dirty="0">
                        <a:solidFill>
                          <a:srgbClr val="000000"/>
                        </a:solidFill>
                      </a:endParaRPr>
                    </a:p>
                  </a:txBody>
                  <a:tcPr marL="81516" marR="81516" marT="81516" marB="8151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不适用理由</a:t>
                      </a:r>
                      <a:endParaRPr lang="en-US" sz="1400" b="1" dirty="0">
                        <a:solidFill>
                          <a:srgbClr val="000000"/>
                        </a:solidFill>
                      </a:endParaRPr>
                    </a:p>
                  </a:txBody>
                  <a:tcPr marL="81516" marR="81516" marT="81516" marB="8151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124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1516" marR="81516" marT="81516" marB="8151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网络架构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1516" marR="81516" marT="81516" marB="8151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5项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1516" marR="81516" marT="81516" marB="8151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5项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1516" marR="81516" marT="81516" marB="8151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——</a:t>
                      </a:r>
                      <a:endParaRPr lang="en-US" sz="1600"/>
                    </a:p>
                  </a:txBody>
                  <a:tcPr marL="81516" marR="81516" marT="81516" marB="8151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24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1516" marR="81516" marT="81516" marB="8151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通信传输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1516" marR="81516" marT="81516" marB="8151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2项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1516" marR="81516" marT="81516" marB="8151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2项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1516" marR="81516" marT="81516" marB="8151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——</a:t>
                      </a:r>
                      <a:endParaRPr lang="en-US" sz="1600"/>
                    </a:p>
                  </a:txBody>
                  <a:tcPr marL="81516" marR="81516" marT="81516" marB="8151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24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1516" marR="81516" marT="81516" marB="8151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可信验证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1516" marR="81516" marT="81516" marB="8151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1项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1516" marR="81516" marT="81516" marB="8151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0项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1516" marR="81516" marT="81516" marB="8151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未部署可信计算模块</a:t>
                      </a:r>
                      <a:endParaRPr lang="en-US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1516" marR="81516" marT="81516" marB="8151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2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测评方案模板（第五章 测评指标 上）</a:t>
            </a:r>
            <a:endParaRPr lang="en-US" sz="276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447800"/>
            <a:ext cx="121920" cy="3048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853440" y="1371600"/>
            <a:ext cx="23713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5.3 安全区域边界</a:t>
            </a:r>
            <a:endParaRPr lang="en-US" sz="2400" dirty="0"/>
          </a:p>
        </p:txBody>
      </p:sp>
      <p:sp>
        <p:nvSpPr>
          <p:cNvPr id="7" name="Text 1"/>
          <p:cNvSpPr/>
          <p:nvPr/>
        </p:nvSpPr>
        <p:spPr>
          <a:xfrm>
            <a:off x="3337560" y="1447800"/>
            <a:ext cx="24780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666666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（共6个子类，全部适用）</a:t>
            </a:r>
            <a:endParaRPr lang="en-US" sz="168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9360" y="1447800"/>
            <a:ext cx="121920" cy="30480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6553200" y="1371600"/>
            <a:ext cx="2371344" cy="4419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5.4 安全计算环境</a:t>
            </a:r>
            <a:endParaRPr lang="en-US" sz="2400" dirty="0"/>
          </a:p>
        </p:txBody>
      </p:sp>
      <p:sp>
        <p:nvSpPr>
          <p:cNvPr id="10" name="Text 3"/>
          <p:cNvSpPr/>
          <p:nvPr/>
        </p:nvSpPr>
        <p:spPr>
          <a:xfrm>
            <a:off x="9037320" y="1447800"/>
            <a:ext cx="1411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666666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（1项不适用）</a:t>
            </a:r>
            <a:endParaRPr lang="en-US" sz="1680" dirty="0"/>
          </a:p>
        </p:txBody>
      </p:sp>
      <p:pic>
        <p:nvPicPr>
          <p:cNvPr id="11" name="Image 5" descr="https://test.web.static.jianzeppt.com/ppt-temp-img3/98e6a5c1b10feba76ff3d5ee9a5fdd2d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937760"/>
            <a:ext cx="3535680" cy="51816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708660" y="4991100"/>
            <a:ext cx="1580515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5.5 安全管理中心</a:t>
            </a:r>
            <a:endParaRPr lang="en-US" sz="1600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13" name="Text 5"/>
          <p:cNvSpPr/>
          <p:nvPr/>
        </p:nvSpPr>
        <p:spPr>
          <a:xfrm>
            <a:off x="2342515" y="5025390"/>
            <a:ext cx="1704975" cy="3225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共4个子类，全部适用</a:t>
            </a:r>
            <a:endParaRPr lang="en-US" sz="1400" dirty="0">
              <a:solidFill>
                <a:srgbClr val="555555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14" name="Image 6" descr="https://test.web.static.jianzeppt.com/ppt-temp-img3/98e6a5c1b10feba76ff3d5ee9a5fdd2d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8160" y="4937760"/>
            <a:ext cx="3535680" cy="51816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4427855" y="4991100"/>
            <a:ext cx="1580515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5.6 安全管理制度</a:t>
            </a:r>
            <a:endParaRPr lang="en-US" sz="1600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16" name="Text 7"/>
          <p:cNvSpPr/>
          <p:nvPr/>
        </p:nvSpPr>
        <p:spPr>
          <a:xfrm>
            <a:off x="6054090" y="5025390"/>
            <a:ext cx="1704975" cy="3225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共4个子类，全部适用</a:t>
            </a:r>
            <a:endParaRPr lang="en-US" sz="1400" dirty="0">
              <a:solidFill>
                <a:srgbClr val="555555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17" name="Image 7" descr="https://test.web.static.jianzeppt.com/ppt-temp-img3/98e6a5c1b10feba76ff3d5ee9a5fdd2d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4937760"/>
            <a:ext cx="3535680" cy="51816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8117205" y="4991100"/>
            <a:ext cx="1580515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5.7 安全管理机构</a:t>
            </a:r>
            <a:endParaRPr lang="en-US" sz="1600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19" name="Text 9"/>
          <p:cNvSpPr/>
          <p:nvPr/>
        </p:nvSpPr>
        <p:spPr>
          <a:xfrm>
            <a:off x="9772650" y="5025390"/>
            <a:ext cx="1704975" cy="3225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共5个子类，全部适用</a:t>
            </a:r>
            <a:endParaRPr lang="en-US" sz="1400" dirty="0">
              <a:solidFill>
                <a:srgbClr val="555555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20" name="Image 8" descr="https://test.web.static.jianzeppt.com/ppt-temp-img3/98e6a5c1b10feba76ff3d5ee9a5fdd2d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5638800"/>
            <a:ext cx="3535680" cy="518160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708660" y="5684520"/>
            <a:ext cx="1580515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5.8 安全管理人员</a:t>
            </a:r>
            <a:endParaRPr lang="en-US" sz="1600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2" name="Text 11"/>
          <p:cNvSpPr/>
          <p:nvPr/>
        </p:nvSpPr>
        <p:spPr>
          <a:xfrm>
            <a:off x="2342515" y="5711190"/>
            <a:ext cx="1704975" cy="3225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共4个子类，全部适用</a:t>
            </a:r>
            <a:endParaRPr lang="en-US" sz="1400" dirty="0">
              <a:solidFill>
                <a:srgbClr val="555555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23" name="Image 9" descr="https://test.web.static.jianzeppt.com/ppt-temp-img3/98e6a5c1b10feba76ff3d5ee9a5fdd2d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8160" y="5638800"/>
            <a:ext cx="3535680" cy="518160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4427855" y="5684520"/>
            <a:ext cx="1580515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5.9 安全建设管理</a:t>
            </a:r>
            <a:endParaRPr lang="en-US" sz="1600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5" name="Text 13"/>
          <p:cNvSpPr/>
          <p:nvPr/>
        </p:nvSpPr>
        <p:spPr>
          <a:xfrm>
            <a:off x="6054090" y="5711190"/>
            <a:ext cx="1809750" cy="3225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共10个子类，全部适用</a:t>
            </a:r>
            <a:endParaRPr lang="en-US" sz="1400" dirty="0">
              <a:solidFill>
                <a:srgbClr val="555555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26" name="Image 10" descr="https://test.web.static.jianzeppt.com/ppt-temp-img3/98e6a5c1b10feba76ff3d5ee9a5fdd2d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5638800"/>
            <a:ext cx="3535680" cy="518160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8117205" y="5684520"/>
            <a:ext cx="170053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5.10 安全运维管理</a:t>
            </a:r>
            <a:endParaRPr lang="en-US" sz="1600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8" name="Text 15"/>
          <p:cNvSpPr/>
          <p:nvPr/>
        </p:nvSpPr>
        <p:spPr>
          <a:xfrm>
            <a:off x="9772650" y="5711190"/>
            <a:ext cx="1809750" cy="3225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共14个子类，全部适用</a:t>
            </a:r>
            <a:endParaRPr lang="en-US" sz="1400" dirty="0">
              <a:solidFill>
                <a:srgbClr val="555555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29" name="Image 11" descr="https://test.web.static.jianzeppt.com/ppt-temp-img3/0333ea3c4282a940121bc5d21deea828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950720"/>
            <a:ext cx="5273040" cy="2743200"/>
          </a:xfrm>
          <a:prstGeom prst="rect">
            <a:avLst/>
          </a:prstGeom>
        </p:spPr>
      </p:pic>
      <p:graphicFrame>
        <p:nvGraphicFramePr>
          <p:cNvPr id="30" name="Table 0"/>
          <p:cNvGraphicFramePr>
            <a:graphicFrameLocks noGrp="1"/>
          </p:cNvGraphicFramePr>
          <p:nvPr/>
        </p:nvGraphicFramePr>
        <p:xfrm>
          <a:off x="868680" y="2042795"/>
          <a:ext cx="4861560" cy="2891790"/>
        </p:xfrm>
        <a:graphic>
          <a:graphicData uri="http://schemas.openxmlformats.org/drawingml/2006/table">
            <a:tbl>
              <a:tblPr/>
              <a:tblGrid>
                <a:gridCol w="530860"/>
                <a:gridCol w="1684655"/>
                <a:gridCol w="651510"/>
                <a:gridCol w="659130"/>
                <a:gridCol w="1335405"/>
              </a:tblGrid>
              <a:tr h="2322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  <a:endParaRPr 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子类名称</a:t>
                      </a:r>
                      <a:endParaRPr 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三级要求项数</a:t>
                      </a:r>
                      <a:endParaRPr 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适用项数</a:t>
                      </a:r>
                      <a:endParaRPr 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不适用理由</a:t>
                      </a:r>
                      <a:endParaRPr 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22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边界防护</a:t>
                      </a:r>
                      <a:endParaRPr 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4项</a:t>
                      </a:r>
                      <a:endParaRPr 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4项</a:t>
                      </a:r>
                      <a:endParaRPr 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22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访问控制</a:t>
                      </a:r>
                      <a:endParaRPr 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5项</a:t>
                      </a:r>
                      <a:endParaRPr 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5项</a:t>
                      </a:r>
                      <a:endParaRPr 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22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入侵防范</a:t>
                      </a:r>
                      <a:endParaRPr 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4项</a:t>
                      </a:r>
                      <a:endParaRPr 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4项</a:t>
                      </a:r>
                      <a:endParaRPr 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22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恶意代码和垃圾邮件防范</a:t>
                      </a:r>
                      <a:endParaRPr 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2项</a:t>
                      </a:r>
                      <a:endParaRPr 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2项</a:t>
                      </a:r>
                      <a:endParaRPr 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22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安全审计</a:t>
                      </a:r>
                      <a:endParaRPr 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4项</a:t>
                      </a:r>
                      <a:endParaRPr 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4项</a:t>
                      </a:r>
                      <a:endParaRPr 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22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可信验证</a:t>
                      </a:r>
                      <a:endParaRPr 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1项</a:t>
                      </a:r>
                      <a:endParaRPr 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0项</a:t>
                      </a:r>
                      <a:endParaRPr 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未部署可信计算模块</a:t>
                      </a:r>
                      <a:endParaRPr 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0217" marR="60217" marT="60217" marB="60217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31" name="Image 12" descr="https://test.web.static.jianzeppt.com/ppt-temp-img3/0333ea3c4282a940121bc5d21deea828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1950720"/>
            <a:ext cx="5273040" cy="2743200"/>
          </a:xfrm>
          <a:prstGeom prst="rect">
            <a:avLst/>
          </a:prstGeom>
        </p:spPr>
      </p:pic>
      <p:graphicFrame>
        <p:nvGraphicFramePr>
          <p:cNvPr id="43" name="Table 1"/>
          <p:cNvGraphicFramePr>
            <a:graphicFrameLocks noGrp="1"/>
          </p:cNvGraphicFramePr>
          <p:nvPr/>
        </p:nvGraphicFramePr>
        <p:xfrm>
          <a:off x="6553200" y="2057400"/>
          <a:ext cx="4906010" cy="2560320"/>
        </p:xfrm>
        <a:graphic>
          <a:graphicData uri="http://schemas.openxmlformats.org/drawingml/2006/table">
            <a:tbl>
              <a:tblPr/>
              <a:tblGrid>
                <a:gridCol w="332740"/>
                <a:gridCol w="1167130"/>
                <a:gridCol w="1015365"/>
                <a:gridCol w="985520"/>
                <a:gridCol w="1405255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序号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子类名称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三级要求项数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适用项数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不适用理由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身份鉴别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4项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4项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/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访问控制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7项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7项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/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安全审计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4项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4项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/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入侵防范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6项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6项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/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恶意代码防范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1项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1项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/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**可信验证**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1项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**0项**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未部署可信计算模块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数据完整性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2项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2项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/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数据保密性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2项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2项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/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数据备份恢复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3项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3项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/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剩余信息保护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2项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2项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/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个人信息保护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2项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2项</a:t>
                      </a:r>
                      <a:endParaRPr lang="en-US" sz="1000" dirty="0">
                        <a:solidFill>
                          <a:srgbClr val="000000"/>
                        </a:solidFill>
                      </a:endParaRPr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000"/>
                    </a:p>
                  </a:txBody>
                  <a:tcPr marL="30606" marR="30606" marT="30606" marB="30606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 16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测评方案模板（第五章 测评指标 下）</a:t>
            </a:r>
            <a:endParaRPr lang="en-US" sz="276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371600"/>
            <a:ext cx="10981944" cy="41148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6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第6章 测评方法：本次测评采用以下三种方法</a:t>
            </a:r>
            <a:endParaRPr lang="en-US" sz="2160" dirty="0"/>
          </a:p>
        </p:txBody>
      </p:sp>
      <p:pic>
        <p:nvPicPr>
          <p:cNvPr id="6" name="Image 3" descr="https://test.web.static.jianzeppt.com/ppt-temp-img3/4a0c780782930af06a86e03451cc45f7.png?x-oss-process=image/resize,w_1440,h_800,m_lfit/format,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09600" y="2026920"/>
            <a:ext cx="3505200" cy="41148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74520" y="2286000"/>
            <a:ext cx="975360" cy="85344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8" name="Text 1"/>
          <p:cNvSpPr/>
          <p:nvPr>
            <p:custDataLst>
              <p:tags r:id="rId9"/>
            </p:custDataLst>
          </p:nvPr>
        </p:nvSpPr>
        <p:spPr>
          <a:xfrm>
            <a:off x="2103120" y="2453640"/>
            <a:ext cx="52730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6.1</a:t>
            </a:r>
            <a:endParaRPr lang="en-US" sz="2640" dirty="0"/>
          </a:p>
        </p:txBody>
      </p:sp>
      <p:pic>
        <p:nvPicPr>
          <p:cNvPr id="9" name="Image 5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15440" y="3352800"/>
            <a:ext cx="365760" cy="365760"/>
          </a:xfrm>
          <a:prstGeom prst="rect">
            <a:avLst/>
          </a:prstGeom>
        </p:spPr>
      </p:pic>
      <p:sp>
        <p:nvSpPr>
          <p:cNvPr id="10" name="Text 2"/>
          <p:cNvSpPr/>
          <p:nvPr>
            <p:custDataLst>
              <p:tags r:id="rId13"/>
            </p:custDataLst>
          </p:nvPr>
        </p:nvSpPr>
        <p:spPr>
          <a:xfrm>
            <a:off x="2103120" y="3291840"/>
            <a:ext cx="103022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访谈法</a:t>
            </a:r>
            <a:endParaRPr lang="en-US" sz="2640" dirty="0"/>
          </a:p>
        </p:txBody>
      </p:sp>
      <p:sp>
        <p:nvSpPr>
          <p:cNvPr id="11" name="Text 3"/>
          <p:cNvSpPr/>
          <p:nvPr>
            <p:custDataLst>
              <p:tags r:id="rId14"/>
            </p:custDataLst>
          </p:nvPr>
        </p:nvSpPr>
        <p:spPr>
          <a:xfrm>
            <a:off x="868680" y="3886200"/>
            <a:ext cx="3110230" cy="9848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思源黑体 CN" panose="020B0800000000000000" pitchFamily="34" charset="-120"/>
              </a:rPr>
              <a:t>对系统管理人员、运维人员、安全负责人等进行面对面访谈，了解安全管理制度的执行情况、安全措施的落实情况。</a:t>
            </a:r>
            <a:endParaRPr lang="en-US" sz="1600" dirty="0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思源黑体 CN" panose="020B0800000000000000" pitchFamily="34" charset="-120"/>
            </a:endParaRPr>
          </a:p>
        </p:txBody>
      </p:sp>
      <p:sp>
        <p:nvSpPr>
          <p:cNvPr id="12" name="Text 4"/>
          <p:cNvSpPr/>
          <p:nvPr>
            <p:custDataLst>
              <p:tags r:id="rId15"/>
            </p:custDataLst>
          </p:nvPr>
        </p:nvSpPr>
        <p:spPr>
          <a:xfrm>
            <a:off x="858520" y="5082540"/>
            <a:ext cx="1016000" cy="2457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思源黑体 CN" panose="020B0800000000000000" pitchFamily="34" charset="-120"/>
              </a:rPr>
              <a:t>访谈对象：</a:t>
            </a:r>
            <a:endParaRPr lang="en-US" sz="1600" dirty="0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思源黑体 CN" panose="020B0800000000000000" pitchFamily="34" charset="-120"/>
            </a:endParaRPr>
          </a:p>
        </p:txBody>
      </p:sp>
      <p:sp>
        <p:nvSpPr>
          <p:cNvPr id="13" name="Text 5"/>
          <p:cNvSpPr/>
          <p:nvPr/>
        </p:nvSpPr>
        <p:spPr>
          <a:xfrm>
            <a:off x="876300" y="5334000"/>
            <a:ext cx="2996184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1450" indent="-171450"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思源黑体 CN" panose="020B0800000000000000" pitchFamily="34" charset="-120"/>
              </a:rPr>
              <a:t>系统管理员（2人）</a:t>
            </a:r>
            <a:endParaRPr lang="en-US" sz="1200" dirty="0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思源黑体 CN" panose="020B0800000000000000" pitchFamily="34" charset="-120"/>
            </a:endParaRPr>
          </a:p>
          <a:p>
            <a:pPr marL="171450" indent="-171450"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思源黑体 CN" panose="020B0800000000000000" pitchFamily="34" charset="-120"/>
              </a:rPr>
              <a:t>安全管理员（1人）</a:t>
            </a:r>
            <a:endParaRPr lang="en-US" sz="1200" dirty="0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思源黑体 CN" panose="020B0800000000000000" pitchFamily="34" charset="-120"/>
            </a:endParaRPr>
          </a:p>
          <a:p>
            <a:pPr marL="171450" indent="-171450"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思源黑体 CN" panose="020B0800000000000000" pitchFamily="34" charset="-120"/>
              </a:rPr>
              <a:t>数据库管理员（1人）</a:t>
            </a:r>
            <a:endParaRPr lang="en-US" sz="1200" dirty="0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思源黑体 CN" panose="020B0800000000000000" pitchFamily="34" charset="-120"/>
            </a:endParaRPr>
          </a:p>
          <a:p>
            <a:pPr marL="171450" indent="-171450"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思源黑体 CN" panose="020B0800000000000000" pitchFamily="34" charset="-120"/>
              </a:rPr>
              <a:t>网络管理员（1人）</a:t>
            </a:r>
            <a:endParaRPr lang="en-US" sz="1200" dirty="0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思源黑体 CN" panose="020B0800000000000000" pitchFamily="34" charset="-120"/>
            </a:endParaRPr>
          </a:p>
        </p:txBody>
      </p:sp>
      <p:pic>
        <p:nvPicPr>
          <p:cNvPr id="14" name="Image 6" descr="https://test.web.static.jianzeppt.com/ppt-temp-img3/4a0c780782930af06a86e03451cc45f7.png?x-oss-process=image/resize,w_1440,h_800,m_lfit/format,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343400" y="2026920"/>
            <a:ext cx="3505200" cy="4114800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08320" y="2286000"/>
            <a:ext cx="975360" cy="85344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16" name="Text 6"/>
          <p:cNvSpPr/>
          <p:nvPr>
            <p:custDataLst>
              <p:tags r:id="rId18"/>
            </p:custDataLst>
          </p:nvPr>
        </p:nvSpPr>
        <p:spPr>
          <a:xfrm>
            <a:off x="5836920" y="2453640"/>
            <a:ext cx="52730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6.2</a:t>
            </a:r>
            <a:endParaRPr lang="en-US" sz="2640" dirty="0"/>
          </a:p>
        </p:txBody>
      </p:sp>
      <p:pic>
        <p:nvPicPr>
          <p:cNvPr id="17" name="Image 8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349240" y="3352800"/>
            <a:ext cx="365760" cy="365760"/>
          </a:xfrm>
          <a:prstGeom prst="rect">
            <a:avLst/>
          </a:prstGeom>
        </p:spPr>
      </p:pic>
      <p:sp>
        <p:nvSpPr>
          <p:cNvPr id="18" name="Text 7"/>
          <p:cNvSpPr/>
          <p:nvPr>
            <p:custDataLst>
              <p:tags r:id="rId22"/>
            </p:custDataLst>
          </p:nvPr>
        </p:nvSpPr>
        <p:spPr>
          <a:xfrm>
            <a:off x="5836920" y="3291840"/>
            <a:ext cx="103022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核查法</a:t>
            </a:r>
            <a:endParaRPr lang="en-US" sz="2640" dirty="0"/>
          </a:p>
        </p:txBody>
      </p:sp>
      <p:sp>
        <p:nvSpPr>
          <p:cNvPr id="19" name="Text 8"/>
          <p:cNvSpPr/>
          <p:nvPr>
            <p:custDataLst>
              <p:tags r:id="rId23"/>
            </p:custDataLst>
          </p:nvPr>
        </p:nvSpPr>
        <p:spPr>
          <a:xfrm>
            <a:off x="4602480" y="3901440"/>
            <a:ext cx="3110230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（1）上机核查：</a:t>
            </a:r>
            <a:r>
              <a:rPr lang="en-US" sz="1600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登录网络设备、安全设备、主机、数据库，查看配置参数， 对照标准进行符合性判断；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 9"/>
          <p:cNvSpPr/>
          <p:nvPr>
            <p:custDataLst>
              <p:tags r:id="rId24"/>
            </p:custDataLst>
          </p:nvPr>
        </p:nvSpPr>
        <p:spPr>
          <a:xfrm>
            <a:off x="4610100" y="4639945"/>
            <a:ext cx="3110230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（2）文档查阅：</a:t>
            </a:r>
            <a:r>
              <a:rPr lang="en-US" sz="1600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查阅安全管理制度文件、运维记录、备份记录等文档资料；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Image 9" descr="https://test.web.static.jianzeppt.com/ppt-temp-img3/4a0c780782930af06a86e03451cc45f7.png?x-oss-process=image/resize,w_1440,h_800,m_lfit/format,png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092440" y="2026920"/>
            <a:ext cx="3505200" cy="4114800"/>
          </a:xfrm>
          <a:prstGeom prst="rect">
            <a:avLst/>
          </a:prstGeom>
        </p:spPr>
      </p:pic>
      <p:pic>
        <p:nvPicPr>
          <p:cNvPr id="22" name="Image 10" descr="preencoded.png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42120" y="2286000"/>
            <a:ext cx="975360" cy="85344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sp>
        <p:nvSpPr>
          <p:cNvPr id="23" name="Text 10"/>
          <p:cNvSpPr/>
          <p:nvPr>
            <p:custDataLst>
              <p:tags r:id="rId27"/>
            </p:custDataLst>
          </p:nvPr>
        </p:nvSpPr>
        <p:spPr>
          <a:xfrm>
            <a:off x="9585960" y="2453640"/>
            <a:ext cx="527304" cy="4876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6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6.3</a:t>
            </a:r>
            <a:endParaRPr lang="en-US" sz="2640" dirty="0"/>
          </a:p>
        </p:txBody>
      </p:sp>
      <p:pic>
        <p:nvPicPr>
          <p:cNvPr id="24" name="Image 11" descr="preencoded.png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083040" y="3352800"/>
            <a:ext cx="365760" cy="365760"/>
          </a:xfrm>
          <a:prstGeom prst="rect">
            <a:avLst/>
          </a:prstGeom>
        </p:spPr>
      </p:pic>
      <p:sp>
        <p:nvSpPr>
          <p:cNvPr id="25" name="Text 11"/>
          <p:cNvSpPr/>
          <p:nvPr>
            <p:custDataLst>
              <p:tags r:id="rId31"/>
            </p:custDataLst>
          </p:nvPr>
        </p:nvSpPr>
        <p:spPr>
          <a:xfrm>
            <a:off x="9570720" y="3291840"/>
            <a:ext cx="103022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测试法</a:t>
            </a:r>
            <a:endParaRPr lang="en-US" sz="2640" dirty="0"/>
          </a:p>
        </p:txBody>
      </p:sp>
      <p:sp>
        <p:nvSpPr>
          <p:cNvPr id="26" name="Text 12"/>
          <p:cNvSpPr/>
          <p:nvPr>
            <p:custDataLst>
              <p:tags r:id="rId32"/>
            </p:custDataLst>
          </p:nvPr>
        </p:nvSpPr>
        <p:spPr>
          <a:xfrm>
            <a:off x="8351520" y="3901440"/>
            <a:ext cx="3110230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（1）漏洞扫描：</a:t>
            </a:r>
            <a:r>
              <a:rPr lang="en-US" sz="1600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使用Nessus/OpenVAS对目标系统进行漏洞扫描；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 13"/>
          <p:cNvSpPr/>
          <p:nvPr>
            <p:custDataLst>
              <p:tags r:id="rId33"/>
            </p:custDataLst>
          </p:nvPr>
        </p:nvSpPr>
        <p:spPr>
          <a:xfrm>
            <a:off x="8319770" y="4671060"/>
            <a:ext cx="311023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（2）配置核查：</a:t>
            </a:r>
            <a:r>
              <a:rPr lang="en-US" sz="1600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使用配置核查工具对主机、数据库进行基线核查；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测评方案模板（第六章 测评方法）</a:t>
            </a:r>
            <a:endParaRPr lang="en-US" sz="2760" dirty="0"/>
          </a:p>
        </p:txBody>
      </p:sp>
      <p:sp>
        <p:nvSpPr>
          <p:cNvPr id="29" name="文本框 28"/>
          <p:cNvSpPr txBox="1"/>
          <p:nvPr/>
        </p:nvSpPr>
        <p:spPr>
          <a:xfrm>
            <a:off x="4511040" y="5347970"/>
            <a:ext cx="322961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（3）现场观察：</a:t>
            </a:r>
            <a:r>
              <a:rPr lang="zh-CN" altLang="en-US" sz="1600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实地查看机房物理环境、设备标识、线缆布设等。</a:t>
            </a:r>
            <a:endParaRPr lang="zh-CN" altLang="en-US" sz="1600" dirty="0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0" name="Text 13"/>
          <p:cNvSpPr/>
          <p:nvPr>
            <p:custDataLst>
              <p:tags r:id="rId34"/>
            </p:custDataLst>
          </p:nvPr>
        </p:nvSpPr>
        <p:spPr>
          <a:xfrm>
            <a:off x="8321040" y="5212080"/>
            <a:ext cx="3042920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 b="1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（3）功能验证：</a:t>
            </a:r>
            <a:r>
              <a:rPr lang="en-US" sz="1600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对应用系统身份鉴别、访问控制等功能进行人工验证。</a:t>
            </a:r>
            <a:endParaRPr lang="en-US" sz="1600" dirty="0">
              <a:solidFill>
                <a:srgbClr val="3741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850a3eaa24e8671ef157b79113609359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71600"/>
            <a:ext cx="2057400" cy="4876800"/>
          </a:xfrm>
          <a:prstGeom prst="rect">
            <a:avLst/>
          </a:prstGeom>
        </p:spPr>
      </p:pic>
      <p:pic>
        <p:nvPicPr>
          <p:cNvPr id="6" name="Image 4" descr="https://test.web.static.jianzeppt.com/ppt-temp-img3/815d17bc66d0e2bfc273213474c2066c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" y="1386840"/>
            <a:ext cx="2026920" cy="6096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22960" y="1508760"/>
            <a:ext cx="16245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第1天（周一）</a:t>
            </a:r>
            <a:endParaRPr lang="en-US" sz="1920" dirty="0"/>
          </a:p>
        </p:txBody>
      </p:sp>
      <p:pic>
        <p:nvPicPr>
          <p:cNvPr id="8" name="Image 5" descr="https://test.web.static.jianzeppt.com/ppt-temp-img3/ab0129a4200c6053d589d1f7006b155d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148840"/>
            <a:ext cx="1234440" cy="33528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868680" y="2179320"/>
            <a:ext cx="10607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09:00-10:00</a:t>
            </a:r>
            <a:endParaRPr lang="en-US" sz="1440" dirty="0"/>
          </a:p>
        </p:txBody>
      </p:sp>
      <p:sp>
        <p:nvSpPr>
          <p:cNvPr id="10" name="Text 2"/>
          <p:cNvSpPr/>
          <p:nvPr/>
        </p:nvSpPr>
        <p:spPr>
          <a:xfrm>
            <a:off x="2118360" y="2179320"/>
            <a:ext cx="3901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全员</a:t>
            </a:r>
            <a:endParaRPr lang="en-US" sz="1440" dirty="0"/>
          </a:p>
        </p:txBody>
      </p:sp>
      <p:sp>
        <p:nvSpPr>
          <p:cNvPr id="11" name="Text 3"/>
          <p:cNvSpPr/>
          <p:nvPr/>
        </p:nvSpPr>
        <p:spPr>
          <a:xfrm>
            <a:off x="777240" y="2575560"/>
            <a:ext cx="1731264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1F2937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项目启动会、签保密协议</a:t>
            </a:r>
            <a:endParaRPr lang="en-US" sz="1680" dirty="0"/>
          </a:p>
        </p:txBody>
      </p:sp>
      <p:pic>
        <p:nvPicPr>
          <p:cNvPr id="12" name="Image 6" descr="https://test.web.static.jianzeppt.com/ppt-temp-img3/411a1499fecf22f111028cd587913c3e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299460"/>
            <a:ext cx="1712824" cy="15240"/>
          </a:xfrm>
          <a:prstGeom prst="rect">
            <a:avLst/>
          </a:prstGeom>
        </p:spPr>
      </p:pic>
      <p:pic>
        <p:nvPicPr>
          <p:cNvPr id="13" name="Image 7" descr="https://test.web.static.jianzeppt.com/ppt-temp-img3/ab0129a4200c6053d589d1f7006b155d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459480"/>
            <a:ext cx="1234440" cy="33528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868680" y="3489960"/>
            <a:ext cx="10607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10:00-12:00</a:t>
            </a:r>
            <a:endParaRPr lang="en-US" sz="1440" dirty="0"/>
          </a:p>
        </p:txBody>
      </p:sp>
      <p:sp>
        <p:nvSpPr>
          <p:cNvPr id="15" name="Text 5"/>
          <p:cNvSpPr/>
          <p:nvPr/>
        </p:nvSpPr>
        <p:spPr>
          <a:xfrm>
            <a:off x="2194560" y="3489960"/>
            <a:ext cx="3139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A组</a:t>
            </a:r>
            <a:endParaRPr lang="en-US" sz="1440" dirty="0"/>
          </a:p>
        </p:txBody>
      </p:sp>
      <p:sp>
        <p:nvSpPr>
          <p:cNvPr id="16" name="Text 6"/>
          <p:cNvSpPr/>
          <p:nvPr/>
        </p:nvSpPr>
        <p:spPr>
          <a:xfrm>
            <a:off x="777240" y="3886200"/>
            <a:ext cx="1731264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1F2937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物理环境核查、安全管理文档查阅</a:t>
            </a:r>
            <a:endParaRPr lang="en-US" sz="1680" dirty="0"/>
          </a:p>
        </p:txBody>
      </p:sp>
      <p:pic>
        <p:nvPicPr>
          <p:cNvPr id="17" name="Image 8" descr="https://test.web.static.jianzeppt.com/ppt-temp-img3/411a1499fecf22f111028cd587913c3e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602480"/>
            <a:ext cx="1712824" cy="15240"/>
          </a:xfrm>
          <a:prstGeom prst="rect">
            <a:avLst/>
          </a:prstGeom>
        </p:spPr>
      </p:pic>
      <p:pic>
        <p:nvPicPr>
          <p:cNvPr id="18" name="Image 9" descr="https://test.web.static.jianzeppt.com/ppt-temp-img3/ab0129a4200c6053d589d1f7006b155d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754880"/>
            <a:ext cx="1234440" cy="335280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868680" y="4785360"/>
            <a:ext cx="10607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14:00-17:00</a:t>
            </a:r>
            <a:endParaRPr lang="en-US" sz="1440" dirty="0"/>
          </a:p>
        </p:txBody>
      </p:sp>
      <p:sp>
        <p:nvSpPr>
          <p:cNvPr id="20" name="Text 8"/>
          <p:cNvSpPr/>
          <p:nvPr/>
        </p:nvSpPr>
        <p:spPr>
          <a:xfrm>
            <a:off x="2194560" y="4785360"/>
            <a:ext cx="3139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B组</a:t>
            </a:r>
            <a:endParaRPr lang="en-US" sz="1440" dirty="0"/>
          </a:p>
        </p:txBody>
      </p:sp>
      <p:sp>
        <p:nvSpPr>
          <p:cNvPr id="21" name="Text 9"/>
          <p:cNvSpPr/>
          <p:nvPr/>
        </p:nvSpPr>
        <p:spPr>
          <a:xfrm>
            <a:off x="777240" y="5181600"/>
            <a:ext cx="1731264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1F2937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人员访谈（管理类）</a:t>
            </a:r>
            <a:endParaRPr lang="en-US" sz="1680" dirty="0"/>
          </a:p>
        </p:txBody>
      </p:sp>
      <p:pic>
        <p:nvPicPr>
          <p:cNvPr id="22" name="Image 10" descr="https://test.web.static.jianzeppt.com/ppt-temp-img3/850a3eaa24e8671ef157b79113609359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1371600"/>
            <a:ext cx="2057400" cy="4876800"/>
          </a:xfrm>
          <a:prstGeom prst="rect">
            <a:avLst/>
          </a:prstGeom>
        </p:spPr>
      </p:pic>
      <p:pic>
        <p:nvPicPr>
          <p:cNvPr id="23" name="Image 11" descr="https://test.web.static.jianzeppt.com/ppt-temp-img3/bf1d411be4674b05a1434d1e69823be4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9880" y="1386840"/>
            <a:ext cx="2026920" cy="609600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3063240" y="1508760"/>
            <a:ext cx="16245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第2天（周二）</a:t>
            </a:r>
            <a:endParaRPr lang="en-US" sz="1920" dirty="0"/>
          </a:p>
        </p:txBody>
      </p:sp>
      <p:pic>
        <p:nvPicPr>
          <p:cNvPr id="25" name="Image 12" descr="https://test.web.static.jianzeppt.com/ppt-temp-img3/ab0129a4200c6053d589d1f7006b155d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2280" y="2148840"/>
            <a:ext cx="1234440" cy="335280"/>
          </a:xfrm>
          <a:prstGeom prst="rect">
            <a:avLst/>
          </a:prstGeom>
        </p:spPr>
      </p:pic>
      <p:sp>
        <p:nvSpPr>
          <p:cNvPr id="26" name="Text 11"/>
          <p:cNvSpPr/>
          <p:nvPr/>
        </p:nvSpPr>
        <p:spPr>
          <a:xfrm>
            <a:off x="3093720" y="2179320"/>
            <a:ext cx="10607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09:00-12:00</a:t>
            </a:r>
            <a:endParaRPr lang="en-US" sz="1440" dirty="0"/>
          </a:p>
        </p:txBody>
      </p:sp>
      <p:sp>
        <p:nvSpPr>
          <p:cNvPr id="27" name="Text 12"/>
          <p:cNvSpPr/>
          <p:nvPr/>
        </p:nvSpPr>
        <p:spPr>
          <a:xfrm>
            <a:off x="4434840" y="2179320"/>
            <a:ext cx="3139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A组</a:t>
            </a:r>
            <a:endParaRPr lang="en-US" sz="1440" dirty="0"/>
          </a:p>
        </p:txBody>
      </p:sp>
      <p:sp>
        <p:nvSpPr>
          <p:cNvPr id="28" name="Text 13"/>
          <p:cNvSpPr/>
          <p:nvPr/>
        </p:nvSpPr>
        <p:spPr>
          <a:xfrm>
            <a:off x="3002280" y="2575560"/>
            <a:ext cx="1731264" cy="88392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1F2937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网络设备配置核查（路由器、交换机）</a:t>
            </a:r>
            <a:endParaRPr lang="en-US" sz="1680" dirty="0"/>
          </a:p>
        </p:txBody>
      </p:sp>
      <p:pic>
        <p:nvPicPr>
          <p:cNvPr id="29" name="Image 13" descr="https://test.web.static.jianzeppt.com/ppt-temp-img3/04fadaafcaf47084cbdbf2a7926e7a27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8224" y="3592830"/>
            <a:ext cx="1713128" cy="15240"/>
          </a:xfrm>
          <a:prstGeom prst="rect">
            <a:avLst/>
          </a:prstGeom>
        </p:spPr>
      </p:pic>
      <p:pic>
        <p:nvPicPr>
          <p:cNvPr id="30" name="Image 14" descr="https://test.web.static.jianzeppt.com/ppt-temp-img3/ab0129a4200c6053d589d1f7006b155d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2280" y="3749040"/>
            <a:ext cx="1234440" cy="335280"/>
          </a:xfrm>
          <a:prstGeom prst="rect">
            <a:avLst/>
          </a:prstGeom>
        </p:spPr>
      </p:pic>
      <p:sp>
        <p:nvSpPr>
          <p:cNvPr id="31" name="Text 14"/>
          <p:cNvSpPr/>
          <p:nvPr/>
        </p:nvSpPr>
        <p:spPr>
          <a:xfrm>
            <a:off x="3093720" y="3779520"/>
            <a:ext cx="10607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14:00-17:00</a:t>
            </a:r>
            <a:endParaRPr lang="en-US" sz="1440" dirty="0"/>
          </a:p>
        </p:txBody>
      </p:sp>
      <p:sp>
        <p:nvSpPr>
          <p:cNvPr id="32" name="Text 15"/>
          <p:cNvSpPr/>
          <p:nvPr/>
        </p:nvSpPr>
        <p:spPr>
          <a:xfrm>
            <a:off x="4434840" y="3779520"/>
            <a:ext cx="3139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A组</a:t>
            </a:r>
            <a:endParaRPr lang="en-US" sz="1440" dirty="0"/>
          </a:p>
        </p:txBody>
      </p:sp>
      <p:sp>
        <p:nvSpPr>
          <p:cNvPr id="33" name="Text 16"/>
          <p:cNvSpPr/>
          <p:nvPr/>
        </p:nvSpPr>
        <p:spPr>
          <a:xfrm>
            <a:off x="3002280" y="4175760"/>
            <a:ext cx="1731264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1F2937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安全设备核查（防火墙、WAF）</a:t>
            </a:r>
            <a:endParaRPr lang="en-US" sz="1680" dirty="0"/>
          </a:p>
        </p:txBody>
      </p:sp>
      <p:pic>
        <p:nvPicPr>
          <p:cNvPr id="34" name="Image 15" descr="https://test.web.static.jianzeppt.com/ppt-temp-img3/850a3eaa24e8671ef157b79113609359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371600"/>
            <a:ext cx="2057400" cy="4876800"/>
          </a:xfrm>
          <a:prstGeom prst="rect">
            <a:avLst/>
          </a:prstGeom>
        </p:spPr>
      </p:pic>
      <p:pic>
        <p:nvPicPr>
          <p:cNvPr id="35" name="Image 16" descr="https://test.web.static.jianzeppt.com/ppt-temp-img3/2bd5a2948d246b42f40f4322334ddb2b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0160" y="1386840"/>
            <a:ext cx="2026920" cy="609600"/>
          </a:xfrm>
          <a:prstGeom prst="rect">
            <a:avLst/>
          </a:prstGeom>
        </p:spPr>
      </p:pic>
      <p:sp>
        <p:nvSpPr>
          <p:cNvPr id="36" name="Text 17"/>
          <p:cNvSpPr/>
          <p:nvPr/>
        </p:nvSpPr>
        <p:spPr>
          <a:xfrm>
            <a:off x="5288280" y="1508760"/>
            <a:ext cx="16245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第3天（周三）</a:t>
            </a:r>
            <a:endParaRPr lang="en-US" sz="1920" dirty="0"/>
          </a:p>
        </p:txBody>
      </p:sp>
      <p:pic>
        <p:nvPicPr>
          <p:cNvPr id="37" name="Image 17" descr="https://test.web.static.jianzeppt.com/ppt-temp-img3/ab0129a4200c6053d589d1f7006b155d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2560" y="2148840"/>
            <a:ext cx="1234440" cy="335280"/>
          </a:xfrm>
          <a:prstGeom prst="rect">
            <a:avLst/>
          </a:prstGeom>
        </p:spPr>
      </p:pic>
      <p:sp>
        <p:nvSpPr>
          <p:cNvPr id="38" name="Text 18"/>
          <p:cNvSpPr/>
          <p:nvPr/>
        </p:nvSpPr>
        <p:spPr>
          <a:xfrm>
            <a:off x="5334000" y="2179320"/>
            <a:ext cx="10607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09:00-12:00</a:t>
            </a:r>
            <a:endParaRPr lang="en-US" sz="1440" dirty="0"/>
          </a:p>
        </p:txBody>
      </p:sp>
      <p:sp>
        <p:nvSpPr>
          <p:cNvPr id="39" name="Text 19"/>
          <p:cNvSpPr/>
          <p:nvPr/>
        </p:nvSpPr>
        <p:spPr>
          <a:xfrm>
            <a:off x="6659880" y="2179320"/>
            <a:ext cx="3139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A组</a:t>
            </a:r>
            <a:endParaRPr lang="en-US" sz="1440" dirty="0"/>
          </a:p>
        </p:txBody>
      </p:sp>
      <p:sp>
        <p:nvSpPr>
          <p:cNvPr id="40" name="Text 20"/>
          <p:cNvSpPr/>
          <p:nvPr/>
        </p:nvSpPr>
        <p:spPr>
          <a:xfrm>
            <a:off x="5242560" y="2575560"/>
            <a:ext cx="1731264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1F2937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主机安全基线核查（Linux）</a:t>
            </a:r>
            <a:endParaRPr lang="en-US" sz="1680" dirty="0"/>
          </a:p>
        </p:txBody>
      </p:sp>
      <p:pic>
        <p:nvPicPr>
          <p:cNvPr id="41" name="Image 18" descr="https://test.web.static.jianzeppt.com/ppt-temp-img3/411a1499fecf22f111028cd587913c3e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9512" y="3299460"/>
            <a:ext cx="1712824" cy="15240"/>
          </a:xfrm>
          <a:prstGeom prst="rect">
            <a:avLst/>
          </a:prstGeom>
        </p:spPr>
      </p:pic>
      <p:pic>
        <p:nvPicPr>
          <p:cNvPr id="42" name="Image 19" descr="https://test.web.static.jianzeppt.com/ppt-temp-img3/ab0129a4200c6053d589d1f7006b155d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2560" y="3459480"/>
            <a:ext cx="1234440" cy="335280"/>
          </a:xfrm>
          <a:prstGeom prst="rect">
            <a:avLst/>
          </a:prstGeom>
        </p:spPr>
      </p:pic>
      <p:sp>
        <p:nvSpPr>
          <p:cNvPr id="43" name="Text 21"/>
          <p:cNvSpPr/>
          <p:nvPr/>
        </p:nvSpPr>
        <p:spPr>
          <a:xfrm>
            <a:off x="5334000" y="3489960"/>
            <a:ext cx="10607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14:00-17:00</a:t>
            </a:r>
            <a:endParaRPr lang="en-US" sz="1440" dirty="0"/>
          </a:p>
        </p:txBody>
      </p:sp>
      <p:sp>
        <p:nvSpPr>
          <p:cNvPr id="44" name="Text 22"/>
          <p:cNvSpPr/>
          <p:nvPr/>
        </p:nvSpPr>
        <p:spPr>
          <a:xfrm>
            <a:off x="6659880" y="3489960"/>
            <a:ext cx="3139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A组</a:t>
            </a:r>
            <a:endParaRPr lang="en-US" sz="1440" dirty="0"/>
          </a:p>
        </p:txBody>
      </p:sp>
      <p:sp>
        <p:nvSpPr>
          <p:cNvPr id="45" name="Text 23"/>
          <p:cNvSpPr/>
          <p:nvPr/>
        </p:nvSpPr>
        <p:spPr>
          <a:xfrm>
            <a:off x="5242560" y="3886200"/>
            <a:ext cx="1731264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1F2937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主机安全基线核查（Windows）</a:t>
            </a:r>
            <a:endParaRPr lang="en-US" sz="1680" dirty="0"/>
          </a:p>
        </p:txBody>
      </p:sp>
      <p:pic>
        <p:nvPicPr>
          <p:cNvPr id="46" name="Image 20" descr="https://test.web.static.jianzeppt.com/ppt-temp-img3/850a3eaa24e8671ef157b79113609359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9960" y="1371600"/>
            <a:ext cx="2057400" cy="4876800"/>
          </a:xfrm>
          <a:prstGeom prst="rect">
            <a:avLst/>
          </a:prstGeom>
        </p:spPr>
      </p:pic>
      <p:pic>
        <p:nvPicPr>
          <p:cNvPr id="47" name="Image 21" descr="https://test.web.static.jianzeppt.com/ppt-temp-img3/8adec5e5a3396e33eb1cfa825de1c822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386840"/>
            <a:ext cx="2026920" cy="609600"/>
          </a:xfrm>
          <a:prstGeom prst="rect">
            <a:avLst/>
          </a:prstGeom>
        </p:spPr>
      </p:pic>
      <p:sp>
        <p:nvSpPr>
          <p:cNvPr id="48" name="Text 24"/>
          <p:cNvSpPr/>
          <p:nvPr/>
        </p:nvSpPr>
        <p:spPr>
          <a:xfrm>
            <a:off x="7528560" y="1508760"/>
            <a:ext cx="16245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第4天（周四）</a:t>
            </a:r>
            <a:endParaRPr lang="en-US" sz="1920" dirty="0"/>
          </a:p>
        </p:txBody>
      </p:sp>
      <p:pic>
        <p:nvPicPr>
          <p:cNvPr id="49" name="Image 22" descr="https://test.web.static.jianzeppt.com/ppt-temp-img3/ab0129a4200c6053d589d1f7006b155d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7600" y="2148840"/>
            <a:ext cx="1234440" cy="335280"/>
          </a:xfrm>
          <a:prstGeom prst="rect">
            <a:avLst/>
          </a:prstGeom>
        </p:spPr>
      </p:pic>
      <p:sp>
        <p:nvSpPr>
          <p:cNvPr id="50" name="Text 25"/>
          <p:cNvSpPr/>
          <p:nvPr/>
        </p:nvSpPr>
        <p:spPr>
          <a:xfrm>
            <a:off x="7559040" y="2179320"/>
            <a:ext cx="10607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09:00-12:00</a:t>
            </a:r>
            <a:endParaRPr lang="en-US" sz="1440" dirty="0"/>
          </a:p>
        </p:txBody>
      </p:sp>
      <p:sp>
        <p:nvSpPr>
          <p:cNvPr id="51" name="Text 26"/>
          <p:cNvSpPr/>
          <p:nvPr/>
        </p:nvSpPr>
        <p:spPr>
          <a:xfrm>
            <a:off x="8884920" y="2179320"/>
            <a:ext cx="3139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A组</a:t>
            </a:r>
            <a:endParaRPr lang="en-US" sz="1440" dirty="0"/>
          </a:p>
        </p:txBody>
      </p:sp>
      <p:sp>
        <p:nvSpPr>
          <p:cNvPr id="52" name="Text 27"/>
          <p:cNvSpPr/>
          <p:nvPr/>
        </p:nvSpPr>
        <p:spPr>
          <a:xfrm>
            <a:off x="7467600" y="2575560"/>
            <a:ext cx="1731264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1F2937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数据库安全配置核查（MySQL）</a:t>
            </a:r>
            <a:endParaRPr lang="en-US" sz="1680" dirty="0"/>
          </a:p>
        </p:txBody>
      </p:sp>
      <p:pic>
        <p:nvPicPr>
          <p:cNvPr id="53" name="Image 23" descr="https://test.web.static.jianzeppt.com/ppt-temp-img3/04fadaafcaf47084cbdbf2a7926e7a27.png?x-oss-process=image/resize,w_1440,h_800,m_lfit/format,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0496" y="3299460"/>
            <a:ext cx="1713128" cy="15240"/>
          </a:xfrm>
          <a:prstGeom prst="rect">
            <a:avLst/>
          </a:prstGeom>
        </p:spPr>
      </p:pic>
      <p:pic>
        <p:nvPicPr>
          <p:cNvPr id="54" name="Image 24" descr="https://test.web.static.jianzeppt.com/ppt-temp-img3/ab0129a4200c6053d589d1f7006b155d.png?x-oss-process=image/resize,w_1440,h_800,m_lfit/format,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7600" y="3459480"/>
            <a:ext cx="1234440" cy="335280"/>
          </a:xfrm>
          <a:prstGeom prst="rect">
            <a:avLst/>
          </a:prstGeom>
        </p:spPr>
      </p:pic>
      <p:sp>
        <p:nvSpPr>
          <p:cNvPr id="55" name="Text 28"/>
          <p:cNvSpPr/>
          <p:nvPr/>
        </p:nvSpPr>
        <p:spPr>
          <a:xfrm>
            <a:off x="7559040" y="3489960"/>
            <a:ext cx="10607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14:00-17:00</a:t>
            </a:r>
            <a:endParaRPr lang="en-US" sz="1440" dirty="0"/>
          </a:p>
        </p:txBody>
      </p:sp>
      <p:sp>
        <p:nvSpPr>
          <p:cNvPr id="56" name="Text 29"/>
          <p:cNvSpPr/>
          <p:nvPr/>
        </p:nvSpPr>
        <p:spPr>
          <a:xfrm>
            <a:off x="8884920" y="3489960"/>
            <a:ext cx="3139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A组</a:t>
            </a:r>
            <a:endParaRPr lang="en-US" sz="1440" dirty="0"/>
          </a:p>
        </p:txBody>
      </p:sp>
      <p:sp>
        <p:nvSpPr>
          <p:cNvPr id="57" name="Text 30"/>
          <p:cNvSpPr/>
          <p:nvPr/>
        </p:nvSpPr>
        <p:spPr>
          <a:xfrm>
            <a:off x="7467600" y="3886200"/>
            <a:ext cx="1731264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680" dirty="0">
                <a:solidFill>
                  <a:srgbClr val="1F2937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应用系统安全功能验证</a:t>
            </a:r>
            <a:endParaRPr lang="en-US" sz="1680" dirty="0"/>
          </a:p>
        </p:txBody>
      </p:sp>
      <p:pic>
        <p:nvPicPr>
          <p:cNvPr id="58" name="Image 25" descr="https://test.web.static.jianzeppt.com/ppt-temp-img3/850a3eaa24e8671ef157b79113609359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0240" y="1371600"/>
            <a:ext cx="2057400" cy="4876800"/>
          </a:xfrm>
          <a:prstGeom prst="rect">
            <a:avLst/>
          </a:prstGeom>
        </p:spPr>
      </p:pic>
      <p:pic>
        <p:nvPicPr>
          <p:cNvPr id="59" name="Image 26" descr="https://test.web.static.jianzeppt.com/ppt-temp-img3/a6bbe6c6743a36685ab3125ed834ef2e.png?x-oss-process=image/resize,w_1440,h_800,m_lfit/format,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0" y="1386840"/>
            <a:ext cx="2026920" cy="609600"/>
          </a:xfrm>
          <a:prstGeom prst="rect">
            <a:avLst/>
          </a:prstGeom>
        </p:spPr>
      </p:pic>
      <p:sp>
        <p:nvSpPr>
          <p:cNvPr id="60" name="Text 31"/>
          <p:cNvSpPr/>
          <p:nvPr/>
        </p:nvSpPr>
        <p:spPr>
          <a:xfrm>
            <a:off x="9753600" y="1508760"/>
            <a:ext cx="1624584" cy="36576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92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第5天（周五）</a:t>
            </a:r>
            <a:endParaRPr lang="en-US" sz="1920" dirty="0"/>
          </a:p>
        </p:txBody>
      </p:sp>
      <p:pic>
        <p:nvPicPr>
          <p:cNvPr id="61" name="Image 27" descr="https://test.web.static.jianzeppt.com/ppt-temp-img3/c997610ab56948a60ba67796ddcf1a55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7400" y="2118360"/>
            <a:ext cx="1173480" cy="335280"/>
          </a:xfrm>
          <a:prstGeom prst="rect">
            <a:avLst/>
          </a:prstGeom>
        </p:spPr>
      </p:pic>
      <p:sp>
        <p:nvSpPr>
          <p:cNvPr id="62" name="Text 32"/>
          <p:cNvSpPr/>
          <p:nvPr/>
        </p:nvSpPr>
        <p:spPr>
          <a:xfrm>
            <a:off x="9738360" y="2148840"/>
            <a:ext cx="10607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09:00-12:00</a:t>
            </a:r>
            <a:endParaRPr lang="en-US" sz="1440" dirty="0"/>
          </a:p>
        </p:txBody>
      </p:sp>
      <p:sp>
        <p:nvSpPr>
          <p:cNvPr id="63" name="Text 33"/>
          <p:cNvSpPr/>
          <p:nvPr/>
        </p:nvSpPr>
        <p:spPr>
          <a:xfrm>
            <a:off x="11155680" y="2148840"/>
            <a:ext cx="3139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A组</a:t>
            </a:r>
            <a:endParaRPr lang="en-US" sz="1440" dirty="0"/>
          </a:p>
        </p:txBody>
      </p:sp>
      <p:sp>
        <p:nvSpPr>
          <p:cNvPr id="64" name="Text 34"/>
          <p:cNvSpPr/>
          <p:nvPr/>
        </p:nvSpPr>
        <p:spPr>
          <a:xfrm>
            <a:off x="9677400" y="2484120"/>
            <a:ext cx="1792224" cy="5334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1F2937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漏洞扫描与结果分析</a:t>
            </a:r>
            <a:endParaRPr lang="en-US" sz="1680" dirty="0"/>
          </a:p>
        </p:txBody>
      </p:sp>
      <p:pic>
        <p:nvPicPr>
          <p:cNvPr id="65" name="Image 28" descr="https://test.web.static.jianzeppt.com/ppt-temp-img3/4c2754516d58aa0798a2141543e1815d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1152" y="3093720"/>
            <a:ext cx="1774088" cy="15240"/>
          </a:xfrm>
          <a:prstGeom prst="rect">
            <a:avLst/>
          </a:prstGeom>
        </p:spPr>
      </p:pic>
      <p:pic>
        <p:nvPicPr>
          <p:cNvPr id="66" name="Image 29" descr="https://test.web.static.jianzeppt.com/ppt-temp-img3/c997610ab56948a60ba67796ddcf1a55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7400" y="3185160"/>
            <a:ext cx="1173480" cy="335280"/>
          </a:xfrm>
          <a:prstGeom prst="rect">
            <a:avLst/>
          </a:prstGeom>
        </p:spPr>
      </p:pic>
      <p:sp>
        <p:nvSpPr>
          <p:cNvPr id="67" name="Text 35"/>
          <p:cNvSpPr/>
          <p:nvPr/>
        </p:nvSpPr>
        <p:spPr>
          <a:xfrm>
            <a:off x="9738360" y="3215640"/>
            <a:ext cx="10607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14:00-15:00</a:t>
            </a:r>
            <a:endParaRPr lang="en-US" sz="1440" dirty="0"/>
          </a:p>
        </p:txBody>
      </p:sp>
      <p:sp>
        <p:nvSpPr>
          <p:cNvPr id="68" name="Text 36"/>
          <p:cNvSpPr/>
          <p:nvPr/>
        </p:nvSpPr>
        <p:spPr>
          <a:xfrm>
            <a:off x="11079480" y="3215640"/>
            <a:ext cx="3901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全员</a:t>
            </a:r>
            <a:endParaRPr lang="en-US" sz="1440" dirty="0"/>
          </a:p>
        </p:txBody>
      </p:sp>
      <p:sp>
        <p:nvSpPr>
          <p:cNvPr id="69" name="Text 37"/>
          <p:cNvSpPr/>
          <p:nvPr/>
        </p:nvSpPr>
        <p:spPr>
          <a:xfrm>
            <a:off x="9677400" y="3550920"/>
            <a:ext cx="179222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1F2937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补充核查</a:t>
            </a:r>
            <a:endParaRPr lang="en-US" sz="1680" dirty="0"/>
          </a:p>
        </p:txBody>
      </p:sp>
      <p:pic>
        <p:nvPicPr>
          <p:cNvPr id="70" name="Image 30" descr="https://test.web.static.jianzeppt.com/ppt-temp-img3/4c2754516d58aa0798a2141543e1815d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1152" y="3893820"/>
            <a:ext cx="1774088" cy="15240"/>
          </a:xfrm>
          <a:prstGeom prst="rect">
            <a:avLst/>
          </a:prstGeom>
        </p:spPr>
      </p:pic>
      <p:pic>
        <p:nvPicPr>
          <p:cNvPr id="71" name="Image 31" descr="https://test.web.static.jianzeppt.com/ppt-temp-img3/c997610ab56948a60ba67796ddcf1a55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7400" y="3992880"/>
            <a:ext cx="1173480" cy="335280"/>
          </a:xfrm>
          <a:prstGeom prst="rect">
            <a:avLst/>
          </a:prstGeom>
        </p:spPr>
      </p:pic>
      <p:sp>
        <p:nvSpPr>
          <p:cNvPr id="72" name="Text 38"/>
          <p:cNvSpPr/>
          <p:nvPr/>
        </p:nvSpPr>
        <p:spPr>
          <a:xfrm>
            <a:off x="9738360" y="4023360"/>
            <a:ext cx="10607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15:00-16:00</a:t>
            </a:r>
            <a:endParaRPr lang="en-US" sz="1440" dirty="0"/>
          </a:p>
        </p:txBody>
      </p:sp>
      <p:sp>
        <p:nvSpPr>
          <p:cNvPr id="73" name="Text 39"/>
          <p:cNvSpPr/>
          <p:nvPr/>
        </p:nvSpPr>
        <p:spPr>
          <a:xfrm>
            <a:off x="11079480" y="4023360"/>
            <a:ext cx="3901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全员</a:t>
            </a:r>
            <a:endParaRPr lang="en-US" sz="1440" dirty="0"/>
          </a:p>
        </p:txBody>
      </p:sp>
      <p:sp>
        <p:nvSpPr>
          <p:cNvPr id="74" name="Text 40"/>
          <p:cNvSpPr/>
          <p:nvPr/>
        </p:nvSpPr>
        <p:spPr>
          <a:xfrm>
            <a:off x="9677400" y="4358640"/>
            <a:ext cx="179222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1F2937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项目总结会</a:t>
            </a:r>
            <a:endParaRPr lang="en-US" sz="1680" dirty="0"/>
          </a:p>
        </p:txBody>
      </p:sp>
      <p:pic>
        <p:nvPicPr>
          <p:cNvPr id="75" name="Image 32" descr="https://test.web.static.jianzeppt.com/ppt-temp-img3/4c2754516d58aa0798a2141543e1815d.png?x-oss-process=image/resize,w_1440,h_800,m_lfit/format,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1152" y="4693920"/>
            <a:ext cx="1774088" cy="15240"/>
          </a:xfrm>
          <a:prstGeom prst="rect">
            <a:avLst/>
          </a:prstGeom>
        </p:spPr>
      </p:pic>
      <p:pic>
        <p:nvPicPr>
          <p:cNvPr id="76" name="Image 33" descr="https://test.web.static.jianzeppt.com/ppt-temp-img3/c997610ab56948a60ba67796ddcf1a55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7400" y="4785360"/>
            <a:ext cx="1173480" cy="335280"/>
          </a:xfrm>
          <a:prstGeom prst="rect">
            <a:avLst/>
          </a:prstGeom>
        </p:spPr>
      </p:pic>
      <p:sp>
        <p:nvSpPr>
          <p:cNvPr id="77" name="Text 41"/>
          <p:cNvSpPr/>
          <p:nvPr/>
        </p:nvSpPr>
        <p:spPr>
          <a:xfrm>
            <a:off x="9738360" y="4815840"/>
            <a:ext cx="106070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16:00-17:00</a:t>
            </a:r>
            <a:endParaRPr lang="en-US" sz="1440" dirty="0"/>
          </a:p>
        </p:txBody>
      </p:sp>
      <p:sp>
        <p:nvSpPr>
          <p:cNvPr id="78" name="Text 42"/>
          <p:cNvSpPr/>
          <p:nvPr/>
        </p:nvSpPr>
        <p:spPr>
          <a:xfrm>
            <a:off x="11079480" y="4815840"/>
            <a:ext cx="39014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40" dirty="0">
                <a:solidFill>
                  <a:srgbClr val="6B7280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全员</a:t>
            </a:r>
            <a:endParaRPr lang="en-US" sz="1440" dirty="0"/>
          </a:p>
        </p:txBody>
      </p:sp>
      <p:sp>
        <p:nvSpPr>
          <p:cNvPr id="79" name="Text 43"/>
          <p:cNvSpPr/>
          <p:nvPr/>
        </p:nvSpPr>
        <p:spPr>
          <a:xfrm>
            <a:off x="9677400" y="5151120"/>
            <a:ext cx="1792224" cy="2743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80" dirty="0">
                <a:solidFill>
                  <a:srgbClr val="1F2937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撤离现场</a:t>
            </a:r>
            <a:endParaRPr lang="en-US" sz="1680" dirty="0"/>
          </a:p>
        </p:txBody>
      </p:sp>
      <p:sp>
        <p:nvSpPr>
          <p:cNvPr id="80" name="Text 44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测评方案模板（第七章 日程安排）</a:t>
            </a:r>
            <a:endParaRPr lang="en-US" sz="276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80760" y="2209800"/>
            <a:ext cx="30480" cy="21336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80760" y="3413760"/>
            <a:ext cx="30480" cy="21336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90800" y="3627120"/>
            <a:ext cx="7010400" cy="3048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590800" y="3657600"/>
            <a:ext cx="30480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80760" y="3657600"/>
            <a:ext cx="30480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70720" y="3657600"/>
            <a:ext cx="30480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2000" y="3855720"/>
            <a:ext cx="3352800" cy="25450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12" name="Image 10" descr="https://test.web.static.jianzeppt.com/ppt-temp-img3/c171f0b3f3d6a83856b0e4e65b4487bd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7240" y="3870960"/>
            <a:ext cx="3322320" cy="86868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899160" y="3992880"/>
            <a:ext cx="308762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A组（技术）</a:t>
            </a:r>
            <a:endParaRPr lang="en-US" sz="2160" dirty="0"/>
          </a:p>
        </p:txBody>
      </p:sp>
      <p:sp>
        <p:nvSpPr>
          <p:cNvPr id="14" name="Text 1"/>
          <p:cNvSpPr/>
          <p:nvPr/>
        </p:nvSpPr>
        <p:spPr>
          <a:xfrm>
            <a:off x="899160" y="4290060"/>
            <a:ext cx="30876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王XX（组长）</a:t>
            </a:r>
            <a:endParaRPr lang="en-US" sz="1680" dirty="0"/>
          </a:p>
        </p:txBody>
      </p:sp>
      <p:sp>
        <p:nvSpPr>
          <p:cNvPr id="15" name="Text 2"/>
          <p:cNvSpPr/>
          <p:nvPr/>
        </p:nvSpPr>
        <p:spPr>
          <a:xfrm>
            <a:off x="960120" y="4777740"/>
            <a:ext cx="29657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负责：</a:t>
            </a:r>
            <a:endParaRPr lang="en-US" sz="1680" dirty="0"/>
          </a:p>
        </p:txBody>
      </p:sp>
      <p:pic>
        <p:nvPicPr>
          <p:cNvPr id="16" name="Image 11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03960" y="5265420"/>
            <a:ext cx="91440" cy="91440"/>
          </a:xfrm>
          <a:prstGeom prst="rect">
            <a:avLst/>
          </a:prstGeom>
        </p:spPr>
      </p:pic>
      <p:sp>
        <p:nvSpPr>
          <p:cNvPr id="17" name="Text 3"/>
          <p:cNvSpPr/>
          <p:nvPr/>
        </p:nvSpPr>
        <p:spPr>
          <a:xfrm>
            <a:off x="1310640" y="5143500"/>
            <a:ext cx="86258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物理环境</a:t>
            </a:r>
            <a:endParaRPr lang="en-US" sz="1680" dirty="0"/>
          </a:p>
        </p:txBody>
      </p:sp>
      <p:pic>
        <p:nvPicPr>
          <p:cNvPr id="18" name="Image 12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82240" y="5265420"/>
            <a:ext cx="91440" cy="91440"/>
          </a:xfrm>
          <a:prstGeom prst="rect">
            <a:avLst/>
          </a:prstGeom>
        </p:spPr>
      </p:pic>
      <p:sp>
        <p:nvSpPr>
          <p:cNvPr id="19" name="Text 4"/>
          <p:cNvSpPr/>
          <p:nvPr/>
        </p:nvSpPr>
        <p:spPr>
          <a:xfrm>
            <a:off x="2781300" y="5143500"/>
            <a:ext cx="86258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网络设备</a:t>
            </a:r>
            <a:endParaRPr lang="en-US" sz="1680" dirty="0"/>
          </a:p>
        </p:txBody>
      </p:sp>
      <p:pic>
        <p:nvPicPr>
          <p:cNvPr id="20" name="Image 13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03960" y="5646420"/>
            <a:ext cx="91440" cy="91440"/>
          </a:xfrm>
          <a:prstGeom prst="rect">
            <a:avLst/>
          </a:prstGeom>
        </p:spPr>
      </p:pic>
      <p:sp>
        <p:nvSpPr>
          <p:cNvPr id="21" name="Text 5"/>
          <p:cNvSpPr/>
          <p:nvPr/>
        </p:nvSpPr>
        <p:spPr>
          <a:xfrm>
            <a:off x="1310640" y="5524500"/>
            <a:ext cx="86258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安全设备</a:t>
            </a:r>
            <a:endParaRPr lang="en-US" sz="1680" dirty="0"/>
          </a:p>
        </p:txBody>
      </p:sp>
      <p:pic>
        <p:nvPicPr>
          <p:cNvPr id="22" name="Image 14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82240" y="5646420"/>
            <a:ext cx="91440" cy="91440"/>
          </a:xfrm>
          <a:prstGeom prst="rect">
            <a:avLst/>
          </a:prstGeom>
        </p:spPr>
      </p:pic>
      <p:sp>
        <p:nvSpPr>
          <p:cNvPr id="23" name="Text 6"/>
          <p:cNvSpPr/>
          <p:nvPr/>
        </p:nvSpPr>
        <p:spPr>
          <a:xfrm>
            <a:off x="2781300" y="5524500"/>
            <a:ext cx="43586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主机</a:t>
            </a:r>
            <a:endParaRPr lang="en-US" sz="1680" dirty="0"/>
          </a:p>
        </p:txBody>
      </p:sp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03960" y="6027420"/>
            <a:ext cx="91440" cy="91440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310640" y="5905500"/>
            <a:ext cx="64922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数据库</a:t>
            </a:r>
            <a:endParaRPr lang="en-US" sz="1680" dirty="0"/>
          </a:p>
        </p:txBody>
      </p:sp>
      <p:pic>
        <p:nvPicPr>
          <p:cNvPr id="26" name="Image 16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82240" y="6027420"/>
            <a:ext cx="91440" cy="91440"/>
          </a:xfrm>
          <a:prstGeom prst="rect">
            <a:avLst/>
          </a:prstGeom>
        </p:spPr>
      </p:pic>
      <p:sp>
        <p:nvSpPr>
          <p:cNvPr id="27" name="Text 8"/>
          <p:cNvSpPr/>
          <p:nvPr/>
        </p:nvSpPr>
        <p:spPr>
          <a:xfrm>
            <a:off x="2781300" y="5905500"/>
            <a:ext cx="86258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应用系统</a:t>
            </a:r>
            <a:endParaRPr lang="en-US" sz="1680" dirty="0"/>
          </a:p>
        </p:txBody>
      </p:sp>
      <p:pic>
        <p:nvPicPr>
          <p:cNvPr id="28" name="Image 17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19600" y="3855720"/>
            <a:ext cx="3352800" cy="25450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29" name="Image 18" descr="https://test.web.static.jianzeppt.com/ppt-temp-img3/368ddbeddaa606948b47f53104953d01.png?x-oss-process=image/resize,w_1440,h_800,m_lfit/format,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34840" y="3870960"/>
            <a:ext cx="3322320" cy="868680"/>
          </a:xfrm>
          <a:prstGeom prst="rect">
            <a:avLst/>
          </a:prstGeom>
        </p:spPr>
      </p:pic>
      <p:sp>
        <p:nvSpPr>
          <p:cNvPr id="30" name="Text 9"/>
          <p:cNvSpPr/>
          <p:nvPr/>
        </p:nvSpPr>
        <p:spPr>
          <a:xfrm>
            <a:off x="4556760" y="3992880"/>
            <a:ext cx="308762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B组（管理）</a:t>
            </a:r>
            <a:endParaRPr lang="en-US" sz="2160" dirty="0"/>
          </a:p>
        </p:txBody>
      </p:sp>
      <p:sp>
        <p:nvSpPr>
          <p:cNvPr id="31" name="Text 10"/>
          <p:cNvSpPr/>
          <p:nvPr/>
        </p:nvSpPr>
        <p:spPr>
          <a:xfrm>
            <a:off x="4556760" y="4290060"/>
            <a:ext cx="30876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刘XX（组长）</a:t>
            </a:r>
            <a:endParaRPr lang="en-US" sz="1680" dirty="0"/>
          </a:p>
        </p:txBody>
      </p:sp>
      <p:sp>
        <p:nvSpPr>
          <p:cNvPr id="32" name="Text 11"/>
          <p:cNvSpPr/>
          <p:nvPr/>
        </p:nvSpPr>
        <p:spPr>
          <a:xfrm>
            <a:off x="4617720" y="4777740"/>
            <a:ext cx="29657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负责：</a:t>
            </a:r>
            <a:endParaRPr lang="en-US" sz="1680" dirty="0"/>
          </a:p>
        </p:txBody>
      </p:sp>
      <p:pic>
        <p:nvPicPr>
          <p:cNvPr id="33" name="Image 19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61560" y="5265420"/>
            <a:ext cx="91440" cy="91440"/>
          </a:xfrm>
          <a:prstGeom prst="rect">
            <a:avLst/>
          </a:prstGeom>
        </p:spPr>
      </p:pic>
      <p:sp>
        <p:nvSpPr>
          <p:cNvPr id="34" name="Text 12"/>
          <p:cNvSpPr/>
          <p:nvPr/>
        </p:nvSpPr>
        <p:spPr>
          <a:xfrm>
            <a:off x="4983480" y="5143500"/>
            <a:ext cx="86258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管理制度</a:t>
            </a:r>
            <a:endParaRPr lang="en-US" sz="1680" dirty="0"/>
          </a:p>
        </p:txBody>
      </p:sp>
      <p:pic>
        <p:nvPicPr>
          <p:cNvPr id="35" name="Image 20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39840" y="5265420"/>
            <a:ext cx="91440" cy="91440"/>
          </a:xfrm>
          <a:prstGeom prst="rect">
            <a:avLst/>
          </a:prstGeom>
        </p:spPr>
      </p:pic>
      <p:sp>
        <p:nvSpPr>
          <p:cNvPr id="36" name="Text 13"/>
          <p:cNvSpPr/>
          <p:nvPr/>
        </p:nvSpPr>
        <p:spPr>
          <a:xfrm>
            <a:off x="6469380" y="5143500"/>
            <a:ext cx="86258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管理机构</a:t>
            </a:r>
            <a:endParaRPr lang="en-US" sz="1680" dirty="0"/>
          </a:p>
        </p:txBody>
      </p:sp>
      <p:pic>
        <p:nvPicPr>
          <p:cNvPr id="37" name="Image 21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61560" y="5646420"/>
            <a:ext cx="91440" cy="91440"/>
          </a:xfrm>
          <a:prstGeom prst="rect">
            <a:avLst/>
          </a:prstGeom>
        </p:spPr>
      </p:pic>
      <p:sp>
        <p:nvSpPr>
          <p:cNvPr id="38" name="Text 14"/>
          <p:cNvSpPr/>
          <p:nvPr/>
        </p:nvSpPr>
        <p:spPr>
          <a:xfrm>
            <a:off x="4983480" y="5524500"/>
            <a:ext cx="86258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管理人员</a:t>
            </a:r>
            <a:endParaRPr lang="en-US" sz="1680" dirty="0"/>
          </a:p>
        </p:txBody>
      </p:sp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39840" y="5646420"/>
            <a:ext cx="91440" cy="91440"/>
          </a:xfrm>
          <a:prstGeom prst="rect">
            <a:avLst/>
          </a:prstGeom>
        </p:spPr>
      </p:pic>
      <p:sp>
        <p:nvSpPr>
          <p:cNvPr id="40" name="Text 15"/>
          <p:cNvSpPr/>
          <p:nvPr/>
        </p:nvSpPr>
        <p:spPr>
          <a:xfrm>
            <a:off x="6469380" y="5524500"/>
            <a:ext cx="86258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建设管理</a:t>
            </a:r>
            <a:endParaRPr lang="en-US" sz="1680" dirty="0"/>
          </a:p>
        </p:txBody>
      </p:sp>
      <p:pic>
        <p:nvPicPr>
          <p:cNvPr id="41" name="Image 23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61560" y="6027420"/>
            <a:ext cx="91440" cy="91440"/>
          </a:xfrm>
          <a:prstGeom prst="rect">
            <a:avLst/>
          </a:prstGeom>
        </p:spPr>
      </p:pic>
      <p:sp>
        <p:nvSpPr>
          <p:cNvPr id="42" name="Text 16"/>
          <p:cNvSpPr/>
          <p:nvPr/>
        </p:nvSpPr>
        <p:spPr>
          <a:xfrm>
            <a:off x="4983480" y="5905500"/>
            <a:ext cx="86258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运维管理</a:t>
            </a:r>
            <a:endParaRPr lang="en-US" sz="1680" dirty="0"/>
          </a:p>
        </p:txBody>
      </p:sp>
      <p:pic>
        <p:nvPicPr>
          <p:cNvPr id="43" name="Image 2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77200" y="3855720"/>
            <a:ext cx="3352800" cy="25450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44" name="Image 25" descr="https://test.web.static.jianzeppt.com/ppt-temp-img3/4ba2689233676bdd749f6fff4f3e24af.png?x-oss-process=image/resize,w_1440,h_800,m_lfit/format,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92440" y="3870960"/>
            <a:ext cx="3322320" cy="944880"/>
          </a:xfrm>
          <a:prstGeom prst="rect">
            <a:avLst/>
          </a:prstGeom>
        </p:spPr>
      </p:pic>
      <p:sp>
        <p:nvSpPr>
          <p:cNvPr id="45" name="Text 17"/>
          <p:cNvSpPr/>
          <p:nvPr/>
        </p:nvSpPr>
        <p:spPr>
          <a:xfrm>
            <a:off x="8214360" y="3992880"/>
            <a:ext cx="3087624" cy="3505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16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C组（测试）</a:t>
            </a:r>
            <a:endParaRPr lang="en-US" sz="2160" dirty="0"/>
          </a:p>
        </p:txBody>
      </p:sp>
      <p:sp>
        <p:nvSpPr>
          <p:cNvPr id="46" name="Text 18"/>
          <p:cNvSpPr/>
          <p:nvPr/>
        </p:nvSpPr>
        <p:spPr>
          <a:xfrm>
            <a:off x="8214360" y="4290060"/>
            <a:ext cx="30876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赵XX（组长）</a:t>
            </a:r>
            <a:endParaRPr lang="en-US" sz="1680" dirty="0"/>
          </a:p>
        </p:txBody>
      </p:sp>
      <p:sp>
        <p:nvSpPr>
          <p:cNvPr id="47" name="Text 19"/>
          <p:cNvSpPr/>
          <p:nvPr/>
        </p:nvSpPr>
        <p:spPr>
          <a:xfrm>
            <a:off x="8275320" y="4869180"/>
            <a:ext cx="296570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负责：</a:t>
            </a:r>
            <a:endParaRPr lang="en-US" sz="1680" dirty="0"/>
          </a:p>
        </p:txBody>
      </p:sp>
      <p:pic>
        <p:nvPicPr>
          <p:cNvPr id="48" name="Image 26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19160" y="5341620"/>
            <a:ext cx="91440" cy="91440"/>
          </a:xfrm>
          <a:prstGeom prst="rect">
            <a:avLst/>
          </a:prstGeom>
        </p:spPr>
      </p:pic>
      <p:sp>
        <p:nvSpPr>
          <p:cNvPr id="49" name="Text 20"/>
          <p:cNvSpPr/>
          <p:nvPr/>
        </p:nvSpPr>
        <p:spPr>
          <a:xfrm>
            <a:off x="8641080" y="5234940"/>
            <a:ext cx="86258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漏洞扫描</a:t>
            </a:r>
            <a:endParaRPr lang="en-US" sz="1680" dirty="0"/>
          </a:p>
        </p:txBody>
      </p:sp>
      <p:pic>
        <p:nvPicPr>
          <p:cNvPr id="50" name="Image 2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997440" y="5341620"/>
            <a:ext cx="91440" cy="91440"/>
          </a:xfrm>
          <a:prstGeom prst="rect">
            <a:avLst/>
          </a:prstGeom>
        </p:spPr>
      </p:pic>
      <p:sp>
        <p:nvSpPr>
          <p:cNvPr id="51" name="Text 21"/>
          <p:cNvSpPr/>
          <p:nvPr/>
        </p:nvSpPr>
        <p:spPr>
          <a:xfrm>
            <a:off x="10134600" y="5234940"/>
            <a:ext cx="86258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配置核查</a:t>
            </a:r>
            <a:endParaRPr lang="en-US" sz="1680" dirty="0"/>
          </a:p>
        </p:txBody>
      </p:sp>
      <p:pic>
        <p:nvPicPr>
          <p:cNvPr id="52" name="Image 28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19160" y="5722620"/>
            <a:ext cx="91440" cy="91440"/>
          </a:xfrm>
          <a:prstGeom prst="rect">
            <a:avLst/>
          </a:prstGeom>
        </p:spPr>
      </p:pic>
      <p:sp>
        <p:nvSpPr>
          <p:cNvPr id="53" name="Text 22"/>
          <p:cNvSpPr/>
          <p:nvPr/>
        </p:nvSpPr>
        <p:spPr>
          <a:xfrm>
            <a:off x="8641080" y="5615940"/>
            <a:ext cx="862584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结果分析</a:t>
            </a:r>
            <a:endParaRPr lang="en-US" sz="1680" dirty="0"/>
          </a:p>
        </p:txBody>
      </p:sp>
      <p:pic>
        <p:nvPicPr>
          <p:cNvPr id="54" name="Image 29" descr="https://test.web.static.jianzeppt.com/ppt-temp-img3/c4b34c9645bd47cdd70a969353cc0311.png?x-oss-process=image/resize,w_1440,h_800,m_lfit/format,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24400" y="1219200"/>
            <a:ext cx="2743200" cy="1005840"/>
          </a:xfrm>
          <a:prstGeom prst="rect">
            <a:avLst/>
          </a:prstGeom>
        </p:spPr>
      </p:pic>
      <p:sp>
        <p:nvSpPr>
          <p:cNvPr id="55" name="Text 23"/>
          <p:cNvSpPr/>
          <p:nvPr/>
        </p:nvSpPr>
        <p:spPr>
          <a:xfrm>
            <a:off x="4937760" y="1371600"/>
            <a:ext cx="2325624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项目总监</a:t>
            </a:r>
            <a:endParaRPr lang="en-US" sz="2400" dirty="0"/>
          </a:p>
        </p:txBody>
      </p:sp>
      <p:sp>
        <p:nvSpPr>
          <p:cNvPr id="56" name="Text 24"/>
          <p:cNvSpPr/>
          <p:nvPr/>
        </p:nvSpPr>
        <p:spPr>
          <a:xfrm>
            <a:off x="5013960" y="1706880"/>
            <a:ext cx="23256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张XX（高工）</a:t>
            </a:r>
            <a:endParaRPr lang="en-US" sz="1680" dirty="0"/>
          </a:p>
        </p:txBody>
      </p:sp>
      <p:pic>
        <p:nvPicPr>
          <p:cNvPr id="57" name="Image 30" descr="https://test.web.static.jianzeppt.com/ppt-temp-img3/35902d711ae6c28c8c36981d4f2a1597.png?x-oss-process=image/resize,w_1440,h_800,m_lfit/format,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24400" y="2423160"/>
            <a:ext cx="2743200" cy="1005840"/>
          </a:xfrm>
          <a:prstGeom prst="rect">
            <a:avLst/>
          </a:prstGeom>
        </p:spPr>
      </p:pic>
      <p:sp>
        <p:nvSpPr>
          <p:cNvPr id="58" name="Text 25"/>
          <p:cNvSpPr/>
          <p:nvPr/>
        </p:nvSpPr>
        <p:spPr>
          <a:xfrm>
            <a:off x="4937760" y="2575560"/>
            <a:ext cx="2325624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项目经理</a:t>
            </a:r>
            <a:endParaRPr lang="en-US" sz="2400" dirty="0"/>
          </a:p>
        </p:txBody>
      </p:sp>
      <p:sp>
        <p:nvSpPr>
          <p:cNvPr id="59" name="Text 26"/>
          <p:cNvSpPr/>
          <p:nvPr/>
        </p:nvSpPr>
        <p:spPr>
          <a:xfrm>
            <a:off x="5013960" y="2910840"/>
            <a:ext cx="23256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80" dirty="0">
                <a:solidFill>
                  <a:srgbClr val="333333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李XX（高工）</a:t>
            </a:r>
            <a:endParaRPr lang="en-US" sz="1680" dirty="0"/>
          </a:p>
        </p:txBody>
      </p:sp>
      <p:sp>
        <p:nvSpPr>
          <p:cNvPr id="60" name="Text 27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第8章 人员分工</a:t>
            </a:r>
            <a:endParaRPr lang="en-US" sz="276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1371600"/>
            <a:ext cx="426110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9.1 可能的风险</a:t>
            </a:r>
            <a:endParaRPr lang="en-US" sz="2640" dirty="0"/>
          </a:p>
        </p:txBody>
      </p:sp>
      <p:sp>
        <p:nvSpPr>
          <p:cNvPr id="6" name="Text 1"/>
          <p:cNvSpPr/>
          <p:nvPr/>
        </p:nvSpPr>
        <p:spPr>
          <a:xfrm>
            <a:off x="5212080" y="1371600"/>
            <a:ext cx="6379464" cy="5029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4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9.2 应对措施</a:t>
            </a:r>
            <a:endParaRPr lang="en-US" sz="2640" dirty="0"/>
          </a:p>
        </p:txBody>
      </p:sp>
      <p:pic>
        <p:nvPicPr>
          <p:cNvPr id="7" name="Image 3" descr="https://test.web.static.jianzeppt.com/ppt-temp-img3/03f287f62c2a551b61ead9332ce2e35b.png?x-oss-process=image/resize,w_1440,h_800,m_lfit/format,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09600" y="2057400"/>
            <a:ext cx="4251960" cy="91440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8680" y="2225040"/>
            <a:ext cx="502920" cy="381000"/>
          </a:xfrm>
          <a:prstGeom prst="rect">
            <a:avLst/>
          </a:prstGeom>
        </p:spPr>
      </p:pic>
      <p:sp>
        <p:nvSpPr>
          <p:cNvPr id="9" name="Text 2"/>
          <p:cNvSpPr/>
          <p:nvPr>
            <p:custDataLst>
              <p:tags r:id="rId9"/>
            </p:custDataLst>
          </p:nvPr>
        </p:nvSpPr>
        <p:spPr>
          <a:xfrm>
            <a:off x="990600" y="2255520"/>
            <a:ext cx="268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01</a:t>
            </a:r>
            <a:endParaRPr lang="en-US" sz="1680" dirty="0"/>
          </a:p>
        </p:txBody>
      </p:sp>
      <p:sp>
        <p:nvSpPr>
          <p:cNvPr id="10" name="Text 3"/>
          <p:cNvSpPr/>
          <p:nvPr>
            <p:custDataLst>
              <p:tags r:id="rId10"/>
            </p:custDataLst>
          </p:nvPr>
        </p:nvSpPr>
        <p:spPr>
          <a:xfrm>
            <a:off x="1493520" y="2209800"/>
            <a:ext cx="1379220" cy="4152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业务中断风险</a:t>
            </a:r>
            <a:endParaRPr lang="en-US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11" name="Text 4"/>
          <p:cNvSpPr/>
          <p:nvPr>
            <p:custDataLst>
              <p:tags r:id="rId11"/>
            </p:custDataLst>
          </p:nvPr>
        </p:nvSpPr>
        <p:spPr>
          <a:xfrm>
            <a:off x="868680" y="2644140"/>
            <a:ext cx="3048000" cy="2457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测评过程中可能影响系统正常运行</a:t>
            </a:r>
            <a:endParaRPr lang="en-US" sz="1600" dirty="0">
              <a:solidFill>
                <a:srgbClr val="374151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12" name="Image 5" descr="https://test.web.static.jianzeppt.com/ppt-temp-img3/14fe58a59bad19cf4e63d6a09b046410.png?x-oss-process=image/resize,w_1440,h_800,m_lfit/format,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24840" y="2072640"/>
            <a:ext cx="60960" cy="883920"/>
          </a:xfrm>
          <a:prstGeom prst="rect">
            <a:avLst/>
          </a:prstGeom>
        </p:spPr>
      </p:pic>
      <p:pic>
        <p:nvPicPr>
          <p:cNvPr id="13" name="Image 6" descr="https://test.web.static.jianzeppt.com/ppt-temp-img3/03f287f62c2a551b61ead9332ce2e35b.png?x-oss-process=image/resize,w_1440,h_800,m_lfit/format,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09600" y="3154680"/>
            <a:ext cx="4251960" cy="914400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8680" y="3307080"/>
            <a:ext cx="502920" cy="381000"/>
          </a:xfrm>
          <a:prstGeom prst="rect">
            <a:avLst/>
          </a:prstGeom>
        </p:spPr>
      </p:pic>
      <p:sp>
        <p:nvSpPr>
          <p:cNvPr id="15" name="Text 5"/>
          <p:cNvSpPr/>
          <p:nvPr>
            <p:custDataLst>
              <p:tags r:id="rId16"/>
            </p:custDataLst>
          </p:nvPr>
        </p:nvSpPr>
        <p:spPr>
          <a:xfrm>
            <a:off x="990600" y="3337560"/>
            <a:ext cx="268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02</a:t>
            </a:r>
            <a:endParaRPr lang="en-US" sz="1680" dirty="0"/>
          </a:p>
        </p:txBody>
      </p:sp>
      <p:sp>
        <p:nvSpPr>
          <p:cNvPr id="16" name="Text 6"/>
          <p:cNvSpPr/>
          <p:nvPr>
            <p:custDataLst>
              <p:tags r:id="rId17"/>
            </p:custDataLst>
          </p:nvPr>
        </p:nvSpPr>
        <p:spPr>
          <a:xfrm>
            <a:off x="1493520" y="3291840"/>
            <a:ext cx="1379220" cy="4152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数据泄露风险</a:t>
            </a:r>
            <a:endParaRPr lang="en-US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17" name="Text 7"/>
          <p:cNvSpPr/>
          <p:nvPr>
            <p:custDataLst>
              <p:tags r:id="rId18"/>
            </p:custDataLst>
          </p:nvPr>
        </p:nvSpPr>
        <p:spPr>
          <a:xfrm>
            <a:off x="868680" y="3741420"/>
            <a:ext cx="2235200" cy="2457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测评过程中接触敏感数据</a:t>
            </a:r>
            <a:endParaRPr lang="en-US" sz="1600" dirty="0">
              <a:solidFill>
                <a:srgbClr val="374151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18" name="Image 8" descr="https://test.web.static.jianzeppt.com/ppt-temp-img3/c15bd3289ee427f7ffda9ce44011fe63.png?x-oss-process=image/resize,w_1440,h_800,m_lfit/format,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24840" y="3169920"/>
            <a:ext cx="60960" cy="883920"/>
          </a:xfrm>
          <a:prstGeom prst="rect">
            <a:avLst/>
          </a:prstGeom>
        </p:spPr>
      </p:pic>
      <p:pic>
        <p:nvPicPr>
          <p:cNvPr id="19" name="Image 9" descr="https://test.web.static.jianzeppt.com/ppt-temp-img3/03f287f62c2a551b61ead9332ce2e35b.png?x-oss-process=image/resize,w_1440,h_800,m_lfit/format,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09600" y="4251960"/>
            <a:ext cx="4251960" cy="914400"/>
          </a:xfrm>
          <a:prstGeom prst="rect">
            <a:avLst/>
          </a:prstGeom>
        </p:spPr>
      </p:pic>
      <p:pic>
        <p:nvPicPr>
          <p:cNvPr id="20" name="Image 10" descr="preencoded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8680" y="4404360"/>
            <a:ext cx="502920" cy="381000"/>
          </a:xfrm>
          <a:prstGeom prst="rect">
            <a:avLst/>
          </a:prstGeom>
        </p:spPr>
      </p:pic>
      <p:sp>
        <p:nvSpPr>
          <p:cNvPr id="21" name="Text 8"/>
          <p:cNvSpPr/>
          <p:nvPr>
            <p:custDataLst>
              <p:tags r:id="rId22"/>
            </p:custDataLst>
          </p:nvPr>
        </p:nvSpPr>
        <p:spPr>
          <a:xfrm>
            <a:off x="990600" y="4434840"/>
            <a:ext cx="268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03</a:t>
            </a:r>
            <a:endParaRPr lang="en-US" sz="1680" dirty="0"/>
          </a:p>
        </p:txBody>
      </p:sp>
      <p:sp>
        <p:nvSpPr>
          <p:cNvPr id="22" name="Text 9"/>
          <p:cNvSpPr/>
          <p:nvPr>
            <p:custDataLst>
              <p:tags r:id="rId23"/>
            </p:custDataLst>
          </p:nvPr>
        </p:nvSpPr>
        <p:spPr>
          <a:xfrm>
            <a:off x="1493520" y="4389120"/>
            <a:ext cx="1379220" cy="4152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设备故障风险</a:t>
            </a:r>
            <a:endParaRPr lang="en-US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3" name="Text 10"/>
          <p:cNvSpPr/>
          <p:nvPr>
            <p:custDataLst>
              <p:tags r:id="rId24"/>
            </p:custDataLst>
          </p:nvPr>
        </p:nvSpPr>
        <p:spPr>
          <a:xfrm>
            <a:off x="868680" y="4823460"/>
            <a:ext cx="2844800" cy="2457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设备操作不当可能导致配置丢失</a:t>
            </a:r>
            <a:endParaRPr lang="en-US" sz="1600" dirty="0">
              <a:solidFill>
                <a:srgbClr val="374151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24" name="Image 11" descr="https://test.web.static.jianzeppt.com/ppt-temp-img3/8e399bfd7b1bc6983a74512e6a97ccea.png?x-oss-process=image/resize,w_1440,h_800,m_lfit/format,png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24840" y="4267200"/>
            <a:ext cx="60960" cy="883920"/>
          </a:xfrm>
          <a:prstGeom prst="rect">
            <a:avLst/>
          </a:prstGeom>
        </p:spPr>
      </p:pic>
      <p:pic>
        <p:nvPicPr>
          <p:cNvPr id="25" name="Image 12" descr="https://test.web.static.jianzeppt.com/ppt-temp-img3/03f287f62c2a551b61ead9332ce2e35b.png?x-oss-process=image/resize,w_1440,h_800,m_lfit/format,png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09600" y="5334000"/>
            <a:ext cx="4251960" cy="914400"/>
          </a:xfrm>
          <a:prstGeom prst="rect">
            <a:avLst/>
          </a:prstGeom>
        </p:spPr>
      </p:pic>
      <p:pic>
        <p:nvPicPr>
          <p:cNvPr id="26" name="Image 13" descr="preencoded.pn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8680" y="5501640"/>
            <a:ext cx="502920" cy="381000"/>
          </a:xfrm>
          <a:prstGeom prst="rect">
            <a:avLst/>
          </a:prstGeom>
        </p:spPr>
      </p:pic>
      <p:sp>
        <p:nvSpPr>
          <p:cNvPr id="27" name="Text 11"/>
          <p:cNvSpPr/>
          <p:nvPr>
            <p:custDataLst>
              <p:tags r:id="rId28"/>
            </p:custDataLst>
          </p:nvPr>
        </p:nvSpPr>
        <p:spPr>
          <a:xfrm>
            <a:off x="990600" y="5532120"/>
            <a:ext cx="268224" cy="3200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04</a:t>
            </a:r>
            <a:endParaRPr lang="en-US" sz="1680" dirty="0"/>
          </a:p>
        </p:txBody>
      </p:sp>
      <p:sp>
        <p:nvSpPr>
          <p:cNvPr id="28" name="Text 12"/>
          <p:cNvSpPr/>
          <p:nvPr>
            <p:custDataLst>
              <p:tags r:id="rId29"/>
            </p:custDataLst>
          </p:nvPr>
        </p:nvSpPr>
        <p:spPr>
          <a:xfrm>
            <a:off x="1493520" y="5486400"/>
            <a:ext cx="1379220" cy="41529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进度延误风险</a:t>
            </a:r>
            <a:endParaRPr lang="en-US" b="1" dirty="0">
              <a:solidFill>
                <a:srgbClr val="00234E"/>
              </a:solidFill>
              <a:latin typeface="思源黑体 CN Bold" pitchFamily="34" charset="0"/>
              <a:ea typeface="思源黑体 CN Bold" pitchFamily="34" charset="-122"/>
              <a:cs typeface="思源黑体 CN Bold" pitchFamily="34" charset="-120"/>
            </a:endParaRPr>
          </a:p>
        </p:txBody>
      </p:sp>
      <p:sp>
        <p:nvSpPr>
          <p:cNvPr id="29" name="Text 13"/>
          <p:cNvSpPr/>
          <p:nvPr>
            <p:custDataLst>
              <p:tags r:id="rId30"/>
            </p:custDataLst>
          </p:nvPr>
        </p:nvSpPr>
        <p:spPr>
          <a:xfrm>
            <a:off x="868680" y="5920740"/>
            <a:ext cx="3048000" cy="2457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客户配合不力或技术问题导致延期</a:t>
            </a:r>
            <a:endParaRPr lang="en-US" sz="1600" dirty="0">
              <a:solidFill>
                <a:srgbClr val="374151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30" name="Image 14" descr="https://test.web.static.jianzeppt.com/ppt-temp-img3/a4d1c5daed3616ce0a21f3ab1c078386.png?x-oss-process=image/resize,w_1440,h_800,m_lfit/format,png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24840" y="5349240"/>
            <a:ext cx="60960" cy="883920"/>
          </a:xfrm>
          <a:prstGeom prst="rect">
            <a:avLst/>
          </a:prstGeom>
        </p:spPr>
      </p:pic>
      <p:pic>
        <p:nvPicPr>
          <p:cNvPr id="31" name="Image 15" descr="preencoded.png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212080" y="2057400"/>
            <a:ext cx="6370320" cy="914400"/>
          </a:xfrm>
          <a:prstGeom prst="rect">
            <a:avLst/>
          </a:prstGeom>
          <a:effectLst>
            <a:outerShdw blurRad="1548384000" dist="387096000" dir="-1" algn="bl" rotWithShape="0">
              <a:srgbClr val="00234E">
                <a:alpha val="800000000"/>
              </a:srgbClr>
            </a:outerShdw>
          </a:effectLst>
        </p:spPr>
      </p:pic>
      <p:sp>
        <p:nvSpPr>
          <p:cNvPr id="32" name="Text 14"/>
          <p:cNvSpPr/>
          <p:nvPr/>
        </p:nvSpPr>
        <p:spPr>
          <a:xfrm>
            <a:off x="5715000" y="2171700"/>
            <a:ext cx="5617464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43840" indent="-24384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所有测评操作均在业务低峰期进行</a:t>
            </a:r>
            <a:endParaRPr lang="en-US" sz="1600" dirty="0"/>
          </a:p>
          <a:p>
            <a:pPr marL="243840" indent="-24384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涉及配置变更的操作，提前备份配置</a:t>
            </a:r>
            <a:endParaRPr lang="en-US" sz="1600" dirty="0"/>
          </a:p>
          <a:p>
            <a:pPr marL="243840" indent="-24384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漏洞扫描前与客户确认，避免对业务造成影响</a:t>
            </a:r>
            <a:endParaRPr lang="en-US" sz="1600" dirty="0">
              <a:solidFill>
                <a:srgbClr val="374151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33" name="Image 16" descr="https://test.web.static.jianzeppt.com/ppt-temp-img3/90ad6a5230da8b81e88837c5f888c426.png?x-oss-process=image/resize,w_1440,h_800,m_lfit/format,png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alphaModFix amt="16000"/>
          </a:blip>
          <a:stretch>
            <a:fillRect/>
          </a:stretch>
        </p:blipFill>
        <p:spPr>
          <a:xfrm>
            <a:off x="4937760" y="2407920"/>
            <a:ext cx="213360" cy="213360"/>
          </a:xfrm>
          <a:prstGeom prst="rect">
            <a:avLst/>
          </a:prstGeom>
        </p:spPr>
      </p:pic>
      <p:pic>
        <p:nvPicPr>
          <p:cNvPr id="34" name="Image 17" descr="preencoded.png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212080" y="3154680"/>
            <a:ext cx="6370320" cy="914400"/>
          </a:xfrm>
          <a:prstGeom prst="rect">
            <a:avLst/>
          </a:prstGeom>
          <a:effectLst>
            <a:outerShdw blurRad="1548384000" dist="387096000" dir="-1" algn="bl" rotWithShape="0">
              <a:srgbClr val="00234E">
                <a:alpha val="800000000"/>
              </a:srgbClr>
            </a:outerShdw>
          </a:effectLst>
        </p:spPr>
      </p:pic>
      <p:sp>
        <p:nvSpPr>
          <p:cNvPr id="35" name="Text 15"/>
          <p:cNvSpPr/>
          <p:nvPr/>
        </p:nvSpPr>
        <p:spPr>
          <a:xfrm>
            <a:off x="5715000" y="3246120"/>
            <a:ext cx="5617464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43840" indent="-24384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全体项目人员签署保密协议</a:t>
            </a:r>
            <a:endParaRPr lang="en-US" sz="1600" dirty="0"/>
          </a:p>
          <a:p>
            <a:pPr marL="243840" indent="-24384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测评数据严格管理，不携带客户数据离场</a:t>
            </a:r>
            <a:endParaRPr lang="en-US" sz="1600" dirty="0"/>
          </a:p>
          <a:p>
            <a:pPr marL="243840" indent="-24384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报告脱敏处理，不包含原始敏感数据</a:t>
            </a:r>
            <a:endParaRPr lang="en-US" sz="1600" dirty="0">
              <a:solidFill>
                <a:srgbClr val="374151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36" name="Image 18" descr="https://test.web.static.jianzeppt.com/ppt-temp-img3/90ad6a5230da8b81e88837c5f888c426.png?x-oss-process=image/resize,w_1440,h_800,m_lfit/format,png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5">
            <a:alphaModFix amt="16000"/>
          </a:blip>
          <a:stretch>
            <a:fillRect/>
          </a:stretch>
        </p:blipFill>
        <p:spPr>
          <a:xfrm>
            <a:off x="4937760" y="3505200"/>
            <a:ext cx="213360" cy="213360"/>
          </a:xfrm>
          <a:prstGeom prst="rect">
            <a:avLst/>
          </a:prstGeom>
        </p:spPr>
      </p:pic>
      <p:pic>
        <p:nvPicPr>
          <p:cNvPr id="37" name="Image 19" descr="preencoded.png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212080" y="4251960"/>
            <a:ext cx="6370320" cy="914400"/>
          </a:xfrm>
          <a:prstGeom prst="rect">
            <a:avLst/>
          </a:prstGeom>
          <a:effectLst>
            <a:outerShdw blurRad="1548384000" dist="387096000" dir="-1" algn="bl" rotWithShape="0">
              <a:srgbClr val="00234E">
                <a:alpha val="800000000"/>
              </a:srgbClr>
            </a:outerShdw>
          </a:effectLst>
        </p:spPr>
      </p:pic>
      <p:sp>
        <p:nvSpPr>
          <p:cNvPr id="38" name="Text 16"/>
          <p:cNvSpPr/>
          <p:nvPr/>
        </p:nvSpPr>
        <p:spPr>
          <a:xfrm>
            <a:off x="5715000" y="4343400"/>
            <a:ext cx="5617464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43840" indent="-24384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操作前进行配置备份</a:t>
            </a:r>
            <a:endParaRPr lang="en-US" sz="1600" dirty="0"/>
          </a:p>
          <a:p>
            <a:pPr marL="243840" indent="-24384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操作过程中保留操作日志</a:t>
            </a:r>
            <a:endParaRPr lang="en-US" sz="1600" dirty="0"/>
          </a:p>
          <a:p>
            <a:pPr marL="243840" indent="-24384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紧急情况下可进行配置恢复</a:t>
            </a:r>
            <a:endParaRPr lang="en-US" sz="1600" dirty="0">
              <a:solidFill>
                <a:srgbClr val="374151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39" name="Image 20" descr="https://test.web.static.jianzeppt.com/ppt-temp-img3/90ad6a5230da8b81e88837c5f888c426.png?x-oss-process=image/resize,w_1440,h_800,m_lfit/format,png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5">
            <a:alphaModFix amt="16000"/>
          </a:blip>
          <a:stretch>
            <a:fillRect/>
          </a:stretch>
        </p:blipFill>
        <p:spPr>
          <a:xfrm>
            <a:off x="4937760" y="4587240"/>
            <a:ext cx="213360" cy="213360"/>
          </a:xfrm>
          <a:prstGeom prst="rect">
            <a:avLst/>
          </a:prstGeom>
        </p:spPr>
      </p:pic>
      <p:pic>
        <p:nvPicPr>
          <p:cNvPr id="40" name="Image 21" descr="preencoded.png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212080" y="5334000"/>
            <a:ext cx="6370320" cy="914400"/>
          </a:xfrm>
          <a:prstGeom prst="rect">
            <a:avLst/>
          </a:prstGeom>
          <a:effectLst>
            <a:outerShdw blurRad="1548384000" dist="387096000" dir="-1" algn="bl" rotWithShape="0">
              <a:srgbClr val="00234E">
                <a:alpha val="800000000"/>
              </a:srgbClr>
            </a:outerShdw>
          </a:effectLst>
        </p:spPr>
      </p:pic>
      <p:sp>
        <p:nvSpPr>
          <p:cNvPr id="41" name="Text 17"/>
          <p:cNvSpPr/>
          <p:nvPr/>
        </p:nvSpPr>
        <p:spPr>
          <a:xfrm>
            <a:off x="5715000" y="5448300"/>
            <a:ext cx="5617464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43840" indent="-24384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提前与客户确认时间安排</a:t>
            </a:r>
            <a:endParaRPr lang="en-US" sz="1600" dirty="0"/>
          </a:p>
          <a:p>
            <a:pPr marL="243840" indent="-24384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每日汇总进度，及时调整</a:t>
            </a:r>
            <a:endParaRPr lang="en-US" sz="1600" dirty="0"/>
          </a:p>
          <a:p>
            <a:pPr marL="243840" indent="-243840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设置缓冲时间应对突发情况</a:t>
            </a:r>
            <a:endParaRPr lang="en-US" sz="1600" dirty="0">
              <a:solidFill>
                <a:srgbClr val="374151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42" name="Image 22" descr="https://test.web.static.jianzeppt.com/ppt-temp-img3/90ad6a5230da8b81e88837c5f888c426.png?x-oss-process=image/resize,w_1440,h_800,m_lfit/format,png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5">
            <a:alphaModFix amt="16000"/>
          </a:blip>
          <a:stretch>
            <a:fillRect/>
          </a:stretch>
        </p:blipFill>
        <p:spPr>
          <a:xfrm>
            <a:off x="4937760" y="5684520"/>
            <a:ext cx="213360" cy="213360"/>
          </a:xfrm>
          <a:prstGeom prst="rect">
            <a:avLst/>
          </a:prstGeom>
        </p:spPr>
      </p:pic>
      <p:sp>
        <p:nvSpPr>
          <p:cNvPr id="43" name="Text 18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测评方案模板（第九章 风险控制）</a:t>
            </a:r>
            <a:endParaRPr lang="en-US" sz="276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https://test.web.static.jianzeppt.com/ppt-temp-img3/f360be421ff961165cf40878441c93af.png?x-oss-process=image/resize,w_1440,h_800,m_lfit/format,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4220" y="1089660"/>
            <a:ext cx="5904865" cy="487680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4740910" y="1371600"/>
            <a:ext cx="2874264" cy="7816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63000"/>
              </a:lnSpc>
              <a:buNone/>
            </a:pPr>
            <a:r>
              <a:rPr lang="zh-CN" altLang="en-US" sz="1560" b="1" dirty="0"/>
              <a:t>信息安全等级保护测评方案</a:t>
            </a:r>
            <a:endParaRPr lang="zh-CN" altLang="en-US" sz="1560" b="1" dirty="0"/>
          </a:p>
          <a:p>
            <a:pPr marL="0" indent="0" algn="ctr">
              <a:lnSpc>
                <a:spcPct val="163000"/>
              </a:lnSpc>
              <a:buNone/>
            </a:pPr>
            <a:r>
              <a:rPr lang="zh-CN" altLang="en-US" sz="1560" b="1" dirty="0"/>
              <a:t>（项目经理 · 第一责任人 签字页）</a:t>
            </a:r>
            <a:endParaRPr lang="zh-CN" altLang="en-US" sz="1560" b="1" dirty="0"/>
          </a:p>
        </p:txBody>
      </p:sp>
      <p:sp>
        <p:nvSpPr>
          <p:cNvPr id="24" name="Text 12"/>
          <p:cNvSpPr/>
          <p:nvPr/>
        </p:nvSpPr>
        <p:spPr>
          <a:xfrm>
            <a:off x="822497" y="531937"/>
            <a:ext cx="6604000" cy="42418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生成方案 · 签字确认定稿</a:t>
            </a:r>
            <a:endParaRPr lang="en-US" sz="2760" dirty="0"/>
          </a:p>
        </p:txBody>
      </p:sp>
      <p:sp>
        <p:nvSpPr>
          <p:cNvPr id="25" name="文本框 24"/>
          <p:cNvSpPr txBox="1"/>
          <p:nvPr/>
        </p:nvSpPr>
        <p:spPr>
          <a:xfrm>
            <a:off x="3838575" y="2762250"/>
            <a:ext cx="5282565" cy="2461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方案生成：系统自动汇总挑战一全部作答，输出完整《测评方案》</a:t>
            </a:r>
            <a:endParaRPr lang="zh-CN" altLang="en-US" sz="1400"/>
          </a:p>
          <a:p>
            <a:r>
              <a:rPr lang="zh-CN" altLang="en-US" sz="1400"/>
              <a:t>九章内容：封面 / 概述 / 依据 / 范围 / 对象 / 指标 / 方法 / 日程 / 分工 / 风险</a:t>
            </a:r>
            <a:endParaRPr lang="zh-CN" altLang="en-US" sz="1400"/>
          </a:p>
          <a:p>
            <a:r>
              <a:rPr lang="zh-CN" altLang="en-US" sz="1400"/>
              <a:t>审阅确认：逐章审阅 → 确认使用该方案</a:t>
            </a:r>
            <a:endParaRPr lang="zh-CN" altLang="en-US" sz="1400"/>
          </a:p>
          <a:p>
            <a:r>
              <a:rPr lang="zh-CN" altLang="en-US" sz="1400"/>
              <a:t>签字定稿：作为项目经理（第一责任人）签署姓名，方案方才生效</a:t>
            </a:r>
            <a:endParaRPr lang="zh-CN" altLang="en-US" sz="1400"/>
          </a:p>
          <a:p>
            <a:r>
              <a:rPr lang="zh-CN" altLang="en-US" sz="1400"/>
              <a:t>如有疑问：点击「返回重新检查方案」，回到对应关卡修正作答</a:t>
            </a:r>
            <a:endParaRPr lang="zh-CN" altLang="en-US" sz="1400"/>
          </a:p>
          <a:p>
            <a:r>
              <a:rPr lang="zh-CN" altLang="en-US" sz="1400"/>
              <a:t>项目经理签字：______________　　日期：______________</a:t>
            </a:r>
            <a:endParaRPr lang="zh-CN" altLang="en-US" sz="1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310" y="1009650"/>
            <a:ext cx="2181225" cy="48387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81965" y="1549400"/>
            <a:ext cx="640715" cy="365760"/>
          </a:xfrm>
          <a:prstGeom prst="rect">
            <a:avLst/>
          </a:prstGeom>
          <a:ln w="28575"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0_isShadow_0/963919ed-6c17-4175-b7cd-9f6f68e9281a_image_bfa09951aac8ef12bda28134c4f0ccbf_6317120.png?x-oss-process=image/resize,w_1440,h_800,m_lfit/format,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oss.jianzeppt.com/editablePptPic/isIllustration_2_isShadow_0/963919ed-6c17-4175-b7cd-9f6f68e9281a_image_07a8056c7e2e5d5ef6e9d1784e394b53_6317120.png?x-oss-process=image/resize,w_1440,h_800,m_lfit/format,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8" y="209725"/>
            <a:ext cx="11778103" cy="6283330"/>
          </a:xfrm>
          <a:prstGeom prst="rect">
            <a:avLst/>
          </a:prstGeom>
        </p:spPr>
      </p:pic>
      <p:pic>
        <p:nvPicPr>
          <p:cNvPr id="4" name="Image 2" descr="https://oss.jianzeppt.com/editablePptPic/isIllustration_2_isShadow_0/963919ed-6c17-4175-b7cd-9f6f68e9281a_image_80046a0a175f9ef5a0ce4ead2afc2151_6317120.png?x-oss-process=image/resize,w_1440,h_800,m_lfit/format,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6" y="550584"/>
            <a:ext cx="116485" cy="4299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1371600"/>
            <a:ext cx="5364480" cy="23164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8680" y="1630680"/>
            <a:ext cx="365760" cy="36576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944880" y="1676400"/>
            <a:ext cx="23774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01</a:t>
            </a:r>
            <a:endParaRPr lang="en-US" sz="1440" dirty="0"/>
          </a:p>
        </p:txBody>
      </p:sp>
      <p:sp>
        <p:nvSpPr>
          <p:cNvPr id="8" name="Text 1"/>
          <p:cNvSpPr/>
          <p:nvPr/>
        </p:nvSpPr>
        <p:spPr>
          <a:xfrm>
            <a:off x="1356360" y="1584960"/>
            <a:ext cx="18379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本节核心要点</a:t>
            </a:r>
            <a:endParaRPr lang="en-US" sz="2400" dirty="0"/>
          </a:p>
        </p:txBody>
      </p:sp>
      <p:sp>
        <p:nvSpPr>
          <p:cNvPr id="9" name="Text 2"/>
          <p:cNvSpPr/>
          <p:nvPr/>
        </p:nvSpPr>
        <p:spPr>
          <a:xfrm>
            <a:off x="868680" y="2118360"/>
            <a:ext cx="4855464" cy="5162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①方案编制的“六步法”——解读定级→分析架构→确定范围→选取对象→确定指标→编制方案</a:t>
            </a:r>
            <a:endParaRPr lang="en-US" sz="1680" dirty="0"/>
          </a:p>
        </p:txBody>
      </p:sp>
      <p:sp>
        <p:nvSpPr>
          <p:cNvPr id="10" name="Text 3"/>
          <p:cNvSpPr/>
          <p:nvPr/>
        </p:nvSpPr>
        <p:spPr>
          <a:xfrm>
            <a:off x="868680" y="2667635"/>
            <a:ext cx="2560320" cy="2578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②测评对象选取的四大原则</a:t>
            </a:r>
            <a:endParaRPr lang="en-US" sz="1680" dirty="0"/>
          </a:p>
        </p:txBody>
      </p:sp>
      <p:sp>
        <p:nvSpPr>
          <p:cNvPr id="11" name="Text 4"/>
          <p:cNvSpPr/>
          <p:nvPr/>
        </p:nvSpPr>
        <p:spPr>
          <a:xfrm>
            <a:off x="868680" y="2959100"/>
            <a:ext cx="2773680" cy="2578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③测评指标选取的适用性判断</a:t>
            </a:r>
            <a:endParaRPr lang="en-US" sz="1680" dirty="0"/>
          </a:p>
        </p:txBody>
      </p:sp>
      <p:pic>
        <p:nvPicPr>
          <p:cNvPr id="12" name="Image 5" descr="https://test.web.static.jianzeppt.com/ppt-temp-img3/4fa993c4174dc748d59e08178f34ca03.png?x-oss-process=image/resize,w_1440,h_800,m_lfit/format,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1371600"/>
            <a:ext cx="5364480" cy="2316480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1661160"/>
            <a:ext cx="365760" cy="36576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6553200" y="1706880"/>
            <a:ext cx="23774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02</a:t>
            </a:r>
            <a:endParaRPr lang="en-US" sz="1440" dirty="0"/>
          </a:p>
        </p:txBody>
      </p:sp>
      <p:sp>
        <p:nvSpPr>
          <p:cNvPr id="15" name="Text 6"/>
          <p:cNvSpPr/>
          <p:nvPr/>
        </p:nvSpPr>
        <p:spPr>
          <a:xfrm>
            <a:off x="6964680" y="1615440"/>
            <a:ext cx="18379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质量自检清单</a:t>
            </a:r>
            <a:endParaRPr lang="en-US" sz="2400" dirty="0"/>
          </a:p>
        </p:txBody>
      </p:sp>
      <p:sp>
        <p:nvSpPr>
          <p:cNvPr id="16" name="Text 7"/>
          <p:cNvSpPr/>
          <p:nvPr/>
        </p:nvSpPr>
        <p:spPr>
          <a:xfrm>
            <a:off x="6477000" y="2164080"/>
            <a:ext cx="176784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20" dirty="0">
                <a:solidFill>
                  <a:srgbClr val="00234E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☑</a:t>
            </a:r>
            <a:endParaRPr lang="en-US" sz="1320" dirty="0"/>
          </a:p>
        </p:txBody>
      </p:sp>
      <p:sp>
        <p:nvSpPr>
          <p:cNvPr id="17" name="Text 8"/>
          <p:cNvSpPr/>
          <p:nvPr/>
        </p:nvSpPr>
        <p:spPr>
          <a:xfrm>
            <a:off x="6705600" y="2148840"/>
            <a:ext cx="112166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封面信息完整</a:t>
            </a:r>
            <a:endParaRPr lang="en-US" sz="1440" dirty="0"/>
          </a:p>
        </p:txBody>
      </p:sp>
      <p:sp>
        <p:nvSpPr>
          <p:cNvPr id="18" name="Text 9"/>
          <p:cNvSpPr/>
          <p:nvPr/>
        </p:nvSpPr>
        <p:spPr>
          <a:xfrm>
            <a:off x="8961120" y="2164080"/>
            <a:ext cx="176784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20" dirty="0">
                <a:solidFill>
                  <a:srgbClr val="00234E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☑</a:t>
            </a:r>
            <a:endParaRPr lang="en-US" sz="1320" dirty="0"/>
          </a:p>
        </p:txBody>
      </p:sp>
      <p:sp>
        <p:nvSpPr>
          <p:cNvPr id="19" name="Text 10"/>
          <p:cNvSpPr/>
          <p:nvPr/>
        </p:nvSpPr>
        <p:spPr>
          <a:xfrm>
            <a:off x="9189720" y="2148840"/>
            <a:ext cx="112166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项目概述清晰</a:t>
            </a:r>
            <a:endParaRPr lang="en-US" sz="1440" dirty="0"/>
          </a:p>
        </p:txBody>
      </p:sp>
      <p:sp>
        <p:nvSpPr>
          <p:cNvPr id="20" name="Text 11"/>
          <p:cNvSpPr/>
          <p:nvPr/>
        </p:nvSpPr>
        <p:spPr>
          <a:xfrm>
            <a:off x="6477000" y="2438400"/>
            <a:ext cx="176784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20" dirty="0">
                <a:solidFill>
                  <a:srgbClr val="00234E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☑</a:t>
            </a:r>
            <a:endParaRPr lang="en-US" sz="1320" dirty="0"/>
          </a:p>
        </p:txBody>
      </p:sp>
      <p:sp>
        <p:nvSpPr>
          <p:cNvPr id="21" name="Text 12"/>
          <p:cNvSpPr/>
          <p:nvPr/>
        </p:nvSpPr>
        <p:spPr>
          <a:xfrm>
            <a:off x="6705600" y="2423160"/>
            <a:ext cx="112166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依据列明标准</a:t>
            </a:r>
            <a:endParaRPr lang="en-US" sz="1440" dirty="0"/>
          </a:p>
        </p:txBody>
      </p:sp>
      <p:sp>
        <p:nvSpPr>
          <p:cNvPr id="22" name="Text 13"/>
          <p:cNvSpPr/>
          <p:nvPr/>
        </p:nvSpPr>
        <p:spPr>
          <a:xfrm>
            <a:off x="8961120" y="2438400"/>
            <a:ext cx="176784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20" dirty="0">
                <a:solidFill>
                  <a:srgbClr val="00234E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☑</a:t>
            </a:r>
            <a:endParaRPr lang="en-US" sz="1320" dirty="0"/>
          </a:p>
        </p:txBody>
      </p:sp>
      <p:sp>
        <p:nvSpPr>
          <p:cNvPr id="23" name="Text 14"/>
          <p:cNvSpPr/>
          <p:nvPr/>
        </p:nvSpPr>
        <p:spPr>
          <a:xfrm>
            <a:off x="9189720" y="2423160"/>
            <a:ext cx="112166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测评范围明确</a:t>
            </a:r>
            <a:endParaRPr lang="en-US" sz="1440" dirty="0"/>
          </a:p>
        </p:txBody>
      </p:sp>
      <p:sp>
        <p:nvSpPr>
          <p:cNvPr id="24" name="Text 15"/>
          <p:cNvSpPr/>
          <p:nvPr/>
        </p:nvSpPr>
        <p:spPr>
          <a:xfrm>
            <a:off x="6477000" y="2697480"/>
            <a:ext cx="176784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20" dirty="0">
                <a:solidFill>
                  <a:srgbClr val="00234E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☑</a:t>
            </a:r>
            <a:endParaRPr lang="en-US" sz="1320" dirty="0"/>
          </a:p>
        </p:txBody>
      </p:sp>
      <p:sp>
        <p:nvSpPr>
          <p:cNvPr id="25" name="Text 16"/>
          <p:cNvSpPr/>
          <p:nvPr/>
        </p:nvSpPr>
        <p:spPr>
          <a:xfrm>
            <a:off x="6705600" y="2682240"/>
            <a:ext cx="112166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对象清单完整</a:t>
            </a:r>
            <a:endParaRPr lang="en-US" sz="1440" dirty="0"/>
          </a:p>
        </p:txBody>
      </p:sp>
      <p:sp>
        <p:nvSpPr>
          <p:cNvPr id="26" name="Text 17"/>
          <p:cNvSpPr/>
          <p:nvPr/>
        </p:nvSpPr>
        <p:spPr>
          <a:xfrm>
            <a:off x="8961120" y="2697480"/>
            <a:ext cx="176784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20" dirty="0">
                <a:solidFill>
                  <a:srgbClr val="00234E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☑</a:t>
            </a:r>
            <a:endParaRPr lang="en-US" sz="1320" dirty="0"/>
          </a:p>
        </p:txBody>
      </p:sp>
      <p:sp>
        <p:nvSpPr>
          <p:cNvPr id="27" name="Text 18"/>
          <p:cNvSpPr/>
          <p:nvPr/>
        </p:nvSpPr>
        <p:spPr>
          <a:xfrm>
            <a:off x="9189720" y="2682240"/>
            <a:ext cx="112166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指标清单完整</a:t>
            </a:r>
            <a:endParaRPr lang="en-US" sz="1440" dirty="0"/>
          </a:p>
        </p:txBody>
      </p:sp>
      <p:sp>
        <p:nvSpPr>
          <p:cNvPr id="28" name="Text 19"/>
          <p:cNvSpPr/>
          <p:nvPr/>
        </p:nvSpPr>
        <p:spPr>
          <a:xfrm>
            <a:off x="6477000" y="2956560"/>
            <a:ext cx="176784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20" dirty="0">
                <a:solidFill>
                  <a:srgbClr val="00234E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☑</a:t>
            </a:r>
            <a:endParaRPr lang="en-US" sz="1320" dirty="0"/>
          </a:p>
        </p:txBody>
      </p:sp>
      <p:sp>
        <p:nvSpPr>
          <p:cNvPr id="29" name="Text 20"/>
          <p:cNvSpPr/>
          <p:nvPr/>
        </p:nvSpPr>
        <p:spPr>
          <a:xfrm>
            <a:off x="6705600" y="2941320"/>
            <a:ext cx="112166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方法描述具体</a:t>
            </a:r>
            <a:endParaRPr lang="en-US" sz="1440" dirty="0"/>
          </a:p>
        </p:txBody>
      </p:sp>
      <p:sp>
        <p:nvSpPr>
          <p:cNvPr id="30" name="Text 21"/>
          <p:cNvSpPr/>
          <p:nvPr/>
        </p:nvSpPr>
        <p:spPr>
          <a:xfrm>
            <a:off x="8961120" y="2956560"/>
            <a:ext cx="176784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20" dirty="0">
                <a:solidFill>
                  <a:srgbClr val="00234E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☑</a:t>
            </a:r>
            <a:endParaRPr lang="en-US" sz="1320" dirty="0"/>
          </a:p>
        </p:txBody>
      </p:sp>
      <p:sp>
        <p:nvSpPr>
          <p:cNvPr id="31" name="Text 22"/>
          <p:cNvSpPr/>
          <p:nvPr/>
        </p:nvSpPr>
        <p:spPr>
          <a:xfrm>
            <a:off x="9189720" y="2941320"/>
            <a:ext cx="112166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日程安排合理</a:t>
            </a:r>
            <a:endParaRPr lang="en-US" sz="1440" dirty="0"/>
          </a:p>
        </p:txBody>
      </p:sp>
      <p:sp>
        <p:nvSpPr>
          <p:cNvPr id="32" name="Text 23"/>
          <p:cNvSpPr/>
          <p:nvPr/>
        </p:nvSpPr>
        <p:spPr>
          <a:xfrm>
            <a:off x="6477000" y="3230880"/>
            <a:ext cx="176784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20" dirty="0">
                <a:solidFill>
                  <a:srgbClr val="00234E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☑</a:t>
            </a:r>
            <a:endParaRPr lang="en-US" sz="1320" dirty="0"/>
          </a:p>
        </p:txBody>
      </p:sp>
      <p:sp>
        <p:nvSpPr>
          <p:cNvPr id="33" name="Text 24"/>
          <p:cNvSpPr/>
          <p:nvPr/>
        </p:nvSpPr>
        <p:spPr>
          <a:xfrm>
            <a:off x="6705600" y="3215640"/>
            <a:ext cx="112166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人员分工明确</a:t>
            </a:r>
            <a:endParaRPr lang="en-US" sz="1440" dirty="0"/>
          </a:p>
        </p:txBody>
      </p:sp>
      <p:sp>
        <p:nvSpPr>
          <p:cNvPr id="34" name="Text 25"/>
          <p:cNvSpPr/>
          <p:nvPr/>
        </p:nvSpPr>
        <p:spPr>
          <a:xfrm>
            <a:off x="8961120" y="3230880"/>
            <a:ext cx="176784" cy="2095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20" dirty="0">
                <a:solidFill>
                  <a:srgbClr val="00234E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☑</a:t>
            </a:r>
            <a:endParaRPr lang="en-US" sz="1320" dirty="0"/>
          </a:p>
        </p:txBody>
      </p:sp>
      <p:sp>
        <p:nvSpPr>
          <p:cNvPr id="35" name="Text 26"/>
          <p:cNvSpPr/>
          <p:nvPr/>
        </p:nvSpPr>
        <p:spPr>
          <a:xfrm>
            <a:off x="9189720" y="3215640"/>
            <a:ext cx="1121664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4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格式规范通顺</a:t>
            </a:r>
            <a:endParaRPr lang="en-US" sz="144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3931920"/>
            <a:ext cx="5364480" cy="2316480"/>
          </a:xfrm>
          <a:prstGeom prst="rect">
            <a:avLst/>
          </a:prstGeom>
          <a:effectLst>
            <a:outerShdw blurRad="387096000" dist="193548000" dir="-1" algn="bl" rotWithShape="0">
              <a:srgbClr val="000000">
                <a:alpha val="500000000"/>
              </a:srgbClr>
            </a:outerShdw>
          </a:effectLst>
        </p:spPr>
      </p:pic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8680" y="4221480"/>
            <a:ext cx="365760" cy="36576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944880" y="4267200"/>
            <a:ext cx="237744" cy="2590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03</a:t>
            </a:r>
            <a:endParaRPr lang="en-US" sz="1440" dirty="0"/>
          </a:p>
        </p:txBody>
      </p:sp>
      <p:sp>
        <p:nvSpPr>
          <p:cNvPr id="39" name="Text 28"/>
          <p:cNvSpPr/>
          <p:nvPr/>
        </p:nvSpPr>
        <p:spPr>
          <a:xfrm>
            <a:off x="1356360" y="417576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234E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课后作业</a:t>
            </a:r>
            <a:endParaRPr lang="en-US" sz="2400" dirty="0"/>
          </a:p>
        </p:txBody>
      </p:sp>
      <p:sp>
        <p:nvSpPr>
          <p:cNvPr id="40" name="Text 29"/>
          <p:cNvSpPr/>
          <p:nvPr/>
        </p:nvSpPr>
        <p:spPr>
          <a:xfrm>
            <a:off x="868680" y="4754880"/>
            <a:ext cx="4851400" cy="5162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① 在闯关平台完成「挑战二·现场核查」「挑战三·报告交付」</a:t>
            </a:r>
            <a:endParaRPr lang="en-US" sz="1680" dirty="0"/>
          </a:p>
        </p:txBody>
      </p:sp>
      <p:sp>
        <p:nvSpPr>
          <p:cNvPr id="41" name="Text 30"/>
          <p:cNvSpPr/>
          <p:nvPr/>
        </p:nvSpPr>
        <p:spPr>
          <a:xfrm>
            <a:off x="868680" y="5394960"/>
            <a:ext cx="4851400" cy="2578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② 依据“XX市教育局管理平台”数据，独立编制完整测评方案</a:t>
            </a:r>
            <a:endParaRPr lang="en-US" sz="1680" dirty="0">
              <a:solidFill>
                <a:srgbClr val="374151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sp>
        <p:nvSpPr>
          <p:cNvPr id="42" name="Text 31"/>
          <p:cNvSpPr/>
          <p:nvPr/>
        </p:nvSpPr>
        <p:spPr>
          <a:xfrm>
            <a:off x="868680" y="5745480"/>
            <a:ext cx="4851400" cy="2578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③ 提交学习通；预习“安全物理环境与通信网络测评”</a:t>
            </a:r>
            <a:endParaRPr lang="en-US" sz="1680" dirty="0">
              <a:solidFill>
                <a:srgbClr val="374151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17920" y="3931920"/>
            <a:ext cx="5364480" cy="2316480"/>
          </a:xfrm>
          <a:prstGeom prst="rect">
            <a:avLst/>
          </a:prstGeom>
          <a:effectLst>
            <a:outerShdw blurRad="1161288000" dist="774192000" dir="-1" algn="bl" rotWithShape="0">
              <a:srgbClr val="000000">
                <a:alpha val="1000000000"/>
              </a:srgbClr>
            </a:outerShdw>
          </a:effectLst>
        </p:spPr>
      </p:pic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61760" y="4221480"/>
            <a:ext cx="365760" cy="365760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6949440" y="4175760"/>
            <a:ext cx="1228344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思政小结</a:t>
            </a:r>
            <a:endParaRPr lang="en-US" sz="2400" dirty="0"/>
          </a:p>
        </p:txBody>
      </p:sp>
      <p:sp>
        <p:nvSpPr>
          <p:cNvPr id="46" name="Text 33"/>
          <p:cNvSpPr/>
          <p:nvPr/>
        </p:nvSpPr>
        <p:spPr>
          <a:xfrm>
            <a:off x="6461760" y="4815840"/>
            <a:ext cx="4885944" cy="10826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63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    方案是测评工作的“施工蓝图”。懂标准、会分析、写理由、敢担责——</a:t>
            </a:r>
            <a:endParaRPr lang="en-US" sz="1440" dirty="0"/>
          </a:p>
          <a:p>
            <a:pPr marL="0" indent="0" algn="l">
              <a:lnSpc>
                <a:spcPct val="163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思源黑体 CN Bold" pitchFamily="34" charset="0"/>
                <a:ea typeface="思源黑体 CN Bold" pitchFamily="34" charset="-122"/>
                <a:cs typeface="思源黑体 CN Bold" pitchFamily="34" charset="-120"/>
              </a:rPr>
              <a:t>    以工匠精神对待每一份方案，以法治意识与责任担当，守护政务系统网络安全第一道关口。</a:t>
            </a:r>
            <a:endParaRPr lang="en-US" sz="1440" dirty="0"/>
          </a:p>
        </p:txBody>
      </p:sp>
      <p:sp>
        <p:nvSpPr>
          <p:cNvPr id="47" name="Text 34"/>
          <p:cNvSpPr/>
          <p:nvPr/>
        </p:nvSpPr>
        <p:spPr>
          <a:xfrm>
            <a:off x="822497" y="529635"/>
            <a:ext cx="10918068" cy="426482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60" dirty="0">
                <a:solidFill>
                  <a:srgbClr val="1E1E1E"/>
                </a:solidFill>
              </a:rPr>
              <a:t>小结与课后作业</a:t>
            </a:r>
            <a:endParaRPr lang="en-US" sz="2760" dirty="0"/>
          </a:p>
        </p:txBody>
      </p:sp>
      <p:sp>
        <p:nvSpPr>
          <p:cNvPr id="48" name="Text 4"/>
          <p:cNvSpPr/>
          <p:nvPr/>
        </p:nvSpPr>
        <p:spPr>
          <a:xfrm>
            <a:off x="880110" y="3263900"/>
            <a:ext cx="2045970" cy="2578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80" dirty="0">
                <a:solidFill>
                  <a:srgbClr val="374151"/>
                </a:solidFill>
                <a:latin typeface="思源黑体 CN" panose="020B0800000000000000" pitchFamily="34" charset="-122"/>
                <a:ea typeface="思源黑体 CN" panose="020B0800000000000000" pitchFamily="34" charset="-122"/>
                <a:cs typeface="思源黑体 CN" panose="020B0800000000000000" pitchFamily="34" charset="-120"/>
              </a:rPr>
              <a:t>④方案结构的9个章节</a:t>
            </a:r>
            <a:endParaRPr lang="en-US" sz="1680" dirty="0">
              <a:solidFill>
                <a:srgbClr val="374151"/>
              </a:solidFill>
              <a:latin typeface="思源黑体 CN" panose="020B0800000000000000" pitchFamily="34" charset="-122"/>
              <a:ea typeface="思源黑体 CN" panose="020B0800000000000000" pitchFamily="34" charset="-122"/>
              <a:cs typeface="思源黑体 CN" panose="020B0800000000000000" pitchFamily="34" charset="-12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2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3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4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5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6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7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8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9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10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11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12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13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14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15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16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17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18.xml><?xml version="1.0" encoding="utf-8"?>
<p:tagLst xmlns:p="http://schemas.openxmlformats.org/presentationml/2006/main">
  <p:tag name="KSO_WM_DIAGRAM_VIRTUALLY_FRAME" val="{&quot;height&quot;:444,&quot;left&quot;:356.4,&quot;top&quot;:48,&quot;width&quot;:556.8}"/>
</p:tagLst>
</file>

<file path=ppt/tags/tag19.xml><?xml version="1.0" encoding="utf-8"?>
<p:tagLst xmlns:p="http://schemas.openxmlformats.org/presentationml/2006/main">
  <p:tag name="KSO_WM_DIAGRAM_VIRTUALLY_FRAME" val="{&quot;height&quot;:151.5,&quot;left&quot;:511.8,&quot;top&quot;:84.45,&quot;width&quot;:424.8}"/>
</p:tagLst>
</file>

<file path=ppt/tags/tag20.xml><?xml version="1.0" encoding="utf-8"?>
<p:tagLst xmlns:p="http://schemas.openxmlformats.org/presentationml/2006/main">
  <p:tag name="KSO_WM_DIAGRAM_VIRTUALLY_FRAME" val="{&quot;height&quot;:151.5,&quot;left&quot;:511.8,&quot;top&quot;:84.45,&quot;width&quot;:424.8}"/>
</p:tagLst>
</file>

<file path=ppt/tags/tag21.xml><?xml version="1.0" encoding="utf-8"?>
<p:tagLst xmlns:p="http://schemas.openxmlformats.org/presentationml/2006/main">
  <p:tag name="KSO_WM_DIAGRAM_VIRTUALLY_FRAME" val="{&quot;height&quot;:151.5,&quot;left&quot;:511.8,&quot;top&quot;:84.45,&quot;width&quot;:424.8}"/>
</p:tagLst>
</file>

<file path=ppt/tags/tag22.xml><?xml version="1.0" encoding="utf-8"?>
<p:tagLst xmlns:p="http://schemas.openxmlformats.org/presentationml/2006/main">
  <p:tag name="KSO_WM_DIAGRAM_VIRTUALLY_FRAME" val="{&quot;height&quot;:151.5,&quot;left&quot;:511.8,&quot;top&quot;:84.45,&quot;width&quot;:424.8}"/>
</p:tagLst>
</file>

<file path=ppt/tags/tag23.xml><?xml version="1.0" encoding="utf-8"?>
<p:tagLst xmlns:p="http://schemas.openxmlformats.org/presentationml/2006/main">
  <p:tag name="KSO_WM_DIAGRAM_VIRTUALLY_FRAME" val="{&quot;height&quot;:151.5,&quot;left&quot;:511.8,&quot;top&quot;:84.45,&quot;width&quot;:424.8}"/>
</p:tagLst>
</file>

<file path=ppt/tags/tag24.xml><?xml version="1.0" encoding="utf-8"?>
<p:tagLst xmlns:p="http://schemas.openxmlformats.org/presentationml/2006/main">
  <p:tag name="KSO_WM_DIAGRAM_VIRTUALLY_FRAME" val="{&quot;height&quot;:151.5,&quot;left&quot;:511.8,&quot;top&quot;:84.45,&quot;width&quot;:424.8}"/>
</p:tagLst>
</file>

<file path=ppt/tags/tag25.xml><?xml version="1.0" encoding="utf-8"?>
<p:tagLst xmlns:p="http://schemas.openxmlformats.org/presentationml/2006/main">
  <p:tag name="KSO_WM_DIAGRAM_VIRTUALLY_FRAME" val="{&quot;height&quot;:151.5,&quot;left&quot;:511.8,&quot;top&quot;:84.45,&quot;width&quot;:424.8}"/>
</p:tagLst>
</file>

<file path=ppt/tags/tag26.xml><?xml version="1.0" encoding="utf-8"?>
<p:tagLst xmlns:p="http://schemas.openxmlformats.org/presentationml/2006/main">
  <p:tag name="KSO_WM_DIAGRAM_VIRTUALLY_FRAME" val="{&quot;height&quot;:151.5,&quot;left&quot;:511.8,&quot;top&quot;:84.45,&quot;width&quot;:424.8}"/>
</p:tagLst>
</file>

<file path=ppt/tags/tag27.xml><?xml version="1.0" encoding="utf-8"?>
<p:tagLst xmlns:p="http://schemas.openxmlformats.org/presentationml/2006/main">
  <p:tag name="KSO_WM_DIAGRAM_VIRTUALLY_FRAME" val="{&quot;height&quot;:151.5,&quot;left&quot;:511.8,&quot;top&quot;:84.45,&quot;width&quot;:424.8}"/>
</p:tagLst>
</file>

<file path=ppt/tags/tag28.xml><?xml version="1.0" encoding="utf-8"?>
<p:tagLst xmlns:p="http://schemas.openxmlformats.org/presentationml/2006/main">
  <p:tag name="KSO_WM_DIAGRAM_VIRTUALLY_FRAME" val="{&quot;height&quot;:351.6,&quot;left&quot;:48,&quot;top&quot;:92.4,&quot;width&quot;:864}"/>
</p:tagLst>
</file>

<file path=ppt/tags/tag29.xml><?xml version="1.0" encoding="utf-8"?>
<p:tagLst xmlns:p="http://schemas.openxmlformats.org/presentationml/2006/main">
  <p:tag name="KSO_WM_DIAGRAM_VIRTUALLY_FRAME" val="{&quot;height&quot;:351.6,&quot;left&quot;:48,&quot;top&quot;:92.4,&quot;width&quot;:864}"/>
</p:tagLst>
</file>

<file path=ppt/tags/tag30.xml><?xml version="1.0" encoding="utf-8"?>
<p:tagLst xmlns:p="http://schemas.openxmlformats.org/presentationml/2006/main">
  <p:tag name="KSO_WM_DIAGRAM_VIRTUALLY_FRAME" val="{&quot;height&quot;:351.6,&quot;left&quot;:48,&quot;top&quot;:92.4,&quot;width&quot;:864}"/>
</p:tagLst>
</file>

<file path=ppt/tags/tag31.xml><?xml version="1.0" encoding="utf-8"?>
<p:tagLst xmlns:p="http://schemas.openxmlformats.org/presentationml/2006/main">
  <p:tag name="KSO_WM_DIAGRAM_VIRTUALLY_FRAME" val="{&quot;height&quot;:351.6,&quot;left&quot;:48,&quot;top&quot;:92.4,&quot;width&quot;:864}"/>
</p:tagLst>
</file>

<file path=ppt/tags/tag32.xml><?xml version="1.0" encoding="utf-8"?>
<p:tagLst xmlns:p="http://schemas.openxmlformats.org/presentationml/2006/main">
  <p:tag name="KSO_WM_DIAGRAM_VIRTUALLY_FRAME" val="{&quot;height&quot;:351.6,&quot;left&quot;:48,&quot;top&quot;:92.4,&quot;width&quot;:864}"/>
</p:tagLst>
</file>

<file path=ppt/tags/tag33.xml><?xml version="1.0" encoding="utf-8"?>
<p:tagLst xmlns:p="http://schemas.openxmlformats.org/presentationml/2006/main">
  <p:tag name="KSO_WM_DIAGRAM_VIRTUALLY_FRAME" val="{&quot;height&quot;:351.6,&quot;left&quot;:48,&quot;top&quot;:92.4,&quot;width&quot;:864}"/>
</p:tagLst>
</file>

<file path=ppt/tags/tag34.xml><?xml version="1.0" encoding="utf-8"?>
<p:tagLst xmlns:p="http://schemas.openxmlformats.org/presentationml/2006/main">
  <p:tag name="KSO_WM_DIAGRAM_VIRTUALLY_FRAME" val="{&quot;height&quot;:351.6,&quot;left&quot;:48,&quot;top&quot;:92.4,&quot;width&quot;:864}"/>
</p:tagLst>
</file>

<file path=ppt/tags/tag35.xml><?xml version="1.0" encoding="utf-8"?>
<p:tagLst xmlns:p="http://schemas.openxmlformats.org/presentationml/2006/main">
  <p:tag name="KSO_WM_DIAGRAM_VIRTUALLY_FRAME" val="{&quot;height&quot;:351.6,&quot;left&quot;:48,&quot;top&quot;:92.4,&quot;width&quot;:864}"/>
</p:tagLst>
</file>

<file path=ppt/tags/tag36.xml><?xml version="1.0" encoding="utf-8"?>
<p:tagLst xmlns:p="http://schemas.openxmlformats.org/presentationml/2006/main">
  <p:tag name="KSO_WM_DIAGRAM_VIRTUALLY_FRAME" val="{&quot;height&quot;:351.6,&quot;left&quot;:48,&quot;top&quot;:92.4,&quot;width&quot;:864}"/>
</p:tagLst>
</file>

<file path=ppt/tags/tag37.xml><?xml version="1.0" encoding="utf-8"?>
<p:tagLst xmlns:p="http://schemas.openxmlformats.org/presentationml/2006/main">
  <p:tag name="KSO_WM_DIAGRAM_VIRTUALLY_FRAME" val="{&quot;height&quot;:351.6,&quot;left&quot;:48,&quot;top&quot;:92.4,&quot;width&quot;:864}"/>
</p:tagLst>
</file>

<file path=ppt/tags/tag38.xml><?xml version="1.0" encoding="utf-8"?>
<p:tagLst xmlns:p="http://schemas.openxmlformats.org/presentationml/2006/main">
  <p:tag name="KSO_WM_DIAGRAM_VIRTUALLY_FRAME" val="{&quot;height&quot;:351.6,&quot;left&quot;:48,&quot;top&quot;:92.4,&quot;width&quot;:864}"/>
</p:tagLst>
</file>

<file path=ppt/tags/tag39.xml><?xml version="1.0" encoding="utf-8"?>
<p:tagLst xmlns:p="http://schemas.openxmlformats.org/presentationml/2006/main">
  <p:tag name="KSO_WM_DIAGRAM_VIRTUALLY_FRAME" val="{&quot;height&quot;:351.6,&quot;left&quot;:48,&quot;top&quot;:92.4,&quot;width&quot;:864}"/>
</p:tagLst>
</file>

<file path=ppt/tags/tag40.xml><?xml version="1.0" encoding="utf-8"?>
<p:tagLst xmlns:p="http://schemas.openxmlformats.org/presentationml/2006/main">
  <p:tag name="KSO_WM_DIAGRAM_VIRTUALLY_FRAME" val="{&quot;height&quot;:351.6,&quot;left&quot;:48,&quot;top&quot;:92.4,&quot;width&quot;:864}"/>
</p:tagLst>
</file>

<file path=ppt/tags/tag41.xml><?xml version="1.0" encoding="utf-8"?>
<p:tagLst xmlns:p="http://schemas.openxmlformats.org/presentationml/2006/main">
  <p:tag name="KSO_WM_DIAGRAM_VIRTUALLY_FRAME" val="{&quot;height&quot;:351.6,&quot;left&quot;:48,&quot;top&quot;:92.4,&quot;width&quot;:864}"/>
</p:tagLst>
</file>

<file path=ppt/tags/tag42.xml><?xml version="1.0" encoding="utf-8"?>
<p:tagLst xmlns:p="http://schemas.openxmlformats.org/presentationml/2006/main">
  <p:tag name="KSO_WM_DIAGRAM_VIRTUALLY_FRAME" val="{&quot;height&quot;:351.6,&quot;left&quot;:48,&quot;top&quot;:92.4,&quot;width&quot;:864}"/>
</p:tagLst>
</file>

<file path=ppt/tags/tag43.xml><?xml version="1.0" encoding="utf-8"?>
<p:tagLst xmlns:p="http://schemas.openxmlformats.org/presentationml/2006/main">
  <p:tag name="KSO_WM_DIAGRAM_VIRTUALLY_FRAME" val="{&quot;height&quot;:351.6,&quot;left&quot;:48,&quot;top&quot;:92.4,&quot;width&quot;:864}"/>
</p:tagLst>
</file>

<file path=ppt/tags/tag44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45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46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47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48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49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50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51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52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53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54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55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56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57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58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59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60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61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62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63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64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65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66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67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68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69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70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71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72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73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74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75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76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77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78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79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80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81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82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83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84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85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86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87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88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89.xml><?xml version="1.0" encoding="utf-8"?>
<p:tagLst xmlns:p="http://schemas.openxmlformats.org/presentationml/2006/main">
  <p:tag name="KSO_DOCER_RESOURCE_TRACE_INFO" val="{&quot;id&quot;:&quot;50059188&quot;,&quot;origin&quot;:0,&quot;type&quot;:&quot;icons&quot;,&quot;user&quot;:&quot;1867101956&quot;}"/>
</p:tagLst>
</file>

<file path=ppt/tags/tag90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91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92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93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94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95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96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97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98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99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00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01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02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03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04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05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06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07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08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09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10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11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12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13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14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15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16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17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18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19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20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21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22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23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24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25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26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27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28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29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30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31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32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33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34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35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36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37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38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39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40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41.xml><?xml version="1.0" encoding="utf-8"?>
<p:tagLst xmlns:p="http://schemas.openxmlformats.org/presentationml/2006/main">
  <p:tag name="KSO_WM_DIAGRAM_VIRTUALLY_FRAME" val="{&quot;height&quot;:384,&quot;left&quot;:48,&quot;top&quot;:108,&quot;width&quot;:864}"/>
</p:tagLst>
</file>

<file path=ppt/tags/tag142.xml><?xml version="1.0" encoding="utf-8"?>
<p:tagLst xmlns:p="http://schemas.openxmlformats.org/presentationml/2006/main">
  <p:tag name="KSO_WM_DIAGRAM_VIRTUALLY_FRAME" val="{&quot;height&quot;:324,&quot;left&quot;:48,&quot;top&quot;:159.6,&quot;width&quot;:865.2}"/>
</p:tagLst>
</file>

<file path=ppt/tags/tag143.xml><?xml version="1.0" encoding="utf-8"?>
<p:tagLst xmlns:p="http://schemas.openxmlformats.org/presentationml/2006/main">
  <p:tag name="KSO_WM_DIAGRAM_VIRTUALLY_FRAME" val="{&quot;height&quot;:324,&quot;left&quot;:48,&quot;top&quot;:159.6,&quot;width&quot;:865.2}"/>
</p:tagLst>
</file>

<file path=ppt/tags/tag144.xml><?xml version="1.0" encoding="utf-8"?>
<p:tagLst xmlns:p="http://schemas.openxmlformats.org/presentationml/2006/main">
  <p:tag name="KSO_WM_DIAGRAM_VIRTUALLY_FRAME" val="{&quot;height&quot;:324,&quot;left&quot;:48,&quot;top&quot;:159.6,&quot;width&quot;:865.2}"/>
</p:tagLst>
</file>

<file path=ppt/tags/tag145.xml><?xml version="1.0" encoding="utf-8"?>
<p:tagLst xmlns:p="http://schemas.openxmlformats.org/presentationml/2006/main">
  <p:tag name="KSO_WM_DIAGRAM_VIRTUALLY_FRAME" val="{&quot;height&quot;:324,&quot;left&quot;:48,&quot;top&quot;:159.6,&quot;width&quot;:865.2}"/>
</p:tagLst>
</file>

<file path=ppt/tags/tag146.xml><?xml version="1.0" encoding="utf-8"?>
<p:tagLst xmlns:p="http://schemas.openxmlformats.org/presentationml/2006/main">
  <p:tag name="KSO_WM_DIAGRAM_VIRTUALLY_FRAME" val="{&quot;height&quot;:324,&quot;left&quot;:48,&quot;top&quot;:159.6,&quot;width&quot;:865.2}"/>
</p:tagLst>
</file>

<file path=ppt/tags/tag147.xml><?xml version="1.0" encoding="utf-8"?>
<p:tagLst xmlns:p="http://schemas.openxmlformats.org/presentationml/2006/main">
  <p:tag name="KSO_WM_DIAGRAM_VIRTUALLY_FRAME" val="{&quot;height&quot;:324,&quot;left&quot;:48,&quot;top&quot;:159.6,&quot;width&quot;:865.2}"/>
</p:tagLst>
</file>

<file path=ppt/tags/tag148.xml><?xml version="1.0" encoding="utf-8"?>
<p:tagLst xmlns:p="http://schemas.openxmlformats.org/presentationml/2006/main">
  <p:tag name="KSO_WM_DIAGRAM_VIRTUALLY_FRAME" val="{&quot;height&quot;:324,&quot;left&quot;:48,&quot;top&quot;:159.6,&quot;width&quot;:865.2}"/>
</p:tagLst>
</file>

<file path=ppt/tags/tag149.xml><?xml version="1.0" encoding="utf-8"?>
<p:tagLst xmlns:p="http://schemas.openxmlformats.org/presentationml/2006/main">
  <p:tag name="KSO_WM_DIAGRAM_VIRTUALLY_FRAME" val="{&quot;height&quot;:324,&quot;left&quot;:48,&quot;top&quot;:159.6,&quot;width&quot;:865.2}"/>
</p:tagLst>
</file>

<file path=ppt/tags/tag150.xml><?xml version="1.0" encoding="utf-8"?>
<p:tagLst xmlns:p="http://schemas.openxmlformats.org/presentationml/2006/main">
  <p:tag name="KSO_WM_DIAGRAM_VIRTUALLY_FRAME" val="{&quot;height&quot;:324,&quot;left&quot;:48,&quot;top&quot;:159.6,&quot;width&quot;:865.2}"/>
</p:tagLst>
</file>

<file path=ppt/tags/tag151.xml><?xml version="1.0" encoding="utf-8"?>
<p:tagLst xmlns:p="http://schemas.openxmlformats.org/presentationml/2006/main">
  <p:tag name="KSO_WM_DIAGRAM_VIRTUALLY_FRAME" val="{&quot;height&quot;:324,&quot;left&quot;:48,&quot;top&quot;:159.6,&quot;width&quot;:865.2}"/>
</p:tagLst>
</file>

<file path=ppt/tags/tag152.xml><?xml version="1.0" encoding="utf-8"?>
<p:tagLst xmlns:p="http://schemas.openxmlformats.org/presentationml/2006/main">
  <p:tag name="KSO_WM_DIAGRAM_VIRTUALLY_FRAME" val="{&quot;height&quot;:324,&quot;left&quot;:48,&quot;top&quot;:159.6,&quot;width&quot;:865.2}"/>
</p:tagLst>
</file>

<file path=ppt/tags/tag153.xml><?xml version="1.0" encoding="utf-8"?>
<p:tagLst xmlns:p="http://schemas.openxmlformats.org/presentationml/2006/main">
  <p:tag name="KSO_WM_DIAGRAM_VIRTUALLY_FRAME" val="{&quot;height&quot;:324,&quot;left&quot;:48,&quot;top&quot;:159.6,&quot;width&quot;:865.2}"/>
</p:tagLst>
</file>

<file path=ppt/tags/tag154.xml><?xml version="1.0" encoding="utf-8"?>
<p:tagLst xmlns:p="http://schemas.openxmlformats.org/presentationml/2006/main">
  <p:tag name="KSO_WM_DIAGRAM_VIRTUALLY_FRAME" val="{&quot;height&quot;:324,&quot;left&quot;:48,&quot;top&quot;:159.6,&quot;width&quot;:865.2}"/>
</p:tagLst>
</file>

<file path=ppt/tags/tag155.xml><?xml version="1.0" encoding="utf-8"?>
<p:tagLst xmlns:p="http://schemas.openxmlformats.org/presentationml/2006/main">
  <p:tag name="KSO_WM_DIAGRAM_VIRTUALLY_FRAME" val="{&quot;height&quot;:324,&quot;left&quot;:48,&quot;top&quot;:159.6,&quot;width&quot;:865.2}"/>
</p:tagLst>
</file>

<file path=ppt/tags/tag156.xml><?xml version="1.0" encoding="utf-8"?>
<p:tagLst xmlns:p="http://schemas.openxmlformats.org/presentationml/2006/main">
  <p:tag name="KSO_WM_DIAGRAM_VIRTUALLY_FRAME" val="{&quot;height&quot;:324,&quot;left&quot;:48,&quot;top&quot;:159.6,&quot;width&quot;:865.2}"/>
</p:tagLst>
</file>

<file path=ppt/tags/tag157.xml><?xml version="1.0" encoding="utf-8"?>
<p:tagLst xmlns:p="http://schemas.openxmlformats.org/presentationml/2006/main">
  <p:tag name="KSO_WM_DIAGRAM_VIRTUALLY_FRAME" val="{&quot;height&quot;:324,&quot;left&quot;:48,&quot;top&quot;:159.6,&quot;width&quot;:865.2}"/>
</p:tagLst>
</file>

<file path=ppt/tags/tag158.xml><?xml version="1.0" encoding="utf-8"?>
<p:tagLst xmlns:p="http://schemas.openxmlformats.org/presentationml/2006/main">
  <p:tag name="KSO_WM_DIAGRAM_VIRTUALLY_FRAME" val="{&quot;height&quot;:324,&quot;left&quot;:48,&quot;top&quot;:159.6,&quot;width&quot;:865.2}"/>
</p:tagLst>
</file>

<file path=ppt/tags/tag159.xml><?xml version="1.0" encoding="utf-8"?>
<p:tagLst xmlns:p="http://schemas.openxmlformats.org/presentationml/2006/main">
  <p:tag name="KSO_WM_DIAGRAM_VIRTUALLY_FRAME" val="{&quot;height&quot;:324,&quot;left&quot;:48,&quot;top&quot;:159.6,&quot;width&quot;:865.2}"/>
</p:tagLst>
</file>

<file path=ppt/tags/tag160.xml><?xml version="1.0" encoding="utf-8"?>
<p:tagLst xmlns:p="http://schemas.openxmlformats.org/presentationml/2006/main">
  <p:tag name="KSO_WM_DIAGRAM_VIRTUALLY_FRAME" val="{&quot;height&quot;:324,&quot;left&quot;:48,&quot;top&quot;:159.6,&quot;width&quot;:865.2}"/>
</p:tagLst>
</file>

<file path=ppt/tags/tag161.xml><?xml version="1.0" encoding="utf-8"?>
<p:tagLst xmlns:p="http://schemas.openxmlformats.org/presentationml/2006/main">
  <p:tag name="KSO_WM_DIAGRAM_VIRTUALLY_FRAME" val="{&quot;height&quot;:324,&quot;left&quot;:48,&quot;top&quot;:159.6,&quot;width&quot;:865.2}"/>
</p:tagLst>
</file>

<file path=ppt/tags/tag162.xml><?xml version="1.0" encoding="utf-8"?>
<p:tagLst xmlns:p="http://schemas.openxmlformats.org/presentationml/2006/main">
  <p:tag name="KSO_WM_DIAGRAM_VIRTUALLY_FRAME" val="{&quot;height&quot;:324,&quot;left&quot;:48,&quot;top&quot;:159.6,&quot;width&quot;:865.2}"/>
</p:tagLst>
</file>

<file path=ppt/tags/tag163.xml><?xml version="1.0" encoding="utf-8"?>
<p:tagLst xmlns:p="http://schemas.openxmlformats.org/presentationml/2006/main">
  <p:tag name="KSO_WM_DIAGRAM_VIRTUALLY_FRAME" val="{&quot;height&quot;:324,&quot;left&quot;:48,&quot;top&quot;:159.6,&quot;width&quot;:865.2}"/>
</p:tagLst>
</file>

<file path=ppt/tags/tag164.xml><?xml version="1.0" encoding="utf-8"?>
<p:tagLst xmlns:p="http://schemas.openxmlformats.org/presentationml/2006/main">
  <p:tag name="KSO_WM_DIAGRAM_VIRTUALLY_FRAME" val="{&quot;height&quot;:330,&quot;left&quot;:48,&quot;top&quot;:162,&quot;width&quot;:357.6}"/>
</p:tagLst>
</file>

<file path=ppt/tags/tag165.xml><?xml version="1.0" encoding="utf-8"?>
<p:tagLst xmlns:p="http://schemas.openxmlformats.org/presentationml/2006/main">
  <p:tag name="KSO_WM_DIAGRAM_VIRTUALLY_FRAME" val="{&quot;height&quot;:330,&quot;left&quot;:48,&quot;top&quot;:162,&quot;width&quot;:357.6}"/>
</p:tagLst>
</file>

<file path=ppt/tags/tag166.xml><?xml version="1.0" encoding="utf-8"?>
<p:tagLst xmlns:p="http://schemas.openxmlformats.org/presentationml/2006/main">
  <p:tag name="KSO_WM_DIAGRAM_VIRTUALLY_FRAME" val="{&quot;height&quot;:330,&quot;left&quot;:48,&quot;top&quot;:162,&quot;width&quot;:357.6}"/>
</p:tagLst>
</file>

<file path=ppt/tags/tag167.xml><?xml version="1.0" encoding="utf-8"?>
<p:tagLst xmlns:p="http://schemas.openxmlformats.org/presentationml/2006/main">
  <p:tag name="KSO_WM_DIAGRAM_VIRTUALLY_FRAME" val="{&quot;height&quot;:330,&quot;left&quot;:48,&quot;top&quot;:162,&quot;width&quot;:357.6}"/>
</p:tagLst>
</file>

<file path=ppt/tags/tag168.xml><?xml version="1.0" encoding="utf-8"?>
<p:tagLst xmlns:p="http://schemas.openxmlformats.org/presentationml/2006/main">
  <p:tag name="KSO_WM_DIAGRAM_VIRTUALLY_FRAME" val="{&quot;height&quot;:330,&quot;left&quot;:48,&quot;top&quot;:162,&quot;width&quot;:357.6}"/>
</p:tagLst>
</file>

<file path=ppt/tags/tag169.xml><?xml version="1.0" encoding="utf-8"?>
<p:tagLst xmlns:p="http://schemas.openxmlformats.org/presentationml/2006/main">
  <p:tag name="KSO_WM_DIAGRAM_VIRTUALLY_FRAME" val="{&quot;height&quot;:330,&quot;left&quot;:48,&quot;top&quot;:162,&quot;width&quot;:357.6}"/>
</p:tagLst>
</file>

<file path=ppt/tags/tag170.xml><?xml version="1.0" encoding="utf-8"?>
<p:tagLst xmlns:p="http://schemas.openxmlformats.org/presentationml/2006/main">
  <p:tag name="KSO_WM_DIAGRAM_VIRTUALLY_FRAME" val="{&quot;height&quot;:330,&quot;left&quot;:48,&quot;top&quot;:162,&quot;width&quot;:357.6}"/>
</p:tagLst>
</file>

<file path=ppt/tags/tag171.xml><?xml version="1.0" encoding="utf-8"?>
<p:tagLst xmlns:p="http://schemas.openxmlformats.org/presentationml/2006/main">
  <p:tag name="KSO_WM_DIAGRAM_VIRTUALLY_FRAME" val="{&quot;height&quot;:330,&quot;left&quot;:48,&quot;top&quot;:162,&quot;width&quot;:357.6}"/>
</p:tagLst>
</file>

<file path=ppt/tags/tag172.xml><?xml version="1.0" encoding="utf-8"?>
<p:tagLst xmlns:p="http://schemas.openxmlformats.org/presentationml/2006/main">
  <p:tag name="KSO_WM_DIAGRAM_VIRTUALLY_FRAME" val="{&quot;height&quot;:330,&quot;left&quot;:48,&quot;top&quot;:162,&quot;width&quot;:357.6}"/>
</p:tagLst>
</file>

<file path=ppt/tags/tag173.xml><?xml version="1.0" encoding="utf-8"?>
<p:tagLst xmlns:p="http://schemas.openxmlformats.org/presentationml/2006/main">
  <p:tag name="KSO_WM_DIAGRAM_VIRTUALLY_FRAME" val="{&quot;height&quot;:330,&quot;left&quot;:48,&quot;top&quot;:162,&quot;width&quot;:357.6}"/>
</p:tagLst>
</file>

<file path=ppt/tags/tag174.xml><?xml version="1.0" encoding="utf-8"?>
<p:tagLst xmlns:p="http://schemas.openxmlformats.org/presentationml/2006/main">
  <p:tag name="KSO_WM_DIAGRAM_VIRTUALLY_FRAME" val="{&quot;height&quot;:330,&quot;left&quot;:48,&quot;top&quot;:162,&quot;width&quot;:357.6}"/>
</p:tagLst>
</file>

<file path=ppt/tags/tag175.xml><?xml version="1.0" encoding="utf-8"?>
<p:tagLst xmlns:p="http://schemas.openxmlformats.org/presentationml/2006/main">
  <p:tag name="KSO_WM_DIAGRAM_VIRTUALLY_FRAME" val="{&quot;height&quot;:330,&quot;left&quot;:48,&quot;top&quot;:162,&quot;width&quot;:357.6}"/>
</p:tagLst>
</file>

<file path=ppt/tags/tag176.xml><?xml version="1.0" encoding="utf-8"?>
<p:tagLst xmlns:p="http://schemas.openxmlformats.org/presentationml/2006/main">
  <p:tag name="KSO_WM_DIAGRAM_VIRTUALLY_FRAME" val="{&quot;height&quot;:330,&quot;left&quot;:48,&quot;top&quot;:162,&quot;width&quot;:357.6}"/>
</p:tagLst>
</file>

<file path=ppt/tags/tag177.xml><?xml version="1.0" encoding="utf-8"?>
<p:tagLst xmlns:p="http://schemas.openxmlformats.org/presentationml/2006/main">
  <p:tag name="KSO_WM_DIAGRAM_VIRTUALLY_FRAME" val="{&quot;height&quot;:330,&quot;left&quot;:48,&quot;top&quot;:162,&quot;width&quot;:357.6}"/>
</p:tagLst>
</file>

<file path=ppt/tags/tag178.xml><?xml version="1.0" encoding="utf-8"?>
<p:tagLst xmlns:p="http://schemas.openxmlformats.org/presentationml/2006/main">
  <p:tag name="KSO_WM_DIAGRAM_VIRTUALLY_FRAME" val="{&quot;height&quot;:330,&quot;left&quot;:48,&quot;top&quot;:162,&quot;width&quot;:357.6}"/>
</p:tagLst>
</file>

<file path=ppt/tags/tag179.xml><?xml version="1.0" encoding="utf-8"?>
<p:tagLst xmlns:p="http://schemas.openxmlformats.org/presentationml/2006/main">
  <p:tag name="KSO_WM_DIAGRAM_VIRTUALLY_FRAME" val="{&quot;height&quot;:330,&quot;left&quot;:48,&quot;top&quot;:162,&quot;width&quot;:357.6}"/>
</p:tagLst>
</file>

<file path=ppt/tags/tag180.xml><?xml version="1.0" encoding="utf-8"?>
<p:tagLst xmlns:p="http://schemas.openxmlformats.org/presentationml/2006/main">
  <p:tag name="KSO_WM_DIAGRAM_VIRTUALLY_FRAME" val="{&quot;height&quot;:330,&quot;left&quot;:48,&quot;top&quot;:162,&quot;width&quot;:357.6}"/>
</p:tagLst>
</file>

<file path=ppt/tags/tag181.xml><?xml version="1.0" encoding="utf-8"?>
<p:tagLst xmlns:p="http://schemas.openxmlformats.org/presentationml/2006/main">
  <p:tag name="KSO_WM_DIAGRAM_VIRTUALLY_FRAME" val="{&quot;height&quot;:330,&quot;left&quot;:48,&quot;top&quot;:162,&quot;width&quot;:357.6}"/>
</p:tagLst>
</file>

<file path=ppt/tags/tag182.xml><?xml version="1.0" encoding="utf-8"?>
<p:tagLst xmlns:p="http://schemas.openxmlformats.org/presentationml/2006/main">
  <p:tag name="KSO_WM_DIAGRAM_VIRTUALLY_FRAME" val="{&quot;height&quot;:330,&quot;left&quot;:48,&quot;top&quot;:162,&quot;width&quot;:357.6}"/>
</p:tagLst>
</file>

<file path=ppt/tags/tag183.xml><?xml version="1.0" encoding="utf-8"?>
<p:tagLst xmlns:p="http://schemas.openxmlformats.org/presentationml/2006/main">
  <p:tag name="KSO_WM_DIAGRAM_VIRTUALLY_FRAME" val="{&quot;height&quot;:330,&quot;left&quot;:48,&quot;top&quot;:162,&quot;width&quot;:357.6}"/>
</p:tagLst>
</file>

<file path=ppt/tags/tag184.xml><?xml version="1.0" encoding="utf-8"?>
<p:tagLst xmlns:p="http://schemas.openxmlformats.org/presentationml/2006/main">
  <p:tag name="KSO_WM_DIAGRAM_VIRTUALLY_FRAME" val="{&quot;height&quot;:330,&quot;left&quot;:48,&quot;top&quot;:162,&quot;width&quot;:357.6}"/>
</p:tagLst>
</file>

<file path=ppt/tags/tag185.xml><?xml version="1.0" encoding="utf-8"?>
<p:tagLst xmlns:p="http://schemas.openxmlformats.org/presentationml/2006/main">
  <p:tag name="KSO_WM_DIAGRAM_VIRTUALLY_FRAME" val="{&quot;height&quot;:330,&quot;left&quot;:48,&quot;top&quot;:162,&quot;width&quot;:357.6}"/>
</p:tagLst>
</file>

<file path=ppt/tags/tag186.xml><?xml version="1.0" encoding="utf-8"?>
<p:tagLst xmlns:p="http://schemas.openxmlformats.org/presentationml/2006/main">
  <p:tag name="KSO_WM_DIAGRAM_VIRTUALLY_FRAME" val="{&quot;height&quot;:330,&quot;left&quot;:48,&quot;top&quot;:162,&quot;width&quot;:357.6}"/>
</p:tagLst>
</file>

<file path=ppt/tags/tag187.xml><?xml version="1.0" encoding="utf-8"?>
<p:tagLst xmlns:p="http://schemas.openxmlformats.org/presentationml/2006/main">
  <p:tag name="KSO_WM_DIAGRAM_VIRTUALLY_FRAME" val="{&quot;height&quot;:330,&quot;left&quot;:48,&quot;top&quot;:162,&quot;width&quot;:357.6}"/>
</p:tagLst>
</file>

<file path=ppt/tags/tag188.xml><?xml version="1.0" encoding="utf-8"?>
<p:tagLst xmlns:p="http://schemas.openxmlformats.org/presentationml/2006/main">
  <p:tag name="KSO_WM_DIAGRAM_VIRTUALLY_FRAME" val="{&quot;height&quot;:330,&quot;left&quot;:48,&quot;top&quot;:162,&quot;width&quot;:357.6}"/>
</p:tagLst>
</file>

<file path=ppt/tags/tag189.xml><?xml version="1.0" encoding="utf-8"?>
<p:tagLst xmlns:p="http://schemas.openxmlformats.org/presentationml/2006/main">
  <p:tag name="KSO_WM_DIAGRAM_VIRTUALLY_FRAME" val="{&quot;height&quot;:330,&quot;left&quot;:48,&quot;top&quot;:162,&quot;width&quot;:357.6}"/>
</p:tagLst>
</file>

<file path=ppt/tags/tag190.xml><?xml version="1.0" encoding="utf-8"?>
<p:tagLst xmlns:p="http://schemas.openxmlformats.org/presentationml/2006/main">
  <p:tag name="KSO_WM_DIAGRAM_VIRTUALLY_FRAME" val="{&quot;height&quot;:330,&quot;left&quot;:48,&quot;top&quot;:162,&quot;width&quot;:357.6}"/>
</p:tagLst>
</file>

<file path=ppt/tags/tag191.xml><?xml version="1.0" encoding="utf-8"?>
<p:tagLst xmlns:p="http://schemas.openxmlformats.org/presentationml/2006/main">
  <p:tag name="KSO_WM_DIAGRAM_VIRTUALLY_FRAME" val="{&quot;height&quot;:330,&quot;left&quot;:48,&quot;top&quot;:162,&quot;width&quot;:357.6}"/>
</p:tagLst>
</file>

<file path=ppt/tags/tag192.xml><?xml version="1.0" encoding="utf-8"?>
<p:tagLst xmlns:p="http://schemas.openxmlformats.org/presentationml/2006/main">
  <p:tag name="resource_record_key" val="{&quot;10&quot;:[50063292,50059188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6315</Words>
  <Application>WPS 演示</Application>
  <PresentationFormat>On-screen Show (16:9)</PresentationFormat>
  <Paragraphs>1644</Paragraphs>
  <Slides>25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41" baseType="lpstr">
      <vt:lpstr>Arial</vt:lpstr>
      <vt:lpstr>宋体</vt:lpstr>
      <vt:lpstr>Wingdings</vt:lpstr>
      <vt:lpstr>方正仿宋_GBK</vt:lpstr>
      <vt:lpstr>思源黑体 CN</vt:lpstr>
      <vt:lpstr>黑体</vt:lpstr>
      <vt:lpstr>思源黑体 CN</vt:lpstr>
      <vt:lpstr>思源黑体 CN Bold</vt:lpstr>
      <vt:lpstr>思源黑体 CN Bold</vt:lpstr>
      <vt:lpstr>思源黑体 CN Bold</vt:lpstr>
      <vt:lpstr>微软雅黑</vt:lpstr>
      <vt:lpstr>Calibri</vt:lpstr>
      <vt:lpstr>等线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202603</cp:lastModifiedBy>
  <cp:revision>32</cp:revision>
  <dcterms:created xsi:type="dcterms:W3CDTF">2026-08-24T17:04:00Z</dcterms:created>
  <dcterms:modified xsi:type="dcterms:W3CDTF">2026-09-14T08:33:12Z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504192CE02D9445E8F27B9F656B9D259_13</vt:lpwstr>
  </property>
  <property fmtid="{D5CDD505-2E9C-101B-9397-08002B2CF9AE}" pid="3" name="KSOProductBuildVer">
    <vt:lpwstr>2052-12.1.0.26895</vt:lpwstr>
  </property>
</Properties>
</file>