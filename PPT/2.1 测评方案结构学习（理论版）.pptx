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2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2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3.svg" ContentType="image/svg+xml"/>
  <Override PartName="/ppt/media/image146.svg" ContentType="image/svg+xml"/>
  <Override PartName="/ppt/media/image148.svg" ContentType="image/svg+xml"/>
  <Override PartName="/ppt/media/image15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60.svg" ContentType="image/svg+xml"/>
  <Override PartName="/ppt/media/image166.svg" ContentType="image/svg+xml"/>
  <Override PartName="/ppt/media/image18.svg" ContentType="image/svg+xml"/>
  <Override PartName="/ppt/media/image20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0.svg" ContentType="image/svg+xml"/>
  <Override PartName="/ppt/media/image34.svg" ContentType="image/svg+xml"/>
  <Override PartName="/ppt/media/image36.svg" ContentType="image/svg+xml"/>
  <Override PartName="/ppt/media/image40.svg" ContentType="image/svg+xml"/>
  <Override PartName="/ppt/media/image42.svg" ContentType="image/svg+xml"/>
  <Override PartName="/ppt/media/image45.svg" ContentType="image/svg+xml"/>
  <Override PartName="/ppt/media/image47.svg" ContentType="image/svg+xml"/>
  <Override PartName="/ppt/media/image52.svg" ContentType="image/svg+xml"/>
  <Override PartName="/ppt/media/image55.svg" ContentType="image/svg+xml"/>
  <Override PartName="/ppt/media/image58.svg" ContentType="image/svg+xml"/>
  <Override PartName="/ppt/media/image60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6.svg" ContentType="image/svg+xml"/>
  <Override PartName="/ppt/media/image80.svg" ContentType="image/svg+xml"/>
  <Override PartName="/ppt/media/image90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82" r:id="rId3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35" Type="http://schemas.openxmlformats.org/officeDocument/2006/relationships/slide" Target="slides/slide27.xml"/><Relationship Id="rId38" Type="http://schemas.openxmlformats.org/officeDocument/2006/relationships/notesSlide" Target="notesSlides/notesSlide1.xml"/><Relationship Id="rId39" Type="http://schemas.openxmlformats.org/officeDocument/2006/relationships/notesSlide" Target="notesSlides/notesSlide2.xml"/><Relationship Id="rId40" Type="http://schemas.openxmlformats.org/officeDocument/2006/relationships/notesSlide" Target="notesSlides/notesSlide3.xml"/><Relationship Id="rId41" Type="http://schemas.openxmlformats.org/officeDocument/2006/relationships/notesSlide" Target="notesSlides/notesSlide4.xml"/><Relationship Id="rId42" Type="http://schemas.openxmlformats.org/officeDocument/2006/relationships/notesSlide" Target="notesSlides/notesSlide5.xml"/><Relationship Id="rId43" Type="http://schemas.openxmlformats.org/officeDocument/2006/relationships/notesSlide" Target="notesSlides/notesSlide6.xml"/><Relationship Id="rId44" Type="http://schemas.openxmlformats.org/officeDocument/2006/relationships/notesSlide" Target="notesSlides/notesSlide7.xml"/><Relationship Id="rId45" Type="http://schemas.openxmlformats.org/officeDocument/2006/relationships/notesSlide" Target="notesSlides/notesSlide8.xml"/><Relationship Id="rId46" Type="http://schemas.openxmlformats.org/officeDocument/2006/relationships/notesSlide" Target="notesSlides/notesSlide9.xml"/><Relationship Id="rId47" Type="http://schemas.openxmlformats.org/officeDocument/2006/relationships/notesSlide" Target="notesSlides/notesSlide10.xml"/><Relationship Id="rId48" Type="http://schemas.openxmlformats.org/officeDocument/2006/relationships/notesSlide" Target="notesSlides/notesSlide11.xml"/><Relationship Id="rId49" Type="http://schemas.openxmlformats.org/officeDocument/2006/relationships/notesSlide" Target="notesSlides/notesSlide12.xml"/><Relationship Id="rId50" Type="http://schemas.openxmlformats.org/officeDocument/2006/relationships/notesSlide" Target="notesSlides/notesSlide13.xml"/><Relationship Id="rId51" Type="http://schemas.openxmlformats.org/officeDocument/2006/relationships/notesSlide" Target="notesSlides/notesSlide14.xml"/><Relationship Id="rId52" Type="http://schemas.openxmlformats.org/officeDocument/2006/relationships/notesSlide" Target="notesSlides/notesSlide15.xml"/><Relationship Id="rId53" Type="http://schemas.openxmlformats.org/officeDocument/2006/relationships/notesSlide" Target="notesSlides/notesSlide16.xml"/><Relationship Id="rId54" Type="http://schemas.openxmlformats.org/officeDocument/2006/relationships/notesSlide" Target="notesSlides/notesSlide17.xml"/><Relationship Id="rId55" Type="http://schemas.openxmlformats.org/officeDocument/2006/relationships/notesSlide" Target="notesSlides/notesSlide18.xml"/><Relationship Id="rId56" Type="http://schemas.openxmlformats.org/officeDocument/2006/relationships/notesSlide" Target="notesSlides/notesSlide19.xml"/><Relationship Id="rId57" Type="http://schemas.openxmlformats.org/officeDocument/2006/relationships/notesSlide" Target="notesSlides/notesSlide20.xml"/><Relationship Id="rId58" Type="http://schemas.openxmlformats.org/officeDocument/2006/relationships/notesSlide" Target="notesSlides/notesSlide21.xml"/><Relationship Id="rId59" Type="http://schemas.openxmlformats.org/officeDocument/2006/relationships/notesSlide" Target="notesSlides/notesSlide22.xml"/><Relationship Id="rId60" Type="http://schemas.openxmlformats.org/officeDocument/2006/relationships/notesSlide" Target="notesSlides/notesSlide23.xml"/><Relationship Id="rId61" Type="http://schemas.openxmlformats.org/officeDocument/2006/relationships/notesSlide" Target="notesSlides/notesSlide24.xml"/><Relationship Id="rId62" Type="http://schemas.openxmlformats.org/officeDocument/2006/relationships/notesSlide" Target="notesSlides/notesSlide25.xml"/><Relationship Id="rId63" Type="http://schemas.openxmlformats.org/officeDocument/2006/relationships/notesSlide" Target="notesSlides/notesSlide26.xml"/><Relationship Id="rId64" Type="http://schemas.openxmlformats.org/officeDocument/2006/relationships/notesSlide" Target="notesSlides/notesSlide27.xml"/><Relationship Id="rId65" Type="http://schemas.openxmlformats.org/officeDocument/2006/relationships/notesSlide" Target="notesSlides/notesSlide28.xml"/><Relationship Id="rId66" Type="http://schemas.openxmlformats.org/officeDocument/2006/relationships/notesSlide" Target="notesSlides/notes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一份完整合格的测评方案，核心就是六个关键要素。我给大家整理了好记的口诀：“一项依据两范围，三对对象四指标，五定方法六日程，六要素全方案成。” 只要把这六个部分做扎实，完整的方案框架就出来了。</a:t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个要素是项目概述，要写清楚项目背景、测评目的和用到的标准依据。第二个是测评范围，明确物理位置、网络区域和系统边界三个维度，框定我们要做的工作。第三个是测评对象，列出所有需要测评的设备、系统、人员和文档，做成可落地的具体清单。第四个是测评指标，全部对照 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GB/T 22239 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的对应条款选取，不缺不漏。第五个确定测评方法，主要用访谈、核查、测试三类核心方法。第六个敲定日程与人员，明确哪天做什么事、每项工作谁负责。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在动手填写之前，我们先搞清楚这张表到底是什么、怎么填。首先，什么是测评对象初步分析表？它是在方案编制阶段，对被测系统所有可能纳入测评的对象进行系统梳理的工具表，作用是防漏测、明范围、做方案依据。其次，表格有六列：分类、包含内容、数量举例、是否纳入、抽样比例、备注，每一列的含义我都列在屏幕上了。最后，填写分三步走：第一步全面盘点，六大类都要问到；第二步分类判定，核心设备必测、非核心可抽样；第三步量化填写，必须具体到型号数量，禁止模糊表述。搞清楚这些，我们再来看老师的示范案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，现在我们来看《测评对象初步分析表》的实际填写案例。以某市教育局的教育综合管理平台为例，这个系统定级为等保第三级。大家注意看表格的六列结构：分类、包含内容、数量举例、是否纳入、抽样比例、备注。我重点强调三个填写要点：第一，分类必须完整，六大类不能缺；第二，抽样要有依据，核心设备必须100%全测；第三，数量要具体到型号和台数，不能模糊。请大家对照自己的课堂练习，看看有没有遗漏的类别或者模糊的表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在分组分析方案之前，我们先搞清楚这张分析记录表怎么用。首先，它是什么？它是分析已有测评方案时，按章节逐行记录结构完整性和内容合规性的工具表，作用是结构化阅读、标准化判定、问题可追溯。其次，表格有十列，我重点说几个关键列：第4列对应标准条款必须写国标编号，判定要有依据；第6列完整性评估看"有没有"，第7列合规性判定看"对不对"，两列要分开填；第8、9列问题和建议必须具体可操作。最后，填写分四步：定位章节、对照标准、双重判定、问题具体。搞清楚方法，我们再来看老师的示范案例，然后各小组开始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现在我们来看《方案结构分析记录表》的使用示范。这张表是你们分组分析测评方案时的核心工具。表格有六列：章节编号、章节名称、对应标准条款、完整性评估、合规性判定、存在问题与改进建议。我以一份脱敏的三级系统测评方案为例，逐章节演示如何填写。大家注意三个要点：第一，必须按六要素逐章节分析，不能跳；第二，每个判定都要有标准条款依据；第三，问题描述要具体，改进建议要可操作。现在请各小组拿出你们的方案，按照这个表格开始分析，15分钟后我们分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3.svg"/><Relationship Id="rId7" Type="http://schemas.openxmlformats.org/officeDocument/2006/relationships/image" Target="../media/image16.png"/><Relationship Id="rId8" Type="http://schemas.openxmlformats.org/officeDocument/2006/relationships/image" Target="../media/image15.svg"/><Relationship Id="rId9" Type="http://schemas.openxmlformats.org/officeDocument/2006/relationships/image" Target="../media/image17.png"/><Relationship Id="rId10" Type="http://schemas.openxmlformats.org/officeDocument/2006/relationships/image" Target="../media/image19.png"/><Relationship Id="rId11" Type="http://schemas.openxmlformats.org/officeDocument/2006/relationships/image" Target="../media/image18.svg"/><Relationship Id="rId12" Type="http://schemas.openxmlformats.org/officeDocument/2006/relationships/image" Target="../media/image21.png"/><Relationship Id="rId13" Type="http://schemas.openxmlformats.org/officeDocument/2006/relationships/image" Target="../media/image20.svg"/><Relationship Id="rId14" Type="http://schemas.openxmlformats.org/officeDocument/2006/relationships/image" Target="../media/image22.png"/><Relationship Id="rId15" Type="http://schemas.openxmlformats.org/officeDocument/2006/relationships/image" Target="../media/image24.png"/><Relationship Id="rId16" Type="http://schemas.openxmlformats.org/officeDocument/2006/relationships/image" Target="../media/image23.svg"/><Relationship Id="rId17" Type="http://schemas.openxmlformats.org/officeDocument/2006/relationships/image" Target="../media/image26.png"/><Relationship Id="rId18" Type="http://schemas.openxmlformats.org/officeDocument/2006/relationships/image" Target="../media/image25.svg"/><Relationship Id="rId1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8.png"/><Relationship Id="rId6" Type="http://schemas.openxmlformats.org/officeDocument/2006/relationships/image" Target="../media/image27.svg"/><Relationship Id="rId7" Type="http://schemas.openxmlformats.org/officeDocument/2006/relationships/image" Target="../media/image29.png"/><Relationship Id="rId8" Type="http://schemas.openxmlformats.org/officeDocument/2006/relationships/image" Target="../media/image31.png"/><Relationship Id="rId9" Type="http://schemas.openxmlformats.org/officeDocument/2006/relationships/image" Target="../media/image30.svg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5.png"/><Relationship Id="rId8" Type="http://schemas.openxmlformats.org/officeDocument/2006/relationships/image" Target="../media/image34.svg"/><Relationship Id="rId9" Type="http://schemas.openxmlformats.org/officeDocument/2006/relationships/image" Target="../media/image37.png"/><Relationship Id="rId10" Type="http://schemas.openxmlformats.org/officeDocument/2006/relationships/image" Target="../media/image36.sv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41.png"/><Relationship Id="rId6" Type="http://schemas.openxmlformats.org/officeDocument/2006/relationships/image" Target="../media/image40.svg"/><Relationship Id="rId7" Type="http://schemas.openxmlformats.org/officeDocument/2006/relationships/image" Target="../media/image43.png"/><Relationship Id="rId8" Type="http://schemas.openxmlformats.org/officeDocument/2006/relationships/image" Target="../media/image42.svg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Relationship Id="rId7" Type="http://schemas.openxmlformats.org/officeDocument/2006/relationships/image" Target="../media/image45.svg"/><Relationship Id="rId8" Type="http://schemas.openxmlformats.org/officeDocument/2006/relationships/image" Target="../media/image48.png"/><Relationship Id="rId9" Type="http://schemas.openxmlformats.org/officeDocument/2006/relationships/image" Target="../media/image47.svg"/><Relationship Id="rId10" Type="http://schemas.openxmlformats.org/officeDocument/2006/relationships/image" Target="../media/image49.png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50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50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51.png"/><Relationship Id="rId6" Type="http://schemas.openxmlformats.org/officeDocument/2006/relationships/image" Target="../media/image48.png"/><Relationship Id="rId7" Type="http://schemas.openxmlformats.org/officeDocument/2006/relationships/image" Target="../media/image47.svg"/><Relationship Id="rId8" Type="http://schemas.openxmlformats.org/officeDocument/2006/relationships/image" Target="../media/image53.png"/><Relationship Id="rId9" Type="http://schemas.openxmlformats.org/officeDocument/2006/relationships/image" Target="../media/image52.svg"/><Relationship Id="rId10" Type="http://schemas.openxmlformats.org/officeDocument/2006/relationships/image" Target="../media/image54.png"/><Relationship Id="rId11" Type="http://schemas.openxmlformats.org/officeDocument/2006/relationships/image" Target="../media/image56.png"/><Relationship Id="rId12" Type="http://schemas.openxmlformats.org/officeDocument/2006/relationships/image" Target="../media/image55.svg"/><Relationship Id="rId13" Type="http://schemas.openxmlformats.org/officeDocument/2006/relationships/image" Target="../media/image57.png"/><Relationship Id="rId1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59.png"/><Relationship Id="rId6" Type="http://schemas.openxmlformats.org/officeDocument/2006/relationships/image" Target="../media/image58.sv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1.png"/><Relationship Id="rId6" Type="http://schemas.openxmlformats.org/officeDocument/2006/relationships/image" Target="../media/image60.svg"/><Relationship Id="rId7" Type="http://schemas.openxmlformats.org/officeDocument/2006/relationships/image" Target="../media/image62.png"/><Relationship Id="rId8" Type="http://schemas.openxmlformats.org/officeDocument/2006/relationships/image" Target="../media/image64.png"/><Relationship Id="rId9" Type="http://schemas.openxmlformats.org/officeDocument/2006/relationships/image" Target="../media/image63.svg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6.png"/><Relationship Id="rId6" Type="http://schemas.openxmlformats.org/officeDocument/2006/relationships/image" Target="../media/image65.svg"/><Relationship Id="rId7" Type="http://schemas.openxmlformats.org/officeDocument/2006/relationships/image" Target="../media/image68.png"/><Relationship Id="rId8" Type="http://schemas.openxmlformats.org/officeDocument/2006/relationships/image" Target="../media/image67.svg"/><Relationship Id="rId9" Type="http://schemas.openxmlformats.org/officeDocument/2006/relationships/image" Target="../media/image70.png"/><Relationship Id="rId10" Type="http://schemas.openxmlformats.org/officeDocument/2006/relationships/image" Target="../media/image69.svg"/><Relationship Id="rId11" Type="http://schemas.openxmlformats.org/officeDocument/2006/relationships/image" Target="../media/image72.png"/><Relationship Id="rId12" Type="http://schemas.openxmlformats.org/officeDocument/2006/relationships/image" Target="../media/image71.svg"/><Relationship Id="rId13" Type="http://schemas.openxmlformats.org/officeDocument/2006/relationships/image" Target="../media/image74.png"/><Relationship Id="rId14" Type="http://schemas.openxmlformats.org/officeDocument/2006/relationships/image" Target="../media/image73.svg"/><Relationship Id="rId1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75.png"/><Relationship Id="rId6" Type="http://schemas.openxmlformats.org/officeDocument/2006/relationships/image" Target="../media/image77.png"/><Relationship Id="rId7" Type="http://schemas.openxmlformats.org/officeDocument/2006/relationships/image" Target="../media/image76.sv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1.png"/><Relationship Id="rId11" Type="http://schemas.openxmlformats.org/officeDocument/2006/relationships/image" Target="../media/image80.svg"/><Relationship Id="rId12" Type="http://schemas.openxmlformats.org/officeDocument/2006/relationships/image" Target="../media/image82.png"/><Relationship Id="rId13" Type="http://schemas.openxmlformats.org/officeDocument/2006/relationships/image" Target="../media/image83.png"/><Relationship Id="rId14" Type="http://schemas.openxmlformats.org/officeDocument/2006/relationships/image" Target="../media/image84.png"/><Relationship Id="rId15" Type="http://schemas.openxmlformats.org/officeDocument/2006/relationships/image" Target="../media/image85.png"/><Relationship Id="rId16" Type="http://schemas.openxmlformats.org/officeDocument/2006/relationships/image" Target="../media/image86.png"/><Relationship Id="rId17" Type="http://schemas.openxmlformats.org/officeDocument/2006/relationships/image" Target="../media/image87.png"/><Relationship Id="rId18" Type="http://schemas.openxmlformats.org/officeDocument/2006/relationships/image" Target="../media/image88.png"/><Relationship Id="rId19" Type="http://schemas.openxmlformats.org/officeDocument/2006/relationships/image" Target="../media/image89.png"/><Relationship Id="rId20" Type="http://schemas.openxmlformats.org/officeDocument/2006/relationships/image" Target="../media/image91.png"/><Relationship Id="rId21" Type="http://schemas.openxmlformats.org/officeDocument/2006/relationships/image" Target="../media/image90.svg"/><Relationship Id="rId22" Type="http://schemas.openxmlformats.org/officeDocument/2006/relationships/image" Target="../media/image92.png"/><Relationship Id="rId2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96.png"/><Relationship Id="rId6" Type="http://schemas.openxmlformats.org/officeDocument/2006/relationships/image" Target="../media/image98.png"/><Relationship Id="rId7" Type="http://schemas.openxmlformats.org/officeDocument/2006/relationships/image" Target="../media/image97.svg"/><Relationship Id="rId8" Type="http://schemas.openxmlformats.org/officeDocument/2006/relationships/image" Target="../media/image56.png"/><Relationship Id="rId9" Type="http://schemas.openxmlformats.org/officeDocument/2006/relationships/image" Target="../media/image55.svg"/><Relationship Id="rId10" Type="http://schemas.openxmlformats.org/officeDocument/2006/relationships/image" Target="../media/image100.png"/><Relationship Id="rId11" Type="http://schemas.openxmlformats.org/officeDocument/2006/relationships/image" Target="../media/image99.svg"/><Relationship Id="rId1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3.png"/><Relationship Id="rId6" Type="http://schemas.openxmlformats.org/officeDocument/2006/relationships/image" Target="../media/image102.svg"/><Relationship Id="rId7" Type="http://schemas.openxmlformats.org/officeDocument/2006/relationships/image" Target="../media/image104.png"/><Relationship Id="rId8" Type="http://schemas.openxmlformats.org/officeDocument/2006/relationships/image" Target="../media/image106.png"/><Relationship Id="rId9" Type="http://schemas.openxmlformats.org/officeDocument/2006/relationships/image" Target="../media/image105.svg"/><Relationship Id="rId10" Type="http://schemas.openxmlformats.org/officeDocument/2006/relationships/image" Target="../media/image108.png"/><Relationship Id="rId11" Type="http://schemas.openxmlformats.org/officeDocument/2006/relationships/image" Target="../media/image107.svg"/><Relationship Id="rId12" Type="http://schemas.openxmlformats.org/officeDocument/2006/relationships/image" Target="../media/image110.png"/><Relationship Id="rId13" Type="http://schemas.openxmlformats.org/officeDocument/2006/relationships/image" Target="../media/image109.svg"/><Relationship Id="rId14" Type="http://schemas.openxmlformats.org/officeDocument/2006/relationships/image" Target="../media/image112.png"/><Relationship Id="rId15" Type="http://schemas.openxmlformats.org/officeDocument/2006/relationships/image" Target="../media/image111.svg"/><Relationship Id="rId16" Type="http://schemas.openxmlformats.org/officeDocument/2006/relationships/image" Target="../media/image113.png"/><Relationship Id="rId1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14.png"/><Relationship Id="rId6" Type="http://schemas.openxmlformats.org/officeDocument/2006/relationships/image" Target="../media/image116.png"/><Relationship Id="rId7" Type="http://schemas.openxmlformats.org/officeDocument/2006/relationships/image" Target="../media/image115.svg"/><Relationship Id="rId8" Type="http://schemas.openxmlformats.org/officeDocument/2006/relationships/image" Target="../media/image118.png"/><Relationship Id="rId9" Type="http://schemas.openxmlformats.org/officeDocument/2006/relationships/image" Target="../media/image117.svg"/><Relationship Id="rId10" Type="http://schemas.openxmlformats.org/officeDocument/2006/relationships/image" Target="../media/image120.png"/><Relationship Id="rId11" Type="http://schemas.openxmlformats.org/officeDocument/2006/relationships/image" Target="../media/image119.svg"/><Relationship Id="rId12" Type="http://schemas.openxmlformats.org/officeDocument/2006/relationships/image" Target="../media/image121.png"/><Relationship Id="rId13" Type="http://schemas.openxmlformats.org/officeDocument/2006/relationships/image" Target="../media/image123.png"/><Relationship Id="rId14" Type="http://schemas.openxmlformats.org/officeDocument/2006/relationships/image" Target="../media/image122.svg"/><Relationship Id="rId15" Type="http://schemas.openxmlformats.org/officeDocument/2006/relationships/image" Target="../media/image124.png"/><Relationship Id="rId1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26.png"/><Relationship Id="rId6" Type="http://schemas.openxmlformats.org/officeDocument/2006/relationships/image" Target="../media/image125.svg"/><Relationship Id="rId7" Type="http://schemas.openxmlformats.org/officeDocument/2006/relationships/image" Target="../media/image128.png"/><Relationship Id="rId8" Type="http://schemas.openxmlformats.org/officeDocument/2006/relationships/image" Target="../media/image127.svg"/><Relationship Id="rId9" Type="http://schemas.openxmlformats.org/officeDocument/2006/relationships/image" Target="../media/image130.png"/><Relationship Id="rId10" Type="http://schemas.openxmlformats.org/officeDocument/2006/relationships/image" Target="../media/image129.svg"/><Relationship Id="rId11" Type="http://schemas.openxmlformats.org/officeDocument/2006/relationships/image" Target="../media/image131.png"/><Relationship Id="rId12" Type="http://schemas.openxmlformats.org/officeDocument/2006/relationships/image" Target="../media/image133.png"/><Relationship Id="rId13" Type="http://schemas.openxmlformats.org/officeDocument/2006/relationships/image" Target="../media/image132.svg"/><Relationship Id="rId14" Type="http://schemas.openxmlformats.org/officeDocument/2006/relationships/image" Target="../media/image135.png"/><Relationship Id="rId15" Type="http://schemas.openxmlformats.org/officeDocument/2006/relationships/image" Target="../media/image134.svg"/><Relationship Id="rId16" Type="http://schemas.openxmlformats.org/officeDocument/2006/relationships/image" Target="../media/image137.png"/><Relationship Id="rId17" Type="http://schemas.openxmlformats.org/officeDocument/2006/relationships/image" Target="../media/image136.svg"/><Relationship Id="rId18" Type="http://schemas.openxmlformats.org/officeDocument/2006/relationships/image" Target="../media/image139.png"/><Relationship Id="rId19" Type="http://schemas.openxmlformats.org/officeDocument/2006/relationships/image" Target="../media/image138.svg"/><Relationship Id="rId20" Type="http://schemas.openxmlformats.org/officeDocument/2006/relationships/image" Target="../media/image140.png"/><Relationship Id="rId21" Type="http://schemas.openxmlformats.org/officeDocument/2006/relationships/image" Target="../media/image141.png"/><Relationship Id="rId2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2.png"/><Relationship Id="rId6" Type="http://schemas.openxmlformats.org/officeDocument/2006/relationships/image" Target="../media/image48.png"/><Relationship Id="rId7" Type="http://schemas.openxmlformats.org/officeDocument/2006/relationships/image" Target="../media/image47.svg"/><Relationship Id="rId8" Type="http://schemas.openxmlformats.org/officeDocument/2006/relationships/image" Target="../media/image144.png"/><Relationship Id="rId9" Type="http://schemas.openxmlformats.org/officeDocument/2006/relationships/image" Target="../media/image143.svg"/><Relationship Id="rId10" Type="http://schemas.openxmlformats.org/officeDocument/2006/relationships/image" Target="../media/image145.png"/><Relationship Id="rId11" Type="http://schemas.openxmlformats.org/officeDocument/2006/relationships/image" Target="../media/image147.png"/><Relationship Id="rId12" Type="http://schemas.openxmlformats.org/officeDocument/2006/relationships/image" Target="../media/image146.svg"/><Relationship Id="rId13" Type="http://schemas.openxmlformats.org/officeDocument/2006/relationships/image" Target="../media/image149.png"/><Relationship Id="rId14" Type="http://schemas.openxmlformats.org/officeDocument/2006/relationships/image" Target="../media/image148.svg"/><Relationship Id="rId1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50.png"/><Relationship Id="rId6" Type="http://schemas.openxmlformats.org/officeDocument/2006/relationships/image" Target="../media/image152.png"/><Relationship Id="rId7" Type="http://schemas.openxmlformats.org/officeDocument/2006/relationships/image" Target="../media/image151.svg"/><Relationship Id="rId8" Type="http://schemas.openxmlformats.org/officeDocument/2006/relationships/image" Target="../media/image154.png"/><Relationship Id="rId9" Type="http://schemas.openxmlformats.org/officeDocument/2006/relationships/image" Target="../media/image153.svg"/><Relationship Id="rId10" Type="http://schemas.openxmlformats.org/officeDocument/2006/relationships/image" Target="../media/image156.png"/><Relationship Id="rId11" Type="http://schemas.openxmlformats.org/officeDocument/2006/relationships/image" Target="../media/image155.svg"/><Relationship Id="rId12" Type="http://schemas.openxmlformats.org/officeDocument/2006/relationships/image" Target="../media/image158.png"/><Relationship Id="rId13" Type="http://schemas.openxmlformats.org/officeDocument/2006/relationships/image" Target="../media/image157.svg"/><Relationship Id="rId1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59.png"/><Relationship Id="rId6" Type="http://schemas.openxmlformats.org/officeDocument/2006/relationships/image" Target="../media/image161.png"/><Relationship Id="rId7" Type="http://schemas.openxmlformats.org/officeDocument/2006/relationships/image" Target="../media/image160.svg"/><Relationship Id="rId8" Type="http://schemas.openxmlformats.org/officeDocument/2006/relationships/image" Target="../media/image162.png"/><Relationship Id="rId9" Type="http://schemas.openxmlformats.org/officeDocument/2006/relationships/image" Target="../media/image91.png"/><Relationship Id="rId10" Type="http://schemas.openxmlformats.org/officeDocument/2006/relationships/image" Target="../media/image90.svg"/><Relationship Id="rId11" Type="http://schemas.openxmlformats.org/officeDocument/2006/relationships/image" Target="../media/image163.png"/><Relationship Id="rId12" Type="http://schemas.openxmlformats.org/officeDocument/2006/relationships/image" Target="../media/image164.png"/><Relationship Id="rId1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65.png"/><Relationship Id="rId6" Type="http://schemas.openxmlformats.org/officeDocument/2006/relationships/image" Target="../media/image167.png"/><Relationship Id="rId7" Type="http://schemas.openxmlformats.org/officeDocument/2006/relationships/image" Target="../media/image166.svg"/><Relationship Id="rId8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16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5E9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4157596" y="-13894"/>
            <a:ext cx="805101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0" y="-2"/>
            <a:ext cx="1799718" cy="182901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0" y="808901"/>
            <a:ext cx="961132" cy="172474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487069" y="4530971"/>
            <a:ext cx="3482974" cy="63782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10101383" y="2273111"/>
            <a:ext cx="2105868" cy="459580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3782024" y="3802120"/>
            <a:ext cx="2104426" cy="306977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9613224" y="2284033"/>
            <a:ext cx="2578776" cy="458488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577080" y="4577763"/>
            <a:ext cx="3321262" cy="5442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2039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授课教师：张玉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7068" y="1649785"/>
            <a:ext cx="5490553" cy="1874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no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612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信息安全测评与风险评估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77068" y="3867726"/>
            <a:ext cx="4339657" cy="350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2279">
                <a:solidFill>
                  <a:srgbClr val="FFFFFF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任务2：测评方案编制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94345" y="245378"/>
            <a:ext cx="11803310" cy="636724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769119" y="1653024"/>
            <a:ext cx="1267993" cy="5120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spAutoFit/>
          </a:bodyPr>
          <a:lstStyle/>
          <a:p>
            <a:pPr algn="ctr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335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69119" y="2669616"/>
            <a:ext cx="1267993" cy="5120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spAutoFit/>
          </a:bodyPr>
          <a:lstStyle/>
          <a:p>
            <a:pPr algn="ctr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335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69119" y="3686208"/>
            <a:ext cx="1267993" cy="5120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spAutoFit/>
          </a:bodyPr>
          <a:lstStyle/>
          <a:p>
            <a:pPr algn="ctr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335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69119" y="4702801"/>
            <a:ext cx="1267993" cy="51206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spAutoFit/>
          </a:bodyPr>
          <a:lstStyle/>
          <a:p>
            <a:pPr algn="ctr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335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498" y="2799393"/>
            <a:ext cx="1769654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48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目录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3110" y="3733353"/>
            <a:ext cx="3150109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2039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064048" y="4727345"/>
            <a:ext cx="4878288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30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测评方案的四大作用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064048" y="1677568"/>
            <a:ext cx="4878288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30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案例导入——“没有方案的测评”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064048" y="3710752"/>
            <a:ext cx="4878288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30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什么是测评方案？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064048" y="2694160"/>
            <a:ext cx="4878288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30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学习目标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9600" y="609600"/>
            <a:ext cx="60960" cy="4191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609600" y="1158240"/>
            <a:ext cx="10981944" cy="442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1920">
                <a:solidFill>
                  <a:srgbClr val="374151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某测评机构接到一个三级系统的等保测评任务，项目经理直接带着工具去了现场。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812280" y="4358640"/>
            <a:ext cx="4770120" cy="1089660"/>
          </a:xfrm>
          <a:prstGeom prst="rect">
            <a:avLst/>
          </a:prstGeom>
          <a:effectLst>
            <a:outerShdw dir="-1" dist="193548000" blurRad="387096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8" id="8"/>
          <p:cNvSpPr/>
          <p:nvPr/>
        </p:nvSpPr>
        <p:spPr>
          <a:xfrm rot="0" flipH="false" flipV="false">
            <a:off x="6841490" y="4412615"/>
            <a:ext cx="1380744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8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思考：</a:t>
            </a:r>
            <a:r>
              <a:rPr lang="en-US" b="false" i="false" strike="noStrike" u="none" sz="1800">
                <a:solidFill>
                  <a:srgbClr val="C0000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这个测评项目出了哪些问题？</a:t>
            </a:r>
            <a:endParaRPr lang="en-US" sz="1100"/>
          </a:p>
          <a:p>
            <a:pPr algn="l">
              <a:lnSpc>
                <a:spcPct val="125000"/>
              </a:lnSpc>
            </a:pP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000240" y="4947920"/>
            <a:ext cx="4519295" cy="5162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C0000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1.如果提前编制了详细的测评方案，能否避免这些问题？ 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0000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2.一份好的测评方案应该包含哪些内容？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609600" y="2082800"/>
            <a:ext cx="5852160" cy="3276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29640" y="2402840"/>
            <a:ext cx="91440" cy="9144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143000" y="2280920"/>
            <a:ext cx="5007864" cy="731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1F2937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无法停机核查：</a:t>
            </a:r>
            <a:r>
              <a:rPr lang="en-US" b="false" i="false" strike="noStrike" u="none" sz="192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到达后发现对方关键系统正在业务高峰期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29640" y="3317240"/>
            <a:ext cx="91440" cy="9144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143000" y="3195320"/>
            <a:ext cx="368198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1F2937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手忙脚乱：</a:t>
            </a:r>
            <a:r>
              <a:rPr lang="en-US" b="false" i="false" strike="noStrike" u="none" sz="192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没有提前确定测评对象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29640" y="3865880"/>
            <a:ext cx="91440" cy="9144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143000" y="3743960"/>
            <a:ext cx="319430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1F2937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遗漏要求：</a:t>
            </a:r>
            <a:r>
              <a:rPr lang="en-US" b="false" i="false" strike="noStrike" u="none" sz="192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测评指标选取不全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29640" y="4414520"/>
            <a:ext cx="91440" cy="9144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143000" y="4292600"/>
            <a:ext cx="5007610" cy="442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1F2937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人员闲置/重复工作：</a:t>
            </a:r>
            <a:r>
              <a:rPr lang="en-US" b="false" i="false" strike="noStrike" u="none" sz="192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分工不明确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29640" y="4963160"/>
            <a:ext cx="91440" cy="9144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143000" y="4759960"/>
            <a:ext cx="467258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DC2626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客户投诉：</a:t>
            </a:r>
            <a:r>
              <a:rPr lang="en-US" b="false" i="false" strike="noStrike" u="none" sz="192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原本3天能完成的工作，拖了7天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812280" y="2133600"/>
            <a:ext cx="4770120" cy="2133600"/>
          </a:xfrm>
          <a:prstGeom prst="rect">
            <a:avLst/>
          </a:prstGeom>
          <a:effectLst>
            <a:outerShdw dir="-1" dist="193548000" blurRad="387096000" algn="bl" rotWithShape="false">
              <a:srgbClr val="000000">
                <a:alpha val="100000"/>
              </a:srgbClr>
            </a:outerShdw>
          </a:effectLst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rcRect l="0" r="0" t="0" b="0"/>
          <a:stretch>
            <a:fillRect/>
          </a:stretch>
        </p:blipFill>
        <p:spPr>
          <a:xfrm rot="0" flipH="false" flipV="false">
            <a:off x="6851650" y="2082800"/>
            <a:ext cx="4739640" cy="21031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0" y="5638800"/>
            <a:ext cx="12192000" cy="1219200"/>
          </a:xfrm>
          <a:prstGeom prst="rect">
            <a:avLst/>
          </a:prstGeom>
          <a:effectLst>
            <a:outerShdw dir="-1" dist="774192000" blurRad="1935480000" algn="bl" rotWithShape="false">
              <a:srgbClr val="000000">
                <a:alpha val="100000"/>
              </a:srgbClr>
            </a:outerShdw>
          </a:effectLst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09600" y="5897880"/>
            <a:ext cx="624840" cy="33528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31520" y="5867400"/>
            <a:ext cx="408940" cy="368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结论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341120" y="5852160"/>
            <a:ext cx="5358384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160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没有方案就去现场 ≈ 没有图纸就去盖房子。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09600" y="6324600"/>
            <a:ext cx="10981944" cy="4152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r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1800">
                <a:solidFill>
                  <a:srgbClr val="D1D5DB">
                    <a:alpha val="90196"/>
                  </a:srgbClr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 </a:t>
            </a:r>
            <a:r>
              <a:rPr lang="en-US" b="false" i="false" strike="noStrike" u="none" sz="1800">
                <a:solidFill>
                  <a:srgbClr val="FFC000">
                    <a:alpha val="90196"/>
                  </a:srgbClr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严谨细致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2497" y="531937"/>
            <a:ext cx="1402080" cy="4241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案例导入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851650" y="4612640"/>
            <a:ext cx="692150" cy="289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8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讨论：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609600" y="1371600"/>
            <a:ext cx="1098194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160">
                <a:solidFill>
                  <a:srgbClr val="374151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通过本课学习，你将能够：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75360" y="2453640"/>
            <a:ext cx="60960" cy="2895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1706880" y="2164080"/>
            <a:ext cx="9144000" cy="685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1965960" y="2301240"/>
            <a:ext cx="863498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理解测评方案在等保测评工作中的</a:t>
            </a: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核心地位与作用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9600" y="2133600"/>
            <a:ext cx="731520" cy="731520"/>
          </a:xfrm>
          <a:prstGeom prst="rect">
            <a:avLst/>
          </a:prstGeom>
          <a:effectLst>
            <a:outerShdw dir="-1" dist="774192000" blurRad="1161288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10" id="10"/>
          <p:cNvSpPr/>
          <p:nvPr/>
        </p:nvSpPr>
        <p:spPr>
          <a:xfrm rot="0" flipH="false" flipV="false">
            <a:off x="868680" y="2316480"/>
            <a:ext cx="22250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1706880" y="2865120"/>
            <a:ext cx="9144000" cy="685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1965960" y="3002280"/>
            <a:ext cx="863498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掌握测评方案的</a:t>
            </a: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完整结构（六要素）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9600" y="2834640"/>
            <a:ext cx="731520" cy="731520"/>
          </a:xfrm>
          <a:prstGeom prst="rect">
            <a:avLst/>
          </a:prstGeom>
          <a:effectLst>
            <a:outerShdw dir="-1" dist="774192000" blurRad="1161288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14" id="14"/>
          <p:cNvSpPr/>
          <p:nvPr/>
        </p:nvSpPr>
        <p:spPr>
          <a:xfrm rot="0" flipH="false" flipV="false">
            <a:off x="868680" y="3017520"/>
            <a:ext cx="22250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1706880" y="3566160"/>
            <a:ext cx="9144000" cy="685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1965960" y="3703320"/>
            <a:ext cx="863498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识记测评方案的</a:t>
            </a: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编制流程与方法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9600" y="3535680"/>
            <a:ext cx="731520" cy="731520"/>
          </a:xfrm>
          <a:prstGeom prst="rect">
            <a:avLst/>
          </a:prstGeom>
          <a:effectLst>
            <a:outerShdw dir="-1" dist="774192000" blurRad="1161288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868680" y="3718560"/>
            <a:ext cx="22250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1706880" y="4267200"/>
            <a:ext cx="9144000" cy="685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1965960" y="4404360"/>
            <a:ext cx="863498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能够分析给定系统的</a:t>
            </a: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测评范围与测评对象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9600" y="4236720"/>
            <a:ext cx="731520" cy="731520"/>
          </a:xfrm>
          <a:prstGeom prst="rect">
            <a:avLst/>
          </a:prstGeom>
          <a:effectLst>
            <a:outerShdw dir="-1" dist="774192000" blurRad="1161288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22" id="22"/>
          <p:cNvSpPr/>
          <p:nvPr/>
        </p:nvSpPr>
        <p:spPr>
          <a:xfrm rot="0" flipH="false" flipV="false">
            <a:off x="868680" y="4419600"/>
            <a:ext cx="22250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1706880" y="4968240"/>
            <a:ext cx="9144000" cy="685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4" id="24"/>
          <p:cNvSpPr/>
          <p:nvPr/>
        </p:nvSpPr>
        <p:spPr>
          <a:xfrm rot="0" flipH="false" flipV="false">
            <a:off x="1965960" y="5105400"/>
            <a:ext cx="863498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具备严谨细致的</a:t>
            </a: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工作作风与责任意识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9600" y="4937760"/>
            <a:ext cx="731520" cy="731520"/>
          </a:xfrm>
          <a:prstGeom prst="rect">
            <a:avLst/>
          </a:prstGeom>
          <a:effectLst>
            <a:outerShdw dir="-1" dist="774192000" blurRad="1161288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26" id="26"/>
          <p:cNvSpPr/>
          <p:nvPr/>
        </p:nvSpPr>
        <p:spPr>
          <a:xfrm rot="0" flipH="false" flipV="false">
            <a:off x="868680" y="5120640"/>
            <a:ext cx="22250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2497" y="531937"/>
            <a:ext cx="2911475" cy="4241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学习目标-测评方案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1371600"/>
            <a:ext cx="10972800" cy="131064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09600" y="1371600"/>
            <a:ext cx="3352800" cy="131064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676400" y="1844040"/>
            <a:ext cx="365760" cy="36576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225040" y="1767840"/>
            <a:ext cx="69494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定义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267200" y="1584960"/>
            <a:ext cx="7019544" cy="1082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true" i="false" strike="noStrike" u="none" sz="2160">
                <a:solidFill>
                  <a:srgbClr val="C0000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等保测评方案</a:t>
            </a:r>
            <a:r>
              <a:rPr lang="en-US" b="fals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是测评项目实施前编制的指导性文件，明确“</a:t>
            </a:r>
            <a:r>
              <a:rPr lang="en-US" b="true" i="false" strike="noStrike" u="none" sz="2160">
                <a:solidFill>
                  <a:srgbClr val="C0000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测什么、怎么测、谁来测、何时测</a:t>
            </a:r>
            <a:r>
              <a:rPr lang="en-US" b="fals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”等核心问题。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3048000"/>
            <a:ext cx="10972800" cy="131064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09600" y="3048000"/>
            <a:ext cx="3352800" cy="131064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173480" y="3520440"/>
            <a:ext cx="365760" cy="36576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22120" y="3444240"/>
            <a:ext cx="170078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形象的比喻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267200" y="3261360"/>
            <a:ext cx="7019544" cy="8939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测评方案就是测评工作的“</a:t>
            </a:r>
            <a:r>
              <a:rPr lang="en-US" b="tru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施工蓝图</a:t>
            </a:r>
            <a:r>
              <a:rPr lang="en-US" b="fals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”或“</a:t>
            </a:r>
            <a:r>
              <a:rPr lang="en-US" b="tru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作战计划</a:t>
            </a:r>
            <a:r>
              <a:rPr lang="en-US" b="fals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”。没有方案的测评，就像没有图纸盖房子——结果可想而知。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rcRect l="0" r="0" t="0" b="0"/>
          <a:stretch>
            <a:fillRect/>
          </a:stretch>
        </p:blipFill>
        <p:spPr>
          <a:xfrm rot="0" flipH="false" flipV="false">
            <a:off x="609600" y="4724400"/>
            <a:ext cx="10972800" cy="92964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609600" y="4724400"/>
            <a:ext cx="3352800" cy="9296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1478280" y="4851400"/>
            <a:ext cx="170078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一句话概括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267200" y="4953000"/>
            <a:ext cx="3849624" cy="44696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方案决定质量，细节决定成败。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什么是测评方案？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7010" y="209550"/>
            <a:ext cx="11777980" cy="607758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9600" y="1889760"/>
            <a:ext cx="2987040" cy="67056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914400" y="1965960"/>
            <a:ext cx="2386584" cy="487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26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1. 明确测评范围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70560" y="2804160"/>
            <a:ext cx="4946904" cy="7448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防止漏测（遗漏重要系统）和超范围测（做不该做的事）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83680" y="1889760"/>
            <a:ext cx="2987040" cy="67056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888480" y="1965960"/>
            <a:ext cx="2386584" cy="487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26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2. 统一测评方法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44640" y="2804160"/>
            <a:ext cx="4946904" cy="4221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203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保证测评结果客观、公正、可重复、可追溯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9600" y="4282440"/>
            <a:ext cx="2987040" cy="67056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914400" y="4358640"/>
            <a:ext cx="2386584" cy="487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26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3. 合理安排日程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70560" y="5196840"/>
            <a:ext cx="4946904" cy="3974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提高现场测评效率，避免时间浪费和资源冲突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583680" y="4282440"/>
            <a:ext cx="3322320" cy="67056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88480" y="4358640"/>
            <a:ext cx="2721864" cy="487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26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4. 项目管理的依据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44640" y="5196840"/>
            <a:ext cx="4946904" cy="7448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控制项目进度、成本和质量，是团队协作的“契约”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测评方案的四大作用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064000" y="3245400"/>
            <a:ext cx="4064000" cy="3848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079990" y="6292215"/>
            <a:ext cx="1380744" cy="3962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800">
                <a:solidFill>
                  <a:srgbClr val="FFC00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精准高效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1371600"/>
            <a:ext cx="10972800" cy="143256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68680" y="1630680"/>
            <a:ext cx="10463784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4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记忆口诀：一项依据两范围，三对对象四指标，五定方法六日程，六要素全方案成。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" y="3108960"/>
            <a:ext cx="3505200" cy="1447800"/>
          </a:xfrm>
          <a:prstGeom prst="rect">
            <a:avLst/>
          </a:prstGeom>
          <a:effectLst>
            <a:outerShdw dir="-1" dist="387096000" blurRad="1548384000" algn="bl" rotWithShape="false">
              <a:srgbClr val="00234E">
                <a:alpha val="10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68680" y="3368040"/>
            <a:ext cx="426720" cy="42672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005840" y="3398520"/>
            <a:ext cx="1615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17320" y="3368040"/>
            <a:ext cx="110642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项目概述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68680" y="3962400"/>
            <a:ext cx="2950464" cy="3152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背景、目的、依据（标准）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24840" y="3124200"/>
            <a:ext cx="60960" cy="14173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43400" y="3108960"/>
            <a:ext cx="3505200" cy="1447800"/>
          </a:xfrm>
          <a:prstGeom prst="rect">
            <a:avLst/>
          </a:prstGeom>
          <a:effectLst>
            <a:outerShdw dir="-1" dist="387096000" blurRad="1548384000" algn="bl" rotWithShape="false">
              <a:srgbClr val="00234E">
                <a:alpha val="100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602480" y="3307080"/>
            <a:ext cx="426720" cy="42672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754880" y="3337560"/>
            <a:ext cx="1615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151120" y="3307080"/>
            <a:ext cx="110642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测评范围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02480" y="3840480"/>
            <a:ext cx="2996184" cy="2943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555555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物理位置、网络区域、系统边界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4358640" y="3124200"/>
            <a:ext cx="60960" cy="14173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092440" y="3108960"/>
            <a:ext cx="3505200" cy="1447800"/>
          </a:xfrm>
          <a:prstGeom prst="rect">
            <a:avLst/>
          </a:prstGeom>
          <a:effectLst>
            <a:outerShdw dir="-1" dist="387096000" blurRad="1548384000" algn="bl" rotWithShape="false">
              <a:srgbClr val="00234E">
                <a:alpha val="100000"/>
              </a:srgbClr>
            </a:outerShdw>
          </a:effectLst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51520" y="3307080"/>
            <a:ext cx="426720" cy="42672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488680" y="3337560"/>
            <a:ext cx="1615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900160" y="3307080"/>
            <a:ext cx="110642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测评对象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51520" y="3840480"/>
            <a:ext cx="2996184" cy="231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319">
                <a:solidFill>
                  <a:srgbClr val="555555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设备、系统、人员、文档（具体清单）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8107680" y="3124200"/>
            <a:ext cx="60960" cy="14173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" y="4800600"/>
            <a:ext cx="3505200" cy="1447800"/>
          </a:xfrm>
          <a:prstGeom prst="rect">
            <a:avLst/>
          </a:prstGeom>
          <a:effectLst>
            <a:outerShdw dir="-1" dist="387096000" blurRad="1548384000" algn="bl" rotWithShape="false">
              <a:srgbClr val="00234E">
                <a:alpha val="100000"/>
              </a:srgbClr>
            </a:outerShdw>
          </a:effectLst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68680" y="5059680"/>
            <a:ext cx="426720" cy="42672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005840" y="5090160"/>
            <a:ext cx="1615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4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417320" y="5059680"/>
            <a:ext cx="110642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测评指标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68680" y="5654040"/>
            <a:ext cx="2782824" cy="3152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对照GB/T 22239的各条款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24840" y="4815840"/>
            <a:ext cx="60960" cy="14173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43400" y="4800600"/>
            <a:ext cx="3505200" cy="1447800"/>
          </a:xfrm>
          <a:prstGeom prst="rect">
            <a:avLst/>
          </a:prstGeom>
          <a:effectLst>
            <a:outerShdw dir="-1" dist="387096000" blurRad="1548384000" algn="bl" rotWithShape="false">
              <a:srgbClr val="00234E">
                <a:alpha val="100000"/>
              </a:srgbClr>
            </a:outerShdw>
          </a:effectLst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602480" y="5059680"/>
            <a:ext cx="426720" cy="42672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4754880" y="5090160"/>
            <a:ext cx="1615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5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151120" y="5059680"/>
            <a:ext cx="110642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测评方法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602480" y="5654040"/>
            <a:ext cx="1975104" cy="3152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访谈、核查、测试</a:t>
            </a:r>
            <a:endParaRPr lang="en-US" sz="1100"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4358640" y="4815840"/>
            <a:ext cx="60960" cy="14173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092440" y="4800600"/>
            <a:ext cx="3505200" cy="1447800"/>
          </a:xfrm>
          <a:prstGeom prst="rect">
            <a:avLst/>
          </a:prstGeom>
          <a:effectLst>
            <a:outerShdw dir="-1" dist="387096000" blurRad="1548384000" algn="bl" rotWithShape="false">
              <a:srgbClr val="00234E">
                <a:alpha val="100000"/>
              </a:srgbClr>
            </a:outerShdw>
          </a:effectLst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51520" y="5059680"/>
            <a:ext cx="426720" cy="426720"/>
          </a:xfrm>
          <a:prstGeom prst="rect">
            <a:avLst/>
          </a:prstGeom>
        </p:spPr>
      </p:pic>
      <p:sp>
        <p:nvSpPr>
          <p:cNvPr name="AutoShape 39" id="39"/>
          <p:cNvSpPr/>
          <p:nvPr/>
        </p:nvSpPr>
        <p:spPr>
          <a:xfrm rot="0" flipH="false" flipV="false">
            <a:off x="8488680" y="5090160"/>
            <a:ext cx="1615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6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900160" y="5059680"/>
            <a:ext cx="138074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日程与人员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351520" y="5654040"/>
            <a:ext cx="2218944" cy="3152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哪天做什么、谁来做</a:t>
            </a:r>
            <a:endParaRPr lang="en-US" sz="1100"/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8107680" y="4815840"/>
            <a:ext cx="60960" cy="14173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43" id="43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测评方案的“</a:t>
            </a:r>
            <a:r>
              <a:rPr lang="en-US" b="tru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六要素</a:t>
            </a:r>
            <a:r>
              <a:rPr lang="en-US" b="false" i="false" strike="noStrike" u="none" sz="276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760">
                <a:solidFill>
                  <a:srgbClr val="1E1E1E"/>
                </a:solidFill>
                <a:latin typeface="Noto Sans SC"/>
                <a:ea typeface="Noto Sans SC"/>
                <a:cs typeface="Noto Sans SC"/>
                <a:sym typeface="Noto Sans SC"/>
              </a:rPr>
              <a:t>（核心框架）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59863" y="1097280"/>
          <a:ext cx="10872274" cy="403180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94589"/>
                <a:gridCol w="1859930"/>
                <a:gridCol w="7817755"/>
              </a:tblGrid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要素项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说明/问题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示例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项目背景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为什么要做这个测评？</a:t>
                      </a:r>
                      <a:endParaRPr lang="en-US" sz="1100"/>
                    </a:p>
                  </a:txBody>
                  <a:tcPr anchor="ctr" marL="90602" marR="90602" marT="64466" marB="64466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为贯彻落实《网络安全法》及等保2.0要求，XX单位委托我机构对其核心业务系统开展等级保护测评工作。</a:t>
                      </a:r>
                      <a:endParaRPr lang="en-US" sz="1100"/>
                    </a:p>
                  </a:txBody>
                  <a:tcPr anchor="ctr" marL="90602" marR="90602" marT="64466" marB="64466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委托单位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谁委托的？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</a:t>
                      </a: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市人力资源和社会保障局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被测系统名称</a:t>
                      </a:r>
                      <a:endParaRPr lang="en-US" sz="1100"/>
                    </a:p>
                  </a:txBody>
                  <a:tcPr anchor="ctr" marL="90602" marR="90602" marT="64466" marB="64466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测什么系统？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</a:t>
                      </a: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市人社公共服务平台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安全保护等级</a:t>
                      </a:r>
                      <a:endParaRPr lang="en-US" sz="1100"/>
                    </a:p>
                  </a:txBody>
                  <a:tcPr anchor="ctr" marL="90602" marR="90602" marT="64466" marB="64466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几级？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第三级（S3A3）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测评目的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要达到什么目标？</a:t>
                      </a:r>
                      <a:endParaRPr lang="en-US" sz="1100"/>
                    </a:p>
                  </a:txBody>
                  <a:tcPr anchor="ctr" marL="90602" marR="90602" marT="64466" marB="64466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通过测评，全面掌握系统安全状况，发现与等级保护标准的差距，提出整改建议。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测评依据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依据什么标准？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等保标准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559435" y="5577840"/>
            <a:ext cx="10972800" cy="7315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07720" y="5562600"/>
            <a:ext cx="1436370" cy="497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  <a:r>
              <a:rPr lang="en-US" b="true" i="false" strike="noStrike" u="none" sz="2160">
                <a:solidFill>
                  <a:srgbClr val="00234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true" i="false" strike="noStrike" u="none" sz="2160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思考</a:t>
            </a:r>
            <a:r>
              <a:rPr lang="en-US" b="true" i="false" strike="noStrike" u="none" sz="2160">
                <a:solidFill>
                  <a:srgbClr val="00234E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315210" y="5621020"/>
            <a:ext cx="1463040" cy="442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C00000"/>
                </a:solidFill>
                <a:latin typeface="等线"/>
                <a:ea typeface="等线"/>
                <a:cs typeface="等线"/>
                <a:sym typeface="等线"/>
              </a:rPr>
              <a:t>哪里不合适？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20371" y="495716"/>
            <a:ext cx="3057144" cy="3886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true" i="false" strike="noStrike" u="none" sz="2520">
                <a:solidFill>
                  <a:srgbClr val="333333"/>
                </a:solidFill>
                <a:latin typeface="等线"/>
                <a:ea typeface="等线"/>
                <a:cs typeface="等线"/>
                <a:sym typeface="等线"/>
              </a:rPr>
              <a:t>要素一：项目概述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59863" y="1097280"/>
          <a:ext cx="10872274" cy="403180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94589"/>
                <a:gridCol w="1859930"/>
                <a:gridCol w="7817755"/>
              </a:tblGrid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要素项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说明/问题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示例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项目背景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为什么要做这个测评？</a:t>
                      </a:r>
                      <a:endParaRPr lang="en-US" sz="1100"/>
                    </a:p>
                  </a:txBody>
                  <a:tcPr anchor="ctr" marL="90602" marR="90602" marT="64466" marB="64466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为贯彻落实《网络安全法》及等保2.0要求，XX单位委托我机构对其核心业务系统开展等级保护测评工作。</a:t>
                      </a:r>
                      <a:endParaRPr lang="en-US" sz="1100"/>
                    </a:p>
                  </a:txBody>
                  <a:tcPr anchor="ctr" marL="90602" marR="90602" marT="64466" marB="64466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委托单位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谁委托的？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</a:t>
                      </a: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市人力资源和社会保障局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被测系统名称</a:t>
                      </a:r>
                      <a:endParaRPr lang="en-US" sz="1100"/>
                    </a:p>
                  </a:txBody>
                  <a:tcPr anchor="ctr" marL="90602" marR="90602" marT="64466" marB="64466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测什么系统？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</a:t>
                      </a: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市人社公共服务平台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安全保护等级</a:t>
                      </a:r>
                      <a:endParaRPr lang="en-US" sz="1100"/>
                    </a:p>
                  </a:txBody>
                  <a:tcPr anchor="ctr" marL="90602" marR="90602" marT="64466" marB="64466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几级？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第三级（S3A3）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测评目的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要达到什么目标？</a:t>
                      </a:r>
                      <a:endParaRPr lang="en-US" sz="1100"/>
                    </a:p>
                  </a:txBody>
                  <a:tcPr anchor="ctr" marL="90602" marR="90602" marT="64466" marB="64466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通过测评，全面掌握系统安全状况，发现与等级保护标准的差距，提出整改建议。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5972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测评依据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依据什么标准？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GB/T22239-2019</a:t>
                      </a: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、</a:t>
                      </a: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GB/T28448-2019</a:t>
                      </a:r>
                      <a:r>
                        <a:rPr lang="en-US" b="false" i="false" strike="noStrike" u="none" sz="166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等</a:t>
                      </a:r>
                      <a:endParaRPr lang="en-US" sz="1100"/>
                    </a:p>
                  </a:txBody>
                  <a:tcPr anchor="ctr" marL="90602" marR="90602" marT="90602" marB="9060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559435" y="5577840"/>
            <a:ext cx="10972800" cy="7315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07720" y="5562600"/>
            <a:ext cx="182270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  <a:r>
              <a:rPr lang="en-US" b="true" i="false" strike="noStrike" u="none" sz="2160">
                <a:solidFill>
                  <a:srgbClr val="00234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true" i="false" strike="noStrike" u="none" sz="2160">
                <a:solidFill>
                  <a:srgbClr val="00234E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常见错误：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636520" y="5577840"/>
            <a:ext cx="583082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等线"/>
                <a:ea typeface="等线"/>
                <a:cs typeface="等线"/>
                <a:sym typeface="等线"/>
              </a:rPr>
              <a:t>只写“依据等保标准”，不写具体标准编号和名称。❌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20371" y="495716"/>
            <a:ext cx="3057144" cy="3886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16666"/>
              </a:lnSpc>
              <a:defRPr/>
            </a:pPr>
            <a:r>
              <a:rPr lang="en-US" b="true" i="false" strike="noStrike" u="none" sz="2520">
                <a:solidFill>
                  <a:srgbClr val="333333"/>
                </a:solidFill>
                <a:latin typeface="等线"/>
                <a:ea typeface="等线"/>
                <a:cs typeface="等线"/>
                <a:sym typeface="等线"/>
              </a:rPr>
              <a:t>要素一：项目概述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3505200"/>
            <a:ext cx="3535680" cy="2133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07720" y="3703320"/>
            <a:ext cx="426720" cy="42672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99160" y="3794760"/>
            <a:ext cx="243840" cy="24384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56360" y="3718560"/>
            <a:ext cx="110642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物理位置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7720" y="4251960"/>
            <a:ext cx="314858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覆盖哪些物理场所？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807720" y="4678680"/>
            <a:ext cx="3139440" cy="762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944880" y="4800600"/>
            <a:ext cx="284378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439">
                <a:solidFill>
                  <a:srgbClr val="666666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示例：XX数据中心A栋3楼机房、XX办公楼网络机房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4328160" y="3505200"/>
            <a:ext cx="3535680" cy="2133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26280" y="3703320"/>
            <a:ext cx="426720" cy="42672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17720" y="3794760"/>
            <a:ext cx="243840" cy="24384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074920" y="3718560"/>
            <a:ext cx="110642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网络区域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26280" y="4251960"/>
            <a:ext cx="314858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覆盖哪些网络区域？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4526280" y="4678680"/>
            <a:ext cx="3139440" cy="762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4663440" y="4800600"/>
            <a:ext cx="276758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439">
                <a:solidFill>
                  <a:srgbClr val="666666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示例：互联网接入区、核心业务区等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8046720" y="3505200"/>
            <a:ext cx="3535680" cy="2133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44840" y="3703320"/>
            <a:ext cx="426720" cy="42672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336280" y="3794760"/>
            <a:ext cx="243840" cy="24384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793480" y="3718560"/>
            <a:ext cx="110642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系统边界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44840" y="4251960"/>
            <a:ext cx="314858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测评的起点和终点？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8244840" y="4678680"/>
            <a:ext cx="3139440" cy="762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5" id="25"/>
          <p:cNvSpPr/>
          <p:nvPr/>
        </p:nvSpPr>
        <p:spPr>
          <a:xfrm rot="0" flipH="false" flipV="false">
            <a:off x="8382000" y="4709160"/>
            <a:ext cx="2767584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439">
                <a:solidFill>
                  <a:srgbClr val="666666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示例：从互联网入口到数据库存储，包含Web、应用、数据库服务器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609600" y="1371600"/>
            <a:ext cx="10972800" cy="19202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7" id="27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要素二：测评范围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609600" y="1371600"/>
            <a:ext cx="1098194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6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测评对象是“测什么”的具体清单，必须可量化、可追溯。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9600" y="2026920"/>
            <a:ext cx="10972800" cy="3611880"/>
          </a:xfrm>
          <a:prstGeom prst="rect">
            <a:avLst/>
          </a:prstGeom>
          <a:effectLst>
            <a:outerShdw dir="-1" dist="193548000" blurRad="387096000" algn="bl" rotWithShape="false">
              <a:srgbClr val="000000">
                <a:alpha val="100000"/>
              </a:srgbClr>
            </a:outerShdw>
          </a:effectLst>
        </p:spPr>
      </p:pic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24840" y="2042160"/>
          <a:ext cx="10942320" cy="3581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20900"/>
                <a:gridCol w="4059494"/>
                <a:gridCol w="5661926"/>
              </a:tblGrid>
              <a:tr h="44767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分类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包含内容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数量/举例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767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网络设备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路由器、交换机、负载均衡等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核心交换机2、汇聚交换机4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767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安全设备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防火墙、堡垒机、WAF、IDS/IPS等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防火墙2、堡垒机1、WAF1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767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主机设备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Windows/Linux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服务器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服务器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、应用服务器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、数据库服务器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767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数据库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关系型数据库、NoSQL等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MySQL2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、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SQLServer1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767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应用系统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应用、移动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等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</a:t>
                      </a: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市人社公共服务平台网站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767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管理制度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安全管理制度文档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安全管理制度汇编（1套12份）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767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人员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管理员、操作员、负责人等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79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系统管理员2、安全管理员1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要素三：测评对象（重点）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9600" y="1493520"/>
            <a:ext cx="60960" cy="27432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792480" y="1371600"/>
            <a:ext cx="2036064" cy="487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系统架构简况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09600" y="2057400"/>
            <a:ext cx="4465320" cy="35814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868680" y="2331720"/>
            <a:ext cx="3956304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800">
                <a:solidFill>
                  <a:srgbClr val="555555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场景：某OA办公系统（第二级），部署于XX数据中心，拓扑如下：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68680" y="3124200"/>
            <a:ext cx="2225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00234E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•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73480" y="3108960"/>
            <a:ext cx="162458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333333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边界：</a:t>
            </a: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防火墙1台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68680" y="3505200"/>
            <a:ext cx="2225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00234E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•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73480" y="3489960"/>
            <a:ext cx="247802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333333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核心：</a:t>
            </a: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交换机2台（堆叠）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68680" y="3901440"/>
            <a:ext cx="2225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00234E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•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73480" y="3886200"/>
            <a:ext cx="330098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333333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服务器：</a:t>
            </a: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OA服务器3台(Win+Linux)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68680" y="4297680"/>
            <a:ext cx="2225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00234E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•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73480" y="4282440"/>
            <a:ext cx="192938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333333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数据库：</a:t>
            </a: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MySQL 1套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68680" y="4678680"/>
            <a:ext cx="2225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00234E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•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73480" y="4663440"/>
            <a:ext cx="20513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333333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安全设备：</a:t>
            </a: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堡垒机1台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8680" y="5074920"/>
            <a:ext cx="2225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00234E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•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73480" y="5059680"/>
            <a:ext cx="141122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333333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管理文档：</a:t>
            </a: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1套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425440" y="1493520"/>
            <a:ext cx="60960" cy="27432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608320" y="1371600"/>
            <a:ext cx="2036064" cy="487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测评对象清单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425440" y="2057400"/>
            <a:ext cx="6156960" cy="3581400"/>
          </a:xfrm>
          <a:prstGeom prst="rect">
            <a:avLst/>
          </a:prstGeom>
          <a:effectLst>
            <a:outerShdw dir="-1" dist="774192000" blurRad="-2147481100" algn="bl" rotWithShape="false">
              <a:srgbClr val="000000">
                <a:alpha val="100000"/>
              </a:srgbClr>
            </a:outerShdw>
          </a:effectLst>
        </p:spPr>
      </p:pic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5440680" y="2072640"/>
          <a:ext cx="6126480" cy="355091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92480"/>
                <a:gridCol w="1950720"/>
                <a:gridCol w="792480"/>
                <a:gridCol w="2590800"/>
              </a:tblGrid>
              <a:tr h="507274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50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序号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50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测评对象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50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状态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50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说明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</a:tr>
              <a:tr h="507274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60">
                          <a:solidFill>
                            <a:srgbClr val="333333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防火墙(1台)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666666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边界防护核心设备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7274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60">
                          <a:solidFill>
                            <a:srgbClr val="FFFF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交换机(2台)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FFFF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网络核心，关键设备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</a:tr>
              <a:tr h="507274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6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OA</a:t>
                      </a:r>
                      <a:r>
                        <a:rPr lang="en-US" b="true" i="false" strike="noStrike" u="none" sz="126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服务器</a:t>
                      </a:r>
                      <a:r>
                        <a:rPr lang="en-US" b="true" i="false" strike="noStrike" u="none" sz="126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(3</a:t>
                      </a:r>
                      <a:r>
                        <a:rPr lang="en-US" b="true" i="false" strike="noStrike" u="none" sz="126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台</a:t>
                      </a:r>
                      <a:r>
                        <a:rPr lang="en-US" b="true" i="false" strike="noStrike" u="none" sz="126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69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b="false" i="false" strike="noStrike" u="none" sz="1169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抽</a:t>
                      </a:r>
                      <a:r>
                        <a:rPr lang="en-US" b="false" i="false" strike="noStrike" u="none" sz="1169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b="false" i="false" strike="noStrike" u="none" sz="1169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台</a:t>
                      </a:r>
                      <a:r>
                        <a:rPr lang="en-US" b="false" i="false" strike="noStrike" u="none" sz="1169">
                          <a:solidFill>
                            <a:srgbClr val="6666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lang="en-US" b="false" i="false" strike="noStrike" u="none" sz="1169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同类代表抽样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7274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6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MySQL(1</a:t>
                      </a:r>
                      <a:r>
                        <a:rPr lang="en-US" b="true" i="false" strike="noStrike" u="none" sz="1260">
                          <a:solidFill>
                            <a:srgbClr val="FFFF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套</a:t>
                      </a:r>
                      <a:r>
                        <a:rPr lang="en-US" b="true" i="false" strike="noStrike" u="none" sz="126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FFFF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核心数据存储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</a:tr>
              <a:tr h="507274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60">
                          <a:solidFill>
                            <a:srgbClr val="333333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堡垒机(1台)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666666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运维管理核心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7274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60">
                          <a:solidFill>
                            <a:srgbClr val="FFFF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管理制度(1套)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60">
                          <a:solidFill>
                            <a:srgbClr val="FFFF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合规性检查必需</a:t>
                      </a:r>
                      <a:endParaRPr lang="en-US" sz="1100"/>
                    </a:p>
                  </a:txBody>
                  <a:tcPr anchor="ctr" marL="91440" marR="91440" marT="91440" marB="9144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25" id="25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测评对象选取实操举例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386840" y="1524000"/>
            <a:ext cx="975360" cy="97536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630680" y="1767840"/>
            <a:ext cx="487680" cy="48768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05840" y="2743200"/>
            <a:ext cx="1746504" cy="4800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5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1. 应测尽测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" y="3429000"/>
            <a:ext cx="2523744" cy="6305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凡是标准中明确要求的对象，都应纳入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4221480"/>
            <a:ext cx="2523744" cy="8829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6B728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（举例：标准要求检查“网络设备”，则所有核心网络设备必须纳入）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206240" y="1524000"/>
            <a:ext cx="975360" cy="97536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450080" y="1767840"/>
            <a:ext cx="487680" cy="48768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657600" y="2743200"/>
            <a:ext cx="2081784" cy="4800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5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2. 关键性原则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29000" y="3429000"/>
            <a:ext cx="2523744" cy="6305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承载核心业务、存储重要数据的设备，必须选取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29000" y="4556760"/>
            <a:ext cx="2523744" cy="8829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6B728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（举例：核心数据库服务器必须100%纳入，不可抽样）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025640" y="1524000"/>
            <a:ext cx="975360" cy="97536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7269480" y="1767840"/>
            <a:ext cx="487680" cy="48768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477000" y="2743200"/>
            <a:ext cx="2081784" cy="4800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5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3. 代表性原则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48400" y="3429000"/>
            <a:ext cx="2523744" cy="6305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同一类型的多台设备中，选取最有代表性的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48400" y="4221480"/>
            <a:ext cx="2523744" cy="8829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6B728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（举例：同型号、同配置的5台服务器中选取2台（配置最高/流量最大））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845040" y="1524000"/>
            <a:ext cx="975360" cy="97536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088880" y="1767840"/>
            <a:ext cx="487680" cy="48768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464040" y="2743200"/>
            <a:ext cx="1746504" cy="4800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5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4. 抽样原则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67800" y="3429000"/>
            <a:ext cx="2523744" cy="945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1F2937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同类设备、同质化配置，可抽样测评（不低于30%）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067800" y="4556760"/>
            <a:ext cx="2523744" cy="5886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679">
                <a:solidFill>
                  <a:srgbClr val="6B728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（举例：10台同型号交换机，至少抽检3台）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测评对象选取四大原则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1219200"/>
            <a:ext cx="4312920" cy="20726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68680" y="1478280"/>
            <a:ext cx="3803904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测评指标 = “按什么标准来检查”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68680" y="2377440"/>
            <a:ext cx="3803904" cy="6305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800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来源：</a:t>
            </a:r>
            <a:r>
              <a:rPr lang="en-US" b="false" i="false" strike="noStrike" u="none" sz="1800">
                <a:solidFill>
                  <a:srgbClr val="555555"/>
                </a:solidFill>
                <a:latin typeface="等线"/>
                <a:ea typeface="等线"/>
                <a:cs typeface="等线"/>
                <a:sym typeface="等线"/>
              </a:rPr>
              <a:t>直接来源于 GB/T 22239 对应等级要求项。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" y="3627120"/>
            <a:ext cx="60960" cy="24384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92480" y="3535680"/>
            <a:ext cx="1106424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选取步骤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5212080" y="1219200"/>
            <a:ext cx="6370320" cy="50292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5227320" y="1234440"/>
            <a:ext cx="6339840" cy="609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410200" y="1417320"/>
            <a:ext cx="243840" cy="24384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775960" y="1356360"/>
            <a:ext cx="287426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20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示例：第三级 — 身份鉴别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349240" y="1965960"/>
            <a:ext cx="6096000" cy="4572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5154930" y="2057400"/>
            <a:ext cx="1007364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要求项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5355488" y="2423160"/>
            <a:ext cx="608838" cy="304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6080760" y="2057400"/>
            <a:ext cx="862584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要求内容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rcRect l="0" r="0" t="0" b="0"/>
          <a:stretch>
            <a:fillRect/>
          </a:stretch>
        </p:blipFill>
        <p:spPr>
          <a:xfrm rot="0" flipH="false" flipV="false">
            <a:off x="5964326" y="2423160"/>
            <a:ext cx="4262933" cy="304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10622280" y="2057400"/>
            <a:ext cx="435864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状态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rcRect l="0" r="0" t="0" b="0"/>
          <a:stretch>
            <a:fillRect/>
          </a:stretch>
        </p:blipFill>
        <p:spPr>
          <a:xfrm rot="0" flipH="false" flipV="false">
            <a:off x="10227259" y="2423160"/>
            <a:ext cx="1217981" cy="304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5471160" y="2514600"/>
            <a:ext cx="374904" cy="518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56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080760" y="2514600"/>
            <a:ext cx="4032504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560">
                <a:solidFill>
                  <a:srgbClr val="444444"/>
                </a:solidFill>
                <a:latin typeface="等线"/>
                <a:ea typeface="等线"/>
                <a:cs typeface="等线"/>
                <a:sym typeface="等线"/>
              </a:rPr>
              <a:t>应对登录用户进行身份标识和鉴别，标识具唯一性，鉴别信息具复杂度并定期更换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347960" y="2514600"/>
            <a:ext cx="984504" cy="518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56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✅适用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rcRect l="0" r="0" t="0" b="0"/>
          <a:stretch>
            <a:fillRect/>
          </a:stretch>
        </p:blipFill>
        <p:spPr>
          <a:xfrm rot="0" flipH="false" flipV="false">
            <a:off x="5355488" y="3124200"/>
            <a:ext cx="6089752" cy="152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5" id="25"/>
          <p:cNvSpPr/>
          <p:nvPr/>
        </p:nvSpPr>
        <p:spPr>
          <a:xfrm rot="0" flipH="false" flipV="false">
            <a:off x="5471160" y="3215640"/>
            <a:ext cx="374904" cy="518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56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80760" y="3215640"/>
            <a:ext cx="4032504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560">
                <a:solidFill>
                  <a:srgbClr val="444444"/>
                </a:solidFill>
                <a:latin typeface="等线"/>
                <a:ea typeface="等线"/>
                <a:cs typeface="等线"/>
                <a:sym typeface="等线"/>
              </a:rPr>
              <a:t>应具登录失败处理功能，配置结束会话、限非法登录次数和超时自动退出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347960" y="3215640"/>
            <a:ext cx="984504" cy="518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56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✅适用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rcRect l="0" r="0" t="0" b="0"/>
          <a:stretch>
            <a:fillRect/>
          </a:stretch>
        </p:blipFill>
        <p:spPr>
          <a:xfrm rot="0" flipH="false" flipV="false">
            <a:off x="5355488" y="3817620"/>
            <a:ext cx="6089752" cy="152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9" id="29"/>
          <p:cNvSpPr/>
          <p:nvPr/>
        </p:nvSpPr>
        <p:spPr>
          <a:xfrm rot="0" flipH="false" flipV="false">
            <a:off x="5471160" y="3916680"/>
            <a:ext cx="374904" cy="518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56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080760" y="3916680"/>
            <a:ext cx="4032504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560">
                <a:solidFill>
                  <a:srgbClr val="444444"/>
                </a:solidFill>
                <a:latin typeface="等线"/>
                <a:ea typeface="等线"/>
                <a:cs typeface="等线"/>
                <a:sym typeface="等线"/>
              </a:rPr>
              <a:t>远程管理时，应采取必要措施防止鉴别信息在网络传输中被窃听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347960" y="3916680"/>
            <a:ext cx="984504" cy="518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56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✅适用</a:t>
            </a:r>
            <a:endParaRPr lang="en-US" sz="1100"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6"/>
          <a:srcRect l="0" r="0" t="0" b="0"/>
          <a:stretch>
            <a:fillRect/>
          </a:stretch>
        </p:blipFill>
        <p:spPr>
          <a:xfrm rot="0" flipH="false" flipV="false">
            <a:off x="5355488" y="4511040"/>
            <a:ext cx="6089752" cy="1524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7"/>
          <a:srcRect l="0" r="0" t="0" b="0"/>
          <a:stretch>
            <a:fillRect/>
          </a:stretch>
        </p:blipFill>
        <p:spPr>
          <a:xfrm rot="0" flipH="false" flipV="false">
            <a:off x="5349240" y="4511040"/>
            <a:ext cx="6096000" cy="7010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4" id="34"/>
          <p:cNvSpPr/>
          <p:nvPr/>
        </p:nvSpPr>
        <p:spPr>
          <a:xfrm rot="0" flipH="false" flipV="false">
            <a:off x="5471160" y="4602480"/>
            <a:ext cx="374904" cy="518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56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080760" y="4602480"/>
            <a:ext cx="4032504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560">
                <a:solidFill>
                  <a:srgbClr val="444444"/>
                </a:solidFill>
                <a:latin typeface="等线"/>
                <a:ea typeface="等线"/>
                <a:cs typeface="等线"/>
                <a:sym typeface="等线"/>
              </a:rPr>
              <a:t>应采用口令、密码、生物等两种或以上组合技术进行身份鉴别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0347960" y="4617720"/>
            <a:ext cx="984504" cy="259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25000"/>
              </a:lnSpc>
              <a:defRPr/>
            </a:pPr>
            <a:r>
              <a:rPr lang="en-US" b="true" i="false" strike="noStrike" u="none" sz="156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✅适用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0347960" y="4892040"/>
            <a:ext cx="984504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25000"/>
              </a:lnSpc>
              <a:defRPr/>
            </a:pPr>
            <a:r>
              <a:rPr lang="en-US" b="false" i="false" strike="noStrike" u="none" sz="1439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b="false" i="false" strike="noStrike" u="none" sz="1439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三级增强</a:t>
            </a:r>
            <a:r>
              <a:rPr lang="en-US" b="false" i="false" strike="noStrike" u="none" sz="1439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sz="1100"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8"/>
          <a:srcRect l="0" r="0" t="0" b="0"/>
          <a:stretch>
            <a:fillRect/>
          </a:stretch>
        </p:blipFill>
        <p:spPr>
          <a:xfrm rot="0" flipH="false" flipV="false">
            <a:off x="609600" y="4069080"/>
            <a:ext cx="4312920" cy="21793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19"/>
          <a:srcRect l="0" r="0" t="0" b="0"/>
          <a:stretch>
            <a:fillRect/>
          </a:stretch>
        </p:blipFill>
        <p:spPr>
          <a:xfrm rot="0" flipH="false" flipV="false">
            <a:off x="990600" y="4572000"/>
            <a:ext cx="30480" cy="11734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807720" y="4297680"/>
            <a:ext cx="365760" cy="365760"/>
          </a:xfrm>
          <a:prstGeom prst="rect">
            <a:avLst/>
          </a:prstGeom>
        </p:spPr>
      </p:pic>
      <p:sp>
        <p:nvSpPr>
          <p:cNvPr name="AutoShape 41" id="41"/>
          <p:cNvSpPr/>
          <p:nvPr/>
        </p:nvSpPr>
        <p:spPr>
          <a:xfrm rot="0" flipH="false" flipV="false">
            <a:off x="914400" y="4358640"/>
            <a:ext cx="161544" cy="243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lang="en-US" sz="1100"/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22"/>
          <a:srcRect l="0" r="0" t="0" b="0"/>
          <a:stretch>
            <a:fillRect/>
          </a:stretch>
        </p:blipFill>
        <p:spPr>
          <a:xfrm rot="0" flipH="false" flipV="false">
            <a:off x="1356360" y="4267200"/>
            <a:ext cx="3368040" cy="8686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43" id="43"/>
          <p:cNvSpPr/>
          <p:nvPr/>
        </p:nvSpPr>
        <p:spPr>
          <a:xfrm rot="0" flipH="false" flipV="false">
            <a:off x="1493520" y="4404360"/>
            <a:ext cx="3102864" cy="6324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等线"/>
                <a:ea typeface="等线"/>
                <a:cs typeface="等线"/>
                <a:sym typeface="等线"/>
              </a:rPr>
              <a:t>确定被测系统安全保护等级(如第三级)</a:t>
            </a:r>
            <a:endParaRPr lang="en-US" sz="1100"/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807720" y="4953000"/>
            <a:ext cx="365760" cy="365760"/>
          </a:xfrm>
          <a:prstGeom prst="rect">
            <a:avLst/>
          </a:prstGeom>
        </p:spPr>
      </p:pic>
      <p:sp>
        <p:nvSpPr>
          <p:cNvPr name="AutoShape 45" id="45"/>
          <p:cNvSpPr/>
          <p:nvPr/>
        </p:nvSpPr>
        <p:spPr>
          <a:xfrm rot="0" flipH="false" flipV="false">
            <a:off x="914400" y="5013960"/>
            <a:ext cx="161544" cy="243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n-US" sz="1100"/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22"/>
          <a:srcRect l="0" r="0" t="0" b="0"/>
          <a:stretch>
            <a:fillRect/>
          </a:stretch>
        </p:blipFill>
        <p:spPr>
          <a:xfrm rot="0" flipH="false" flipV="false">
            <a:off x="1356360" y="4922520"/>
            <a:ext cx="3368040" cy="8686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47" id="47"/>
          <p:cNvSpPr/>
          <p:nvPr/>
        </p:nvSpPr>
        <p:spPr>
          <a:xfrm rot="0" flipH="false" flipV="false">
            <a:off x="1493520" y="5059680"/>
            <a:ext cx="3102864" cy="6324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等线"/>
                <a:ea typeface="等线"/>
                <a:cs typeface="等线"/>
                <a:sym typeface="等线"/>
              </a:rPr>
              <a:t>查阅GB/T 22239对应等级的“安全通用要求”</a:t>
            </a:r>
            <a:endParaRPr lang="en-US" sz="1100"/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807720" y="5608320"/>
            <a:ext cx="365760" cy="365760"/>
          </a:xfrm>
          <a:prstGeom prst="rect">
            <a:avLst/>
          </a:prstGeom>
        </p:spPr>
      </p:pic>
      <p:sp>
        <p:nvSpPr>
          <p:cNvPr name="AutoShape 49" id="49"/>
          <p:cNvSpPr/>
          <p:nvPr/>
        </p:nvSpPr>
        <p:spPr>
          <a:xfrm rot="0" flipH="false" flipV="false">
            <a:off x="914400" y="5669280"/>
            <a:ext cx="161544" cy="243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lang="en-US" sz="1100"/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22"/>
          <a:srcRect l="0" r="0" t="0" b="0"/>
          <a:stretch>
            <a:fillRect/>
          </a:stretch>
        </p:blipFill>
        <p:spPr>
          <a:xfrm rot="0" flipH="false" flipV="false">
            <a:off x="1356360" y="5577840"/>
            <a:ext cx="3368040" cy="8686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1" id="51"/>
          <p:cNvSpPr/>
          <p:nvPr/>
        </p:nvSpPr>
        <p:spPr>
          <a:xfrm rot="0" flipH="false" flipV="false">
            <a:off x="1493520" y="5715000"/>
            <a:ext cx="3102864" cy="6324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等线"/>
                <a:ea typeface="等线"/>
                <a:cs typeface="等线"/>
                <a:sym typeface="等线"/>
              </a:rPr>
              <a:t>逐条对照，确定哪些指标适用、不适用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要素四：测评指标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4064000" y="3245400"/>
            <a:ext cx="4064000" cy="3848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609600" y="1310640"/>
            <a:ext cx="929030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不是所有标准条款都适用于每一个系统——“裁剪”是指在不适用时说明理由后剔除。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1920240"/>
            <a:ext cx="5318760" cy="448056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914400" y="2127885"/>
            <a:ext cx="4718304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可以裁剪的情况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2720975"/>
            <a:ext cx="10058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-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27760" y="2660015"/>
            <a:ext cx="4504944" cy="8845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系统不涉及该技术领域（示例：系统没有无线网络，则“无线接入控制”指标可不适用）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14400" y="3863975"/>
            <a:ext cx="10058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-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27760" y="3803015"/>
            <a:ext cx="4504944" cy="8845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系统不存在该物理设施（示例：系统部署在云上，无物理机房，则“物理位置选择”可不适用）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" y="4991735"/>
            <a:ext cx="10058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9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-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27760" y="4930775"/>
            <a:ext cx="4504944" cy="8845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系统不处理该类数据（示例：系统不涉及个人信息，则“个人信息保护”部分指标可不适用）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294120" y="1920240"/>
            <a:ext cx="5303520" cy="211836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6614160" y="2240280"/>
            <a:ext cx="4672584" cy="4343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27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裁剪要求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14160" y="2772410"/>
            <a:ext cx="34442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1920">
                <a:solidFill>
                  <a:srgbClr val="00000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✅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79920" y="2849880"/>
            <a:ext cx="270662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必须逐条说明不适用理由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14160" y="3264535"/>
            <a:ext cx="34442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1920">
                <a:solidFill>
                  <a:srgbClr val="00000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✅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79920" y="3352800"/>
            <a:ext cx="246278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理由应具体、有说服力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294120" y="4282440"/>
            <a:ext cx="5303520" cy="211836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6614160" y="4602480"/>
            <a:ext cx="467258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DC2626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禁止做法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14160" y="5273040"/>
            <a:ext cx="34442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false" i="false" strike="noStrike" u="none" sz="1920">
                <a:solidFill>
                  <a:srgbClr val="00000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❌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979920" y="5394960"/>
            <a:ext cx="246278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920">
                <a:solidFill>
                  <a:srgbClr val="DC2626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不能随意裁剪核心指标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测评指标的裁剪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1371600"/>
            <a:ext cx="3413760" cy="42672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990600" y="2118360"/>
            <a:ext cx="2660904" cy="8939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2160">
                <a:solidFill>
                  <a:srgbClr val="333333"/>
                </a:solidFill>
                <a:latin typeface="等线"/>
                <a:ea typeface="等线"/>
                <a:cs typeface="等线"/>
                <a:sym typeface="等线"/>
              </a:rPr>
              <a:t>与管理人员、运维人员面对面交流。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90600" y="3215640"/>
            <a:ext cx="2660904" cy="5886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适用场景：</a:t>
            </a:r>
            <a:r>
              <a:rPr lang="en-US" b="false" i="false" strike="noStrike" u="none" sz="1679">
                <a:solidFill>
                  <a:srgbClr val="666666"/>
                </a:solidFill>
                <a:latin typeface="等线"/>
                <a:ea typeface="等线"/>
                <a:cs typeface="等线"/>
                <a:sym typeface="等线"/>
              </a:rPr>
              <a:t>安全管理、人员配置、制度执行。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" y="3977640"/>
            <a:ext cx="2660904" cy="8829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示例：</a:t>
            </a:r>
            <a:r>
              <a:rPr lang="en-US" b="false" i="false" strike="noStrike" u="none" sz="1679">
                <a:solidFill>
                  <a:srgbClr val="666666"/>
                </a:solidFill>
                <a:latin typeface="等线"/>
                <a:ea typeface="等线"/>
                <a:cs typeface="等线"/>
                <a:sym typeface="等线"/>
              </a:rPr>
              <a:t>询问安全管理员：“贵单位的密码策略是如何设置的？”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493520" y="1082040"/>
            <a:ext cx="1661160" cy="74676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737360" y="1280160"/>
            <a:ext cx="365760" cy="36576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225040" y="1203960"/>
            <a:ext cx="69494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访谈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4389120" y="1371600"/>
            <a:ext cx="3413760" cy="42672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4770120" y="2118360"/>
            <a:ext cx="2660904" cy="8939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2160">
                <a:solidFill>
                  <a:srgbClr val="333333"/>
                </a:solidFill>
                <a:latin typeface="等线"/>
                <a:ea typeface="等线"/>
                <a:cs typeface="等线"/>
                <a:sym typeface="等线"/>
              </a:rPr>
              <a:t>上机查看配置、查阅文档、实地检查。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770120" y="3215640"/>
            <a:ext cx="2660904" cy="5886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适用场景：</a:t>
            </a:r>
            <a:r>
              <a:rPr lang="en-US" b="false" i="false" strike="noStrike" u="none" sz="1679">
                <a:solidFill>
                  <a:srgbClr val="666666"/>
                </a:solidFill>
                <a:latin typeface="等线"/>
                <a:ea typeface="等线"/>
                <a:cs typeface="等线"/>
                <a:sym typeface="等线"/>
              </a:rPr>
              <a:t>技术配置核查、制度文档审查。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770120" y="3977640"/>
            <a:ext cx="2660904" cy="8829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示例：</a:t>
            </a:r>
            <a:r>
              <a:rPr lang="en-US" b="false" i="false" strike="noStrike" u="none" sz="1679">
                <a:solidFill>
                  <a:srgbClr val="666666"/>
                </a:solidFill>
                <a:latin typeface="等线"/>
                <a:ea typeface="等线"/>
                <a:cs typeface="等线"/>
                <a:sym typeface="等线"/>
              </a:rPr>
              <a:t>登录服务器查看/etc/login.defs文件中的密码策略设置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273040" y="1082040"/>
            <a:ext cx="1661160" cy="74676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516880" y="1280160"/>
            <a:ext cx="365760" cy="36576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004560" y="1203960"/>
            <a:ext cx="69494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核查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8168640" y="1371600"/>
            <a:ext cx="3413760" cy="42672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8549640" y="2118360"/>
            <a:ext cx="2660904" cy="8939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2160">
                <a:solidFill>
                  <a:srgbClr val="333333"/>
                </a:solidFill>
                <a:latin typeface="等线"/>
                <a:ea typeface="等线"/>
                <a:cs typeface="等线"/>
                <a:sym typeface="等线"/>
              </a:rPr>
              <a:t>使用工具进行漏洞扫描、配置核查等。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549640" y="3215640"/>
            <a:ext cx="2660904" cy="5886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适用场景：</a:t>
            </a:r>
            <a:r>
              <a:rPr lang="en-US" b="false" i="false" strike="noStrike" u="none" sz="1679">
                <a:solidFill>
                  <a:srgbClr val="666666"/>
                </a:solidFill>
                <a:latin typeface="等线"/>
                <a:ea typeface="等线"/>
                <a:cs typeface="等线"/>
                <a:sym typeface="等线"/>
              </a:rPr>
              <a:t>脆弱性发现、配置合规性。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549640" y="3977640"/>
            <a:ext cx="2660904" cy="8829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41666"/>
              </a:lnSpc>
              <a:defRPr/>
            </a:pPr>
            <a:r>
              <a:rPr lang="en-US" b="true" i="false" strike="noStrike" u="none" sz="1679">
                <a:solidFill>
                  <a:srgbClr val="00234E"/>
                </a:solidFill>
                <a:latin typeface="等线"/>
                <a:ea typeface="等线"/>
                <a:cs typeface="等线"/>
                <a:sym typeface="等线"/>
              </a:rPr>
              <a:t>示例：</a:t>
            </a:r>
            <a:r>
              <a:rPr lang="en-US" b="false" i="false" strike="noStrike" u="none" sz="1679">
                <a:solidFill>
                  <a:srgbClr val="666666"/>
                </a:solidFill>
                <a:latin typeface="等线"/>
                <a:ea typeface="等线"/>
                <a:cs typeface="等线"/>
                <a:sym typeface="等线"/>
              </a:rPr>
              <a:t>使用Nessus对目标IP进行漏洞扫描，使用配置核查工具检查基线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052560" y="1082040"/>
            <a:ext cx="1661160" cy="74676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96400" y="1280160"/>
            <a:ext cx="365760" cy="36576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784080" y="1203960"/>
            <a:ext cx="69494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测试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要素五：测评方法（三种方法）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609600" y="1371600"/>
            <a:ext cx="1098194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63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日程安排示例（5天测评周期）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3627120"/>
            <a:ext cx="1098194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63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人员分工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1996440"/>
            <a:ext cx="10972800" cy="1386840"/>
          </a:xfrm>
          <a:prstGeom prst="rect">
            <a:avLst/>
          </a:prstGeom>
          <a:ln w="12700">
            <a:noFill/>
            <a:prstDash val="solid"/>
          </a:ln>
        </p:spPr>
      </p:pic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968370" y="2011680"/>
          <a:ext cx="6255259" cy="77537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63029"/>
                <a:gridCol w="5040900"/>
                <a:gridCol w="751330"/>
              </a:tblGrid>
              <a:tr h="129229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阶段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日程安排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人员分工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29229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第1天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项目启动会（客户对接、确认范围）；安全物理环境现场核查、安全管理文档查阅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全体成员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29229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第2天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网络设备核查；安全设备核查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组：小王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29229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第3天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主机安全基线核查；数据库安全配置核查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组：小李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29229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第4天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应用系统安全功能验证；漏洞扫描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组：小张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29229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第5天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补充核查、总结会；项目撤离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6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全体成员</a:t>
                      </a:r>
                      <a:endParaRPr lang="en-US" sz="1100"/>
                    </a:p>
                  </a:txBody>
                  <a:tcPr anchor="ctr" marL="52272" marR="52272" marT="0" marB="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4251960"/>
            <a:ext cx="10972800" cy="1386840"/>
          </a:xfrm>
          <a:prstGeom prst="rect">
            <a:avLst/>
          </a:prstGeom>
          <a:ln w="12700">
            <a:noFill/>
            <a:prstDash val="solid"/>
          </a:ln>
        </p:spPr>
      </p:pic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347660" y="4267200"/>
          <a:ext cx="7496679" cy="9292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25177"/>
                <a:gridCol w="763260"/>
                <a:gridCol w="5008242"/>
              </a:tblGrid>
              <a:tr h="185851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角色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姓名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职责描述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85851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项目经理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张工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项目总体协调、进度管理、质量控制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85851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测评工程师A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王工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安全物理环境、网络设备、安全设备测评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85851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测评工程师B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李工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主机安全、数据库安全测评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85851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测评工程师C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赵工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5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应用系统安全、漏洞扫描与分析</a:t>
                      </a:r>
                      <a:endParaRPr lang="en-US" sz="1100"/>
                    </a:p>
                  </a:txBody>
                  <a:tcPr anchor="ctr" marL="62646" marR="62646" marT="7200" marB="7200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11" id="11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要素六：日程安排与人员分工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9600" y="1584960"/>
            <a:ext cx="91440" cy="33528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22960" y="1508760"/>
            <a:ext cx="136550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63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格式要求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09600" y="2270760"/>
            <a:ext cx="4785360" cy="6705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07720" y="2499360"/>
            <a:ext cx="365760" cy="36576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56360" y="2468880"/>
            <a:ext cx="3849624" cy="350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使用正式公文格式，字体统一，页码规范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09600" y="3169920"/>
            <a:ext cx="4785360" cy="6705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07720" y="3398520"/>
            <a:ext cx="365760" cy="36576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56360" y="3368040"/>
            <a:ext cx="3849624" cy="3505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所有引用的标准必须标注标准编号和名称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09600" y="4069080"/>
            <a:ext cx="4785360" cy="6705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07720" y="4297680"/>
            <a:ext cx="365760" cy="36576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56360" y="4267200"/>
            <a:ext cx="3849624" cy="3276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156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日期、人数、设备型号等信息必须具体明确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09600" y="4983480"/>
            <a:ext cx="4785360" cy="6705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07720" y="5212080"/>
            <a:ext cx="365760" cy="36576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56360" y="5181600"/>
            <a:ext cx="384962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143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不得出现“若干”“一些”“大概”等模糊表述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45480" y="1661160"/>
            <a:ext cx="91440" cy="33528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5958840" y="1569720"/>
            <a:ext cx="237134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63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常见错误对照表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rcRect l="0" r="0" t="0" b="0"/>
          <a:stretch>
            <a:fillRect/>
          </a:stretch>
        </p:blipFill>
        <p:spPr>
          <a:xfrm rot="0" flipH="false" flipV="false">
            <a:off x="5745480" y="2270760"/>
            <a:ext cx="5836920" cy="3368040"/>
          </a:xfrm>
          <a:prstGeom prst="rect">
            <a:avLst/>
          </a:prstGeom>
          <a:ln w="12700">
            <a:noFill/>
            <a:prstDash val="solid"/>
          </a:ln>
        </p:spPr>
      </p:pic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6164142" y="2346960"/>
          <a:ext cx="4999597" cy="28281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09580"/>
                <a:gridCol w="3790017"/>
              </a:tblGrid>
              <a:tr h="565638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8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常见错误()</a:t>
                      </a:r>
                      <a:endParaRPr lang="en-US" sz="1100"/>
                    </a:p>
                  </a:txBody>
                  <a:tcPr anchor="ctr" marL="80422" marR="80422" marT="80422" marB="8042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8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正确写法()</a:t>
                      </a:r>
                      <a:endParaRPr lang="en-US" sz="1100"/>
                    </a:p>
                  </a:txBody>
                  <a:tcPr anchor="ctr" marL="80422" marR="80422" marT="80422" marB="8042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65638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8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依据等保标准</a:t>
                      </a:r>
                      <a:endParaRPr lang="en-US" sz="1100"/>
                    </a:p>
                  </a:txBody>
                  <a:tcPr anchor="ctr" marL="80422" marR="80422" marT="80422" marB="8042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8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依据GB/T22239-2019《信息安全技术网络安全等级保护基本要求》</a:t>
                      </a:r>
                      <a:endParaRPr lang="en-US" sz="1100"/>
                    </a:p>
                  </a:txBody>
                  <a:tcPr anchor="ctr" marL="80422" marR="80422" marT="80422" marB="8042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65638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8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预计需要2-3天完成</a:t>
                      </a:r>
                      <a:endParaRPr lang="en-US" sz="1100"/>
                    </a:p>
                  </a:txBody>
                  <a:tcPr anchor="ctr" marL="80422" marR="80422" marT="80422" marB="8042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8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现场测评时间为2026年9月15日至9月19日，共计5个工作日</a:t>
                      </a:r>
                      <a:endParaRPr lang="en-US" sz="1100"/>
                    </a:p>
                  </a:txBody>
                  <a:tcPr anchor="ctr" marL="80422" marR="80422" marT="80422" marB="8042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65638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8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对服务器进行核查</a:t>
                      </a:r>
                      <a:endParaRPr lang="en-US" sz="1100"/>
                    </a:p>
                  </a:txBody>
                  <a:tcPr anchor="ctr" marL="80422" marR="80422" marT="80422" marB="8042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8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对Web服务器（IP:192.168.1.10-192.168.1.12，共3台）进行安全基线核查</a:t>
                      </a:r>
                      <a:endParaRPr lang="en-US" sz="1100"/>
                    </a:p>
                  </a:txBody>
                  <a:tcPr anchor="ctr" marL="80422" marR="80422" marT="80422" marB="8042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65638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8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发现配置不当的问题</a:t>
                      </a:r>
                      <a:endParaRPr lang="en-US" sz="1100"/>
                    </a:p>
                  </a:txBody>
                  <a:tcPr anchor="ctr" marL="80422" marR="80422" marT="80422" marB="8042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80">
                          <a:solidFill>
                            <a:srgbClr val="000000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防火墙策略中，入站规则第5条允许任意源IP访问管理端口（22/tcp）</a:t>
                      </a:r>
                      <a:endParaRPr lang="en-US" sz="1100"/>
                    </a:p>
                  </a:txBody>
                  <a:tcPr anchor="ctr" marL="80422" marR="80422" marT="80422" marB="80422">
                    <a:lnL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23" id="23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方案格式要求与常见错误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609600" y="1371600"/>
            <a:ext cx="1098194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三个关键词：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1996440"/>
            <a:ext cx="10972800" cy="4876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" y="1996440"/>
            <a:ext cx="2133600" cy="48768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97280" y="2057400"/>
            <a:ext cx="365760" cy="36576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84960" y="1981200"/>
            <a:ext cx="69494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科学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108960" y="2011680"/>
            <a:ext cx="811682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216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依据标准、基于事实、系统分析；不凭经验办事，不主观臆断。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2727960"/>
            <a:ext cx="10972800" cy="4876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" y="2727960"/>
            <a:ext cx="2133600" cy="48768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97280" y="2788920"/>
            <a:ext cx="365760" cy="36576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84960" y="2712720"/>
            <a:ext cx="69494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严谨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108960" y="2743200"/>
            <a:ext cx="811682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216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每一个字、每一个数字都要准确；每一个判断都要有依据。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609600" y="3450956"/>
            <a:ext cx="10974320" cy="487748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" y="3450956"/>
            <a:ext cx="2133896" cy="487748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97348" y="3513982"/>
            <a:ext cx="365811" cy="365811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584960" y="3497579"/>
            <a:ext cx="695039" cy="3886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0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负责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109306" y="3489960"/>
            <a:ext cx="8117947" cy="426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203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方案决定了整个项目的走向；方案的质量代表着测评团队的专业水平。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rcRect l="0" r="0" t="0" b="0"/>
          <a:stretch>
            <a:fillRect/>
          </a:stretch>
        </p:blipFill>
        <p:spPr>
          <a:xfrm rot="0" flipH="false" flipV="false">
            <a:off x="609600" y="4297680"/>
            <a:ext cx="10972800" cy="13411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868680" y="4556760"/>
            <a:ext cx="10463784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一句话：一份好的方案，体现的是测评团队的职业态度和专业水准。精益求精，是对客户负责，也是对自己负责。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2497" y="531937"/>
            <a:ext cx="3154680" cy="4241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方案编制的职业品格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294120" y="140208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6370320" y="1417320"/>
            <a:ext cx="161544" cy="259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4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Q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90360" y="1371600"/>
            <a:ext cx="9997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讨论问题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294120" y="1889760"/>
            <a:ext cx="5303520" cy="640080"/>
          </a:xfrm>
          <a:prstGeom prst="rect">
            <a:avLst/>
          </a:prstGeom>
          <a:effectLst>
            <a:outerShdw dir="-1" dist="193548000" blurRad="387096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9" id="9"/>
          <p:cNvSpPr/>
          <p:nvPr/>
        </p:nvSpPr>
        <p:spPr>
          <a:xfrm rot="0" flipH="false" flipV="false">
            <a:off x="6461760" y="2057400"/>
            <a:ext cx="2225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1.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751320" y="2057400"/>
            <a:ext cx="4062984" cy="2771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本次测评应覆盖哪些物理位置和网络区域？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294120" y="2651760"/>
            <a:ext cx="5303520" cy="899160"/>
          </a:xfrm>
          <a:prstGeom prst="rect">
            <a:avLst/>
          </a:prstGeom>
          <a:effectLst>
            <a:outerShdw dir="-1" dist="193548000" blurRad="387096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12" id="12"/>
          <p:cNvSpPr/>
          <p:nvPr/>
        </p:nvSpPr>
        <p:spPr>
          <a:xfrm rot="0" flipH="false" flipV="false">
            <a:off x="6461760" y="2819400"/>
            <a:ext cx="2225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2.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751320" y="2819400"/>
            <a:ext cx="4672584" cy="5543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33333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哪些设备必须纳入测评对象？哪些可以抽样？抽样比例是多少？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294120" y="3657600"/>
            <a:ext cx="5303520" cy="640080"/>
          </a:xfrm>
          <a:prstGeom prst="rect">
            <a:avLst/>
          </a:prstGeom>
          <a:effectLst>
            <a:outerShdw dir="-1" dist="193548000" blurRad="387096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61760" y="3825240"/>
            <a:ext cx="2225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3.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51320" y="3825240"/>
            <a:ext cx="2356104" cy="2771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初步列出测评对象清单。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rcRect l="0" r="0" t="0" b="0"/>
          <a:stretch>
            <a:fillRect/>
          </a:stretch>
        </p:blipFill>
        <p:spPr>
          <a:xfrm rot="0" flipH="false" flipV="false">
            <a:off x="609600" y="1371600"/>
            <a:ext cx="5318760" cy="42672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853440" y="1615440"/>
            <a:ext cx="4840224" cy="8305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讨论主题：某市教育局“教育综合管理平台”系统定级为等保三级，部署于XX云。请分析其测评范围和对象。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53440" y="2804160"/>
            <a:ext cx="45720" cy="21336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90600" y="2727960"/>
            <a:ext cx="148742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系统架构简况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4">
            <a:alphaModFix amt="4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53440" y="3307080"/>
            <a:ext cx="121920" cy="12192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066800" y="3246120"/>
            <a:ext cx="2264664" cy="289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33333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互联网边界：防火墙1台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>
            <a:alphaModFix amt="4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53440" y="3672840"/>
            <a:ext cx="121920" cy="12192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066800" y="3611880"/>
            <a:ext cx="2264664" cy="289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33333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核心交换机2台（堆叠）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>
            <a:alphaModFix amt="4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53440" y="4038600"/>
            <a:ext cx="121920" cy="12192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066800" y="3977640"/>
            <a:ext cx="1411224" cy="289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33333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汇聚交换机2台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4">
            <a:alphaModFix amt="4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53440" y="4419600"/>
            <a:ext cx="121920" cy="12192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1066800" y="4358640"/>
            <a:ext cx="4047744" cy="289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33333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安全：WAF 1台、堡垒机1台、日志审计1套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4">
            <a:alphaModFix amt="4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53440" y="4785360"/>
            <a:ext cx="121920" cy="12192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066800" y="4724400"/>
            <a:ext cx="2386584" cy="289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33333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应用服务器3台（Linux）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4">
            <a:alphaModFix amt="49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53440" y="5151120"/>
            <a:ext cx="121920" cy="12192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1066800" y="5090160"/>
            <a:ext cx="3742944" cy="2895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33333"/>
              </a:lnSpc>
              <a:defRPr/>
            </a:pPr>
            <a:r>
              <a:rPr lang="en-US" b="false" i="false" strike="noStrike" u="none" sz="167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数据库服务器2台（Win + SQL Server）</a:t>
            </a:r>
            <a:endParaRPr lang="en-US" sz="1100"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853440" y="1371600"/>
            <a:ext cx="487680" cy="6096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294120" y="4648200"/>
            <a:ext cx="5303520" cy="1005840"/>
          </a:xfrm>
          <a:prstGeom prst="rect">
            <a:avLst/>
          </a:prstGeom>
          <a:effectLst>
            <a:outerShdw dir="-1" dist="774192000" blurRad="1161288000" algn="bl" rotWithShape="false">
              <a:srgbClr val="000000">
                <a:alpha val="100000"/>
              </a:srgbClr>
            </a:outerShdw>
          </a:effectLst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rcRect l="0" r="0" t="0" b="0"/>
          <a:stretch>
            <a:fillRect/>
          </a:stretch>
        </p:blipFill>
        <p:spPr>
          <a:xfrm rot="0" flipH="false" flipV="false">
            <a:off x="6477000" y="4861560"/>
            <a:ext cx="213360" cy="21336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6" id="36"/>
          <p:cNvSpPr/>
          <p:nvPr/>
        </p:nvSpPr>
        <p:spPr>
          <a:xfrm rot="0" flipH="false" flipV="false">
            <a:off x="6751320" y="4831080"/>
            <a:ext cx="755904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439">
                <a:solidFill>
                  <a:srgbClr val="FFFFFF">
                    <a:alpha val="80000"/>
                  </a:srgbClr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成果形式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477000" y="5166360"/>
            <a:ext cx="4946904" cy="2971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每组填写《测评对象初步分析表》</a:t>
            </a:r>
            <a:endParaRPr lang="en-US" sz="1100"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1">
            <a:alphaModFix amt="10000"/>
          </a:blip>
          <a:srcRect l="0" r="0" t="0" b="0"/>
          <a:stretch>
            <a:fillRect/>
          </a:stretch>
        </p:blipFill>
        <p:spPr>
          <a:xfrm rot="0" flipH="false" flipV="false">
            <a:off x="10820400" y="4876800"/>
            <a:ext cx="914400" cy="9144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9" id="39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实践任务——小组讨论（20分钟）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E3C7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27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《测评对象初步分析表》是什么？怎么填？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952500"/>
            <a:ext cx="5461000" cy="2540000"/>
          </a:xfrm>
          <a:prstGeom prst="roundRect">
            <a:avLst>
              <a:gd name="adj" fmla="val 0"/>
            </a:avLst>
          </a:prstGeom>
          <a:solidFill>
            <a:srgbClr val="F0F5FF">
              <a:alpha val="100000"/>
            </a:srgbClr>
          </a:solidFill>
          <a:ln w="12700" cmpd="sng" cap="flat">
            <a:solidFill>
              <a:srgbClr val="1E3C7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8500" y="1041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C72"/>
                </a:solidFill>
                <a:latin typeface="Noto Sans SC"/>
                <a:ea typeface="Noto Sans SC"/>
                <a:cs typeface="Noto Sans SC"/>
                <a:sym typeface="Noto Sans SC"/>
              </a:rPr>
              <a:t>一、什么是测评对象初步分析表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3970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在测评方案编制阶段，对被测系统中所有可能纳入测评的对象进行系统梳理、分类和初步判定的工具表。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1. 防止漏测——确保所有重要设备和系统都被纳入考虑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2. 明确范围——区分"必测"与"可抽样"，避免超范围测评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3. 方案依据——是测评方案中"测评对象"章节的核心支撑材料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952500"/>
            <a:ext cx="5461000" cy="2540000"/>
          </a:xfrm>
          <a:prstGeom prst="roundRect">
            <a:avLst>
              <a:gd name="adj" fmla="val 0"/>
            </a:avLst>
          </a:prstGeom>
          <a:solidFill>
            <a:srgbClr val="F0F5FF">
              <a:alpha val="100000"/>
            </a:srgbClr>
          </a:solidFill>
          <a:ln w="12700" cmpd="sng" cap="flat">
            <a:solidFill>
              <a:srgbClr val="1E3C7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13500" y="1041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C72"/>
                </a:solidFill>
                <a:latin typeface="Noto Sans SC"/>
                <a:ea typeface="Noto Sans SC"/>
                <a:cs typeface="Noto Sans SC"/>
                <a:sym typeface="Noto Sans SC"/>
              </a:rPr>
              <a:t>二、表格结构（六列）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13970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第1列 分类：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网络设备/安全设备/主机设备/应用系统/安全管理/其他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第2列 包含内容：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该类别下具体有哪些类型的设备或对象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第3列 数量/举例：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具体型号和数量，如"核心交换机2台（华为S12700）"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第4列 是否纳入：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填"是"或"抽样"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第5列 抽样比例：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必测填"100%"，抽样填具体比例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第6列 备注：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说明纳入或抽样的理由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3683000"/>
            <a:ext cx="11176000" cy="2984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mpd="sng" cap="flat">
            <a:solidFill>
              <a:srgbClr val="C896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3771900"/>
            <a:ext cx="1079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966414"/>
                </a:solidFill>
                <a:latin typeface="Noto Sans SC"/>
                <a:ea typeface="Noto Sans SC"/>
                <a:cs typeface="Noto Sans SC"/>
                <a:sym typeface="Noto Sans SC"/>
              </a:rPr>
              <a:t>三、填写方法与原则（三步走）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" y="4127500"/>
            <a:ext cx="10795000" cy="247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第一步：全面盘点（应测尽测）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——到现场或通过资产清单，把所有设备和系统按六大类全部列出来，宁可多列不可遗漏。每类都要问："这个系统里有没有这类设备？"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第二步：分类判定（关键性原则）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——对每个对象判断是否纳入：核心设备（核心交换机、数据库服务器、安全设备）必须100%纳入；非核心设备（办公终端、普通接入交换机）可按比例抽样。判定依据要写进备注列。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第三步：量化填写（具体可追溯）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——数量列必须写清型号和台数，禁止"若干""一些"；抽样比例必须有依据（如"按30%抽样，覆盖每个品牌型号"）；备注列说明为什么这样判定。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E3C7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27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教师讲解案例：《测评对象初步分析表》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889000"/>
            <a:ext cx="1117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场景：某市教育局"教育综合管理平台"（等保第三级）—— 教师示范如何梳理测评对象清单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508000" y="1270000"/>
          <a:ext cx="11176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2286000"/>
                <a:gridCol w="2032000"/>
                <a:gridCol w="1016000"/>
                <a:gridCol w="1016000"/>
                <a:gridCol w="3556000"/>
              </a:tblGrid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包含内容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数量/举例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是否纳入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抽样比例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备注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网络设备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路由器、交换机、负载均衡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核心交换机2、汇聚4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核心设备必须全测，汇聚可抽样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安全设备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防火墙、堡垒机、WAF、IDS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防火墙2、堡垒机1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安全设备数量少，全部纳入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主机设备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服务器、终端、存储设备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应用服务器6、数据库2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数据库100%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数据库服务器必测，应用服可抽30%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应用系统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业务应用、中间件、数据库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教育管理平台1套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核心业务系统必须全测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安全管理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制度文档、人员、机房设施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制度15份、机房1处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管理类逐项核查，不抽样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其他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办公终端、打印设备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办公终端约50台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抽样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非核心设备按比例抽样，记录抽样依据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508000" y="5016500"/>
            <a:ext cx="11176000" cy="1651000"/>
          </a:xfrm>
          <a:prstGeom prst="roundRect">
            <a:avLst>
              <a:gd name="adj" fmla="val 0"/>
            </a:avLst>
          </a:prstGeom>
          <a:solidFill>
            <a:srgbClr val="F0F5FF">
              <a:alpha val="100000"/>
            </a:srgbClr>
          </a:solidFill>
          <a:ln w="12700" cmpd="sng" cap="flat">
            <a:solidFill>
              <a:srgbClr val="1E3C7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98500" y="5080000"/>
            <a:ext cx="1079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3C72"/>
                </a:solidFill>
                <a:latin typeface="Noto Sans SC"/>
                <a:ea typeface="Noto Sans SC"/>
                <a:cs typeface="Noto Sans SC"/>
                <a:sym typeface="Noto Sans SC"/>
              </a:rPr>
              <a:t>教师讲解要点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" y="5397500"/>
            <a:ext cx="10795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要点1：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分类要完整——网络设备、安全设备、主机设备、应用系统、安全管理、其他六大类缺一不可，避免遗漏。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要点2：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抽样要有依据——核心设备（核心交换机、数据库服务器、安全设备）100%纳入；非核心设备按比例抽样并记录理由。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要点3：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数量要具体——必须写清设备型号和数量，禁止出现"若干""一些"等模糊表述，确保可追溯。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1371600"/>
            <a:ext cx="10972800" cy="7924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14400" y="1554480"/>
            <a:ext cx="426720" cy="42672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21080" y="1661160"/>
            <a:ext cx="213360" cy="21336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1584960"/>
            <a:ext cx="599846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任务：教师提供测评方案（脱敏版），学生分组分析结构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2346960"/>
            <a:ext cx="10981944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分析要点：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09600" y="2987040"/>
            <a:ext cx="5334000" cy="8382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68680" y="3230880"/>
            <a:ext cx="365760" cy="36576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929640" y="3246120"/>
            <a:ext cx="26822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01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417320" y="3246120"/>
            <a:ext cx="3194304" cy="3152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该方案包含哪六个核心要素？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248400" y="2987040"/>
            <a:ext cx="5334000" cy="8382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07480" y="3230880"/>
            <a:ext cx="365760" cy="36576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568440" y="3246120"/>
            <a:ext cx="26822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02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056120" y="3246120"/>
            <a:ext cx="3194304" cy="3152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各要素在方案中的具体位置？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09600" y="4008120"/>
            <a:ext cx="5334000" cy="8382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68680" y="4251960"/>
            <a:ext cx="365760" cy="36576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29640" y="4267200"/>
            <a:ext cx="26822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03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417320" y="4267200"/>
            <a:ext cx="3194304" cy="3152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哪个要素最好？哪个可改进？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6248400" y="4008120"/>
            <a:ext cx="5334000" cy="8382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07480" y="4251960"/>
            <a:ext cx="365760" cy="36576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568440" y="4267200"/>
            <a:ext cx="26822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04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056120" y="4267200"/>
            <a:ext cx="3925824" cy="3152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找出一处“格式规范”优点和改进点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7193280" y="5029200"/>
            <a:ext cx="4404360" cy="609600"/>
          </a:xfrm>
          <a:prstGeom prst="rect">
            <a:avLst/>
          </a:prstGeom>
          <a:effectLst>
            <a:outerShdw dir="-1" dist="193548000" blurRad="387096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27" id="27"/>
          <p:cNvSpPr/>
          <p:nvPr/>
        </p:nvSpPr>
        <p:spPr>
          <a:xfrm rot="0" flipH="false" flipV="false">
            <a:off x="7437120" y="5151120"/>
            <a:ext cx="392582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920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成果：提交《方案结构分析记录表》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实践任务——方案结构拆解（15分钟）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E3C7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27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《方案结构分析记录表》是什么？怎么填？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952500"/>
            <a:ext cx="5461000" cy="2540000"/>
          </a:xfrm>
          <a:prstGeom prst="roundRect">
            <a:avLst>
              <a:gd name="adj" fmla="val 0"/>
            </a:avLst>
          </a:prstGeom>
          <a:solidFill>
            <a:srgbClr val="F0F5FF">
              <a:alpha val="100000"/>
            </a:srgbClr>
          </a:solidFill>
          <a:ln w="12700" cmpd="sng" cap="flat">
            <a:solidFill>
              <a:srgbClr val="1E3C7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8500" y="1041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C72"/>
                </a:solidFill>
                <a:latin typeface="Noto Sans SC"/>
                <a:ea typeface="Noto Sans SC"/>
                <a:cs typeface="Noto Sans SC"/>
                <a:sym typeface="Noto Sans SC"/>
              </a:rPr>
              <a:t>一、什么是方案结构分析记录表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3970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在分析一份已有的测评方案（脱敏版）时，按章节逐行记录其结构完整性和内容合规性的分析工具表。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1. 结构化阅读——引导学生按六要素系统拆解方案，不遗漏章节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2. 标准化判定——用统一的评估维度（完整性、合规性）评价方案质量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3. 问题可追溯——每个判定都有标准依据和具体问题描述，便于讨论和改进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952500"/>
            <a:ext cx="5461000" cy="2540000"/>
          </a:xfrm>
          <a:prstGeom prst="roundRect">
            <a:avLst>
              <a:gd name="adj" fmla="val 0"/>
            </a:avLst>
          </a:prstGeom>
          <a:solidFill>
            <a:srgbClr val="F0F5FF">
              <a:alpha val="100000"/>
            </a:srgbClr>
          </a:solidFill>
          <a:ln w="12700" cmpd="sng" cap="flat">
            <a:solidFill>
              <a:srgbClr val="1E3C7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13500" y="1041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C72"/>
                </a:solidFill>
                <a:latin typeface="Noto Sans SC"/>
                <a:ea typeface="Noto Sans SC"/>
                <a:cs typeface="Noto Sans SC"/>
                <a:sym typeface="Noto Sans SC"/>
              </a:rPr>
              <a:t>二、表格结构（十列）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1397000"/>
            <a:ext cx="508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第1-3列 基本信息：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序号、章节编号、章节名称（对应方案六要素）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第4列 对应标准条款：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该章节应符合的国标条款，如"GB/T 28448 第4章"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第5列 方案内容摘要：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用自己的话概括方案该章节写了什么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第6列 完整性评估：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完整 / 部分完整 / 缺失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第7列 合规性判定：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符合 / 基本符合 / 不符合 / 不适用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第8-9列 改进：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存在问题（具体缺陷）、改进建议（可操作方向）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第10列 备注：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其他需要说明的事项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3683000"/>
            <a:ext cx="11176000" cy="2984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mpd="sng" cap="flat">
            <a:solidFill>
              <a:srgbClr val="C896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3771900"/>
            <a:ext cx="1079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966414"/>
                </a:solidFill>
                <a:latin typeface="Noto Sans SC"/>
                <a:ea typeface="Noto Sans SC"/>
                <a:cs typeface="Noto Sans SC"/>
                <a:sym typeface="Noto Sans SC"/>
              </a:rPr>
              <a:t>三、填写方法与原则（四步法）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" y="4127500"/>
            <a:ext cx="10795000" cy="247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第一步：定位章节（逐章对照）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——在方案中找到对应六要素的章节，填写章节编号和名称。如果方案缺少某个要素，在"完整性评估"列直接填"缺失"，并说明影响。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第二步：对照标准（找依据）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——查GB/T 28448和GB/T 22239中对该章节的要求，填写"对应标准条款"列。判定必须有标准依据，不能凭感觉说"好"或"不好"。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第三步：双重判定（完整性+合规性）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——先看内容有没有（完整性），再看写得对不对（合规性）。两列分开填：内容有但写得不够好 = "部分完整"+"基本符合"；内容没有 = "缺失"+"不适用"。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第四步：问题具体（可操作改进）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——"存在问题"列必须写清具体缺陷，如"系统边界描述模糊，未说明网络拓扑范围"；"改进建议"列必须给出可操作方向，如"建议补充网络拓扑图和边界说明"。禁止只写"需改进"等空话。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E3C7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27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教师讲解案例：《方案结构分析记录表》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889000"/>
            <a:ext cx="1117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用途：学生分组分析测评方案（脱敏版）时，逐章节记录完整性与合规性判定结果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508000" y="1270000"/>
          <a:ext cx="11176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/>
                <a:gridCol w="1651000"/>
                <a:gridCol w="2286000"/>
                <a:gridCol w="1270000"/>
                <a:gridCol w="1270000"/>
                <a:gridCol w="3810000"/>
              </a:tblGrid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章节编号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章节名称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对应标准条款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完整性评估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合规性判定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存在问题与改进建议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C72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项目概述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GB/T 28448 第4章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符合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背景、目的、依据齐全，委托单位信息明确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测评范围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GB/T 28448 第5章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部分完整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基本符合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物理位置明确，但系统边界描述模糊，建议补充网络拓扑边界说明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测评对象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GB/T 28448 5.3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部分完整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基本符合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设备清单有数量但缺型号，抽样比例未说明依据，建议补充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测评指标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GB/T 22239 第7/8章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符合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指标逐条对照标准，裁剪项有说明理由，规范性好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测评方法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GB/T 28448 第6章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08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符合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访谈、核查、测试三种方法均有说明，工具清单齐全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日程与人员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项目管理规范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部分完整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基本符合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日程安排到天，但人员分工未明确到具体责任人，建议补充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508000" y="5016500"/>
            <a:ext cx="11176000" cy="1651000"/>
          </a:xfrm>
          <a:prstGeom prst="roundRect">
            <a:avLst>
              <a:gd name="adj" fmla="val 0"/>
            </a:avLst>
          </a:prstGeom>
          <a:solidFill>
            <a:srgbClr val="F0F5FF">
              <a:alpha val="100000"/>
            </a:srgbClr>
          </a:solidFill>
          <a:ln w="12700" cmpd="sng" cap="flat">
            <a:solidFill>
              <a:srgbClr val="1E3C7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98500" y="5080000"/>
            <a:ext cx="1079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E3C72"/>
                </a:solidFill>
                <a:latin typeface="Noto Sans SC"/>
                <a:ea typeface="Noto Sans SC"/>
                <a:cs typeface="Noto Sans SC"/>
                <a:sym typeface="Noto Sans SC"/>
              </a:rPr>
              <a:t>教师讲解要点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" y="5397500"/>
            <a:ext cx="10795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要点1：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逐章节对照——按方案六要素（项目概述、测评范围、测评对象、测评指标、测评方法、日程人员）逐行分析，不得跳过。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要点2：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判定要有依据——完整性评估（完整/部分完整/缺失）和合规性判定（符合/基本符合/不符合）必须引用标准条款，不能凭感觉。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要点3：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问题要具体——"存在问题与改进建议"列必须写清具体缺陷和可操作的改进方向，禁止只写"需改进"等空话。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1676400"/>
            <a:ext cx="3413760" cy="3657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889760" y="2042160"/>
            <a:ext cx="853440" cy="85344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2072640" y="2225040"/>
            <a:ext cx="487680" cy="48768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45920" y="3139440"/>
            <a:ext cx="136550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63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小组分享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75360" y="3825240"/>
            <a:ext cx="2691384" cy="7448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每组推选1名代表，分享讨论成果（3分钟/组）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4389120" y="1676400"/>
            <a:ext cx="3413760" cy="3657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669280" y="2042160"/>
            <a:ext cx="853440" cy="85344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852160" y="2225040"/>
            <a:ext cx="487680" cy="48768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425440" y="3139440"/>
            <a:ext cx="136550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63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教师点评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754880" y="3825240"/>
            <a:ext cx="2691384" cy="7448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对各组成果进行点评，纠正偏差、补充要点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8168640" y="1676400"/>
            <a:ext cx="3413760" cy="3657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448800" y="2042160"/>
            <a:ext cx="853440" cy="85344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631680" y="2225040"/>
            <a:ext cx="487680" cy="48768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213342" y="3139440"/>
            <a:ext cx="1348740" cy="4057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639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重点强调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534400" y="3627120"/>
            <a:ext cx="2691384" cy="11915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66666"/>
              </a:lnSpc>
              <a:defRPr/>
            </a:pPr>
            <a:r>
              <a:rPr lang="en-US" b="false" i="false" strike="noStrike" u="none" sz="143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测评范围要“说清楚边界在哪里”；测评对象要“具体到设备型号”；测评指标要“逐条对照标准”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分享与点评（10分钟）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2316480"/>
            <a:ext cx="10972800" cy="5181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89120" y="1676400"/>
            <a:ext cx="3429000" cy="822960"/>
          </a:xfrm>
          <a:prstGeom prst="rect">
            <a:avLst/>
          </a:prstGeom>
          <a:effectLst>
            <a:outerShdw dir="-1" dist="774192000" blurRad="1161288000" algn="bl" rotWithShape="false">
              <a:srgbClr val="000000">
                <a:alpha val="100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4754880" y="1828800"/>
            <a:ext cx="2706624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6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测评方案结构学习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609600" y="2956560"/>
            <a:ext cx="2560320" cy="26974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07720" y="3261360"/>
            <a:ext cx="365760" cy="36576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929640" y="3291840"/>
            <a:ext cx="1463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95400" y="3108960"/>
            <a:ext cx="1685544" cy="6642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测评方案</a:t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的定义与作用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7720" y="3970020"/>
            <a:ext cx="2173224" cy="553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定义：</a:t>
            </a: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测评工作的“施工蓝图”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7720" y="4648200"/>
            <a:ext cx="2173224" cy="8305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作用：</a:t>
            </a: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明确范围、统一方法、安排日程、管理项目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rcRect l="0" r="0" t="0" b="0"/>
          <a:stretch>
            <a:fillRect/>
          </a:stretch>
        </p:blipFill>
        <p:spPr>
          <a:xfrm rot="0" flipH="false" flipV="false">
            <a:off x="3413760" y="2956560"/>
            <a:ext cx="2560320" cy="257556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611880" y="3307080"/>
            <a:ext cx="365760" cy="36576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3733800" y="3337560"/>
            <a:ext cx="1463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099560" y="3154680"/>
            <a:ext cx="1685544" cy="6642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测评方案</a:t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六要素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611880" y="3992880"/>
            <a:ext cx="2173224" cy="1107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项目概述、测评范围、测评对象、测评指标、测评方法、日程与人员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6217920" y="2956560"/>
            <a:ext cx="2560320" cy="24384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16040" y="3307080"/>
            <a:ext cx="365760" cy="36576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537960" y="3337560"/>
            <a:ext cx="1463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903720" y="3154680"/>
            <a:ext cx="1685544" cy="6642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测评对象</a:t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选取原则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16040" y="3977640"/>
            <a:ext cx="2173224" cy="8845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92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应测尽测、关键性、代表性、抽样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92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（抽样比例≥30%）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9022080" y="2956560"/>
            <a:ext cx="2560320" cy="24384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220200" y="3154680"/>
            <a:ext cx="365760" cy="36576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9342120" y="3169920"/>
            <a:ext cx="14630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none" lIns="0" rIns="0" tIns="0" bIns="0">
            <a:noAutofit/>
          </a:bodyPr>
          <a:lstStyle/>
          <a:p>
            <a:pPr algn="ctr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167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4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707880" y="3154680"/>
            <a:ext cx="1102360" cy="3321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160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格式要求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220200" y="3957955"/>
            <a:ext cx="2173224" cy="8305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规范、具体、明确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6B7280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常见错误与正确写法对照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知识点回顾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06948" y="209725"/>
            <a:ext cx="11778103" cy="628333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81856" y="550584"/>
            <a:ext cx="116485" cy="42993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1371600"/>
            <a:ext cx="10972800" cy="11887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14400" y="1554480"/>
            <a:ext cx="868680" cy="48768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97280" y="1615440"/>
            <a:ext cx="527304" cy="3886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0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必做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2026920"/>
            <a:ext cx="10372344" cy="426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03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完成“测评对象初步分析”练习（根据给定系统场景），提交至学习通平台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2910840"/>
            <a:ext cx="10972800" cy="11887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14400" y="3093720"/>
            <a:ext cx="868680" cy="48768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097280" y="3154680"/>
            <a:ext cx="527304" cy="3886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0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必做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" y="3581400"/>
            <a:ext cx="10372344" cy="426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03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预习2.2“编制完整测评方案”的相关内容，阅读测评方案模板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" y="4465320"/>
            <a:ext cx="10972800" cy="11887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14400" y="4632960"/>
            <a:ext cx="868680" cy="48768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097280" y="4693920"/>
            <a:ext cx="527304" cy="3886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039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sym typeface="思源黑体 CN Bold"/>
              </a:rPr>
              <a:t>选做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14400" y="5120640"/>
            <a:ext cx="10372344" cy="426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039">
                <a:solidFill>
                  <a:srgbClr val="333333"/>
                </a:solidFill>
                <a:latin typeface="思源黑体 CN"/>
                <a:ea typeface="思源黑体 CN"/>
                <a:cs typeface="思源黑体 CN"/>
                <a:sym typeface="思源黑体 CN"/>
              </a:rPr>
              <a:t>登录学习通，观看“测评方案编制流程”微课视频，完成在线测试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2497" y="529635"/>
            <a:ext cx="10918068" cy="4264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none" lIns="0" rIns="0" tIns="0" bIns="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60">
                <a:solidFill>
                  <a:srgbClr val="1E1E1E"/>
                </a:solidFill>
                <a:latin typeface="等线"/>
                <a:ea typeface="等线"/>
                <a:cs typeface="等线"/>
                <a:sym typeface="等线"/>
              </a:rPr>
              <a:t>课后作业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536780" y="1925506"/>
            <a:ext cx="9136882" cy="9751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rtlCol="false" wrap="square" lIns="0" rIns="0" tIns="0" bIns="0">
            <a:spAutoFit/>
          </a:bodyPr>
          <a:lstStyle/>
          <a:p>
            <a:pPr algn="ctr" marL="0" indent="0" defTabSz="914400">
              <a:lnSpc>
                <a:spcPct val="116666"/>
              </a:lnSpc>
              <a:defRPr/>
            </a:pPr>
            <a:r>
              <a:rPr lang="en-US" b="false" i="false" strike="noStrike" u="none" sz="6359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感谢观看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{"Label":"1","ContentProducer":"001191110102MACQD9K64010000","ProduceID":"7682261004072602612","ReservedCode1":"","ContentPropagator":"","PropagateID":"","ReservedCode2":""}</vt:lpwstr>
  </property>
</Properties>
</file>