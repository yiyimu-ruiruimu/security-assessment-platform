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10.svg" ContentType="image/svg+xml"/>
  <Override PartName="/ppt/media/image113.svg" ContentType="image/svg+xml"/>
  <Override PartName="/ppt/media/image116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1.svg" ContentType="image/svg+xml"/>
  <Override PartName="/ppt/media/image154.svg" ContentType="image/svg+xml"/>
  <Override PartName="/ppt/media/image156.svg" ContentType="image/svg+xml"/>
  <Override PartName="/ppt/media/image16.svg" ContentType="image/svg+xml"/>
  <Override PartName="/ppt/media/image163.svg" ContentType="image/svg+xml"/>
  <Override PartName="/ppt/media/image165.svg" ContentType="image/svg+xml"/>
  <Override PartName="/ppt/media/image168.svg" ContentType="image/svg+xml"/>
  <Override PartName="/ppt/media/image173.svg" ContentType="image/svg+xml"/>
  <Override PartName="/ppt/media/image175.svg" ContentType="image/svg+xml"/>
  <Override PartName="/ppt/media/image177.svg" ContentType="image/svg+xml"/>
  <Override PartName="/ppt/media/image179.svg" ContentType="image/svg+xml"/>
  <Override PartName="/ppt/media/image18.svg" ContentType="image/svg+xml"/>
  <Override PartName="/ppt/media/image181.svg" ContentType="image/svg+xml"/>
  <Override PartName="/ppt/media/image184.svg" ContentType="image/svg+xml"/>
  <Override PartName="/ppt/media/image186.svg" ContentType="image/svg+xml"/>
  <Override PartName="/ppt/media/image191.svg" ContentType="image/svg+xml"/>
  <Override PartName="/ppt/media/image193.svg" ContentType="image/svg+xml"/>
  <Override PartName="/ppt/media/image195.svg" ContentType="image/svg+xml"/>
  <Override PartName="/ppt/media/image198.svg" ContentType="image/svg+xml"/>
  <Override PartName="/ppt/media/image20.svg" ContentType="image/svg+xml"/>
  <Override PartName="/ppt/media/image201.svg" ContentType="image/svg+xml"/>
  <Override PartName="/ppt/media/image204.svg" ContentType="image/svg+xml"/>
  <Override PartName="/ppt/media/image208.svg" ContentType="image/svg+xml"/>
  <Override PartName="/ppt/media/image23.svg" ContentType="image/svg+xml"/>
  <Override PartName="/ppt/media/image26.svg" ContentType="image/svg+xml"/>
  <Override PartName="/ppt/media/image29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7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70.svg" ContentType="image/svg+xml"/>
  <Override PartName="/ppt/media/image72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3.svg" ContentType="image/svg+xml"/>
  <Override PartName="/ppt/media/image86.svg" ContentType="image/svg+xml"/>
  <Override PartName="/ppt/media/image88.svg" ContentType="image/svg+xml"/>
  <Override PartName="/ppt/media/image92.svg" ContentType="image/svg+xml"/>
  <Override PartName="/ppt/media/image9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2" r:id="rId22"/>
    <p:sldId id="275" r:id="rId23"/>
    <p:sldId id="296" r:id="rId24"/>
    <p:sldId id="284" r:id="rId25"/>
    <p:sldId id="277" r:id="rId26"/>
    <p:sldId id="278" r:id="rId27"/>
    <p:sldId id="279" r:id="rId28"/>
    <p:sldId id="280" r:id="rId29"/>
    <p:sldId id="281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wmf"/><Relationship Id="rId1" Type="http://schemas.openxmlformats.org/officeDocument/2006/relationships/image" Target="../media/image16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（One Time Password，</a:t>
            </a:r>
            <a:r>
              <a:rPr lang="zh-CN" altLang="en-US" dirty="0"/>
              <a:t>简称</a:t>
            </a:r>
            <a:r>
              <a:rPr lang="en-US" altLang="zh-CN" dirty="0"/>
              <a:t>OTP），</a:t>
            </a:r>
            <a:r>
              <a:rPr lang="zh-CN" altLang="en-US" dirty="0"/>
              <a:t>又称“一次性口令”，是指只能使用一次的密码。一次性密码是根据专门算法、每隔60秒生成一个不可预测的随机数字组合，</a:t>
            </a:r>
            <a:r>
              <a:rPr lang="en-US" altLang="zh-CN" dirty="0"/>
              <a:t>iKEY</a:t>
            </a:r>
            <a:r>
              <a:rPr lang="zh-CN" altLang="en-US" dirty="0"/>
              <a:t>一次性密码已在金融、电信、网游等领域被广泛应用，有效地保护了用户的安全。</a:t>
            </a:r>
            <a:endParaRPr lang="zh-CN" altLang="en-US" dirty="0"/>
          </a:p>
          <a:p>
            <a:r>
              <a:rPr lang="en-US" altLang="zh-CN"/>
              <a:t>TACACS </a:t>
            </a:r>
            <a:r>
              <a:rPr lang="zh-CN" altLang="en-US"/>
              <a:t>是一套</a:t>
            </a:r>
            <a:r>
              <a:rPr lang="en-US" altLang="zh-CN"/>
              <a:t> AAA</a:t>
            </a:r>
            <a:r>
              <a:rPr lang="zh-CN" altLang="en-US"/>
              <a:t>（认证</a:t>
            </a:r>
            <a:r>
              <a:rPr lang="en-US" altLang="zh-CN"/>
              <a:t> Authentication</a:t>
            </a:r>
            <a:r>
              <a:rPr lang="zh-CN" altLang="en-US"/>
              <a:t>、授权</a:t>
            </a:r>
            <a:r>
              <a:rPr lang="en-US" altLang="zh-CN"/>
              <a:t> Authorization</a:t>
            </a:r>
            <a:r>
              <a:rPr lang="zh-CN" altLang="en-US"/>
              <a:t>、计费</a:t>
            </a:r>
            <a:r>
              <a:rPr lang="en-US" altLang="zh-CN"/>
              <a:t> Accounting</a:t>
            </a:r>
            <a:r>
              <a:rPr lang="zh-CN" altLang="en-US"/>
              <a:t>）网络安全协议，现在生产环境基本使用它的增强版</a:t>
            </a:r>
            <a:r>
              <a:rPr lang="en-US" altLang="zh-CN"/>
              <a:t> TACACS+</a:t>
            </a:r>
            <a:r>
              <a:rPr lang="zh-CN" altLang="en-US"/>
              <a:t>，原始</a:t>
            </a:r>
            <a:r>
              <a:rPr lang="en-US" altLang="zh-CN"/>
              <a:t> TACACS </a:t>
            </a:r>
            <a:r>
              <a:rPr lang="zh-CN" altLang="en-US"/>
              <a:t>已经淘汰。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43866"/>
                </a:solidFill>
                <a:sym typeface="+mn-ea"/>
              </a:rPr>
              <a:t>建议用时：读配置 25 分钟 + 取证 20 分钟 + 录入判定 25 分钟</a:t>
            </a:r>
            <a:endParaRPr lang="en-US" b="1" dirty="0">
              <a:solidFill>
                <a:srgbClr val="143866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素材</a:t>
            </a:r>
            <a:r>
              <a:rPr lang="en-US" altLang="zh-CN" dirty="0"/>
              <a:t>2</a:t>
            </a:r>
            <a:r>
              <a:rPr lang="zh-CN" altLang="en-US" dirty="0"/>
              <a:t>的配置，先让学生自己做，然后再给出答案素材</a:t>
            </a:r>
            <a:r>
              <a:rPr lang="en-US" altLang="zh-CN" dirty="0"/>
              <a:t>8</a:t>
            </a:r>
            <a:r>
              <a:rPr lang="zh-CN" altLang="en-US" dirty="0"/>
              <a:t>，然后布置练习：</a:t>
            </a:r>
            <a:r>
              <a:rPr lang="zh-CN" altLang="en-US" dirty="0"/>
              <a:t>即从素材</a:t>
            </a:r>
            <a:r>
              <a:rPr lang="en-US" altLang="zh-CN" dirty="0"/>
              <a:t>4</a:t>
            </a:r>
            <a:r>
              <a:rPr lang="zh-CN" altLang="en-US" dirty="0"/>
              <a:t>或素材</a:t>
            </a:r>
            <a:r>
              <a:rPr lang="en-US" altLang="zh-CN" dirty="0"/>
              <a:t>7</a:t>
            </a:r>
            <a:r>
              <a:rPr lang="zh-CN" altLang="en-US" dirty="0"/>
              <a:t>中选择一个素材，参考素材</a:t>
            </a:r>
            <a:r>
              <a:rPr lang="en-US" altLang="zh-CN" dirty="0"/>
              <a:t>8</a:t>
            </a:r>
            <a:r>
              <a:rPr lang="zh-CN" altLang="en-US" dirty="0"/>
              <a:t>完成</a:t>
            </a:r>
            <a:r>
              <a:rPr lang="zh-CN" altLang="en-US" dirty="0"/>
              <a:t>练习。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  <a:sym typeface="+mn-ea"/>
              </a:rPr>
              <a:t>评分看点：配置读解 30% ＋ 取证质量 25% ＋ 判定与描述 25% ＋ 职业素养 20%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网络设备配置核查核心知识导图 知识点回顾（5分钟） 一、网络设备在等保中的定位 ● 安全技术要求 → 安全计算环境 ● 对象：路由器、交换机、防火墙、堡垒机 三、检查流程 登录设备 → 逐项检查 → 记录发现 → 判断合规 → 填写记录表 二、四大核查维度 1 身份鉴别 (8.1.4.1) ▪ 密码策略（长≥8/复杂/期≤90天） ▪ 登录策略（错≤5次/锁≥15分） ▪ 远程管理加密（SSH vs Telnet） ▪ 双因素鉴别（三级） 2 访问控制 (8.1.4.2) ▪ 账户管理（默认/闲置账户） ▪ 最小权限（权限分离） ▪ 安全标记（三级） 3 安全审计 (8.1.4.3) ▪ 日志启用与完整性 ▪ 日志保护与保存期限≥6个月 4 入侵防范 (8.1.4.4) ▪ 服务端口管理（关闭不必要端口） ▪ 管理终端限制（ACL） ▪ 漏洞修补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6" Type="http://schemas.openxmlformats.org/officeDocument/2006/relationships/notesSlide" Target="../notesSlides/notesSlide4.xml"/><Relationship Id="rId25" Type="http://schemas.openxmlformats.org/officeDocument/2006/relationships/vmlDrawing" Target="../drawings/vmlDrawing1.v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31.wmf"/><Relationship Id="rId22" Type="http://schemas.openxmlformats.org/officeDocument/2006/relationships/package" Target="../embeddings/Document1.docx"/><Relationship Id="rId21" Type="http://schemas.openxmlformats.org/officeDocument/2006/relationships/image" Target="../media/image30.png"/><Relationship Id="rId20" Type="http://schemas.openxmlformats.org/officeDocument/2006/relationships/image" Target="../media/image29.svg"/><Relationship Id="rId2" Type="http://schemas.openxmlformats.org/officeDocument/2006/relationships/image" Target="../media/image11.png"/><Relationship Id="rId19" Type="http://schemas.openxmlformats.org/officeDocument/2006/relationships/image" Target="../media/image28.png"/><Relationship Id="rId18" Type="http://schemas.openxmlformats.org/officeDocument/2006/relationships/image" Target="../media/image27.png"/><Relationship Id="rId17" Type="http://schemas.openxmlformats.org/officeDocument/2006/relationships/image" Target="../media/image26.svg"/><Relationship Id="rId16" Type="http://schemas.openxmlformats.org/officeDocument/2006/relationships/image" Target="../media/image25.png"/><Relationship Id="rId15" Type="http://schemas.openxmlformats.org/officeDocument/2006/relationships/image" Target="../media/image24.png"/><Relationship Id="rId14" Type="http://schemas.openxmlformats.org/officeDocument/2006/relationships/image" Target="../media/image23.sv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4" Type="http://schemas.openxmlformats.org/officeDocument/2006/relationships/notesSlide" Target="../notesSlides/notesSlide5.xml"/><Relationship Id="rId63" Type="http://schemas.openxmlformats.org/officeDocument/2006/relationships/vmlDrawing" Target="../drawings/vmlDrawing2.vml"/><Relationship Id="rId62" Type="http://schemas.openxmlformats.org/officeDocument/2006/relationships/slideLayout" Target="../slideLayouts/slideLayout1.xml"/><Relationship Id="rId61" Type="http://schemas.openxmlformats.org/officeDocument/2006/relationships/image" Target="../media/image31.wmf"/><Relationship Id="rId60" Type="http://schemas.openxmlformats.org/officeDocument/2006/relationships/package" Target="../embeddings/Document2.docx"/><Relationship Id="rId6" Type="http://schemas.openxmlformats.org/officeDocument/2006/relationships/tags" Target="../tags/tag2.xml"/><Relationship Id="rId59" Type="http://schemas.openxmlformats.org/officeDocument/2006/relationships/image" Target="../media/image30.png"/><Relationship Id="rId58" Type="http://schemas.openxmlformats.org/officeDocument/2006/relationships/image" Target="../media/image29.svg"/><Relationship Id="rId57" Type="http://schemas.openxmlformats.org/officeDocument/2006/relationships/image" Target="../media/image28.png"/><Relationship Id="rId56" Type="http://schemas.openxmlformats.org/officeDocument/2006/relationships/image" Target="../media/image27.png"/><Relationship Id="rId55" Type="http://schemas.openxmlformats.org/officeDocument/2006/relationships/image" Target="../media/image26.svg"/><Relationship Id="rId54" Type="http://schemas.openxmlformats.org/officeDocument/2006/relationships/image" Target="../media/image25.png"/><Relationship Id="rId53" Type="http://schemas.openxmlformats.org/officeDocument/2006/relationships/image" Target="../media/image24.png"/><Relationship Id="rId52" Type="http://schemas.openxmlformats.org/officeDocument/2006/relationships/image" Target="../media/image23.svg"/><Relationship Id="rId51" Type="http://schemas.openxmlformats.org/officeDocument/2006/relationships/image" Target="../media/image22.png"/><Relationship Id="rId50" Type="http://schemas.openxmlformats.org/officeDocument/2006/relationships/image" Target="../media/image21.png"/><Relationship Id="rId5" Type="http://schemas.openxmlformats.org/officeDocument/2006/relationships/image" Target="../media/image32.png"/><Relationship Id="rId49" Type="http://schemas.openxmlformats.org/officeDocument/2006/relationships/image" Target="../media/image20.svg"/><Relationship Id="rId48" Type="http://schemas.openxmlformats.org/officeDocument/2006/relationships/image" Target="../media/image19.png"/><Relationship Id="rId47" Type="http://schemas.openxmlformats.org/officeDocument/2006/relationships/image" Target="../media/image18.svg"/><Relationship Id="rId46" Type="http://schemas.openxmlformats.org/officeDocument/2006/relationships/image" Target="../media/image17.png"/><Relationship Id="rId45" Type="http://schemas.openxmlformats.org/officeDocument/2006/relationships/image" Target="../media/image16.svg"/><Relationship Id="rId44" Type="http://schemas.openxmlformats.org/officeDocument/2006/relationships/image" Target="../media/image15.png"/><Relationship Id="rId43" Type="http://schemas.openxmlformats.org/officeDocument/2006/relationships/image" Target="../media/image14.svg"/><Relationship Id="rId42" Type="http://schemas.openxmlformats.org/officeDocument/2006/relationships/image" Target="../media/image13.png"/><Relationship Id="rId41" Type="http://schemas.openxmlformats.org/officeDocument/2006/relationships/tags" Target="../tags/tag31.xml"/><Relationship Id="rId40" Type="http://schemas.openxmlformats.org/officeDocument/2006/relationships/tags" Target="../tags/tag30.xml"/><Relationship Id="rId4" Type="http://schemas.openxmlformats.org/officeDocument/2006/relationships/tags" Target="../tags/tag1.xml"/><Relationship Id="rId39" Type="http://schemas.openxmlformats.org/officeDocument/2006/relationships/tags" Target="../tags/tag29.xml"/><Relationship Id="rId38" Type="http://schemas.openxmlformats.org/officeDocument/2006/relationships/tags" Target="../tags/tag28.xml"/><Relationship Id="rId37" Type="http://schemas.openxmlformats.org/officeDocument/2006/relationships/tags" Target="../tags/tag27.xml"/><Relationship Id="rId36" Type="http://schemas.openxmlformats.org/officeDocument/2006/relationships/tags" Target="../tags/tag26.xml"/><Relationship Id="rId35" Type="http://schemas.openxmlformats.org/officeDocument/2006/relationships/tags" Target="../tags/tag25.xml"/><Relationship Id="rId34" Type="http://schemas.openxmlformats.org/officeDocument/2006/relationships/tags" Target="../tags/tag24.xml"/><Relationship Id="rId33" Type="http://schemas.openxmlformats.org/officeDocument/2006/relationships/tags" Target="../tags/tag23.xml"/><Relationship Id="rId32" Type="http://schemas.openxmlformats.org/officeDocument/2006/relationships/tags" Target="../tags/tag2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2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tags" Target="../tags/tag14.xml"/><Relationship Id="rId23" Type="http://schemas.openxmlformats.org/officeDocument/2006/relationships/tags" Target="../tags/tag13.xml"/><Relationship Id="rId22" Type="http://schemas.openxmlformats.org/officeDocument/2006/relationships/tags" Target="../tags/tag12.xml"/><Relationship Id="rId21" Type="http://schemas.openxmlformats.org/officeDocument/2006/relationships/tags" Target="../tags/tag11.xml"/><Relationship Id="rId20" Type="http://schemas.openxmlformats.org/officeDocument/2006/relationships/tags" Target="../tags/tag10.xml"/><Relationship Id="rId2" Type="http://schemas.openxmlformats.org/officeDocument/2006/relationships/image" Target="../media/image11.png"/><Relationship Id="rId19" Type="http://schemas.openxmlformats.org/officeDocument/2006/relationships/tags" Target="../tags/tag9.xml"/><Relationship Id="rId18" Type="http://schemas.openxmlformats.org/officeDocument/2006/relationships/tags" Target="../tags/tag8.xml"/><Relationship Id="rId17" Type="http://schemas.openxmlformats.org/officeDocument/2006/relationships/tags" Target="../tags/tag7.xml"/><Relationship Id="rId16" Type="http://schemas.openxmlformats.org/officeDocument/2006/relationships/image" Target="../media/image38.svg"/><Relationship Id="rId15" Type="http://schemas.openxmlformats.org/officeDocument/2006/relationships/image" Target="../media/image37.png"/><Relationship Id="rId14" Type="http://schemas.openxmlformats.org/officeDocument/2006/relationships/tags" Target="../tags/tag6.xml"/><Relationship Id="rId13" Type="http://schemas.openxmlformats.org/officeDocument/2006/relationships/tags" Target="../tags/tag5.xml"/><Relationship Id="rId12" Type="http://schemas.openxmlformats.org/officeDocument/2006/relationships/image" Target="../media/image36.svg"/><Relationship Id="rId11" Type="http://schemas.openxmlformats.org/officeDocument/2006/relationships/image" Target="../media/image35.png"/><Relationship Id="rId10" Type="http://schemas.openxmlformats.org/officeDocument/2006/relationships/tags" Target="../tags/tag4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svg"/><Relationship Id="rId8" Type="http://schemas.openxmlformats.org/officeDocument/2006/relationships/image" Target="../media/image43.png"/><Relationship Id="rId7" Type="http://schemas.openxmlformats.org/officeDocument/2006/relationships/image" Target="../media/image42.svg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12.png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55.png"/><Relationship Id="rId2" Type="http://schemas.openxmlformats.org/officeDocument/2006/relationships/image" Target="../media/image11.png"/><Relationship Id="rId19" Type="http://schemas.openxmlformats.org/officeDocument/2006/relationships/image" Target="../media/image54.svg"/><Relationship Id="rId18" Type="http://schemas.openxmlformats.org/officeDocument/2006/relationships/image" Target="../media/image53.png"/><Relationship Id="rId17" Type="http://schemas.openxmlformats.org/officeDocument/2006/relationships/image" Target="../media/image52.svg"/><Relationship Id="rId16" Type="http://schemas.openxmlformats.org/officeDocument/2006/relationships/image" Target="../media/image51.png"/><Relationship Id="rId15" Type="http://schemas.openxmlformats.org/officeDocument/2006/relationships/image" Target="../media/image50.svg"/><Relationship Id="rId14" Type="http://schemas.openxmlformats.org/officeDocument/2006/relationships/image" Target="../media/image49.png"/><Relationship Id="rId13" Type="http://schemas.openxmlformats.org/officeDocument/2006/relationships/image" Target="../media/image48.svg"/><Relationship Id="rId12" Type="http://schemas.openxmlformats.org/officeDocument/2006/relationships/image" Target="../media/image47.png"/><Relationship Id="rId11" Type="http://schemas.openxmlformats.org/officeDocument/2006/relationships/image" Target="../media/image46.svg"/><Relationship Id="rId10" Type="http://schemas.openxmlformats.org/officeDocument/2006/relationships/image" Target="../media/image45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68.png"/><Relationship Id="rId15" Type="http://schemas.openxmlformats.org/officeDocument/2006/relationships/image" Target="../media/image67.svg"/><Relationship Id="rId14" Type="http://schemas.openxmlformats.org/officeDocument/2006/relationships/image" Target="../media/image66.png"/><Relationship Id="rId13" Type="http://schemas.openxmlformats.org/officeDocument/2006/relationships/image" Target="../media/image65.svg"/><Relationship Id="rId12" Type="http://schemas.openxmlformats.org/officeDocument/2006/relationships/image" Target="../media/image64.png"/><Relationship Id="rId11" Type="http://schemas.openxmlformats.org/officeDocument/2006/relationships/image" Target="../media/image63.svg"/><Relationship Id="rId10" Type="http://schemas.openxmlformats.org/officeDocument/2006/relationships/image" Target="../media/image62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png"/><Relationship Id="rId7" Type="http://schemas.openxmlformats.org/officeDocument/2006/relationships/image" Target="../media/image72.svg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Relationship Id="rId3" Type="http://schemas.openxmlformats.org/officeDocument/2006/relationships/image" Target="../media/image12.png"/><Relationship Id="rId20" Type="http://schemas.openxmlformats.org/officeDocument/2006/relationships/notesSlide" Target="../notesSlides/notesSlide11.xml"/><Relationship Id="rId2" Type="http://schemas.openxmlformats.org/officeDocument/2006/relationships/image" Target="../media/image1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83.svg"/><Relationship Id="rId17" Type="http://schemas.openxmlformats.org/officeDocument/2006/relationships/image" Target="../media/image82.png"/><Relationship Id="rId16" Type="http://schemas.openxmlformats.org/officeDocument/2006/relationships/image" Target="../media/image81.png"/><Relationship Id="rId15" Type="http://schemas.openxmlformats.org/officeDocument/2006/relationships/image" Target="../media/image80.png"/><Relationship Id="rId14" Type="http://schemas.openxmlformats.org/officeDocument/2006/relationships/image" Target="../media/image79.svg"/><Relationship Id="rId13" Type="http://schemas.openxmlformats.org/officeDocument/2006/relationships/image" Target="../media/image78.png"/><Relationship Id="rId12" Type="http://schemas.openxmlformats.org/officeDocument/2006/relationships/image" Target="../media/image77.svg"/><Relationship Id="rId11" Type="http://schemas.openxmlformats.org/officeDocument/2006/relationships/image" Target="../media/image76.png"/><Relationship Id="rId10" Type="http://schemas.openxmlformats.org/officeDocument/2006/relationships/image" Target="../media/image75.sv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image" Target="../media/image88.svg"/><Relationship Id="rId7" Type="http://schemas.openxmlformats.org/officeDocument/2006/relationships/image" Target="../media/image87.png"/><Relationship Id="rId6" Type="http://schemas.openxmlformats.org/officeDocument/2006/relationships/image" Target="../media/image86.sv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90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svg"/><Relationship Id="rId8" Type="http://schemas.openxmlformats.org/officeDocument/2006/relationships/image" Target="../media/image95.png"/><Relationship Id="rId7" Type="http://schemas.openxmlformats.org/officeDocument/2006/relationships/image" Target="../media/image94.svg"/><Relationship Id="rId6" Type="http://schemas.openxmlformats.org/officeDocument/2006/relationships/image" Target="../media/image93.png"/><Relationship Id="rId5" Type="http://schemas.openxmlformats.org/officeDocument/2006/relationships/image" Target="../media/image92.svg"/><Relationship Id="rId4" Type="http://schemas.openxmlformats.org/officeDocument/2006/relationships/image" Target="../media/image9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96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svg"/><Relationship Id="rId8" Type="http://schemas.openxmlformats.org/officeDocument/2006/relationships/image" Target="../media/image100.png"/><Relationship Id="rId7" Type="http://schemas.openxmlformats.org/officeDocument/2006/relationships/image" Target="../media/image99.png"/><Relationship Id="rId6" Type="http://schemas.openxmlformats.org/officeDocument/2006/relationships/image" Target="../media/image18.sv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7" Type="http://schemas.openxmlformats.org/officeDocument/2006/relationships/notesSlide" Target="../notesSlides/notesSlide14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07.svg"/><Relationship Id="rId14" Type="http://schemas.openxmlformats.org/officeDocument/2006/relationships/image" Target="../media/image106.png"/><Relationship Id="rId13" Type="http://schemas.openxmlformats.org/officeDocument/2006/relationships/image" Target="../media/image105.svg"/><Relationship Id="rId12" Type="http://schemas.openxmlformats.org/officeDocument/2006/relationships/image" Target="../media/image104.png"/><Relationship Id="rId11" Type="http://schemas.openxmlformats.org/officeDocument/2006/relationships/image" Target="../media/image103.svg"/><Relationship Id="rId10" Type="http://schemas.openxmlformats.org/officeDocument/2006/relationships/image" Target="../media/image102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png"/><Relationship Id="rId8" Type="http://schemas.openxmlformats.org/officeDocument/2006/relationships/image" Target="../media/image40.svg"/><Relationship Id="rId7" Type="http://schemas.openxmlformats.org/officeDocument/2006/relationships/image" Target="../media/image95.png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15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16.svg"/><Relationship Id="rId13" Type="http://schemas.openxmlformats.org/officeDocument/2006/relationships/image" Target="../media/image115.png"/><Relationship Id="rId12" Type="http://schemas.openxmlformats.org/officeDocument/2006/relationships/image" Target="../media/image114.png"/><Relationship Id="rId11" Type="http://schemas.openxmlformats.org/officeDocument/2006/relationships/image" Target="../media/image113.svg"/><Relationship Id="rId10" Type="http://schemas.openxmlformats.org/officeDocument/2006/relationships/image" Target="../media/image112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png"/><Relationship Id="rId8" Type="http://schemas.openxmlformats.org/officeDocument/2006/relationships/image" Target="../media/image120.png"/><Relationship Id="rId7" Type="http://schemas.openxmlformats.org/officeDocument/2006/relationships/image" Target="../media/image119.png"/><Relationship Id="rId6" Type="http://schemas.openxmlformats.org/officeDocument/2006/relationships/image" Target="../media/image48.svg"/><Relationship Id="rId5" Type="http://schemas.openxmlformats.org/officeDocument/2006/relationships/image" Target="../media/image118.png"/><Relationship Id="rId4" Type="http://schemas.openxmlformats.org/officeDocument/2006/relationships/image" Target="../media/image11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9" Type="http://schemas.openxmlformats.org/officeDocument/2006/relationships/notesSlide" Target="../notesSlides/notesSlide16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29.svg"/><Relationship Id="rId16" Type="http://schemas.openxmlformats.org/officeDocument/2006/relationships/image" Target="../media/image128.png"/><Relationship Id="rId15" Type="http://schemas.openxmlformats.org/officeDocument/2006/relationships/image" Target="../media/image127.svg"/><Relationship Id="rId14" Type="http://schemas.openxmlformats.org/officeDocument/2006/relationships/image" Target="../media/image126.png"/><Relationship Id="rId13" Type="http://schemas.openxmlformats.org/officeDocument/2006/relationships/image" Target="../media/image125.svg"/><Relationship Id="rId12" Type="http://schemas.openxmlformats.org/officeDocument/2006/relationships/image" Target="../media/image124.png"/><Relationship Id="rId11" Type="http://schemas.openxmlformats.org/officeDocument/2006/relationships/image" Target="../media/image123.svg"/><Relationship Id="rId10" Type="http://schemas.openxmlformats.org/officeDocument/2006/relationships/image" Target="../media/image122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image" Target="../media/image131.svg"/><Relationship Id="rId5" Type="http://schemas.openxmlformats.org/officeDocument/2006/relationships/image" Target="../media/image130.png"/><Relationship Id="rId4" Type="http://schemas.openxmlformats.org/officeDocument/2006/relationships/tags" Target="../tags/tag32.xml"/><Relationship Id="rId37" Type="http://schemas.openxmlformats.org/officeDocument/2006/relationships/notesSlide" Target="../notesSlides/notesSlide17.xml"/><Relationship Id="rId36" Type="http://schemas.openxmlformats.org/officeDocument/2006/relationships/slideLayout" Target="../slideLayouts/slideLayout1.xml"/><Relationship Id="rId35" Type="http://schemas.openxmlformats.org/officeDocument/2006/relationships/image" Target="../media/image143.svg"/><Relationship Id="rId34" Type="http://schemas.openxmlformats.org/officeDocument/2006/relationships/image" Target="../media/image142.png"/><Relationship Id="rId33" Type="http://schemas.openxmlformats.org/officeDocument/2006/relationships/image" Target="../media/image141.svg"/><Relationship Id="rId32" Type="http://schemas.openxmlformats.org/officeDocument/2006/relationships/image" Target="../media/image140.png"/><Relationship Id="rId31" Type="http://schemas.openxmlformats.org/officeDocument/2006/relationships/image" Target="../media/image139.svg"/><Relationship Id="rId30" Type="http://schemas.openxmlformats.org/officeDocument/2006/relationships/image" Target="../media/image138.png"/><Relationship Id="rId3" Type="http://schemas.openxmlformats.org/officeDocument/2006/relationships/image" Target="../media/image12.png"/><Relationship Id="rId29" Type="http://schemas.openxmlformats.org/officeDocument/2006/relationships/image" Target="../media/image137.svg"/><Relationship Id="rId28" Type="http://schemas.openxmlformats.org/officeDocument/2006/relationships/image" Target="../media/image136.png"/><Relationship Id="rId27" Type="http://schemas.openxmlformats.org/officeDocument/2006/relationships/tags" Target="../tags/tag49.xml"/><Relationship Id="rId26" Type="http://schemas.openxmlformats.org/officeDocument/2006/relationships/tags" Target="../tags/tag48.xml"/><Relationship Id="rId25" Type="http://schemas.openxmlformats.org/officeDocument/2006/relationships/image" Target="../media/image135.svg"/><Relationship Id="rId24" Type="http://schemas.openxmlformats.org/officeDocument/2006/relationships/image" Target="../media/image134.png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image" Target="../media/image11.png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image" Target="../media/image133.svg"/><Relationship Id="rId16" Type="http://schemas.openxmlformats.org/officeDocument/2006/relationships/image" Target="../media/image132.png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svg"/><Relationship Id="rId8" Type="http://schemas.openxmlformats.org/officeDocument/2006/relationships/image" Target="../media/image148.png"/><Relationship Id="rId7" Type="http://schemas.openxmlformats.org/officeDocument/2006/relationships/image" Target="../media/image147.svg"/><Relationship Id="rId6" Type="http://schemas.openxmlformats.org/officeDocument/2006/relationships/image" Target="../media/image146.png"/><Relationship Id="rId5" Type="http://schemas.openxmlformats.org/officeDocument/2006/relationships/image" Target="../media/image145.svg"/><Relationship Id="rId4" Type="http://schemas.openxmlformats.org/officeDocument/2006/relationships/image" Target="../media/image14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8.svg"/><Relationship Id="rId15" Type="http://schemas.openxmlformats.org/officeDocument/2006/relationships/image" Target="../media/image98.png"/><Relationship Id="rId14" Type="http://schemas.openxmlformats.org/officeDocument/2006/relationships/image" Target="../media/image154.svg"/><Relationship Id="rId13" Type="http://schemas.openxmlformats.org/officeDocument/2006/relationships/image" Target="../media/image153.png"/><Relationship Id="rId12" Type="http://schemas.openxmlformats.org/officeDocument/2006/relationships/image" Target="../media/image152.png"/><Relationship Id="rId11" Type="http://schemas.openxmlformats.org/officeDocument/2006/relationships/image" Target="../media/image151.svg"/><Relationship Id="rId10" Type="http://schemas.openxmlformats.org/officeDocument/2006/relationships/image" Target="../media/image150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image" Target="../media/image157.png"/><Relationship Id="rId7" Type="http://schemas.openxmlformats.org/officeDocument/2006/relationships/tags" Target="../tags/tag52.xml"/><Relationship Id="rId63" Type="http://schemas.openxmlformats.org/officeDocument/2006/relationships/notesSlide" Target="../notesSlides/notesSlide19.xml"/><Relationship Id="rId62" Type="http://schemas.openxmlformats.org/officeDocument/2006/relationships/vmlDrawing" Target="../drawings/vmlDrawing3.vml"/><Relationship Id="rId61" Type="http://schemas.openxmlformats.org/officeDocument/2006/relationships/slideLayout" Target="../slideLayouts/slideLayout1.xml"/><Relationship Id="rId60" Type="http://schemas.openxmlformats.org/officeDocument/2006/relationships/image" Target="../media/image170.wmf"/><Relationship Id="rId6" Type="http://schemas.openxmlformats.org/officeDocument/2006/relationships/tags" Target="../tags/tag51.xml"/><Relationship Id="rId59" Type="http://schemas.openxmlformats.org/officeDocument/2006/relationships/package" Target="../embeddings/Document4.docx"/><Relationship Id="rId58" Type="http://schemas.openxmlformats.org/officeDocument/2006/relationships/image" Target="../media/image169.wmf"/><Relationship Id="rId57" Type="http://schemas.openxmlformats.org/officeDocument/2006/relationships/package" Target="../embeddings/Document3.docx"/><Relationship Id="rId56" Type="http://schemas.openxmlformats.org/officeDocument/2006/relationships/image" Target="../media/image168.svg"/><Relationship Id="rId55" Type="http://schemas.openxmlformats.org/officeDocument/2006/relationships/image" Target="../media/image167.png"/><Relationship Id="rId54" Type="http://schemas.openxmlformats.org/officeDocument/2006/relationships/image" Target="../media/image166.png"/><Relationship Id="rId53" Type="http://schemas.openxmlformats.org/officeDocument/2006/relationships/image" Target="../media/image165.svg"/><Relationship Id="rId52" Type="http://schemas.openxmlformats.org/officeDocument/2006/relationships/image" Target="../media/image164.png"/><Relationship Id="rId51" Type="http://schemas.openxmlformats.org/officeDocument/2006/relationships/image" Target="../media/image163.svg"/><Relationship Id="rId50" Type="http://schemas.openxmlformats.org/officeDocument/2006/relationships/image" Target="../media/image162.png"/><Relationship Id="rId5" Type="http://schemas.openxmlformats.org/officeDocument/2006/relationships/image" Target="../media/image156.svg"/><Relationship Id="rId49" Type="http://schemas.openxmlformats.org/officeDocument/2006/relationships/image" Target="../media/image161.png"/><Relationship Id="rId48" Type="http://schemas.openxmlformats.org/officeDocument/2006/relationships/tags" Target="../tags/tag89.xml"/><Relationship Id="rId47" Type="http://schemas.openxmlformats.org/officeDocument/2006/relationships/tags" Target="../tags/tag88.xml"/><Relationship Id="rId46" Type="http://schemas.openxmlformats.org/officeDocument/2006/relationships/tags" Target="../tags/tag87.xml"/><Relationship Id="rId45" Type="http://schemas.openxmlformats.org/officeDocument/2006/relationships/tags" Target="../tags/tag86.xml"/><Relationship Id="rId44" Type="http://schemas.openxmlformats.org/officeDocument/2006/relationships/tags" Target="../tags/tag85.xml"/><Relationship Id="rId43" Type="http://schemas.openxmlformats.org/officeDocument/2006/relationships/tags" Target="../tags/tag84.xml"/><Relationship Id="rId42" Type="http://schemas.openxmlformats.org/officeDocument/2006/relationships/tags" Target="../tags/tag83.xml"/><Relationship Id="rId41" Type="http://schemas.openxmlformats.org/officeDocument/2006/relationships/tags" Target="../tags/tag82.xml"/><Relationship Id="rId40" Type="http://schemas.openxmlformats.org/officeDocument/2006/relationships/tags" Target="../tags/tag81.xml"/><Relationship Id="rId4" Type="http://schemas.openxmlformats.org/officeDocument/2006/relationships/image" Target="../media/image155.png"/><Relationship Id="rId39" Type="http://schemas.openxmlformats.org/officeDocument/2006/relationships/tags" Target="../tags/tag80.xml"/><Relationship Id="rId38" Type="http://schemas.openxmlformats.org/officeDocument/2006/relationships/tags" Target="../tags/tag79.xml"/><Relationship Id="rId37" Type="http://schemas.openxmlformats.org/officeDocument/2006/relationships/tags" Target="../tags/tag78.xml"/><Relationship Id="rId36" Type="http://schemas.openxmlformats.org/officeDocument/2006/relationships/image" Target="../media/image160.png"/><Relationship Id="rId35" Type="http://schemas.openxmlformats.org/officeDocument/2006/relationships/tags" Target="../tags/tag77.xml"/><Relationship Id="rId34" Type="http://schemas.openxmlformats.org/officeDocument/2006/relationships/tags" Target="../tags/tag76.xml"/><Relationship Id="rId33" Type="http://schemas.openxmlformats.org/officeDocument/2006/relationships/tags" Target="../tags/tag75.xml"/><Relationship Id="rId32" Type="http://schemas.openxmlformats.org/officeDocument/2006/relationships/tags" Target="../tags/tag74.xml"/><Relationship Id="rId31" Type="http://schemas.openxmlformats.org/officeDocument/2006/relationships/tags" Target="../tags/tag73.xml"/><Relationship Id="rId30" Type="http://schemas.openxmlformats.org/officeDocument/2006/relationships/tags" Target="../tags/tag72.xml"/><Relationship Id="rId3" Type="http://schemas.openxmlformats.org/officeDocument/2006/relationships/tags" Target="../tags/tag50.xml"/><Relationship Id="rId29" Type="http://schemas.openxmlformats.org/officeDocument/2006/relationships/tags" Target="../tags/tag71.xml"/><Relationship Id="rId28" Type="http://schemas.openxmlformats.org/officeDocument/2006/relationships/tags" Target="../tags/tag70.xml"/><Relationship Id="rId27" Type="http://schemas.openxmlformats.org/officeDocument/2006/relationships/tags" Target="../tags/tag69.xml"/><Relationship Id="rId26" Type="http://schemas.openxmlformats.org/officeDocument/2006/relationships/tags" Target="../tags/tag68.xml"/><Relationship Id="rId25" Type="http://schemas.openxmlformats.org/officeDocument/2006/relationships/tags" Target="../tags/tag67.xml"/><Relationship Id="rId24" Type="http://schemas.openxmlformats.org/officeDocument/2006/relationships/tags" Target="../tags/tag66.xml"/><Relationship Id="rId23" Type="http://schemas.openxmlformats.org/officeDocument/2006/relationships/tags" Target="../tags/tag65.xml"/><Relationship Id="rId22" Type="http://schemas.openxmlformats.org/officeDocument/2006/relationships/tags" Target="../tags/tag64.xml"/><Relationship Id="rId21" Type="http://schemas.openxmlformats.org/officeDocument/2006/relationships/tags" Target="../tags/tag63.xml"/><Relationship Id="rId20" Type="http://schemas.openxmlformats.org/officeDocument/2006/relationships/image" Target="../media/image159.png"/><Relationship Id="rId2" Type="http://schemas.openxmlformats.org/officeDocument/2006/relationships/image" Target="../media/image110.svg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image" Target="../media/image158.png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image" Target="../media/image10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image" Target="../media/image168.svg"/><Relationship Id="rId7" Type="http://schemas.openxmlformats.org/officeDocument/2006/relationships/image" Target="../media/image167.png"/><Relationship Id="rId6" Type="http://schemas.openxmlformats.org/officeDocument/2006/relationships/image" Target="../media/image166.png"/><Relationship Id="rId5" Type="http://schemas.openxmlformats.org/officeDocument/2006/relationships/image" Target="../media/image165.svg"/><Relationship Id="rId4" Type="http://schemas.openxmlformats.org/officeDocument/2006/relationships/image" Target="../media/image164.png"/><Relationship Id="rId3" Type="http://schemas.openxmlformats.org/officeDocument/2006/relationships/image" Target="../media/image163.svg"/><Relationship Id="rId2" Type="http://schemas.openxmlformats.org/officeDocument/2006/relationships/image" Target="../media/image162.png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6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svg"/><Relationship Id="rId8" Type="http://schemas.openxmlformats.org/officeDocument/2006/relationships/image" Target="../media/image148.png"/><Relationship Id="rId7" Type="http://schemas.openxmlformats.org/officeDocument/2006/relationships/image" Target="../media/image147.svg"/><Relationship Id="rId6" Type="http://schemas.openxmlformats.org/officeDocument/2006/relationships/image" Target="../media/image146.png"/><Relationship Id="rId5" Type="http://schemas.openxmlformats.org/officeDocument/2006/relationships/image" Target="../media/image145.svg"/><Relationship Id="rId4" Type="http://schemas.openxmlformats.org/officeDocument/2006/relationships/image" Target="../media/image14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21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8.svg"/><Relationship Id="rId13" Type="http://schemas.openxmlformats.org/officeDocument/2006/relationships/image" Target="../media/image98.png"/><Relationship Id="rId12" Type="http://schemas.openxmlformats.org/officeDocument/2006/relationships/image" Target="../media/image154.svg"/><Relationship Id="rId11" Type="http://schemas.openxmlformats.org/officeDocument/2006/relationships/image" Target="../media/image153.png"/><Relationship Id="rId10" Type="http://schemas.openxmlformats.org/officeDocument/2006/relationships/image" Target="../media/image152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6.png"/><Relationship Id="rId8" Type="http://schemas.openxmlformats.org/officeDocument/2006/relationships/image" Target="../media/image175.svg"/><Relationship Id="rId7" Type="http://schemas.openxmlformats.org/officeDocument/2006/relationships/image" Target="../media/image174.png"/><Relationship Id="rId6" Type="http://schemas.openxmlformats.org/officeDocument/2006/relationships/image" Target="../media/image173.svg"/><Relationship Id="rId5" Type="http://schemas.openxmlformats.org/officeDocument/2006/relationships/image" Target="../media/image172.png"/><Relationship Id="rId4" Type="http://schemas.openxmlformats.org/officeDocument/2006/relationships/image" Target="../media/image17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23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81.svg"/><Relationship Id="rId13" Type="http://schemas.openxmlformats.org/officeDocument/2006/relationships/image" Target="../media/image180.png"/><Relationship Id="rId12" Type="http://schemas.openxmlformats.org/officeDocument/2006/relationships/image" Target="../media/image179.svg"/><Relationship Id="rId11" Type="http://schemas.openxmlformats.org/officeDocument/2006/relationships/image" Target="../media/image178.png"/><Relationship Id="rId10" Type="http://schemas.openxmlformats.org/officeDocument/2006/relationships/image" Target="../media/image177.sv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7.png"/><Relationship Id="rId8" Type="http://schemas.openxmlformats.org/officeDocument/2006/relationships/image" Target="../media/image186.svg"/><Relationship Id="rId7" Type="http://schemas.openxmlformats.org/officeDocument/2006/relationships/image" Target="../media/image185.png"/><Relationship Id="rId6" Type="http://schemas.openxmlformats.org/officeDocument/2006/relationships/image" Target="../media/image184.svg"/><Relationship Id="rId5" Type="http://schemas.openxmlformats.org/officeDocument/2006/relationships/image" Target="../media/image183.png"/><Relationship Id="rId4" Type="http://schemas.openxmlformats.org/officeDocument/2006/relationships/image" Target="../media/image182.png"/><Relationship Id="rId3" Type="http://schemas.openxmlformats.org/officeDocument/2006/relationships/image" Target="../media/image12.png"/><Relationship Id="rId27" Type="http://schemas.openxmlformats.org/officeDocument/2006/relationships/notesSlide" Target="../notesSlides/notesSlide24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201.svg"/><Relationship Id="rId24" Type="http://schemas.openxmlformats.org/officeDocument/2006/relationships/image" Target="../media/image200.png"/><Relationship Id="rId23" Type="http://schemas.openxmlformats.org/officeDocument/2006/relationships/image" Target="../media/image163.svg"/><Relationship Id="rId22" Type="http://schemas.openxmlformats.org/officeDocument/2006/relationships/image" Target="../media/image162.png"/><Relationship Id="rId21" Type="http://schemas.openxmlformats.org/officeDocument/2006/relationships/image" Target="../media/image199.png"/><Relationship Id="rId20" Type="http://schemas.openxmlformats.org/officeDocument/2006/relationships/image" Target="../media/image198.svg"/><Relationship Id="rId2" Type="http://schemas.openxmlformats.org/officeDocument/2006/relationships/image" Target="../media/image11.png"/><Relationship Id="rId19" Type="http://schemas.openxmlformats.org/officeDocument/2006/relationships/image" Target="../media/image197.png"/><Relationship Id="rId18" Type="http://schemas.openxmlformats.org/officeDocument/2006/relationships/image" Target="../media/image196.png"/><Relationship Id="rId17" Type="http://schemas.openxmlformats.org/officeDocument/2006/relationships/image" Target="../media/image195.svg"/><Relationship Id="rId16" Type="http://schemas.openxmlformats.org/officeDocument/2006/relationships/image" Target="../media/image194.png"/><Relationship Id="rId15" Type="http://schemas.openxmlformats.org/officeDocument/2006/relationships/image" Target="../media/image193.svg"/><Relationship Id="rId14" Type="http://schemas.openxmlformats.org/officeDocument/2006/relationships/image" Target="../media/image192.png"/><Relationship Id="rId13" Type="http://schemas.openxmlformats.org/officeDocument/2006/relationships/image" Target="../media/image191.svg"/><Relationship Id="rId12" Type="http://schemas.openxmlformats.org/officeDocument/2006/relationships/image" Target="../media/image190.png"/><Relationship Id="rId11" Type="http://schemas.openxmlformats.org/officeDocument/2006/relationships/image" Target="../media/image189.png"/><Relationship Id="rId10" Type="http://schemas.openxmlformats.org/officeDocument/2006/relationships/image" Target="../media/image188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png"/><Relationship Id="rId8" Type="http://schemas.openxmlformats.org/officeDocument/2006/relationships/image" Target="../media/image204.svg"/><Relationship Id="rId7" Type="http://schemas.openxmlformats.org/officeDocument/2006/relationships/image" Target="../media/image203.png"/><Relationship Id="rId6" Type="http://schemas.openxmlformats.org/officeDocument/2006/relationships/image" Target="../media/image163.svg"/><Relationship Id="rId5" Type="http://schemas.openxmlformats.org/officeDocument/2006/relationships/image" Target="../media/image162.png"/><Relationship Id="rId4" Type="http://schemas.openxmlformats.org/officeDocument/2006/relationships/image" Target="../media/image202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25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08.svg"/><Relationship Id="rId13" Type="http://schemas.openxmlformats.org/officeDocument/2006/relationships/image" Target="../media/image207.png"/><Relationship Id="rId12" Type="http://schemas.openxmlformats.org/officeDocument/2006/relationships/image" Target="../media/image206.png"/><Relationship Id="rId11" Type="http://schemas.openxmlformats.org/officeDocument/2006/relationships/image" Target="../media/image205.png"/><Relationship Id="rId10" Type="http://schemas.openxmlformats.org/officeDocument/2006/relationships/image" Target="../media/image40.sv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</a:t>
            </a:r>
            <a:r>
              <a:rPr lang="zh-CN" altLang="en-US" sz="2040" dirty="0">
                <a:solidFill>
                  <a:srgbClr val="000000"/>
                </a:solidFill>
              </a:rPr>
              <a:t>张玉</a:t>
            </a:r>
            <a:endParaRPr lang="zh-CN" altLang="en-US" sz="2040" dirty="0">
              <a:solidFill>
                <a:srgbClr val="000000"/>
              </a:solidFill>
            </a:endParaRPr>
          </a:p>
        </p:txBody>
      </p:sp>
      <p:sp>
        <p:nvSpPr>
          <p:cNvPr id="11" name="Text 1"/>
          <p:cNvSpPr/>
          <p:nvPr/>
        </p:nvSpPr>
        <p:spPr>
          <a:xfrm>
            <a:off x="577068" y="1683313"/>
            <a:ext cx="5490553" cy="18288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dirty="0">
                <a:solidFill>
                  <a:srgbClr val="FFFFFF"/>
                </a:solidFill>
              </a:rPr>
              <a:t>信息安全测评与风险评估</a:t>
            </a:r>
            <a:endParaRPr lang="en-US" sz="600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4.2 网络设备配置核查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40bc18a4f70cd7b96e4920a20f3d94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6" name="Text 2"/>
          <p:cNvSpPr/>
          <p:nvPr/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7" name="Text 3"/>
          <p:cNvSpPr/>
          <p:nvPr/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8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10" name="Text 6"/>
          <p:cNvSpPr/>
          <p:nvPr/>
        </p:nvSpPr>
        <p:spPr>
          <a:xfrm>
            <a:off x="7064048" y="4741950"/>
            <a:ext cx="4878288" cy="44259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课内小结与下节预告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7064048" y="1502943"/>
            <a:ext cx="4878288" cy="8858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案例导入：一条「允许所有」是怎么漏掉的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7037378" y="3684717"/>
            <a:ext cx="4878288" cy="44259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动手实验：配置取证 +  判定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064048" y="2627485"/>
            <a:ext cx="4878288" cy="44259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关键知识：四大维度与核查命令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Part.01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案例导入——一条「允许所有」是怎么漏掉的</a:t>
            </a:r>
            <a:endParaRPr lang="en-US" sz="5280" dirty="0"/>
          </a:p>
        </p:txBody>
      </p:sp>
      <p:sp>
        <p:nvSpPr>
          <p:cNvPr id="5" name="Text 2"/>
          <p:cNvSpPr/>
          <p:nvPr/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60" dirty="0">
                <a:solidFill>
                  <a:srgbClr val="FFFFFF"/>
                </a:solidFill>
              </a:rPr>
              <a:t>先看一场由配置疏漏引发的数据泄露，再明确你要练成的四项本事</a:t>
            </a:r>
            <a:endParaRPr lang="en-US" sz="21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案例导入：防火墙上那条「允许所有」，你能发现吗？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6370320" cy="11887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1554480"/>
            <a:ext cx="5952744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引入问题：防火墙策略中有一条“允许所有”，你能发现吗？</a:t>
            </a:r>
            <a:endParaRPr lang="en-US" sz="216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2804160"/>
            <a:ext cx="6370320" cy="1600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8680" y="3108960"/>
            <a:ext cx="365760" cy="36576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9640" y="3169920"/>
            <a:ext cx="243840" cy="24384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356360" y="3063240"/>
            <a:ext cx="12283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案例素材</a:t>
            </a:r>
            <a:endParaRPr lang="en-US" sz="2400" dirty="0"/>
          </a:p>
        </p:txBody>
      </p:sp>
      <p:sp>
        <p:nvSpPr>
          <p:cNvPr id="12" name="Text 3"/>
          <p:cNvSpPr/>
          <p:nvPr/>
        </p:nvSpPr>
        <p:spPr>
          <a:xfrm>
            <a:off x="868680" y="3578860"/>
            <a:ext cx="5861304" cy="7632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某企业发生数据泄露事件，调查发现：攻击者通过互联网扫描发现了该企业防火墙的</a:t>
            </a:r>
            <a:r>
              <a:rPr lang="en-US" sz="12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22端口</a:t>
            </a:r>
            <a:r>
              <a:rPr lang="en-US" sz="12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对外开放，且使用了</a:t>
            </a:r>
            <a:r>
              <a:rPr lang="en-US" sz="12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默认口令</a:t>
            </a:r>
            <a:r>
              <a:rPr lang="en-US" sz="12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进行暴力破解成功。随后修改了防火墙策略，允许外部IP直接访问内部数据库，导致</a:t>
            </a:r>
            <a:r>
              <a:rPr lang="en-US" sz="1200" b="1" dirty="0">
                <a:solidFill>
                  <a:srgbClr val="DC262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30万条</a:t>
            </a:r>
            <a:r>
              <a:rPr lang="en-US" sz="12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客户信息被窃取。</a:t>
            </a:r>
            <a:endParaRPr lang="en-US" sz="1200" dirty="0">
              <a:solidFill>
                <a:srgbClr val="374151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3" name="Image 7" descr="https://test.web.static.jianzeppt.com/ppt-temp-img3/24f1acbbeacf40cab04003059c62c953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648200"/>
            <a:ext cx="6370320" cy="160020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868680" y="4907280"/>
            <a:ext cx="30266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事后审计发现的配置问题</a:t>
            </a:r>
            <a:endParaRPr lang="en-US" sz="216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45680" y="1371600"/>
            <a:ext cx="4251960" cy="48768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18" name="Image 9" descr="https://test.web.static.jianzeppt.com/ppt-temp-img3/bd5f925950b74c4b1c3d0fb37c4259c4.png?x-oss-process=image/resize,w_1440,h_800,m_lfit/format,png"/>
          <p:cNvPicPr>
            <a:picLocks noChangeAspect="1"/>
          </p:cNvPicPr>
          <p:nvPr/>
        </p:nvPicPr>
        <p:blipFill>
          <a:blip r:embed="rId15">
            <a:alphaModFix amt="10000"/>
          </a:blip>
          <a:stretch>
            <a:fillRect/>
          </a:stretch>
        </p:blipFill>
        <p:spPr>
          <a:xfrm>
            <a:off x="9631680" y="975360"/>
            <a:ext cx="2346960" cy="2346960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50480" y="1752600"/>
            <a:ext cx="365760" cy="36576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8138160" y="1676400"/>
            <a:ext cx="13655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先想一想</a:t>
            </a:r>
            <a:endParaRPr lang="en-US" sz="2640" dirty="0"/>
          </a:p>
        </p:txBody>
      </p:sp>
      <p:pic>
        <p:nvPicPr>
          <p:cNvPr id="21" name="Image 11" descr="https://test.web.static.jianzeppt.com/ppt-temp-img3/d307057ecfb6adc7436a31f62ec14b78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50480" y="2423160"/>
            <a:ext cx="3642360" cy="1097280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48600" y="2651760"/>
            <a:ext cx="365760" cy="36576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7955280" y="271272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3866"/>
                </a:solidFill>
              </a:rPr>
              <a:t>1</a:t>
            </a:r>
            <a:endParaRPr lang="en-US" sz="1400" b="1" dirty="0">
              <a:solidFill>
                <a:srgbClr val="143866"/>
              </a:solidFill>
            </a:endParaRPr>
          </a:p>
        </p:txBody>
      </p:sp>
      <p:sp>
        <p:nvSpPr>
          <p:cNvPr id="24" name="Text 9"/>
          <p:cNvSpPr/>
          <p:nvPr/>
        </p:nvSpPr>
        <p:spPr>
          <a:xfrm>
            <a:off x="8397240" y="2621280"/>
            <a:ext cx="270662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换你来查这份防火墙配置，你能找出几个问题？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5" name="Image 13" descr="https://test.web.static.jianzeppt.com/ppt-temp-img3/d307057ecfb6adc7436a31f62ec14b78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50480" y="3749040"/>
            <a:ext cx="3642360" cy="1097280"/>
          </a:xfrm>
          <a:prstGeom prst="rect">
            <a:avLst/>
          </a:prstGeom>
        </p:spPr>
      </p:pic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48600" y="3977640"/>
            <a:ext cx="365760" cy="365760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>
            <a:off x="7955280" y="403860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3866"/>
                </a:solidFill>
              </a:rPr>
              <a:t>2</a:t>
            </a:r>
            <a:endParaRPr lang="en-US" sz="1400" b="1" dirty="0">
              <a:solidFill>
                <a:srgbClr val="143866"/>
              </a:solidFill>
            </a:endParaRPr>
          </a:p>
        </p:txBody>
      </p:sp>
      <p:sp>
        <p:nvSpPr>
          <p:cNvPr id="28" name="Text 11"/>
          <p:cNvSpPr/>
          <p:nvPr/>
        </p:nvSpPr>
        <p:spPr>
          <a:xfrm>
            <a:off x="8397240" y="3947160"/>
            <a:ext cx="270662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设备本身没被攻破，为什么数据还是泄露了？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9" name="Image 15" descr="https://test.web.static.jianzeppt.com/ppt-temp-img3/3d4e1dcc581a32261142dd7741e314df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50480" y="5090160"/>
            <a:ext cx="3642360" cy="868680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48600" y="5318760"/>
            <a:ext cx="365760" cy="365760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7955280" y="536448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3866"/>
                </a:solidFill>
              </a:rPr>
              <a:t>3</a:t>
            </a:r>
            <a:endParaRPr lang="en-US" sz="1400" b="1" dirty="0">
              <a:solidFill>
                <a:srgbClr val="143866"/>
              </a:solidFill>
            </a:endParaRPr>
          </a:p>
        </p:txBody>
      </p:sp>
      <p:sp>
        <p:nvSpPr>
          <p:cNvPr id="32" name="Text 13"/>
          <p:cNvSpPr/>
          <p:nvPr/>
        </p:nvSpPr>
        <p:spPr>
          <a:xfrm>
            <a:off x="8397240" y="5288280"/>
            <a:ext cx="270662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你觉得等保会要求查哪几项？先猜，再往下看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83810" y="509016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22" imgW="971550" imgH="666750" progId="Word.Document.12">
                  <p:embed/>
                </p:oleObj>
              </mc:Choice>
              <mc:Fallback>
                <p:oleObj name="" showAsIcon="1" r:id="rId22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083810" y="509016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4478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4A4A4A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学完这一节，你应该能做到：</a:t>
            </a:r>
            <a:endParaRPr lang="en-US" sz="2160" dirty="0"/>
          </a:p>
        </p:txBody>
      </p:sp>
      <p:pic>
        <p:nvPicPr>
          <p:cNvPr id="7" name="Image 3" descr="https://test.web.static.jianzeppt.com/ppt-temp-img3/a2d976da778c1e8d243e15875abae658.png?x-oss-process=image/resize,w_1440,h_800,m_lfit/format,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64920" y="3967480"/>
            <a:ext cx="9662160" cy="3048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3855720"/>
            <a:ext cx="1981200" cy="1676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9" name="Text 2"/>
          <p:cNvSpPr/>
          <p:nvPr>
            <p:custDataLst>
              <p:tags r:id="rId9"/>
            </p:custDataLst>
          </p:nvPr>
        </p:nvSpPr>
        <p:spPr>
          <a:xfrm>
            <a:off x="807720" y="4028440"/>
            <a:ext cx="159410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1A1A1A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说清路由器/交换机/防火墙/堡垒机在等保里的位置和核查依据</a:t>
            </a:r>
            <a:endParaRPr lang="en-US" sz="1680" dirty="0"/>
          </a:p>
        </p:txBody>
      </p:sp>
      <p:pic>
        <p:nvPicPr>
          <p:cNvPr id="10" name="Image 5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34440" y="2880360"/>
            <a:ext cx="731520" cy="7315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11" name="Text 3"/>
          <p:cNvSpPr/>
          <p:nvPr>
            <p:custDataLst>
              <p:tags r:id="rId13"/>
            </p:custDataLst>
          </p:nvPr>
        </p:nvSpPr>
        <p:spPr>
          <a:xfrm>
            <a:off x="1295400" y="301752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理解</a:t>
            </a:r>
            <a:endParaRPr lang="en-US" sz="2400" dirty="0"/>
          </a:p>
        </p:txBody>
      </p:sp>
      <p:pic>
        <p:nvPicPr>
          <p:cNvPr id="12" name="Image 6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71600" y="2743200"/>
            <a:ext cx="472440" cy="335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3" name="Text 4"/>
          <p:cNvSpPr/>
          <p:nvPr>
            <p:custDataLst>
              <p:tags r:id="rId17"/>
            </p:custDataLst>
          </p:nvPr>
        </p:nvSpPr>
        <p:spPr>
          <a:xfrm>
            <a:off x="1493520" y="2773680"/>
            <a:ext cx="237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440" dirty="0"/>
          </a:p>
        </p:txBody>
      </p:sp>
      <p:pic>
        <p:nvPicPr>
          <p:cNvPr id="14" name="Image 7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65120" y="3855720"/>
            <a:ext cx="1981200" cy="1676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5" name="Text 5"/>
          <p:cNvSpPr/>
          <p:nvPr>
            <p:custDataLst>
              <p:tags r:id="rId19"/>
            </p:custDataLst>
          </p:nvPr>
        </p:nvSpPr>
        <p:spPr>
          <a:xfrm>
            <a:off x="3063240" y="4028440"/>
            <a:ext cx="159410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1A1A1A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记住四大维度的核心指标与合格线：长度≥8、锁≤5次、SSH、日志≥6个月</a:t>
            </a:r>
            <a:endParaRPr lang="en-US" sz="1680" dirty="0"/>
          </a:p>
        </p:txBody>
      </p:sp>
      <p:pic>
        <p:nvPicPr>
          <p:cNvPr id="16" name="Image 8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89960" y="2880360"/>
            <a:ext cx="731520" cy="7315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17" name="Text 6"/>
          <p:cNvSpPr/>
          <p:nvPr>
            <p:custDataLst>
              <p:tags r:id="rId21"/>
            </p:custDataLst>
          </p:nvPr>
        </p:nvSpPr>
        <p:spPr>
          <a:xfrm>
            <a:off x="3550920" y="301752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掌握</a:t>
            </a:r>
            <a:endParaRPr lang="en-US" sz="2400" dirty="0"/>
          </a:p>
        </p:txBody>
      </p:sp>
      <p:pic>
        <p:nvPicPr>
          <p:cNvPr id="18" name="Image 9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11880" y="2743200"/>
            <a:ext cx="472440" cy="335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9" name="Text 7"/>
          <p:cNvSpPr/>
          <p:nvPr>
            <p:custDataLst>
              <p:tags r:id="rId23"/>
            </p:custDataLst>
          </p:nvPr>
        </p:nvSpPr>
        <p:spPr>
          <a:xfrm>
            <a:off x="3733800" y="2773680"/>
            <a:ext cx="237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440" dirty="0"/>
          </a:p>
        </p:txBody>
      </p:sp>
      <p:pic>
        <p:nvPicPr>
          <p:cNvPr id="20" name="Image 10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05400" y="3855720"/>
            <a:ext cx="1981200" cy="1676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1" name="Text 8"/>
          <p:cNvSpPr/>
          <p:nvPr>
            <p:custDataLst>
              <p:tags r:id="rId25"/>
            </p:custDataLst>
          </p:nvPr>
        </p:nvSpPr>
        <p:spPr>
          <a:xfrm>
            <a:off x="5303520" y="4028440"/>
            <a:ext cx="159410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1A1A1A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对着一份真实设备配置，逐行找出不合规项并说清依据条款</a:t>
            </a:r>
            <a:endParaRPr lang="en-US" sz="1680" dirty="0"/>
          </a:p>
        </p:txBody>
      </p:sp>
      <p:pic>
        <p:nvPicPr>
          <p:cNvPr id="22" name="Image 11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30240" y="2880360"/>
            <a:ext cx="731520" cy="7315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23" name="Text 9"/>
          <p:cNvSpPr/>
          <p:nvPr>
            <p:custDataLst>
              <p:tags r:id="rId27"/>
            </p:custDataLst>
          </p:nvPr>
        </p:nvSpPr>
        <p:spPr>
          <a:xfrm>
            <a:off x="5791200" y="301752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能够</a:t>
            </a:r>
            <a:endParaRPr lang="en-US" sz="2400" dirty="0"/>
          </a:p>
        </p:txBody>
      </p:sp>
      <p:pic>
        <p:nvPicPr>
          <p:cNvPr id="24" name="Image 12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67400" y="2743200"/>
            <a:ext cx="472440" cy="335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5" name="Text 10"/>
          <p:cNvSpPr/>
          <p:nvPr>
            <p:custDataLst>
              <p:tags r:id="rId29"/>
            </p:custDataLst>
          </p:nvPr>
        </p:nvSpPr>
        <p:spPr>
          <a:xfrm>
            <a:off x="5989320" y="2773680"/>
            <a:ext cx="237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440" dirty="0"/>
          </a:p>
        </p:txBody>
      </p:sp>
      <p:pic>
        <p:nvPicPr>
          <p:cNvPr id="26" name="Image 13" descr="preencoded.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0920" y="3855720"/>
            <a:ext cx="1981200" cy="1676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7" name="Text 11"/>
          <p:cNvSpPr/>
          <p:nvPr>
            <p:custDataLst>
              <p:tags r:id="rId31"/>
            </p:custDataLst>
          </p:nvPr>
        </p:nvSpPr>
        <p:spPr>
          <a:xfrm>
            <a:off x="7477760" y="4028440"/>
            <a:ext cx="1772920" cy="142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1A1A1A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用 JSecProbe 录入核查结果、做四档判定，导出规范的测评记录表</a:t>
            </a:r>
            <a:endParaRPr lang="en-US" sz="1680" dirty="0"/>
          </a:p>
        </p:txBody>
      </p:sp>
      <p:pic>
        <p:nvPicPr>
          <p:cNvPr id="28" name="Image 14" descr="preencoded.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85760" y="2880360"/>
            <a:ext cx="731520" cy="7315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29" name="Text 12"/>
          <p:cNvSpPr/>
          <p:nvPr>
            <p:custDataLst>
              <p:tags r:id="rId33"/>
            </p:custDataLst>
          </p:nvPr>
        </p:nvSpPr>
        <p:spPr>
          <a:xfrm>
            <a:off x="8046720" y="301752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能够</a:t>
            </a:r>
            <a:endParaRPr lang="en-US" sz="2400" dirty="0"/>
          </a:p>
        </p:txBody>
      </p:sp>
      <p:pic>
        <p:nvPicPr>
          <p:cNvPr id="30" name="Image 15" descr="preencoded.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07680" y="2743200"/>
            <a:ext cx="472440" cy="335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1" name="Text 13"/>
          <p:cNvSpPr/>
          <p:nvPr>
            <p:custDataLst>
              <p:tags r:id="rId35"/>
            </p:custDataLst>
          </p:nvPr>
        </p:nvSpPr>
        <p:spPr>
          <a:xfrm>
            <a:off x="8229600" y="2773680"/>
            <a:ext cx="237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1440" dirty="0"/>
          </a:p>
        </p:txBody>
      </p:sp>
      <p:pic>
        <p:nvPicPr>
          <p:cNvPr id="32" name="Image 16" descr="preencoded.png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1200" y="3855720"/>
            <a:ext cx="1981200" cy="1676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3" name="Text 14"/>
          <p:cNvSpPr/>
          <p:nvPr>
            <p:custDataLst>
              <p:tags r:id="rId37"/>
            </p:custDataLst>
          </p:nvPr>
        </p:nvSpPr>
        <p:spPr>
          <a:xfrm>
            <a:off x="9799320" y="4028440"/>
            <a:ext cx="159410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1A1A1A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针对不合规项，写出可以直接下发的整改命令</a:t>
            </a:r>
            <a:endParaRPr lang="en-US" sz="1680" dirty="0"/>
          </a:p>
        </p:txBody>
      </p:sp>
      <p:pic>
        <p:nvPicPr>
          <p:cNvPr id="34" name="Image 17" descr="preencoded.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26040" y="2880360"/>
            <a:ext cx="731520" cy="73152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35" name="Text 15"/>
          <p:cNvSpPr/>
          <p:nvPr>
            <p:custDataLst>
              <p:tags r:id="rId39"/>
            </p:custDataLst>
          </p:nvPr>
        </p:nvSpPr>
        <p:spPr>
          <a:xfrm>
            <a:off x="10287000" y="3017520"/>
            <a:ext cx="6187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具备</a:t>
            </a:r>
            <a:endParaRPr lang="en-US" sz="2400" dirty="0"/>
          </a:p>
        </p:txBody>
      </p:sp>
      <p:pic>
        <p:nvPicPr>
          <p:cNvPr id="36" name="Image 18" descr="preencoded.png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63200" y="2743200"/>
            <a:ext cx="472440" cy="335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7" name="Text 16"/>
          <p:cNvSpPr/>
          <p:nvPr>
            <p:custDataLst>
              <p:tags r:id="rId41"/>
            </p:custDataLst>
          </p:nvPr>
        </p:nvSpPr>
        <p:spPr>
          <a:xfrm>
            <a:off x="10485120" y="2773680"/>
            <a:ext cx="237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05</a:t>
            </a:r>
            <a:endParaRPr lang="en-US" sz="1440" dirty="0"/>
          </a:p>
        </p:txBody>
      </p:sp>
      <p:pic>
        <p:nvPicPr>
          <p:cNvPr id="38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48" y="336725"/>
            <a:ext cx="11778103" cy="6283330"/>
          </a:xfrm>
          <a:prstGeom prst="rect">
            <a:avLst/>
          </a:prstGeom>
        </p:spPr>
      </p:pic>
      <p:pic>
        <p:nvPicPr>
          <p:cNvPr id="39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56" y="677584"/>
            <a:ext cx="116485" cy="429934"/>
          </a:xfrm>
          <a:prstGeom prst="rect">
            <a:avLst/>
          </a:prstGeom>
        </p:spPr>
      </p:pic>
      <p:sp>
        <p:nvSpPr>
          <p:cNvPr id="40" name="Text 0"/>
          <p:cNvSpPr/>
          <p:nvPr/>
        </p:nvSpPr>
        <p:spPr>
          <a:xfrm>
            <a:off x="949497" y="658937"/>
            <a:ext cx="140208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</a:t>
            </a:r>
            <a:r>
              <a:rPr lang="zh-CN" altLang="en-US" sz="2760" dirty="0">
                <a:solidFill>
                  <a:srgbClr val="1E1E1E"/>
                </a:solidFill>
              </a:rPr>
              <a:t>复盘</a:t>
            </a:r>
            <a:endParaRPr lang="zh-CN" altLang="en-US" sz="2760" dirty="0">
              <a:solidFill>
                <a:srgbClr val="1E1E1E"/>
              </a:solidFill>
            </a:endParaRPr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09600" y="1371600"/>
            <a:ext cx="6370320" cy="1188720"/>
          </a:xfrm>
          <a:prstGeom prst="rect">
            <a:avLst/>
          </a:prstGeom>
        </p:spPr>
      </p:pic>
      <p:sp>
        <p:nvSpPr>
          <p:cNvPr id="42" name="Text 1"/>
          <p:cNvSpPr/>
          <p:nvPr/>
        </p:nvSpPr>
        <p:spPr>
          <a:xfrm>
            <a:off x="853440" y="1554480"/>
            <a:ext cx="5952744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引入问题：防火墙策略中有一条“允许所有”，你能发现吗？</a:t>
            </a:r>
            <a:endParaRPr lang="en-US" sz="216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09600" y="2804160"/>
            <a:ext cx="6370320" cy="1600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868680" y="3108960"/>
            <a:ext cx="365760" cy="365760"/>
          </a:xfrm>
          <a:prstGeom prst="rect">
            <a:avLst/>
          </a:prstGeom>
        </p:spPr>
      </p:pic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929640" y="3169920"/>
            <a:ext cx="243840" cy="243840"/>
          </a:xfrm>
          <a:prstGeom prst="rect">
            <a:avLst/>
          </a:prstGeom>
        </p:spPr>
      </p:pic>
      <p:sp>
        <p:nvSpPr>
          <p:cNvPr id="46" name="Text 2"/>
          <p:cNvSpPr/>
          <p:nvPr/>
        </p:nvSpPr>
        <p:spPr>
          <a:xfrm>
            <a:off x="1356360" y="3063240"/>
            <a:ext cx="12283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案例素材</a:t>
            </a:r>
            <a:endParaRPr lang="en-US" sz="2400" dirty="0"/>
          </a:p>
        </p:txBody>
      </p:sp>
      <p:sp>
        <p:nvSpPr>
          <p:cNvPr id="47" name="Text 3"/>
          <p:cNvSpPr/>
          <p:nvPr/>
        </p:nvSpPr>
        <p:spPr>
          <a:xfrm>
            <a:off x="868680" y="3578860"/>
            <a:ext cx="5861304" cy="7632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某企业发生数据泄露事件，调查发现：攻击者通过互联网扫描发现了该企业防火墙的</a:t>
            </a:r>
            <a:r>
              <a:rPr lang="en-US" sz="12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22端口</a:t>
            </a:r>
            <a:r>
              <a:rPr lang="en-US" sz="12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对外开放，且使用了</a:t>
            </a:r>
            <a:r>
              <a:rPr lang="en-US" sz="12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默认口令</a:t>
            </a:r>
            <a:r>
              <a:rPr lang="en-US" sz="12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进行暴力破解成功。随后修改了防火墙策略，允许外部IP直接访问内部数据库，导致</a:t>
            </a:r>
            <a:r>
              <a:rPr lang="en-US" sz="1200" b="1" dirty="0">
                <a:solidFill>
                  <a:srgbClr val="DC262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30万条</a:t>
            </a:r>
            <a:r>
              <a:rPr lang="en-US" sz="120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客户信息被窃取。</a:t>
            </a:r>
            <a:endParaRPr lang="en-US" sz="1200" dirty="0">
              <a:solidFill>
                <a:srgbClr val="374151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48" name="Image 7" descr="https://test.web.static.jianzeppt.com/ppt-temp-img3/24f1acbbeacf40cab04003059c62c953.png?x-oss-process=image/resize,w_1440,h_800,m_lfit/format,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09600" y="4648200"/>
            <a:ext cx="6370320" cy="1600200"/>
          </a:xfrm>
          <a:prstGeom prst="rect">
            <a:avLst/>
          </a:prstGeom>
        </p:spPr>
      </p:pic>
      <p:sp>
        <p:nvSpPr>
          <p:cNvPr id="49" name="Text 4"/>
          <p:cNvSpPr/>
          <p:nvPr/>
        </p:nvSpPr>
        <p:spPr>
          <a:xfrm>
            <a:off x="868680" y="4907280"/>
            <a:ext cx="30266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事后审计发现的配置问题</a:t>
            </a:r>
            <a:endParaRPr lang="en-US" sz="2160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7345680" y="1371600"/>
            <a:ext cx="4251960" cy="48768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51" name="Image 9" descr="https://test.web.static.jianzeppt.com/ppt-temp-img3/bd5f925950b74c4b1c3d0fb37c4259c4.png?x-oss-process=image/resize,w_1440,h_800,m_lfit/format,png"/>
          <p:cNvPicPr>
            <a:picLocks noChangeAspect="1"/>
          </p:cNvPicPr>
          <p:nvPr/>
        </p:nvPicPr>
        <p:blipFill>
          <a:blip r:embed="rId53">
            <a:alphaModFix amt="10000"/>
          </a:blip>
          <a:stretch>
            <a:fillRect/>
          </a:stretch>
        </p:blipFill>
        <p:spPr>
          <a:xfrm>
            <a:off x="9631680" y="975360"/>
            <a:ext cx="2346960" cy="2346960"/>
          </a:xfrm>
          <a:prstGeom prst="rect">
            <a:avLst/>
          </a:prstGeom>
        </p:spPr>
      </p:pic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650480" y="1752600"/>
            <a:ext cx="365760" cy="365760"/>
          </a:xfrm>
          <a:prstGeom prst="rect">
            <a:avLst/>
          </a:prstGeom>
        </p:spPr>
      </p:pic>
      <p:sp>
        <p:nvSpPr>
          <p:cNvPr id="53" name="Text 7"/>
          <p:cNvSpPr/>
          <p:nvPr/>
        </p:nvSpPr>
        <p:spPr>
          <a:xfrm>
            <a:off x="8138160" y="1676400"/>
            <a:ext cx="13655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p>
            <a:pPr marL="0" indent="0" algn="l">
              <a:lnSpc>
                <a:spcPct val="150000"/>
              </a:lnSpc>
              <a:buNone/>
            </a:pPr>
            <a:r>
              <a:rPr lang="zh-CN" alt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有答案了</a:t>
            </a:r>
            <a:r>
              <a:rPr lang="zh-CN" alt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吗？</a:t>
            </a:r>
            <a:endParaRPr lang="zh-CN" altLang="en-US" sz="264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54" name="Image 11" descr="https://test.web.static.jianzeppt.com/ppt-temp-img3/d307057ecfb6adc7436a31f62ec14b78.png?x-oss-process=image/resize,w_1440,h_800,m_lfit/format,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650480" y="2423160"/>
            <a:ext cx="3642360" cy="1097280"/>
          </a:xfrm>
          <a:prstGeom prst="rect">
            <a:avLst/>
          </a:prstGeom>
        </p:spPr>
      </p:pic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7848600" y="2651760"/>
            <a:ext cx="365760" cy="365760"/>
          </a:xfrm>
          <a:prstGeom prst="rect">
            <a:avLst/>
          </a:prstGeom>
        </p:spPr>
      </p:pic>
      <p:sp>
        <p:nvSpPr>
          <p:cNvPr id="56" name="Text 8"/>
          <p:cNvSpPr/>
          <p:nvPr/>
        </p:nvSpPr>
        <p:spPr>
          <a:xfrm>
            <a:off x="7955280" y="271272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3866"/>
                </a:solidFill>
              </a:rPr>
              <a:t>1</a:t>
            </a:r>
            <a:endParaRPr lang="en-US" sz="1400" b="1" dirty="0">
              <a:solidFill>
                <a:srgbClr val="143866"/>
              </a:solidFill>
            </a:endParaRPr>
          </a:p>
        </p:txBody>
      </p:sp>
      <p:sp>
        <p:nvSpPr>
          <p:cNvPr id="57" name="Text 9"/>
          <p:cNvSpPr/>
          <p:nvPr/>
        </p:nvSpPr>
        <p:spPr>
          <a:xfrm>
            <a:off x="8397240" y="2621280"/>
            <a:ext cx="270662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换你来查这份防火墙配置，你能找出几个问题？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58" name="Image 13" descr="https://test.web.static.jianzeppt.com/ppt-temp-img3/d307057ecfb6adc7436a31f62ec14b78.png?x-oss-process=image/resize,w_1440,h_800,m_lfit/format,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650480" y="3749040"/>
            <a:ext cx="3642360" cy="1097280"/>
          </a:xfrm>
          <a:prstGeom prst="rect">
            <a:avLst/>
          </a:prstGeom>
        </p:spPr>
      </p:pic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7848600" y="3977640"/>
            <a:ext cx="365760" cy="365760"/>
          </a:xfrm>
          <a:prstGeom prst="rect">
            <a:avLst/>
          </a:prstGeom>
        </p:spPr>
      </p:pic>
      <p:sp>
        <p:nvSpPr>
          <p:cNvPr id="60" name="Text 10"/>
          <p:cNvSpPr/>
          <p:nvPr/>
        </p:nvSpPr>
        <p:spPr>
          <a:xfrm>
            <a:off x="7955280" y="403860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3866"/>
                </a:solidFill>
              </a:rPr>
              <a:t>2</a:t>
            </a:r>
            <a:endParaRPr lang="en-US" sz="1400" b="1" dirty="0">
              <a:solidFill>
                <a:srgbClr val="143866"/>
              </a:solidFill>
            </a:endParaRPr>
          </a:p>
        </p:txBody>
      </p:sp>
      <p:sp>
        <p:nvSpPr>
          <p:cNvPr id="61" name="Text 11"/>
          <p:cNvSpPr/>
          <p:nvPr/>
        </p:nvSpPr>
        <p:spPr>
          <a:xfrm>
            <a:off x="8397240" y="3947160"/>
            <a:ext cx="270662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设备本身没被攻破，为什么数据还是泄露了？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62" name="Image 15" descr="https://test.web.static.jianzeppt.com/ppt-temp-img3/3d4e1dcc581a32261142dd7741e314df.png?x-oss-process=image/resize,w_1440,h_800,m_lfit/format,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650480" y="5090160"/>
            <a:ext cx="3642360" cy="868680"/>
          </a:xfrm>
          <a:prstGeom prst="rect">
            <a:avLst/>
          </a:prstGeom>
        </p:spPr>
      </p:pic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7848600" y="5318760"/>
            <a:ext cx="365760" cy="365760"/>
          </a:xfrm>
          <a:prstGeom prst="rect">
            <a:avLst/>
          </a:prstGeom>
        </p:spPr>
      </p:pic>
      <p:sp>
        <p:nvSpPr>
          <p:cNvPr id="64" name="Text 12"/>
          <p:cNvSpPr/>
          <p:nvPr/>
        </p:nvSpPr>
        <p:spPr>
          <a:xfrm>
            <a:off x="7955280" y="536448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3866"/>
                </a:solidFill>
              </a:rPr>
              <a:t>3</a:t>
            </a:r>
            <a:endParaRPr lang="en-US" sz="1400" b="1" dirty="0">
              <a:solidFill>
                <a:srgbClr val="143866"/>
              </a:solidFill>
            </a:endParaRPr>
          </a:p>
        </p:txBody>
      </p:sp>
      <p:sp>
        <p:nvSpPr>
          <p:cNvPr id="65" name="Text 13"/>
          <p:cNvSpPr/>
          <p:nvPr/>
        </p:nvSpPr>
        <p:spPr>
          <a:xfrm>
            <a:off x="8397240" y="5288280"/>
            <a:ext cx="2706624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你觉得等保会要求查哪几项？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graphicFrame>
        <p:nvGraphicFramePr>
          <p:cNvPr id="66" name="对象 6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83810" y="509016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60" imgW="971550" imgH="666750" progId="Word.Document.12">
                  <p:embed/>
                </p:oleObj>
              </mc:Choice>
              <mc:Fallback>
                <p:oleObj name="" showAsIcon="1" r:id="rId60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5083810" y="509016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Part.02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关键知识——网络设备在等保里归哪一类</a:t>
            </a:r>
            <a:endParaRPr lang="en-US" sz="5280" dirty="0"/>
          </a:p>
        </p:txBody>
      </p:sp>
      <p:sp>
        <p:nvSpPr>
          <p:cNvPr id="5" name="Text 2"/>
          <p:cNvSpPr/>
          <p:nvPr/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60" dirty="0">
                <a:solidFill>
                  <a:srgbClr val="FFFFFF"/>
                </a:solidFill>
              </a:rPr>
              <a:t>先搞清查什么、依据哪一条，再去翻配置</a:t>
            </a:r>
            <a:endParaRPr lang="en-US" sz="21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网络设备在等保测评中的定位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86840"/>
            <a:ext cx="52517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等保标准依据：GB/T 22239-2019</a:t>
            </a:r>
            <a:endParaRPr lang="en-US" sz="216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011680"/>
            <a:ext cx="91440" cy="914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22960" y="188976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所属大类：</a:t>
            </a:r>
            <a:endParaRPr lang="en-US" sz="1680" dirty="0"/>
          </a:p>
        </p:txBody>
      </p:sp>
      <p:sp>
        <p:nvSpPr>
          <p:cNvPr id="9" name="Text 3"/>
          <p:cNvSpPr/>
          <p:nvPr/>
        </p:nvSpPr>
        <p:spPr>
          <a:xfrm>
            <a:off x="2011680" y="1889760"/>
            <a:ext cx="28895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安全技术要求 → 安全计算环境</a:t>
            </a:r>
            <a:endParaRPr lang="en-US" sz="168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423160"/>
            <a:ext cx="91440" cy="9144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22960" y="230124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测评对象：</a:t>
            </a:r>
            <a:endParaRPr lang="en-US" sz="1680" dirty="0"/>
          </a:p>
        </p:txBody>
      </p:sp>
      <p:sp>
        <p:nvSpPr>
          <p:cNvPr id="12" name="Text 5"/>
          <p:cNvSpPr/>
          <p:nvPr/>
        </p:nvSpPr>
        <p:spPr>
          <a:xfrm>
            <a:off x="2011680" y="2301240"/>
            <a:ext cx="34229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路由器、交换机、防火墙、堡垒机等</a:t>
            </a:r>
            <a:endParaRPr lang="en-US" sz="168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834640"/>
            <a:ext cx="91440" cy="914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2960" y="271272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核心关注：</a:t>
            </a:r>
            <a:endParaRPr lang="en-US" sz="1680" dirty="0"/>
          </a:p>
        </p:txBody>
      </p:sp>
      <p:sp>
        <p:nvSpPr>
          <p:cNvPr id="15" name="Text 7"/>
          <p:cNvSpPr/>
          <p:nvPr/>
        </p:nvSpPr>
        <p:spPr>
          <a:xfrm>
            <a:off x="2011680" y="2712720"/>
            <a:ext cx="27828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设备自身的安全配置是否合规</a:t>
            </a:r>
            <a:endParaRPr lang="en-US" sz="1680" dirty="0"/>
          </a:p>
        </p:txBody>
      </p:sp>
      <p:sp>
        <p:nvSpPr>
          <p:cNvPr id="16" name="Text 8"/>
          <p:cNvSpPr/>
          <p:nvPr/>
        </p:nvSpPr>
        <p:spPr>
          <a:xfrm>
            <a:off x="609600" y="33528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为什么网络设备配置核查重要？网络设备是整个信息系统的“交通枢纽”：</a:t>
            </a:r>
            <a:endParaRPr lang="en-US" sz="216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4160520"/>
            <a:ext cx="243840" cy="2438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44880" y="409956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路由器</a:t>
            </a:r>
            <a:endParaRPr lang="en-US" sz="1920" dirty="0"/>
          </a:p>
        </p:txBody>
      </p:sp>
      <p:sp>
        <p:nvSpPr>
          <p:cNvPr id="19" name="Text 10"/>
          <p:cNvSpPr/>
          <p:nvPr/>
        </p:nvSpPr>
        <p:spPr>
          <a:xfrm>
            <a:off x="609600" y="4526280"/>
            <a:ext cx="256946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决定数据包的转发路径，控制网络流量</a:t>
            </a:r>
            <a:endParaRPr lang="en-US" sz="168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3916680"/>
            <a:ext cx="2560320" cy="30480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13760" y="4160520"/>
            <a:ext cx="243840" cy="24384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3749040" y="409956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交换机</a:t>
            </a:r>
            <a:endParaRPr lang="en-US" sz="1920" dirty="0"/>
          </a:p>
        </p:txBody>
      </p:sp>
      <p:sp>
        <p:nvSpPr>
          <p:cNvPr id="23" name="Text 12"/>
          <p:cNvSpPr/>
          <p:nvPr/>
        </p:nvSpPr>
        <p:spPr>
          <a:xfrm>
            <a:off x="3413760" y="4526280"/>
            <a:ext cx="256946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连接网络节点，划分VLAN隔离区域</a:t>
            </a:r>
            <a:endParaRPr lang="en-US" sz="168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13760" y="3916680"/>
            <a:ext cx="2560320" cy="30480"/>
          </a:xfrm>
          <a:prstGeom prst="rect">
            <a:avLst/>
          </a:prstGeom>
        </p:spPr>
      </p:pic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17920" y="4160520"/>
            <a:ext cx="243840" cy="24384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6553200" y="409956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防火墙</a:t>
            </a:r>
            <a:endParaRPr lang="en-US" sz="1920" dirty="0"/>
          </a:p>
        </p:txBody>
      </p:sp>
      <p:sp>
        <p:nvSpPr>
          <p:cNvPr id="27" name="Text 14"/>
          <p:cNvSpPr/>
          <p:nvPr/>
        </p:nvSpPr>
        <p:spPr>
          <a:xfrm>
            <a:off x="6217920" y="4526280"/>
            <a:ext cx="256946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网络安全的第一道防线，控制访问权限</a:t>
            </a:r>
            <a:endParaRPr lang="en-US" sz="168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17920" y="3916680"/>
            <a:ext cx="2560320" cy="30480"/>
          </a:xfrm>
          <a:prstGeom prst="rect">
            <a:avLst/>
          </a:prstGeom>
        </p:spPr>
      </p:pic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22080" y="4160520"/>
            <a:ext cx="243840" cy="243840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9357360" y="4099560"/>
            <a:ext cx="7559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堡垒机</a:t>
            </a:r>
            <a:endParaRPr lang="en-US" sz="1920" dirty="0"/>
          </a:p>
        </p:txBody>
      </p:sp>
      <p:sp>
        <p:nvSpPr>
          <p:cNvPr id="31" name="Text 16"/>
          <p:cNvSpPr/>
          <p:nvPr/>
        </p:nvSpPr>
        <p:spPr>
          <a:xfrm>
            <a:off x="9022080" y="4526280"/>
            <a:ext cx="25694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运维管理的“安全入口”</a:t>
            </a:r>
            <a:endParaRPr lang="en-US" sz="168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22080" y="3916680"/>
            <a:ext cx="2560320" cy="30480"/>
          </a:xfrm>
          <a:prstGeom prst="rect">
            <a:avLst/>
          </a:prstGeom>
        </p:spPr>
      </p:pic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9600" y="5334000"/>
            <a:ext cx="10972800" cy="914400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914400" y="5455920"/>
            <a:ext cx="10433304" cy="6781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一句话：如果网络设备配置不安全，整个系统的安全防线就形同虚设。网络的“交通警察”失守了，整个城市交通就乱套了。</a:t>
            </a:r>
            <a:endParaRPr lang="en-US" sz="1920" dirty="0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44640" y="1371600"/>
            <a:ext cx="4937760" cy="16764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6" name="Image 16" descr="https://test.web.static.jianzeppt.com/ppt-temp-img3/b01585b31d2bde1d2814f8dd223badb2.png?x-oss-process=image/resize,w_1440,h_800,m_lfit/format,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59880" y="1386840"/>
            <a:ext cx="490728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Part.02 · 续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关键知识——四大维度怎么查</a:t>
            </a:r>
            <a:endParaRPr lang="en-US" sz="5280" dirty="0"/>
          </a:p>
        </p:txBody>
      </p:sp>
      <p:sp>
        <p:nvSpPr>
          <p:cNvPr id="5" name="Text 2"/>
          <p:cNvSpPr/>
          <p:nvPr/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60" dirty="0">
                <a:solidFill>
                  <a:srgbClr val="FFFFFF"/>
                </a:solidFill>
              </a:rPr>
              <a:t>每个维度都按四步走：标准要求 → 核查命令 → 合格线 → 常见坑</a:t>
            </a:r>
            <a:endParaRPr lang="en-US" sz="21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网络设备配置核查——四大核心维度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对照GB/T 22239安全计算环境要求</a:t>
            </a:r>
            <a:endParaRPr lang="en-US" sz="216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1158240" y="2362200"/>
          <a:ext cx="9875520" cy="356616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5273040"/>
                <a:gridCol w="1554480"/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维度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标准对应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核心检查内容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严重程度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身份鉴别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8.1.4.1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密码策略、登录限制、远程管理加密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访问控制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8.1.4.2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账户权限、默认账户、最小权限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安全审计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8.1.4.3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日志功能、审计记录保护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入侵防范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8.1.4.4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服务端口、远程管理限制、漏洞修补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维度一：身份鉴别（8.1.4.1）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402080"/>
            <a:ext cx="304800" cy="3048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01040" y="141732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a</a:t>
            </a:r>
            <a:endParaRPr lang="en-US" sz="1440" dirty="0"/>
          </a:p>
        </p:txBody>
      </p:sp>
      <p:sp>
        <p:nvSpPr>
          <p:cNvPr id="8" name="Text 2"/>
          <p:cNvSpPr/>
          <p:nvPr/>
        </p:nvSpPr>
        <p:spPr>
          <a:xfrm>
            <a:off x="1036320" y="1356360"/>
            <a:ext cx="4885944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身份标识与鉴别：唯一标识，信息具复杂度且定期更换</a:t>
            </a:r>
            <a:r>
              <a:rPr lang="en-US" sz="168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(二、三级)</a:t>
            </a:r>
            <a:endParaRPr lang="en-US" sz="168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880" y="1402080"/>
            <a:ext cx="304800" cy="3048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370320" y="141732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b</a:t>
            </a:r>
            <a:endParaRPr lang="en-US" sz="1440" dirty="0"/>
          </a:p>
        </p:txBody>
      </p:sp>
      <p:sp>
        <p:nvSpPr>
          <p:cNvPr id="11" name="Text 4"/>
          <p:cNvSpPr/>
          <p:nvPr/>
        </p:nvSpPr>
        <p:spPr>
          <a:xfrm>
            <a:off x="6705600" y="1356360"/>
            <a:ext cx="4885944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登录失败处理：限非法登录次数、连接超时自动退出等</a:t>
            </a:r>
            <a:r>
              <a:rPr lang="en-US" sz="168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(二、三级)</a:t>
            </a:r>
            <a:endParaRPr lang="en-US" sz="168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179320"/>
            <a:ext cx="304800" cy="3048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16280" y="2194560"/>
            <a:ext cx="1158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c</a:t>
            </a:r>
            <a:endParaRPr lang="en-US" sz="1440" dirty="0"/>
          </a:p>
        </p:txBody>
      </p:sp>
      <p:sp>
        <p:nvSpPr>
          <p:cNvPr id="14" name="Text 6"/>
          <p:cNvSpPr/>
          <p:nvPr/>
        </p:nvSpPr>
        <p:spPr>
          <a:xfrm>
            <a:off x="1036320" y="2133600"/>
            <a:ext cx="4885944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远程管理加密：采取必要措施防止鉴别信息被窃听</a:t>
            </a:r>
            <a:r>
              <a:rPr lang="en-US" sz="168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(二、三级)</a:t>
            </a:r>
            <a:endParaRPr lang="en-US" sz="168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880" y="2179320"/>
            <a:ext cx="304800" cy="3048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370320" y="219456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d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6705600" y="2133600"/>
            <a:ext cx="4885944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双因素鉴别：两种及以上组合鉴别，至少使用密码技术</a:t>
            </a:r>
            <a:r>
              <a:rPr lang="en-US" sz="168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(三级要求)</a:t>
            </a:r>
            <a:endParaRPr lang="en-US" sz="1680" dirty="0"/>
          </a:p>
        </p:txBody>
      </p:sp>
      <p:pic>
        <p:nvPicPr>
          <p:cNvPr id="18" name="Image 7" descr="https://test.web.static.jianzeppt.com/ppt-temp-img3/88a33d0f6a33f2faeabb3271eccceeef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971800"/>
            <a:ext cx="10972800" cy="3276600"/>
          </a:xfrm>
          <a:prstGeom prst="rect">
            <a:avLst/>
          </a:prstGeom>
        </p:spPr>
      </p:pic>
      <p:pic>
        <p:nvPicPr>
          <p:cNvPr id="19" name="Image 8" descr="https://test.web.static.jianzeppt.com/ppt-temp-img3/0eb347a58c04aa1c15a9a0cef62a5001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2987040"/>
            <a:ext cx="10942320" cy="54864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4389120" y="3078480"/>
            <a:ext cx="34381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实操检查方法（核心指标对应）</a:t>
            </a:r>
            <a:endParaRPr lang="en-US" sz="1920" dirty="0"/>
          </a:p>
        </p:txBody>
      </p:sp>
      <p:pic>
        <p:nvPicPr>
          <p:cNvPr id="21" name="Image 9" descr="https://test.web.static.jianzeppt.com/ppt-temp-img3/522f1c3b657ac607b8f82ebc2a31af15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3535680"/>
            <a:ext cx="10942320" cy="2697480"/>
          </a:xfrm>
          <a:prstGeom prst="rect">
            <a:avLst/>
          </a:prstGeom>
        </p:spPr>
      </p:pic>
      <p:pic>
        <p:nvPicPr>
          <p:cNvPr id="22" name="Image 10" descr="https://test.web.static.jianzeppt.com/ppt-temp-img3/e6ee553b89ee9e7b8697604946498b3f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3535680"/>
            <a:ext cx="10942320" cy="57912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746760" y="3657600"/>
            <a:ext cx="2508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检查项</a:t>
            </a:r>
            <a:endParaRPr lang="en-US" sz="1680" dirty="0"/>
          </a:p>
        </p:txBody>
      </p:sp>
      <p:sp>
        <p:nvSpPr>
          <p:cNvPr id="24" name="Text 11"/>
          <p:cNvSpPr/>
          <p:nvPr/>
        </p:nvSpPr>
        <p:spPr>
          <a:xfrm>
            <a:off x="3489960" y="3657600"/>
            <a:ext cx="41544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路由器（华为）</a:t>
            </a:r>
            <a:endParaRPr lang="en-US" sz="1680" dirty="0"/>
          </a:p>
        </p:txBody>
      </p:sp>
      <p:sp>
        <p:nvSpPr>
          <p:cNvPr id="25" name="Text 12"/>
          <p:cNvSpPr/>
          <p:nvPr/>
        </p:nvSpPr>
        <p:spPr>
          <a:xfrm>
            <a:off x="7863840" y="3657600"/>
            <a:ext cx="36057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防火墙（华为）</a:t>
            </a:r>
            <a:endParaRPr lang="en-US" sz="1680" dirty="0"/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4107180"/>
            <a:ext cx="10942320" cy="1524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746760" y="4130040"/>
            <a:ext cx="250850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密码复杂度</a:t>
            </a:r>
            <a:endParaRPr lang="en-US" sz="1680" dirty="0"/>
          </a:p>
        </p:txBody>
      </p:sp>
      <p:sp>
        <p:nvSpPr>
          <p:cNvPr id="28" name="Text 14"/>
          <p:cNvSpPr/>
          <p:nvPr/>
        </p:nvSpPr>
        <p:spPr>
          <a:xfrm>
            <a:off x="3489960" y="4130040"/>
            <a:ext cx="415442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60" dirty="0">
                <a:solidFill>
                  <a:srgbClr val="374151"/>
                </a:solidFill>
              </a:rPr>
              <a:t>display password-policy</a:t>
            </a:r>
            <a:endParaRPr lang="en-US" sz="1560" dirty="0"/>
          </a:p>
        </p:txBody>
      </p:sp>
      <p:sp>
        <p:nvSpPr>
          <p:cNvPr id="29" name="Text 15"/>
          <p:cNvSpPr/>
          <p:nvPr/>
        </p:nvSpPr>
        <p:spPr>
          <a:xfrm>
            <a:off x="7863840" y="4130040"/>
            <a:ext cx="360578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查看管理员密码策略</a:t>
            </a:r>
            <a:endParaRPr lang="en-US" sz="168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4638751"/>
            <a:ext cx="10942320" cy="15240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4840" y="4632960"/>
            <a:ext cx="10942320" cy="533400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746760" y="4648200"/>
            <a:ext cx="250850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登录失败锁定</a:t>
            </a:r>
            <a:endParaRPr lang="en-US" sz="1680" dirty="0"/>
          </a:p>
        </p:txBody>
      </p:sp>
      <p:sp>
        <p:nvSpPr>
          <p:cNvPr id="33" name="Text 17"/>
          <p:cNvSpPr/>
          <p:nvPr/>
        </p:nvSpPr>
        <p:spPr>
          <a:xfrm>
            <a:off x="3489960" y="4648200"/>
            <a:ext cx="415442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60" dirty="0">
                <a:solidFill>
                  <a:srgbClr val="374151"/>
                </a:solidFill>
              </a:rPr>
              <a:t>display login-block</a:t>
            </a:r>
            <a:endParaRPr lang="en-US" sz="1560" dirty="0"/>
          </a:p>
        </p:txBody>
      </p:sp>
      <p:sp>
        <p:nvSpPr>
          <p:cNvPr id="34" name="Text 18"/>
          <p:cNvSpPr/>
          <p:nvPr/>
        </p:nvSpPr>
        <p:spPr>
          <a:xfrm>
            <a:off x="7863840" y="4648200"/>
            <a:ext cx="360578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查看登录失败锁定策略</a:t>
            </a:r>
            <a:endParaRPr lang="en-US" sz="1680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5170170"/>
            <a:ext cx="10942320" cy="15240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746760" y="5181600"/>
            <a:ext cx="250850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超时退出</a:t>
            </a:r>
            <a:endParaRPr lang="en-US" sz="1680" dirty="0"/>
          </a:p>
        </p:txBody>
      </p:sp>
      <p:sp>
        <p:nvSpPr>
          <p:cNvPr id="37" name="Text 20"/>
          <p:cNvSpPr/>
          <p:nvPr/>
        </p:nvSpPr>
        <p:spPr>
          <a:xfrm>
            <a:off x="3489960" y="5181600"/>
            <a:ext cx="415442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60" dirty="0">
                <a:solidFill>
                  <a:srgbClr val="374151"/>
                </a:solidFill>
              </a:rPr>
              <a:t>display user-interface</a:t>
            </a:r>
            <a:endParaRPr lang="en-US" sz="1560" dirty="0"/>
          </a:p>
        </p:txBody>
      </p:sp>
      <p:sp>
        <p:nvSpPr>
          <p:cNvPr id="38" name="Text 21"/>
          <p:cNvSpPr/>
          <p:nvPr/>
        </p:nvSpPr>
        <p:spPr>
          <a:xfrm>
            <a:off x="7863840" y="5181600"/>
            <a:ext cx="360578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查看超时配置</a:t>
            </a:r>
            <a:endParaRPr lang="en-US" sz="168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5701741"/>
            <a:ext cx="10942320" cy="15240"/>
          </a:xfrm>
          <a:prstGeom prst="rect">
            <a:avLst/>
          </a:prstGeom>
        </p:spPr>
      </p:pic>
      <p:pic>
        <p:nvPicPr>
          <p:cNvPr id="40" name="Image 16" descr="https://test.web.static.jianzeppt.com/ppt-temp-img3/c4257753dc4afc448e68714ac2de61a3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" y="5699760"/>
            <a:ext cx="10942320" cy="533400"/>
          </a:xfrm>
          <a:prstGeom prst="rect">
            <a:avLst/>
          </a:prstGeom>
        </p:spPr>
      </p:pic>
      <p:sp>
        <p:nvSpPr>
          <p:cNvPr id="41" name="Text 22"/>
          <p:cNvSpPr/>
          <p:nvPr/>
        </p:nvSpPr>
        <p:spPr>
          <a:xfrm>
            <a:off x="746760" y="5715000"/>
            <a:ext cx="250850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远程管理加密</a:t>
            </a:r>
            <a:endParaRPr lang="en-US" sz="1680" dirty="0"/>
          </a:p>
        </p:txBody>
      </p:sp>
      <p:sp>
        <p:nvSpPr>
          <p:cNvPr id="42" name="Text 23"/>
          <p:cNvSpPr/>
          <p:nvPr/>
        </p:nvSpPr>
        <p:spPr>
          <a:xfrm>
            <a:off x="3489960" y="5715000"/>
            <a:ext cx="415442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查看是否使用SSH而非Telnet</a:t>
            </a:r>
            <a:endParaRPr lang="en-US" sz="1680" dirty="0"/>
          </a:p>
        </p:txBody>
      </p:sp>
      <p:sp>
        <p:nvSpPr>
          <p:cNvPr id="43" name="Text 24"/>
          <p:cNvSpPr/>
          <p:nvPr/>
        </p:nvSpPr>
        <p:spPr>
          <a:xfrm>
            <a:off x="7863840" y="5715000"/>
            <a:ext cx="3605784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查看管理方式配置</a:t>
            </a:r>
            <a:endParaRPr lang="en-US" sz="1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维度一实操演示：身份鉴别检查要点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5303520" cy="59436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" y="1524000"/>
            <a:ext cx="304800" cy="3048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944880" y="15087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9" name="Text 2"/>
          <p:cNvSpPr/>
          <p:nvPr/>
        </p:nvSpPr>
        <p:spPr>
          <a:xfrm>
            <a:off x="1280160" y="1463040"/>
            <a:ext cx="24780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检查密码复杂度策略</a:t>
            </a:r>
            <a:endParaRPr lang="en-US" sz="2160" dirty="0"/>
          </a:p>
        </p:txBody>
      </p:sp>
      <p:pic>
        <p:nvPicPr>
          <p:cNvPr id="10" name="Image 5" descr="https://test.web.static.jianzeppt.com/ppt-temp-img3/48bdd0db23f8bdf33078f01dd911b294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965960"/>
            <a:ext cx="5303520" cy="443484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7720" y="2148840"/>
            <a:ext cx="4907280" cy="82296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005840" y="2286000"/>
            <a:ext cx="4520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# 华为路由器/交换机</a:t>
            </a:r>
            <a:endParaRPr lang="en-US" sz="1440" dirty="0"/>
          </a:p>
        </p:txBody>
      </p:sp>
      <p:sp>
        <p:nvSpPr>
          <p:cNvPr id="13" name="Text 4"/>
          <p:cNvSpPr/>
          <p:nvPr/>
        </p:nvSpPr>
        <p:spPr>
          <a:xfrm>
            <a:off x="1005840" y="2590800"/>
            <a:ext cx="4520184" cy="243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143866"/>
                </a:solidFill>
              </a:rPr>
              <a:t>display password-policy</a:t>
            </a:r>
            <a:endParaRPr lang="en-US" sz="192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7720" y="3169920"/>
            <a:ext cx="60960" cy="18288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960120" y="3093720"/>
            <a:ext cx="116738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预期结果：</a:t>
            </a:r>
            <a:endParaRPr lang="en-US" sz="1800" dirty="0"/>
          </a:p>
        </p:txBody>
      </p:sp>
      <p:sp>
        <p:nvSpPr>
          <p:cNvPr id="16" name="Text 6"/>
          <p:cNvSpPr/>
          <p:nvPr/>
        </p:nvSpPr>
        <p:spPr>
          <a:xfrm>
            <a:off x="960120" y="359664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1203960" y="3520440"/>
            <a:ext cx="19446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密码最小长度 ≥ 8位</a:t>
            </a:r>
            <a:endParaRPr lang="en-US" sz="1680" dirty="0"/>
          </a:p>
        </p:txBody>
      </p:sp>
      <p:sp>
        <p:nvSpPr>
          <p:cNvPr id="18" name="Text 8"/>
          <p:cNvSpPr/>
          <p:nvPr/>
        </p:nvSpPr>
        <p:spPr>
          <a:xfrm>
            <a:off x="960120" y="394716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200" dirty="0"/>
          </a:p>
        </p:txBody>
      </p:sp>
      <p:sp>
        <p:nvSpPr>
          <p:cNvPr id="19" name="Text 9"/>
          <p:cNvSpPr/>
          <p:nvPr/>
        </p:nvSpPr>
        <p:spPr>
          <a:xfrm>
            <a:off x="1203960" y="3870960"/>
            <a:ext cx="3636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大小写字母、数字、特殊字符至少两种</a:t>
            </a:r>
            <a:endParaRPr lang="en-US" sz="1680" dirty="0"/>
          </a:p>
        </p:txBody>
      </p:sp>
      <p:sp>
        <p:nvSpPr>
          <p:cNvPr id="20" name="Text 10"/>
          <p:cNvSpPr/>
          <p:nvPr/>
        </p:nvSpPr>
        <p:spPr>
          <a:xfrm>
            <a:off x="960120" y="429768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200" dirty="0"/>
          </a:p>
        </p:txBody>
      </p:sp>
      <p:sp>
        <p:nvSpPr>
          <p:cNvPr id="21" name="Text 11"/>
          <p:cNvSpPr/>
          <p:nvPr/>
        </p:nvSpPr>
        <p:spPr>
          <a:xfrm>
            <a:off x="1203960" y="4221480"/>
            <a:ext cx="18379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密码有效期 ≤ 90天</a:t>
            </a:r>
            <a:endParaRPr lang="en-US" sz="1680" dirty="0"/>
          </a:p>
        </p:txBody>
      </p:sp>
      <p:sp>
        <p:nvSpPr>
          <p:cNvPr id="22" name="Text 12"/>
          <p:cNvSpPr/>
          <p:nvPr/>
        </p:nvSpPr>
        <p:spPr>
          <a:xfrm>
            <a:off x="960120" y="464820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1203960" y="4572000"/>
            <a:ext cx="19446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历史密码记录 ≥ 5个</a:t>
            </a:r>
            <a:endParaRPr lang="en-US" sz="168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7720" y="5013960"/>
            <a:ext cx="4907280" cy="13716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75360" y="5181600"/>
            <a:ext cx="45811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DC262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常见不合规情况：</a:t>
            </a:r>
            <a:endParaRPr lang="en-US" sz="1680" dirty="0"/>
          </a:p>
        </p:txBody>
      </p:sp>
      <p:sp>
        <p:nvSpPr>
          <p:cNvPr id="26" name="Text 15"/>
          <p:cNvSpPr/>
          <p:nvPr/>
        </p:nvSpPr>
        <p:spPr>
          <a:xfrm>
            <a:off x="975360" y="5593080"/>
            <a:ext cx="223418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未启用复杂度策略</a:t>
            </a:r>
            <a:endParaRPr lang="en-US" sz="1560" dirty="0"/>
          </a:p>
        </p:txBody>
      </p:sp>
      <p:sp>
        <p:nvSpPr>
          <p:cNvPr id="27" name="Text 16"/>
          <p:cNvSpPr/>
          <p:nvPr/>
        </p:nvSpPr>
        <p:spPr>
          <a:xfrm>
            <a:off x="3322320" y="5654040"/>
            <a:ext cx="223418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密码长度小于8位</a:t>
            </a:r>
            <a:endParaRPr lang="en-US" sz="1560" dirty="0"/>
          </a:p>
        </p:txBody>
      </p:sp>
      <p:sp>
        <p:nvSpPr>
          <p:cNvPr id="28" name="Text 17"/>
          <p:cNvSpPr/>
          <p:nvPr/>
        </p:nvSpPr>
        <p:spPr>
          <a:xfrm>
            <a:off x="975360" y="5958840"/>
            <a:ext cx="223418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允许使用空口令</a:t>
            </a:r>
            <a:endParaRPr lang="en-US" sz="1560" dirty="0"/>
          </a:p>
        </p:txBody>
      </p:sp>
      <p:sp>
        <p:nvSpPr>
          <p:cNvPr id="29" name="Text 18"/>
          <p:cNvSpPr/>
          <p:nvPr/>
        </p:nvSpPr>
        <p:spPr>
          <a:xfrm>
            <a:off x="3322320" y="5958840"/>
            <a:ext cx="223418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使用默认密码</a:t>
            </a:r>
            <a:endParaRPr lang="en-US" sz="1560" dirty="0"/>
          </a:p>
        </p:txBody>
      </p:sp>
      <p:pic>
        <p:nvPicPr>
          <p:cNvPr id="30" name="Image 9" descr="https://test.web.static.jianzeppt.com/ppt-temp-img3/e947323441c21df6d39b599136003830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1965960"/>
            <a:ext cx="15240" cy="4434840"/>
          </a:xfrm>
          <a:prstGeom prst="rect">
            <a:avLst/>
          </a:prstGeom>
        </p:spPr>
      </p:pic>
      <p:pic>
        <p:nvPicPr>
          <p:cNvPr id="31" name="Image 10" descr="https://test.web.static.jianzeppt.com/ppt-temp-img3/88533dbfa5cc43b76a27392163fa4cff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97880" y="1965960"/>
            <a:ext cx="15240" cy="4434840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880" y="1371600"/>
            <a:ext cx="5303520" cy="594360"/>
          </a:xfrm>
          <a:prstGeom prst="rect">
            <a:avLst/>
          </a:prstGeom>
        </p:spPr>
      </p:pic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2720" y="1524000"/>
            <a:ext cx="304800" cy="304800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6614160" y="15087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35" name="Text 20"/>
          <p:cNvSpPr/>
          <p:nvPr/>
        </p:nvSpPr>
        <p:spPr>
          <a:xfrm>
            <a:off x="6949440" y="1463040"/>
            <a:ext cx="22037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检查登录失败处理</a:t>
            </a:r>
            <a:endParaRPr lang="en-US" sz="2160" dirty="0"/>
          </a:p>
        </p:txBody>
      </p:sp>
      <p:pic>
        <p:nvPicPr>
          <p:cNvPr id="36" name="Image 13" descr="https://test.web.static.jianzeppt.com/ppt-temp-img3/48bdd0db23f8bdf33078f01dd911b294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8880" y="1965960"/>
            <a:ext cx="5303520" cy="4434840"/>
          </a:xfrm>
          <a:prstGeom prst="rect">
            <a:avLst/>
          </a:prstGeom>
        </p:spPr>
      </p:pic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148840"/>
            <a:ext cx="4907280" cy="822960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6675120" y="2286000"/>
            <a:ext cx="4520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# 华为设备</a:t>
            </a:r>
            <a:endParaRPr lang="en-US" sz="1440" dirty="0"/>
          </a:p>
        </p:txBody>
      </p:sp>
      <p:sp>
        <p:nvSpPr>
          <p:cNvPr id="39" name="Text 22"/>
          <p:cNvSpPr/>
          <p:nvPr/>
        </p:nvSpPr>
        <p:spPr>
          <a:xfrm>
            <a:off x="6675120" y="2590800"/>
            <a:ext cx="4520184" cy="243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143866"/>
                </a:solidFill>
              </a:rPr>
              <a:t>display login-block</a:t>
            </a:r>
            <a:endParaRPr lang="en-US" sz="1920" dirty="0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3169920"/>
            <a:ext cx="60960" cy="182880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6629400" y="3093720"/>
            <a:ext cx="116738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预期结果：</a:t>
            </a:r>
            <a:endParaRPr lang="en-US" sz="1800" dirty="0"/>
          </a:p>
        </p:txBody>
      </p:sp>
      <p:sp>
        <p:nvSpPr>
          <p:cNvPr id="42" name="Text 24"/>
          <p:cNvSpPr/>
          <p:nvPr/>
        </p:nvSpPr>
        <p:spPr>
          <a:xfrm>
            <a:off x="6629400" y="359664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200" dirty="0"/>
          </a:p>
        </p:txBody>
      </p:sp>
      <p:sp>
        <p:nvSpPr>
          <p:cNvPr id="43" name="Text 25"/>
          <p:cNvSpPr/>
          <p:nvPr/>
        </p:nvSpPr>
        <p:spPr>
          <a:xfrm>
            <a:off x="6873240" y="3520440"/>
            <a:ext cx="25847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连续失败 ≥ 5次后锁定账户</a:t>
            </a:r>
            <a:endParaRPr lang="en-US" sz="1680" dirty="0"/>
          </a:p>
        </p:txBody>
      </p:sp>
      <p:sp>
        <p:nvSpPr>
          <p:cNvPr id="44" name="Text 26"/>
          <p:cNvSpPr/>
          <p:nvPr/>
        </p:nvSpPr>
        <p:spPr>
          <a:xfrm>
            <a:off x="6629400" y="3977640"/>
            <a:ext cx="16154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200" dirty="0"/>
          </a:p>
        </p:txBody>
      </p:sp>
      <p:sp>
        <p:nvSpPr>
          <p:cNvPr id="45" name="Text 27"/>
          <p:cNvSpPr/>
          <p:nvPr/>
        </p:nvSpPr>
        <p:spPr>
          <a:xfrm>
            <a:off x="6873240" y="3901440"/>
            <a:ext cx="18379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锁定时间 ≥ 15分钟</a:t>
            </a:r>
            <a:endParaRPr lang="en-US" sz="1680" dirty="0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77000" y="4587240"/>
            <a:ext cx="4907280" cy="1615440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6644640" y="4754880"/>
            <a:ext cx="45811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DC2629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常见不合规情况：</a:t>
            </a:r>
            <a:endParaRPr lang="en-US" sz="1680" dirty="0"/>
          </a:p>
        </p:txBody>
      </p:sp>
      <p:sp>
        <p:nvSpPr>
          <p:cNvPr id="48" name="Text 29"/>
          <p:cNvSpPr/>
          <p:nvPr/>
        </p:nvSpPr>
        <p:spPr>
          <a:xfrm>
            <a:off x="6644640" y="5166360"/>
            <a:ext cx="458114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未启用登录失败锁定</a:t>
            </a:r>
            <a:endParaRPr lang="en-US" sz="1560" dirty="0"/>
          </a:p>
        </p:txBody>
      </p:sp>
      <p:sp>
        <p:nvSpPr>
          <p:cNvPr id="49" name="Text 30"/>
          <p:cNvSpPr/>
          <p:nvPr/>
        </p:nvSpPr>
        <p:spPr>
          <a:xfrm>
            <a:off x="6644640" y="5486400"/>
            <a:ext cx="458114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锁定阈值过高（如10次以上）</a:t>
            </a:r>
            <a:endParaRPr lang="en-US" sz="1560" dirty="0"/>
          </a:p>
        </p:txBody>
      </p:sp>
      <p:sp>
        <p:nvSpPr>
          <p:cNvPr id="50" name="Text 31"/>
          <p:cNvSpPr/>
          <p:nvPr/>
        </p:nvSpPr>
        <p:spPr>
          <a:xfrm>
            <a:off x="6644640" y="5791200"/>
            <a:ext cx="458114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991B1D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 锁定时间过短（如1分钟）</a:t>
            </a:r>
            <a:endParaRPr lang="en-US" sz="1560" dirty="0"/>
          </a:p>
        </p:txBody>
      </p:sp>
      <p:pic>
        <p:nvPicPr>
          <p:cNvPr id="51" name="Image 17" descr="https://test.web.static.jianzeppt.com/ppt-temp-img3/d675032bd237e699e929b8ef205fd72d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78880" y="1965960"/>
            <a:ext cx="15240" cy="4434840"/>
          </a:xfrm>
          <a:prstGeom prst="rect">
            <a:avLst/>
          </a:prstGeom>
        </p:spPr>
      </p:pic>
      <p:pic>
        <p:nvPicPr>
          <p:cNvPr id="52" name="Image 18" descr="https://test.web.static.jianzeppt.com/ppt-temp-img3/b12485d77f6899989d415dc8436402df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67160" y="1965960"/>
            <a:ext cx="1524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维度一实操演示：远程管理加密检查</a:t>
            </a:r>
            <a:endParaRPr lang="en-US" sz="2760" dirty="0"/>
          </a:p>
        </p:txBody>
      </p:sp>
      <p:pic>
        <p:nvPicPr>
          <p:cNvPr id="6" name="Image 3" descr="https://test.web.static.jianzeppt.com/ppt-temp-img3/d41d80505448503b6ef6192da35a05b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5562600" cy="25908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720" y="1615440"/>
            <a:ext cx="335280" cy="33528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914400" y="164592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440" dirty="0"/>
          </a:p>
        </p:txBody>
      </p:sp>
      <p:sp>
        <p:nvSpPr>
          <p:cNvPr id="9" name="Text 2"/>
          <p:cNvSpPr/>
          <p:nvPr/>
        </p:nvSpPr>
        <p:spPr>
          <a:xfrm>
            <a:off x="1234440" y="1569720"/>
            <a:ext cx="220370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检查远程管理方式</a:t>
            </a:r>
            <a:endParaRPr lang="en-US" sz="2160" dirty="0"/>
          </a:p>
        </p:txBody>
      </p:sp>
      <p:sp>
        <p:nvSpPr>
          <p:cNvPr id="10" name="Text 3"/>
          <p:cNvSpPr/>
          <p:nvPr/>
        </p:nvSpPr>
        <p:spPr>
          <a:xfrm>
            <a:off x="807720" y="2103120"/>
            <a:ext cx="5175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# 华为设备</a:t>
            </a:r>
            <a:endParaRPr lang="en-US" sz="168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720" y="2514600"/>
            <a:ext cx="5166360" cy="124968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99160" y="2606040"/>
            <a:ext cx="4992624" cy="2559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04FF00"/>
                </a:solidFill>
              </a:rPr>
              <a:t>display ssh status # 查SSH启用</a:t>
            </a:r>
            <a:endParaRPr lang="en-US" sz="1440" dirty="0"/>
          </a:p>
        </p:txBody>
      </p:sp>
      <p:sp>
        <p:nvSpPr>
          <p:cNvPr id="13" name="Text 5"/>
          <p:cNvSpPr/>
          <p:nvPr/>
        </p:nvSpPr>
        <p:spPr>
          <a:xfrm>
            <a:off x="899160" y="2926080"/>
            <a:ext cx="4992624" cy="2559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dirty="0">
                <a:solidFill>
                  <a:srgbClr val="04FF00"/>
                </a:solidFill>
              </a:rPr>
              <a:t>display telnet status # 查Telnet</a:t>
            </a:r>
            <a:endParaRPr lang="en-US" sz="144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416040" y="1371600"/>
          <a:ext cx="5166360" cy="2590800"/>
        </p:xfrm>
        <a:graphic>
          <a:graphicData uri="http://schemas.openxmlformats.org/drawingml/2006/table">
            <a:tbl>
              <a:tblPr/>
              <a:tblGrid>
                <a:gridCol w="1452083"/>
                <a:gridCol w="1650790"/>
                <a:gridCol w="2063487"/>
              </a:tblGrid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管理方式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状态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安全性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SSH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加密，安全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Telnet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不符合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明文，易截获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HTTP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不符合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明文传输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HTTPS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符合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加密，安全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5" name="Image 6" descr="https://test.web.static.jianzeppt.com/ppt-temp-img3/2d1f53aeab2c733c15245bd56034155f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206240"/>
            <a:ext cx="5364480" cy="204216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792480" y="43891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检查思路</a:t>
            </a:r>
            <a:endParaRPr lang="en-US" sz="2160" dirty="0"/>
          </a:p>
        </p:txBody>
      </p:sp>
      <p:pic>
        <p:nvPicPr>
          <p:cNvPr id="17" name="Image 7" descr="https://test.web.static.jianzeppt.com/ppt-temp-img3/1a389c6838b9eb3ee7c7c09890c9e166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480" y="4876800"/>
            <a:ext cx="4998720" cy="1524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1036320" y="5013960"/>
            <a:ext cx="4764024" cy="6824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13360" indent="-213360">
              <a:lnSpc>
                <a:spcPct val="160000"/>
              </a:lnSpc>
              <a:buSzPct val="100000"/>
              <a:buChar char="•"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查设备是否启用了SSH而非Telnet</a:t>
            </a:r>
            <a:endParaRPr lang="en-US" sz="1680" dirty="0"/>
          </a:p>
          <a:p>
            <a:pPr marL="213360" indent="-213360">
              <a:lnSpc>
                <a:spcPct val="160000"/>
              </a:lnSpc>
              <a:buSzPct val="100000"/>
              <a:buChar char="•"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Web管理是否使用HTTPS而非HTTP</a:t>
            </a:r>
            <a:endParaRPr lang="en-US" sz="1680" dirty="0"/>
          </a:p>
        </p:txBody>
      </p:sp>
      <p:pic>
        <p:nvPicPr>
          <p:cNvPr id="19" name="Image 8" descr="https://test.web.static.jianzeppt.com/ppt-temp-img3/2d1f53aeab2c733c15245bd56034155f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4206240"/>
            <a:ext cx="5364480" cy="204216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6400800" y="4389120"/>
            <a:ext cx="13807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常见不合规</a:t>
            </a:r>
            <a:endParaRPr lang="en-US" sz="2160" dirty="0"/>
          </a:p>
        </p:txBody>
      </p:sp>
      <p:pic>
        <p:nvPicPr>
          <p:cNvPr id="21" name="Image 9" descr="https://test.web.static.jianzeppt.com/ppt-temp-img3/1a389c6838b9eb3ee7c7c09890c9e166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876800"/>
            <a:ext cx="4998720" cy="1524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6400800" y="4998720"/>
            <a:ext cx="3063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E7493C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80" dirty="0"/>
          </a:p>
        </p:txBody>
      </p:sp>
      <p:sp>
        <p:nvSpPr>
          <p:cNvPr id="23" name="Text 10"/>
          <p:cNvSpPr/>
          <p:nvPr/>
        </p:nvSpPr>
        <p:spPr>
          <a:xfrm>
            <a:off x="6705600" y="4998720"/>
            <a:ext cx="14874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启用Telnet服务</a:t>
            </a:r>
            <a:endParaRPr lang="en-US" sz="1680" dirty="0"/>
          </a:p>
        </p:txBody>
      </p:sp>
      <p:sp>
        <p:nvSpPr>
          <p:cNvPr id="24" name="Text 11"/>
          <p:cNvSpPr/>
          <p:nvPr/>
        </p:nvSpPr>
        <p:spPr>
          <a:xfrm>
            <a:off x="6400800" y="5379720"/>
            <a:ext cx="3063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E7493C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80" dirty="0"/>
          </a:p>
        </p:txBody>
      </p:sp>
      <p:sp>
        <p:nvSpPr>
          <p:cNvPr id="25" name="Text 12"/>
          <p:cNvSpPr/>
          <p:nvPr/>
        </p:nvSpPr>
        <p:spPr>
          <a:xfrm>
            <a:off x="6705600" y="5379720"/>
            <a:ext cx="162458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管理界面用HTTP</a:t>
            </a:r>
            <a:endParaRPr lang="en-US" sz="1680" dirty="0"/>
          </a:p>
        </p:txBody>
      </p:sp>
      <p:sp>
        <p:nvSpPr>
          <p:cNvPr id="26" name="Text 13"/>
          <p:cNvSpPr/>
          <p:nvPr/>
        </p:nvSpPr>
        <p:spPr>
          <a:xfrm>
            <a:off x="6400800" y="5775960"/>
            <a:ext cx="3063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E7493C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80" dirty="0"/>
          </a:p>
        </p:txBody>
      </p:sp>
      <p:sp>
        <p:nvSpPr>
          <p:cNvPr id="27" name="Text 14"/>
          <p:cNvSpPr/>
          <p:nvPr/>
        </p:nvSpPr>
        <p:spPr>
          <a:xfrm>
            <a:off x="6705600" y="5775960"/>
            <a:ext cx="18684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SSH版本低(应用v2)</a:t>
            </a:r>
            <a:endParaRPr lang="en-US" sz="1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维度一实操演示：双因素鉴别（三级要求）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138684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14400" y="1510030"/>
            <a:ext cx="10433304" cy="1002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第三级要求：</a:t>
            </a:r>
            <a:r>
              <a:rPr lang="en-US" sz="20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“应采用口令、密码技术、生物技术等两种或两种以上组合的鉴别技术对用户进行身份鉴别，且其中一种鉴别技术至少应使用密码技术来实现。”</a:t>
            </a:r>
            <a:endParaRPr lang="en-US" sz="20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4983480"/>
            <a:ext cx="91440" cy="2438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22960" y="4876800"/>
            <a:ext cx="15331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检查方法：</a:t>
            </a:r>
            <a:endParaRPr lang="en-US" sz="24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440" y="5608320"/>
            <a:ext cx="91440" cy="9144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066800" y="5455920"/>
            <a:ext cx="372770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查看设备是否启用了RSA/证书认证</a:t>
            </a:r>
            <a:endParaRPr lang="en-US" sz="18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440" y="6065520"/>
            <a:ext cx="91440" cy="9144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066800" y="5913120"/>
            <a:ext cx="7400544" cy="3152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查看是否集成了AAA/RADIUS/TACACS+服务器，并配置了双因素认证</a:t>
            </a:r>
            <a:endParaRPr lang="en-US" sz="1800" dirty="0"/>
          </a:p>
        </p:txBody>
      </p:sp>
      <p:pic>
        <p:nvPicPr>
          <p:cNvPr id="14" name="Image 7" descr="https://test.web.static.jianzeppt.com/ppt-temp-img3/dc28417ca53180cfaa163d0029c32fdc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002280"/>
            <a:ext cx="10972800" cy="1599565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900524" y="3017520"/>
          <a:ext cx="10390952" cy="1418264"/>
        </p:xfrm>
        <a:graphic>
          <a:graphicData uri="http://schemas.openxmlformats.org/drawingml/2006/table">
            <a:tbl>
              <a:tblPr/>
              <a:tblGrid>
                <a:gridCol w="3999864"/>
                <a:gridCol w="6391087"/>
              </a:tblGrid>
              <a:tr h="354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常见实现方式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检查方法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口令+USBKey/数字证书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密码+物理Key，查看是否启用证书认证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口令+动态令牌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密码+OTP动态码，查看是否启用动态口令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5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口令+指纹/人脸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密码+生物识别，查看生物识别配置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6832" marR="86832" marT="86832" marB="86832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维度二：访问控制（8.1.4.2）——核心指标</a:t>
            </a:r>
            <a:endParaRPr lang="en-US" sz="2760" dirty="0"/>
          </a:p>
        </p:txBody>
      </p:sp>
      <p:pic>
        <p:nvPicPr>
          <p:cNvPr id="6" name="Image 3" descr="https://test.web.static.jianzeppt.com/ppt-temp-img3/053173ba6964fa57d7836ee324f71ae6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4785360" cy="48768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1645920"/>
            <a:ext cx="365760" cy="3657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960120" y="170688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9" name="Text 2"/>
          <p:cNvSpPr/>
          <p:nvPr/>
        </p:nvSpPr>
        <p:spPr>
          <a:xfrm>
            <a:off x="1341120" y="1584960"/>
            <a:ext cx="38191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账户与权限分配：</a:t>
            </a: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应对登录的用户分配账户和权限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2438400"/>
            <a:ext cx="365760" cy="36576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960120" y="2499360"/>
            <a:ext cx="17678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2" name="Text 4"/>
          <p:cNvSpPr/>
          <p:nvPr/>
        </p:nvSpPr>
        <p:spPr>
          <a:xfrm>
            <a:off x="1341120" y="2377440"/>
            <a:ext cx="38191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默认账户管理：</a:t>
            </a: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应重命名或删除默认账户，修改默认口令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3230880"/>
            <a:ext cx="365760" cy="36576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975360" y="3291840"/>
            <a:ext cx="14630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Text 6"/>
          <p:cNvSpPr/>
          <p:nvPr/>
        </p:nvSpPr>
        <p:spPr>
          <a:xfrm>
            <a:off x="1341120" y="3169920"/>
            <a:ext cx="38191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账户清理：</a:t>
            </a: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及时删除或停用多余、过期的账户，避免共享账户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4023360"/>
            <a:ext cx="365760" cy="36576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60120" y="4084320"/>
            <a:ext cx="17678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8" name="Text 8"/>
          <p:cNvSpPr/>
          <p:nvPr/>
        </p:nvSpPr>
        <p:spPr>
          <a:xfrm>
            <a:off x="1341120" y="3962400"/>
            <a:ext cx="38191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最小权限：</a:t>
            </a: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授予管理用户所需的最小权限，实现权限分离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4815840"/>
            <a:ext cx="365760" cy="36576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960120" y="4876800"/>
            <a:ext cx="16154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1" name="Text 10"/>
          <p:cNvSpPr/>
          <p:nvPr/>
        </p:nvSpPr>
        <p:spPr>
          <a:xfrm>
            <a:off x="1341120" y="4754880"/>
            <a:ext cx="38191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授权主体：</a:t>
            </a: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应由授权主体配置访问控制策略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5608320"/>
            <a:ext cx="365760" cy="36576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990600" y="5669280"/>
            <a:ext cx="115824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f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4" name="Text 12"/>
          <p:cNvSpPr/>
          <p:nvPr/>
        </p:nvSpPr>
        <p:spPr>
          <a:xfrm>
            <a:off x="1341120" y="5547360"/>
            <a:ext cx="381914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访问粒度：</a:t>
            </a: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粒度应达到主体为用户级或进程级，客体为文件、数据库表级（三级）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5" name="Image 10" descr="https://test.web.static.jianzeppt.com/ppt-temp-img3/cd93c18d1097006a69d3bcd195c3a11d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480" y="1371600"/>
            <a:ext cx="5836920" cy="4876800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9320" y="1691640"/>
            <a:ext cx="304800" cy="30480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6416040" y="1615440"/>
            <a:ext cx="432206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实操检查方法：1. 检查账户管理</a:t>
            </a:r>
            <a:endParaRPr lang="en-US" sz="2400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89320" y="2194560"/>
            <a:ext cx="5349240" cy="1173480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6172200" y="2377440"/>
            <a:ext cx="49926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E0E0E0"/>
                </a:solidFill>
              </a:rPr>
              <a:t># 华为设备</a:t>
            </a:r>
            <a:endParaRPr lang="en-US" sz="1680" dirty="0"/>
          </a:p>
        </p:txBody>
      </p:sp>
      <p:sp>
        <p:nvSpPr>
          <p:cNvPr id="30" name="Text 15"/>
          <p:cNvSpPr/>
          <p:nvPr/>
        </p:nvSpPr>
        <p:spPr>
          <a:xfrm>
            <a:off x="6172200" y="2651760"/>
            <a:ext cx="4992624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E0E0E0"/>
                </a:solidFill>
              </a:rPr>
              <a:t>display local-user</a:t>
            </a:r>
            <a:r>
              <a:rPr lang="en-US" sz="1680" dirty="0">
                <a:solidFill>
                  <a:srgbClr val="888888"/>
                </a:solidFill>
              </a:rPr>
              <a:t># 查看本地用户列表</a:t>
            </a:r>
            <a:endParaRPr lang="en-US" sz="1680" dirty="0"/>
          </a:p>
        </p:txBody>
      </p:sp>
      <p:sp>
        <p:nvSpPr>
          <p:cNvPr id="31" name="Text 16"/>
          <p:cNvSpPr/>
          <p:nvPr/>
        </p:nvSpPr>
        <p:spPr>
          <a:xfrm>
            <a:off x="6172200" y="2910840"/>
            <a:ext cx="4992624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E0E0E0"/>
                </a:solidFill>
              </a:rPr>
              <a:t>display aaa user</a:t>
            </a:r>
            <a:r>
              <a:rPr lang="en-US" sz="1680" dirty="0">
                <a:solidFill>
                  <a:srgbClr val="888888"/>
                </a:solidFill>
              </a:rPr>
              <a:t># 查看AAA用户</a:t>
            </a:r>
            <a:endParaRPr lang="en-US" sz="1680" dirty="0"/>
          </a:p>
        </p:txBody>
      </p:sp>
      <p:sp>
        <p:nvSpPr>
          <p:cNvPr id="32" name="Text 17"/>
          <p:cNvSpPr/>
          <p:nvPr/>
        </p:nvSpPr>
        <p:spPr>
          <a:xfrm>
            <a:off x="5989320" y="3550920"/>
            <a:ext cx="91948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检查要点</a:t>
            </a:r>
            <a:endParaRPr lang="en-US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92368" y="3864102"/>
            <a:ext cx="2551328" cy="3048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233160" y="4053840"/>
            <a:ext cx="2325624" cy="22155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13360" indent="-21336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是否删除默认用户（如admin、root等）</a:t>
            </a:r>
            <a:endParaRPr lang="en-US" sz="1600" dirty="0"/>
          </a:p>
          <a:p>
            <a:pPr marL="213360" indent="-21336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是否存在无用账户</a:t>
            </a:r>
            <a:endParaRPr lang="en-US" sz="1600" dirty="0"/>
          </a:p>
          <a:p>
            <a:pPr marL="213360" indent="-21336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是否修改了默认账户密码</a:t>
            </a:r>
            <a:endParaRPr lang="en-US" sz="1600" dirty="0"/>
          </a:p>
          <a:p>
            <a:pPr marL="213360" indent="-21336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是否一人一账户（避免共享账户）</a:t>
            </a:r>
            <a:endParaRPr lang="en-US" sz="1600" dirty="0"/>
          </a:p>
          <a:p>
            <a:pPr marL="213360" indent="-21336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管理员账户是否合理分配权限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8793480" y="3550920"/>
            <a:ext cx="160909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D32F32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常见不合规情况</a:t>
            </a:r>
            <a:endParaRPr lang="en-US" b="1" dirty="0">
              <a:solidFill>
                <a:srgbClr val="D32F32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787536" y="3891991"/>
            <a:ext cx="2551024" cy="30480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8793480" y="4069080"/>
            <a:ext cx="2032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32F3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00" dirty="0">
              <a:solidFill>
                <a:srgbClr val="D32F32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9067800" y="3998278"/>
            <a:ext cx="2142744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设备仍存在默认账户且未修改口令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39" name="Text 22"/>
          <p:cNvSpPr/>
          <p:nvPr/>
        </p:nvSpPr>
        <p:spPr>
          <a:xfrm>
            <a:off x="8793480" y="4733925"/>
            <a:ext cx="2032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32F3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00" dirty="0">
              <a:solidFill>
                <a:srgbClr val="D32F32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40" name="Text 23"/>
          <p:cNvSpPr/>
          <p:nvPr/>
        </p:nvSpPr>
        <p:spPr>
          <a:xfrm>
            <a:off x="9067800" y="4614863"/>
            <a:ext cx="2142744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多人共用同一个管理账户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8793480" y="5253990"/>
            <a:ext cx="2032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32F3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00" dirty="0">
              <a:solidFill>
                <a:srgbClr val="D32F32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9067800" y="5146993"/>
            <a:ext cx="2142744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存在长时间未登录的闲置账户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8793480" y="5761990"/>
            <a:ext cx="2032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32F32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❌</a:t>
            </a:r>
            <a:endParaRPr lang="en-US" sz="1600" dirty="0">
              <a:solidFill>
                <a:srgbClr val="D32F32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44" name="Text 27"/>
          <p:cNvSpPr/>
          <p:nvPr/>
        </p:nvSpPr>
        <p:spPr>
          <a:xfrm>
            <a:off x="9067800" y="5654993"/>
            <a:ext cx="2356104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所有管理员使用同一权限级别（缺少权限分离）</a:t>
            </a:r>
            <a:endParaRPr lang="en-US" sz="1600" dirty="0">
              <a:solidFill>
                <a:srgbClr val="143866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维度二：访问控制——管理权限分离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573938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权限分离要求（三级）：</a:t>
            </a:r>
            <a:endParaRPr lang="en-US" sz="2400" dirty="0"/>
          </a:p>
        </p:txBody>
      </p:sp>
      <p:pic>
        <p:nvPicPr>
          <p:cNvPr id="7" name="Image 3" descr="https://test.web.static.jianzeppt.com/ppt-temp-img3/23ef8b5f60090186d43bbd4d3ebcbf8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1371600"/>
            <a:ext cx="4876800" cy="330708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4680" y="1691640"/>
            <a:ext cx="304800" cy="3048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7391400" y="163068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检查方法</a:t>
            </a:r>
            <a:endParaRPr lang="en-US" sz="216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4680" y="2316480"/>
            <a:ext cx="91440" cy="9144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7178040" y="2225040"/>
            <a:ext cx="34229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查看设备是否配置了多级管理员权限</a:t>
            </a:r>
            <a:endParaRPr lang="en-US" sz="168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4680" y="2788920"/>
            <a:ext cx="91440" cy="9144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7178040" y="2697480"/>
            <a:ext cx="25694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查看每个管理员的权限级别</a:t>
            </a:r>
            <a:endParaRPr lang="en-US" sz="168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4680" y="3261360"/>
            <a:ext cx="91440" cy="9144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7178040" y="3169920"/>
            <a:ext cx="27828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验证是否实现了“三权分立”</a:t>
            </a:r>
            <a:endParaRPr lang="en-US" sz="1680" dirty="0"/>
          </a:p>
        </p:txBody>
      </p:sp>
      <p:pic>
        <p:nvPicPr>
          <p:cNvPr id="16" name="Image 8" descr="https://test.web.static.jianzeppt.com/ppt-temp-img3/03f397be830af088405ae6e1ced3f890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5600" y="4922520"/>
            <a:ext cx="4876800" cy="132588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6964680" y="5181600"/>
            <a:ext cx="43677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检查思路</a:t>
            </a:r>
            <a:endParaRPr lang="en-US" sz="1920" dirty="0"/>
          </a:p>
        </p:txBody>
      </p:sp>
      <p:sp>
        <p:nvSpPr>
          <p:cNvPr id="18" name="Text 7"/>
          <p:cNvSpPr/>
          <p:nvPr/>
        </p:nvSpPr>
        <p:spPr>
          <a:xfrm>
            <a:off x="6964680" y="5669280"/>
            <a:ext cx="43677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444444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不应所有管理员都使用“超级管理员”权限</a:t>
            </a:r>
            <a:endParaRPr lang="en-US" sz="168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0">
            <a:alphaModFix amt="2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8200" y="2438400"/>
            <a:ext cx="30480" cy="3444240"/>
          </a:xfrm>
          <a:prstGeom prst="rect">
            <a:avLst/>
          </a:prstGeom>
        </p:spPr>
      </p:pic>
      <p:pic>
        <p:nvPicPr>
          <p:cNvPr id="20" name="Image 10" descr="https://test.web.static.jianzeppt.com/ppt-temp-img3/6372aefa1f43eea5474260bedea14275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0160" y="2194560"/>
            <a:ext cx="5059680" cy="117348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1478280" y="2392680"/>
            <a:ext cx="46725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系统管理员</a:t>
            </a:r>
            <a:endParaRPr lang="en-US" sz="2160" dirty="0"/>
          </a:p>
        </p:txBody>
      </p:sp>
      <p:sp>
        <p:nvSpPr>
          <p:cNvPr id="22" name="Text 9"/>
          <p:cNvSpPr/>
          <p:nvPr/>
        </p:nvSpPr>
        <p:spPr>
          <a:xfrm>
            <a:off x="1478280" y="2865120"/>
            <a:ext cx="46725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系统配置、资源管理，设备配置、策略修改</a:t>
            </a:r>
            <a:endParaRPr lang="en-US" sz="168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520" y="2286000"/>
            <a:ext cx="243840" cy="243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4" name="Image 12" descr="https://test.web.static.jianzeppt.com/ppt-temp-img3/6372aefa1f43eea5474260bedea14275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0160" y="3581400"/>
            <a:ext cx="5059680" cy="1173480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1478280" y="3779520"/>
            <a:ext cx="46725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安全管理员</a:t>
            </a:r>
            <a:endParaRPr lang="en-US" sz="2160" dirty="0"/>
          </a:p>
        </p:txBody>
      </p:sp>
      <p:sp>
        <p:nvSpPr>
          <p:cNvPr id="26" name="Text 11"/>
          <p:cNvSpPr/>
          <p:nvPr/>
        </p:nvSpPr>
        <p:spPr>
          <a:xfrm>
            <a:off x="1478280" y="4251960"/>
            <a:ext cx="46725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安全策略配置，安全策略、审计策略配置</a:t>
            </a:r>
            <a:endParaRPr lang="en-US" sz="1680" dirty="0"/>
          </a:p>
        </p:txBody>
      </p:sp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520" y="3672840"/>
            <a:ext cx="243840" cy="243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8" name="Image 14" descr="https://test.web.static.jianzeppt.com/ppt-temp-img3/6372aefa1f43eea5474260bedea14275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0160" y="4953000"/>
            <a:ext cx="5059680" cy="117348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1478280" y="5151120"/>
            <a:ext cx="46725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审计管理员</a:t>
            </a:r>
            <a:endParaRPr lang="en-US" sz="2160" dirty="0"/>
          </a:p>
        </p:txBody>
      </p:sp>
      <p:sp>
        <p:nvSpPr>
          <p:cNvPr id="30" name="Text 13"/>
          <p:cNvSpPr/>
          <p:nvPr/>
        </p:nvSpPr>
        <p:spPr>
          <a:xfrm>
            <a:off x="1478280" y="5623560"/>
            <a:ext cx="46725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审计日志查看与管理，仅审计日志查看、导出</a:t>
            </a:r>
            <a:endParaRPr lang="en-US" sz="1680" dirty="0"/>
          </a:p>
        </p:txBody>
      </p:sp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1520" y="5044440"/>
            <a:ext cx="243840" cy="2438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维度三：安全审计（8.1.4.3）</a:t>
            </a:r>
            <a:endParaRPr lang="en-US" sz="2760" dirty="0"/>
          </a:p>
        </p:txBody>
      </p:sp>
      <p:pic>
        <p:nvPicPr>
          <p:cNvPr id="6" name="Image 3" descr="https://test.web.static.jianzeppt.com/ppt-temp-img3/2994d9b6e88878002323020e86fc2422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4251960" cy="48768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1676400"/>
            <a:ext cx="365760" cy="36576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356360" y="1676400"/>
            <a:ext cx="244754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43866"/>
                </a:solidFill>
              </a:rPr>
              <a:t>安全审计核心要求</a:t>
            </a:r>
            <a:endParaRPr lang="en-US" sz="2400" dirty="0"/>
          </a:p>
        </p:txBody>
      </p:sp>
      <p:pic>
        <p:nvPicPr>
          <p:cNvPr id="9" name="Image 5" descr="https://test.web.static.jianzeppt.com/ppt-temp-img3/893566a80c4529781a8ef369efeca2f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2362200"/>
            <a:ext cx="426720" cy="3810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960120" y="2423160"/>
            <a:ext cx="2529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</a:rPr>
              <a:t>a)</a:t>
            </a:r>
            <a:endParaRPr lang="en-US" sz="1680" dirty="0"/>
          </a:p>
        </p:txBody>
      </p:sp>
      <p:sp>
        <p:nvSpPr>
          <p:cNvPr id="11" name="Text 3"/>
          <p:cNvSpPr/>
          <p:nvPr/>
        </p:nvSpPr>
        <p:spPr>
          <a:xfrm>
            <a:off x="1417320" y="2331720"/>
            <a:ext cx="3194304" cy="9458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1F2937"/>
                </a:solidFill>
              </a:rPr>
              <a:t>审计功能启用：覆盖每个用户，对重要行为和安全事件审计</a:t>
            </a:r>
            <a:endParaRPr lang="en-US" sz="1800" dirty="0"/>
          </a:p>
        </p:txBody>
      </p:sp>
      <p:pic>
        <p:nvPicPr>
          <p:cNvPr id="12" name="Image 6" descr="https://test.web.static.jianzeppt.com/ppt-temp-img3/787ef5d4480b5407e6fc8bf4045ce97c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3550920"/>
            <a:ext cx="441960" cy="38100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960120" y="361188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</a:rPr>
              <a:t>b)</a:t>
            </a:r>
            <a:endParaRPr lang="en-US" sz="1680" dirty="0"/>
          </a:p>
        </p:txBody>
      </p:sp>
      <p:sp>
        <p:nvSpPr>
          <p:cNvPr id="14" name="Text 5"/>
          <p:cNvSpPr/>
          <p:nvPr/>
        </p:nvSpPr>
        <p:spPr>
          <a:xfrm>
            <a:off x="1417320" y="3520440"/>
            <a:ext cx="317906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1F2937"/>
                </a:solidFill>
              </a:rPr>
              <a:t>审计记录内容：包括日期/时间、用户、事件类型及结果</a:t>
            </a:r>
            <a:endParaRPr lang="en-US" sz="1800" dirty="0"/>
          </a:p>
        </p:txBody>
      </p:sp>
      <p:pic>
        <p:nvPicPr>
          <p:cNvPr id="15" name="Image 7" descr="https://test.web.static.jianzeppt.com/ppt-temp-img3/ca3765e27ed04ee7e5b179506d7fcaa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4404360"/>
            <a:ext cx="411480" cy="38100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960120" y="4465320"/>
            <a:ext cx="2377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</a:rPr>
              <a:t>c)</a:t>
            </a:r>
            <a:endParaRPr lang="en-US" sz="1680" dirty="0"/>
          </a:p>
        </p:txBody>
      </p:sp>
      <p:sp>
        <p:nvSpPr>
          <p:cNvPr id="17" name="Text 7"/>
          <p:cNvSpPr/>
          <p:nvPr/>
        </p:nvSpPr>
        <p:spPr>
          <a:xfrm>
            <a:off x="1402080" y="4373880"/>
            <a:ext cx="320954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1F2937"/>
                </a:solidFill>
              </a:rPr>
              <a:t>审计记录保护：定期备份，防未预期删除/修改</a:t>
            </a:r>
            <a:endParaRPr lang="en-US" sz="1800" dirty="0"/>
          </a:p>
        </p:txBody>
      </p:sp>
      <p:pic>
        <p:nvPicPr>
          <p:cNvPr id="18" name="Image 8" descr="https://test.web.static.jianzeppt.com/ppt-temp-img3/787ef5d4480b5407e6fc8bf4045ce97c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257800"/>
            <a:ext cx="441960" cy="3810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960120" y="531876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</a:rPr>
              <a:t>d)</a:t>
            </a:r>
            <a:endParaRPr lang="en-US" sz="1680" dirty="0"/>
          </a:p>
        </p:txBody>
      </p:sp>
      <p:sp>
        <p:nvSpPr>
          <p:cNvPr id="20" name="Text 9"/>
          <p:cNvSpPr/>
          <p:nvPr/>
        </p:nvSpPr>
        <p:spPr>
          <a:xfrm>
            <a:off x="1417320" y="5227320"/>
            <a:ext cx="317906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1F2937"/>
                </a:solidFill>
              </a:rPr>
              <a:t>审计进程保护：防未经授权中断（三级）</a:t>
            </a:r>
            <a:endParaRPr lang="en-US" sz="18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12080" y="1371600"/>
            <a:ext cx="6370320" cy="1981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10200" y="1630680"/>
            <a:ext cx="304800" cy="30480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5836920" y="1615440"/>
            <a:ext cx="255422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E5E7EB"/>
                </a:solidFill>
              </a:rPr>
              <a:t>实操检查 (华为设备)</a:t>
            </a:r>
            <a:endParaRPr lang="en-US" sz="2160" dirty="0"/>
          </a:p>
        </p:txBody>
      </p:sp>
      <p:sp>
        <p:nvSpPr>
          <p:cNvPr id="24" name="Text 11"/>
          <p:cNvSpPr/>
          <p:nvPr/>
        </p:nvSpPr>
        <p:spPr>
          <a:xfrm>
            <a:off x="5471160" y="2148840"/>
            <a:ext cx="5922264" cy="3476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80" dirty="0">
                <a:solidFill>
                  <a:srgbClr val="4ADE7E"/>
                </a:solidFill>
              </a:rPr>
              <a:t>display logbuffer</a:t>
            </a:r>
            <a:r>
              <a:rPr lang="en-US" sz="1680" dirty="0">
                <a:solidFill>
                  <a:srgbClr val="9CA3AF"/>
                </a:solidFill>
              </a:rPr>
              <a:t># 查看日志缓存</a:t>
            </a:r>
            <a:endParaRPr lang="en-US" sz="1680" dirty="0"/>
          </a:p>
        </p:txBody>
      </p:sp>
      <p:sp>
        <p:nvSpPr>
          <p:cNvPr id="25" name="Text 12"/>
          <p:cNvSpPr/>
          <p:nvPr/>
        </p:nvSpPr>
        <p:spPr>
          <a:xfrm>
            <a:off x="5471160" y="2499360"/>
            <a:ext cx="5922264" cy="3476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80" dirty="0">
                <a:solidFill>
                  <a:srgbClr val="4ADE7E"/>
                </a:solidFill>
              </a:rPr>
              <a:t>display logfile</a:t>
            </a:r>
            <a:r>
              <a:rPr lang="en-US" sz="1680" dirty="0">
                <a:solidFill>
                  <a:srgbClr val="9CA3AF"/>
                </a:solidFill>
              </a:rPr>
              <a:t># 查看日志文件</a:t>
            </a:r>
            <a:endParaRPr lang="en-US" sz="1680" dirty="0"/>
          </a:p>
        </p:txBody>
      </p:sp>
      <p:sp>
        <p:nvSpPr>
          <p:cNvPr id="26" name="Text 13"/>
          <p:cNvSpPr/>
          <p:nvPr/>
        </p:nvSpPr>
        <p:spPr>
          <a:xfrm>
            <a:off x="5471160" y="2849880"/>
            <a:ext cx="5922264" cy="3476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80" dirty="0">
                <a:solidFill>
                  <a:srgbClr val="4ADE7E"/>
                </a:solidFill>
              </a:rPr>
              <a:t>display info-center</a:t>
            </a:r>
            <a:r>
              <a:rPr lang="en-US" sz="1680" dirty="0">
                <a:solidFill>
                  <a:srgbClr val="9CA3AF"/>
                </a:solidFill>
              </a:rPr>
              <a:t># 查看信息中心配置</a:t>
            </a:r>
            <a:endParaRPr lang="en-US" sz="168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12080" y="3520440"/>
            <a:ext cx="3093720" cy="27279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8" name="Text 14"/>
          <p:cNvSpPr/>
          <p:nvPr/>
        </p:nvSpPr>
        <p:spPr>
          <a:xfrm>
            <a:off x="5410200" y="376428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</a:rPr>
              <a:t>检查要点</a:t>
            </a:r>
            <a:endParaRPr lang="en-US" sz="2160" dirty="0"/>
          </a:p>
        </p:txBody>
      </p:sp>
      <p:sp>
        <p:nvSpPr>
          <p:cNvPr id="29" name="Text 15"/>
          <p:cNvSpPr/>
          <p:nvPr/>
        </p:nvSpPr>
        <p:spPr>
          <a:xfrm>
            <a:off x="5410200" y="438912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</a:rPr>
              <a:t>●</a:t>
            </a:r>
            <a:endParaRPr lang="en-US" sz="1200" dirty="0"/>
          </a:p>
        </p:txBody>
      </p:sp>
      <p:sp>
        <p:nvSpPr>
          <p:cNvPr id="30" name="Text 16"/>
          <p:cNvSpPr/>
          <p:nvPr/>
        </p:nvSpPr>
        <p:spPr>
          <a:xfrm>
            <a:off x="5638800" y="4328160"/>
            <a:ext cx="19293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</a:rPr>
              <a:t>已启用日志记录功能</a:t>
            </a:r>
            <a:endParaRPr lang="en-US" sz="1680" dirty="0"/>
          </a:p>
        </p:txBody>
      </p:sp>
      <p:sp>
        <p:nvSpPr>
          <p:cNvPr id="31" name="Text 17"/>
          <p:cNvSpPr/>
          <p:nvPr/>
        </p:nvSpPr>
        <p:spPr>
          <a:xfrm>
            <a:off x="5410200" y="472440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</a:rPr>
              <a:t>●</a:t>
            </a:r>
            <a:endParaRPr lang="en-US" sz="1200" dirty="0"/>
          </a:p>
        </p:txBody>
      </p:sp>
      <p:sp>
        <p:nvSpPr>
          <p:cNvPr id="32" name="Text 18"/>
          <p:cNvSpPr/>
          <p:nvPr/>
        </p:nvSpPr>
        <p:spPr>
          <a:xfrm>
            <a:off x="5638800" y="4663440"/>
            <a:ext cx="243230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</a:rPr>
              <a:t>包含时间、用户、事件等完整要素</a:t>
            </a:r>
            <a:endParaRPr lang="en-US" sz="1680" dirty="0"/>
          </a:p>
        </p:txBody>
      </p:sp>
      <p:sp>
        <p:nvSpPr>
          <p:cNvPr id="33" name="Text 19"/>
          <p:cNvSpPr/>
          <p:nvPr/>
        </p:nvSpPr>
        <p:spPr>
          <a:xfrm>
            <a:off x="5410200" y="525780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</a:rPr>
              <a:t>●</a:t>
            </a:r>
            <a:endParaRPr lang="en-US" sz="1200" dirty="0"/>
          </a:p>
        </p:txBody>
      </p:sp>
      <p:sp>
        <p:nvSpPr>
          <p:cNvPr id="34" name="Text 20"/>
          <p:cNvSpPr/>
          <p:nvPr/>
        </p:nvSpPr>
        <p:spPr>
          <a:xfrm>
            <a:off x="5638800" y="5196840"/>
            <a:ext cx="18531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</a:rPr>
              <a:t>日志保存至少6个月</a:t>
            </a:r>
            <a:endParaRPr lang="en-US" sz="1680" dirty="0"/>
          </a:p>
        </p:txBody>
      </p:sp>
      <p:sp>
        <p:nvSpPr>
          <p:cNvPr id="35" name="Text 21"/>
          <p:cNvSpPr/>
          <p:nvPr/>
        </p:nvSpPr>
        <p:spPr>
          <a:xfrm>
            <a:off x="5410200" y="557784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</a:rPr>
              <a:t>●</a:t>
            </a:r>
            <a:endParaRPr lang="en-US" sz="1200" dirty="0"/>
          </a:p>
        </p:txBody>
      </p:sp>
      <p:sp>
        <p:nvSpPr>
          <p:cNvPr id="36" name="Text 22"/>
          <p:cNvSpPr/>
          <p:nvPr/>
        </p:nvSpPr>
        <p:spPr>
          <a:xfrm>
            <a:off x="5638800" y="5516880"/>
            <a:ext cx="20132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</a:rPr>
              <a:t>配置保护防篡改/删除</a:t>
            </a:r>
            <a:endParaRPr lang="en-US" sz="1680" dirty="0"/>
          </a:p>
        </p:txBody>
      </p:sp>
      <p:sp>
        <p:nvSpPr>
          <p:cNvPr id="37" name="Text 23"/>
          <p:cNvSpPr/>
          <p:nvPr/>
        </p:nvSpPr>
        <p:spPr>
          <a:xfrm>
            <a:off x="5410200" y="591312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</a:rPr>
              <a:t>●</a:t>
            </a:r>
            <a:endParaRPr lang="en-US" sz="1200" dirty="0"/>
          </a:p>
        </p:txBody>
      </p:sp>
      <p:sp>
        <p:nvSpPr>
          <p:cNvPr id="38" name="Text 24"/>
          <p:cNvSpPr/>
          <p:nvPr/>
        </p:nvSpPr>
        <p:spPr>
          <a:xfrm>
            <a:off x="5638800" y="5852160"/>
            <a:ext cx="2142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</a:rPr>
              <a:t>具备日志定期备份机制</a:t>
            </a:r>
            <a:endParaRPr lang="en-US" sz="168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88680" y="3520440"/>
            <a:ext cx="3093720" cy="27279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0" name="Text 25"/>
          <p:cNvSpPr/>
          <p:nvPr/>
        </p:nvSpPr>
        <p:spPr>
          <a:xfrm>
            <a:off x="8686800" y="3764280"/>
            <a:ext cx="192938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B91C1F"/>
                </a:solidFill>
              </a:rPr>
              <a:t>常见不合规情况</a:t>
            </a:r>
            <a:endParaRPr lang="en-US" sz="2160" dirty="0"/>
          </a:p>
        </p:txBody>
      </p:sp>
      <p:sp>
        <p:nvSpPr>
          <p:cNvPr id="41" name="Text 26"/>
          <p:cNvSpPr/>
          <p:nvPr/>
        </p:nvSpPr>
        <p:spPr>
          <a:xfrm>
            <a:off x="8686800" y="435864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EF4447"/>
                </a:solidFill>
              </a:rPr>
              <a:t>❌</a:t>
            </a:r>
            <a:endParaRPr lang="en-US" sz="1680" dirty="0"/>
          </a:p>
        </p:txBody>
      </p:sp>
      <p:sp>
        <p:nvSpPr>
          <p:cNvPr id="42" name="Text 27"/>
          <p:cNvSpPr/>
          <p:nvPr/>
        </p:nvSpPr>
        <p:spPr>
          <a:xfrm>
            <a:off x="8915400" y="4328160"/>
            <a:ext cx="19293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</a:rPr>
              <a:t>未启用日志审计功能</a:t>
            </a:r>
            <a:endParaRPr lang="en-US" sz="1680" dirty="0"/>
          </a:p>
        </p:txBody>
      </p:sp>
      <p:sp>
        <p:nvSpPr>
          <p:cNvPr id="43" name="Text 28"/>
          <p:cNvSpPr/>
          <p:nvPr/>
        </p:nvSpPr>
        <p:spPr>
          <a:xfrm>
            <a:off x="8686800" y="483108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EF4447"/>
                </a:solidFill>
              </a:rPr>
              <a:t>❌</a:t>
            </a:r>
            <a:endParaRPr lang="en-US" sz="1680" dirty="0"/>
          </a:p>
        </p:txBody>
      </p:sp>
      <p:sp>
        <p:nvSpPr>
          <p:cNvPr id="44" name="Text 29"/>
          <p:cNvSpPr/>
          <p:nvPr/>
        </p:nvSpPr>
        <p:spPr>
          <a:xfrm>
            <a:off x="8915400" y="4800600"/>
            <a:ext cx="23103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</a:rPr>
              <a:t>日志记录不完整(缺要素)</a:t>
            </a:r>
            <a:endParaRPr lang="en-US" sz="1680" dirty="0"/>
          </a:p>
        </p:txBody>
      </p:sp>
      <p:sp>
        <p:nvSpPr>
          <p:cNvPr id="45" name="Text 30"/>
          <p:cNvSpPr/>
          <p:nvPr/>
        </p:nvSpPr>
        <p:spPr>
          <a:xfrm>
            <a:off x="8686800" y="530352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EF4447"/>
                </a:solidFill>
              </a:rPr>
              <a:t>❌</a:t>
            </a:r>
            <a:endParaRPr lang="en-US" sz="1680" dirty="0"/>
          </a:p>
        </p:txBody>
      </p:sp>
      <p:sp>
        <p:nvSpPr>
          <p:cNvPr id="46" name="Text 31"/>
          <p:cNvSpPr/>
          <p:nvPr/>
        </p:nvSpPr>
        <p:spPr>
          <a:xfrm>
            <a:off x="8915400" y="5273040"/>
            <a:ext cx="2142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</a:rPr>
              <a:t>日志保存时间不足半年</a:t>
            </a:r>
            <a:endParaRPr lang="en-US" sz="1680" dirty="0"/>
          </a:p>
        </p:txBody>
      </p:sp>
      <p:sp>
        <p:nvSpPr>
          <p:cNvPr id="47" name="Text 32"/>
          <p:cNvSpPr/>
          <p:nvPr/>
        </p:nvSpPr>
        <p:spPr>
          <a:xfrm>
            <a:off x="8686800" y="5760720"/>
            <a:ext cx="3063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EF4447"/>
                </a:solidFill>
              </a:rPr>
              <a:t>❌</a:t>
            </a:r>
            <a:endParaRPr lang="en-US" sz="1680" dirty="0"/>
          </a:p>
        </p:txBody>
      </p:sp>
      <p:sp>
        <p:nvSpPr>
          <p:cNvPr id="48" name="Text 33"/>
          <p:cNvSpPr/>
          <p:nvPr/>
        </p:nvSpPr>
        <p:spPr>
          <a:xfrm>
            <a:off x="8915400" y="5730240"/>
            <a:ext cx="192938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</a:rPr>
              <a:t>普通用户可删除日志</a:t>
            </a:r>
            <a:endParaRPr lang="en-US" sz="1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维度四：入侵防范（8.1.4.4）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479450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入侵防范要求</a:t>
            </a:r>
            <a:endParaRPr lang="en-US" sz="2400" dirty="0"/>
          </a:p>
        </p:txBody>
      </p:sp>
      <p:pic>
        <p:nvPicPr>
          <p:cNvPr id="7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1945005"/>
            <a:ext cx="4785360" cy="594360"/>
          </a:xfrm>
          <a:prstGeom prst="rect">
            <a:avLst/>
          </a:prstGeom>
        </p:spPr>
      </p:pic>
      <p:sp>
        <p:nvSpPr>
          <p:cNvPr id="8" name="Text 2"/>
          <p:cNvSpPr/>
          <p:nvPr>
            <p:custDataLst>
              <p:tags r:id="rId7"/>
            </p:custDataLst>
          </p:nvPr>
        </p:nvSpPr>
        <p:spPr>
          <a:xfrm>
            <a:off x="777240" y="2066925"/>
            <a:ext cx="16383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</a:rPr>
              <a:t>a)</a:t>
            </a:r>
            <a:endParaRPr lang="en-US" sz="1600" b="1" dirty="0">
              <a:solidFill>
                <a:srgbClr val="143866"/>
              </a:solidFill>
            </a:endParaRPr>
          </a:p>
        </p:txBody>
      </p:sp>
      <p:sp>
        <p:nvSpPr>
          <p:cNvPr id="9" name="Text 3"/>
          <p:cNvSpPr/>
          <p:nvPr>
            <p:custDataLst>
              <p:tags r:id="rId8"/>
            </p:custDataLst>
          </p:nvPr>
        </p:nvSpPr>
        <p:spPr>
          <a:xfrm>
            <a:off x="1173480" y="2000250"/>
            <a:ext cx="4108704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最小安装：遵循最小安装的原则，仅安装需要的组件和应用程序</a:t>
            </a:r>
            <a:endParaRPr lang="en-US" sz="1400" dirty="0">
              <a:solidFill>
                <a:srgbClr val="1F2937"/>
              </a:solidFill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2661285"/>
            <a:ext cx="4785360" cy="594360"/>
          </a:xfrm>
          <a:prstGeom prst="rect">
            <a:avLst/>
          </a:prstGeom>
        </p:spPr>
      </p:pic>
      <p:sp>
        <p:nvSpPr>
          <p:cNvPr id="11" name="Text 4"/>
          <p:cNvSpPr/>
          <p:nvPr>
            <p:custDataLst>
              <p:tags r:id="rId10"/>
            </p:custDataLst>
          </p:nvPr>
        </p:nvSpPr>
        <p:spPr>
          <a:xfrm>
            <a:off x="777240" y="2783205"/>
            <a:ext cx="17272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</a:rPr>
              <a:t>b)</a:t>
            </a:r>
            <a:endParaRPr lang="en-US" sz="1600" b="1" dirty="0">
              <a:solidFill>
                <a:srgbClr val="143866"/>
              </a:solidFill>
            </a:endParaRPr>
          </a:p>
        </p:txBody>
      </p:sp>
      <p:sp>
        <p:nvSpPr>
          <p:cNvPr id="12" name="Text 5"/>
          <p:cNvSpPr/>
          <p:nvPr>
            <p:custDataLst>
              <p:tags r:id="rId11"/>
            </p:custDataLst>
          </p:nvPr>
        </p:nvSpPr>
        <p:spPr>
          <a:xfrm>
            <a:off x="1188720" y="2729865"/>
            <a:ext cx="4093464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关闭不需要的服务：关闭不需要的系统服务、默认共享和高危端口</a:t>
            </a:r>
            <a:endParaRPr lang="en-US" sz="1400" dirty="0">
              <a:solidFill>
                <a:srgbClr val="1F2937"/>
              </a:solidFill>
            </a:endParaRPr>
          </a:p>
        </p:txBody>
      </p:sp>
      <p:pic>
        <p:nvPicPr>
          <p:cNvPr id="13" name="Image 5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3377565"/>
            <a:ext cx="4785360" cy="594360"/>
          </a:xfrm>
          <a:prstGeom prst="rect">
            <a:avLst/>
          </a:prstGeom>
        </p:spPr>
      </p:pic>
      <p:sp>
        <p:nvSpPr>
          <p:cNvPr id="14" name="Text 6"/>
          <p:cNvSpPr/>
          <p:nvPr>
            <p:custDataLst>
              <p:tags r:id="rId13"/>
            </p:custDataLst>
          </p:nvPr>
        </p:nvSpPr>
        <p:spPr>
          <a:xfrm>
            <a:off x="777240" y="3499485"/>
            <a:ext cx="14859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</a:rPr>
              <a:t>c)</a:t>
            </a:r>
            <a:endParaRPr lang="en-US" sz="1600" b="1" dirty="0">
              <a:solidFill>
                <a:srgbClr val="143866"/>
              </a:solidFill>
            </a:endParaRPr>
          </a:p>
        </p:txBody>
      </p:sp>
      <p:sp>
        <p:nvSpPr>
          <p:cNvPr id="15" name="Text 7"/>
          <p:cNvSpPr/>
          <p:nvPr>
            <p:custDataLst>
              <p:tags r:id="rId14"/>
            </p:custDataLst>
          </p:nvPr>
        </p:nvSpPr>
        <p:spPr>
          <a:xfrm>
            <a:off x="1158240" y="3499485"/>
            <a:ext cx="4123944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管理终端限制：通过设定终端接入方式或网络地址范围，对管理终端进行限制</a:t>
            </a:r>
            <a:endParaRPr lang="en-US" sz="1400" dirty="0">
              <a:solidFill>
                <a:srgbClr val="1F2937"/>
              </a:solidFill>
            </a:endParaRPr>
          </a:p>
        </p:txBody>
      </p:sp>
      <p:pic>
        <p:nvPicPr>
          <p:cNvPr id="16" name="Image 6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9600" y="4093845"/>
            <a:ext cx="4785360" cy="487680"/>
          </a:xfrm>
          <a:prstGeom prst="rect">
            <a:avLst/>
          </a:prstGeom>
        </p:spPr>
      </p:pic>
      <p:sp>
        <p:nvSpPr>
          <p:cNvPr id="17" name="Text 8"/>
          <p:cNvSpPr/>
          <p:nvPr>
            <p:custDataLst>
              <p:tags r:id="rId18"/>
            </p:custDataLst>
          </p:nvPr>
        </p:nvSpPr>
        <p:spPr>
          <a:xfrm>
            <a:off x="777240" y="4215765"/>
            <a:ext cx="17272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</a:rPr>
              <a:t>d)</a:t>
            </a:r>
            <a:endParaRPr lang="en-US" sz="1600" b="1" dirty="0">
              <a:solidFill>
                <a:srgbClr val="143866"/>
              </a:solidFill>
            </a:endParaRPr>
          </a:p>
        </p:txBody>
      </p:sp>
      <p:sp>
        <p:nvSpPr>
          <p:cNvPr id="18" name="Text 9"/>
          <p:cNvSpPr/>
          <p:nvPr>
            <p:custDataLst>
              <p:tags r:id="rId19"/>
            </p:custDataLst>
          </p:nvPr>
        </p:nvSpPr>
        <p:spPr>
          <a:xfrm>
            <a:off x="1188720" y="4282440"/>
            <a:ext cx="3378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数据有效性检验：提供数据有效性检验功能</a:t>
            </a:r>
            <a:endParaRPr lang="en-US" sz="1400" dirty="0">
              <a:solidFill>
                <a:srgbClr val="1F2937"/>
              </a:solidFill>
            </a:endParaRPr>
          </a:p>
        </p:txBody>
      </p:sp>
      <p:pic>
        <p:nvPicPr>
          <p:cNvPr id="19" name="Image 7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4703445"/>
            <a:ext cx="4785360" cy="594360"/>
          </a:xfrm>
          <a:prstGeom prst="rect">
            <a:avLst/>
          </a:prstGeom>
        </p:spPr>
      </p:pic>
      <p:sp>
        <p:nvSpPr>
          <p:cNvPr id="20" name="Text 10"/>
          <p:cNvSpPr/>
          <p:nvPr>
            <p:custDataLst>
              <p:tags r:id="rId21"/>
            </p:custDataLst>
          </p:nvPr>
        </p:nvSpPr>
        <p:spPr>
          <a:xfrm>
            <a:off x="777240" y="4825365"/>
            <a:ext cx="16573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</a:rPr>
              <a:t>e)</a:t>
            </a:r>
            <a:endParaRPr lang="en-US" sz="1600" b="1" dirty="0">
              <a:solidFill>
                <a:srgbClr val="143866"/>
              </a:solidFill>
            </a:endParaRPr>
          </a:p>
        </p:txBody>
      </p:sp>
      <p:sp>
        <p:nvSpPr>
          <p:cNvPr id="21" name="Text 11"/>
          <p:cNvSpPr/>
          <p:nvPr>
            <p:custDataLst>
              <p:tags r:id="rId22"/>
            </p:custDataLst>
          </p:nvPr>
        </p:nvSpPr>
        <p:spPr>
          <a:xfrm>
            <a:off x="1173480" y="4825365"/>
            <a:ext cx="4108704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漏洞修补：能发现可能存在的已知漏洞，并在经过充分测试评估后及时修补</a:t>
            </a:r>
            <a:endParaRPr lang="en-US" sz="1400" dirty="0">
              <a:solidFill>
                <a:srgbClr val="1F2937"/>
              </a:solidFill>
            </a:endParaRPr>
          </a:p>
        </p:txBody>
      </p:sp>
      <p:pic>
        <p:nvPicPr>
          <p:cNvPr id="22" name="Image 8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09600" y="5419725"/>
            <a:ext cx="4785360" cy="777240"/>
          </a:xfrm>
          <a:prstGeom prst="rect">
            <a:avLst/>
          </a:prstGeom>
        </p:spPr>
      </p:pic>
      <p:sp>
        <p:nvSpPr>
          <p:cNvPr id="23" name="Text 12"/>
          <p:cNvSpPr/>
          <p:nvPr>
            <p:custDataLst>
              <p:tags r:id="rId26"/>
            </p:custDataLst>
          </p:nvPr>
        </p:nvSpPr>
        <p:spPr>
          <a:xfrm>
            <a:off x="777240" y="5541645"/>
            <a:ext cx="13017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</a:rPr>
              <a:t>f)</a:t>
            </a:r>
            <a:endParaRPr lang="en-US" sz="1600" b="1" dirty="0">
              <a:solidFill>
                <a:srgbClr val="143866"/>
              </a:solidFill>
            </a:endParaRPr>
          </a:p>
        </p:txBody>
      </p:sp>
      <p:sp>
        <p:nvSpPr>
          <p:cNvPr id="24" name="Text 13"/>
          <p:cNvSpPr/>
          <p:nvPr>
            <p:custDataLst>
              <p:tags r:id="rId27"/>
            </p:custDataLst>
          </p:nvPr>
        </p:nvSpPr>
        <p:spPr>
          <a:xfrm>
            <a:off x="1112520" y="5541645"/>
            <a:ext cx="4154424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入侵检测报警：能够检测到对重要节点进行入侵的行为，并在发生严重入侵事件时提供报警（三级）</a:t>
            </a:r>
            <a:endParaRPr lang="en-US" sz="1400" dirty="0">
              <a:solidFill>
                <a:srgbClr val="1F2937"/>
              </a:solidFill>
            </a:endParaRPr>
          </a:p>
        </p:txBody>
      </p:sp>
      <p:sp>
        <p:nvSpPr>
          <p:cNvPr id="25" name="Text 14"/>
          <p:cNvSpPr/>
          <p:nvPr/>
        </p:nvSpPr>
        <p:spPr>
          <a:xfrm>
            <a:off x="5745480" y="1371600"/>
            <a:ext cx="5846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实操检查方法</a:t>
            </a:r>
            <a:endParaRPr lang="en-US" sz="168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745480" y="1874520"/>
            <a:ext cx="2804160" cy="23164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943600" y="2072640"/>
            <a:ext cx="241706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</a:rPr>
              <a:t>1. 检查开启的服务和端口</a:t>
            </a:r>
            <a:endParaRPr lang="en-US" sz="168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989320" y="2539365"/>
            <a:ext cx="2407920" cy="161544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106795" y="2661285"/>
            <a:ext cx="2173224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9CA3AF"/>
                </a:solidFill>
              </a:rPr>
              <a:t># 华为设备</a:t>
            </a:r>
            <a:r>
              <a:rPr lang="en-US" sz="1440" dirty="0">
                <a:solidFill>
                  <a:srgbClr val="F3F4F6"/>
                </a:solidFill>
              </a:rPr>
              <a:t>display tcp status</a:t>
            </a:r>
            <a:r>
              <a:rPr lang="en-US" sz="1440" dirty="0">
                <a:solidFill>
                  <a:srgbClr val="9CA3AF"/>
                </a:solidFill>
              </a:rPr>
              <a:t># 查看TCP连接状态</a:t>
            </a:r>
            <a:r>
              <a:rPr lang="en-US" sz="1440" dirty="0">
                <a:solidFill>
                  <a:srgbClr val="F3F4F6"/>
                </a:solidFill>
              </a:rPr>
              <a:t>display udp status</a:t>
            </a:r>
            <a:r>
              <a:rPr lang="en-US" sz="1440" dirty="0">
                <a:solidFill>
                  <a:srgbClr val="9CA3AF"/>
                </a:solidFill>
              </a:rPr>
              <a:t># 查看UDP连接状态</a:t>
            </a:r>
            <a:endParaRPr lang="en-US" sz="144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793480" y="1874520"/>
            <a:ext cx="2804160" cy="23164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8991600" y="2072640"/>
            <a:ext cx="2417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</a:rPr>
              <a:t>2. 检查管理终端限制</a:t>
            </a:r>
            <a:endParaRPr lang="en-US" sz="168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991600" y="2453640"/>
            <a:ext cx="2407920" cy="762635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9113520" y="2539365"/>
            <a:ext cx="217322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9CA3AF"/>
                </a:solidFill>
              </a:rPr>
              <a:t># 华为设备</a:t>
            </a:r>
            <a:r>
              <a:rPr lang="en-US" sz="1440" dirty="0">
                <a:solidFill>
                  <a:srgbClr val="F3F4F6"/>
                </a:solidFill>
              </a:rPr>
              <a:t>display acl</a:t>
            </a:r>
            <a:r>
              <a:rPr lang="en-US" sz="1440" dirty="0">
                <a:solidFill>
                  <a:srgbClr val="9CA3AF"/>
                </a:solidFill>
              </a:rPr>
              <a:t># 查看ACL配置</a:t>
            </a:r>
            <a:endParaRPr lang="en-US" sz="1440" dirty="0"/>
          </a:p>
        </p:txBody>
      </p:sp>
      <p:sp>
        <p:nvSpPr>
          <p:cNvPr id="34" name="Text 19"/>
          <p:cNvSpPr/>
          <p:nvPr/>
        </p:nvSpPr>
        <p:spPr>
          <a:xfrm>
            <a:off x="8991600" y="3272790"/>
            <a:ext cx="2416810" cy="781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74151"/>
                </a:solidFill>
              </a:rPr>
              <a:t>合规标准：</a:t>
            </a:r>
            <a:r>
              <a:rPr lang="en-US" sz="1400" dirty="0">
                <a:solidFill>
                  <a:srgbClr val="374151"/>
                </a:solidFill>
              </a:rPr>
              <a:t>- 应通过ACL限制仅允许指定IP地址段访问管理界面- 不应允许任意IP（0.0.0.0）访问管理端口</a:t>
            </a:r>
            <a:endParaRPr lang="en-US" sz="1400" dirty="0">
              <a:solidFill>
                <a:srgbClr val="374151"/>
              </a:solidFill>
            </a:endParaRPr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745480" y="4419600"/>
            <a:ext cx="5836920" cy="1828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6004161" y="4448175"/>
          <a:ext cx="5319558" cy="1647527"/>
        </p:xfrm>
        <a:graphic>
          <a:graphicData uri="http://schemas.openxmlformats.org/drawingml/2006/table">
            <a:tbl>
              <a:tblPr/>
              <a:tblGrid>
                <a:gridCol w="1270551"/>
                <a:gridCol w="614332"/>
                <a:gridCol w="3434675"/>
              </a:tblGrid>
              <a:tr h="329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服务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端口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风险与建议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Telnet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明文传输，建议禁用，使用SSH代替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HTTP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明文管理，建议禁用，使用HTTPS代替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SNMPv1/v2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161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安全弱，建议升级到SNMPv3或禁用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FTP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明文传输，建议禁用，使用SFTP代替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83773" marR="83773" marT="83773" marB="83773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Part.04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动手实验——配置取证 + JSecProbe 判定</a:t>
            </a:r>
            <a:endParaRPr lang="en-US" sz="5280" dirty="0"/>
          </a:p>
        </p:txBody>
      </p:sp>
      <p:sp>
        <p:nvSpPr>
          <p:cNvPr id="5" name="Text 2"/>
          <p:cNvSpPr/>
          <p:nvPr/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60" dirty="0">
                <a:solidFill>
                  <a:srgbClr val="FFFFFF"/>
                </a:solidFill>
              </a:rPr>
              <a:t>拿三份真实设备配置练手：查得出、判得准、写得清</a:t>
            </a:r>
            <a:endParaRPr lang="en-US" sz="21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31937"/>
            <a:ext cx="277114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60" dirty="0">
                <a:solidFill>
                  <a:srgbClr val="1E1E1E"/>
                </a:solidFill>
              </a:rPr>
              <a:t>实践流程</a:t>
            </a:r>
            <a:r>
              <a:rPr lang="en-US" sz="2760" dirty="0">
                <a:solidFill>
                  <a:srgbClr val="1E1E1E"/>
                </a:solidFill>
              </a:rPr>
              <a:t>—</a:t>
            </a:r>
            <a:r>
              <a:rPr lang="zh-CN" altLang="en-US" sz="2760" dirty="0">
                <a:solidFill>
                  <a:srgbClr val="1E1E1E"/>
                </a:solidFill>
              </a:rPr>
              <a:t>四</a:t>
            </a:r>
            <a:r>
              <a:rPr lang="en-US" sz="2760" dirty="0">
                <a:solidFill>
                  <a:srgbClr val="1E1E1E"/>
                </a:solidFill>
              </a:rPr>
              <a:t>步走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5364480" cy="1097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640" y="1645920"/>
            <a:ext cx="548640" cy="54864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560" y="1767840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661160" y="1539240"/>
            <a:ext cx="2039620" cy="3867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 取证：真实设备配置</a:t>
            </a:r>
            <a:endParaRPr lang="en-US" sz="1680" dirty="0"/>
          </a:p>
        </p:txBody>
      </p:sp>
      <p:sp>
        <p:nvSpPr>
          <p:cNvPr id="10" name="Text 2"/>
          <p:cNvSpPr/>
          <p:nvPr/>
        </p:nvSpPr>
        <p:spPr>
          <a:xfrm>
            <a:off x="1805940" y="2019935"/>
            <a:ext cx="3903345" cy="2292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indent="0" algn="l" fontAlgn="auto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导出网络设备配置</a:t>
            </a:r>
            <a:endParaRPr lang="zh-CN" altLang="en-US" sz="1400" dirty="0">
              <a:solidFill>
                <a:srgbClr val="333333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920" y="1371600"/>
            <a:ext cx="5364480" cy="1097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7960" y="1645920"/>
            <a:ext cx="548640" cy="54864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59880" y="1767840"/>
            <a:ext cx="304800" cy="3048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7269480" y="1539240"/>
            <a:ext cx="1931670" cy="3867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判定</a:t>
            </a:r>
            <a:r>
              <a:rPr lang="zh-CN" alt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：依据等保</a:t>
            </a:r>
            <a:r>
              <a:rPr lang="zh-CN" alt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要求</a:t>
            </a:r>
            <a:endParaRPr lang="zh-CN" altLang="en-US" sz="168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269480" y="1941830"/>
            <a:ext cx="4001770" cy="3225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逐条录入实测值并做四档判定</a:t>
            </a:r>
            <a:endParaRPr lang="en-US" sz="14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6" name="Image 9" descr="https://test.web.static.jianzeppt.com/ppt-temp-img3/000c238ba9caec68d94d98137afd3a4d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712720"/>
            <a:ext cx="10972800" cy="3535680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9640" y="3154680"/>
            <a:ext cx="60960" cy="27432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1112520" y="3032760"/>
            <a:ext cx="1348740" cy="6089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6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四</a:t>
            </a:r>
            <a:r>
              <a:rPr lang="en-US" sz="26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步主线</a:t>
            </a:r>
            <a:endParaRPr lang="en-US" sz="264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9640" y="3810000"/>
            <a:ext cx="365760" cy="36576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1051560" y="38404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</a:t>
            </a:r>
            <a:endParaRPr lang="en-US" sz="1680" dirty="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78880" y="3810000"/>
            <a:ext cx="365760" cy="36576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6400800" y="38404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</a:t>
            </a:r>
            <a:endParaRPr lang="en-US" sz="1680" dirty="0"/>
          </a:p>
        </p:txBody>
      </p:sp>
      <p:sp>
        <p:nvSpPr>
          <p:cNvPr id="24" name="Text 9"/>
          <p:cNvSpPr/>
          <p:nvPr/>
        </p:nvSpPr>
        <p:spPr>
          <a:xfrm>
            <a:off x="1421765" y="3723005"/>
            <a:ext cx="4730115" cy="450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zh-CN" alt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导：</a:t>
            </a:r>
            <a:r>
              <a:rPr lang="zh-CN" alt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导出配置信息（通过</a:t>
            </a:r>
            <a:r>
              <a:rPr lang="zh-CN" alt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命令）</a:t>
            </a:r>
            <a:endParaRPr lang="zh-CN" alt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9640" y="4602480"/>
            <a:ext cx="365760" cy="36576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1051560" y="46329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③</a:t>
            </a:r>
            <a:endParaRPr lang="en-US" sz="1680" dirty="0"/>
          </a:p>
        </p:txBody>
      </p:sp>
      <p:sp>
        <p:nvSpPr>
          <p:cNvPr id="27" name="Text 11"/>
          <p:cNvSpPr/>
          <p:nvPr/>
        </p:nvSpPr>
        <p:spPr>
          <a:xfrm>
            <a:off x="1478280" y="4572000"/>
            <a:ext cx="4558665" cy="9023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录：把可疑行的配置原文抄进记录表，注明段落或行号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78880" y="4602480"/>
            <a:ext cx="365760" cy="36576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6400800" y="46329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④</a:t>
            </a:r>
            <a:endParaRPr lang="en-US" sz="1680" dirty="0"/>
          </a:p>
        </p:txBody>
      </p:sp>
      <p:sp>
        <p:nvSpPr>
          <p:cNvPr id="30" name="Text 13"/>
          <p:cNvSpPr/>
          <p:nvPr/>
        </p:nvSpPr>
        <p:spPr>
          <a:xfrm>
            <a:off x="6827520" y="4572000"/>
            <a:ext cx="4726940" cy="4006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判：逐条做四档判定，写清"做到哪、差在哪"</a:t>
            </a:r>
            <a:endParaRPr lang="en-US" sz="16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34" name="Text 9"/>
          <p:cNvSpPr/>
          <p:nvPr/>
        </p:nvSpPr>
        <p:spPr>
          <a:xfrm>
            <a:off x="6795770" y="3695700"/>
            <a:ext cx="4730115" cy="450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63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查：按</a:t>
            </a:r>
            <a:r>
              <a:rPr lang="en-US" dirty="0">
                <a:solidFill>
                  <a:srgbClr val="FF0000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 8 个要点</a:t>
            </a: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逐段读配置，把可疑行标出来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29640" y="564769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  <a:sym typeface="+mn-ea"/>
              </a:rPr>
              <a:t>（最后两步可借助</a:t>
            </a:r>
            <a:r>
              <a:rPr lang="en-US" sz="16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  <a:sym typeface="+mn-ea"/>
              </a:rPr>
              <a:t> JSecProbe </a:t>
            </a:r>
            <a:r>
              <a:rPr lang="zh-CN" altLang="en-US" sz="16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  <a:sym typeface="+mn-ea"/>
              </a:rPr>
              <a:t>完成）</a:t>
            </a:r>
            <a:endParaRPr lang="zh-CN" altLang="en-US" sz="1600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2194560"/>
            <a:ext cx="243840" cy="243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5360" y="2062480"/>
            <a:ext cx="2685415" cy="4425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</a:rPr>
              <a:t>：按这 8 个要点逐条对照</a:t>
            </a:r>
            <a:endParaRPr lang="en-US" sz="1920" dirty="0"/>
          </a:p>
        </p:txBody>
      </p:sp>
      <p:pic>
        <p:nvPicPr>
          <p:cNvPr id="4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62128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5" name="Text 1"/>
          <p:cNvSpPr/>
          <p:nvPr>
            <p:custDataLst>
              <p:tags r:id="rId6"/>
            </p:custDataLst>
          </p:nvPr>
        </p:nvSpPr>
        <p:spPr>
          <a:xfrm>
            <a:off x="777240" y="2788920"/>
            <a:ext cx="1765300" cy="365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1F2937"/>
                </a:solidFill>
              </a:rPr>
              <a:t>身份鉴别</a:t>
            </a:r>
            <a:endParaRPr lang="zh-CN" altLang="en-US" b="1" dirty="0">
              <a:solidFill>
                <a:srgbClr val="1F2937"/>
              </a:solidFill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zh-CN" altLang="en-US" b="1" dirty="0">
              <a:solidFill>
                <a:srgbClr val="1F2937"/>
              </a:solidFill>
            </a:endParaRPr>
          </a:p>
        </p:txBody>
      </p:sp>
      <p:pic>
        <p:nvPicPr>
          <p:cNvPr id="6" name="Image 2" descr="https://test.web.static.jianzeppt.com/ppt-temp-img3/1d89ccce387c2708f6269601616abe83.png?x-oss-process=image/resize,w_1440,h_800,m_lfit/format,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74520" y="2788920"/>
            <a:ext cx="1173480" cy="335280"/>
          </a:xfrm>
          <a:prstGeom prst="rect">
            <a:avLst/>
          </a:prstGeom>
        </p:spPr>
      </p:pic>
      <p:sp>
        <p:nvSpPr>
          <p:cNvPr id="7" name="Text 2"/>
          <p:cNvSpPr/>
          <p:nvPr>
            <p:custDataLst>
              <p:tags r:id="rId9"/>
            </p:custDataLst>
          </p:nvPr>
        </p:nvSpPr>
        <p:spPr>
          <a:xfrm>
            <a:off x="1965960" y="2849880"/>
            <a:ext cx="999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8.1.4.1 a)</a:t>
            </a:r>
            <a:endParaRPr lang="en-US" sz="1440" dirty="0"/>
          </a:p>
        </p:txBody>
      </p:sp>
      <p:sp>
        <p:nvSpPr>
          <p:cNvPr id="8" name="Text 3"/>
          <p:cNvSpPr/>
          <p:nvPr>
            <p:custDataLst>
              <p:tags r:id="rId10"/>
            </p:custDataLst>
          </p:nvPr>
        </p:nvSpPr>
        <p:spPr>
          <a:xfrm>
            <a:off x="777240" y="3246120"/>
            <a:ext cx="2279904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b="1" dirty="0">
                <a:solidFill>
                  <a:srgbClr val="1F2937"/>
                </a:solidFill>
                <a:sym typeface="+mn-ea"/>
              </a:rPr>
              <a:t>密码策略</a:t>
            </a:r>
            <a:r>
              <a:rPr lang="zh-CN" altLang="en-US" sz="1680" b="1" dirty="0">
                <a:solidFill>
                  <a:srgbClr val="1F2937"/>
                </a:solidFill>
                <a:sym typeface="+mn-ea"/>
              </a:rPr>
              <a:t>：</a:t>
            </a:r>
            <a:r>
              <a:rPr lang="en-US" sz="1680" dirty="0">
                <a:solidFill>
                  <a:srgbClr val="4B5563"/>
                </a:solidFill>
              </a:rPr>
              <a:t>长度≥8, 复杂度启用</a:t>
            </a:r>
            <a:r>
              <a:rPr lang="en-US" sz="1680" dirty="0">
                <a:solidFill>
                  <a:srgbClr val="4B5563"/>
                </a:solidFill>
              </a:rPr>
              <a:t>有效期≤90天</a:t>
            </a:r>
            <a:endParaRPr lang="en-US" sz="1680" dirty="0"/>
          </a:p>
        </p:txBody>
      </p:sp>
      <p:pic>
        <p:nvPicPr>
          <p:cNvPr id="9" name="Image 3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8520" y="262128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0" name="Text 4"/>
          <p:cNvSpPr/>
          <p:nvPr>
            <p:custDataLst>
              <p:tags r:id="rId12"/>
            </p:custDataLst>
          </p:nvPr>
        </p:nvSpPr>
        <p:spPr>
          <a:xfrm>
            <a:off x="3566160" y="278892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登录策略</a:t>
            </a:r>
            <a:endParaRPr lang="en-US" sz="1920" dirty="0"/>
          </a:p>
        </p:txBody>
      </p:sp>
      <p:pic>
        <p:nvPicPr>
          <p:cNvPr id="11" name="Image 4" descr="https://test.web.static.jianzeppt.com/ppt-temp-img3/f7bdcc0b9705f1ec5c90f40a327b1c4c.png?x-oss-process=image/resize,w_1440,h_800,m_lfit/format,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663440" y="2788920"/>
            <a:ext cx="1188720" cy="335280"/>
          </a:xfrm>
          <a:prstGeom prst="rect">
            <a:avLst/>
          </a:prstGeom>
        </p:spPr>
      </p:pic>
      <p:sp>
        <p:nvSpPr>
          <p:cNvPr id="12" name="Text 5"/>
          <p:cNvSpPr/>
          <p:nvPr>
            <p:custDataLst>
              <p:tags r:id="rId15"/>
            </p:custDataLst>
          </p:nvPr>
        </p:nvSpPr>
        <p:spPr>
          <a:xfrm>
            <a:off x="4754880" y="2849880"/>
            <a:ext cx="1014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8.1.4.1 b)</a:t>
            </a:r>
            <a:endParaRPr lang="en-US" sz="1440" dirty="0"/>
          </a:p>
        </p:txBody>
      </p:sp>
      <p:sp>
        <p:nvSpPr>
          <p:cNvPr id="13" name="Text 6"/>
          <p:cNvSpPr/>
          <p:nvPr>
            <p:custDataLst>
              <p:tags r:id="rId16"/>
            </p:custDataLst>
          </p:nvPr>
        </p:nvSpPr>
        <p:spPr>
          <a:xfrm>
            <a:off x="3566160" y="324612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失败锁定阈值≤5次</a:t>
            </a:r>
            <a:r>
              <a:rPr lang="en-US" sz="1680" dirty="0">
                <a:solidFill>
                  <a:srgbClr val="4B5563"/>
                </a:solidFill>
              </a:rPr>
              <a:t>锁定时间≥15分钟</a:t>
            </a:r>
            <a:endParaRPr lang="en-US" sz="1680" dirty="0"/>
          </a:p>
        </p:txBody>
      </p:sp>
      <p:pic>
        <p:nvPicPr>
          <p:cNvPr id="14" name="Image 5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7440" y="262128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5" name="Text 7"/>
          <p:cNvSpPr/>
          <p:nvPr>
            <p:custDataLst>
              <p:tags r:id="rId18"/>
            </p:custDataLst>
          </p:nvPr>
        </p:nvSpPr>
        <p:spPr>
          <a:xfrm>
            <a:off x="6355080" y="278892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管理方式</a:t>
            </a:r>
            <a:endParaRPr lang="en-US" sz="1920" dirty="0"/>
          </a:p>
        </p:txBody>
      </p:sp>
      <p:pic>
        <p:nvPicPr>
          <p:cNvPr id="16" name="Image 6" descr="https://test.web.static.jianzeppt.com/ppt-temp-img3/e87a5dfca75e5d36fa30482cd83d3ea1.png?x-oss-process=image/resize,w_1440,h_800,m_lfit/format,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467600" y="2788920"/>
            <a:ext cx="1158240" cy="335280"/>
          </a:xfrm>
          <a:prstGeom prst="rect">
            <a:avLst/>
          </a:prstGeom>
        </p:spPr>
      </p:pic>
      <p:sp>
        <p:nvSpPr>
          <p:cNvPr id="17" name="Text 8"/>
          <p:cNvSpPr/>
          <p:nvPr>
            <p:custDataLst>
              <p:tags r:id="rId21"/>
            </p:custDataLst>
          </p:nvPr>
        </p:nvSpPr>
        <p:spPr>
          <a:xfrm>
            <a:off x="7559040" y="2849880"/>
            <a:ext cx="9845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8.1.4.1 c)</a:t>
            </a:r>
            <a:endParaRPr lang="en-US" sz="1440" dirty="0"/>
          </a:p>
        </p:txBody>
      </p:sp>
      <p:sp>
        <p:nvSpPr>
          <p:cNvPr id="18" name="Text 9"/>
          <p:cNvSpPr/>
          <p:nvPr>
            <p:custDataLst>
              <p:tags r:id="rId22"/>
            </p:custDataLst>
          </p:nvPr>
        </p:nvSpPr>
        <p:spPr>
          <a:xfrm>
            <a:off x="6355080" y="324612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仅使用SSH</a:t>
            </a:r>
            <a:r>
              <a:rPr lang="en-US" sz="1680" dirty="0">
                <a:solidFill>
                  <a:srgbClr val="4B5563"/>
                </a:solidFill>
              </a:rPr>
              <a:t>仅使用HTTPS</a:t>
            </a:r>
            <a:endParaRPr lang="en-US" sz="1680" dirty="0"/>
          </a:p>
        </p:txBody>
      </p:sp>
      <p:pic>
        <p:nvPicPr>
          <p:cNvPr id="19" name="Image 7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76360" y="262128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0" name="Text 10"/>
          <p:cNvSpPr/>
          <p:nvPr>
            <p:custDataLst>
              <p:tags r:id="rId24"/>
            </p:custDataLst>
          </p:nvPr>
        </p:nvSpPr>
        <p:spPr>
          <a:xfrm>
            <a:off x="9144000" y="278892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账户管理</a:t>
            </a:r>
            <a:endParaRPr lang="en-US" sz="1920" dirty="0"/>
          </a:p>
        </p:txBody>
      </p:sp>
      <p:pic>
        <p:nvPicPr>
          <p:cNvPr id="21" name="Image 8" descr="https://test.web.static.jianzeppt.com/ppt-temp-img3/f7bdcc0b9705f1ec5c90f40a327b1c4c.png?x-oss-process=image/resize,w_1440,h_800,m_lfit/format,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241280" y="2788920"/>
            <a:ext cx="1188720" cy="335280"/>
          </a:xfrm>
          <a:prstGeom prst="rect">
            <a:avLst/>
          </a:prstGeom>
        </p:spPr>
      </p:pic>
      <p:sp>
        <p:nvSpPr>
          <p:cNvPr id="22" name="Text 11"/>
          <p:cNvSpPr/>
          <p:nvPr>
            <p:custDataLst>
              <p:tags r:id="rId26"/>
            </p:custDataLst>
          </p:nvPr>
        </p:nvSpPr>
        <p:spPr>
          <a:xfrm>
            <a:off x="10332720" y="2849880"/>
            <a:ext cx="1014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8.1.4.2 b)</a:t>
            </a:r>
            <a:endParaRPr lang="en-US" sz="1440" dirty="0"/>
          </a:p>
        </p:txBody>
      </p:sp>
      <p:sp>
        <p:nvSpPr>
          <p:cNvPr id="23" name="Text 12"/>
          <p:cNvSpPr/>
          <p:nvPr>
            <p:custDataLst>
              <p:tags r:id="rId27"/>
            </p:custDataLst>
          </p:nvPr>
        </p:nvSpPr>
        <p:spPr>
          <a:xfrm>
            <a:off x="9144000" y="324612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默认账户重命名/删除</a:t>
            </a:r>
            <a:r>
              <a:rPr lang="en-US" sz="1680" dirty="0">
                <a:solidFill>
                  <a:srgbClr val="4B5563"/>
                </a:solidFill>
              </a:rPr>
              <a:t>默认口令已修改</a:t>
            </a:r>
            <a:endParaRPr lang="en-US" sz="1680" dirty="0"/>
          </a:p>
        </p:txBody>
      </p:sp>
      <p:pic>
        <p:nvPicPr>
          <p:cNvPr id="24" name="Image 9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31292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5" name="Text 13"/>
          <p:cNvSpPr/>
          <p:nvPr>
            <p:custDataLst>
              <p:tags r:id="rId29"/>
            </p:custDataLst>
          </p:nvPr>
        </p:nvSpPr>
        <p:spPr>
          <a:xfrm>
            <a:off x="777240" y="44805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权限分离</a:t>
            </a:r>
            <a:endParaRPr lang="en-US" sz="1920" dirty="0"/>
          </a:p>
        </p:txBody>
      </p:sp>
      <p:pic>
        <p:nvPicPr>
          <p:cNvPr id="26" name="Image 10" descr="https://test.web.static.jianzeppt.com/ppt-temp-img3/f7bdcc0b9705f1ec5c90f40a327b1c4c.png?x-oss-process=image/resize,w_1440,h_800,m_lfit/format,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874520" y="4480560"/>
            <a:ext cx="1188720" cy="335280"/>
          </a:xfrm>
          <a:prstGeom prst="rect">
            <a:avLst/>
          </a:prstGeom>
        </p:spPr>
      </p:pic>
      <p:sp>
        <p:nvSpPr>
          <p:cNvPr id="27" name="Text 14"/>
          <p:cNvSpPr/>
          <p:nvPr>
            <p:custDataLst>
              <p:tags r:id="rId31"/>
            </p:custDataLst>
          </p:nvPr>
        </p:nvSpPr>
        <p:spPr>
          <a:xfrm>
            <a:off x="1965960" y="4541520"/>
            <a:ext cx="1014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8.1.4.2 d)</a:t>
            </a:r>
            <a:endParaRPr lang="en-US" sz="1440" dirty="0"/>
          </a:p>
        </p:txBody>
      </p:sp>
      <p:sp>
        <p:nvSpPr>
          <p:cNvPr id="28" name="Text 15"/>
          <p:cNvSpPr/>
          <p:nvPr>
            <p:custDataLst>
              <p:tags r:id="rId32"/>
            </p:custDataLst>
          </p:nvPr>
        </p:nvSpPr>
        <p:spPr>
          <a:xfrm>
            <a:off x="777240" y="493776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不同管理员不同权限</a:t>
            </a:r>
            <a:r>
              <a:rPr lang="en-US" sz="1680" dirty="0">
                <a:solidFill>
                  <a:srgbClr val="4B5563"/>
                </a:solidFill>
              </a:rPr>
              <a:t>遵循最小权限原则</a:t>
            </a:r>
            <a:endParaRPr lang="en-US" sz="1680" dirty="0"/>
          </a:p>
        </p:txBody>
      </p:sp>
      <p:pic>
        <p:nvPicPr>
          <p:cNvPr id="29" name="Image 11" descr="preencoded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8520" y="431292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0" name="Text 16"/>
          <p:cNvSpPr/>
          <p:nvPr>
            <p:custDataLst>
              <p:tags r:id="rId34"/>
            </p:custDataLst>
          </p:nvPr>
        </p:nvSpPr>
        <p:spPr>
          <a:xfrm>
            <a:off x="3566160" y="44805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审计日志</a:t>
            </a:r>
            <a:endParaRPr lang="en-US" sz="1920" dirty="0"/>
          </a:p>
        </p:txBody>
      </p:sp>
      <p:pic>
        <p:nvPicPr>
          <p:cNvPr id="31" name="Image 12" descr="https://test.web.static.jianzeppt.com/ppt-temp-img3/2f073d6830c0ff19c2efdd8fff5e58dd.png?x-oss-process=image/resize,w_1440,h_800,m_lfit/format,png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4937760" y="4480560"/>
            <a:ext cx="914400" cy="335280"/>
          </a:xfrm>
          <a:prstGeom prst="rect">
            <a:avLst/>
          </a:prstGeom>
        </p:spPr>
      </p:pic>
      <p:sp>
        <p:nvSpPr>
          <p:cNvPr id="32" name="Text 17"/>
          <p:cNvSpPr/>
          <p:nvPr>
            <p:custDataLst>
              <p:tags r:id="rId37"/>
            </p:custDataLst>
          </p:nvPr>
        </p:nvSpPr>
        <p:spPr>
          <a:xfrm>
            <a:off x="5029200" y="4541520"/>
            <a:ext cx="7406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8.1.4.3</a:t>
            </a:r>
            <a:endParaRPr lang="en-US" sz="1440" dirty="0"/>
          </a:p>
        </p:txBody>
      </p:sp>
      <p:sp>
        <p:nvSpPr>
          <p:cNvPr id="33" name="Text 18"/>
          <p:cNvSpPr/>
          <p:nvPr>
            <p:custDataLst>
              <p:tags r:id="rId38"/>
            </p:custDataLst>
          </p:nvPr>
        </p:nvSpPr>
        <p:spPr>
          <a:xfrm>
            <a:off x="3566160" y="493776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日志启用且内容完整</a:t>
            </a:r>
            <a:r>
              <a:rPr lang="en-US" sz="1680" dirty="0">
                <a:solidFill>
                  <a:srgbClr val="4B5563"/>
                </a:solidFill>
              </a:rPr>
              <a:t>保存期限≥6个月</a:t>
            </a:r>
            <a:endParaRPr lang="en-US" sz="1680" dirty="0"/>
          </a:p>
        </p:txBody>
      </p:sp>
      <p:pic>
        <p:nvPicPr>
          <p:cNvPr id="34" name="Image 13" descr="preencoded.png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7440" y="431292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5" name="Text 19"/>
          <p:cNvSpPr/>
          <p:nvPr>
            <p:custDataLst>
              <p:tags r:id="rId40"/>
            </p:custDataLst>
          </p:nvPr>
        </p:nvSpPr>
        <p:spPr>
          <a:xfrm>
            <a:off x="6355080" y="44805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服务端口</a:t>
            </a:r>
            <a:endParaRPr lang="en-US" sz="1920" dirty="0"/>
          </a:p>
        </p:txBody>
      </p:sp>
      <p:pic>
        <p:nvPicPr>
          <p:cNvPr id="36" name="Image 14" descr="https://test.web.static.jianzeppt.com/ppt-temp-img3/f7bdcc0b9705f1ec5c90f40a327b1c4c.png?x-oss-process=image/resize,w_1440,h_800,m_lfit/format,png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452360" y="4480560"/>
            <a:ext cx="1188720" cy="335280"/>
          </a:xfrm>
          <a:prstGeom prst="rect">
            <a:avLst/>
          </a:prstGeom>
        </p:spPr>
      </p:pic>
      <p:sp>
        <p:nvSpPr>
          <p:cNvPr id="37" name="Text 20"/>
          <p:cNvSpPr/>
          <p:nvPr>
            <p:custDataLst>
              <p:tags r:id="rId42"/>
            </p:custDataLst>
          </p:nvPr>
        </p:nvSpPr>
        <p:spPr>
          <a:xfrm>
            <a:off x="7543800" y="4541520"/>
            <a:ext cx="1014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8.1.4.4 b)</a:t>
            </a:r>
            <a:endParaRPr lang="en-US" sz="1440" dirty="0"/>
          </a:p>
        </p:txBody>
      </p:sp>
      <p:sp>
        <p:nvSpPr>
          <p:cNvPr id="38" name="Text 21"/>
          <p:cNvSpPr/>
          <p:nvPr>
            <p:custDataLst>
              <p:tags r:id="rId43"/>
            </p:custDataLst>
          </p:nvPr>
        </p:nvSpPr>
        <p:spPr>
          <a:xfrm>
            <a:off x="6355080" y="493776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已关闭不必要的</a:t>
            </a:r>
            <a:r>
              <a:rPr lang="en-US" sz="1680" dirty="0">
                <a:solidFill>
                  <a:srgbClr val="4B5563"/>
                </a:solidFill>
              </a:rPr>
              <a:t>服务和端口</a:t>
            </a:r>
            <a:endParaRPr lang="en-US" sz="1680" dirty="0"/>
          </a:p>
        </p:txBody>
      </p:sp>
      <p:pic>
        <p:nvPicPr>
          <p:cNvPr id="39" name="Image 15" descr="preencoded.png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76360" y="4312920"/>
            <a:ext cx="2606040" cy="1508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0" name="Text 22"/>
          <p:cNvSpPr/>
          <p:nvPr>
            <p:custDataLst>
              <p:tags r:id="rId45"/>
            </p:custDataLst>
          </p:nvPr>
        </p:nvSpPr>
        <p:spPr>
          <a:xfrm>
            <a:off x="9144000" y="44805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F2937"/>
                </a:solidFill>
              </a:rPr>
              <a:t>管理限制</a:t>
            </a:r>
            <a:endParaRPr lang="en-US" sz="1920" dirty="0"/>
          </a:p>
        </p:txBody>
      </p:sp>
      <p:pic>
        <p:nvPicPr>
          <p:cNvPr id="41" name="Image 16" descr="https://test.web.static.jianzeppt.com/ppt-temp-img3/e87a5dfca75e5d36fa30482cd83d3ea1.png?x-oss-process=image/resize,w_1440,h_800,m_lfit/format,png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256520" y="4480560"/>
            <a:ext cx="1158240" cy="335280"/>
          </a:xfrm>
          <a:prstGeom prst="rect">
            <a:avLst/>
          </a:prstGeom>
        </p:spPr>
      </p:pic>
      <p:sp>
        <p:nvSpPr>
          <p:cNvPr id="42" name="Text 23"/>
          <p:cNvSpPr/>
          <p:nvPr>
            <p:custDataLst>
              <p:tags r:id="rId47"/>
            </p:custDataLst>
          </p:nvPr>
        </p:nvSpPr>
        <p:spPr>
          <a:xfrm>
            <a:off x="10347960" y="4541520"/>
            <a:ext cx="9845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</a:rPr>
              <a:t>8.1.4.4 c)</a:t>
            </a:r>
            <a:endParaRPr lang="en-US" sz="1440" dirty="0"/>
          </a:p>
        </p:txBody>
      </p:sp>
      <p:sp>
        <p:nvSpPr>
          <p:cNvPr id="43" name="Text 24"/>
          <p:cNvSpPr/>
          <p:nvPr>
            <p:custDataLst>
              <p:tags r:id="rId48"/>
            </p:custDataLst>
          </p:nvPr>
        </p:nvSpPr>
        <p:spPr>
          <a:xfrm>
            <a:off x="9144000" y="4937760"/>
            <a:ext cx="227990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4B5563"/>
                </a:solidFill>
              </a:rPr>
              <a:t>使用ACL策略</a:t>
            </a:r>
            <a:r>
              <a:rPr lang="en-US" sz="1680" dirty="0">
                <a:solidFill>
                  <a:srgbClr val="4B5563"/>
                </a:solidFill>
              </a:rPr>
              <a:t>限制管理IP来源</a:t>
            </a:r>
            <a:endParaRPr lang="en-US" sz="1680" dirty="0"/>
          </a:p>
        </p:txBody>
      </p:sp>
      <p:pic>
        <p:nvPicPr>
          <p:cNvPr id="44" name="Image 17" descr="https://test.web.static.jianzeppt.com/ppt-temp-img3/68651b495ea1bb6a87ef6659466fc2b6.png?x-oss-process=image/resize,w_1440,h_800,m_lfit/format,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09600" y="609600"/>
            <a:ext cx="10972800" cy="1360170"/>
          </a:xfrm>
          <a:prstGeom prst="rect">
            <a:avLst/>
          </a:prstGeom>
        </p:spPr>
      </p:pic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929640" y="807720"/>
            <a:ext cx="487680" cy="487680"/>
          </a:xfrm>
          <a:prstGeom prst="rect">
            <a:avLst/>
          </a:prstGeom>
        </p:spPr>
      </p:pic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051560" y="929640"/>
            <a:ext cx="243840" cy="243840"/>
          </a:xfrm>
          <a:prstGeom prst="rect">
            <a:avLst/>
          </a:prstGeom>
        </p:spPr>
      </p:pic>
      <p:sp>
        <p:nvSpPr>
          <p:cNvPr id="47" name="Text 25"/>
          <p:cNvSpPr/>
          <p:nvPr/>
        </p:nvSpPr>
        <p:spPr>
          <a:xfrm>
            <a:off x="1539240" y="767080"/>
            <a:ext cx="962025" cy="497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sym typeface="+mn-ea"/>
              </a:rPr>
              <a:t>8</a:t>
            </a:r>
            <a:r>
              <a:rPr lang="zh-CN" altLang="en-US" sz="2160" b="1" dirty="0">
                <a:solidFill>
                  <a:srgbClr val="143866"/>
                </a:solidFill>
                <a:sym typeface="+mn-ea"/>
              </a:rPr>
              <a:t>个</a:t>
            </a:r>
            <a:r>
              <a:rPr lang="zh-CN" altLang="en-US" sz="2160" b="1" dirty="0">
                <a:solidFill>
                  <a:srgbClr val="143866"/>
                </a:solidFill>
                <a:sym typeface="+mn-ea"/>
              </a:rPr>
              <a:t>要点</a:t>
            </a:r>
            <a:endParaRPr lang="zh-CN" altLang="en-US" sz="2160" b="1" dirty="0">
              <a:solidFill>
                <a:srgbClr val="143866"/>
              </a:solidFill>
              <a:sym typeface="+mn-ea"/>
            </a:endParaRPr>
          </a:p>
        </p:txBody>
      </p:sp>
      <p:pic>
        <p:nvPicPr>
          <p:cNvPr id="48" name="Image 20" descr="https://test.web.static.jianzeppt.com/ppt-temp-img3/b1364d4dbca662de185e4209d7799808.png?x-oss-process=image/resize,w_1440,h_800,m_lfit/format,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448800" y="838200"/>
            <a:ext cx="1950720" cy="441960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24840" y="624840"/>
            <a:ext cx="60960" cy="1676400"/>
          </a:xfrm>
          <a:prstGeom prst="rect">
            <a:avLst/>
          </a:prstGeom>
        </p:spPr>
      </p:pic>
      <p:graphicFrame>
        <p:nvGraphicFramePr>
          <p:cNvPr id="55" name="对象 5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37760" y="92964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57" imgW="971550" imgH="666750" progId="Word.Document.8">
                  <p:embed/>
                </p:oleObj>
              </mc:Choice>
              <mc:Fallback>
                <p:oleObj name="" showAsIcon="1" r:id="rId57" imgW="971550" imgH="666750" progId="Word.Document.8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4937760" y="92964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75195" y="92964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showAsIcon="1" r:id="rId59" imgW="971550" imgH="666750" progId="Word.Document.12">
                  <p:embed/>
                </p:oleObj>
              </mc:Choice>
              <mc:Fallback>
                <p:oleObj name="" showAsIcon="1" r:id="rId59" imgW="971550" imgH="666750" progId="Word.Document.12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7275195" y="92964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17" descr="https://test.web.static.jianzeppt.com/ppt-temp-img3/68651b495ea1bb6a87ef6659466fc2b6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609600"/>
            <a:ext cx="10972800" cy="647700"/>
          </a:xfrm>
          <a:prstGeom prst="rect">
            <a:avLst/>
          </a:prstGeom>
        </p:spPr>
      </p:pic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640" y="807720"/>
            <a:ext cx="487680" cy="487680"/>
          </a:xfrm>
          <a:prstGeom prst="rect">
            <a:avLst/>
          </a:prstGeom>
        </p:spPr>
      </p:pic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560" y="929640"/>
            <a:ext cx="243840" cy="243840"/>
          </a:xfrm>
          <a:prstGeom prst="rect">
            <a:avLst/>
          </a:prstGeom>
        </p:spPr>
      </p:pic>
      <p:sp>
        <p:nvSpPr>
          <p:cNvPr id="47" name="Text 25"/>
          <p:cNvSpPr/>
          <p:nvPr/>
        </p:nvSpPr>
        <p:spPr>
          <a:xfrm>
            <a:off x="1539240" y="767080"/>
            <a:ext cx="906780" cy="4978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160" b="1" dirty="0">
                <a:solidFill>
                  <a:srgbClr val="143866"/>
                </a:solidFill>
              </a:rPr>
              <a:t>查</a:t>
            </a:r>
            <a:r>
              <a:rPr lang="en-US" altLang="zh-CN" sz="2160" b="1" dirty="0">
                <a:solidFill>
                  <a:srgbClr val="143866"/>
                </a:solidFill>
              </a:rPr>
              <a:t>-</a:t>
            </a:r>
            <a:r>
              <a:rPr lang="zh-CN" altLang="en-US" sz="2160" b="1" dirty="0">
                <a:solidFill>
                  <a:srgbClr val="143866"/>
                </a:solidFill>
              </a:rPr>
              <a:t>示例</a:t>
            </a:r>
            <a:endParaRPr lang="en-US" sz="2160" dirty="0"/>
          </a:p>
        </p:txBody>
      </p:sp>
      <p:pic>
        <p:nvPicPr>
          <p:cNvPr id="48" name="Image 20" descr="https://test.web.static.jianzeppt.com/ppt-temp-img3/b1364d4dbca662de185e4209d7799808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838200"/>
            <a:ext cx="1950720" cy="441960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" y="624840"/>
            <a:ext cx="60960" cy="1676400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685800" y="1362075"/>
            <a:ext cx="7550785" cy="7293610"/>
          </a:xfrm>
          <a:prstGeom prst="rect">
            <a:avLst/>
          </a:prstGeom>
        </p:spPr>
        <p:txBody>
          <a:bodyPr wrap="square">
            <a:spAutoFit/>
          </a:bodyPr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# ===== </a:t>
            </a:r>
            <a:r>
              <a:rPr lang="zh-CN" altLang="en-US" sz="1200">
                <a:latin typeface="Consolas" panose="020B0609020204030204"/>
                <a:ea typeface="宋体" panose="02010600030101010101" pitchFamily="2" charset="-122"/>
              </a:rPr>
              <a:t>某企业出口防火墙</a:t>
            </a: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FW-01 </a:t>
            </a:r>
            <a:r>
              <a:rPr lang="zh-CN" altLang="en-US" sz="1200">
                <a:latin typeface="Consolas" panose="020B0609020204030204"/>
                <a:ea typeface="宋体" panose="02010600030101010101" pitchFamily="2" charset="-122"/>
              </a:rPr>
              <a:t>配置导出（教学模拟）</a:t>
            </a: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=====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# </a:t>
            </a:r>
            <a:r>
              <a:rPr lang="zh-CN" altLang="en-US" sz="1200">
                <a:latin typeface="Consolas" panose="020B0609020204030204"/>
                <a:ea typeface="宋体" panose="02010600030101010101" pitchFamily="2" charset="-122"/>
              </a:rPr>
              <a:t>设备型号：华为</a:t>
            </a: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USG6650E    </a:t>
            </a:r>
            <a:r>
              <a:rPr lang="zh-CN" altLang="en-US" sz="1200">
                <a:latin typeface="Consolas" panose="020B0609020204030204"/>
                <a:ea typeface="宋体" panose="02010600030101010101" pitchFamily="2" charset="-122"/>
              </a:rPr>
              <a:t>系统版本：</a:t>
            </a: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V600R007C20SPC500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# </a:t>
            </a:r>
            <a:r>
              <a:rPr lang="zh-CN" altLang="en-US" sz="1200">
                <a:latin typeface="Consolas" panose="020B0609020204030204"/>
                <a:ea typeface="宋体" panose="02010600030101010101" pitchFamily="2" charset="-122"/>
              </a:rPr>
              <a:t>管理地址：</a:t>
            </a: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10.10.10.1       </a:t>
            </a:r>
            <a:r>
              <a:rPr lang="zh-CN" altLang="en-US" sz="1200">
                <a:latin typeface="Consolas" panose="020B0609020204030204"/>
                <a:ea typeface="宋体" panose="02010600030101010101" pitchFamily="2" charset="-122"/>
              </a:rPr>
              <a:t>导出时间：</a:t>
            </a: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2025-03-18 10:23:41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#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sysname FW-01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#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password-policy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password min-length 6                      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password complexity-check disable          </a:t>
            </a:r>
            <a:endParaRPr lang="zh-CN" altLang="en-US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password expire 180                        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aaa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local-user admin password irreversible-cipher %^%#7Kd2mQ~8Z...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local-user admin privilege level 15        </a:t>
            </a:r>
            <a:endParaRPr lang="zh-CN" altLang="en-US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local-user admin service-type ssh http https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local-user admin failed-times 8 lock-times 10   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local-user audit password irreversible-cipher %^%#Lp3vRt~5W...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local-user audit privilege level 5         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local-user audit service-type ssh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snmp-agent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snmp-agent sys-info version v2c            </a:t>
            </a:r>
            <a:endParaRPr lang="zh-CN" altLang="en-US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snmp-agent community read cipher %^%#public%^%#   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info-center enable                          </a:t>
            </a:r>
            <a:endParaRPr lang="zh-CN" altLang="en-US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info-center logfile save-time 30           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security-policy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rule name permit_any_any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 source-zone any                           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 destination-zone any                      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action permit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acl number 2000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rule 5 permit source any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telnet server enable 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http server enable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http secure-server enable                   </a:t>
            </a:r>
            <a:endParaRPr lang="zh-CN" altLang="en-US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stelnet server enable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ike proposal 10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authentication-method pre-share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encryption-algorithm aes-256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  dh group14                           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  <a:p>
            <a:pPr marL="107950" indent="0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latin typeface="Consolas" panose="020B0609020204030204"/>
                <a:ea typeface="宋体" panose="02010600030101010101" pitchFamily="2" charset="-122"/>
              </a:rPr>
              <a:t>return</a:t>
            </a:r>
            <a:endParaRPr lang="en-US" altLang="zh-CN" sz="1200">
              <a:latin typeface="Consolas" panose="020B0609020204030204"/>
              <a:ea typeface="宋体" panose="02010600030101010101" pitchFamily="2" charset="-122"/>
            </a:endParaRPr>
          </a:p>
        </p:txBody>
      </p:sp>
      <p:graphicFrame>
        <p:nvGraphicFramePr>
          <p:cNvPr id="57" name="表格 56"/>
          <p:cNvGraphicFramePr/>
          <p:nvPr>
            <p:custDataLst>
              <p:tags r:id="rId9"/>
            </p:custDataLst>
          </p:nvPr>
        </p:nvGraphicFramePr>
        <p:xfrm>
          <a:off x="6560820" y="1362075"/>
          <a:ext cx="5082540" cy="5124450"/>
        </p:xfrm>
        <a:graphic>
          <a:graphicData uri="http://schemas.openxmlformats.org/drawingml/2006/table">
            <a:tbl>
              <a:tblPr/>
              <a:tblGrid>
                <a:gridCol w="788035"/>
                <a:gridCol w="1226185"/>
                <a:gridCol w="660400"/>
                <a:gridCol w="2407920"/>
              </a:tblGrid>
              <a:tr h="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测评指标编号</a:t>
                      </a:r>
                      <a:endParaRPr lang="zh-CN" sz="9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测评指标名称</a:t>
                      </a:r>
                      <a:endParaRPr lang="zh-CN" sz="9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测评结果</a:t>
                      </a:r>
                      <a:endParaRPr lang="zh-CN" sz="9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问题描述</a:t>
                      </a:r>
                      <a:endParaRPr lang="zh-CN" sz="9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79248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8.1.4.1 a)</a:t>
                      </a:r>
                      <a:endParaRPr lang="en-US" alt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身份标识与鉴别</a:t>
                      </a: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altLang="en-US" sz="900" b="1" dirty="0">
                          <a:solidFill>
                            <a:srgbClr val="1F2937"/>
                          </a:solidFill>
                          <a:sym typeface="+mn-ea"/>
                        </a:rPr>
                        <a:t>（</a:t>
                      </a:r>
                      <a:r>
                        <a:rPr lang="en-US" sz="900" b="1" dirty="0">
                          <a:solidFill>
                            <a:srgbClr val="1F2937"/>
                          </a:solidFill>
                          <a:sym typeface="+mn-ea"/>
                        </a:rPr>
                        <a:t>码策略</a:t>
                      </a:r>
                      <a:r>
                        <a:rPr lang="zh-CN" altLang="en-US" sz="900" b="1" dirty="0">
                          <a:solidFill>
                            <a:srgbClr val="1F2937"/>
                          </a:solidFill>
                          <a:sym typeface="+mn-ea"/>
                        </a:rPr>
                        <a:t>：</a:t>
                      </a:r>
                      <a:r>
                        <a:rPr lang="en-US" sz="900" dirty="0">
                          <a:solidFill>
                            <a:srgbClr val="4B5563"/>
                          </a:solidFill>
                          <a:sym typeface="+mn-ea"/>
                        </a:rPr>
                        <a:t>长度≥8, 复杂度启用有效期≤90天</a:t>
                      </a:r>
                      <a:r>
                        <a:rPr lang="zh-CN" altLang="en-US" sz="900" dirty="0">
                          <a:solidFill>
                            <a:srgbClr val="4B5563"/>
                          </a:solidFill>
                          <a:sym typeface="+mn-ea"/>
                        </a:rPr>
                        <a:t>）</a:t>
                      </a:r>
                      <a:endParaRPr lang="en-US" sz="900" dirty="0"/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不符合</a:t>
                      </a: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password-policy </a:t>
                      </a:r>
                      <a:r>
                        <a:rPr lang="zh-CN" altLang="en-US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 </a:t>
                      </a: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password min-length 6</a:t>
                      </a:r>
                      <a:r>
                        <a:rPr lang="zh-CN" altLang="en-US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（低于 </a:t>
                      </a: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 </a:t>
                      </a:r>
                      <a:r>
                        <a:rPr lang="zh-CN" altLang="en-US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位）；</a:t>
                      </a: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password complexity-check disable</a:t>
                      </a:r>
                      <a:r>
                        <a:rPr lang="zh-CN" altLang="en-US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（未启用复杂度校验）；</a:t>
                      </a: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password expire 180</a:t>
                      </a:r>
                      <a:r>
                        <a:rPr lang="zh-CN" altLang="en-US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（超过 </a:t>
                      </a: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 </a:t>
                      </a:r>
                      <a:r>
                        <a:rPr lang="zh-CN" altLang="en-US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天）</a:t>
                      </a:r>
                      <a:endParaRPr lang="zh-CN" altLang="en-US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12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8.1.4.1 b)</a:t>
                      </a:r>
                      <a:endParaRPr lang="en-US" alt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登录失败处理</a:t>
                      </a: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sz="900" dirty="0">
                          <a:solidFill>
                            <a:srgbClr val="4B5563"/>
                          </a:solidFill>
                          <a:sym typeface="+mn-ea"/>
                        </a:rPr>
                        <a:t>失败锁定阈值≤5次锁定时间≥15分钟</a:t>
                      </a:r>
                      <a:r>
                        <a:rPr lang="zh-CN" altLang="en-US" sz="900" dirty="0">
                          <a:solidFill>
                            <a:srgbClr val="4B5563"/>
                          </a:solidFill>
                          <a:sym typeface="+mn-ea"/>
                        </a:rPr>
                        <a:t>）</a:t>
                      </a:r>
                      <a:endParaRPr lang="zh-CN" altLang="en-US" sz="900" dirty="0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altLang="en-US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578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8.1.4.1 c)</a:t>
                      </a:r>
                      <a:endParaRPr lang="en-US" alt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远程管理加密</a:t>
                      </a: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sz="900" dirty="0">
                          <a:solidFill>
                            <a:srgbClr val="4B5563"/>
                          </a:solidFill>
                          <a:sym typeface="+mn-ea"/>
                        </a:rPr>
                        <a:t>仅使用SSH仅使用HTTPS</a:t>
                      </a:r>
                      <a:r>
                        <a:rPr lang="zh-CN" altLang="en-US" sz="900" dirty="0">
                          <a:solidFill>
                            <a:srgbClr val="4B5563"/>
                          </a:solidFill>
                          <a:sym typeface="+mn-ea"/>
                        </a:rPr>
                        <a:t>）</a:t>
                      </a:r>
                      <a:endParaRPr lang="zh-CN" altLang="en-US" sz="900" dirty="0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alt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75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8.1.4.2 b)</a:t>
                      </a:r>
                      <a:endParaRPr lang="en-US" alt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默认账户管理（</a:t>
                      </a:r>
                      <a:r>
                        <a:rPr lang="en-US" sz="900" dirty="0">
                          <a:solidFill>
                            <a:srgbClr val="4B5563"/>
                          </a:solidFill>
                          <a:sym typeface="+mn-ea"/>
                        </a:rPr>
                        <a:t>仅使用SSH仅使用HTTPS</a:t>
                      </a:r>
                      <a:r>
                        <a:rPr lang="zh-CN" altLang="en-US" sz="900" dirty="0">
                          <a:solidFill>
                            <a:srgbClr val="4B5563"/>
                          </a:solidFill>
                          <a:sym typeface="+mn-ea"/>
                        </a:rPr>
                        <a:t>）</a:t>
                      </a:r>
                      <a:endParaRPr lang="zh-CN" altLang="en-US" sz="900" dirty="0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altLang="en-US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75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8.1.4.2 d)</a:t>
                      </a:r>
                      <a:endParaRPr lang="en-US" alt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最小权限（</a:t>
                      </a:r>
                      <a:r>
                        <a:rPr lang="en-US" sz="900" dirty="0">
                          <a:solidFill>
                            <a:srgbClr val="4B5563"/>
                          </a:solidFill>
                          <a:sym typeface="+mn-ea"/>
                        </a:rPr>
                        <a:t>不同管理员不同权限遵循最小权限原则</a:t>
                      </a:r>
                      <a:r>
                        <a:rPr lang="zh-CN" altLang="en-US" sz="900" dirty="0">
                          <a:solidFill>
                            <a:srgbClr val="4B5563"/>
                          </a:solidFill>
                          <a:sym typeface="+mn-ea"/>
                        </a:rPr>
                        <a:t>）</a:t>
                      </a:r>
                      <a:endParaRPr lang="zh-CN" altLang="en-US" sz="900" dirty="0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altLang="en-US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8.1.4.3 a)</a:t>
                      </a:r>
                      <a:endParaRPr lang="en-US" alt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安全审计启用</a:t>
                      </a: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altLang="en-US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75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8.1.4.3 c)</a:t>
                      </a:r>
                      <a:endParaRPr lang="en-US" alt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审计记录保护（</a:t>
                      </a:r>
                      <a:r>
                        <a:rPr lang="en-US" sz="900" dirty="0">
                          <a:solidFill>
                            <a:srgbClr val="4B5563"/>
                          </a:solidFill>
                          <a:sym typeface="+mn-ea"/>
                        </a:rPr>
                        <a:t>内容完整保存期限≥6个月</a:t>
                      </a:r>
                      <a:endParaRPr lang="en-US" sz="900" dirty="0"/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altLang="en-US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578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8.1.4.4 b)</a:t>
                      </a:r>
                      <a:endParaRPr lang="en-US" alt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关闭不需要的服务</a:t>
                      </a: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alt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68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8.1.4.4 c)</a:t>
                      </a:r>
                      <a:endParaRPr lang="en-US" alt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管理终端限制</a:t>
                      </a: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en-US" sz="900" dirty="0">
                          <a:solidFill>
                            <a:srgbClr val="4B5563"/>
                          </a:solidFill>
                          <a:sym typeface="+mn-ea"/>
                        </a:rPr>
                        <a:t>使用ACL策略限制管理IP来源</a:t>
                      </a:r>
                      <a:endParaRPr lang="en-US" sz="900" dirty="0"/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9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altLang="zh-CN" sz="9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31937"/>
            <a:ext cx="140208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60" dirty="0">
                <a:solidFill>
                  <a:srgbClr val="1E1E1E"/>
                </a:solidFill>
              </a:rPr>
              <a:t>课堂</a:t>
            </a:r>
            <a:r>
              <a:rPr lang="zh-CN" altLang="en-US" sz="2760" dirty="0">
                <a:solidFill>
                  <a:srgbClr val="1E1E1E"/>
                </a:solidFill>
              </a:rPr>
              <a:t>作业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7880" cy="16459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640" y="1645920"/>
            <a:ext cx="548640" cy="54864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560" y="1767840"/>
            <a:ext cx="304800" cy="3048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630680" y="1722120"/>
            <a:ext cx="9748520" cy="692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0" algn="l" fontAlgn="auto">
              <a:lnSpc>
                <a:spcPct val="125000"/>
              </a:lnSpc>
              <a:buNone/>
            </a:pPr>
            <a:r>
              <a:rPr lang="zh-CN" altLang="en-US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选择素材</a:t>
            </a:r>
            <a:r>
              <a:rPr lang="en-US" altLang="zh-CN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r>
              <a:rPr lang="zh-CN" altLang="en-US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或者素材</a:t>
            </a:r>
            <a:r>
              <a:rPr lang="en-US" altLang="zh-CN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7</a:t>
            </a:r>
            <a:r>
              <a:rPr lang="zh-CN" altLang="en-US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，参考素材</a:t>
            </a:r>
            <a:r>
              <a:rPr lang="en-US" altLang="zh-CN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</a:t>
            </a:r>
            <a:r>
              <a:rPr lang="zh-CN" altLang="en-US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，完成对相应网络设备的测评记录，并撰写实验报告（内容必须包括包括实测配置、</a:t>
            </a:r>
            <a:r>
              <a:rPr lang="en-US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网络设备安全测评记录表</a:t>
            </a:r>
            <a:r>
              <a:rPr lang="zh-CN" altLang="en-US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、实验收获）</a:t>
            </a:r>
            <a:endParaRPr lang="zh-CN" altLang="en-US" dirty="0">
              <a:solidFill>
                <a:srgbClr val="333333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6" name="Image 9" descr="https://test.web.static.jianzeppt.com/ppt-temp-img3/000c238ba9caec68d94d98137afd3a4d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201035"/>
            <a:ext cx="10972800" cy="3047365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9640" y="3322320"/>
            <a:ext cx="60960" cy="27432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1112520" y="3200400"/>
            <a:ext cx="609600" cy="5537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400" dirty="0"/>
              <a:t>提醒</a:t>
            </a:r>
            <a:endParaRPr lang="zh-CN" altLang="en-US" sz="240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9640" y="3992880"/>
            <a:ext cx="365760" cy="36576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1051560" y="40233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4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1" name="Text 7"/>
          <p:cNvSpPr/>
          <p:nvPr/>
        </p:nvSpPr>
        <p:spPr>
          <a:xfrm>
            <a:off x="1478280" y="3916680"/>
            <a:ext cx="4114800" cy="4508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zh-CN" alt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实验报告命名：班级</a:t>
            </a:r>
            <a:r>
              <a:rPr lang="en-US" altLang="zh-CN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+</a:t>
            </a:r>
            <a:r>
              <a:rPr lang="zh-CN" alt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学号</a:t>
            </a:r>
            <a:r>
              <a:rPr lang="en-US" altLang="zh-CN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+</a:t>
            </a:r>
            <a:r>
              <a:rPr lang="zh-CN" alt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姓名</a:t>
            </a: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+</a:t>
            </a:r>
            <a:r>
              <a:rPr lang="zh-CN" alt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实验</a:t>
            </a:r>
            <a:r>
              <a:rPr lang="en-US" altLang="zh-CN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4.2</a:t>
            </a:r>
            <a:endParaRPr lang="en-US" altLang="zh-CN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9640" y="4831080"/>
            <a:ext cx="365760" cy="36576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1051560" y="486156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4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1478280" y="4800600"/>
            <a:ext cx="8417560" cy="450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提交方式：学习通 → 任务 4.2 → 作业区（课内完成并提交）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Part.05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回顾与拓展</a:t>
            </a:r>
            <a:endParaRPr lang="en-US" sz="528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—— 易错点、课内小结与下节预告</a:t>
            </a:r>
            <a:endParaRPr lang="en-US" sz="5280" dirty="0"/>
          </a:p>
        </p:txBody>
      </p:sp>
      <p:sp>
        <p:nvSpPr>
          <p:cNvPr id="5" name="Text 2"/>
          <p:cNvSpPr/>
          <p:nvPr/>
        </p:nvSpPr>
        <p:spPr>
          <a:xfrm>
            <a:off x="775939" y="2612069"/>
            <a:ext cx="10658540" cy="329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60" dirty="0">
                <a:solidFill>
                  <a:srgbClr val="FFFFFF"/>
                </a:solidFill>
              </a:rPr>
              <a:t>把今天读配置的顺序，变成下次自己上手时的肌肉记忆</a:t>
            </a:r>
            <a:endParaRPr lang="en-US" sz="21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职业提醒——一条 permit any 的代价</a:t>
            </a:r>
            <a:endParaRPr lang="en-US" sz="2760" dirty="0"/>
          </a:p>
        </p:txBody>
      </p:sp>
      <p:pic>
        <p:nvPicPr>
          <p:cNvPr id="6" name="Image 3" descr="https://test.web.static.jianzeppt.com/ppt-temp-img3/fad744823f007cff1268fc32821f42e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95400"/>
            <a:ext cx="3505200" cy="35052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57400" y="1554480"/>
            <a:ext cx="609600" cy="60960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09800" y="1706880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057400" y="234696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严谨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868680" y="2865120"/>
            <a:ext cx="22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680" dirty="0"/>
          </a:p>
        </p:txBody>
      </p:sp>
      <p:sp>
        <p:nvSpPr>
          <p:cNvPr id="11" name="Text 3"/>
          <p:cNvSpPr/>
          <p:nvPr/>
        </p:nvSpPr>
        <p:spPr>
          <a:xfrm>
            <a:off x="1173480" y="2834640"/>
            <a:ext cx="2691384" cy="5543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网络设备配置核查，一个参数、端口都不能漏</a:t>
            </a:r>
            <a:endParaRPr lang="en-US" sz="1680" dirty="0"/>
          </a:p>
        </p:txBody>
      </p:sp>
      <p:sp>
        <p:nvSpPr>
          <p:cNvPr id="12" name="Text 4"/>
          <p:cNvSpPr/>
          <p:nvPr/>
        </p:nvSpPr>
        <p:spPr>
          <a:xfrm>
            <a:off x="868680" y="3505200"/>
            <a:ext cx="22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680" dirty="0"/>
          </a:p>
        </p:txBody>
      </p:sp>
      <p:sp>
        <p:nvSpPr>
          <p:cNvPr id="13" name="Text 5"/>
          <p:cNvSpPr/>
          <p:nvPr/>
        </p:nvSpPr>
        <p:spPr>
          <a:xfrm>
            <a:off x="1173480" y="3474720"/>
            <a:ext cx="2691384" cy="5543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一个“允许所有”策略，可能导致全盘失守</a:t>
            </a:r>
            <a:endParaRPr lang="en-US" sz="1680" dirty="0"/>
          </a:p>
        </p:txBody>
      </p:sp>
      <p:pic>
        <p:nvPicPr>
          <p:cNvPr id="14" name="Image 6" descr="https://test.web.static.jianzeppt.com/ppt-temp-img3/fad744823f007cff1268fc32821f42e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295400"/>
            <a:ext cx="3505200" cy="3505200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1200" y="1554480"/>
            <a:ext cx="609600" cy="609600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43600" y="1706880"/>
            <a:ext cx="304800" cy="30480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5791200" y="234696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规范</a:t>
            </a:r>
            <a:endParaRPr lang="en-US" sz="2400" dirty="0"/>
          </a:p>
        </p:txBody>
      </p:sp>
      <p:sp>
        <p:nvSpPr>
          <p:cNvPr id="18" name="Text 7"/>
          <p:cNvSpPr/>
          <p:nvPr/>
        </p:nvSpPr>
        <p:spPr>
          <a:xfrm>
            <a:off x="4602480" y="2865120"/>
            <a:ext cx="22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680" dirty="0"/>
          </a:p>
        </p:txBody>
      </p:sp>
      <p:sp>
        <p:nvSpPr>
          <p:cNvPr id="19" name="Text 8"/>
          <p:cNvSpPr/>
          <p:nvPr/>
        </p:nvSpPr>
        <p:spPr>
          <a:xfrm>
            <a:off x="4907280" y="2834640"/>
            <a:ext cx="2691384" cy="5543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标准白纸黑字，执行必须不打折扣</a:t>
            </a:r>
            <a:endParaRPr lang="en-US" sz="1680" dirty="0"/>
          </a:p>
        </p:txBody>
      </p:sp>
      <p:sp>
        <p:nvSpPr>
          <p:cNvPr id="20" name="Text 9"/>
          <p:cNvSpPr/>
          <p:nvPr/>
        </p:nvSpPr>
        <p:spPr>
          <a:xfrm>
            <a:off x="4602480" y="3505200"/>
            <a:ext cx="22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680" dirty="0"/>
          </a:p>
        </p:txBody>
      </p:sp>
      <p:sp>
        <p:nvSpPr>
          <p:cNvPr id="21" name="Text 10"/>
          <p:cNvSpPr/>
          <p:nvPr/>
        </p:nvSpPr>
        <p:spPr>
          <a:xfrm>
            <a:off x="4907280" y="3474720"/>
            <a:ext cx="2691384" cy="5543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密码少一位就是不合规，没有“差不多”</a:t>
            </a:r>
            <a:endParaRPr lang="en-US" sz="1680" dirty="0"/>
          </a:p>
        </p:txBody>
      </p:sp>
      <p:pic>
        <p:nvPicPr>
          <p:cNvPr id="22" name="Image 9" descr="https://test.web.static.jianzeppt.com/ppt-temp-img3/fad744823f007cff1268fc32821f42e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295400"/>
            <a:ext cx="3505200" cy="3505200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1554480"/>
            <a:ext cx="609600" cy="609600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7400" y="1706880"/>
            <a:ext cx="304800" cy="30480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9525000" y="2346960"/>
            <a:ext cx="61874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守护</a:t>
            </a:r>
            <a:endParaRPr lang="en-US" sz="2400" dirty="0"/>
          </a:p>
        </p:txBody>
      </p:sp>
      <p:sp>
        <p:nvSpPr>
          <p:cNvPr id="26" name="Text 12"/>
          <p:cNvSpPr/>
          <p:nvPr/>
        </p:nvSpPr>
        <p:spPr>
          <a:xfrm>
            <a:off x="8351520" y="2865120"/>
            <a:ext cx="22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680" dirty="0"/>
          </a:p>
        </p:txBody>
      </p:sp>
      <p:sp>
        <p:nvSpPr>
          <p:cNvPr id="27" name="Text 13"/>
          <p:cNvSpPr/>
          <p:nvPr/>
        </p:nvSpPr>
        <p:spPr>
          <a:xfrm>
            <a:off x="8656320" y="2834640"/>
            <a:ext cx="2691384" cy="5543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网络设备是信息系统的“关卡”</a:t>
            </a:r>
            <a:endParaRPr lang="en-US" sz="1680" dirty="0"/>
          </a:p>
        </p:txBody>
      </p:sp>
      <p:sp>
        <p:nvSpPr>
          <p:cNvPr id="28" name="Text 14"/>
          <p:cNvSpPr/>
          <p:nvPr/>
        </p:nvSpPr>
        <p:spPr>
          <a:xfrm>
            <a:off x="8351520" y="3505200"/>
            <a:ext cx="222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•</a:t>
            </a:r>
            <a:endParaRPr lang="en-US" sz="1680" dirty="0"/>
          </a:p>
        </p:txBody>
      </p:sp>
      <p:sp>
        <p:nvSpPr>
          <p:cNvPr id="29" name="Text 15"/>
          <p:cNvSpPr/>
          <p:nvPr/>
        </p:nvSpPr>
        <p:spPr>
          <a:xfrm>
            <a:off x="8656320" y="3474720"/>
            <a:ext cx="2691384" cy="5543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测评每一次核查，都在守护数据流通的“国门”</a:t>
            </a:r>
            <a:endParaRPr lang="en-US" sz="168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4840" y="5267325"/>
            <a:ext cx="10972800" cy="67056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1090930" y="5453380"/>
            <a:ext cx="10037064" cy="298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一句话：</a:t>
            </a: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网络设备配置核查，查的是配置，守的是防线。一丝不苟，是对国家网络空间安全的责任与担当。</a:t>
            </a:r>
            <a:endParaRPr lang="en-US" sz="1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网络设备配置核查核心知识导图</a:t>
            </a:r>
            <a:endParaRPr lang="en-US" sz="2760" dirty="0"/>
          </a:p>
        </p:txBody>
      </p:sp>
      <p:pic>
        <p:nvPicPr>
          <p:cNvPr id="6" name="Image 3" descr="https://test.web.static.jianzeppt.com/ppt-temp-img3/b75161b64b4e82f454ce5f1a90c6fc5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40" y="1524000"/>
            <a:ext cx="579120" cy="48768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1524000"/>
            <a:ext cx="3352800" cy="25603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8" name="Text 1"/>
          <p:cNvSpPr/>
          <p:nvPr/>
        </p:nvSpPr>
        <p:spPr>
          <a:xfrm>
            <a:off x="914400" y="1767840"/>
            <a:ext cx="3082925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一、</a:t>
            </a:r>
            <a:r>
              <a:rPr lang="en-US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网络设备</a:t>
            </a: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在等保中的</a:t>
            </a:r>
            <a:r>
              <a: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定位</a:t>
            </a:r>
            <a:endParaRPr lang="en-US" sz="20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9" name="Text 2"/>
          <p:cNvSpPr/>
          <p:nvPr/>
        </p:nvSpPr>
        <p:spPr>
          <a:xfrm>
            <a:off x="914400" y="2385695"/>
            <a:ext cx="207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440" dirty="0"/>
          </a:p>
        </p:txBody>
      </p:sp>
      <p:sp>
        <p:nvSpPr>
          <p:cNvPr id="10" name="Text 3"/>
          <p:cNvSpPr/>
          <p:nvPr/>
        </p:nvSpPr>
        <p:spPr>
          <a:xfrm>
            <a:off x="1219200" y="2409508"/>
            <a:ext cx="2508504" cy="5162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安全技术要求 → 安全计算环境</a:t>
            </a:r>
            <a:endParaRPr lang="en-US" sz="1680" dirty="0"/>
          </a:p>
        </p:txBody>
      </p:sp>
      <p:sp>
        <p:nvSpPr>
          <p:cNvPr id="11" name="Text 4"/>
          <p:cNvSpPr/>
          <p:nvPr/>
        </p:nvSpPr>
        <p:spPr>
          <a:xfrm>
            <a:off x="914400" y="3132455"/>
            <a:ext cx="207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●</a:t>
            </a:r>
            <a:endParaRPr lang="en-US" sz="1440" dirty="0"/>
          </a:p>
        </p:txBody>
      </p:sp>
      <p:sp>
        <p:nvSpPr>
          <p:cNvPr id="12" name="Text 5"/>
          <p:cNvSpPr/>
          <p:nvPr/>
        </p:nvSpPr>
        <p:spPr>
          <a:xfrm>
            <a:off x="1219200" y="3129598"/>
            <a:ext cx="2508504" cy="5162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对象：路由器、交换机、防火墙、堡垒机</a:t>
            </a:r>
            <a:endParaRPr lang="en-US" sz="168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4328160"/>
            <a:ext cx="3352800" cy="20878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4" name="Text 6"/>
          <p:cNvSpPr/>
          <p:nvPr/>
        </p:nvSpPr>
        <p:spPr>
          <a:xfrm>
            <a:off x="914400" y="4572000"/>
            <a:ext cx="1379220" cy="276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三、检查流程</a:t>
            </a:r>
            <a:endParaRPr lang="en-US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5" name="Image 6" descr="https://test.web.static.jianzeppt.com/ppt-temp-img3/f42d09805f5203b79ed0a13cc8014561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074920"/>
            <a:ext cx="1021080" cy="3962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51560" y="5135880"/>
            <a:ext cx="7559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登录设备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1981200" y="5120640"/>
            <a:ext cx="207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440" dirty="0"/>
          </a:p>
        </p:txBody>
      </p:sp>
      <p:pic>
        <p:nvPicPr>
          <p:cNvPr id="18" name="Image 7" descr="https://test.web.static.jianzeppt.com/ppt-temp-img3/f42d09805f5203b79ed0a13cc8014561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5040" y="5074920"/>
            <a:ext cx="1021080" cy="39624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362200" y="5135880"/>
            <a:ext cx="7559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逐项检查</a:t>
            </a:r>
            <a:endParaRPr lang="en-US" sz="1440" dirty="0"/>
          </a:p>
        </p:txBody>
      </p:sp>
      <p:sp>
        <p:nvSpPr>
          <p:cNvPr id="20" name="Text 10"/>
          <p:cNvSpPr/>
          <p:nvPr/>
        </p:nvSpPr>
        <p:spPr>
          <a:xfrm>
            <a:off x="3291840" y="5120640"/>
            <a:ext cx="207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440" dirty="0"/>
          </a:p>
        </p:txBody>
      </p:sp>
      <p:pic>
        <p:nvPicPr>
          <p:cNvPr id="21" name="Image 8" descr="https://test.web.static.jianzeppt.com/ppt-temp-img3/f42d09805f5203b79ed0a13cc8014561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5516880"/>
            <a:ext cx="1021080" cy="39624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051560" y="5577840"/>
            <a:ext cx="7559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记录发现</a:t>
            </a:r>
            <a:endParaRPr lang="en-US" sz="1440" dirty="0"/>
          </a:p>
        </p:txBody>
      </p:sp>
      <p:sp>
        <p:nvSpPr>
          <p:cNvPr id="23" name="Text 12"/>
          <p:cNvSpPr/>
          <p:nvPr/>
        </p:nvSpPr>
        <p:spPr>
          <a:xfrm>
            <a:off x="1981200" y="5562600"/>
            <a:ext cx="207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440" dirty="0"/>
          </a:p>
        </p:txBody>
      </p:sp>
      <p:pic>
        <p:nvPicPr>
          <p:cNvPr id="24" name="Image 9" descr="https://test.web.static.jianzeppt.com/ppt-temp-img3/f42d09805f5203b79ed0a13cc8014561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5040" y="5516880"/>
            <a:ext cx="1021080" cy="39624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2362200" y="5577840"/>
            <a:ext cx="7559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判断合规</a:t>
            </a:r>
            <a:endParaRPr lang="en-US" sz="1440" dirty="0"/>
          </a:p>
        </p:txBody>
      </p:sp>
      <p:sp>
        <p:nvSpPr>
          <p:cNvPr id="26" name="Text 14"/>
          <p:cNvSpPr/>
          <p:nvPr/>
        </p:nvSpPr>
        <p:spPr>
          <a:xfrm>
            <a:off x="3291840" y="5562600"/>
            <a:ext cx="2072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→</a:t>
            </a:r>
            <a:endParaRPr lang="en-US" sz="1440" dirty="0"/>
          </a:p>
        </p:txBody>
      </p:sp>
      <p:pic>
        <p:nvPicPr>
          <p:cNvPr id="27" name="Image 10" descr="https://test.web.static.jianzeppt.com/ppt-temp-img3/69125780573aea69d00412fe9fee5ad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5958840"/>
            <a:ext cx="1203960" cy="39624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1051560" y="6019800"/>
            <a:ext cx="93878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填写记录表</a:t>
            </a:r>
            <a:endParaRPr lang="en-US" sz="1440" dirty="0"/>
          </a:p>
        </p:txBody>
      </p:sp>
      <p:pic>
        <p:nvPicPr>
          <p:cNvPr id="29" name="Image 11" descr="https://test.web.static.jianzeppt.com/ppt-temp-img3/ff7715341f40e73dfe65117848e97095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06240" y="1524000"/>
            <a:ext cx="30480" cy="4876800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80560" y="1143000"/>
            <a:ext cx="2316480" cy="411480"/>
          </a:xfrm>
          <a:prstGeom prst="rect">
            <a:avLst/>
          </a:prstGeom>
        </p:spPr>
      </p:pic>
      <p:sp>
        <p:nvSpPr>
          <p:cNvPr id="89" name="圆角矩形 88"/>
          <p:cNvSpPr/>
          <p:nvPr/>
        </p:nvSpPr>
        <p:spPr>
          <a:xfrm>
            <a:off x="4318000" y="982980"/>
            <a:ext cx="7504430" cy="570166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</a:endParaRPr>
          </a:p>
        </p:txBody>
      </p:sp>
      <p:sp>
        <p:nvSpPr>
          <p:cNvPr id="31" name="Text 16"/>
          <p:cNvSpPr/>
          <p:nvPr/>
        </p:nvSpPr>
        <p:spPr>
          <a:xfrm>
            <a:off x="4987290" y="982980"/>
            <a:ext cx="22037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二、四大核查维度</a:t>
            </a:r>
            <a:endParaRPr lang="en-US" sz="216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80560" y="1524000"/>
            <a:ext cx="3459480" cy="2499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78680" y="1737360"/>
            <a:ext cx="304800" cy="335280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4770120" y="176784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440" dirty="0"/>
          </a:p>
        </p:txBody>
      </p:sp>
      <p:sp>
        <p:nvSpPr>
          <p:cNvPr id="35" name="Text 18"/>
          <p:cNvSpPr/>
          <p:nvPr/>
        </p:nvSpPr>
        <p:spPr>
          <a:xfrm>
            <a:off x="5090160" y="1722120"/>
            <a:ext cx="2051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身份鉴别 (8.1.4.1)</a:t>
            </a:r>
            <a:endParaRPr lang="en-US" sz="1920" dirty="0"/>
          </a:p>
        </p:txBody>
      </p:sp>
      <p:sp>
        <p:nvSpPr>
          <p:cNvPr id="36" name="Text 19"/>
          <p:cNvSpPr/>
          <p:nvPr/>
        </p:nvSpPr>
        <p:spPr>
          <a:xfrm>
            <a:off x="4739640" y="224028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37" name="Text 20"/>
          <p:cNvSpPr/>
          <p:nvPr/>
        </p:nvSpPr>
        <p:spPr>
          <a:xfrm>
            <a:off x="4953000" y="2327275"/>
            <a:ext cx="800100" cy="35941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密码策略</a:t>
            </a:r>
            <a:endParaRPr lang="en-US" sz="1560" dirty="0"/>
          </a:p>
        </p:txBody>
      </p:sp>
      <p:sp>
        <p:nvSpPr>
          <p:cNvPr id="38" name="Text 21"/>
          <p:cNvSpPr/>
          <p:nvPr/>
        </p:nvSpPr>
        <p:spPr>
          <a:xfrm>
            <a:off x="5760720" y="2209800"/>
            <a:ext cx="1990344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（长≥8/复杂/期≤90天）</a:t>
            </a:r>
            <a:endParaRPr lang="en-US" sz="1440" dirty="0"/>
          </a:p>
        </p:txBody>
      </p:sp>
      <p:sp>
        <p:nvSpPr>
          <p:cNvPr id="39" name="Text 22"/>
          <p:cNvSpPr/>
          <p:nvPr/>
        </p:nvSpPr>
        <p:spPr>
          <a:xfrm>
            <a:off x="4739640" y="289560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40" name="Text 23"/>
          <p:cNvSpPr/>
          <p:nvPr/>
        </p:nvSpPr>
        <p:spPr>
          <a:xfrm>
            <a:off x="4953000" y="2865120"/>
            <a:ext cx="8168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登录策略</a:t>
            </a:r>
            <a:endParaRPr lang="en-US" sz="1560" dirty="0"/>
          </a:p>
        </p:txBody>
      </p:sp>
      <p:sp>
        <p:nvSpPr>
          <p:cNvPr id="41" name="Text 24"/>
          <p:cNvSpPr/>
          <p:nvPr/>
        </p:nvSpPr>
        <p:spPr>
          <a:xfrm>
            <a:off x="5806440" y="2865120"/>
            <a:ext cx="1853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（错≤5次/锁≥15分）</a:t>
            </a:r>
            <a:endParaRPr lang="en-US" sz="1440" dirty="0"/>
          </a:p>
        </p:txBody>
      </p:sp>
      <p:sp>
        <p:nvSpPr>
          <p:cNvPr id="42" name="Text 25"/>
          <p:cNvSpPr/>
          <p:nvPr/>
        </p:nvSpPr>
        <p:spPr>
          <a:xfrm>
            <a:off x="4739640" y="326136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43" name="Text 26"/>
          <p:cNvSpPr/>
          <p:nvPr/>
        </p:nvSpPr>
        <p:spPr>
          <a:xfrm>
            <a:off x="4953000" y="3230880"/>
            <a:ext cx="12131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远程管理加密</a:t>
            </a:r>
            <a:endParaRPr lang="en-US" sz="1560" dirty="0"/>
          </a:p>
        </p:txBody>
      </p:sp>
      <p:sp>
        <p:nvSpPr>
          <p:cNvPr id="44" name="Text 27"/>
          <p:cNvSpPr/>
          <p:nvPr/>
        </p:nvSpPr>
        <p:spPr>
          <a:xfrm>
            <a:off x="6202680" y="3230880"/>
            <a:ext cx="1517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（SSH vs Telnet）</a:t>
            </a:r>
            <a:endParaRPr lang="en-US" sz="1440" dirty="0"/>
          </a:p>
        </p:txBody>
      </p:sp>
      <p:sp>
        <p:nvSpPr>
          <p:cNvPr id="45" name="Text 28"/>
          <p:cNvSpPr/>
          <p:nvPr/>
        </p:nvSpPr>
        <p:spPr>
          <a:xfrm>
            <a:off x="4739640" y="361188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46" name="Text 29"/>
          <p:cNvSpPr/>
          <p:nvPr/>
        </p:nvSpPr>
        <p:spPr>
          <a:xfrm>
            <a:off x="4953000" y="3581400"/>
            <a:ext cx="101498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双因素鉴别</a:t>
            </a:r>
            <a:endParaRPr lang="en-US" sz="1560" dirty="0"/>
          </a:p>
        </p:txBody>
      </p:sp>
      <p:sp>
        <p:nvSpPr>
          <p:cNvPr id="47" name="Text 30"/>
          <p:cNvSpPr/>
          <p:nvPr/>
        </p:nvSpPr>
        <p:spPr>
          <a:xfrm>
            <a:off x="6004560" y="3581400"/>
            <a:ext cx="755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（三级）</a:t>
            </a:r>
            <a:endParaRPr lang="en-US" sz="1440" dirty="0"/>
          </a:p>
        </p:txBody>
      </p:sp>
      <p:pic>
        <p:nvPicPr>
          <p:cNvPr id="48" name="Image 15" descr="https://test.web.static.jianzeppt.com/ppt-temp-img3/4a1f22402bdc29a6092d36b915f07f9a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95800" y="1539240"/>
            <a:ext cx="60960" cy="2468880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22920" y="1524000"/>
            <a:ext cx="3459480" cy="24993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21040" y="1737360"/>
            <a:ext cx="304800" cy="335280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8412480" y="176784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440" dirty="0"/>
          </a:p>
        </p:txBody>
      </p:sp>
      <p:sp>
        <p:nvSpPr>
          <p:cNvPr id="52" name="Text 32"/>
          <p:cNvSpPr/>
          <p:nvPr/>
        </p:nvSpPr>
        <p:spPr>
          <a:xfrm>
            <a:off x="8732520" y="1722120"/>
            <a:ext cx="2051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访问控制 (8.1.4.2)</a:t>
            </a:r>
            <a:endParaRPr lang="en-US" sz="1920" dirty="0"/>
          </a:p>
        </p:txBody>
      </p:sp>
      <p:sp>
        <p:nvSpPr>
          <p:cNvPr id="53" name="Text 33"/>
          <p:cNvSpPr/>
          <p:nvPr/>
        </p:nvSpPr>
        <p:spPr>
          <a:xfrm>
            <a:off x="8382000" y="224028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54" name="Text 34"/>
          <p:cNvSpPr/>
          <p:nvPr/>
        </p:nvSpPr>
        <p:spPr>
          <a:xfrm>
            <a:off x="8595360" y="2209800"/>
            <a:ext cx="8168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账户管理</a:t>
            </a:r>
            <a:endParaRPr lang="en-US" sz="1560" dirty="0"/>
          </a:p>
        </p:txBody>
      </p:sp>
      <p:sp>
        <p:nvSpPr>
          <p:cNvPr id="55" name="Text 35"/>
          <p:cNvSpPr/>
          <p:nvPr/>
        </p:nvSpPr>
        <p:spPr>
          <a:xfrm>
            <a:off x="9448800" y="2209800"/>
            <a:ext cx="15483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（默认/闲置账户）</a:t>
            </a:r>
            <a:endParaRPr lang="en-US" sz="1440" dirty="0"/>
          </a:p>
        </p:txBody>
      </p:sp>
      <p:sp>
        <p:nvSpPr>
          <p:cNvPr id="56" name="Text 36"/>
          <p:cNvSpPr/>
          <p:nvPr/>
        </p:nvSpPr>
        <p:spPr>
          <a:xfrm>
            <a:off x="8382000" y="260604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57" name="Text 37"/>
          <p:cNvSpPr/>
          <p:nvPr/>
        </p:nvSpPr>
        <p:spPr>
          <a:xfrm>
            <a:off x="8595360" y="2575560"/>
            <a:ext cx="8168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最小权限</a:t>
            </a:r>
            <a:endParaRPr lang="en-US" sz="1560" dirty="0"/>
          </a:p>
        </p:txBody>
      </p:sp>
      <p:sp>
        <p:nvSpPr>
          <p:cNvPr id="58" name="Text 38"/>
          <p:cNvSpPr/>
          <p:nvPr/>
        </p:nvSpPr>
        <p:spPr>
          <a:xfrm>
            <a:off x="9448800" y="2575560"/>
            <a:ext cx="11216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（权限分离）</a:t>
            </a:r>
            <a:endParaRPr lang="en-US" sz="1440" dirty="0"/>
          </a:p>
        </p:txBody>
      </p:sp>
      <p:sp>
        <p:nvSpPr>
          <p:cNvPr id="59" name="Text 39"/>
          <p:cNvSpPr/>
          <p:nvPr/>
        </p:nvSpPr>
        <p:spPr>
          <a:xfrm>
            <a:off x="8382000" y="295656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60" name="Text 40"/>
          <p:cNvSpPr/>
          <p:nvPr/>
        </p:nvSpPr>
        <p:spPr>
          <a:xfrm>
            <a:off x="8595360" y="2926080"/>
            <a:ext cx="8168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安全标记</a:t>
            </a:r>
            <a:endParaRPr lang="en-US" sz="1560" dirty="0"/>
          </a:p>
        </p:txBody>
      </p:sp>
      <p:sp>
        <p:nvSpPr>
          <p:cNvPr id="61" name="Text 41"/>
          <p:cNvSpPr/>
          <p:nvPr/>
        </p:nvSpPr>
        <p:spPr>
          <a:xfrm>
            <a:off x="9448800" y="2926080"/>
            <a:ext cx="7559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（三级）</a:t>
            </a:r>
            <a:endParaRPr lang="en-US" sz="1440" dirty="0"/>
          </a:p>
        </p:txBody>
      </p:sp>
      <p:pic>
        <p:nvPicPr>
          <p:cNvPr id="62" name="Image 18" descr="https://test.web.static.jianzeppt.com/ppt-temp-img3/190dcf75b1f6de2f7e726ddbf4456ca7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38160" y="1539240"/>
            <a:ext cx="60960" cy="2468880"/>
          </a:xfrm>
          <a:prstGeom prst="rect">
            <a:avLst/>
          </a:prstGeom>
        </p:spPr>
      </p:pic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80560" y="4206240"/>
            <a:ext cx="3459480" cy="2194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4" name="Image 2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78680" y="4419600"/>
            <a:ext cx="304800" cy="335280"/>
          </a:xfrm>
          <a:prstGeom prst="rect">
            <a:avLst/>
          </a:prstGeom>
        </p:spPr>
      </p:pic>
      <p:sp>
        <p:nvSpPr>
          <p:cNvPr id="65" name="Text 42"/>
          <p:cNvSpPr/>
          <p:nvPr/>
        </p:nvSpPr>
        <p:spPr>
          <a:xfrm>
            <a:off x="4770120" y="445008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440" dirty="0"/>
          </a:p>
        </p:txBody>
      </p:sp>
      <p:sp>
        <p:nvSpPr>
          <p:cNvPr id="66" name="Text 43"/>
          <p:cNvSpPr/>
          <p:nvPr/>
        </p:nvSpPr>
        <p:spPr>
          <a:xfrm>
            <a:off x="5090160" y="4404360"/>
            <a:ext cx="2051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安全审计 (8.1.4.3)</a:t>
            </a:r>
            <a:endParaRPr lang="en-US" sz="1920" dirty="0"/>
          </a:p>
        </p:txBody>
      </p:sp>
      <p:sp>
        <p:nvSpPr>
          <p:cNvPr id="67" name="Text 44"/>
          <p:cNvSpPr/>
          <p:nvPr/>
        </p:nvSpPr>
        <p:spPr>
          <a:xfrm>
            <a:off x="4739640" y="492252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68" name="Text 45"/>
          <p:cNvSpPr/>
          <p:nvPr/>
        </p:nvSpPr>
        <p:spPr>
          <a:xfrm>
            <a:off x="4953000" y="4892040"/>
            <a:ext cx="160934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日志启用与完整性</a:t>
            </a:r>
            <a:endParaRPr lang="en-US" sz="1560" dirty="0"/>
          </a:p>
        </p:txBody>
      </p:sp>
      <p:sp>
        <p:nvSpPr>
          <p:cNvPr id="69" name="Text 46"/>
          <p:cNvSpPr/>
          <p:nvPr/>
        </p:nvSpPr>
        <p:spPr>
          <a:xfrm>
            <a:off x="4739640" y="528828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70" name="Text 47"/>
          <p:cNvSpPr/>
          <p:nvPr/>
        </p:nvSpPr>
        <p:spPr>
          <a:xfrm>
            <a:off x="4953000" y="5257800"/>
            <a:ext cx="25085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日志保护与保存期限≥6个月</a:t>
            </a:r>
            <a:endParaRPr lang="en-US" sz="1560" dirty="0"/>
          </a:p>
        </p:txBody>
      </p:sp>
      <p:pic>
        <p:nvPicPr>
          <p:cNvPr id="71" name="Image 21" descr="https://test.web.static.jianzeppt.com/ppt-temp-img3/a3df8fcebd703888c62639938309b8c8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95800" y="4221480"/>
            <a:ext cx="60960" cy="2164080"/>
          </a:xfrm>
          <a:prstGeom prst="rect">
            <a:avLst/>
          </a:prstGeom>
        </p:spPr>
      </p:pic>
      <p:pic>
        <p:nvPicPr>
          <p:cNvPr id="72" name="Image 22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122920" y="4206240"/>
            <a:ext cx="3459480" cy="2194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3" name="Image 23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21040" y="4419600"/>
            <a:ext cx="304800" cy="335280"/>
          </a:xfrm>
          <a:prstGeom prst="rect">
            <a:avLst/>
          </a:prstGeom>
        </p:spPr>
      </p:pic>
      <p:sp>
        <p:nvSpPr>
          <p:cNvPr id="74" name="Text 48"/>
          <p:cNvSpPr/>
          <p:nvPr/>
        </p:nvSpPr>
        <p:spPr>
          <a:xfrm>
            <a:off x="8412480" y="445008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440" dirty="0"/>
          </a:p>
        </p:txBody>
      </p:sp>
      <p:sp>
        <p:nvSpPr>
          <p:cNvPr id="75" name="Text 49"/>
          <p:cNvSpPr/>
          <p:nvPr/>
        </p:nvSpPr>
        <p:spPr>
          <a:xfrm>
            <a:off x="8732520" y="4404360"/>
            <a:ext cx="20513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入侵防范 (8.1.4.4)</a:t>
            </a:r>
            <a:endParaRPr lang="en-US" sz="1920" dirty="0"/>
          </a:p>
        </p:txBody>
      </p:sp>
      <p:sp>
        <p:nvSpPr>
          <p:cNvPr id="76" name="Text 50"/>
          <p:cNvSpPr/>
          <p:nvPr/>
        </p:nvSpPr>
        <p:spPr>
          <a:xfrm>
            <a:off x="8382000" y="492252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77" name="Text 51"/>
          <p:cNvSpPr/>
          <p:nvPr/>
        </p:nvSpPr>
        <p:spPr>
          <a:xfrm>
            <a:off x="8595360" y="4876165"/>
            <a:ext cx="1272540" cy="35941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服务端口管理</a:t>
            </a:r>
            <a:endParaRPr lang="en-US" sz="1560" dirty="0"/>
          </a:p>
        </p:txBody>
      </p:sp>
      <p:sp>
        <p:nvSpPr>
          <p:cNvPr id="78" name="Text 52"/>
          <p:cNvSpPr/>
          <p:nvPr/>
        </p:nvSpPr>
        <p:spPr>
          <a:xfrm>
            <a:off x="9799320" y="4892040"/>
            <a:ext cx="1655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（关闭不必要端口）</a:t>
            </a:r>
            <a:endParaRPr lang="en-US" sz="1440" dirty="0"/>
          </a:p>
        </p:txBody>
      </p:sp>
      <p:sp>
        <p:nvSpPr>
          <p:cNvPr id="79" name="Text 53"/>
          <p:cNvSpPr/>
          <p:nvPr/>
        </p:nvSpPr>
        <p:spPr>
          <a:xfrm>
            <a:off x="8329930" y="531876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80" name="Text 54"/>
          <p:cNvSpPr/>
          <p:nvPr/>
        </p:nvSpPr>
        <p:spPr>
          <a:xfrm>
            <a:off x="8543290" y="5288280"/>
            <a:ext cx="12131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管理终端限制</a:t>
            </a:r>
            <a:endParaRPr lang="en-US" sz="1560" dirty="0"/>
          </a:p>
        </p:txBody>
      </p:sp>
      <p:sp>
        <p:nvSpPr>
          <p:cNvPr id="81" name="Text 55"/>
          <p:cNvSpPr/>
          <p:nvPr/>
        </p:nvSpPr>
        <p:spPr>
          <a:xfrm>
            <a:off x="9792970" y="5288280"/>
            <a:ext cx="710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888888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（ACL）</a:t>
            </a:r>
            <a:endParaRPr lang="en-US" sz="1440" dirty="0"/>
          </a:p>
        </p:txBody>
      </p:sp>
      <p:sp>
        <p:nvSpPr>
          <p:cNvPr id="82" name="Text 56"/>
          <p:cNvSpPr/>
          <p:nvPr/>
        </p:nvSpPr>
        <p:spPr>
          <a:xfrm>
            <a:off x="8329930" y="5684520"/>
            <a:ext cx="16154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438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▪</a:t>
            </a:r>
            <a:endParaRPr lang="en-US" sz="1200" dirty="0"/>
          </a:p>
        </p:txBody>
      </p:sp>
      <p:sp>
        <p:nvSpPr>
          <p:cNvPr id="83" name="Text 57"/>
          <p:cNvSpPr/>
          <p:nvPr/>
        </p:nvSpPr>
        <p:spPr>
          <a:xfrm>
            <a:off x="8543290" y="5654040"/>
            <a:ext cx="8168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漏洞修补</a:t>
            </a:r>
            <a:endParaRPr lang="en-US" sz="1560" dirty="0"/>
          </a:p>
        </p:txBody>
      </p:sp>
      <p:pic>
        <p:nvPicPr>
          <p:cNvPr id="84" name="Image 24" descr="https://test.web.static.jianzeppt.com/ppt-temp-img3/a357cf822698fe1c5821cf4e49932160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38160" y="4221480"/>
            <a:ext cx="60960" cy="2164080"/>
          </a:xfrm>
          <a:prstGeom prst="rect">
            <a:avLst/>
          </a:prstGeom>
        </p:spPr>
      </p:pic>
      <p:grpSp>
        <p:nvGrpSpPr>
          <p:cNvPr id="88" name="组合 87"/>
          <p:cNvGrpSpPr/>
          <p:nvPr/>
        </p:nvGrpSpPr>
        <p:grpSpPr>
          <a:xfrm>
            <a:off x="207010" y="939800"/>
            <a:ext cx="614680" cy="614680"/>
            <a:chOff x="998" y="634"/>
            <a:chExt cx="968" cy="968"/>
          </a:xfrm>
        </p:grpSpPr>
        <p:pic>
          <p:nvPicPr>
            <p:cNvPr id="85" name="Image 25" descr="preencoded.png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98" y="634"/>
              <a:ext cx="968" cy="968"/>
            </a:xfrm>
            <a:prstGeom prst="rect">
              <a:avLst/>
            </a:prstGeom>
          </p:spPr>
        </p:pic>
        <p:pic>
          <p:nvPicPr>
            <p:cNvPr id="86" name="Image 26" descr="preencoded.png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52" y="702"/>
              <a:ext cx="579" cy="579"/>
            </a:xfrm>
            <a:prstGeom prst="rect">
              <a:avLst/>
            </a:prstGeom>
          </p:spPr>
        </p:pic>
      </p:grpSp>
      <p:sp>
        <p:nvSpPr>
          <p:cNvPr id="87" name="Text 58"/>
          <p:cNvSpPr/>
          <p:nvPr/>
        </p:nvSpPr>
        <p:spPr>
          <a:xfrm>
            <a:off x="914400" y="1143000"/>
            <a:ext cx="2051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chemeClr val="tx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知识点回顾</a:t>
            </a:r>
            <a:endParaRPr lang="en-US" sz="1680" dirty="0">
              <a:solidFill>
                <a:schemeClr val="tx1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课内任务已清 · 下节预告</a:t>
            </a:r>
            <a:endParaRPr lang="en-US" sz="2760" dirty="0"/>
          </a:p>
        </p:txBody>
      </p:sp>
      <p:pic>
        <p:nvPicPr>
          <p:cNvPr id="22" name="Image 10" descr="https://test.web.static.jianzeppt.com/ppt-temp-img3/1d5d31e43a640829eb0fe7b62d76a10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" y="1184910"/>
            <a:ext cx="8976360" cy="487680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8240" y="1489710"/>
            <a:ext cx="487680" cy="487680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0160" y="1611630"/>
            <a:ext cx="243840" cy="243840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1828800" y="1504950"/>
            <a:ext cx="39715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下节课：数据库安全配置核查</a:t>
            </a:r>
            <a:endParaRPr lang="en-US" sz="2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8240" y="2358390"/>
            <a:ext cx="91440" cy="91440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1371600" y="222123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预告内容</a:t>
            </a:r>
            <a:endParaRPr lang="en-US" sz="1920" dirty="0"/>
          </a:p>
        </p:txBody>
      </p:sp>
      <p:pic>
        <p:nvPicPr>
          <p:cNvPr id="28" name="Image 14" descr="https://test.web.static.jianzeppt.com/ppt-temp-img3/19cc6515e5b6349f70b9c9433548a603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3960" y="2708910"/>
            <a:ext cx="30480" cy="1097280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8240" y="4187190"/>
            <a:ext cx="91440" cy="91440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1371600" y="405003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课前准备</a:t>
            </a:r>
            <a:endParaRPr lang="en-US" sz="1920" dirty="0"/>
          </a:p>
        </p:txBody>
      </p:sp>
      <p:pic>
        <p:nvPicPr>
          <p:cNvPr id="31" name="Image 16" descr="https://test.web.static.jianzeppt.com/ppt-temp-img3/b3ee56664a1da027d89e9e6b8d392271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3960" y="4537710"/>
            <a:ext cx="30480" cy="701040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>
            <a:off x="1569720" y="2708910"/>
            <a:ext cx="27066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审计日志与备份策略核查</a:t>
            </a:r>
            <a:endParaRPr lang="en-US" sz="1920" dirty="0"/>
          </a:p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17320" y="2861310"/>
            <a:ext cx="60960" cy="60960"/>
          </a:xfrm>
          <a:prstGeom prst="rect">
            <a:avLst/>
          </a:prstGeom>
        </p:spPr>
      </p:pic>
      <p:sp>
        <p:nvSpPr>
          <p:cNvPr id="36" name="Text 15"/>
          <p:cNvSpPr/>
          <p:nvPr/>
        </p:nvSpPr>
        <p:spPr>
          <a:xfrm>
            <a:off x="1569720" y="3105150"/>
            <a:ext cx="270662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常见数据库安全隐患识别</a:t>
            </a:r>
            <a:endParaRPr lang="en-US" sz="1920" dirty="0"/>
          </a:p>
        </p:txBody>
      </p:sp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17320" y="3257550"/>
            <a:ext cx="60960" cy="60960"/>
          </a:xfrm>
          <a:prstGeom prst="rect">
            <a:avLst/>
          </a:prstGeom>
        </p:spPr>
      </p:pic>
      <p:sp>
        <p:nvSpPr>
          <p:cNvPr id="38" name="Text 16"/>
          <p:cNvSpPr/>
          <p:nvPr/>
        </p:nvSpPr>
        <p:spPr>
          <a:xfrm>
            <a:off x="1569720" y="4507230"/>
            <a:ext cx="414528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zh-CN" alt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预</a:t>
            </a: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习"安全计算环境"数据库部分的条款</a:t>
            </a:r>
            <a:endParaRPr lang="en-US" sz="1920" dirty="0"/>
          </a:p>
        </p:txBody>
      </p:sp>
      <p:pic>
        <p:nvPicPr>
          <p:cNvPr id="39" name="Image 2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17320" y="4659630"/>
            <a:ext cx="60960" cy="60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60" dirty="0">
                <a:solidFill>
                  <a:srgbClr val="FFFFFF"/>
                </a:solidFill>
              </a:rPr>
              <a:t>感谢观看</a:t>
            </a:r>
            <a:endParaRPr lang="en-US" sz="63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3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4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5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6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7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8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9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0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1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2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3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4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5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6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7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8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19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0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1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2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3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4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5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6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7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8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29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30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31.xml><?xml version="1.0" encoding="utf-8"?>
<p:tagLst xmlns:p="http://schemas.openxmlformats.org/presentationml/2006/main">
  <p:tag name="KSO_WM_DIAGRAM_VIRTUALLY_FRAME" val="{&quot;height&quot;:219.6,&quot;left&quot;:48,&quot;top&quot;:216,&quot;width&quot;:864}"/>
</p:tagLst>
</file>

<file path=ppt/tags/tag32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3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4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5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6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7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8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39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0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1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2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3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4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5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6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7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8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49.xml><?xml version="1.0" encoding="utf-8"?>
<p:tagLst xmlns:p="http://schemas.openxmlformats.org/presentationml/2006/main">
  <p:tag name="KSO_WM_DIAGRAM_VIRTUALLY_FRAME" val="{&quot;height&quot;:334.8,&quot;left&quot;:48,&quot;top&quot;:153.15,&quot;width&quot;:376.8}"/>
</p:tagLst>
</file>

<file path=ppt/tags/tag50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51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52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53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54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55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56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57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58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59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60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61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62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63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64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65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66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67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68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69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70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71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72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73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74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75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76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77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78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79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80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81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82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83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84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85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86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87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88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89.xml><?xml version="1.0" encoding="utf-8"?>
<p:tagLst xmlns:p="http://schemas.openxmlformats.org/presentationml/2006/main">
  <p:tag name="KSO_WM_DIAGRAM_VIRTUALLY_FRAME" val="{&quot;height&quot;:252,&quot;left&quot;:48,&quot;top&quot;:206.4,&quot;width&quot;:864}"/>
</p:tagLst>
</file>

<file path=ppt/tags/tag90.xml><?xml version="1.0" encoding="utf-8"?>
<p:tagLst xmlns:p="http://schemas.openxmlformats.org/presentationml/2006/main">
  <p:tag name="TABLE_ENDDRAG_ORIGIN_RECT" val="400*437"/>
  <p:tag name="TABLE_ENDDRAG_RECT" val="511*123*400*4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6701</Words>
  <Application>WPS 演示</Application>
  <PresentationFormat>On-screen Show (16:9)</PresentationFormat>
  <Paragraphs>999</Paragraphs>
  <Slides>27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27</vt:i4>
      </vt:variant>
    </vt:vector>
  </HeadingPairs>
  <TitlesOfParts>
    <vt:vector size="47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等线</vt:lpstr>
      <vt:lpstr>微软雅黑</vt:lpstr>
      <vt:lpstr>Arial Unicode MS</vt:lpstr>
      <vt:lpstr>Consolas</vt:lpstr>
      <vt:lpstr>Office Theme</vt:lpstr>
      <vt:lpstr>Word.Document.12</vt:lpstr>
      <vt:lpstr>Word.Document.12</vt:lpstr>
      <vt:lpstr>Word.Document.8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202603</cp:lastModifiedBy>
  <cp:revision>16</cp:revision>
  <dcterms:created xsi:type="dcterms:W3CDTF">2026-08-30T07:33:00Z</dcterms:created>
  <dcterms:modified xsi:type="dcterms:W3CDTF">2026-10-11T00:39:43Z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F361E6DA86D8434CBC4D6E2657D640F8_12</vt:lpwstr>
  </property>
</Properties>
</file>