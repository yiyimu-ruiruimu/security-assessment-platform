
<file path=[Content_Types].xml><?xml version="1.0" encoding="utf-8"?>
<Types xmlns="http://schemas.openxmlformats.org/package/2006/content-types">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rawings/vmlDrawing1.vml" ContentType="application/vnd.openxmlformats-officedocument.vmlDrawing"/>
  <Override PartName="/ppt/drawings/vmlDrawing2.vml" ContentType="application/vnd.openxmlformats-officedocument.vmlDrawing"/>
  <Override PartName="/ppt/drawings/vmlDrawing3.vml" ContentType="application/vnd.openxmlformats-officedocument.vmlDrawing"/>
  <Override PartName="/ppt/drawings/vmlDrawing4.vml" ContentType="application/vnd.openxmlformats-officedocument.vmlDrawing"/>
  <Override PartName="/ppt/embeddings/Document1.docx" ContentType="application/vnd.openxmlformats-officedocument.wordprocessingml.document"/>
  <Override PartName="/ppt/embeddings/Document2.docx" ContentType="application/vnd.openxmlformats-officedocument.wordprocessingml.document"/>
  <Override PartName="/ppt/embeddings/Document3.docx" ContentType="application/vnd.openxmlformats-officedocument.wordprocessingml.document"/>
  <Override PartName="/ppt/embeddings/Document4.docx" ContentType="application/vnd.openxmlformats-officedocument.wordprocessingml.document"/>
  <Override PartName="/ppt/media/image100.svg" ContentType="image/svg+xml"/>
  <Override PartName="/ppt/media/image102.svg" ContentType="image/svg+xml"/>
  <Override PartName="/ppt/media/image104.svg" ContentType="image/svg+xml"/>
  <Override PartName="/ppt/media/image116.svg" ContentType="image/svg+xml"/>
  <Override PartName="/ppt/media/image129.svg" ContentType="image/svg+xml"/>
  <Override PartName="/ppt/media/image133.svg" ContentType="image/svg+xml"/>
  <Override PartName="/ppt/media/image139.svg" ContentType="image/svg+xml"/>
  <Override PartName="/ppt/media/image14.svg" ContentType="image/svg+xml"/>
  <Override PartName="/ppt/media/image142.svg" ContentType="image/svg+xml"/>
  <Override PartName="/ppt/media/image156.svg" ContentType="image/svg+xml"/>
  <Override PartName="/ppt/media/image158.svg" ContentType="image/svg+xml"/>
  <Override PartName="/ppt/media/image160.svg" ContentType="image/svg+xml"/>
  <Override PartName="/ppt/media/image162.svg" ContentType="image/svg+xml"/>
  <Override PartName="/ppt/media/image166.svg" ContentType="image/svg+xml"/>
  <Override PartName="/ppt/media/image168.svg" ContentType="image/svg+xml"/>
  <Override PartName="/ppt/media/image17.svg" ContentType="image/svg+xml"/>
  <Override PartName="/ppt/media/image170.svg" ContentType="image/svg+xml"/>
  <Override PartName="/ppt/media/image172.svg" ContentType="image/svg+xml"/>
  <Override PartName="/ppt/media/image175.svg" ContentType="image/svg+xml"/>
  <Override PartName="/ppt/media/image177.svg" ContentType="image/svg+xml"/>
  <Override PartName="/ppt/media/image179.svg" ContentType="image/svg+xml"/>
  <Override PartName="/ppt/media/image19.svg" ContentType="image/svg+xml"/>
  <Override PartName="/ppt/media/image191.svg" ContentType="image/svg+xml"/>
  <Override PartName="/ppt/media/image202.svg" ContentType="image/svg+xml"/>
  <Override PartName="/ppt/media/image207.svg" ContentType="image/svg+xml"/>
  <Override PartName="/ppt/media/image21.svg" ContentType="image/svg+xml"/>
  <Override PartName="/ppt/media/image212.svg" ContentType="image/svg+xml"/>
  <Override PartName="/ppt/media/image215.svg" ContentType="image/svg+xml"/>
  <Override PartName="/ppt/media/image219.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52.svg" ContentType="image/svg+xml"/>
  <Override PartName="/ppt/media/image56.svg" ContentType="image/svg+xml"/>
  <Override PartName="/ppt/media/image59.svg" ContentType="image/svg+xml"/>
  <Override PartName="/ppt/media/image61.svg" ContentType="image/svg+xml"/>
  <Override PartName="/ppt/media/image63.svg" ContentType="image/svg+xml"/>
  <Override PartName="/ppt/media/image72.svg" ContentType="image/svg+xml"/>
  <Override PartName="/ppt/media/image75.svg" ContentType="image/svg+xml"/>
  <Override PartName="/ppt/media/image78.svg" ContentType="image/svg+xml"/>
  <Override PartName="/ppt/media/image80.svg" ContentType="image/svg+xml"/>
  <Override PartName="/ppt/media/image85.svg" ContentType="image/svg+xml"/>
  <Override PartName="/ppt/media/image87.svg" ContentType="image/svg+xml"/>
  <Override PartName="/ppt/media/image89.svg" ContentType="image/svg+xml"/>
  <Override PartName="/ppt/media/image9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78" r:id="rId29"/>
    <p:sldId id="258" r:id="rId6"/>
    <p:sldId id="259" r:id="rId7"/>
    <p:sldId id="279" r:id="rId30"/>
    <p:sldId id="260" r:id="rId8"/>
    <p:sldId id="261" r:id="rId9"/>
    <p:sldId id="262" r:id="rId10"/>
    <p:sldId id="263" r:id="rId11"/>
    <p:sldId id="280" r:id="rId31"/>
    <p:sldId id="264" r:id="rId12"/>
    <p:sldId id="265" r:id="rId13"/>
    <p:sldId id="266" r:id="rId14"/>
    <p:sldId id="267" r:id="rId15"/>
    <p:sldId id="268" r:id="rId16"/>
    <p:sldId id="269" r:id="rId17"/>
    <p:sldId id="283" r:id="rId34"/>
    <p:sldId id="285" r:id="rId36"/>
    <p:sldId id="281" r:id="rId32"/>
    <p:sldId id="270" r:id="rId18"/>
    <p:sldId id="272" r:id="rId20"/>
    <p:sldId id="273" r:id="rId21"/>
    <p:sldId id="274" r:id="rId22"/>
    <p:sldId id="275" r:id="rId23"/>
    <p:sldId id="277"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2.xml"/><Relationship Id="rId13" Type="http://schemas.openxmlformats.org/officeDocument/2006/relationships/slide" Target="slides/slide14.xml"/><Relationship Id="rId14" Type="http://schemas.openxmlformats.org/officeDocument/2006/relationships/slide" Target="slides/slide15.xml"/><Relationship Id="rId15" Type="http://schemas.openxmlformats.org/officeDocument/2006/relationships/slide" Target="slides/slide16.xml"/><Relationship Id="rId16" Type="http://schemas.openxmlformats.org/officeDocument/2006/relationships/slide" Target="slides/slide17.xml"/><Relationship Id="rId17" Type="http://schemas.openxmlformats.org/officeDocument/2006/relationships/slide" Target="slides/slide18.xml"/><Relationship Id="rId18" Type="http://schemas.openxmlformats.org/officeDocument/2006/relationships/slide" Target="slides/slide23.xml"/><Relationship Id="rId20" Type="http://schemas.openxmlformats.org/officeDocument/2006/relationships/slide" Target="slides/slide25.xml"/><Relationship Id="rId21" Type="http://schemas.openxmlformats.org/officeDocument/2006/relationships/slide" Target="slides/slide26.xml"/><Relationship Id="rId22" Type="http://schemas.openxmlformats.org/officeDocument/2006/relationships/slide" Target="slides/slide27.xml"/><Relationship Id="rId23" Type="http://schemas.openxmlformats.org/officeDocument/2006/relationships/slide" Target="slides/slide28.xml"/><Relationship Id="rId25" Type="http://schemas.openxmlformats.org/officeDocument/2006/relationships/slide" Target="slides/slide30.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ableStyles" Target="tableStyles.xml"/><Relationship Id="rId29" Type="http://schemas.openxmlformats.org/officeDocument/2006/relationships/slide" Target="slides/slide3.xml"/><Relationship Id="rId30" Type="http://schemas.openxmlformats.org/officeDocument/2006/relationships/slide" Target="slides/slide6.xml"/><Relationship Id="rId31" Type="http://schemas.openxmlformats.org/officeDocument/2006/relationships/slide" Target="slides/slide11.xml"/><Relationship Id="rId32" Type="http://schemas.openxmlformats.org/officeDocument/2006/relationships/slide" Target="slides/slide22.xml"/><Relationship Id="rId34" Type="http://schemas.openxmlformats.org/officeDocument/2006/relationships/slide" Target="slides/slide19.xml"/><Relationship Id="rId36" Type="http://schemas.openxmlformats.org/officeDocument/2006/relationships/slide" Target="slides/slide2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0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slideLayout" Target="../slideLayouts/slideLayout1.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sv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svg"/><Relationship Id="rId9" Type="http://schemas.openxmlformats.org/officeDocument/2006/relationships/image" Target="../media/image18.png"/><Relationship Id="rId10" Type="http://schemas.openxmlformats.org/officeDocument/2006/relationships/image" Target="../media/image19.svg"/><Relationship Id="rId11" Type="http://schemas.openxmlformats.org/officeDocument/2006/relationships/image" Target="../media/image20.png"/><Relationship Id="rId12" Type="http://schemas.openxmlformats.org/officeDocument/2006/relationships/image" Target="../media/image21.svg"/><Relationship Id="rId13" Type="http://schemas.openxmlformats.org/officeDocument/2006/relationships/image" Target="../media/image22.png"/><Relationship Id="rId14" Type="http://schemas.openxmlformats.org/officeDocument/2006/relationships/image" Target="../media/image23.svg"/><Relationship Id="rId15" Type="http://schemas.openxmlformats.org/officeDocument/2006/relationships/image" Target="../media/image24.png"/><Relationship Id="rId16" Type="http://schemas.openxmlformats.org/officeDocument/2006/relationships/image" Target="../media/image25.svg"/><Relationship Id="rId17" Type="http://schemas.openxmlformats.org/officeDocument/2006/relationships/image" Target="../media/image26.png"/><Relationship Id="rId18" Type="http://schemas.openxmlformats.org/officeDocument/2006/relationships/image" Target="../media/image27.svg"/><Relationship Id="rId19" Type="http://schemas.openxmlformats.org/officeDocument/2006/relationships/slideLayout" Target="../slideLayouts/slideLayout1.xml"/><Relationship Id="rId20"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28.png"/><Relationship Id="rId5" Type="http://schemas.openxmlformats.org/officeDocument/2006/relationships/image" Target="../media/image29.svg"/><Relationship Id="rId6" Type="http://schemas.openxmlformats.org/officeDocument/2006/relationships/image" Target="../media/image30.png"/><Relationship Id="rId7" Type="http://schemas.openxmlformats.org/officeDocument/2006/relationships/image" Target="../media/image31.svg"/><Relationship Id="rId8" Type="http://schemas.openxmlformats.org/officeDocument/2006/relationships/image" Target="../media/image32.png"/><Relationship Id="rId9" Type="http://schemas.openxmlformats.org/officeDocument/2006/relationships/image" Target="../media/image33.png"/><Relationship Id="rId10" Type="http://schemas.openxmlformats.org/officeDocument/2006/relationships/image" Target="../media/image34.svg"/><Relationship Id="rId11" Type="http://schemas.openxmlformats.org/officeDocument/2006/relationships/image" Target="../media/image35.png"/><Relationship Id="rId12" Type="http://schemas.openxmlformats.org/officeDocument/2006/relationships/image" Target="../media/image36.svg"/><Relationship Id="rId13" Type="http://schemas.openxmlformats.org/officeDocument/2006/relationships/image" Target="../media/image37.png"/><Relationship Id="rId14" Type="http://schemas.openxmlformats.org/officeDocument/2006/relationships/image" Target="../media/image38.svg"/><Relationship Id="rId15" Type="http://schemas.openxmlformats.org/officeDocument/2006/relationships/image" Target="../media/image39.png"/><Relationship Id="rId16" Type="http://schemas.openxmlformats.org/officeDocument/2006/relationships/image" Target="../media/image40.svg"/><Relationship Id="rId17" Type="http://schemas.openxmlformats.org/officeDocument/2006/relationships/slideLayout" Target="../slideLayouts/slideLayout1.xml"/><Relationship Id="rId18"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41.png"/><Relationship Id="rId5" Type="http://schemas.openxmlformats.org/officeDocument/2006/relationships/image" Target="../media/image42.svg"/><Relationship Id="rId6" Type="http://schemas.openxmlformats.org/officeDocument/2006/relationships/image" Target="../media/image43.png"/><Relationship Id="rId7" Type="http://schemas.openxmlformats.org/officeDocument/2006/relationships/image" Target="../media/image44.svg"/><Relationship Id="rId8" Type="http://schemas.openxmlformats.org/officeDocument/2006/relationships/image" Target="../media/image45.png"/><Relationship Id="rId9" Type="http://schemas.openxmlformats.org/officeDocument/2006/relationships/image" Target="../media/image46.svg"/><Relationship Id="rId10" Type="http://schemas.openxmlformats.org/officeDocument/2006/relationships/image" Target="../media/image47.png"/><Relationship Id="rId11" Type="http://schemas.openxmlformats.org/officeDocument/2006/relationships/image" Target="../media/image48.png"/><Relationship Id="rId12" Type="http://schemas.openxmlformats.org/officeDocument/2006/relationships/image" Target="../media/image24.png"/><Relationship Id="rId13" Type="http://schemas.openxmlformats.org/officeDocument/2006/relationships/image" Target="../media/image25.svg"/><Relationship Id="rId14" Type="http://schemas.openxmlformats.org/officeDocument/2006/relationships/slideLayout" Target="../slideLayouts/slideLayout1.xml"/><Relationship Id="rId15"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49.png"/><Relationship Id="rId5" Type="http://schemas.openxmlformats.org/officeDocument/2006/relationships/image" Target="../media/image50.png"/><Relationship Id="rId6" Type="http://schemas.openxmlformats.org/officeDocument/2006/relationships/image" Target="../media/image51.png"/><Relationship Id="rId7" Type="http://schemas.openxmlformats.org/officeDocument/2006/relationships/image" Target="../media/image52.svg"/><Relationship Id="rId8" Type="http://schemas.openxmlformats.org/officeDocument/2006/relationships/image" Target="../media/image53.png"/><Relationship Id="rId9" Type="http://schemas.openxmlformats.org/officeDocument/2006/relationships/image" Target="../media/image54.png"/><Relationship Id="rId10" Type="http://schemas.openxmlformats.org/officeDocument/2006/relationships/image" Target="../media/image55.png"/><Relationship Id="rId11" Type="http://schemas.openxmlformats.org/officeDocument/2006/relationships/image" Target="../media/image56.svg"/><Relationship Id="rId12" Type="http://schemas.openxmlformats.org/officeDocument/2006/relationships/image" Target="../media/image57.png"/><Relationship Id="rId13" Type="http://schemas.openxmlformats.org/officeDocument/2006/relationships/image" Target="../media/image58.png"/><Relationship Id="rId14" Type="http://schemas.openxmlformats.org/officeDocument/2006/relationships/image" Target="../media/image59.svg"/><Relationship Id="rId15" Type="http://schemas.openxmlformats.org/officeDocument/2006/relationships/image" Target="../media/image60.png"/><Relationship Id="rId16" Type="http://schemas.openxmlformats.org/officeDocument/2006/relationships/image" Target="../media/image61.svg"/><Relationship Id="rId17" Type="http://schemas.openxmlformats.org/officeDocument/2006/relationships/slideLayout" Target="../slideLayouts/slideLayout1.xml"/><Relationship Id="rId18"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62.png"/><Relationship Id="rId5" Type="http://schemas.openxmlformats.org/officeDocument/2006/relationships/image" Target="../media/image63.svg"/><Relationship Id="rId6" Type="http://schemas.openxmlformats.org/officeDocument/2006/relationships/image" Target="../media/image64.png"/><Relationship Id="rId7" Type="http://schemas.openxmlformats.org/officeDocument/2006/relationships/image" Target="../media/image65.png"/><Relationship Id="rId8" Type="http://schemas.openxmlformats.org/officeDocument/2006/relationships/image" Target="../media/image66.png"/><Relationship Id="rId9" Type="http://schemas.openxmlformats.org/officeDocument/2006/relationships/image" Target="../media/image67.png"/><Relationship Id="rId10" Type="http://schemas.openxmlformats.org/officeDocument/2006/relationships/image" Target="../media/image68.png"/><Relationship Id="rId11" Type="http://schemas.openxmlformats.org/officeDocument/2006/relationships/package" Target="../embeddings/Document1.docx"/><Relationship Id="rId12" Type="http://schemas.openxmlformats.org/officeDocument/2006/relationships/image" Target="../media/image69.wmf"/><Relationship Id="rId13" Type="http://schemas.openxmlformats.org/officeDocument/2006/relationships/slideLayout" Target="../slideLayouts/slideLayout1.xml"/><Relationship Id="rId14" Type="http://schemas.openxmlformats.org/officeDocument/2006/relationships/vmlDrawing" Target="../drawings/vmlDrawing1.vml"/><Relationship Id="rId15"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70.png"/><Relationship Id="rId5" Type="http://schemas.openxmlformats.org/officeDocument/2006/relationships/image" Target="../media/image71.png"/><Relationship Id="rId6" Type="http://schemas.openxmlformats.org/officeDocument/2006/relationships/image" Target="../media/image72.svg"/><Relationship Id="rId7" Type="http://schemas.openxmlformats.org/officeDocument/2006/relationships/image" Target="../media/image73.png"/><Relationship Id="rId8" Type="http://schemas.openxmlformats.org/officeDocument/2006/relationships/image" Target="../media/image74.png"/><Relationship Id="rId9" Type="http://schemas.openxmlformats.org/officeDocument/2006/relationships/image" Target="../media/image75.svg"/><Relationship Id="rId10" Type="http://schemas.openxmlformats.org/officeDocument/2006/relationships/image" Target="../media/image76.png"/><Relationship Id="rId11" Type="http://schemas.openxmlformats.org/officeDocument/2006/relationships/image" Target="../media/image77.png"/><Relationship Id="rId12" Type="http://schemas.openxmlformats.org/officeDocument/2006/relationships/image" Target="../media/image78.svg"/><Relationship Id="rId13" Type="http://schemas.openxmlformats.org/officeDocument/2006/relationships/image" Target="../media/image79.png"/><Relationship Id="rId14" Type="http://schemas.openxmlformats.org/officeDocument/2006/relationships/image" Target="../media/image80.svg"/><Relationship Id="rId15" Type="http://schemas.openxmlformats.org/officeDocument/2006/relationships/image" Target="../media/image81.png"/><Relationship Id="rId16" Type="http://schemas.openxmlformats.org/officeDocument/2006/relationships/image" Target="../media/image82.png"/><Relationship Id="rId17" Type="http://schemas.openxmlformats.org/officeDocument/2006/relationships/image" Target="../media/image83.png"/><Relationship Id="rId18" Type="http://schemas.openxmlformats.org/officeDocument/2006/relationships/image" Target="../media/image84.png"/><Relationship Id="rId19" Type="http://schemas.openxmlformats.org/officeDocument/2006/relationships/image" Target="../media/image85.svg"/><Relationship Id="rId20" Type="http://schemas.openxmlformats.org/officeDocument/2006/relationships/image" Target="../media/image86.png"/><Relationship Id="rId21" Type="http://schemas.openxmlformats.org/officeDocument/2006/relationships/image" Target="../media/image87.svg"/><Relationship Id="rId22" Type="http://schemas.openxmlformats.org/officeDocument/2006/relationships/image" Target="../media/image88.png"/><Relationship Id="rId23" Type="http://schemas.openxmlformats.org/officeDocument/2006/relationships/image" Target="../media/image89.svg"/><Relationship Id="rId24" Type="http://schemas.openxmlformats.org/officeDocument/2006/relationships/slideLayout" Target="../slideLayouts/slideLayout1.xml"/><Relationship Id="rId25"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90.png"/><Relationship Id="rId5" Type="http://schemas.openxmlformats.org/officeDocument/2006/relationships/image" Target="../media/image91.png"/><Relationship Id="rId6" Type="http://schemas.openxmlformats.org/officeDocument/2006/relationships/image" Target="../media/image32.png"/><Relationship Id="rId7" Type="http://schemas.openxmlformats.org/officeDocument/2006/relationships/image" Target="../media/image92.png"/><Relationship Id="rId8" Type="http://schemas.openxmlformats.org/officeDocument/2006/relationships/image" Target="../media/image93.png"/><Relationship Id="rId9" Type="http://schemas.openxmlformats.org/officeDocument/2006/relationships/image" Target="../media/image94.png"/><Relationship Id="rId10" Type="http://schemas.openxmlformats.org/officeDocument/2006/relationships/image" Target="../media/image95.png"/><Relationship Id="rId11" Type="http://schemas.openxmlformats.org/officeDocument/2006/relationships/image" Target="../media/image96.svg"/><Relationship Id="rId12" Type="http://schemas.openxmlformats.org/officeDocument/2006/relationships/image" Target="../media/image97.png"/><Relationship Id="rId13" Type="http://schemas.openxmlformats.org/officeDocument/2006/relationships/image" Target="../media/image98.png"/><Relationship Id="rId14" Type="http://schemas.openxmlformats.org/officeDocument/2006/relationships/image" Target="../media/image99.png"/><Relationship Id="rId15" Type="http://schemas.openxmlformats.org/officeDocument/2006/relationships/image" Target="../media/image100.svg"/><Relationship Id="rId16" Type="http://schemas.openxmlformats.org/officeDocument/2006/relationships/image" Target="../media/image101.png"/><Relationship Id="rId17" Type="http://schemas.openxmlformats.org/officeDocument/2006/relationships/image" Target="../media/image102.svg"/><Relationship Id="rId18" Type="http://schemas.openxmlformats.org/officeDocument/2006/relationships/image" Target="../media/image103.png"/><Relationship Id="rId19" Type="http://schemas.openxmlformats.org/officeDocument/2006/relationships/image" Target="../media/image104.svg"/><Relationship Id="rId20" Type="http://schemas.openxmlformats.org/officeDocument/2006/relationships/image" Target="../media/image105.png"/><Relationship Id="rId21" Type="http://schemas.openxmlformats.org/officeDocument/2006/relationships/package" Target="../embeddings/Document2.docx"/><Relationship Id="rId22" Type="http://schemas.openxmlformats.org/officeDocument/2006/relationships/image" Target="../media/image106.wmf"/><Relationship Id="rId23" Type="http://schemas.openxmlformats.org/officeDocument/2006/relationships/slideLayout" Target="../slideLayouts/slideLayout1.xml"/><Relationship Id="rId24" Type="http://schemas.openxmlformats.org/officeDocument/2006/relationships/vmlDrawing" Target="../drawings/vmlDrawing2.vml"/><Relationship Id="rId25"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tags" Target="../tags/tag1.xml"/><Relationship Id="rId5" Type="http://schemas.openxmlformats.org/officeDocument/2006/relationships/image" Target="../media/image107.png"/><Relationship Id="rId6" Type="http://schemas.openxmlformats.org/officeDocument/2006/relationships/tags" Target="../tags/tag2.xml"/><Relationship Id="rId7" Type="http://schemas.openxmlformats.org/officeDocument/2006/relationships/tags" Target="../tags/tag3.xml"/><Relationship Id="rId8" Type="http://schemas.openxmlformats.org/officeDocument/2006/relationships/tags" Target="../tags/tag4.xml"/><Relationship Id="rId9" Type="http://schemas.openxmlformats.org/officeDocument/2006/relationships/tags" Target="../tags/tag5.xml"/><Relationship Id="rId10" Type="http://schemas.openxmlformats.org/officeDocument/2006/relationships/image" Target="../media/image108.png"/><Relationship Id="rId11" Type="http://schemas.openxmlformats.org/officeDocument/2006/relationships/tags" Target="../tags/tag6.xml"/><Relationship Id="rId12" Type="http://schemas.openxmlformats.org/officeDocument/2006/relationships/tags" Target="../tags/tag7.xml"/><Relationship Id="rId13" Type="http://schemas.openxmlformats.org/officeDocument/2006/relationships/tags" Target="../tags/tag8.xml"/><Relationship Id="rId14" Type="http://schemas.openxmlformats.org/officeDocument/2006/relationships/tags" Target="../tags/tag9.xml"/><Relationship Id="rId15" Type="http://schemas.openxmlformats.org/officeDocument/2006/relationships/image" Target="../media/image109.png"/><Relationship Id="rId16" Type="http://schemas.openxmlformats.org/officeDocument/2006/relationships/tags" Target="../tags/tag10.xml"/><Relationship Id="rId17" Type="http://schemas.openxmlformats.org/officeDocument/2006/relationships/tags" Target="../tags/tag11.xml"/><Relationship Id="rId18" Type="http://schemas.openxmlformats.org/officeDocument/2006/relationships/tags" Target="../tags/tag12.xml"/><Relationship Id="rId19" Type="http://schemas.openxmlformats.org/officeDocument/2006/relationships/tags" Target="../tags/tag13.xml"/><Relationship Id="rId20" Type="http://schemas.openxmlformats.org/officeDocument/2006/relationships/image" Target="../media/image110.png"/><Relationship Id="rId21" Type="http://schemas.openxmlformats.org/officeDocument/2006/relationships/tags" Target="../tags/tag14.xml"/><Relationship Id="rId22" Type="http://schemas.openxmlformats.org/officeDocument/2006/relationships/tags" Target="../tags/tag15.xml"/><Relationship Id="rId23" Type="http://schemas.openxmlformats.org/officeDocument/2006/relationships/tags" Target="../tags/tag16.xml"/><Relationship Id="rId24" Type="http://schemas.openxmlformats.org/officeDocument/2006/relationships/image" Target="../media/image111.png"/><Relationship Id="rId25" Type="http://schemas.openxmlformats.org/officeDocument/2006/relationships/slideLayout" Target="../slideLayouts/slideLayout1.xml"/><Relationship Id="rId26"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12.png"/><Relationship Id="rId5" Type="http://schemas.openxmlformats.org/officeDocument/2006/relationships/image" Target="../media/image113.png"/><Relationship Id="rId6" Type="http://schemas.openxmlformats.org/officeDocument/2006/relationships/image" Target="../media/image114.png"/><Relationship Id="rId7" Type="http://schemas.openxmlformats.org/officeDocument/2006/relationships/image" Target="../media/image115.png"/><Relationship Id="rId8" Type="http://schemas.openxmlformats.org/officeDocument/2006/relationships/image" Target="../media/image116.svg"/><Relationship Id="rId9" Type="http://schemas.openxmlformats.org/officeDocument/2006/relationships/image" Target="../media/image117.png"/><Relationship Id="rId10" Type="http://schemas.openxmlformats.org/officeDocument/2006/relationships/image" Target="../media/image118.png"/><Relationship Id="rId11" Type="http://schemas.openxmlformats.org/officeDocument/2006/relationships/slideLayout" Target="../slideLayouts/slideLayout1.xml"/><Relationship Id="rId1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19.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20.png"/><Relationship Id="rId5" Type="http://schemas.openxmlformats.org/officeDocument/2006/relationships/image" Target="../media/image121.png"/><Relationship Id="rId6" Type="http://schemas.openxmlformats.org/officeDocument/2006/relationships/image" Target="../media/image122.png"/><Relationship Id="rId7" Type="http://schemas.openxmlformats.org/officeDocument/2006/relationships/image" Target="../media/image123.png"/><Relationship Id="rId8" Type="http://schemas.openxmlformats.org/officeDocument/2006/relationships/image" Target="../media/image124.png"/><Relationship Id="rId9" Type="http://schemas.openxmlformats.org/officeDocument/2006/relationships/image" Target="../media/image125.png"/><Relationship Id="rId10" Type="http://schemas.openxmlformats.org/officeDocument/2006/relationships/image" Target="../media/image126.png"/><Relationship Id="rId11" Type="http://schemas.openxmlformats.org/officeDocument/2006/relationships/image" Target="../media/image127.png"/><Relationship Id="rId12" Type="http://schemas.openxmlformats.org/officeDocument/2006/relationships/image" Target="../media/image128.png"/><Relationship Id="rId13" Type="http://schemas.openxmlformats.org/officeDocument/2006/relationships/image" Target="../media/image129.svg"/><Relationship Id="rId14" Type="http://schemas.openxmlformats.org/officeDocument/2006/relationships/image" Target="../media/image130.png"/><Relationship Id="rId15" Type="http://schemas.openxmlformats.org/officeDocument/2006/relationships/image" Target="../media/image131.png"/><Relationship Id="rId16" Type="http://schemas.openxmlformats.org/officeDocument/2006/relationships/image" Target="../media/image132.png"/><Relationship Id="rId17" Type="http://schemas.openxmlformats.org/officeDocument/2006/relationships/image" Target="../media/image133.svg"/><Relationship Id="rId18" Type="http://schemas.openxmlformats.org/officeDocument/2006/relationships/image" Target="../media/image134.png"/><Relationship Id="rId19" Type="http://schemas.openxmlformats.org/officeDocument/2006/relationships/image" Target="../media/image135.png"/><Relationship Id="rId20" Type="http://schemas.openxmlformats.org/officeDocument/2006/relationships/image" Target="../media/image136.png"/><Relationship Id="rId21" Type="http://schemas.openxmlformats.org/officeDocument/2006/relationships/image" Target="../media/image137.png"/><Relationship Id="rId22" Type="http://schemas.openxmlformats.org/officeDocument/2006/relationships/image" Target="../media/image138.png"/><Relationship Id="rId23" Type="http://schemas.openxmlformats.org/officeDocument/2006/relationships/image" Target="../media/image139.svg"/><Relationship Id="rId24" Type="http://schemas.openxmlformats.org/officeDocument/2006/relationships/package" Target="../embeddings/Document3.docx"/><Relationship Id="rId25" Type="http://schemas.openxmlformats.org/officeDocument/2006/relationships/image" Target="../media/image140.wmf"/><Relationship Id="rId26" Type="http://schemas.openxmlformats.org/officeDocument/2006/relationships/slideLayout" Target="../slideLayouts/slideLayout1.xml"/><Relationship Id="rId27" Type="http://schemas.openxmlformats.org/officeDocument/2006/relationships/vmlDrawing" Target="../drawings/vmlDrawing3.vml"/><Relationship Id="rId28"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1.png"/><Relationship Id="rId3" Type="http://schemas.openxmlformats.org/officeDocument/2006/relationships/image" Target="../media/image12.png"/><Relationship Id="rId5" Type="http://schemas.openxmlformats.org/officeDocument/2006/relationships/image" Target="../media/image204_901.wmf"/><Relationship Id="rId6"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90.png"/><Relationship Id="rId5" Type="http://schemas.openxmlformats.org/officeDocument/2006/relationships/image" Target="../media/image91.png"/><Relationship Id="rId6" Type="http://schemas.openxmlformats.org/officeDocument/2006/relationships/image" Target="../media/image32.png"/><Relationship Id="rId7" Type="http://schemas.openxmlformats.org/officeDocument/2006/relationships/image" Target="../media/image92.png"/><Relationship Id="rId8" Type="http://schemas.openxmlformats.org/officeDocument/2006/relationships/image" Target="../media/image93.png"/><Relationship Id="rId9" Type="http://schemas.openxmlformats.org/officeDocument/2006/relationships/image" Target="../media/image94.png"/><Relationship Id="rId10" Type="http://schemas.openxmlformats.org/officeDocument/2006/relationships/image" Target="../media/image95.png"/><Relationship Id="rId11" Type="http://schemas.openxmlformats.org/officeDocument/2006/relationships/image" Target="../media/image96.svg"/><Relationship Id="rId12" Type="http://schemas.openxmlformats.org/officeDocument/2006/relationships/image" Target="../media/image97.png"/><Relationship Id="rId13" Type="http://schemas.openxmlformats.org/officeDocument/2006/relationships/image" Target="../media/image98.png"/><Relationship Id="rId14" Type="http://schemas.openxmlformats.org/officeDocument/2006/relationships/image" Target="../media/image99.png"/><Relationship Id="rId15" Type="http://schemas.openxmlformats.org/officeDocument/2006/relationships/image" Target="../media/image100.svg"/><Relationship Id="rId16" Type="http://schemas.openxmlformats.org/officeDocument/2006/relationships/image" Target="../media/image101.png"/><Relationship Id="rId17" Type="http://schemas.openxmlformats.org/officeDocument/2006/relationships/image" Target="../media/image102.svg"/><Relationship Id="rId18" Type="http://schemas.openxmlformats.org/officeDocument/2006/relationships/image" Target="../media/image103.png"/><Relationship Id="rId19" Type="http://schemas.openxmlformats.org/officeDocument/2006/relationships/image" Target="../media/image104.svg"/><Relationship Id="rId20" Type="http://schemas.openxmlformats.org/officeDocument/2006/relationships/image" Target="../media/image105.png"/><Relationship Id="rId21" Type="http://schemas.openxmlformats.org/officeDocument/2006/relationships/package" Target="../embeddings/Document2.docx"/><Relationship Id="rId22" Type="http://schemas.openxmlformats.org/officeDocument/2006/relationships/image" Target="../media/image106.wmf"/><Relationship Id="rId23" Type="http://schemas.openxmlformats.org/officeDocument/2006/relationships/slideLayout" Target="../slideLayouts/slideLayout1.xml"/><Relationship Id="rId24" Type="http://schemas.openxmlformats.org/officeDocument/2006/relationships/vmlDrawing" Target="../drawings/vmlDrawing2.vml"/></Relationships>
</file>

<file path=ppt/slides/_rels/slide2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41.png"/><Relationship Id="rId5" Type="http://schemas.openxmlformats.org/officeDocument/2006/relationships/image" Target="../media/image142.svg"/><Relationship Id="rId6" Type="http://schemas.openxmlformats.org/officeDocument/2006/relationships/tags" Target="../tags/tag17.xml"/><Relationship Id="rId7" Type="http://schemas.openxmlformats.org/officeDocument/2006/relationships/image" Target="../media/image143.png"/><Relationship Id="rId8" Type="http://schemas.openxmlformats.org/officeDocument/2006/relationships/tags" Target="../tags/tag18.xml"/><Relationship Id="rId9" Type="http://schemas.openxmlformats.org/officeDocument/2006/relationships/tags" Target="../tags/tag19.xml"/><Relationship Id="rId10" Type="http://schemas.openxmlformats.org/officeDocument/2006/relationships/tags" Target="../tags/tag20.xml"/><Relationship Id="rId11" Type="http://schemas.openxmlformats.org/officeDocument/2006/relationships/image" Target="../media/image144.png"/><Relationship Id="rId12" Type="http://schemas.openxmlformats.org/officeDocument/2006/relationships/image" Target="../media/image116.svg"/><Relationship Id="rId13" Type="http://schemas.openxmlformats.org/officeDocument/2006/relationships/tags" Target="../tags/tag21.xml"/><Relationship Id="rId14" Type="http://schemas.openxmlformats.org/officeDocument/2006/relationships/tags" Target="../tags/tag22.xml"/><Relationship Id="rId15" Type="http://schemas.openxmlformats.org/officeDocument/2006/relationships/tags" Target="../tags/tag23.xml"/><Relationship Id="rId16" Type="http://schemas.openxmlformats.org/officeDocument/2006/relationships/tags" Target="../tags/tag24.xml"/><Relationship Id="rId17" Type="http://schemas.openxmlformats.org/officeDocument/2006/relationships/tags" Target="../tags/tag25.xml"/><Relationship Id="rId18" Type="http://schemas.openxmlformats.org/officeDocument/2006/relationships/image" Target="../media/image145.png"/><Relationship Id="rId19" Type="http://schemas.openxmlformats.org/officeDocument/2006/relationships/tags" Target="../tags/tag26.xml"/><Relationship Id="rId20" Type="http://schemas.openxmlformats.org/officeDocument/2006/relationships/tags" Target="../tags/tag27.xml"/><Relationship Id="rId21" Type="http://schemas.openxmlformats.org/officeDocument/2006/relationships/tags" Target="../tags/tag28.xml"/><Relationship Id="rId22" Type="http://schemas.openxmlformats.org/officeDocument/2006/relationships/tags" Target="../tags/tag29.xml"/><Relationship Id="rId23" Type="http://schemas.openxmlformats.org/officeDocument/2006/relationships/tags" Target="../tags/tag30.xml"/><Relationship Id="rId24" Type="http://schemas.openxmlformats.org/officeDocument/2006/relationships/image" Target="../media/image146.png"/><Relationship Id="rId25" Type="http://schemas.openxmlformats.org/officeDocument/2006/relationships/tags" Target="../tags/tag31.xml"/><Relationship Id="rId26" Type="http://schemas.openxmlformats.org/officeDocument/2006/relationships/tags" Target="../tags/tag32.xml"/><Relationship Id="rId27" Type="http://schemas.openxmlformats.org/officeDocument/2006/relationships/tags" Target="../tags/tag33.xml"/><Relationship Id="rId28" Type="http://schemas.openxmlformats.org/officeDocument/2006/relationships/tags" Target="../tags/tag34.xml"/><Relationship Id="rId29" Type="http://schemas.openxmlformats.org/officeDocument/2006/relationships/tags" Target="../tags/tag35.xml"/><Relationship Id="rId30" Type="http://schemas.openxmlformats.org/officeDocument/2006/relationships/image" Target="../media/image147.png"/><Relationship Id="rId31" Type="http://schemas.openxmlformats.org/officeDocument/2006/relationships/tags" Target="../tags/tag36.xml"/><Relationship Id="rId32" Type="http://schemas.openxmlformats.org/officeDocument/2006/relationships/tags" Target="../tags/tag37.xml"/><Relationship Id="rId33" Type="http://schemas.openxmlformats.org/officeDocument/2006/relationships/tags" Target="../tags/tag38.xml"/><Relationship Id="rId34" Type="http://schemas.openxmlformats.org/officeDocument/2006/relationships/tags" Target="../tags/tag39.xml"/><Relationship Id="rId35" Type="http://schemas.openxmlformats.org/officeDocument/2006/relationships/tags" Target="../tags/tag40.xml"/><Relationship Id="rId36" Type="http://schemas.openxmlformats.org/officeDocument/2006/relationships/image" Target="../media/image148.png"/><Relationship Id="rId37" Type="http://schemas.openxmlformats.org/officeDocument/2006/relationships/tags" Target="../tags/tag41.xml"/><Relationship Id="rId38" Type="http://schemas.openxmlformats.org/officeDocument/2006/relationships/tags" Target="../tags/tag42.xml"/><Relationship Id="rId39" Type="http://schemas.openxmlformats.org/officeDocument/2006/relationships/tags" Target="../tags/tag43.xml"/><Relationship Id="rId40" Type="http://schemas.openxmlformats.org/officeDocument/2006/relationships/tags" Target="../tags/tag44.xml"/><Relationship Id="rId41" Type="http://schemas.openxmlformats.org/officeDocument/2006/relationships/tags" Target="../tags/tag45.xml"/><Relationship Id="rId42" Type="http://schemas.openxmlformats.org/officeDocument/2006/relationships/image" Target="../media/image149.png"/><Relationship Id="rId43" Type="http://schemas.openxmlformats.org/officeDocument/2006/relationships/tags" Target="../tags/tag46.xml"/><Relationship Id="rId44" Type="http://schemas.openxmlformats.org/officeDocument/2006/relationships/tags" Target="../tags/tag47.xml"/><Relationship Id="rId45" Type="http://schemas.openxmlformats.org/officeDocument/2006/relationships/image" Target="../media/image150.png"/><Relationship Id="rId46" Type="http://schemas.openxmlformats.org/officeDocument/2006/relationships/tags" Target="../tags/tag48.xml"/><Relationship Id="rId47" Type="http://schemas.openxmlformats.org/officeDocument/2006/relationships/image" Target="../media/image151.png"/><Relationship Id="rId48" Type="http://schemas.openxmlformats.org/officeDocument/2006/relationships/tags" Target="../tags/tag49.xml"/><Relationship Id="rId49" Type="http://schemas.openxmlformats.org/officeDocument/2006/relationships/image" Target="../media/image152.png"/><Relationship Id="rId50" Type="http://schemas.openxmlformats.org/officeDocument/2006/relationships/image" Target="../media/image89.svg"/><Relationship Id="rId51" Type="http://schemas.openxmlformats.org/officeDocument/2006/relationships/slideLayout" Target="../slideLayouts/slideLayout1.xml"/><Relationship Id="rId52" Type="http://schemas.openxmlformats.org/officeDocument/2006/relationships/notesSlide" Target="../notesSlides/notesSlide15.xml"/></Relationships>
</file>

<file path=ppt/slides/_rels/slide25.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73.png"/><Relationship Id="rId5" Type="http://schemas.openxmlformats.org/officeDocument/2006/relationships/image" Target="../media/image174.png"/><Relationship Id="rId6" Type="http://schemas.openxmlformats.org/officeDocument/2006/relationships/image" Target="../media/image175.svg"/><Relationship Id="rId7" Type="http://schemas.openxmlformats.org/officeDocument/2006/relationships/image" Target="../media/image176.png"/><Relationship Id="rId8" Type="http://schemas.openxmlformats.org/officeDocument/2006/relationships/image" Target="../media/image177.svg"/><Relationship Id="rId9" Type="http://schemas.openxmlformats.org/officeDocument/2006/relationships/image" Target="../media/image178.png"/><Relationship Id="rId10" Type="http://schemas.openxmlformats.org/officeDocument/2006/relationships/image" Target="../media/image179.svg"/><Relationship Id="rId11" Type="http://schemas.openxmlformats.org/officeDocument/2006/relationships/image" Target="../media/image180.png"/><Relationship Id="rId12" Type="http://schemas.openxmlformats.org/officeDocument/2006/relationships/image" Target="../media/image181.png"/><Relationship Id="rId13" Type="http://schemas.openxmlformats.org/officeDocument/2006/relationships/image" Target="../media/image182.png"/><Relationship Id="rId14" Type="http://schemas.openxmlformats.org/officeDocument/2006/relationships/image" Target="../media/image183.png"/><Relationship Id="rId15" Type="http://schemas.openxmlformats.org/officeDocument/2006/relationships/image" Target="../media/image184.png"/><Relationship Id="rId16" Type="http://schemas.openxmlformats.org/officeDocument/2006/relationships/image" Target="../media/image185.png"/><Relationship Id="rId17" Type="http://schemas.openxmlformats.org/officeDocument/2006/relationships/image" Target="../media/image186.png"/><Relationship Id="rId18" Type="http://schemas.openxmlformats.org/officeDocument/2006/relationships/image" Target="../media/image187.png"/><Relationship Id="rId19" Type="http://schemas.openxmlformats.org/officeDocument/2006/relationships/image" Target="../media/image188.png"/><Relationship Id="rId20" Type="http://schemas.openxmlformats.org/officeDocument/2006/relationships/image" Target="../media/image189.png"/><Relationship Id="rId21" Type="http://schemas.openxmlformats.org/officeDocument/2006/relationships/image" Target="../media/image190.png"/><Relationship Id="rId22" Type="http://schemas.openxmlformats.org/officeDocument/2006/relationships/image" Target="../media/image191.svg"/><Relationship Id="rId23" Type="http://schemas.openxmlformats.org/officeDocument/2006/relationships/slideLayout" Target="../slideLayouts/slideLayout1.xml"/><Relationship Id="rId24"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92.png"/><Relationship Id="rId5" Type="http://schemas.openxmlformats.org/officeDocument/2006/relationships/image" Target="../media/image193.png"/><Relationship Id="rId6" Type="http://schemas.openxmlformats.org/officeDocument/2006/relationships/image" Target="../media/image194.png"/><Relationship Id="rId7" Type="http://schemas.openxmlformats.org/officeDocument/2006/relationships/image" Target="../media/image195.png"/><Relationship Id="rId8" Type="http://schemas.openxmlformats.org/officeDocument/2006/relationships/image" Target="../media/image196.png"/><Relationship Id="rId9" Type="http://schemas.openxmlformats.org/officeDocument/2006/relationships/image" Target="../media/image197.png"/><Relationship Id="rId10" Type="http://schemas.openxmlformats.org/officeDocument/2006/relationships/image" Target="../media/image198.png"/><Relationship Id="rId11" Type="http://schemas.openxmlformats.org/officeDocument/2006/relationships/image" Target="../media/image199.png"/><Relationship Id="rId12" Type="http://schemas.openxmlformats.org/officeDocument/2006/relationships/image" Target="../media/image200.png"/><Relationship Id="rId13" Type="http://schemas.openxmlformats.org/officeDocument/2006/relationships/image" Target="../media/image201.png"/><Relationship Id="rId14" Type="http://schemas.openxmlformats.org/officeDocument/2006/relationships/image" Target="../media/image202.svg"/><Relationship Id="rId15" Type="http://schemas.openxmlformats.org/officeDocument/2006/relationships/slideLayout" Target="../slideLayouts/slideLayout1.xml"/><Relationship Id="rId16"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203.png"/><Relationship Id="rId5" Type="http://schemas.openxmlformats.org/officeDocument/2006/relationships/image" Target="../media/image204.png"/><Relationship Id="rId6" Type="http://schemas.openxmlformats.org/officeDocument/2006/relationships/package" Target="../embeddings/Document4.docx"/><Relationship Id="rId7" Type="http://schemas.openxmlformats.org/officeDocument/2006/relationships/image" Target="../media/image205.wmf"/><Relationship Id="rId8" Type="http://schemas.openxmlformats.org/officeDocument/2006/relationships/slideLayout" Target="../slideLayouts/slideLayout1.xml"/><Relationship Id="rId9" Type="http://schemas.openxmlformats.org/officeDocument/2006/relationships/vmlDrawing" Target="../drawings/vmlDrawing4.vml"/><Relationship Id="rId10"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206.png"/><Relationship Id="rId5" Type="http://schemas.openxmlformats.org/officeDocument/2006/relationships/image" Target="../media/image207.svg"/><Relationship Id="rId6" Type="http://schemas.openxmlformats.org/officeDocument/2006/relationships/image" Target="../media/image208.png"/><Relationship Id="rId7" Type="http://schemas.openxmlformats.org/officeDocument/2006/relationships/image" Target="../media/image209.png"/><Relationship Id="rId8" Type="http://schemas.openxmlformats.org/officeDocument/2006/relationships/image" Target="../media/image210.png"/><Relationship Id="rId9" Type="http://schemas.openxmlformats.org/officeDocument/2006/relationships/image" Target="../media/image211.png"/><Relationship Id="rId10" Type="http://schemas.openxmlformats.org/officeDocument/2006/relationships/image" Target="../media/image212.svg"/><Relationship Id="rId11" Type="http://schemas.openxmlformats.org/officeDocument/2006/relationships/image" Target="../media/image213.png"/><Relationship Id="rId12" Type="http://schemas.openxmlformats.org/officeDocument/2006/relationships/image" Target="../media/image214.png"/><Relationship Id="rId13" Type="http://schemas.openxmlformats.org/officeDocument/2006/relationships/image" Target="../media/image215.svg"/><Relationship Id="rId14" Type="http://schemas.openxmlformats.org/officeDocument/2006/relationships/slideLayout" Target="../slideLayouts/slideLayout1.xml"/><Relationship Id="rId15"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25E9D"/>
        </a:solidFill>
        <a:effectLst/>
      </p:bgPr>
    </p:bg>
    <p:spTree>
      <p:nvGrpSpPr>
        <p:cNvPr id="1" name=""/>
        <p:cNvGrpSpPr/>
        <p:nvPr/>
      </p:nvGrpSpPr>
      <p:grpSpPr>
        <a:xfrm>
          <a:off x="0" y="0"/>
          <a:ext cx="0" cy="0"/>
          <a:chOff x="0" y="0"/>
          <a:chExt cx="0" cy="0"/>
        </a:xfrm>
      </p:grpSpPr>
      <p:pic>
        <p:nvPicPr>
          <p:cNvPr id="2" name="Image 0" descr="https://test.web.static.jianzeppt.com/ppt-temp-img3/4bbf78d39a1ae7d50fa38e3b11fcab97.png"/>
          <p:cNvPicPr>
            <a:picLocks noChangeAspect="1"/>
          </p:cNvPicPr>
          <p:nvPr/>
        </p:nvPicPr>
        <p:blipFill>
          <a:blip r:embed="rId1"/>
          <a:stretch>
            <a:fillRect/>
          </a:stretch>
        </p:blipFill>
        <p:spPr>
          <a:xfrm>
            <a:off x="0" y="0"/>
            <a:ext cx="12192000" cy="6858000"/>
          </a:xfrm>
          <a:prstGeom prst="rect">
            <a:avLst/>
          </a:prstGeom>
        </p:spPr>
      </p:pic>
      <p:pic>
        <p:nvPicPr>
          <p:cNvPr id="3" name="Image 1" descr="https://test.web.static.jianzeppt.com/ppt-temp-img3/53c8b2a610a31b616cbf03a52510cc95.png"/>
          <p:cNvPicPr>
            <a:picLocks noChangeAspect="1"/>
          </p:cNvPicPr>
          <p:nvPr/>
        </p:nvPicPr>
        <p:blipFill>
          <a:blip r:embed="rId2"/>
          <a:stretch>
            <a:fillRect/>
          </a:stretch>
        </p:blipFill>
        <p:spPr>
          <a:xfrm>
            <a:off x="4157596" y="-13894"/>
            <a:ext cx="8051010" cy="6858000"/>
          </a:xfrm>
          <a:prstGeom prst="rect">
            <a:avLst/>
          </a:prstGeom>
        </p:spPr>
      </p:pic>
      <p:pic>
        <p:nvPicPr>
          <p:cNvPr id="4" name="Image 2" descr="https://test.web.static.jianzeppt.com/ppt-temp-img3/eaa44f0a61b44187c8898f2fb3b10ead.png"/>
          <p:cNvPicPr>
            <a:picLocks noChangeAspect="1"/>
          </p:cNvPicPr>
          <p:nvPr/>
        </p:nvPicPr>
        <p:blipFill>
          <a:blip r:embed="rId3"/>
          <a:stretch>
            <a:fillRect/>
          </a:stretch>
        </p:blipFill>
        <p:spPr>
          <a:xfrm>
            <a:off x="0" y="-2"/>
            <a:ext cx="1799718" cy="1829017"/>
          </a:xfrm>
          <a:prstGeom prst="rect">
            <a:avLst/>
          </a:prstGeom>
        </p:spPr>
      </p:pic>
      <p:pic>
        <p:nvPicPr>
          <p:cNvPr id="5" name="Image 3" descr="https://test.web.static.jianzeppt.com/ppt-temp-img3/d51ae2a74993343c0d3360504948edf8.png"/>
          <p:cNvPicPr>
            <a:picLocks noChangeAspect="1"/>
          </p:cNvPicPr>
          <p:nvPr/>
        </p:nvPicPr>
        <p:blipFill>
          <a:blip r:embed="rId4"/>
          <a:stretch>
            <a:fillRect/>
          </a:stretch>
        </p:blipFill>
        <p:spPr>
          <a:xfrm>
            <a:off x="0" y="808901"/>
            <a:ext cx="961132" cy="1724746"/>
          </a:xfrm>
          <a:prstGeom prst="rect">
            <a:avLst/>
          </a:prstGeom>
        </p:spPr>
      </p:pic>
      <p:pic>
        <p:nvPicPr>
          <p:cNvPr id="6" name="Image 4" descr="https://test.web.static.jianzeppt.com/ppt-temp-img3/b3f94c3112269735e7d84215f42c9738.png"/>
          <p:cNvPicPr>
            <a:picLocks noChangeAspect="1"/>
          </p:cNvPicPr>
          <p:nvPr/>
        </p:nvPicPr>
        <p:blipFill>
          <a:blip r:embed="rId5"/>
          <a:stretch>
            <a:fillRect/>
          </a:stretch>
        </p:blipFill>
        <p:spPr>
          <a:xfrm>
            <a:off x="487069" y="4530971"/>
            <a:ext cx="3482974" cy="637829"/>
          </a:xfrm>
          <a:prstGeom prst="rect">
            <a:avLst/>
          </a:prstGeom>
        </p:spPr>
      </p:pic>
      <p:pic>
        <p:nvPicPr>
          <p:cNvPr id="7" name="Image 5" descr="https://test.web.static.jianzeppt.com/ppt-temp-img3/c7fcd71bde55d7089a0a7c912de83d8a.png"/>
          <p:cNvPicPr>
            <a:picLocks noChangeAspect="1"/>
          </p:cNvPicPr>
          <p:nvPr/>
        </p:nvPicPr>
        <p:blipFill>
          <a:blip r:embed="rId6"/>
          <a:stretch>
            <a:fillRect/>
          </a:stretch>
        </p:blipFill>
        <p:spPr>
          <a:xfrm>
            <a:off x="10101383" y="2273111"/>
            <a:ext cx="2105868" cy="4595809"/>
          </a:xfrm>
          <a:prstGeom prst="rect">
            <a:avLst/>
          </a:prstGeom>
        </p:spPr>
      </p:pic>
      <p:pic>
        <p:nvPicPr>
          <p:cNvPr id="8" name="Image 6" descr="https://test.web.static.jianzeppt.com/ppt-temp-img3/785b4c7764742237954fb25c8a197f91.png"/>
          <p:cNvPicPr>
            <a:picLocks noChangeAspect="1"/>
          </p:cNvPicPr>
          <p:nvPr/>
        </p:nvPicPr>
        <p:blipFill>
          <a:blip r:embed="rId7"/>
          <a:stretch>
            <a:fillRect/>
          </a:stretch>
        </p:blipFill>
        <p:spPr>
          <a:xfrm>
            <a:off x="3782024" y="3802120"/>
            <a:ext cx="2104426" cy="3069770"/>
          </a:xfrm>
          <a:prstGeom prst="rect">
            <a:avLst/>
          </a:prstGeom>
        </p:spPr>
      </p:pic>
      <p:pic>
        <p:nvPicPr>
          <p:cNvPr id="9" name="Image 7" descr="https://test.web.static.jianzeppt.com/ppt-temp-img3/d6b73fd749a971aade8e0c5073b66807.png"/>
          <p:cNvPicPr>
            <a:picLocks noChangeAspect="1"/>
          </p:cNvPicPr>
          <p:nvPr/>
        </p:nvPicPr>
        <p:blipFill>
          <a:blip r:embed="rId8"/>
          <a:stretch>
            <a:fillRect/>
          </a:stretch>
        </p:blipFill>
        <p:spPr>
          <a:xfrm>
            <a:off x="9613224" y="2284033"/>
            <a:ext cx="2578776" cy="4584889"/>
          </a:xfrm>
          <a:prstGeom prst="rect">
            <a:avLst/>
          </a:prstGeom>
        </p:spPr>
      </p:pic>
      <p:sp>
        <p:nvSpPr>
          <p:cNvPr id="10" name="Text 0"/>
          <p:cNvSpPr/>
          <p:nvPr/>
        </p:nvSpPr>
        <p:spPr>
          <a:xfrm>
            <a:off x="577080" y="4577763"/>
            <a:ext cx="3321262" cy="544228"/>
          </a:xfrm>
          <a:prstGeom prst="rect">
            <a:avLst/>
          </a:prstGeom>
          <a:noFill/>
        </p:spPr>
        <p:txBody>
          <a:bodyPr wrap="square" lIns="0" tIns="0" rIns="0" bIns="0" rtlCol="0" anchor="ctr"/>
          <a:lstStyle/>
          <a:p>
            <a:pPr marL="0" indent="0" algn="ctr">
              <a:lnSpc>
                <a:spcPct val="120000"/>
              </a:lnSpc>
              <a:buNone/>
            </a:pPr>
            <a:r>
              <a:rPr lang="en-US" sz="2040" dirty="0">
                <a:solidFill>
                  <a:srgbClr val="000000"/>
                </a:solidFill>
              </a:rPr>
              <a:t>授课教师：杨迎</a:t>
            </a:r>
            <a:endParaRPr lang="en-US" sz="2040" dirty="0"/>
          </a:p>
        </p:txBody>
      </p:sp>
      <p:sp>
        <p:nvSpPr>
          <p:cNvPr id="11" name="Text 1"/>
          <p:cNvSpPr/>
          <p:nvPr/>
        </p:nvSpPr>
        <p:spPr>
          <a:xfrm>
            <a:off x="577068" y="1683313"/>
            <a:ext cx="5490553" cy="1828800"/>
          </a:xfrm>
          <a:prstGeom prst="rect">
            <a:avLst/>
          </a:prstGeom>
          <a:noFill/>
        </p:spPr>
        <p:txBody>
          <a:bodyPr wrap="square" lIns="0" tIns="0" rIns="0" bIns="0" rtlCol="0" anchor="b">
            <a:spAutoFit/>
          </a:bodyPr>
          <a:lstStyle/>
          <a:p>
            <a:pPr marL="0" indent="0" algn="l">
              <a:lnSpc>
                <a:spcPct val="120000"/>
              </a:lnSpc>
              <a:buNone/>
            </a:pPr>
            <a:r>
              <a:rPr lang="en-US" sz="6000" dirty="0">
                <a:solidFill>
                  <a:srgbClr val="FFFFFF"/>
                </a:solidFill>
              </a:rPr>
              <a:t>信息安全测评与风险评估</a:t>
            </a:r>
            <a:endParaRPr lang="en-US" sz="6000" dirty="0"/>
          </a:p>
        </p:txBody>
      </p:sp>
      <p:sp>
        <p:nvSpPr>
          <p:cNvPr id="12" name="Text 2"/>
          <p:cNvSpPr/>
          <p:nvPr/>
        </p:nvSpPr>
        <p:spPr>
          <a:xfrm>
            <a:off x="577068" y="3867726"/>
            <a:ext cx="4339657" cy="259080"/>
          </a:xfrm>
          <a:prstGeom prst="rect">
            <a:avLst/>
          </a:prstGeom>
          <a:noFill/>
        </p:spPr>
        <p:txBody>
          <a:bodyPr wrap="square" lIns="0" tIns="0" rIns="0" bIns="0" rtlCol="0" anchor="t">
            <a:spAutoFit/>
          </a:bodyPr>
          <a:lstStyle/>
          <a:p>
            <a:pPr marL="0" indent="0" algn="l">
              <a:lnSpc>
                <a:spcPct val="120000"/>
              </a:lnSpc>
              <a:buNone/>
            </a:pPr>
            <a:r>
              <a:rPr lang="en-US" sz="1680" dirty="0">
                <a:solidFill>
                  <a:srgbClr val="FFFFFF"/>
                </a:solidFill>
                <a:latin typeface="思源黑体 CN" pitchFamily="34" charset="0"/>
                <a:ea typeface="思源黑体 CN" pitchFamily="34" charset="-122"/>
                <a:cs typeface="思源黑体 CN" pitchFamily="34" charset="-120"/>
              </a:rPr>
              <a:t>4.5 漏洞扫描与结果分析</a:t>
            </a:r>
            <a:endParaRPr lang="en-US" sz="16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3d7a216c70ecba8f9c09a39add3fad53_6317120.png?x-oss-process=image/resize,w_1440,h_800,m_lfit/format,png"/>
          <p:cNvPicPr>
            <a:picLocks noChangeAspect="1"/>
          </p:cNvPicPr>
          <p:nvPr/>
        </p:nvPicPr>
        <p:blipFill>
          <a:blip r:embed="rId2"/>
          <a:stretch>
            <a:fillRect/>
          </a:stretch>
        </p:blipFill>
        <p:spPr>
          <a:xfrm>
            <a:off x="194345" y="245378"/>
            <a:ext cx="11803310" cy="6367244"/>
          </a:xfrm>
          <a:prstGeom prst="rect">
            <a:avLst/>
          </a:prstGeom>
        </p:spPr>
      </p:pic>
      <p:sp>
        <p:nvSpPr>
          <p:cNvPr id="4" name="Text 0"/>
          <p:cNvSpPr/>
          <p:nvPr/>
        </p:nvSpPr>
        <p:spPr>
          <a:xfrm>
            <a:off x="5769119" y="1653024"/>
            <a:ext cx="1267993" cy="512064"/>
          </a:xfrm>
          <a:prstGeom prst="rect">
            <a:avLst/>
          </a:prstGeom>
          <a:noFill/>
        </p:spPr>
        <p:txBody>
          <a:bodyPr wrap="square" lIns="0" tIns="0" rIns="0" bIns="0" rtlCol="0" anchor="b">
            <a:spAutoFit/>
          </a:bodyPr>
          <a:lstStyle/>
          <a:p>
            <a:pPr marL="0" indent="0" algn="ctr">
              <a:lnSpc>
                <a:spcPct val="120000"/>
              </a:lnSpc>
              <a:buNone/>
            </a:pPr>
            <a:r>
              <a:rPr lang="en-US" sz="3360" dirty="0">
                <a:solidFill>
                  <a:srgbClr val="000000"/>
                </a:solidFill>
              </a:rPr>
              <a:t>01</a:t>
            </a:r>
            <a:endParaRPr lang="en-US" sz="3360" dirty="0"/>
          </a:p>
        </p:txBody>
      </p:sp>
      <p:sp>
        <p:nvSpPr>
          <p:cNvPr id="5" name="Text 1"/>
          <p:cNvSpPr/>
          <p:nvPr/>
        </p:nvSpPr>
        <p:spPr>
          <a:xfrm>
            <a:off x="5769119" y="2669616"/>
            <a:ext cx="1267993" cy="512064"/>
          </a:xfrm>
          <a:prstGeom prst="rect">
            <a:avLst/>
          </a:prstGeom>
          <a:noFill/>
        </p:spPr>
        <p:txBody>
          <a:bodyPr wrap="square" lIns="0" tIns="0" rIns="0" bIns="0" rtlCol="0" anchor="b">
            <a:spAutoFit/>
          </a:bodyPr>
          <a:lstStyle/>
          <a:p>
            <a:pPr marL="0" indent="0" algn="ctr">
              <a:lnSpc>
                <a:spcPct val="120000"/>
              </a:lnSpc>
              <a:buNone/>
            </a:pPr>
            <a:r>
              <a:rPr lang="en-US" sz="3360" dirty="0">
                <a:solidFill>
                  <a:srgbClr val="000000"/>
                </a:solidFill>
              </a:rPr>
              <a:t>02</a:t>
            </a:r>
            <a:endParaRPr lang="en-US" sz="3360" dirty="0"/>
          </a:p>
        </p:txBody>
      </p:sp>
      <p:sp>
        <p:nvSpPr>
          <p:cNvPr id="6" name="Text 2"/>
          <p:cNvSpPr/>
          <p:nvPr/>
        </p:nvSpPr>
        <p:spPr>
          <a:xfrm>
            <a:off x="5769119" y="3686208"/>
            <a:ext cx="1267993" cy="512064"/>
          </a:xfrm>
          <a:prstGeom prst="rect">
            <a:avLst/>
          </a:prstGeom>
          <a:noFill/>
        </p:spPr>
        <p:txBody>
          <a:bodyPr wrap="square" lIns="0" tIns="0" rIns="0" bIns="0" rtlCol="0" anchor="b">
            <a:spAutoFit/>
          </a:bodyPr>
          <a:lstStyle/>
          <a:p>
            <a:pPr marL="0" indent="0" algn="ctr">
              <a:lnSpc>
                <a:spcPct val="120000"/>
              </a:lnSpc>
              <a:buNone/>
            </a:pPr>
            <a:r>
              <a:rPr lang="en-US" sz="3360" dirty="0">
                <a:solidFill>
                  <a:srgbClr val="000000"/>
                </a:solidFill>
              </a:rPr>
              <a:t>03</a:t>
            </a:r>
            <a:endParaRPr lang="en-US" sz="3360" dirty="0"/>
          </a:p>
        </p:txBody>
      </p:sp>
      <p:sp>
        <p:nvSpPr>
          <p:cNvPr id="7" name="Text 3"/>
          <p:cNvSpPr/>
          <p:nvPr/>
        </p:nvSpPr>
        <p:spPr>
          <a:xfrm>
            <a:off x="5769119" y="4702801"/>
            <a:ext cx="1267993" cy="512064"/>
          </a:xfrm>
          <a:prstGeom prst="rect">
            <a:avLst/>
          </a:prstGeom>
          <a:noFill/>
        </p:spPr>
        <p:txBody>
          <a:bodyPr wrap="square" lIns="0" tIns="0" rIns="0" bIns="0" rtlCol="0" anchor="b">
            <a:spAutoFit/>
          </a:bodyPr>
          <a:lstStyle/>
          <a:p>
            <a:pPr marL="0" indent="0" algn="ctr">
              <a:lnSpc>
                <a:spcPct val="120000"/>
              </a:lnSpc>
              <a:buNone/>
            </a:pPr>
            <a:r>
              <a:rPr lang="en-US" sz="3360" dirty="0">
                <a:solidFill>
                  <a:srgbClr val="000000"/>
                </a:solidFill>
              </a:rPr>
              <a:t>04</a:t>
            </a:r>
            <a:endParaRPr lang="en-US" sz="3360" dirty="0"/>
          </a:p>
        </p:txBody>
      </p:sp>
      <p:sp>
        <p:nvSpPr>
          <p:cNvPr id="8" name="Text 4"/>
          <p:cNvSpPr/>
          <p:nvPr/>
        </p:nvSpPr>
        <p:spPr>
          <a:xfrm>
            <a:off x="965498" y="2799393"/>
            <a:ext cx="1769654" cy="731520"/>
          </a:xfrm>
          <a:prstGeom prst="rect">
            <a:avLst/>
          </a:prstGeom>
          <a:noFill/>
        </p:spPr>
        <p:txBody>
          <a:bodyPr wrap="square" lIns="0" tIns="0" rIns="0" bIns="0" rtlCol="0" anchor="b">
            <a:spAutoFit/>
          </a:bodyPr>
          <a:lstStyle/>
          <a:p>
            <a:pPr marL="0" indent="0" algn="l">
              <a:lnSpc>
                <a:spcPct val="120000"/>
              </a:lnSpc>
              <a:buNone/>
            </a:pPr>
            <a:r>
              <a:rPr lang="en-US" sz="4800" dirty="0">
                <a:solidFill>
                  <a:srgbClr val="000000"/>
                </a:solidFill>
              </a:rPr>
              <a:t>目录</a:t>
            </a:r>
            <a:endParaRPr lang="en-US" sz="4800" dirty="0"/>
          </a:p>
        </p:txBody>
      </p:sp>
      <p:sp>
        <p:nvSpPr>
          <p:cNvPr id="9" name="Text 5"/>
          <p:cNvSpPr/>
          <p:nvPr/>
        </p:nvSpPr>
        <p:spPr>
          <a:xfrm>
            <a:off x="953110" y="3733353"/>
            <a:ext cx="3150109" cy="310896"/>
          </a:xfrm>
          <a:prstGeom prst="rect">
            <a:avLst/>
          </a:prstGeom>
          <a:noFill/>
        </p:spPr>
        <p:txBody>
          <a:bodyPr wrap="square" lIns="0" tIns="0" rIns="0" bIns="0" rtlCol="0" anchor="ctr">
            <a:spAutoFit/>
          </a:bodyPr>
          <a:lstStyle/>
          <a:p>
            <a:pPr marL="0" indent="0" algn="l">
              <a:lnSpc>
                <a:spcPct val="120000"/>
              </a:lnSpc>
              <a:buNone/>
            </a:pPr>
            <a:r>
              <a:rPr lang="en-US" sz="2040" dirty="0">
                <a:solidFill>
                  <a:srgbClr val="000000"/>
                </a:solidFill>
              </a:rPr>
              <a:t>CONTENTS</a:t>
            </a:r>
            <a:endParaRPr lang="en-US" sz="2040" dirty="0"/>
          </a:p>
        </p:txBody>
      </p:sp>
      <p:sp>
        <p:nvSpPr>
          <p:cNvPr id="10" name="Text 6"/>
          <p:cNvSpPr/>
          <p:nvPr/>
        </p:nvSpPr>
        <p:spPr>
          <a:xfrm>
            <a:off x="7064048" y="4727345"/>
            <a:ext cx="4878288" cy="457200"/>
          </a:xfrm>
          <a:prstGeom prst="rect">
            <a:avLst/>
          </a:prstGeom>
          <a:noFill/>
        </p:spPr>
        <p:txBody>
          <a:bodyPr wrap="square" lIns="0" tIns="0" rIns="0" bIns="0" rtlCol="0" anchor="b">
            <a:spAutoFit/>
          </a:bodyPr>
          <a:lstStyle/>
          <a:p>
            <a:pPr marL="0" indent="0" algn="l">
              <a:lnSpc>
                <a:spcPct val="120000"/>
              </a:lnSpc>
              <a:buNone/>
            </a:pPr>
            <a:r>
              <a:rPr lang="en-US" sz="3000" dirty="0">
                <a:solidFill>
                  <a:srgbClr val="000000"/>
                </a:solidFill>
              </a:rPr>
              <a:t>回顾拓展：误报、整改优先级与下节预告</a:t>
            </a:r>
            <a:endParaRPr lang="en-US" sz="3000" dirty="0"/>
          </a:p>
        </p:txBody>
      </p:sp>
      <p:sp>
        <p:nvSpPr>
          <p:cNvPr id="11" name="Text 7"/>
          <p:cNvSpPr/>
          <p:nvPr/>
        </p:nvSpPr>
        <p:spPr>
          <a:xfrm>
            <a:off x="7064048" y="1677568"/>
            <a:ext cx="4878288" cy="914400"/>
          </a:xfrm>
          <a:prstGeom prst="rect">
            <a:avLst/>
          </a:prstGeom>
          <a:noFill/>
        </p:spPr>
        <p:txBody>
          <a:bodyPr wrap="square" lIns="0" tIns="0" rIns="0" bIns="0" rtlCol="0" anchor="b">
            <a:spAutoFit/>
          </a:bodyPr>
          <a:lstStyle/>
          <a:p>
            <a:pPr marL="0" indent="0" algn="l">
              <a:lnSpc>
                <a:spcPct val="120000"/>
              </a:lnSpc>
              <a:buNone/>
            </a:pPr>
            <a:r>
              <a:rPr lang="en-US" sz="3000" dirty="0">
                <a:solidFill>
                  <a:srgbClr val="000000"/>
                </a:solidFill>
              </a:rPr>
              <a:t>案例导入：修了 3 个"高危"，业务挂了，最后发现是误报</a:t>
            </a:r>
            <a:endParaRPr lang="en-US" sz="3000" dirty="0"/>
          </a:p>
        </p:txBody>
      </p:sp>
      <p:sp>
        <p:nvSpPr>
          <p:cNvPr id="12" name="Text 8"/>
          <p:cNvSpPr/>
          <p:nvPr/>
        </p:nvSpPr>
        <p:spPr>
          <a:xfrm>
            <a:off x="7064048" y="3710752"/>
            <a:ext cx="4878288" cy="914400"/>
          </a:xfrm>
          <a:prstGeom prst="rect">
            <a:avLst/>
          </a:prstGeom>
          <a:noFill/>
        </p:spPr>
        <p:txBody>
          <a:bodyPr wrap="square" lIns="0" tIns="0" rIns="0" bIns="0" rtlCol="0" anchor="b">
            <a:spAutoFit/>
          </a:bodyPr>
          <a:lstStyle/>
          <a:p>
            <a:pPr marL="0" indent="0" algn="l">
              <a:lnSpc>
                <a:spcPct val="120000"/>
              </a:lnSpc>
              <a:buNone/>
            </a:pPr>
            <a:r>
              <a:rPr lang="en-US" sz="3000" dirty="0">
                <a:solidFill>
                  <a:srgbClr val="000000"/>
                </a:solidFill>
              </a:rPr>
              <a:t>动手实验：西普平台漏洞扫描 + 结果分析</a:t>
            </a:r>
            <a:endParaRPr lang="en-US" sz="3000" dirty="0"/>
          </a:p>
        </p:txBody>
      </p:sp>
      <p:sp>
        <p:nvSpPr>
          <p:cNvPr id="13" name="Text 9"/>
          <p:cNvSpPr/>
          <p:nvPr/>
        </p:nvSpPr>
        <p:spPr>
          <a:xfrm>
            <a:off x="7064048" y="2694160"/>
            <a:ext cx="4878288" cy="457200"/>
          </a:xfrm>
          <a:prstGeom prst="rect">
            <a:avLst/>
          </a:prstGeom>
          <a:noFill/>
        </p:spPr>
        <p:txBody>
          <a:bodyPr wrap="square" lIns="0" tIns="0" rIns="0" bIns="0" rtlCol="0" anchor="b">
            <a:spAutoFit/>
          </a:bodyPr>
          <a:lstStyle/>
          <a:p>
            <a:pPr marL="0" indent="0" algn="l">
              <a:lnSpc>
                <a:spcPct val="120000"/>
              </a:lnSpc>
              <a:buNone/>
            </a:pPr>
            <a:r>
              <a:rPr lang="en-US" sz="3000" dirty="0">
                <a:solidFill>
                  <a:srgbClr val="000000"/>
                </a:solidFill>
              </a:rPr>
              <a:t>关键知识：扫描怎么跑、报告怎么读</a:t>
            </a:r>
            <a:endParaRPr lang="en-US" sz="3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web.static.jianzeppt.com/ppt-temp-img3/4bbf78d39a1ae7d50fa38e3b11fcab97.png"/>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4673282" y="897806"/>
            <a:ext cx="2863855" cy="493776"/>
          </a:xfrm>
          <a:prstGeom prst="rect">
            <a:avLst/>
          </a:prstGeom>
          <a:noFill/>
        </p:spPr>
        <p:txBody>
          <a:bodyPr wrap="square" lIns="0" tIns="0" rIns="0" bIns="0" rtlCol="0" anchor="b">
            <a:spAutoFit/>
          </a:bodyPr>
          <a:lstStyle/>
          <a:p>
            <a:pPr marL="0" indent="0" algn="ctr">
              <a:lnSpc>
                <a:spcPct val="120000"/>
              </a:lnSpc>
              <a:buNone/>
            </a:pPr>
            <a:r>
              <a:rPr lang="en-US" sz="3240" dirty="0">
                <a:solidFill>
                  <a:srgbClr val="FFFFFF"/>
                </a:solidFill>
              </a:rPr>
              <a:t>Part.01</a:t>
            </a:r>
            <a:endParaRPr lang="en-US" sz="3240" dirty="0"/>
          </a:p>
        </p:txBody>
      </p:sp>
      <p:sp>
        <p:nvSpPr>
          <p:cNvPr id="4" name="Text 1"/>
          <p:cNvSpPr/>
          <p:nvPr/>
        </p:nvSpPr>
        <p:spPr>
          <a:xfrm>
            <a:off x="771842" y="1617339"/>
            <a:ext cx="10666735" cy="804672"/>
          </a:xfrm>
          <a:prstGeom prst="rect">
            <a:avLst/>
          </a:prstGeom>
          <a:noFill/>
        </p:spPr>
        <p:txBody>
          <a:bodyPr wrap="none" lIns="0" tIns="0" rIns="0" bIns="0" rtlCol="0" anchor="b">
            <a:spAutoFit/>
          </a:bodyPr>
          <a:lstStyle/>
          <a:p>
            <a:pPr marL="0" indent="0" algn="ctr">
              <a:lnSpc>
                <a:spcPct val="100000"/>
              </a:lnSpc>
              <a:buNone/>
            </a:pPr>
            <a:r>
              <a:rPr lang="en-US" sz="5280" dirty="0">
                <a:solidFill>
                  <a:srgbClr val="FFFFFF"/>
                </a:solidFill>
              </a:rPr>
              <a:t>案例导入——修了 3 个"高危"，最后发现是误报</a:t>
            </a:r>
            <a:endParaRPr lang="en-US" sz="52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案例导入：修了 3 个"高危"，业务挂了，最后发现是误报</a:t>
            </a:r>
            <a:endParaRPr lang="en-US" sz="2760" dirty="0"/>
          </a:p>
        </p:txBody>
      </p:sp>
      <p:pic>
        <p:nvPicPr>
          <p:cNvPr id="6"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1371600"/>
            <a:ext cx="5836920" cy="1097280"/>
          </a:xfrm>
          <a:prstGeom prst="rect">
            <a:avLst/>
          </a:prstGeom>
        </p:spPr>
      </p:pic>
      <p:sp>
        <p:nvSpPr>
          <p:cNvPr id="7" name="Text 1"/>
          <p:cNvSpPr/>
          <p:nvPr/>
        </p:nvSpPr>
        <p:spPr>
          <a:xfrm>
            <a:off x="914400" y="1554480"/>
            <a:ext cx="5358384" cy="731520"/>
          </a:xfrm>
          <a:prstGeom prst="rect">
            <a:avLst/>
          </a:prstGeom>
          <a:noFill/>
        </p:spPr>
        <p:txBody>
          <a:bodyPr wrap="square" lIns="0" tIns="0" rIns="0" bIns="0" rtlCol="0" anchor="t">
            <a:spAutoFit/>
          </a:bodyPr>
          <a:lstStyle/>
          <a:p>
            <a:pPr marL="0" indent="0" algn="l">
              <a:lnSpc>
                <a:spcPct val="150000"/>
              </a:lnSpc>
              <a:buNone/>
            </a:pPr>
            <a:r>
              <a:rPr lang="en-US" sz="1920" dirty="0">
                <a:solidFill>
                  <a:srgbClr val="666666"/>
                </a:solidFill>
                <a:latin typeface="思源黑体 CN Bold" pitchFamily="34" charset="0"/>
                <a:ea typeface="思源黑体 CN Bold" pitchFamily="34" charset="-122"/>
                <a:cs typeface="思源黑体 CN Bold" pitchFamily="34" charset="-120"/>
              </a:rPr>
              <a:t>先想一个问题：扫描报告说有高危漏洞，是不是就该立刻修？</a:t>
            </a:r>
            <a:endParaRPr lang="en-US" sz="1920" dirty="0"/>
          </a:p>
        </p:txBody>
      </p:sp>
      <p:sp>
        <p:nvSpPr>
          <p:cNvPr id="8" name="Text 2"/>
          <p:cNvSpPr/>
          <p:nvPr/>
        </p:nvSpPr>
        <p:spPr>
          <a:xfrm>
            <a:off x="609600" y="2712720"/>
            <a:ext cx="5846064" cy="701040"/>
          </a:xfrm>
          <a:prstGeom prst="rect">
            <a:avLst/>
          </a:prstGeom>
          <a:noFill/>
        </p:spPr>
        <p:txBody>
          <a:bodyPr wrap="square" lIns="0" tIns="0" rIns="0" bIns="0" rtlCol="0" anchor="ctr">
            <a:spAutoFit/>
          </a:bodyPr>
          <a:lstStyle/>
          <a:p>
            <a:pPr marL="0" indent="0" algn="l">
              <a:lnSpc>
                <a:spcPct val="163000"/>
              </a:lnSpc>
              <a:buNone/>
            </a:pPr>
            <a:r>
              <a:rPr lang="en-US" sz="1680" dirty="0">
                <a:solidFill>
                  <a:srgbClr val="747474"/>
                </a:solidFill>
                <a:latin typeface="思源黑体 CN Regular" pitchFamily="34" charset="0"/>
                <a:ea typeface="思源黑体 CN Regular" pitchFamily="34" charset="-122"/>
                <a:cs typeface="思源黑体 CN Regular" pitchFamily="34" charset="-120"/>
              </a:rPr>
              <a:t>某政务服务平台在等保测评前，自行使用漏洞扫描工具进行了一次“全面扫描”。结果如下：</a:t>
            </a:r>
            <a:endParaRPr lang="en-US" sz="1680" dirty="0"/>
          </a:p>
        </p:txBody>
      </p:sp>
      <p:pic>
        <p:nvPicPr>
          <p:cNvPr id="9" name="Image 4" descr="https://test.web.static.jianzeppt.com/ppt-temp-img3/80bc8eec43e92f1ff8b41b8ec78d6893.png?x-oss-process=image/resize,w_1440,h_800,m_lfit/format,png"/>
          <p:cNvPicPr>
            <a:picLocks noChangeAspect="1"/>
          </p:cNvPicPr>
          <p:nvPr/>
        </p:nvPicPr>
        <p:blipFill>
          <a:blip r:embed="rId6"/>
          <a:stretch>
            <a:fillRect/>
          </a:stretch>
        </p:blipFill>
        <p:spPr>
          <a:xfrm>
            <a:off x="914400" y="3931920"/>
            <a:ext cx="30480" cy="2484120"/>
          </a:xfrm>
          <a:prstGeom prst="rect">
            <a:avLst/>
          </a:prstGeom>
        </p:spPr>
      </p:pic>
      <p:sp>
        <p:nvSpPr>
          <p:cNvPr id="10" name="Text 3"/>
          <p:cNvSpPr/>
          <p:nvPr/>
        </p:nvSpPr>
        <p:spPr>
          <a:xfrm>
            <a:off x="1341120" y="3779520"/>
            <a:ext cx="5114544" cy="365760"/>
          </a:xfrm>
          <a:prstGeom prst="rect">
            <a:avLst/>
          </a:prstGeom>
          <a:noFill/>
        </p:spPr>
        <p:txBody>
          <a:bodyPr wrap="square" lIns="0" tIns="0" rIns="0" bIns="0" rtlCol="0" anchor="t">
            <a:spAutoFit/>
          </a:bodyPr>
          <a:lstStyle/>
          <a:p>
            <a:pPr marL="0" indent="0" algn="l">
              <a:lnSpc>
                <a:spcPct val="150000"/>
              </a:lnSpc>
              <a:buNone/>
            </a:pPr>
            <a:r>
              <a:rPr lang="en-US" sz="1680" dirty="0">
                <a:solidFill>
                  <a:srgbClr val="757575"/>
                </a:solidFill>
                <a:latin typeface="思源黑体 CN Regular" pitchFamily="34" charset="0"/>
                <a:ea typeface="思源黑体 CN Regular" pitchFamily="34" charset="-122"/>
                <a:cs typeface="思源黑体 CN Regular" pitchFamily="34" charset="-120"/>
              </a:rPr>
              <a:t>扫描发现“高危漏洞”</a:t>
            </a:r>
            <a:r>
              <a:rPr lang="en-US" sz="1920" dirty="0">
                <a:solidFill>
                  <a:srgbClr val="FF574D"/>
                </a:solidFill>
                <a:latin typeface="思源黑体 CN Bold" pitchFamily="34" charset="0"/>
                <a:ea typeface="思源黑体 CN Bold" pitchFamily="34" charset="-122"/>
                <a:cs typeface="思源黑体 CN Bold" pitchFamily="34" charset="-120"/>
              </a:rPr>
              <a:t>15</a:t>
            </a:r>
            <a:r>
              <a:rPr lang="en-US" sz="1680" dirty="0">
                <a:solidFill>
                  <a:srgbClr val="757575"/>
                </a:solidFill>
                <a:latin typeface="思源黑体 CN Regular" pitchFamily="34" charset="0"/>
                <a:ea typeface="思源黑体 CN Regular" pitchFamily="34" charset="-122"/>
                <a:cs typeface="思源黑体 CN Regular" pitchFamily="34" charset="-120"/>
              </a:rPr>
              <a:t>个，“中危漏洞”</a:t>
            </a:r>
            <a:r>
              <a:rPr lang="en-US" sz="1920" dirty="0">
                <a:solidFill>
                  <a:srgbClr val="97710C"/>
                </a:solidFill>
                <a:latin typeface="思源黑体 CN Bold" pitchFamily="34" charset="0"/>
                <a:ea typeface="思源黑体 CN Bold" pitchFamily="34" charset="-122"/>
                <a:cs typeface="思源黑体 CN Bold" pitchFamily="34" charset="-120"/>
              </a:rPr>
              <a:t>42</a:t>
            </a:r>
            <a:r>
              <a:rPr lang="en-US" sz="1680" dirty="0">
                <a:solidFill>
                  <a:srgbClr val="757575"/>
                </a:solidFill>
                <a:latin typeface="思源黑体 CN Regular" pitchFamily="34" charset="0"/>
                <a:ea typeface="思源黑体 CN Regular" pitchFamily="34" charset="-122"/>
                <a:cs typeface="思源黑体 CN Regular" pitchFamily="34" charset="-120"/>
              </a:rPr>
              <a:t>个</a:t>
            </a:r>
            <a:endParaRPr lang="en-US" sz="1680" dirty="0"/>
          </a:p>
        </p:txBody>
      </p:sp>
      <p:pic>
        <p:nvPicPr>
          <p:cNvPr id="11" name="Image 5"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22960" y="3870960"/>
            <a:ext cx="182880" cy="182880"/>
          </a:xfrm>
          <a:prstGeom prst="rect">
            <a:avLst/>
          </a:prstGeom>
        </p:spPr>
      </p:pic>
      <p:sp>
        <p:nvSpPr>
          <p:cNvPr id="12" name="Text 4"/>
          <p:cNvSpPr/>
          <p:nvPr/>
        </p:nvSpPr>
        <p:spPr>
          <a:xfrm>
            <a:off x="1341120" y="4450080"/>
            <a:ext cx="5114544" cy="320040"/>
          </a:xfrm>
          <a:prstGeom prst="rect">
            <a:avLst/>
          </a:prstGeom>
          <a:noFill/>
        </p:spPr>
        <p:txBody>
          <a:bodyPr wrap="none" lIns="0" tIns="0" rIns="0" bIns="0" rtlCol="0" anchor="t">
            <a:spAutoFit/>
          </a:bodyPr>
          <a:lstStyle/>
          <a:p>
            <a:pPr marL="0" indent="0" algn="l">
              <a:lnSpc>
                <a:spcPct val="100000"/>
              </a:lnSpc>
              <a:buNone/>
            </a:pPr>
            <a:r>
              <a:rPr lang="en-US" sz="1680" dirty="0">
                <a:solidFill>
                  <a:srgbClr val="757575"/>
                </a:solidFill>
                <a:latin typeface="思源黑体 CN Regular" pitchFamily="34" charset="0"/>
                <a:ea typeface="思源黑体 CN Regular" pitchFamily="34" charset="-122"/>
                <a:cs typeface="思源黑体 CN Regular" pitchFamily="34" charset="-120"/>
              </a:rPr>
              <a:t>安全负责人看到报告后，按照CVSS评分最高开始修复</a:t>
            </a:r>
            <a:endParaRPr lang="en-US" sz="1680" dirty="0"/>
          </a:p>
        </p:txBody>
      </p:sp>
      <p:pic>
        <p:nvPicPr>
          <p:cNvPr id="13" name="Image 6"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22960" y="4541520"/>
            <a:ext cx="182880" cy="182880"/>
          </a:xfrm>
          <a:prstGeom prst="rect">
            <a:avLst/>
          </a:prstGeom>
        </p:spPr>
      </p:pic>
      <p:sp>
        <p:nvSpPr>
          <p:cNvPr id="14" name="Text 5"/>
          <p:cNvSpPr/>
          <p:nvPr/>
        </p:nvSpPr>
        <p:spPr>
          <a:xfrm>
            <a:off x="1341120" y="4885055"/>
            <a:ext cx="4932680" cy="774065"/>
          </a:xfrm>
          <a:prstGeom prst="rect">
            <a:avLst/>
          </a:prstGeom>
          <a:noFill/>
        </p:spPr>
        <p:txBody>
          <a:bodyPr wrap="square" lIns="0" tIns="0" rIns="0" bIns="0" rtlCol="0" anchor="t">
            <a:spAutoFit/>
          </a:bodyPr>
          <a:lstStyle/>
          <a:p>
            <a:pPr marL="0" indent="0" algn="l">
              <a:lnSpc>
                <a:spcPct val="150000"/>
              </a:lnSpc>
              <a:buNone/>
            </a:pPr>
            <a:r>
              <a:rPr lang="en-US" sz="1680" dirty="0">
                <a:solidFill>
                  <a:srgbClr val="97710C"/>
                </a:solidFill>
                <a:latin typeface="思源黑体 CN Bold" pitchFamily="34" charset="0"/>
                <a:ea typeface="思源黑体 CN Bold" pitchFamily="34" charset="-122"/>
                <a:cs typeface="思源黑体 CN Bold" pitchFamily="34" charset="-120"/>
              </a:rPr>
              <a:t>修复了3个“高危漏洞”后，业务系统出现异常——无法正常登录</a:t>
            </a:r>
            <a:endParaRPr lang="en-US" sz="1680" dirty="0"/>
          </a:p>
        </p:txBody>
      </p:sp>
      <p:pic>
        <p:nvPicPr>
          <p:cNvPr id="15" name="Image 7"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22960" y="5166360"/>
            <a:ext cx="182880" cy="182880"/>
          </a:xfrm>
          <a:prstGeom prst="rect">
            <a:avLst/>
          </a:prstGeom>
        </p:spPr>
      </p:pic>
      <p:sp>
        <p:nvSpPr>
          <p:cNvPr id="16" name="Text 6"/>
          <p:cNvSpPr/>
          <p:nvPr/>
        </p:nvSpPr>
        <p:spPr>
          <a:xfrm>
            <a:off x="1321435" y="5701030"/>
            <a:ext cx="5114544" cy="640080"/>
          </a:xfrm>
          <a:prstGeom prst="rect">
            <a:avLst/>
          </a:prstGeom>
          <a:noFill/>
        </p:spPr>
        <p:txBody>
          <a:bodyPr wrap="square" lIns="0" tIns="0" rIns="0" bIns="0" rtlCol="0" anchor="t">
            <a:spAutoFit/>
          </a:bodyPr>
          <a:lstStyle/>
          <a:p>
            <a:pPr marL="0" indent="0" algn="l">
              <a:lnSpc>
                <a:spcPct val="150000"/>
              </a:lnSpc>
              <a:buNone/>
            </a:pPr>
            <a:r>
              <a:rPr lang="en-US" sz="1680" dirty="0">
                <a:solidFill>
                  <a:srgbClr val="FF0000"/>
                </a:solidFill>
                <a:latin typeface="思源黑体 CN Bold" pitchFamily="34" charset="0"/>
                <a:ea typeface="思源黑体 CN Bold" pitchFamily="34" charset="-122"/>
                <a:cs typeface="思源黑体 CN Bold" pitchFamily="34" charset="-120"/>
              </a:rPr>
              <a:t>紧急回滚后，测评机构进场，发现那3个被修复的“漏洞”其实是扫描工具的误报</a:t>
            </a:r>
            <a:endParaRPr lang="en-US" sz="1680" dirty="0">
              <a:solidFill>
                <a:srgbClr val="FF0000"/>
              </a:solidFill>
              <a:latin typeface="思源黑体 CN Bold" pitchFamily="34" charset="0"/>
              <a:ea typeface="思源黑体 CN Bold" pitchFamily="34" charset="-122"/>
              <a:cs typeface="思源黑体 CN Bold" pitchFamily="34" charset="-120"/>
            </a:endParaRPr>
          </a:p>
        </p:txBody>
      </p:sp>
      <p:pic>
        <p:nvPicPr>
          <p:cNvPr id="17" name="Image 8"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22960" y="6111240"/>
            <a:ext cx="182880" cy="182880"/>
          </a:xfrm>
          <a:prstGeom prst="rect">
            <a:avLst/>
          </a:prstGeom>
        </p:spPr>
      </p:pic>
      <p:pic>
        <p:nvPicPr>
          <p:cNvPr id="18" name="Image 9"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812280" y="1859280"/>
            <a:ext cx="4785360" cy="1508760"/>
          </a:xfrm>
          <a:prstGeom prst="rect">
            <a:avLst/>
          </a:prstGeom>
          <a:effectLst>
            <a:outerShdw blurRad="-2147483648" dist="774192000" dir="-1" algn="bl" rotWithShape="0">
              <a:srgbClr val="000000">
                <a:alpha val="2000000000"/>
              </a:srgbClr>
            </a:outerShdw>
          </a:effectLst>
        </p:spPr>
      </p:pic>
      <p:pic>
        <p:nvPicPr>
          <p:cNvPr id="19" name="Image 10" descr="preencoded.png"/>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071360" y="2179320"/>
            <a:ext cx="426720" cy="426720"/>
          </a:xfrm>
          <a:prstGeom prst="rect">
            <a:avLst/>
          </a:prstGeom>
        </p:spPr>
      </p:pic>
      <p:sp>
        <p:nvSpPr>
          <p:cNvPr id="20" name="Text 7"/>
          <p:cNvSpPr/>
          <p:nvPr/>
        </p:nvSpPr>
        <p:spPr>
          <a:xfrm>
            <a:off x="7132320" y="2240280"/>
            <a:ext cx="313944" cy="304800"/>
          </a:xfrm>
          <a:prstGeom prst="rect">
            <a:avLst/>
          </a:prstGeom>
          <a:noFill/>
        </p:spPr>
        <p:txBody>
          <a:bodyPr wrap="none" lIns="0" tIns="0" rIns="0" bIns="0" rtlCol="0" anchor="ctr"/>
          <a:lstStyle/>
          <a:p>
            <a:pPr marL="0" indent="0" algn="ctr">
              <a:lnSpc>
                <a:spcPct val="150000"/>
              </a:lnSpc>
              <a:buNone/>
            </a:pPr>
            <a:r>
              <a:rPr lang="en-US" sz="1680" b="1" dirty="0">
                <a:solidFill>
                  <a:srgbClr val="FFFFFF"/>
                </a:solidFill>
                <a:latin typeface="思源黑体 CN Bold" pitchFamily="34" charset="0"/>
                <a:ea typeface="思源黑体 CN Bold" pitchFamily="34" charset="-122"/>
                <a:cs typeface="思源黑体 CN Bold" pitchFamily="34" charset="-120"/>
              </a:rPr>
              <a:t>Q1</a:t>
            </a:r>
            <a:endParaRPr lang="en-US" sz="1680" dirty="0"/>
          </a:p>
        </p:txBody>
      </p:sp>
      <p:sp>
        <p:nvSpPr>
          <p:cNvPr id="21" name="Text 8"/>
          <p:cNvSpPr/>
          <p:nvPr/>
        </p:nvSpPr>
        <p:spPr>
          <a:xfrm>
            <a:off x="7680960" y="2118360"/>
            <a:ext cx="3666744" cy="320040"/>
          </a:xfrm>
          <a:prstGeom prst="rect">
            <a:avLst/>
          </a:prstGeom>
          <a:noFill/>
        </p:spPr>
        <p:txBody>
          <a:bodyPr wrap="none" lIns="0" tIns="0" rIns="0" bIns="0" rtlCol="0" anchor="t">
            <a:spAutoFit/>
          </a:bodyPr>
          <a:lstStyle/>
          <a:p>
            <a:pPr marL="0" indent="0" algn="l">
              <a:lnSpc>
                <a:spcPct val="100000"/>
              </a:lnSpc>
              <a:buNone/>
            </a:pPr>
            <a:r>
              <a:rPr lang="en-US" sz="1680" dirty="0">
                <a:solidFill>
                  <a:srgbClr val="757575"/>
                </a:solidFill>
                <a:latin typeface="思源黑体 CN Bold" pitchFamily="34" charset="0"/>
                <a:ea typeface="思源黑体 CN Bold" pitchFamily="34" charset="-122"/>
                <a:cs typeface="思源黑体 CN Bold" pitchFamily="34" charset="-120"/>
              </a:rPr>
              <a:t>1. 扫描器凭什么说这是漏洞？（它是比对特征，不是真打进去）</a:t>
            </a:r>
            <a:endParaRPr lang="en-US" sz="1680" dirty="0"/>
          </a:p>
        </p:txBody>
      </p:sp>
      <p:sp>
        <p:nvSpPr>
          <p:cNvPr id="22" name="Text 9"/>
          <p:cNvSpPr/>
          <p:nvPr/>
        </p:nvSpPr>
        <p:spPr>
          <a:xfrm>
            <a:off x="7680960" y="2560320"/>
            <a:ext cx="3666744" cy="738505"/>
          </a:xfrm>
          <a:prstGeom prst="rect">
            <a:avLst/>
          </a:prstGeom>
          <a:noFill/>
        </p:spPr>
        <p:txBody>
          <a:bodyPr wrap="square" lIns="0" tIns="0" rIns="0" bIns="0" rtlCol="0" anchor="t">
            <a:spAutoFit/>
          </a:bodyPr>
          <a:lstStyle/>
          <a:p>
            <a:pPr marL="0" indent="0" algn="l">
              <a:lnSpc>
                <a:spcPct val="150000"/>
              </a:lnSpc>
              <a:buNone/>
            </a:pPr>
            <a:r>
              <a:rPr lang="en-US" sz="1600" dirty="0">
                <a:solidFill>
                  <a:srgbClr val="000000"/>
                </a:solidFill>
                <a:latin typeface="思源黑体 CN Regular" pitchFamily="34" charset="0"/>
                <a:ea typeface="思源黑体 CN Regular" pitchFamily="34" charset="-122"/>
                <a:cs typeface="思源黑体 CN Regular" pitchFamily="34" charset="-120"/>
              </a:rPr>
              <a:t>（基于规则匹配的特征码扫描，难免与正常配置“撞车”）</a:t>
            </a:r>
            <a:endParaRPr lang="en-US" sz="1600" dirty="0">
              <a:solidFill>
                <a:srgbClr val="000000"/>
              </a:solidFill>
              <a:latin typeface="思源黑体 CN Regular" pitchFamily="34" charset="0"/>
              <a:ea typeface="思源黑体 CN Regular" pitchFamily="34" charset="-122"/>
              <a:cs typeface="思源黑体 CN Regular" pitchFamily="34" charset="-120"/>
            </a:endParaRPr>
          </a:p>
        </p:txBody>
      </p:sp>
      <p:pic>
        <p:nvPicPr>
          <p:cNvPr id="23" name="Image 11" descr="preencoded.png"/>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812280" y="3611880"/>
            <a:ext cx="4785360" cy="1005840"/>
          </a:xfrm>
          <a:prstGeom prst="rect">
            <a:avLst/>
          </a:prstGeom>
          <a:effectLst>
            <a:outerShdw blurRad="-2147483648" dist="774192000" dir="-1" algn="bl" rotWithShape="0">
              <a:srgbClr val="000000">
                <a:alpha val="2000000000"/>
              </a:srgbClr>
            </a:outerShdw>
          </a:effectLst>
        </p:spPr>
      </p:pic>
      <p:pic>
        <p:nvPicPr>
          <p:cNvPr id="24" name="Image 12" descr="preencoded.png"/>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071360" y="3931920"/>
            <a:ext cx="426720" cy="426720"/>
          </a:xfrm>
          <a:prstGeom prst="rect">
            <a:avLst/>
          </a:prstGeom>
        </p:spPr>
      </p:pic>
      <p:sp>
        <p:nvSpPr>
          <p:cNvPr id="25" name="Text 10"/>
          <p:cNvSpPr/>
          <p:nvPr/>
        </p:nvSpPr>
        <p:spPr>
          <a:xfrm>
            <a:off x="7132320" y="3992880"/>
            <a:ext cx="313944" cy="304800"/>
          </a:xfrm>
          <a:prstGeom prst="rect">
            <a:avLst/>
          </a:prstGeom>
          <a:noFill/>
        </p:spPr>
        <p:txBody>
          <a:bodyPr wrap="none" lIns="0" tIns="0" rIns="0" bIns="0" rtlCol="0" anchor="ctr"/>
          <a:lstStyle/>
          <a:p>
            <a:pPr marL="0" indent="0" algn="ctr">
              <a:lnSpc>
                <a:spcPct val="150000"/>
              </a:lnSpc>
              <a:buNone/>
            </a:pPr>
            <a:r>
              <a:rPr lang="en-US" sz="1680" b="1" dirty="0">
                <a:solidFill>
                  <a:srgbClr val="FFFFFF"/>
                </a:solidFill>
                <a:latin typeface="思源黑体 CN Bold" pitchFamily="34" charset="0"/>
                <a:ea typeface="思源黑体 CN Bold" pitchFamily="34" charset="-122"/>
                <a:cs typeface="思源黑体 CN Bold" pitchFamily="34" charset="-120"/>
              </a:rPr>
              <a:t>Q2</a:t>
            </a:r>
            <a:endParaRPr lang="en-US" sz="1680" dirty="0"/>
          </a:p>
        </p:txBody>
      </p:sp>
      <p:sp>
        <p:nvSpPr>
          <p:cNvPr id="26" name="Text 11"/>
          <p:cNvSpPr/>
          <p:nvPr/>
        </p:nvSpPr>
        <p:spPr>
          <a:xfrm>
            <a:off x="7680960" y="3959860"/>
            <a:ext cx="3422904" cy="320040"/>
          </a:xfrm>
          <a:prstGeom prst="rect">
            <a:avLst/>
          </a:prstGeom>
          <a:noFill/>
        </p:spPr>
        <p:txBody>
          <a:bodyPr wrap="none" lIns="0" tIns="0" rIns="0" bIns="0" rtlCol="0" anchor="t">
            <a:spAutoFit/>
          </a:bodyPr>
          <a:lstStyle/>
          <a:p>
            <a:pPr marL="0" indent="0" algn="l">
              <a:lnSpc>
                <a:spcPct val="100000"/>
              </a:lnSpc>
              <a:buNone/>
            </a:pPr>
            <a:r>
              <a:rPr lang="en-US" sz="1680" dirty="0">
                <a:solidFill>
                  <a:srgbClr val="757575"/>
                </a:solidFill>
                <a:latin typeface="思源黑体 CN Bold" pitchFamily="34" charset="0"/>
                <a:ea typeface="思源黑体 CN Bold" pitchFamily="34" charset="-122"/>
                <a:cs typeface="思源黑体 CN Bold" pitchFamily="34" charset="-120"/>
              </a:rPr>
              <a:t>2. 不修怕出事、修了怕宕机，你怎么先确认它是不是真的？</a:t>
            </a:r>
            <a:endParaRPr lang="en-US" sz="1680" dirty="0"/>
          </a:p>
        </p:txBody>
      </p:sp>
      <p:pic>
        <p:nvPicPr>
          <p:cNvPr id="27" name="Image 13" descr="preencoded.png"/>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812280" y="4861560"/>
            <a:ext cx="4785360" cy="1005840"/>
          </a:xfrm>
          <a:prstGeom prst="rect">
            <a:avLst/>
          </a:prstGeom>
          <a:effectLst>
            <a:outerShdw blurRad="-2147483648" dist="774192000" dir="-1" algn="bl" rotWithShape="0">
              <a:srgbClr val="000000">
                <a:alpha val="2000000000"/>
              </a:srgbClr>
            </a:outerShdw>
          </a:effectLst>
        </p:spPr>
      </p:pic>
      <p:pic>
        <p:nvPicPr>
          <p:cNvPr id="28" name="Image 14" descr="preencoded.png"/>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071360" y="5181600"/>
            <a:ext cx="426720" cy="426720"/>
          </a:xfrm>
          <a:prstGeom prst="rect">
            <a:avLst/>
          </a:prstGeom>
        </p:spPr>
      </p:pic>
      <p:sp>
        <p:nvSpPr>
          <p:cNvPr id="29" name="Text 12"/>
          <p:cNvSpPr/>
          <p:nvPr/>
        </p:nvSpPr>
        <p:spPr>
          <a:xfrm>
            <a:off x="7132320" y="5242560"/>
            <a:ext cx="313944" cy="304800"/>
          </a:xfrm>
          <a:prstGeom prst="rect">
            <a:avLst/>
          </a:prstGeom>
          <a:noFill/>
        </p:spPr>
        <p:txBody>
          <a:bodyPr wrap="none" lIns="0" tIns="0" rIns="0" bIns="0" rtlCol="0" anchor="ctr"/>
          <a:lstStyle/>
          <a:p>
            <a:pPr marL="0" indent="0" algn="ctr">
              <a:lnSpc>
                <a:spcPct val="150000"/>
              </a:lnSpc>
              <a:buNone/>
            </a:pPr>
            <a:r>
              <a:rPr lang="en-US" sz="1680" b="1" dirty="0">
                <a:solidFill>
                  <a:srgbClr val="FFFFFF"/>
                </a:solidFill>
                <a:latin typeface="思源黑体 CN Bold" pitchFamily="34" charset="0"/>
                <a:ea typeface="思源黑体 CN Bold" pitchFamily="34" charset="-122"/>
                <a:cs typeface="思源黑体 CN Bold" pitchFamily="34" charset="-120"/>
              </a:rPr>
              <a:t>Q3</a:t>
            </a:r>
            <a:endParaRPr lang="en-US" sz="1680" dirty="0"/>
          </a:p>
        </p:txBody>
      </p:sp>
      <p:sp>
        <p:nvSpPr>
          <p:cNvPr id="30" name="Text 13"/>
          <p:cNvSpPr/>
          <p:nvPr/>
        </p:nvSpPr>
        <p:spPr>
          <a:xfrm>
            <a:off x="7680960" y="5224145"/>
            <a:ext cx="3636264" cy="320040"/>
          </a:xfrm>
          <a:prstGeom prst="rect">
            <a:avLst/>
          </a:prstGeom>
          <a:noFill/>
        </p:spPr>
        <p:txBody>
          <a:bodyPr wrap="none" lIns="0" tIns="0" rIns="0" bIns="0" rtlCol="0" anchor="t">
            <a:spAutoFit/>
          </a:bodyPr>
          <a:lstStyle/>
          <a:p>
            <a:pPr marL="0" indent="0" algn="l">
              <a:lnSpc>
                <a:spcPct val="100000"/>
              </a:lnSpc>
              <a:buNone/>
            </a:pPr>
            <a:r>
              <a:rPr lang="en-US" sz="1680" dirty="0">
                <a:solidFill>
                  <a:srgbClr val="757575"/>
                </a:solidFill>
                <a:latin typeface="思源黑体 CN Bold" pitchFamily="34" charset="0"/>
                <a:ea typeface="思源黑体 CN Bold" pitchFamily="34" charset="-122"/>
                <a:cs typeface="思源黑体 CN Bold" pitchFamily="34" charset="-120"/>
              </a:rPr>
              <a:t>3. 拿到一份报告，你的第一步应该做什么？</a:t>
            </a:r>
            <a:endParaRPr lang="en-US" sz="1680" dirty="0"/>
          </a:p>
        </p:txBody>
      </p:sp>
      <p:sp>
        <p:nvSpPr>
          <p:cNvPr id="31" name="Text 14"/>
          <p:cNvSpPr/>
          <p:nvPr/>
        </p:nvSpPr>
        <p:spPr>
          <a:xfrm>
            <a:off x="6812280" y="1371600"/>
            <a:ext cx="1106424" cy="411480"/>
          </a:xfrm>
          <a:prstGeom prst="rect">
            <a:avLst/>
          </a:prstGeom>
          <a:noFill/>
        </p:spPr>
        <p:txBody>
          <a:bodyPr wrap="none" lIns="0" tIns="0" rIns="0" bIns="0" rtlCol="0" anchor="t">
            <a:spAutoFit/>
          </a:bodyPr>
          <a:lstStyle/>
          <a:p>
            <a:pPr marL="0" indent="0" algn="l">
              <a:lnSpc>
                <a:spcPct val="150000"/>
              </a:lnSpc>
              <a:buNone/>
            </a:pPr>
            <a:r>
              <a:rPr lang="en-US" sz="2160" dirty="0">
                <a:solidFill>
                  <a:srgbClr val="000000"/>
                </a:solidFill>
                <a:latin typeface="思源黑体 CN Bold" pitchFamily="34" charset="0"/>
                <a:ea typeface="思源黑体 CN Bold" pitchFamily="34" charset="-122"/>
                <a:cs typeface="思源黑体 CN Bold" pitchFamily="34" charset="-120"/>
              </a:rPr>
              <a:t>先想一想（30 秒）</a:t>
            </a:r>
            <a:endParaRPr lang="en-US" sz="216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学习目标</a:t>
            </a:r>
            <a:endParaRPr lang="en-US" sz="2760" dirty="0"/>
          </a:p>
        </p:txBody>
      </p:sp>
      <p:sp>
        <p:nvSpPr>
          <p:cNvPr id="6" name="Text 1"/>
          <p:cNvSpPr/>
          <p:nvPr/>
        </p:nvSpPr>
        <p:spPr>
          <a:xfrm>
            <a:off x="609600" y="1371600"/>
            <a:ext cx="1098194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727478"/>
                </a:solidFill>
                <a:latin typeface="思源黑体 CN Regular" pitchFamily="34" charset="0"/>
                <a:ea typeface="思源黑体 CN Regular" pitchFamily="34" charset="-122"/>
                <a:cs typeface="思源黑体 CN Regular" pitchFamily="34" charset="-120"/>
              </a:rPr>
              <a:t>学完这一节，你应该能做到：</a:t>
            </a:r>
            <a:endParaRPr lang="en-US" sz="1680" dirty="0"/>
          </a:p>
        </p:txBody>
      </p:sp>
      <p:pic>
        <p:nvPicPr>
          <p:cNvPr id="7"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1813560"/>
            <a:ext cx="609600" cy="609600"/>
          </a:xfrm>
          <a:prstGeom prst="rect">
            <a:avLst/>
          </a:prstGeom>
        </p:spPr>
      </p:pic>
      <p:pic>
        <p:nvPicPr>
          <p:cNvPr id="8" name="Image 4"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31520" y="1935480"/>
            <a:ext cx="365760" cy="365760"/>
          </a:xfrm>
          <a:prstGeom prst="rect">
            <a:avLst/>
          </a:prstGeom>
        </p:spPr>
      </p:pic>
      <p:sp>
        <p:nvSpPr>
          <p:cNvPr id="9" name="Text 2"/>
          <p:cNvSpPr/>
          <p:nvPr/>
        </p:nvSpPr>
        <p:spPr>
          <a:xfrm>
            <a:off x="1463040" y="1920240"/>
            <a:ext cx="557784" cy="411480"/>
          </a:xfrm>
          <a:prstGeom prst="rect">
            <a:avLst/>
          </a:prstGeom>
          <a:noFill/>
        </p:spPr>
        <p:txBody>
          <a:bodyPr wrap="none" lIns="0" tIns="0" rIns="0" bIns="0" rtlCol="0" anchor="t">
            <a:spAutoFit/>
          </a:bodyPr>
          <a:lstStyle/>
          <a:p>
            <a:pPr marL="0" indent="0" algn="l">
              <a:lnSpc>
                <a:spcPct val="150000"/>
              </a:lnSpc>
              <a:buNone/>
            </a:pPr>
            <a:r>
              <a:rPr lang="en-US" sz="2160" b="1" dirty="0">
                <a:solidFill>
                  <a:srgbClr val="0E4D96"/>
                </a:solidFill>
                <a:latin typeface="思源黑体 CN Bold" pitchFamily="34" charset="0"/>
                <a:ea typeface="思源黑体 CN Bold" pitchFamily="34" charset="-122"/>
                <a:cs typeface="思源黑体 CN Bold" pitchFamily="34" charset="-120"/>
              </a:rPr>
              <a:t>理解</a:t>
            </a:r>
            <a:endParaRPr lang="en-US" sz="2160" dirty="0"/>
          </a:p>
        </p:txBody>
      </p:sp>
      <p:sp>
        <p:nvSpPr>
          <p:cNvPr id="10" name="Text 3"/>
          <p:cNvSpPr/>
          <p:nvPr/>
        </p:nvSpPr>
        <p:spPr>
          <a:xfrm>
            <a:off x="2194560" y="1996440"/>
            <a:ext cx="448970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说清扫描是怎么工作的：拿已知漏洞特征去比对，所以它为什么会误报</a:t>
            </a:r>
            <a:endParaRPr lang="en-US" sz="1680" dirty="0"/>
          </a:p>
        </p:txBody>
      </p:sp>
      <p:pic>
        <p:nvPicPr>
          <p:cNvPr id="11" name="Image 5" descr="https://test.web.static.jianzeppt.com/ppt-temp-img3/deb11580cd2d55353c4f98cacf301c66.png?x-oss-process=image/resize,w_1440,h_800,m_lfit/format,png"/>
          <p:cNvPicPr>
            <a:picLocks noChangeAspect="1"/>
          </p:cNvPicPr>
          <p:nvPr/>
        </p:nvPicPr>
        <p:blipFill>
          <a:blip r:embed="rId8"/>
          <a:stretch>
            <a:fillRect/>
          </a:stretch>
        </p:blipFill>
        <p:spPr>
          <a:xfrm>
            <a:off x="609600" y="2560320"/>
            <a:ext cx="10972800" cy="15240"/>
          </a:xfrm>
          <a:prstGeom prst="rect">
            <a:avLst/>
          </a:prstGeom>
        </p:spPr>
      </p:pic>
      <p:pic>
        <p:nvPicPr>
          <p:cNvPr id="12" name="Image 6"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2682240"/>
            <a:ext cx="609600" cy="609600"/>
          </a:xfrm>
          <a:prstGeom prst="rect">
            <a:avLst/>
          </a:prstGeom>
        </p:spPr>
      </p:pic>
      <p:pic>
        <p:nvPicPr>
          <p:cNvPr id="13" name="Image 7"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31520" y="2804160"/>
            <a:ext cx="365760" cy="365760"/>
          </a:xfrm>
          <a:prstGeom prst="rect">
            <a:avLst/>
          </a:prstGeom>
        </p:spPr>
      </p:pic>
      <p:sp>
        <p:nvSpPr>
          <p:cNvPr id="14" name="Text 4"/>
          <p:cNvSpPr/>
          <p:nvPr/>
        </p:nvSpPr>
        <p:spPr>
          <a:xfrm>
            <a:off x="1463040" y="2788920"/>
            <a:ext cx="557784" cy="411480"/>
          </a:xfrm>
          <a:prstGeom prst="rect">
            <a:avLst/>
          </a:prstGeom>
          <a:noFill/>
        </p:spPr>
        <p:txBody>
          <a:bodyPr wrap="none" lIns="0" tIns="0" rIns="0" bIns="0" rtlCol="0" anchor="t">
            <a:spAutoFit/>
          </a:bodyPr>
          <a:lstStyle/>
          <a:p>
            <a:pPr marL="0" indent="0" algn="l">
              <a:lnSpc>
                <a:spcPct val="150000"/>
              </a:lnSpc>
              <a:buNone/>
            </a:pPr>
            <a:r>
              <a:rPr lang="en-US" sz="2160" b="1" dirty="0">
                <a:solidFill>
                  <a:srgbClr val="0E4D96"/>
                </a:solidFill>
                <a:latin typeface="思源黑体 CN Bold" pitchFamily="34" charset="0"/>
                <a:ea typeface="思源黑体 CN Bold" pitchFamily="34" charset="-122"/>
                <a:cs typeface="思源黑体 CN Bold" pitchFamily="34" charset="-120"/>
              </a:rPr>
              <a:t>掌握</a:t>
            </a:r>
            <a:endParaRPr lang="en-US" sz="2160" dirty="0"/>
          </a:p>
        </p:txBody>
      </p:sp>
      <p:sp>
        <p:nvSpPr>
          <p:cNvPr id="15" name="Text 5"/>
          <p:cNvSpPr/>
          <p:nvPr/>
        </p:nvSpPr>
        <p:spPr>
          <a:xfrm>
            <a:off x="2194560" y="2865120"/>
            <a:ext cx="534314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在西普实验平台上建任务、配目标、跑扫描、导出报告，走完整套流程</a:t>
            </a:r>
            <a:endParaRPr lang="en-US" sz="1680" dirty="0"/>
          </a:p>
        </p:txBody>
      </p:sp>
      <p:pic>
        <p:nvPicPr>
          <p:cNvPr id="16" name="Image 8" descr="https://test.web.static.jianzeppt.com/ppt-temp-img3/deb11580cd2d55353c4f98cacf301c66.png?x-oss-process=image/resize,w_1440,h_800,m_lfit/format,png"/>
          <p:cNvPicPr>
            <a:picLocks noChangeAspect="1"/>
          </p:cNvPicPr>
          <p:nvPr/>
        </p:nvPicPr>
        <p:blipFill>
          <a:blip r:embed="rId8"/>
          <a:stretch>
            <a:fillRect/>
          </a:stretch>
        </p:blipFill>
        <p:spPr>
          <a:xfrm>
            <a:off x="609600" y="3429000"/>
            <a:ext cx="10972800" cy="15240"/>
          </a:xfrm>
          <a:prstGeom prst="rect">
            <a:avLst/>
          </a:prstGeom>
        </p:spPr>
      </p:pic>
      <p:pic>
        <p:nvPicPr>
          <p:cNvPr id="17" name="Image 9"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3550920"/>
            <a:ext cx="609600" cy="609600"/>
          </a:xfrm>
          <a:prstGeom prst="rect">
            <a:avLst/>
          </a:prstGeom>
        </p:spPr>
      </p:pic>
      <p:pic>
        <p:nvPicPr>
          <p:cNvPr id="18" name="Image 10"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31520" y="3672840"/>
            <a:ext cx="365760" cy="365760"/>
          </a:xfrm>
          <a:prstGeom prst="rect">
            <a:avLst/>
          </a:prstGeom>
        </p:spPr>
      </p:pic>
      <p:sp>
        <p:nvSpPr>
          <p:cNvPr id="19" name="Text 6"/>
          <p:cNvSpPr/>
          <p:nvPr/>
        </p:nvSpPr>
        <p:spPr>
          <a:xfrm>
            <a:off x="1463040" y="3657600"/>
            <a:ext cx="557784" cy="411480"/>
          </a:xfrm>
          <a:prstGeom prst="rect">
            <a:avLst/>
          </a:prstGeom>
          <a:noFill/>
        </p:spPr>
        <p:txBody>
          <a:bodyPr wrap="none" lIns="0" tIns="0" rIns="0" bIns="0" rtlCol="0" anchor="t">
            <a:spAutoFit/>
          </a:bodyPr>
          <a:lstStyle/>
          <a:p>
            <a:pPr marL="0" indent="0" algn="l">
              <a:lnSpc>
                <a:spcPct val="150000"/>
              </a:lnSpc>
              <a:buNone/>
            </a:pPr>
            <a:r>
              <a:rPr lang="en-US" sz="2160" b="1" dirty="0">
                <a:solidFill>
                  <a:srgbClr val="0E4D96"/>
                </a:solidFill>
                <a:latin typeface="思源黑体 CN Bold" pitchFamily="34" charset="0"/>
                <a:ea typeface="思源黑体 CN Bold" pitchFamily="34" charset="-122"/>
                <a:cs typeface="思源黑体 CN Bold" pitchFamily="34" charset="-120"/>
              </a:rPr>
              <a:t>能够</a:t>
            </a:r>
            <a:endParaRPr lang="en-US" sz="2160" dirty="0"/>
          </a:p>
        </p:txBody>
      </p:sp>
      <p:sp>
        <p:nvSpPr>
          <p:cNvPr id="20" name="Text 7"/>
          <p:cNvSpPr/>
          <p:nvPr/>
        </p:nvSpPr>
        <p:spPr>
          <a:xfrm>
            <a:off x="2194560" y="3733800"/>
            <a:ext cx="491642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看懂 CVSS 评分与风险等级，动手验证哪几条其实是误报</a:t>
            </a:r>
            <a:endParaRPr lang="en-US" sz="1680" dirty="0"/>
          </a:p>
        </p:txBody>
      </p:sp>
      <p:pic>
        <p:nvPicPr>
          <p:cNvPr id="21" name="Image 11" descr="https://test.web.static.jianzeppt.com/ppt-temp-img3/deb11580cd2d55353c4f98cacf301c66.png?x-oss-process=image/resize,w_1440,h_800,m_lfit/format,png"/>
          <p:cNvPicPr>
            <a:picLocks noChangeAspect="1"/>
          </p:cNvPicPr>
          <p:nvPr/>
        </p:nvPicPr>
        <p:blipFill>
          <a:blip r:embed="rId8"/>
          <a:stretch>
            <a:fillRect/>
          </a:stretch>
        </p:blipFill>
        <p:spPr>
          <a:xfrm>
            <a:off x="609600" y="4297680"/>
            <a:ext cx="10972800" cy="15240"/>
          </a:xfrm>
          <a:prstGeom prst="rect">
            <a:avLst/>
          </a:prstGeom>
        </p:spPr>
      </p:pic>
      <p:pic>
        <p:nvPicPr>
          <p:cNvPr id="22" name="Image 12"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4419600"/>
            <a:ext cx="609600" cy="609600"/>
          </a:xfrm>
          <a:prstGeom prst="rect">
            <a:avLst/>
          </a:prstGeom>
        </p:spPr>
      </p:pic>
      <p:pic>
        <p:nvPicPr>
          <p:cNvPr id="23" name="Image 13"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31520" y="4541520"/>
            <a:ext cx="365760" cy="365760"/>
          </a:xfrm>
          <a:prstGeom prst="rect">
            <a:avLst/>
          </a:prstGeom>
        </p:spPr>
      </p:pic>
      <p:sp>
        <p:nvSpPr>
          <p:cNvPr id="24" name="Text 8"/>
          <p:cNvSpPr/>
          <p:nvPr/>
        </p:nvSpPr>
        <p:spPr>
          <a:xfrm>
            <a:off x="1463040" y="4526280"/>
            <a:ext cx="557784" cy="411480"/>
          </a:xfrm>
          <a:prstGeom prst="rect">
            <a:avLst/>
          </a:prstGeom>
          <a:noFill/>
        </p:spPr>
        <p:txBody>
          <a:bodyPr wrap="none" lIns="0" tIns="0" rIns="0" bIns="0" rtlCol="0" anchor="t">
            <a:spAutoFit/>
          </a:bodyPr>
          <a:lstStyle/>
          <a:p>
            <a:pPr marL="0" indent="0" algn="l">
              <a:lnSpc>
                <a:spcPct val="150000"/>
              </a:lnSpc>
              <a:buNone/>
            </a:pPr>
            <a:r>
              <a:rPr lang="en-US" sz="2160" b="1" dirty="0">
                <a:solidFill>
                  <a:srgbClr val="0E4D96"/>
                </a:solidFill>
                <a:latin typeface="思源黑体 CN Bold" pitchFamily="34" charset="0"/>
                <a:ea typeface="思源黑体 CN Bold" pitchFamily="34" charset="-122"/>
                <a:cs typeface="思源黑体 CN Bold" pitchFamily="34" charset="-120"/>
              </a:rPr>
              <a:t>能够</a:t>
            </a:r>
            <a:endParaRPr lang="en-US" sz="2160" dirty="0"/>
          </a:p>
        </p:txBody>
      </p:sp>
      <p:sp>
        <p:nvSpPr>
          <p:cNvPr id="25" name="Text 9"/>
          <p:cNvSpPr/>
          <p:nvPr/>
        </p:nvSpPr>
        <p:spPr>
          <a:xfrm>
            <a:off x="2194560" y="4602480"/>
            <a:ext cx="598322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把扫描结果对上等保条款，填进分析表做四档判定</a:t>
            </a:r>
            <a:endParaRPr lang="en-US" sz="1680" dirty="0"/>
          </a:p>
        </p:txBody>
      </p:sp>
      <p:pic>
        <p:nvPicPr>
          <p:cNvPr id="26" name="Image 14" descr="https://test.web.static.jianzeppt.com/ppt-temp-img3/deb11580cd2d55353c4f98cacf301c66.png?x-oss-process=image/resize,w_1440,h_800,m_lfit/format,png"/>
          <p:cNvPicPr>
            <a:picLocks noChangeAspect="1"/>
          </p:cNvPicPr>
          <p:nvPr/>
        </p:nvPicPr>
        <p:blipFill>
          <a:blip r:embed="rId8"/>
          <a:stretch>
            <a:fillRect/>
          </a:stretch>
        </p:blipFill>
        <p:spPr>
          <a:xfrm>
            <a:off x="609600" y="5166360"/>
            <a:ext cx="10972800" cy="15240"/>
          </a:xfrm>
          <a:prstGeom prst="rect">
            <a:avLst/>
          </a:prstGeom>
        </p:spPr>
      </p:pic>
      <p:pic>
        <p:nvPicPr>
          <p:cNvPr id="27" name="Image 15"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5288280"/>
            <a:ext cx="609600" cy="609600"/>
          </a:xfrm>
          <a:prstGeom prst="rect">
            <a:avLst/>
          </a:prstGeom>
        </p:spPr>
      </p:pic>
      <p:pic>
        <p:nvPicPr>
          <p:cNvPr id="28" name="Image 16" descr="preencoded.png"/>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31520" y="5410200"/>
            <a:ext cx="365760" cy="365760"/>
          </a:xfrm>
          <a:prstGeom prst="rect">
            <a:avLst/>
          </a:prstGeom>
        </p:spPr>
      </p:pic>
      <p:sp>
        <p:nvSpPr>
          <p:cNvPr id="29" name="Text 10"/>
          <p:cNvSpPr/>
          <p:nvPr/>
        </p:nvSpPr>
        <p:spPr>
          <a:xfrm>
            <a:off x="1463040" y="5394960"/>
            <a:ext cx="557784" cy="411480"/>
          </a:xfrm>
          <a:prstGeom prst="rect">
            <a:avLst/>
          </a:prstGeom>
          <a:noFill/>
        </p:spPr>
        <p:txBody>
          <a:bodyPr wrap="none" lIns="0" tIns="0" rIns="0" bIns="0" rtlCol="0" anchor="t">
            <a:spAutoFit/>
          </a:bodyPr>
          <a:lstStyle/>
          <a:p>
            <a:pPr marL="0" indent="0" algn="l">
              <a:lnSpc>
                <a:spcPct val="150000"/>
              </a:lnSpc>
              <a:buNone/>
            </a:pPr>
            <a:r>
              <a:rPr lang="en-US" sz="2160" b="1" dirty="0">
                <a:solidFill>
                  <a:srgbClr val="0E4D96"/>
                </a:solidFill>
                <a:latin typeface="思源黑体 CN Bold" pitchFamily="34" charset="0"/>
                <a:ea typeface="思源黑体 CN Bold" pitchFamily="34" charset="-122"/>
                <a:cs typeface="思源黑体 CN Bold" pitchFamily="34" charset="-120"/>
              </a:rPr>
              <a:t>具备</a:t>
            </a:r>
            <a:endParaRPr lang="en-US" sz="2160" dirty="0"/>
          </a:p>
        </p:txBody>
      </p:sp>
      <p:sp>
        <p:nvSpPr>
          <p:cNvPr id="30" name="Text 11"/>
          <p:cNvSpPr/>
          <p:nvPr/>
        </p:nvSpPr>
        <p:spPr>
          <a:xfrm>
            <a:off x="2194560" y="5471160"/>
            <a:ext cx="256946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按"能不能被利用 + 影响多大"排出整改优先级</a:t>
            </a:r>
            <a:endParaRPr lang="en-US" sz="16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web.static.jianzeppt.com/ppt-temp-img3/4bbf78d39a1ae7d50fa38e3b11fcab97.png"/>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4673282" y="897806"/>
            <a:ext cx="2863855" cy="493776"/>
          </a:xfrm>
          <a:prstGeom prst="rect">
            <a:avLst/>
          </a:prstGeom>
          <a:noFill/>
        </p:spPr>
        <p:txBody>
          <a:bodyPr wrap="square" lIns="0" tIns="0" rIns="0" bIns="0" rtlCol="0" anchor="b">
            <a:spAutoFit/>
          </a:bodyPr>
          <a:lstStyle/>
          <a:p>
            <a:pPr marL="0" indent="0" algn="ctr">
              <a:lnSpc>
                <a:spcPct val="120000"/>
              </a:lnSpc>
              <a:buNone/>
            </a:pPr>
            <a:r>
              <a:rPr lang="en-US" sz="3240" dirty="0">
                <a:solidFill>
                  <a:srgbClr val="FFFFFF"/>
                </a:solidFill>
              </a:rPr>
              <a:t>Part.02</a:t>
            </a:r>
            <a:endParaRPr lang="en-US" sz="3240" dirty="0"/>
          </a:p>
        </p:txBody>
      </p:sp>
      <p:sp>
        <p:nvSpPr>
          <p:cNvPr id="4" name="Text 1"/>
          <p:cNvSpPr/>
          <p:nvPr/>
        </p:nvSpPr>
        <p:spPr>
          <a:xfrm>
            <a:off x="771842" y="1617339"/>
            <a:ext cx="10666735" cy="804672"/>
          </a:xfrm>
          <a:prstGeom prst="rect">
            <a:avLst/>
          </a:prstGeom>
          <a:noFill/>
        </p:spPr>
        <p:txBody>
          <a:bodyPr wrap="none" lIns="0" tIns="0" rIns="0" bIns="0" rtlCol="0" anchor="b">
            <a:spAutoFit/>
          </a:bodyPr>
          <a:lstStyle/>
          <a:p>
            <a:pPr marL="0" indent="0" algn="ctr">
              <a:lnSpc>
                <a:spcPct val="100000"/>
              </a:lnSpc>
              <a:buNone/>
            </a:pPr>
            <a:r>
              <a:rPr lang="en-US" sz="5280" dirty="0">
                <a:solidFill>
                  <a:srgbClr val="FFFFFF"/>
                </a:solidFill>
              </a:rPr>
              <a:t>关键知识——扫描怎么跑、报告怎么读</a:t>
            </a:r>
            <a:endParaRPr lang="en-US" sz="52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漏洞扫描——在等保测评中的定位</a:t>
            </a:r>
            <a:endParaRPr lang="en-US" sz="2760" dirty="0"/>
          </a:p>
        </p:txBody>
      </p:sp>
      <p:pic>
        <p:nvPicPr>
          <p:cNvPr id="6"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1371600"/>
            <a:ext cx="10972800" cy="1066800"/>
          </a:xfrm>
          <a:prstGeom prst="rect">
            <a:avLst/>
          </a:prstGeom>
        </p:spPr>
      </p:pic>
      <p:sp>
        <p:nvSpPr>
          <p:cNvPr id="7" name="Text 1"/>
          <p:cNvSpPr/>
          <p:nvPr/>
        </p:nvSpPr>
        <p:spPr>
          <a:xfrm>
            <a:off x="975360" y="1569720"/>
            <a:ext cx="10311384" cy="695325"/>
          </a:xfrm>
          <a:prstGeom prst="rect">
            <a:avLst/>
          </a:prstGeom>
          <a:noFill/>
        </p:spPr>
        <p:txBody>
          <a:bodyPr wrap="square" lIns="0" tIns="0" rIns="0" bIns="0" rtlCol="0" anchor="t">
            <a:spAutoFit/>
          </a:bodyPr>
          <a:lstStyle/>
          <a:p>
            <a:pPr marL="0" indent="0" algn="l">
              <a:lnSpc>
                <a:spcPct val="163000"/>
              </a:lnSpc>
              <a:buNone/>
            </a:pPr>
            <a:r>
              <a:rPr lang="en-US" sz="1680" b="1" dirty="0">
                <a:solidFill>
                  <a:srgbClr val="000000"/>
                </a:solidFill>
                <a:latin typeface="思源黑体 CN Bold" pitchFamily="34" charset="0"/>
                <a:ea typeface="思源黑体 CN Bold" pitchFamily="34" charset="-122"/>
                <a:cs typeface="思源黑体 CN Bold" pitchFamily="34" charset="-120"/>
              </a:rPr>
              <a:t>GB/T 22239-2019 8.1.4.4 e) 安全计算环境——入侵防范：</a:t>
            </a:r>
            <a:r>
              <a:rPr lang="en-US" sz="1680" b="1" dirty="0">
                <a:solidFill>
                  <a:srgbClr val="0E4D96"/>
                </a:solidFill>
                <a:latin typeface="思源黑体 CN Bold" pitchFamily="34" charset="0"/>
                <a:ea typeface="思源黑体 CN Bold" pitchFamily="34" charset="-122"/>
                <a:cs typeface="思源黑体 CN Bold" pitchFamily="34" charset="-120"/>
              </a:rPr>
              <a:t>应能发现可能存在的已知漏洞，并在经过充分测试评估后，及时修补漏洞。</a:t>
            </a:r>
            <a:endParaRPr lang="en-US" sz="1680" dirty="0"/>
          </a:p>
        </p:txBody>
      </p:sp>
      <p:pic>
        <p:nvPicPr>
          <p:cNvPr id="8" name="Image 4"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09600" y="2743200"/>
            <a:ext cx="91440" cy="228600"/>
          </a:xfrm>
          <a:prstGeom prst="rect">
            <a:avLst/>
          </a:prstGeom>
        </p:spPr>
      </p:pic>
      <p:sp>
        <p:nvSpPr>
          <p:cNvPr id="9" name="Text 2"/>
          <p:cNvSpPr/>
          <p:nvPr/>
        </p:nvSpPr>
        <p:spPr>
          <a:xfrm>
            <a:off x="822960" y="2667000"/>
            <a:ext cx="2950464" cy="365760"/>
          </a:xfrm>
          <a:prstGeom prst="rect">
            <a:avLst/>
          </a:prstGeom>
          <a:noFill/>
        </p:spPr>
        <p:txBody>
          <a:bodyPr wrap="none" lIns="0" tIns="0" rIns="0" bIns="0" rtlCol="0" anchor="ctr"/>
          <a:lstStyle/>
          <a:p>
            <a:pPr marL="0" indent="0" algn="l">
              <a:lnSpc>
                <a:spcPct val="150000"/>
              </a:lnSpc>
              <a:buNone/>
            </a:pPr>
            <a:r>
              <a:rPr lang="en-US" sz="1920" dirty="0">
                <a:solidFill>
                  <a:srgbClr val="000000"/>
                </a:solidFill>
                <a:latin typeface="思源黑体 CN Bold" pitchFamily="34" charset="0"/>
                <a:ea typeface="思源黑体 CN Bold" pitchFamily="34" charset="-122"/>
                <a:cs typeface="思源黑体 CN Bold" pitchFamily="34" charset="-120"/>
              </a:rPr>
              <a:t>等保测评中的三种技术手段</a:t>
            </a:r>
            <a:endParaRPr lang="en-US" sz="1920" dirty="0"/>
          </a:p>
        </p:txBody>
      </p:sp>
      <p:graphicFrame>
        <p:nvGraphicFramePr>
          <p:cNvPr id="10" name="Table 0"/>
          <p:cNvGraphicFramePr>
            <a:graphicFrameLocks noGrp="1"/>
          </p:cNvGraphicFramePr>
          <p:nvPr/>
        </p:nvGraphicFramePr>
        <p:xfrm>
          <a:off x="4235450" y="2742565"/>
          <a:ext cx="7012305" cy="1102360"/>
        </p:xfrm>
        <a:graphic>
          <a:graphicData uri="http://schemas.openxmlformats.org/drawingml/2006/table">
            <a:tbl>
              <a:tblPr/>
              <a:tblGrid>
                <a:gridCol w="1706245"/>
                <a:gridCol w="2566035"/>
                <a:gridCol w="2740025"/>
              </a:tblGrid>
              <a:tr h="0">
                <a:tc>
                  <a:txBody>
                    <a:bodyPr/>
                    <a:lstStyle/>
                    <a:p>
                      <a:pPr marL="0" indent="0" algn="ctr">
                        <a:buNone/>
                      </a:pPr>
                      <a:r>
                        <a:rPr lang="en-US" sz="1400" b="1" dirty="0">
                          <a:solidFill>
                            <a:srgbClr val="000000"/>
                          </a:solidFill>
                        </a:rPr>
                        <a:t>方法</a:t>
                      </a:r>
                      <a:endParaRPr lang="en-US" sz="1400" b="1" dirty="0">
                        <a:solidFill>
                          <a:srgbClr val="000000"/>
                        </a:solidFill>
                      </a:endParaRPr>
                    </a:p>
                  </a:txBody>
                  <a:tcPr marL="31012" marR="31012" marT="31012" marB="3101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000000"/>
                          </a:solidFill>
                        </a:rPr>
                        <a:t>定义</a:t>
                      </a:r>
                      <a:endParaRPr lang="en-US" sz="1400" b="1" dirty="0">
                        <a:solidFill>
                          <a:srgbClr val="000000"/>
                        </a:solidFill>
                      </a:endParaRPr>
                    </a:p>
                  </a:txBody>
                  <a:tcPr marL="31012" marR="31012" marT="31012" marB="3101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000000"/>
                          </a:solidFill>
                        </a:rPr>
                        <a:t>在等保测评中的作用</a:t>
                      </a:r>
                      <a:endParaRPr lang="en-US" sz="1400" b="1" dirty="0">
                        <a:solidFill>
                          <a:srgbClr val="000000"/>
                        </a:solidFill>
                      </a:endParaRPr>
                    </a:p>
                  </a:txBody>
                  <a:tcPr marL="31012" marR="31012" marT="31012" marB="3101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0">
                <a:tc>
                  <a:txBody>
                    <a:bodyPr/>
                    <a:lstStyle/>
                    <a:p>
                      <a:pPr marL="0" indent="0" algn="ctr">
                        <a:buNone/>
                      </a:pPr>
                      <a:r>
                        <a:rPr lang="en-US" sz="1400" dirty="0">
                          <a:solidFill>
                            <a:srgbClr val="000000"/>
                          </a:solidFill>
                        </a:rPr>
                        <a:t>访谈</a:t>
                      </a:r>
                      <a:endParaRPr lang="en-US" sz="1400" dirty="0">
                        <a:solidFill>
                          <a:srgbClr val="000000"/>
                        </a:solidFill>
                      </a:endParaRPr>
                    </a:p>
                  </a:txBody>
                  <a:tcPr marL="31012" marR="31012" marT="31012" marB="3101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与管理人员交流，获取证据</a:t>
                      </a:r>
                      <a:endParaRPr lang="en-US" sz="1400" dirty="0">
                        <a:solidFill>
                          <a:srgbClr val="000000"/>
                        </a:solidFill>
                      </a:endParaRPr>
                    </a:p>
                  </a:txBody>
                  <a:tcPr marL="31012" marR="31012" marT="31012" marB="3101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了解安全管理制度、人员配置</a:t>
                      </a:r>
                      <a:endParaRPr lang="en-US" sz="1400" dirty="0">
                        <a:solidFill>
                          <a:srgbClr val="000000"/>
                        </a:solidFill>
                      </a:endParaRPr>
                    </a:p>
                  </a:txBody>
                  <a:tcPr marL="31012" marR="31012" marT="31012" marB="3101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0">
                <a:tc>
                  <a:txBody>
                    <a:bodyPr/>
                    <a:lstStyle/>
                    <a:p>
                      <a:pPr marL="0" indent="0" algn="ctr">
                        <a:buNone/>
                      </a:pPr>
                      <a:r>
                        <a:rPr lang="en-US" sz="1400" dirty="0">
                          <a:solidFill>
                            <a:srgbClr val="000000"/>
                          </a:solidFill>
                        </a:rPr>
                        <a:t>核查</a:t>
                      </a:r>
                      <a:endParaRPr lang="en-US" sz="1400" dirty="0">
                        <a:solidFill>
                          <a:srgbClr val="000000"/>
                        </a:solidFill>
                      </a:endParaRPr>
                    </a:p>
                  </a:txBody>
                  <a:tcPr marL="31012" marR="31012" marT="31012" marB="3101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查验文档、设备配置</a:t>
                      </a:r>
                      <a:endParaRPr lang="en-US" sz="1400" dirty="0">
                        <a:solidFill>
                          <a:srgbClr val="000000"/>
                        </a:solidFill>
                      </a:endParaRPr>
                    </a:p>
                  </a:txBody>
                  <a:tcPr marL="31012" marR="31012" marT="31012" marB="3101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验证配置是否符合基线</a:t>
                      </a:r>
                      <a:endParaRPr lang="en-US" sz="1400" dirty="0">
                        <a:solidFill>
                          <a:srgbClr val="000000"/>
                        </a:solidFill>
                      </a:endParaRPr>
                    </a:p>
                  </a:txBody>
                  <a:tcPr marL="31012" marR="31012" marT="31012" marB="3101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0">
                <a:tc>
                  <a:txBody>
                    <a:bodyPr/>
                    <a:lstStyle/>
                    <a:p>
                      <a:pPr marL="0" indent="0" algn="ctr">
                        <a:buNone/>
                      </a:pPr>
                      <a:r>
                        <a:rPr lang="en-US" sz="1400" dirty="0">
                          <a:solidFill>
                            <a:srgbClr val="000000"/>
                          </a:solidFill>
                        </a:rPr>
                        <a:t>测试（含漏洞扫描）</a:t>
                      </a:r>
                      <a:endParaRPr lang="en-US" sz="1400" dirty="0">
                        <a:solidFill>
                          <a:srgbClr val="000000"/>
                        </a:solidFill>
                      </a:endParaRPr>
                    </a:p>
                  </a:txBody>
                  <a:tcPr marL="31012" marR="31012" marT="31012" marB="3101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使用工具产生结果，与预期比对</a:t>
                      </a:r>
                      <a:endParaRPr lang="en-US" sz="1400" dirty="0">
                        <a:solidFill>
                          <a:srgbClr val="000000"/>
                        </a:solidFill>
                      </a:endParaRPr>
                    </a:p>
                  </a:txBody>
                  <a:tcPr marL="31012" marR="31012" marT="31012" marB="3101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发现脆弱性、验证安全措施有效性</a:t>
                      </a:r>
                      <a:endParaRPr lang="en-US" sz="1400" dirty="0">
                        <a:solidFill>
                          <a:srgbClr val="000000"/>
                        </a:solidFill>
                      </a:endParaRPr>
                    </a:p>
                  </a:txBody>
                  <a:tcPr marL="31012" marR="31012" marT="31012" marB="3101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pic>
        <p:nvPicPr>
          <p:cNvPr id="11" name="Image 5"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9600" y="4023360"/>
            <a:ext cx="91440" cy="243840"/>
          </a:xfrm>
          <a:prstGeom prst="rect">
            <a:avLst/>
          </a:prstGeom>
        </p:spPr>
      </p:pic>
      <p:sp>
        <p:nvSpPr>
          <p:cNvPr id="12" name="Text 3"/>
          <p:cNvSpPr/>
          <p:nvPr/>
        </p:nvSpPr>
        <p:spPr>
          <a:xfrm>
            <a:off x="822960" y="3962400"/>
            <a:ext cx="3194304" cy="365760"/>
          </a:xfrm>
          <a:prstGeom prst="rect">
            <a:avLst/>
          </a:prstGeom>
          <a:noFill/>
        </p:spPr>
        <p:txBody>
          <a:bodyPr wrap="none" lIns="0" tIns="0" rIns="0" bIns="0" rtlCol="0" anchor="ctr"/>
          <a:lstStyle/>
          <a:p>
            <a:pPr marL="0" indent="0" algn="l">
              <a:lnSpc>
                <a:spcPct val="150000"/>
              </a:lnSpc>
              <a:buNone/>
            </a:pPr>
            <a:r>
              <a:rPr lang="en-US" sz="1920" dirty="0">
                <a:solidFill>
                  <a:srgbClr val="000000"/>
                </a:solidFill>
                <a:latin typeface="思源黑体 CN Bold" pitchFamily="34" charset="0"/>
                <a:ea typeface="思源黑体 CN Bold" pitchFamily="34" charset="-122"/>
                <a:cs typeface="思源黑体 CN Bold" pitchFamily="34" charset="-120"/>
              </a:rPr>
              <a:t>漏洞扫描在测评中的具体位置</a:t>
            </a:r>
            <a:endParaRPr lang="en-US" sz="1920" dirty="0"/>
          </a:p>
        </p:txBody>
      </p:sp>
      <p:pic>
        <p:nvPicPr>
          <p:cNvPr id="13" name="Image 6" descr="https://test.web.static.jianzeppt.com/ppt-temp-img3/15a03001d536f7276a3d0eb16af68d1c.png?x-oss-process=image/resize,w_1440,h_800,m_lfit/format,png"/>
          <p:cNvPicPr>
            <a:picLocks noChangeAspect="1"/>
          </p:cNvPicPr>
          <p:nvPr/>
        </p:nvPicPr>
        <p:blipFill>
          <a:blip r:embed="rId10"/>
          <a:stretch>
            <a:fillRect/>
          </a:stretch>
        </p:blipFill>
        <p:spPr>
          <a:xfrm>
            <a:off x="609600" y="4511040"/>
            <a:ext cx="10972800" cy="2042160"/>
          </a:xfrm>
          <a:prstGeom prst="rect">
            <a:avLst/>
          </a:prstGeom>
        </p:spPr>
      </p:pic>
      <p:sp>
        <p:nvSpPr>
          <p:cNvPr id="14" name="Text 4"/>
          <p:cNvSpPr/>
          <p:nvPr/>
        </p:nvSpPr>
        <p:spPr>
          <a:xfrm>
            <a:off x="7833360" y="5334000"/>
            <a:ext cx="3499104" cy="274320"/>
          </a:xfrm>
          <a:prstGeom prst="rect">
            <a:avLst/>
          </a:prstGeom>
          <a:noFill/>
        </p:spPr>
        <p:txBody>
          <a:bodyPr wrap="none" lIns="0" tIns="0" rIns="0" bIns="0" rtlCol="0" anchor="t">
            <a:spAutoFit/>
          </a:bodyPr>
          <a:lstStyle/>
          <a:p>
            <a:pPr marL="0" indent="0" algn="l">
              <a:lnSpc>
                <a:spcPct val="10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输出物</a:t>
            </a:r>
            <a:endParaRPr lang="en-US" sz="1440" dirty="0"/>
          </a:p>
        </p:txBody>
      </p:sp>
      <p:sp>
        <p:nvSpPr>
          <p:cNvPr id="15" name="Text 5"/>
          <p:cNvSpPr/>
          <p:nvPr/>
        </p:nvSpPr>
        <p:spPr>
          <a:xfrm>
            <a:off x="7833360" y="5669280"/>
            <a:ext cx="3499104" cy="320040"/>
          </a:xfrm>
          <a:prstGeom prst="rect">
            <a:avLst/>
          </a:prstGeom>
          <a:noFill/>
        </p:spPr>
        <p:txBody>
          <a:bodyPr wrap="none" lIns="0" tIns="0" rIns="0" bIns="0" rtlCol="0" anchor="t">
            <a:spAutoFit/>
          </a:bodyPr>
          <a:lstStyle/>
          <a:p>
            <a:pPr marL="0" indent="0" algn="l">
              <a:lnSpc>
                <a:spcPct val="100000"/>
              </a:lnSpc>
              <a:buNone/>
            </a:pPr>
            <a:r>
              <a:rPr lang="en-US" sz="1680" b="1" dirty="0">
                <a:solidFill>
                  <a:srgbClr val="000000"/>
                </a:solidFill>
                <a:latin typeface="思源黑体 CN Bold" pitchFamily="34" charset="0"/>
                <a:ea typeface="思源黑体 CN Bold" pitchFamily="34" charset="-122"/>
                <a:cs typeface="思源黑体 CN Bold" pitchFamily="34" charset="-120"/>
              </a:rPr>
              <a:t>《漏洞扫描报告》</a:t>
            </a:r>
            <a:endParaRPr lang="en-US" sz="1680" dirty="0"/>
          </a:p>
        </p:txBody>
      </p:sp>
      <p:sp>
        <p:nvSpPr>
          <p:cNvPr id="16" name="Text 6"/>
          <p:cNvSpPr/>
          <p:nvPr/>
        </p:nvSpPr>
        <p:spPr>
          <a:xfrm>
            <a:off x="7833360" y="6019800"/>
            <a:ext cx="3499104" cy="274320"/>
          </a:xfrm>
          <a:prstGeom prst="rect">
            <a:avLst/>
          </a:prstGeom>
          <a:noFill/>
        </p:spPr>
        <p:txBody>
          <a:bodyPr wrap="none" lIns="0" tIns="0" rIns="0" bIns="0" rtlCol="0" anchor="t">
            <a:spAutoFit/>
          </a:bodyPr>
          <a:lstStyle/>
          <a:p>
            <a:pPr marL="0" indent="0" algn="l">
              <a:lnSpc>
                <a:spcPct val="10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(每个系统1份，含主机+Web)</a:t>
            </a:r>
            <a:endParaRPr lang="en-US" sz="1440" dirty="0"/>
          </a:p>
        </p:txBody>
      </p:sp>
      <p:pic>
        <p:nvPicPr>
          <p:cNvPr id="17" name="Image 7" descr="https://test.web.static.jianzeppt.com/ppt-temp-img3/ebb98878d445e0a2a6654ce69a2f92ad.png?x-oss-process=image/resize,w_1440,h_800,m_lfit/format,png"/>
          <p:cNvPicPr>
            <a:picLocks noChangeAspect="1"/>
          </p:cNvPicPr>
          <p:nvPr/>
        </p:nvPicPr>
        <p:blipFill>
          <a:blip r:embed="rId11"/>
          <a:stretch>
            <a:fillRect/>
          </a:stretch>
        </p:blipFill>
        <p:spPr>
          <a:xfrm>
            <a:off x="1082040" y="5135880"/>
            <a:ext cx="3276600" cy="30480"/>
          </a:xfrm>
          <a:prstGeom prst="rect">
            <a:avLst/>
          </a:prstGeom>
        </p:spPr>
      </p:pic>
      <p:sp>
        <p:nvSpPr>
          <p:cNvPr id="18" name="Text 7"/>
          <p:cNvSpPr/>
          <p:nvPr/>
        </p:nvSpPr>
        <p:spPr>
          <a:xfrm>
            <a:off x="868680" y="5486400"/>
            <a:ext cx="3255264" cy="274320"/>
          </a:xfrm>
          <a:prstGeom prst="rect">
            <a:avLst/>
          </a:prstGeom>
          <a:noFill/>
        </p:spPr>
        <p:txBody>
          <a:bodyPr wrap="none" lIns="0" tIns="0" rIns="0" bIns="0" rtlCol="0" anchor="t">
            <a:spAutoFit/>
          </a:bodyPr>
          <a:lstStyle/>
          <a:p>
            <a:pPr marL="0" indent="0" algn="l">
              <a:lnSpc>
                <a:spcPct val="10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测评阶段</a:t>
            </a:r>
            <a:endParaRPr lang="en-US" sz="1440" dirty="0"/>
          </a:p>
        </p:txBody>
      </p:sp>
      <p:sp>
        <p:nvSpPr>
          <p:cNvPr id="19" name="Text 8"/>
          <p:cNvSpPr/>
          <p:nvPr/>
        </p:nvSpPr>
        <p:spPr>
          <a:xfrm>
            <a:off x="868680" y="5821680"/>
            <a:ext cx="3255264" cy="320040"/>
          </a:xfrm>
          <a:prstGeom prst="rect">
            <a:avLst/>
          </a:prstGeom>
          <a:noFill/>
        </p:spPr>
        <p:txBody>
          <a:bodyPr wrap="none" lIns="0" tIns="0" rIns="0" bIns="0" rtlCol="0" anchor="t">
            <a:spAutoFit/>
          </a:bodyPr>
          <a:lstStyle/>
          <a:p>
            <a:pPr marL="0" indent="0" algn="l">
              <a:lnSpc>
                <a:spcPct val="100000"/>
              </a:lnSpc>
              <a:buNone/>
            </a:pPr>
            <a:r>
              <a:rPr lang="en-US" sz="1680" b="1" dirty="0">
                <a:solidFill>
                  <a:srgbClr val="000000"/>
                </a:solidFill>
                <a:latin typeface="思源黑体 CN Bold" pitchFamily="34" charset="0"/>
                <a:ea typeface="思源黑体 CN Bold" pitchFamily="34" charset="-122"/>
                <a:cs typeface="思源黑体 CN Bold" pitchFamily="34" charset="-120"/>
              </a:rPr>
              <a:t>现场测评 → 技术测试环节</a:t>
            </a:r>
            <a:endParaRPr lang="en-US" sz="1680" dirty="0"/>
          </a:p>
        </p:txBody>
      </p:sp>
      <p:pic>
        <p:nvPicPr>
          <p:cNvPr id="20" name="Image 8" descr="preencoded.png"/>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68680" y="4937760"/>
            <a:ext cx="426720" cy="426720"/>
          </a:xfrm>
          <a:prstGeom prst="rect">
            <a:avLst/>
          </a:prstGeom>
          <a:effectLst>
            <a:outerShdw blurRad="1935480000" dist="645160000" dir="-1" algn="bl" rotWithShape="0">
              <a:srgbClr val="0E5696">
                <a:alpha val="-2147483648"/>
              </a:srgbClr>
            </a:outerShdw>
          </a:effectLst>
        </p:spPr>
      </p:pic>
      <p:sp>
        <p:nvSpPr>
          <p:cNvPr id="21" name="Text 9"/>
          <p:cNvSpPr/>
          <p:nvPr/>
        </p:nvSpPr>
        <p:spPr>
          <a:xfrm>
            <a:off x="1021080" y="4983480"/>
            <a:ext cx="146304" cy="304800"/>
          </a:xfrm>
          <a:prstGeom prst="rect">
            <a:avLst/>
          </a:prstGeom>
          <a:noFill/>
        </p:spPr>
        <p:txBody>
          <a:bodyPr wrap="none" lIns="0" tIns="0" rIns="0" bIns="0" rtlCol="0" anchor="ctr"/>
          <a:lstStyle/>
          <a:p>
            <a:pPr marL="0" indent="0" algn="ctr">
              <a:lnSpc>
                <a:spcPct val="150000"/>
              </a:lnSpc>
              <a:buNone/>
            </a:pPr>
            <a:r>
              <a:rPr lang="en-US" sz="1680" b="1" dirty="0">
                <a:solidFill>
                  <a:srgbClr val="FFFFFF"/>
                </a:solidFill>
                <a:latin typeface="思源黑体 CN Bold" pitchFamily="34" charset="0"/>
                <a:ea typeface="思源黑体 CN Bold" pitchFamily="34" charset="-122"/>
                <a:cs typeface="思源黑体 CN Bold" pitchFamily="34" charset="-120"/>
              </a:rPr>
              <a:t>1</a:t>
            </a:r>
            <a:endParaRPr lang="en-US" sz="1680" dirty="0"/>
          </a:p>
        </p:txBody>
      </p:sp>
      <p:pic>
        <p:nvPicPr>
          <p:cNvPr id="22" name="Image 9" descr="https://test.web.static.jianzeppt.com/ppt-temp-img3/ebb98878d445e0a2a6654ce69a2f92ad.png?x-oss-process=image/resize,w_1440,h_800,m_lfit/format,png"/>
          <p:cNvPicPr>
            <a:picLocks noChangeAspect="1"/>
          </p:cNvPicPr>
          <p:nvPr/>
        </p:nvPicPr>
        <p:blipFill>
          <a:blip r:embed="rId11"/>
          <a:stretch>
            <a:fillRect/>
          </a:stretch>
        </p:blipFill>
        <p:spPr>
          <a:xfrm>
            <a:off x="4572000" y="4968240"/>
            <a:ext cx="3276600" cy="30480"/>
          </a:xfrm>
          <a:prstGeom prst="rect">
            <a:avLst/>
          </a:prstGeom>
        </p:spPr>
      </p:pic>
      <p:sp>
        <p:nvSpPr>
          <p:cNvPr id="23" name="Text 10"/>
          <p:cNvSpPr/>
          <p:nvPr/>
        </p:nvSpPr>
        <p:spPr>
          <a:xfrm>
            <a:off x="4358640" y="5318760"/>
            <a:ext cx="3255264" cy="274320"/>
          </a:xfrm>
          <a:prstGeom prst="rect">
            <a:avLst/>
          </a:prstGeom>
          <a:noFill/>
        </p:spPr>
        <p:txBody>
          <a:bodyPr wrap="none" lIns="0" tIns="0" rIns="0" bIns="0" rtlCol="0" anchor="t">
            <a:spAutoFit/>
          </a:bodyPr>
          <a:lstStyle/>
          <a:p>
            <a:pPr marL="0" indent="0" algn="l">
              <a:lnSpc>
                <a:spcPct val="10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对应标准</a:t>
            </a:r>
            <a:endParaRPr lang="en-US" sz="1440" dirty="0"/>
          </a:p>
        </p:txBody>
      </p:sp>
      <p:sp>
        <p:nvSpPr>
          <p:cNvPr id="24" name="Text 11"/>
          <p:cNvSpPr/>
          <p:nvPr/>
        </p:nvSpPr>
        <p:spPr>
          <a:xfrm>
            <a:off x="4358640" y="5654040"/>
            <a:ext cx="3255264" cy="640080"/>
          </a:xfrm>
          <a:prstGeom prst="rect">
            <a:avLst/>
          </a:prstGeom>
          <a:noFill/>
        </p:spPr>
        <p:txBody>
          <a:bodyPr wrap="square" lIns="0" tIns="0" rIns="0" bIns="0" rtlCol="0" anchor="t">
            <a:spAutoFit/>
          </a:bodyPr>
          <a:lstStyle/>
          <a:p>
            <a:pPr marL="0" indent="0" algn="l">
              <a:lnSpc>
                <a:spcPct val="150000"/>
              </a:lnSpc>
              <a:buNone/>
            </a:pPr>
            <a:r>
              <a:rPr lang="en-US" sz="1680" b="1" dirty="0">
                <a:solidFill>
                  <a:srgbClr val="000000"/>
                </a:solidFill>
                <a:latin typeface="思源黑体 CN Bold" pitchFamily="34" charset="0"/>
                <a:ea typeface="思源黑体 CN Bold" pitchFamily="34" charset="-122"/>
                <a:cs typeface="思源黑体 CN Bold" pitchFamily="34" charset="-120"/>
              </a:rPr>
              <a:t>GB/T 22239</a:t>
            </a:r>
            <a:r>
              <a:rPr lang="en-US" sz="1680" b="1" dirty="0">
                <a:solidFill>
                  <a:srgbClr val="000000"/>
                </a:solidFill>
                <a:latin typeface="思源黑体 CN Bold" pitchFamily="34" charset="0"/>
                <a:ea typeface="思源黑体 CN Bold" pitchFamily="34" charset="-122"/>
                <a:cs typeface="思源黑体 CN Bold" pitchFamily="34" charset="-120"/>
              </a:rPr>
              <a:t>安全计算环境 → 入侵防范</a:t>
            </a:r>
            <a:endParaRPr lang="en-US" sz="1680" dirty="0"/>
          </a:p>
        </p:txBody>
      </p:sp>
      <p:pic>
        <p:nvPicPr>
          <p:cNvPr id="25" name="Image 10" descr="preencoded.png"/>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358640" y="4770120"/>
            <a:ext cx="426720" cy="426720"/>
          </a:xfrm>
          <a:prstGeom prst="rect">
            <a:avLst/>
          </a:prstGeom>
          <a:effectLst>
            <a:outerShdw blurRad="1935480000" dist="645160000" dir="-1" algn="bl" rotWithShape="0">
              <a:srgbClr val="0E5696">
                <a:alpha val="-2147483648"/>
              </a:srgbClr>
            </a:outerShdw>
          </a:effectLst>
        </p:spPr>
      </p:pic>
      <p:sp>
        <p:nvSpPr>
          <p:cNvPr id="26" name="Text 12"/>
          <p:cNvSpPr/>
          <p:nvPr/>
        </p:nvSpPr>
        <p:spPr>
          <a:xfrm>
            <a:off x="4511040" y="4831080"/>
            <a:ext cx="146304" cy="304800"/>
          </a:xfrm>
          <a:prstGeom prst="rect">
            <a:avLst/>
          </a:prstGeom>
          <a:noFill/>
        </p:spPr>
        <p:txBody>
          <a:bodyPr wrap="none" lIns="0" tIns="0" rIns="0" bIns="0" rtlCol="0" anchor="ctr"/>
          <a:lstStyle/>
          <a:p>
            <a:pPr marL="0" indent="0" algn="ctr">
              <a:lnSpc>
                <a:spcPct val="150000"/>
              </a:lnSpc>
              <a:buNone/>
            </a:pPr>
            <a:r>
              <a:rPr lang="en-US" sz="1680" b="1" dirty="0">
                <a:solidFill>
                  <a:srgbClr val="FFFFFF"/>
                </a:solidFill>
                <a:latin typeface="思源黑体 CN Bold" pitchFamily="34" charset="0"/>
                <a:ea typeface="思源黑体 CN Bold" pitchFamily="34" charset="-122"/>
                <a:cs typeface="思源黑体 CN Bold" pitchFamily="34" charset="-120"/>
              </a:rPr>
              <a:t>2</a:t>
            </a:r>
            <a:endParaRPr lang="en-US" sz="1680" dirty="0"/>
          </a:p>
        </p:txBody>
      </p:sp>
      <p:pic>
        <p:nvPicPr>
          <p:cNvPr id="27" name="Image 11" descr="preencoded.png"/>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833360" y="4785360"/>
            <a:ext cx="426720" cy="426720"/>
          </a:xfrm>
          <a:prstGeom prst="rect">
            <a:avLst/>
          </a:prstGeom>
          <a:effectLst>
            <a:outerShdw blurRad="1935480000" dist="645160000" dir="-1" algn="bl" rotWithShape="0">
              <a:srgbClr val="0E5696">
                <a:alpha val="-2147483648"/>
              </a:srgbClr>
            </a:outerShdw>
          </a:effectLst>
        </p:spPr>
      </p:pic>
      <p:sp>
        <p:nvSpPr>
          <p:cNvPr id="28" name="Text 13"/>
          <p:cNvSpPr/>
          <p:nvPr/>
        </p:nvSpPr>
        <p:spPr>
          <a:xfrm>
            <a:off x="7985760" y="4831080"/>
            <a:ext cx="146304" cy="304800"/>
          </a:xfrm>
          <a:prstGeom prst="rect">
            <a:avLst/>
          </a:prstGeom>
          <a:noFill/>
        </p:spPr>
        <p:txBody>
          <a:bodyPr wrap="none" lIns="0" tIns="0" rIns="0" bIns="0" rtlCol="0" anchor="ctr"/>
          <a:lstStyle/>
          <a:p>
            <a:pPr marL="0" indent="0" algn="ctr">
              <a:lnSpc>
                <a:spcPct val="150000"/>
              </a:lnSpc>
              <a:buNone/>
            </a:pPr>
            <a:r>
              <a:rPr lang="en-US" sz="1680" b="1" dirty="0">
                <a:solidFill>
                  <a:srgbClr val="FFFFFF"/>
                </a:solidFill>
                <a:latin typeface="思源黑体 CN Bold" pitchFamily="34" charset="0"/>
                <a:ea typeface="思源黑体 CN Bold" pitchFamily="34" charset="-122"/>
                <a:cs typeface="思源黑体 CN Bold" pitchFamily="34" charset="-120"/>
              </a:rPr>
              <a:t>3</a:t>
            </a:r>
            <a:endParaRPr lang="en-US" sz="16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漏洞扫描的核心原理</a:t>
            </a:r>
            <a:endParaRPr lang="en-US" sz="2760" dirty="0"/>
          </a:p>
        </p:txBody>
      </p:sp>
      <p:pic>
        <p:nvPicPr>
          <p:cNvPr id="6" name="Image 3" descr="https://test.web.static.jianzeppt.com/ppt-temp-img3/6b3bdbfac7bdd30afc453580a418a496.png?x-oss-process=image/resize,w_1440,h_800,m_lfit/format,png"/>
          <p:cNvPicPr>
            <a:picLocks noChangeAspect="1"/>
          </p:cNvPicPr>
          <p:nvPr/>
        </p:nvPicPr>
        <p:blipFill>
          <a:blip r:embed="rId4"/>
          <a:stretch>
            <a:fillRect/>
          </a:stretch>
        </p:blipFill>
        <p:spPr>
          <a:xfrm>
            <a:off x="609600" y="1371600"/>
            <a:ext cx="5379720" cy="1417320"/>
          </a:xfrm>
          <a:prstGeom prst="rect">
            <a:avLst/>
          </a:prstGeom>
        </p:spPr>
      </p:pic>
      <p:sp>
        <p:nvSpPr>
          <p:cNvPr id="7" name="Text 1"/>
          <p:cNvSpPr/>
          <p:nvPr/>
        </p:nvSpPr>
        <p:spPr>
          <a:xfrm>
            <a:off x="807720" y="1600200"/>
            <a:ext cx="4992624" cy="365760"/>
          </a:xfrm>
          <a:prstGeom prst="rect">
            <a:avLst/>
          </a:prstGeom>
          <a:noFill/>
        </p:spPr>
        <p:txBody>
          <a:bodyPr wrap="none" lIns="0" tIns="0" rIns="0" bIns="0" rtlCol="0" anchor="t">
            <a:spAutoFit/>
          </a:bodyPr>
          <a:lstStyle/>
          <a:p>
            <a:pPr marL="0" indent="0" algn="l">
              <a:lnSpc>
                <a:spcPct val="100000"/>
              </a:lnSpc>
              <a:buNone/>
            </a:pPr>
            <a:r>
              <a:rPr lang="en-US" sz="1920" dirty="0">
                <a:solidFill>
                  <a:srgbClr val="000000"/>
                </a:solidFill>
                <a:latin typeface="思源黑体 CN Bold" pitchFamily="34" charset="0"/>
                <a:ea typeface="思源黑体 CN Bold" pitchFamily="34" charset="-122"/>
                <a:cs typeface="思源黑体 CN Bold" pitchFamily="34" charset="-120"/>
              </a:rPr>
              <a:t>核心定义</a:t>
            </a:r>
            <a:endParaRPr lang="en-US" sz="1920" dirty="0"/>
          </a:p>
        </p:txBody>
      </p:sp>
      <p:sp>
        <p:nvSpPr>
          <p:cNvPr id="8" name="Text 2"/>
          <p:cNvSpPr/>
          <p:nvPr/>
        </p:nvSpPr>
        <p:spPr>
          <a:xfrm>
            <a:off x="807720" y="2026920"/>
            <a:ext cx="4992624" cy="548640"/>
          </a:xfrm>
          <a:prstGeom prst="rect">
            <a:avLst/>
          </a:prstGeom>
          <a:noFill/>
        </p:spPr>
        <p:txBody>
          <a:bodyPr wrap="square" lIns="0" tIns="0" rIns="0" bIns="0" rtlCol="0" anchor="t">
            <a:spAutoFit/>
          </a:bodyPr>
          <a:lstStyle/>
          <a:p>
            <a:pPr marL="0" indent="0" algn="l">
              <a:lnSpc>
                <a:spcPct val="15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漏洞扫描是基于已知的漏洞数据库，通过模拟攻击行为检测目标系统是否存在可被利用的缺陷的自动化过程。</a:t>
            </a:r>
            <a:endParaRPr lang="en-US" sz="1440" dirty="0"/>
          </a:p>
        </p:txBody>
      </p:sp>
      <p:pic>
        <p:nvPicPr>
          <p:cNvPr id="9" name="Image 4" descr="https://test.web.static.jianzeppt.com/ppt-temp-img3/6b3bdbfac7bdd30afc453580a418a496.png?x-oss-process=image/resize,w_1440,h_800,m_lfit/format,png"/>
          <p:cNvPicPr>
            <a:picLocks noChangeAspect="1"/>
          </p:cNvPicPr>
          <p:nvPr/>
        </p:nvPicPr>
        <p:blipFill>
          <a:blip r:embed="rId4"/>
          <a:stretch>
            <a:fillRect/>
          </a:stretch>
        </p:blipFill>
        <p:spPr>
          <a:xfrm>
            <a:off x="6217920" y="1371600"/>
            <a:ext cx="5379720" cy="1417320"/>
          </a:xfrm>
          <a:prstGeom prst="rect">
            <a:avLst/>
          </a:prstGeom>
        </p:spPr>
      </p:pic>
      <p:sp>
        <p:nvSpPr>
          <p:cNvPr id="10" name="Text 3"/>
          <p:cNvSpPr/>
          <p:nvPr/>
        </p:nvSpPr>
        <p:spPr>
          <a:xfrm>
            <a:off x="6416040" y="1569720"/>
            <a:ext cx="4992624" cy="365760"/>
          </a:xfrm>
          <a:prstGeom prst="rect">
            <a:avLst/>
          </a:prstGeom>
          <a:noFill/>
        </p:spPr>
        <p:txBody>
          <a:bodyPr wrap="none" lIns="0" tIns="0" rIns="0" bIns="0" rtlCol="0" anchor="t">
            <a:spAutoFit/>
          </a:bodyPr>
          <a:lstStyle/>
          <a:p>
            <a:pPr marL="0" indent="0" algn="l">
              <a:lnSpc>
                <a:spcPct val="100000"/>
              </a:lnSpc>
              <a:buNone/>
            </a:pPr>
            <a:r>
              <a:rPr lang="en-US" sz="1920" dirty="0">
                <a:solidFill>
                  <a:srgbClr val="000000"/>
                </a:solidFill>
                <a:latin typeface="思源黑体 CN Bold" pitchFamily="34" charset="0"/>
                <a:ea typeface="思源黑体 CN Bold" pitchFamily="34" charset="-122"/>
                <a:cs typeface="思源黑体 CN Bold" pitchFamily="34" charset="-120"/>
              </a:rPr>
              <a:t>关键点</a:t>
            </a:r>
            <a:endParaRPr lang="en-US" sz="1920" dirty="0"/>
          </a:p>
        </p:txBody>
      </p:sp>
      <p:sp>
        <p:nvSpPr>
          <p:cNvPr id="11" name="Text 4"/>
          <p:cNvSpPr/>
          <p:nvPr/>
        </p:nvSpPr>
        <p:spPr>
          <a:xfrm>
            <a:off x="6416040" y="1996440"/>
            <a:ext cx="4992624" cy="594360"/>
          </a:xfrm>
          <a:prstGeom prst="rect">
            <a:avLst/>
          </a:prstGeom>
          <a:noFill/>
        </p:spPr>
        <p:txBody>
          <a:bodyPr wrap="square" lIns="0" tIns="0" rIns="0" bIns="0" rtlCol="0" anchor="t">
            <a:spAutoFit/>
          </a:bodyPr>
          <a:lstStyle/>
          <a:p>
            <a:pPr marL="0" indent="0" algn="l">
              <a:lnSpc>
                <a:spcPct val="15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漏洞扫描是“基于特征码的匹配”——工具只能发现已知漏洞，无法发现</a:t>
            </a:r>
            <a:r>
              <a:rPr lang="en-US" sz="1680" dirty="0">
                <a:solidFill>
                  <a:srgbClr val="000000"/>
                </a:solidFill>
                <a:latin typeface="思源黑体 CN Bold" pitchFamily="34" charset="0"/>
                <a:ea typeface="思源黑体 CN Bold" pitchFamily="34" charset="-122"/>
                <a:cs typeface="思源黑体 CN Bold" pitchFamily="34" charset="-120"/>
              </a:rPr>
              <a:t>0day</a:t>
            </a:r>
            <a:r>
              <a:rPr lang="en-US" sz="1440" dirty="0">
                <a:solidFill>
                  <a:srgbClr val="000000"/>
                </a:solidFill>
                <a:latin typeface="思源黑体 CN Regular" pitchFamily="34" charset="0"/>
                <a:ea typeface="思源黑体 CN Regular" pitchFamily="34" charset="-122"/>
                <a:cs typeface="思源黑体 CN Regular" pitchFamily="34" charset="-120"/>
              </a:rPr>
              <a:t>。</a:t>
            </a:r>
            <a:endParaRPr lang="en-US" sz="1440" dirty="0"/>
          </a:p>
        </p:txBody>
      </p:sp>
      <p:sp>
        <p:nvSpPr>
          <p:cNvPr id="12" name="Text 5"/>
          <p:cNvSpPr/>
          <p:nvPr/>
        </p:nvSpPr>
        <p:spPr>
          <a:xfrm>
            <a:off x="609600" y="3017520"/>
            <a:ext cx="10981944" cy="365760"/>
          </a:xfrm>
          <a:prstGeom prst="rect">
            <a:avLst/>
          </a:prstGeom>
          <a:noFill/>
        </p:spPr>
        <p:txBody>
          <a:bodyPr wrap="none" lIns="0" tIns="0" rIns="0" bIns="0" rtlCol="0" anchor="t">
            <a:spAutoFit/>
          </a:bodyPr>
          <a:lstStyle/>
          <a:p>
            <a:pPr marL="0" indent="0" algn="l">
              <a:lnSpc>
                <a:spcPct val="100000"/>
              </a:lnSpc>
              <a:buNone/>
            </a:pPr>
            <a:r>
              <a:rPr lang="en-US" sz="1920" dirty="0">
                <a:solidFill>
                  <a:srgbClr val="000000"/>
                </a:solidFill>
                <a:latin typeface="思源黑体 CN Bold" pitchFamily="34" charset="0"/>
                <a:ea typeface="思源黑体 CN Bold" pitchFamily="34" charset="-122"/>
                <a:cs typeface="思源黑体 CN Bold" pitchFamily="34" charset="-120"/>
              </a:rPr>
              <a:t>技术原理三步走</a:t>
            </a:r>
            <a:endParaRPr lang="en-US" sz="1920" dirty="0"/>
          </a:p>
        </p:txBody>
      </p:sp>
      <p:pic>
        <p:nvPicPr>
          <p:cNvPr id="13" name="Image 5" descr="https://test.web.static.jianzeppt.com/ppt-temp-img3/b2051d8aa9ee85ffb1049155c46a8994.png?x-oss-process=image/resize,w_1440,h_800,m_lfit/format,png"/>
          <p:cNvPicPr>
            <a:picLocks noChangeAspect="1"/>
          </p:cNvPicPr>
          <p:nvPr/>
        </p:nvPicPr>
        <p:blipFill>
          <a:blip r:embed="rId5"/>
          <a:stretch>
            <a:fillRect/>
          </a:stretch>
        </p:blipFill>
        <p:spPr>
          <a:xfrm>
            <a:off x="609600" y="3505200"/>
            <a:ext cx="10972800" cy="1371600"/>
          </a:xfrm>
          <a:prstGeom prst="rect">
            <a:avLst/>
          </a:prstGeom>
        </p:spPr>
      </p:pic>
      <p:pic>
        <p:nvPicPr>
          <p:cNvPr id="14" name="Image 6"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133600" y="3535680"/>
            <a:ext cx="457200" cy="457200"/>
          </a:xfrm>
          <a:prstGeom prst="rect">
            <a:avLst/>
          </a:prstGeom>
        </p:spPr>
      </p:pic>
      <p:sp>
        <p:nvSpPr>
          <p:cNvPr id="15" name="Text 6"/>
          <p:cNvSpPr/>
          <p:nvPr/>
        </p:nvSpPr>
        <p:spPr>
          <a:xfrm>
            <a:off x="2301240" y="3596640"/>
            <a:ext cx="131064" cy="304800"/>
          </a:xfrm>
          <a:prstGeom prst="rect">
            <a:avLst/>
          </a:prstGeom>
          <a:noFill/>
        </p:spPr>
        <p:txBody>
          <a:bodyPr wrap="none" lIns="0" tIns="0" rIns="0" bIns="0" rtlCol="0" anchor="ctr"/>
          <a:lstStyle/>
          <a:p>
            <a:pPr marL="0" indent="0" algn="ctr">
              <a:lnSpc>
                <a:spcPct val="150000"/>
              </a:lnSpc>
              <a:buNone/>
            </a:pPr>
            <a:r>
              <a:rPr lang="en-US" sz="1680" dirty="0">
                <a:solidFill>
                  <a:srgbClr val="FFFFFF"/>
                </a:solidFill>
                <a:latin typeface="思源黑体 CN Bold" pitchFamily="34" charset="0"/>
                <a:ea typeface="思源黑体 CN Bold" pitchFamily="34" charset="-122"/>
                <a:cs typeface="思源黑体 CN Bold" pitchFamily="34" charset="-120"/>
              </a:rPr>
              <a:t>1</a:t>
            </a:r>
            <a:endParaRPr lang="en-US" sz="1680" dirty="0"/>
          </a:p>
        </p:txBody>
      </p:sp>
      <p:sp>
        <p:nvSpPr>
          <p:cNvPr id="16" name="Text 7"/>
          <p:cNvSpPr/>
          <p:nvPr/>
        </p:nvSpPr>
        <p:spPr>
          <a:xfrm>
            <a:off x="1935480" y="4053840"/>
            <a:ext cx="86258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latin typeface="思源黑体 CN Bold" pitchFamily="34" charset="0"/>
                <a:ea typeface="思源黑体 CN Bold" pitchFamily="34" charset="-122"/>
                <a:cs typeface="思源黑体 CN Bold" pitchFamily="34" charset="-120"/>
              </a:rPr>
              <a:t>端口扫描</a:t>
            </a:r>
            <a:endParaRPr lang="en-US" sz="1680" dirty="0"/>
          </a:p>
        </p:txBody>
      </p:sp>
      <p:sp>
        <p:nvSpPr>
          <p:cNvPr id="17" name="Text 8"/>
          <p:cNvSpPr/>
          <p:nvPr/>
        </p:nvSpPr>
        <p:spPr>
          <a:xfrm>
            <a:off x="1752600" y="4404360"/>
            <a:ext cx="1228344" cy="368935"/>
          </a:xfrm>
          <a:prstGeom prst="rect">
            <a:avLst/>
          </a:prstGeom>
          <a:noFill/>
        </p:spPr>
        <p:txBody>
          <a:bodyPr wrap="square" lIns="0" tIns="0" rIns="0" bIns="0" rtlCol="0" anchor="t">
            <a:spAutoFit/>
          </a:bodyPr>
          <a:lstStyle/>
          <a:p>
            <a:pPr marL="0" indent="0" algn="ctr">
              <a:lnSpc>
                <a:spcPct val="100000"/>
              </a:lnSpc>
              <a:buNone/>
            </a:pPr>
            <a:r>
              <a:rPr lang="en-US" sz="1200" dirty="0">
                <a:solidFill>
                  <a:srgbClr val="6B6C70"/>
                </a:solidFill>
                <a:latin typeface="思源黑体 CN Regular" pitchFamily="34" charset="0"/>
                <a:ea typeface="思源黑体 CN Regular" pitchFamily="34" charset="-122"/>
                <a:cs typeface="思源黑体 CN Regular" pitchFamily="34" charset="-120"/>
              </a:rPr>
              <a:t>探测目标开放端口</a:t>
            </a:r>
            <a:r>
              <a:rPr lang="en-US" sz="1200" dirty="0">
                <a:solidFill>
                  <a:srgbClr val="6B6C70"/>
                </a:solidFill>
                <a:latin typeface="思源黑体 CN Regular" pitchFamily="34" charset="0"/>
                <a:ea typeface="思源黑体 CN Regular" pitchFamily="34" charset="-122"/>
                <a:cs typeface="思源黑体 CN Regular" pitchFamily="34" charset="-120"/>
              </a:rPr>
              <a:t>使用Nmap等工具</a:t>
            </a:r>
            <a:endParaRPr lang="en-US" sz="1200" dirty="0"/>
          </a:p>
        </p:txBody>
      </p:sp>
      <p:pic>
        <p:nvPicPr>
          <p:cNvPr id="18" name="Image 7" descr="https://test.web.static.jianzeppt.com/ppt-temp-img3/bebf73fb837a82d6fc1f8b7359383f3f.png?x-oss-process=image/resize,w_1440,h_800,m_lfit/format,png"/>
          <p:cNvPicPr>
            <a:picLocks noChangeAspect="1"/>
          </p:cNvPicPr>
          <p:nvPr/>
        </p:nvPicPr>
        <p:blipFill>
          <a:blip r:embed="rId8"/>
          <a:stretch>
            <a:fillRect/>
          </a:stretch>
        </p:blipFill>
        <p:spPr>
          <a:xfrm>
            <a:off x="4008120" y="3992880"/>
            <a:ext cx="426720" cy="396240"/>
          </a:xfrm>
          <a:prstGeom prst="rect">
            <a:avLst/>
          </a:prstGeom>
        </p:spPr>
      </p:pic>
      <p:pic>
        <p:nvPicPr>
          <p:cNvPr id="19" name="Image 8"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867400" y="3535680"/>
            <a:ext cx="457200" cy="457200"/>
          </a:xfrm>
          <a:prstGeom prst="rect">
            <a:avLst/>
          </a:prstGeom>
        </p:spPr>
      </p:pic>
      <p:sp>
        <p:nvSpPr>
          <p:cNvPr id="20" name="Text 9"/>
          <p:cNvSpPr/>
          <p:nvPr/>
        </p:nvSpPr>
        <p:spPr>
          <a:xfrm>
            <a:off x="6035040" y="3596640"/>
            <a:ext cx="131064" cy="304800"/>
          </a:xfrm>
          <a:prstGeom prst="rect">
            <a:avLst/>
          </a:prstGeom>
          <a:noFill/>
        </p:spPr>
        <p:txBody>
          <a:bodyPr wrap="none" lIns="0" tIns="0" rIns="0" bIns="0" rtlCol="0" anchor="ctr"/>
          <a:lstStyle/>
          <a:p>
            <a:pPr marL="0" indent="0" algn="ctr">
              <a:lnSpc>
                <a:spcPct val="150000"/>
              </a:lnSpc>
              <a:buNone/>
            </a:pPr>
            <a:r>
              <a:rPr lang="en-US" sz="1680" dirty="0">
                <a:solidFill>
                  <a:srgbClr val="FFFFFF"/>
                </a:solidFill>
                <a:latin typeface="思源黑体 CN Bold" pitchFamily="34" charset="0"/>
                <a:ea typeface="思源黑体 CN Bold" pitchFamily="34" charset="-122"/>
                <a:cs typeface="思源黑体 CN Bold" pitchFamily="34" charset="-120"/>
              </a:rPr>
              <a:t>2</a:t>
            </a:r>
            <a:endParaRPr lang="en-US" sz="1680" dirty="0"/>
          </a:p>
        </p:txBody>
      </p:sp>
      <p:sp>
        <p:nvSpPr>
          <p:cNvPr id="21" name="Text 10"/>
          <p:cNvSpPr/>
          <p:nvPr/>
        </p:nvSpPr>
        <p:spPr>
          <a:xfrm>
            <a:off x="5669280" y="4053840"/>
            <a:ext cx="86258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latin typeface="思源黑体 CN Bold" pitchFamily="34" charset="0"/>
                <a:ea typeface="思源黑体 CN Bold" pitchFamily="34" charset="-122"/>
                <a:cs typeface="思源黑体 CN Bold" pitchFamily="34" charset="-120"/>
              </a:rPr>
              <a:t>服务识别</a:t>
            </a:r>
            <a:endParaRPr lang="en-US" sz="1680" dirty="0"/>
          </a:p>
        </p:txBody>
      </p:sp>
      <p:sp>
        <p:nvSpPr>
          <p:cNvPr id="22" name="Text 11"/>
          <p:cNvSpPr/>
          <p:nvPr/>
        </p:nvSpPr>
        <p:spPr>
          <a:xfrm>
            <a:off x="5334000" y="4404360"/>
            <a:ext cx="1533144" cy="368935"/>
          </a:xfrm>
          <a:prstGeom prst="rect">
            <a:avLst/>
          </a:prstGeom>
          <a:noFill/>
        </p:spPr>
        <p:txBody>
          <a:bodyPr wrap="square" lIns="0" tIns="0" rIns="0" bIns="0" rtlCol="0" anchor="t">
            <a:spAutoFit/>
          </a:bodyPr>
          <a:lstStyle/>
          <a:p>
            <a:pPr marL="0" indent="0" algn="ctr">
              <a:lnSpc>
                <a:spcPct val="100000"/>
              </a:lnSpc>
              <a:buNone/>
            </a:pPr>
            <a:r>
              <a:rPr lang="en-US" sz="1200" dirty="0">
                <a:solidFill>
                  <a:srgbClr val="6B6C70"/>
                </a:solidFill>
                <a:latin typeface="思源黑体 CN Regular" pitchFamily="34" charset="0"/>
                <a:ea typeface="思源黑体 CN Regular" pitchFamily="34" charset="-122"/>
                <a:cs typeface="思源黑体 CN Regular" pitchFamily="34" charset="-120"/>
              </a:rPr>
              <a:t>通过协议特征判断版本</a:t>
            </a:r>
            <a:r>
              <a:rPr lang="en-US" sz="1200" dirty="0">
                <a:solidFill>
                  <a:srgbClr val="6B6C70"/>
                </a:solidFill>
                <a:latin typeface="思源黑体 CN Regular" pitchFamily="34" charset="0"/>
                <a:ea typeface="思源黑体 CN Regular" pitchFamily="34" charset="-122"/>
                <a:cs typeface="思源黑体 CN Regular" pitchFamily="34" charset="-120"/>
              </a:rPr>
              <a:t>例：OpenSSH 7.4</a:t>
            </a:r>
            <a:endParaRPr lang="en-US" sz="1200" dirty="0"/>
          </a:p>
        </p:txBody>
      </p:sp>
      <p:pic>
        <p:nvPicPr>
          <p:cNvPr id="23" name="Image 9" descr="https://test.web.static.jianzeppt.com/ppt-temp-img3/bebf73fb837a82d6fc1f8b7359383f3f.png?x-oss-process=image/resize,w_1440,h_800,m_lfit/format,png"/>
          <p:cNvPicPr>
            <a:picLocks noChangeAspect="1"/>
          </p:cNvPicPr>
          <p:nvPr/>
        </p:nvPicPr>
        <p:blipFill>
          <a:blip r:embed="rId8"/>
          <a:stretch>
            <a:fillRect/>
          </a:stretch>
        </p:blipFill>
        <p:spPr>
          <a:xfrm>
            <a:off x="7757160" y="3992880"/>
            <a:ext cx="426720" cy="396240"/>
          </a:xfrm>
          <a:prstGeom prst="rect">
            <a:avLst/>
          </a:prstGeom>
        </p:spPr>
      </p:pic>
      <p:pic>
        <p:nvPicPr>
          <p:cNvPr id="24" name="Image 10"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601200" y="3535680"/>
            <a:ext cx="457200" cy="457200"/>
          </a:xfrm>
          <a:prstGeom prst="rect">
            <a:avLst/>
          </a:prstGeom>
        </p:spPr>
      </p:pic>
      <p:sp>
        <p:nvSpPr>
          <p:cNvPr id="25" name="Text 12"/>
          <p:cNvSpPr/>
          <p:nvPr/>
        </p:nvSpPr>
        <p:spPr>
          <a:xfrm>
            <a:off x="9768840" y="3596640"/>
            <a:ext cx="131064" cy="304800"/>
          </a:xfrm>
          <a:prstGeom prst="rect">
            <a:avLst/>
          </a:prstGeom>
          <a:noFill/>
        </p:spPr>
        <p:txBody>
          <a:bodyPr wrap="none" lIns="0" tIns="0" rIns="0" bIns="0" rtlCol="0" anchor="ctr"/>
          <a:lstStyle/>
          <a:p>
            <a:pPr marL="0" indent="0" algn="ctr">
              <a:lnSpc>
                <a:spcPct val="150000"/>
              </a:lnSpc>
              <a:buNone/>
            </a:pPr>
            <a:r>
              <a:rPr lang="en-US" sz="1680" dirty="0">
                <a:solidFill>
                  <a:srgbClr val="FFFFFF"/>
                </a:solidFill>
                <a:latin typeface="思源黑体 CN Bold" pitchFamily="34" charset="0"/>
                <a:ea typeface="思源黑体 CN Bold" pitchFamily="34" charset="-122"/>
                <a:cs typeface="思源黑体 CN Bold" pitchFamily="34" charset="-120"/>
              </a:rPr>
              <a:t>3</a:t>
            </a:r>
            <a:endParaRPr lang="en-US" sz="1680" dirty="0"/>
          </a:p>
        </p:txBody>
      </p:sp>
      <p:sp>
        <p:nvSpPr>
          <p:cNvPr id="26" name="Text 13"/>
          <p:cNvSpPr/>
          <p:nvPr/>
        </p:nvSpPr>
        <p:spPr>
          <a:xfrm>
            <a:off x="9403080" y="4053840"/>
            <a:ext cx="86258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latin typeface="思源黑体 CN Bold" pitchFamily="34" charset="0"/>
                <a:ea typeface="思源黑体 CN Bold" pitchFamily="34" charset="-122"/>
                <a:cs typeface="思源黑体 CN Bold" pitchFamily="34" charset="-120"/>
              </a:rPr>
              <a:t>漏洞匹配</a:t>
            </a:r>
            <a:endParaRPr lang="en-US" sz="1680" dirty="0"/>
          </a:p>
        </p:txBody>
      </p:sp>
      <p:sp>
        <p:nvSpPr>
          <p:cNvPr id="27" name="Text 14"/>
          <p:cNvSpPr/>
          <p:nvPr/>
        </p:nvSpPr>
        <p:spPr>
          <a:xfrm>
            <a:off x="9052560" y="4404360"/>
            <a:ext cx="1563624" cy="368935"/>
          </a:xfrm>
          <a:prstGeom prst="rect">
            <a:avLst/>
          </a:prstGeom>
          <a:noFill/>
        </p:spPr>
        <p:txBody>
          <a:bodyPr wrap="square" lIns="0" tIns="0" rIns="0" bIns="0" rtlCol="0" anchor="t">
            <a:spAutoFit/>
          </a:bodyPr>
          <a:lstStyle/>
          <a:p>
            <a:pPr marL="0" indent="0" algn="l">
              <a:lnSpc>
                <a:spcPct val="100000"/>
              </a:lnSpc>
              <a:buNone/>
            </a:pPr>
            <a:r>
              <a:rPr lang="en-US" sz="1200" dirty="0">
                <a:solidFill>
                  <a:srgbClr val="6B6C70"/>
                </a:solidFill>
                <a:latin typeface="思源黑体 CN Regular" pitchFamily="34" charset="0"/>
                <a:ea typeface="思源黑体 CN Regular" pitchFamily="34" charset="-122"/>
                <a:cs typeface="思源黑体 CN Regular" pitchFamily="34" charset="-120"/>
              </a:rPr>
              <a:t>与CVE/NVD漏洞库对比</a:t>
            </a:r>
            <a:r>
              <a:rPr lang="en-US" sz="1200" dirty="0">
                <a:solidFill>
                  <a:srgbClr val="6B6C70"/>
                </a:solidFill>
                <a:latin typeface="思源黑体 CN Regular" pitchFamily="34" charset="0"/>
                <a:ea typeface="思源黑体 CN Regular" pitchFamily="34" charset="-122"/>
                <a:cs typeface="思源黑体 CN Regular" pitchFamily="34" charset="-120"/>
              </a:rPr>
              <a:t>生成报告</a:t>
            </a:r>
            <a:endParaRPr lang="en-US" sz="1200" dirty="0"/>
          </a:p>
        </p:txBody>
      </p:sp>
      <p:sp>
        <p:nvSpPr>
          <p:cNvPr id="28" name="Text 15"/>
          <p:cNvSpPr/>
          <p:nvPr/>
        </p:nvSpPr>
        <p:spPr>
          <a:xfrm>
            <a:off x="609600" y="5105400"/>
            <a:ext cx="10981944" cy="274320"/>
          </a:xfrm>
          <a:prstGeom prst="rect">
            <a:avLst/>
          </a:prstGeom>
          <a:noFill/>
        </p:spPr>
        <p:txBody>
          <a:bodyPr wrap="none" lIns="0" tIns="0" rIns="0" bIns="0" rtlCol="0" anchor="t">
            <a:spAutoFit/>
          </a:bodyPr>
          <a:lstStyle/>
          <a:p>
            <a:pPr marL="0" indent="0" algn="l">
              <a:lnSpc>
                <a:spcPct val="100000"/>
              </a:lnSpc>
              <a:buNone/>
            </a:pPr>
            <a:r>
              <a:rPr lang="en-US" sz="1440" dirty="0">
                <a:solidFill>
                  <a:srgbClr val="000000"/>
                </a:solidFill>
                <a:latin typeface="思源黑体 CN Bold" pitchFamily="34" charset="0"/>
                <a:ea typeface="思源黑体 CN Bold" pitchFamily="34" charset="-122"/>
                <a:cs typeface="思源黑体 CN Bold" pitchFamily="34" charset="-120"/>
              </a:rPr>
              <a:t>常见扫描类型</a:t>
            </a:r>
            <a:endParaRPr lang="en-US" sz="1440" dirty="0"/>
          </a:p>
        </p:txBody>
      </p:sp>
      <p:pic>
        <p:nvPicPr>
          <p:cNvPr id="29" name="Image 11" descr="https://test.web.static.jianzeppt.com/ppt-temp-img3/bd73deb5ef22b40588e57ee5576501b8.png?x-oss-process=image/resize,w_1440,h_800,m_lfit/format,png"/>
          <p:cNvPicPr>
            <a:picLocks noChangeAspect="1"/>
          </p:cNvPicPr>
          <p:nvPr/>
        </p:nvPicPr>
        <p:blipFill>
          <a:blip r:embed="rId9"/>
          <a:stretch>
            <a:fillRect/>
          </a:stretch>
        </p:blipFill>
        <p:spPr>
          <a:xfrm>
            <a:off x="609600" y="5297170"/>
            <a:ext cx="3505200" cy="1066800"/>
          </a:xfrm>
          <a:prstGeom prst="rect">
            <a:avLst/>
          </a:prstGeom>
        </p:spPr>
      </p:pic>
      <p:pic>
        <p:nvPicPr>
          <p:cNvPr id="30" name="Image 12"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07720" y="5495290"/>
            <a:ext cx="304800" cy="304800"/>
          </a:xfrm>
          <a:prstGeom prst="rect">
            <a:avLst/>
          </a:prstGeom>
        </p:spPr>
      </p:pic>
      <p:sp>
        <p:nvSpPr>
          <p:cNvPr id="31" name="Text 16"/>
          <p:cNvSpPr/>
          <p:nvPr/>
        </p:nvSpPr>
        <p:spPr>
          <a:xfrm>
            <a:off x="1234440" y="5495290"/>
            <a:ext cx="1289304" cy="320040"/>
          </a:xfrm>
          <a:prstGeom prst="rect">
            <a:avLst/>
          </a:prstGeom>
          <a:noFill/>
        </p:spPr>
        <p:txBody>
          <a:bodyPr wrap="none" lIns="0" tIns="0" rIns="0" bIns="0" rtlCol="0" anchor="t">
            <a:spAutoFit/>
          </a:bodyPr>
          <a:lstStyle/>
          <a:p>
            <a:pPr marL="0" indent="0" algn="l">
              <a:lnSpc>
                <a:spcPct val="100000"/>
              </a:lnSpc>
              <a:buNone/>
            </a:pPr>
            <a:r>
              <a:rPr lang="en-US" sz="1680" dirty="0">
                <a:solidFill>
                  <a:srgbClr val="000000"/>
                </a:solidFill>
                <a:latin typeface="思源黑体 CN Bold" pitchFamily="34" charset="0"/>
                <a:ea typeface="思源黑体 CN Bold" pitchFamily="34" charset="-122"/>
                <a:cs typeface="思源黑体 CN Bold" pitchFamily="34" charset="-120"/>
              </a:rPr>
              <a:t>主机漏洞扫描</a:t>
            </a:r>
            <a:endParaRPr lang="en-US" sz="1680" dirty="0"/>
          </a:p>
        </p:txBody>
      </p:sp>
      <p:sp>
        <p:nvSpPr>
          <p:cNvPr id="32" name="Text 17"/>
          <p:cNvSpPr/>
          <p:nvPr/>
        </p:nvSpPr>
        <p:spPr>
          <a:xfrm>
            <a:off x="807720" y="5906770"/>
            <a:ext cx="3118104" cy="274320"/>
          </a:xfrm>
          <a:prstGeom prst="rect">
            <a:avLst/>
          </a:prstGeom>
          <a:noFill/>
        </p:spPr>
        <p:txBody>
          <a:bodyPr wrap="none" lIns="0" tIns="0" rIns="0" bIns="0" rtlCol="0" anchor="t">
            <a:spAutoFit/>
          </a:bodyPr>
          <a:lstStyle/>
          <a:p>
            <a:pPr marL="0" indent="0" algn="l">
              <a:lnSpc>
                <a:spcPct val="100000"/>
              </a:lnSpc>
              <a:buNone/>
            </a:pPr>
            <a:r>
              <a:rPr lang="en-US" sz="1440" dirty="0">
                <a:solidFill>
                  <a:srgbClr val="727478"/>
                </a:solidFill>
                <a:latin typeface="思源黑体 CN Regular" pitchFamily="34" charset="0"/>
                <a:ea typeface="思源黑体 CN Regular" pitchFamily="34" charset="-122"/>
                <a:cs typeface="思源黑体 CN Regular" pitchFamily="34" charset="-120"/>
              </a:rPr>
              <a:t>检查操作系统补丁、配置错误</a:t>
            </a:r>
            <a:endParaRPr lang="en-US" sz="1440" dirty="0"/>
          </a:p>
        </p:txBody>
      </p:sp>
      <p:sp>
        <p:nvSpPr>
          <p:cNvPr id="33" name="Text 18"/>
          <p:cNvSpPr/>
          <p:nvPr/>
        </p:nvSpPr>
        <p:spPr>
          <a:xfrm>
            <a:off x="807720" y="6089650"/>
            <a:ext cx="1487424" cy="228600"/>
          </a:xfrm>
          <a:prstGeom prst="rect">
            <a:avLst/>
          </a:prstGeom>
          <a:noFill/>
        </p:spPr>
        <p:txBody>
          <a:bodyPr wrap="none" lIns="0" tIns="0" rIns="0" bIns="0" rtlCol="0" anchor="t">
            <a:spAutoFit/>
          </a:bodyPr>
          <a:lstStyle/>
          <a:p>
            <a:pPr marL="0" indent="0" algn="l">
              <a:lnSpc>
                <a:spcPct val="150000"/>
              </a:lnSpc>
              <a:buNone/>
            </a:pPr>
            <a:r>
              <a:rPr lang="en-US" sz="1200" dirty="0">
                <a:solidFill>
                  <a:srgbClr val="000000"/>
                </a:solidFill>
                <a:latin typeface="思源黑体 CN Regular" pitchFamily="34" charset="0"/>
                <a:ea typeface="思源黑体 CN Regular" pitchFamily="34" charset="-122"/>
                <a:cs typeface="思源黑体 CN Regular" pitchFamily="34" charset="-120"/>
              </a:rPr>
              <a:t>工具：Nessus、Lynis</a:t>
            </a:r>
            <a:endParaRPr lang="en-US" sz="1200" dirty="0"/>
          </a:p>
        </p:txBody>
      </p:sp>
      <p:pic>
        <p:nvPicPr>
          <p:cNvPr id="34" name="Image 13" descr="https://test.web.static.jianzeppt.com/ppt-temp-img3/7035cc752041ba8d6df2c774820b2138.png?x-oss-process=image/resize,w_1440,h_800,m_lfit/format,png"/>
          <p:cNvPicPr>
            <a:picLocks noChangeAspect="1"/>
          </p:cNvPicPr>
          <p:nvPr/>
        </p:nvPicPr>
        <p:blipFill>
          <a:blip r:embed="rId12"/>
          <a:stretch>
            <a:fillRect/>
          </a:stretch>
        </p:blipFill>
        <p:spPr>
          <a:xfrm>
            <a:off x="807720" y="5867298"/>
            <a:ext cx="3108960" cy="15240"/>
          </a:xfrm>
          <a:prstGeom prst="rect">
            <a:avLst/>
          </a:prstGeom>
        </p:spPr>
      </p:pic>
      <p:pic>
        <p:nvPicPr>
          <p:cNvPr id="35" name="Image 14" descr="https://test.web.static.jianzeppt.com/ppt-temp-img3/bd73deb5ef22b40588e57ee5576501b8.png?x-oss-process=image/resize,w_1440,h_800,m_lfit/format,png"/>
          <p:cNvPicPr>
            <a:picLocks noChangeAspect="1"/>
          </p:cNvPicPr>
          <p:nvPr/>
        </p:nvPicPr>
        <p:blipFill>
          <a:blip r:embed="rId9"/>
          <a:stretch>
            <a:fillRect/>
          </a:stretch>
        </p:blipFill>
        <p:spPr>
          <a:xfrm>
            <a:off x="4343400" y="5297170"/>
            <a:ext cx="3505200" cy="1066800"/>
          </a:xfrm>
          <a:prstGeom prst="rect">
            <a:avLst/>
          </a:prstGeom>
        </p:spPr>
      </p:pic>
      <p:pic>
        <p:nvPicPr>
          <p:cNvPr id="36" name="Image 1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541520" y="5495290"/>
            <a:ext cx="304800" cy="304800"/>
          </a:xfrm>
          <a:prstGeom prst="rect">
            <a:avLst/>
          </a:prstGeom>
        </p:spPr>
      </p:pic>
      <p:sp>
        <p:nvSpPr>
          <p:cNvPr id="37" name="Text 19"/>
          <p:cNvSpPr/>
          <p:nvPr/>
        </p:nvSpPr>
        <p:spPr>
          <a:xfrm>
            <a:off x="4968240" y="5495290"/>
            <a:ext cx="1304544" cy="297180"/>
          </a:xfrm>
          <a:prstGeom prst="rect">
            <a:avLst/>
          </a:prstGeom>
          <a:noFill/>
        </p:spPr>
        <p:txBody>
          <a:bodyPr wrap="none" lIns="0" tIns="0" rIns="0" bIns="0" rtlCol="0" anchor="t">
            <a:spAutoFit/>
          </a:bodyPr>
          <a:lstStyle/>
          <a:p>
            <a:pPr marL="0" indent="0" algn="l">
              <a:lnSpc>
                <a:spcPct val="100000"/>
              </a:lnSpc>
              <a:buNone/>
            </a:pPr>
            <a:r>
              <a:rPr lang="en-US" sz="1560" dirty="0">
                <a:solidFill>
                  <a:srgbClr val="000000"/>
                </a:solidFill>
                <a:latin typeface="思源黑体 CN Bold" pitchFamily="34" charset="0"/>
                <a:ea typeface="思源黑体 CN Bold" pitchFamily="34" charset="-122"/>
                <a:cs typeface="思源黑体 CN Bold" pitchFamily="34" charset="-120"/>
              </a:rPr>
              <a:t>Web应用扫描</a:t>
            </a:r>
            <a:endParaRPr lang="en-US" sz="1560" dirty="0"/>
          </a:p>
        </p:txBody>
      </p:sp>
      <p:sp>
        <p:nvSpPr>
          <p:cNvPr id="38" name="Text 20"/>
          <p:cNvSpPr/>
          <p:nvPr/>
        </p:nvSpPr>
        <p:spPr>
          <a:xfrm>
            <a:off x="4541520" y="5906770"/>
            <a:ext cx="3118104" cy="274320"/>
          </a:xfrm>
          <a:prstGeom prst="rect">
            <a:avLst/>
          </a:prstGeom>
          <a:noFill/>
        </p:spPr>
        <p:txBody>
          <a:bodyPr wrap="none" lIns="0" tIns="0" rIns="0" bIns="0" rtlCol="0" anchor="t">
            <a:spAutoFit/>
          </a:bodyPr>
          <a:lstStyle/>
          <a:p>
            <a:pPr marL="0" indent="0" algn="l">
              <a:lnSpc>
                <a:spcPct val="100000"/>
              </a:lnSpc>
              <a:buNone/>
            </a:pPr>
            <a:r>
              <a:rPr lang="en-US" sz="1440" dirty="0">
                <a:solidFill>
                  <a:srgbClr val="727478"/>
                </a:solidFill>
                <a:latin typeface="思源黑体 CN Regular" pitchFamily="34" charset="0"/>
                <a:ea typeface="思源黑体 CN Regular" pitchFamily="34" charset="-122"/>
                <a:cs typeface="思源黑体 CN Regular" pitchFamily="34" charset="-120"/>
              </a:rPr>
              <a:t>模拟SQL注入、XSS攻击</a:t>
            </a:r>
            <a:endParaRPr lang="en-US" sz="1440" dirty="0"/>
          </a:p>
        </p:txBody>
      </p:sp>
      <p:sp>
        <p:nvSpPr>
          <p:cNvPr id="39" name="Text 21"/>
          <p:cNvSpPr/>
          <p:nvPr/>
        </p:nvSpPr>
        <p:spPr>
          <a:xfrm>
            <a:off x="4541520" y="6089650"/>
            <a:ext cx="1776984" cy="228600"/>
          </a:xfrm>
          <a:prstGeom prst="rect">
            <a:avLst/>
          </a:prstGeom>
          <a:noFill/>
        </p:spPr>
        <p:txBody>
          <a:bodyPr wrap="none" lIns="0" tIns="0" rIns="0" bIns="0" rtlCol="0" anchor="t">
            <a:spAutoFit/>
          </a:bodyPr>
          <a:lstStyle/>
          <a:p>
            <a:pPr marL="0" indent="0" algn="l">
              <a:lnSpc>
                <a:spcPct val="150000"/>
              </a:lnSpc>
              <a:buNone/>
            </a:pPr>
            <a:r>
              <a:rPr lang="en-US" sz="1200" dirty="0">
                <a:solidFill>
                  <a:srgbClr val="000000"/>
                </a:solidFill>
                <a:latin typeface="思源黑体 CN Regular" pitchFamily="34" charset="0"/>
                <a:ea typeface="思源黑体 CN Regular" pitchFamily="34" charset="-122"/>
                <a:cs typeface="思源黑体 CN Regular" pitchFamily="34" charset="-120"/>
              </a:rPr>
              <a:t>工具：AWVS、Burp Suite</a:t>
            </a:r>
            <a:endParaRPr lang="en-US" sz="1200" dirty="0"/>
          </a:p>
        </p:txBody>
      </p:sp>
      <p:pic>
        <p:nvPicPr>
          <p:cNvPr id="40" name="Image 16" descr="https://test.web.static.jianzeppt.com/ppt-temp-img3/7035cc752041ba8d6df2c774820b2138.png?x-oss-process=image/resize,w_1440,h_800,m_lfit/format,png"/>
          <p:cNvPicPr>
            <a:picLocks noChangeAspect="1"/>
          </p:cNvPicPr>
          <p:nvPr/>
        </p:nvPicPr>
        <p:blipFill>
          <a:blip r:embed="rId12"/>
          <a:stretch>
            <a:fillRect/>
          </a:stretch>
        </p:blipFill>
        <p:spPr>
          <a:xfrm>
            <a:off x="4541520" y="5867298"/>
            <a:ext cx="3108960" cy="15240"/>
          </a:xfrm>
          <a:prstGeom prst="rect">
            <a:avLst/>
          </a:prstGeom>
        </p:spPr>
      </p:pic>
      <p:pic>
        <p:nvPicPr>
          <p:cNvPr id="41" name="Image 17" descr="https://test.web.static.jianzeppt.com/ppt-temp-img3/bd73deb5ef22b40588e57ee5576501b8.png?x-oss-process=image/resize,w_1440,h_800,m_lfit/format,png"/>
          <p:cNvPicPr>
            <a:picLocks noChangeAspect="1"/>
          </p:cNvPicPr>
          <p:nvPr/>
        </p:nvPicPr>
        <p:blipFill>
          <a:blip r:embed="rId9"/>
          <a:stretch>
            <a:fillRect/>
          </a:stretch>
        </p:blipFill>
        <p:spPr>
          <a:xfrm>
            <a:off x="8077200" y="5297170"/>
            <a:ext cx="3505200" cy="1066800"/>
          </a:xfrm>
          <a:prstGeom prst="rect">
            <a:avLst/>
          </a:prstGeom>
        </p:spPr>
      </p:pic>
      <p:pic>
        <p:nvPicPr>
          <p:cNvPr id="42" name="Image 18" descr="preencoded.png"/>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275320" y="5495290"/>
            <a:ext cx="304800" cy="304800"/>
          </a:xfrm>
          <a:prstGeom prst="rect">
            <a:avLst/>
          </a:prstGeom>
        </p:spPr>
      </p:pic>
      <p:sp>
        <p:nvSpPr>
          <p:cNvPr id="43" name="Text 22"/>
          <p:cNvSpPr/>
          <p:nvPr/>
        </p:nvSpPr>
        <p:spPr>
          <a:xfrm>
            <a:off x="8702040" y="5495290"/>
            <a:ext cx="1075944" cy="320040"/>
          </a:xfrm>
          <a:prstGeom prst="rect">
            <a:avLst/>
          </a:prstGeom>
          <a:noFill/>
        </p:spPr>
        <p:txBody>
          <a:bodyPr wrap="none" lIns="0" tIns="0" rIns="0" bIns="0" rtlCol="0" anchor="t">
            <a:spAutoFit/>
          </a:bodyPr>
          <a:lstStyle/>
          <a:p>
            <a:pPr marL="0" indent="0" algn="l">
              <a:lnSpc>
                <a:spcPct val="100000"/>
              </a:lnSpc>
              <a:buNone/>
            </a:pPr>
            <a:r>
              <a:rPr lang="en-US" sz="1680" dirty="0">
                <a:solidFill>
                  <a:srgbClr val="000000"/>
                </a:solidFill>
                <a:latin typeface="思源黑体 CN Bold" pitchFamily="34" charset="0"/>
                <a:ea typeface="思源黑体 CN Bold" pitchFamily="34" charset="-122"/>
                <a:cs typeface="思源黑体 CN Bold" pitchFamily="34" charset="-120"/>
              </a:rPr>
              <a:t>数据库扫描</a:t>
            </a:r>
            <a:endParaRPr lang="en-US" sz="1680" dirty="0"/>
          </a:p>
        </p:txBody>
      </p:sp>
      <p:sp>
        <p:nvSpPr>
          <p:cNvPr id="44" name="Text 23"/>
          <p:cNvSpPr/>
          <p:nvPr/>
        </p:nvSpPr>
        <p:spPr>
          <a:xfrm>
            <a:off x="8275320" y="5906770"/>
            <a:ext cx="3118104" cy="274320"/>
          </a:xfrm>
          <a:prstGeom prst="rect">
            <a:avLst/>
          </a:prstGeom>
          <a:noFill/>
        </p:spPr>
        <p:txBody>
          <a:bodyPr wrap="none" lIns="0" tIns="0" rIns="0" bIns="0" rtlCol="0" anchor="t">
            <a:spAutoFit/>
          </a:bodyPr>
          <a:lstStyle/>
          <a:p>
            <a:pPr marL="0" indent="0" algn="l">
              <a:lnSpc>
                <a:spcPct val="100000"/>
              </a:lnSpc>
              <a:buNone/>
            </a:pPr>
            <a:r>
              <a:rPr lang="en-US" sz="1440" dirty="0">
                <a:solidFill>
                  <a:srgbClr val="727478"/>
                </a:solidFill>
                <a:latin typeface="思源黑体 CN Regular" pitchFamily="34" charset="0"/>
                <a:ea typeface="思源黑体 CN Regular" pitchFamily="34" charset="-122"/>
                <a:cs typeface="思源黑体 CN Regular" pitchFamily="34" charset="-120"/>
              </a:rPr>
              <a:t>检查权限配置、弱密码</a:t>
            </a:r>
            <a:endParaRPr lang="en-US" sz="1440" dirty="0"/>
          </a:p>
        </p:txBody>
      </p:sp>
      <p:sp>
        <p:nvSpPr>
          <p:cNvPr id="45" name="Text 24"/>
          <p:cNvSpPr/>
          <p:nvPr/>
        </p:nvSpPr>
        <p:spPr>
          <a:xfrm>
            <a:off x="8275320" y="6089650"/>
            <a:ext cx="1014984" cy="228600"/>
          </a:xfrm>
          <a:prstGeom prst="rect">
            <a:avLst/>
          </a:prstGeom>
          <a:noFill/>
        </p:spPr>
        <p:txBody>
          <a:bodyPr wrap="none" lIns="0" tIns="0" rIns="0" bIns="0" rtlCol="0" anchor="t">
            <a:spAutoFit/>
          </a:bodyPr>
          <a:lstStyle/>
          <a:p>
            <a:pPr marL="0" indent="0" algn="l">
              <a:lnSpc>
                <a:spcPct val="150000"/>
              </a:lnSpc>
              <a:buNone/>
            </a:pPr>
            <a:r>
              <a:rPr lang="en-US" sz="1200" dirty="0">
                <a:solidFill>
                  <a:srgbClr val="000000"/>
                </a:solidFill>
                <a:latin typeface="思源黑体 CN Regular" pitchFamily="34" charset="0"/>
                <a:ea typeface="思源黑体 CN Regular" pitchFamily="34" charset="-122"/>
                <a:cs typeface="思源黑体 CN Regular" pitchFamily="34" charset="-120"/>
              </a:rPr>
              <a:t>工具：DBScan</a:t>
            </a:r>
            <a:endParaRPr lang="en-US" sz="1200" dirty="0"/>
          </a:p>
        </p:txBody>
      </p:sp>
      <p:pic>
        <p:nvPicPr>
          <p:cNvPr id="46" name="Image 19" descr="https://test.web.static.jianzeppt.com/ppt-temp-img3/7035cc752041ba8d6df2c774820b2138.png?x-oss-process=image/resize,w_1440,h_800,m_lfit/format,png"/>
          <p:cNvPicPr>
            <a:picLocks noChangeAspect="1"/>
          </p:cNvPicPr>
          <p:nvPr/>
        </p:nvPicPr>
        <p:blipFill>
          <a:blip r:embed="rId12"/>
          <a:stretch>
            <a:fillRect/>
          </a:stretch>
        </p:blipFill>
        <p:spPr>
          <a:xfrm>
            <a:off x="8275320" y="5867298"/>
            <a:ext cx="3108960" cy="152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用什么扫——常见扫描工具与本课选择</a:t>
            </a:r>
            <a:endParaRPr lang="en-US" sz="2760" dirty="0"/>
          </a:p>
        </p:txBody>
      </p:sp>
      <p:pic>
        <p:nvPicPr>
          <p:cNvPr id="6"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1371600"/>
            <a:ext cx="10972800" cy="3794760"/>
          </a:xfrm>
          <a:prstGeom prst="rect">
            <a:avLst/>
          </a:prstGeom>
          <a:effectLst>
            <a:outerShdw blurRad="-2147483648" dist="1935480000" dir="-1" algn="bl" rotWithShape="0">
              <a:srgbClr val="000000">
                <a:alpha val="1000000000"/>
              </a:srgbClr>
            </a:outerShdw>
          </a:effectLst>
        </p:spPr>
      </p:pic>
      <p:pic>
        <p:nvPicPr>
          <p:cNvPr id="7" name="Image 4" descr="https://test.web.static.jianzeppt.com/ppt-temp-img3/9b6c5698b8539ed323f840f537d7ef06.png?x-oss-process=image/resize,w_1440,h_800,m_lfit/format,png"/>
          <p:cNvPicPr>
            <a:picLocks noChangeAspect="1"/>
          </p:cNvPicPr>
          <p:nvPr/>
        </p:nvPicPr>
        <p:blipFill>
          <a:blip r:embed="rId6"/>
          <a:stretch>
            <a:fillRect/>
          </a:stretch>
        </p:blipFill>
        <p:spPr>
          <a:xfrm>
            <a:off x="624840" y="1386840"/>
            <a:ext cx="10942320" cy="899160"/>
          </a:xfrm>
          <a:prstGeom prst="rect">
            <a:avLst/>
          </a:prstGeom>
        </p:spPr>
      </p:pic>
      <p:sp>
        <p:nvSpPr>
          <p:cNvPr id="8" name="Text 1"/>
          <p:cNvSpPr/>
          <p:nvPr/>
        </p:nvSpPr>
        <p:spPr>
          <a:xfrm>
            <a:off x="868680" y="1630680"/>
            <a:ext cx="1502664" cy="411480"/>
          </a:xfrm>
          <a:prstGeom prst="rect">
            <a:avLst/>
          </a:prstGeom>
          <a:noFill/>
        </p:spPr>
        <p:txBody>
          <a:bodyPr wrap="none" lIns="0" tIns="0" rIns="0" bIns="0" rtlCol="0" anchor="t">
            <a:spAutoFit/>
          </a:bodyPr>
          <a:lstStyle/>
          <a:p>
            <a:pPr marL="0" indent="0" algn="l">
              <a:lnSpc>
                <a:spcPct val="150000"/>
              </a:lnSpc>
              <a:buNone/>
            </a:pPr>
            <a:r>
              <a:rPr lang="en-US" sz="2160" b="1" dirty="0">
                <a:solidFill>
                  <a:srgbClr val="FFFFFF"/>
                </a:solidFill>
                <a:latin typeface="思源黑体 CN Bold" pitchFamily="34" charset="0"/>
                <a:ea typeface="思源黑体 CN Bold" pitchFamily="34" charset="-122"/>
                <a:cs typeface="思源黑体 CN Bold" pitchFamily="34" charset="-120"/>
              </a:rPr>
              <a:t>工具</a:t>
            </a:r>
            <a:endParaRPr lang="en-US" sz="2160" dirty="0"/>
          </a:p>
        </p:txBody>
      </p:sp>
      <p:sp>
        <p:nvSpPr>
          <p:cNvPr id="9" name="Text 2"/>
          <p:cNvSpPr/>
          <p:nvPr/>
        </p:nvSpPr>
        <p:spPr>
          <a:xfrm>
            <a:off x="2834640" y="1630680"/>
            <a:ext cx="1929384" cy="411480"/>
          </a:xfrm>
          <a:prstGeom prst="rect">
            <a:avLst/>
          </a:prstGeom>
          <a:noFill/>
        </p:spPr>
        <p:txBody>
          <a:bodyPr wrap="none" lIns="0" tIns="0" rIns="0" bIns="0" rtlCol="0" anchor="t">
            <a:spAutoFit/>
          </a:bodyPr>
          <a:lstStyle/>
          <a:p>
            <a:pPr marL="0" indent="0" algn="l">
              <a:lnSpc>
                <a:spcPct val="150000"/>
              </a:lnSpc>
              <a:buNone/>
            </a:pPr>
            <a:r>
              <a:rPr lang="en-US" sz="2160" b="1" dirty="0">
                <a:solidFill>
                  <a:srgbClr val="FFFFFF"/>
                </a:solidFill>
                <a:latin typeface="思源黑体 CN Bold" pitchFamily="34" charset="0"/>
                <a:ea typeface="思源黑体 CN Bold" pitchFamily="34" charset="-122"/>
                <a:cs typeface="思源黑体 CN Bold" pitchFamily="34" charset="-120"/>
              </a:rPr>
              <a:t>类型</a:t>
            </a:r>
            <a:endParaRPr lang="en-US" sz="2160" dirty="0"/>
          </a:p>
        </p:txBody>
      </p:sp>
      <p:sp>
        <p:nvSpPr>
          <p:cNvPr id="10" name="Text 3"/>
          <p:cNvSpPr/>
          <p:nvPr/>
        </p:nvSpPr>
        <p:spPr>
          <a:xfrm>
            <a:off x="5242560" y="1630680"/>
            <a:ext cx="3361944" cy="411480"/>
          </a:xfrm>
          <a:prstGeom prst="rect">
            <a:avLst/>
          </a:prstGeom>
          <a:noFill/>
        </p:spPr>
        <p:txBody>
          <a:bodyPr wrap="none" lIns="0" tIns="0" rIns="0" bIns="0" rtlCol="0" anchor="t">
            <a:spAutoFit/>
          </a:bodyPr>
          <a:lstStyle/>
          <a:p>
            <a:pPr marL="0" indent="0" algn="l">
              <a:lnSpc>
                <a:spcPct val="150000"/>
              </a:lnSpc>
              <a:buNone/>
            </a:pPr>
            <a:r>
              <a:rPr lang="en-US" sz="2160" b="1" dirty="0">
                <a:solidFill>
                  <a:srgbClr val="FFFFFF"/>
                </a:solidFill>
                <a:latin typeface="思源黑体 CN Bold" pitchFamily="34" charset="0"/>
                <a:ea typeface="思源黑体 CN Bold" pitchFamily="34" charset="-122"/>
                <a:cs typeface="思源黑体 CN Bold" pitchFamily="34" charset="-120"/>
              </a:rPr>
              <a:t>特点</a:t>
            </a:r>
            <a:endParaRPr lang="en-US" sz="2160" dirty="0"/>
          </a:p>
        </p:txBody>
      </p:sp>
      <p:sp>
        <p:nvSpPr>
          <p:cNvPr id="11" name="Text 4"/>
          <p:cNvSpPr/>
          <p:nvPr/>
        </p:nvSpPr>
        <p:spPr>
          <a:xfrm>
            <a:off x="9067800" y="1630680"/>
            <a:ext cx="2264664" cy="411480"/>
          </a:xfrm>
          <a:prstGeom prst="rect">
            <a:avLst/>
          </a:prstGeom>
          <a:noFill/>
        </p:spPr>
        <p:txBody>
          <a:bodyPr wrap="none" lIns="0" tIns="0" rIns="0" bIns="0" rtlCol="0" anchor="t">
            <a:spAutoFit/>
          </a:bodyPr>
          <a:lstStyle/>
          <a:p>
            <a:pPr marL="0" indent="0" algn="l">
              <a:lnSpc>
                <a:spcPct val="150000"/>
              </a:lnSpc>
              <a:buNone/>
            </a:pPr>
            <a:r>
              <a:rPr lang="en-US" sz="2160" b="1" dirty="0">
                <a:solidFill>
                  <a:srgbClr val="FFFFFF"/>
                </a:solidFill>
                <a:latin typeface="思源黑体 CN Bold" pitchFamily="34" charset="0"/>
                <a:ea typeface="思源黑体 CN Bold" pitchFamily="34" charset="-122"/>
                <a:cs typeface="思源黑体 CN Bold" pitchFamily="34" charset="-120"/>
              </a:rPr>
              <a:t>适用场景</a:t>
            </a:r>
            <a:endParaRPr lang="en-US" sz="2160" dirty="0"/>
          </a:p>
        </p:txBody>
      </p:sp>
      <p:pic>
        <p:nvPicPr>
          <p:cNvPr id="12" name="Image 5" descr="https://test.web.static.jianzeppt.com/ppt-temp-img3/08ac002a732cc515bd20af7599fdf0d7.png?x-oss-process=image/resize,w_1440,h_800,m_lfit/format,png"/>
          <p:cNvPicPr>
            <a:picLocks noChangeAspect="1"/>
          </p:cNvPicPr>
          <p:nvPr/>
        </p:nvPicPr>
        <p:blipFill>
          <a:blip r:embed="rId7"/>
          <a:stretch>
            <a:fillRect/>
          </a:stretch>
        </p:blipFill>
        <p:spPr>
          <a:xfrm>
            <a:off x="624840" y="2286000"/>
            <a:ext cx="10942320" cy="1143000"/>
          </a:xfrm>
          <a:prstGeom prst="rect">
            <a:avLst/>
          </a:prstGeom>
        </p:spPr>
      </p:pic>
      <p:sp>
        <p:nvSpPr>
          <p:cNvPr id="13" name="Text 5"/>
          <p:cNvSpPr/>
          <p:nvPr/>
        </p:nvSpPr>
        <p:spPr>
          <a:xfrm>
            <a:off x="868680" y="2529840"/>
            <a:ext cx="1502664" cy="655320"/>
          </a:xfrm>
          <a:prstGeom prst="rect">
            <a:avLst/>
          </a:prstGeom>
          <a:noFill/>
        </p:spPr>
        <p:txBody>
          <a:bodyPr wrap="none" lIns="0" tIns="0" rIns="0" bIns="0" rtlCol="0" anchor="ctr"/>
          <a:lstStyle/>
          <a:p>
            <a:pPr marL="0" indent="0" algn="l">
              <a:lnSpc>
                <a:spcPct val="150000"/>
              </a:lnSpc>
              <a:buNone/>
            </a:pPr>
            <a:r>
              <a:rPr lang="en-US" sz="1680" dirty="0">
                <a:solidFill>
                  <a:srgbClr val="FFFFFF"/>
                </a:solidFill>
                <a:latin typeface="思源黑体 CN Bold" pitchFamily="34" charset="0"/>
                <a:ea typeface="思源黑体 CN Bold" pitchFamily="34" charset="-122"/>
                <a:cs typeface="思源黑体 CN Bold" pitchFamily="34" charset="-120"/>
              </a:rPr>
              <a:t>Nessus</a:t>
            </a:r>
            <a:endParaRPr lang="en-US" sz="1680" dirty="0"/>
          </a:p>
        </p:txBody>
      </p:sp>
      <p:sp>
        <p:nvSpPr>
          <p:cNvPr id="14" name="Text 6"/>
          <p:cNvSpPr/>
          <p:nvPr/>
        </p:nvSpPr>
        <p:spPr>
          <a:xfrm>
            <a:off x="2834640" y="2529840"/>
            <a:ext cx="1929384" cy="655320"/>
          </a:xfrm>
          <a:prstGeom prst="rect">
            <a:avLst/>
          </a:prstGeom>
          <a:noFill/>
        </p:spPr>
        <p:txBody>
          <a:bodyPr wrap="none" lIns="0" tIns="0" rIns="0" bIns="0" rtlCol="0" anchor="ctr"/>
          <a:lstStyle/>
          <a:p>
            <a:pPr marL="0" indent="0" algn="l">
              <a:lnSpc>
                <a:spcPct val="150000"/>
              </a:lnSpc>
              <a:buNone/>
            </a:pPr>
            <a:r>
              <a:rPr lang="en-US" sz="1680" dirty="0">
                <a:solidFill>
                  <a:srgbClr val="E5E7EB"/>
                </a:solidFill>
                <a:latin typeface="思源黑体 CN Regular" pitchFamily="34" charset="0"/>
                <a:ea typeface="思源黑体 CN Regular" pitchFamily="34" charset="-122"/>
                <a:cs typeface="思源黑体 CN Regular" pitchFamily="34" charset="-120"/>
              </a:rPr>
              <a:t>商业（有免费版）</a:t>
            </a:r>
            <a:endParaRPr lang="en-US" sz="1680" dirty="0"/>
          </a:p>
        </p:txBody>
      </p:sp>
      <p:sp>
        <p:nvSpPr>
          <p:cNvPr id="15" name="Text 7"/>
          <p:cNvSpPr/>
          <p:nvPr/>
        </p:nvSpPr>
        <p:spPr>
          <a:xfrm>
            <a:off x="5242560" y="2529840"/>
            <a:ext cx="3361944" cy="640080"/>
          </a:xfrm>
          <a:prstGeom prst="rect">
            <a:avLst/>
          </a:prstGeom>
          <a:noFill/>
        </p:spPr>
        <p:txBody>
          <a:bodyPr wrap="square" lIns="0" tIns="0" rIns="0" bIns="0" rtlCol="0" anchor="ctr">
            <a:spAutoFit/>
          </a:bodyPr>
          <a:lstStyle/>
          <a:p>
            <a:pPr marL="0" indent="0" algn="l">
              <a:lnSpc>
                <a:spcPct val="150000"/>
              </a:lnSpc>
              <a:buNone/>
            </a:pPr>
            <a:r>
              <a:rPr lang="en-US" sz="1680" dirty="0">
                <a:solidFill>
                  <a:srgbClr val="E5E7EB"/>
                </a:solidFill>
                <a:latin typeface="思源黑体 CN Regular" pitchFamily="34" charset="0"/>
                <a:ea typeface="思源黑体 CN Regular" pitchFamily="34" charset="-122"/>
                <a:cs typeface="思源黑体 CN Regular" pitchFamily="34" charset="-120"/>
              </a:rPr>
              <a:t>漏洞库更新快、覆盖面广、界面友好、报告能力强</a:t>
            </a:r>
            <a:endParaRPr lang="en-US" sz="1680" dirty="0"/>
          </a:p>
        </p:txBody>
      </p:sp>
      <p:sp>
        <p:nvSpPr>
          <p:cNvPr id="16" name="Text 8"/>
          <p:cNvSpPr/>
          <p:nvPr/>
        </p:nvSpPr>
        <p:spPr>
          <a:xfrm>
            <a:off x="9067800" y="2529840"/>
            <a:ext cx="2264664" cy="655320"/>
          </a:xfrm>
          <a:prstGeom prst="rect">
            <a:avLst/>
          </a:prstGeom>
          <a:noFill/>
        </p:spPr>
        <p:txBody>
          <a:bodyPr wrap="none" lIns="0" tIns="0" rIns="0" bIns="0" rtlCol="0" anchor="ctr"/>
          <a:lstStyle/>
          <a:p>
            <a:pPr marL="0" indent="0" algn="l">
              <a:lnSpc>
                <a:spcPct val="150000"/>
              </a:lnSpc>
              <a:buNone/>
            </a:pPr>
            <a:r>
              <a:rPr lang="en-US" sz="1680" dirty="0">
                <a:solidFill>
                  <a:srgbClr val="E5E7EB"/>
                </a:solidFill>
                <a:latin typeface="思源黑体 CN Regular" pitchFamily="34" charset="0"/>
                <a:ea typeface="思源黑体 CN Regular" pitchFamily="34" charset="-122"/>
                <a:cs typeface="思源黑体 CN Regular" pitchFamily="34" charset="-120"/>
              </a:rPr>
              <a:t>企业级、合规要求高</a:t>
            </a:r>
            <a:endParaRPr lang="en-US" sz="1680" dirty="0"/>
          </a:p>
        </p:txBody>
      </p:sp>
      <p:pic>
        <p:nvPicPr>
          <p:cNvPr id="17" name="Image 6" descr="https://test.web.static.jianzeppt.com/ppt-temp-img3/c4e8edfe9f5a1d127623bea7bf3e458d.png?x-oss-process=image/resize,w_1440,h_800,m_lfit/format,png"/>
          <p:cNvPicPr>
            <a:picLocks noChangeAspect="1"/>
          </p:cNvPicPr>
          <p:nvPr/>
        </p:nvPicPr>
        <p:blipFill>
          <a:blip r:embed="rId8"/>
          <a:stretch>
            <a:fillRect/>
          </a:stretch>
        </p:blipFill>
        <p:spPr>
          <a:xfrm>
            <a:off x="624840" y="3421380"/>
            <a:ext cx="10942320" cy="15240"/>
          </a:xfrm>
          <a:prstGeom prst="rect">
            <a:avLst/>
          </a:prstGeom>
        </p:spPr>
      </p:pic>
      <p:pic>
        <p:nvPicPr>
          <p:cNvPr id="18" name="Image 7" descr="https://test.web.static.jianzeppt.com/ppt-temp-img3/08ac002a732cc515bd20af7599fdf0d7.png?x-oss-process=image/resize,w_1440,h_800,m_lfit/format,png"/>
          <p:cNvPicPr>
            <a:picLocks noChangeAspect="1"/>
          </p:cNvPicPr>
          <p:nvPr/>
        </p:nvPicPr>
        <p:blipFill>
          <a:blip r:embed="rId7"/>
          <a:stretch>
            <a:fillRect/>
          </a:stretch>
        </p:blipFill>
        <p:spPr>
          <a:xfrm>
            <a:off x="624840" y="3429000"/>
            <a:ext cx="10942320" cy="1143000"/>
          </a:xfrm>
          <a:prstGeom prst="rect">
            <a:avLst/>
          </a:prstGeom>
        </p:spPr>
      </p:pic>
      <p:sp>
        <p:nvSpPr>
          <p:cNvPr id="19" name="Text 9"/>
          <p:cNvSpPr/>
          <p:nvPr/>
        </p:nvSpPr>
        <p:spPr>
          <a:xfrm>
            <a:off x="868680" y="3672840"/>
            <a:ext cx="1502664" cy="655320"/>
          </a:xfrm>
          <a:prstGeom prst="rect">
            <a:avLst/>
          </a:prstGeom>
          <a:noFill/>
        </p:spPr>
        <p:txBody>
          <a:bodyPr wrap="none" lIns="0" tIns="0" rIns="0" bIns="0" rtlCol="0" anchor="ctr"/>
          <a:lstStyle/>
          <a:p>
            <a:pPr marL="0" indent="0" algn="l">
              <a:lnSpc>
                <a:spcPct val="150000"/>
              </a:lnSpc>
              <a:buNone/>
            </a:pPr>
            <a:r>
              <a:rPr lang="en-US" sz="1680" dirty="0">
                <a:solidFill>
                  <a:srgbClr val="FFFFFF"/>
                </a:solidFill>
                <a:latin typeface="思源黑体 CN Bold" pitchFamily="34" charset="0"/>
                <a:ea typeface="思源黑体 CN Bold" pitchFamily="34" charset="-122"/>
                <a:cs typeface="思源黑体 CN Bold" pitchFamily="34" charset="-120"/>
              </a:rPr>
              <a:t>OpenVAS</a:t>
            </a:r>
            <a:endParaRPr lang="en-US" sz="1680" dirty="0"/>
          </a:p>
        </p:txBody>
      </p:sp>
      <p:sp>
        <p:nvSpPr>
          <p:cNvPr id="20" name="Text 10"/>
          <p:cNvSpPr/>
          <p:nvPr/>
        </p:nvSpPr>
        <p:spPr>
          <a:xfrm>
            <a:off x="2834640" y="3672840"/>
            <a:ext cx="1929384" cy="655320"/>
          </a:xfrm>
          <a:prstGeom prst="rect">
            <a:avLst/>
          </a:prstGeom>
          <a:noFill/>
        </p:spPr>
        <p:txBody>
          <a:bodyPr wrap="none" lIns="0" tIns="0" rIns="0" bIns="0" rtlCol="0" anchor="ctr"/>
          <a:lstStyle/>
          <a:p>
            <a:pPr marL="0" indent="0" algn="l">
              <a:lnSpc>
                <a:spcPct val="150000"/>
              </a:lnSpc>
              <a:buNone/>
            </a:pPr>
            <a:r>
              <a:rPr lang="en-US" sz="1680" dirty="0">
                <a:solidFill>
                  <a:srgbClr val="E5E7EB"/>
                </a:solidFill>
                <a:latin typeface="思源黑体 CN Regular" pitchFamily="34" charset="0"/>
                <a:ea typeface="思源黑体 CN Regular" pitchFamily="34" charset="-122"/>
                <a:cs typeface="思源黑体 CN Regular" pitchFamily="34" charset="-120"/>
              </a:rPr>
              <a:t>完全开源</a:t>
            </a:r>
            <a:endParaRPr lang="en-US" sz="1680" dirty="0"/>
          </a:p>
        </p:txBody>
      </p:sp>
      <p:sp>
        <p:nvSpPr>
          <p:cNvPr id="21" name="Text 11"/>
          <p:cNvSpPr/>
          <p:nvPr/>
        </p:nvSpPr>
        <p:spPr>
          <a:xfrm>
            <a:off x="5242560" y="3672840"/>
            <a:ext cx="3361944" cy="640080"/>
          </a:xfrm>
          <a:prstGeom prst="rect">
            <a:avLst/>
          </a:prstGeom>
          <a:noFill/>
        </p:spPr>
        <p:txBody>
          <a:bodyPr wrap="square" lIns="0" tIns="0" rIns="0" bIns="0" rtlCol="0" anchor="ctr">
            <a:spAutoFit/>
          </a:bodyPr>
          <a:lstStyle/>
          <a:p>
            <a:pPr marL="0" indent="0" algn="l">
              <a:lnSpc>
                <a:spcPct val="150000"/>
              </a:lnSpc>
              <a:buNone/>
            </a:pPr>
            <a:r>
              <a:rPr lang="en-US" sz="1680" dirty="0">
                <a:solidFill>
                  <a:srgbClr val="E5E7EB"/>
                </a:solidFill>
                <a:latin typeface="思源黑体 CN Regular" pitchFamily="34" charset="0"/>
                <a:ea typeface="思源黑体 CN Regular" pitchFamily="34" charset="-122"/>
                <a:cs typeface="思源黑体 CN Regular" pitchFamily="34" charset="-120"/>
              </a:rPr>
              <a:t>无授权费用、社区活跃、支持大规模扫描</a:t>
            </a:r>
            <a:endParaRPr lang="en-US" sz="1680" dirty="0"/>
          </a:p>
        </p:txBody>
      </p:sp>
      <p:sp>
        <p:nvSpPr>
          <p:cNvPr id="22" name="Text 12"/>
          <p:cNvSpPr/>
          <p:nvPr/>
        </p:nvSpPr>
        <p:spPr>
          <a:xfrm>
            <a:off x="9067800" y="3672840"/>
            <a:ext cx="2264664" cy="640080"/>
          </a:xfrm>
          <a:prstGeom prst="rect">
            <a:avLst/>
          </a:prstGeom>
          <a:noFill/>
        </p:spPr>
        <p:txBody>
          <a:bodyPr wrap="square" lIns="0" tIns="0" rIns="0" bIns="0" rtlCol="0" anchor="ctr">
            <a:spAutoFit/>
          </a:bodyPr>
          <a:lstStyle/>
          <a:p>
            <a:pPr marL="0" indent="0" algn="l">
              <a:lnSpc>
                <a:spcPct val="150000"/>
              </a:lnSpc>
              <a:buNone/>
            </a:pPr>
            <a:r>
              <a:rPr lang="en-US" sz="1680" dirty="0">
                <a:solidFill>
                  <a:srgbClr val="E5E7EB"/>
                </a:solidFill>
                <a:latin typeface="思源黑体 CN Regular" pitchFamily="34" charset="0"/>
                <a:ea typeface="思源黑体 CN Regular" pitchFamily="34" charset="-122"/>
                <a:cs typeface="思源黑体 CN Regular" pitchFamily="34" charset="-120"/>
              </a:rPr>
              <a:t>成本敏感、教育/实验环境</a:t>
            </a:r>
            <a:endParaRPr lang="en-US" sz="1680" dirty="0"/>
          </a:p>
        </p:txBody>
      </p:sp>
      <p:pic>
        <p:nvPicPr>
          <p:cNvPr id="23" name="Image 8" descr="https://test.web.static.jianzeppt.com/ppt-temp-img3/c4e8edfe9f5a1d127623bea7bf3e458d.png?x-oss-process=image/resize,w_1440,h_800,m_lfit/format,png"/>
          <p:cNvPicPr>
            <a:picLocks noChangeAspect="1"/>
          </p:cNvPicPr>
          <p:nvPr/>
        </p:nvPicPr>
        <p:blipFill>
          <a:blip r:embed="rId8"/>
          <a:stretch>
            <a:fillRect/>
          </a:stretch>
        </p:blipFill>
        <p:spPr>
          <a:xfrm>
            <a:off x="624840" y="4564380"/>
            <a:ext cx="10942320" cy="15240"/>
          </a:xfrm>
          <a:prstGeom prst="rect">
            <a:avLst/>
          </a:prstGeom>
        </p:spPr>
      </p:pic>
      <p:sp>
        <p:nvSpPr>
          <p:cNvPr id="24" name="Text 13"/>
          <p:cNvSpPr/>
          <p:nvPr/>
        </p:nvSpPr>
        <p:spPr>
          <a:xfrm>
            <a:off x="868680" y="4815840"/>
            <a:ext cx="150266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D1D4DB"/>
                </a:solidFill>
                <a:latin typeface="思源黑体 CN Regular" pitchFamily="34" charset="0"/>
                <a:ea typeface="思源黑体 CN Regular" pitchFamily="34" charset="-122"/>
                <a:cs typeface="思源黑体 CN Regular" pitchFamily="34" charset="-120"/>
              </a:rPr>
              <a:t>Nmap</a:t>
            </a:r>
            <a:endParaRPr lang="en-US" sz="1680" dirty="0"/>
          </a:p>
        </p:txBody>
      </p:sp>
      <p:sp>
        <p:nvSpPr>
          <p:cNvPr id="25" name="Text 14"/>
          <p:cNvSpPr/>
          <p:nvPr/>
        </p:nvSpPr>
        <p:spPr>
          <a:xfrm>
            <a:off x="2834640" y="4815840"/>
            <a:ext cx="192938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9CA2AF"/>
                </a:solidFill>
                <a:latin typeface="思源黑体 CN Regular" pitchFamily="34" charset="0"/>
                <a:ea typeface="思源黑体 CN Regular" pitchFamily="34" charset="-122"/>
                <a:cs typeface="思源黑体 CN Regular" pitchFamily="34" charset="-120"/>
              </a:rPr>
              <a:t>开源</a:t>
            </a:r>
            <a:endParaRPr lang="en-US" sz="1680" dirty="0"/>
          </a:p>
        </p:txBody>
      </p:sp>
      <p:sp>
        <p:nvSpPr>
          <p:cNvPr id="26" name="Text 15"/>
          <p:cNvSpPr/>
          <p:nvPr/>
        </p:nvSpPr>
        <p:spPr>
          <a:xfrm>
            <a:off x="5242560" y="4815840"/>
            <a:ext cx="336194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9CA2AF"/>
                </a:solidFill>
                <a:latin typeface="思源黑体 CN Regular" pitchFamily="34" charset="0"/>
                <a:ea typeface="思源黑体 CN Regular" pitchFamily="34" charset="-122"/>
                <a:cs typeface="思源黑体 CN Regular" pitchFamily="34" charset="-120"/>
              </a:rPr>
              <a:t>网络发现、端口扫描、服务识别</a:t>
            </a:r>
            <a:endParaRPr lang="en-US" sz="1680" dirty="0"/>
          </a:p>
        </p:txBody>
      </p:sp>
      <p:sp>
        <p:nvSpPr>
          <p:cNvPr id="27" name="Text 16"/>
          <p:cNvSpPr/>
          <p:nvPr/>
        </p:nvSpPr>
        <p:spPr>
          <a:xfrm>
            <a:off x="9067800" y="4815840"/>
            <a:ext cx="226466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9CA2AF"/>
                </a:solidFill>
                <a:latin typeface="思源黑体 CN Regular" pitchFamily="34" charset="0"/>
                <a:ea typeface="思源黑体 CN Regular" pitchFamily="34" charset="-122"/>
                <a:cs typeface="思源黑体 CN Regular" pitchFamily="34" charset="-120"/>
              </a:rPr>
              <a:t>信息收集、资产发现</a:t>
            </a:r>
            <a:endParaRPr lang="en-US" sz="1680" dirty="0"/>
          </a:p>
        </p:txBody>
      </p:sp>
      <p:pic>
        <p:nvPicPr>
          <p:cNvPr id="28" name="Image 9" descr="https://test.web.static.jianzeppt.com/ppt-temp-img3/8d7ff5c415772c7136d969d08909254d.png?x-oss-process=image/resize,w_1440,h_800,m_lfit/format,png"/>
          <p:cNvPicPr>
            <a:picLocks noChangeAspect="1"/>
          </p:cNvPicPr>
          <p:nvPr/>
        </p:nvPicPr>
        <p:blipFill>
          <a:blip r:embed="rId9"/>
          <a:stretch>
            <a:fillRect/>
          </a:stretch>
        </p:blipFill>
        <p:spPr>
          <a:xfrm>
            <a:off x="609600" y="5366385"/>
            <a:ext cx="10972800" cy="1082040"/>
          </a:xfrm>
          <a:prstGeom prst="rect">
            <a:avLst/>
          </a:prstGeom>
        </p:spPr>
      </p:pic>
      <p:pic>
        <p:nvPicPr>
          <p:cNvPr id="29" name="Image 10" descr="https://test.web.static.jianzeppt.com/ppt-temp-img3/9c41cecaa99d76e83a87c8cbf97554ab.png?x-oss-process=image/resize,w_1440,h_800,m_lfit/format,png"/>
          <p:cNvPicPr>
            <a:picLocks noChangeAspect="1"/>
          </p:cNvPicPr>
          <p:nvPr/>
        </p:nvPicPr>
        <p:blipFill>
          <a:blip r:embed="rId10"/>
          <a:stretch>
            <a:fillRect/>
          </a:stretch>
        </p:blipFill>
        <p:spPr>
          <a:xfrm>
            <a:off x="1798320" y="5745480"/>
            <a:ext cx="396240" cy="396240"/>
          </a:xfrm>
          <a:prstGeom prst="rect">
            <a:avLst/>
          </a:prstGeom>
        </p:spPr>
      </p:pic>
      <p:sp>
        <p:nvSpPr>
          <p:cNvPr id="30" name="Text 17"/>
          <p:cNvSpPr/>
          <p:nvPr/>
        </p:nvSpPr>
        <p:spPr>
          <a:xfrm>
            <a:off x="2362200" y="5715000"/>
            <a:ext cx="8147304" cy="457200"/>
          </a:xfrm>
          <a:prstGeom prst="rect">
            <a:avLst/>
          </a:prstGeom>
          <a:noFill/>
        </p:spPr>
        <p:txBody>
          <a:bodyPr wrap="none" lIns="0" tIns="0" rIns="0" bIns="0" rtlCol="0" anchor="t">
            <a:spAutoFit/>
          </a:bodyPr>
          <a:lstStyle/>
          <a:p>
            <a:pPr marL="0" indent="0" algn="l">
              <a:lnSpc>
                <a:spcPct val="150000"/>
              </a:lnSpc>
              <a:buNone/>
            </a:pPr>
            <a:r>
              <a:rPr lang="en-US" sz="2400" kern="0" spc="80" dirty="0">
                <a:solidFill>
                  <a:srgbClr val="FFFFFF"/>
                </a:solidFill>
                <a:latin typeface="思源黑体 CN Bold" pitchFamily="34" charset="0"/>
                <a:ea typeface="思源黑体 CN Bold" pitchFamily="34" charset="-122"/>
                <a:cs typeface="思源黑体 CN Bold" pitchFamily="34" charset="-120"/>
              </a:rPr>
              <a:t>本课用什么：西普实验平台跑扫描、出报告（漏洞扫描工具使用 + Windows 漏洞扫描），结果填进《漏洞扫描结果分析表》做判定；Nessus / OpenVAS 作为原理对照了解。</a:t>
            </a:r>
            <a:endParaRPr lang="en-US" sz="2400" dirty="0"/>
          </a:p>
        </p:txBody>
      </p:sp>
      <p:graphicFrame>
        <p:nvGraphicFramePr>
          <p:cNvPr id="31" name="对象 30">
            <a:hlinkClick r:id="" action="ppaction://ole?verb="/>
          </p:cNvPr>
          <p:cNvGraphicFramePr>
            <a:graphicFrameLocks noChangeAspect="1"/>
          </p:cNvGraphicFramePr>
          <p:nvPr/>
        </p:nvGraphicFramePr>
        <p:xfrm>
          <a:off x="10172700" y="527685"/>
          <a:ext cx="971550" cy="666750"/>
        </p:xfrm>
        <a:graphic>
          <a:graphicData uri="http://schemas.openxmlformats.org/presentationml/2006/ole">
            <mc:AlternateContent xmlns:mc="http://schemas.openxmlformats.org/markup-compatibility/2006">
              <mc:Choice xmlns:v="urn:schemas-microsoft-com:vml" Requires="v">
                <p:oleObj spid="_x0000_s4097" name="" showAsIcon="1" r:id="rId11" imgW="971550" imgH="666750" progId="Word.Document.12">
                  <p:embed/>
                </p:oleObj>
              </mc:Choice>
              <mc:Fallback>
                <p:oleObj name="" showAsIcon="1" r:id="rId11" imgW="971550" imgH="666750" progId="Word.Document.12">
                  <p:embed/>
                  <p:pic>
                    <p:nvPicPr>
                      <p:cNvPr id="0" name="图片 4096"/>
                      <p:cNvPicPr/>
                      <p:nvPr/>
                    </p:nvPicPr>
                    <p:blipFill>
                      <a:blip r:embed="rId12"/>
                      <a:stretch>
                        <a:fillRect/>
                      </a:stretch>
                    </p:blipFill>
                    <p:spPr>
                      <a:xfrm>
                        <a:off x="10172700" y="527685"/>
                        <a:ext cx="971550" cy="666750"/>
                      </a:xfrm>
                      <a:prstGeom prst="rect">
                        <a:avLst/>
                      </a:prstGeom>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扫描怎么跑——西普平台一次完整扫描的六步</a:t>
            </a:r>
            <a:endParaRPr lang="en-US" sz="2760" dirty="0"/>
          </a:p>
        </p:txBody>
      </p:sp>
      <p:pic>
        <p:nvPicPr>
          <p:cNvPr id="6" name="Image 3" descr="https://test.web.static.jianzeppt.com/ppt-temp-img3/bc75153e78bb5b1ccfcd40ba958a2bf2.png?x-oss-process=image/resize,w_1440,h_800,m_lfit/format,png"/>
          <p:cNvPicPr>
            <a:picLocks noChangeAspect="1"/>
          </p:cNvPicPr>
          <p:nvPr/>
        </p:nvPicPr>
        <p:blipFill>
          <a:blip r:embed="rId4"/>
          <a:stretch>
            <a:fillRect/>
          </a:stretch>
        </p:blipFill>
        <p:spPr>
          <a:xfrm>
            <a:off x="609600" y="1371600"/>
            <a:ext cx="3413760" cy="487680"/>
          </a:xfrm>
          <a:prstGeom prst="rect">
            <a:avLst/>
          </a:prstGeom>
        </p:spPr>
      </p:pic>
      <p:pic>
        <p:nvPicPr>
          <p:cNvPr id="7" name="Image 4"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7720" y="1478280"/>
            <a:ext cx="746760" cy="274320"/>
          </a:xfrm>
          <a:prstGeom prst="rect">
            <a:avLst/>
          </a:prstGeom>
        </p:spPr>
      </p:pic>
      <p:sp>
        <p:nvSpPr>
          <p:cNvPr id="8" name="Text 1"/>
          <p:cNvSpPr/>
          <p:nvPr/>
        </p:nvSpPr>
        <p:spPr>
          <a:xfrm>
            <a:off x="899160" y="1434465"/>
            <a:ext cx="573024" cy="274320"/>
          </a:xfrm>
          <a:prstGeom prst="rect">
            <a:avLst/>
          </a:prstGeom>
          <a:noFill/>
        </p:spPr>
        <p:txBody>
          <a:bodyPr wrap="none" lIns="0" tIns="0" rIns="0" bIns="0" rtlCol="0" anchor="t">
            <a:spAutoFit/>
          </a:bodyPr>
          <a:lstStyle/>
          <a:p>
            <a:pPr marL="0" indent="0" algn="l">
              <a:lnSpc>
                <a:spcPct val="150000"/>
              </a:lnSpc>
              <a:buNone/>
            </a:pPr>
            <a:r>
              <a:rPr lang="en-US" sz="1440" b="1" dirty="0">
                <a:solidFill>
                  <a:srgbClr val="0E4D96"/>
                </a:solidFill>
                <a:latin typeface="思源黑体 CN Bold" pitchFamily="34" charset="0"/>
                <a:ea typeface="思源黑体 CN Bold" pitchFamily="34" charset="-122"/>
                <a:cs typeface="思源黑体 CN Bold" pitchFamily="34" charset="-120"/>
              </a:rPr>
              <a:t>扫描端</a:t>
            </a:r>
            <a:endParaRPr lang="en-US" sz="1440" dirty="0"/>
          </a:p>
        </p:txBody>
      </p:sp>
      <p:sp>
        <p:nvSpPr>
          <p:cNvPr id="9" name="Text 2"/>
          <p:cNvSpPr/>
          <p:nvPr/>
        </p:nvSpPr>
        <p:spPr>
          <a:xfrm>
            <a:off x="1661160" y="1478280"/>
            <a:ext cx="2173224" cy="274320"/>
          </a:xfrm>
          <a:prstGeom prst="rect">
            <a:avLst/>
          </a:prstGeom>
          <a:noFill/>
        </p:spPr>
        <p:txBody>
          <a:bodyPr wrap="none" lIns="0" tIns="0" rIns="0" bIns="0" rtlCol="0" anchor="t">
            <a:spAutoFit/>
          </a:bodyPr>
          <a:lstStyle/>
          <a:p>
            <a:pPr marL="0" indent="0" algn="l">
              <a:lnSpc>
                <a:spcPct val="15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西普实验平台（10.11.0.70）漏洞扫描实验环境</a:t>
            </a:r>
            <a:endParaRPr lang="en-US" sz="1440" dirty="0"/>
          </a:p>
        </p:txBody>
      </p:sp>
      <p:pic>
        <p:nvPicPr>
          <p:cNvPr id="10" name="Image 5" descr="https://test.web.static.jianzeppt.com/ppt-temp-img3/1e3489dbbaa88dc675f7c0cee0fb1a56.png?x-oss-process=image/resize,w_1440,h_800,m_lfit/format,png"/>
          <p:cNvPicPr>
            <a:picLocks noChangeAspect="1"/>
          </p:cNvPicPr>
          <p:nvPr/>
        </p:nvPicPr>
        <p:blipFill>
          <a:blip r:embed="rId7"/>
          <a:stretch>
            <a:fillRect/>
          </a:stretch>
        </p:blipFill>
        <p:spPr>
          <a:xfrm>
            <a:off x="4267200" y="1371600"/>
            <a:ext cx="3688080" cy="487680"/>
          </a:xfrm>
          <a:prstGeom prst="rect">
            <a:avLst/>
          </a:prstGeom>
        </p:spPr>
      </p:pic>
      <p:pic>
        <p:nvPicPr>
          <p:cNvPr id="11" name="Image 6"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465320" y="1478280"/>
            <a:ext cx="563880" cy="274320"/>
          </a:xfrm>
          <a:prstGeom prst="rect">
            <a:avLst/>
          </a:prstGeom>
        </p:spPr>
      </p:pic>
      <p:sp>
        <p:nvSpPr>
          <p:cNvPr id="12" name="Text 3"/>
          <p:cNvSpPr/>
          <p:nvPr/>
        </p:nvSpPr>
        <p:spPr>
          <a:xfrm>
            <a:off x="4556760" y="1449070"/>
            <a:ext cx="390144" cy="274320"/>
          </a:xfrm>
          <a:prstGeom prst="rect">
            <a:avLst/>
          </a:prstGeom>
          <a:noFill/>
        </p:spPr>
        <p:txBody>
          <a:bodyPr wrap="none" lIns="0" tIns="0" rIns="0" bIns="0" rtlCol="0" anchor="t">
            <a:spAutoFit/>
          </a:bodyPr>
          <a:lstStyle/>
          <a:p>
            <a:pPr marL="0" indent="0" algn="l">
              <a:lnSpc>
                <a:spcPct val="150000"/>
              </a:lnSpc>
              <a:buNone/>
            </a:pPr>
            <a:r>
              <a:rPr lang="en-US" sz="1440" b="1" dirty="0">
                <a:solidFill>
                  <a:srgbClr val="0E4D96"/>
                </a:solidFill>
                <a:latin typeface="思源黑体 CN Bold" pitchFamily="34" charset="0"/>
                <a:ea typeface="思源黑体 CN Bold" pitchFamily="34" charset="-122"/>
                <a:cs typeface="思源黑体 CN Bold" pitchFamily="34" charset="-120"/>
              </a:rPr>
              <a:t>扫描目标</a:t>
            </a:r>
            <a:endParaRPr lang="en-US" sz="1440" dirty="0"/>
          </a:p>
        </p:txBody>
      </p:sp>
      <p:sp>
        <p:nvSpPr>
          <p:cNvPr id="13" name="Text 4"/>
          <p:cNvSpPr/>
          <p:nvPr/>
        </p:nvSpPr>
        <p:spPr>
          <a:xfrm>
            <a:off x="5135880" y="1478280"/>
            <a:ext cx="2630424" cy="274320"/>
          </a:xfrm>
          <a:prstGeom prst="rect">
            <a:avLst/>
          </a:prstGeom>
          <a:noFill/>
        </p:spPr>
        <p:txBody>
          <a:bodyPr wrap="none" lIns="0" tIns="0" rIns="0" bIns="0" rtlCol="0" anchor="t">
            <a:spAutoFit/>
          </a:bodyPr>
          <a:lstStyle/>
          <a:p>
            <a:pPr marL="0" indent="0" algn="l">
              <a:lnSpc>
                <a:spcPct val="15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平台提供的靶机 / 预置漏洞主机（只扫平台给的）</a:t>
            </a:r>
            <a:endParaRPr lang="en-US" sz="1440" dirty="0"/>
          </a:p>
        </p:txBody>
      </p:sp>
      <p:pic>
        <p:nvPicPr>
          <p:cNvPr id="14" name="Image 7" descr="https://test.web.static.jianzeppt.com/ppt-temp-img3/15e0d202e649f7368807f52d0ec6550c.png?x-oss-process=image/resize,w_1440,h_800,m_lfit/format,png"/>
          <p:cNvPicPr>
            <a:picLocks noChangeAspect="1"/>
          </p:cNvPicPr>
          <p:nvPr/>
        </p:nvPicPr>
        <p:blipFill>
          <a:blip r:embed="rId10"/>
          <a:stretch>
            <a:fillRect/>
          </a:stretch>
        </p:blipFill>
        <p:spPr>
          <a:xfrm>
            <a:off x="609600" y="2103120"/>
            <a:ext cx="10972800" cy="2225040"/>
          </a:xfrm>
          <a:prstGeom prst="rect">
            <a:avLst/>
          </a:prstGeom>
        </p:spPr>
      </p:pic>
      <p:sp>
        <p:nvSpPr>
          <p:cNvPr id="15" name="Text 5"/>
          <p:cNvSpPr/>
          <p:nvPr/>
        </p:nvSpPr>
        <p:spPr>
          <a:xfrm>
            <a:off x="-591185" y="2362200"/>
            <a:ext cx="13729970" cy="165735"/>
          </a:xfrm>
          <a:prstGeom prst="rect">
            <a:avLst/>
          </a:prstGeom>
          <a:noFill/>
        </p:spPr>
        <p:txBody>
          <a:bodyPr wrap="square" lIns="0" tIns="0" rIns="0" bIns="0" rtlCol="0" anchor="t">
            <a:spAutoFit/>
          </a:bodyPr>
          <a:lstStyle/>
          <a:p>
            <a:pPr marL="0" indent="0" algn="l">
              <a:lnSpc>
                <a:spcPct val="100000"/>
              </a:lnSpc>
              <a:buNone/>
            </a:pPr>
            <a:r>
              <a:rPr lang="en-US" sz="1080" b="1" dirty="0">
                <a:solidFill>
                  <a:srgbClr val="000000"/>
                </a:solidFill>
                <a:latin typeface="思源黑体 CN Bold" pitchFamily="34" charset="0"/>
                <a:ea typeface="思源黑体 CN Bold" pitchFamily="34" charset="-122"/>
                <a:cs typeface="思源黑体 CN Bold" pitchFamily="34" charset="-120"/>
              </a:rPr>
              <a:t>六步流程</a:t>
            </a:r>
            <a:endParaRPr lang="en-US" sz="1080" dirty="0"/>
          </a:p>
        </p:txBody>
      </p:sp>
      <p:pic>
        <p:nvPicPr>
          <p:cNvPr id="16" name="Image 8"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85775" y="2606040"/>
            <a:ext cx="3599815" cy="769620"/>
          </a:xfrm>
          <a:prstGeom prst="rect">
            <a:avLst/>
          </a:prstGeom>
        </p:spPr>
      </p:pic>
      <p:pic>
        <p:nvPicPr>
          <p:cNvPr id="17" name="Image 9"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24890" y="2758440"/>
            <a:ext cx="539115" cy="335280"/>
          </a:xfrm>
          <a:prstGeom prst="rect">
            <a:avLst/>
          </a:prstGeom>
        </p:spPr>
      </p:pic>
      <p:sp>
        <p:nvSpPr>
          <p:cNvPr id="18" name="Text 6"/>
          <p:cNvSpPr/>
          <p:nvPr/>
        </p:nvSpPr>
        <p:spPr>
          <a:xfrm>
            <a:off x="1140460" y="2788920"/>
            <a:ext cx="311150" cy="332105"/>
          </a:xfrm>
          <a:prstGeom prst="rect">
            <a:avLst/>
          </a:prstGeom>
          <a:noFill/>
        </p:spPr>
        <p:txBody>
          <a:bodyPr wrap="square" lIns="0" tIns="0" rIns="0" bIns="0" rtlCol="0" anchor="t">
            <a:spAutoFit/>
          </a:bodyPr>
          <a:lstStyle/>
          <a:p>
            <a:pPr marL="0" indent="0" algn="l">
              <a:lnSpc>
                <a:spcPct val="150000"/>
              </a:lnSpc>
              <a:buNone/>
            </a:pPr>
            <a:r>
              <a:rPr lang="en-US" sz="1440" b="1" dirty="0">
                <a:solidFill>
                  <a:srgbClr val="FFFFFF"/>
                </a:solidFill>
                <a:latin typeface="思源黑体 CN Bold" pitchFamily="34" charset="0"/>
                <a:ea typeface="思源黑体 CN Bold" pitchFamily="34" charset="-122"/>
                <a:cs typeface="思源黑体 CN Bold" pitchFamily="34" charset="-120"/>
              </a:rPr>
              <a:t>01</a:t>
            </a:r>
            <a:endParaRPr lang="en-US" sz="1440" dirty="0"/>
          </a:p>
        </p:txBody>
      </p:sp>
      <p:sp>
        <p:nvSpPr>
          <p:cNvPr id="19" name="Text 7"/>
          <p:cNvSpPr/>
          <p:nvPr/>
        </p:nvSpPr>
        <p:spPr>
          <a:xfrm>
            <a:off x="1726565" y="2758440"/>
            <a:ext cx="2110740" cy="386715"/>
          </a:xfrm>
          <a:prstGeom prst="rect">
            <a:avLst/>
          </a:prstGeom>
          <a:noFill/>
        </p:spPr>
        <p:txBody>
          <a:bodyPr wrap="square" lIns="0" tIns="0" rIns="0" bIns="0" rtlCol="0" anchor="t">
            <a:spAutoFit/>
          </a:bodyPr>
          <a:lstStyle/>
          <a:p>
            <a:pPr marL="0" indent="0" algn="l">
              <a:lnSpc>
                <a:spcPct val="150000"/>
              </a:lnSpc>
              <a:buNone/>
            </a:pPr>
            <a:r>
              <a:rPr lang="en-US" sz="1680" b="1" dirty="0">
                <a:solidFill>
                  <a:srgbClr val="000000"/>
                </a:solidFill>
                <a:latin typeface="思源黑体 CN Bold" pitchFamily="34" charset="0"/>
                <a:ea typeface="思源黑体 CN Bold" pitchFamily="34" charset="-122"/>
                <a:cs typeface="思源黑体 CN Bold" pitchFamily="34" charset="-120"/>
              </a:rPr>
              <a:t>登录并进入扫描实验</a:t>
            </a:r>
            <a:endParaRPr lang="en-US" sz="1680" dirty="0"/>
          </a:p>
        </p:txBody>
      </p:sp>
      <p:sp>
        <p:nvSpPr>
          <p:cNvPr id="20" name="Text 8"/>
          <p:cNvSpPr/>
          <p:nvPr/>
        </p:nvSpPr>
        <p:spPr>
          <a:xfrm>
            <a:off x="749300" y="3154680"/>
            <a:ext cx="3130550" cy="220980"/>
          </a:xfrm>
          <a:prstGeom prst="rect">
            <a:avLst/>
          </a:prstGeom>
          <a:noFill/>
        </p:spPr>
        <p:txBody>
          <a:bodyPr wrap="square" lIns="0" tIns="0" rIns="0" bIns="0" rtlCol="0" anchor="t">
            <a:spAutoFit/>
          </a:bodyPr>
          <a:lstStyle/>
          <a:p>
            <a:pPr marL="0" indent="0" algn="l">
              <a:lnSpc>
                <a:spcPct val="10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账号=学号，密码=学号+1q2w</a:t>
            </a:r>
            <a:endParaRPr lang="en-US" sz="1440" dirty="0"/>
          </a:p>
        </p:txBody>
      </p:sp>
      <p:pic>
        <p:nvPicPr>
          <p:cNvPr id="21" name="Image 10" descr="https://test.web.static.jianzeppt.com/ppt-temp-img3/14f31419453261bb3a9434baeed418c4.png?x-oss-process=image/resize,w_1440,h_800,m_lfit/format,png"/>
          <p:cNvPicPr>
            <a:picLocks noChangeAspect="1"/>
          </p:cNvPicPr>
          <p:nvPr/>
        </p:nvPicPr>
        <p:blipFill>
          <a:blip r:embed="rId15"/>
          <a:stretch>
            <a:fillRect/>
          </a:stretch>
        </p:blipFill>
        <p:spPr>
          <a:xfrm>
            <a:off x="3922395" y="2865120"/>
            <a:ext cx="519430" cy="426720"/>
          </a:xfrm>
          <a:prstGeom prst="rect">
            <a:avLst/>
          </a:prstGeom>
        </p:spPr>
      </p:pic>
      <p:pic>
        <p:nvPicPr>
          <p:cNvPr id="22" name="Image 11"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341495" y="2606040"/>
            <a:ext cx="3599815" cy="790575"/>
          </a:xfrm>
          <a:prstGeom prst="rect">
            <a:avLst/>
          </a:prstGeom>
        </p:spPr>
      </p:pic>
      <p:pic>
        <p:nvPicPr>
          <p:cNvPr id="23" name="Image 12"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880610" y="2758440"/>
            <a:ext cx="539115" cy="335280"/>
          </a:xfrm>
          <a:prstGeom prst="rect">
            <a:avLst/>
          </a:prstGeom>
        </p:spPr>
      </p:pic>
      <p:sp>
        <p:nvSpPr>
          <p:cNvPr id="24" name="Text 9"/>
          <p:cNvSpPr/>
          <p:nvPr/>
        </p:nvSpPr>
        <p:spPr>
          <a:xfrm>
            <a:off x="4996180" y="2788920"/>
            <a:ext cx="311150" cy="332105"/>
          </a:xfrm>
          <a:prstGeom prst="rect">
            <a:avLst/>
          </a:prstGeom>
          <a:noFill/>
        </p:spPr>
        <p:txBody>
          <a:bodyPr wrap="square" lIns="0" tIns="0" rIns="0" bIns="0" rtlCol="0" anchor="t">
            <a:spAutoFit/>
          </a:bodyPr>
          <a:lstStyle/>
          <a:p>
            <a:pPr marL="0" indent="0" algn="l">
              <a:lnSpc>
                <a:spcPct val="150000"/>
              </a:lnSpc>
              <a:buNone/>
            </a:pPr>
            <a:r>
              <a:rPr lang="en-US" sz="1440" b="1" dirty="0">
                <a:solidFill>
                  <a:srgbClr val="FFFFFF"/>
                </a:solidFill>
                <a:latin typeface="思源黑体 CN Bold" pitchFamily="34" charset="0"/>
                <a:ea typeface="思源黑体 CN Bold" pitchFamily="34" charset="-122"/>
                <a:cs typeface="思源黑体 CN Bold" pitchFamily="34" charset="-120"/>
              </a:rPr>
              <a:t>02</a:t>
            </a:r>
            <a:endParaRPr lang="en-US" sz="1440" dirty="0"/>
          </a:p>
        </p:txBody>
      </p:sp>
      <p:sp>
        <p:nvSpPr>
          <p:cNvPr id="25" name="Text 10"/>
          <p:cNvSpPr/>
          <p:nvPr/>
        </p:nvSpPr>
        <p:spPr>
          <a:xfrm>
            <a:off x="5568315" y="2714625"/>
            <a:ext cx="1691005" cy="386715"/>
          </a:xfrm>
          <a:prstGeom prst="rect">
            <a:avLst/>
          </a:prstGeom>
          <a:noFill/>
        </p:spPr>
        <p:txBody>
          <a:bodyPr wrap="square" lIns="0" tIns="0" rIns="0" bIns="0" rtlCol="0" anchor="t">
            <a:spAutoFit/>
          </a:bodyPr>
          <a:lstStyle/>
          <a:p>
            <a:pPr marL="0" indent="0" algn="l">
              <a:lnSpc>
                <a:spcPct val="150000"/>
              </a:lnSpc>
              <a:buNone/>
            </a:pPr>
            <a:r>
              <a:rPr lang="en-US" sz="1680" b="1" dirty="0">
                <a:solidFill>
                  <a:srgbClr val="000000"/>
                </a:solidFill>
                <a:latin typeface="思源黑体 CN Bold" pitchFamily="34" charset="0"/>
                <a:ea typeface="思源黑体 CN Bold" pitchFamily="34" charset="-122"/>
                <a:cs typeface="思源黑体 CN Bold" pitchFamily="34" charset="-120"/>
              </a:rPr>
              <a:t>新建扫描任务</a:t>
            </a:r>
            <a:endParaRPr lang="en-US" sz="1680" dirty="0"/>
          </a:p>
        </p:txBody>
      </p:sp>
      <p:sp>
        <p:nvSpPr>
          <p:cNvPr id="26" name="Text 11"/>
          <p:cNvSpPr/>
          <p:nvPr/>
        </p:nvSpPr>
        <p:spPr>
          <a:xfrm>
            <a:off x="4599940" y="3154680"/>
            <a:ext cx="3180715" cy="220980"/>
          </a:xfrm>
          <a:prstGeom prst="rect">
            <a:avLst/>
          </a:prstGeom>
          <a:noFill/>
        </p:spPr>
        <p:txBody>
          <a:bodyPr wrap="square" lIns="0" tIns="0" rIns="0" bIns="0" rtlCol="0" anchor="t">
            <a:spAutoFit/>
          </a:bodyPr>
          <a:lstStyle/>
          <a:p>
            <a:pPr marL="0" indent="0" algn="l">
              <a:lnSpc>
                <a:spcPct val="10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选"系统漏洞扫描"模板</a:t>
            </a:r>
            <a:endParaRPr lang="en-US" sz="1440" dirty="0"/>
          </a:p>
        </p:txBody>
      </p:sp>
      <p:pic>
        <p:nvPicPr>
          <p:cNvPr id="27" name="Image 13" descr="https://test.web.static.jianzeppt.com/ppt-temp-img3/14f31419453261bb3a9434baeed418c4.png?x-oss-process=image/resize,w_1440,h_800,m_lfit/format,png"/>
          <p:cNvPicPr>
            <a:picLocks noChangeAspect="1"/>
          </p:cNvPicPr>
          <p:nvPr/>
        </p:nvPicPr>
        <p:blipFill>
          <a:blip r:embed="rId15"/>
          <a:stretch>
            <a:fillRect/>
          </a:stretch>
        </p:blipFill>
        <p:spPr>
          <a:xfrm>
            <a:off x="7778115" y="2865120"/>
            <a:ext cx="519430" cy="426720"/>
          </a:xfrm>
          <a:prstGeom prst="rect">
            <a:avLst/>
          </a:prstGeom>
        </p:spPr>
      </p:pic>
      <p:pic>
        <p:nvPicPr>
          <p:cNvPr id="28" name="Image 1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197215" y="2606040"/>
            <a:ext cx="3599815" cy="758190"/>
          </a:xfrm>
          <a:prstGeom prst="rect">
            <a:avLst/>
          </a:prstGeom>
        </p:spPr>
      </p:pic>
      <p:pic>
        <p:nvPicPr>
          <p:cNvPr id="29" name="Image 1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736330" y="2758440"/>
            <a:ext cx="539115" cy="335280"/>
          </a:xfrm>
          <a:prstGeom prst="rect">
            <a:avLst/>
          </a:prstGeom>
        </p:spPr>
      </p:pic>
      <p:sp>
        <p:nvSpPr>
          <p:cNvPr id="30" name="Text 12"/>
          <p:cNvSpPr/>
          <p:nvPr/>
        </p:nvSpPr>
        <p:spPr>
          <a:xfrm>
            <a:off x="8851900" y="2788920"/>
            <a:ext cx="311150" cy="332105"/>
          </a:xfrm>
          <a:prstGeom prst="rect">
            <a:avLst/>
          </a:prstGeom>
          <a:noFill/>
        </p:spPr>
        <p:txBody>
          <a:bodyPr wrap="square" lIns="0" tIns="0" rIns="0" bIns="0" rtlCol="0" anchor="t">
            <a:spAutoFit/>
          </a:bodyPr>
          <a:lstStyle/>
          <a:p>
            <a:pPr marL="0" indent="0" algn="l">
              <a:lnSpc>
                <a:spcPct val="150000"/>
              </a:lnSpc>
              <a:buNone/>
            </a:pPr>
            <a:r>
              <a:rPr lang="en-US" sz="1440" b="1" dirty="0">
                <a:solidFill>
                  <a:srgbClr val="FFFFFF"/>
                </a:solidFill>
                <a:latin typeface="思源黑体 CN Bold" pitchFamily="34" charset="0"/>
                <a:ea typeface="思源黑体 CN Bold" pitchFamily="34" charset="-122"/>
                <a:cs typeface="思源黑体 CN Bold" pitchFamily="34" charset="-120"/>
              </a:rPr>
              <a:t>03</a:t>
            </a:r>
            <a:endParaRPr lang="en-US" sz="1440" dirty="0"/>
          </a:p>
        </p:txBody>
      </p:sp>
      <p:sp>
        <p:nvSpPr>
          <p:cNvPr id="31" name="Text 13"/>
          <p:cNvSpPr/>
          <p:nvPr/>
        </p:nvSpPr>
        <p:spPr>
          <a:xfrm>
            <a:off x="9366885" y="2714625"/>
            <a:ext cx="1130935" cy="386715"/>
          </a:xfrm>
          <a:prstGeom prst="rect">
            <a:avLst/>
          </a:prstGeom>
          <a:noFill/>
        </p:spPr>
        <p:txBody>
          <a:bodyPr wrap="square" lIns="0" tIns="0" rIns="0" bIns="0" rtlCol="0" anchor="t">
            <a:spAutoFit/>
          </a:bodyPr>
          <a:lstStyle/>
          <a:p>
            <a:pPr marL="0" indent="0" algn="l">
              <a:lnSpc>
                <a:spcPct val="150000"/>
              </a:lnSpc>
              <a:buNone/>
            </a:pPr>
            <a:r>
              <a:rPr lang="en-US" sz="1680" b="1" dirty="0">
                <a:solidFill>
                  <a:srgbClr val="000000"/>
                </a:solidFill>
                <a:latin typeface="思源黑体 CN Bold" pitchFamily="34" charset="0"/>
                <a:ea typeface="思源黑体 CN Bold" pitchFamily="34" charset="-122"/>
                <a:cs typeface="思源黑体 CN Bold" pitchFamily="34" charset="-120"/>
              </a:rPr>
              <a:t>填目标地址</a:t>
            </a:r>
            <a:endParaRPr lang="en-US" sz="1680" dirty="0"/>
          </a:p>
        </p:txBody>
      </p:sp>
      <p:sp>
        <p:nvSpPr>
          <p:cNvPr id="32" name="Text 14"/>
          <p:cNvSpPr/>
          <p:nvPr/>
        </p:nvSpPr>
        <p:spPr>
          <a:xfrm>
            <a:off x="8460740" y="3154680"/>
            <a:ext cx="3130550" cy="220980"/>
          </a:xfrm>
          <a:prstGeom prst="rect">
            <a:avLst/>
          </a:prstGeom>
          <a:noFill/>
        </p:spPr>
        <p:txBody>
          <a:bodyPr wrap="square" lIns="0" tIns="0" rIns="0" bIns="0" rtlCol="0" anchor="t">
            <a:spAutoFit/>
          </a:bodyPr>
          <a:lstStyle/>
          <a:p>
            <a:pPr marL="0" indent="0" algn="l">
              <a:lnSpc>
                <a:spcPct val="10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填平台给的靶机 IP，绝不填校外地址</a:t>
            </a:r>
            <a:endParaRPr lang="en-US" sz="1440" dirty="0"/>
          </a:p>
        </p:txBody>
      </p:sp>
      <p:pic>
        <p:nvPicPr>
          <p:cNvPr id="33" name="Image 16"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85775" y="3427095"/>
            <a:ext cx="3599815" cy="664845"/>
          </a:xfrm>
          <a:prstGeom prst="rect">
            <a:avLst/>
          </a:prstGeom>
        </p:spPr>
      </p:pic>
      <p:pic>
        <p:nvPicPr>
          <p:cNvPr id="34" name="Image 17"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24890" y="3474720"/>
            <a:ext cx="539115" cy="335280"/>
          </a:xfrm>
          <a:prstGeom prst="rect">
            <a:avLst/>
          </a:prstGeom>
        </p:spPr>
      </p:pic>
      <p:sp>
        <p:nvSpPr>
          <p:cNvPr id="35" name="Text 15"/>
          <p:cNvSpPr/>
          <p:nvPr/>
        </p:nvSpPr>
        <p:spPr>
          <a:xfrm>
            <a:off x="1140460" y="3505200"/>
            <a:ext cx="311150" cy="332105"/>
          </a:xfrm>
          <a:prstGeom prst="rect">
            <a:avLst/>
          </a:prstGeom>
          <a:noFill/>
        </p:spPr>
        <p:txBody>
          <a:bodyPr wrap="square" lIns="0" tIns="0" rIns="0" bIns="0" rtlCol="0" anchor="t">
            <a:spAutoFit/>
          </a:bodyPr>
          <a:lstStyle/>
          <a:p>
            <a:pPr marL="0" indent="0" algn="l">
              <a:lnSpc>
                <a:spcPct val="150000"/>
              </a:lnSpc>
              <a:buNone/>
            </a:pPr>
            <a:r>
              <a:rPr lang="en-US" sz="1440" b="1" dirty="0">
                <a:solidFill>
                  <a:srgbClr val="FFFFFF"/>
                </a:solidFill>
                <a:latin typeface="思源黑体 CN Bold" pitchFamily="34" charset="0"/>
                <a:ea typeface="思源黑体 CN Bold" pitchFamily="34" charset="-122"/>
                <a:cs typeface="思源黑体 CN Bold" pitchFamily="34" charset="-120"/>
              </a:rPr>
              <a:t>04</a:t>
            </a:r>
            <a:endParaRPr lang="en-US" sz="1440" dirty="0"/>
          </a:p>
        </p:txBody>
      </p:sp>
      <p:sp>
        <p:nvSpPr>
          <p:cNvPr id="36" name="Text 16"/>
          <p:cNvSpPr/>
          <p:nvPr/>
        </p:nvSpPr>
        <p:spPr>
          <a:xfrm>
            <a:off x="1699260" y="3489960"/>
            <a:ext cx="1130935" cy="386715"/>
          </a:xfrm>
          <a:prstGeom prst="rect">
            <a:avLst/>
          </a:prstGeom>
          <a:noFill/>
        </p:spPr>
        <p:txBody>
          <a:bodyPr wrap="square" lIns="0" tIns="0" rIns="0" bIns="0" rtlCol="0" anchor="t">
            <a:spAutoFit/>
          </a:bodyPr>
          <a:lstStyle/>
          <a:p>
            <a:pPr marL="0" indent="0" algn="l">
              <a:lnSpc>
                <a:spcPct val="150000"/>
              </a:lnSpc>
              <a:buNone/>
            </a:pPr>
            <a:r>
              <a:rPr lang="en-US" sz="1680" b="1" dirty="0">
                <a:solidFill>
                  <a:srgbClr val="000000"/>
                </a:solidFill>
                <a:latin typeface="思源黑体 CN Bold" pitchFamily="34" charset="0"/>
                <a:ea typeface="思源黑体 CN Bold" pitchFamily="34" charset="-122"/>
                <a:cs typeface="思源黑体 CN Bold" pitchFamily="34" charset="-120"/>
              </a:rPr>
              <a:t>启动扫描</a:t>
            </a:r>
            <a:endParaRPr lang="en-US" sz="1680" dirty="0"/>
          </a:p>
        </p:txBody>
      </p:sp>
      <p:sp>
        <p:nvSpPr>
          <p:cNvPr id="37" name="Text 17"/>
          <p:cNvSpPr/>
          <p:nvPr/>
        </p:nvSpPr>
        <p:spPr>
          <a:xfrm>
            <a:off x="749300" y="3870960"/>
            <a:ext cx="3130550" cy="220980"/>
          </a:xfrm>
          <a:prstGeom prst="rect">
            <a:avLst/>
          </a:prstGeom>
          <a:noFill/>
        </p:spPr>
        <p:txBody>
          <a:bodyPr wrap="square" lIns="0" tIns="0" rIns="0" bIns="0" rtlCol="0" anchor="t">
            <a:spAutoFit/>
          </a:bodyPr>
          <a:lstStyle/>
          <a:p>
            <a:pPr marL="0" indent="0" algn="l">
              <a:lnSpc>
                <a:spcPct val="10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看进度条，约 5~10 分钟，别中途关页面</a:t>
            </a:r>
            <a:endParaRPr lang="en-US" sz="1440" dirty="0"/>
          </a:p>
        </p:txBody>
      </p:sp>
      <p:pic>
        <p:nvPicPr>
          <p:cNvPr id="38" name="Image 18" descr="https://test.web.static.jianzeppt.com/ppt-temp-img3/59d8cd21f4ad295cfa6015cd625e3bfb.png?x-oss-process=image/resize,w_1440,h_800,m_lfit/format,png"/>
          <p:cNvPicPr>
            <a:picLocks noChangeAspect="1"/>
          </p:cNvPicPr>
          <p:nvPr/>
        </p:nvPicPr>
        <p:blipFill>
          <a:blip r:embed="rId16"/>
          <a:stretch>
            <a:fillRect/>
          </a:stretch>
        </p:blipFill>
        <p:spPr>
          <a:xfrm>
            <a:off x="3922395" y="3596640"/>
            <a:ext cx="519430" cy="396240"/>
          </a:xfrm>
          <a:prstGeom prst="rect">
            <a:avLst/>
          </a:prstGeom>
        </p:spPr>
      </p:pic>
      <p:pic>
        <p:nvPicPr>
          <p:cNvPr id="39" name="Image 19"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341495" y="3441700"/>
            <a:ext cx="3599815" cy="668655"/>
          </a:xfrm>
          <a:prstGeom prst="rect">
            <a:avLst/>
          </a:prstGeom>
        </p:spPr>
      </p:pic>
      <p:pic>
        <p:nvPicPr>
          <p:cNvPr id="40" name="Image 20"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880610" y="3474720"/>
            <a:ext cx="539115" cy="335280"/>
          </a:xfrm>
          <a:prstGeom prst="rect">
            <a:avLst/>
          </a:prstGeom>
        </p:spPr>
      </p:pic>
      <p:sp>
        <p:nvSpPr>
          <p:cNvPr id="41" name="Text 18"/>
          <p:cNvSpPr/>
          <p:nvPr/>
        </p:nvSpPr>
        <p:spPr>
          <a:xfrm>
            <a:off x="4996180" y="3505200"/>
            <a:ext cx="311150" cy="332105"/>
          </a:xfrm>
          <a:prstGeom prst="rect">
            <a:avLst/>
          </a:prstGeom>
          <a:noFill/>
        </p:spPr>
        <p:txBody>
          <a:bodyPr wrap="square" lIns="0" tIns="0" rIns="0" bIns="0" rtlCol="0" anchor="t">
            <a:spAutoFit/>
          </a:bodyPr>
          <a:lstStyle/>
          <a:p>
            <a:pPr marL="0" indent="0" algn="l">
              <a:lnSpc>
                <a:spcPct val="150000"/>
              </a:lnSpc>
              <a:buNone/>
            </a:pPr>
            <a:r>
              <a:rPr lang="en-US" sz="1440" b="1" dirty="0">
                <a:solidFill>
                  <a:srgbClr val="FFFFFF"/>
                </a:solidFill>
                <a:latin typeface="思源黑体 CN Bold" pitchFamily="34" charset="0"/>
                <a:ea typeface="思源黑体 CN Bold" pitchFamily="34" charset="-122"/>
                <a:cs typeface="思源黑体 CN Bold" pitchFamily="34" charset="-120"/>
              </a:rPr>
              <a:t>05</a:t>
            </a:r>
            <a:endParaRPr lang="en-US" sz="1440" dirty="0"/>
          </a:p>
        </p:txBody>
      </p:sp>
      <p:sp>
        <p:nvSpPr>
          <p:cNvPr id="42" name="Text 19"/>
          <p:cNvSpPr/>
          <p:nvPr/>
        </p:nvSpPr>
        <p:spPr>
          <a:xfrm>
            <a:off x="5569585" y="3446145"/>
            <a:ext cx="1130935" cy="386715"/>
          </a:xfrm>
          <a:prstGeom prst="rect">
            <a:avLst/>
          </a:prstGeom>
          <a:noFill/>
        </p:spPr>
        <p:txBody>
          <a:bodyPr wrap="square" lIns="0" tIns="0" rIns="0" bIns="0" rtlCol="0" anchor="t">
            <a:spAutoFit/>
          </a:bodyPr>
          <a:lstStyle/>
          <a:p>
            <a:pPr marL="0" indent="0" algn="l">
              <a:lnSpc>
                <a:spcPct val="150000"/>
              </a:lnSpc>
              <a:buNone/>
            </a:pPr>
            <a:r>
              <a:rPr lang="en-US" sz="1680" b="1" dirty="0">
                <a:solidFill>
                  <a:srgbClr val="000000"/>
                </a:solidFill>
                <a:latin typeface="思源黑体 CN Bold" pitchFamily="34" charset="0"/>
                <a:ea typeface="思源黑体 CN Bold" pitchFamily="34" charset="-122"/>
                <a:cs typeface="思源黑体 CN Bold" pitchFamily="34" charset="-120"/>
              </a:rPr>
              <a:t>看结果列表</a:t>
            </a:r>
            <a:endParaRPr lang="en-US" sz="1680" dirty="0"/>
          </a:p>
        </p:txBody>
      </p:sp>
      <p:sp>
        <p:nvSpPr>
          <p:cNvPr id="43" name="Text 20"/>
          <p:cNvSpPr/>
          <p:nvPr/>
        </p:nvSpPr>
        <p:spPr>
          <a:xfrm>
            <a:off x="4605020" y="3870960"/>
            <a:ext cx="3130550" cy="220980"/>
          </a:xfrm>
          <a:prstGeom prst="rect">
            <a:avLst/>
          </a:prstGeom>
          <a:noFill/>
        </p:spPr>
        <p:txBody>
          <a:bodyPr wrap="square" lIns="0" tIns="0" rIns="0" bIns="0" rtlCol="0" anchor="t">
            <a:spAutoFit/>
          </a:bodyPr>
          <a:lstStyle/>
          <a:p>
            <a:pPr marL="0" indent="0" algn="l">
              <a:lnSpc>
                <a:spcPct val="10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按 Critical / High / Medium / Low 分档看</a:t>
            </a:r>
            <a:endParaRPr lang="en-US" sz="1440" dirty="0"/>
          </a:p>
        </p:txBody>
      </p:sp>
      <p:pic>
        <p:nvPicPr>
          <p:cNvPr id="44" name="Image 21" descr="https://test.web.static.jianzeppt.com/ppt-temp-img3/59d8cd21f4ad295cfa6015cd625e3bfb.png?x-oss-process=image/resize,w_1440,h_800,m_lfit/format,png"/>
          <p:cNvPicPr>
            <a:picLocks noChangeAspect="1"/>
          </p:cNvPicPr>
          <p:nvPr/>
        </p:nvPicPr>
        <p:blipFill>
          <a:blip r:embed="rId16"/>
          <a:stretch>
            <a:fillRect/>
          </a:stretch>
        </p:blipFill>
        <p:spPr>
          <a:xfrm>
            <a:off x="7778115" y="3596640"/>
            <a:ext cx="519430" cy="396240"/>
          </a:xfrm>
          <a:prstGeom prst="rect">
            <a:avLst/>
          </a:prstGeom>
        </p:spPr>
      </p:pic>
      <p:pic>
        <p:nvPicPr>
          <p:cNvPr id="45" name="Image 22"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197215" y="3423285"/>
            <a:ext cx="3599815" cy="668655"/>
          </a:xfrm>
          <a:prstGeom prst="rect">
            <a:avLst/>
          </a:prstGeom>
        </p:spPr>
      </p:pic>
      <p:pic>
        <p:nvPicPr>
          <p:cNvPr id="46" name="Image 23"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736330" y="3474720"/>
            <a:ext cx="539115" cy="335280"/>
          </a:xfrm>
          <a:prstGeom prst="rect">
            <a:avLst/>
          </a:prstGeom>
        </p:spPr>
      </p:pic>
      <p:sp>
        <p:nvSpPr>
          <p:cNvPr id="47" name="Text 21"/>
          <p:cNvSpPr/>
          <p:nvPr/>
        </p:nvSpPr>
        <p:spPr>
          <a:xfrm>
            <a:off x="8851900" y="3505200"/>
            <a:ext cx="311150" cy="332105"/>
          </a:xfrm>
          <a:prstGeom prst="rect">
            <a:avLst/>
          </a:prstGeom>
          <a:noFill/>
        </p:spPr>
        <p:txBody>
          <a:bodyPr wrap="square" lIns="0" tIns="0" rIns="0" bIns="0" rtlCol="0" anchor="t">
            <a:spAutoFit/>
          </a:bodyPr>
          <a:lstStyle/>
          <a:p>
            <a:pPr marL="0" indent="0" algn="l">
              <a:lnSpc>
                <a:spcPct val="150000"/>
              </a:lnSpc>
              <a:buNone/>
            </a:pPr>
            <a:r>
              <a:rPr lang="en-US" sz="1440" b="1" dirty="0">
                <a:solidFill>
                  <a:srgbClr val="FFFFFF"/>
                </a:solidFill>
                <a:latin typeface="思源黑体 CN Bold" pitchFamily="34" charset="0"/>
                <a:ea typeface="思源黑体 CN Bold" pitchFamily="34" charset="-122"/>
                <a:cs typeface="思源黑体 CN Bold" pitchFamily="34" charset="-120"/>
              </a:rPr>
              <a:t>06</a:t>
            </a:r>
            <a:endParaRPr lang="en-US" sz="1440" dirty="0"/>
          </a:p>
        </p:txBody>
      </p:sp>
      <p:sp>
        <p:nvSpPr>
          <p:cNvPr id="48" name="Text 22"/>
          <p:cNvSpPr/>
          <p:nvPr/>
        </p:nvSpPr>
        <p:spPr>
          <a:xfrm>
            <a:off x="9396095" y="3446145"/>
            <a:ext cx="1130935" cy="386715"/>
          </a:xfrm>
          <a:prstGeom prst="rect">
            <a:avLst/>
          </a:prstGeom>
          <a:noFill/>
        </p:spPr>
        <p:txBody>
          <a:bodyPr wrap="square" lIns="0" tIns="0" rIns="0" bIns="0" rtlCol="0" anchor="t">
            <a:spAutoFit/>
          </a:bodyPr>
          <a:lstStyle/>
          <a:p>
            <a:pPr marL="0" indent="0" algn="l">
              <a:lnSpc>
                <a:spcPct val="150000"/>
              </a:lnSpc>
              <a:buNone/>
            </a:pPr>
            <a:r>
              <a:rPr lang="en-US" sz="1680" b="1" dirty="0">
                <a:solidFill>
                  <a:srgbClr val="000000"/>
                </a:solidFill>
                <a:latin typeface="思源黑体 CN Bold" pitchFamily="34" charset="0"/>
                <a:ea typeface="思源黑体 CN Bold" pitchFamily="34" charset="-122"/>
                <a:cs typeface="思源黑体 CN Bold" pitchFamily="34" charset="-120"/>
              </a:rPr>
              <a:t>导出报告</a:t>
            </a:r>
            <a:endParaRPr lang="en-US" sz="1680" dirty="0"/>
          </a:p>
        </p:txBody>
      </p:sp>
      <p:sp>
        <p:nvSpPr>
          <p:cNvPr id="49" name="Text 23"/>
          <p:cNvSpPr/>
          <p:nvPr/>
        </p:nvSpPr>
        <p:spPr>
          <a:xfrm>
            <a:off x="8460740" y="3870960"/>
            <a:ext cx="3130550" cy="220980"/>
          </a:xfrm>
          <a:prstGeom prst="rect">
            <a:avLst/>
          </a:prstGeom>
          <a:noFill/>
        </p:spPr>
        <p:txBody>
          <a:bodyPr wrap="square" lIns="0" tIns="0" rIns="0" bIns="0" rtlCol="0" anchor="t">
            <a:spAutoFit/>
          </a:bodyPr>
          <a:lstStyle/>
          <a:p>
            <a:pPr marL="0" indent="0" algn="l">
              <a:lnSpc>
                <a:spcPct val="10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导出 PDF，后面分析表要用</a:t>
            </a:r>
            <a:endParaRPr lang="en-US" sz="1440" dirty="0"/>
          </a:p>
        </p:txBody>
      </p:sp>
      <p:pic>
        <p:nvPicPr>
          <p:cNvPr id="50" name="Image 24" descr="https://test.web.static.jianzeppt.com/ppt-temp-img3/68380c30826c794347f2b937337cd44d.png?x-oss-process=image/resize,w_1440,h_800,m_lfit/format,png"/>
          <p:cNvPicPr>
            <a:picLocks noChangeAspect="1"/>
          </p:cNvPicPr>
          <p:nvPr/>
        </p:nvPicPr>
        <p:blipFill>
          <a:blip r:embed="rId17"/>
          <a:stretch>
            <a:fillRect/>
          </a:stretch>
        </p:blipFill>
        <p:spPr>
          <a:xfrm>
            <a:off x="609600" y="4572000"/>
            <a:ext cx="1844040" cy="487680"/>
          </a:xfrm>
          <a:prstGeom prst="rect">
            <a:avLst/>
          </a:prstGeom>
        </p:spPr>
      </p:pic>
      <p:sp>
        <p:nvSpPr>
          <p:cNvPr id="51" name="Text 24"/>
          <p:cNvSpPr/>
          <p:nvPr/>
        </p:nvSpPr>
        <p:spPr>
          <a:xfrm>
            <a:off x="792480" y="4632960"/>
            <a:ext cx="1487424" cy="365760"/>
          </a:xfrm>
          <a:prstGeom prst="rect">
            <a:avLst/>
          </a:prstGeom>
          <a:noFill/>
        </p:spPr>
        <p:txBody>
          <a:bodyPr wrap="none" lIns="0" tIns="0" rIns="0" bIns="0" rtlCol="0" anchor="t">
            <a:spAutoFit/>
          </a:bodyPr>
          <a:lstStyle/>
          <a:p>
            <a:pPr marL="0" indent="0" algn="l">
              <a:lnSpc>
                <a:spcPct val="150000"/>
              </a:lnSpc>
              <a:buNone/>
            </a:pPr>
            <a:r>
              <a:rPr lang="en-US" sz="1920" b="1" dirty="0">
                <a:solidFill>
                  <a:srgbClr val="000000"/>
                </a:solidFill>
                <a:latin typeface="思源黑体 CN Bold" pitchFamily="34" charset="0"/>
                <a:ea typeface="思源黑体 CN Bold" pitchFamily="34" charset="-122"/>
                <a:cs typeface="思源黑体 CN Bold" pitchFamily="34" charset="-120"/>
              </a:rPr>
              <a:t>看报告时盯三件事</a:t>
            </a:r>
            <a:endParaRPr lang="en-US" sz="1920" dirty="0"/>
          </a:p>
        </p:txBody>
      </p:sp>
      <p:pic>
        <p:nvPicPr>
          <p:cNvPr id="52" name="Image 25" descr="preencoded.png"/>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09600" y="5181600"/>
            <a:ext cx="3505200" cy="1311910"/>
          </a:xfrm>
          <a:prstGeom prst="rect">
            <a:avLst/>
          </a:prstGeom>
          <a:effectLst>
            <a:outerShdw blurRad="-2147483648" dist="1935480000" dir="-1" algn="bl" rotWithShape="0">
              <a:srgbClr val="000000">
                <a:alpha val="1000000000"/>
              </a:srgbClr>
            </a:outerShdw>
          </a:effectLst>
        </p:spPr>
      </p:pic>
      <p:sp>
        <p:nvSpPr>
          <p:cNvPr id="53" name="Text 25"/>
          <p:cNvSpPr/>
          <p:nvPr/>
        </p:nvSpPr>
        <p:spPr>
          <a:xfrm>
            <a:off x="792480" y="5394960"/>
            <a:ext cx="3148584" cy="320040"/>
          </a:xfrm>
          <a:prstGeom prst="rect">
            <a:avLst/>
          </a:prstGeom>
          <a:noFill/>
        </p:spPr>
        <p:txBody>
          <a:bodyPr wrap="none" lIns="0" tIns="0" rIns="0" bIns="0" rtlCol="0" anchor="t">
            <a:spAutoFit/>
          </a:bodyPr>
          <a:lstStyle/>
          <a:p>
            <a:pPr marL="0" indent="0" algn="l">
              <a:lnSpc>
                <a:spcPct val="100000"/>
              </a:lnSpc>
              <a:buNone/>
            </a:pPr>
            <a:r>
              <a:rPr lang="en-US" sz="1680" b="1" dirty="0">
                <a:solidFill>
                  <a:srgbClr val="000000"/>
                </a:solidFill>
                <a:latin typeface="思源黑体 CN Bold" pitchFamily="34" charset="0"/>
                <a:ea typeface="思源黑体 CN Bold" pitchFamily="34" charset="-122"/>
                <a:cs typeface="思源黑体 CN Bold" pitchFamily="34" charset="-120"/>
              </a:rPr>
              <a:t>等级怎么分</a:t>
            </a:r>
            <a:endParaRPr lang="en-US" sz="1680" dirty="0"/>
          </a:p>
        </p:txBody>
      </p:sp>
      <p:sp>
        <p:nvSpPr>
          <p:cNvPr id="54" name="Text 26"/>
          <p:cNvSpPr/>
          <p:nvPr/>
        </p:nvSpPr>
        <p:spPr>
          <a:xfrm>
            <a:off x="792480" y="5688330"/>
            <a:ext cx="3148584" cy="546259"/>
          </a:xfrm>
          <a:prstGeom prst="rect">
            <a:avLst/>
          </a:prstGeom>
          <a:noFill/>
        </p:spPr>
        <p:txBody>
          <a:bodyPr wrap="square" lIns="0" tIns="0" rIns="0" bIns="0" rtlCol="0" anchor="t">
            <a:spAutoFit/>
          </a:bodyPr>
          <a:lstStyle/>
          <a:p>
            <a:pPr marL="0" indent="0" algn="l">
              <a:lnSpc>
                <a:spcPct val="163000"/>
              </a:lnSpc>
              <a:buNone/>
            </a:pPr>
            <a:r>
              <a:rPr lang="en-US" sz="1320" dirty="0">
                <a:solidFill>
                  <a:srgbClr val="000000"/>
                </a:solidFill>
                <a:latin typeface="思源黑体 CN Regular" pitchFamily="34" charset="0"/>
                <a:ea typeface="思源黑体 CN Regular" pitchFamily="34" charset="-122"/>
                <a:cs typeface="思源黑体 CN Regular" pitchFamily="34" charset="-120"/>
              </a:rPr>
              <a:t>Critical 能被直接利用拿权限，High 还需要条件配合</a:t>
            </a:r>
            <a:endParaRPr lang="en-US" sz="1320" dirty="0"/>
          </a:p>
        </p:txBody>
      </p:sp>
      <p:pic>
        <p:nvPicPr>
          <p:cNvPr id="55" name="Image 26" descr="preencoded.png"/>
          <p:cNvPicPr>
            <a:picLocks noChangeAspect="1"/>
          </p:cNvPicPr>
          <p:nvPr/>
        </p:nvPicPr>
        <p:blipFill>
          <a:blip r:embed="rId20">
            <a:alphaModFix amt="50000"/>
            <a:extLst>
              <a:ext uri="{96DAC541-7B7A-43D3-8B79-37D633B846F1}">
                <asvg:svgBlip xmlns:asvg="http://schemas.microsoft.com/office/drawing/2016/SVG/main" r:embed="rId21"/>
              </a:ext>
            </a:extLst>
          </a:blip>
          <a:stretch>
            <a:fillRect/>
          </a:stretch>
        </p:blipFill>
        <p:spPr>
          <a:xfrm>
            <a:off x="3550920" y="5394960"/>
            <a:ext cx="365760" cy="365760"/>
          </a:xfrm>
          <a:prstGeom prst="rect">
            <a:avLst/>
          </a:prstGeom>
        </p:spPr>
      </p:pic>
      <p:pic>
        <p:nvPicPr>
          <p:cNvPr id="56" name="Image 27" descr="preencoded.png"/>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343400" y="5181600"/>
            <a:ext cx="3505200" cy="1311910"/>
          </a:xfrm>
          <a:prstGeom prst="rect">
            <a:avLst/>
          </a:prstGeom>
          <a:effectLst>
            <a:outerShdw blurRad="-2147483648" dist="1935480000" dir="-1" algn="bl" rotWithShape="0">
              <a:srgbClr val="000000">
                <a:alpha val="1000000000"/>
              </a:srgbClr>
            </a:outerShdw>
          </a:effectLst>
        </p:spPr>
      </p:pic>
      <p:sp>
        <p:nvSpPr>
          <p:cNvPr id="57" name="Text 27"/>
          <p:cNvSpPr/>
          <p:nvPr/>
        </p:nvSpPr>
        <p:spPr>
          <a:xfrm>
            <a:off x="4526280" y="5394960"/>
            <a:ext cx="3148584" cy="320040"/>
          </a:xfrm>
          <a:prstGeom prst="rect">
            <a:avLst/>
          </a:prstGeom>
          <a:noFill/>
        </p:spPr>
        <p:txBody>
          <a:bodyPr wrap="none" lIns="0" tIns="0" rIns="0" bIns="0" rtlCol="0" anchor="t">
            <a:spAutoFit/>
          </a:bodyPr>
          <a:lstStyle/>
          <a:p>
            <a:pPr marL="0" indent="0" algn="l">
              <a:lnSpc>
                <a:spcPct val="100000"/>
              </a:lnSpc>
              <a:buNone/>
            </a:pPr>
            <a:r>
              <a:rPr lang="en-US" sz="1680" b="1" dirty="0">
                <a:solidFill>
                  <a:srgbClr val="000000"/>
                </a:solidFill>
                <a:latin typeface="思源黑体 CN Bold" pitchFamily="34" charset="0"/>
                <a:ea typeface="思源黑体 CN Bold" pitchFamily="34" charset="-122"/>
                <a:cs typeface="思源黑体 CN Bold" pitchFamily="34" charset="-120"/>
              </a:rPr>
              <a:t>详情看什么</a:t>
            </a:r>
            <a:endParaRPr lang="en-US" sz="1680" dirty="0"/>
          </a:p>
        </p:txBody>
      </p:sp>
      <p:sp>
        <p:nvSpPr>
          <p:cNvPr id="58" name="Text 28"/>
          <p:cNvSpPr/>
          <p:nvPr/>
        </p:nvSpPr>
        <p:spPr>
          <a:xfrm>
            <a:off x="4526280" y="5761355"/>
            <a:ext cx="3148584" cy="273129"/>
          </a:xfrm>
          <a:prstGeom prst="rect">
            <a:avLst/>
          </a:prstGeom>
          <a:noFill/>
        </p:spPr>
        <p:txBody>
          <a:bodyPr wrap="square" lIns="0" tIns="0" rIns="0" bIns="0" rtlCol="0" anchor="t">
            <a:spAutoFit/>
          </a:bodyPr>
          <a:lstStyle/>
          <a:p>
            <a:pPr marL="0" indent="0" algn="l">
              <a:lnSpc>
                <a:spcPct val="163000"/>
              </a:lnSpc>
              <a:buNone/>
            </a:pPr>
            <a:r>
              <a:rPr lang="en-US" sz="1320" dirty="0">
                <a:solidFill>
                  <a:srgbClr val="000000"/>
                </a:solidFill>
                <a:latin typeface="思源黑体 CN Regular" pitchFamily="34" charset="0"/>
                <a:ea typeface="思源黑体 CN Regular" pitchFamily="34" charset="-122"/>
                <a:cs typeface="思源黑体 CN Regular" pitchFamily="34" charset="-120"/>
              </a:rPr>
              <a:t>漏洞描述、影响版本、修复建议，三样缺一不可</a:t>
            </a:r>
            <a:endParaRPr lang="en-US" sz="1320" dirty="0"/>
          </a:p>
        </p:txBody>
      </p:sp>
      <p:pic>
        <p:nvPicPr>
          <p:cNvPr id="59" name="Image 28" descr="preencoded.png"/>
          <p:cNvPicPr>
            <a:picLocks noChangeAspect="1"/>
          </p:cNvPicPr>
          <p:nvPr/>
        </p:nvPicPr>
        <p:blipFill>
          <a:blip r:embed="rId22">
            <a:alphaModFix amt="50000"/>
            <a:extLst>
              <a:ext uri="{96DAC541-7B7A-43D3-8B79-37D633B846F1}">
                <asvg:svgBlip xmlns:asvg="http://schemas.microsoft.com/office/drawing/2016/SVG/main" r:embed="rId23"/>
              </a:ext>
            </a:extLst>
          </a:blip>
          <a:stretch>
            <a:fillRect/>
          </a:stretch>
        </p:blipFill>
        <p:spPr>
          <a:xfrm>
            <a:off x="7299960" y="5394960"/>
            <a:ext cx="365760" cy="365760"/>
          </a:xfrm>
          <a:prstGeom prst="rect">
            <a:avLst/>
          </a:prstGeom>
        </p:spPr>
      </p:pic>
      <p:pic>
        <p:nvPicPr>
          <p:cNvPr id="60" name="Image 29" descr="preencoded.png"/>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8092440" y="5181600"/>
            <a:ext cx="3505200" cy="1296670"/>
          </a:xfrm>
          <a:prstGeom prst="rect">
            <a:avLst/>
          </a:prstGeom>
          <a:effectLst>
            <a:outerShdw blurRad="-2147483648" dist="1935480000" dir="-1" algn="bl" rotWithShape="0">
              <a:srgbClr val="000000">
                <a:alpha val="1000000000"/>
              </a:srgbClr>
            </a:outerShdw>
          </a:effectLst>
        </p:spPr>
      </p:pic>
      <p:sp>
        <p:nvSpPr>
          <p:cNvPr id="61" name="Text 29"/>
          <p:cNvSpPr/>
          <p:nvPr/>
        </p:nvSpPr>
        <p:spPr>
          <a:xfrm>
            <a:off x="8275320" y="5394960"/>
            <a:ext cx="3148584" cy="320040"/>
          </a:xfrm>
          <a:prstGeom prst="rect">
            <a:avLst/>
          </a:prstGeom>
          <a:noFill/>
        </p:spPr>
        <p:txBody>
          <a:bodyPr wrap="none" lIns="0" tIns="0" rIns="0" bIns="0" rtlCol="0" anchor="t">
            <a:spAutoFit/>
          </a:bodyPr>
          <a:lstStyle/>
          <a:p>
            <a:pPr marL="0" indent="0" algn="l">
              <a:lnSpc>
                <a:spcPct val="100000"/>
              </a:lnSpc>
              <a:buNone/>
            </a:pPr>
            <a:r>
              <a:rPr lang="en-US" sz="1680" b="1" dirty="0">
                <a:solidFill>
                  <a:srgbClr val="000000"/>
                </a:solidFill>
                <a:latin typeface="思源黑体 CN Bold" pitchFamily="34" charset="0"/>
                <a:ea typeface="思源黑体 CN Bold" pitchFamily="34" charset="-122"/>
                <a:cs typeface="思源黑体 CN Bold" pitchFamily="34" charset="-120"/>
              </a:rPr>
              <a:t>像不像误报</a:t>
            </a:r>
            <a:endParaRPr lang="en-US" sz="1680" dirty="0"/>
          </a:p>
        </p:txBody>
      </p:sp>
      <p:sp>
        <p:nvSpPr>
          <p:cNvPr id="62" name="Text 30"/>
          <p:cNvSpPr/>
          <p:nvPr/>
        </p:nvSpPr>
        <p:spPr>
          <a:xfrm>
            <a:off x="8275320" y="5761355"/>
            <a:ext cx="3148584" cy="297894"/>
          </a:xfrm>
          <a:prstGeom prst="rect">
            <a:avLst/>
          </a:prstGeom>
          <a:noFill/>
        </p:spPr>
        <p:txBody>
          <a:bodyPr wrap="none" lIns="0" tIns="0" rIns="0" bIns="0" rtlCol="0" anchor="t">
            <a:spAutoFit/>
          </a:bodyPr>
          <a:lstStyle/>
          <a:p>
            <a:pPr marL="0" indent="0" algn="l">
              <a:lnSpc>
                <a:spcPct val="10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只报版本号、给不出利用路径的，先按疑似误报处理</a:t>
            </a:r>
            <a:endParaRPr lang="en-US" sz="1440" dirty="0"/>
          </a:p>
        </p:txBody>
      </p:sp>
      <p:pic>
        <p:nvPicPr>
          <p:cNvPr id="63" name="Image 30" descr="preencoded.png"/>
          <p:cNvPicPr>
            <a:picLocks noChangeAspect="1"/>
          </p:cNvPicPr>
          <p:nvPr/>
        </p:nvPicPr>
        <p:blipFill>
          <a:blip r:embed="rId22">
            <a:alphaModFix amt="50000"/>
            <a:extLst>
              <a:ext uri="{96DAC541-7B7A-43D3-8B79-37D633B846F1}">
                <asvg:svgBlip xmlns:asvg="http://schemas.microsoft.com/office/drawing/2016/SVG/main" r:embed="rId23"/>
              </a:ext>
            </a:extLst>
          </a:blip>
          <a:stretch>
            <a:fillRect/>
          </a:stretch>
        </p:blipFill>
        <p:spPr>
          <a:xfrm>
            <a:off x="11033760" y="5394960"/>
            <a:ext cx="365760" cy="3657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web.static.jianzeppt.com/ppt-temp-img3/4bbf78d39a1ae7d50fa38e3b11fcab97.png"/>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4673282" y="897806"/>
            <a:ext cx="2863855" cy="493776"/>
          </a:xfrm>
          <a:prstGeom prst="rect">
            <a:avLst/>
          </a:prstGeom>
          <a:noFill/>
        </p:spPr>
        <p:txBody>
          <a:bodyPr wrap="square" lIns="0" tIns="0" rIns="0" bIns="0" rtlCol="0" anchor="b">
            <a:spAutoFit/>
          </a:bodyPr>
          <a:lstStyle/>
          <a:p>
            <a:pPr marL="0" indent="0" algn="ctr">
              <a:lnSpc>
                <a:spcPct val="120000"/>
              </a:lnSpc>
              <a:buNone/>
            </a:pPr>
            <a:r>
              <a:rPr lang="en-US" sz="3240" dirty="0">
                <a:solidFill>
                  <a:srgbClr val="FFFFFF"/>
                </a:solidFill>
              </a:rPr>
              <a:t>Part.03</a:t>
            </a:r>
            <a:endParaRPr lang="en-US" sz="3240" dirty="0"/>
          </a:p>
        </p:txBody>
      </p:sp>
      <p:sp>
        <p:nvSpPr>
          <p:cNvPr id="4" name="Text 1"/>
          <p:cNvSpPr/>
          <p:nvPr/>
        </p:nvSpPr>
        <p:spPr>
          <a:xfrm>
            <a:off x="771842" y="1617339"/>
            <a:ext cx="10666735" cy="804672"/>
          </a:xfrm>
          <a:prstGeom prst="rect">
            <a:avLst/>
          </a:prstGeom>
          <a:noFill/>
        </p:spPr>
        <p:txBody>
          <a:bodyPr wrap="none" lIns="0" tIns="0" rIns="0" bIns="0" rtlCol="0" anchor="b">
            <a:spAutoFit/>
          </a:bodyPr>
          <a:lstStyle/>
          <a:p>
            <a:pPr marL="0" indent="0" algn="ctr">
              <a:lnSpc>
                <a:spcPct val="100000"/>
              </a:lnSpc>
              <a:buNone/>
            </a:pPr>
            <a:r>
              <a:rPr lang="en-US" sz="5280" dirty="0">
                <a:solidFill>
                  <a:srgbClr val="FFFFFF"/>
                </a:solidFill>
              </a:rPr>
              <a:t>动手实验——西普平台漏洞扫描 + 结果分析</a:t>
            </a:r>
            <a:endParaRPr lang="en-US" sz="52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实验①做什么——跑一次完整扫描（V1 → V2）</a:t>
            </a:r>
            <a:endParaRPr lang="en-US" sz="2760" dirty="0"/>
          </a:p>
        </p:txBody>
      </p:sp>
      <p:pic>
        <p:nvPicPr>
          <p:cNvPr id="6" name="Image 3" descr="https://test.web.static.jianzeppt.com/ppt-temp-img3/9ddbafb3e5ab1f243d7b8738c366fbfe.png?x-oss-process=image/resize,w_1440,h_800,m_lfit/format,png"/>
          <p:cNvPicPr>
            <a:picLocks noChangeAspect="1"/>
          </p:cNvPicPr>
          <p:nvPr/>
        </p:nvPicPr>
        <p:blipFill>
          <a:blip r:embed="rId4"/>
          <a:stretch>
            <a:fillRect/>
          </a:stretch>
        </p:blipFill>
        <p:spPr>
          <a:xfrm>
            <a:off x="609600" y="1661160"/>
            <a:ext cx="10972800" cy="4617720"/>
          </a:xfrm>
          <a:prstGeom prst="rect">
            <a:avLst/>
          </a:prstGeom>
        </p:spPr>
      </p:pic>
      <p:pic>
        <p:nvPicPr>
          <p:cNvPr id="7" name="Image 4" descr="https://test.web.static.jianzeppt.com/ppt-temp-img3/ccceec788d07dfc506e65694a0e5160d.png?x-oss-process=image/resize,w_1440,h_800,m_lfit/format,png"/>
          <p:cNvPicPr>
            <a:picLocks noChangeAspect="1"/>
          </p:cNvPicPr>
          <p:nvPr/>
        </p:nvPicPr>
        <p:blipFill>
          <a:blip r:embed="rId5"/>
          <a:stretch>
            <a:fillRect/>
          </a:stretch>
        </p:blipFill>
        <p:spPr>
          <a:xfrm>
            <a:off x="624840" y="1676400"/>
            <a:ext cx="10942320" cy="746760"/>
          </a:xfrm>
          <a:prstGeom prst="rect">
            <a:avLst/>
          </a:prstGeom>
        </p:spPr>
      </p:pic>
      <p:sp>
        <p:nvSpPr>
          <p:cNvPr id="8" name="Text 1"/>
          <p:cNvSpPr/>
          <p:nvPr/>
        </p:nvSpPr>
        <p:spPr>
          <a:xfrm>
            <a:off x="868680" y="1859280"/>
            <a:ext cx="1350264" cy="365760"/>
          </a:xfrm>
          <a:prstGeom prst="rect">
            <a:avLst/>
          </a:prstGeom>
          <a:noFill/>
        </p:spPr>
        <p:txBody>
          <a:bodyPr wrap="none" lIns="0" tIns="0" rIns="0" bIns="0" rtlCol="0" anchor="t">
            <a:spAutoFit/>
          </a:bodyPr>
          <a:lstStyle/>
          <a:p>
            <a:pPr marL="0" indent="0" algn="l">
              <a:lnSpc>
                <a:spcPct val="150000"/>
              </a:lnSpc>
              <a:buNone/>
            </a:pPr>
            <a:r>
              <a:rPr lang="en-US" sz="1920" b="1" dirty="0">
                <a:solidFill>
                  <a:srgbClr val="000000"/>
                </a:solidFill>
                <a:latin typeface="思源黑体 CN Bold" pitchFamily="34" charset="0"/>
                <a:ea typeface="思源黑体 CN Bold" pitchFamily="34" charset="-122"/>
                <a:cs typeface="思源黑体 CN Bold" pitchFamily="34" charset="-120"/>
              </a:rPr>
              <a:t>项目</a:t>
            </a:r>
            <a:endParaRPr lang="en-US" sz="1920" dirty="0"/>
          </a:p>
        </p:txBody>
      </p:sp>
      <p:sp>
        <p:nvSpPr>
          <p:cNvPr id="9" name="Text 2"/>
          <p:cNvSpPr/>
          <p:nvPr/>
        </p:nvSpPr>
        <p:spPr>
          <a:xfrm>
            <a:off x="2697480" y="1859280"/>
            <a:ext cx="8634984" cy="365760"/>
          </a:xfrm>
          <a:prstGeom prst="rect">
            <a:avLst/>
          </a:prstGeom>
          <a:noFill/>
        </p:spPr>
        <p:txBody>
          <a:bodyPr wrap="none" lIns="0" tIns="0" rIns="0" bIns="0" rtlCol="0" anchor="t">
            <a:spAutoFit/>
          </a:bodyPr>
          <a:lstStyle/>
          <a:p>
            <a:pPr marL="0" indent="0" algn="l">
              <a:lnSpc>
                <a:spcPct val="150000"/>
              </a:lnSpc>
              <a:buNone/>
            </a:pPr>
            <a:r>
              <a:rPr lang="en-US" sz="1920" b="1" dirty="0">
                <a:solidFill>
                  <a:srgbClr val="000000"/>
                </a:solidFill>
                <a:latin typeface="思源黑体 CN Bold" pitchFamily="34" charset="0"/>
                <a:ea typeface="思源黑体 CN Bold" pitchFamily="34" charset="-122"/>
                <a:cs typeface="思源黑体 CN Bold" pitchFamily="34" charset="-120"/>
              </a:rPr>
              <a:t>说明</a:t>
            </a:r>
            <a:endParaRPr lang="en-US" sz="1920" dirty="0"/>
          </a:p>
        </p:txBody>
      </p:sp>
      <p:pic>
        <p:nvPicPr>
          <p:cNvPr id="10" name="Image 5" descr="https://test.web.static.jianzeppt.com/ppt-temp-img3/65542e5587d11f3b168fb2604f430d55.png?x-oss-process=image/resize,w_1440,h_800,m_lfit/format,png"/>
          <p:cNvPicPr>
            <a:picLocks noChangeAspect="1"/>
          </p:cNvPicPr>
          <p:nvPr/>
        </p:nvPicPr>
        <p:blipFill>
          <a:blip r:embed="rId6"/>
          <a:stretch>
            <a:fillRect/>
          </a:stretch>
        </p:blipFill>
        <p:spPr>
          <a:xfrm>
            <a:off x="624840" y="2413711"/>
            <a:ext cx="10942320" cy="15240"/>
          </a:xfrm>
          <a:prstGeom prst="rect">
            <a:avLst/>
          </a:prstGeom>
        </p:spPr>
      </p:pic>
      <p:pic>
        <p:nvPicPr>
          <p:cNvPr id="11" name="Image 6" descr="https://test.web.static.jianzeppt.com/ppt-temp-img3/53a67d341047a0a4eb9e2a8963b554cf.png?x-oss-process=image/resize,w_1440,h_800,m_lfit/format,png"/>
          <p:cNvPicPr>
            <a:picLocks noChangeAspect="1"/>
          </p:cNvPicPr>
          <p:nvPr/>
        </p:nvPicPr>
        <p:blipFill>
          <a:blip r:embed="rId7"/>
          <a:stretch>
            <a:fillRect/>
          </a:stretch>
        </p:blipFill>
        <p:spPr>
          <a:xfrm>
            <a:off x="624840" y="2407920"/>
            <a:ext cx="1828800" cy="731520"/>
          </a:xfrm>
          <a:prstGeom prst="rect">
            <a:avLst/>
          </a:prstGeom>
        </p:spPr>
      </p:pic>
      <p:sp>
        <p:nvSpPr>
          <p:cNvPr id="12" name="Text 3"/>
          <p:cNvSpPr/>
          <p:nvPr/>
        </p:nvSpPr>
        <p:spPr>
          <a:xfrm>
            <a:off x="868680" y="2606040"/>
            <a:ext cx="86258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latin typeface="思源黑体 CN Bold" pitchFamily="34" charset="0"/>
                <a:ea typeface="思源黑体 CN Bold" pitchFamily="34" charset="-122"/>
                <a:cs typeface="思源黑体 CN Bold" pitchFamily="34" charset="-120"/>
              </a:rPr>
              <a:t>实验名称</a:t>
            </a:r>
            <a:endParaRPr lang="en-US" sz="1680" dirty="0"/>
          </a:p>
        </p:txBody>
      </p:sp>
      <p:sp>
        <p:nvSpPr>
          <p:cNvPr id="13" name="Text 4"/>
          <p:cNvSpPr/>
          <p:nvPr/>
        </p:nvSpPr>
        <p:spPr>
          <a:xfrm>
            <a:off x="2697480" y="2590800"/>
            <a:ext cx="8634984" cy="350520"/>
          </a:xfrm>
          <a:prstGeom prst="rect">
            <a:avLst/>
          </a:prstGeom>
          <a:noFill/>
        </p:spPr>
        <p:txBody>
          <a:bodyPr wrap="none" lIns="0" tIns="0" rIns="0" bIns="0" rtlCol="0" anchor="t">
            <a:spAutoFit/>
          </a:bodyPr>
          <a:lstStyle/>
          <a:p>
            <a:pPr marL="0" indent="0" algn="l">
              <a:lnSpc>
                <a:spcPct val="163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漏洞扫描操作（西普平台：漏洞扫描工具使用 + Windows 漏洞扫描）</a:t>
            </a:r>
            <a:endParaRPr lang="en-US" sz="1680" dirty="0"/>
          </a:p>
        </p:txBody>
      </p:sp>
      <p:pic>
        <p:nvPicPr>
          <p:cNvPr id="14" name="Image 7" descr="https://test.web.static.jianzeppt.com/ppt-temp-img3/f07cc857527605928866fe5825d87123.png?x-oss-process=image/resize,w_1440,h_800,m_lfit/format,png"/>
          <p:cNvPicPr>
            <a:picLocks noChangeAspect="1"/>
          </p:cNvPicPr>
          <p:nvPr/>
        </p:nvPicPr>
        <p:blipFill>
          <a:blip r:embed="rId8"/>
          <a:stretch>
            <a:fillRect/>
          </a:stretch>
        </p:blipFill>
        <p:spPr>
          <a:xfrm>
            <a:off x="624840" y="3141421"/>
            <a:ext cx="10942320" cy="15240"/>
          </a:xfrm>
          <a:prstGeom prst="rect">
            <a:avLst/>
          </a:prstGeom>
        </p:spPr>
      </p:pic>
      <p:pic>
        <p:nvPicPr>
          <p:cNvPr id="15" name="Image 8" descr="https://test.web.static.jianzeppt.com/ppt-temp-img3/53a67d341047a0a4eb9e2a8963b554cf.png?x-oss-process=image/resize,w_1440,h_800,m_lfit/format,png"/>
          <p:cNvPicPr>
            <a:picLocks noChangeAspect="1"/>
          </p:cNvPicPr>
          <p:nvPr/>
        </p:nvPicPr>
        <p:blipFill>
          <a:blip r:embed="rId7"/>
          <a:stretch>
            <a:fillRect/>
          </a:stretch>
        </p:blipFill>
        <p:spPr>
          <a:xfrm>
            <a:off x="624840" y="3139440"/>
            <a:ext cx="1828800" cy="731520"/>
          </a:xfrm>
          <a:prstGeom prst="rect">
            <a:avLst/>
          </a:prstGeom>
        </p:spPr>
      </p:pic>
      <p:sp>
        <p:nvSpPr>
          <p:cNvPr id="16" name="Text 5"/>
          <p:cNvSpPr/>
          <p:nvPr/>
        </p:nvSpPr>
        <p:spPr>
          <a:xfrm>
            <a:off x="868680" y="3337560"/>
            <a:ext cx="86258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latin typeface="思源黑体 CN Bold" pitchFamily="34" charset="0"/>
                <a:ea typeface="思源黑体 CN Bold" pitchFamily="34" charset="-122"/>
                <a:cs typeface="思源黑体 CN Bold" pitchFamily="34" charset="-120"/>
              </a:rPr>
              <a:t>实验环境</a:t>
            </a:r>
            <a:endParaRPr lang="en-US" sz="1680" dirty="0"/>
          </a:p>
        </p:txBody>
      </p:sp>
      <p:sp>
        <p:nvSpPr>
          <p:cNvPr id="17" name="Text 6"/>
          <p:cNvSpPr/>
          <p:nvPr/>
        </p:nvSpPr>
        <p:spPr>
          <a:xfrm>
            <a:off x="2697480" y="3322320"/>
            <a:ext cx="8634984" cy="350520"/>
          </a:xfrm>
          <a:prstGeom prst="rect">
            <a:avLst/>
          </a:prstGeom>
          <a:noFill/>
        </p:spPr>
        <p:txBody>
          <a:bodyPr wrap="none" lIns="0" tIns="0" rIns="0" bIns="0" rtlCol="0" anchor="t">
            <a:spAutoFit/>
          </a:bodyPr>
          <a:lstStyle/>
          <a:p>
            <a:pPr marL="0" indent="0" algn="l">
              <a:lnSpc>
                <a:spcPct val="163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西普实验平台（10.11.0.70）「漏洞扫描与结果分析」实验：V1 漏洞扫描工具使用 → V2 Windows 漏洞扫描</a:t>
            </a:r>
            <a:endParaRPr lang="en-US" sz="1680" dirty="0"/>
          </a:p>
        </p:txBody>
      </p:sp>
      <p:pic>
        <p:nvPicPr>
          <p:cNvPr id="18" name="Image 9" descr="https://test.web.static.jianzeppt.com/ppt-temp-img3/f07cc857527605928866fe5825d87123.png?x-oss-process=image/resize,w_1440,h_800,m_lfit/format,png"/>
          <p:cNvPicPr>
            <a:picLocks noChangeAspect="1"/>
          </p:cNvPicPr>
          <p:nvPr/>
        </p:nvPicPr>
        <p:blipFill>
          <a:blip r:embed="rId8"/>
          <a:stretch>
            <a:fillRect/>
          </a:stretch>
        </p:blipFill>
        <p:spPr>
          <a:xfrm>
            <a:off x="624840" y="3869131"/>
            <a:ext cx="10942320" cy="15240"/>
          </a:xfrm>
          <a:prstGeom prst="rect">
            <a:avLst/>
          </a:prstGeom>
        </p:spPr>
      </p:pic>
      <p:pic>
        <p:nvPicPr>
          <p:cNvPr id="19" name="Image 10" descr="https://test.web.static.jianzeppt.com/ppt-temp-img3/be65787a8704fe4c39f682b043e27a5c.png?x-oss-process=image/resize,w_1440,h_800,m_lfit/format,png"/>
          <p:cNvPicPr>
            <a:picLocks noChangeAspect="1"/>
          </p:cNvPicPr>
          <p:nvPr/>
        </p:nvPicPr>
        <p:blipFill>
          <a:blip r:embed="rId9"/>
          <a:stretch>
            <a:fillRect/>
          </a:stretch>
        </p:blipFill>
        <p:spPr>
          <a:xfrm>
            <a:off x="624840" y="3870960"/>
            <a:ext cx="1828800" cy="1661160"/>
          </a:xfrm>
          <a:prstGeom prst="rect">
            <a:avLst/>
          </a:prstGeom>
        </p:spPr>
      </p:pic>
      <p:sp>
        <p:nvSpPr>
          <p:cNvPr id="20" name="Text 7"/>
          <p:cNvSpPr/>
          <p:nvPr/>
        </p:nvSpPr>
        <p:spPr>
          <a:xfrm>
            <a:off x="868680" y="4541520"/>
            <a:ext cx="86258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latin typeface="思源黑体 CN Bold" pitchFamily="34" charset="0"/>
                <a:ea typeface="思源黑体 CN Bold" pitchFamily="34" charset="-122"/>
                <a:cs typeface="思源黑体 CN Bold" pitchFamily="34" charset="-120"/>
              </a:rPr>
              <a:t>操作步骤</a:t>
            </a:r>
            <a:endParaRPr lang="en-US" sz="1680" dirty="0"/>
          </a:p>
        </p:txBody>
      </p:sp>
      <p:pic>
        <p:nvPicPr>
          <p:cNvPr id="21" name="Image 11"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697480" y="4114800"/>
            <a:ext cx="2712720" cy="487680"/>
          </a:xfrm>
          <a:prstGeom prst="rect">
            <a:avLst/>
          </a:prstGeom>
        </p:spPr>
      </p:pic>
      <p:pic>
        <p:nvPicPr>
          <p:cNvPr id="22" name="Image 12" descr="https://test.web.static.jianzeppt.com/ppt-temp-img3/f0606bf284e6889b92a2ba364620ce2e.png?x-oss-process=image/resize,w_1440,h_800,m_lfit/format,png"/>
          <p:cNvPicPr>
            <a:picLocks noChangeAspect="1"/>
          </p:cNvPicPr>
          <p:nvPr/>
        </p:nvPicPr>
        <p:blipFill>
          <a:blip r:embed="rId12"/>
          <a:stretch>
            <a:fillRect/>
          </a:stretch>
        </p:blipFill>
        <p:spPr>
          <a:xfrm>
            <a:off x="2880360" y="4206240"/>
            <a:ext cx="304800" cy="304800"/>
          </a:xfrm>
          <a:prstGeom prst="rect">
            <a:avLst/>
          </a:prstGeom>
        </p:spPr>
      </p:pic>
      <p:sp>
        <p:nvSpPr>
          <p:cNvPr id="23" name="Text 8"/>
          <p:cNvSpPr/>
          <p:nvPr/>
        </p:nvSpPr>
        <p:spPr>
          <a:xfrm>
            <a:off x="2987040" y="4221480"/>
            <a:ext cx="115824" cy="259080"/>
          </a:xfrm>
          <a:prstGeom prst="rect">
            <a:avLst/>
          </a:prstGeom>
          <a:noFill/>
        </p:spPr>
        <p:txBody>
          <a:bodyPr wrap="none" lIns="0" tIns="0" rIns="0" bIns="0" rtlCol="0" anchor="ctr"/>
          <a:lstStyle/>
          <a:p>
            <a:pPr marL="0" indent="0" algn="l">
              <a:lnSpc>
                <a:spcPct val="150000"/>
              </a:lnSpc>
              <a:buNone/>
            </a:pPr>
            <a:r>
              <a:rPr lang="en-US" sz="1440" dirty="0">
                <a:solidFill>
                  <a:srgbClr val="FFFFFF">
                    <a:alpha val="90000"/>
                  </a:srgbClr>
                </a:solidFill>
                <a:latin typeface="思源黑体 CN Bold" pitchFamily="34" charset="0"/>
                <a:ea typeface="思源黑体 CN Bold" pitchFamily="34" charset="-122"/>
                <a:cs typeface="思源黑体 CN Bold" pitchFamily="34" charset="-120"/>
              </a:rPr>
              <a:t>1</a:t>
            </a:r>
            <a:endParaRPr lang="en-US" sz="1440" dirty="0"/>
          </a:p>
        </p:txBody>
      </p:sp>
      <p:sp>
        <p:nvSpPr>
          <p:cNvPr id="24" name="Text 9"/>
          <p:cNvSpPr/>
          <p:nvPr/>
        </p:nvSpPr>
        <p:spPr>
          <a:xfrm>
            <a:off x="3276600" y="4221480"/>
            <a:ext cx="1959864" cy="259080"/>
          </a:xfrm>
          <a:prstGeom prst="rect">
            <a:avLst/>
          </a:prstGeom>
          <a:noFill/>
        </p:spPr>
        <p:txBody>
          <a:bodyPr wrap="none" lIns="0" tIns="0" rIns="0" bIns="0" rtlCol="0" anchor="ctr"/>
          <a:lstStyle/>
          <a:p>
            <a:pPr marL="0" indent="0" algn="l">
              <a:lnSpc>
                <a:spcPct val="150000"/>
              </a:lnSpc>
              <a:buNone/>
            </a:pPr>
            <a:r>
              <a:rPr lang="en-US" sz="1440" dirty="0">
                <a:solidFill>
                  <a:srgbClr val="FFFFFF">
                    <a:alpha val="90000"/>
                  </a:srgbClr>
                </a:solidFill>
                <a:latin typeface="思源黑体 CN Bold" pitchFamily="34" charset="0"/>
                <a:ea typeface="思源黑体 CN Bold" pitchFamily="34" charset="-122"/>
                <a:cs typeface="思源黑体 CN Bold" pitchFamily="34" charset="-120"/>
              </a:rPr>
              <a:t>登录平台，进入「漏洞扫描与结果分析」→「漏洞扫描工具使用」（V1）</a:t>
            </a:r>
            <a:endParaRPr lang="en-US" sz="1440" dirty="0"/>
          </a:p>
        </p:txBody>
      </p:sp>
      <p:pic>
        <p:nvPicPr>
          <p:cNvPr id="25" name="Image 13" descr="https://test.web.static.jianzeppt.com/ppt-temp-img3/b6dfbf52b5d4315a829089da1e4c0aa1.png?x-oss-process=image/resize,w_1440,h_800,m_lfit/format,png"/>
          <p:cNvPicPr>
            <a:picLocks noChangeAspect="1"/>
          </p:cNvPicPr>
          <p:nvPr/>
        </p:nvPicPr>
        <p:blipFill>
          <a:blip r:embed="rId13"/>
          <a:stretch>
            <a:fillRect/>
          </a:stretch>
        </p:blipFill>
        <p:spPr>
          <a:xfrm>
            <a:off x="5516880" y="4221480"/>
            <a:ext cx="274320" cy="274320"/>
          </a:xfrm>
          <a:prstGeom prst="rect">
            <a:avLst/>
          </a:prstGeom>
        </p:spPr>
      </p:pic>
      <p:pic>
        <p:nvPicPr>
          <p:cNvPr id="26" name="Image 14" descr="preencoded.png"/>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897880" y="4114800"/>
            <a:ext cx="3779520" cy="487680"/>
          </a:xfrm>
          <a:prstGeom prst="rect">
            <a:avLst/>
          </a:prstGeom>
        </p:spPr>
      </p:pic>
      <p:pic>
        <p:nvPicPr>
          <p:cNvPr id="27" name="Image 15" descr="https://test.web.static.jianzeppt.com/ppt-temp-img3/f0606bf284e6889b92a2ba364620ce2e.png?x-oss-process=image/resize,w_1440,h_800,m_lfit/format,png"/>
          <p:cNvPicPr>
            <a:picLocks noChangeAspect="1"/>
          </p:cNvPicPr>
          <p:nvPr/>
        </p:nvPicPr>
        <p:blipFill>
          <a:blip r:embed="rId12"/>
          <a:stretch>
            <a:fillRect/>
          </a:stretch>
        </p:blipFill>
        <p:spPr>
          <a:xfrm>
            <a:off x="6080760" y="4206240"/>
            <a:ext cx="304800" cy="304800"/>
          </a:xfrm>
          <a:prstGeom prst="rect">
            <a:avLst/>
          </a:prstGeom>
        </p:spPr>
      </p:pic>
      <p:sp>
        <p:nvSpPr>
          <p:cNvPr id="28" name="Text 10"/>
          <p:cNvSpPr/>
          <p:nvPr/>
        </p:nvSpPr>
        <p:spPr>
          <a:xfrm>
            <a:off x="6172200" y="4221480"/>
            <a:ext cx="115824" cy="259080"/>
          </a:xfrm>
          <a:prstGeom prst="rect">
            <a:avLst/>
          </a:prstGeom>
          <a:noFill/>
        </p:spPr>
        <p:txBody>
          <a:bodyPr wrap="none" lIns="0" tIns="0" rIns="0" bIns="0" rtlCol="0" anchor="ctr"/>
          <a:lstStyle/>
          <a:p>
            <a:pPr marL="0" indent="0" algn="l">
              <a:lnSpc>
                <a:spcPct val="150000"/>
              </a:lnSpc>
              <a:buNone/>
            </a:pPr>
            <a:r>
              <a:rPr lang="en-US" sz="1440" dirty="0">
                <a:solidFill>
                  <a:srgbClr val="FFFFFF">
                    <a:alpha val="90000"/>
                  </a:srgbClr>
                </a:solidFill>
                <a:latin typeface="思源黑体 CN Bold" pitchFamily="34" charset="0"/>
                <a:ea typeface="思源黑体 CN Bold" pitchFamily="34" charset="-122"/>
                <a:cs typeface="思源黑体 CN Bold" pitchFamily="34" charset="-120"/>
              </a:rPr>
              <a:t>2</a:t>
            </a:r>
            <a:endParaRPr lang="en-US" sz="1440" dirty="0"/>
          </a:p>
        </p:txBody>
      </p:sp>
      <p:sp>
        <p:nvSpPr>
          <p:cNvPr id="29" name="Text 11"/>
          <p:cNvSpPr/>
          <p:nvPr/>
        </p:nvSpPr>
        <p:spPr>
          <a:xfrm>
            <a:off x="6477000" y="4221480"/>
            <a:ext cx="3026664" cy="259080"/>
          </a:xfrm>
          <a:prstGeom prst="rect">
            <a:avLst/>
          </a:prstGeom>
          <a:noFill/>
        </p:spPr>
        <p:txBody>
          <a:bodyPr wrap="none" lIns="0" tIns="0" rIns="0" bIns="0" rtlCol="0" anchor="ctr"/>
          <a:lstStyle/>
          <a:p>
            <a:pPr marL="0" indent="0" algn="l">
              <a:lnSpc>
                <a:spcPct val="150000"/>
              </a:lnSpc>
              <a:buNone/>
            </a:pPr>
            <a:r>
              <a:rPr lang="en-US" sz="1440" dirty="0">
                <a:solidFill>
                  <a:srgbClr val="FFFFFF">
                    <a:alpha val="90000"/>
                  </a:srgbClr>
                </a:solidFill>
                <a:latin typeface="思源黑体 CN Bold" pitchFamily="34" charset="0"/>
                <a:ea typeface="思源黑体 CN Bold" pitchFamily="34" charset="-122"/>
                <a:cs typeface="思源黑体 CN Bold" pitchFamily="34" charset="-120"/>
              </a:rPr>
              <a:t>熟悉任务配置、模板选择与结果查看，跑通一次扫描</a:t>
            </a:r>
            <a:endParaRPr lang="en-US" sz="1440" dirty="0"/>
          </a:p>
        </p:txBody>
      </p:sp>
      <p:pic>
        <p:nvPicPr>
          <p:cNvPr id="30" name="Image 16" descr="https://test.web.static.jianzeppt.com/ppt-temp-img3/b6dfbf52b5d4315a829089da1e4c0aa1.png?x-oss-process=image/resize,w_1440,h_800,m_lfit/format,png"/>
          <p:cNvPicPr>
            <a:picLocks noChangeAspect="1"/>
          </p:cNvPicPr>
          <p:nvPr/>
        </p:nvPicPr>
        <p:blipFill>
          <a:blip r:embed="rId13"/>
          <a:stretch>
            <a:fillRect/>
          </a:stretch>
        </p:blipFill>
        <p:spPr>
          <a:xfrm>
            <a:off x="9768840" y="4221480"/>
            <a:ext cx="274320" cy="274320"/>
          </a:xfrm>
          <a:prstGeom prst="rect">
            <a:avLst/>
          </a:prstGeom>
        </p:spPr>
      </p:pic>
      <p:pic>
        <p:nvPicPr>
          <p:cNvPr id="31" name="Image 17" descr="preencoded.png"/>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697480" y="4785360"/>
            <a:ext cx="1874520" cy="487680"/>
          </a:xfrm>
          <a:prstGeom prst="rect">
            <a:avLst/>
          </a:prstGeom>
        </p:spPr>
      </p:pic>
      <p:pic>
        <p:nvPicPr>
          <p:cNvPr id="32" name="Image 18" descr="https://test.web.static.jianzeppt.com/ppt-temp-img3/f0606bf284e6889b92a2ba364620ce2e.png?x-oss-process=image/resize,w_1440,h_800,m_lfit/format,png"/>
          <p:cNvPicPr>
            <a:picLocks noChangeAspect="1"/>
          </p:cNvPicPr>
          <p:nvPr/>
        </p:nvPicPr>
        <p:blipFill>
          <a:blip r:embed="rId12"/>
          <a:stretch>
            <a:fillRect/>
          </a:stretch>
        </p:blipFill>
        <p:spPr>
          <a:xfrm>
            <a:off x="2880360" y="4876800"/>
            <a:ext cx="304800" cy="304800"/>
          </a:xfrm>
          <a:prstGeom prst="rect">
            <a:avLst/>
          </a:prstGeom>
        </p:spPr>
      </p:pic>
      <p:sp>
        <p:nvSpPr>
          <p:cNvPr id="33" name="Text 12"/>
          <p:cNvSpPr/>
          <p:nvPr/>
        </p:nvSpPr>
        <p:spPr>
          <a:xfrm>
            <a:off x="2987040" y="4892040"/>
            <a:ext cx="115824" cy="259080"/>
          </a:xfrm>
          <a:prstGeom prst="rect">
            <a:avLst/>
          </a:prstGeom>
          <a:noFill/>
        </p:spPr>
        <p:txBody>
          <a:bodyPr wrap="none" lIns="0" tIns="0" rIns="0" bIns="0" rtlCol="0" anchor="ctr"/>
          <a:lstStyle/>
          <a:p>
            <a:pPr marL="0" indent="0" algn="l">
              <a:lnSpc>
                <a:spcPct val="150000"/>
              </a:lnSpc>
              <a:buNone/>
            </a:pPr>
            <a:r>
              <a:rPr lang="en-US" sz="1440" dirty="0">
                <a:solidFill>
                  <a:srgbClr val="FFFFFF">
                    <a:alpha val="90000"/>
                  </a:srgbClr>
                </a:solidFill>
                <a:latin typeface="思源黑体 CN Bold" pitchFamily="34" charset="0"/>
                <a:ea typeface="思源黑体 CN Bold" pitchFamily="34" charset="-122"/>
                <a:cs typeface="思源黑体 CN Bold" pitchFamily="34" charset="-120"/>
              </a:rPr>
              <a:t>3</a:t>
            </a:r>
            <a:endParaRPr lang="en-US" sz="1440" dirty="0"/>
          </a:p>
        </p:txBody>
      </p:sp>
      <p:sp>
        <p:nvSpPr>
          <p:cNvPr id="34" name="Text 13"/>
          <p:cNvSpPr/>
          <p:nvPr/>
        </p:nvSpPr>
        <p:spPr>
          <a:xfrm>
            <a:off x="3276600" y="4892040"/>
            <a:ext cx="1121664" cy="259080"/>
          </a:xfrm>
          <a:prstGeom prst="rect">
            <a:avLst/>
          </a:prstGeom>
          <a:noFill/>
        </p:spPr>
        <p:txBody>
          <a:bodyPr wrap="none" lIns="0" tIns="0" rIns="0" bIns="0" rtlCol="0" anchor="ctr"/>
          <a:lstStyle/>
          <a:p>
            <a:pPr marL="0" indent="0" algn="l">
              <a:lnSpc>
                <a:spcPct val="150000"/>
              </a:lnSpc>
              <a:buNone/>
            </a:pPr>
            <a:r>
              <a:rPr lang="en-US" sz="1440" dirty="0">
                <a:solidFill>
                  <a:srgbClr val="FFFFFF">
                    <a:alpha val="90000"/>
                  </a:srgbClr>
                </a:solidFill>
                <a:latin typeface="思源黑体 CN Bold" pitchFamily="34" charset="0"/>
                <a:ea typeface="思源黑体 CN Bold" pitchFamily="34" charset="-122"/>
                <a:cs typeface="思源黑体 CN Bold" pitchFamily="34" charset="-120"/>
              </a:rPr>
              <a:t>进入「Windows 漏洞扫描」（V2），对平台 Windows 靶机新建扫描任务</a:t>
            </a:r>
            <a:endParaRPr lang="en-US" sz="1440" dirty="0"/>
          </a:p>
        </p:txBody>
      </p:sp>
      <p:pic>
        <p:nvPicPr>
          <p:cNvPr id="35" name="Image 19" descr="https://test.web.static.jianzeppt.com/ppt-temp-img3/b6dfbf52b5d4315a829089da1e4c0aa1.png?x-oss-process=image/resize,w_1440,h_800,m_lfit/format,png"/>
          <p:cNvPicPr>
            <a:picLocks noChangeAspect="1"/>
          </p:cNvPicPr>
          <p:nvPr/>
        </p:nvPicPr>
        <p:blipFill>
          <a:blip r:embed="rId13"/>
          <a:stretch>
            <a:fillRect/>
          </a:stretch>
        </p:blipFill>
        <p:spPr>
          <a:xfrm>
            <a:off x="4663440" y="4892040"/>
            <a:ext cx="274320" cy="274320"/>
          </a:xfrm>
          <a:prstGeom prst="rect">
            <a:avLst/>
          </a:prstGeom>
        </p:spPr>
      </p:pic>
      <p:pic>
        <p:nvPicPr>
          <p:cNvPr id="36" name="Image 20" descr="preencoded.png"/>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5044440" y="4785360"/>
            <a:ext cx="1508760" cy="487680"/>
          </a:xfrm>
          <a:prstGeom prst="rect">
            <a:avLst/>
          </a:prstGeom>
        </p:spPr>
      </p:pic>
      <p:pic>
        <p:nvPicPr>
          <p:cNvPr id="37" name="Image 21" descr="https://test.web.static.jianzeppt.com/ppt-temp-img3/f0606bf284e6889b92a2ba364620ce2e.png?x-oss-process=image/resize,w_1440,h_800,m_lfit/format,png"/>
          <p:cNvPicPr>
            <a:picLocks noChangeAspect="1"/>
          </p:cNvPicPr>
          <p:nvPr/>
        </p:nvPicPr>
        <p:blipFill>
          <a:blip r:embed="rId12"/>
          <a:stretch>
            <a:fillRect/>
          </a:stretch>
        </p:blipFill>
        <p:spPr>
          <a:xfrm>
            <a:off x="5227320" y="4876800"/>
            <a:ext cx="304800" cy="304800"/>
          </a:xfrm>
          <a:prstGeom prst="rect">
            <a:avLst/>
          </a:prstGeom>
        </p:spPr>
      </p:pic>
      <p:sp>
        <p:nvSpPr>
          <p:cNvPr id="38" name="Text 14"/>
          <p:cNvSpPr/>
          <p:nvPr/>
        </p:nvSpPr>
        <p:spPr>
          <a:xfrm>
            <a:off x="5334000" y="4892040"/>
            <a:ext cx="115824" cy="259080"/>
          </a:xfrm>
          <a:prstGeom prst="rect">
            <a:avLst/>
          </a:prstGeom>
          <a:noFill/>
        </p:spPr>
        <p:txBody>
          <a:bodyPr wrap="none" lIns="0" tIns="0" rIns="0" bIns="0" rtlCol="0" anchor="ctr"/>
          <a:lstStyle/>
          <a:p>
            <a:pPr marL="0" indent="0" algn="l">
              <a:lnSpc>
                <a:spcPct val="150000"/>
              </a:lnSpc>
              <a:buNone/>
            </a:pPr>
            <a:r>
              <a:rPr lang="en-US" sz="1440" dirty="0">
                <a:solidFill>
                  <a:srgbClr val="FFFFFF">
                    <a:alpha val="90000"/>
                  </a:srgbClr>
                </a:solidFill>
                <a:latin typeface="思源黑体 CN Bold" pitchFamily="34" charset="0"/>
                <a:ea typeface="思源黑体 CN Bold" pitchFamily="34" charset="-122"/>
                <a:cs typeface="思源黑体 CN Bold" pitchFamily="34" charset="-120"/>
              </a:rPr>
              <a:t>4</a:t>
            </a:r>
            <a:endParaRPr lang="en-US" sz="1440" dirty="0"/>
          </a:p>
        </p:txBody>
      </p:sp>
      <p:sp>
        <p:nvSpPr>
          <p:cNvPr id="39" name="Text 15"/>
          <p:cNvSpPr/>
          <p:nvPr/>
        </p:nvSpPr>
        <p:spPr>
          <a:xfrm>
            <a:off x="5623560" y="4892040"/>
            <a:ext cx="755904" cy="259080"/>
          </a:xfrm>
          <a:prstGeom prst="rect">
            <a:avLst/>
          </a:prstGeom>
          <a:noFill/>
        </p:spPr>
        <p:txBody>
          <a:bodyPr wrap="none" lIns="0" tIns="0" rIns="0" bIns="0" rtlCol="0" anchor="ctr"/>
          <a:lstStyle/>
          <a:p>
            <a:pPr marL="0" indent="0" algn="l">
              <a:lnSpc>
                <a:spcPct val="150000"/>
              </a:lnSpc>
              <a:buNone/>
            </a:pPr>
            <a:r>
              <a:rPr lang="en-US" sz="1440" dirty="0">
                <a:solidFill>
                  <a:srgbClr val="FFFFFF">
                    <a:alpha val="90000"/>
                  </a:srgbClr>
                </a:solidFill>
                <a:latin typeface="思源黑体 CN Bold" pitchFamily="34" charset="0"/>
                <a:ea typeface="思源黑体 CN Bold" pitchFamily="34" charset="-122"/>
                <a:cs typeface="思源黑体 CN Bold" pitchFamily="34" charset="-120"/>
              </a:rPr>
              <a:t>启动扫描，等进度跑完（约 5~10 分钟，别中途关页面）</a:t>
            </a:r>
            <a:endParaRPr lang="en-US" sz="1440" dirty="0"/>
          </a:p>
        </p:txBody>
      </p:sp>
      <p:pic>
        <p:nvPicPr>
          <p:cNvPr id="40" name="Image 22" descr="https://test.web.static.jianzeppt.com/ppt-temp-img3/b6dfbf52b5d4315a829089da1e4c0aa1.png?x-oss-process=image/resize,w_1440,h_800,m_lfit/format,png"/>
          <p:cNvPicPr>
            <a:picLocks noChangeAspect="1"/>
          </p:cNvPicPr>
          <p:nvPr/>
        </p:nvPicPr>
        <p:blipFill>
          <a:blip r:embed="rId13"/>
          <a:stretch>
            <a:fillRect/>
          </a:stretch>
        </p:blipFill>
        <p:spPr>
          <a:xfrm>
            <a:off x="6644640" y="4892040"/>
            <a:ext cx="274320" cy="274320"/>
          </a:xfrm>
          <a:prstGeom prst="rect">
            <a:avLst/>
          </a:prstGeom>
        </p:spPr>
      </p:pic>
      <p:pic>
        <p:nvPicPr>
          <p:cNvPr id="41" name="Image 23" descr="preencoded.png"/>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7025640" y="4785360"/>
            <a:ext cx="1508760" cy="487680"/>
          </a:xfrm>
          <a:prstGeom prst="rect">
            <a:avLst/>
          </a:prstGeom>
        </p:spPr>
      </p:pic>
      <p:pic>
        <p:nvPicPr>
          <p:cNvPr id="42" name="Image 24" descr="https://test.web.static.jianzeppt.com/ppt-temp-img3/f0606bf284e6889b92a2ba364620ce2e.png?x-oss-process=image/resize,w_1440,h_800,m_lfit/format,png"/>
          <p:cNvPicPr>
            <a:picLocks noChangeAspect="1"/>
          </p:cNvPicPr>
          <p:nvPr/>
        </p:nvPicPr>
        <p:blipFill>
          <a:blip r:embed="rId12"/>
          <a:stretch>
            <a:fillRect/>
          </a:stretch>
        </p:blipFill>
        <p:spPr>
          <a:xfrm>
            <a:off x="7208520" y="4876800"/>
            <a:ext cx="304800" cy="304800"/>
          </a:xfrm>
          <a:prstGeom prst="rect">
            <a:avLst/>
          </a:prstGeom>
        </p:spPr>
      </p:pic>
      <p:sp>
        <p:nvSpPr>
          <p:cNvPr id="43" name="Text 16"/>
          <p:cNvSpPr/>
          <p:nvPr/>
        </p:nvSpPr>
        <p:spPr>
          <a:xfrm>
            <a:off x="7315200" y="4892040"/>
            <a:ext cx="115824" cy="259080"/>
          </a:xfrm>
          <a:prstGeom prst="rect">
            <a:avLst/>
          </a:prstGeom>
          <a:noFill/>
        </p:spPr>
        <p:txBody>
          <a:bodyPr wrap="none" lIns="0" tIns="0" rIns="0" bIns="0" rtlCol="0" anchor="ctr"/>
          <a:lstStyle/>
          <a:p>
            <a:pPr marL="0" indent="0" algn="l">
              <a:lnSpc>
                <a:spcPct val="150000"/>
              </a:lnSpc>
              <a:buNone/>
            </a:pPr>
            <a:r>
              <a:rPr lang="en-US" sz="1440" dirty="0">
                <a:solidFill>
                  <a:srgbClr val="FFFFFF">
                    <a:alpha val="90000"/>
                  </a:srgbClr>
                </a:solidFill>
                <a:latin typeface="思源黑体 CN Bold" pitchFamily="34" charset="0"/>
                <a:ea typeface="思源黑体 CN Bold" pitchFamily="34" charset="-122"/>
                <a:cs typeface="思源黑体 CN Bold" pitchFamily="34" charset="-120"/>
              </a:rPr>
              <a:t>5</a:t>
            </a:r>
            <a:endParaRPr lang="en-US" sz="1440" dirty="0"/>
          </a:p>
        </p:txBody>
      </p:sp>
      <p:sp>
        <p:nvSpPr>
          <p:cNvPr id="44" name="Text 17"/>
          <p:cNvSpPr/>
          <p:nvPr/>
        </p:nvSpPr>
        <p:spPr>
          <a:xfrm>
            <a:off x="7604760" y="4892040"/>
            <a:ext cx="755904" cy="259080"/>
          </a:xfrm>
          <a:prstGeom prst="rect">
            <a:avLst/>
          </a:prstGeom>
          <a:noFill/>
        </p:spPr>
        <p:txBody>
          <a:bodyPr wrap="none" lIns="0" tIns="0" rIns="0" bIns="0" rtlCol="0" anchor="ctr"/>
          <a:lstStyle/>
          <a:p>
            <a:pPr marL="0" indent="0" algn="l">
              <a:lnSpc>
                <a:spcPct val="150000"/>
              </a:lnSpc>
              <a:buNone/>
            </a:pPr>
            <a:r>
              <a:rPr lang="en-US" sz="1440" dirty="0">
                <a:solidFill>
                  <a:srgbClr val="FFFFFF">
                    <a:alpha val="90000"/>
                  </a:srgbClr>
                </a:solidFill>
                <a:latin typeface="思源黑体 CN Bold" pitchFamily="34" charset="0"/>
                <a:ea typeface="思源黑体 CN Bold" pitchFamily="34" charset="-122"/>
                <a:cs typeface="思源黑体 CN Bold" pitchFamily="34" charset="-120"/>
              </a:rPr>
              <a:t>查看结果，导出报告，挑出高危及以上条目并逐条截图留证</a:t>
            </a:r>
            <a:endParaRPr lang="en-US" sz="1440" dirty="0"/>
          </a:p>
        </p:txBody>
      </p:sp>
      <p:pic>
        <p:nvPicPr>
          <p:cNvPr id="45" name="Image 25" descr="https://test.web.static.jianzeppt.com/ppt-temp-img3/f07cc857527605928866fe5825d87123.png?x-oss-process=image/resize,w_1440,h_800,m_lfit/format,png"/>
          <p:cNvPicPr>
            <a:picLocks noChangeAspect="1"/>
          </p:cNvPicPr>
          <p:nvPr/>
        </p:nvPicPr>
        <p:blipFill>
          <a:blip r:embed="rId8"/>
          <a:stretch>
            <a:fillRect/>
          </a:stretch>
        </p:blipFill>
        <p:spPr>
          <a:xfrm>
            <a:off x="624840" y="5530291"/>
            <a:ext cx="10942320" cy="15240"/>
          </a:xfrm>
          <a:prstGeom prst="rect">
            <a:avLst/>
          </a:prstGeom>
        </p:spPr>
      </p:pic>
      <p:pic>
        <p:nvPicPr>
          <p:cNvPr id="46" name="Image 26" descr="https://test.web.static.jianzeppt.com/ppt-temp-img3/7c688fed39a329a36b58257e71262c7d.png?x-oss-process=image/resize,w_1440,h_800,m_lfit/format,png"/>
          <p:cNvPicPr>
            <a:picLocks noChangeAspect="1"/>
          </p:cNvPicPr>
          <p:nvPr/>
        </p:nvPicPr>
        <p:blipFill>
          <a:blip r:embed="rId20"/>
          <a:stretch>
            <a:fillRect/>
          </a:stretch>
        </p:blipFill>
        <p:spPr>
          <a:xfrm>
            <a:off x="624840" y="5532120"/>
            <a:ext cx="1828800" cy="731520"/>
          </a:xfrm>
          <a:prstGeom prst="rect">
            <a:avLst/>
          </a:prstGeom>
        </p:spPr>
      </p:pic>
      <p:sp>
        <p:nvSpPr>
          <p:cNvPr id="47" name="Text 18"/>
          <p:cNvSpPr/>
          <p:nvPr/>
        </p:nvSpPr>
        <p:spPr>
          <a:xfrm>
            <a:off x="868680" y="5715000"/>
            <a:ext cx="86258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latin typeface="思源黑体 CN Bold" pitchFamily="34" charset="0"/>
                <a:ea typeface="思源黑体 CN Bold" pitchFamily="34" charset="-122"/>
                <a:cs typeface="思源黑体 CN Bold" pitchFamily="34" charset="-120"/>
              </a:rPr>
              <a:t>实验产出</a:t>
            </a:r>
            <a:endParaRPr lang="en-US" sz="1680" dirty="0"/>
          </a:p>
        </p:txBody>
      </p:sp>
      <p:sp>
        <p:nvSpPr>
          <p:cNvPr id="48" name="Text 19"/>
          <p:cNvSpPr/>
          <p:nvPr/>
        </p:nvSpPr>
        <p:spPr>
          <a:xfrm>
            <a:off x="2697480" y="5715000"/>
            <a:ext cx="8634984" cy="350520"/>
          </a:xfrm>
          <a:prstGeom prst="rect">
            <a:avLst/>
          </a:prstGeom>
          <a:noFill/>
        </p:spPr>
        <p:txBody>
          <a:bodyPr wrap="none" lIns="0" tIns="0" rIns="0" bIns="0" rtlCol="0" anchor="t">
            <a:spAutoFit/>
          </a:bodyPr>
          <a:lstStyle/>
          <a:p>
            <a:pPr marL="0" indent="0" algn="l">
              <a:lnSpc>
                <a:spcPct val="163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高危及以上漏洞列表截图 + 导出的报告（实验②分析要用）</a:t>
            </a:r>
            <a:endParaRPr lang="en-US" sz="1680" dirty="0"/>
          </a:p>
        </p:txBody>
      </p:sp>
      <p:graphicFrame>
        <p:nvGraphicFramePr>
          <p:cNvPr id="49" name="对象 48">
            <a:hlinkClick r:id="" action="ppaction://ole?verb="/>
          </p:cNvPr>
          <p:cNvGraphicFramePr>
            <a:graphicFrameLocks noChangeAspect="1"/>
          </p:cNvGraphicFramePr>
          <p:nvPr/>
        </p:nvGraphicFramePr>
        <p:xfrm>
          <a:off x="10360660" y="1676400"/>
          <a:ext cx="971550" cy="666750"/>
        </p:xfrm>
        <a:graphic>
          <a:graphicData uri="http://schemas.openxmlformats.org/presentationml/2006/ole">
            <mc:AlternateContent xmlns:mc="http://schemas.openxmlformats.org/markup-compatibility/2006">
              <mc:Choice xmlns:v="urn:schemas-microsoft-com:vml" Requires="v">
                <p:oleObj spid="_x0000_s1025" name="" showAsIcon="1" r:id="rId21" imgW="971550" imgH="666750" progId="Word.Document.12">
                  <p:embed/>
                </p:oleObj>
              </mc:Choice>
              <mc:Fallback>
                <p:oleObj name="" showAsIcon="1" r:id="rId21" imgW="971550" imgH="666750" progId="Word.Document.12">
                  <p:embed/>
                  <p:pic>
                    <p:nvPicPr>
                      <p:cNvPr id="0" name="图片 1024"/>
                      <p:cNvPicPr/>
                      <p:nvPr/>
                    </p:nvPicPr>
                    <p:blipFill>
                      <a:blip r:embed="rId22"/>
                      <a:stretch>
                        <a:fillRect/>
                      </a:stretch>
                    </p:blipFill>
                    <p:spPr>
                      <a:xfrm>
                        <a:off x="10360660" y="1676400"/>
                        <a:ext cx="971550" cy="666750"/>
                      </a:xfrm>
                      <a:prstGeom prst="rect">
                        <a:avLst/>
                      </a:prstGeom>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扫描跑不动？先查这张表</a:t>
            </a:r>
            <a:endParaRPr lang="en-US" sz="2760" dirty="0"/>
          </a:p>
        </p:txBody>
      </p:sp>
      <p:graphicFrame>
        <p:nvGraphicFramePr>
          <p:cNvPr id="11" name="Table 0"/>
          <p:cNvGraphicFramePr>
            <a:graphicFrameLocks noGrp="1"/>
          </p:cNvGraphicFramePr>
          <p:nvPr/>
        </p:nvGraphicFramePr>
        <p:xfrm>
          <a:off x="609600" y="1371600"/>
          <a:ext cx="10972800" cy="4727575"/>
        </p:xfrm>
        <a:graphic>
          <a:graphicData uri="http://schemas.openxmlformats.org/drawingml/2006/table">
            <a:tbl>
              <a:tblPr/>
              <a:tblGrid>
                <a:gridCol w="2655570"/>
                <a:gridCol w="8317230"/>
              </a:tblGrid>
              <a:tr h="945515">
                <a:tc>
                  <a:txBody>
                    <a:bodyPr/>
                    <a:lstStyle/>
                    <a:p>
                      <a:pPr marL="0" indent="0" algn="ctr">
                        <a:buNone/>
                      </a:pPr>
                      <a:r>
                        <a:rPr lang="en-US" sz="1800" b="1" dirty="0">
                          <a:solidFill>
                            <a:srgbClr val="000000"/>
                          </a:solidFill>
                        </a:rPr>
                        <a:t>问题</a:t>
                      </a:r>
                      <a:endParaRPr lang="en-US" sz="1800" b="1"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000000"/>
                          </a:solidFill>
                        </a:rPr>
                        <a:t>怎么解决</a:t>
                      </a:r>
                      <a:endParaRPr lang="en-US" sz="1800" b="1"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945515">
                <a:tc>
                  <a:txBody>
                    <a:bodyPr/>
                    <a:lstStyle/>
                    <a:p>
                      <a:pPr marL="0" indent="0" algn="ctr">
                        <a:buNone/>
                      </a:pPr>
                      <a:r>
                        <a:rPr lang="en-US" sz="1800" dirty="0">
                          <a:solidFill>
                            <a:srgbClr val="000000"/>
                          </a:solidFill>
                        </a:rPr>
                        <a:t>登不进平台</a:t>
                      </a:r>
                      <a:endParaRPr lang="en-US" sz="18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000000"/>
                          </a:solidFill>
                        </a:rPr>
                        <a:t>确认是 http://10.11.0.70，账号=11 位学号，密码=学号+1q2w；换浏览器再试</a:t>
                      </a:r>
                      <a:endParaRPr lang="en-US" sz="18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945515">
                <a:tc>
                  <a:txBody>
                    <a:bodyPr/>
                    <a:lstStyle/>
                    <a:p>
                      <a:pPr marL="0" indent="0" algn="ctr">
                        <a:buNone/>
                      </a:pPr>
                      <a:r>
                        <a:rPr lang="en-US" sz="1800" dirty="0">
                          <a:solidFill>
                            <a:srgbClr val="000000"/>
                          </a:solidFill>
                        </a:rPr>
                        <a:t>扫不动 / 0 结果</a:t>
                      </a:r>
                      <a:endParaRPr lang="en-US" sz="18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000000"/>
                          </a:solidFill>
                        </a:rPr>
                        <a:t>先确认靶机 IP 填对、平台提供的靶机已开机，再检查模板是否选错</a:t>
                      </a:r>
                      <a:endParaRPr lang="en-US" sz="18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945515">
                <a:tc>
                  <a:txBody>
                    <a:bodyPr/>
                    <a:lstStyle/>
                    <a:p>
                      <a:pPr marL="0" indent="0" algn="ctr">
                        <a:buNone/>
                      </a:pPr>
                      <a:r>
                        <a:rPr lang="en-US" sz="1800" dirty="0">
                          <a:solidFill>
                            <a:srgbClr val="000000"/>
                          </a:solidFill>
                        </a:rPr>
                        <a:t>进度卡住不动</a:t>
                      </a:r>
                      <a:endParaRPr lang="en-US" sz="18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000000"/>
                          </a:solidFill>
                        </a:rPr>
                        <a:t>不要关页面，等 5~10 分钟；超过 15 分钟仍不动再重跑一次并截图</a:t>
                      </a:r>
                      <a:endParaRPr lang="en-US" sz="18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945515">
                <a:tc>
                  <a:txBody>
                    <a:bodyPr/>
                    <a:lstStyle/>
                    <a:p>
                      <a:pPr marL="0" indent="0" algn="ctr">
                        <a:buNone/>
                      </a:pPr>
                      <a:r>
                        <a:rPr lang="en-US" sz="1800" dirty="0">
                          <a:solidFill>
                            <a:srgbClr val="000000"/>
                          </a:solidFill>
                        </a:rPr>
                        <a:t>报告导出失败</a:t>
                      </a:r>
                      <a:endParaRPr lang="en-US" sz="18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000000"/>
                          </a:solidFill>
                        </a:rPr>
                        <a:t>换 PDF 格式重试；实在不行就分段截图高危列表，注明"导出失败"</a:t>
                      </a:r>
                      <a:endParaRPr lang="en-US" sz="18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945515">
                <a:tc>
                  <a:txBody>
                    <a:bodyPr/>
                    <a:lstStyle/>
                    <a:p>
                      <a:pPr marL="0" indent="0" algn="ctr">
                        <a:buNone/>
                      </a:pPr>
                      <a:r>
                        <a:rPr lang="en-US" sz="1800" dirty="0">
                          <a:solidFill>
                            <a:srgbClr val="000000"/>
                          </a:solidFill>
                        </a:rPr>
                        <a:t>高危多到不知从哪下手</a:t>
                      </a:r>
                      <a:endParaRPr lang="en-US" sz="18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000000"/>
                          </a:solidFill>
                        </a:rPr>
                        <a:t>先按 CVSS 降序，只看 Critical 和 High，中低危先记录不展开</a:t>
                      </a:r>
                      <a:endParaRPr lang="en-US" sz="18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7010" y="209550"/>
            <a:ext cx="11777980" cy="6308725"/>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报告怎么读——CVSS 评分与风险等级</a:t>
            </a:r>
            <a:endParaRPr lang="en-US" sz="2760" dirty="0"/>
          </a:p>
        </p:txBody>
      </p:sp>
      <p:sp>
        <p:nvSpPr>
          <p:cNvPr id="6" name="Text 1"/>
          <p:cNvSpPr/>
          <p:nvPr/>
        </p:nvSpPr>
        <p:spPr>
          <a:xfrm>
            <a:off x="609600" y="1371600"/>
            <a:ext cx="10981944" cy="411480"/>
          </a:xfrm>
          <a:prstGeom prst="rect">
            <a:avLst/>
          </a:prstGeom>
          <a:noFill/>
        </p:spPr>
        <p:txBody>
          <a:bodyPr wrap="none" lIns="0" tIns="0" rIns="0" bIns="0" rtlCol="0" anchor="t">
            <a:spAutoFit/>
          </a:bodyPr>
          <a:lstStyle/>
          <a:p>
            <a:pPr marL="0" indent="0" algn="l">
              <a:lnSpc>
                <a:spcPct val="100000"/>
              </a:lnSpc>
              <a:buNone/>
            </a:pPr>
            <a:r>
              <a:rPr lang="en-US" sz="2160" dirty="0">
                <a:solidFill>
                  <a:srgbClr val="0E4D96"/>
                </a:solidFill>
                <a:latin typeface="思源黑体 CN Bold" pitchFamily="34" charset="0"/>
                <a:ea typeface="思源黑体 CN Bold" pitchFamily="34" charset="-122"/>
                <a:cs typeface="思源黑体 CN Bold" pitchFamily="34" charset="-120"/>
              </a:rPr>
              <a:t>风险等级分类（CVSS评分体系）：</a:t>
            </a:r>
            <a:endParaRPr lang="en-US" sz="2160" dirty="0"/>
          </a:p>
        </p:txBody>
      </p:sp>
      <p:pic>
        <p:nvPicPr>
          <p:cNvPr id="7" name="Image 3" descr="https://test.web.static.jianzeppt.com/ppt-temp-img3/9f526dfb1bfa971f381a3d12bc5b467b.png?x-oss-process=image/resize,w_1440,h_800,m_lfit/format,png"/>
          <p:cNvPicPr>
            <a:picLocks noChangeAspect="1"/>
          </p:cNvPicPr>
          <p:nvPr>
            <p:custDataLst>
              <p:tags r:id="rId4"/>
            </p:custDataLst>
          </p:nvPr>
        </p:nvPicPr>
        <p:blipFill>
          <a:blip r:embed="rId5"/>
          <a:stretch>
            <a:fillRect/>
          </a:stretch>
        </p:blipFill>
        <p:spPr>
          <a:xfrm>
            <a:off x="609600" y="1905000"/>
            <a:ext cx="2606040" cy="1661160"/>
          </a:xfrm>
          <a:prstGeom prst="rect">
            <a:avLst/>
          </a:prstGeom>
        </p:spPr>
      </p:pic>
      <p:sp>
        <p:nvSpPr>
          <p:cNvPr id="8" name="Text 2"/>
          <p:cNvSpPr/>
          <p:nvPr/>
        </p:nvSpPr>
        <p:spPr>
          <a:xfrm>
            <a:off x="894842" y="2103120"/>
            <a:ext cx="254000" cy="461645"/>
          </a:xfrm>
          <a:prstGeom prst="rect">
            <a:avLst/>
          </a:prstGeom>
          <a:noFill/>
        </p:spPr>
        <p:txBody>
          <a:bodyPr wrap="none" lIns="0" tIns="0" rIns="0" bIns="0" rtlCol="0" anchor="t">
            <a:spAutoFit/>
          </a:bodyPr>
          <a:lstStyle/>
          <a:p>
            <a:pPr marL="0" indent="0" algn="ctr">
              <a:lnSpc>
                <a:spcPct val="150000"/>
              </a:lnSpc>
              <a:buNone/>
            </a:pPr>
            <a:r>
              <a:rPr lang="en-US" sz="2000" dirty="0">
                <a:solidFill>
                  <a:srgbClr val="000000"/>
                </a:solidFill>
                <a:latin typeface="思源黑体 CN Regular" pitchFamily="34" charset="0"/>
                <a:ea typeface="思源黑体 CN Regular" pitchFamily="34" charset="-122"/>
                <a:cs typeface="思源黑体 CN Regular" pitchFamily="34" charset="-120"/>
              </a:rPr>
              <a:t>🔴</a:t>
            </a:r>
            <a:endParaRPr lang="en-US" sz="2000" dirty="0">
              <a:solidFill>
                <a:srgbClr val="000000"/>
              </a:solidFill>
              <a:latin typeface="思源黑体 CN Regular" pitchFamily="34" charset="0"/>
              <a:ea typeface="思源黑体 CN Regular" pitchFamily="34" charset="-122"/>
              <a:cs typeface="思源黑体 CN Regular" pitchFamily="34" charset="-120"/>
            </a:endParaRPr>
          </a:p>
        </p:txBody>
      </p:sp>
      <p:sp>
        <p:nvSpPr>
          <p:cNvPr id="9" name="Text 3"/>
          <p:cNvSpPr/>
          <p:nvPr>
            <p:custDataLst>
              <p:tags r:id="rId6"/>
            </p:custDataLst>
          </p:nvPr>
        </p:nvSpPr>
        <p:spPr>
          <a:xfrm>
            <a:off x="1231710" y="2148840"/>
            <a:ext cx="1736725" cy="415290"/>
          </a:xfrm>
          <a:prstGeom prst="rect">
            <a:avLst/>
          </a:prstGeom>
          <a:noFill/>
        </p:spPr>
        <p:txBody>
          <a:bodyPr wrap="none" lIns="0" tIns="0" rIns="0" bIns="0" rtlCol="0" anchor="t">
            <a:spAutoFit/>
          </a:bodyPr>
          <a:lstStyle/>
          <a:p>
            <a:pPr marL="0" indent="0" algn="ctr">
              <a:lnSpc>
                <a:spcPct val="150000"/>
              </a:lnSpc>
              <a:buNone/>
            </a:pPr>
            <a:r>
              <a:rPr lang="en-US" b="1" dirty="0">
                <a:solidFill>
                  <a:srgbClr val="EF4F44"/>
                </a:solidFill>
                <a:latin typeface="思源黑体 CN Bold" pitchFamily="34" charset="0"/>
                <a:ea typeface="思源黑体 CN Bold" pitchFamily="34" charset="-122"/>
                <a:cs typeface="思源黑体 CN Bold" pitchFamily="34" charset="-120"/>
              </a:rPr>
              <a:t>Critical（严重）</a:t>
            </a:r>
            <a:endParaRPr lang="en-US" b="1" dirty="0">
              <a:solidFill>
                <a:srgbClr val="EF4F44"/>
              </a:solidFill>
              <a:latin typeface="思源黑体 CN Bold" pitchFamily="34" charset="0"/>
              <a:ea typeface="思源黑体 CN Bold" pitchFamily="34" charset="-122"/>
              <a:cs typeface="思源黑体 CN Bold" pitchFamily="34" charset="-120"/>
            </a:endParaRPr>
          </a:p>
        </p:txBody>
      </p:sp>
      <p:sp>
        <p:nvSpPr>
          <p:cNvPr id="10" name="Text 4"/>
          <p:cNvSpPr/>
          <p:nvPr>
            <p:custDataLst>
              <p:tags r:id="rId7"/>
            </p:custDataLst>
          </p:nvPr>
        </p:nvSpPr>
        <p:spPr>
          <a:xfrm>
            <a:off x="975360" y="2621280"/>
            <a:ext cx="1898904" cy="461645"/>
          </a:xfrm>
          <a:prstGeom prst="rect">
            <a:avLst/>
          </a:prstGeom>
          <a:noFill/>
        </p:spPr>
        <p:txBody>
          <a:bodyPr wrap="square" lIns="0" tIns="0" rIns="0" bIns="0" rtlCol="0" anchor="t">
            <a:spAutoFit/>
          </a:bodyPr>
          <a:lstStyle/>
          <a:p>
            <a:pPr marL="0" indent="0" algn="ctr">
              <a:lnSpc>
                <a:spcPct val="150000"/>
              </a:lnSpc>
              <a:buNone/>
            </a:pPr>
            <a:r>
              <a:rPr lang="en-US" sz="1600" dirty="0">
                <a:solidFill>
                  <a:srgbClr val="000000"/>
                </a:solidFill>
                <a:latin typeface="思源黑体 CN Regular" pitchFamily="34" charset="0"/>
                <a:ea typeface="思源黑体 CN Regular" pitchFamily="34" charset="-122"/>
                <a:cs typeface="思源黑体 CN Regular" pitchFamily="34" charset="-120"/>
              </a:rPr>
              <a:t>CVSS分值:</a:t>
            </a:r>
            <a:r>
              <a:rPr lang="en-US" sz="2000" b="1" dirty="0">
                <a:solidFill>
                  <a:srgbClr val="EF4F44"/>
                </a:solidFill>
                <a:latin typeface="思源黑体 CN Bold" pitchFamily="34" charset="0"/>
                <a:ea typeface="思源黑体 CN Bold" pitchFamily="34" charset="-122"/>
                <a:cs typeface="思源黑体 CN Bold" pitchFamily="34" charset="-120"/>
              </a:rPr>
              <a:t>9.0-10</a:t>
            </a:r>
            <a:endParaRPr lang="en-US" sz="2000" b="1" dirty="0">
              <a:solidFill>
                <a:srgbClr val="EF4F44"/>
              </a:solidFill>
              <a:latin typeface="思源黑体 CN Bold" pitchFamily="34" charset="0"/>
              <a:ea typeface="思源黑体 CN Bold" pitchFamily="34" charset="-122"/>
              <a:cs typeface="思源黑体 CN Bold" pitchFamily="34" charset="-120"/>
            </a:endParaRPr>
          </a:p>
        </p:txBody>
      </p:sp>
      <p:sp>
        <p:nvSpPr>
          <p:cNvPr id="11" name="Text 5"/>
          <p:cNvSpPr/>
          <p:nvPr>
            <p:custDataLst>
              <p:tags r:id="rId8"/>
            </p:custDataLst>
          </p:nvPr>
        </p:nvSpPr>
        <p:spPr>
          <a:xfrm>
            <a:off x="1082040" y="3093720"/>
            <a:ext cx="1670304" cy="274320"/>
          </a:xfrm>
          <a:prstGeom prst="rect">
            <a:avLst/>
          </a:prstGeom>
          <a:noFill/>
        </p:spPr>
        <p:txBody>
          <a:bodyPr wrap="none" lIns="0" tIns="0" rIns="0" bIns="0" rtlCol="0" anchor="t">
            <a:spAutoFit/>
          </a:bodyPr>
          <a:lstStyle/>
          <a:p>
            <a:pPr marL="0" indent="0" algn="ctr">
              <a:lnSpc>
                <a:spcPct val="15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建议时限: 24-48小时</a:t>
            </a:r>
            <a:endParaRPr lang="en-US" sz="1440" dirty="0"/>
          </a:p>
        </p:txBody>
      </p:sp>
      <p:pic>
        <p:nvPicPr>
          <p:cNvPr id="12" name="Image 4" descr="https://test.web.static.jianzeppt.com/ppt-temp-img3/9c56131c4dc0d8dece352ca3a28b6a5c.png?x-oss-process=image/resize,w_1440,h_800,m_lfit/format,png"/>
          <p:cNvPicPr>
            <a:picLocks noChangeAspect="1"/>
          </p:cNvPicPr>
          <p:nvPr>
            <p:custDataLst>
              <p:tags r:id="rId9"/>
            </p:custDataLst>
          </p:nvPr>
        </p:nvPicPr>
        <p:blipFill>
          <a:blip r:embed="rId10"/>
          <a:stretch>
            <a:fillRect/>
          </a:stretch>
        </p:blipFill>
        <p:spPr>
          <a:xfrm>
            <a:off x="3398520" y="1905000"/>
            <a:ext cx="2606040" cy="1661160"/>
          </a:xfrm>
          <a:prstGeom prst="rect">
            <a:avLst/>
          </a:prstGeom>
        </p:spPr>
      </p:pic>
      <p:sp>
        <p:nvSpPr>
          <p:cNvPr id="13" name="Text 6"/>
          <p:cNvSpPr/>
          <p:nvPr/>
        </p:nvSpPr>
        <p:spPr>
          <a:xfrm>
            <a:off x="3836162" y="2103120"/>
            <a:ext cx="254000" cy="461645"/>
          </a:xfrm>
          <a:prstGeom prst="rect">
            <a:avLst/>
          </a:prstGeom>
          <a:noFill/>
        </p:spPr>
        <p:txBody>
          <a:bodyPr wrap="none" lIns="0" tIns="0" rIns="0" bIns="0" rtlCol="0" anchor="t">
            <a:spAutoFit/>
          </a:bodyPr>
          <a:lstStyle/>
          <a:p>
            <a:pPr marL="0" indent="0" algn="ctr">
              <a:lnSpc>
                <a:spcPct val="150000"/>
              </a:lnSpc>
              <a:buNone/>
            </a:pPr>
            <a:r>
              <a:rPr lang="en-US" sz="2000" dirty="0">
                <a:solidFill>
                  <a:srgbClr val="000000"/>
                </a:solidFill>
                <a:latin typeface="思源黑体 CN Regular" pitchFamily="34" charset="0"/>
                <a:ea typeface="思源黑体 CN Regular" pitchFamily="34" charset="-122"/>
                <a:cs typeface="思源黑体 CN Regular" pitchFamily="34" charset="-120"/>
              </a:rPr>
              <a:t>🟠</a:t>
            </a:r>
            <a:endParaRPr lang="en-US" sz="2000" dirty="0">
              <a:solidFill>
                <a:srgbClr val="000000"/>
              </a:solidFill>
              <a:latin typeface="思源黑体 CN Regular" pitchFamily="34" charset="0"/>
              <a:ea typeface="思源黑体 CN Regular" pitchFamily="34" charset="-122"/>
              <a:cs typeface="思源黑体 CN Regular" pitchFamily="34" charset="-120"/>
            </a:endParaRPr>
          </a:p>
        </p:txBody>
      </p:sp>
      <p:sp>
        <p:nvSpPr>
          <p:cNvPr id="14" name="Text 7"/>
          <p:cNvSpPr/>
          <p:nvPr>
            <p:custDataLst>
              <p:tags r:id="rId11"/>
            </p:custDataLst>
          </p:nvPr>
        </p:nvSpPr>
        <p:spPr>
          <a:xfrm>
            <a:off x="4165410" y="2148840"/>
            <a:ext cx="1447165" cy="415290"/>
          </a:xfrm>
          <a:prstGeom prst="rect">
            <a:avLst/>
          </a:prstGeom>
          <a:noFill/>
        </p:spPr>
        <p:txBody>
          <a:bodyPr wrap="none" lIns="0" tIns="0" rIns="0" bIns="0" rtlCol="0" anchor="t">
            <a:spAutoFit/>
          </a:bodyPr>
          <a:lstStyle/>
          <a:p>
            <a:pPr marL="0" indent="0" algn="ctr">
              <a:lnSpc>
                <a:spcPct val="150000"/>
              </a:lnSpc>
              <a:buNone/>
            </a:pPr>
            <a:r>
              <a:rPr lang="en-US" b="1" dirty="0">
                <a:solidFill>
                  <a:srgbClr val="000000"/>
                </a:solidFill>
                <a:latin typeface="思源黑体 CN Bold" pitchFamily="34" charset="0"/>
                <a:ea typeface="思源黑体 CN Bold" pitchFamily="34" charset="-122"/>
                <a:cs typeface="思源黑体 CN Bold" pitchFamily="34" charset="-120"/>
              </a:rPr>
              <a:t>High（高危）</a:t>
            </a:r>
            <a:endParaRPr lang="en-US" b="1" dirty="0">
              <a:solidFill>
                <a:srgbClr val="000000"/>
              </a:solidFill>
              <a:latin typeface="思源黑体 CN Bold" pitchFamily="34" charset="0"/>
              <a:ea typeface="思源黑体 CN Bold" pitchFamily="34" charset="-122"/>
              <a:cs typeface="思源黑体 CN Bold" pitchFamily="34" charset="-120"/>
            </a:endParaRPr>
          </a:p>
        </p:txBody>
      </p:sp>
      <p:sp>
        <p:nvSpPr>
          <p:cNvPr id="15" name="Text 8"/>
          <p:cNvSpPr/>
          <p:nvPr>
            <p:custDataLst>
              <p:tags r:id="rId12"/>
            </p:custDataLst>
          </p:nvPr>
        </p:nvSpPr>
        <p:spPr>
          <a:xfrm>
            <a:off x="3718560" y="2621280"/>
            <a:ext cx="1990344" cy="461645"/>
          </a:xfrm>
          <a:prstGeom prst="rect">
            <a:avLst/>
          </a:prstGeom>
          <a:noFill/>
        </p:spPr>
        <p:txBody>
          <a:bodyPr wrap="square" lIns="0" tIns="0" rIns="0" bIns="0" rtlCol="0" anchor="t">
            <a:spAutoFit/>
          </a:bodyPr>
          <a:lstStyle/>
          <a:p>
            <a:pPr marL="0" indent="0" algn="ctr">
              <a:lnSpc>
                <a:spcPct val="150000"/>
              </a:lnSpc>
              <a:buNone/>
            </a:pPr>
            <a:r>
              <a:rPr lang="en-US" sz="1600" dirty="0">
                <a:solidFill>
                  <a:srgbClr val="000000"/>
                </a:solidFill>
                <a:latin typeface="思源黑体 CN Regular" pitchFamily="34" charset="0"/>
                <a:ea typeface="思源黑体 CN Regular" pitchFamily="34" charset="-122"/>
                <a:cs typeface="思源黑体 CN Regular" pitchFamily="34" charset="-120"/>
              </a:rPr>
              <a:t>CVSS分值:</a:t>
            </a:r>
            <a:r>
              <a:rPr lang="en-US" sz="2000" b="1" dirty="0">
                <a:solidFill>
                  <a:srgbClr val="000000"/>
                </a:solidFill>
                <a:latin typeface="思源黑体 CN Bold" pitchFamily="34" charset="0"/>
                <a:ea typeface="思源黑体 CN Bold" pitchFamily="34" charset="-122"/>
                <a:cs typeface="思源黑体 CN Bold" pitchFamily="34" charset="-120"/>
              </a:rPr>
              <a:t>7.0-8.9</a:t>
            </a:r>
            <a:endParaRPr lang="en-US" sz="2000" b="1" dirty="0">
              <a:solidFill>
                <a:srgbClr val="000000"/>
              </a:solidFill>
              <a:latin typeface="思源黑体 CN Bold" pitchFamily="34" charset="0"/>
              <a:ea typeface="思源黑体 CN Bold" pitchFamily="34" charset="-122"/>
              <a:cs typeface="思源黑体 CN Bold" pitchFamily="34" charset="-120"/>
            </a:endParaRPr>
          </a:p>
        </p:txBody>
      </p:sp>
      <p:sp>
        <p:nvSpPr>
          <p:cNvPr id="16" name="Text 9"/>
          <p:cNvSpPr/>
          <p:nvPr>
            <p:custDataLst>
              <p:tags r:id="rId13"/>
            </p:custDataLst>
          </p:nvPr>
        </p:nvSpPr>
        <p:spPr>
          <a:xfrm>
            <a:off x="4069080" y="3093720"/>
            <a:ext cx="1289304" cy="274320"/>
          </a:xfrm>
          <a:prstGeom prst="rect">
            <a:avLst/>
          </a:prstGeom>
          <a:noFill/>
        </p:spPr>
        <p:txBody>
          <a:bodyPr wrap="none" lIns="0" tIns="0" rIns="0" bIns="0" rtlCol="0" anchor="t">
            <a:spAutoFit/>
          </a:bodyPr>
          <a:lstStyle/>
          <a:p>
            <a:pPr marL="0" indent="0" algn="ctr">
              <a:lnSpc>
                <a:spcPct val="15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建议时限: 3-7天</a:t>
            </a:r>
            <a:endParaRPr lang="en-US" sz="1440" dirty="0"/>
          </a:p>
        </p:txBody>
      </p:sp>
      <p:pic>
        <p:nvPicPr>
          <p:cNvPr id="17" name="Image 5" descr="https://test.web.static.jianzeppt.com/ppt-temp-img3/a3f0287be4755dc4db41d9998ed6da2d.png?x-oss-process=image/resize,w_1440,h_800,m_lfit/format,png"/>
          <p:cNvPicPr>
            <a:picLocks noChangeAspect="1"/>
          </p:cNvPicPr>
          <p:nvPr>
            <p:custDataLst>
              <p:tags r:id="rId14"/>
            </p:custDataLst>
          </p:nvPr>
        </p:nvPicPr>
        <p:blipFill>
          <a:blip r:embed="rId15"/>
          <a:stretch>
            <a:fillRect/>
          </a:stretch>
        </p:blipFill>
        <p:spPr>
          <a:xfrm>
            <a:off x="6187440" y="1905000"/>
            <a:ext cx="2606040" cy="1661160"/>
          </a:xfrm>
          <a:prstGeom prst="rect">
            <a:avLst/>
          </a:prstGeom>
        </p:spPr>
      </p:pic>
      <p:sp>
        <p:nvSpPr>
          <p:cNvPr id="18" name="Text 10"/>
          <p:cNvSpPr/>
          <p:nvPr/>
        </p:nvSpPr>
        <p:spPr>
          <a:xfrm>
            <a:off x="6472682" y="2103120"/>
            <a:ext cx="254000" cy="461645"/>
          </a:xfrm>
          <a:prstGeom prst="rect">
            <a:avLst/>
          </a:prstGeom>
          <a:noFill/>
        </p:spPr>
        <p:txBody>
          <a:bodyPr wrap="none" lIns="0" tIns="0" rIns="0" bIns="0" rtlCol="0" anchor="t">
            <a:spAutoFit/>
          </a:bodyPr>
          <a:lstStyle/>
          <a:p>
            <a:pPr marL="0" indent="0" algn="ctr">
              <a:lnSpc>
                <a:spcPct val="150000"/>
              </a:lnSpc>
              <a:buNone/>
            </a:pPr>
            <a:r>
              <a:rPr lang="en-US" sz="2000" dirty="0">
                <a:solidFill>
                  <a:srgbClr val="000000"/>
                </a:solidFill>
                <a:latin typeface="思源黑体 CN Regular" pitchFamily="34" charset="0"/>
                <a:ea typeface="思源黑体 CN Regular" pitchFamily="34" charset="-122"/>
                <a:cs typeface="思源黑体 CN Regular" pitchFamily="34" charset="-120"/>
              </a:rPr>
              <a:t>🟡</a:t>
            </a:r>
            <a:endParaRPr lang="en-US" sz="2000" dirty="0">
              <a:solidFill>
                <a:srgbClr val="000000"/>
              </a:solidFill>
              <a:latin typeface="思源黑体 CN Regular" pitchFamily="34" charset="0"/>
              <a:ea typeface="思源黑体 CN Regular" pitchFamily="34" charset="-122"/>
              <a:cs typeface="思源黑体 CN Regular" pitchFamily="34" charset="-120"/>
            </a:endParaRPr>
          </a:p>
        </p:txBody>
      </p:sp>
      <p:sp>
        <p:nvSpPr>
          <p:cNvPr id="19" name="Text 11"/>
          <p:cNvSpPr/>
          <p:nvPr>
            <p:custDataLst>
              <p:tags r:id="rId16"/>
            </p:custDataLst>
          </p:nvPr>
        </p:nvSpPr>
        <p:spPr>
          <a:xfrm>
            <a:off x="6814630" y="2148840"/>
            <a:ext cx="1833245" cy="415290"/>
          </a:xfrm>
          <a:prstGeom prst="rect">
            <a:avLst/>
          </a:prstGeom>
          <a:noFill/>
        </p:spPr>
        <p:txBody>
          <a:bodyPr wrap="none" lIns="0" tIns="0" rIns="0" bIns="0" rtlCol="0" anchor="t">
            <a:spAutoFit/>
          </a:bodyPr>
          <a:lstStyle/>
          <a:p>
            <a:pPr marL="0" indent="0" algn="ctr">
              <a:lnSpc>
                <a:spcPct val="150000"/>
              </a:lnSpc>
              <a:buNone/>
            </a:pPr>
            <a:r>
              <a:rPr lang="en-US" b="1" dirty="0">
                <a:solidFill>
                  <a:srgbClr val="877005"/>
                </a:solidFill>
                <a:latin typeface="思源黑体 CN Bold" pitchFamily="34" charset="0"/>
                <a:ea typeface="思源黑体 CN Bold" pitchFamily="34" charset="-122"/>
                <a:cs typeface="思源黑体 CN Bold" pitchFamily="34" charset="-120"/>
              </a:rPr>
              <a:t>Medium（中危）</a:t>
            </a:r>
            <a:endParaRPr lang="en-US" b="1" dirty="0">
              <a:solidFill>
                <a:srgbClr val="877005"/>
              </a:solidFill>
              <a:latin typeface="思源黑体 CN Bold" pitchFamily="34" charset="0"/>
              <a:ea typeface="思源黑体 CN Bold" pitchFamily="34" charset="-122"/>
              <a:cs typeface="思源黑体 CN Bold" pitchFamily="34" charset="-120"/>
            </a:endParaRPr>
          </a:p>
        </p:txBody>
      </p:sp>
      <p:sp>
        <p:nvSpPr>
          <p:cNvPr id="20" name="Text 12"/>
          <p:cNvSpPr/>
          <p:nvPr>
            <p:custDataLst>
              <p:tags r:id="rId17"/>
            </p:custDataLst>
          </p:nvPr>
        </p:nvSpPr>
        <p:spPr>
          <a:xfrm>
            <a:off x="6507480" y="2621280"/>
            <a:ext cx="1990344" cy="461645"/>
          </a:xfrm>
          <a:prstGeom prst="rect">
            <a:avLst/>
          </a:prstGeom>
          <a:noFill/>
        </p:spPr>
        <p:txBody>
          <a:bodyPr wrap="square" lIns="0" tIns="0" rIns="0" bIns="0" rtlCol="0" anchor="t">
            <a:spAutoFit/>
          </a:bodyPr>
          <a:lstStyle/>
          <a:p>
            <a:pPr marL="0" indent="0" algn="ctr">
              <a:lnSpc>
                <a:spcPct val="150000"/>
              </a:lnSpc>
              <a:buNone/>
            </a:pPr>
            <a:r>
              <a:rPr lang="en-US" sz="1600" dirty="0">
                <a:solidFill>
                  <a:srgbClr val="000000"/>
                </a:solidFill>
                <a:latin typeface="思源黑体 CN Regular" pitchFamily="34" charset="0"/>
                <a:ea typeface="思源黑体 CN Regular" pitchFamily="34" charset="-122"/>
                <a:cs typeface="思源黑体 CN Regular" pitchFamily="34" charset="-120"/>
              </a:rPr>
              <a:t>CVSS分值:</a:t>
            </a:r>
            <a:r>
              <a:rPr lang="en-US" sz="2000" b="1" dirty="0">
                <a:solidFill>
                  <a:srgbClr val="877005"/>
                </a:solidFill>
                <a:latin typeface="思源黑体 CN Bold" pitchFamily="34" charset="0"/>
                <a:ea typeface="思源黑体 CN Bold" pitchFamily="34" charset="-122"/>
                <a:cs typeface="思源黑体 CN Bold" pitchFamily="34" charset="-120"/>
              </a:rPr>
              <a:t>4.0-6.9</a:t>
            </a:r>
            <a:endParaRPr lang="en-US" sz="2000" b="1" dirty="0">
              <a:solidFill>
                <a:srgbClr val="877005"/>
              </a:solidFill>
              <a:latin typeface="思源黑体 CN Bold" pitchFamily="34" charset="0"/>
              <a:ea typeface="思源黑体 CN Bold" pitchFamily="34" charset="-122"/>
              <a:cs typeface="思源黑体 CN Bold" pitchFamily="34" charset="-120"/>
            </a:endParaRPr>
          </a:p>
        </p:txBody>
      </p:sp>
      <p:sp>
        <p:nvSpPr>
          <p:cNvPr id="21" name="Text 13"/>
          <p:cNvSpPr/>
          <p:nvPr>
            <p:custDataLst>
              <p:tags r:id="rId18"/>
            </p:custDataLst>
          </p:nvPr>
        </p:nvSpPr>
        <p:spPr>
          <a:xfrm>
            <a:off x="6797040" y="3093720"/>
            <a:ext cx="1395984" cy="274320"/>
          </a:xfrm>
          <a:prstGeom prst="rect">
            <a:avLst/>
          </a:prstGeom>
          <a:noFill/>
        </p:spPr>
        <p:txBody>
          <a:bodyPr wrap="none" lIns="0" tIns="0" rIns="0" bIns="0" rtlCol="0" anchor="t">
            <a:spAutoFit/>
          </a:bodyPr>
          <a:lstStyle/>
          <a:p>
            <a:pPr marL="0" indent="0" algn="ctr">
              <a:lnSpc>
                <a:spcPct val="15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建议时限: 7-30天</a:t>
            </a:r>
            <a:endParaRPr lang="en-US" sz="1440" dirty="0"/>
          </a:p>
        </p:txBody>
      </p:sp>
      <p:pic>
        <p:nvPicPr>
          <p:cNvPr id="22" name="Image 6" descr="https://test.web.static.jianzeppt.com/ppt-temp-img3/9c781d894e6a1b6e656e171f9e810f85.png?x-oss-process=image/resize,w_1440,h_800,m_lfit/format,png"/>
          <p:cNvPicPr>
            <a:picLocks noChangeAspect="1"/>
          </p:cNvPicPr>
          <p:nvPr>
            <p:custDataLst>
              <p:tags r:id="rId19"/>
            </p:custDataLst>
          </p:nvPr>
        </p:nvPicPr>
        <p:blipFill>
          <a:blip r:embed="rId20"/>
          <a:stretch>
            <a:fillRect/>
          </a:stretch>
        </p:blipFill>
        <p:spPr>
          <a:xfrm>
            <a:off x="8976360" y="1905000"/>
            <a:ext cx="2606040" cy="1661160"/>
          </a:xfrm>
          <a:prstGeom prst="rect">
            <a:avLst/>
          </a:prstGeom>
        </p:spPr>
      </p:pic>
      <p:sp>
        <p:nvSpPr>
          <p:cNvPr id="23" name="Text 14"/>
          <p:cNvSpPr/>
          <p:nvPr/>
        </p:nvSpPr>
        <p:spPr>
          <a:xfrm>
            <a:off x="9444482" y="2103120"/>
            <a:ext cx="254000" cy="461645"/>
          </a:xfrm>
          <a:prstGeom prst="rect">
            <a:avLst/>
          </a:prstGeom>
          <a:noFill/>
        </p:spPr>
        <p:txBody>
          <a:bodyPr wrap="none" lIns="0" tIns="0" rIns="0" bIns="0" rtlCol="0" anchor="t">
            <a:spAutoFit/>
          </a:bodyPr>
          <a:lstStyle/>
          <a:p>
            <a:pPr marL="0" indent="0" algn="ctr">
              <a:lnSpc>
                <a:spcPct val="150000"/>
              </a:lnSpc>
              <a:buNone/>
            </a:pPr>
            <a:r>
              <a:rPr lang="en-US" sz="2000" dirty="0">
                <a:solidFill>
                  <a:srgbClr val="000000"/>
                </a:solidFill>
                <a:latin typeface="思源黑体 CN Regular" pitchFamily="34" charset="0"/>
                <a:ea typeface="思源黑体 CN Regular" pitchFamily="34" charset="-122"/>
                <a:cs typeface="思源黑体 CN Regular" pitchFamily="34" charset="-120"/>
              </a:rPr>
              <a:t>🟢</a:t>
            </a:r>
            <a:endParaRPr lang="en-US" sz="2000" dirty="0">
              <a:solidFill>
                <a:srgbClr val="000000"/>
              </a:solidFill>
              <a:latin typeface="思源黑体 CN Regular" pitchFamily="34" charset="0"/>
              <a:ea typeface="思源黑体 CN Regular" pitchFamily="34" charset="-122"/>
              <a:cs typeface="思源黑体 CN Regular" pitchFamily="34" charset="-120"/>
            </a:endParaRPr>
          </a:p>
        </p:txBody>
      </p:sp>
      <p:sp>
        <p:nvSpPr>
          <p:cNvPr id="24" name="Text 15"/>
          <p:cNvSpPr/>
          <p:nvPr>
            <p:custDataLst>
              <p:tags r:id="rId21"/>
            </p:custDataLst>
          </p:nvPr>
        </p:nvSpPr>
        <p:spPr>
          <a:xfrm>
            <a:off x="9769920" y="2148840"/>
            <a:ext cx="1393825" cy="415290"/>
          </a:xfrm>
          <a:prstGeom prst="rect">
            <a:avLst/>
          </a:prstGeom>
          <a:noFill/>
        </p:spPr>
        <p:txBody>
          <a:bodyPr wrap="none" lIns="0" tIns="0" rIns="0" bIns="0" rtlCol="0" anchor="t">
            <a:spAutoFit/>
          </a:bodyPr>
          <a:lstStyle/>
          <a:p>
            <a:pPr marL="0" indent="0" algn="ctr">
              <a:lnSpc>
                <a:spcPct val="150000"/>
              </a:lnSpc>
              <a:buNone/>
            </a:pPr>
            <a:r>
              <a:rPr lang="en-US" b="1" dirty="0">
                <a:solidFill>
                  <a:srgbClr val="168044"/>
                </a:solidFill>
                <a:latin typeface="思源黑体 CN Bold" pitchFamily="34" charset="0"/>
                <a:ea typeface="思源黑体 CN Bold" pitchFamily="34" charset="-122"/>
                <a:cs typeface="思源黑体 CN Bold" pitchFamily="34" charset="-120"/>
              </a:rPr>
              <a:t>Low（低危）</a:t>
            </a:r>
            <a:endParaRPr lang="en-US" b="1" dirty="0">
              <a:solidFill>
                <a:srgbClr val="168044"/>
              </a:solidFill>
              <a:latin typeface="思源黑体 CN Bold" pitchFamily="34" charset="0"/>
              <a:ea typeface="思源黑体 CN Bold" pitchFamily="34" charset="-122"/>
              <a:cs typeface="思源黑体 CN Bold" pitchFamily="34" charset="-120"/>
            </a:endParaRPr>
          </a:p>
        </p:txBody>
      </p:sp>
      <p:sp>
        <p:nvSpPr>
          <p:cNvPr id="25" name="Text 16"/>
          <p:cNvSpPr/>
          <p:nvPr>
            <p:custDataLst>
              <p:tags r:id="rId22"/>
            </p:custDataLst>
          </p:nvPr>
        </p:nvSpPr>
        <p:spPr>
          <a:xfrm>
            <a:off x="9296400" y="2621280"/>
            <a:ext cx="1990344" cy="461645"/>
          </a:xfrm>
          <a:prstGeom prst="rect">
            <a:avLst/>
          </a:prstGeom>
          <a:noFill/>
        </p:spPr>
        <p:txBody>
          <a:bodyPr wrap="square" lIns="0" tIns="0" rIns="0" bIns="0" rtlCol="0" anchor="t">
            <a:spAutoFit/>
          </a:bodyPr>
          <a:lstStyle/>
          <a:p>
            <a:pPr marL="0" indent="0" algn="ctr">
              <a:lnSpc>
                <a:spcPct val="150000"/>
              </a:lnSpc>
              <a:buNone/>
            </a:pPr>
            <a:r>
              <a:rPr lang="en-US" sz="1600" dirty="0">
                <a:solidFill>
                  <a:srgbClr val="000000"/>
                </a:solidFill>
                <a:latin typeface="思源黑体 CN Regular" pitchFamily="34" charset="0"/>
                <a:ea typeface="思源黑体 CN Regular" pitchFamily="34" charset="-122"/>
                <a:cs typeface="思源黑体 CN Regular" pitchFamily="34" charset="-120"/>
              </a:rPr>
              <a:t>CVSS分值:</a:t>
            </a:r>
            <a:r>
              <a:rPr lang="en-US" sz="2000" b="1" dirty="0">
                <a:solidFill>
                  <a:srgbClr val="168044"/>
                </a:solidFill>
                <a:latin typeface="思源黑体 CN Bold" pitchFamily="34" charset="0"/>
                <a:ea typeface="思源黑体 CN Bold" pitchFamily="34" charset="-122"/>
                <a:cs typeface="思源黑体 CN Bold" pitchFamily="34" charset="-120"/>
              </a:rPr>
              <a:t>0.1-3.9</a:t>
            </a:r>
            <a:endParaRPr lang="en-US" sz="2000" b="1" dirty="0">
              <a:solidFill>
                <a:srgbClr val="168044"/>
              </a:solidFill>
              <a:latin typeface="思源黑体 CN Bold" pitchFamily="34" charset="0"/>
              <a:ea typeface="思源黑体 CN Bold" pitchFamily="34" charset="-122"/>
              <a:cs typeface="思源黑体 CN Bold" pitchFamily="34" charset="-120"/>
            </a:endParaRPr>
          </a:p>
        </p:txBody>
      </p:sp>
      <p:sp>
        <p:nvSpPr>
          <p:cNvPr id="26" name="Text 17"/>
          <p:cNvSpPr/>
          <p:nvPr>
            <p:custDataLst>
              <p:tags r:id="rId23"/>
            </p:custDataLst>
          </p:nvPr>
        </p:nvSpPr>
        <p:spPr>
          <a:xfrm>
            <a:off x="9540240" y="3093720"/>
            <a:ext cx="1487424" cy="274320"/>
          </a:xfrm>
          <a:prstGeom prst="rect">
            <a:avLst/>
          </a:prstGeom>
          <a:noFill/>
        </p:spPr>
        <p:txBody>
          <a:bodyPr wrap="none" lIns="0" tIns="0" rIns="0" bIns="0" rtlCol="0" anchor="t">
            <a:spAutoFit/>
          </a:bodyPr>
          <a:lstStyle/>
          <a:p>
            <a:pPr marL="0" indent="0" algn="ctr">
              <a:lnSpc>
                <a:spcPct val="15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建议时限: 30-90天</a:t>
            </a:r>
            <a:endParaRPr lang="en-US" sz="1440" dirty="0"/>
          </a:p>
        </p:txBody>
      </p:sp>
      <p:sp>
        <p:nvSpPr>
          <p:cNvPr id="27" name="Text 18"/>
          <p:cNvSpPr/>
          <p:nvPr/>
        </p:nvSpPr>
        <p:spPr>
          <a:xfrm>
            <a:off x="609600" y="3810000"/>
            <a:ext cx="10981944" cy="411480"/>
          </a:xfrm>
          <a:prstGeom prst="rect">
            <a:avLst/>
          </a:prstGeom>
          <a:noFill/>
        </p:spPr>
        <p:txBody>
          <a:bodyPr wrap="none" lIns="0" tIns="0" rIns="0" bIns="0" rtlCol="0" anchor="t">
            <a:spAutoFit/>
          </a:bodyPr>
          <a:lstStyle/>
          <a:p>
            <a:pPr marL="0" indent="0" algn="l">
              <a:lnSpc>
                <a:spcPct val="100000"/>
              </a:lnSpc>
              <a:buNone/>
            </a:pPr>
            <a:r>
              <a:rPr lang="en-US" sz="2160" dirty="0">
                <a:solidFill>
                  <a:srgbClr val="0E4D96"/>
                </a:solidFill>
                <a:latin typeface="思源黑体 CN Bold" pitchFamily="34" charset="0"/>
                <a:ea typeface="思源黑体 CN Bold" pitchFamily="34" charset="-122"/>
                <a:cs typeface="思源黑体 CN Bold" pitchFamily="34" charset="-120"/>
              </a:rPr>
              <a:t>报告关键字段解读：</a:t>
            </a:r>
            <a:endParaRPr lang="en-US" sz="2160" dirty="0"/>
          </a:p>
        </p:txBody>
      </p:sp>
      <p:pic>
        <p:nvPicPr>
          <p:cNvPr id="28" name="Image 7" descr="https://test.web.static.jianzeppt.com/ppt-temp-img3/1b4e7aab446b3e93655ae00b2afb200b.png?x-oss-process=image/resize,w_1440,h_800,m_lfit/format,png"/>
          <p:cNvPicPr>
            <a:picLocks noChangeAspect="1"/>
          </p:cNvPicPr>
          <p:nvPr/>
        </p:nvPicPr>
        <p:blipFill>
          <a:blip r:embed="rId24"/>
          <a:stretch>
            <a:fillRect/>
          </a:stretch>
        </p:blipFill>
        <p:spPr>
          <a:xfrm>
            <a:off x="609600" y="4196080"/>
            <a:ext cx="10972800" cy="2321560"/>
          </a:xfrm>
          <a:prstGeom prst="rect">
            <a:avLst/>
          </a:prstGeom>
        </p:spPr>
      </p:pic>
      <p:graphicFrame>
        <p:nvGraphicFramePr>
          <p:cNvPr id="29" name="Table 0"/>
          <p:cNvGraphicFramePr>
            <a:graphicFrameLocks noGrp="1"/>
          </p:cNvGraphicFramePr>
          <p:nvPr/>
        </p:nvGraphicFramePr>
        <p:xfrm>
          <a:off x="1028700" y="4197985"/>
          <a:ext cx="10134600" cy="2293620"/>
        </p:xfrm>
        <a:graphic>
          <a:graphicData uri="http://schemas.openxmlformats.org/drawingml/2006/table">
            <a:tbl>
              <a:tblPr/>
              <a:tblGrid>
                <a:gridCol w="1599565"/>
                <a:gridCol w="3297555"/>
                <a:gridCol w="5237480"/>
              </a:tblGrid>
              <a:tr h="382270">
                <a:tc>
                  <a:txBody>
                    <a:bodyPr/>
                    <a:lstStyle/>
                    <a:p>
                      <a:pPr marL="0" indent="0" algn="ctr">
                        <a:lnSpc>
                          <a:spcPct val="100000"/>
                        </a:lnSpc>
                        <a:buNone/>
                      </a:pPr>
                      <a:r>
                        <a:rPr lang="en-US" sz="1400" b="1" dirty="0">
                          <a:solidFill>
                            <a:srgbClr val="000000"/>
                          </a:solidFill>
                        </a:rPr>
                        <a:t>字段</a:t>
                      </a:r>
                      <a:endParaRPr lang="en-US" sz="1400" b="1" dirty="0">
                        <a:solidFill>
                          <a:srgbClr val="000000"/>
                        </a:solidFill>
                      </a:endParaRPr>
                    </a:p>
                  </a:txBody>
                  <a:tcPr marL="84688" marR="84688" marT="84688" marB="8468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lnSpc>
                          <a:spcPct val="100000"/>
                        </a:lnSpc>
                        <a:buNone/>
                      </a:pPr>
                      <a:r>
                        <a:rPr lang="en-US" sz="1400" b="1" dirty="0">
                          <a:solidFill>
                            <a:srgbClr val="000000"/>
                          </a:solidFill>
                        </a:rPr>
                        <a:t>含义</a:t>
                      </a:r>
                      <a:endParaRPr lang="en-US" sz="1400" b="1" dirty="0">
                        <a:solidFill>
                          <a:srgbClr val="000000"/>
                        </a:solidFill>
                      </a:endParaRPr>
                    </a:p>
                  </a:txBody>
                  <a:tcPr marL="84688" marR="84688" marT="84688" marB="8468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lnSpc>
                          <a:spcPct val="100000"/>
                        </a:lnSpc>
                        <a:buNone/>
                      </a:pPr>
                      <a:r>
                        <a:rPr lang="en-US" sz="1400" b="1" dirty="0">
                          <a:solidFill>
                            <a:srgbClr val="000000"/>
                          </a:solidFill>
                        </a:rPr>
                        <a:t>关注要点</a:t>
                      </a:r>
                      <a:endParaRPr lang="en-US" sz="1400" b="1" dirty="0">
                        <a:solidFill>
                          <a:srgbClr val="000000"/>
                        </a:solidFill>
                      </a:endParaRPr>
                    </a:p>
                  </a:txBody>
                  <a:tcPr marL="84688" marR="84688" marT="84688" marB="8468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82270">
                <a:tc>
                  <a:txBody>
                    <a:bodyPr/>
                    <a:lstStyle/>
                    <a:p>
                      <a:pPr marL="0" indent="0" algn="ctr">
                        <a:lnSpc>
                          <a:spcPct val="100000"/>
                        </a:lnSpc>
                        <a:buNone/>
                      </a:pPr>
                      <a:r>
                        <a:rPr lang="en-US" sz="1400" dirty="0">
                          <a:solidFill>
                            <a:srgbClr val="000000"/>
                          </a:solidFill>
                        </a:rPr>
                        <a:t>漏洞名称</a:t>
                      </a:r>
                      <a:endParaRPr lang="en-US" sz="1400" dirty="0">
                        <a:solidFill>
                          <a:srgbClr val="000000"/>
                        </a:solidFill>
                      </a:endParaRPr>
                    </a:p>
                  </a:txBody>
                  <a:tcPr marL="84688" marR="84688" marT="84688" marB="8468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lnSpc>
                          <a:spcPct val="100000"/>
                        </a:lnSpc>
                        <a:buNone/>
                      </a:pPr>
                      <a:r>
                        <a:rPr lang="en-US" sz="1400" dirty="0">
                          <a:solidFill>
                            <a:srgbClr val="000000"/>
                          </a:solidFill>
                        </a:rPr>
                        <a:t>漏洞的CVE编号/描述</a:t>
                      </a:r>
                      <a:endParaRPr lang="en-US" sz="1400" dirty="0">
                        <a:solidFill>
                          <a:srgbClr val="000000"/>
                        </a:solidFill>
                      </a:endParaRPr>
                    </a:p>
                  </a:txBody>
                  <a:tcPr marL="84688" marR="84688" marT="84688" marB="8468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lnSpc>
                          <a:spcPct val="100000"/>
                        </a:lnSpc>
                        <a:buNone/>
                      </a:pPr>
                      <a:r>
                        <a:rPr lang="en-US" sz="1400" dirty="0">
                          <a:solidFill>
                            <a:srgbClr val="000000"/>
                          </a:solidFill>
                        </a:rPr>
                        <a:t>确认是否知名漏洞（如永恒之蓝）</a:t>
                      </a:r>
                      <a:endParaRPr lang="en-US" sz="1400" dirty="0">
                        <a:solidFill>
                          <a:srgbClr val="000000"/>
                        </a:solidFill>
                      </a:endParaRPr>
                    </a:p>
                  </a:txBody>
                  <a:tcPr marL="84688" marR="84688" marT="84688" marB="8468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82270">
                <a:tc>
                  <a:txBody>
                    <a:bodyPr/>
                    <a:lstStyle/>
                    <a:p>
                      <a:pPr marL="0" indent="0" algn="ctr">
                        <a:lnSpc>
                          <a:spcPct val="100000"/>
                        </a:lnSpc>
                        <a:buNone/>
                      </a:pPr>
                      <a:r>
                        <a:rPr lang="en-US" sz="1400" dirty="0">
                          <a:solidFill>
                            <a:srgbClr val="000000"/>
                          </a:solidFill>
                        </a:rPr>
                        <a:t>影响主机</a:t>
                      </a:r>
                      <a:endParaRPr lang="en-US" sz="1400" dirty="0">
                        <a:solidFill>
                          <a:srgbClr val="000000"/>
                        </a:solidFill>
                      </a:endParaRPr>
                    </a:p>
                  </a:txBody>
                  <a:tcPr marL="84688" marR="84688" marT="84688" marB="8468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lnSpc>
                          <a:spcPct val="100000"/>
                        </a:lnSpc>
                        <a:buNone/>
                      </a:pPr>
                      <a:r>
                        <a:rPr lang="en-US" sz="1400" dirty="0">
                          <a:solidFill>
                            <a:srgbClr val="000000"/>
                          </a:solidFill>
                        </a:rPr>
                        <a:t>哪些IP/系统受影响</a:t>
                      </a:r>
                      <a:endParaRPr lang="en-US" sz="1400" dirty="0">
                        <a:solidFill>
                          <a:srgbClr val="000000"/>
                        </a:solidFill>
                      </a:endParaRPr>
                    </a:p>
                  </a:txBody>
                  <a:tcPr marL="84688" marR="84688" marT="84688" marB="8468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lnSpc>
                          <a:spcPct val="100000"/>
                        </a:lnSpc>
                        <a:buNone/>
                      </a:pPr>
                      <a:r>
                        <a:rPr lang="en-US" sz="1400" dirty="0">
                          <a:solidFill>
                            <a:srgbClr val="000000"/>
                          </a:solidFill>
                        </a:rPr>
                        <a:t>判断是单点问题还是共性问题</a:t>
                      </a:r>
                      <a:endParaRPr lang="en-US" sz="1400" dirty="0">
                        <a:solidFill>
                          <a:srgbClr val="000000"/>
                        </a:solidFill>
                      </a:endParaRPr>
                    </a:p>
                  </a:txBody>
                  <a:tcPr marL="84688" marR="84688" marT="84688" marB="8468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82270">
                <a:tc>
                  <a:txBody>
                    <a:bodyPr/>
                    <a:lstStyle/>
                    <a:p>
                      <a:pPr marL="0" indent="0" algn="ctr">
                        <a:lnSpc>
                          <a:spcPct val="100000"/>
                        </a:lnSpc>
                        <a:buNone/>
                      </a:pPr>
                      <a:r>
                        <a:rPr lang="en-US" sz="1400" dirty="0">
                          <a:solidFill>
                            <a:srgbClr val="000000"/>
                          </a:solidFill>
                        </a:rPr>
                        <a:t>风险等级</a:t>
                      </a:r>
                      <a:endParaRPr lang="en-US" sz="1400" dirty="0">
                        <a:solidFill>
                          <a:srgbClr val="000000"/>
                        </a:solidFill>
                      </a:endParaRPr>
                    </a:p>
                  </a:txBody>
                  <a:tcPr marL="84688" marR="84688" marT="84688" marB="8468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lnSpc>
                          <a:spcPct val="100000"/>
                        </a:lnSpc>
                        <a:buNone/>
                      </a:pPr>
                      <a:r>
                        <a:rPr lang="en-US" sz="1400" dirty="0">
                          <a:solidFill>
                            <a:srgbClr val="000000"/>
                          </a:solidFill>
                        </a:rPr>
                        <a:t>CVSS评分</a:t>
                      </a:r>
                      <a:endParaRPr lang="en-US" sz="1400" dirty="0">
                        <a:solidFill>
                          <a:srgbClr val="000000"/>
                        </a:solidFill>
                      </a:endParaRPr>
                    </a:p>
                  </a:txBody>
                  <a:tcPr marL="84688" marR="84688" marT="84688" marB="8468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lnSpc>
                          <a:spcPct val="100000"/>
                        </a:lnSpc>
                        <a:buNone/>
                      </a:pPr>
                      <a:r>
                        <a:rPr lang="en-US" sz="1400" dirty="0">
                          <a:solidFill>
                            <a:srgbClr val="000000"/>
                          </a:solidFill>
                        </a:rPr>
                        <a:t>确定修复优先级</a:t>
                      </a:r>
                      <a:endParaRPr lang="en-US" sz="1400" dirty="0">
                        <a:solidFill>
                          <a:srgbClr val="000000"/>
                        </a:solidFill>
                      </a:endParaRPr>
                    </a:p>
                  </a:txBody>
                  <a:tcPr marL="84688" marR="84688" marT="84688" marB="8468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82270">
                <a:tc>
                  <a:txBody>
                    <a:bodyPr/>
                    <a:lstStyle/>
                    <a:p>
                      <a:pPr marL="0" indent="0" algn="ctr">
                        <a:lnSpc>
                          <a:spcPct val="100000"/>
                        </a:lnSpc>
                        <a:buNone/>
                      </a:pPr>
                      <a:r>
                        <a:rPr lang="en-US" sz="1400" dirty="0">
                          <a:solidFill>
                            <a:srgbClr val="000000"/>
                          </a:solidFill>
                        </a:rPr>
                        <a:t>漏洞描述</a:t>
                      </a:r>
                      <a:endParaRPr lang="en-US" sz="1400" dirty="0">
                        <a:solidFill>
                          <a:srgbClr val="000000"/>
                        </a:solidFill>
                      </a:endParaRPr>
                    </a:p>
                  </a:txBody>
                  <a:tcPr marL="84688" marR="84688" marT="84688" marB="8468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lnSpc>
                          <a:spcPct val="100000"/>
                        </a:lnSpc>
                        <a:buNone/>
                      </a:pPr>
                      <a:r>
                        <a:rPr lang="en-US" sz="1400" dirty="0">
                          <a:solidFill>
                            <a:srgbClr val="000000"/>
                          </a:solidFill>
                        </a:rPr>
                        <a:t>漏洞的技术细节</a:t>
                      </a:r>
                      <a:endParaRPr lang="en-US" sz="1400" dirty="0">
                        <a:solidFill>
                          <a:srgbClr val="000000"/>
                        </a:solidFill>
                      </a:endParaRPr>
                    </a:p>
                  </a:txBody>
                  <a:tcPr marL="84688" marR="84688" marT="84688" marB="8468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lnSpc>
                          <a:spcPct val="100000"/>
                        </a:lnSpc>
                        <a:buNone/>
                      </a:pPr>
                      <a:r>
                        <a:rPr lang="en-US" sz="1400" dirty="0">
                          <a:solidFill>
                            <a:srgbClr val="000000"/>
                          </a:solidFill>
                        </a:rPr>
                        <a:t>理解漏洞原理</a:t>
                      </a:r>
                      <a:endParaRPr lang="en-US" sz="1400" dirty="0">
                        <a:solidFill>
                          <a:srgbClr val="000000"/>
                        </a:solidFill>
                      </a:endParaRPr>
                    </a:p>
                  </a:txBody>
                  <a:tcPr marL="84688" marR="84688" marT="84688" marB="8468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82270">
                <a:tc>
                  <a:txBody>
                    <a:bodyPr/>
                    <a:lstStyle/>
                    <a:p>
                      <a:pPr marL="0" indent="0" algn="ctr">
                        <a:lnSpc>
                          <a:spcPct val="100000"/>
                        </a:lnSpc>
                        <a:buNone/>
                      </a:pPr>
                      <a:r>
                        <a:rPr lang="en-US" sz="1400" dirty="0">
                          <a:solidFill>
                            <a:srgbClr val="000000"/>
                          </a:solidFill>
                        </a:rPr>
                        <a:t>修复建议</a:t>
                      </a:r>
                      <a:endParaRPr lang="en-US" sz="1400" dirty="0">
                        <a:solidFill>
                          <a:srgbClr val="000000"/>
                        </a:solidFill>
                      </a:endParaRPr>
                    </a:p>
                  </a:txBody>
                  <a:tcPr marL="84688" marR="84688" marT="84688" marB="8468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lnSpc>
                          <a:spcPct val="100000"/>
                        </a:lnSpc>
                        <a:buNone/>
                      </a:pPr>
                      <a:r>
                        <a:rPr lang="en-US" sz="1400" dirty="0">
                          <a:solidFill>
                            <a:srgbClr val="000000"/>
                          </a:solidFill>
                        </a:rPr>
                        <a:t>推荐的修复方法</a:t>
                      </a:r>
                      <a:endParaRPr lang="en-US" sz="1400" dirty="0">
                        <a:solidFill>
                          <a:srgbClr val="000000"/>
                        </a:solidFill>
                      </a:endParaRPr>
                    </a:p>
                  </a:txBody>
                  <a:tcPr marL="84688" marR="84688" marT="84688" marB="8468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lnSpc>
                          <a:spcPct val="100000"/>
                        </a:lnSpc>
                        <a:buNone/>
                      </a:pPr>
                      <a:r>
                        <a:rPr lang="en-US" sz="1400" dirty="0">
                          <a:solidFill>
                            <a:srgbClr val="000000"/>
                          </a:solidFill>
                        </a:rPr>
                        <a:t>判断是否可操作</a:t>
                      </a:r>
                      <a:endParaRPr lang="en-US" sz="1400" dirty="0">
                        <a:solidFill>
                          <a:srgbClr val="000000"/>
                        </a:solidFill>
                      </a:endParaRPr>
                    </a:p>
                  </a:txBody>
                  <a:tcPr marL="84688" marR="84688" marT="84688" marB="8468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这条漏洞是真的吗——误报怎么验</a:t>
            </a:r>
            <a:endParaRPr lang="en-US" sz="2760" dirty="0"/>
          </a:p>
        </p:txBody>
      </p:sp>
      <p:pic>
        <p:nvPicPr>
          <p:cNvPr id="6" name="Image 3" descr="https://test.web.static.jianzeppt.com/ppt-temp-img3/ecb436f3b44d9743f299b0bd837154de.png?x-oss-process=image/resize,w_1440,h_800,m_lfit/format,png"/>
          <p:cNvPicPr>
            <a:picLocks noChangeAspect="1"/>
          </p:cNvPicPr>
          <p:nvPr/>
        </p:nvPicPr>
        <p:blipFill>
          <a:blip r:embed="rId4"/>
          <a:stretch>
            <a:fillRect/>
          </a:stretch>
        </p:blipFill>
        <p:spPr>
          <a:xfrm>
            <a:off x="609600" y="1371600"/>
            <a:ext cx="6583680" cy="5181600"/>
          </a:xfrm>
          <a:prstGeom prst="rect">
            <a:avLst/>
          </a:prstGeom>
        </p:spPr>
      </p:pic>
      <p:sp>
        <p:nvSpPr>
          <p:cNvPr id="7" name="Text 1"/>
          <p:cNvSpPr/>
          <p:nvPr/>
        </p:nvSpPr>
        <p:spPr>
          <a:xfrm>
            <a:off x="929640" y="1691640"/>
            <a:ext cx="5952744" cy="411480"/>
          </a:xfrm>
          <a:prstGeom prst="rect">
            <a:avLst/>
          </a:prstGeom>
          <a:noFill/>
        </p:spPr>
        <p:txBody>
          <a:bodyPr wrap="none" lIns="0" tIns="0" rIns="0" bIns="0" rtlCol="0" anchor="t">
            <a:spAutoFit/>
          </a:bodyPr>
          <a:lstStyle/>
          <a:p>
            <a:pPr marL="0" indent="0" algn="l">
              <a:lnSpc>
                <a:spcPct val="100000"/>
              </a:lnSpc>
              <a:buNone/>
            </a:pPr>
            <a:r>
              <a:rPr lang="en-US" sz="2160" dirty="0">
                <a:solidFill>
                  <a:srgbClr val="0E4D96"/>
                </a:solidFill>
                <a:latin typeface="思源黑体 CN Bold" pitchFamily="34" charset="0"/>
                <a:ea typeface="思源黑体 CN Bold" pitchFamily="34" charset="-122"/>
                <a:cs typeface="思源黑体 CN Bold" pitchFamily="34" charset="-120"/>
              </a:rPr>
              <a:t>误报的常见原因</a:t>
            </a:r>
            <a:endParaRPr lang="en-US" sz="2160" dirty="0"/>
          </a:p>
        </p:txBody>
      </p:sp>
      <p:graphicFrame>
        <p:nvGraphicFramePr>
          <p:cNvPr id="13" name="Table 0"/>
          <p:cNvGraphicFramePr>
            <a:graphicFrameLocks noGrp="1"/>
          </p:cNvGraphicFramePr>
          <p:nvPr/>
        </p:nvGraphicFramePr>
        <p:xfrm>
          <a:off x="929640" y="2346960"/>
          <a:ext cx="5943600" cy="3886200"/>
        </p:xfrm>
        <a:graphic>
          <a:graphicData uri="http://schemas.openxmlformats.org/drawingml/2006/table">
            <a:tbl>
              <a:tblPr/>
              <a:tblGrid>
                <a:gridCol w="1879339"/>
                <a:gridCol w="2184922"/>
                <a:gridCol w="1879339"/>
              </a:tblGrid>
              <a:tr h="777240">
                <a:tc>
                  <a:txBody>
                    <a:bodyPr/>
                    <a:lstStyle/>
                    <a:p>
                      <a:pPr marL="0" indent="0" algn="ctr">
                        <a:buNone/>
                      </a:pPr>
                      <a:r>
                        <a:rPr lang="en-US" sz="1600" b="1" dirty="0">
                          <a:solidFill>
                            <a:srgbClr val="000000"/>
                          </a:solidFill>
                        </a:rPr>
                        <a:t>原因</a:t>
                      </a:r>
                      <a:endParaRPr lang="en-US" sz="1600" b="1"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000000"/>
                          </a:solidFill>
                        </a:rPr>
                        <a:t>示例</a:t>
                      </a:r>
                      <a:endParaRPr lang="en-US" sz="1600" b="1"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000000"/>
                          </a:solidFill>
                        </a:rPr>
                        <a:t>验证方法</a:t>
                      </a:r>
                      <a:endParaRPr lang="en-US" sz="1600" b="1"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777240">
                <a:tc>
                  <a:txBody>
                    <a:bodyPr/>
                    <a:lstStyle/>
                    <a:p>
                      <a:pPr marL="0" indent="0" algn="ctr">
                        <a:buNone/>
                      </a:pPr>
                      <a:r>
                        <a:rPr lang="en-US" sz="1600" dirty="0">
                          <a:solidFill>
                            <a:srgbClr val="000000"/>
                          </a:solidFill>
                        </a:rPr>
                        <a:t>版本号误判</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基于banner识别版本，与实际不符</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登录系统确认实际版本</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777240">
                <a:tc>
                  <a:txBody>
                    <a:bodyPr/>
                    <a:lstStyle/>
                    <a:p>
                      <a:pPr marL="0" indent="0" algn="ctr">
                        <a:buNone/>
                      </a:pPr>
                      <a:r>
                        <a:rPr lang="en-US" sz="1600" dirty="0">
                          <a:solidFill>
                            <a:srgbClr val="000000"/>
                          </a:solidFill>
                        </a:rPr>
                        <a:t>配置误判</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扫描工具认为默认配置=不安全</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检查实际配置是否有补偿措施</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777240">
                <a:tc>
                  <a:txBody>
                    <a:bodyPr/>
                    <a:lstStyle/>
                    <a:p>
                      <a:pPr marL="0" indent="0" algn="ctr">
                        <a:buNone/>
                      </a:pPr>
                      <a:r>
                        <a:rPr lang="en-US" sz="1600" dirty="0">
                          <a:solidFill>
                            <a:srgbClr val="000000"/>
                          </a:solidFill>
                        </a:rPr>
                        <a:t>网络环境干扰</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防火墙、IDS导致响应异常</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在本地网络重新扫描</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777240">
                <a:tc>
                  <a:txBody>
                    <a:bodyPr/>
                    <a:lstStyle/>
                    <a:p>
                      <a:pPr marL="0" indent="0" algn="ctr">
                        <a:buNone/>
                      </a:pPr>
                      <a:r>
                        <a:rPr lang="en-US" sz="1600" dirty="0">
                          <a:solidFill>
                            <a:srgbClr val="000000"/>
                          </a:solidFill>
                        </a:rPr>
                        <a:t>漏洞已修复但未更新扫描缓存</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补丁已安装但扫描库未及时更新</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对比补丁安装记录</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pic>
        <p:nvPicPr>
          <p:cNvPr id="9" name="Image 4" descr="https://test.web.static.jianzeppt.com/ppt-temp-img3/eb1842b4523720baac55c48f2bee07dd.png?x-oss-process=image/resize,w_1440,h_800,m_lfit/format,png"/>
          <p:cNvPicPr>
            <a:picLocks noChangeAspect="1"/>
          </p:cNvPicPr>
          <p:nvPr/>
        </p:nvPicPr>
        <p:blipFill>
          <a:blip r:embed="rId5"/>
          <a:stretch>
            <a:fillRect/>
          </a:stretch>
        </p:blipFill>
        <p:spPr>
          <a:xfrm>
            <a:off x="7741920" y="1371600"/>
            <a:ext cx="3840480" cy="5181600"/>
          </a:xfrm>
          <a:prstGeom prst="rect">
            <a:avLst/>
          </a:prstGeom>
        </p:spPr>
      </p:pic>
      <p:sp>
        <p:nvSpPr>
          <p:cNvPr id="10" name="Text 2"/>
          <p:cNvSpPr/>
          <p:nvPr/>
        </p:nvSpPr>
        <p:spPr>
          <a:xfrm>
            <a:off x="8061960" y="1691640"/>
            <a:ext cx="3209544" cy="411480"/>
          </a:xfrm>
          <a:prstGeom prst="rect">
            <a:avLst/>
          </a:prstGeom>
          <a:noFill/>
        </p:spPr>
        <p:txBody>
          <a:bodyPr wrap="none" lIns="0" tIns="0" rIns="0" bIns="0" rtlCol="0" anchor="t">
            <a:spAutoFit/>
          </a:bodyPr>
          <a:lstStyle/>
          <a:p>
            <a:pPr marL="0" indent="0" algn="l">
              <a:lnSpc>
                <a:spcPct val="100000"/>
              </a:lnSpc>
              <a:buNone/>
            </a:pPr>
            <a:r>
              <a:rPr lang="en-US" sz="2160" dirty="0">
                <a:solidFill>
                  <a:srgbClr val="0E4D96"/>
                </a:solidFill>
                <a:latin typeface="思源黑体 CN Bold" pitchFamily="34" charset="0"/>
                <a:ea typeface="思源黑体 CN Bold" pitchFamily="34" charset="-122"/>
                <a:cs typeface="思源黑体 CN Bold" pitchFamily="34" charset="-120"/>
              </a:rPr>
              <a:t>验证误报的三步法</a:t>
            </a:r>
            <a:endParaRPr lang="en-US" sz="2160" dirty="0"/>
          </a:p>
        </p:txBody>
      </p:sp>
      <p:pic>
        <p:nvPicPr>
          <p:cNvPr id="11" name="Image 5" descr="https://test.web.static.jianzeppt.com/ppt-temp-img3/30b7ab85bd52bb7dc372afd10320a193.png?x-oss-process=image/resize,w_1440,h_800,m_lfit/format,png"/>
          <p:cNvPicPr>
            <a:picLocks noChangeAspect="1"/>
          </p:cNvPicPr>
          <p:nvPr/>
        </p:nvPicPr>
        <p:blipFill>
          <a:blip r:embed="rId6"/>
          <a:stretch>
            <a:fillRect/>
          </a:stretch>
        </p:blipFill>
        <p:spPr>
          <a:xfrm>
            <a:off x="8290560" y="2773680"/>
            <a:ext cx="30480" cy="3154680"/>
          </a:xfrm>
          <a:prstGeom prst="rect">
            <a:avLst/>
          </a:prstGeom>
        </p:spPr>
      </p:pic>
      <p:pic>
        <p:nvPicPr>
          <p:cNvPr id="12" name="Image 6"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061960" y="2529840"/>
            <a:ext cx="487680" cy="487680"/>
          </a:xfrm>
          <a:prstGeom prst="rect">
            <a:avLst/>
          </a:prstGeom>
        </p:spPr>
      </p:pic>
      <p:sp>
        <p:nvSpPr>
          <p:cNvPr id="8" name="Text 3"/>
          <p:cNvSpPr/>
          <p:nvPr/>
        </p:nvSpPr>
        <p:spPr>
          <a:xfrm>
            <a:off x="8229600" y="2590800"/>
            <a:ext cx="161544" cy="365760"/>
          </a:xfrm>
          <a:prstGeom prst="rect">
            <a:avLst/>
          </a:prstGeom>
          <a:noFill/>
        </p:spPr>
        <p:txBody>
          <a:bodyPr wrap="none" lIns="0" tIns="0" rIns="0" bIns="0" rtlCol="0" anchor="ctr"/>
          <a:lstStyle/>
          <a:p>
            <a:pPr marL="0" indent="0" algn="ctr">
              <a:lnSpc>
                <a:spcPct val="150000"/>
              </a:lnSpc>
              <a:buNone/>
            </a:pPr>
            <a:r>
              <a:rPr lang="en-US" sz="1920" b="1" dirty="0">
                <a:solidFill>
                  <a:srgbClr val="FFFFFF"/>
                </a:solidFill>
                <a:latin typeface="思源黑体 CN Bold" pitchFamily="34" charset="0"/>
                <a:ea typeface="思源黑体 CN Bold" pitchFamily="34" charset="-122"/>
                <a:cs typeface="思源黑体 CN Bold" pitchFamily="34" charset="-120"/>
              </a:rPr>
              <a:t>1</a:t>
            </a:r>
            <a:endParaRPr lang="en-US" sz="1920" dirty="0"/>
          </a:p>
        </p:txBody>
      </p:sp>
      <p:sp>
        <p:nvSpPr>
          <p:cNvPr id="14" name="Text 4"/>
          <p:cNvSpPr/>
          <p:nvPr/>
        </p:nvSpPr>
        <p:spPr>
          <a:xfrm>
            <a:off x="8793480" y="2468880"/>
            <a:ext cx="2478024" cy="365760"/>
          </a:xfrm>
          <a:prstGeom prst="rect">
            <a:avLst/>
          </a:prstGeom>
          <a:noFill/>
        </p:spPr>
        <p:txBody>
          <a:bodyPr wrap="none" lIns="0" tIns="0" rIns="0" bIns="0" rtlCol="0" anchor="t">
            <a:spAutoFit/>
          </a:bodyPr>
          <a:lstStyle/>
          <a:p>
            <a:pPr marL="0" indent="0" algn="l">
              <a:lnSpc>
                <a:spcPct val="150000"/>
              </a:lnSpc>
              <a:buNone/>
            </a:pPr>
            <a:r>
              <a:rPr lang="en-US" sz="1920" dirty="0">
                <a:solidFill>
                  <a:srgbClr val="000000"/>
                </a:solidFill>
                <a:latin typeface="思源黑体 CN Bold" pitchFamily="34" charset="0"/>
                <a:ea typeface="思源黑体 CN Bold" pitchFamily="34" charset="-122"/>
                <a:cs typeface="思源黑体 CN Bold" pitchFamily="34" charset="-120"/>
              </a:rPr>
              <a:t>查看漏洞详情</a:t>
            </a:r>
            <a:endParaRPr lang="en-US" sz="1920" dirty="0"/>
          </a:p>
        </p:txBody>
      </p:sp>
      <p:sp>
        <p:nvSpPr>
          <p:cNvPr id="15" name="Text 5"/>
          <p:cNvSpPr/>
          <p:nvPr/>
        </p:nvSpPr>
        <p:spPr>
          <a:xfrm>
            <a:off x="8793480" y="2895600"/>
            <a:ext cx="2478024" cy="640080"/>
          </a:xfrm>
          <a:prstGeom prst="rect">
            <a:avLst/>
          </a:prstGeom>
          <a:noFill/>
        </p:spPr>
        <p:txBody>
          <a:bodyPr wrap="square" lIns="0" tIns="0" rIns="0" bIns="0" rtlCol="0" anchor="ctr">
            <a:spAutoFit/>
          </a:bodyPr>
          <a:lstStyle/>
          <a:p>
            <a:pPr marL="0" indent="0" algn="l">
              <a:lnSpc>
                <a:spcPct val="150000"/>
              </a:lnSpc>
              <a:buNone/>
            </a:pPr>
            <a:r>
              <a:rPr lang="en-US" sz="1680" dirty="0">
                <a:solidFill>
                  <a:srgbClr val="6B6C70"/>
                </a:solidFill>
                <a:latin typeface="思源黑体 CN Regular" pitchFamily="34" charset="0"/>
                <a:ea typeface="思源黑体 CN Regular" pitchFamily="34" charset="-122"/>
                <a:cs typeface="思源黑体 CN Regular" pitchFamily="34" charset="-120"/>
              </a:rPr>
              <a:t>阅读扫描报告中的“漏洞描述”和“验证方法”</a:t>
            </a:r>
            <a:endParaRPr lang="en-US" sz="1680" dirty="0"/>
          </a:p>
        </p:txBody>
      </p:sp>
      <p:pic>
        <p:nvPicPr>
          <p:cNvPr id="16" name="Image 7" descr="preencoded.png"/>
          <p:cNvPicPr>
            <a:picLocks noChangeAspect="1"/>
          </p:cNvPicPr>
          <p:nvPr/>
        </p:nvPicPr>
        <p:blipFill>
          <a:blip r:embed="rId9">
            <a:extLst>
              <a:ext uri="{96DAC541-7B7A-43D3-8B79-37D633B846F1}">
                <asvg:svgBlip xmlns:asvg="http://schemas.microsoft.com/office/drawing/2016/SVG/main" r:embed="rId8"/>
              </a:ext>
            </a:extLst>
          </a:blip>
          <a:stretch>
            <a:fillRect/>
          </a:stretch>
        </p:blipFill>
        <p:spPr>
          <a:xfrm>
            <a:off x="8061960" y="3886200"/>
            <a:ext cx="487680" cy="487680"/>
          </a:xfrm>
          <a:prstGeom prst="rect">
            <a:avLst/>
          </a:prstGeom>
        </p:spPr>
      </p:pic>
      <p:sp>
        <p:nvSpPr>
          <p:cNvPr id="17" name="Text 6"/>
          <p:cNvSpPr/>
          <p:nvPr/>
        </p:nvSpPr>
        <p:spPr>
          <a:xfrm>
            <a:off x="8229600" y="3947160"/>
            <a:ext cx="161544" cy="365760"/>
          </a:xfrm>
          <a:prstGeom prst="rect">
            <a:avLst/>
          </a:prstGeom>
          <a:noFill/>
        </p:spPr>
        <p:txBody>
          <a:bodyPr wrap="none" lIns="0" tIns="0" rIns="0" bIns="0" rtlCol="0" anchor="ctr"/>
          <a:lstStyle/>
          <a:p>
            <a:pPr marL="0" indent="0" algn="ctr">
              <a:lnSpc>
                <a:spcPct val="150000"/>
              </a:lnSpc>
              <a:buNone/>
            </a:pPr>
            <a:r>
              <a:rPr lang="en-US" sz="1920" b="1" dirty="0">
                <a:solidFill>
                  <a:srgbClr val="FFFFFF"/>
                </a:solidFill>
                <a:latin typeface="思源黑体 CN Bold" pitchFamily="34" charset="0"/>
                <a:ea typeface="思源黑体 CN Bold" pitchFamily="34" charset="-122"/>
                <a:cs typeface="思源黑体 CN Bold" pitchFamily="34" charset="-120"/>
              </a:rPr>
              <a:t>2</a:t>
            </a:r>
            <a:endParaRPr lang="en-US" sz="1920" dirty="0"/>
          </a:p>
        </p:txBody>
      </p:sp>
      <p:sp>
        <p:nvSpPr>
          <p:cNvPr id="18" name="Text 7"/>
          <p:cNvSpPr/>
          <p:nvPr/>
        </p:nvSpPr>
        <p:spPr>
          <a:xfrm>
            <a:off x="8793480" y="3825240"/>
            <a:ext cx="2478024" cy="365760"/>
          </a:xfrm>
          <a:prstGeom prst="rect">
            <a:avLst/>
          </a:prstGeom>
          <a:noFill/>
        </p:spPr>
        <p:txBody>
          <a:bodyPr wrap="none" lIns="0" tIns="0" rIns="0" bIns="0" rtlCol="0" anchor="t">
            <a:spAutoFit/>
          </a:bodyPr>
          <a:lstStyle/>
          <a:p>
            <a:pPr marL="0" indent="0" algn="l">
              <a:lnSpc>
                <a:spcPct val="150000"/>
              </a:lnSpc>
              <a:buNone/>
            </a:pPr>
            <a:r>
              <a:rPr lang="en-US" sz="1920" dirty="0">
                <a:solidFill>
                  <a:srgbClr val="000000"/>
                </a:solidFill>
                <a:latin typeface="思源黑体 CN Bold" pitchFamily="34" charset="0"/>
                <a:ea typeface="思源黑体 CN Bold" pitchFamily="34" charset="-122"/>
                <a:cs typeface="思源黑体 CN Bold" pitchFamily="34" charset="-120"/>
              </a:rPr>
              <a:t>手动验证</a:t>
            </a:r>
            <a:endParaRPr lang="en-US" sz="1920" dirty="0"/>
          </a:p>
        </p:txBody>
      </p:sp>
      <p:sp>
        <p:nvSpPr>
          <p:cNvPr id="19" name="Text 8"/>
          <p:cNvSpPr/>
          <p:nvPr/>
        </p:nvSpPr>
        <p:spPr>
          <a:xfrm>
            <a:off x="8793480" y="4251960"/>
            <a:ext cx="2478024" cy="640080"/>
          </a:xfrm>
          <a:prstGeom prst="rect">
            <a:avLst/>
          </a:prstGeom>
          <a:noFill/>
        </p:spPr>
        <p:txBody>
          <a:bodyPr wrap="square" lIns="0" tIns="0" rIns="0" bIns="0" rtlCol="0" anchor="ctr">
            <a:spAutoFit/>
          </a:bodyPr>
          <a:lstStyle/>
          <a:p>
            <a:pPr marL="0" indent="0" algn="l">
              <a:lnSpc>
                <a:spcPct val="150000"/>
              </a:lnSpc>
              <a:buNone/>
            </a:pPr>
            <a:r>
              <a:rPr lang="en-US" sz="1680" dirty="0">
                <a:solidFill>
                  <a:srgbClr val="6B6C70"/>
                </a:solidFill>
                <a:latin typeface="思源黑体 CN Regular" pitchFamily="34" charset="0"/>
                <a:ea typeface="思源黑体 CN Regular" pitchFamily="34" charset="-122"/>
                <a:cs typeface="思源黑体 CN Regular" pitchFamily="34" charset="-120"/>
              </a:rPr>
              <a:t>登录目标系统，检查配置文件/补丁状态</a:t>
            </a:r>
            <a:endParaRPr lang="en-US" sz="1680" dirty="0"/>
          </a:p>
        </p:txBody>
      </p:sp>
      <p:pic>
        <p:nvPicPr>
          <p:cNvPr id="20" name="Image 8" descr="preencoded.png"/>
          <p:cNvPicPr>
            <a:picLocks noChangeAspect="1"/>
          </p:cNvPicPr>
          <p:nvPr/>
        </p:nvPicPr>
        <p:blipFill>
          <a:blip r:embed="rId10">
            <a:extLst>
              <a:ext uri="{96DAC541-7B7A-43D3-8B79-37D633B846F1}">
                <asvg:svgBlip xmlns:asvg="http://schemas.microsoft.com/office/drawing/2016/SVG/main" r:embed="rId8"/>
              </a:ext>
            </a:extLst>
          </a:blip>
          <a:stretch>
            <a:fillRect/>
          </a:stretch>
        </p:blipFill>
        <p:spPr>
          <a:xfrm>
            <a:off x="8061960" y="5227320"/>
            <a:ext cx="487680" cy="487680"/>
          </a:xfrm>
          <a:prstGeom prst="rect">
            <a:avLst/>
          </a:prstGeom>
        </p:spPr>
      </p:pic>
      <p:sp>
        <p:nvSpPr>
          <p:cNvPr id="21" name="Text 9"/>
          <p:cNvSpPr/>
          <p:nvPr/>
        </p:nvSpPr>
        <p:spPr>
          <a:xfrm>
            <a:off x="8229600" y="5288280"/>
            <a:ext cx="161544" cy="365760"/>
          </a:xfrm>
          <a:prstGeom prst="rect">
            <a:avLst/>
          </a:prstGeom>
          <a:noFill/>
        </p:spPr>
        <p:txBody>
          <a:bodyPr wrap="none" lIns="0" tIns="0" rIns="0" bIns="0" rtlCol="0" anchor="ctr"/>
          <a:lstStyle/>
          <a:p>
            <a:pPr marL="0" indent="0" algn="ctr">
              <a:lnSpc>
                <a:spcPct val="150000"/>
              </a:lnSpc>
              <a:buNone/>
            </a:pPr>
            <a:r>
              <a:rPr lang="en-US" sz="1920" b="1" dirty="0">
                <a:solidFill>
                  <a:srgbClr val="FFFFFF"/>
                </a:solidFill>
                <a:latin typeface="思源黑体 CN Bold" pitchFamily="34" charset="0"/>
                <a:ea typeface="思源黑体 CN Bold" pitchFamily="34" charset="-122"/>
                <a:cs typeface="思源黑体 CN Bold" pitchFamily="34" charset="-120"/>
              </a:rPr>
              <a:t>3</a:t>
            </a:r>
            <a:endParaRPr lang="en-US" sz="1920" dirty="0"/>
          </a:p>
        </p:txBody>
      </p:sp>
      <p:sp>
        <p:nvSpPr>
          <p:cNvPr id="22" name="Text 10"/>
          <p:cNvSpPr/>
          <p:nvPr/>
        </p:nvSpPr>
        <p:spPr>
          <a:xfrm>
            <a:off x="8793480" y="5166360"/>
            <a:ext cx="2478024" cy="365760"/>
          </a:xfrm>
          <a:prstGeom prst="rect">
            <a:avLst/>
          </a:prstGeom>
          <a:noFill/>
        </p:spPr>
        <p:txBody>
          <a:bodyPr wrap="none" lIns="0" tIns="0" rIns="0" bIns="0" rtlCol="0" anchor="t">
            <a:spAutoFit/>
          </a:bodyPr>
          <a:lstStyle/>
          <a:p>
            <a:pPr marL="0" indent="0" algn="l">
              <a:lnSpc>
                <a:spcPct val="150000"/>
              </a:lnSpc>
              <a:buNone/>
            </a:pPr>
            <a:r>
              <a:rPr lang="en-US" sz="1920" dirty="0">
                <a:solidFill>
                  <a:srgbClr val="000000"/>
                </a:solidFill>
                <a:latin typeface="思源黑体 CN Bold" pitchFamily="34" charset="0"/>
                <a:ea typeface="思源黑体 CN Bold" pitchFamily="34" charset="-122"/>
                <a:cs typeface="思源黑体 CN Bold" pitchFamily="34" charset="-120"/>
              </a:rPr>
              <a:t>对比确认</a:t>
            </a:r>
            <a:endParaRPr lang="en-US" sz="1920" dirty="0"/>
          </a:p>
        </p:txBody>
      </p:sp>
      <p:sp>
        <p:nvSpPr>
          <p:cNvPr id="23" name="Text 11"/>
          <p:cNvSpPr/>
          <p:nvPr/>
        </p:nvSpPr>
        <p:spPr>
          <a:xfrm>
            <a:off x="8793480" y="5593080"/>
            <a:ext cx="2478024" cy="640080"/>
          </a:xfrm>
          <a:prstGeom prst="rect">
            <a:avLst/>
          </a:prstGeom>
          <a:noFill/>
        </p:spPr>
        <p:txBody>
          <a:bodyPr wrap="square" lIns="0" tIns="0" rIns="0" bIns="0" rtlCol="0" anchor="ctr">
            <a:spAutoFit/>
          </a:bodyPr>
          <a:lstStyle/>
          <a:p>
            <a:pPr marL="0" indent="0" algn="l">
              <a:lnSpc>
                <a:spcPct val="150000"/>
              </a:lnSpc>
              <a:buNone/>
            </a:pPr>
            <a:r>
              <a:rPr lang="en-US" sz="1680" dirty="0">
                <a:solidFill>
                  <a:srgbClr val="6B6C70"/>
                </a:solidFill>
                <a:latin typeface="思源黑体 CN Regular" pitchFamily="34" charset="0"/>
                <a:ea typeface="思源黑体 CN Regular" pitchFamily="34" charset="-122"/>
                <a:cs typeface="思源黑体 CN Regular" pitchFamily="34" charset="-120"/>
              </a:rPr>
              <a:t>使用另一款工具交叉验证，或咨询运维人员</a:t>
            </a:r>
            <a:endParaRPr lang="en-US" sz="168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扫描结果怎么落到等保条款</a:t>
            </a:r>
            <a:endParaRPr lang="en-US" sz="2760" dirty="0"/>
          </a:p>
        </p:txBody>
      </p:sp>
      <p:sp>
        <p:nvSpPr>
          <p:cNvPr id="6" name="Text 1"/>
          <p:cNvSpPr/>
          <p:nvPr/>
        </p:nvSpPr>
        <p:spPr>
          <a:xfrm>
            <a:off x="609600" y="1371600"/>
            <a:ext cx="1098194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等保测评中漏洞扫描结果的应用场景：</a:t>
            </a:r>
            <a:endParaRPr lang="en-US" sz="1680" dirty="0"/>
          </a:p>
        </p:txBody>
      </p:sp>
      <p:pic>
        <p:nvPicPr>
          <p:cNvPr id="7" name="Image 3" descr="https://test.web.static.jianzeppt.com/ppt-temp-img3/48233c083a2495892137126f21abf970.png?x-oss-process=image/resize,w_1440,h_800,m_lfit/format,png"/>
          <p:cNvPicPr>
            <a:picLocks noChangeAspect="1"/>
          </p:cNvPicPr>
          <p:nvPr/>
        </p:nvPicPr>
        <p:blipFill>
          <a:blip r:embed="rId4"/>
          <a:stretch>
            <a:fillRect/>
          </a:stretch>
        </p:blipFill>
        <p:spPr>
          <a:xfrm>
            <a:off x="609600" y="5120640"/>
            <a:ext cx="10972800" cy="1242695"/>
          </a:xfrm>
          <a:prstGeom prst="rect">
            <a:avLst/>
          </a:prstGeom>
        </p:spPr>
      </p:pic>
      <p:sp>
        <p:nvSpPr>
          <p:cNvPr id="8" name="Text 2"/>
          <p:cNvSpPr/>
          <p:nvPr/>
        </p:nvSpPr>
        <p:spPr>
          <a:xfrm>
            <a:off x="868680" y="5379720"/>
            <a:ext cx="10463784" cy="457200"/>
          </a:xfrm>
          <a:prstGeom prst="rect">
            <a:avLst/>
          </a:prstGeom>
          <a:noFill/>
        </p:spPr>
        <p:txBody>
          <a:bodyPr wrap="square" lIns="0" tIns="0" rIns="0" bIns="0" rtlCol="0" anchor="t">
            <a:spAutoFit/>
          </a:bodyPr>
          <a:lstStyle/>
          <a:p>
            <a:pPr marL="0" indent="0" algn="ctr">
              <a:lnSpc>
                <a:spcPct val="150000"/>
              </a:lnSpc>
              <a:buNone/>
            </a:pPr>
            <a:r>
              <a:rPr lang="en-US" sz="2160" dirty="0">
                <a:solidFill>
                  <a:srgbClr val="000000"/>
                </a:solidFill>
                <a:latin typeface="思源黑体 CN Regular" pitchFamily="34" charset="0"/>
                <a:ea typeface="思源黑体 CN Regular" pitchFamily="34" charset="-122"/>
                <a:cs typeface="思源黑体 CN Regular" pitchFamily="34" charset="-120"/>
              </a:rPr>
              <a:t>关键认识： 漏洞扫描报告中的高危漏洞，通常直接对应等保测评中的</a:t>
            </a:r>
            <a:r>
              <a:rPr lang="en-US" sz="2400" dirty="0">
                <a:solidFill>
                  <a:srgbClr val="000000"/>
                </a:solidFill>
                <a:highlight>
                  <a:srgbClr val="FFFFFF"/>
                </a:highlight>
                <a:latin typeface="思源黑体 CN Bold" pitchFamily="34" charset="0"/>
                <a:ea typeface="思源黑体 CN Bold" pitchFamily="34" charset="-122"/>
                <a:cs typeface="思源黑体 CN Bold" pitchFamily="34" charset="-120"/>
              </a:rPr>
              <a:t>“不符合项”</a:t>
            </a:r>
            <a:r>
              <a:rPr lang="en-US" sz="2160" dirty="0">
                <a:solidFill>
                  <a:srgbClr val="000000"/>
                </a:solidFill>
                <a:latin typeface="思源黑体 CN Regular" pitchFamily="34" charset="0"/>
                <a:ea typeface="思源黑体 CN Regular" pitchFamily="34" charset="-122"/>
                <a:cs typeface="思源黑体 CN Regular" pitchFamily="34" charset="-120"/>
              </a:rPr>
              <a:t>。</a:t>
            </a:r>
            <a:endParaRPr lang="en-US" sz="2160" dirty="0"/>
          </a:p>
        </p:txBody>
      </p:sp>
      <p:graphicFrame>
        <p:nvGraphicFramePr>
          <p:cNvPr id="14" name="Table 0"/>
          <p:cNvGraphicFramePr>
            <a:graphicFrameLocks noGrp="1"/>
          </p:cNvGraphicFramePr>
          <p:nvPr/>
        </p:nvGraphicFramePr>
        <p:xfrm>
          <a:off x="609600" y="1935480"/>
          <a:ext cx="10972800" cy="2941320"/>
        </p:xfrm>
        <a:graphic>
          <a:graphicData uri="http://schemas.openxmlformats.org/drawingml/2006/table">
            <a:tbl>
              <a:tblPr/>
              <a:tblGrid>
                <a:gridCol w="3169920"/>
                <a:gridCol w="4251960"/>
                <a:gridCol w="3550920"/>
              </a:tblGrid>
              <a:tr h="588264">
                <a:tc>
                  <a:txBody>
                    <a:bodyPr/>
                    <a:lstStyle/>
                    <a:p>
                      <a:pPr marL="0" indent="0" algn="ctr">
                        <a:buNone/>
                      </a:pPr>
                      <a:r>
                        <a:rPr lang="en-US" sz="1680" b="1" dirty="0">
                          <a:solidFill>
                            <a:srgbClr val="000000"/>
                          </a:solidFill>
                        </a:rPr>
                        <a:t>等保测评维度</a:t>
                      </a:r>
                      <a:endParaRPr lang="en-US" sz="1680" b="1"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80" b="1" dirty="0">
                          <a:solidFill>
                            <a:srgbClr val="000000"/>
                          </a:solidFill>
                        </a:rPr>
                        <a:t>漏洞扫描发现的对应问题</a:t>
                      </a:r>
                      <a:endParaRPr lang="en-US" sz="1680" b="1"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80" b="1" dirty="0">
                          <a:solidFill>
                            <a:srgbClr val="000000"/>
                          </a:solidFill>
                        </a:rPr>
                        <a:t>测评判定</a:t>
                      </a:r>
                      <a:endParaRPr lang="en-US" sz="1680" b="1"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88264">
                <a:tc>
                  <a:txBody>
                    <a:bodyPr/>
                    <a:lstStyle/>
                    <a:p>
                      <a:pPr marL="0" indent="0" algn="ctr">
                        <a:buNone/>
                      </a:pPr>
                      <a:r>
                        <a:rPr lang="en-US" sz="1680" dirty="0">
                          <a:solidFill>
                            <a:srgbClr val="000000"/>
                          </a:solidFill>
                        </a:rPr>
                        <a:t>安全计算环境-身份鉴别</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80" dirty="0">
                          <a:solidFill>
                            <a:srgbClr val="000000"/>
                          </a:solidFill>
                        </a:rPr>
                        <a:t>存在弱口令漏洞</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80" dirty="0">
                          <a:solidFill>
                            <a:srgbClr val="000000"/>
                          </a:solidFill>
                        </a:rPr>
                        <a:t>影响身份鉴别合规性</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88264">
                <a:tc>
                  <a:txBody>
                    <a:bodyPr/>
                    <a:lstStyle/>
                    <a:p>
                      <a:pPr marL="0" indent="0" algn="ctr">
                        <a:buNone/>
                      </a:pPr>
                      <a:r>
                        <a:rPr lang="en-US" sz="1680" dirty="0">
                          <a:solidFill>
                            <a:srgbClr val="000000"/>
                          </a:solidFill>
                        </a:rPr>
                        <a:t>安全计算环境-入侵防范</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80" dirty="0">
                          <a:solidFill>
                            <a:srgbClr val="000000"/>
                          </a:solidFill>
                        </a:rPr>
                        <a:t>存在未修复的高危漏洞</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80" dirty="0">
                          <a:solidFill>
                            <a:srgbClr val="000000"/>
                          </a:solidFill>
                        </a:rPr>
                        <a:t>直接导致入侵防范不符合</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88264">
                <a:tc>
                  <a:txBody>
                    <a:bodyPr/>
                    <a:lstStyle/>
                    <a:p>
                      <a:pPr marL="0" indent="0" algn="ctr">
                        <a:buNone/>
                      </a:pPr>
                      <a:r>
                        <a:rPr lang="en-US" sz="1680" dirty="0">
                          <a:solidFill>
                            <a:srgbClr val="000000"/>
                          </a:solidFill>
                        </a:rPr>
                        <a:t>安全区域边界-访问控制</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80" dirty="0">
                          <a:solidFill>
                            <a:srgbClr val="000000"/>
                          </a:solidFill>
                        </a:rPr>
                        <a:t>开放了高危端口（如3389、22）</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80" dirty="0">
                          <a:solidFill>
                            <a:srgbClr val="000000"/>
                          </a:solidFill>
                        </a:rPr>
                        <a:t>边界防护策略不严</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88264">
                <a:tc>
                  <a:txBody>
                    <a:bodyPr/>
                    <a:lstStyle/>
                    <a:p>
                      <a:pPr marL="0" indent="0" algn="ctr">
                        <a:buNone/>
                      </a:pPr>
                      <a:r>
                        <a:rPr lang="en-US" sz="1680" dirty="0">
                          <a:solidFill>
                            <a:srgbClr val="000000"/>
                          </a:solidFill>
                        </a:rPr>
                        <a:t>安全区域边界-入侵防范</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80" dirty="0">
                          <a:solidFill>
                            <a:srgbClr val="000000"/>
                          </a:solidFill>
                        </a:rPr>
                        <a:t>扫描发现可利用漏洞</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80" dirty="0">
                          <a:solidFill>
                            <a:srgbClr val="000000"/>
                          </a:solidFill>
                        </a:rPr>
                        <a:t>说明入侵防范能力不足</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实验②做什么——结果分析与出表</a:t>
            </a:r>
            <a:endParaRPr lang="en-US" sz="2760" dirty="0"/>
          </a:p>
        </p:txBody>
      </p:sp>
      <p:pic>
        <p:nvPicPr>
          <p:cNvPr id="6" name="Image 3" descr="https://test.web.static.jianzeppt.com/ppt-temp-img3/e16e36116ae2ec97b361d042658f6734.png?x-oss-process=image/resize,w_1440,h_800,m_lfit/format,png"/>
          <p:cNvPicPr>
            <a:picLocks noChangeAspect="1"/>
          </p:cNvPicPr>
          <p:nvPr/>
        </p:nvPicPr>
        <p:blipFill>
          <a:blip r:embed="rId4"/>
          <a:stretch>
            <a:fillRect/>
          </a:stretch>
        </p:blipFill>
        <p:spPr>
          <a:xfrm>
            <a:off x="609600" y="1371600"/>
            <a:ext cx="10972800" cy="2164080"/>
          </a:xfrm>
          <a:prstGeom prst="rect">
            <a:avLst/>
          </a:prstGeom>
        </p:spPr>
      </p:pic>
      <p:pic>
        <p:nvPicPr>
          <p:cNvPr id="7" name="Image 4" descr="https://test.web.static.jianzeppt.com/ppt-temp-img3/23e993e135068c3c377a1ffa4b9688c5.png?x-oss-process=image/resize,w_1440,h_800,m_lfit/format,png"/>
          <p:cNvPicPr>
            <a:picLocks noChangeAspect="1"/>
          </p:cNvPicPr>
          <p:nvPr/>
        </p:nvPicPr>
        <p:blipFill>
          <a:blip r:embed="rId5"/>
          <a:stretch>
            <a:fillRect/>
          </a:stretch>
        </p:blipFill>
        <p:spPr>
          <a:xfrm>
            <a:off x="624840" y="1386840"/>
            <a:ext cx="10942320" cy="746760"/>
          </a:xfrm>
          <a:prstGeom prst="rect">
            <a:avLst/>
          </a:prstGeom>
        </p:spPr>
      </p:pic>
      <p:sp>
        <p:nvSpPr>
          <p:cNvPr id="8" name="Text 1"/>
          <p:cNvSpPr/>
          <p:nvPr/>
        </p:nvSpPr>
        <p:spPr>
          <a:xfrm>
            <a:off x="990600" y="1600200"/>
            <a:ext cx="512064" cy="365760"/>
          </a:xfrm>
          <a:prstGeom prst="rect">
            <a:avLst/>
          </a:prstGeom>
          <a:noFill/>
        </p:spPr>
        <p:txBody>
          <a:bodyPr wrap="none" lIns="0" tIns="0" rIns="0" bIns="0" rtlCol="0" anchor="t">
            <a:spAutoFit/>
          </a:bodyPr>
          <a:lstStyle/>
          <a:p>
            <a:pPr marL="0" indent="0" algn="l">
              <a:lnSpc>
                <a:spcPct val="150000"/>
              </a:lnSpc>
              <a:buNone/>
            </a:pPr>
            <a:r>
              <a:rPr lang="en-US" sz="1920" b="1" dirty="0">
                <a:solidFill>
                  <a:srgbClr val="FFFFFF"/>
                </a:solidFill>
              </a:rPr>
              <a:t>项目</a:t>
            </a:r>
            <a:endParaRPr lang="en-US" sz="1920" dirty="0"/>
          </a:p>
        </p:txBody>
      </p:sp>
      <p:pic>
        <p:nvPicPr>
          <p:cNvPr id="9" name="Image 5" descr="https://test.web.static.jianzeppt.com/ppt-temp-img3/624308defef0065b02fe38e1eb20d19b.png?x-oss-process=image/resize,w_1440,h_800,m_lfit/format,png"/>
          <p:cNvPicPr>
            <a:picLocks noChangeAspect="1"/>
          </p:cNvPicPr>
          <p:nvPr/>
        </p:nvPicPr>
        <p:blipFill>
          <a:blip r:embed="rId6"/>
          <a:stretch>
            <a:fillRect/>
          </a:stretch>
        </p:blipFill>
        <p:spPr>
          <a:xfrm>
            <a:off x="624840" y="2125980"/>
            <a:ext cx="2735580" cy="15240"/>
          </a:xfrm>
          <a:prstGeom prst="rect">
            <a:avLst/>
          </a:prstGeom>
        </p:spPr>
      </p:pic>
      <p:sp>
        <p:nvSpPr>
          <p:cNvPr id="10" name="Text 2"/>
          <p:cNvSpPr/>
          <p:nvPr/>
        </p:nvSpPr>
        <p:spPr>
          <a:xfrm>
            <a:off x="3733800" y="1600200"/>
            <a:ext cx="512064" cy="365760"/>
          </a:xfrm>
          <a:prstGeom prst="rect">
            <a:avLst/>
          </a:prstGeom>
          <a:noFill/>
        </p:spPr>
        <p:txBody>
          <a:bodyPr wrap="none" lIns="0" tIns="0" rIns="0" bIns="0" rtlCol="0" anchor="t">
            <a:spAutoFit/>
          </a:bodyPr>
          <a:lstStyle/>
          <a:p>
            <a:pPr marL="0" indent="0" algn="l">
              <a:lnSpc>
                <a:spcPct val="150000"/>
              </a:lnSpc>
              <a:buNone/>
            </a:pPr>
            <a:r>
              <a:rPr lang="en-US" sz="1920" b="1" dirty="0">
                <a:solidFill>
                  <a:srgbClr val="FFFFFF"/>
                </a:solidFill>
              </a:rPr>
              <a:t>说明</a:t>
            </a:r>
            <a:endParaRPr lang="en-US" sz="1920" dirty="0"/>
          </a:p>
        </p:txBody>
      </p:sp>
      <p:pic>
        <p:nvPicPr>
          <p:cNvPr id="11" name="Image 6" descr="https://test.web.static.jianzeppt.com/ppt-temp-img3/4aba60c62445983e55bbcd44926519c4.png?x-oss-process=image/resize,w_1440,h_800,m_lfit/format,png"/>
          <p:cNvPicPr>
            <a:picLocks noChangeAspect="1"/>
          </p:cNvPicPr>
          <p:nvPr/>
        </p:nvPicPr>
        <p:blipFill>
          <a:blip r:embed="rId7"/>
          <a:stretch>
            <a:fillRect/>
          </a:stretch>
        </p:blipFill>
        <p:spPr>
          <a:xfrm>
            <a:off x="3360420" y="2125980"/>
            <a:ext cx="8206740" cy="15240"/>
          </a:xfrm>
          <a:prstGeom prst="rect">
            <a:avLst/>
          </a:prstGeom>
        </p:spPr>
      </p:pic>
      <p:pic>
        <p:nvPicPr>
          <p:cNvPr id="12" name="Image 7" descr="https://test.web.static.jianzeppt.com/ppt-temp-img3/011e2217fd4e60960d08563b2f03fede.png?x-oss-process=image/resize,w_1440,h_800,m_lfit/format,png"/>
          <p:cNvPicPr>
            <a:picLocks noChangeAspect="1"/>
          </p:cNvPicPr>
          <p:nvPr/>
        </p:nvPicPr>
        <p:blipFill>
          <a:blip r:embed="rId8"/>
          <a:stretch>
            <a:fillRect/>
          </a:stretch>
        </p:blipFill>
        <p:spPr>
          <a:xfrm>
            <a:off x="624840" y="2133600"/>
            <a:ext cx="2743200" cy="701040"/>
          </a:xfrm>
          <a:prstGeom prst="rect">
            <a:avLst/>
          </a:prstGeom>
        </p:spPr>
      </p:pic>
      <p:sp>
        <p:nvSpPr>
          <p:cNvPr id="13" name="Text 3"/>
          <p:cNvSpPr/>
          <p:nvPr/>
        </p:nvSpPr>
        <p:spPr>
          <a:xfrm>
            <a:off x="990600" y="2346960"/>
            <a:ext cx="862584" cy="320040"/>
          </a:xfrm>
          <a:prstGeom prst="rect">
            <a:avLst/>
          </a:prstGeom>
          <a:noFill/>
        </p:spPr>
        <p:txBody>
          <a:bodyPr wrap="none" lIns="0" tIns="0" rIns="0" bIns="0" rtlCol="0" anchor="t">
            <a:spAutoFit/>
          </a:bodyPr>
          <a:lstStyle/>
          <a:p>
            <a:pPr marL="0" indent="0" algn="l">
              <a:lnSpc>
                <a:spcPct val="150000"/>
              </a:lnSpc>
              <a:buNone/>
            </a:pPr>
            <a:r>
              <a:rPr lang="en-US" sz="1680" b="1" dirty="0">
                <a:solidFill>
                  <a:srgbClr val="000000"/>
                </a:solidFill>
              </a:rPr>
              <a:t>实验名称</a:t>
            </a:r>
            <a:endParaRPr lang="en-US" sz="1680" dirty="0"/>
          </a:p>
        </p:txBody>
      </p:sp>
      <p:sp>
        <p:nvSpPr>
          <p:cNvPr id="14" name="Text 4"/>
          <p:cNvSpPr/>
          <p:nvPr/>
        </p:nvSpPr>
        <p:spPr>
          <a:xfrm>
            <a:off x="3733800" y="2316480"/>
            <a:ext cx="749198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rPr>
              <a:t>漏洞扫描结果分析（西普报告 + 分析表判定）</a:t>
            </a:r>
            <a:endParaRPr lang="en-US" sz="1680" dirty="0"/>
          </a:p>
        </p:txBody>
      </p:sp>
      <p:pic>
        <p:nvPicPr>
          <p:cNvPr id="15" name="Image 8" descr="https://test.web.static.jianzeppt.com/ppt-temp-img3/c7646540a035fea593be34d7f5a5212c.png?x-oss-process=image/resize,w_1440,h_800,m_lfit/format,png"/>
          <p:cNvPicPr>
            <a:picLocks noChangeAspect="1"/>
          </p:cNvPicPr>
          <p:nvPr/>
        </p:nvPicPr>
        <p:blipFill>
          <a:blip r:embed="rId9"/>
          <a:stretch>
            <a:fillRect/>
          </a:stretch>
        </p:blipFill>
        <p:spPr>
          <a:xfrm>
            <a:off x="624840" y="2827020"/>
            <a:ext cx="10942320" cy="15240"/>
          </a:xfrm>
          <a:prstGeom prst="rect">
            <a:avLst/>
          </a:prstGeom>
        </p:spPr>
      </p:pic>
      <p:pic>
        <p:nvPicPr>
          <p:cNvPr id="16" name="Image 9" descr="https://test.web.static.jianzeppt.com/ppt-temp-img3/9053a0cc9dea10490cb9ce4ec252f8c2.png?x-oss-process=image/resize,w_1440,h_800,m_lfit/format,png"/>
          <p:cNvPicPr>
            <a:picLocks noChangeAspect="1"/>
          </p:cNvPicPr>
          <p:nvPr/>
        </p:nvPicPr>
        <p:blipFill>
          <a:blip r:embed="rId10"/>
          <a:stretch>
            <a:fillRect/>
          </a:stretch>
        </p:blipFill>
        <p:spPr>
          <a:xfrm>
            <a:off x="624840" y="2834640"/>
            <a:ext cx="2743200" cy="701040"/>
          </a:xfrm>
          <a:prstGeom prst="rect">
            <a:avLst/>
          </a:prstGeom>
        </p:spPr>
      </p:pic>
      <p:sp>
        <p:nvSpPr>
          <p:cNvPr id="17" name="Text 5"/>
          <p:cNvSpPr/>
          <p:nvPr/>
        </p:nvSpPr>
        <p:spPr>
          <a:xfrm>
            <a:off x="990600" y="3048000"/>
            <a:ext cx="862584" cy="320040"/>
          </a:xfrm>
          <a:prstGeom prst="rect">
            <a:avLst/>
          </a:prstGeom>
          <a:noFill/>
        </p:spPr>
        <p:txBody>
          <a:bodyPr wrap="none" lIns="0" tIns="0" rIns="0" bIns="0" rtlCol="0" anchor="t">
            <a:spAutoFit/>
          </a:bodyPr>
          <a:lstStyle/>
          <a:p>
            <a:pPr marL="0" indent="0" algn="l">
              <a:lnSpc>
                <a:spcPct val="150000"/>
              </a:lnSpc>
              <a:buNone/>
            </a:pPr>
            <a:r>
              <a:rPr lang="en-US" sz="1680" b="1" dirty="0">
                <a:solidFill>
                  <a:srgbClr val="000000"/>
                </a:solidFill>
              </a:rPr>
              <a:t>实验环境</a:t>
            </a:r>
            <a:endParaRPr lang="en-US" sz="1680" dirty="0"/>
          </a:p>
        </p:txBody>
      </p:sp>
      <p:sp>
        <p:nvSpPr>
          <p:cNvPr id="18" name="Text 6"/>
          <p:cNvSpPr/>
          <p:nvPr/>
        </p:nvSpPr>
        <p:spPr>
          <a:xfrm>
            <a:off x="3733800" y="3017520"/>
            <a:ext cx="749198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rPr>
              <a:t>实验①导出的报告 + 《漏洞扫描结果分析表》（素材2）</a:t>
            </a:r>
            <a:endParaRPr lang="en-US" sz="1680" dirty="0"/>
          </a:p>
        </p:txBody>
      </p:sp>
      <p:pic>
        <p:nvPicPr>
          <p:cNvPr id="19" name="Image 10" descr="https://test.web.static.jianzeppt.com/ppt-temp-img3/1ca467b1a1bd5420ad4922ba88111964.png?x-oss-process=image/resize,w_1440,h_800,m_lfit/format,png"/>
          <p:cNvPicPr>
            <a:picLocks noChangeAspect="1"/>
          </p:cNvPicPr>
          <p:nvPr/>
        </p:nvPicPr>
        <p:blipFill>
          <a:blip r:embed="rId11"/>
          <a:stretch>
            <a:fillRect/>
          </a:stretch>
        </p:blipFill>
        <p:spPr>
          <a:xfrm>
            <a:off x="609600" y="3901440"/>
            <a:ext cx="10972800" cy="2651760"/>
          </a:xfrm>
          <a:prstGeom prst="rect">
            <a:avLst/>
          </a:prstGeom>
        </p:spPr>
      </p:pic>
      <p:pic>
        <p:nvPicPr>
          <p:cNvPr id="20" name="Image 11" descr="preencoded.png"/>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29640" y="4343400"/>
            <a:ext cx="121920" cy="121920"/>
          </a:xfrm>
          <a:prstGeom prst="rect">
            <a:avLst/>
          </a:prstGeom>
        </p:spPr>
      </p:pic>
      <p:sp>
        <p:nvSpPr>
          <p:cNvPr id="21" name="Text 7"/>
          <p:cNvSpPr/>
          <p:nvPr/>
        </p:nvSpPr>
        <p:spPr>
          <a:xfrm>
            <a:off x="1173480" y="4251960"/>
            <a:ext cx="999744" cy="289560"/>
          </a:xfrm>
          <a:prstGeom prst="rect">
            <a:avLst/>
          </a:prstGeom>
          <a:noFill/>
        </p:spPr>
        <p:txBody>
          <a:bodyPr wrap="none" lIns="0" tIns="0" rIns="0" bIns="0" rtlCol="0" anchor="ctr"/>
          <a:lstStyle/>
          <a:p>
            <a:pPr marL="0" indent="0" algn="l">
              <a:lnSpc>
                <a:spcPct val="150000"/>
              </a:lnSpc>
              <a:buNone/>
            </a:pPr>
            <a:r>
              <a:rPr lang="en-US" sz="1920" b="1" dirty="0">
                <a:solidFill>
                  <a:srgbClr val="000000"/>
                </a:solidFill>
              </a:rPr>
              <a:t>分析四步</a:t>
            </a:r>
            <a:endParaRPr lang="en-US" sz="1920" dirty="0"/>
          </a:p>
        </p:txBody>
      </p:sp>
      <p:pic>
        <p:nvPicPr>
          <p:cNvPr id="22" name="Image 12" descr="https://test.web.static.jianzeppt.com/ppt-temp-img3/c582cafce06f803b61a2687079e4ce1a.png?x-oss-process=image/resize,w_1440,h_800,m_lfit/format,png"/>
          <p:cNvPicPr>
            <a:picLocks noChangeAspect="1"/>
          </p:cNvPicPr>
          <p:nvPr/>
        </p:nvPicPr>
        <p:blipFill>
          <a:blip r:embed="rId14"/>
          <a:stretch>
            <a:fillRect/>
          </a:stretch>
        </p:blipFill>
        <p:spPr>
          <a:xfrm>
            <a:off x="3276600" y="4937760"/>
            <a:ext cx="411480" cy="243840"/>
          </a:xfrm>
          <a:prstGeom prst="rect">
            <a:avLst/>
          </a:prstGeom>
        </p:spPr>
      </p:pic>
      <p:pic>
        <p:nvPicPr>
          <p:cNvPr id="23" name="Image 13" descr="https://test.web.static.jianzeppt.com/ppt-temp-img3/c582cafce06f803b61a2687079e4ce1a.png?x-oss-process=image/resize,w_1440,h_800,m_lfit/format,png"/>
          <p:cNvPicPr>
            <a:picLocks noChangeAspect="1"/>
          </p:cNvPicPr>
          <p:nvPr/>
        </p:nvPicPr>
        <p:blipFill>
          <a:blip r:embed="rId14"/>
          <a:stretch>
            <a:fillRect/>
          </a:stretch>
        </p:blipFill>
        <p:spPr>
          <a:xfrm>
            <a:off x="5897880" y="4937760"/>
            <a:ext cx="411480" cy="243840"/>
          </a:xfrm>
          <a:prstGeom prst="rect">
            <a:avLst/>
          </a:prstGeom>
        </p:spPr>
      </p:pic>
      <p:pic>
        <p:nvPicPr>
          <p:cNvPr id="24" name="Image 14" descr="https://test.web.static.jianzeppt.com/ppt-temp-img3/c582cafce06f803b61a2687079e4ce1a.png?x-oss-process=image/resize,w_1440,h_800,m_lfit/format,png"/>
          <p:cNvPicPr>
            <a:picLocks noChangeAspect="1"/>
          </p:cNvPicPr>
          <p:nvPr/>
        </p:nvPicPr>
        <p:blipFill>
          <a:blip r:embed="rId14"/>
          <a:stretch>
            <a:fillRect/>
          </a:stretch>
        </p:blipFill>
        <p:spPr>
          <a:xfrm>
            <a:off x="8519160" y="4937760"/>
            <a:ext cx="411480" cy="243840"/>
          </a:xfrm>
          <a:prstGeom prst="rect">
            <a:avLst/>
          </a:prstGeom>
        </p:spPr>
      </p:pic>
      <p:pic>
        <p:nvPicPr>
          <p:cNvPr id="25" name="Image 15" descr="https://test.web.static.jianzeppt.com/ppt-temp-img3/e99898c0be76831828f13f6f118907a4.png?x-oss-process=image/resize,w_1440,h_800,m_lfit/format,png"/>
          <p:cNvPicPr>
            <a:picLocks noChangeAspect="1"/>
          </p:cNvPicPr>
          <p:nvPr/>
        </p:nvPicPr>
        <p:blipFill>
          <a:blip r:embed="rId15"/>
          <a:stretch>
            <a:fillRect/>
          </a:stretch>
        </p:blipFill>
        <p:spPr>
          <a:xfrm>
            <a:off x="2072640" y="5143500"/>
            <a:ext cx="8061960" cy="30480"/>
          </a:xfrm>
          <a:prstGeom prst="rect">
            <a:avLst/>
          </a:prstGeom>
        </p:spPr>
      </p:pic>
      <p:pic>
        <p:nvPicPr>
          <p:cNvPr id="26" name="Image 16" descr="preencoded.png"/>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798320" y="4617720"/>
            <a:ext cx="731520" cy="731520"/>
          </a:xfrm>
          <a:prstGeom prst="rect">
            <a:avLst/>
          </a:prstGeom>
          <a:effectLst>
            <a:outerShdw blurRad="-2147483648" dist="1935480000" dir="-1" algn="bl" rotWithShape="0">
              <a:srgbClr val="000000">
                <a:alpha val="1000000000"/>
              </a:srgbClr>
            </a:outerShdw>
          </a:effectLst>
        </p:spPr>
      </p:pic>
      <p:sp>
        <p:nvSpPr>
          <p:cNvPr id="27" name="Text 8"/>
          <p:cNvSpPr/>
          <p:nvPr/>
        </p:nvSpPr>
        <p:spPr>
          <a:xfrm>
            <a:off x="1965960" y="4831080"/>
            <a:ext cx="405384" cy="320040"/>
          </a:xfrm>
          <a:prstGeom prst="rect">
            <a:avLst/>
          </a:prstGeom>
          <a:noFill/>
        </p:spPr>
        <p:txBody>
          <a:bodyPr wrap="none" lIns="0" tIns="0" rIns="0" bIns="0" rtlCol="0" anchor="ctr"/>
          <a:lstStyle/>
          <a:p>
            <a:pPr marL="0" indent="0" algn="ctr">
              <a:lnSpc>
                <a:spcPct val="150000"/>
              </a:lnSpc>
              <a:buNone/>
            </a:pPr>
            <a:r>
              <a:rPr lang="en-US" sz="2160" b="1" dirty="0">
                <a:solidFill>
                  <a:srgbClr val="FFFFFF"/>
                </a:solidFill>
              </a:rPr>
              <a:t>01</a:t>
            </a:r>
            <a:endParaRPr lang="en-US" sz="2160" dirty="0"/>
          </a:p>
        </p:txBody>
      </p:sp>
      <p:pic>
        <p:nvPicPr>
          <p:cNvPr id="28" name="Image 17" descr="https://test.web.static.jianzeppt.com/ppt-temp-img3/5905c1dc719e60e96e6cb45bbb559218.png?x-oss-process=image/resize,w_1440,h_800,m_lfit/format,png"/>
          <p:cNvPicPr>
            <a:picLocks noChangeAspect="1"/>
          </p:cNvPicPr>
          <p:nvPr/>
        </p:nvPicPr>
        <p:blipFill>
          <a:blip r:embed="rId18"/>
          <a:stretch>
            <a:fillRect/>
          </a:stretch>
        </p:blipFill>
        <p:spPr>
          <a:xfrm>
            <a:off x="929640" y="5298440"/>
            <a:ext cx="2346960" cy="1036320"/>
          </a:xfrm>
          <a:prstGeom prst="rect">
            <a:avLst/>
          </a:prstGeom>
        </p:spPr>
      </p:pic>
      <p:sp>
        <p:nvSpPr>
          <p:cNvPr id="29" name="Text 9"/>
          <p:cNvSpPr/>
          <p:nvPr/>
        </p:nvSpPr>
        <p:spPr>
          <a:xfrm>
            <a:off x="1453515" y="5527040"/>
            <a:ext cx="1359535" cy="774065"/>
          </a:xfrm>
          <a:prstGeom prst="rect">
            <a:avLst/>
          </a:prstGeom>
          <a:noFill/>
        </p:spPr>
        <p:txBody>
          <a:bodyPr wrap="square" lIns="0" tIns="0" rIns="0" bIns="0" rtlCol="0" anchor="t">
            <a:spAutoFit/>
          </a:bodyPr>
          <a:lstStyle/>
          <a:p>
            <a:pPr marL="0" indent="0" algn="ctr">
              <a:lnSpc>
                <a:spcPct val="150000"/>
              </a:lnSpc>
              <a:buNone/>
            </a:pPr>
            <a:r>
              <a:rPr lang="en-US" sz="1680" dirty="0">
                <a:solidFill>
                  <a:srgbClr val="000000"/>
                </a:solidFill>
              </a:rPr>
              <a:t>提：挑出高危及以上条目，一条一行</a:t>
            </a:r>
            <a:endParaRPr lang="en-US" sz="1680" dirty="0"/>
          </a:p>
        </p:txBody>
      </p:sp>
      <p:pic>
        <p:nvPicPr>
          <p:cNvPr id="30" name="Image 18" descr="preencoded.png"/>
          <p:cNvPicPr>
            <a:picLocks noChangeAspect="1"/>
          </p:cNvPicPr>
          <p:nvPr/>
        </p:nvPicPr>
        <p:blipFill>
          <a:blip r:embed="rId19">
            <a:extLst>
              <a:ext uri="{96DAC541-7B7A-43D3-8B79-37D633B846F1}">
                <asvg:svgBlip xmlns:asvg="http://schemas.microsoft.com/office/drawing/2016/SVG/main" r:embed="rId17"/>
              </a:ext>
            </a:extLst>
          </a:blip>
          <a:stretch>
            <a:fillRect/>
          </a:stretch>
        </p:blipFill>
        <p:spPr>
          <a:xfrm>
            <a:off x="4419600" y="4617720"/>
            <a:ext cx="731520" cy="731520"/>
          </a:xfrm>
          <a:prstGeom prst="rect">
            <a:avLst/>
          </a:prstGeom>
          <a:effectLst>
            <a:outerShdw blurRad="-2147483648" dist="1935480000" dir="-1" algn="bl" rotWithShape="0">
              <a:srgbClr val="000000">
                <a:alpha val="1000000000"/>
              </a:srgbClr>
            </a:outerShdw>
          </a:effectLst>
        </p:spPr>
      </p:pic>
      <p:sp>
        <p:nvSpPr>
          <p:cNvPr id="31" name="Text 10"/>
          <p:cNvSpPr/>
          <p:nvPr/>
        </p:nvSpPr>
        <p:spPr>
          <a:xfrm>
            <a:off x="4587240" y="4831080"/>
            <a:ext cx="405384" cy="320040"/>
          </a:xfrm>
          <a:prstGeom prst="rect">
            <a:avLst/>
          </a:prstGeom>
          <a:noFill/>
        </p:spPr>
        <p:txBody>
          <a:bodyPr wrap="none" lIns="0" tIns="0" rIns="0" bIns="0" rtlCol="0" anchor="ctr"/>
          <a:lstStyle/>
          <a:p>
            <a:pPr marL="0" indent="0" algn="ctr">
              <a:lnSpc>
                <a:spcPct val="150000"/>
              </a:lnSpc>
              <a:buNone/>
            </a:pPr>
            <a:r>
              <a:rPr lang="en-US" sz="2160" b="1" dirty="0">
                <a:solidFill>
                  <a:srgbClr val="FFFFFF"/>
                </a:solidFill>
              </a:rPr>
              <a:t>02</a:t>
            </a:r>
            <a:endParaRPr lang="en-US" sz="2160" dirty="0"/>
          </a:p>
        </p:txBody>
      </p:sp>
      <p:pic>
        <p:nvPicPr>
          <p:cNvPr id="32" name="Image 19" descr="https://test.web.static.jianzeppt.com/ppt-temp-img3/5905c1dc719e60e96e6cb45bbb559218.png?x-oss-process=image/resize,w_1440,h_800,m_lfit/format,png"/>
          <p:cNvPicPr>
            <a:picLocks noChangeAspect="1"/>
          </p:cNvPicPr>
          <p:nvPr/>
        </p:nvPicPr>
        <p:blipFill>
          <a:blip r:embed="rId18"/>
          <a:stretch>
            <a:fillRect/>
          </a:stretch>
        </p:blipFill>
        <p:spPr>
          <a:xfrm>
            <a:off x="3550920" y="5298440"/>
            <a:ext cx="2346960" cy="1036320"/>
          </a:xfrm>
          <a:prstGeom prst="rect">
            <a:avLst/>
          </a:prstGeom>
        </p:spPr>
      </p:pic>
      <p:sp>
        <p:nvSpPr>
          <p:cNvPr id="33" name="Text 11"/>
          <p:cNvSpPr/>
          <p:nvPr/>
        </p:nvSpPr>
        <p:spPr>
          <a:xfrm>
            <a:off x="4192905" y="5527040"/>
            <a:ext cx="1134745" cy="774065"/>
          </a:xfrm>
          <a:prstGeom prst="rect">
            <a:avLst/>
          </a:prstGeom>
          <a:noFill/>
        </p:spPr>
        <p:txBody>
          <a:bodyPr wrap="square" lIns="0" tIns="0" rIns="0" bIns="0" rtlCol="0" anchor="t">
            <a:spAutoFit/>
          </a:bodyPr>
          <a:lstStyle/>
          <a:p>
            <a:pPr marL="0" indent="0" algn="ctr">
              <a:lnSpc>
                <a:spcPct val="150000"/>
              </a:lnSpc>
              <a:buNone/>
            </a:pPr>
            <a:r>
              <a:rPr lang="en-US" sz="1680" dirty="0">
                <a:solidFill>
                  <a:srgbClr val="000000"/>
                </a:solidFill>
              </a:rPr>
              <a:t>分：按 CVSS 与"能不能被利用"分档</a:t>
            </a:r>
            <a:endParaRPr lang="en-US" sz="1680" dirty="0"/>
          </a:p>
        </p:txBody>
      </p:sp>
      <p:pic>
        <p:nvPicPr>
          <p:cNvPr id="34" name="Image 20" descr="preencoded.png"/>
          <p:cNvPicPr>
            <a:picLocks noChangeAspect="1"/>
          </p:cNvPicPr>
          <p:nvPr/>
        </p:nvPicPr>
        <p:blipFill>
          <a:blip r:embed="rId20">
            <a:extLst>
              <a:ext uri="{96DAC541-7B7A-43D3-8B79-37D633B846F1}">
                <asvg:svgBlip xmlns:asvg="http://schemas.microsoft.com/office/drawing/2016/SVG/main" r:embed="rId17"/>
              </a:ext>
            </a:extLst>
          </a:blip>
          <a:stretch>
            <a:fillRect/>
          </a:stretch>
        </p:blipFill>
        <p:spPr>
          <a:xfrm>
            <a:off x="7040880" y="4617720"/>
            <a:ext cx="731520" cy="731520"/>
          </a:xfrm>
          <a:prstGeom prst="rect">
            <a:avLst/>
          </a:prstGeom>
          <a:effectLst>
            <a:outerShdw blurRad="-2147483648" dist="1935480000" dir="-1" algn="bl" rotWithShape="0">
              <a:srgbClr val="000000">
                <a:alpha val="1000000000"/>
              </a:srgbClr>
            </a:outerShdw>
          </a:effectLst>
        </p:spPr>
      </p:pic>
      <p:sp>
        <p:nvSpPr>
          <p:cNvPr id="35" name="Text 12"/>
          <p:cNvSpPr/>
          <p:nvPr/>
        </p:nvSpPr>
        <p:spPr>
          <a:xfrm>
            <a:off x="7223760" y="4831080"/>
            <a:ext cx="405384" cy="320040"/>
          </a:xfrm>
          <a:prstGeom prst="rect">
            <a:avLst/>
          </a:prstGeom>
          <a:noFill/>
        </p:spPr>
        <p:txBody>
          <a:bodyPr wrap="none" lIns="0" tIns="0" rIns="0" bIns="0" rtlCol="0" anchor="ctr"/>
          <a:lstStyle/>
          <a:p>
            <a:pPr marL="0" indent="0" algn="ctr">
              <a:lnSpc>
                <a:spcPct val="150000"/>
              </a:lnSpc>
              <a:buNone/>
            </a:pPr>
            <a:r>
              <a:rPr lang="en-US" sz="2160" b="1" dirty="0">
                <a:solidFill>
                  <a:srgbClr val="FFFFFF"/>
                </a:solidFill>
              </a:rPr>
              <a:t>03</a:t>
            </a:r>
            <a:endParaRPr lang="en-US" sz="2160" dirty="0"/>
          </a:p>
        </p:txBody>
      </p:sp>
      <p:pic>
        <p:nvPicPr>
          <p:cNvPr id="36" name="Image 21" descr="https://test.web.static.jianzeppt.com/ppt-temp-img3/5905c1dc719e60e96e6cb45bbb559218.png?x-oss-process=image/resize,w_1440,h_800,m_lfit/format,png"/>
          <p:cNvPicPr>
            <a:picLocks noChangeAspect="1"/>
          </p:cNvPicPr>
          <p:nvPr/>
        </p:nvPicPr>
        <p:blipFill>
          <a:blip r:embed="rId18"/>
          <a:stretch>
            <a:fillRect/>
          </a:stretch>
        </p:blipFill>
        <p:spPr>
          <a:xfrm>
            <a:off x="6172200" y="5298440"/>
            <a:ext cx="2346960" cy="1036320"/>
          </a:xfrm>
          <a:prstGeom prst="rect">
            <a:avLst/>
          </a:prstGeom>
        </p:spPr>
      </p:pic>
      <p:sp>
        <p:nvSpPr>
          <p:cNvPr id="37" name="Text 13"/>
          <p:cNvSpPr/>
          <p:nvPr/>
        </p:nvSpPr>
        <p:spPr>
          <a:xfrm>
            <a:off x="6696075" y="5527040"/>
            <a:ext cx="1359535" cy="774065"/>
          </a:xfrm>
          <a:prstGeom prst="rect">
            <a:avLst/>
          </a:prstGeom>
          <a:noFill/>
        </p:spPr>
        <p:txBody>
          <a:bodyPr wrap="square" lIns="0" tIns="0" rIns="0" bIns="0" rtlCol="0" anchor="t">
            <a:spAutoFit/>
          </a:bodyPr>
          <a:lstStyle/>
          <a:p>
            <a:pPr marL="0" indent="0" algn="ctr">
              <a:lnSpc>
                <a:spcPct val="150000"/>
              </a:lnSpc>
              <a:buNone/>
            </a:pPr>
            <a:r>
              <a:rPr lang="en-US" sz="1680" dirty="0">
                <a:solidFill>
                  <a:srgbClr val="000000"/>
                </a:solidFill>
              </a:rPr>
              <a:t>对：一条一条对上等保条款（8.1.4.4 入侵防范等）</a:t>
            </a:r>
            <a:endParaRPr lang="en-US" sz="1680" dirty="0"/>
          </a:p>
        </p:txBody>
      </p:sp>
      <p:pic>
        <p:nvPicPr>
          <p:cNvPr id="38" name="Image 22" descr="preencoded.png"/>
          <p:cNvPicPr>
            <a:picLocks noChangeAspect="1"/>
          </p:cNvPicPr>
          <p:nvPr/>
        </p:nvPicPr>
        <p:blipFill>
          <a:blip r:embed="rId21">
            <a:extLst>
              <a:ext uri="{96DAC541-7B7A-43D3-8B79-37D633B846F1}">
                <asvg:svgBlip xmlns:asvg="http://schemas.microsoft.com/office/drawing/2016/SVG/main" r:embed="rId17"/>
              </a:ext>
            </a:extLst>
          </a:blip>
          <a:stretch>
            <a:fillRect/>
          </a:stretch>
        </p:blipFill>
        <p:spPr>
          <a:xfrm>
            <a:off x="9662160" y="4617720"/>
            <a:ext cx="731520" cy="731520"/>
          </a:xfrm>
          <a:prstGeom prst="rect">
            <a:avLst/>
          </a:prstGeom>
          <a:effectLst>
            <a:outerShdw blurRad="-2147483648" dist="1935480000" dir="-1" algn="bl" rotWithShape="0">
              <a:srgbClr val="000000">
                <a:alpha val="1000000000"/>
              </a:srgbClr>
            </a:outerShdw>
          </a:effectLst>
        </p:spPr>
      </p:pic>
      <p:sp>
        <p:nvSpPr>
          <p:cNvPr id="39" name="Text 14"/>
          <p:cNvSpPr/>
          <p:nvPr/>
        </p:nvSpPr>
        <p:spPr>
          <a:xfrm>
            <a:off x="9845040" y="4831080"/>
            <a:ext cx="405384" cy="320040"/>
          </a:xfrm>
          <a:prstGeom prst="rect">
            <a:avLst/>
          </a:prstGeom>
          <a:noFill/>
        </p:spPr>
        <p:txBody>
          <a:bodyPr wrap="none" lIns="0" tIns="0" rIns="0" bIns="0" rtlCol="0" anchor="ctr"/>
          <a:lstStyle/>
          <a:p>
            <a:pPr marL="0" indent="0" algn="ctr">
              <a:lnSpc>
                <a:spcPct val="150000"/>
              </a:lnSpc>
              <a:buNone/>
            </a:pPr>
            <a:r>
              <a:rPr lang="en-US" sz="2160" b="1" dirty="0">
                <a:solidFill>
                  <a:srgbClr val="FFFFFF"/>
                </a:solidFill>
              </a:rPr>
              <a:t>04</a:t>
            </a:r>
            <a:endParaRPr lang="en-US" sz="2160" dirty="0"/>
          </a:p>
        </p:txBody>
      </p:sp>
      <p:pic>
        <p:nvPicPr>
          <p:cNvPr id="40" name="Image 23" descr="https://test.web.static.jianzeppt.com/ppt-temp-img3/5905c1dc719e60e96e6cb45bbb559218.png?x-oss-process=image/resize,w_1440,h_800,m_lfit/format,png"/>
          <p:cNvPicPr>
            <a:picLocks noChangeAspect="1"/>
          </p:cNvPicPr>
          <p:nvPr/>
        </p:nvPicPr>
        <p:blipFill>
          <a:blip r:embed="rId18"/>
          <a:stretch>
            <a:fillRect/>
          </a:stretch>
        </p:blipFill>
        <p:spPr>
          <a:xfrm>
            <a:off x="8793480" y="5298440"/>
            <a:ext cx="2346960" cy="1036320"/>
          </a:xfrm>
          <a:prstGeom prst="rect">
            <a:avLst/>
          </a:prstGeom>
        </p:spPr>
      </p:pic>
      <p:sp>
        <p:nvSpPr>
          <p:cNvPr id="41" name="Text 15"/>
          <p:cNvSpPr/>
          <p:nvPr/>
        </p:nvSpPr>
        <p:spPr>
          <a:xfrm>
            <a:off x="9198610" y="5527040"/>
            <a:ext cx="1584960" cy="774065"/>
          </a:xfrm>
          <a:prstGeom prst="rect">
            <a:avLst/>
          </a:prstGeom>
          <a:noFill/>
        </p:spPr>
        <p:txBody>
          <a:bodyPr wrap="square" lIns="0" tIns="0" rIns="0" bIns="0" rtlCol="0" anchor="t">
            <a:spAutoFit/>
          </a:bodyPr>
          <a:lstStyle/>
          <a:p>
            <a:pPr marL="0" indent="0" algn="ctr">
              <a:lnSpc>
                <a:spcPct val="150000"/>
              </a:lnSpc>
              <a:buNone/>
            </a:pPr>
            <a:r>
              <a:rPr lang="en-US" sz="1680" dirty="0">
                <a:solidFill>
                  <a:srgbClr val="000000"/>
                </a:solidFill>
              </a:rPr>
              <a:t>定：给出整改优先级与完成期限</a:t>
            </a:r>
            <a:endParaRPr lang="en-US" sz="1680" dirty="0"/>
          </a:p>
        </p:txBody>
      </p:sp>
      <p:pic>
        <p:nvPicPr>
          <p:cNvPr id="42" name="Image 24" descr="preencoded.png"/>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609600" y="624840"/>
            <a:ext cx="121920" cy="365760"/>
          </a:xfrm>
          <a:prstGeom prst="rect">
            <a:avLst/>
          </a:prstGeom>
        </p:spPr>
      </p:pic>
      <p:graphicFrame>
        <p:nvGraphicFramePr>
          <p:cNvPr id="43" name="对象 42">
            <a:hlinkClick r:id="" action="ppaction://ole?verb="/>
          </p:cNvPr>
          <p:cNvGraphicFramePr>
            <a:graphicFrameLocks noChangeAspect="1"/>
          </p:cNvGraphicFramePr>
          <p:nvPr/>
        </p:nvGraphicFramePr>
        <p:xfrm>
          <a:off x="10393680" y="1386840"/>
          <a:ext cx="971550" cy="666750"/>
        </p:xfrm>
        <a:graphic>
          <a:graphicData uri="http://schemas.openxmlformats.org/presentationml/2006/ole">
            <mc:AlternateContent xmlns:mc="http://schemas.openxmlformats.org/markup-compatibility/2006">
              <mc:Choice xmlns:v="urn:schemas-microsoft-com:vml" Requires="v">
                <p:oleObj spid="_x0000_s3073" name="" showAsIcon="1" r:id="rId24" imgW="971550" imgH="666750" progId="Word.Document.12">
                  <p:embed/>
                </p:oleObj>
              </mc:Choice>
              <mc:Fallback>
                <p:oleObj name="" showAsIcon="1" r:id="rId24" imgW="971550" imgH="666750" progId="Word.Document.12">
                  <p:embed/>
                  <p:pic>
                    <p:nvPicPr>
                      <p:cNvPr id="0" name="图片 3072"/>
                      <p:cNvPicPr/>
                      <p:nvPr/>
                    </p:nvPicPr>
                    <p:blipFill>
                      <a:blip r:embed="rId25"/>
                      <a:stretch>
                        <a:fillRect/>
                      </a:stretch>
                    </p:blipFill>
                    <p:spPr>
                      <a:xfrm>
                        <a:off x="10393680" y="1386840"/>
                        <a:ext cx="971550" cy="666750"/>
                      </a:xfrm>
                      <a:prstGeom prst="rect">
                        <a:avLst/>
                      </a:prstGeom>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实验③怎么判——分析表录入与四档判定</a:t>
            </a:r>
            <a:endParaRPr lang="en-US" sz="2760" dirty="0"/>
          </a:p>
        </p:txBody>
      </p:sp>
      <p:graphicFrame>
        <p:nvGraphicFramePr>
          <p:cNvPr id="19" name="Table 0"/>
          <p:cNvGraphicFramePr>
            <a:graphicFrameLocks noGrp="1"/>
          </p:cNvGraphicFramePr>
          <p:nvPr/>
        </p:nvGraphicFramePr>
        <p:xfrm>
          <a:off x="822325" y="1201420"/>
          <a:ext cx="10455275" cy="5152390"/>
        </p:xfrm>
        <a:graphic>
          <a:graphicData uri="http://schemas.openxmlformats.org/drawingml/2006/table">
            <a:tbl>
              <a:tblPr/>
              <a:tblGrid>
                <a:gridCol w="1478915"/>
                <a:gridCol w="2062480"/>
                <a:gridCol w="6913880"/>
              </a:tblGrid>
              <a:tr h="509270">
                <a:tc>
                  <a:txBody>
                    <a:bodyPr/>
                    <a:lstStyle/>
                    <a:p>
                      <a:pPr marL="0" indent="0" algn="ctr">
                        <a:buNone/>
                      </a:pPr>
                      <a:r>
                        <a:rPr lang="en-US" sz="1600" b="1" dirty="0">
                          <a:solidFill>
                            <a:srgbClr val="000000"/>
                          </a:solidFill>
                        </a:rPr>
                        <a:t>填什么</a:t>
                      </a:r>
                      <a:endParaRPr lang="en-US" sz="1600" b="1"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000000"/>
                          </a:solidFill>
                        </a:rPr>
                        <a:t>怎么填</a:t>
                      </a:r>
                      <a:endParaRPr lang="en-US" sz="1600" b="1"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000000"/>
                          </a:solidFill>
                        </a:rPr>
                        <a:t>示例（一条高危漏洞）</a:t>
                      </a:r>
                      <a:endParaRPr lang="en-US" sz="1600" b="1"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10540">
                <a:tc>
                  <a:txBody>
                    <a:bodyPr/>
                    <a:lstStyle/>
                    <a:p>
                      <a:pPr marL="0" indent="0" algn="ctr">
                        <a:buNone/>
                      </a:pPr>
                      <a:r>
                        <a:rPr lang="en-US" sz="1600" dirty="0">
                          <a:solidFill>
                            <a:srgbClr val="000000"/>
                          </a:solidFill>
                        </a:rPr>
                        <a:t>测评对象</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目标 IP + 系统/服务 + 版本</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10.11.x.x / Ubuntu 16.04 / vsftpd 2.3.4</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630555">
                <a:tc>
                  <a:txBody>
                    <a:bodyPr/>
                    <a:lstStyle/>
                    <a:p>
                      <a:pPr marL="0" indent="0" algn="ctr">
                        <a:buNone/>
                      </a:pPr>
                      <a:r>
                        <a:rPr lang="en-US" sz="1600" dirty="0">
                          <a:solidFill>
                            <a:srgbClr val="000000"/>
                          </a:solidFill>
                        </a:rPr>
                        <a:t>测评项</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条款编号 + 名称</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8.1.4.4 e) 入侵防范-已知漏洞</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630555">
                <a:tc>
                  <a:txBody>
                    <a:bodyPr/>
                    <a:lstStyle/>
                    <a:p>
                      <a:pPr marL="0" indent="0" algn="ctr">
                        <a:buNone/>
                      </a:pPr>
                      <a:r>
                        <a:rPr lang="en-US" sz="1600" dirty="0">
                          <a:solidFill>
                            <a:srgbClr val="000000"/>
                          </a:solidFill>
                        </a:rPr>
                        <a:t>漏洞名称</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抄报告里的原文，别自己改名</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vsftpd 2.3.4 Backdoor Command Execution</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10540">
                <a:tc>
                  <a:txBody>
                    <a:bodyPr/>
                    <a:lstStyle/>
                    <a:p>
                      <a:pPr marL="0" indent="0" algn="ctr">
                        <a:buNone/>
                      </a:pPr>
                      <a:r>
                        <a:rPr lang="en-US" sz="1600" dirty="0">
                          <a:solidFill>
                            <a:srgbClr val="000000"/>
                          </a:solidFill>
                        </a:rPr>
                        <a:t>风险等级</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按报告里的 CVSS 分档抄</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Critical / CVSS 10.0</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670560">
                <a:tc>
                  <a:txBody>
                    <a:bodyPr/>
                    <a:lstStyle/>
                    <a:p>
                      <a:pPr marL="0" indent="0" algn="ctr">
                        <a:buNone/>
                      </a:pPr>
                      <a:r>
                        <a:rPr lang="en-US" sz="1600" dirty="0">
                          <a:solidFill>
                            <a:srgbClr val="000000"/>
                          </a:solidFill>
                        </a:rPr>
                        <a:t>是否误报</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写"已验证为真"或"疑似误报"，并说明怎么验的</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已验证为真：手工连接可触发</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670560">
                <a:tc>
                  <a:txBody>
                    <a:bodyPr/>
                    <a:lstStyle/>
                    <a:p>
                      <a:pPr marL="0" indent="0" algn="ctr">
                        <a:buNone/>
                      </a:pPr>
                      <a:r>
                        <a:rPr lang="en-US" sz="1600" dirty="0">
                          <a:solidFill>
                            <a:srgbClr val="000000"/>
                          </a:solidFill>
                        </a:rPr>
                        <a:t>证据编号</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填截图文件名，与截图包对应</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V2-03.png</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10540">
                <a:tc>
                  <a:txBody>
                    <a:bodyPr/>
                    <a:lstStyle/>
                    <a:p>
                      <a:pPr marL="0" indent="0" algn="ctr">
                        <a:buNone/>
                      </a:pPr>
                      <a:r>
                        <a:rPr lang="en-US" sz="1600" dirty="0">
                          <a:solidFill>
                            <a:srgbClr val="000000"/>
                          </a:solidFill>
                        </a:rPr>
                        <a:t>符合性判定</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四选一：符合 / 部分符合 / 不符合 / 不适用</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不符合</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09270">
                <a:tc>
                  <a:txBody>
                    <a:bodyPr/>
                    <a:lstStyle/>
                    <a:p>
                      <a:pPr marL="0" indent="0" algn="ctr">
                        <a:buNone/>
                      </a:pPr>
                      <a:r>
                        <a:rPr lang="en-US" sz="1600" dirty="0">
                          <a:solidFill>
                            <a:srgbClr val="000000"/>
                          </a:solidFill>
                        </a:rPr>
                        <a:t>整改建议</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给可执行动作 + 完成期限</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升级 vsftpd 至 3.0.3 以上或停用该服务；7 日内完成并复测</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graphicFrame>
        <p:nvGraphicFramePr>
          <p:cNvPr id="6" name="对象 5">
            <a:hlinkClick r:id="" action="ppaction://ole?verb="/>
          </p:cNvPr>
          <p:cNvGraphicFramePr>
            <a:graphicFrameLocks noChangeAspect="1"/>
          </p:cNvGraphicFramePr>
          <p:nvPr/>
        </p:nvGraphicFramePr>
        <p:xfrm>
          <a:off x="10768965" y="431800"/>
          <a:ext cx="971550" cy="666750"/>
        </p:xfrm>
        <a:graphic>
          <a:graphicData uri="http://schemas.openxmlformats.org/presentationml/2006/ole">
            <mc:AlternateContent xmlns:mc="http://schemas.openxmlformats.org/markup-compatibility/2006">
              <mc:Choice xmlns:v="urn:schemas-microsoft-com:vml" Requires="v">
                <p:oleObj spid="_x0000_s4097" name="" showAsIcon="1" r:id="rId4" imgW="971550" imgH="666750" progId="Word.Document.12">
                  <p:embed/>
                </p:oleObj>
              </mc:Choice>
              <mc:Fallback>
                <p:oleObj name="" showAsIcon="1" r:id="rId4" imgW="971550" imgH="666750" progId="Word.Document.12">
                  <p:embed/>
                  <p:pic>
                    <p:nvPicPr>
                      <p:cNvPr id="0" name="图片 4096"/>
                      <p:cNvPicPr/>
                      <p:nvPr/>
                    </p:nvPicPr>
                    <p:blipFill>
                      <a:blip r:embed="rId5"/>
                      <a:stretch>
                        <a:fillRect/>
                      </a:stretch>
                    </p:blipFill>
                    <p:spPr>
                      <a:xfrm>
                        <a:off x="10768965" y="431800"/>
                        <a:ext cx="971550" cy="666750"/>
                      </a:xfrm>
                      <a:prstGeom prst="rect">
                        <a:avLst/>
                      </a:prstGeom>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实验④交什么——成果与提交前自查</a:t>
            </a:r>
            <a:endParaRPr lang="en-US" sz="2760" dirty="0"/>
          </a:p>
        </p:txBody>
      </p:sp>
      <p:pic>
        <p:nvPicPr>
          <p:cNvPr id="6" name="Image 3" descr="https://test.web.static.jianzeppt.com/ppt-temp-img3/9ddbafb3e5ab1f243d7b8738c366fbfe.png?x-oss-process=image/resize,w_1440,h_800,m_lfit/format,png"/>
          <p:cNvPicPr>
            <a:picLocks noChangeAspect="1"/>
          </p:cNvPicPr>
          <p:nvPr/>
        </p:nvPicPr>
        <p:blipFill>
          <a:blip r:embed="rId4"/>
          <a:stretch>
            <a:fillRect/>
          </a:stretch>
        </p:blipFill>
        <p:spPr>
          <a:xfrm>
            <a:off x="609600" y="1661160"/>
            <a:ext cx="10972800" cy="4617720"/>
          </a:xfrm>
          <a:prstGeom prst="rect">
            <a:avLst/>
          </a:prstGeom>
        </p:spPr>
      </p:pic>
      <p:pic>
        <p:nvPicPr>
          <p:cNvPr id="7" name="Image 4" descr="https://test.web.static.jianzeppt.com/ppt-temp-img3/ccceec788d07dfc506e65694a0e5160d.png?x-oss-process=image/resize,w_1440,h_800,m_lfit/format,png"/>
          <p:cNvPicPr>
            <a:picLocks noChangeAspect="1"/>
          </p:cNvPicPr>
          <p:nvPr/>
        </p:nvPicPr>
        <p:blipFill>
          <a:blip r:embed="rId5"/>
          <a:stretch>
            <a:fillRect/>
          </a:stretch>
        </p:blipFill>
        <p:spPr>
          <a:xfrm>
            <a:off x="624840" y="1676400"/>
            <a:ext cx="10942320" cy="746760"/>
          </a:xfrm>
          <a:prstGeom prst="rect">
            <a:avLst/>
          </a:prstGeom>
        </p:spPr>
      </p:pic>
      <p:sp>
        <p:nvSpPr>
          <p:cNvPr id="8" name="Text 1"/>
          <p:cNvSpPr/>
          <p:nvPr/>
        </p:nvSpPr>
        <p:spPr>
          <a:xfrm>
            <a:off x="868680" y="1859280"/>
            <a:ext cx="1350264" cy="365760"/>
          </a:xfrm>
          <a:prstGeom prst="rect">
            <a:avLst/>
          </a:prstGeom>
          <a:noFill/>
        </p:spPr>
        <p:txBody>
          <a:bodyPr wrap="none" lIns="0" tIns="0" rIns="0" bIns="0" rtlCol="0" anchor="t">
            <a:spAutoFit/>
          </a:bodyPr>
          <a:lstStyle/>
          <a:p>
            <a:pPr marL="0" indent="0" algn="l">
              <a:lnSpc>
                <a:spcPct val="150000"/>
              </a:lnSpc>
              <a:buNone/>
            </a:pPr>
            <a:r>
              <a:rPr lang="en-US" sz="1920" b="1" dirty="0">
                <a:solidFill>
                  <a:srgbClr val="000000"/>
                </a:solidFill>
                <a:latin typeface="思源黑体 CN Bold" pitchFamily="34" charset="0"/>
                <a:ea typeface="思源黑体 CN Bold" pitchFamily="34" charset="-122"/>
                <a:cs typeface="思源黑体 CN Bold" pitchFamily="34" charset="-120"/>
              </a:rPr>
              <a:t>类别</a:t>
            </a:r>
            <a:endParaRPr lang="en-US" sz="1920" dirty="0"/>
          </a:p>
        </p:txBody>
      </p:sp>
      <p:sp>
        <p:nvSpPr>
          <p:cNvPr id="9" name="Text 2"/>
          <p:cNvSpPr/>
          <p:nvPr/>
        </p:nvSpPr>
        <p:spPr>
          <a:xfrm>
            <a:off x="2697480" y="1859280"/>
            <a:ext cx="8634984" cy="365760"/>
          </a:xfrm>
          <a:prstGeom prst="rect">
            <a:avLst/>
          </a:prstGeom>
          <a:noFill/>
        </p:spPr>
        <p:txBody>
          <a:bodyPr wrap="none" lIns="0" tIns="0" rIns="0" bIns="0" rtlCol="0" anchor="t">
            <a:spAutoFit/>
          </a:bodyPr>
          <a:lstStyle/>
          <a:p>
            <a:pPr marL="0" indent="0" algn="l">
              <a:lnSpc>
                <a:spcPct val="150000"/>
              </a:lnSpc>
              <a:buNone/>
            </a:pPr>
            <a:r>
              <a:rPr lang="en-US" sz="1920" b="1" dirty="0">
                <a:solidFill>
                  <a:srgbClr val="000000"/>
                </a:solidFill>
                <a:latin typeface="思源黑体 CN Bold" pitchFamily="34" charset="0"/>
                <a:ea typeface="思源黑体 CN Bold" pitchFamily="34" charset="-122"/>
                <a:cs typeface="思源黑体 CN Bold" pitchFamily="34" charset="-120"/>
              </a:rPr>
              <a:t>要求</a:t>
            </a:r>
            <a:endParaRPr lang="en-US" sz="1920" dirty="0"/>
          </a:p>
        </p:txBody>
      </p:sp>
      <p:pic>
        <p:nvPicPr>
          <p:cNvPr id="10" name="Image 5" descr="https://test.web.static.jianzeppt.com/ppt-temp-img3/65542e5587d11f3b168fb2604f430d55.png?x-oss-process=image/resize,w_1440,h_800,m_lfit/format,png"/>
          <p:cNvPicPr>
            <a:picLocks noChangeAspect="1"/>
          </p:cNvPicPr>
          <p:nvPr/>
        </p:nvPicPr>
        <p:blipFill>
          <a:blip r:embed="rId6"/>
          <a:stretch>
            <a:fillRect/>
          </a:stretch>
        </p:blipFill>
        <p:spPr>
          <a:xfrm>
            <a:off x="624840" y="2413711"/>
            <a:ext cx="10942320" cy="15240"/>
          </a:xfrm>
          <a:prstGeom prst="rect">
            <a:avLst/>
          </a:prstGeom>
        </p:spPr>
      </p:pic>
      <p:pic>
        <p:nvPicPr>
          <p:cNvPr id="11" name="Image 6" descr="https://test.web.static.jianzeppt.com/ppt-temp-img3/53a67d341047a0a4eb9e2a8963b554cf.png?x-oss-process=image/resize,w_1440,h_800,m_lfit/format,png"/>
          <p:cNvPicPr>
            <a:picLocks noChangeAspect="1"/>
          </p:cNvPicPr>
          <p:nvPr/>
        </p:nvPicPr>
        <p:blipFill>
          <a:blip r:embed="rId7"/>
          <a:stretch>
            <a:fillRect/>
          </a:stretch>
        </p:blipFill>
        <p:spPr>
          <a:xfrm>
            <a:off x="624840" y="2407920"/>
            <a:ext cx="1828800" cy="731520"/>
          </a:xfrm>
          <a:prstGeom prst="rect">
            <a:avLst/>
          </a:prstGeom>
        </p:spPr>
      </p:pic>
      <p:sp>
        <p:nvSpPr>
          <p:cNvPr id="12" name="Text 3"/>
          <p:cNvSpPr/>
          <p:nvPr/>
        </p:nvSpPr>
        <p:spPr>
          <a:xfrm>
            <a:off x="868680" y="2606040"/>
            <a:ext cx="86258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latin typeface="思源黑体 CN Bold" pitchFamily="34" charset="0"/>
                <a:ea typeface="思源黑体 CN Bold" pitchFamily="34" charset="-122"/>
                <a:cs typeface="思源黑体 CN Bold" pitchFamily="34" charset="-120"/>
              </a:rPr>
              <a:t>必交 1</a:t>
            </a:r>
            <a:endParaRPr lang="en-US" sz="1680" dirty="0"/>
          </a:p>
        </p:txBody>
      </p:sp>
      <p:sp>
        <p:nvSpPr>
          <p:cNvPr id="13" name="Text 4"/>
          <p:cNvSpPr/>
          <p:nvPr/>
        </p:nvSpPr>
        <p:spPr>
          <a:xfrm>
            <a:off x="2697480" y="2590800"/>
            <a:ext cx="8634984" cy="350520"/>
          </a:xfrm>
          <a:prstGeom prst="rect">
            <a:avLst/>
          </a:prstGeom>
          <a:noFill/>
        </p:spPr>
        <p:txBody>
          <a:bodyPr wrap="none" lIns="0" tIns="0" rIns="0" bIns="0" rtlCol="0" anchor="t">
            <a:spAutoFit/>
          </a:bodyPr>
          <a:lstStyle/>
          <a:p>
            <a:pPr marL="0" indent="0" algn="l">
              <a:lnSpc>
                <a:spcPct val="163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《漏洞扫描结果分析表》：高危及以上条目逐条填（等级 + 是否误报 + 四档判定 + 整改建议）</a:t>
            </a:r>
            <a:endParaRPr lang="en-US" sz="1680" dirty="0"/>
          </a:p>
        </p:txBody>
      </p:sp>
      <p:pic>
        <p:nvPicPr>
          <p:cNvPr id="14" name="Image 7" descr="https://test.web.static.jianzeppt.com/ppt-temp-img3/f07cc857527605928866fe5825d87123.png?x-oss-process=image/resize,w_1440,h_800,m_lfit/format,png"/>
          <p:cNvPicPr>
            <a:picLocks noChangeAspect="1"/>
          </p:cNvPicPr>
          <p:nvPr/>
        </p:nvPicPr>
        <p:blipFill>
          <a:blip r:embed="rId8"/>
          <a:stretch>
            <a:fillRect/>
          </a:stretch>
        </p:blipFill>
        <p:spPr>
          <a:xfrm>
            <a:off x="624840" y="3141421"/>
            <a:ext cx="10942320" cy="15240"/>
          </a:xfrm>
          <a:prstGeom prst="rect">
            <a:avLst/>
          </a:prstGeom>
        </p:spPr>
      </p:pic>
      <p:pic>
        <p:nvPicPr>
          <p:cNvPr id="15" name="Image 8" descr="https://test.web.static.jianzeppt.com/ppt-temp-img3/53a67d341047a0a4eb9e2a8963b554cf.png?x-oss-process=image/resize,w_1440,h_800,m_lfit/format,png"/>
          <p:cNvPicPr>
            <a:picLocks noChangeAspect="1"/>
          </p:cNvPicPr>
          <p:nvPr/>
        </p:nvPicPr>
        <p:blipFill>
          <a:blip r:embed="rId7"/>
          <a:stretch>
            <a:fillRect/>
          </a:stretch>
        </p:blipFill>
        <p:spPr>
          <a:xfrm>
            <a:off x="624840" y="3139440"/>
            <a:ext cx="1828800" cy="731520"/>
          </a:xfrm>
          <a:prstGeom prst="rect">
            <a:avLst/>
          </a:prstGeom>
        </p:spPr>
      </p:pic>
      <p:sp>
        <p:nvSpPr>
          <p:cNvPr id="16" name="Text 5"/>
          <p:cNvSpPr/>
          <p:nvPr/>
        </p:nvSpPr>
        <p:spPr>
          <a:xfrm>
            <a:off x="868680" y="3337560"/>
            <a:ext cx="86258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latin typeface="思源黑体 CN Bold" pitchFamily="34" charset="0"/>
                <a:ea typeface="思源黑体 CN Bold" pitchFamily="34" charset="-122"/>
                <a:cs typeface="思源黑体 CN Bold" pitchFamily="34" charset="-120"/>
              </a:rPr>
              <a:t>必交 2</a:t>
            </a:r>
            <a:endParaRPr lang="en-US" sz="1680" dirty="0"/>
          </a:p>
        </p:txBody>
      </p:sp>
      <p:sp>
        <p:nvSpPr>
          <p:cNvPr id="17" name="Text 6"/>
          <p:cNvSpPr/>
          <p:nvPr/>
        </p:nvSpPr>
        <p:spPr>
          <a:xfrm>
            <a:off x="2697480" y="3322320"/>
            <a:ext cx="8634984" cy="350520"/>
          </a:xfrm>
          <a:prstGeom prst="rect">
            <a:avLst/>
          </a:prstGeom>
          <a:noFill/>
        </p:spPr>
        <p:txBody>
          <a:bodyPr wrap="none" lIns="0" tIns="0" rIns="0" bIns="0" rtlCol="0" anchor="t">
            <a:spAutoFit/>
          </a:bodyPr>
          <a:lstStyle/>
          <a:p>
            <a:pPr marL="0" indent="0" algn="l">
              <a:lnSpc>
                <a:spcPct val="163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扫描取证包：任务配置页、结果列表、导出的 PDF 报告，编号与分析表一一对应</a:t>
            </a:r>
            <a:endParaRPr lang="en-US" sz="1680" dirty="0"/>
          </a:p>
        </p:txBody>
      </p:sp>
      <p:pic>
        <p:nvPicPr>
          <p:cNvPr id="18" name="Image 9" descr="https://test.web.static.jianzeppt.com/ppt-temp-img3/f07cc857527605928866fe5825d87123.png?x-oss-process=image/resize,w_1440,h_800,m_lfit/format,png"/>
          <p:cNvPicPr>
            <a:picLocks noChangeAspect="1"/>
          </p:cNvPicPr>
          <p:nvPr/>
        </p:nvPicPr>
        <p:blipFill>
          <a:blip r:embed="rId8"/>
          <a:stretch>
            <a:fillRect/>
          </a:stretch>
        </p:blipFill>
        <p:spPr>
          <a:xfrm>
            <a:off x="624840" y="3869131"/>
            <a:ext cx="10942320" cy="15240"/>
          </a:xfrm>
          <a:prstGeom prst="rect">
            <a:avLst/>
          </a:prstGeom>
        </p:spPr>
      </p:pic>
      <p:pic>
        <p:nvPicPr>
          <p:cNvPr id="19" name="Image 10" descr="https://test.web.static.jianzeppt.com/ppt-temp-img3/be65787a8704fe4c39f682b043e27a5c.png?x-oss-process=image/resize,w_1440,h_800,m_lfit/format,png"/>
          <p:cNvPicPr>
            <a:picLocks noChangeAspect="1"/>
          </p:cNvPicPr>
          <p:nvPr/>
        </p:nvPicPr>
        <p:blipFill>
          <a:blip r:embed="rId9"/>
          <a:stretch>
            <a:fillRect/>
          </a:stretch>
        </p:blipFill>
        <p:spPr>
          <a:xfrm>
            <a:off x="624840" y="3870960"/>
            <a:ext cx="1828800" cy="1661160"/>
          </a:xfrm>
          <a:prstGeom prst="rect">
            <a:avLst/>
          </a:prstGeom>
        </p:spPr>
      </p:pic>
      <p:sp>
        <p:nvSpPr>
          <p:cNvPr id="20" name="Text 7"/>
          <p:cNvSpPr/>
          <p:nvPr/>
        </p:nvSpPr>
        <p:spPr>
          <a:xfrm>
            <a:off x="868680" y="4541520"/>
            <a:ext cx="86258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latin typeface="思源黑体 CN Bold" pitchFamily="34" charset="0"/>
                <a:ea typeface="思源黑体 CN Bold" pitchFamily="34" charset="-122"/>
                <a:cs typeface="思源黑体 CN Bold" pitchFamily="34" charset="-120"/>
              </a:rPr>
              <a:t>操作步骤</a:t>
            </a:r>
            <a:endParaRPr lang="en-US" sz="1680" dirty="0"/>
          </a:p>
        </p:txBody>
      </p:sp>
      <p:pic>
        <p:nvPicPr>
          <p:cNvPr id="21" name="Image 11"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697480" y="4114800"/>
            <a:ext cx="2712720" cy="487680"/>
          </a:xfrm>
          <a:prstGeom prst="rect">
            <a:avLst/>
          </a:prstGeom>
        </p:spPr>
      </p:pic>
      <p:pic>
        <p:nvPicPr>
          <p:cNvPr id="22" name="Image 12" descr="https://test.web.static.jianzeppt.com/ppt-temp-img3/f0606bf284e6889b92a2ba364620ce2e.png?x-oss-process=image/resize,w_1440,h_800,m_lfit/format,png"/>
          <p:cNvPicPr>
            <a:picLocks noChangeAspect="1"/>
          </p:cNvPicPr>
          <p:nvPr/>
        </p:nvPicPr>
        <p:blipFill>
          <a:blip r:embed="rId12"/>
          <a:stretch>
            <a:fillRect/>
          </a:stretch>
        </p:blipFill>
        <p:spPr>
          <a:xfrm>
            <a:off x="2880360" y="4206240"/>
            <a:ext cx="304800" cy="304800"/>
          </a:xfrm>
          <a:prstGeom prst="rect">
            <a:avLst/>
          </a:prstGeom>
        </p:spPr>
      </p:pic>
      <p:sp>
        <p:nvSpPr>
          <p:cNvPr id="23" name="Text 8"/>
          <p:cNvSpPr/>
          <p:nvPr/>
        </p:nvSpPr>
        <p:spPr>
          <a:xfrm>
            <a:off x="2987040" y="4221480"/>
            <a:ext cx="115824" cy="259080"/>
          </a:xfrm>
          <a:prstGeom prst="rect">
            <a:avLst/>
          </a:prstGeom>
          <a:noFill/>
        </p:spPr>
        <p:txBody>
          <a:bodyPr wrap="none" lIns="0" tIns="0" rIns="0" bIns="0" rtlCol="0" anchor="ctr"/>
          <a:lstStyle/>
          <a:p>
            <a:pPr marL="0" indent="0" algn="l">
              <a:lnSpc>
                <a:spcPct val="150000"/>
              </a:lnSpc>
              <a:buNone/>
            </a:pPr>
            <a:r>
              <a:rPr lang="en-US" sz="1440" dirty="0">
                <a:solidFill>
                  <a:srgbClr val="FFFFFF">
                    <a:alpha val="90000"/>
                  </a:srgbClr>
                </a:solidFill>
                <a:latin typeface="思源黑体 CN Bold" pitchFamily="34" charset="0"/>
                <a:ea typeface="思源黑体 CN Bold" pitchFamily="34" charset="-122"/>
                <a:cs typeface="思源黑体 CN Bold" pitchFamily="34" charset="-120"/>
              </a:rPr>
              <a:t>1</a:t>
            </a:r>
            <a:endParaRPr lang="en-US" sz="1440" dirty="0"/>
          </a:p>
        </p:txBody>
      </p:sp>
      <p:sp>
        <p:nvSpPr>
          <p:cNvPr id="24" name="Text 9"/>
          <p:cNvSpPr/>
          <p:nvPr/>
        </p:nvSpPr>
        <p:spPr>
          <a:xfrm>
            <a:off x="3276600" y="4221480"/>
            <a:ext cx="1959864" cy="259080"/>
          </a:xfrm>
          <a:prstGeom prst="rect">
            <a:avLst/>
          </a:prstGeom>
          <a:noFill/>
        </p:spPr>
        <p:txBody>
          <a:bodyPr wrap="none" lIns="0" tIns="0" rIns="0" bIns="0" rtlCol="0" anchor="ctr"/>
          <a:lstStyle/>
          <a:p>
            <a:pPr marL="0" indent="0" algn="l">
              <a:lnSpc>
                <a:spcPct val="150000"/>
              </a:lnSpc>
              <a:buNone/>
            </a:pPr>
            <a:r>
              <a:rPr lang="en-US" sz="1440" dirty="0">
                <a:solidFill>
                  <a:srgbClr val="FFFFFF">
                    <a:alpha val="90000"/>
                  </a:srgbClr>
                </a:solidFill>
                <a:latin typeface="思源黑体 CN Bold" pitchFamily="34" charset="0"/>
                <a:ea typeface="思源黑体 CN Bold" pitchFamily="34" charset="-122"/>
                <a:cs typeface="思源黑体 CN Bold" pitchFamily="34" charset="-120"/>
              </a:rPr>
              <a:t>平台登录与实验列表截图（含个人信息、实验名称、完成状态）</a:t>
            </a:r>
            <a:endParaRPr lang="en-US" sz="1440" dirty="0"/>
          </a:p>
        </p:txBody>
      </p:sp>
      <p:pic>
        <p:nvPicPr>
          <p:cNvPr id="25" name="Image 13" descr="https://test.web.static.jianzeppt.com/ppt-temp-img3/b6dfbf52b5d4315a829089da1e4c0aa1.png?x-oss-process=image/resize,w_1440,h_800,m_lfit/format,png"/>
          <p:cNvPicPr>
            <a:picLocks noChangeAspect="1"/>
          </p:cNvPicPr>
          <p:nvPr/>
        </p:nvPicPr>
        <p:blipFill>
          <a:blip r:embed="rId13"/>
          <a:stretch>
            <a:fillRect/>
          </a:stretch>
        </p:blipFill>
        <p:spPr>
          <a:xfrm>
            <a:off x="5516880" y="4221480"/>
            <a:ext cx="274320" cy="274320"/>
          </a:xfrm>
          <a:prstGeom prst="rect">
            <a:avLst/>
          </a:prstGeom>
        </p:spPr>
      </p:pic>
      <p:pic>
        <p:nvPicPr>
          <p:cNvPr id="26" name="Image 14" descr="preencoded.png"/>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897880" y="4114800"/>
            <a:ext cx="3779520" cy="487680"/>
          </a:xfrm>
          <a:prstGeom prst="rect">
            <a:avLst/>
          </a:prstGeom>
        </p:spPr>
      </p:pic>
      <p:pic>
        <p:nvPicPr>
          <p:cNvPr id="27" name="Image 15" descr="https://test.web.static.jianzeppt.com/ppt-temp-img3/f0606bf284e6889b92a2ba364620ce2e.png?x-oss-process=image/resize,w_1440,h_800,m_lfit/format,png"/>
          <p:cNvPicPr>
            <a:picLocks noChangeAspect="1"/>
          </p:cNvPicPr>
          <p:nvPr/>
        </p:nvPicPr>
        <p:blipFill>
          <a:blip r:embed="rId12"/>
          <a:stretch>
            <a:fillRect/>
          </a:stretch>
        </p:blipFill>
        <p:spPr>
          <a:xfrm>
            <a:off x="6080760" y="4206240"/>
            <a:ext cx="304800" cy="304800"/>
          </a:xfrm>
          <a:prstGeom prst="rect">
            <a:avLst/>
          </a:prstGeom>
        </p:spPr>
      </p:pic>
      <p:sp>
        <p:nvSpPr>
          <p:cNvPr id="28" name="Text 10"/>
          <p:cNvSpPr/>
          <p:nvPr/>
        </p:nvSpPr>
        <p:spPr>
          <a:xfrm>
            <a:off x="6172200" y="4221480"/>
            <a:ext cx="115824" cy="259080"/>
          </a:xfrm>
          <a:prstGeom prst="rect">
            <a:avLst/>
          </a:prstGeom>
          <a:noFill/>
        </p:spPr>
        <p:txBody>
          <a:bodyPr wrap="none" lIns="0" tIns="0" rIns="0" bIns="0" rtlCol="0" anchor="ctr"/>
          <a:lstStyle/>
          <a:p>
            <a:pPr marL="0" indent="0" algn="l">
              <a:lnSpc>
                <a:spcPct val="150000"/>
              </a:lnSpc>
              <a:buNone/>
            </a:pPr>
            <a:r>
              <a:rPr lang="en-US" sz="1440" dirty="0">
                <a:solidFill>
                  <a:srgbClr val="FFFFFF">
                    <a:alpha val="90000"/>
                  </a:srgbClr>
                </a:solidFill>
                <a:latin typeface="思源黑体 CN Bold" pitchFamily="34" charset="0"/>
                <a:ea typeface="思源黑体 CN Bold" pitchFamily="34" charset="-122"/>
                <a:cs typeface="思源黑体 CN Bold" pitchFamily="34" charset="-120"/>
              </a:rPr>
              <a:t>2</a:t>
            </a:r>
            <a:endParaRPr lang="en-US" sz="1440" dirty="0"/>
          </a:p>
        </p:txBody>
      </p:sp>
      <p:sp>
        <p:nvSpPr>
          <p:cNvPr id="29" name="Text 11"/>
          <p:cNvSpPr/>
          <p:nvPr/>
        </p:nvSpPr>
        <p:spPr>
          <a:xfrm>
            <a:off x="6477000" y="4221480"/>
            <a:ext cx="3026664" cy="259080"/>
          </a:xfrm>
          <a:prstGeom prst="rect">
            <a:avLst/>
          </a:prstGeom>
          <a:noFill/>
        </p:spPr>
        <p:txBody>
          <a:bodyPr wrap="none" lIns="0" tIns="0" rIns="0" bIns="0" rtlCol="0" anchor="ctr"/>
          <a:lstStyle/>
          <a:p>
            <a:pPr marL="0" indent="0" algn="l">
              <a:lnSpc>
                <a:spcPct val="150000"/>
              </a:lnSpc>
              <a:buNone/>
            </a:pPr>
            <a:r>
              <a:rPr lang="en-US" sz="1440" dirty="0">
                <a:solidFill>
                  <a:srgbClr val="FFFFFF">
                    <a:alpha val="90000"/>
                  </a:srgbClr>
                </a:solidFill>
                <a:latin typeface="思源黑体 CN Bold" pitchFamily="34" charset="0"/>
                <a:ea typeface="思源黑体 CN Bold" pitchFamily="34" charset="-122"/>
                <a:cs typeface="思源黑体 CN Bold" pitchFamily="34" charset="-120"/>
              </a:rPr>
              <a:t>命名：班级-学号-姓名-4.5实验_分析表.docx ＋ 班级-学号-姓名-4.5实验_截图.zip</a:t>
            </a:r>
            <a:endParaRPr lang="en-US" sz="1440" dirty="0"/>
          </a:p>
        </p:txBody>
      </p:sp>
      <p:pic>
        <p:nvPicPr>
          <p:cNvPr id="30" name="Image 16" descr="https://test.web.static.jianzeppt.com/ppt-temp-img3/b6dfbf52b5d4315a829089da1e4c0aa1.png?x-oss-process=image/resize,w_1440,h_800,m_lfit/format,png"/>
          <p:cNvPicPr>
            <a:picLocks noChangeAspect="1"/>
          </p:cNvPicPr>
          <p:nvPr/>
        </p:nvPicPr>
        <p:blipFill>
          <a:blip r:embed="rId13"/>
          <a:stretch>
            <a:fillRect/>
          </a:stretch>
        </p:blipFill>
        <p:spPr>
          <a:xfrm>
            <a:off x="9768840" y="4221480"/>
            <a:ext cx="274320" cy="274320"/>
          </a:xfrm>
          <a:prstGeom prst="rect">
            <a:avLst/>
          </a:prstGeom>
        </p:spPr>
      </p:pic>
      <p:pic>
        <p:nvPicPr>
          <p:cNvPr id="31" name="Image 17" descr="preencoded.png"/>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697480" y="4785360"/>
            <a:ext cx="1874520" cy="487680"/>
          </a:xfrm>
          <a:prstGeom prst="rect">
            <a:avLst/>
          </a:prstGeom>
        </p:spPr>
      </p:pic>
      <p:pic>
        <p:nvPicPr>
          <p:cNvPr id="32" name="Image 18" descr="https://test.web.static.jianzeppt.com/ppt-temp-img3/f0606bf284e6889b92a2ba364620ce2e.png?x-oss-process=image/resize,w_1440,h_800,m_lfit/format,png"/>
          <p:cNvPicPr>
            <a:picLocks noChangeAspect="1"/>
          </p:cNvPicPr>
          <p:nvPr/>
        </p:nvPicPr>
        <p:blipFill>
          <a:blip r:embed="rId12"/>
          <a:stretch>
            <a:fillRect/>
          </a:stretch>
        </p:blipFill>
        <p:spPr>
          <a:xfrm>
            <a:off x="2880360" y="4876800"/>
            <a:ext cx="304800" cy="304800"/>
          </a:xfrm>
          <a:prstGeom prst="rect">
            <a:avLst/>
          </a:prstGeom>
        </p:spPr>
      </p:pic>
      <p:sp>
        <p:nvSpPr>
          <p:cNvPr id="33" name="Text 12"/>
          <p:cNvSpPr/>
          <p:nvPr/>
        </p:nvSpPr>
        <p:spPr>
          <a:xfrm>
            <a:off x="2987040" y="4892040"/>
            <a:ext cx="115824" cy="259080"/>
          </a:xfrm>
          <a:prstGeom prst="rect">
            <a:avLst/>
          </a:prstGeom>
          <a:noFill/>
        </p:spPr>
        <p:txBody>
          <a:bodyPr wrap="none" lIns="0" tIns="0" rIns="0" bIns="0" rtlCol="0" anchor="ctr"/>
          <a:lstStyle/>
          <a:p>
            <a:pPr marL="0" indent="0" algn="l">
              <a:lnSpc>
                <a:spcPct val="150000"/>
              </a:lnSpc>
              <a:buNone/>
            </a:pPr>
            <a:r>
              <a:rPr lang="en-US" sz="1440" dirty="0">
                <a:solidFill>
                  <a:srgbClr val="FFFFFF">
                    <a:alpha val="90000"/>
                  </a:srgbClr>
                </a:solidFill>
                <a:latin typeface="思源黑体 CN Bold" pitchFamily="34" charset="0"/>
                <a:ea typeface="思源黑体 CN Bold" pitchFamily="34" charset="-122"/>
                <a:cs typeface="思源黑体 CN Bold" pitchFamily="34" charset="-120"/>
              </a:rPr>
              <a:t>3</a:t>
            </a:r>
            <a:endParaRPr lang="en-US" sz="1440" dirty="0"/>
          </a:p>
        </p:txBody>
      </p:sp>
      <p:sp>
        <p:nvSpPr>
          <p:cNvPr id="34" name="Text 13"/>
          <p:cNvSpPr/>
          <p:nvPr/>
        </p:nvSpPr>
        <p:spPr>
          <a:xfrm>
            <a:off x="3276600" y="4892040"/>
            <a:ext cx="1121664" cy="259080"/>
          </a:xfrm>
          <a:prstGeom prst="rect">
            <a:avLst/>
          </a:prstGeom>
          <a:noFill/>
        </p:spPr>
        <p:txBody>
          <a:bodyPr wrap="none" lIns="0" tIns="0" rIns="0" bIns="0" rtlCol="0" anchor="ctr"/>
          <a:lstStyle/>
          <a:p>
            <a:pPr marL="0" indent="0" algn="l">
              <a:lnSpc>
                <a:spcPct val="150000"/>
              </a:lnSpc>
              <a:buNone/>
            </a:pPr>
            <a:r>
              <a:rPr lang="en-US" sz="1440" dirty="0">
                <a:solidFill>
                  <a:srgbClr val="FFFFFF">
                    <a:alpha val="90000"/>
                  </a:srgbClr>
                </a:solidFill>
                <a:latin typeface="思源黑体 CN Bold" pitchFamily="34" charset="0"/>
                <a:ea typeface="思源黑体 CN Bold" pitchFamily="34" charset="-122"/>
                <a:cs typeface="思源黑体 CN Bold" pitchFamily="34" charset="-120"/>
              </a:rPr>
              <a:t>提交至学习通 → 任务 4.5 → 作业区（课内完成并提交）</a:t>
            </a:r>
            <a:endParaRPr lang="en-US" sz="1440" dirty="0"/>
          </a:p>
        </p:txBody>
      </p:sp>
      <p:pic>
        <p:nvPicPr>
          <p:cNvPr id="35" name="Image 19" descr="https://test.web.static.jianzeppt.com/ppt-temp-img3/b6dfbf52b5d4315a829089da1e4c0aa1.png?x-oss-process=image/resize,w_1440,h_800,m_lfit/format,png"/>
          <p:cNvPicPr>
            <a:picLocks noChangeAspect="1"/>
          </p:cNvPicPr>
          <p:nvPr/>
        </p:nvPicPr>
        <p:blipFill>
          <a:blip r:embed="rId13"/>
          <a:stretch>
            <a:fillRect/>
          </a:stretch>
        </p:blipFill>
        <p:spPr>
          <a:xfrm>
            <a:off x="4663440" y="4892040"/>
            <a:ext cx="274320" cy="274320"/>
          </a:xfrm>
          <a:prstGeom prst="rect">
            <a:avLst/>
          </a:prstGeom>
        </p:spPr>
      </p:pic>
      <p:pic>
        <p:nvPicPr>
          <p:cNvPr id="36" name="Image 20" descr="preencoded.png"/>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5044440" y="4785360"/>
            <a:ext cx="1508760" cy="487680"/>
          </a:xfrm>
          <a:prstGeom prst="rect">
            <a:avLst/>
          </a:prstGeom>
        </p:spPr>
      </p:pic>
      <p:pic>
        <p:nvPicPr>
          <p:cNvPr id="37" name="Image 21" descr="https://test.web.static.jianzeppt.com/ppt-temp-img3/f0606bf284e6889b92a2ba364620ce2e.png?x-oss-process=image/resize,w_1440,h_800,m_lfit/format,png"/>
          <p:cNvPicPr>
            <a:picLocks noChangeAspect="1"/>
          </p:cNvPicPr>
          <p:nvPr/>
        </p:nvPicPr>
        <p:blipFill>
          <a:blip r:embed="rId12"/>
          <a:stretch>
            <a:fillRect/>
          </a:stretch>
        </p:blipFill>
        <p:spPr>
          <a:xfrm>
            <a:off x="5227320" y="4876800"/>
            <a:ext cx="304800" cy="304800"/>
          </a:xfrm>
          <a:prstGeom prst="rect">
            <a:avLst/>
          </a:prstGeom>
        </p:spPr>
      </p:pic>
      <p:sp>
        <p:nvSpPr>
          <p:cNvPr id="38" name="Text 14"/>
          <p:cNvSpPr/>
          <p:nvPr/>
        </p:nvSpPr>
        <p:spPr>
          <a:xfrm>
            <a:off x="5334000" y="4892040"/>
            <a:ext cx="115824" cy="259080"/>
          </a:xfrm>
          <a:prstGeom prst="rect">
            <a:avLst/>
          </a:prstGeom>
          <a:noFill/>
        </p:spPr>
        <p:txBody>
          <a:bodyPr wrap="none" lIns="0" tIns="0" rIns="0" bIns="0" rtlCol="0" anchor="ctr"/>
          <a:lstStyle/>
          <a:p>
            <a:pPr marL="0" indent="0" algn="l">
              <a:lnSpc>
                <a:spcPct val="150000"/>
              </a:lnSpc>
              <a:buNone/>
            </a:pPr>
            <a:r>
              <a:rPr lang="en-US" sz="1440" dirty="0">
                <a:solidFill>
                  <a:srgbClr val="FFFFFF">
                    <a:alpha val="90000"/>
                  </a:srgbClr>
                </a:solidFill>
                <a:latin typeface="思源黑体 CN Bold" pitchFamily="34" charset="0"/>
                <a:ea typeface="思源黑体 CN Bold" pitchFamily="34" charset="-122"/>
                <a:cs typeface="思源黑体 CN Bold" pitchFamily="34" charset="-120"/>
              </a:rPr>
              <a:t>4</a:t>
            </a:r>
            <a:endParaRPr lang="en-US" sz="1440" dirty="0"/>
          </a:p>
        </p:txBody>
      </p:sp>
      <p:sp>
        <p:nvSpPr>
          <p:cNvPr id="39" name="Text 15"/>
          <p:cNvSpPr/>
          <p:nvPr/>
        </p:nvSpPr>
        <p:spPr>
          <a:xfrm>
            <a:off x="5623560" y="4892040"/>
            <a:ext cx="755904" cy="259080"/>
          </a:xfrm>
          <a:prstGeom prst="rect">
            <a:avLst/>
          </a:prstGeom>
          <a:noFill/>
        </p:spPr>
        <p:txBody>
          <a:bodyPr wrap="none" lIns="0" tIns="0" rIns="0" bIns="0" rtlCol="0" anchor="ctr"/>
          <a:lstStyle/>
          <a:p>
            <a:pPr marL="0" indent="0" algn="l">
              <a:lnSpc>
                <a:spcPct val="150000"/>
              </a:lnSpc>
              <a:buNone/>
            </a:pPr>
            <a:r>
              <a:rPr lang="en-US" sz="1440" dirty="0">
                <a:solidFill>
                  <a:srgbClr val="FFFFFF">
                    <a:alpha val="90000"/>
                  </a:srgbClr>
                </a:solidFill>
                <a:latin typeface="思源黑体 CN Bold" pitchFamily="34" charset="0"/>
                <a:ea typeface="思源黑体 CN Bold" pitchFamily="34" charset="-122"/>
                <a:cs typeface="思源黑体 CN Bold" pitchFamily="34" charset="-120"/>
              </a:rPr>
              <a:t>自查：☐ 每条判定都有截图 ☐ 是否误报一栏写了验证过程而不是空着</a:t>
            </a:r>
            <a:endParaRPr lang="en-US" sz="1440" dirty="0"/>
          </a:p>
        </p:txBody>
      </p:sp>
      <p:pic>
        <p:nvPicPr>
          <p:cNvPr id="40" name="Image 22" descr="https://test.web.static.jianzeppt.com/ppt-temp-img3/b6dfbf52b5d4315a829089da1e4c0aa1.png?x-oss-process=image/resize,w_1440,h_800,m_lfit/format,png"/>
          <p:cNvPicPr>
            <a:picLocks noChangeAspect="1"/>
          </p:cNvPicPr>
          <p:nvPr/>
        </p:nvPicPr>
        <p:blipFill>
          <a:blip r:embed="rId13"/>
          <a:stretch>
            <a:fillRect/>
          </a:stretch>
        </p:blipFill>
        <p:spPr>
          <a:xfrm>
            <a:off x="6644640" y="4892040"/>
            <a:ext cx="274320" cy="274320"/>
          </a:xfrm>
          <a:prstGeom prst="rect">
            <a:avLst/>
          </a:prstGeom>
        </p:spPr>
      </p:pic>
      <p:pic>
        <p:nvPicPr>
          <p:cNvPr id="41" name="Image 23" descr="preencoded.png"/>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7025640" y="4785360"/>
            <a:ext cx="1508760" cy="487680"/>
          </a:xfrm>
          <a:prstGeom prst="rect">
            <a:avLst/>
          </a:prstGeom>
        </p:spPr>
      </p:pic>
      <p:pic>
        <p:nvPicPr>
          <p:cNvPr id="42" name="Image 24" descr="https://test.web.static.jianzeppt.com/ppt-temp-img3/f0606bf284e6889b92a2ba364620ce2e.png?x-oss-process=image/resize,w_1440,h_800,m_lfit/format,png"/>
          <p:cNvPicPr>
            <a:picLocks noChangeAspect="1"/>
          </p:cNvPicPr>
          <p:nvPr/>
        </p:nvPicPr>
        <p:blipFill>
          <a:blip r:embed="rId12"/>
          <a:stretch>
            <a:fillRect/>
          </a:stretch>
        </p:blipFill>
        <p:spPr>
          <a:xfrm>
            <a:off x="7208520" y="4876800"/>
            <a:ext cx="304800" cy="304800"/>
          </a:xfrm>
          <a:prstGeom prst="rect">
            <a:avLst/>
          </a:prstGeom>
        </p:spPr>
      </p:pic>
      <p:sp>
        <p:nvSpPr>
          <p:cNvPr id="43" name="Text 16"/>
          <p:cNvSpPr/>
          <p:nvPr/>
        </p:nvSpPr>
        <p:spPr>
          <a:xfrm>
            <a:off x="7315200" y="4892040"/>
            <a:ext cx="115824" cy="259080"/>
          </a:xfrm>
          <a:prstGeom prst="rect">
            <a:avLst/>
          </a:prstGeom>
          <a:noFill/>
        </p:spPr>
        <p:txBody>
          <a:bodyPr wrap="none" lIns="0" tIns="0" rIns="0" bIns="0" rtlCol="0" anchor="ctr"/>
          <a:lstStyle/>
          <a:p>
            <a:pPr marL="0" indent="0" algn="l">
              <a:lnSpc>
                <a:spcPct val="150000"/>
              </a:lnSpc>
              <a:buNone/>
            </a:pPr>
            <a:r>
              <a:rPr lang="en-US" sz="1440" dirty="0">
                <a:solidFill>
                  <a:srgbClr val="FFFFFF">
                    <a:alpha val="90000"/>
                  </a:srgbClr>
                </a:solidFill>
                <a:latin typeface="思源黑体 CN Bold" pitchFamily="34" charset="0"/>
                <a:ea typeface="思源黑体 CN Bold" pitchFamily="34" charset="-122"/>
                <a:cs typeface="思源黑体 CN Bold" pitchFamily="34" charset="-120"/>
              </a:rPr>
              <a:t>5</a:t>
            </a:r>
            <a:endParaRPr lang="en-US" sz="1440" dirty="0"/>
          </a:p>
        </p:txBody>
      </p:sp>
      <p:sp>
        <p:nvSpPr>
          <p:cNvPr id="44" name="Text 17"/>
          <p:cNvSpPr/>
          <p:nvPr/>
        </p:nvSpPr>
        <p:spPr>
          <a:xfrm>
            <a:off x="7604760" y="4892040"/>
            <a:ext cx="755904" cy="259080"/>
          </a:xfrm>
          <a:prstGeom prst="rect">
            <a:avLst/>
          </a:prstGeom>
          <a:noFill/>
        </p:spPr>
        <p:txBody>
          <a:bodyPr wrap="none" lIns="0" tIns="0" rIns="0" bIns="0" rtlCol="0" anchor="ctr"/>
          <a:lstStyle/>
          <a:p>
            <a:pPr marL="0" indent="0" algn="l">
              <a:lnSpc>
                <a:spcPct val="150000"/>
              </a:lnSpc>
              <a:buNone/>
            </a:pPr>
            <a:r>
              <a:rPr lang="en-US" sz="1440" dirty="0">
                <a:solidFill>
                  <a:srgbClr val="FFFFFF">
                    <a:alpha val="90000"/>
                  </a:srgbClr>
                </a:solidFill>
                <a:latin typeface="思源黑体 CN Bold" pitchFamily="34" charset="0"/>
                <a:ea typeface="思源黑体 CN Bold" pitchFamily="34" charset="-122"/>
                <a:cs typeface="思源黑体 CN Bold" pitchFamily="34" charset="-120"/>
              </a:rPr>
              <a:t>☐ 整改建议有可执行动作和期限 ☐ 扫描目标只用了平台提供的靶机</a:t>
            </a:r>
            <a:endParaRPr lang="en-US" sz="1440" dirty="0"/>
          </a:p>
        </p:txBody>
      </p:sp>
      <p:pic>
        <p:nvPicPr>
          <p:cNvPr id="45" name="Image 25" descr="https://test.web.static.jianzeppt.com/ppt-temp-img3/f07cc857527605928866fe5825d87123.png?x-oss-process=image/resize,w_1440,h_800,m_lfit/format,png"/>
          <p:cNvPicPr>
            <a:picLocks noChangeAspect="1"/>
          </p:cNvPicPr>
          <p:nvPr/>
        </p:nvPicPr>
        <p:blipFill>
          <a:blip r:embed="rId8"/>
          <a:stretch>
            <a:fillRect/>
          </a:stretch>
        </p:blipFill>
        <p:spPr>
          <a:xfrm>
            <a:off x="624840" y="5530291"/>
            <a:ext cx="10942320" cy="15240"/>
          </a:xfrm>
          <a:prstGeom prst="rect">
            <a:avLst/>
          </a:prstGeom>
        </p:spPr>
      </p:pic>
      <p:pic>
        <p:nvPicPr>
          <p:cNvPr id="46" name="Image 26" descr="https://test.web.static.jianzeppt.com/ppt-temp-img3/7c688fed39a329a36b58257e71262c7d.png?x-oss-process=image/resize,w_1440,h_800,m_lfit/format,png"/>
          <p:cNvPicPr>
            <a:picLocks noChangeAspect="1"/>
          </p:cNvPicPr>
          <p:nvPr/>
        </p:nvPicPr>
        <p:blipFill>
          <a:blip r:embed="rId20"/>
          <a:stretch>
            <a:fillRect/>
          </a:stretch>
        </p:blipFill>
        <p:spPr>
          <a:xfrm>
            <a:off x="624840" y="5532120"/>
            <a:ext cx="1828800" cy="731520"/>
          </a:xfrm>
          <a:prstGeom prst="rect">
            <a:avLst/>
          </a:prstGeom>
        </p:spPr>
      </p:pic>
      <p:sp>
        <p:nvSpPr>
          <p:cNvPr id="47" name="Text 18"/>
          <p:cNvSpPr/>
          <p:nvPr/>
        </p:nvSpPr>
        <p:spPr>
          <a:xfrm>
            <a:off x="868680" y="5715000"/>
            <a:ext cx="86258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latin typeface="思源黑体 CN Bold" pitchFamily="34" charset="0"/>
                <a:ea typeface="思源黑体 CN Bold" pitchFamily="34" charset="-122"/>
                <a:cs typeface="思源黑体 CN Bold" pitchFamily="34" charset="-120"/>
              </a:rPr>
              <a:t>评分看点</a:t>
            </a:r>
            <a:endParaRPr lang="en-US" sz="1680" dirty="0"/>
          </a:p>
        </p:txBody>
      </p:sp>
      <p:sp>
        <p:nvSpPr>
          <p:cNvPr id="48" name="Text 19"/>
          <p:cNvSpPr/>
          <p:nvPr/>
        </p:nvSpPr>
        <p:spPr>
          <a:xfrm>
            <a:off x="2697480" y="5715000"/>
            <a:ext cx="8634984" cy="350520"/>
          </a:xfrm>
          <a:prstGeom prst="rect">
            <a:avLst/>
          </a:prstGeom>
          <a:noFill/>
        </p:spPr>
        <p:txBody>
          <a:bodyPr wrap="none" lIns="0" tIns="0" rIns="0" bIns="0" rtlCol="0" anchor="t">
            <a:spAutoFit/>
          </a:bodyPr>
          <a:lstStyle/>
          <a:p>
            <a:pPr marL="0" indent="0" algn="l">
              <a:lnSpc>
                <a:spcPct val="163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扫描操作 30% ＋ 报告解读 25% ＋ 判定与描述 25% ＋ 职业素养 20%</a:t>
            </a:r>
            <a:endParaRPr lang="en-US" sz="1680" dirty="0"/>
          </a:p>
        </p:txBody>
      </p:sp>
      <p:graphicFrame>
        <p:nvGraphicFramePr>
          <p:cNvPr id="49" name="对象 48">
            <a:hlinkClick r:id="" action="ppaction://ole?verb="/>
          </p:cNvPr>
          <p:cNvGraphicFramePr>
            <a:graphicFrameLocks noChangeAspect="1"/>
          </p:cNvGraphicFramePr>
          <p:nvPr/>
        </p:nvGraphicFramePr>
        <p:xfrm>
          <a:off x="10360660" y="1676400"/>
          <a:ext cx="971550" cy="666750"/>
        </p:xfrm>
        <a:graphic>
          <a:graphicData uri="http://schemas.openxmlformats.org/presentationml/2006/ole">
            <mc:AlternateContent xmlns:mc="http://schemas.openxmlformats.org/markup-compatibility/2006">
              <mc:Choice xmlns:v="urn:schemas-microsoft-com:vml" Requires="v">
                <p:oleObj spid="_x0000_s1025" name="" showAsIcon="1" r:id="rId21" imgW="971550" imgH="666750" progId="Word.Document.12">
                  <p:embed/>
                </p:oleObj>
              </mc:Choice>
              <mc:Fallback>
                <p:oleObj name="" showAsIcon="1" r:id="rId21" imgW="971550" imgH="666750" progId="Word.Document.12">
                  <p:embed/>
                  <p:pic>
                    <p:nvPicPr>
                      <p:cNvPr id="0" name="图片 1024"/>
                      <p:cNvPicPr/>
                      <p:nvPr/>
                    </p:nvPicPr>
                    <p:blipFill>
                      <a:blip r:embed="rId22"/>
                      <a:stretch>
                        <a:fillRect/>
                      </a:stretch>
                    </p:blipFill>
                    <p:spPr>
                      <a:xfrm>
                        <a:off x="10360660" y="1676400"/>
                        <a:ext cx="971550" cy="666750"/>
                      </a:xfrm>
                      <a:prstGeom prst="rect">
                        <a:avLst/>
                      </a:prstGeom>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web.static.jianzeppt.com/ppt-temp-img3/4bbf78d39a1ae7d50fa38e3b11fcab97.png"/>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4673282" y="897806"/>
            <a:ext cx="2863855" cy="493776"/>
          </a:xfrm>
          <a:prstGeom prst="rect">
            <a:avLst/>
          </a:prstGeom>
          <a:noFill/>
        </p:spPr>
        <p:txBody>
          <a:bodyPr wrap="square" lIns="0" tIns="0" rIns="0" bIns="0" rtlCol="0" anchor="b">
            <a:spAutoFit/>
          </a:bodyPr>
          <a:lstStyle/>
          <a:p>
            <a:pPr marL="0" indent="0" algn="ctr">
              <a:lnSpc>
                <a:spcPct val="120000"/>
              </a:lnSpc>
              <a:buNone/>
            </a:pPr>
            <a:r>
              <a:rPr lang="en-US" sz="3240" dirty="0">
                <a:solidFill>
                  <a:srgbClr val="FFFFFF"/>
                </a:solidFill>
              </a:rPr>
              <a:t>Part.04</a:t>
            </a:r>
            <a:endParaRPr lang="en-US" sz="3240" dirty="0"/>
          </a:p>
        </p:txBody>
      </p:sp>
      <p:sp>
        <p:nvSpPr>
          <p:cNvPr id="4" name="Text 1"/>
          <p:cNvSpPr/>
          <p:nvPr/>
        </p:nvSpPr>
        <p:spPr>
          <a:xfrm>
            <a:off x="771842" y="1617339"/>
            <a:ext cx="10666735" cy="804672"/>
          </a:xfrm>
          <a:prstGeom prst="rect">
            <a:avLst/>
          </a:prstGeom>
          <a:noFill/>
        </p:spPr>
        <p:txBody>
          <a:bodyPr wrap="none" lIns="0" tIns="0" rIns="0" bIns="0" rtlCol="0" anchor="b">
            <a:spAutoFit/>
          </a:bodyPr>
          <a:lstStyle/>
          <a:p>
            <a:pPr marL="0" indent="0" algn="ctr">
              <a:lnSpc>
                <a:spcPct val="100000"/>
              </a:lnSpc>
              <a:buNone/>
            </a:pPr>
            <a:r>
              <a:rPr lang="en-US" sz="5280" dirty="0">
                <a:solidFill>
                  <a:srgbClr val="FFFFFF"/>
                </a:solidFill>
              </a:rPr>
              <a:t>回顾与拓展——误报、整改优先级与下节预告</a:t>
            </a:r>
            <a:endParaRPr lang="en-US" sz="528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漏洞管理闭环（拓展知识）</a:t>
            </a:r>
            <a:endParaRPr lang="en-US" sz="2760" dirty="0"/>
          </a:p>
        </p:txBody>
      </p:sp>
      <p:sp>
        <p:nvSpPr>
          <p:cNvPr id="6" name="Text 1"/>
          <p:cNvSpPr/>
          <p:nvPr/>
        </p:nvSpPr>
        <p:spPr>
          <a:xfrm>
            <a:off x="609600" y="1219200"/>
            <a:ext cx="10981944" cy="320040"/>
          </a:xfrm>
          <a:prstGeom prst="rect">
            <a:avLst/>
          </a:prstGeom>
          <a:noFill/>
        </p:spPr>
        <p:txBody>
          <a:bodyPr wrap="none" lIns="0" tIns="0" rIns="0" bIns="0" rtlCol="0" anchor="t">
            <a:spAutoFit/>
          </a:bodyPr>
          <a:lstStyle/>
          <a:p>
            <a:pPr marL="0" indent="0" algn="ctr">
              <a:lnSpc>
                <a:spcPct val="100000"/>
              </a:lnSpc>
              <a:buNone/>
            </a:pPr>
            <a:r>
              <a:rPr lang="en-US" sz="1680" dirty="0">
                <a:solidFill>
                  <a:srgbClr val="727478"/>
                </a:solidFill>
                <a:latin typeface="思源黑体 CN Regular" pitchFamily="34" charset="0"/>
                <a:ea typeface="思源黑体 CN Regular" pitchFamily="34" charset="-122"/>
                <a:cs typeface="思源黑体 CN Regular" pitchFamily="34" charset="-120"/>
              </a:rPr>
              <a:t>漏洞扫描只是起点，完整的漏洞管理需要形成闭环。漏洞管理六步法：</a:t>
            </a:r>
            <a:endParaRPr lang="en-US" sz="1680" dirty="0"/>
          </a:p>
        </p:txBody>
      </p:sp>
      <p:pic>
        <p:nvPicPr>
          <p:cNvPr id="7"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5364480"/>
            <a:ext cx="10972800" cy="1056640"/>
          </a:xfrm>
          <a:prstGeom prst="rect">
            <a:avLst/>
          </a:prstGeom>
        </p:spPr>
      </p:pic>
      <p:sp>
        <p:nvSpPr>
          <p:cNvPr id="8" name="Text 2"/>
          <p:cNvSpPr/>
          <p:nvPr/>
        </p:nvSpPr>
        <p:spPr>
          <a:xfrm>
            <a:off x="914400" y="5608320"/>
            <a:ext cx="10433304" cy="320040"/>
          </a:xfrm>
          <a:prstGeom prst="rect">
            <a:avLst/>
          </a:prstGeom>
          <a:noFill/>
        </p:spPr>
        <p:txBody>
          <a:bodyPr wrap="none" lIns="0" tIns="0" rIns="0" bIns="0" rtlCol="0" anchor="t">
            <a:spAutoFit/>
          </a:bodyPr>
          <a:lstStyle/>
          <a:p>
            <a:pPr marL="0" indent="0" algn="l">
              <a:lnSpc>
                <a:spcPct val="150000"/>
              </a:lnSpc>
              <a:buNone/>
            </a:pPr>
            <a:r>
              <a:rPr lang="en-US" sz="1680" b="1" dirty="0">
                <a:solidFill>
                  <a:srgbClr val="000000"/>
                </a:solidFill>
                <a:latin typeface="思源黑体 CN Bold" pitchFamily="34" charset="0"/>
                <a:ea typeface="思源黑体 CN Bold" pitchFamily="34" charset="-122"/>
                <a:cs typeface="思源黑体 CN Bold" pitchFamily="34" charset="-120"/>
              </a:rPr>
              <a:t>等保2.0要求：</a:t>
            </a:r>
            <a:endParaRPr lang="en-US" sz="1680" dirty="0"/>
          </a:p>
        </p:txBody>
      </p:sp>
      <p:sp>
        <p:nvSpPr>
          <p:cNvPr id="9" name="Text 3"/>
          <p:cNvSpPr/>
          <p:nvPr/>
        </p:nvSpPr>
        <p:spPr>
          <a:xfrm>
            <a:off x="914400" y="5989320"/>
            <a:ext cx="1043330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应定期开展安全测评，发现的安全漏洞应及时修补或采取其他有效补救措施。</a:t>
            </a:r>
            <a:endParaRPr lang="en-US" sz="1680" dirty="0"/>
          </a:p>
        </p:txBody>
      </p:sp>
      <p:pic>
        <p:nvPicPr>
          <p:cNvPr id="10" name="Image 4" descr="https://test.web.static.jianzeppt.com/ppt-temp-img3/bb9caaa5a26c26989be40c4c4b828660.png?x-oss-process=image/resize,w_1440,h_800,m_lfit/format,png"/>
          <p:cNvPicPr>
            <a:picLocks noChangeAspect="1"/>
          </p:cNvPicPr>
          <p:nvPr>
            <p:custDataLst>
              <p:tags r:id="rId6"/>
            </p:custDataLst>
          </p:nvPr>
        </p:nvPicPr>
        <p:blipFill>
          <a:blip r:embed="rId7"/>
          <a:stretch>
            <a:fillRect/>
          </a:stretch>
        </p:blipFill>
        <p:spPr>
          <a:xfrm>
            <a:off x="4876800" y="2331720"/>
            <a:ext cx="2438400" cy="701040"/>
          </a:xfrm>
          <a:prstGeom prst="rect">
            <a:avLst/>
          </a:prstGeom>
        </p:spPr>
      </p:pic>
      <p:sp>
        <p:nvSpPr>
          <p:cNvPr id="11" name="Text 4"/>
          <p:cNvSpPr/>
          <p:nvPr>
            <p:custDataLst>
              <p:tags r:id="rId8"/>
            </p:custDataLst>
          </p:nvPr>
        </p:nvSpPr>
        <p:spPr>
          <a:xfrm>
            <a:off x="5013960" y="2407920"/>
            <a:ext cx="2173224" cy="320040"/>
          </a:xfrm>
          <a:prstGeom prst="rect">
            <a:avLst/>
          </a:prstGeom>
          <a:noFill/>
        </p:spPr>
        <p:txBody>
          <a:bodyPr wrap="none" lIns="0" tIns="0" rIns="0" bIns="0" rtlCol="0" anchor="t">
            <a:spAutoFit/>
          </a:bodyPr>
          <a:lstStyle/>
          <a:p>
            <a:pPr marL="0" indent="0" algn="ctr">
              <a:lnSpc>
                <a:spcPct val="150000"/>
              </a:lnSpc>
              <a:buNone/>
            </a:pPr>
            <a:r>
              <a:rPr lang="en-US" sz="1680" b="1" dirty="0">
                <a:solidFill>
                  <a:srgbClr val="000000"/>
                </a:solidFill>
                <a:latin typeface="思源黑体 CN Bold" pitchFamily="34" charset="0"/>
                <a:ea typeface="思源黑体 CN Bold" pitchFamily="34" charset="-122"/>
                <a:cs typeface="思源黑体 CN Bold" pitchFamily="34" charset="-120"/>
              </a:rPr>
              <a:t>资产识别</a:t>
            </a:r>
            <a:endParaRPr lang="en-US" sz="1680" dirty="0"/>
          </a:p>
        </p:txBody>
      </p:sp>
      <p:sp>
        <p:nvSpPr>
          <p:cNvPr id="12" name="Text 5"/>
          <p:cNvSpPr/>
          <p:nvPr>
            <p:custDataLst>
              <p:tags r:id="rId9"/>
            </p:custDataLst>
          </p:nvPr>
        </p:nvSpPr>
        <p:spPr>
          <a:xfrm>
            <a:off x="5013960" y="2758440"/>
            <a:ext cx="2173224" cy="198120"/>
          </a:xfrm>
          <a:prstGeom prst="rect">
            <a:avLst/>
          </a:prstGeom>
          <a:noFill/>
        </p:spPr>
        <p:txBody>
          <a:bodyPr wrap="none" lIns="0" tIns="0" rIns="0" bIns="0" rtlCol="0" anchor="t">
            <a:spAutoFit/>
          </a:bodyPr>
          <a:lstStyle/>
          <a:p>
            <a:pPr marL="0" indent="0" algn="ctr">
              <a:lnSpc>
                <a:spcPct val="125000"/>
              </a:lnSpc>
              <a:buNone/>
            </a:pPr>
            <a:r>
              <a:rPr lang="en-US" sz="1200" dirty="0">
                <a:solidFill>
                  <a:srgbClr val="727478"/>
                </a:solidFill>
                <a:latin typeface="思源黑体 CN Regular" pitchFamily="34" charset="0"/>
                <a:ea typeface="思源黑体 CN Regular" pitchFamily="34" charset="-122"/>
                <a:cs typeface="思源黑体 CN Regular" pitchFamily="34" charset="-120"/>
              </a:rPr>
              <a:t>明确哪些系统需要扫描</a:t>
            </a:r>
            <a:endParaRPr lang="en-US" sz="1200" dirty="0"/>
          </a:p>
        </p:txBody>
      </p:sp>
      <p:pic>
        <p:nvPicPr>
          <p:cNvPr id="13" name="Image 5" descr="preencoded.png"/>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5852160" y="1783080"/>
            <a:ext cx="487680" cy="487680"/>
          </a:xfrm>
          <a:prstGeom prst="rect">
            <a:avLst/>
          </a:prstGeom>
        </p:spPr>
      </p:pic>
      <p:sp>
        <p:nvSpPr>
          <p:cNvPr id="14" name="Text 6"/>
          <p:cNvSpPr/>
          <p:nvPr>
            <p:custDataLst>
              <p:tags r:id="rId13"/>
            </p:custDataLst>
          </p:nvPr>
        </p:nvSpPr>
        <p:spPr>
          <a:xfrm>
            <a:off x="6035040" y="1859280"/>
            <a:ext cx="131064" cy="304800"/>
          </a:xfrm>
          <a:prstGeom prst="rect">
            <a:avLst/>
          </a:prstGeom>
          <a:noFill/>
        </p:spPr>
        <p:txBody>
          <a:bodyPr wrap="none" lIns="0" tIns="0" rIns="0" bIns="0" rtlCol="0" anchor="ctr"/>
          <a:lstStyle/>
          <a:p>
            <a:pPr marL="0" indent="0" algn="ctr">
              <a:lnSpc>
                <a:spcPct val="150000"/>
              </a:lnSpc>
              <a:buNone/>
            </a:pPr>
            <a:r>
              <a:rPr lang="en-US" sz="1680" dirty="0">
                <a:solidFill>
                  <a:srgbClr val="FFFFFF"/>
                </a:solidFill>
                <a:latin typeface="思源黑体 CN Bold" pitchFamily="34" charset="0"/>
                <a:ea typeface="思源黑体 CN Bold" pitchFamily="34" charset="-122"/>
                <a:cs typeface="思源黑体 CN Bold" pitchFamily="34" charset="-120"/>
              </a:rPr>
              <a:t>1</a:t>
            </a:r>
            <a:endParaRPr lang="en-US" sz="1680" dirty="0"/>
          </a:p>
        </p:txBody>
      </p:sp>
      <p:pic>
        <p:nvPicPr>
          <p:cNvPr id="15" name="Image 6" descr="https://test.web.static.jianzeppt.com/ppt-temp-img3/bb9caaa5a26c26989be40c4c4b828660.png?x-oss-process=image/resize,w_1440,h_800,m_lfit/format,png"/>
          <p:cNvPicPr>
            <a:picLocks noChangeAspect="1"/>
          </p:cNvPicPr>
          <p:nvPr>
            <p:custDataLst>
              <p:tags r:id="rId14"/>
            </p:custDataLst>
          </p:nvPr>
        </p:nvPicPr>
        <p:blipFill>
          <a:blip r:embed="rId7"/>
          <a:stretch>
            <a:fillRect/>
          </a:stretch>
        </p:blipFill>
        <p:spPr>
          <a:xfrm>
            <a:off x="8229600" y="2865120"/>
            <a:ext cx="2438400" cy="701040"/>
          </a:xfrm>
          <a:prstGeom prst="rect">
            <a:avLst/>
          </a:prstGeom>
        </p:spPr>
      </p:pic>
      <p:sp>
        <p:nvSpPr>
          <p:cNvPr id="16" name="Text 7"/>
          <p:cNvSpPr/>
          <p:nvPr>
            <p:custDataLst>
              <p:tags r:id="rId15"/>
            </p:custDataLst>
          </p:nvPr>
        </p:nvSpPr>
        <p:spPr>
          <a:xfrm>
            <a:off x="8366760" y="2941320"/>
            <a:ext cx="2173224" cy="320040"/>
          </a:xfrm>
          <a:prstGeom prst="rect">
            <a:avLst/>
          </a:prstGeom>
          <a:noFill/>
        </p:spPr>
        <p:txBody>
          <a:bodyPr wrap="none" lIns="0" tIns="0" rIns="0" bIns="0" rtlCol="0" anchor="t">
            <a:spAutoFit/>
          </a:bodyPr>
          <a:lstStyle/>
          <a:p>
            <a:pPr marL="0" indent="0" algn="ctr">
              <a:lnSpc>
                <a:spcPct val="150000"/>
              </a:lnSpc>
              <a:buNone/>
            </a:pPr>
            <a:r>
              <a:rPr lang="en-US" sz="1680" b="1" dirty="0">
                <a:solidFill>
                  <a:srgbClr val="000000"/>
                </a:solidFill>
                <a:latin typeface="思源黑体 CN Bold" pitchFamily="34" charset="0"/>
                <a:ea typeface="思源黑体 CN Bold" pitchFamily="34" charset="-122"/>
                <a:cs typeface="思源黑体 CN Bold" pitchFamily="34" charset="-120"/>
              </a:rPr>
              <a:t>漏洞扫描</a:t>
            </a:r>
            <a:endParaRPr lang="en-US" sz="1680" dirty="0"/>
          </a:p>
        </p:txBody>
      </p:sp>
      <p:sp>
        <p:nvSpPr>
          <p:cNvPr id="17" name="Text 8"/>
          <p:cNvSpPr/>
          <p:nvPr>
            <p:custDataLst>
              <p:tags r:id="rId16"/>
            </p:custDataLst>
          </p:nvPr>
        </p:nvSpPr>
        <p:spPr>
          <a:xfrm>
            <a:off x="8366760" y="3291840"/>
            <a:ext cx="2173224" cy="198120"/>
          </a:xfrm>
          <a:prstGeom prst="rect">
            <a:avLst/>
          </a:prstGeom>
          <a:noFill/>
        </p:spPr>
        <p:txBody>
          <a:bodyPr wrap="none" lIns="0" tIns="0" rIns="0" bIns="0" rtlCol="0" anchor="t">
            <a:spAutoFit/>
          </a:bodyPr>
          <a:lstStyle/>
          <a:p>
            <a:pPr marL="0" indent="0" algn="ctr">
              <a:lnSpc>
                <a:spcPct val="125000"/>
              </a:lnSpc>
              <a:buNone/>
            </a:pPr>
            <a:r>
              <a:rPr lang="en-US" sz="1200" dirty="0">
                <a:solidFill>
                  <a:srgbClr val="727478"/>
                </a:solidFill>
                <a:latin typeface="思源黑体 CN Regular" pitchFamily="34" charset="0"/>
                <a:ea typeface="思源黑体 CN Regular" pitchFamily="34" charset="-122"/>
                <a:cs typeface="思源黑体 CN Regular" pitchFamily="34" charset="-120"/>
              </a:rPr>
              <a:t>使用Nessus/OpenVAS执行</a:t>
            </a:r>
            <a:endParaRPr lang="en-US" sz="1200" dirty="0"/>
          </a:p>
        </p:txBody>
      </p:sp>
      <p:pic>
        <p:nvPicPr>
          <p:cNvPr id="18" name="Image 7" descr="preencoded.png"/>
          <p:cNvPicPr>
            <a:picLocks noChangeAspect="1"/>
          </p:cNvPicPr>
          <p:nvPr>
            <p:custDataLst>
              <p:tags r:id="rId17"/>
            </p:custDataLst>
          </p:nvPr>
        </p:nvPicPr>
        <p:blipFill>
          <a:blip r:embed="rId18">
            <a:extLst>
              <a:ext uri="{96DAC541-7B7A-43D3-8B79-37D633B846F1}">
                <asvg:svgBlip xmlns:asvg="http://schemas.microsoft.com/office/drawing/2016/SVG/main" r:embed="rId12"/>
              </a:ext>
            </a:extLst>
          </a:blip>
          <a:stretch>
            <a:fillRect/>
          </a:stretch>
        </p:blipFill>
        <p:spPr>
          <a:xfrm>
            <a:off x="9204960" y="2316480"/>
            <a:ext cx="487680" cy="487680"/>
          </a:xfrm>
          <a:prstGeom prst="rect">
            <a:avLst/>
          </a:prstGeom>
        </p:spPr>
      </p:pic>
      <p:sp>
        <p:nvSpPr>
          <p:cNvPr id="19" name="Text 9"/>
          <p:cNvSpPr/>
          <p:nvPr>
            <p:custDataLst>
              <p:tags r:id="rId19"/>
            </p:custDataLst>
          </p:nvPr>
        </p:nvSpPr>
        <p:spPr>
          <a:xfrm>
            <a:off x="9387840" y="2392680"/>
            <a:ext cx="131064" cy="304800"/>
          </a:xfrm>
          <a:prstGeom prst="rect">
            <a:avLst/>
          </a:prstGeom>
          <a:noFill/>
        </p:spPr>
        <p:txBody>
          <a:bodyPr wrap="none" lIns="0" tIns="0" rIns="0" bIns="0" rtlCol="0" anchor="ctr"/>
          <a:lstStyle/>
          <a:p>
            <a:pPr marL="0" indent="0" algn="ctr">
              <a:lnSpc>
                <a:spcPct val="150000"/>
              </a:lnSpc>
              <a:buNone/>
            </a:pPr>
            <a:r>
              <a:rPr lang="en-US" sz="1680" dirty="0">
                <a:solidFill>
                  <a:srgbClr val="FFFFFF"/>
                </a:solidFill>
                <a:latin typeface="思源黑体 CN Bold" pitchFamily="34" charset="0"/>
                <a:ea typeface="思源黑体 CN Bold" pitchFamily="34" charset="-122"/>
                <a:cs typeface="思源黑体 CN Bold" pitchFamily="34" charset="-120"/>
              </a:rPr>
              <a:t>2</a:t>
            </a:r>
            <a:endParaRPr lang="en-US" sz="1680" dirty="0"/>
          </a:p>
        </p:txBody>
      </p:sp>
      <p:pic>
        <p:nvPicPr>
          <p:cNvPr id="20" name="Image 8" descr="https://test.web.static.jianzeppt.com/ppt-temp-img3/bb9caaa5a26c26989be40c4c4b828660.png?x-oss-process=image/resize,w_1440,h_800,m_lfit/format,png"/>
          <p:cNvPicPr>
            <a:picLocks noChangeAspect="1"/>
          </p:cNvPicPr>
          <p:nvPr>
            <p:custDataLst>
              <p:tags r:id="rId20"/>
            </p:custDataLst>
          </p:nvPr>
        </p:nvPicPr>
        <p:blipFill>
          <a:blip r:embed="rId7"/>
          <a:stretch>
            <a:fillRect/>
          </a:stretch>
        </p:blipFill>
        <p:spPr>
          <a:xfrm>
            <a:off x="8229600" y="3901440"/>
            <a:ext cx="2438400" cy="701040"/>
          </a:xfrm>
          <a:prstGeom prst="rect">
            <a:avLst/>
          </a:prstGeom>
        </p:spPr>
      </p:pic>
      <p:sp>
        <p:nvSpPr>
          <p:cNvPr id="21" name="Text 10"/>
          <p:cNvSpPr/>
          <p:nvPr>
            <p:custDataLst>
              <p:tags r:id="rId21"/>
            </p:custDataLst>
          </p:nvPr>
        </p:nvSpPr>
        <p:spPr>
          <a:xfrm>
            <a:off x="8366760" y="3977640"/>
            <a:ext cx="2173224" cy="320040"/>
          </a:xfrm>
          <a:prstGeom prst="rect">
            <a:avLst/>
          </a:prstGeom>
          <a:noFill/>
        </p:spPr>
        <p:txBody>
          <a:bodyPr wrap="none" lIns="0" tIns="0" rIns="0" bIns="0" rtlCol="0" anchor="t">
            <a:spAutoFit/>
          </a:bodyPr>
          <a:lstStyle/>
          <a:p>
            <a:pPr marL="0" indent="0" algn="ctr">
              <a:lnSpc>
                <a:spcPct val="150000"/>
              </a:lnSpc>
              <a:buNone/>
            </a:pPr>
            <a:r>
              <a:rPr lang="en-US" sz="1680" b="1" dirty="0">
                <a:solidFill>
                  <a:srgbClr val="000000"/>
                </a:solidFill>
                <a:latin typeface="思源黑体 CN Bold" pitchFamily="34" charset="0"/>
                <a:ea typeface="思源黑体 CN Bold" pitchFamily="34" charset="-122"/>
                <a:cs typeface="思源黑体 CN Bold" pitchFamily="34" charset="-120"/>
              </a:rPr>
              <a:t>漏洞分析</a:t>
            </a:r>
            <a:endParaRPr lang="en-US" sz="1680" dirty="0"/>
          </a:p>
        </p:txBody>
      </p:sp>
      <p:sp>
        <p:nvSpPr>
          <p:cNvPr id="22" name="Text 11"/>
          <p:cNvSpPr/>
          <p:nvPr>
            <p:custDataLst>
              <p:tags r:id="rId22"/>
            </p:custDataLst>
          </p:nvPr>
        </p:nvSpPr>
        <p:spPr>
          <a:xfrm>
            <a:off x="8366760" y="4328160"/>
            <a:ext cx="2173224" cy="198120"/>
          </a:xfrm>
          <a:prstGeom prst="rect">
            <a:avLst/>
          </a:prstGeom>
          <a:noFill/>
        </p:spPr>
        <p:txBody>
          <a:bodyPr wrap="none" lIns="0" tIns="0" rIns="0" bIns="0" rtlCol="0" anchor="t">
            <a:spAutoFit/>
          </a:bodyPr>
          <a:lstStyle/>
          <a:p>
            <a:pPr marL="0" indent="0" algn="ctr">
              <a:lnSpc>
                <a:spcPct val="125000"/>
              </a:lnSpc>
              <a:buNone/>
            </a:pPr>
            <a:r>
              <a:rPr lang="en-US" sz="1200" dirty="0">
                <a:solidFill>
                  <a:srgbClr val="727478"/>
                </a:solidFill>
                <a:latin typeface="思源黑体 CN Regular" pitchFamily="34" charset="0"/>
                <a:ea typeface="思源黑体 CN Regular" pitchFamily="34" charset="-122"/>
                <a:cs typeface="思源黑体 CN Regular" pitchFamily="34" charset="-120"/>
              </a:rPr>
              <a:t>结合CVSS和业务重要性评估</a:t>
            </a:r>
            <a:endParaRPr lang="en-US" sz="1200" dirty="0"/>
          </a:p>
        </p:txBody>
      </p:sp>
      <p:pic>
        <p:nvPicPr>
          <p:cNvPr id="23" name="Image 9" descr="preencoded.png"/>
          <p:cNvPicPr>
            <a:picLocks noChangeAspect="1"/>
          </p:cNvPicPr>
          <p:nvPr>
            <p:custDataLst>
              <p:tags r:id="rId23"/>
            </p:custDataLst>
          </p:nvPr>
        </p:nvPicPr>
        <p:blipFill>
          <a:blip r:embed="rId24">
            <a:extLst>
              <a:ext uri="{96DAC541-7B7A-43D3-8B79-37D633B846F1}">
                <asvg:svgBlip xmlns:asvg="http://schemas.microsoft.com/office/drawing/2016/SVG/main" r:embed="rId12"/>
              </a:ext>
            </a:extLst>
          </a:blip>
          <a:stretch>
            <a:fillRect/>
          </a:stretch>
        </p:blipFill>
        <p:spPr>
          <a:xfrm>
            <a:off x="9204960" y="3352800"/>
            <a:ext cx="487680" cy="487680"/>
          </a:xfrm>
          <a:prstGeom prst="rect">
            <a:avLst/>
          </a:prstGeom>
        </p:spPr>
      </p:pic>
      <p:sp>
        <p:nvSpPr>
          <p:cNvPr id="24" name="Text 12"/>
          <p:cNvSpPr/>
          <p:nvPr>
            <p:custDataLst>
              <p:tags r:id="rId25"/>
            </p:custDataLst>
          </p:nvPr>
        </p:nvSpPr>
        <p:spPr>
          <a:xfrm>
            <a:off x="9387840" y="3429000"/>
            <a:ext cx="131064" cy="304800"/>
          </a:xfrm>
          <a:prstGeom prst="rect">
            <a:avLst/>
          </a:prstGeom>
          <a:noFill/>
        </p:spPr>
        <p:txBody>
          <a:bodyPr wrap="none" lIns="0" tIns="0" rIns="0" bIns="0" rtlCol="0" anchor="ctr"/>
          <a:lstStyle/>
          <a:p>
            <a:pPr marL="0" indent="0" algn="ctr">
              <a:lnSpc>
                <a:spcPct val="150000"/>
              </a:lnSpc>
              <a:buNone/>
            </a:pPr>
            <a:r>
              <a:rPr lang="en-US" sz="1680" dirty="0">
                <a:solidFill>
                  <a:srgbClr val="FFFFFF"/>
                </a:solidFill>
                <a:latin typeface="思源黑体 CN Bold" pitchFamily="34" charset="0"/>
                <a:ea typeface="思源黑体 CN Bold" pitchFamily="34" charset="-122"/>
                <a:cs typeface="思源黑体 CN Bold" pitchFamily="34" charset="-120"/>
              </a:rPr>
              <a:t>3</a:t>
            </a:r>
            <a:endParaRPr lang="en-US" sz="1680" dirty="0"/>
          </a:p>
        </p:txBody>
      </p:sp>
      <p:pic>
        <p:nvPicPr>
          <p:cNvPr id="25" name="Image 10" descr="https://test.web.static.jianzeppt.com/ppt-temp-img3/bb9caaa5a26c26989be40c4c4b828660.png?x-oss-process=image/resize,w_1440,h_800,m_lfit/format,png"/>
          <p:cNvPicPr>
            <a:picLocks noChangeAspect="1"/>
          </p:cNvPicPr>
          <p:nvPr>
            <p:custDataLst>
              <p:tags r:id="rId26"/>
            </p:custDataLst>
          </p:nvPr>
        </p:nvPicPr>
        <p:blipFill>
          <a:blip r:embed="rId7"/>
          <a:stretch>
            <a:fillRect/>
          </a:stretch>
        </p:blipFill>
        <p:spPr>
          <a:xfrm>
            <a:off x="4876800" y="4434840"/>
            <a:ext cx="2438400" cy="701040"/>
          </a:xfrm>
          <a:prstGeom prst="rect">
            <a:avLst/>
          </a:prstGeom>
        </p:spPr>
      </p:pic>
      <p:sp>
        <p:nvSpPr>
          <p:cNvPr id="26" name="Text 13"/>
          <p:cNvSpPr/>
          <p:nvPr>
            <p:custDataLst>
              <p:tags r:id="rId27"/>
            </p:custDataLst>
          </p:nvPr>
        </p:nvSpPr>
        <p:spPr>
          <a:xfrm>
            <a:off x="5013960" y="4511040"/>
            <a:ext cx="2173224" cy="320040"/>
          </a:xfrm>
          <a:prstGeom prst="rect">
            <a:avLst/>
          </a:prstGeom>
          <a:noFill/>
        </p:spPr>
        <p:txBody>
          <a:bodyPr wrap="none" lIns="0" tIns="0" rIns="0" bIns="0" rtlCol="0" anchor="t">
            <a:spAutoFit/>
          </a:bodyPr>
          <a:lstStyle/>
          <a:p>
            <a:pPr marL="0" indent="0" algn="ctr">
              <a:lnSpc>
                <a:spcPct val="150000"/>
              </a:lnSpc>
              <a:buNone/>
            </a:pPr>
            <a:r>
              <a:rPr lang="en-US" sz="1680" b="1" dirty="0">
                <a:solidFill>
                  <a:srgbClr val="000000"/>
                </a:solidFill>
                <a:latin typeface="思源黑体 CN Bold" pitchFamily="34" charset="0"/>
                <a:ea typeface="思源黑体 CN Bold" pitchFamily="34" charset="-122"/>
                <a:cs typeface="思源黑体 CN Bold" pitchFamily="34" charset="-120"/>
              </a:rPr>
              <a:t>修复与加固</a:t>
            </a:r>
            <a:endParaRPr lang="en-US" sz="1680" dirty="0"/>
          </a:p>
        </p:txBody>
      </p:sp>
      <p:sp>
        <p:nvSpPr>
          <p:cNvPr id="27" name="Text 14"/>
          <p:cNvSpPr/>
          <p:nvPr>
            <p:custDataLst>
              <p:tags r:id="rId28"/>
            </p:custDataLst>
          </p:nvPr>
        </p:nvSpPr>
        <p:spPr>
          <a:xfrm>
            <a:off x="5013960" y="4861560"/>
            <a:ext cx="2173224" cy="198120"/>
          </a:xfrm>
          <a:prstGeom prst="rect">
            <a:avLst/>
          </a:prstGeom>
          <a:noFill/>
        </p:spPr>
        <p:txBody>
          <a:bodyPr wrap="none" lIns="0" tIns="0" rIns="0" bIns="0" rtlCol="0" anchor="t">
            <a:spAutoFit/>
          </a:bodyPr>
          <a:lstStyle/>
          <a:p>
            <a:pPr marL="0" indent="0" algn="ctr">
              <a:lnSpc>
                <a:spcPct val="125000"/>
              </a:lnSpc>
              <a:buNone/>
            </a:pPr>
            <a:r>
              <a:rPr lang="en-US" sz="1200" dirty="0">
                <a:solidFill>
                  <a:srgbClr val="727478"/>
                </a:solidFill>
                <a:latin typeface="思源黑体 CN Regular" pitchFamily="34" charset="0"/>
                <a:ea typeface="思源黑体 CN Regular" pitchFamily="34" charset="-122"/>
                <a:cs typeface="思源黑体 CN Regular" pitchFamily="34" charset="-120"/>
              </a:rPr>
              <a:t>补丁、配置加固、替换组件</a:t>
            </a:r>
            <a:endParaRPr lang="en-US" sz="1200" dirty="0"/>
          </a:p>
        </p:txBody>
      </p:sp>
      <p:pic>
        <p:nvPicPr>
          <p:cNvPr id="28" name="Image 11" descr="preencoded.png"/>
          <p:cNvPicPr>
            <a:picLocks noChangeAspect="1"/>
          </p:cNvPicPr>
          <p:nvPr>
            <p:custDataLst>
              <p:tags r:id="rId29"/>
            </p:custDataLst>
          </p:nvPr>
        </p:nvPicPr>
        <p:blipFill>
          <a:blip r:embed="rId30">
            <a:extLst>
              <a:ext uri="{96DAC541-7B7A-43D3-8B79-37D633B846F1}">
                <asvg:svgBlip xmlns:asvg="http://schemas.microsoft.com/office/drawing/2016/SVG/main" r:embed="rId12"/>
              </a:ext>
            </a:extLst>
          </a:blip>
          <a:stretch>
            <a:fillRect/>
          </a:stretch>
        </p:blipFill>
        <p:spPr>
          <a:xfrm>
            <a:off x="5852160" y="3886200"/>
            <a:ext cx="487680" cy="487680"/>
          </a:xfrm>
          <a:prstGeom prst="rect">
            <a:avLst/>
          </a:prstGeom>
        </p:spPr>
      </p:pic>
      <p:sp>
        <p:nvSpPr>
          <p:cNvPr id="29" name="Text 15"/>
          <p:cNvSpPr/>
          <p:nvPr>
            <p:custDataLst>
              <p:tags r:id="rId31"/>
            </p:custDataLst>
          </p:nvPr>
        </p:nvSpPr>
        <p:spPr>
          <a:xfrm>
            <a:off x="6035040" y="3962400"/>
            <a:ext cx="131064" cy="304800"/>
          </a:xfrm>
          <a:prstGeom prst="rect">
            <a:avLst/>
          </a:prstGeom>
          <a:noFill/>
        </p:spPr>
        <p:txBody>
          <a:bodyPr wrap="none" lIns="0" tIns="0" rIns="0" bIns="0" rtlCol="0" anchor="ctr"/>
          <a:lstStyle/>
          <a:p>
            <a:pPr marL="0" indent="0" algn="ctr">
              <a:lnSpc>
                <a:spcPct val="150000"/>
              </a:lnSpc>
              <a:buNone/>
            </a:pPr>
            <a:r>
              <a:rPr lang="en-US" sz="1680" dirty="0">
                <a:solidFill>
                  <a:srgbClr val="FFFFFF"/>
                </a:solidFill>
                <a:latin typeface="思源黑体 CN Bold" pitchFamily="34" charset="0"/>
                <a:ea typeface="思源黑体 CN Bold" pitchFamily="34" charset="-122"/>
                <a:cs typeface="思源黑体 CN Bold" pitchFamily="34" charset="-120"/>
              </a:rPr>
              <a:t>4</a:t>
            </a:r>
            <a:endParaRPr lang="en-US" sz="1680" dirty="0"/>
          </a:p>
        </p:txBody>
      </p:sp>
      <p:pic>
        <p:nvPicPr>
          <p:cNvPr id="30" name="Image 12" descr="https://test.web.static.jianzeppt.com/ppt-temp-img3/bb9caaa5a26c26989be40c4c4b828660.png?x-oss-process=image/resize,w_1440,h_800,m_lfit/format,png"/>
          <p:cNvPicPr>
            <a:picLocks noChangeAspect="1"/>
          </p:cNvPicPr>
          <p:nvPr>
            <p:custDataLst>
              <p:tags r:id="rId32"/>
            </p:custDataLst>
          </p:nvPr>
        </p:nvPicPr>
        <p:blipFill>
          <a:blip r:embed="rId7"/>
          <a:stretch>
            <a:fillRect/>
          </a:stretch>
        </p:blipFill>
        <p:spPr>
          <a:xfrm>
            <a:off x="1524000" y="3901440"/>
            <a:ext cx="2438400" cy="701040"/>
          </a:xfrm>
          <a:prstGeom prst="rect">
            <a:avLst/>
          </a:prstGeom>
        </p:spPr>
      </p:pic>
      <p:sp>
        <p:nvSpPr>
          <p:cNvPr id="31" name="Text 16"/>
          <p:cNvSpPr/>
          <p:nvPr>
            <p:custDataLst>
              <p:tags r:id="rId33"/>
            </p:custDataLst>
          </p:nvPr>
        </p:nvSpPr>
        <p:spPr>
          <a:xfrm>
            <a:off x="1661160" y="3977640"/>
            <a:ext cx="2173224" cy="320040"/>
          </a:xfrm>
          <a:prstGeom prst="rect">
            <a:avLst/>
          </a:prstGeom>
          <a:noFill/>
        </p:spPr>
        <p:txBody>
          <a:bodyPr wrap="none" lIns="0" tIns="0" rIns="0" bIns="0" rtlCol="0" anchor="t">
            <a:spAutoFit/>
          </a:bodyPr>
          <a:lstStyle/>
          <a:p>
            <a:pPr marL="0" indent="0" algn="ctr">
              <a:lnSpc>
                <a:spcPct val="150000"/>
              </a:lnSpc>
              <a:buNone/>
            </a:pPr>
            <a:r>
              <a:rPr lang="en-US" sz="1680" b="1" dirty="0">
                <a:solidFill>
                  <a:srgbClr val="000000"/>
                </a:solidFill>
                <a:latin typeface="思源黑体 CN Bold" pitchFamily="34" charset="0"/>
                <a:ea typeface="思源黑体 CN Bold" pitchFamily="34" charset="-122"/>
                <a:cs typeface="思源黑体 CN Bold" pitchFamily="34" charset="-120"/>
              </a:rPr>
              <a:t>验证与复扫</a:t>
            </a:r>
            <a:endParaRPr lang="en-US" sz="1680" dirty="0"/>
          </a:p>
        </p:txBody>
      </p:sp>
      <p:sp>
        <p:nvSpPr>
          <p:cNvPr id="32" name="Text 17"/>
          <p:cNvSpPr/>
          <p:nvPr>
            <p:custDataLst>
              <p:tags r:id="rId34"/>
            </p:custDataLst>
          </p:nvPr>
        </p:nvSpPr>
        <p:spPr>
          <a:xfrm>
            <a:off x="1661160" y="4328160"/>
            <a:ext cx="2173224" cy="198120"/>
          </a:xfrm>
          <a:prstGeom prst="rect">
            <a:avLst/>
          </a:prstGeom>
          <a:noFill/>
        </p:spPr>
        <p:txBody>
          <a:bodyPr wrap="none" lIns="0" tIns="0" rIns="0" bIns="0" rtlCol="0" anchor="t">
            <a:spAutoFit/>
          </a:bodyPr>
          <a:lstStyle/>
          <a:p>
            <a:pPr marL="0" indent="0" algn="ctr">
              <a:lnSpc>
                <a:spcPct val="125000"/>
              </a:lnSpc>
              <a:buNone/>
            </a:pPr>
            <a:r>
              <a:rPr lang="en-US" sz="1200" dirty="0">
                <a:solidFill>
                  <a:srgbClr val="727478"/>
                </a:solidFill>
                <a:latin typeface="思源黑体 CN Regular" pitchFamily="34" charset="0"/>
                <a:ea typeface="思源黑体 CN Regular" pitchFamily="34" charset="-122"/>
                <a:cs typeface="思源黑体 CN Regular" pitchFamily="34" charset="-120"/>
              </a:rPr>
              <a:t>修复后再次扫描验证关闭</a:t>
            </a:r>
            <a:endParaRPr lang="en-US" sz="1200" dirty="0"/>
          </a:p>
        </p:txBody>
      </p:sp>
      <p:pic>
        <p:nvPicPr>
          <p:cNvPr id="33" name="Image 13" descr="preencoded.png"/>
          <p:cNvPicPr>
            <a:picLocks noChangeAspect="1"/>
          </p:cNvPicPr>
          <p:nvPr>
            <p:custDataLst>
              <p:tags r:id="rId35"/>
            </p:custDataLst>
          </p:nvPr>
        </p:nvPicPr>
        <p:blipFill>
          <a:blip r:embed="rId36">
            <a:extLst>
              <a:ext uri="{96DAC541-7B7A-43D3-8B79-37D633B846F1}">
                <asvg:svgBlip xmlns:asvg="http://schemas.microsoft.com/office/drawing/2016/SVG/main" r:embed="rId12"/>
              </a:ext>
            </a:extLst>
          </a:blip>
          <a:stretch>
            <a:fillRect/>
          </a:stretch>
        </p:blipFill>
        <p:spPr>
          <a:xfrm>
            <a:off x="2499360" y="3352800"/>
            <a:ext cx="487680" cy="487680"/>
          </a:xfrm>
          <a:prstGeom prst="rect">
            <a:avLst/>
          </a:prstGeom>
        </p:spPr>
      </p:pic>
      <p:sp>
        <p:nvSpPr>
          <p:cNvPr id="34" name="Text 18"/>
          <p:cNvSpPr/>
          <p:nvPr>
            <p:custDataLst>
              <p:tags r:id="rId37"/>
            </p:custDataLst>
          </p:nvPr>
        </p:nvSpPr>
        <p:spPr>
          <a:xfrm>
            <a:off x="2682240" y="3429000"/>
            <a:ext cx="131064" cy="304800"/>
          </a:xfrm>
          <a:prstGeom prst="rect">
            <a:avLst/>
          </a:prstGeom>
          <a:noFill/>
        </p:spPr>
        <p:txBody>
          <a:bodyPr wrap="none" lIns="0" tIns="0" rIns="0" bIns="0" rtlCol="0" anchor="ctr"/>
          <a:lstStyle/>
          <a:p>
            <a:pPr marL="0" indent="0" algn="ctr">
              <a:lnSpc>
                <a:spcPct val="150000"/>
              </a:lnSpc>
              <a:buNone/>
            </a:pPr>
            <a:r>
              <a:rPr lang="en-US" sz="1680" dirty="0">
                <a:solidFill>
                  <a:srgbClr val="FFFFFF"/>
                </a:solidFill>
                <a:latin typeface="思源黑体 CN Bold" pitchFamily="34" charset="0"/>
                <a:ea typeface="思源黑体 CN Bold" pitchFamily="34" charset="-122"/>
                <a:cs typeface="思源黑体 CN Bold" pitchFamily="34" charset="-120"/>
              </a:rPr>
              <a:t>5</a:t>
            </a:r>
            <a:endParaRPr lang="en-US" sz="1680" dirty="0"/>
          </a:p>
        </p:txBody>
      </p:sp>
      <p:pic>
        <p:nvPicPr>
          <p:cNvPr id="35" name="Image 14" descr="https://test.web.static.jianzeppt.com/ppt-temp-img3/bb9caaa5a26c26989be40c4c4b828660.png?x-oss-process=image/resize,w_1440,h_800,m_lfit/format,png"/>
          <p:cNvPicPr>
            <a:picLocks noChangeAspect="1"/>
          </p:cNvPicPr>
          <p:nvPr>
            <p:custDataLst>
              <p:tags r:id="rId38"/>
            </p:custDataLst>
          </p:nvPr>
        </p:nvPicPr>
        <p:blipFill>
          <a:blip r:embed="rId7"/>
          <a:stretch>
            <a:fillRect/>
          </a:stretch>
        </p:blipFill>
        <p:spPr>
          <a:xfrm>
            <a:off x="1524000" y="2865120"/>
            <a:ext cx="2438400" cy="701040"/>
          </a:xfrm>
          <a:prstGeom prst="rect">
            <a:avLst/>
          </a:prstGeom>
        </p:spPr>
      </p:pic>
      <p:sp>
        <p:nvSpPr>
          <p:cNvPr id="36" name="Text 19"/>
          <p:cNvSpPr/>
          <p:nvPr>
            <p:custDataLst>
              <p:tags r:id="rId39"/>
            </p:custDataLst>
          </p:nvPr>
        </p:nvSpPr>
        <p:spPr>
          <a:xfrm>
            <a:off x="1661160" y="2941320"/>
            <a:ext cx="2173224" cy="320040"/>
          </a:xfrm>
          <a:prstGeom prst="rect">
            <a:avLst/>
          </a:prstGeom>
          <a:noFill/>
        </p:spPr>
        <p:txBody>
          <a:bodyPr wrap="none" lIns="0" tIns="0" rIns="0" bIns="0" rtlCol="0" anchor="t">
            <a:spAutoFit/>
          </a:bodyPr>
          <a:lstStyle/>
          <a:p>
            <a:pPr marL="0" indent="0" algn="ctr">
              <a:lnSpc>
                <a:spcPct val="150000"/>
              </a:lnSpc>
              <a:buNone/>
            </a:pPr>
            <a:r>
              <a:rPr lang="en-US" sz="1680" b="1" dirty="0">
                <a:solidFill>
                  <a:srgbClr val="000000"/>
                </a:solidFill>
                <a:latin typeface="思源黑体 CN Bold" pitchFamily="34" charset="0"/>
                <a:ea typeface="思源黑体 CN Bold" pitchFamily="34" charset="-122"/>
                <a:cs typeface="思源黑体 CN Bold" pitchFamily="34" charset="-120"/>
              </a:rPr>
              <a:t>报告与持续改进</a:t>
            </a:r>
            <a:endParaRPr lang="en-US" sz="1680" dirty="0"/>
          </a:p>
        </p:txBody>
      </p:sp>
      <p:sp>
        <p:nvSpPr>
          <p:cNvPr id="37" name="Text 20"/>
          <p:cNvSpPr/>
          <p:nvPr>
            <p:custDataLst>
              <p:tags r:id="rId40"/>
            </p:custDataLst>
          </p:nvPr>
        </p:nvSpPr>
        <p:spPr>
          <a:xfrm>
            <a:off x="1661160" y="3291840"/>
            <a:ext cx="2173224" cy="198120"/>
          </a:xfrm>
          <a:prstGeom prst="rect">
            <a:avLst/>
          </a:prstGeom>
          <a:noFill/>
        </p:spPr>
        <p:txBody>
          <a:bodyPr wrap="none" lIns="0" tIns="0" rIns="0" bIns="0" rtlCol="0" anchor="t">
            <a:spAutoFit/>
          </a:bodyPr>
          <a:lstStyle/>
          <a:p>
            <a:pPr marL="0" indent="0" algn="ctr">
              <a:lnSpc>
                <a:spcPct val="125000"/>
              </a:lnSpc>
              <a:buNone/>
            </a:pPr>
            <a:r>
              <a:rPr lang="en-US" sz="1200" dirty="0">
                <a:solidFill>
                  <a:srgbClr val="727478"/>
                </a:solidFill>
                <a:latin typeface="思源黑体 CN Regular" pitchFamily="34" charset="0"/>
                <a:ea typeface="思源黑体 CN Regular" pitchFamily="34" charset="-122"/>
                <a:cs typeface="思源黑体 CN Regular" pitchFamily="34" charset="-120"/>
              </a:rPr>
              <a:t>输出报告、优化流程</a:t>
            </a:r>
            <a:endParaRPr lang="en-US" sz="1200" dirty="0"/>
          </a:p>
        </p:txBody>
      </p:sp>
      <p:pic>
        <p:nvPicPr>
          <p:cNvPr id="38" name="Image 15" descr="preencoded.png"/>
          <p:cNvPicPr>
            <a:picLocks noChangeAspect="1"/>
          </p:cNvPicPr>
          <p:nvPr>
            <p:custDataLst>
              <p:tags r:id="rId41"/>
            </p:custDataLst>
          </p:nvPr>
        </p:nvPicPr>
        <p:blipFill>
          <a:blip r:embed="rId42">
            <a:extLst>
              <a:ext uri="{96DAC541-7B7A-43D3-8B79-37D633B846F1}">
                <asvg:svgBlip xmlns:asvg="http://schemas.microsoft.com/office/drawing/2016/SVG/main" r:embed="rId12"/>
              </a:ext>
            </a:extLst>
          </a:blip>
          <a:stretch>
            <a:fillRect/>
          </a:stretch>
        </p:blipFill>
        <p:spPr>
          <a:xfrm>
            <a:off x="2499360" y="2316480"/>
            <a:ext cx="487680" cy="487680"/>
          </a:xfrm>
          <a:prstGeom prst="rect">
            <a:avLst/>
          </a:prstGeom>
        </p:spPr>
      </p:pic>
      <p:sp>
        <p:nvSpPr>
          <p:cNvPr id="39" name="Text 21"/>
          <p:cNvSpPr/>
          <p:nvPr>
            <p:custDataLst>
              <p:tags r:id="rId43"/>
            </p:custDataLst>
          </p:nvPr>
        </p:nvSpPr>
        <p:spPr>
          <a:xfrm>
            <a:off x="2682240" y="2392680"/>
            <a:ext cx="131064" cy="304800"/>
          </a:xfrm>
          <a:prstGeom prst="rect">
            <a:avLst/>
          </a:prstGeom>
          <a:noFill/>
        </p:spPr>
        <p:txBody>
          <a:bodyPr wrap="none" lIns="0" tIns="0" rIns="0" bIns="0" rtlCol="0" anchor="ctr"/>
          <a:lstStyle/>
          <a:p>
            <a:pPr marL="0" indent="0" algn="ctr">
              <a:lnSpc>
                <a:spcPct val="150000"/>
              </a:lnSpc>
              <a:buNone/>
            </a:pPr>
            <a:r>
              <a:rPr lang="en-US" sz="1680" dirty="0">
                <a:solidFill>
                  <a:srgbClr val="FFFFFF"/>
                </a:solidFill>
                <a:latin typeface="思源黑体 CN Bold" pitchFamily="34" charset="0"/>
                <a:ea typeface="思源黑体 CN Bold" pitchFamily="34" charset="-122"/>
                <a:cs typeface="思源黑体 CN Bold" pitchFamily="34" charset="-120"/>
              </a:rPr>
              <a:t>6</a:t>
            </a:r>
            <a:endParaRPr lang="en-US" sz="1680" dirty="0"/>
          </a:p>
        </p:txBody>
      </p:sp>
      <p:pic>
        <p:nvPicPr>
          <p:cNvPr id="40" name="Image 16" descr="https://test.web.static.jianzeppt.com/ppt-temp-img3/9e537e9bbe33ea4cb5878cde0f829ce7.png?x-oss-process=image/resize,w_1440,h_800,m_lfit/format,png"/>
          <p:cNvPicPr>
            <a:picLocks noChangeAspect="1"/>
          </p:cNvPicPr>
          <p:nvPr>
            <p:custDataLst>
              <p:tags r:id="rId44"/>
            </p:custDataLst>
          </p:nvPr>
        </p:nvPicPr>
        <p:blipFill>
          <a:blip r:embed="rId45">
            <a:alphaModFix amt="20000"/>
          </a:blip>
          <a:stretch>
            <a:fillRect/>
          </a:stretch>
        </p:blipFill>
        <p:spPr>
          <a:xfrm>
            <a:off x="609600" y="1783080"/>
            <a:ext cx="10972800" cy="3352800"/>
          </a:xfrm>
          <a:prstGeom prst="rect">
            <a:avLst/>
          </a:prstGeom>
        </p:spPr>
      </p:pic>
      <p:pic>
        <p:nvPicPr>
          <p:cNvPr id="41" name="Image 17" descr="https://test.web.static.jianzeppt.com/ppt-temp-img3/4e091a47f141fd2b6dfe760fbcf79a2f.png?x-oss-process=image/resize,w_1440,h_800,m_lfit/format,png"/>
          <p:cNvPicPr>
            <a:picLocks noChangeAspect="1"/>
          </p:cNvPicPr>
          <p:nvPr>
            <p:custDataLst>
              <p:tags r:id="rId46"/>
            </p:custDataLst>
          </p:nvPr>
        </p:nvPicPr>
        <p:blipFill>
          <a:blip r:embed="rId47"/>
          <a:stretch>
            <a:fillRect/>
          </a:stretch>
        </p:blipFill>
        <p:spPr>
          <a:xfrm>
            <a:off x="5486400" y="2849880"/>
            <a:ext cx="1219200" cy="1219200"/>
          </a:xfrm>
          <a:prstGeom prst="rect">
            <a:avLst/>
          </a:prstGeom>
        </p:spPr>
      </p:pic>
      <p:pic>
        <p:nvPicPr>
          <p:cNvPr id="42" name="Image 18" descr="preencoded.png"/>
          <p:cNvPicPr>
            <a:picLocks noChangeAspect="1"/>
          </p:cNvPicPr>
          <p:nvPr>
            <p:custDataLst>
              <p:tags r:id="rId48"/>
            </p:custDataLst>
          </p:nvPr>
        </p:nvPicPr>
        <p:blipFill>
          <a:blip r:embed="rId49">
            <a:alphaModFix amt="70000"/>
            <a:extLst>
              <a:ext uri="{96DAC541-7B7A-43D3-8B79-37D633B846F1}">
                <asvg:svgBlip xmlns:asvg="http://schemas.microsoft.com/office/drawing/2016/SVG/main" r:embed="rId50"/>
              </a:ext>
            </a:extLst>
          </a:blip>
          <a:stretch>
            <a:fillRect/>
          </a:stretch>
        </p:blipFill>
        <p:spPr>
          <a:xfrm>
            <a:off x="5791200" y="3154680"/>
            <a:ext cx="609600" cy="6096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职业提醒——没有授权的扫描，就是攻击</a:t>
            </a:r>
            <a:endParaRPr lang="en-US" sz="2760" dirty="0"/>
          </a:p>
        </p:txBody>
      </p:sp>
      <p:pic>
        <p:nvPicPr>
          <p:cNvPr id="6" name="Image 3" descr="https://test.web.static.jianzeppt.com/ppt-temp-img3/67d3b9000678eb244b40f019e61aba63.png?x-oss-process=image/resize,w_1440,h_800,m_lfit/format,png"/>
          <p:cNvPicPr>
            <a:picLocks noChangeAspect="1"/>
          </p:cNvPicPr>
          <p:nvPr/>
        </p:nvPicPr>
        <p:blipFill>
          <a:blip r:embed="rId4"/>
          <a:stretch>
            <a:fillRect/>
          </a:stretch>
        </p:blipFill>
        <p:spPr>
          <a:xfrm>
            <a:off x="609600" y="1371600"/>
            <a:ext cx="3459480" cy="3992880"/>
          </a:xfrm>
          <a:prstGeom prst="rect">
            <a:avLst/>
          </a:prstGeom>
        </p:spPr>
      </p:pic>
      <p:pic>
        <p:nvPicPr>
          <p:cNvPr id="7" name="Image 4"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950720" y="1676400"/>
            <a:ext cx="762000" cy="762000"/>
          </a:xfrm>
          <a:prstGeom prst="rect">
            <a:avLst/>
          </a:prstGeom>
        </p:spPr>
      </p:pic>
      <p:pic>
        <p:nvPicPr>
          <p:cNvPr id="8" name="Image 5"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118360" y="1844040"/>
            <a:ext cx="426720" cy="426720"/>
          </a:xfrm>
          <a:prstGeom prst="rect">
            <a:avLst/>
          </a:prstGeom>
        </p:spPr>
      </p:pic>
      <p:sp>
        <p:nvSpPr>
          <p:cNvPr id="9" name="Text 1"/>
          <p:cNvSpPr/>
          <p:nvPr/>
        </p:nvSpPr>
        <p:spPr>
          <a:xfrm>
            <a:off x="2057400" y="2621280"/>
            <a:ext cx="557784" cy="365760"/>
          </a:xfrm>
          <a:prstGeom prst="rect">
            <a:avLst/>
          </a:prstGeom>
          <a:noFill/>
        </p:spPr>
        <p:txBody>
          <a:bodyPr wrap="none" lIns="0" tIns="0" rIns="0" bIns="0" rtlCol="0" anchor="t">
            <a:spAutoFit/>
          </a:bodyPr>
          <a:lstStyle/>
          <a:p>
            <a:pPr marL="0" indent="0" algn="l">
              <a:lnSpc>
                <a:spcPct val="100000"/>
              </a:lnSpc>
              <a:buNone/>
            </a:pPr>
            <a:r>
              <a:rPr lang="en-US" sz="1920" dirty="0">
                <a:solidFill>
                  <a:srgbClr val="000000"/>
                </a:solidFill>
                <a:latin typeface="思源黑体 CN Bold" pitchFamily="34" charset="0"/>
                <a:ea typeface="思源黑体 CN Bold" pitchFamily="34" charset="-122"/>
                <a:cs typeface="思源黑体 CN Bold" pitchFamily="34" charset="-120"/>
              </a:rPr>
              <a:t>授权</a:t>
            </a:r>
            <a:endParaRPr lang="en-US" sz="1920" dirty="0"/>
          </a:p>
        </p:txBody>
      </p:sp>
      <p:pic>
        <p:nvPicPr>
          <p:cNvPr id="10" name="Image 6"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14400" y="3307080"/>
            <a:ext cx="91440" cy="91440"/>
          </a:xfrm>
          <a:prstGeom prst="rect">
            <a:avLst/>
          </a:prstGeom>
        </p:spPr>
      </p:pic>
      <p:sp>
        <p:nvSpPr>
          <p:cNvPr id="11" name="Text 2"/>
          <p:cNvSpPr/>
          <p:nvPr/>
        </p:nvSpPr>
        <p:spPr>
          <a:xfrm>
            <a:off x="1158240" y="3215640"/>
            <a:ext cx="2615184" cy="588645"/>
          </a:xfrm>
          <a:prstGeom prst="rect">
            <a:avLst/>
          </a:prstGeom>
          <a:noFill/>
        </p:spPr>
        <p:txBody>
          <a:bodyPr wrap="square" lIns="0" tIns="0" rIns="0" bIns="0" rtlCol="0" anchor="t">
            <a:spAutoFit/>
          </a:bodyPr>
          <a:lstStyle/>
          <a:p>
            <a:pPr marL="0" indent="0" algn="l">
              <a:lnSpc>
                <a:spcPct val="138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进行漏洞扫描必须先获得授权（书面）</a:t>
            </a:r>
            <a:endParaRPr lang="en-US" sz="1680" dirty="0"/>
          </a:p>
        </p:txBody>
      </p:sp>
      <p:pic>
        <p:nvPicPr>
          <p:cNvPr id="12" name="Image 7" descr="preencoded.png"/>
          <p:cNvPicPr>
            <a:picLocks noChangeAspect="1"/>
          </p:cNvPicPr>
          <p:nvPr/>
        </p:nvPicPr>
        <p:blipFill>
          <a:blip r:embed="rId11">
            <a:extLst>
              <a:ext uri="{96DAC541-7B7A-43D3-8B79-37D633B846F1}">
                <asvg:svgBlip xmlns:asvg="http://schemas.microsoft.com/office/drawing/2016/SVG/main" r:embed="rId10"/>
              </a:ext>
            </a:extLst>
          </a:blip>
          <a:stretch>
            <a:fillRect/>
          </a:stretch>
        </p:blipFill>
        <p:spPr>
          <a:xfrm>
            <a:off x="914400" y="3992880"/>
            <a:ext cx="91440" cy="91440"/>
          </a:xfrm>
          <a:prstGeom prst="rect">
            <a:avLst/>
          </a:prstGeom>
        </p:spPr>
      </p:pic>
      <p:sp>
        <p:nvSpPr>
          <p:cNvPr id="13" name="Text 3"/>
          <p:cNvSpPr/>
          <p:nvPr/>
        </p:nvSpPr>
        <p:spPr>
          <a:xfrm>
            <a:off x="1158240" y="3901440"/>
            <a:ext cx="2615184" cy="588645"/>
          </a:xfrm>
          <a:prstGeom prst="rect">
            <a:avLst/>
          </a:prstGeom>
          <a:noFill/>
        </p:spPr>
        <p:txBody>
          <a:bodyPr wrap="square" lIns="0" tIns="0" rIns="0" bIns="0" rtlCol="0" anchor="t">
            <a:spAutoFit/>
          </a:bodyPr>
          <a:lstStyle/>
          <a:p>
            <a:pPr marL="0" indent="0" algn="l">
              <a:lnSpc>
                <a:spcPct val="138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未经授权扫描他人系统属于违法行为</a:t>
            </a:r>
            <a:endParaRPr lang="en-US" sz="1680" dirty="0"/>
          </a:p>
        </p:txBody>
      </p:sp>
      <p:pic>
        <p:nvPicPr>
          <p:cNvPr id="14" name="Image 8" descr="preencoded.png"/>
          <p:cNvPicPr>
            <a:picLocks noChangeAspect="1"/>
          </p:cNvPicPr>
          <p:nvPr/>
        </p:nvPicPr>
        <p:blipFill>
          <a:blip r:embed="rId12">
            <a:extLst>
              <a:ext uri="{96DAC541-7B7A-43D3-8B79-37D633B846F1}">
                <asvg:svgBlip xmlns:asvg="http://schemas.microsoft.com/office/drawing/2016/SVG/main" r:embed="rId10"/>
              </a:ext>
            </a:extLst>
          </a:blip>
          <a:stretch>
            <a:fillRect/>
          </a:stretch>
        </p:blipFill>
        <p:spPr>
          <a:xfrm>
            <a:off x="914400" y="4663440"/>
            <a:ext cx="91440" cy="91440"/>
          </a:xfrm>
          <a:prstGeom prst="rect">
            <a:avLst/>
          </a:prstGeom>
        </p:spPr>
      </p:pic>
      <p:sp>
        <p:nvSpPr>
          <p:cNvPr id="15" name="Text 4"/>
          <p:cNvSpPr/>
          <p:nvPr/>
        </p:nvSpPr>
        <p:spPr>
          <a:xfrm>
            <a:off x="1158240" y="4572000"/>
            <a:ext cx="2615184" cy="588645"/>
          </a:xfrm>
          <a:prstGeom prst="rect">
            <a:avLst/>
          </a:prstGeom>
          <a:noFill/>
        </p:spPr>
        <p:txBody>
          <a:bodyPr wrap="square" lIns="0" tIns="0" rIns="0" bIns="0" rtlCol="0" anchor="t">
            <a:spAutoFit/>
          </a:bodyPr>
          <a:lstStyle/>
          <a:p>
            <a:pPr marL="0" indent="0" algn="l">
              <a:lnSpc>
                <a:spcPct val="138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等保测评中的扫描必须在授权范围内进行</a:t>
            </a:r>
            <a:endParaRPr lang="en-US" sz="1680" dirty="0"/>
          </a:p>
        </p:txBody>
      </p:sp>
      <p:pic>
        <p:nvPicPr>
          <p:cNvPr id="16" name="Image 9" descr="https://test.web.static.jianzeppt.com/ppt-temp-img3/67d3b9000678eb244b40f019e61aba63.png?x-oss-process=image/resize,w_1440,h_800,m_lfit/format,png"/>
          <p:cNvPicPr>
            <a:picLocks noChangeAspect="1"/>
          </p:cNvPicPr>
          <p:nvPr/>
        </p:nvPicPr>
        <p:blipFill>
          <a:blip r:embed="rId4"/>
          <a:stretch>
            <a:fillRect/>
          </a:stretch>
        </p:blipFill>
        <p:spPr>
          <a:xfrm>
            <a:off x="4373880" y="1371600"/>
            <a:ext cx="3459480" cy="3992880"/>
          </a:xfrm>
          <a:prstGeom prst="rect">
            <a:avLst/>
          </a:prstGeom>
        </p:spPr>
      </p:pic>
      <p:pic>
        <p:nvPicPr>
          <p:cNvPr id="17" name="Image 10" descr="preencoded.png"/>
          <p:cNvPicPr>
            <a:picLocks noChangeAspect="1"/>
          </p:cNvPicPr>
          <p:nvPr/>
        </p:nvPicPr>
        <p:blipFill>
          <a:blip r:embed="rId13">
            <a:extLst>
              <a:ext uri="{96DAC541-7B7A-43D3-8B79-37D633B846F1}">
                <asvg:svgBlip xmlns:asvg="http://schemas.microsoft.com/office/drawing/2016/SVG/main" r:embed="rId6"/>
              </a:ext>
            </a:extLst>
          </a:blip>
          <a:stretch>
            <a:fillRect/>
          </a:stretch>
        </p:blipFill>
        <p:spPr>
          <a:xfrm>
            <a:off x="5715000" y="1676400"/>
            <a:ext cx="762000" cy="762000"/>
          </a:xfrm>
          <a:prstGeom prst="rect">
            <a:avLst/>
          </a:prstGeom>
        </p:spPr>
      </p:pic>
      <p:pic>
        <p:nvPicPr>
          <p:cNvPr id="18" name="Image 11" descr="preencoded.png"/>
          <p:cNvPicPr>
            <a:picLocks noChangeAspect="1"/>
          </p:cNvPicPr>
          <p:nvPr/>
        </p:nvPicPr>
        <p:blipFill>
          <a:blip r:embed="rId14">
            <a:extLst>
              <a:ext uri="{96DAC541-7B7A-43D3-8B79-37D633B846F1}">
                <asvg:svgBlip xmlns:asvg="http://schemas.microsoft.com/office/drawing/2016/SVG/main" r:embed="rId8"/>
              </a:ext>
            </a:extLst>
          </a:blip>
          <a:stretch>
            <a:fillRect/>
          </a:stretch>
        </p:blipFill>
        <p:spPr>
          <a:xfrm>
            <a:off x="5882640" y="1844040"/>
            <a:ext cx="426720" cy="426720"/>
          </a:xfrm>
          <a:prstGeom prst="rect">
            <a:avLst/>
          </a:prstGeom>
        </p:spPr>
      </p:pic>
      <p:sp>
        <p:nvSpPr>
          <p:cNvPr id="19" name="Text 5"/>
          <p:cNvSpPr/>
          <p:nvPr/>
        </p:nvSpPr>
        <p:spPr>
          <a:xfrm>
            <a:off x="5821680" y="2621280"/>
            <a:ext cx="557784" cy="411480"/>
          </a:xfrm>
          <a:prstGeom prst="rect">
            <a:avLst/>
          </a:prstGeom>
          <a:noFill/>
        </p:spPr>
        <p:txBody>
          <a:bodyPr wrap="none" lIns="0" tIns="0" rIns="0" bIns="0" rtlCol="0" anchor="t">
            <a:spAutoFit/>
          </a:bodyPr>
          <a:lstStyle/>
          <a:p>
            <a:pPr marL="0" indent="0" algn="l">
              <a:lnSpc>
                <a:spcPct val="100000"/>
              </a:lnSpc>
              <a:buNone/>
            </a:pPr>
            <a:r>
              <a:rPr lang="en-US" sz="2160" dirty="0">
                <a:solidFill>
                  <a:srgbClr val="000000"/>
                </a:solidFill>
                <a:latin typeface="思源黑体 CN Bold" pitchFamily="34" charset="0"/>
                <a:ea typeface="思源黑体 CN Bold" pitchFamily="34" charset="-122"/>
                <a:cs typeface="思源黑体 CN Bold" pitchFamily="34" charset="-120"/>
              </a:rPr>
              <a:t>客观</a:t>
            </a:r>
            <a:endParaRPr lang="en-US" sz="2160" dirty="0"/>
          </a:p>
        </p:txBody>
      </p:sp>
      <p:pic>
        <p:nvPicPr>
          <p:cNvPr id="20" name="Image 12" descr="preencoded.png"/>
          <p:cNvPicPr>
            <a:picLocks noChangeAspect="1"/>
          </p:cNvPicPr>
          <p:nvPr/>
        </p:nvPicPr>
        <p:blipFill>
          <a:blip r:embed="rId15">
            <a:extLst>
              <a:ext uri="{96DAC541-7B7A-43D3-8B79-37D633B846F1}">
                <asvg:svgBlip xmlns:asvg="http://schemas.microsoft.com/office/drawing/2016/SVG/main" r:embed="rId10"/>
              </a:ext>
            </a:extLst>
          </a:blip>
          <a:stretch>
            <a:fillRect/>
          </a:stretch>
        </p:blipFill>
        <p:spPr>
          <a:xfrm>
            <a:off x="4678680" y="3368040"/>
            <a:ext cx="91440" cy="91440"/>
          </a:xfrm>
          <a:prstGeom prst="rect">
            <a:avLst/>
          </a:prstGeom>
        </p:spPr>
      </p:pic>
      <p:sp>
        <p:nvSpPr>
          <p:cNvPr id="21" name="Text 6"/>
          <p:cNvSpPr/>
          <p:nvPr/>
        </p:nvSpPr>
        <p:spPr>
          <a:xfrm>
            <a:off x="4922520" y="3276600"/>
            <a:ext cx="1716024" cy="294323"/>
          </a:xfrm>
          <a:prstGeom prst="rect">
            <a:avLst/>
          </a:prstGeom>
          <a:noFill/>
        </p:spPr>
        <p:txBody>
          <a:bodyPr wrap="none" lIns="0" tIns="0" rIns="0" bIns="0" rtlCol="0" anchor="t">
            <a:spAutoFit/>
          </a:bodyPr>
          <a:lstStyle/>
          <a:p>
            <a:pPr marL="0" indent="0" algn="l">
              <a:lnSpc>
                <a:spcPct val="100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如实记录扫描结果</a:t>
            </a:r>
            <a:endParaRPr lang="en-US" sz="1680" dirty="0"/>
          </a:p>
        </p:txBody>
      </p:sp>
      <p:pic>
        <p:nvPicPr>
          <p:cNvPr id="22" name="Image 13" descr="preencoded.png"/>
          <p:cNvPicPr>
            <a:picLocks noChangeAspect="1"/>
          </p:cNvPicPr>
          <p:nvPr/>
        </p:nvPicPr>
        <p:blipFill>
          <a:blip r:embed="rId16">
            <a:extLst>
              <a:ext uri="{96DAC541-7B7A-43D3-8B79-37D633B846F1}">
                <asvg:svgBlip xmlns:asvg="http://schemas.microsoft.com/office/drawing/2016/SVG/main" r:embed="rId10"/>
              </a:ext>
            </a:extLst>
          </a:blip>
          <a:stretch>
            <a:fillRect/>
          </a:stretch>
        </p:blipFill>
        <p:spPr>
          <a:xfrm>
            <a:off x="4678680" y="3840480"/>
            <a:ext cx="91440" cy="91440"/>
          </a:xfrm>
          <a:prstGeom prst="rect">
            <a:avLst/>
          </a:prstGeom>
        </p:spPr>
      </p:pic>
      <p:sp>
        <p:nvSpPr>
          <p:cNvPr id="23" name="Text 7"/>
          <p:cNvSpPr/>
          <p:nvPr/>
        </p:nvSpPr>
        <p:spPr>
          <a:xfrm>
            <a:off x="4922520" y="3749040"/>
            <a:ext cx="2615184" cy="588645"/>
          </a:xfrm>
          <a:prstGeom prst="rect">
            <a:avLst/>
          </a:prstGeom>
          <a:noFill/>
        </p:spPr>
        <p:txBody>
          <a:bodyPr wrap="square" lIns="0" tIns="0" rIns="0" bIns="0" rtlCol="0" anchor="t">
            <a:spAutoFit/>
          </a:bodyPr>
          <a:lstStyle/>
          <a:p>
            <a:pPr marL="0" indent="0" algn="l">
              <a:lnSpc>
                <a:spcPct val="138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不隐瞒高危漏洞，不夸大风险等级</a:t>
            </a:r>
            <a:endParaRPr lang="en-US" sz="1680" dirty="0"/>
          </a:p>
        </p:txBody>
      </p:sp>
      <p:pic>
        <p:nvPicPr>
          <p:cNvPr id="24" name="Image 14" descr="https://test.web.static.jianzeppt.com/ppt-temp-img3/67d3b9000678eb244b40f019e61aba63.png?x-oss-process=image/resize,w_1440,h_800,m_lfit/format,png"/>
          <p:cNvPicPr>
            <a:picLocks noChangeAspect="1"/>
          </p:cNvPicPr>
          <p:nvPr/>
        </p:nvPicPr>
        <p:blipFill>
          <a:blip r:embed="rId4"/>
          <a:stretch>
            <a:fillRect/>
          </a:stretch>
        </p:blipFill>
        <p:spPr>
          <a:xfrm>
            <a:off x="8122920" y="1371600"/>
            <a:ext cx="3459480" cy="3992880"/>
          </a:xfrm>
          <a:prstGeom prst="rect">
            <a:avLst/>
          </a:prstGeom>
        </p:spPr>
      </p:pic>
      <p:pic>
        <p:nvPicPr>
          <p:cNvPr id="25" name="Image 15" descr="preencoded.png"/>
          <p:cNvPicPr>
            <a:picLocks noChangeAspect="1"/>
          </p:cNvPicPr>
          <p:nvPr/>
        </p:nvPicPr>
        <p:blipFill>
          <a:blip r:embed="rId17">
            <a:extLst>
              <a:ext uri="{96DAC541-7B7A-43D3-8B79-37D633B846F1}">
                <asvg:svgBlip xmlns:asvg="http://schemas.microsoft.com/office/drawing/2016/SVG/main" r:embed="rId6"/>
              </a:ext>
            </a:extLst>
          </a:blip>
          <a:stretch>
            <a:fillRect/>
          </a:stretch>
        </p:blipFill>
        <p:spPr>
          <a:xfrm>
            <a:off x="9479280" y="1676400"/>
            <a:ext cx="762000" cy="762000"/>
          </a:xfrm>
          <a:prstGeom prst="rect">
            <a:avLst/>
          </a:prstGeom>
        </p:spPr>
      </p:pic>
      <p:pic>
        <p:nvPicPr>
          <p:cNvPr id="26" name="Image 16" descr="preencoded.png"/>
          <p:cNvPicPr>
            <a:picLocks noChangeAspect="1"/>
          </p:cNvPicPr>
          <p:nvPr/>
        </p:nvPicPr>
        <p:blipFill>
          <a:blip r:embed="rId18">
            <a:extLst>
              <a:ext uri="{96DAC541-7B7A-43D3-8B79-37D633B846F1}">
                <asvg:svgBlip xmlns:asvg="http://schemas.microsoft.com/office/drawing/2016/SVG/main" r:embed="rId8"/>
              </a:ext>
            </a:extLst>
          </a:blip>
          <a:stretch>
            <a:fillRect/>
          </a:stretch>
        </p:blipFill>
        <p:spPr>
          <a:xfrm>
            <a:off x="9646920" y="1844040"/>
            <a:ext cx="426720" cy="426720"/>
          </a:xfrm>
          <a:prstGeom prst="rect">
            <a:avLst/>
          </a:prstGeom>
        </p:spPr>
      </p:pic>
      <p:sp>
        <p:nvSpPr>
          <p:cNvPr id="27" name="Text 8"/>
          <p:cNvSpPr/>
          <p:nvPr/>
        </p:nvSpPr>
        <p:spPr>
          <a:xfrm>
            <a:off x="9585960" y="2621280"/>
            <a:ext cx="557784" cy="411480"/>
          </a:xfrm>
          <a:prstGeom prst="rect">
            <a:avLst/>
          </a:prstGeom>
          <a:noFill/>
        </p:spPr>
        <p:txBody>
          <a:bodyPr wrap="none" lIns="0" tIns="0" rIns="0" bIns="0" rtlCol="0" anchor="t">
            <a:spAutoFit/>
          </a:bodyPr>
          <a:lstStyle/>
          <a:p>
            <a:pPr marL="0" indent="0" algn="l">
              <a:lnSpc>
                <a:spcPct val="100000"/>
              </a:lnSpc>
              <a:buNone/>
            </a:pPr>
            <a:r>
              <a:rPr lang="en-US" sz="2160" dirty="0">
                <a:solidFill>
                  <a:srgbClr val="000000"/>
                </a:solidFill>
                <a:latin typeface="思源黑体 CN Bold" pitchFamily="34" charset="0"/>
                <a:ea typeface="思源黑体 CN Bold" pitchFamily="34" charset="-122"/>
                <a:cs typeface="思源黑体 CN Bold" pitchFamily="34" charset="-120"/>
              </a:rPr>
              <a:t>负责</a:t>
            </a:r>
            <a:endParaRPr lang="en-US" sz="2160" dirty="0"/>
          </a:p>
        </p:txBody>
      </p:sp>
      <p:pic>
        <p:nvPicPr>
          <p:cNvPr id="28" name="Image 17" descr="preencoded.png"/>
          <p:cNvPicPr>
            <a:picLocks noChangeAspect="1"/>
          </p:cNvPicPr>
          <p:nvPr/>
        </p:nvPicPr>
        <p:blipFill>
          <a:blip r:embed="rId19">
            <a:extLst>
              <a:ext uri="{96DAC541-7B7A-43D3-8B79-37D633B846F1}">
                <asvg:svgBlip xmlns:asvg="http://schemas.microsoft.com/office/drawing/2016/SVG/main" r:embed="rId10"/>
              </a:ext>
            </a:extLst>
          </a:blip>
          <a:stretch>
            <a:fillRect/>
          </a:stretch>
        </p:blipFill>
        <p:spPr>
          <a:xfrm>
            <a:off x="8427720" y="3368040"/>
            <a:ext cx="91440" cy="91440"/>
          </a:xfrm>
          <a:prstGeom prst="rect">
            <a:avLst/>
          </a:prstGeom>
        </p:spPr>
      </p:pic>
      <p:sp>
        <p:nvSpPr>
          <p:cNvPr id="29" name="Text 9"/>
          <p:cNvSpPr/>
          <p:nvPr/>
        </p:nvSpPr>
        <p:spPr>
          <a:xfrm>
            <a:off x="8671560" y="3276600"/>
            <a:ext cx="2615184" cy="588645"/>
          </a:xfrm>
          <a:prstGeom prst="rect">
            <a:avLst/>
          </a:prstGeom>
          <a:noFill/>
        </p:spPr>
        <p:txBody>
          <a:bodyPr wrap="square" lIns="0" tIns="0" rIns="0" bIns="0" rtlCol="0" anchor="t">
            <a:spAutoFit/>
          </a:bodyPr>
          <a:lstStyle/>
          <a:p>
            <a:pPr marL="0" indent="0" algn="l">
              <a:lnSpc>
                <a:spcPct val="138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扫描结果直接影响客户的安全判断</a:t>
            </a:r>
            <a:endParaRPr lang="en-US" sz="1680" dirty="0"/>
          </a:p>
        </p:txBody>
      </p:sp>
      <p:pic>
        <p:nvPicPr>
          <p:cNvPr id="30" name="Image 18" descr="preencoded.png"/>
          <p:cNvPicPr>
            <a:picLocks noChangeAspect="1"/>
          </p:cNvPicPr>
          <p:nvPr/>
        </p:nvPicPr>
        <p:blipFill>
          <a:blip r:embed="rId20">
            <a:extLst>
              <a:ext uri="{96DAC541-7B7A-43D3-8B79-37D633B846F1}">
                <asvg:svgBlip xmlns:asvg="http://schemas.microsoft.com/office/drawing/2016/SVG/main" r:embed="rId10"/>
              </a:ext>
            </a:extLst>
          </a:blip>
          <a:stretch>
            <a:fillRect/>
          </a:stretch>
        </p:blipFill>
        <p:spPr>
          <a:xfrm>
            <a:off x="8427720" y="4145280"/>
            <a:ext cx="91440" cy="91440"/>
          </a:xfrm>
          <a:prstGeom prst="rect">
            <a:avLst/>
          </a:prstGeom>
        </p:spPr>
      </p:pic>
      <p:sp>
        <p:nvSpPr>
          <p:cNvPr id="31" name="Text 10"/>
          <p:cNvSpPr/>
          <p:nvPr/>
        </p:nvSpPr>
        <p:spPr>
          <a:xfrm>
            <a:off x="8671560" y="4053840"/>
            <a:ext cx="2615184" cy="588645"/>
          </a:xfrm>
          <a:prstGeom prst="rect">
            <a:avLst/>
          </a:prstGeom>
          <a:noFill/>
        </p:spPr>
        <p:txBody>
          <a:bodyPr wrap="square" lIns="0" tIns="0" rIns="0" bIns="0" rtlCol="0" anchor="t">
            <a:spAutoFit/>
          </a:bodyPr>
          <a:lstStyle/>
          <a:p>
            <a:pPr marL="0" indent="0" algn="l">
              <a:lnSpc>
                <a:spcPct val="138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误报的识别和解释，体现测评师的专业水准</a:t>
            </a:r>
            <a:endParaRPr lang="en-US" sz="1680" dirty="0"/>
          </a:p>
        </p:txBody>
      </p:sp>
      <p:pic>
        <p:nvPicPr>
          <p:cNvPr id="32" name="Image 19" descr="preencoded.png"/>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609600" y="5608320"/>
            <a:ext cx="10972800" cy="848360"/>
          </a:xfrm>
          <a:prstGeom prst="rect">
            <a:avLst/>
          </a:prstGeom>
          <a:effectLst>
            <a:outerShdw blurRad="1161288000" dist="774192000" dir="-1" algn="bl" rotWithShape="0">
              <a:srgbClr val="000000">
                <a:alpha val="1000000000"/>
              </a:srgbClr>
            </a:outerShdw>
          </a:effectLst>
        </p:spPr>
      </p:pic>
      <p:sp>
        <p:nvSpPr>
          <p:cNvPr id="33" name="Text 11"/>
          <p:cNvSpPr/>
          <p:nvPr/>
        </p:nvSpPr>
        <p:spPr>
          <a:xfrm>
            <a:off x="1493520" y="5852160"/>
            <a:ext cx="9229344" cy="457200"/>
          </a:xfrm>
          <a:prstGeom prst="rect">
            <a:avLst/>
          </a:prstGeom>
          <a:noFill/>
        </p:spPr>
        <p:txBody>
          <a:bodyPr wrap="none" lIns="0" tIns="0" rIns="0" bIns="0" rtlCol="0" anchor="t">
            <a:spAutoFit/>
          </a:bodyPr>
          <a:lstStyle/>
          <a:p>
            <a:pPr marL="0" indent="0" algn="ctr">
              <a:lnSpc>
                <a:spcPct val="100000"/>
              </a:lnSpc>
              <a:buNone/>
            </a:pPr>
            <a:r>
              <a:rPr lang="en-US" sz="2400" kern="0" spc="80" dirty="0">
                <a:solidFill>
                  <a:srgbClr val="FFFFFF"/>
                </a:solidFill>
                <a:latin typeface="思源黑体 CN Bold" pitchFamily="34" charset="0"/>
                <a:ea typeface="思源黑体 CN Bold" pitchFamily="34" charset="-122"/>
                <a:cs typeface="思源黑体 CN Bold" pitchFamily="34" charset="-120"/>
              </a:rPr>
              <a:t>一句话：你删掉的那条高危，可能就是下次被攻破的那个口子。</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知识点回顾</a:t>
            </a:r>
            <a:endParaRPr lang="en-US" sz="2760" dirty="0"/>
          </a:p>
        </p:txBody>
      </p:sp>
      <p:pic>
        <p:nvPicPr>
          <p:cNvPr id="6" name="Image 3" descr="https://test.web.static.jianzeppt.com/ppt-temp-img3/897a38c67adc00b82204d0afacb96071.png?x-oss-process=image/resize,w_1440,h_800,m_lfit/format,png"/>
          <p:cNvPicPr>
            <a:picLocks noChangeAspect="1"/>
          </p:cNvPicPr>
          <p:nvPr/>
        </p:nvPicPr>
        <p:blipFill>
          <a:blip r:embed="rId4"/>
          <a:stretch>
            <a:fillRect/>
          </a:stretch>
        </p:blipFill>
        <p:spPr>
          <a:xfrm>
            <a:off x="609600" y="1371600"/>
            <a:ext cx="10972800" cy="5181600"/>
          </a:xfrm>
          <a:prstGeom prst="rect">
            <a:avLst/>
          </a:prstGeom>
        </p:spPr>
      </p:pic>
      <p:pic>
        <p:nvPicPr>
          <p:cNvPr id="7" name="Image 4" descr="https://test.web.static.jianzeppt.com/ppt-temp-img3/a20d3356e203aa72933684365bb95db4.png?x-oss-process=image/resize,w_1440,h_800,m_lfit/format,png"/>
          <p:cNvPicPr>
            <a:picLocks noChangeAspect="1"/>
          </p:cNvPicPr>
          <p:nvPr/>
        </p:nvPicPr>
        <p:blipFill>
          <a:blip r:embed="rId5"/>
          <a:stretch>
            <a:fillRect/>
          </a:stretch>
        </p:blipFill>
        <p:spPr>
          <a:xfrm>
            <a:off x="7147560" y="1493520"/>
            <a:ext cx="487680" cy="838200"/>
          </a:xfrm>
          <a:prstGeom prst="rect">
            <a:avLst/>
          </a:prstGeom>
        </p:spPr>
      </p:pic>
      <p:pic>
        <p:nvPicPr>
          <p:cNvPr id="8" name="Image 5" descr="https://test.web.static.jianzeppt.com/ppt-temp-img3/c68a313057ff28f11e06af278fd84bd7.png?x-oss-process=image/resize,w_1440,h_800,m_lfit/format,png"/>
          <p:cNvPicPr>
            <a:picLocks noChangeAspect="1"/>
          </p:cNvPicPr>
          <p:nvPr/>
        </p:nvPicPr>
        <p:blipFill>
          <a:blip r:embed="rId6"/>
          <a:stretch>
            <a:fillRect/>
          </a:stretch>
        </p:blipFill>
        <p:spPr>
          <a:xfrm>
            <a:off x="4724400" y="1615440"/>
            <a:ext cx="2438400" cy="594360"/>
          </a:xfrm>
          <a:prstGeom prst="rect">
            <a:avLst/>
          </a:prstGeom>
        </p:spPr>
      </p:pic>
      <p:sp>
        <p:nvSpPr>
          <p:cNvPr id="9" name="Text 1"/>
          <p:cNvSpPr/>
          <p:nvPr/>
        </p:nvSpPr>
        <p:spPr>
          <a:xfrm>
            <a:off x="5090160" y="1752600"/>
            <a:ext cx="1716024" cy="320040"/>
          </a:xfrm>
          <a:prstGeom prst="rect">
            <a:avLst/>
          </a:prstGeom>
          <a:noFill/>
        </p:spPr>
        <p:txBody>
          <a:bodyPr wrap="none" lIns="0" tIns="0" rIns="0" bIns="0" rtlCol="0" anchor="t">
            <a:spAutoFit/>
          </a:bodyPr>
          <a:lstStyle/>
          <a:p>
            <a:pPr marL="0" indent="0" algn="ctr">
              <a:lnSpc>
                <a:spcPct val="150000"/>
              </a:lnSpc>
              <a:buNone/>
            </a:pPr>
            <a:r>
              <a:rPr lang="en-US" sz="1680" b="1" dirty="0">
                <a:solidFill>
                  <a:srgbClr val="FFFFFF"/>
                </a:solidFill>
                <a:latin typeface="思源黑体 CN Bold" pitchFamily="34" charset="0"/>
                <a:ea typeface="思源黑体 CN Bold" pitchFamily="34" charset="-122"/>
                <a:cs typeface="思源黑体 CN Bold" pitchFamily="34" charset="-120"/>
              </a:rPr>
              <a:t>一、漏洞扫描原理</a:t>
            </a:r>
            <a:endParaRPr lang="en-US" sz="1680" dirty="0"/>
          </a:p>
        </p:txBody>
      </p:sp>
      <p:pic>
        <p:nvPicPr>
          <p:cNvPr id="10" name="Image 6" descr="https://test.web.static.jianzeppt.com/ppt-temp-img3/0e4e2b6e12774a6c3c114fdf39467eef.png?x-oss-process=image/resize,w_1440,h_800,m_lfit/format,png"/>
          <p:cNvPicPr>
            <a:picLocks noChangeAspect="1"/>
          </p:cNvPicPr>
          <p:nvPr/>
        </p:nvPicPr>
        <p:blipFill>
          <a:blip r:embed="rId7"/>
          <a:stretch>
            <a:fillRect/>
          </a:stretch>
        </p:blipFill>
        <p:spPr>
          <a:xfrm>
            <a:off x="7620000" y="1463040"/>
            <a:ext cx="3657600" cy="426720"/>
          </a:xfrm>
          <a:prstGeom prst="rect">
            <a:avLst/>
          </a:prstGeom>
        </p:spPr>
      </p:pic>
      <p:sp>
        <p:nvSpPr>
          <p:cNvPr id="11" name="Text 2"/>
          <p:cNvSpPr/>
          <p:nvPr/>
        </p:nvSpPr>
        <p:spPr>
          <a:xfrm>
            <a:off x="7757160" y="1539240"/>
            <a:ext cx="1853184" cy="274320"/>
          </a:xfrm>
          <a:prstGeom prst="rect">
            <a:avLst/>
          </a:prstGeom>
          <a:noFill/>
        </p:spPr>
        <p:txBody>
          <a:bodyPr wrap="none" lIns="0" tIns="0" rIns="0" bIns="0" rtlCol="0" anchor="t">
            <a:spAutoFit/>
          </a:bodyPr>
          <a:lstStyle/>
          <a:p>
            <a:pPr marL="0" indent="0" algn="l">
              <a:lnSpc>
                <a:spcPct val="15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基于漏洞库的特征匹配</a:t>
            </a:r>
            <a:endParaRPr lang="en-US" sz="1440" dirty="0"/>
          </a:p>
        </p:txBody>
      </p:sp>
      <p:pic>
        <p:nvPicPr>
          <p:cNvPr id="12" name="Image 7" descr="https://test.web.static.jianzeppt.com/ppt-temp-img3/0e4e2b6e12774a6c3c114fdf39467eef.png?x-oss-process=image/resize,w_1440,h_800,m_lfit/format,png"/>
          <p:cNvPicPr>
            <a:picLocks noChangeAspect="1"/>
          </p:cNvPicPr>
          <p:nvPr/>
        </p:nvPicPr>
        <p:blipFill>
          <a:blip r:embed="rId7"/>
          <a:stretch>
            <a:fillRect/>
          </a:stretch>
        </p:blipFill>
        <p:spPr>
          <a:xfrm>
            <a:off x="7620000" y="1950720"/>
            <a:ext cx="3657600" cy="426720"/>
          </a:xfrm>
          <a:prstGeom prst="rect">
            <a:avLst/>
          </a:prstGeom>
        </p:spPr>
      </p:pic>
      <p:sp>
        <p:nvSpPr>
          <p:cNvPr id="13" name="Text 3"/>
          <p:cNvSpPr/>
          <p:nvPr/>
        </p:nvSpPr>
        <p:spPr>
          <a:xfrm>
            <a:off x="7757160" y="2026920"/>
            <a:ext cx="2371344" cy="274320"/>
          </a:xfrm>
          <a:prstGeom prst="rect">
            <a:avLst/>
          </a:prstGeom>
          <a:noFill/>
        </p:spPr>
        <p:txBody>
          <a:bodyPr wrap="none" lIns="0" tIns="0" rIns="0" bIns="0" rtlCol="0" anchor="t">
            <a:spAutoFit/>
          </a:bodyPr>
          <a:lstStyle/>
          <a:p>
            <a:pPr marL="0" indent="0" algn="l">
              <a:lnSpc>
                <a:spcPct val="15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类型：主机/Web/数据库扫描</a:t>
            </a:r>
            <a:endParaRPr lang="en-US" sz="1440" dirty="0"/>
          </a:p>
        </p:txBody>
      </p:sp>
      <p:pic>
        <p:nvPicPr>
          <p:cNvPr id="14" name="Image 8" descr="https://test.web.static.jianzeppt.com/ppt-temp-img3/a20d3356e203aa72933684365bb95db4.png?x-oss-process=image/resize,w_1440,h_800,m_lfit/format,png"/>
          <p:cNvPicPr>
            <a:picLocks noChangeAspect="1"/>
          </p:cNvPicPr>
          <p:nvPr/>
        </p:nvPicPr>
        <p:blipFill>
          <a:blip r:embed="rId5"/>
          <a:stretch>
            <a:fillRect/>
          </a:stretch>
        </p:blipFill>
        <p:spPr>
          <a:xfrm>
            <a:off x="7147560" y="2545080"/>
            <a:ext cx="487680" cy="838200"/>
          </a:xfrm>
          <a:prstGeom prst="rect">
            <a:avLst/>
          </a:prstGeom>
        </p:spPr>
      </p:pic>
      <p:pic>
        <p:nvPicPr>
          <p:cNvPr id="15" name="Image 9" descr="https://test.web.static.jianzeppt.com/ppt-temp-img3/c68a313057ff28f11e06af278fd84bd7.png?x-oss-process=image/resize,w_1440,h_800,m_lfit/format,png"/>
          <p:cNvPicPr>
            <a:picLocks noChangeAspect="1"/>
          </p:cNvPicPr>
          <p:nvPr/>
        </p:nvPicPr>
        <p:blipFill>
          <a:blip r:embed="rId6"/>
          <a:stretch>
            <a:fillRect/>
          </a:stretch>
        </p:blipFill>
        <p:spPr>
          <a:xfrm>
            <a:off x="4724400" y="2667000"/>
            <a:ext cx="2438400" cy="594360"/>
          </a:xfrm>
          <a:prstGeom prst="rect">
            <a:avLst/>
          </a:prstGeom>
        </p:spPr>
      </p:pic>
      <p:sp>
        <p:nvSpPr>
          <p:cNvPr id="16" name="Text 4"/>
          <p:cNvSpPr/>
          <p:nvPr/>
        </p:nvSpPr>
        <p:spPr>
          <a:xfrm>
            <a:off x="5303520" y="2804160"/>
            <a:ext cx="1289304" cy="320040"/>
          </a:xfrm>
          <a:prstGeom prst="rect">
            <a:avLst/>
          </a:prstGeom>
          <a:noFill/>
        </p:spPr>
        <p:txBody>
          <a:bodyPr wrap="none" lIns="0" tIns="0" rIns="0" bIns="0" rtlCol="0" anchor="t">
            <a:spAutoFit/>
          </a:bodyPr>
          <a:lstStyle/>
          <a:p>
            <a:pPr marL="0" indent="0" algn="ctr">
              <a:lnSpc>
                <a:spcPct val="150000"/>
              </a:lnSpc>
              <a:buNone/>
            </a:pPr>
            <a:r>
              <a:rPr lang="en-US" sz="1680" b="1" dirty="0">
                <a:solidFill>
                  <a:srgbClr val="FFFFFF"/>
                </a:solidFill>
                <a:latin typeface="思源黑体 CN Bold" pitchFamily="34" charset="0"/>
                <a:ea typeface="思源黑体 CN Bold" pitchFamily="34" charset="-122"/>
                <a:cs typeface="思源黑体 CN Bold" pitchFamily="34" charset="-120"/>
              </a:rPr>
              <a:t>二、本讲用什么</a:t>
            </a:r>
            <a:endParaRPr lang="en-US" sz="1680" dirty="0"/>
          </a:p>
        </p:txBody>
      </p:sp>
      <p:pic>
        <p:nvPicPr>
          <p:cNvPr id="17" name="Image 10" descr="https://test.web.static.jianzeppt.com/ppt-temp-img3/0e4e2b6e12774a6c3c114fdf39467eef.png?x-oss-process=image/resize,w_1440,h_800,m_lfit/format,png"/>
          <p:cNvPicPr>
            <a:picLocks noChangeAspect="1"/>
          </p:cNvPicPr>
          <p:nvPr/>
        </p:nvPicPr>
        <p:blipFill>
          <a:blip r:embed="rId7"/>
          <a:stretch>
            <a:fillRect/>
          </a:stretch>
        </p:blipFill>
        <p:spPr>
          <a:xfrm>
            <a:off x="7620000" y="2499360"/>
            <a:ext cx="3657600" cy="426720"/>
          </a:xfrm>
          <a:prstGeom prst="rect">
            <a:avLst/>
          </a:prstGeom>
        </p:spPr>
      </p:pic>
      <p:sp>
        <p:nvSpPr>
          <p:cNvPr id="18" name="Text 5"/>
          <p:cNvSpPr/>
          <p:nvPr/>
        </p:nvSpPr>
        <p:spPr>
          <a:xfrm>
            <a:off x="7757160" y="2575560"/>
            <a:ext cx="2081784" cy="274320"/>
          </a:xfrm>
          <a:prstGeom prst="rect">
            <a:avLst/>
          </a:prstGeom>
          <a:noFill/>
        </p:spPr>
        <p:txBody>
          <a:bodyPr wrap="none" lIns="0" tIns="0" rIns="0" bIns="0" rtlCol="0" anchor="t">
            <a:spAutoFit/>
          </a:bodyPr>
          <a:lstStyle/>
          <a:p>
            <a:pPr marL="0" indent="0" algn="l">
              <a:lnSpc>
                <a:spcPct val="15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Nessus（商业，功能强）</a:t>
            </a:r>
            <a:endParaRPr lang="en-US" sz="1440" dirty="0"/>
          </a:p>
        </p:txBody>
      </p:sp>
      <p:pic>
        <p:nvPicPr>
          <p:cNvPr id="19" name="Image 11" descr="https://test.web.static.jianzeppt.com/ppt-temp-img3/0e4e2b6e12774a6c3c114fdf39467eef.png?x-oss-process=image/resize,w_1440,h_800,m_lfit/format,png"/>
          <p:cNvPicPr>
            <a:picLocks noChangeAspect="1"/>
          </p:cNvPicPr>
          <p:nvPr/>
        </p:nvPicPr>
        <p:blipFill>
          <a:blip r:embed="rId7"/>
          <a:stretch>
            <a:fillRect/>
          </a:stretch>
        </p:blipFill>
        <p:spPr>
          <a:xfrm>
            <a:off x="7620000" y="2987040"/>
            <a:ext cx="3657600" cy="426720"/>
          </a:xfrm>
          <a:prstGeom prst="rect">
            <a:avLst/>
          </a:prstGeom>
        </p:spPr>
      </p:pic>
      <p:sp>
        <p:nvSpPr>
          <p:cNvPr id="20" name="Text 6"/>
          <p:cNvSpPr/>
          <p:nvPr/>
        </p:nvSpPr>
        <p:spPr>
          <a:xfrm>
            <a:off x="7757160" y="3063240"/>
            <a:ext cx="2264664" cy="274320"/>
          </a:xfrm>
          <a:prstGeom prst="rect">
            <a:avLst/>
          </a:prstGeom>
          <a:noFill/>
        </p:spPr>
        <p:txBody>
          <a:bodyPr wrap="none" lIns="0" tIns="0" rIns="0" bIns="0" rtlCol="0" anchor="t">
            <a:spAutoFit/>
          </a:bodyPr>
          <a:lstStyle/>
          <a:p>
            <a:pPr marL="0" indent="0" algn="l">
              <a:lnSpc>
                <a:spcPct val="15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OpenVAS（开源，成本低）</a:t>
            </a:r>
            <a:endParaRPr lang="en-US" sz="1440" dirty="0"/>
          </a:p>
        </p:txBody>
      </p:sp>
      <p:pic>
        <p:nvPicPr>
          <p:cNvPr id="21" name="Image 12" descr="https://test.web.static.jianzeppt.com/ppt-temp-img3/58aac6f7b07dfe4e6e0627b0dff0b480.png?x-oss-process=image/resize,w_1440,h_800,m_lfit/format,png"/>
          <p:cNvPicPr>
            <a:picLocks noChangeAspect="1"/>
          </p:cNvPicPr>
          <p:nvPr/>
        </p:nvPicPr>
        <p:blipFill>
          <a:blip r:embed="rId8"/>
          <a:stretch>
            <a:fillRect/>
          </a:stretch>
        </p:blipFill>
        <p:spPr>
          <a:xfrm>
            <a:off x="7147560" y="3581400"/>
            <a:ext cx="487680" cy="1066800"/>
          </a:xfrm>
          <a:prstGeom prst="rect">
            <a:avLst/>
          </a:prstGeom>
        </p:spPr>
      </p:pic>
      <p:pic>
        <p:nvPicPr>
          <p:cNvPr id="22" name="Image 13" descr="https://test.web.static.jianzeppt.com/ppt-temp-img3/c68a313057ff28f11e06af278fd84bd7.png?x-oss-process=image/resize,w_1440,h_800,m_lfit/format,png"/>
          <p:cNvPicPr>
            <a:picLocks noChangeAspect="1"/>
          </p:cNvPicPr>
          <p:nvPr/>
        </p:nvPicPr>
        <p:blipFill>
          <a:blip r:embed="rId6"/>
          <a:stretch>
            <a:fillRect/>
          </a:stretch>
        </p:blipFill>
        <p:spPr>
          <a:xfrm>
            <a:off x="4724400" y="3825240"/>
            <a:ext cx="2438400" cy="594360"/>
          </a:xfrm>
          <a:prstGeom prst="rect">
            <a:avLst/>
          </a:prstGeom>
        </p:spPr>
      </p:pic>
      <p:sp>
        <p:nvSpPr>
          <p:cNvPr id="23" name="Text 7"/>
          <p:cNvSpPr/>
          <p:nvPr/>
        </p:nvSpPr>
        <p:spPr>
          <a:xfrm>
            <a:off x="5303520" y="3962400"/>
            <a:ext cx="1289304" cy="320040"/>
          </a:xfrm>
          <a:prstGeom prst="rect">
            <a:avLst/>
          </a:prstGeom>
          <a:noFill/>
        </p:spPr>
        <p:txBody>
          <a:bodyPr wrap="none" lIns="0" tIns="0" rIns="0" bIns="0" rtlCol="0" anchor="t">
            <a:spAutoFit/>
          </a:bodyPr>
          <a:lstStyle/>
          <a:p>
            <a:pPr marL="0" indent="0" algn="ctr">
              <a:lnSpc>
                <a:spcPct val="150000"/>
              </a:lnSpc>
              <a:buNone/>
            </a:pPr>
            <a:r>
              <a:rPr lang="en-US" sz="1680" b="1" dirty="0">
                <a:solidFill>
                  <a:srgbClr val="FFFFFF"/>
                </a:solidFill>
                <a:latin typeface="思源黑体 CN Bold" pitchFamily="34" charset="0"/>
                <a:ea typeface="思源黑体 CN Bold" pitchFamily="34" charset="-122"/>
                <a:cs typeface="思源黑体 CN Bold" pitchFamily="34" charset="-120"/>
              </a:rPr>
              <a:t>三、报告解读</a:t>
            </a:r>
            <a:endParaRPr lang="en-US" sz="1680" dirty="0"/>
          </a:p>
        </p:txBody>
      </p:sp>
      <p:pic>
        <p:nvPicPr>
          <p:cNvPr id="24" name="Image 14" descr="https://test.web.static.jianzeppt.com/ppt-temp-img3/dfb533ea43a3892b7830502db7defa64.png?x-oss-process=image/resize,w_1440,h_800,m_lfit/format,png"/>
          <p:cNvPicPr>
            <a:picLocks noChangeAspect="1"/>
          </p:cNvPicPr>
          <p:nvPr/>
        </p:nvPicPr>
        <p:blipFill>
          <a:blip r:embed="rId9"/>
          <a:stretch>
            <a:fillRect/>
          </a:stretch>
        </p:blipFill>
        <p:spPr>
          <a:xfrm>
            <a:off x="7620000" y="3413760"/>
            <a:ext cx="3962400" cy="426720"/>
          </a:xfrm>
          <a:prstGeom prst="rect">
            <a:avLst/>
          </a:prstGeom>
        </p:spPr>
      </p:pic>
      <p:sp>
        <p:nvSpPr>
          <p:cNvPr id="25" name="Text 8"/>
          <p:cNvSpPr/>
          <p:nvPr/>
        </p:nvSpPr>
        <p:spPr>
          <a:xfrm>
            <a:off x="7757160" y="3489960"/>
            <a:ext cx="2691384" cy="274320"/>
          </a:xfrm>
          <a:prstGeom prst="rect">
            <a:avLst/>
          </a:prstGeom>
          <a:noFill/>
        </p:spPr>
        <p:txBody>
          <a:bodyPr wrap="none" lIns="0" tIns="0" rIns="0" bIns="0" rtlCol="0" anchor="t">
            <a:spAutoFit/>
          </a:bodyPr>
          <a:lstStyle/>
          <a:p>
            <a:pPr marL="0" indent="0" algn="l">
              <a:lnSpc>
                <a:spcPct val="15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CVSS风险等级（Critical→Low）</a:t>
            </a:r>
            <a:endParaRPr lang="en-US" sz="1440" dirty="0"/>
          </a:p>
        </p:txBody>
      </p:sp>
      <p:pic>
        <p:nvPicPr>
          <p:cNvPr id="26" name="Image 15" descr="https://test.web.static.jianzeppt.com/ppt-temp-img3/dfb533ea43a3892b7830502db7defa64.png?x-oss-process=image/resize,w_1440,h_800,m_lfit/format,png"/>
          <p:cNvPicPr>
            <a:picLocks noChangeAspect="1"/>
          </p:cNvPicPr>
          <p:nvPr/>
        </p:nvPicPr>
        <p:blipFill>
          <a:blip r:embed="rId9"/>
          <a:stretch>
            <a:fillRect/>
          </a:stretch>
        </p:blipFill>
        <p:spPr>
          <a:xfrm>
            <a:off x="7620000" y="3901440"/>
            <a:ext cx="3962400" cy="426720"/>
          </a:xfrm>
          <a:prstGeom prst="rect">
            <a:avLst/>
          </a:prstGeom>
        </p:spPr>
      </p:pic>
      <p:sp>
        <p:nvSpPr>
          <p:cNvPr id="27" name="Text 9"/>
          <p:cNvSpPr/>
          <p:nvPr/>
        </p:nvSpPr>
        <p:spPr>
          <a:xfrm>
            <a:off x="7757160" y="3977640"/>
            <a:ext cx="2798064" cy="274320"/>
          </a:xfrm>
          <a:prstGeom prst="rect">
            <a:avLst/>
          </a:prstGeom>
          <a:noFill/>
        </p:spPr>
        <p:txBody>
          <a:bodyPr wrap="none" lIns="0" tIns="0" rIns="0" bIns="0" rtlCol="0" anchor="t">
            <a:spAutoFit/>
          </a:bodyPr>
          <a:lstStyle/>
          <a:p>
            <a:pPr marL="0" indent="0" algn="l">
              <a:lnSpc>
                <a:spcPct val="15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名称/影响主机/风险等级/修复建议</a:t>
            </a:r>
            <a:endParaRPr lang="en-US" sz="1440" dirty="0"/>
          </a:p>
        </p:txBody>
      </p:sp>
      <p:pic>
        <p:nvPicPr>
          <p:cNvPr id="28" name="Image 16" descr="https://test.web.static.jianzeppt.com/ppt-temp-img3/dfb533ea43a3892b7830502db7defa64.png?x-oss-process=image/resize,w_1440,h_800,m_lfit/format,png"/>
          <p:cNvPicPr>
            <a:picLocks noChangeAspect="1"/>
          </p:cNvPicPr>
          <p:nvPr/>
        </p:nvPicPr>
        <p:blipFill>
          <a:blip r:embed="rId9"/>
          <a:stretch>
            <a:fillRect/>
          </a:stretch>
        </p:blipFill>
        <p:spPr>
          <a:xfrm>
            <a:off x="7620000" y="4389120"/>
            <a:ext cx="3962400" cy="426720"/>
          </a:xfrm>
          <a:prstGeom prst="rect">
            <a:avLst/>
          </a:prstGeom>
        </p:spPr>
      </p:pic>
      <p:sp>
        <p:nvSpPr>
          <p:cNvPr id="29" name="Text 10"/>
          <p:cNvSpPr/>
          <p:nvPr/>
        </p:nvSpPr>
        <p:spPr>
          <a:xfrm>
            <a:off x="7757160" y="4465320"/>
            <a:ext cx="2584704" cy="274320"/>
          </a:xfrm>
          <a:prstGeom prst="rect">
            <a:avLst/>
          </a:prstGeom>
          <a:noFill/>
        </p:spPr>
        <p:txBody>
          <a:bodyPr wrap="none" lIns="0" tIns="0" rIns="0" bIns="0" rtlCol="0" anchor="t">
            <a:spAutoFit/>
          </a:bodyPr>
          <a:lstStyle/>
          <a:p>
            <a:pPr marL="0" indent="0" algn="l">
              <a:lnSpc>
                <a:spcPct val="15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误报识别：版本误判、配置误判</a:t>
            </a:r>
            <a:endParaRPr lang="en-US" sz="1440" dirty="0"/>
          </a:p>
        </p:txBody>
      </p:sp>
      <p:pic>
        <p:nvPicPr>
          <p:cNvPr id="30" name="Image 17" descr="https://test.web.static.jianzeppt.com/ppt-temp-img3/a20d3356e203aa72933684365bb95db4.png?x-oss-process=image/resize,w_1440,h_800,m_lfit/format,png"/>
          <p:cNvPicPr>
            <a:picLocks noChangeAspect="1"/>
          </p:cNvPicPr>
          <p:nvPr/>
        </p:nvPicPr>
        <p:blipFill>
          <a:blip r:embed="rId5"/>
          <a:stretch>
            <a:fillRect/>
          </a:stretch>
        </p:blipFill>
        <p:spPr>
          <a:xfrm>
            <a:off x="7147560" y="4861560"/>
            <a:ext cx="487680" cy="838200"/>
          </a:xfrm>
          <a:prstGeom prst="rect">
            <a:avLst/>
          </a:prstGeom>
        </p:spPr>
      </p:pic>
      <p:pic>
        <p:nvPicPr>
          <p:cNvPr id="31" name="Image 18" descr="https://test.web.static.jianzeppt.com/ppt-temp-img3/c68a313057ff28f11e06af278fd84bd7.png?x-oss-process=image/resize,w_1440,h_800,m_lfit/format,png"/>
          <p:cNvPicPr>
            <a:picLocks noChangeAspect="1"/>
          </p:cNvPicPr>
          <p:nvPr/>
        </p:nvPicPr>
        <p:blipFill>
          <a:blip r:embed="rId6"/>
          <a:stretch>
            <a:fillRect/>
          </a:stretch>
        </p:blipFill>
        <p:spPr>
          <a:xfrm>
            <a:off x="4724400" y="4983480"/>
            <a:ext cx="2438400" cy="594360"/>
          </a:xfrm>
          <a:prstGeom prst="rect">
            <a:avLst/>
          </a:prstGeom>
        </p:spPr>
      </p:pic>
      <p:sp>
        <p:nvSpPr>
          <p:cNvPr id="32" name="Text 11"/>
          <p:cNvSpPr/>
          <p:nvPr/>
        </p:nvSpPr>
        <p:spPr>
          <a:xfrm>
            <a:off x="4876800" y="5120640"/>
            <a:ext cx="2142744" cy="320040"/>
          </a:xfrm>
          <a:prstGeom prst="rect">
            <a:avLst/>
          </a:prstGeom>
          <a:noFill/>
        </p:spPr>
        <p:txBody>
          <a:bodyPr wrap="none" lIns="0" tIns="0" rIns="0" bIns="0" rtlCol="0" anchor="t">
            <a:spAutoFit/>
          </a:bodyPr>
          <a:lstStyle/>
          <a:p>
            <a:pPr marL="0" indent="0" algn="ctr">
              <a:lnSpc>
                <a:spcPct val="150000"/>
              </a:lnSpc>
              <a:buNone/>
            </a:pPr>
            <a:r>
              <a:rPr lang="en-US" sz="1680" b="1" dirty="0">
                <a:solidFill>
                  <a:srgbClr val="FFFFFF"/>
                </a:solidFill>
                <a:latin typeface="思源黑体 CN Bold" pitchFamily="34" charset="0"/>
                <a:ea typeface="思源黑体 CN Bold" pitchFamily="34" charset="-122"/>
                <a:cs typeface="思源黑体 CN Bold" pitchFamily="34" charset="-120"/>
              </a:rPr>
              <a:t>四、与等保测评的关联</a:t>
            </a:r>
            <a:endParaRPr lang="en-US" sz="1680" dirty="0"/>
          </a:p>
        </p:txBody>
      </p:sp>
      <p:pic>
        <p:nvPicPr>
          <p:cNvPr id="33" name="Image 19" descr="https://test.web.static.jianzeppt.com/ppt-temp-img3/0e4e2b6e12774a6c3c114fdf39467eef.png?x-oss-process=image/resize,w_1440,h_800,m_lfit/format,png"/>
          <p:cNvPicPr>
            <a:picLocks noChangeAspect="1"/>
          </p:cNvPicPr>
          <p:nvPr/>
        </p:nvPicPr>
        <p:blipFill>
          <a:blip r:embed="rId7"/>
          <a:stretch>
            <a:fillRect/>
          </a:stretch>
        </p:blipFill>
        <p:spPr>
          <a:xfrm>
            <a:off x="7620000" y="4815840"/>
            <a:ext cx="3657600" cy="426720"/>
          </a:xfrm>
          <a:prstGeom prst="rect">
            <a:avLst/>
          </a:prstGeom>
        </p:spPr>
      </p:pic>
      <p:sp>
        <p:nvSpPr>
          <p:cNvPr id="34" name="Text 12"/>
          <p:cNvSpPr/>
          <p:nvPr/>
        </p:nvSpPr>
        <p:spPr>
          <a:xfrm>
            <a:off x="7757160" y="4892040"/>
            <a:ext cx="2264664" cy="274320"/>
          </a:xfrm>
          <a:prstGeom prst="rect">
            <a:avLst/>
          </a:prstGeom>
          <a:noFill/>
        </p:spPr>
        <p:txBody>
          <a:bodyPr wrap="none" lIns="0" tIns="0" rIns="0" bIns="0" rtlCol="0" anchor="t">
            <a:spAutoFit/>
          </a:bodyPr>
          <a:lstStyle/>
          <a:p>
            <a:pPr marL="0" indent="0" algn="l">
              <a:lnSpc>
                <a:spcPct val="15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对应标准：8.1.4.4 入侵防范</a:t>
            </a:r>
            <a:endParaRPr lang="en-US" sz="1440" dirty="0"/>
          </a:p>
        </p:txBody>
      </p:sp>
      <p:pic>
        <p:nvPicPr>
          <p:cNvPr id="35" name="Image 20" descr="https://test.web.static.jianzeppt.com/ppt-temp-img3/0e4e2b6e12774a6c3c114fdf39467eef.png?x-oss-process=image/resize,w_1440,h_800,m_lfit/format,png"/>
          <p:cNvPicPr>
            <a:picLocks noChangeAspect="1"/>
          </p:cNvPicPr>
          <p:nvPr/>
        </p:nvPicPr>
        <p:blipFill>
          <a:blip r:embed="rId7"/>
          <a:stretch>
            <a:fillRect/>
          </a:stretch>
        </p:blipFill>
        <p:spPr>
          <a:xfrm>
            <a:off x="7620000" y="5303520"/>
            <a:ext cx="3657600" cy="426720"/>
          </a:xfrm>
          <a:prstGeom prst="rect">
            <a:avLst/>
          </a:prstGeom>
        </p:spPr>
      </p:pic>
      <p:sp>
        <p:nvSpPr>
          <p:cNvPr id="36" name="Text 13"/>
          <p:cNvSpPr/>
          <p:nvPr/>
        </p:nvSpPr>
        <p:spPr>
          <a:xfrm>
            <a:off x="7757160" y="5379720"/>
            <a:ext cx="2036064" cy="274320"/>
          </a:xfrm>
          <a:prstGeom prst="rect">
            <a:avLst/>
          </a:prstGeom>
          <a:noFill/>
        </p:spPr>
        <p:txBody>
          <a:bodyPr wrap="none" lIns="0" tIns="0" rIns="0" bIns="0" rtlCol="0" anchor="t">
            <a:spAutoFit/>
          </a:bodyPr>
          <a:lstStyle/>
          <a:p>
            <a:pPr marL="0" indent="0" algn="l">
              <a:lnSpc>
                <a:spcPct val="15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高危漏洞→等保不符合项</a:t>
            </a:r>
            <a:endParaRPr lang="en-US" sz="1440" dirty="0"/>
          </a:p>
        </p:txBody>
      </p:sp>
      <p:pic>
        <p:nvPicPr>
          <p:cNvPr id="37" name="Image 21" descr="https://test.web.static.jianzeppt.com/ppt-temp-img3/a98e09d3b673e9903089eb32ad8c9a48.png?x-oss-process=image/resize,w_1440,h_800,m_lfit/format,png"/>
          <p:cNvPicPr>
            <a:picLocks noChangeAspect="1"/>
          </p:cNvPicPr>
          <p:nvPr/>
        </p:nvPicPr>
        <p:blipFill>
          <a:blip r:embed="rId10"/>
          <a:stretch>
            <a:fillRect/>
          </a:stretch>
        </p:blipFill>
        <p:spPr>
          <a:xfrm>
            <a:off x="7147560" y="5897880"/>
            <a:ext cx="487680" cy="533400"/>
          </a:xfrm>
          <a:prstGeom prst="rect">
            <a:avLst/>
          </a:prstGeom>
        </p:spPr>
      </p:pic>
      <p:pic>
        <p:nvPicPr>
          <p:cNvPr id="38" name="Image 22" descr="https://test.web.static.jianzeppt.com/ppt-temp-img3/f2380a72359b645498c22a66740209f0.png?x-oss-process=image/resize,w_1440,h_800,m_lfit/format,png"/>
          <p:cNvPicPr>
            <a:picLocks noChangeAspect="1"/>
          </p:cNvPicPr>
          <p:nvPr/>
        </p:nvPicPr>
        <p:blipFill>
          <a:blip r:embed="rId11"/>
          <a:stretch>
            <a:fillRect/>
          </a:stretch>
        </p:blipFill>
        <p:spPr>
          <a:xfrm>
            <a:off x="4724400" y="5867400"/>
            <a:ext cx="2118360" cy="594360"/>
          </a:xfrm>
          <a:prstGeom prst="rect">
            <a:avLst/>
          </a:prstGeom>
        </p:spPr>
      </p:pic>
      <p:sp>
        <p:nvSpPr>
          <p:cNvPr id="39" name="Text 14"/>
          <p:cNvSpPr/>
          <p:nvPr/>
        </p:nvSpPr>
        <p:spPr>
          <a:xfrm>
            <a:off x="4922520" y="6004560"/>
            <a:ext cx="1716024" cy="320040"/>
          </a:xfrm>
          <a:prstGeom prst="rect">
            <a:avLst/>
          </a:prstGeom>
          <a:noFill/>
        </p:spPr>
        <p:txBody>
          <a:bodyPr wrap="none" lIns="0" tIns="0" rIns="0" bIns="0" rtlCol="0" anchor="t">
            <a:spAutoFit/>
          </a:bodyPr>
          <a:lstStyle/>
          <a:p>
            <a:pPr marL="0" indent="0" algn="ctr">
              <a:lnSpc>
                <a:spcPct val="150000"/>
              </a:lnSpc>
              <a:buNone/>
            </a:pPr>
            <a:r>
              <a:rPr lang="en-US" sz="1680" b="1" dirty="0">
                <a:solidFill>
                  <a:srgbClr val="FFFFFF"/>
                </a:solidFill>
                <a:latin typeface="思源黑体 CN Bold" pitchFamily="34" charset="0"/>
                <a:ea typeface="思源黑体 CN Bold" pitchFamily="34" charset="-122"/>
                <a:cs typeface="思源黑体 CN Bold" pitchFamily="34" charset="-120"/>
              </a:rPr>
              <a:t>五、漏洞管理闭环</a:t>
            </a:r>
            <a:endParaRPr lang="en-US" sz="1680" dirty="0"/>
          </a:p>
        </p:txBody>
      </p:sp>
      <p:pic>
        <p:nvPicPr>
          <p:cNvPr id="40" name="Image 23" descr="https://test.web.static.jianzeppt.com/ppt-temp-img3/1714471b088babac6bf09d5941e9b427.png?x-oss-process=image/resize,w_1440,h_800,m_lfit/format,png"/>
          <p:cNvPicPr>
            <a:picLocks noChangeAspect="1"/>
          </p:cNvPicPr>
          <p:nvPr/>
        </p:nvPicPr>
        <p:blipFill>
          <a:blip r:embed="rId12"/>
          <a:stretch>
            <a:fillRect/>
          </a:stretch>
        </p:blipFill>
        <p:spPr>
          <a:xfrm>
            <a:off x="7299960" y="5928360"/>
            <a:ext cx="4441190" cy="487680"/>
          </a:xfrm>
          <a:prstGeom prst="rect">
            <a:avLst/>
          </a:prstGeom>
        </p:spPr>
      </p:pic>
      <p:sp>
        <p:nvSpPr>
          <p:cNvPr id="41" name="Text 15"/>
          <p:cNvSpPr/>
          <p:nvPr/>
        </p:nvSpPr>
        <p:spPr>
          <a:xfrm>
            <a:off x="7293610" y="5991225"/>
            <a:ext cx="4354830" cy="368935"/>
          </a:xfrm>
          <a:prstGeom prst="rect">
            <a:avLst/>
          </a:prstGeom>
          <a:noFill/>
        </p:spPr>
        <p:txBody>
          <a:bodyPr wrap="none" lIns="0" tIns="0" rIns="0" bIns="0" rtlCol="0" anchor="t">
            <a:spAutoFit/>
          </a:bodyPr>
          <a:lstStyle/>
          <a:p>
            <a:pPr marL="0" indent="0" algn="l">
              <a:lnSpc>
                <a:spcPct val="150000"/>
              </a:lnSpc>
              <a:buNone/>
            </a:pPr>
            <a:r>
              <a:rPr lang="en-US" sz="1600" b="1" dirty="0">
                <a:solidFill>
                  <a:srgbClr val="000000"/>
                </a:solidFill>
                <a:latin typeface="思源黑体 CN Bold" pitchFamily="34" charset="0"/>
                <a:ea typeface="思源黑体 CN Bold" pitchFamily="34" charset="-122"/>
                <a:cs typeface="思源黑体 CN Bold" pitchFamily="34" charset="-120"/>
              </a:rPr>
              <a:t>资产识别 → 扫描 → 分析 → 修复 → 验证 → 报告</a:t>
            </a:r>
            <a:endParaRPr lang="en-US" sz="1600" b="1" dirty="0">
              <a:solidFill>
                <a:srgbClr val="000000"/>
              </a:solidFill>
              <a:latin typeface="思源黑体 CN Bold" pitchFamily="34" charset="0"/>
              <a:ea typeface="思源黑体 CN Bold" pitchFamily="34" charset="-122"/>
              <a:cs typeface="思源黑体 CN Bold" pitchFamily="34" charset="-120"/>
            </a:endParaRPr>
          </a:p>
        </p:txBody>
      </p:sp>
      <p:pic>
        <p:nvPicPr>
          <p:cNvPr id="42" name="Image 24"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62000" y="3413760"/>
            <a:ext cx="2743200" cy="1112520"/>
          </a:xfrm>
          <a:prstGeom prst="rect">
            <a:avLst/>
          </a:prstGeom>
          <a:effectLst>
            <a:outerShdw blurRad="-2147483648" dist="1935480000" dir="-1" algn="bl" rotWithShape="0">
              <a:srgbClr val="000000">
                <a:alpha val="1000000000"/>
              </a:srgbClr>
            </a:outerShdw>
          </a:effectLst>
        </p:spPr>
      </p:pic>
      <p:sp>
        <p:nvSpPr>
          <p:cNvPr id="43" name="Text 16"/>
          <p:cNvSpPr/>
          <p:nvPr/>
        </p:nvSpPr>
        <p:spPr>
          <a:xfrm>
            <a:off x="873125" y="3729355"/>
            <a:ext cx="2529205" cy="415290"/>
          </a:xfrm>
          <a:prstGeom prst="rect">
            <a:avLst/>
          </a:prstGeom>
          <a:noFill/>
        </p:spPr>
        <p:txBody>
          <a:bodyPr wrap="square" lIns="0" tIns="0" rIns="0" bIns="0" rtlCol="0" anchor="t">
            <a:spAutoFit/>
          </a:bodyPr>
          <a:lstStyle/>
          <a:p>
            <a:pPr marL="0" indent="0" algn="ctr">
              <a:lnSpc>
                <a:spcPct val="125000"/>
              </a:lnSpc>
              <a:buNone/>
            </a:pPr>
            <a:r>
              <a:rPr lang="en-US" sz="2160" b="1" dirty="0">
                <a:solidFill>
                  <a:srgbClr val="FFFFFF"/>
                </a:solidFill>
                <a:latin typeface="思源黑体 CN Bold" pitchFamily="34" charset="0"/>
                <a:ea typeface="思源黑体 CN Bold" pitchFamily="34" charset="-122"/>
                <a:cs typeface="思源黑体 CN Bold" pitchFamily="34" charset="-120"/>
              </a:rPr>
              <a:t>漏洞扫描与结果分析</a:t>
            </a:r>
            <a:endParaRPr lang="en-US" sz="216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课后作业</a:t>
            </a:r>
            <a:endParaRPr lang="en-US" sz="2760" dirty="0"/>
          </a:p>
        </p:txBody>
      </p:sp>
      <p:pic>
        <p:nvPicPr>
          <p:cNvPr id="6" name="Image 3" descr="https://test.web.static.jianzeppt.com/ppt-temp-img3/042b5906f1ab1e641e06276e48d97d42.png?x-oss-process=image/resize,w_1440,h_800,m_lfit/format,png"/>
          <p:cNvPicPr>
            <a:picLocks noChangeAspect="1"/>
          </p:cNvPicPr>
          <p:nvPr/>
        </p:nvPicPr>
        <p:blipFill>
          <a:blip r:embed="rId4"/>
          <a:stretch>
            <a:fillRect/>
          </a:stretch>
        </p:blipFill>
        <p:spPr>
          <a:xfrm>
            <a:off x="609600" y="1463040"/>
            <a:ext cx="10972800" cy="975360"/>
          </a:xfrm>
          <a:prstGeom prst="rect">
            <a:avLst/>
          </a:prstGeom>
        </p:spPr>
      </p:pic>
      <p:pic>
        <p:nvPicPr>
          <p:cNvPr id="7" name="Image 4" descr="https://test.web.static.jianzeppt.com/ppt-temp-img3/de80775f8920f0cae47a5850b9a1c5d9.png?x-oss-process=image/resize,w_1440,h_800,m_lfit/format,png"/>
          <p:cNvPicPr>
            <a:picLocks noChangeAspect="1"/>
          </p:cNvPicPr>
          <p:nvPr/>
        </p:nvPicPr>
        <p:blipFill>
          <a:blip r:embed="rId5"/>
          <a:stretch>
            <a:fillRect/>
          </a:stretch>
        </p:blipFill>
        <p:spPr>
          <a:xfrm>
            <a:off x="624840" y="1478280"/>
            <a:ext cx="1524000" cy="944880"/>
          </a:xfrm>
          <a:prstGeom prst="rect">
            <a:avLst/>
          </a:prstGeom>
        </p:spPr>
      </p:pic>
      <p:sp>
        <p:nvSpPr>
          <p:cNvPr id="8" name="Text 1"/>
          <p:cNvSpPr/>
          <p:nvPr/>
        </p:nvSpPr>
        <p:spPr>
          <a:xfrm>
            <a:off x="1112520" y="1752600"/>
            <a:ext cx="557784" cy="396240"/>
          </a:xfrm>
          <a:prstGeom prst="rect">
            <a:avLst/>
          </a:prstGeom>
          <a:noFill/>
        </p:spPr>
        <p:txBody>
          <a:bodyPr wrap="none" lIns="0" tIns="0" rIns="0" bIns="0" rtlCol="0" anchor="ctr"/>
          <a:lstStyle/>
          <a:p>
            <a:pPr marL="0" indent="0" algn="ctr">
              <a:lnSpc>
                <a:spcPct val="150000"/>
              </a:lnSpc>
              <a:buNone/>
            </a:pPr>
            <a:r>
              <a:rPr lang="en-US" sz="2160" b="1" dirty="0">
                <a:solidFill>
                  <a:srgbClr val="FFFFFF"/>
                </a:solidFill>
                <a:latin typeface="思源黑体 CN Bold" pitchFamily="34" charset="0"/>
                <a:ea typeface="思源黑体 CN Bold" pitchFamily="34" charset="-122"/>
                <a:cs typeface="思源黑体 CN Bold" pitchFamily="34" charset="-120"/>
              </a:rPr>
              <a:t>必做</a:t>
            </a:r>
            <a:endParaRPr lang="en-US" sz="2160" dirty="0"/>
          </a:p>
        </p:txBody>
      </p:sp>
      <p:sp>
        <p:nvSpPr>
          <p:cNvPr id="9" name="Text 2"/>
          <p:cNvSpPr/>
          <p:nvPr/>
        </p:nvSpPr>
        <p:spPr>
          <a:xfrm>
            <a:off x="2514600" y="1584960"/>
            <a:ext cx="9083675" cy="442595"/>
          </a:xfrm>
          <a:prstGeom prst="rect">
            <a:avLst/>
          </a:prstGeom>
          <a:noFill/>
        </p:spPr>
        <p:txBody>
          <a:bodyPr wrap="square" lIns="0" tIns="0" rIns="0" bIns="0" rtlCol="0" anchor="t">
            <a:spAutoFit/>
          </a:bodyPr>
          <a:lstStyle/>
          <a:p>
            <a:pPr marL="0" indent="0" algn="l">
              <a:lnSpc>
                <a:spcPct val="150000"/>
              </a:lnSpc>
              <a:buNone/>
            </a:pPr>
            <a:r>
              <a:rPr lang="en-US" sz="1920" dirty="0">
                <a:solidFill>
                  <a:srgbClr val="000000"/>
                </a:solidFill>
                <a:latin typeface="思源黑体 CN Regular" pitchFamily="34" charset="0"/>
                <a:ea typeface="思源黑体 CN Regular" pitchFamily="34" charset="-122"/>
                <a:cs typeface="思源黑体 CN Regular" pitchFamily="34" charset="-120"/>
              </a:rPr>
              <a:t>用素材2 完成《漏洞扫描结果分析表》（基于你自己导出的报告），连同截图包提交至学习通</a:t>
            </a:r>
            <a:endParaRPr lang="en-US" sz="1920" dirty="0"/>
          </a:p>
        </p:txBody>
      </p:sp>
      <p:pic>
        <p:nvPicPr>
          <p:cNvPr id="10" name="Image 5" descr="https://test.web.static.jianzeppt.com/ppt-temp-img3/042b5906f1ab1e641e06276e48d97d42.png?x-oss-process=image/resize,w_1440,h_800,m_lfit/format,png"/>
          <p:cNvPicPr>
            <a:picLocks noChangeAspect="1"/>
          </p:cNvPicPr>
          <p:nvPr/>
        </p:nvPicPr>
        <p:blipFill>
          <a:blip r:embed="rId4"/>
          <a:stretch>
            <a:fillRect/>
          </a:stretch>
        </p:blipFill>
        <p:spPr>
          <a:xfrm>
            <a:off x="609600" y="2804160"/>
            <a:ext cx="10972800" cy="975360"/>
          </a:xfrm>
          <a:prstGeom prst="rect">
            <a:avLst/>
          </a:prstGeom>
        </p:spPr>
      </p:pic>
      <p:pic>
        <p:nvPicPr>
          <p:cNvPr id="11" name="Image 6" descr="https://test.web.static.jianzeppt.com/ppt-temp-img3/934c019a8cf176537fd2a1e4048fe4d5.png?x-oss-process=image/resize,w_1440,h_800,m_lfit/format,png"/>
          <p:cNvPicPr>
            <a:picLocks noChangeAspect="1"/>
          </p:cNvPicPr>
          <p:nvPr/>
        </p:nvPicPr>
        <p:blipFill>
          <a:blip r:embed="rId5"/>
          <a:stretch>
            <a:fillRect/>
          </a:stretch>
        </p:blipFill>
        <p:spPr>
          <a:xfrm>
            <a:off x="624840" y="2819400"/>
            <a:ext cx="1524000" cy="944880"/>
          </a:xfrm>
          <a:prstGeom prst="rect">
            <a:avLst/>
          </a:prstGeom>
        </p:spPr>
      </p:pic>
      <p:sp>
        <p:nvSpPr>
          <p:cNvPr id="12" name="Text 3"/>
          <p:cNvSpPr/>
          <p:nvPr/>
        </p:nvSpPr>
        <p:spPr>
          <a:xfrm>
            <a:off x="1112520" y="3093720"/>
            <a:ext cx="557784" cy="396240"/>
          </a:xfrm>
          <a:prstGeom prst="rect">
            <a:avLst/>
          </a:prstGeom>
          <a:noFill/>
        </p:spPr>
        <p:txBody>
          <a:bodyPr wrap="none" lIns="0" tIns="0" rIns="0" bIns="0" rtlCol="0" anchor="ctr"/>
          <a:lstStyle/>
          <a:p>
            <a:pPr marL="0" indent="0" algn="ctr">
              <a:lnSpc>
                <a:spcPct val="150000"/>
              </a:lnSpc>
              <a:buNone/>
            </a:pPr>
            <a:r>
              <a:rPr lang="en-US" sz="2160" b="1" dirty="0">
                <a:solidFill>
                  <a:srgbClr val="FFFFFF"/>
                </a:solidFill>
                <a:latin typeface="思源黑体 CN Bold" pitchFamily="34" charset="0"/>
                <a:ea typeface="思源黑体 CN Bold" pitchFamily="34" charset="-122"/>
                <a:cs typeface="思源黑体 CN Bold" pitchFamily="34" charset="-120"/>
              </a:rPr>
              <a:t>必做</a:t>
            </a:r>
            <a:endParaRPr lang="en-US" sz="2160" dirty="0"/>
          </a:p>
        </p:txBody>
      </p:sp>
      <p:sp>
        <p:nvSpPr>
          <p:cNvPr id="13" name="Text 4"/>
          <p:cNvSpPr/>
          <p:nvPr/>
        </p:nvSpPr>
        <p:spPr>
          <a:xfrm>
            <a:off x="2514600" y="3108960"/>
            <a:ext cx="8695944" cy="365760"/>
          </a:xfrm>
          <a:prstGeom prst="rect">
            <a:avLst/>
          </a:prstGeom>
          <a:noFill/>
        </p:spPr>
        <p:txBody>
          <a:bodyPr wrap="none" lIns="0" tIns="0" rIns="0" bIns="0" rtlCol="0" anchor="t">
            <a:spAutoFit/>
          </a:bodyPr>
          <a:lstStyle/>
          <a:p>
            <a:pPr marL="0" indent="0" algn="l">
              <a:lnSpc>
                <a:spcPct val="100000"/>
              </a:lnSpc>
              <a:buNone/>
            </a:pPr>
            <a:r>
              <a:rPr lang="en-US" sz="1920" dirty="0">
                <a:solidFill>
                  <a:srgbClr val="000000"/>
                </a:solidFill>
                <a:latin typeface="思源黑体 CN Regular" pitchFamily="34" charset="0"/>
                <a:ea typeface="思源黑体 CN Regular" pitchFamily="34" charset="-122"/>
                <a:cs typeface="思源黑体 CN Regular" pitchFamily="34" charset="-120"/>
              </a:rPr>
              <a:t>完成项目4.5在线测试（选择题+判断题，共20题）</a:t>
            </a:r>
            <a:endParaRPr lang="en-US" sz="1920" dirty="0"/>
          </a:p>
        </p:txBody>
      </p:sp>
      <p:pic>
        <p:nvPicPr>
          <p:cNvPr id="14" name="Image 7" descr="https://test.web.static.jianzeppt.com/ppt-temp-img3/042b5906f1ab1e641e06276e48d97d42.png?x-oss-process=image/resize,w_1440,h_800,m_lfit/format,png"/>
          <p:cNvPicPr>
            <a:picLocks noChangeAspect="1"/>
          </p:cNvPicPr>
          <p:nvPr/>
        </p:nvPicPr>
        <p:blipFill>
          <a:blip r:embed="rId4"/>
          <a:stretch>
            <a:fillRect/>
          </a:stretch>
        </p:blipFill>
        <p:spPr>
          <a:xfrm>
            <a:off x="609600" y="4145280"/>
            <a:ext cx="10972800" cy="975360"/>
          </a:xfrm>
          <a:prstGeom prst="rect">
            <a:avLst/>
          </a:prstGeom>
        </p:spPr>
      </p:pic>
      <p:pic>
        <p:nvPicPr>
          <p:cNvPr id="15" name="Image 8" descr="https://test.web.static.jianzeppt.com/ppt-temp-img3/2731e773cedcec0b7f0403a704eb99ad.png?x-oss-process=image/resize,w_1440,h_800,m_lfit/format,png"/>
          <p:cNvPicPr>
            <a:picLocks noChangeAspect="1"/>
          </p:cNvPicPr>
          <p:nvPr/>
        </p:nvPicPr>
        <p:blipFill>
          <a:blip r:embed="rId5"/>
          <a:stretch>
            <a:fillRect/>
          </a:stretch>
        </p:blipFill>
        <p:spPr>
          <a:xfrm>
            <a:off x="624840" y="4160520"/>
            <a:ext cx="1524000" cy="944880"/>
          </a:xfrm>
          <a:prstGeom prst="rect">
            <a:avLst/>
          </a:prstGeom>
        </p:spPr>
      </p:pic>
      <p:sp>
        <p:nvSpPr>
          <p:cNvPr id="16" name="Text 5"/>
          <p:cNvSpPr/>
          <p:nvPr/>
        </p:nvSpPr>
        <p:spPr>
          <a:xfrm>
            <a:off x="1112520" y="4434840"/>
            <a:ext cx="557784" cy="396240"/>
          </a:xfrm>
          <a:prstGeom prst="rect">
            <a:avLst/>
          </a:prstGeom>
          <a:noFill/>
        </p:spPr>
        <p:txBody>
          <a:bodyPr wrap="none" lIns="0" tIns="0" rIns="0" bIns="0" rtlCol="0" anchor="ctr"/>
          <a:lstStyle/>
          <a:p>
            <a:pPr marL="0" indent="0" algn="ctr">
              <a:lnSpc>
                <a:spcPct val="150000"/>
              </a:lnSpc>
              <a:buNone/>
            </a:pPr>
            <a:r>
              <a:rPr lang="en-US" sz="2160" b="1" dirty="0">
                <a:solidFill>
                  <a:srgbClr val="FFFFFF"/>
                </a:solidFill>
                <a:latin typeface="思源黑体 CN Bold" pitchFamily="34" charset="0"/>
                <a:ea typeface="思源黑体 CN Bold" pitchFamily="34" charset="-122"/>
                <a:cs typeface="思源黑体 CN Bold" pitchFamily="34" charset="-120"/>
              </a:rPr>
              <a:t>选做</a:t>
            </a:r>
            <a:endParaRPr lang="en-US" sz="2160" dirty="0"/>
          </a:p>
        </p:txBody>
      </p:sp>
      <p:sp>
        <p:nvSpPr>
          <p:cNvPr id="17" name="Text 6"/>
          <p:cNvSpPr/>
          <p:nvPr/>
        </p:nvSpPr>
        <p:spPr>
          <a:xfrm>
            <a:off x="2514600" y="4450080"/>
            <a:ext cx="8695944" cy="365760"/>
          </a:xfrm>
          <a:prstGeom prst="rect">
            <a:avLst/>
          </a:prstGeom>
          <a:noFill/>
        </p:spPr>
        <p:txBody>
          <a:bodyPr wrap="none" lIns="0" tIns="0" rIns="0" bIns="0" rtlCol="0" anchor="t">
            <a:spAutoFit/>
          </a:bodyPr>
          <a:lstStyle/>
          <a:p>
            <a:pPr marL="0" indent="0" algn="l">
              <a:lnSpc>
                <a:spcPct val="100000"/>
              </a:lnSpc>
              <a:buNone/>
            </a:pPr>
            <a:r>
              <a:rPr lang="en-US" sz="1920" dirty="0">
                <a:solidFill>
                  <a:srgbClr val="000000"/>
                </a:solidFill>
                <a:latin typeface="思源黑体 CN Regular" pitchFamily="34" charset="0"/>
                <a:ea typeface="思源黑体 CN Regular" pitchFamily="34" charset="-122"/>
                <a:cs typeface="思源黑体 CN Regular" pitchFamily="34" charset="-120"/>
              </a:rPr>
              <a:t>在西普平台再跑一次不同模板的扫描，对比两次结果差异，写 5 行说明</a:t>
            </a:r>
            <a:endParaRPr lang="en-US" sz="1920" dirty="0"/>
          </a:p>
        </p:txBody>
      </p:sp>
      <p:pic>
        <p:nvPicPr>
          <p:cNvPr id="18" name="Image 9" descr="https://test.web.static.jianzeppt.com/ppt-temp-img3/042b5906f1ab1e641e06276e48d97d42.png?x-oss-process=image/resize,w_1440,h_800,m_lfit/format,png"/>
          <p:cNvPicPr>
            <a:picLocks noChangeAspect="1"/>
          </p:cNvPicPr>
          <p:nvPr/>
        </p:nvPicPr>
        <p:blipFill>
          <a:blip r:embed="rId4"/>
          <a:stretch>
            <a:fillRect/>
          </a:stretch>
        </p:blipFill>
        <p:spPr>
          <a:xfrm>
            <a:off x="609600" y="5486400"/>
            <a:ext cx="10972800" cy="975360"/>
          </a:xfrm>
          <a:prstGeom prst="rect">
            <a:avLst/>
          </a:prstGeom>
        </p:spPr>
      </p:pic>
      <p:pic>
        <p:nvPicPr>
          <p:cNvPr id="19" name="Image 10" descr="https://test.web.static.jianzeppt.com/ppt-temp-img3/61d834d29e69ad60d3f69eca3f5d7c76.png?x-oss-process=image/resize,w_1440,h_800,m_lfit/format,png"/>
          <p:cNvPicPr>
            <a:picLocks noChangeAspect="1"/>
          </p:cNvPicPr>
          <p:nvPr/>
        </p:nvPicPr>
        <p:blipFill>
          <a:blip r:embed="rId5"/>
          <a:stretch>
            <a:fillRect/>
          </a:stretch>
        </p:blipFill>
        <p:spPr>
          <a:xfrm>
            <a:off x="624840" y="5501640"/>
            <a:ext cx="1524000" cy="944880"/>
          </a:xfrm>
          <a:prstGeom prst="rect">
            <a:avLst/>
          </a:prstGeom>
        </p:spPr>
      </p:pic>
      <p:sp>
        <p:nvSpPr>
          <p:cNvPr id="20" name="Text 7"/>
          <p:cNvSpPr/>
          <p:nvPr/>
        </p:nvSpPr>
        <p:spPr>
          <a:xfrm>
            <a:off x="1112520" y="5775960"/>
            <a:ext cx="557784" cy="396240"/>
          </a:xfrm>
          <a:prstGeom prst="rect">
            <a:avLst/>
          </a:prstGeom>
          <a:noFill/>
        </p:spPr>
        <p:txBody>
          <a:bodyPr wrap="none" lIns="0" tIns="0" rIns="0" bIns="0" rtlCol="0" anchor="ctr"/>
          <a:lstStyle/>
          <a:p>
            <a:pPr marL="0" indent="0" algn="ctr">
              <a:lnSpc>
                <a:spcPct val="150000"/>
              </a:lnSpc>
              <a:buNone/>
            </a:pPr>
            <a:r>
              <a:rPr lang="en-US" sz="2160" b="1" dirty="0">
                <a:solidFill>
                  <a:srgbClr val="FFFFFF"/>
                </a:solidFill>
                <a:latin typeface="思源黑体 CN Bold" pitchFamily="34" charset="0"/>
                <a:ea typeface="思源黑体 CN Bold" pitchFamily="34" charset="-122"/>
                <a:cs typeface="思源黑体 CN Bold" pitchFamily="34" charset="-120"/>
              </a:rPr>
              <a:t>预习</a:t>
            </a:r>
            <a:endParaRPr lang="en-US" sz="2160" dirty="0"/>
          </a:p>
        </p:txBody>
      </p:sp>
      <p:sp>
        <p:nvSpPr>
          <p:cNvPr id="21" name="Text 8"/>
          <p:cNvSpPr/>
          <p:nvPr/>
        </p:nvSpPr>
        <p:spPr>
          <a:xfrm>
            <a:off x="2514600" y="5791200"/>
            <a:ext cx="8695944" cy="365760"/>
          </a:xfrm>
          <a:prstGeom prst="rect">
            <a:avLst/>
          </a:prstGeom>
          <a:noFill/>
        </p:spPr>
        <p:txBody>
          <a:bodyPr wrap="none" lIns="0" tIns="0" rIns="0" bIns="0" rtlCol="0" anchor="t">
            <a:spAutoFit/>
          </a:bodyPr>
          <a:lstStyle/>
          <a:p>
            <a:pPr marL="0" indent="0" algn="l">
              <a:lnSpc>
                <a:spcPct val="100000"/>
              </a:lnSpc>
              <a:buNone/>
            </a:pPr>
            <a:r>
              <a:rPr lang="en-US" sz="1920" dirty="0">
                <a:solidFill>
                  <a:srgbClr val="000000"/>
                </a:solidFill>
                <a:latin typeface="思源黑体 CN Regular" pitchFamily="34" charset="0"/>
                <a:ea typeface="思源黑体 CN Regular" pitchFamily="34" charset="-122"/>
                <a:cs typeface="思源黑体 CN Regular" pitchFamily="34" charset="-120"/>
              </a:rPr>
              <a:t>预习任务5“安全管理测评”相关内容</a:t>
            </a:r>
            <a:endParaRPr lang="en-US" sz="1920" dirty="0"/>
          </a:p>
        </p:txBody>
      </p:sp>
      <p:graphicFrame>
        <p:nvGraphicFramePr>
          <p:cNvPr id="22" name="对象 21">
            <a:hlinkClick r:id="" action="ppaction://ole?verb="/>
          </p:cNvPr>
          <p:cNvGraphicFramePr>
            <a:graphicFrameLocks noChangeAspect="1"/>
          </p:cNvGraphicFramePr>
          <p:nvPr/>
        </p:nvGraphicFramePr>
        <p:xfrm>
          <a:off x="2719705" y="415290"/>
          <a:ext cx="971550" cy="666750"/>
        </p:xfrm>
        <a:graphic>
          <a:graphicData uri="http://schemas.openxmlformats.org/presentationml/2006/ole">
            <mc:AlternateContent xmlns:mc="http://schemas.openxmlformats.org/markup-compatibility/2006">
              <mc:Choice xmlns:v="urn:schemas-microsoft-com:vml" Requires="v">
                <p:oleObj spid="_x0000_s2049" name="" showAsIcon="1" r:id="rId6" imgW="971550" imgH="666750" progId="Word.Document.12">
                  <p:embed/>
                </p:oleObj>
              </mc:Choice>
              <mc:Fallback>
                <p:oleObj name="" showAsIcon="1" r:id="rId6" imgW="971550" imgH="666750" progId="Word.Document.12">
                  <p:embed/>
                  <p:pic>
                    <p:nvPicPr>
                      <p:cNvPr id="0" name="图片 2048"/>
                      <p:cNvPicPr/>
                      <p:nvPr/>
                    </p:nvPicPr>
                    <p:blipFill>
                      <a:blip r:embed="rId7"/>
                      <a:stretch>
                        <a:fillRect/>
                      </a:stretch>
                    </p:blipFill>
                    <p:spPr>
                      <a:xfrm>
                        <a:off x="2719705" y="415290"/>
                        <a:ext cx="971550" cy="666750"/>
                      </a:xfrm>
                      <a:prstGeom prst="rect">
                        <a:avLst/>
                      </a:prstGeom>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下节课预告：任务5：安全管理测评</a:t>
            </a:r>
            <a:endParaRPr lang="en-US" sz="2760" dirty="0"/>
          </a:p>
        </p:txBody>
      </p:sp>
      <p:pic>
        <p:nvPicPr>
          <p:cNvPr id="6"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1463040"/>
            <a:ext cx="91440" cy="243840"/>
          </a:xfrm>
          <a:prstGeom prst="rect">
            <a:avLst/>
          </a:prstGeom>
        </p:spPr>
      </p:pic>
      <p:sp>
        <p:nvSpPr>
          <p:cNvPr id="7" name="Text 1"/>
          <p:cNvSpPr/>
          <p:nvPr/>
        </p:nvSpPr>
        <p:spPr>
          <a:xfrm>
            <a:off x="822960" y="1371600"/>
            <a:ext cx="1106424" cy="396240"/>
          </a:xfrm>
          <a:prstGeom prst="rect">
            <a:avLst/>
          </a:prstGeom>
          <a:noFill/>
        </p:spPr>
        <p:txBody>
          <a:bodyPr wrap="none" lIns="0" tIns="0" rIns="0" bIns="0" rtlCol="0" anchor="ctr"/>
          <a:lstStyle/>
          <a:p>
            <a:pPr marL="0" indent="0" algn="l">
              <a:lnSpc>
                <a:spcPct val="150000"/>
              </a:lnSpc>
              <a:buNone/>
            </a:pPr>
            <a:r>
              <a:rPr lang="en-US" sz="2160" dirty="0">
                <a:solidFill>
                  <a:srgbClr val="0E4D96"/>
                </a:solidFill>
                <a:latin typeface="思源黑体 CN Bold" pitchFamily="34" charset="0"/>
                <a:ea typeface="思源黑体 CN Bold" pitchFamily="34" charset="-122"/>
                <a:cs typeface="思源黑体 CN Bold" pitchFamily="34" charset="-120"/>
              </a:rPr>
              <a:t>预告内容</a:t>
            </a:r>
            <a:endParaRPr lang="en-US" sz="2160" dirty="0"/>
          </a:p>
        </p:txBody>
      </p:sp>
      <p:pic>
        <p:nvPicPr>
          <p:cNvPr id="8" name="Image 4" descr="https://test.web.static.jianzeppt.com/ppt-temp-img3/b61f1032d70d94493db1339ff50e0d47.png?x-oss-process=image/resize,w_1440,h_800,m_lfit/format,png"/>
          <p:cNvPicPr>
            <a:picLocks noChangeAspect="1"/>
          </p:cNvPicPr>
          <p:nvPr/>
        </p:nvPicPr>
        <p:blipFill>
          <a:blip r:embed="rId6"/>
          <a:stretch>
            <a:fillRect/>
          </a:stretch>
        </p:blipFill>
        <p:spPr>
          <a:xfrm>
            <a:off x="609600" y="2118360"/>
            <a:ext cx="365760" cy="365760"/>
          </a:xfrm>
          <a:prstGeom prst="rect">
            <a:avLst/>
          </a:prstGeom>
        </p:spPr>
      </p:pic>
      <p:sp>
        <p:nvSpPr>
          <p:cNvPr id="9" name="Text 2"/>
          <p:cNvSpPr/>
          <p:nvPr/>
        </p:nvSpPr>
        <p:spPr>
          <a:xfrm>
            <a:off x="731520" y="2164080"/>
            <a:ext cx="131064" cy="274320"/>
          </a:xfrm>
          <a:prstGeom prst="rect">
            <a:avLst/>
          </a:prstGeom>
          <a:noFill/>
        </p:spPr>
        <p:txBody>
          <a:bodyPr wrap="none" lIns="0" tIns="0" rIns="0" bIns="0" rtlCol="0" anchor="t">
            <a:spAutoFit/>
          </a:bodyPr>
          <a:lstStyle/>
          <a:p>
            <a:pPr marL="0" indent="0" algn="l">
              <a:lnSpc>
                <a:spcPct val="150000"/>
              </a:lnSpc>
              <a:buNone/>
            </a:pPr>
            <a:r>
              <a:rPr lang="en-US" sz="1440" b="1" dirty="0">
                <a:solidFill>
                  <a:srgbClr val="000000"/>
                </a:solidFill>
                <a:latin typeface="思源黑体 CN Bold" pitchFamily="34" charset="0"/>
                <a:ea typeface="思源黑体 CN Bold" pitchFamily="34" charset="-122"/>
                <a:cs typeface="思源黑体 CN Bold" pitchFamily="34" charset="-120"/>
              </a:rPr>
              <a:t>1</a:t>
            </a:r>
            <a:endParaRPr lang="en-US" sz="1440" dirty="0"/>
          </a:p>
        </p:txBody>
      </p:sp>
      <p:sp>
        <p:nvSpPr>
          <p:cNvPr id="10" name="Text 3"/>
          <p:cNvSpPr/>
          <p:nvPr/>
        </p:nvSpPr>
        <p:spPr>
          <a:xfrm>
            <a:off x="1158240" y="2087880"/>
            <a:ext cx="2950464" cy="365760"/>
          </a:xfrm>
          <a:prstGeom prst="rect">
            <a:avLst/>
          </a:prstGeom>
          <a:noFill/>
        </p:spPr>
        <p:txBody>
          <a:bodyPr wrap="none" lIns="0" tIns="0" rIns="0" bIns="0" rtlCol="0" anchor="t">
            <a:spAutoFit/>
          </a:bodyPr>
          <a:lstStyle/>
          <a:p>
            <a:pPr marL="0" indent="0" algn="l">
              <a:lnSpc>
                <a:spcPct val="150000"/>
              </a:lnSpc>
              <a:buNone/>
            </a:pPr>
            <a:r>
              <a:rPr lang="en-US" sz="1920" dirty="0">
                <a:solidFill>
                  <a:srgbClr val="000000"/>
                </a:solidFill>
                <a:latin typeface="思源黑体 CN Bold" pitchFamily="34" charset="0"/>
                <a:ea typeface="思源黑体 CN Bold" pitchFamily="34" charset="-122"/>
                <a:cs typeface="思源黑体 CN Bold" pitchFamily="34" charset="-120"/>
              </a:rPr>
              <a:t>安全管理测评五个核心维度</a:t>
            </a:r>
            <a:endParaRPr lang="en-US" sz="1920" dirty="0"/>
          </a:p>
        </p:txBody>
      </p:sp>
      <p:sp>
        <p:nvSpPr>
          <p:cNvPr id="11" name="Text 4"/>
          <p:cNvSpPr/>
          <p:nvPr/>
        </p:nvSpPr>
        <p:spPr>
          <a:xfrm>
            <a:off x="1158240" y="2514600"/>
            <a:ext cx="2996184" cy="320040"/>
          </a:xfrm>
          <a:prstGeom prst="rect">
            <a:avLst/>
          </a:prstGeom>
          <a:noFill/>
        </p:spPr>
        <p:txBody>
          <a:bodyPr wrap="none" lIns="0" tIns="0" rIns="0" bIns="0" rtlCol="0" anchor="t">
            <a:spAutoFit/>
          </a:bodyPr>
          <a:lstStyle/>
          <a:p>
            <a:pPr marL="0" indent="0" algn="l">
              <a:lnSpc>
                <a:spcPct val="100000"/>
              </a:lnSpc>
              <a:buNone/>
            </a:pPr>
            <a:r>
              <a:rPr lang="en-US" sz="1680" dirty="0">
                <a:solidFill>
                  <a:srgbClr val="727478"/>
                </a:solidFill>
                <a:latin typeface="思源黑体 CN Regular" pitchFamily="34" charset="0"/>
                <a:ea typeface="思源黑体 CN Regular" pitchFamily="34" charset="-122"/>
                <a:cs typeface="思源黑体 CN Regular" pitchFamily="34" charset="-120"/>
              </a:rPr>
              <a:t>制度、机构、人员、建设、运维</a:t>
            </a:r>
            <a:endParaRPr lang="en-US" sz="1680" dirty="0"/>
          </a:p>
        </p:txBody>
      </p:sp>
      <p:pic>
        <p:nvPicPr>
          <p:cNvPr id="12" name="Image 5" descr="https://test.web.static.jianzeppt.com/ppt-temp-img3/b61f1032d70d94493db1339ff50e0d47.png?x-oss-process=image/resize,w_1440,h_800,m_lfit/format,png"/>
          <p:cNvPicPr>
            <a:picLocks noChangeAspect="1"/>
          </p:cNvPicPr>
          <p:nvPr/>
        </p:nvPicPr>
        <p:blipFill>
          <a:blip r:embed="rId6"/>
          <a:stretch>
            <a:fillRect/>
          </a:stretch>
        </p:blipFill>
        <p:spPr>
          <a:xfrm>
            <a:off x="609600" y="3108960"/>
            <a:ext cx="365760" cy="365760"/>
          </a:xfrm>
          <a:prstGeom prst="rect">
            <a:avLst/>
          </a:prstGeom>
        </p:spPr>
      </p:pic>
      <p:sp>
        <p:nvSpPr>
          <p:cNvPr id="13" name="Text 5"/>
          <p:cNvSpPr/>
          <p:nvPr/>
        </p:nvSpPr>
        <p:spPr>
          <a:xfrm>
            <a:off x="731520" y="3154680"/>
            <a:ext cx="131064" cy="274320"/>
          </a:xfrm>
          <a:prstGeom prst="rect">
            <a:avLst/>
          </a:prstGeom>
          <a:noFill/>
        </p:spPr>
        <p:txBody>
          <a:bodyPr wrap="none" lIns="0" tIns="0" rIns="0" bIns="0" rtlCol="0" anchor="t">
            <a:spAutoFit/>
          </a:bodyPr>
          <a:lstStyle/>
          <a:p>
            <a:pPr marL="0" indent="0" algn="l">
              <a:lnSpc>
                <a:spcPct val="150000"/>
              </a:lnSpc>
              <a:buNone/>
            </a:pPr>
            <a:r>
              <a:rPr lang="en-US" sz="1440" b="1" dirty="0">
                <a:solidFill>
                  <a:srgbClr val="000000"/>
                </a:solidFill>
                <a:latin typeface="思源黑体 CN Bold" pitchFamily="34" charset="0"/>
                <a:ea typeface="思源黑体 CN Bold" pitchFamily="34" charset="-122"/>
                <a:cs typeface="思源黑体 CN Bold" pitchFamily="34" charset="-120"/>
              </a:rPr>
              <a:t>2</a:t>
            </a:r>
            <a:endParaRPr lang="en-US" sz="1440" dirty="0"/>
          </a:p>
        </p:txBody>
      </p:sp>
      <p:sp>
        <p:nvSpPr>
          <p:cNvPr id="14" name="Text 6"/>
          <p:cNvSpPr/>
          <p:nvPr/>
        </p:nvSpPr>
        <p:spPr>
          <a:xfrm>
            <a:off x="1158240" y="3078480"/>
            <a:ext cx="1487424" cy="365760"/>
          </a:xfrm>
          <a:prstGeom prst="rect">
            <a:avLst/>
          </a:prstGeom>
          <a:noFill/>
        </p:spPr>
        <p:txBody>
          <a:bodyPr wrap="none" lIns="0" tIns="0" rIns="0" bIns="0" rtlCol="0" anchor="t">
            <a:spAutoFit/>
          </a:bodyPr>
          <a:lstStyle/>
          <a:p>
            <a:pPr marL="0" indent="0" algn="l">
              <a:lnSpc>
                <a:spcPct val="150000"/>
              </a:lnSpc>
              <a:buNone/>
            </a:pPr>
            <a:r>
              <a:rPr lang="en-US" sz="1920" dirty="0">
                <a:solidFill>
                  <a:srgbClr val="000000"/>
                </a:solidFill>
                <a:latin typeface="思源黑体 CN Bold" pitchFamily="34" charset="0"/>
                <a:ea typeface="思源黑体 CN Bold" pitchFamily="34" charset="-122"/>
                <a:cs typeface="思源黑体 CN Bold" pitchFamily="34" charset="-120"/>
              </a:rPr>
              <a:t>文档核查方法</a:t>
            </a:r>
            <a:endParaRPr lang="en-US" sz="1920" dirty="0"/>
          </a:p>
        </p:txBody>
      </p:sp>
      <p:pic>
        <p:nvPicPr>
          <p:cNvPr id="15" name="Image 6" descr="https://test.web.static.jianzeppt.com/ppt-temp-img3/b61f1032d70d94493db1339ff50e0d47.png?x-oss-process=image/resize,w_1440,h_800,m_lfit/format,png"/>
          <p:cNvPicPr>
            <a:picLocks noChangeAspect="1"/>
          </p:cNvPicPr>
          <p:nvPr/>
        </p:nvPicPr>
        <p:blipFill>
          <a:blip r:embed="rId6"/>
          <a:stretch>
            <a:fillRect/>
          </a:stretch>
        </p:blipFill>
        <p:spPr>
          <a:xfrm>
            <a:off x="609600" y="3749040"/>
            <a:ext cx="365760" cy="365760"/>
          </a:xfrm>
          <a:prstGeom prst="rect">
            <a:avLst/>
          </a:prstGeom>
        </p:spPr>
      </p:pic>
      <p:sp>
        <p:nvSpPr>
          <p:cNvPr id="16" name="Text 7"/>
          <p:cNvSpPr/>
          <p:nvPr/>
        </p:nvSpPr>
        <p:spPr>
          <a:xfrm>
            <a:off x="731520" y="3794760"/>
            <a:ext cx="131064" cy="274320"/>
          </a:xfrm>
          <a:prstGeom prst="rect">
            <a:avLst/>
          </a:prstGeom>
          <a:noFill/>
        </p:spPr>
        <p:txBody>
          <a:bodyPr wrap="none" lIns="0" tIns="0" rIns="0" bIns="0" rtlCol="0" anchor="t">
            <a:spAutoFit/>
          </a:bodyPr>
          <a:lstStyle/>
          <a:p>
            <a:pPr marL="0" indent="0" algn="l">
              <a:lnSpc>
                <a:spcPct val="150000"/>
              </a:lnSpc>
              <a:buNone/>
            </a:pPr>
            <a:r>
              <a:rPr lang="en-US" sz="1440" b="1" dirty="0">
                <a:solidFill>
                  <a:srgbClr val="000000"/>
                </a:solidFill>
                <a:latin typeface="思源黑体 CN Bold" pitchFamily="34" charset="0"/>
                <a:ea typeface="思源黑体 CN Bold" pitchFamily="34" charset="-122"/>
                <a:cs typeface="思源黑体 CN Bold" pitchFamily="34" charset="-120"/>
              </a:rPr>
              <a:t>3</a:t>
            </a:r>
            <a:endParaRPr lang="en-US" sz="1440" dirty="0"/>
          </a:p>
        </p:txBody>
      </p:sp>
      <p:sp>
        <p:nvSpPr>
          <p:cNvPr id="17" name="Text 8"/>
          <p:cNvSpPr/>
          <p:nvPr/>
        </p:nvSpPr>
        <p:spPr>
          <a:xfrm>
            <a:off x="1158240" y="3718560"/>
            <a:ext cx="1487424" cy="365760"/>
          </a:xfrm>
          <a:prstGeom prst="rect">
            <a:avLst/>
          </a:prstGeom>
          <a:noFill/>
        </p:spPr>
        <p:txBody>
          <a:bodyPr wrap="none" lIns="0" tIns="0" rIns="0" bIns="0" rtlCol="0" anchor="t">
            <a:spAutoFit/>
          </a:bodyPr>
          <a:lstStyle/>
          <a:p>
            <a:pPr marL="0" indent="0" algn="l">
              <a:lnSpc>
                <a:spcPct val="150000"/>
              </a:lnSpc>
              <a:buNone/>
            </a:pPr>
            <a:r>
              <a:rPr lang="en-US" sz="1920" dirty="0">
                <a:solidFill>
                  <a:srgbClr val="000000"/>
                </a:solidFill>
                <a:latin typeface="思源黑体 CN Bold" pitchFamily="34" charset="0"/>
                <a:ea typeface="思源黑体 CN Bold" pitchFamily="34" charset="-122"/>
                <a:cs typeface="思源黑体 CN Bold" pitchFamily="34" charset="-120"/>
              </a:rPr>
              <a:t>模拟人员访谈</a:t>
            </a:r>
            <a:endParaRPr lang="en-US" sz="1920" dirty="0"/>
          </a:p>
        </p:txBody>
      </p:sp>
      <p:pic>
        <p:nvPicPr>
          <p:cNvPr id="18" name="Image 7" descr="preencoded.png"/>
          <p:cNvPicPr>
            <a:picLocks noChangeAspect="1"/>
          </p:cNvPicPr>
          <p:nvPr/>
        </p:nvPicPr>
        <p:blipFill>
          <a:blip r:embed="rId7">
            <a:extLst>
              <a:ext uri="{96DAC541-7B7A-43D3-8B79-37D633B846F1}">
                <asvg:svgBlip xmlns:asvg="http://schemas.microsoft.com/office/drawing/2016/SVG/main" r:embed="rId5"/>
              </a:ext>
            </a:extLst>
          </a:blip>
          <a:stretch>
            <a:fillRect/>
          </a:stretch>
        </p:blipFill>
        <p:spPr>
          <a:xfrm>
            <a:off x="6918960" y="1463040"/>
            <a:ext cx="91440" cy="243840"/>
          </a:xfrm>
          <a:prstGeom prst="rect">
            <a:avLst/>
          </a:prstGeom>
        </p:spPr>
      </p:pic>
      <p:sp>
        <p:nvSpPr>
          <p:cNvPr id="19" name="Text 9"/>
          <p:cNvSpPr/>
          <p:nvPr/>
        </p:nvSpPr>
        <p:spPr>
          <a:xfrm>
            <a:off x="7132320" y="1371600"/>
            <a:ext cx="1106424" cy="396240"/>
          </a:xfrm>
          <a:prstGeom prst="rect">
            <a:avLst/>
          </a:prstGeom>
          <a:noFill/>
        </p:spPr>
        <p:txBody>
          <a:bodyPr wrap="none" lIns="0" tIns="0" rIns="0" bIns="0" rtlCol="0" anchor="ctr"/>
          <a:lstStyle/>
          <a:p>
            <a:pPr marL="0" indent="0" algn="l">
              <a:lnSpc>
                <a:spcPct val="150000"/>
              </a:lnSpc>
              <a:buNone/>
            </a:pPr>
            <a:r>
              <a:rPr lang="en-US" sz="2160" dirty="0">
                <a:solidFill>
                  <a:srgbClr val="0E4D96"/>
                </a:solidFill>
                <a:latin typeface="思源黑体 CN Bold" pitchFamily="34" charset="0"/>
                <a:ea typeface="思源黑体 CN Bold" pitchFamily="34" charset="-122"/>
                <a:cs typeface="思源黑体 CN Bold" pitchFamily="34" charset="-120"/>
              </a:rPr>
              <a:t>课前准备</a:t>
            </a:r>
            <a:endParaRPr lang="en-US" sz="2160" dirty="0"/>
          </a:p>
        </p:txBody>
      </p:sp>
      <p:pic>
        <p:nvPicPr>
          <p:cNvPr id="20" name="Image 8" descr="https://test.web.static.jianzeppt.com/ppt-temp-img3/6b1046873d0fec2b781ad8974354911e.png?x-oss-process=image/resize,w_1440,h_800,m_lfit/format,png"/>
          <p:cNvPicPr>
            <a:picLocks noChangeAspect="1"/>
          </p:cNvPicPr>
          <p:nvPr/>
        </p:nvPicPr>
        <p:blipFill>
          <a:blip r:embed="rId8"/>
          <a:stretch>
            <a:fillRect/>
          </a:stretch>
        </p:blipFill>
        <p:spPr>
          <a:xfrm>
            <a:off x="6918960" y="2087880"/>
            <a:ext cx="4663440" cy="1813560"/>
          </a:xfrm>
          <a:prstGeom prst="rect">
            <a:avLst/>
          </a:prstGeom>
        </p:spPr>
      </p:pic>
      <p:pic>
        <p:nvPicPr>
          <p:cNvPr id="21" name="Image 9"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239000" y="2438400"/>
            <a:ext cx="304800" cy="304800"/>
          </a:xfrm>
          <a:prstGeom prst="rect">
            <a:avLst/>
          </a:prstGeom>
        </p:spPr>
      </p:pic>
      <p:sp>
        <p:nvSpPr>
          <p:cNvPr id="22" name="Text 10"/>
          <p:cNvSpPr/>
          <p:nvPr/>
        </p:nvSpPr>
        <p:spPr>
          <a:xfrm>
            <a:off x="7726680" y="2407920"/>
            <a:ext cx="3285744" cy="320040"/>
          </a:xfrm>
          <a:prstGeom prst="rect">
            <a:avLst/>
          </a:prstGeom>
          <a:noFill/>
        </p:spPr>
        <p:txBody>
          <a:bodyPr wrap="none" lIns="0" tIns="0" rIns="0" bIns="0" rtlCol="0" anchor="t">
            <a:spAutoFit/>
          </a:bodyPr>
          <a:lstStyle/>
          <a:p>
            <a:pPr marL="0" indent="0" algn="l">
              <a:lnSpc>
                <a:spcPct val="100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复习GB/T 22239“安全管理”章节</a:t>
            </a:r>
            <a:endParaRPr lang="en-US" sz="1680" dirty="0"/>
          </a:p>
        </p:txBody>
      </p:sp>
      <p:pic>
        <p:nvPicPr>
          <p:cNvPr id="23" name="Image 10" descr="https://test.web.static.jianzeppt.com/ppt-temp-img3/9e3b64a2bfaff4ade1896dd33980334b.png?x-oss-process=image/resize,w_1440,h_800,m_lfit/format,png"/>
          <p:cNvPicPr>
            <a:picLocks noChangeAspect="1"/>
          </p:cNvPicPr>
          <p:nvPr/>
        </p:nvPicPr>
        <p:blipFill>
          <a:blip r:embed="rId11"/>
          <a:stretch>
            <a:fillRect/>
          </a:stretch>
        </p:blipFill>
        <p:spPr>
          <a:xfrm>
            <a:off x="7239000" y="2987040"/>
            <a:ext cx="4023360" cy="15240"/>
          </a:xfrm>
          <a:prstGeom prst="rect">
            <a:avLst/>
          </a:prstGeom>
        </p:spPr>
      </p:pic>
      <p:pic>
        <p:nvPicPr>
          <p:cNvPr id="24" name="Image 11" descr="preencoded.png"/>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239000" y="3276600"/>
            <a:ext cx="304800" cy="304800"/>
          </a:xfrm>
          <a:prstGeom prst="rect">
            <a:avLst/>
          </a:prstGeom>
        </p:spPr>
      </p:pic>
      <p:sp>
        <p:nvSpPr>
          <p:cNvPr id="25" name="Text 11"/>
          <p:cNvSpPr/>
          <p:nvPr/>
        </p:nvSpPr>
        <p:spPr>
          <a:xfrm>
            <a:off x="7726680" y="3246120"/>
            <a:ext cx="2996184" cy="320040"/>
          </a:xfrm>
          <a:prstGeom prst="rect">
            <a:avLst/>
          </a:prstGeom>
          <a:noFill/>
        </p:spPr>
        <p:txBody>
          <a:bodyPr wrap="none" lIns="0" tIns="0" rIns="0" bIns="0" rtlCol="0" anchor="t">
            <a:spAutoFit/>
          </a:bodyPr>
          <a:lstStyle/>
          <a:p>
            <a:pPr marL="0" indent="0" algn="l">
              <a:lnSpc>
                <a:spcPct val="100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阅读安全管理相关制度文件示例</a:t>
            </a:r>
            <a:endParaRPr lang="en-US" sz="168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1536780" y="1925506"/>
            <a:ext cx="9136882" cy="975122"/>
          </a:xfrm>
          <a:prstGeom prst="rect">
            <a:avLst/>
          </a:prstGeom>
          <a:noFill/>
        </p:spPr>
        <p:txBody>
          <a:bodyPr wrap="square" lIns="0" tIns="0" rIns="0" bIns="0" rtlCol="0" anchor="b">
            <a:spAutoFit/>
          </a:bodyPr>
          <a:lstStyle/>
          <a:p>
            <a:pPr marL="0" indent="0" algn="ctr">
              <a:lnSpc>
                <a:spcPct val="120000"/>
              </a:lnSpc>
              <a:buNone/>
            </a:pPr>
            <a:r>
              <a:rPr lang="en-US" sz="6360" dirty="0">
                <a:solidFill>
                  <a:srgbClr val="FFFFFF"/>
                </a:solidFill>
              </a:rPr>
              <a:t>感谢观看</a:t>
            </a:r>
            <a:endParaRPr lang="en-US" sz="6360" dirty="0"/>
          </a:p>
        </p:txBody>
      </p:sp>
    </p:spTree>
  </p:cSld>
  <p:clrMapOvr>
    <a:masterClrMapping/>
  </p:clrMapOvr>
</p:sld>
</file>

<file path=ppt/tags/tag1.xml><?xml version="1.0" encoding="utf-8"?>
<p:tagLst xmlns:p="http://schemas.openxmlformats.org/presentationml/2006/main">
  <p:tag name="KSO_WM_DIAGRAM_VIRTUALLY_FRAME" val="{&quot;height&quot;:130.8,&quot;left&quot;:48,&quot;top&quot;:150,&quot;width&quot;:864}"/>
</p:tagLst>
</file>

<file path=ppt/tags/tag2.xml><?xml version="1.0" encoding="utf-8"?>
<p:tagLst xmlns:p="http://schemas.openxmlformats.org/presentationml/2006/main">
  <p:tag name="KSO_WM_DIAGRAM_VIRTUALLY_FRAME" val="{&quot;height&quot;:130.8,&quot;left&quot;:48,&quot;top&quot;:150,&quot;width&quot;:864}"/>
</p:tagLst>
</file>

<file path=ppt/tags/tag3.xml><?xml version="1.0" encoding="utf-8"?>
<p:tagLst xmlns:p="http://schemas.openxmlformats.org/presentationml/2006/main">
  <p:tag name="KSO_WM_DIAGRAM_VIRTUALLY_FRAME" val="{&quot;height&quot;:130.8,&quot;left&quot;:48,&quot;top&quot;:150,&quot;width&quot;:864}"/>
</p:tagLst>
</file>

<file path=ppt/tags/tag4.xml><?xml version="1.0" encoding="utf-8"?>
<p:tagLst xmlns:p="http://schemas.openxmlformats.org/presentationml/2006/main">
  <p:tag name="KSO_WM_DIAGRAM_VIRTUALLY_FRAME" val="{&quot;height&quot;:130.8,&quot;left&quot;:48,&quot;top&quot;:150,&quot;width&quot;:864}"/>
</p:tagLst>
</file>

<file path=ppt/tags/tag5.xml><?xml version="1.0" encoding="utf-8"?>
<p:tagLst xmlns:p="http://schemas.openxmlformats.org/presentationml/2006/main">
  <p:tag name="KSO_WM_DIAGRAM_VIRTUALLY_FRAME" val="{&quot;height&quot;:130.8,&quot;left&quot;:48,&quot;top&quot;:150,&quot;width&quot;:864}"/>
</p:tagLst>
</file>

<file path=ppt/tags/tag6.xml><?xml version="1.0" encoding="utf-8"?>
<p:tagLst xmlns:p="http://schemas.openxmlformats.org/presentationml/2006/main">
  <p:tag name="KSO_WM_DIAGRAM_VIRTUALLY_FRAME" val="{&quot;height&quot;:130.8,&quot;left&quot;:48,&quot;top&quot;:150,&quot;width&quot;:864}"/>
</p:tagLst>
</file>

<file path=ppt/tags/tag7.xml><?xml version="1.0" encoding="utf-8"?>
<p:tagLst xmlns:p="http://schemas.openxmlformats.org/presentationml/2006/main">
  <p:tag name="KSO_WM_DIAGRAM_VIRTUALLY_FRAME" val="{&quot;height&quot;:130.8,&quot;left&quot;:48,&quot;top&quot;:150,&quot;width&quot;:864}"/>
</p:tagLst>
</file>

<file path=ppt/tags/tag8.xml><?xml version="1.0" encoding="utf-8"?>
<p:tagLst xmlns:p="http://schemas.openxmlformats.org/presentationml/2006/main">
  <p:tag name="KSO_WM_DIAGRAM_VIRTUALLY_FRAME" val="{&quot;height&quot;:130.8,&quot;left&quot;:48,&quot;top&quot;:150,&quot;width&quot;:864}"/>
</p:tagLst>
</file>

<file path=ppt/tags/tag9.xml><?xml version="1.0" encoding="utf-8"?>
<p:tagLst xmlns:p="http://schemas.openxmlformats.org/presentationml/2006/main">
  <p:tag name="KSO_WM_DIAGRAM_VIRTUALLY_FRAME" val="{&quot;height&quot;:130.8,&quot;left&quot;:48,&quot;top&quot;:150,&quot;width&quot;:864}"/>
</p:tagLst>
</file>

<file path=ppt/tags/tag10.xml><?xml version="1.0" encoding="utf-8"?>
<p:tagLst xmlns:p="http://schemas.openxmlformats.org/presentationml/2006/main">
  <p:tag name="KSO_WM_DIAGRAM_VIRTUALLY_FRAME" val="{&quot;height&quot;:130.8,&quot;left&quot;:48,&quot;top&quot;:150,&quot;width&quot;:864}"/>
</p:tagLst>
</file>

<file path=ppt/tags/tag11.xml><?xml version="1.0" encoding="utf-8"?>
<p:tagLst xmlns:p="http://schemas.openxmlformats.org/presentationml/2006/main">
  <p:tag name="KSO_WM_DIAGRAM_VIRTUALLY_FRAME" val="{&quot;height&quot;:130.8,&quot;left&quot;:48,&quot;top&quot;:150,&quot;width&quot;:864}"/>
</p:tagLst>
</file>

<file path=ppt/tags/tag12.xml><?xml version="1.0" encoding="utf-8"?>
<p:tagLst xmlns:p="http://schemas.openxmlformats.org/presentationml/2006/main">
  <p:tag name="KSO_WM_DIAGRAM_VIRTUALLY_FRAME" val="{&quot;height&quot;:130.8,&quot;left&quot;:48,&quot;top&quot;:150,&quot;width&quot;:864}"/>
</p:tagLst>
</file>

<file path=ppt/tags/tag13.xml><?xml version="1.0" encoding="utf-8"?>
<p:tagLst xmlns:p="http://schemas.openxmlformats.org/presentationml/2006/main">
  <p:tag name="KSO_WM_DIAGRAM_VIRTUALLY_FRAME" val="{&quot;height&quot;:130.8,&quot;left&quot;:48,&quot;top&quot;:150,&quot;width&quot;:864}"/>
</p:tagLst>
</file>

<file path=ppt/tags/tag14.xml><?xml version="1.0" encoding="utf-8"?>
<p:tagLst xmlns:p="http://schemas.openxmlformats.org/presentationml/2006/main">
  <p:tag name="KSO_WM_DIAGRAM_VIRTUALLY_FRAME" val="{&quot;height&quot;:130.8,&quot;left&quot;:48,&quot;top&quot;:150,&quot;width&quot;:864}"/>
</p:tagLst>
</file>

<file path=ppt/tags/tag15.xml><?xml version="1.0" encoding="utf-8"?>
<p:tagLst xmlns:p="http://schemas.openxmlformats.org/presentationml/2006/main">
  <p:tag name="KSO_WM_DIAGRAM_VIRTUALLY_FRAME" val="{&quot;height&quot;:130.8,&quot;left&quot;:48,&quot;top&quot;:150,&quot;width&quot;:864}"/>
</p:tagLst>
</file>

<file path=ppt/tags/tag16.xml><?xml version="1.0" encoding="utf-8"?>
<p:tagLst xmlns:p="http://schemas.openxmlformats.org/presentationml/2006/main">
  <p:tag name="KSO_WM_DIAGRAM_VIRTUALLY_FRAME" val="{&quot;height&quot;:130.8,&quot;left&quot;:48,&quot;top&quot;:150,&quot;width&quot;:864}"/>
</p:tagLst>
</file>

<file path=ppt/tags/tag17.xml><?xml version="1.0" encoding="utf-8"?>
<p:tagLst xmlns:p="http://schemas.openxmlformats.org/presentationml/2006/main">
  <p:tag name="KSO_WM_DIAGRAM_VIRTUALLY_FRAME" val="{&quot;height&quot;:264,&quot;left&quot;:48,&quot;top&quot;:140.4,&quot;width&quot;:864}"/>
</p:tagLst>
</file>

<file path=ppt/tags/tag18.xml><?xml version="1.0" encoding="utf-8"?>
<p:tagLst xmlns:p="http://schemas.openxmlformats.org/presentationml/2006/main">
  <p:tag name="KSO_WM_DIAGRAM_VIRTUALLY_FRAME" val="{&quot;height&quot;:264,&quot;left&quot;:48,&quot;top&quot;:140.4,&quot;width&quot;:864}"/>
</p:tagLst>
</file>

<file path=ppt/tags/tag19.xml><?xml version="1.0" encoding="utf-8"?>
<p:tagLst xmlns:p="http://schemas.openxmlformats.org/presentationml/2006/main">
  <p:tag name="KSO_WM_DIAGRAM_VIRTUALLY_FRAME" val="{&quot;height&quot;:264,&quot;left&quot;:48,&quot;top&quot;:140.4,&quot;width&quot;:864}"/>
</p:tagLst>
</file>

<file path=ppt/tags/tag20.xml><?xml version="1.0" encoding="utf-8"?>
<p:tagLst xmlns:p="http://schemas.openxmlformats.org/presentationml/2006/main">
  <p:tag name="KSO_WM_DIAGRAM_VIRTUALLY_FRAME" val="{&quot;height&quot;:264,&quot;left&quot;:48,&quot;top&quot;:140.4,&quot;width&quot;:864}"/>
</p:tagLst>
</file>

<file path=ppt/tags/tag21.xml><?xml version="1.0" encoding="utf-8"?>
<p:tagLst xmlns:p="http://schemas.openxmlformats.org/presentationml/2006/main">
  <p:tag name="KSO_WM_DIAGRAM_VIRTUALLY_FRAME" val="{&quot;height&quot;:264,&quot;left&quot;:48,&quot;top&quot;:140.4,&quot;width&quot;:864}"/>
</p:tagLst>
</file>

<file path=ppt/tags/tag22.xml><?xml version="1.0" encoding="utf-8"?>
<p:tagLst xmlns:p="http://schemas.openxmlformats.org/presentationml/2006/main">
  <p:tag name="KSO_WM_DIAGRAM_VIRTUALLY_FRAME" val="{&quot;height&quot;:264,&quot;left&quot;:48,&quot;top&quot;:140.4,&quot;width&quot;:864}"/>
</p:tagLst>
</file>

<file path=ppt/tags/tag23.xml><?xml version="1.0" encoding="utf-8"?>
<p:tagLst xmlns:p="http://schemas.openxmlformats.org/presentationml/2006/main">
  <p:tag name="KSO_WM_DIAGRAM_VIRTUALLY_FRAME" val="{&quot;height&quot;:264,&quot;left&quot;:48,&quot;top&quot;:140.4,&quot;width&quot;:864}"/>
</p:tagLst>
</file>

<file path=ppt/tags/tag24.xml><?xml version="1.0" encoding="utf-8"?>
<p:tagLst xmlns:p="http://schemas.openxmlformats.org/presentationml/2006/main">
  <p:tag name="KSO_WM_DIAGRAM_VIRTUALLY_FRAME" val="{&quot;height&quot;:264,&quot;left&quot;:48,&quot;top&quot;:140.4,&quot;width&quot;:864}"/>
</p:tagLst>
</file>

<file path=ppt/tags/tag25.xml><?xml version="1.0" encoding="utf-8"?>
<p:tagLst xmlns:p="http://schemas.openxmlformats.org/presentationml/2006/main">
  <p:tag name="KSO_WM_DIAGRAM_VIRTUALLY_FRAME" val="{&quot;height&quot;:264,&quot;left&quot;:48,&quot;top&quot;:140.4,&quot;width&quot;:864}"/>
</p:tagLst>
</file>

<file path=ppt/tags/tag26.xml><?xml version="1.0" encoding="utf-8"?>
<p:tagLst xmlns:p="http://schemas.openxmlformats.org/presentationml/2006/main">
  <p:tag name="KSO_WM_DIAGRAM_VIRTUALLY_FRAME" val="{&quot;height&quot;:264,&quot;left&quot;:48,&quot;top&quot;:140.4,&quot;width&quot;:864}"/>
</p:tagLst>
</file>

<file path=ppt/tags/tag27.xml><?xml version="1.0" encoding="utf-8"?>
<p:tagLst xmlns:p="http://schemas.openxmlformats.org/presentationml/2006/main">
  <p:tag name="KSO_WM_DIAGRAM_VIRTUALLY_FRAME" val="{&quot;height&quot;:264,&quot;left&quot;:48,&quot;top&quot;:140.4,&quot;width&quot;:864}"/>
</p:tagLst>
</file>

<file path=ppt/tags/tag28.xml><?xml version="1.0" encoding="utf-8"?>
<p:tagLst xmlns:p="http://schemas.openxmlformats.org/presentationml/2006/main">
  <p:tag name="KSO_WM_DIAGRAM_VIRTUALLY_FRAME" val="{&quot;height&quot;:264,&quot;left&quot;:48,&quot;top&quot;:140.4,&quot;width&quot;:864}"/>
</p:tagLst>
</file>

<file path=ppt/tags/tag29.xml><?xml version="1.0" encoding="utf-8"?>
<p:tagLst xmlns:p="http://schemas.openxmlformats.org/presentationml/2006/main">
  <p:tag name="KSO_WM_DIAGRAM_VIRTUALLY_FRAME" val="{&quot;height&quot;:264,&quot;left&quot;:48,&quot;top&quot;:140.4,&quot;width&quot;:864}"/>
</p:tagLst>
</file>

<file path=ppt/tags/tag30.xml><?xml version="1.0" encoding="utf-8"?>
<p:tagLst xmlns:p="http://schemas.openxmlformats.org/presentationml/2006/main">
  <p:tag name="KSO_WM_DIAGRAM_VIRTUALLY_FRAME" val="{&quot;height&quot;:264,&quot;left&quot;:48,&quot;top&quot;:140.4,&quot;width&quot;:864}"/>
</p:tagLst>
</file>

<file path=ppt/tags/tag31.xml><?xml version="1.0" encoding="utf-8"?>
<p:tagLst xmlns:p="http://schemas.openxmlformats.org/presentationml/2006/main">
  <p:tag name="KSO_WM_DIAGRAM_VIRTUALLY_FRAME" val="{&quot;height&quot;:264,&quot;left&quot;:48,&quot;top&quot;:140.4,&quot;width&quot;:864}"/>
</p:tagLst>
</file>

<file path=ppt/tags/tag32.xml><?xml version="1.0" encoding="utf-8"?>
<p:tagLst xmlns:p="http://schemas.openxmlformats.org/presentationml/2006/main">
  <p:tag name="KSO_WM_DIAGRAM_VIRTUALLY_FRAME" val="{&quot;height&quot;:264,&quot;left&quot;:48,&quot;top&quot;:140.4,&quot;width&quot;:864}"/>
</p:tagLst>
</file>

<file path=ppt/tags/tag33.xml><?xml version="1.0" encoding="utf-8"?>
<p:tagLst xmlns:p="http://schemas.openxmlformats.org/presentationml/2006/main">
  <p:tag name="KSO_WM_DIAGRAM_VIRTUALLY_FRAME" val="{&quot;height&quot;:264,&quot;left&quot;:48,&quot;top&quot;:140.4,&quot;width&quot;:864}"/>
</p:tagLst>
</file>

<file path=ppt/tags/tag34.xml><?xml version="1.0" encoding="utf-8"?>
<p:tagLst xmlns:p="http://schemas.openxmlformats.org/presentationml/2006/main">
  <p:tag name="KSO_WM_DIAGRAM_VIRTUALLY_FRAME" val="{&quot;height&quot;:264,&quot;left&quot;:48,&quot;top&quot;:140.4,&quot;width&quot;:864}"/>
</p:tagLst>
</file>

<file path=ppt/tags/tag35.xml><?xml version="1.0" encoding="utf-8"?>
<p:tagLst xmlns:p="http://schemas.openxmlformats.org/presentationml/2006/main">
  <p:tag name="KSO_WM_DIAGRAM_VIRTUALLY_FRAME" val="{&quot;height&quot;:264,&quot;left&quot;:48,&quot;top&quot;:140.4,&quot;width&quot;:864}"/>
</p:tagLst>
</file>

<file path=ppt/tags/tag36.xml><?xml version="1.0" encoding="utf-8"?>
<p:tagLst xmlns:p="http://schemas.openxmlformats.org/presentationml/2006/main">
  <p:tag name="KSO_WM_DIAGRAM_VIRTUALLY_FRAME" val="{&quot;height&quot;:264,&quot;left&quot;:48,&quot;top&quot;:140.4,&quot;width&quot;:864}"/>
</p:tagLst>
</file>

<file path=ppt/tags/tag37.xml><?xml version="1.0" encoding="utf-8"?>
<p:tagLst xmlns:p="http://schemas.openxmlformats.org/presentationml/2006/main">
  <p:tag name="KSO_WM_DIAGRAM_VIRTUALLY_FRAME" val="{&quot;height&quot;:264,&quot;left&quot;:48,&quot;top&quot;:140.4,&quot;width&quot;:864}"/>
</p:tagLst>
</file>

<file path=ppt/tags/tag38.xml><?xml version="1.0" encoding="utf-8"?>
<p:tagLst xmlns:p="http://schemas.openxmlformats.org/presentationml/2006/main">
  <p:tag name="KSO_WM_DIAGRAM_VIRTUALLY_FRAME" val="{&quot;height&quot;:264,&quot;left&quot;:48,&quot;top&quot;:140.4,&quot;width&quot;:864}"/>
</p:tagLst>
</file>

<file path=ppt/tags/tag39.xml><?xml version="1.0" encoding="utf-8"?>
<p:tagLst xmlns:p="http://schemas.openxmlformats.org/presentationml/2006/main">
  <p:tag name="KSO_WM_DIAGRAM_VIRTUALLY_FRAME" val="{&quot;height&quot;:264,&quot;left&quot;:48,&quot;top&quot;:140.4,&quot;width&quot;:864}"/>
</p:tagLst>
</file>

<file path=ppt/tags/tag40.xml><?xml version="1.0" encoding="utf-8"?>
<p:tagLst xmlns:p="http://schemas.openxmlformats.org/presentationml/2006/main">
  <p:tag name="KSO_WM_DIAGRAM_VIRTUALLY_FRAME" val="{&quot;height&quot;:264,&quot;left&quot;:48,&quot;top&quot;:140.4,&quot;width&quot;:864}"/>
</p:tagLst>
</file>

<file path=ppt/tags/tag41.xml><?xml version="1.0" encoding="utf-8"?>
<p:tagLst xmlns:p="http://schemas.openxmlformats.org/presentationml/2006/main">
  <p:tag name="KSO_WM_DIAGRAM_VIRTUALLY_FRAME" val="{&quot;height&quot;:264,&quot;left&quot;:48,&quot;top&quot;:140.4,&quot;width&quot;:864}"/>
</p:tagLst>
</file>

<file path=ppt/tags/tag42.xml><?xml version="1.0" encoding="utf-8"?>
<p:tagLst xmlns:p="http://schemas.openxmlformats.org/presentationml/2006/main">
  <p:tag name="KSO_WM_DIAGRAM_VIRTUALLY_FRAME" val="{&quot;height&quot;:264,&quot;left&quot;:48,&quot;top&quot;:140.4,&quot;width&quot;:864}"/>
</p:tagLst>
</file>

<file path=ppt/tags/tag43.xml><?xml version="1.0" encoding="utf-8"?>
<p:tagLst xmlns:p="http://schemas.openxmlformats.org/presentationml/2006/main">
  <p:tag name="KSO_WM_DIAGRAM_VIRTUALLY_FRAME" val="{&quot;height&quot;:264,&quot;left&quot;:48,&quot;top&quot;:140.4,&quot;width&quot;:864}"/>
</p:tagLst>
</file>

<file path=ppt/tags/tag44.xml><?xml version="1.0" encoding="utf-8"?>
<p:tagLst xmlns:p="http://schemas.openxmlformats.org/presentationml/2006/main">
  <p:tag name="KSO_WM_DIAGRAM_VIRTUALLY_FRAME" val="{&quot;height&quot;:264,&quot;left&quot;:48,&quot;top&quot;:140.4,&quot;width&quot;:864}"/>
</p:tagLst>
</file>

<file path=ppt/tags/tag45.xml><?xml version="1.0" encoding="utf-8"?>
<p:tagLst xmlns:p="http://schemas.openxmlformats.org/presentationml/2006/main">
  <p:tag name="KSO_WM_DIAGRAM_VIRTUALLY_FRAME" val="{&quot;height&quot;:264,&quot;left&quot;:48,&quot;top&quot;:140.4,&quot;width&quot;:864}"/>
</p:tagLst>
</file>

<file path=ppt/tags/tag46.xml><?xml version="1.0" encoding="utf-8"?>
<p:tagLst xmlns:p="http://schemas.openxmlformats.org/presentationml/2006/main">
  <p:tag name="KSO_WM_DIAGRAM_VIRTUALLY_FRAME" val="{&quot;height&quot;:264,&quot;left&quot;:48,&quot;top&quot;:140.4,&quot;width&quot;:864}"/>
</p:tagLst>
</file>

<file path=ppt/tags/tag47.xml><?xml version="1.0" encoding="utf-8"?>
<p:tagLst xmlns:p="http://schemas.openxmlformats.org/presentationml/2006/main">
  <p:tag name="KSO_WM_DIAGRAM_VIRTUALLY_FRAME" val="{&quot;height&quot;:264,&quot;left&quot;:48,&quot;top&quot;:140.4,&quot;width&quot;:864}"/>
</p:tagLst>
</file>

<file path=ppt/tags/tag48.xml><?xml version="1.0" encoding="utf-8"?>
<p:tagLst xmlns:p="http://schemas.openxmlformats.org/presentationml/2006/main">
  <p:tag name="KSO_WM_DIAGRAM_VIRTUALLY_FRAME" val="{&quot;height&quot;:264,&quot;left&quot;:48,&quot;top&quot;:140.4,&quot;width&quot;:864}"/>
</p:tagLst>
</file>

<file path=ppt/tags/tag49.xml><?xml version="1.0" encoding="utf-8"?>
<p:tagLst xmlns:p="http://schemas.openxmlformats.org/presentationml/2006/main">
  <p:tag name="KSO_WM_DIAGRAM_VIRTUALLY_FRAME" val="{&quot;height&quot;:264,&quot;left&quot;:48,&quot;top&quot;:140.4,&quot;width&quot;:86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3905</Words>
  <Application>WPS 演示</Application>
  <PresentationFormat>On-screen Show (16:9)</PresentationFormat>
  <Paragraphs>744</Paragraphs>
  <Slides>22</Slides>
  <Notes>22</Notes>
  <HiddenSlides>0</HiddenSlides>
  <MMClips>0</MMClips>
  <ScaleCrop>false</ScaleCrop>
  <HeadingPairs>
    <vt:vector size="8" baseType="variant">
      <vt:variant>
        <vt:lpstr>已用的字体</vt:lpstr>
      </vt:variant>
      <vt:variant>
        <vt:i4>21</vt:i4>
      </vt:variant>
      <vt:variant>
        <vt:lpstr>主题</vt:lpstr>
      </vt:variant>
      <vt:variant>
        <vt:i4>1</vt:i4>
      </vt:variant>
      <vt:variant>
        <vt:lpstr>嵌入 OLE 服务器</vt:lpstr>
      </vt:variant>
      <vt:variant>
        <vt:i4>4</vt:i4>
      </vt:variant>
      <vt:variant>
        <vt:lpstr>幻灯片标题</vt:lpstr>
      </vt:variant>
      <vt:variant>
        <vt:i4>22</vt:i4>
      </vt:variant>
    </vt:vector>
  </HeadingPairs>
  <TitlesOfParts>
    <vt:vector size="48" baseType="lpstr">
      <vt:lpstr>Arial</vt:lpstr>
      <vt:lpstr>宋体</vt:lpstr>
      <vt:lpstr>Wingdings</vt:lpstr>
      <vt:lpstr>思源黑体 CN</vt:lpstr>
      <vt:lpstr>黑体</vt:lpstr>
      <vt:lpstr>思源黑体 CN</vt:lpstr>
      <vt:lpstr>思源黑体 CN</vt:lpstr>
      <vt:lpstr>思源黑体 CN Bold</vt:lpstr>
      <vt:lpstr>思源黑体 CN Bold</vt:lpstr>
      <vt:lpstr>思源黑体 CN Bold</vt:lpstr>
      <vt:lpstr>思源黑体 CN Regular</vt:lpstr>
      <vt:lpstr>思源黑体 CN Regular</vt:lpstr>
      <vt:lpstr>思源黑体 CN Regular</vt:lpstr>
      <vt:lpstr>Calibri</vt:lpstr>
      <vt:lpstr>微软雅黑</vt:lpstr>
      <vt:lpstr>Arial Unicode MS</vt:lpstr>
      <vt:lpstr>等线</vt:lpstr>
      <vt:lpstr>KSOFD723FC5D</vt:lpstr>
      <vt:lpstr>FFont-Family</vt:lpstr>
      <vt:lpstr>KSOF28C8607A</vt:lpstr>
      <vt:lpstr>KSOFD72470BC</vt:lpstr>
      <vt:lpstr>Office Theme</vt:lpstr>
      <vt:lpstr>Word.Document.12</vt:lpstr>
      <vt:lpstr>Word.Document.12</vt:lpstr>
      <vt:lpstr>Word.Document.12</vt:lpstr>
      <vt:lpstr>Word.Document.12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杨传筠</cp:lastModifiedBy>
  <cp:revision>4</cp:revision>
  <dcterms:created xsi:type="dcterms:W3CDTF">2026-08-30T09:08:00Z</dcterms:created>
  <dcterms:modified xsi:type="dcterms:W3CDTF">2026-09-05T09:05:46Z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CAF4CC83FA1B46D2AA8B0493542EB310_12</vt:lpwstr>
  </property>
</Properties>
</file>