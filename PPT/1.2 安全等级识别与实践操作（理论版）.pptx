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8.svg" ContentType="image/svg+xml"/>
  <Override PartName="/ppt/media/image12.svg" ContentType="image/svg+xml"/>
  <Override PartName="/ppt/media/image120.svg" ContentType="image/svg+xml"/>
  <Override PartName="/ppt/media/image131.svg" ContentType="image/svg+xml"/>
  <Override PartName="/ppt/media/image133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5.svg" ContentType="image/svg+xml"/>
  <Override PartName="/ppt/media/image47.svg" ContentType="image/svg+xml"/>
  <Override PartName="/ppt/media/image50.svg" ContentType="image/svg+xml"/>
  <Override PartName="/ppt/media/image54.svg" ContentType="image/svg+xml"/>
  <Override PartName="/ppt/media/image56.svg" ContentType="image/svg+xml"/>
  <Override PartName="/ppt/media/image60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73" r:id="rId6"/>
    <p:sldId id="259" r:id="rId7"/>
    <p:sldId id="260" r:id="rId8"/>
    <p:sldId id="261" r:id="rId9"/>
    <p:sldId id="268" r:id="rId18"/>
    <p:sldId id="269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首先，我们来快速复习一下。请大家回忆一下等保2.0的核心标准是什么？没错，是GB/T 22239-2019。其中最关键的概念之一就是安全等级的划分，从第一级到第五级，分别对应不同的安全保护要求。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 defTabSz="914400">
              <a:lnSpc>
                <a:spcPct val="100000"/>
              </a:lnSpc>
            </a:p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下来，我们来看一个问题导入。这里有两个系统：一个是“某乡镇政府网站”，另一个是“某省级政务服务平台”。大家思考一下，根据我们学过的定级原则，这两个系统应该分别被定为哪个安全等级？理由是什么？这个问题没有标准答案，我希望听到大家的思考过程。同时，我们来看一个真实的案例：2023年，一个县级政务系统因为定级不准确，没有按照三级要求进行防护，最终导致了严重的数据泄露事件。这正是我们今天要讨论的定级工作的重要性所在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所有等保定级工作，均需遵循国家统一标准，核心依据为 </a:t>
            </a:r>
            <a:r>
              <a:rPr lang="en-US" altLang="zh-CN" dirty="0"/>
              <a:t>GB/T 22240《</a:t>
            </a:r>
            <a:r>
              <a:rPr lang="zh-CN" altLang="en-US" dirty="0"/>
              <a:t>信息安全技术 信息系统安全等级保护定级指南》，这保证了全国定级结果的规范性与统一性。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定级工作拆解为两个核心维度，分别是业务信息安全等级 </a:t>
            </a:r>
            <a:r>
              <a:rPr lang="en-US" altLang="zh-CN" dirty="0"/>
              <a:t>S，</a:t>
            </a:r>
            <a:r>
              <a:rPr lang="zh-CN" altLang="en-US" dirty="0"/>
              <a:t>与系统服务安全等级 </a:t>
            </a:r>
            <a:r>
              <a:rPr lang="en-US" altLang="zh-CN" dirty="0"/>
              <a:t>A。</a:t>
            </a:r>
            <a:r>
              <a:rPr lang="zh-CN" altLang="en-US" dirty="0"/>
              <a:t>前者衡量信息被破坏后的危害程度，后者衡量服务中断后的影响范围，二者共同构成定级的核心判断依据。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完整定级遵循标准化流程，先明确需要定级的对象，（具有独立业务功能、有明确责任主体的那套信息系统，如某某政务信息服务系统）再评估得出初步保护等级，经由专家评审、主管部门审批，最终到公安机关完成备案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最终等级取值遵循清晰规则，分别给出 </a:t>
            </a:r>
            <a:r>
              <a:rPr lang="en-US" altLang="zh-CN" dirty="0"/>
              <a:t>S </a:t>
            </a:r>
            <a:r>
              <a:rPr lang="zh-CN" altLang="en-US" dirty="0"/>
              <a:t>与 </a:t>
            </a:r>
            <a:r>
              <a:rPr lang="en-US" altLang="zh-CN" dirty="0"/>
              <a:t>A </a:t>
            </a:r>
            <a:r>
              <a:rPr lang="zh-CN" altLang="en-US" dirty="0"/>
              <a:t>的分级后，直接取两者较高值作为最终等级，便于快速得出结论，可以记忆口诀 "先定对象，再评 </a:t>
            </a:r>
            <a:r>
              <a:rPr lang="en-US" altLang="zh-CN" dirty="0"/>
              <a:t>S/A，</a:t>
            </a:r>
            <a:r>
              <a:rPr lang="zh-CN" altLang="en-US" dirty="0"/>
              <a:t>取高者，专家审，报备案" 梳理逻辑。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**ERP（</a:t>
            </a:r>
            <a:r>
              <a:rPr lang="zh-CN" altLang="en-US" dirty="0"/>
              <a:t>企业资源计划）系统**，是把企业的**财务、采购、库存、生产、销售、人力资源、供应链**等核心业务整合到一个平台上统一管理的软件系统。企业日常经营高度依赖它，属于典型的 "业务管理系统"。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《网络安全法》将 "可能严重危害国家安全、国计民生、公共利益的重要网络设施和信息系统" 列为关键信息基础设施，大型国企（尤其是央企）的核心业务系统通常按三级及以上要求保护。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svg"/><Relationship Id="rId3" Type="http://schemas.openxmlformats.org/officeDocument/2006/relationships/image" Target="../media/image13.png"/><Relationship Id="rId4" Type="http://schemas.openxmlformats.org/officeDocument/2006/relationships/image" Target="../media/image14.svg"/><Relationship Id="rId5" Type="http://schemas.openxmlformats.org/officeDocument/2006/relationships/image" Target="../media/image15.png"/><Relationship Id="rId6" Type="http://schemas.openxmlformats.org/officeDocument/2006/relationships/image" Target="../media/image16.svg"/><Relationship Id="rId7" Type="http://schemas.openxmlformats.org/officeDocument/2006/relationships/image" Target="../media/image17.png"/><Relationship Id="rId8" Type="http://schemas.openxmlformats.org/officeDocument/2006/relationships/image" Target="../media/image18.svg"/><Relationship Id="rId9" Type="http://schemas.openxmlformats.org/officeDocument/2006/relationships/image" Target="../media/image19.png"/><Relationship Id="rId10" Type="http://schemas.openxmlformats.org/officeDocument/2006/relationships/image" Target="../media/image2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svg"/><Relationship Id="rId8" Type="http://schemas.openxmlformats.org/officeDocument/2006/relationships/image" Target="../media/image27.png"/><Relationship Id="rId9" Type="http://schemas.openxmlformats.org/officeDocument/2006/relationships/image" Target="../media/image28.svg"/><Relationship Id="rId10" Type="http://schemas.openxmlformats.org/officeDocument/2006/relationships/image" Target="../media/image29.png"/><Relationship Id="rId11" Type="http://schemas.openxmlformats.org/officeDocument/2006/relationships/image" Target="../media/image30.svg"/><Relationship Id="rId12" Type="http://schemas.openxmlformats.org/officeDocument/2006/relationships/image" Target="../media/image31.png"/><Relationship Id="rId13" Type="http://schemas.openxmlformats.org/officeDocument/2006/relationships/image" Target="../media/image32.svg"/><Relationship Id="rId14" Type="http://schemas.openxmlformats.org/officeDocument/2006/relationships/image" Target="../media/image33.png"/><Relationship Id="rId15" Type="http://schemas.openxmlformats.org/officeDocument/2006/relationships/image" Target="../media/image34.svg"/><Relationship Id="rId16" Type="http://schemas.openxmlformats.org/officeDocument/2006/relationships/image" Target="../media/image35.png"/><Relationship Id="rId17" Type="http://schemas.openxmlformats.org/officeDocument/2006/relationships/image" Target="../media/image36.sv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37.png"/><Relationship Id="rId5" Type="http://schemas.openxmlformats.org/officeDocument/2006/relationships/image" Target="../media/image38.sv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image" Target="../media/image42.png"/><Relationship Id="rId10" Type="http://schemas.openxmlformats.org/officeDocument/2006/relationships/image" Target="../media/image43.png"/><Relationship Id="rId11" Type="http://schemas.openxmlformats.org/officeDocument/2006/relationships/image" Target="../media/image44.png"/><Relationship Id="rId12" Type="http://schemas.openxmlformats.org/officeDocument/2006/relationships/image" Target="../media/image45.svg"/><Relationship Id="rId13" Type="http://schemas.openxmlformats.org/officeDocument/2006/relationships/image" Target="../media/image46.png"/><Relationship Id="rId14" Type="http://schemas.openxmlformats.org/officeDocument/2006/relationships/image" Target="../media/image47.svg"/><Relationship Id="rId15" Type="http://schemas.openxmlformats.org/officeDocument/2006/relationships/image" Target="../media/image48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49.png"/><Relationship Id="rId5" Type="http://schemas.openxmlformats.org/officeDocument/2006/relationships/image" Target="../media/image50.sv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svg"/><Relationship Id="rId10" Type="http://schemas.openxmlformats.org/officeDocument/2006/relationships/image" Target="../media/image55.png"/><Relationship Id="rId11" Type="http://schemas.openxmlformats.org/officeDocument/2006/relationships/image" Target="../media/image56.svg"/><Relationship Id="rId12" Type="http://schemas.openxmlformats.org/officeDocument/2006/relationships/image" Target="../media/image57.png"/><Relationship Id="rId13" Type="http://schemas.openxmlformats.org/officeDocument/2006/relationships/image" Target="../media/image58.png"/><Relationship Id="rId14" Type="http://schemas.openxmlformats.org/officeDocument/2006/relationships/image" Target="../media/image59.png"/><Relationship Id="rId15" Type="http://schemas.openxmlformats.org/officeDocument/2006/relationships/image" Target="../media/image60.sv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16.png"/><Relationship Id="rId5" Type="http://schemas.openxmlformats.org/officeDocument/2006/relationships/image" Target="../media/image117.png"/><Relationship Id="rId6" Type="http://schemas.openxmlformats.org/officeDocument/2006/relationships/image" Target="../media/image118.svg"/><Relationship Id="rId7" Type="http://schemas.openxmlformats.org/officeDocument/2006/relationships/image" Target="../media/image119.png"/><Relationship Id="rId8" Type="http://schemas.openxmlformats.org/officeDocument/2006/relationships/image" Target="../media/image120.svg"/><Relationship Id="rId9" Type="http://schemas.openxmlformats.org/officeDocument/2006/relationships/image" Target="../media/image121.png"/><Relationship Id="rId10" Type="http://schemas.openxmlformats.org/officeDocument/2006/relationships/image" Target="../media/image122.png"/><Relationship Id="rId11" Type="http://schemas.openxmlformats.org/officeDocument/2006/relationships/image" Target="../media/image123.png"/><Relationship Id="rId12" Type="http://schemas.openxmlformats.org/officeDocument/2006/relationships/image" Target="../media/image124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25.png"/><Relationship Id="rId5" Type="http://schemas.openxmlformats.org/officeDocument/2006/relationships/image" Target="../media/image126.png"/><Relationship Id="rId6" Type="http://schemas.openxmlformats.org/officeDocument/2006/relationships/image" Target="../media/image127.png"/><Relationship Id="rId7" Type="http://schemas.openxmlformats.org/officeDocument/2006/relationships/image" Target="../media/image128.png"/><Relationship Id="rId8" Type="http://schemas.openxmlformats.org/officeDocument/2006/relationships/image" Target="../media/image129.png"/><Relationship Id="rId9" Type="http://schemas.openxmlformats.org/officeDocument/2006/relationships/image" Target="../media/image130.png"/><Relationship Id="rId10" Type="http://schemas.openxmlformats.org/officeDocument/2006/relationships/image" Target="../media/image131.svg"/><Relationship Id="rId11" Type="http://schemas.openxmlformats.org/officeDocument/2006/relationships/image" Target="../media/image132.png"/><Relationship Id="rId12" Type="http://schemas.openxmlformats.org/officeDocument/2006/relationships/image" Target="../media/image133.svg"/><Relationship Id="rId13" Type="http://schemas.openxmlformats.org/officeDocument/2006/relationships/image" Target="../media/image134.png"/><Relationship Id="rId14" Type="http://schemas.openxmlformats.org/officeDocument/2006/relationships/image" Target="../media/image135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E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test.web.static.jianzeppt.com/ppt-temp-img3/53c8b2a610a31b616cbf03a52510cc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596" y="-13894"/>
            <a:ext cx="8051010" cy="6858000"/>
          </a:xfrm>
          <a:prstGeom prst="rect">
            <a:avLst/>
          </a:prstGeom>
        </p:spPr>
      </p:pic>
      <p:pic>
        <p:nvPicPr>
          <p:cNvPr id="4" name="Image 2" descr="https://test.web.static.jianzeppt.com/ppt-temp-img3/eaa44f0a61b44187c8898f2fb3b10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"/>
            <a:ext cx="1799718" cy="1829017"/>
          </a:xfrm>
          <a:prstGeom prst="rect">
            <a:avLst/>
          </a:prstGeom>
        </p:spPr>
      </p:pic>
      <p:pic>
        <p:nvPicPr>
          <p:cNvPr id="5" name="Image 3" descr="https://test.web.static.jianzeppt.com/ppt-temp-img3/d51ae2a74993343c0d3360504948edf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08901"/>
            <a:ext cx="961132" cy="1724746"/>
          </a:xfrm>
          <a:prstGeom prst="rect">
            <a:avLst/>
          </a:prstGeom>
        </p:spPr>
      </p:pic>
      <p:pic>
        <p:nvPicPr>
          <p:cNvPr id="6" name="Image 4" descr="https://test.web.static.jianzeppt.com/ppt-temp-img3/b3f94c3112269735e7d84215f42c973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069" y="4530971"/>
            <a:ext cx="3482974" cy="637829"/>
          </a:xfrm>
          <a:prstGeom prst="rect">
            <a:avLst/>
          </a:prstGeom>
        </p:spPr>
      </p:pic>
      <p:pic>
        <p:nvPicPr>
          <p:cNvPr id="7" name="Image 5" descr="https://test.web.static.jianzeppt.com/ppt-temp-img3/c7fcd71bde55d7089a0a7c912de83d8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1383" y="2273111"/>
            <a:ext cx="2105868" cy="4595809"/>
          </a:xfrm>
          <a:prstGeom prst="rect">
            <a:avLst/>
          </a:prstGeom>
        </p:spPr>
      </p:pic>
      <p:pic>
        <p:nvPicPr>
          <p:cNvPr id="8" name="Image 6" descr="https://test.web.static.jianzeppt.com/ppt-temp-img3/785b4c7764742237954fb25c8a197f9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2024" y="3802120"/>
            <a:ext cx="2104426" cy="3069770"/>
          </a:xfrm>
          <a:prstGeom prst="rect">
            <a:avLst/>
          </a:prstGeom>
        </p:spPr>
      </p:pic>
      <p:pic>
        <p:nvPicPr>
          <p:cNvPr id="9" name="Image 7" descr="https://test.web.static.jianzeppt.com/ppt-temp-img3/d6b73fd749a971aade8e0c5073b6680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13224" y="2284033"/>
            <a:ext cx="2578776" cy="4584889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577080" y="4577763"/>
            <a:ext cx="3321262" cy="5442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40" dirty="0">
                <a:solidFill>
                  <a:srgbClr val="000000"/>
                </a:solidFill>
              </a:rPr>
              <a:t>授课教师：</a:t>
            </a:r>
            <a:r>
              <a:rPr lang="zh-CN" altLang="en-US" sz="2040" dirty="0">
                <a:solidFill>
                  <a:srgbClr val="000000"/>
                </a:solidFill>
              </a:rPr>
              <a:t>张玉</a:t>
            </a:r>
            <a:endParaRPr lang="zh-CN" altLang="en-US" sz="2040" dirty="0">
              <a:solidFill>
                <a:srgbClr val="000000"/>
              </a:solidFill>
            </a:endParaRPr>
          </a:p>
        </p:txBody>
      </p:sp>
      <p:sp>
        <p:nvSpPr>
          <p:cNvPr id="11" name="Text 1"/>
          <p:cNvSpPr/>
          <p:nvPr/>
        </p:nvSpPr>
        <p:spPr>
          <a:xfrm>
            <a:off x="691515" y="3429000"/>
            <a:ext cx="3705860" cy="4394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安全等级识别与实践操作</a:t>
            </a:r>
            <a:endParaRPr lang="en-US" sz="2400" b="1" dirty="0">
              <a:solidFill>
                <a:srgbClr val="FFFFFF"/>
              </a:solidFill>
            </a:endParaRPr>
          </a:p>
        </p:txBody>
      </p:sp>
      <p:sp>
        <p:nvSpPr>
          <p:cNvPr id="12" name="Text 2"/>
          <p:cNvSpPr/>
          <p:nvPr/>
        </p:nvSpPr>
        <p:spPr>
          <a:xfrm>
            <a:off x="577215" y="808990"/>
            <a:ext cx="5352415" cy="22593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120" dirty="0">
                <a:solidFill>
                  <a:srgbClr val="FFFFFF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信息安全测评与风险评估</a:t>
            </a:r>
            <a:endParaRPr lang="en-US" sz="6120" dirty="0">
              <a:solidFill>
                <a:srgbClr val="FFFFFF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3d7a216c70ecba8f9c09a39add3fad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45" y="245378"/>
            <a:ext cx="11803310" cy="63672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69119" y="1653024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01</a:t>
            </a:r>
            <a:endParaRPr lang="en-US" sz="3360" dirty="0"/>
          </a:p>
        </p:txBody>
      </p:sp>
      <p:sp>
        <p:nvSpPr>
          <p:cNvPr id="5" name="Text 1"/>
          <p:cNvSpPr/>
          <p:nvPr/>
        </p:nvSpPr>
        <p:spPr>
          <a:xfrm>
            <a:off x="5769119" y="2669616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02</a:t>
            </a:r>
            <a:endParaRPr lang="en-US" sz="3360" dirty="0"/>
          </a:p>
        </p:txBody>
      </p:sp>
      <p:sp>
        <p:nvSpPr>
          <p:cNvPr id="6" name="Text 2"/>
          <p:cNvSpPr/>
          <p:nvPr/>
        </p:nvSpPr>
        <p:spPr>
          <a:xfrm>
            <a:off x="5769119" y="3686208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03</a:t>
            </a:r>
            <a:endParaRPr lang="en-US" sz="3360" dirty="0"/>
          </a:p>
        </p:txBody>
      </p:sp>
      <p:sp>
        <p:nvSpPr>
          <p:cNvPr id="7" name="Text 3"/>
          <p:cNvSpPr/>
          <p:nvPr/>
        </p:nvSpPr>
        <p:spPr>
          <a:xfrm>
            <a:off x="5769119" y="4702801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04</a:t>
            </a:r>
            <a:endParaRPr lang="en-US" sz="3360" dirty="0"/>
          </a:p>
        </p:txBody>
      </p:sp>
      <p:sp>
        <p:nvSpPr>
          <p:cNvPr id="8" name="Text 4"/>
          <p:cNvSpPr/>
          <p:nvPr/>
        </p:nvSpPr>
        <p:spPr>
          <a:xfrm>
            <a:off x="965498" y="2799393"/>
            <a:ext cx="1769654" cy="73152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800" dirty="0">
                <a:solidFill>
                  <a:srgbClr val="000000"/>
                </a:solidFill>
              </a:rPr>
              <a:t>目录</a:t>
            </a:r>
            <a:endParaRPr lang="en-US" sz="4800" dirty="0"/>
          </a:p>
        </p:txBody>
      </p:sp>
      <p:sp>
        <p:nvSpPr>
          <p:cNvPr id="9" name="Text 5"/>
          <p:cNvSpPr/>
          <p:nvPr/>
        </p:nvSpPr>
        <p:spPr>
          <a:xfrm>
            <a:off x="953110" y="3733353"/>
            <a:ext cx="315010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40" dirty="0">
                <a:solidFill>
                  <a:srgbClr val="000000"/>
                </a:solidFill>
              </a:rPr>
              <a:t>CONTENTS</a:t>
            </a:r>
            <a:endParaRPr lang="en-US" sz="2040" dirty="0"/>
          </a:p>
        </p:txBody>
      </p:sp>
      <p:sp>
        <p:nvSpPr>
          <p:cNvPr id="10" name="Text 6"/>
          <p:cNvSpPr/>
          <p:nvPr/>
        </p:nvSpPr>
        <p:spPr>
          <a:xfrm>
            <a:off x="7064048" y="4727345"/>
            <a:ext cx="4878288" cy="4572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dirty="0">
                <a:solidFill>
                  <a:srgbClr val="000000"/>
                </a:solidFill>
              </a:rPr>
              <a:t>等级对应的测评指标差异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7064048" y="1677568"/>
            <a:ext cx="4878288" cy="4572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dirty="0">
                <a:solidFill>
                  <a:srgbClr val="000000"/>
                </a:solidFill>
              </a:rPr>
              <a:t>复习与导入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7064048" y="3710752"/>
            <a:ext cx="4878288" cy="4572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dirty="0">
                <a:solidFill>
                  <a:srgbClr val="000000"/>
                </a:solidFill>
              </a:rPr>
              <a:t>等级判定标准对比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7064048" y="2694160"/>
            <a:ext cx="4878288" cy="4572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dirty="0">
                <a:solidFill>
                  <a:srgbClr val="000000"/>
                </a:solidFill>
              </a:rPr>
              <a:t>知识讲解：等级识别方法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3200" y="215900"/>
            <a:ext cx="11772900" cy="62865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914400" y="858520"/>
            <a:ext cx="4826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 defTabSz="914400">
              <a:lnSpc>
                <a:spcPct val="83000"/>
              </a:lnSpc>
              <a:defRPr/>
            </a:pPr>
            <a:r>
              <a:rPr lang="en-US" sz="2000" b="1" i="0" u="none" strike="noStrike">
                <a:solidFill>
                  <a:srgbClr val="1437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📖 知识回顾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78510" y="1404620"/>
            <a:ext cx="4826000" cy="304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101600" rIns="101600" bIns="101600" rtlCol="0" anchor="t" anchorCtr="0"/>
          <a:lstStyle/>
          <a:p>
            <a:pPr indent="0" algn="l" defTabSz="914400" fontAlgn="auto">
              <a:lnSpc>
                <a:spcPct val="150000"/>
              </a:lnSpc>
              <a:defRPr/>
            </a:pPr>
            <a:r>
              <a:rPr lang="en-US" sz="1600" b="1" i="0" kern="1500">
                <a:solidFill>
                  <a:srgbClr val="1437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📌 标准体系：</a:t>
            </a:r>
            <a:r>
              <a:rPr lang="en-US" sz="1400" b="0" i="0" kern="15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1+N标准体系，核心为GB/T 22239-2019。</a:t>
            </a:r>
            <a:endParaRPr lang="en-US" sz="1200" kern="1500"/>
          </a:p>
          <a:p>
            <a:pPr indent="0" algn="l" defTabSz="914400" fontAlgn="auto">
              <a:lnSpc>
                <a:spcPct val="150000"/>
              </a:lnSpc>
            </a:pPr>
            <a:r>
              <a:rPr lang="en-US" sz="1600" b="1" i="0" kern="1500">
                <a:solidFill>
                  <a:srgbClr val="1437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🛡️ 安全理念：</a:t>
            </a:r>
            <a:r>
              <a:rPr lang="en-US" sz="1400" b="0" i="0" kern="15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从被动防御转向主动防御、动态防御。</a:t>
            </a:r>
            <a:endParaRPr lang="en-US" sz="1400" b="0" i="0" kern="1500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 defTabSz="914400" fontAlgn="auto">
              <a:lnSpc>
                <a:spcPct val="150000"/>
              </a:lnSpc>
            </a:pPr>
            <a:r>
              <a:rPr lang="en-US" sz="1600" b="1" i="0" kern="1500">
                <a:solidFill>
                  <a:srgbClr val="1437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🏛️ 安全等级：</a:t>
            </a:r>
            <a:r>
              <a:rPr lang="en-US" sz="1400" b="0" i="0" kern="15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共分五级，第三级（安全标记保护级）和第二级（系统审计保护级）最常见。</a:t>
            </a:r>
            <a:endParaRPr lang="en-US" sz="1400" b="0" i="0" kern="1500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78600" y="858520"/>
            <a:ext cx="635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6769100" y="807720"/>
            <a:ext cx="2286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 defTabSz="914400">
              <a:lnSpc>
                <a:spcPct val="83000"/>
              </a:lnSpc>
              <a:defRPr/>
            </a:pPr>
            <a:r>
              <a:rPr lang="en-US" sz="2000" b="1" i="0" u="none" strike="noStrike">
                <a:solidFill>
                  <a:srgbClr val="1437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思考与警示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578600" y="1493520"/>
            <a:ext cx="1524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rgbClr val="1437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endParaRPr lang="en-US" b="1" i="0" u="none" strike="noStrike">
              <a:solidFill>
                <a:srgbClr val="1437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858000" y="1468120"/>
            <a:ext cx="4445000" cy="165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437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场景对比：</a:t>
            </a:r>
            <a:endParaRPr lang="en-US" sz="1200"/>
          </a:p>
          <a:p>
            <a:pPr marL="127000" indent="0" algn="l" defTabSz="914400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乡镇政府网站：服务乡镇居民，以公开信息为主，影响范围有限。</a:t>
            </a:r>
            <a:endParaRPr lang="en-US" sz="14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27000" indent="0" algn="l" defTabSz="914400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省级政务平台：服务全省，涉大量敏感数据，影响范围广、损失大。</a:t>
            </a:r>
            <a:endParaRPr lang="en-US" sz="14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578600" y="3208020"/>
            <a:ext cx="1524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rgbClr val="1437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endParaRPr lang="en-US" b="1" i="0" u="none" strike="noStrike">
              <a:solidFill>
                <a:srgbClr val="1437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858000" y="3182620"/>
            <a:ext cx="4445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437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核心思考：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它们应该分别定几级？为什么？</a:t>
            </a:r>
            <a:endParaRPr lang="en-US" sz="14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578600" y="3779520"/>
            <a:ext cx="1524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rgbClr val="1437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endParaRPr lang="en-US" b="1" i="0" u="none" strike="noStrike">
              <a:solidFill>
                <a:srgbClr val="1437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858000" y="3754120"/>
            <a:ext cx="4445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437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真实警示：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2023年某县级政务系统因定级不准，未按三级要求防护致数据泄露。</a:t>
            </a:r>
            <a:endParaRPr lang="en-US" sz="14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" y="5003800"/>
            <a:ext cx="10972800" cy="1270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0900" y="5321300"/>
            <a:ext cx="609600" cy="6096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7900" y="5435600"/>
            <a:ext cx="368300" cy="3683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701800" y="4452620"/>
            <a:ext cx="1270000" cy="241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914400">
              <a:lnSpc>
                <a:spcPct val="83000"/>
              </a:lnSpc>
              <a:defRPr/>
            </a:pPr>
            <a:r>
              <a:rPr lang="en-US" sz="1900" b="0" i="0" u="none" strike="noStrike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课堂互动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701800" y="5664200"/>
            <a:ext cx="76200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914400">
              <a:lnSpc>
                <a:spcPct val="83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谈谈为什么说“定级是等保工作的第一步，也是最关键的一步”？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https://test.web.static.jianzeppt.com/ppt-temp-img3/cdff60ebb56c634376f0bfe5c51d6a0f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71600"/>
            <a:ext cx="10972800" cy="685800"/>
          </a:xfrm>
          <a:prstGeom prst="rect">
            <a:avLst/>
          </a:prstGeom>
        </p:spPr>
      </p:pic>
      <p:pic>
        <p:nvPicPr>
          <p:cNvPr id="6" name="Image 4" descr="https://test.web.static.jianzeppt.com/ppt-temp-img3/5cf6517a5026dead616971e8f05d974b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371600"/>
            <a:ext cx="853440" cy="685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3440" y="1524000"/>
            <a:ext cx="365760" cy="36576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1706880" y="1524000"/>
            <a:ext cx="15102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1. 定级依据：</a:t>
            </a:r>
            <a:endParaRPr lang="en-US" sz="1920" dirty="0"/>
          </a:p>
        </p:txBody>
      </p:sp>
      <p:sp>
        <p:nvSpPr>
          <p:cNvPr id="9" name="Text 1"/>
          <p:cNvSpPr/>
          <p:nvPr/>
        </p:nvSpPr>
        <p:spPr>
          <a:xfrm>
            <a:off x="3368040" y="1569720"/>
            <a:ext cx="589178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1F2937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GB/T 22240《信息安全技术 信息系统安全等级保护定级指南》</a:t>
            </a:r>
            <a:endParaRPr lang="en-US" sz="1680" dirty="0"/>
          </a:p>
        </p:txBody>
      </p:sp>
      <p:pic>
        <p:nvPicPr>
          <p:cNvPr id="10" name="Image 6" descr="https://test.web.static.jianzeppt.com/ppt-temp-img3/cdff60ebb56c634376f0bfe5c51d6a0f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270760"/>
            <a:ext cx="10972800" cy="685800"/>
          </a:xfrm>
          <a:prstGeom prst="rect">
            <a:avLst/>
          </a:prstGeom>
        </p:spPr>
      </p:pic>
      <p:pic>
        <p:nvPicPr>
          <p:cNvPr id="11" name="Image 7" descr="https://test.web.static.jianzeppt.com/ppt-temp-img3/808f1fe625458c39684c735a2a15ade5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270760"/>
            <a:ext cx="853440" cy="685800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3440" y="2423160"/>
            <a:ext cx="365760" cy="365760"/>
          </a:xfrm>
          <a:prstGeom prst="rect">
            <a:avLst/>
          </a:prstGeom>
        </p:spPr>
      </p:pic>
      <p:sp>
        <p:nvSpPr>
          <p:cNvPr id="13" name="Text 2"/>
          <p:cNvSpPr/>
          <p:nvPr/>
        </p:nvSpPr>
        <p:spPr>
          <a:xfrm>
            <a:off x="1706880" y="2423160"/>
            <a:ext cx="15102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2. 定级要素：</a:t>
            </a:r>
            <a:endParaRPr lang="en-US" sz="1920" dirty="0"/>
          </a:p>
        </p:txBody>
      </p:sp>
      <p:sp>
        <p:nvSpPr>
          <p:cNvPr id="14" name="Text 3"/>
          <p:cNvSpPr/>
          <p:nvPr/>
        </p:nvSpPr>
        <p:spPr>
          <a:xfrm>
            <a:off x="3368040" y="2468880"/>
            <a:ext cx="470306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1F2937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业务信息安全等级（S）+ 系统服务安全等级（A）</a:t>
            </a:r>
            <a:endParaRPr lang="en-US" sz="1680" dirty="0"/>
          </a:p>
        </p:txBody>
      </p:sp>
      <p:pic>
        <p:nvPicPr>
          <p:cNvPr id="15" name="Image 9" descr="https://test.web.static.jianzeppt.com/ppt-temp-img3/cdff60ebb56c634376f0bfe5c51d6a0f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169920"/>
            <a:ext cx="10972800" cy="685800"/>
          </a:xfrm>
          <a:prstGeom prst="rect">
            <a:avLst/>
          </a:prstGeom>
        </p:spPr>
      </p:pic>
      <p:pic>
        <p:nvPicPr>
          <p:cNvPr id="16" name="Image 10" descr="https://test.web.static.jianzeppt.com/ppt-temp-img3/d13c07092fea7e3f82726da0a4187ebd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169920"/>
            <a:ext cx="853440" cy="685800"/>
          </a:xfrm>
          <a:prstGeom prst="rect">
            <a:avLst/>
          </a:prstGeom>
        </p:spPr>
      </p:pic>
      <p:pic>
        <p:nvPicPr>
          <p:cNvPr id="17" name="Image 11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3440" y="3322320"/>
            <a:ext cx="365760" cy="365760"/>
          </a:xfrm>
          <a:prstGeom prst="rect">
            <a:avLst/>
          </a:prstGeom>
        </p:spPr>
      </p:pic>
      <p:sp>
        <p:nvSpPr>
          <p:cNvPr id="18" name="Text 4"/>
          <p:cNvSpPr/>
          <p:nvPr/>
        </p:nvSpPr>
        <p:spPr>
          <a:xfrm>
            <a:off x="1706880" y="3322320"/>
            <a:ext cx="15102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3. 定级流程：</a:t>
            </a:r>
            <a:endParaRPr lang="en-US" sz="1920" dirty="0"/>
          </a:p>
        </p:txBody>
      </p:sp>
      <p:sp>
        <p:nvSpPr>
          <p:cNvPr id="19" name="Text 5"/>
          <p:cNvSpPr/>
          <p:nvPr/>
        </p:nvSpPr>
        <p:spPr>
          <a:xfrm>
            <a:off x="3368040" y="3352800"/>
            <a:ext cx="765962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1F2937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确定定级对象 → 确定安全保护等级 → 专家评审 → 主管部门审批 → 公安机关备案</a:t>
            </a:r>
            <a:endParaRPr lang="en-US" sz="1680" dirty="0"/>
          </a:p>
        </p:txBody>
      </p:sp>
      <p:pic>
        <p:nvPicPr>
          <p:cNvPr id="20" name="Image 12" descr="https://test.web.static.jianzeppt.com/ppt-temp-img3/cdff60ebb56c634376f0bfe5c51d6a0f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053840"/>
            <a:ext cx="10972800" cy="685800"/>
          </a:xfrm>
          <a:prstGeom prst="rect">
            <a:avLst/>
          </a:prstGeom>
        </p:spPr>
      </p:pic>
      <p:pic>
        <p:nvPicPr>
          <p:cNvPr id="21" name="Image 13" descr="https://test.web.static.jianzeppt.com/ppt-temp-img3/f075aa7ab163171d6a7e5dd6d087bf73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053840"/>
            <a:ext cx="853440" cy="685800"/>
          </a:xfrm>
          <a:prstGeom prst="rect">
            <a:avLst/>
          </a:prstGeom>
        </p:spPr>
      </p:pic>
      <p:pic>
        <p:nvPicPr>
          <p:cNvPr id="22" name="Image 14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53440" y="4221480"/>
            <a:ext cx="365760" cy="365760"/>
          </a:xfrm>
          <a:prstGeom prst="rect">
            <a:avLst/>
          </a:prstGeom>
        </p:spPr>
      </p:pic>
      <p:sp>
        <p:nvSpPr>
          <p:cNvPr id="23" name="Text 6"/>
          <p:cNvSpPr/>
          <p:nvPr/>
        </p:nvSpPr>
        <p:spPr>
          <a:xfrm>
            <a:off x="1706880" y="4221480"/>
            <a:ext cx="15102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4. 等级取值：</a:t>
            </a:r>
            <a:endParaRPr lang="en-US" sz="1920" dirty="0"/>
          </a:p>
        </p:txBody>
      </p:sp>
      <p:sp>
        <p:nvSpPr>
          <p:cNvPr id="24" name="Text 7"/>
          <p:cNvSpPr/>
          <p:nvPr/>
        </p:nvSpPr>
        <p:spPr>
          <a:xfrm>
            <a:off x="3368040" y="4251960"/>
            <a:ext cx="363626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1F2937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S1A2、S2A2、S3A3……取两者较高者</a:t>
            </a:r>
            <a:endParaRPr lang="en-US" sz="1680" dirty="0"/>
          </a:p>
        </p:txBody>
      </p:sp>
      <p:pic>
        <p:nvPicPr>
          <p:cNvPr id="25" name="Image 15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103120" y="4953000"/>
            <a:ext cx="8001000" cy="685800"/>
          </a:xfrm>
          <a:prstGeom prst="rect">
            <a:avLst/>
          </a:prstGeom>
        </p:spPr>
      </p:pic>
      <p:pic>
        <p:nvPicPr>
          <p:cNvPr id="26" name="Image 16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468880" y="5151120"/>
            <a:ext cx="304800" cy="304800"/>
          </a:xfrm>
          <a:prstGeom prst="rect">
            <a:avLst/>
          </a:prstGeom>
        </p:spPr>
      </p:pic>
      <p:sp>
        <p:nvSpPr>
          <p:cNvPr id="27" name="Text 8"/>
          <p:cNvSpPr/>
          <p:nvPr/>
        </p:nvSpPr>
        <p:spPr>
          <a:xfrm>
            <a:off x="2956560" y="5120640"/>
            <a:ext cx="67985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kern="0" spc="64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关键口诀：“先定对象，再评S/A，取高者，专家审，报备案”</a:t>
            </a:r>
            <a:endParaRPr lang="en-US" sz="1920" dirty="0"/>
          </a:p>
        </p:txBody>
      </p:sp>
      <p:sp>
        <p:nvSpPr>
          <p:cNvPr id="28" name="Text 9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知识讲解：等级识别方法</a:t>
            </a:r>
            <a:endParaRPr lang="en-US" sz="27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371600"/>
            <a:ext cx="10972800" cy="36728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6" name="Image 4" descr="https://test.web.static.jianzeppt.com/ppt-temp-img3/2e9080dc8d24993adc48135db1a39176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" y="1386840"/>
            <a:ext cx="10942320" cy="73152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68680" y="1569720"/>
            <a:ext cx="8473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等级</a:t>
            </a:r>
            <a:endParaRPr lang="en-US" sz="1920" dirty="0"/>
          </a:p>
        </p:txBody>
      </p:sp>
      <p:sp>
        <p:nvSpPr>
          <p:cNvPr id="8" name="Text 1"/>
          <p:cNvSpPr/>
          <p:nvPr/>
        </p:nvSpPr>
        <p:spPr>
          <a:xfrm>
            <a:off x="2179320" y="1569720"/>
            <a:ext cx="281330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业务信息安全（S）</a:t>
            </a:r>
            <a:endParaRPr lang="en-US" sz="1920" dirty="0"/>
          </a:p>
        </p:txBody>
      </p:sp>
      <p:sp>
        <p:nvSpPr>
          <p:cNvPr id="9" name="Text 2"/>
          <p:cNvSpPr/>
          <p:nvPr/>
        </p:nvSpPr>
        <p:spPr>
          <a:xfrm>
            <a:off x="5471160" y="1569720"/>
            <a:ext cx="31333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系统服务安全（A）</a:t>
            </a:r>
            <a:endParaRPr lang="en-US" sz="1920" dirty="0"/>
          </a:p>
        </p:txBody>
      </p:sp>
      <p:sp>
        <p:nvSpPr>
          <p:cNvPr id="10" name="Text 3"/>
          <p:cNvSpPr/>
          <p:nvPr/>
        </p:nvSpPr>
        <p:spPr>
          <a:xfrm>
            <a:off x="9067800" y="1569720"/>
            <a:ext cx="22646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典型系统</a:t>
            </a:r>
            <a:endParaRPr lang="en-US" sz="1920" dirty="0"/>
          </a:p>
        </p:txBody>
      </p:sp>
      <p:pic>
        <p:nvPicPr>
          <p:cNvPr id="11" name="Image 5" descr="https://test.web.static.jianzeppt.com/ppt-temp-img3/4549788812c31312930eb4d4e386f1fb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" y="2118360"/>
            <a:ext cx="10942320" cy="3048000"/>
          </a:xfrm>
          <a:prstGeom prst="rect">
            <a:avLst/>
          </a:prstGeom>
        </p:spPr>
      </p:pic>
      <p:pic>
        <p:nvPicPr>
          <p:cNvPr id="12" name="Image 6" descr="https://test.web.static.jianzeppt.com/ppt-temp-img3/256799c0025f8869e04a44cdbc658a26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40" y="2118360"/>
            <a:ext cx="10942320" cy="1021080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868680" y="2301240"/>
            <a:ext cx="847344" cy="655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二级</a:t>
            </a:r>
            <a:endParaRPr lang="en-US" sz="1680" dirty="0"/>
          </a:p>
        </p:txBody>
      </p:sp>
      <p:sp>
        <p:nvSpPr>
          <p:cNvPr id="14" name="Text 5"/>
          <p:cNvSpPr/>
          <p:nvPr/>
        </p:nvSpPr>
        <p:spPr>
          <a:xfrm>
            <a:off x="2179320" y="2301240"/>
            <a:ext cx="2813304" cy="655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损害公民/法人权益</a:t>
            </a:r>
            <a:endParaRPr lang="en-US" sz="1680" dirty="0"/>
          </a:p>
        </p:txBody>
      </p:sp>
      <p:sp>
        <p:nvSpPr>
          <p:cNvPr id="15" name="Text 6"/>
          <p:cNvSpPr/>
          <p:nvPr/>
        </p:nvSpPr>
        <p:spPr>
          <a:xfrm>
            <a:off x="5471160" y="2301240"/>
            <a:ext cx="3133344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严重损害公民权益或损害社会秩序</a:t>
            </a:r>
            <a:endParaRPr lang="en-US" sz="1680" dirty="0"/>
          </a:p>
        </p:txBody>
      </p:sp>
      <p:sp>
        <p:nvSpPr>
          <p:cNvPr id="16" name="Text 7"/>
          <p:cNvSpPr/>
          <p:nvPr/>
        </p:nvSpPr>
        <p:spPr>
          <a:xfrm>
            <a:off x="9067800" y="2301240"/>
            <a:ext cx="2264664" cy="655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6B7280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县级政务、高校官网</a:t>
            </a:r>
            <a:endParaRPr lang="en-US" sz="1680" dirty="0"/>
          </a:p>
        </p:txBody>
      </p:sp>
      <p:pic>
        <p:nvPicPr>
          <p:cNvPr id="17" name="Image 7" descr="https://test.web.static.jianzeppt.com/ppt-temp-img3/6786d02dbbcc2702722d0674a7ade0bb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" y="3131820"/>
            <a:ext cx="10942320" cy="1524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868680" y="3322320"/>
            <a:ext cx="847344" cy="655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三级</a:t>
            </a:r>
            <a:endParaRPr lang="en-US" sz="1680" dirty="0"/>
          </a:p>
        </p:txBody>
      </p:sp>
      <p:sp>
        <p:nvSpPr>
          <p:cNvPr id="19" name="Text 9"/>
          <p:cNvSpPr/>
          <p:nvPr/>
        </p:nvSpPr>
        <p:spPr>
          <a:xfrm>
            <a:off x="2179320" y="3322320"/>
            <a:ext cx="2813304" cy="655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1F2937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严重损害社会秩序/公共利益</a:t>
            </a:r>
            <a:endParaRPr lang="en-US" sz="1680" dirty="0"/>
          </a:p>
        </p:txBody>
      </p:sp>
      <p:sp>
        <p:nvSpPr>
          <p:cNvPr id="20" name="Text 10"/>
          <p:cNvSpPr/>
          <p:nvPr/>
        </p:nvSpPr>
        <p:spPr>
          <a:xfrm>
            <a:off x="5471160" y="3322320"/>
            <a:ext cx="3133344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1F2937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严重损害社会秩序或损害国家安全</a:t>
            </a:r>
            <a:endParaRPr lang="en-US" sz="1680" dirty="0"/>
          </a:p>
        </p:txBody>
      </p:sp>
      <p:sp>
        <p:nvSpPr>
          <p:cNvPr id="21" name="Text 11"/>
          <p:cNvSpPr/>
          <p:nvPr/>
        </p:nvSpPr>
        <p:spPr>
          <a:xfrm>
            <a:off x="9067800" y="3322320"/>
            <a:ext cx="2264664" cy="655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6B7280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地市级政务、金融机构</a:t>
            </a:r>
            <a:endParaRPr lang="en-US" sz="1680" dirty="0"/>
          </a:p>
        </p:txBody>
      </p:sp>
      <p:pic>
        <p:nvPicPr>
          <p:cNvPr id="22" name="Image 8" descr="https://test.web.static.jianzeppt.com/ppt-temp-img3/6786d02dbbcc2702722d0674a7ade0bb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" y="4152900"/>
            <a:ext cx="10942320" cy="15240"/>
          </a:xfrm>
          <a:prstGeom prst="rect">
            <a:avLst/>
          </a:prstGeom>
        </p:spPr>
      </p:pic>
      <p:pic>
        <p:nvPicPr>
          <p:cNvPr id="23" name="Image 9" descr="https://test.web.static.jianzeppt.com/ppt-temp-img3/c5e12a956ef98f05a98588b6a49a36dc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" y="4160520"/>
            <a:ext cx="10942320" cy="1021080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868680" y="4343400"/>
            <a:ext cx="847344" cy="655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四级</a:t>
            </a:r>
            <a:endParaRPr lang="en-US" sz="1680" dirty="0"/>
          </a:p>
        </p:txBody>
      </p:sp>
      <p:sp>
        <p:nvSpPr>
          <p:cNvPr id="25" name="Text 13"/>
          <p:cNvSpPr/>
          <p:nvPr/>
        </p:nvSpPr>
        <p:spPr>
          <a:xfrm>
            <a:off x="2179320" y="4343400"/>
            <a:ext cx="2813304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B91C1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特别严重损害社会秩序/公共利益</a:t>
            </a:r>
            <a:endParaRPr lang="en-US" sz="1680" dirty="0"/>
          </a:p>
        </p:txBody>
      </p:sp>
      <p:sp>
        <p:nvSpPr>
          <p:cNvPr id="26" name="Text 14"/>
          <p:cNvSpPr/>
          <p:nvPr/>
        </p:nvSpPr>
        <p:spPr>
          <a:xfrm>
            <a:off x="5471160" y="4343400"/>
            <a:ext cx="3133344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B91C1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特别严重损害社会秩序或严重损害国家安全</a:t>
            </a:r>
            <a:endParaRPr lang="en-US" sz="1680" dirty="0"/>
          </a:p>
        </p:txBody>
      </p:sp>
      <p:sp>
        <p:nvSpPr>
          <p:cNvPr id="27" name="Text 15"/>
          <p:cNvSpPr/>
          <p:nvPr/>
        </p:nvSpPr>
        <p:spPr>
          <a:xfrm>
            <a:off x="9067800" y="4343400"/>
            <a:ext cx="2264664" cy="655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6B7280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国家重要领域核心系统</a:t>
            </a:r>
            <a:endParaRPr lang="en-US" sz="168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9600" y="5334000"/>
            <a:ext cx="10972800" cy="9144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75360" y="5577840"/>
            <a:ext cx="1584960" cy="441960"/>
          </a:xfrm>
          <a:prstGeom prst="rect">
            <a:avLst/>
          </a:prstGeom>
        </p:spPr>
      </p:pic>
      <p:pic>
        <p:nvPicPr>
          <p:cNvPr id="30" name="Image 12" descr="https://test.web.static.jianzeppt.com/ppt-temp-img3/6c9a400efee267a1c27f75b66cbe7e8a.png?x-oss-process=image/resize,w_1440,h_800,m_lfit/format,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58240" y="5669280"/>
            <a:ext cx="243840" cy="243840"/>
          </a:xfrm>
          <a:prstGeom prst="rect">
            <a:avLst/>
          </a:prstGeom>
        </p:spPr>
      </p:pic>
      <p:sp>
        <p:nvSpPr>
          <p:cNvPr id="31" name="Text 16"/>
          <p:cNvSpPr/>
          <p:nvPr/>
        </p:nvSpPr>
        <p:spPr>
          <a:xfrm>
            <a:off x="1493520" y="5638800"/>
            <a:ext cx="8930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kern="0" spc="56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互动提问</a:t>
            </a:r>
            <a:endParaRPr lang="en-US" sz="1680" dirty="0"/>
          </a:p>
        </p:txBody>
      </p:sp>
      <p:sp>
        <p:nvSpPr>
          <p:cNvPr id="32" name="Text 17"/>
          <p:cNvSpPr/>
          <p:nvPr/>
        </p:nvSpPr>
        <p:spPr>
          <a:xfrm>
            <a:off x="2788920" y="5608320"/>
            <a:ext cx="6783070" cy="2768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某大型国企ERP系统，存储全国客户数据，应定几级？</a:t>
            </a:r>
            <a:r>
              <a:rPr lang="zh-CN" altLang="en-US" sz="18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（小组讨论）</a:t>
            </a:r>
            <a:endParaRPr lang="en-US" altLang="zh-CN" sz="1800" b="1" dirty="0">
              <a:solidFill>
                <a:srgbClr val="00234E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33" name="Text 18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等级判定标准对比</a:t>
            </a:r>
            <a:endParaRPr lang="en-US" sz="276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1" grpId="1"/>
      <p:bldP spid="32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417320"/>
            <a:ext cx="91440" cy="27432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883920" y="1371600"/>
            <a:ext cx="563270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核心差异：等级越高，测评指标越多、要求越严格。</a:t>
            </a:r>
            <a:endParaRPr lang="en-US" sz="1920" dirty="0"/>
          </a:p>
        </p:txBody>
      </p:sp>
      <p:pic>
        <p:nvPicPr>
          <p:cNvPr id="7" name="Image 4" descr="https://test.web.static.jianzeppt.com/ppt-temp-img3/b92aa43d787beb0074d57e4007b5b4a1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042160"/>
            <a:ext cx="10972800" cy="960120"/>
          </a:xfrm>
          <a:prstGeom prst="rect">
            <a:avLst/>
          </a:prstGeom>
        </p:spPr>
      </p:pic>
      <p:pic>
        <p:nvPicPr>
          <p:cNvPr id="8" name="Image 5" descr="https://test.web.static.jianzeppt.com/ppt-temp-img3/a2bf21e1a456fe28f71b88730c87d305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2042160"/>
            <a:ext cx="1097280" cy="960120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4400" y="2270760"/>
            <a:ext cx="487680" cy="487680"/>
          </a:xfrm>
          <a:prstGeom prst="rect">
            <a:avLst/>
          </a:prstGeom>
        </p:spPr>
      </p:pic>
      <p:sp>
        <p:nvSpPr>
          <p:cNvPr id="10" name="Text 1"/>
          <p:cNvSpPr/>
          <p:nvPr/>
        </p:nvSpPr>
        <p:spPr>
          <a:xfrm>
            <a:off x="2011680" y="2225040"/>
            <a:ext cx="92750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对比示例（安全通信网络）</a:t>
            </a:r>
            <a:endParaRPr lang="en-US" sz="1680" dirty="0"/>
          </a:p>
        </p:txBody>
      </p:sp>
      <p:sp>
        <p:nvSpPr>
          <p:cNvPr id="11" name="Text 2"/>
          <p:cNvSpPr/>
          <p:nvPr/>
        </p:nvSpPr>
        <p:spPr>
          <a:xfrm>
            <a:off x="2011680" y="2590800"/>
            <a:ext cx="9275064" cy="2102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不同安全保护等级在“安全通信网络”控制点上的具体要求存在递进关系。</a:t>
            </a:r>
            <a:endParaRPr lang="en-US" sz="1200" dirty="0"/>
          </a:p>
        </p:txBody>
      </p:sp>
      <p:pic>
        <p:nvPicPr>
          <p:cNvPr id="12" name="Image 7" descr="https://test.web.static.jianzeppt.com/ppt-temp-img3/b92aa43d787beb0074d57e4007b5b4a1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3246120"/>
            <a:ext cx="10972800" cy="960120"/>
          </a:xfrm>
          <a:prstGeom prst="rect">
            <a:avLst/>
          </a:prstGeom>
        </p:spPr>
      </p:pic>
      <p:pic>
        <p:nvPicPr>
          <p:cNvPr id="13" name="Image 8" descr="https://test.web.static.jianzeppt.com/ppt-temp-img3/4f72135d96d31c9c3637337e06e62f12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3246120"/>
            <a:ext cx="1097280" cy="960120"/>
          </a:xfrm>
          <a:prstGeom prst="rect">
            <a:avLst/>
          </a:prstGeom>
        </p:spPr>
      </p:pic>
      <p:pic>
        <p:nvPicPr>
          <p:cNvPr id="14" name="Image 9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4400" y="3474720"/>
            <a:ext cx="487680" cy="487680"/>
          </a:xfrm>
          <a:prstGeom prst="rect">
            <a:avLst/>
          </a:prstGeom>
        </p:spPr>
      </p:pic>
      <p:sp>
        <p:nvSpPr>
          <p:cNvPr id="15" name="Text 3"/>
          <p:cNvSpPr/>
          <p:nvPr/>
        </p:nvSpPr>
        <p:spPr>
          <a:xfrm>
            <a:off x="2011680" y="3429000"/>
            <a:ext cx="92750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二级要求</a:t>
            </a:r>
            <a:endParaRPr lang="en-US" sz="1680" dirty="0"/>
          </a:p>
        </p:txBody>
      </p:sp>
      <p:sp>
        <p:nvSpPr>
          <p:cNvPr id="16" name="Text 4"/>
          <p:cNvSpPr/>
          <p:nvPr/>
        </p:nvSpPr>
        <p:spPr>
          <a:xfrm>
            <a:off x="2011680" y="3779520"/>
            <a:ext cx="9275064" cy="2102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网络架构需划分区域，采用</a:t>
            </a:r>
            <a:r>
              <a:rPr lang="en-US" sz="12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校验技术</a:t>
            </a:r>
            <a:r>
              <a:rPr lang="en-US" sz="120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保证数据完整性。</a:t>
            </a:r>
            <a:endParaRPr lang="en-US" sz="1200" dirty="0"/>
          </a:p>
        </p:txBody>
      </p:sp>
      <p:pic>
        <p:nvPicPr>
          <p:cNvPr id="17" name="Image 10" descr="https://test.web.static.jianzeppt.com/ppt-temp-img3/3be43f3b32c9344a5eff25e321b2c899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4450080"/>
            <a:ext cx="10972800" cy="1264920"/>
          </a:xfrm>
          <a:prstGeom prst="rect">
            <a:avLst/>
          </a:prstGeom>
        </p:spPr>
      </p:pic>
      <p:pic>
        <p:nvPicPr>
          <p:cNvPr id="18" name="Image 11" descr="https://test.web.static.jianzeppt.com/ppt-temp-img3/78e43f43e79a96df4a69b342b606a608.png?x-oss-process=image/resize,w_1440,h_800,m_lfit/format,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4450080"/>
            <a:ext cx="1097280" cy="1264920"/>
          </a:xfrm>
          <a:prstGeom prst="rect">
            <a:avLst/>
          </a:prstGeom>
        </p:spPr>
      </p:pic>
      <p:pic>
        <p:nvPicPr>
          <p:cNvPr id="19" name="Image 12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14400" y="4831080"/>
            <a:ext cx="487680" cy="487680"/>
          </a:xfrm>
          <a:prstGeom prst="rect">
            <a:avLst/>
          </a:prstGeom>
        </p:spPr>
      </p:pic>
      <p:sp>
        <p:nvSpPr>
          <p:cNvPr id="20" name="Text 5"/>
          <p:cNvSpPr/>
          <p:nvPr/>
        </p:nvSpPr>
        <p:spPr>
          <a:xfrm>
            <a:off x="2011680" y="4632960"/>
            <a:ext cx="92750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三级要求及关键对比</a:t>
            </a:r>
            <a:endParaRPr lang="en-US" sz="1680" dirty="0"/>
          </a:p>
        </p:txBody>
      </p:sp>
      <p:sp>
        <p:nvSpPr>
          <p:cNvPr id="21" name="Text 6"/>
          <p:cNvSpPr/>
          <p:nvPr/>
        </p:nvSpPr>
        <p:spPr>
          <a:xfrm>
            <a:off x="2011680" y="4983480"/>
            <a:ext cx="9275064" cy="2102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增加“通信线路、关键设备硬件冗余”“</a:t>
            </a:r>
            <a:r>
              <a:rPr lang="en-US" sz="12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密码技术</a:t>
            </a:r>
            <a:r>
              <a:rPr lang="en-US" sz="120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保证数据保密性”。</a:t>
            </a:r>
            <a:endParaRPr lang="en-US" sz="1200" dirty="0"/>
          </a:p>
        </p:txBody>
      </p:sp>
      <p:sp>
        <p:nvSpPr>
          <p:cNvPr id="22" name="Text 7"/>
          <p:cNvSpPr/>
          <p:nvPr/>
        </p:nvSpPr>
        <p:spPr>
          <a:xfrm>
            <a:off x="2011680" y="5288280"/>
            <a:ext cx="9275064" cy="2102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关键对比：三级要求“应采用密码技术保证通信过程中数据的保密性”，二级无此强制要求。</a:t>
            </a:r>
            <a:endParaRPr lang="en-US" sz="1200" dirty="0"/>
          </a:p>
        </p:txBody>
      </p:sp>
      <p:sp>
        <p:nvSpPr>
          <p:cNvPr id="23" name="Text 8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等级对应的测评指标差异</a:t>
            </a:r>
            <a:endParaRPr lang="en-US" sz="27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https://test.web.static.jianzeppt.com/ppt-temp-img3/b20bce7657f9c0e70dc3cc40a327d434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737360"/>
            <a:ext cx="3413760" cy="414528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929640" y="3328035"/>
            <a:ext cx="2782824" cy="139065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网络安全等级保护制度是《网络安全法》确立的基本制度，是维护国家网络空间主权和安全利益的重要保障。</a:t>
            </a:r>
            <a:endParaRPr lang="en-US" sz="168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9680" y="1432560"/>
            <a:ext cx="2133600" cy="65532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54480" y="1600200"/>
            <a:ext cx="304800" cy="304800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1981200" y="1554480"/>
            <a:ext cx="11064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核心观点</a:t>
            </a:r>
            <a:endParaRPr lang="en-US" sz="2160" dirty="0"/>
          </a:p>
        </p:txBody>
      </p:sp>
      <p:pic>
        <p:nvPicPr>
          <p:cNvPr id="10" name="Image 6" descr="https://test.web.static.jianzeppt.com/ppt-temp-img3/b20bce7657f9c0e70dc3cc40a327d434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737360"/>
            <a:ext cx="3413760" cy="4145280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4709160" y="3328035"/>
            <a:ext cx="2782824" cy="139065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某关键信息基础设施因未按规定定级、未落实三级防护要求，导致遭受境外APT攻击，造成重大损失。</a:t>
            </a:r>
            <a:endParaRPr lang="en-US" sz="1680" dirty="0"/>
          </a:p>
        </p:txBody>
      </p:sp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29200" y="1432560"/>
            <a:ext cx="2133600" cy="65532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77840" y="1600200"/>
            <a:ext cx="304800" cy="304800"/>
          </a:xfrm>
          <a:prstGeom prst="rect">
            <a:avLst/>
          </a:prstGeom>
        </p:spPr>
      </p:pic>
      <p:sp>
        <p:nvSpPr>
          <p:cNvPr id="14" name="Text 3"/>
          <p:cNvSpPr/>
          <p:nvPr/>
        </p:nvSpPr>
        <p:spPr>
          <a:xfrm>
            <a:off x="6004560" y="1554480"/>
            <a:ext cx="6339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案 例</a:t>
            </a:r>
            <a:endParaRPr lang="en-US" sz="2160" dirty="0"/>
          </a:p>
        </p:txBody>
      </p:sp>
      <p:pic>
        <p:nvPicPr>
          <p:cNvPr id="15" name="Image 9" descr="https://test.web.static.jianzeppt.com/ppt-temp-img3/b20bce7657f9c0e70dc3cc40a327d434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8640" y="1737360"/>
            <a:ext cx="3413760" cy="4145280"/>
          </a:xfrm>
          <a:prstGeom prst="rect">
            <a:avLst/>
          </a:prstGeom>
        </p:spPr>
      </p:pic>
      <p:sp>
        <p:nvSpPr>
          <p:cNvPr id="16" name="Text 4"/>
          <p:cNvSpPr/>
          <p:nvPr/>
        </p:nvSpPr>
        <p:spPr>
          <a:xfrm>
            <a:off x="8488680" y="3501866"/>
            <a:ext cx="2782824" cy="10429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准确识别安全等级是落实等级保护的第一步，是每个测评工程师的基本职责。</a:t>
            </a:r>
            <a:endParaRPr lang="en-US" sz="1680" dirty="0"/>
          </a:p>
        </p:txBody>
      </p:sp>
      <p:pic>
        <p:nvPicPr>
          <p:cNvPr id="17" name="Image 10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08720" y="1432560"/>
            <a:ext cx="2133600" cy="65532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18" name="Image 11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57360" y="1600200"/>
            <a:ext cx="304800" cy="304800"/>
          </a:xfrm>
          <a:prstGeom prst="rect">
            <a:avLst/>
          </a:prstGeom>
        </p:spPr>
      </p:pic>
      <p:sp>
        <p:nvSpPr>
          <p:cNvPr id="19" name="Text 5"/>
          <p:cNvSpPr/>
          <p:nvPr/>
        </p:nvSpPr>
        <p:spPr>
          <a:xfrm>
            <a:off x="9784080" y="1554480"/>
            <a:ext cx="6339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启 示</a:t>
            </a:r>
            <a:endParaRPr lang="en-US" sz="2160" dirty="0"/>
          </a:p>
        </p:txBody>
      </p:sp>
      <p:sp>
        <p:nvSpPr>
          <p:cNvPr id="20" name="Text 6"/>
          <p:cNvSpPr/>
          <p:nvPr/>
        </p:nvSpPr>
        <p:spPr>
          <a:xfrm>
            <a:off x="608965" y="532130"/>
            <a:ext cx="11131550" cy="42418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等级保护与国家安全</a:t>
            </a:r>
            <a:endParaRPr lang="en-US" sz="27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600" y="1371600"/>
            <a:ext cx="109819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知识回顾：</a:t>
            </a:r>
            <a:endParaRPr lang="en-US" sz="2160" dirty="0"/>
          </a:p>
        </p:txBody>
      </p:sp>
      <p:sp>
        <p:nvSpPr>
          <p:cNvPr id="6" name="Text 1"/>
          <p:cNvSpPr/>
          <p:nvPr/>
        </p:nvSpPr>
        <p:spPr>
          <a:xfrm>
            <a:off x="609600" y="5288280"/>
            <a:ext cx="862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关键词：</a:t>
            </a:r>
            <a:endParaRPr lang="en-US" sz="1680" dirty="0"/>
          </a:p>
        </p:txBody>
      </p:sp>
      <p:pic>
        <p:nvPicPr>
          <p:cNvPr id="7" name="Image 3" descr="https://test.web.static.jianzeppt.com/ppt-temp-img3/446a7bbf929cd7b6acf6d3811c99d90f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5242560"/>
            <a:ext cx="746760" cy="39624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828800" y="5303520"/>
            <a:ext cx="3901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dirty="0">
                <a:solidFill>
                  <a:srgbClr val="00234E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定级</a:t>
            </a:r>
            <a:endParaRPr lang="en-US" sz="1440" dirty="0"/>
          </a:p>
        </p:txBody>
      </p:sp>
      <p:pic>
        <p:nvPicPr>
          <p:cNvPr id="9" name="Image 4" descr="https://test.web.static.jianzeppt.com/ppt-temp-img3/7f86e72c0c45e166ed18e335a5dac57a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9360" y="5242560"/>
            <a:ext cx="655320" cy="39624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2682240" y="5303520"/>
            <a:ext cx="29870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dirty="0">
                <a:solidFill>
                  <a:srgbClr val="00234E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S/A</a:t>
            </a:r>
            <a:endParaRPr lang="en-US" sz="1440" dirty="0"/>
          </a:p>
        </p:txBody>
      </p:sp>
      <p:pic>
        <p:nvPicPr>
          <p:cNvPr id="11" name="Image 5" descr="https://test.web.static.jianzeppt.com/ppt-temp-img3/7ef95aedcbd8ae4427bd6a2a625dc669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6600" y="5242560"/>
            <a:ext cx="929640" cy="39624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3459480" y="5303520"/>
            <a:ext cx="57302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dirty="0">
                <a:solidFill>
                  <a:srgbClr val="00234E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取高者</a:t>
            </a:r>
            <a:endParaRPr lang="en-US" sz="1440" dirty="0"/>
          </a:p>
        </p:txBody>
      </p:sp>
      <p:pic>
        <p:nvPicPr>
          <p:cNvPr id="13" name="Image 6" descr="https://test.web.static.jianzeppt.com/ppt-temp-img3/72f39e544d10ffcb3899368b2fd72ccc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2920" y="5242560"/>
            <a:ext cx="1112520" cy="396240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4495800" y="5303520"/>
            <a:ext cx="75590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dirty="0">
                <a:solidFill>
                  <a:srgbClr val="00234E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等级差异</a:t>
            </a:r>
            <a:endParaRPr lang="en-US" sz="1440" dirty="0"/>
          </a:p>
        </p:txBody>
      </p:sp>
      <p:pic>
        <p:nvPicPr>
          <p:cNvPr id="15" name="Image 7" descr="https://test.web.static.jianzeppt.com/ppt-temp-img3/7ef95aedcbd8ae4427bd6a2a625dc669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5242560"/>
            <a:ext cx="929640" cy="396240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5715000" y="5303520"/>
            <a:ext cx="57302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dirty="0">
                <a:solidFill>
                  <a:srgbClr val="00234E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对照表</a:t>
            </a:r>
            <a:endParaRPr lang="en-US" sz="1440" dirty="0"/>
          </a:p>
        </p:txBody>
      </p:sp>
      <p:pic>
        <p:nvPicPr>
          <p:cNvPr id="17" name="Image 8" descr="https://test.web.static.jianzeppt.com/ppt-temp-img3/cc51d07275b0d5fc182effe6ca3b8331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026920"/>
            <a:ext cx="5364480" cy="1310640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>
            <a:off x="929640" y="2712720"/>
            <a:ext cx="4733544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定级对象、S级、A级</a:t>
            </a:r>
            <a:endParaRPr lang="en-US" sz="1680" dirty="0"/>
          </a:p>
        </p:txBody>
      </p:sp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4840" y="2042160"/>
            <a:ext cx="1676400" cy="441960"/>
          </a:xfrm>
          <a:prstGeom prst="rect">
            <a:avLst/>
          </a:prstGeom>
        </p:spPr>
      </p:pic>
      <p:sp>
        <p:nvSpPr>
          <p:cNvPr id="20" name="Text 8"/>
          <p:cNvSpPr/>
          <p:nvPr/>
        </p:nvSpPr>
        <p:spPr>
          <a:xfrm>
            <a:off x="807720" y="2103120"/>
            <a:ext cx="131978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1. 定级三要素</a:t>
            </a:r>
            <a:endParaRPr lang="en-US" sz="1680" dirty="0"/>
          </a:p>
        </p:txBody>
      </p:sp>
      <p:pic>
        <p:nvPicPr>
          <p:cNvPr id="21" name="Image 10" descr="https://test.web.static.jianzeppt.com/ppt-temp-img3/cc51d07275b0d5fc182effe6ca3b8331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2026920"/>
            <a:ext cx="5364480" cy="1310640"/>
          </a:xfrm>
          <a:prstGeom prst="rect">
            <a:avLst/>
          </a:prstGeom>
        </p:spPr>
      </p:pic>
      <p:sp>
        <p:nvSpPr>
          <p:cNvPr id="22" name="Text 9"/>
          <p:cNvSpPr/>
          <p:nvPr/>
        </p:nvSpPr>
        <p:spPr>
          <a:xfrm>
            <a:off x="6537960" y="2712720"/>
            <a:ext cx="4733544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取高者</a:t>
            </a:r>
            <a:endParaRPr lang="en-US" sz="1680" dirty="0"/>
          </a:p>
        </p:txBody>
      </p:sp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33160" y="2042160"/>
            <a:ext cx="1463040" cy="441960"/>
          </a:xfrm>
          <a:prstGeom prst="rect">
            <a:avLst/>
          </a:prstGeom>
        </p:spPr>
      </p:pic>
      <p:sp>
        <p:nvSpPr>
          <p:cNvPr id="24" name="Text 10"/>
          <p:cNvSpPr/>
          <p:nvPr/>
        </p:nvSpPr>
        <p:spPr>
          <a:xfrm>
            <a:off x="6416040" y="2103120"/>
            <a:ext cx="110642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2. 定级原则</a:t>
            </a:r>
            <a:endParaRPr lang="en-US" sz="1680" dirty="0"/>
          </a:p>
        </p:txBody>
      </p:sp>
      <p:pic>
        <p:nvPicPr>
          <p:cNvPr id="25" name="Image 12" descr="https://test.web.static.jianzeppt.com/ppt-temp-img3/cc51d07275b0d5fc182effe6ca3b8331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3581400"/>
            <a:ext cx="5364480" cy="1310640"/>
          </a:xfrm>
          <a:prstGeom prst="rect">
            <a:avLst/>
          </a:prstGeom>
        </p:spPr>
      </p:pic>
      <p:sp>
        <p:nvSpPr>
          <p:cNvPr id="26" name="Text 11"/>
          <p:cNvSpPr/>
          <p:nvPr/>
        </p:nvSpPr>
        <p:spPr>
          <a:xfrm>
            <a:off x="929640" y="4267200"/>
            <a:ext cx="4733544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等级越高，测评指标越多，要求越严格</a:t>
            </a:r>
            <a:endParaRPr lang="en-US" sz="1680" dirty="0"/>
          </a:p>
        </p:txBody>
      </p:sp>
      <p:pic>
        <p:nvPicPr>
          <p:cNvPr id="27" name="Image 13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4840" y="3596640"/>
            <a:ext cx="1463040" cy="441960"/>
          </a:xfrm>
          <a:prstGeom prst="rect">
            <a:avLst/>
          </a:prstGeom>
        </p:spPr>
      </p:pic>
      <p:sp>
        <p:nvSpPr>
          <p:cNvPr id="28" name="Text 12"/>
          <p:cNvSpPr/>
          <p:nvPr/>
        </p:nvSpPr>
        <p:spPr>
          <a:xfrm>
            <a:off x="807720" y="3657600"/>
            <a:ext cx="110642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3. 等级差异</a:t>
            </a:r>
            <a:endParaRPr lang="en-US" sz="1680" dirty="0"/>
          </a:p>
        </p:txBody>
      </p:sp>
      <p:pic>
        <p:nvPicPr>
          <p:cNvPr id="29" name="Image 14" descr="https://test.web.static.jianzeppt.com/ppt-temp-img3/cc51d07275b0d5fc182effe6ca3b8331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3581400"/>
            <a:ext cx="5364480" cy="1310640"/>
          </a:xfrm>
          <a:prstGeom prst="rect">
            <a:avLst/>
          </a:prstGeom>
        </p:spPr>
      </p:pic>
      <p:sp>
        <p:nvSpPr>
          <p:cNvPr id="30" name="Text 13"/>
          <p:cNvSpPr/>
          <p:nvPr/>
        </p:nvSpPr>
        <p:spPr>
          <a:xfrm>
            <a:off x="6537960" y="4267200"/>
            <a:ext cx="4733544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能使用平台查看项目信息，能识别等级差异</a:t>
            </a:r>
            <a:endParaRPr lang="en-US" sz="1680" dirty="0"/>
          </a:p>
        </p:txBody>
      </p:sp>
      <p:pic>
        <p:nvPicPr>
          <p:cNvPr id="31" name="Image 15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33160" y="3596640"/>
            <a:ext cx="1463040" cy="441960"/>
          </a:xfrm>
          <a:prstGeom prst="rect">
            <a:avLst/>
          </a:prstGeom>
        </p:spPr>
      </p:pic>
      <p:sp>
        <p:nvSpPr>
          <p:cNvPr id="32" name="Text 14"/>
          <p:cNvSpPr/>
          <p:nvPr/>
        </p:nvSpPr>
        <p:spPr>
          <a:xfrm>
            <a:off x="6416040" y="3657600"/>
            <a:ext cx="110642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4. 实践技能</a:t>
            </a:r>
            <a:endParaRPr lang="en-US" sz="1680" dirty="0"/>
          </a:p>
        </p:txBody>
      </p:sp>
      <p:sp>
        <p:nvSpPr>
          <p:cNvPr id="33" name="Text 15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课堂小结</a:t>
            </a:r>
            <a:endParaRPr lang="en-US" sz="27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2763</Words>
  <Application>WPS 演示</Application>
  <PresentationFormat>On-screen Show (16:9)</PresentationFormat>
  <Paragraphs>399</Paragraphs>
  <Slides>18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3" baseType="lpstr">
      <vt:lpstr>Arial</vt:lpstr>
      <vt:lpstr>宋体</vt:lpstr>
      <vt:lpstr>Wingdings</vt:lpstr>
      <vt:lpstr>思源黑体 CN</vt:lpstr>
      <vt:lpstr>黑体</vt:lpstr>
      <vt:lpstr>思源黑体 CN</vt:lpstr>
      <vt:lpstr>Noto Sans SC</vt:lpstr>
      <vt:lpstr>等线</vt:lpstr>
      <vt:lpstr>思源黑体 CN Bold</vt:lpstr>
      <vt:lpstr>思源黑体 CN Bold</vt:lpstr>
      <vt:lpstr>思源黑体 CN Bold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202603</cp:lastModifiedBy>
  <cp:revision>7</cp:revision>
  <dcterms:created xsi:type="dcterms:W3CDTF">2026-08-24T16:15:00Z</dcterms:created>
  <dcterms:modified xsi:type="dcterms:W3CDTF">2026-09-06T06:09:18Z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4E434B6E9AE240F3B881C0578448AF0D_12</vt:lpwstr>
  </property>
  <property fmtid="{D5CDD505-2E9C-101B-9397-08002B2CF9AE}" pid="3" name="KSOProductBuildVer">
    <vt:lpwstr>2052-12.1.0.26895</vt:lpwstr>
  </property>
</Properties>
</file>