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4.svg" ContentType="image/svg+xml"/>
  <Override PartName="/ppt/media/image114.svg" ContentType="image/svg+xml"/>
  <Override PartName="/ppt/media/image117.svg" ContentType="image/svg+xml"/>
  <Override PartName="/ppt/media/image120.svg" ContentType="image/svg+xml"/>
  <Override PartName="/ppt/media/image122.svg" ContentType="image/svg+xml"/>
  <Override PartName="/ppt/media/image126.svg" ContentType="image/svg+xml"/>
  <Override PartName="/ppt/media/image129.svg" ContentType="image/svg+xml"/>
  <Override PartName="/ppt/media/image138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3.svg" ContentType="image/svg+xml"/>
  <Override PartName="/ppt/media/image166.svg" ContentType="image/svg+xml"/>
  <Override PartName="/ppt/media/image174.svg" ContentType="image/svg+xml"/>
  <Override PartName="/ppt/media/image176.svg" ContentType="image/svg+xml"/>
  <Override PartName="/ppt/media/image179.svg" ContentType="image/svg+xml"/>
  <Override PartName="/ppt/media/image183.svg" ContentType="image/svg+xml"/>
  <Override PartName="/ppt/media/image185.svg" ContentType="image/svg+xml"/>
  <Override PartName="/ppt/media/image187.svg" ContentType="image/svg+xml"/>
  <Override PartName="/ppt/media/image189.svg" ContentType="image/svg+xml"/>
  <Override PartName="/ppt/media/image194.svg" ContentType="image/svg+xml"/>
  <Override PartName="/ppt/media/image197.svg" ContentType="image/svg+xml"/>
  <Override PartName="/ppt/media/image202.svg" ContentType="image/svg+xml"/>
  <Override PartName="/ppt/media/image204.svg" ContentType="image/svg+xml"/>
  <Override PartName="/ppt/media/image21.svg" ContentType="image/svg+xml"/>
  <Override PartName="/ppt/media/image210.svg" ContentType="image/svg+xml"/>
  <Override PartName="/ppt/media/image23.svg" ContentType="image/svg+xml"/>
  <Override PartName="/ppt/media/image25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7.svg" ContentType="image/svg+xml"/>
  <Override PartName="/ppt/media/image51.svg" ContentType="image/svg+xml"/>
  <Override PartName="/ppt/media/image56.svg" ContentType="image/svg+xml"/>
  <Override PartName="/ppt/media/image58.svg" ContentType="image/svg+xml"/>
  <Override PartName="/ppt/media/image61.svg" ContentType="image/svg+xml"/>
  <Override PartName="/ppt/media/image64.svg" ContentType="image/svg+xml"/>
  <Override PartName="/ppt/media/image72.svg" ContentType="image/svg+xml"/>
  <Override PartName="/ppt/media/image75.svg" ContentType="image/svg+xml"/>
  <Override PartName="/ppt/media/image79.svg" ContentType="image/svg+xml"/>
  <Override PartName="/ppt/media/image83.svg" ContentType="image/svg+xml"/>
  <Override PartName="/ppt/media/image88.svg" ContentType="image/svg+xml"/>
  <Override PartName="/ppt/media/image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tags" Target="../tags/tag2.xml"/><Relationship Id="rId5" Type="http://schemas.openxmlformats.org/officeDocument/2006/relationships/image" Target="../media/image19.png"/><Relationship Id="rId4" Type="http://schemas.openxmlformats.org/officeDocument/2006/relationships/tags" Target="../tags/tag1.xml"/><Relationship Id="rId3" Type="http://schemas.openxmlformats.org/officeDocument/2006/relationships/image" Target="../media/image12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image" Target="../media/image11.png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40.sv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53.png"/><Relationship Id="rId15" Type="http://schemas.openxmlformats.org/officeDocument/2006/relationships/image" Target="../media/image52.png"/><Relationship Id="rId14" Type="http://schemas.openxmlformats.org/officeDocument/2006/relationships/image" Target="../media/image51.svg"/><Relationship Id="rId13" Type="http://schemas.openxmlformats.org/officeDocument/2006/relationships/image" Target="../media/image50.png"/><Relationship Id="rId12" Type="http://schemas.openxmlformats.org/officeDocument/2006/relationships/image" Target="../media/image49.png"/><Relationship Id="rId11" Type="http://schemas.openxmlformats.org/officeDocument/2006/relationships/image" Target="../media/image48.png"/><Relationship Id="rId10" Type="http://schemas.openxmlformats.org/officeDocument/2006/relationships/image" Target="../media/image47.sv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2.png"/><Relationship Id="rId11" Type="http://schemas.openxmlformats.org/officeDocument/2006/relationships/image" Target="../media/image61.svg"/><Relationship Id="rId10" Type="http://schemas.openxmlformats.org/officeDocument/2006/relationships/image" Target="../media/image6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9.png"/><Relationship Id="rId15" Type="http://schemas.openxmlformats.org/officeDocument/2006/relationships/image" Target="../media/image88.svg"/><Relationship Id="rId14" Type="http://schemas.openxmlformats.org/officeDocument/2006/relationships/image" Target="../media/image87.png"/><Relationship Id="rId13" Type="http://schemas.openxmlformats.org/officeDocument/2006/relationships/image" Target="../media/image86.png"/><Relationship Id="rId12" Type="http://schemas.openxmlformats.org/officeDocument/2006/relationships/image" Target="../media/image85.png"/><Relationship Id="rId11" Type="http://schemas.openxmlformats.org/officeDocument/2006/relationships/image" Target="../media/image84.png"/><Relationship Id="rId10" Type="http://schemas.openxmlformats.org/officeDocument/2006/relationships/image" Target="../media/image83.sv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23.svg"/><Relationship Id="rId7" Type="http://schemas.openxmlformats.org/officeDocument/2006/relationships/image" Target="../media/image93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02.png"/><Relationship Id="rId16" Type="http://schemas.openxmlformats.org/officeDocument/2006/relationships/image" Target="../media/image101.png"/><Relationship Id="rId15" Type="http://schemas.openxmlformats.org/officeDocument/2006/relationships/image" Target="../media/image100.svg"/><Relationship Id="rId14" Type="http://schemas.openxmlformats.org/officeDocument/2006/relationships/image" Target="../media/image99.png"/><Relationship Id="rId13" Type="http://schemas.openxmlformats.org/officeDocument/2006/relationships/image" Target="../media/image98.png"/><Relationship Id="rId12" Type="http://schemas.openxmlformats.org/officeDocument/2006/relationships/image" Target="../media/image97.png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png"/><Relationship Id="rId8" Type="http://schemas.openxmlformats.org/officeDocument/2006/relationships/image" Target="../media/image107.png"/><Relationship Id="rId7" Type="http://schemas.openxmlformats.org/officeDocument/2006/relationships/image" Target="../media/image106.png"/><Relationship Id="rId6" Type="http://schemas.openxmlformats.org/officeDocument/2006/relationships/image" Target="../media/image105.png"/><Relationship Id="rId5" Type="http://schemas.openxmlformats.org/officeDocument/2006/relationships/image" Target="../media/image104.svg"/><Relationship Id="rId4" Type="http://schemas.openxmlformats.org/officeDocument/2006/relationships/image" Target="../media/image10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sv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svg"/><Relationship Id="rId4" Type="http://schemas.openxmlformats.org/officeDocument/2006/relationships/image" Target="../media/image113.png"/><Relationship Id="rId38" Type="http://schemas.openxmlformats.org/officeDocument/2006/relationships/notesSlide" Target="../notesSlides/notesSlide16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141.wmf"/><Relationship Id="rId34" Type="http://schemas.openxmlformats.org/officeDocument/2006/relationships/package" Target="../embeddings/Document2.docx"/><Relationship Id="rId33" Type="http://schemas.openxmlformats.org/officeDocument/2006/relationships/image" Target="../media/image140.wmf"/><Relationship Id="rId32" Type="http://schemas.openxmlformats.org/officeDocument/2006/relationships/package" Target="../embeddings/Document1.docx"/><Relationship Id="rId31" Type="http://schemas.openxmlformats.org/officeDocument/2006/relationships/image" Target="../media/image139.png"/><Relationship Id="rId30" Type="http://schemas.openxmlformats.org/officeDocument/2006/relationships/image" Target="../media/image138.svg"/><Relationship Id="rId3" Type="http://schemas.openxmlformats.org/officeDocument/2006/relationships/image" Target="../media/image12.png"/><Relationship Id="rId29" Type="http://schemas.openxmlformats.org/officeDocument/2006/relationships/image" Target="../media/image137.png"/><Relationship Id="rId28" Type="http://schemas.openxmlformats.org/officeDocument/2006/relationships/image" Target="../media/image136.png"/><Relationship Id="rId27" Type="http://schemas.openxmlformats.org/officeDocument/2006/relationships/image" Target="../media/image135.png"/><Relationship Id="rId26" Type="http://schemas.openxmlformats.org/officeDocument/2006/relationships/image" Target="../media/image134.png"/><Relationship Id="rId25" Type="http://schemas.openxmlformats.org/officeDocument/2006/relationships/image" Target="../media/image133.png"/><Relationship Id="rId24" Type="http://schemas.openxmlformats.org/officeDocument/2006/relationships/image" Target="../media/image132.png"/><Relationship Id="rId23" Type="http://schemas.openxmlformats.org/officeDocument/2006/relationships/image" Target="../media/image131.png"/><Relationship Id="rId22" Type="http://schemas.openxmlformats.org/officeDocument/2006/relationships/image" Target="../media/image61.svg"/><Relationship Id="rId21" Type="http://schemas.openxmlformats.org/officeDocument/2006/relationships/image" Target="../media/image130.png"/><Relationship Id="rId20" Type="http://schemas.openxmlformats.org/officeDocument/2006/relationships/image" Target="../media/image129.svg"/><Relationship Id="rId2" Type="http://schemas.openxmlformats.org/officeDocument/2006/relationships/image" Target="../media/image11.png"/><Relationship Id="rId19" Type="http://schemas.openxmlformats.org/officeDocument/2006/relationships/image" Target="../media/image128.png"/><Relationship Id="rId18" Type="http://schemas.openxmlformats.org/officeDocument/2006/relationships/image" Target="../media/image127.png"/><Relationship Id="rId17" Type="http://schemas.openxmlformats.org/officeDocument/2006/relationships/image" Target="../media/image126.svg"/><Relationship Id="rId16" Type="http://schemas.openxmlformats.org/officeDocument/2006/relationships/image" Target="../media/image125.png"/><Relationship Id="rId15" Type="http://schemas.openxmlformats.org/officeDocument/2006/relationships/image" Target="../media/image124.png"/><Relationship Id="rId14" Type="http://schemas.openxmlformats.org/officeDocument/2006/relationships/image" Target="../media/image123.png"/><Relationship Id="rId13" Type="http://schemas.openxmlformats.org/officeDocument/2006/relationships/image" Target="../media/image122.svg"/><Relationship Id="rId12" Type="http://schemas.openxmlformats.org/officeDocument/2006/relationships/image" Target="../media/image121.png"/><Relationship Id="rId11" Type="http://schemas.openxmlformats.org/officeDocument/2006/relationships/image" Target="../media/image120.svg"/><Relationship Id="rId10" Type="http://schemas.openxmlformats.org/officeDocument/2006/relationships/image" Target="../media/image119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svg"/><Relationship Id="rId8" Type="http://schemas.openxmlformats.org/officeDocument/2006/relationships/image" Target="../media/image146.png"/><Relationship Id="rId7" Type="http://schemas.openxmlformats.org/officeDocument/2006/relationships/image" Target="../media/image145.svg"/><Relationship Id="rId6" Type="http://schemas.openxmlformats.org/officeDocument/2006/relationships/image" Target="../media/image144.png"/><Relationship Id="rId5" Type="http://schemas.openxmlformats.org/officeDocument/2006/relationships/image" Target="../media/image143.svg"/><Relationship Id="rId4" Type="http://schemas.openxmlformats.org/officeDocument/2006/relationships/image" Target="../media/image142.png"/><Relationship Id="rId39" Type="http://schemas.openxmlformats.org/officeDocument/2006/relationships/notesSlide" Target="../notesSlides/notesSlide17.xml"/><Relationship Id="rId38" Type="http://schemas.openxmlformats.org/officeDocument/2006/relationships/vmlDrawing" Target="../drawings/vmlDrawing2.vml"/><Relationship Id="rId37" Type="http://schemas.openxmlformats.org/officeDocument/2006/relationships/slideLayout" Target="../slideLayouts/slideLayout1.xml"/><Relationship Id="rId36" Type="http://schemas.openxmlformats.org/officeDocument/2006/relationships/image" Target="../media/image171.wmf"/><Relationship Id="rId35" Type="http://schemas.openxmlformats.org/officeDocument/2006/relationships/package" Target="../embeddings/Document3.docx"/><Relationship Id="rId34" Type="http://schemas.openxmlformats.org/officeDocument/2006/relationships/image" Target="../media/image170.png"/><Relationship Id="rId33" Type="http://schemas.openxmlformats.org/officeDocument/2006/relationships/image" Target="../media/image169.png"/><Relationship Id="rId32" Type="http://schemas.openxmlformats.org/officeDocument/2006/relationships/image" Target="../media/image168.png"/><Relationship Id="rId31" Type="http://schemas.openxmlformats.org/officeDocument/2006/relationships/image" Target="../media/image167.png"/><Relationship Id="rId30" Type="http://schemas.openxmlformats.org/officeDocument/2006/relationships/image" Target="../media/image166.svg"/><Relationship Id="rId3" Type="http://schemas.openxmlformats.org/officeDocument/2006/relationships/image" Target="../media/image12.png"/><Relationship Id="rId29" Type="http://schemas.openxmlformats.org/officeDocument/2006/relationships/image" Target="../media/image165.png"/><Relationship Id="rId28" Type="http://schemas.openxmlformats.org/officeDocument/2006/relationships/image" Target="../media/image164.png"/><Relationship Id="rId27" Type="http://schemas.openxmlformats.org/officeDocument/2006/relationships/image" Target="../media/image163.svg"/><Relationship Id="rId26" Type="http://schemas.openxmlformats.org/officeDocument/2006/relationships/image" Target="../media/image162.png"/><Relationship Id="rId25" Type="http://schemas.openxmlformats.org/officeDocument/2006/relationships/image" Target="../media/image56.svg"/><Relationship Id="rId24" Type="http://schemas.openxmlformats.org/officeDocument/2006/relationships/image" Target="../media/image161.png"/><Relationship Id="rId23" Type="http://schemas.openxmlformats.org/officeDocument/2006/relationships/image" Target="../media/image160.png"/><Relationship Id="rId22" Type="http://schemas.openxmlformats.org/officeDocument/2006/relationships/image" Target="../media/image159.svg"/><Relationship Id="rId21" Type="http://schemas.openxmlformats.org/officeDocument/2006/relationships/image" Target="../media/image158.png"/><Relationship Id="rId20" Type="http://schemas.openxmlformats.org/officeDocument/2006/relationships/image" Target="../media/image157.svg"/><Relationship Id="rId2" Type="http://schemas.openxmlformats.org/officeDocument/2006/relationships/image" Target="../media/image11.png"/><Relationship Id="rId19" Type="http://schemas.openxmlformats.org/officeDocument/2006/relationships/image" Target="../media/image156.png"/><Relationship Id="rId18" Type="http://schemas.openxmlformats.org/officeDocument/2006/relationships/image" Target="../media/image155.svg"/><Relationship Id="rId17" Type="http://schemas.openxmlformats.org/officeDocument/2006/relationships/image" Target="../media/image154.png"/><Relationship Id="rId16" Type="http://schemas.openxmlformats.org/officeDocument/2006/relationships/image" Target="../media/image153.png"/><Relationship Id="rId15" Type="http://schemas.openxmlformats.org/officeDocument/2006/relationships/image" Target="../media/image152.png"/><Relationship Id="rId14" Type="http://schemas.openxmlformats.org/officeDocument/2006/relationships/image" Target="../media/image151.png"/><Relationship Id="rId13" Type="http://schemas.openxmlformats.org/officeDocument/2006/relationships/image" Target="../media/image79.svg"/><Relationship Id="rId12" Type="http://schemas.openxmlformats.org/officeDocument/2006/relationships/image" Target="../media/image150.png"/><Relationship Id="rId11" Type="http://schemas.openxmlformats.org/officeDocument/2006/relationships/image" Target="../media/image149.svg"/><Relationship Id="rId10" Type="http://schemas.openxmlformats.org/officeDocument/2006/relationships/image" Target="../media/image148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png"/><Relationship Id="rId8" Type="http://schemas.openxmlformats.org/officeDocument/2006/relationships/image" Target="../media/image176.svg"/><Relationship Id="rId7" Type="http://schemas.openxmlformats.org/officeDocument/2006/relationships/image" Target="../media/image175.png"/><Relationship Id="rId6" Type="http://schemas.openxmlformats.org/officeDocument/2006/relationships/image" Target="../media/image174.sv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37" Type="http://schemas.openxmlformats.org/officeDocument/2006/relationships/notesSlide" Target="../notesSlides/notesSlide18.xml"/><Relationship Id="rId36" Type="http://schemas.openxmlformats.org/officeDocument/2006/relationships/vmlDrawing" Target="../drawings/vmlDrawing3.v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192.wmf"/><Relationship Id="rId33" Type="http://schemas.openxmlformats.org/officeDocument/2006/relationships/package" Target="../embeddings/Document5.docx"/><Relationship Id="rId32" Type="http://schemas.openxmlformats.org/officeDocument/2006/relationships/image" Target="../media/image191.wmf"/><Relationship Id="rId31" Type="http://schemas.openxmlformats.org/officeDocument/2006/relationships/package" Target="../embeddings/Document4.docx"/><Relationship Id="rId30" Type="http://schemas.openxmlformats.org/officeDocument/2006/relationships/image" Target="../media/image190.png"/><Relationship Id="rId3" Type="http://schemas.openxmlformats.org/officeDocument/2006/relationships/image" Target="../media/image12.png"/><Relationship Id="rId29" Type="http://schemas.openxmlformats.org/officeDocument/2006/relationships/image" Target="../media/image189.svg"/><Relationship Id="rId28" Type="http://schemas.openxmlformats.org/officeDocument/2006/relationships/image" Target="../media/image188.png"/><Relationship Id="rId27" Type="http://schemas.openxmlformats.org/officeDocument/2006/relationships/image" Target="../media/image187.svg"/><Relationship Id="rId26" Type="http://schemas.openxmlformats.org/officeDocument/2006/relationships/image" Target="../media/image186.png"/><Relationship Id="rId25" Type="http://schemas.openxmlformats.org/officeDocument/2006/relationships/image" Target="../media/image185.svg"/><Relationship Id="rId24" Type="http://schemas.openxmlformats.org/officeDocument/2006/relationships/image" Target="../media/image184.png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image" Target="../media/image11.png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image" Target="../media/image183.svg"/><Relationship Id="rId14" Type="http://schemas.openxmlformats.org/officeDocument/2006/relationships/image" Target="../media/image182.png"/><Relationship Id="rId13" Type="http://schemas.openxmlformats.org/officeDocument/2006/relationships/image" Target="../media/image181.png"/><Relationship Id="rId12" Type="http://schemas.openxmlformats.org/officeDocument/2006/relationships/image" Target="../media/image180.png"/><Relationship Id="rId11" Type="http://schemas.openxmlformats.org/officeDocument/2006/relationships/image" Target="../media/image179.svg"/><Relationship Id="rId10" Type="http://schemas.openxmlformats.org/officeDocument/2006/relationships/image" Target="../media/image178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8.png"/><Relationship Id="rId8" Type="http://schemas.openxmlformats.org/officeDocument/2006/relationships/image" Target="../media/image197.svg"/><Relationship Id="rId7" Type="http://schemas.openxmlformats.org/officeDocument/2006/relationships/image" Target="../media/image196.png"/><Relationship Id="rId6" Type="http://schemas.openxmlformats.org/officeDocument/2006/relationships/image" Target="../media/image195.png"/><Relationship Id="rId5" Type="http://schemas.openxmlformats.org/officeDocument/2006/relationships/image" Target="../media/image194.svg"/><Relationship Id="rId4" Type="http://schemas.openxmlformats.org/officeDocument/2006/relationships/image" Target="../media/image19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9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png"/><Relationship Id="rId8" Type="http://schemas.openxmlformats.org/officeDocument/2006/relationships/image" Target="../media/image204.svg"/><Relationship Id="rId7" Type="http://schemas.openxmlformats.org/officeDocument/2006/relationships/image" Target="../media/image203.png"/><Relationship Id="rId6" Type="http://schemas.openxmlformats.org/officeDocument/2006/relationships/image" Target="../media/image202.svg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10.svg"/><Relationship Id="rId13" Type="http://schemas.openxmlformats.org/officeDocument/2006/relationships/image" Target="../media/image209.png"/><Relationship Id="rId12" Type="http://schemas.openxmlformats.org/officeDocument/2006/relationships/image" Target="../media/image208.png"/><Relationship Id="rId11" Type="http://schemas.openxmlformats.org/officeDocument/2006/relationships/image" Target="../media/image207.png"/><Relationship Id="rId10" Type="http://schemas.openxmlformats.org/officeDocument/2006/relationships/image" Target="../media/image206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2.png"/><Relationship Id="rId4" Type="http://schemas.openxmlformats.org/officeDocument/2006/relationships/image" Target="../media/image21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授课教师：杨迎</a:t>
            </a:r>
            <a:endParaRPr lang="en-US" sz="2040" dirty="0"/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120" dirty="0">
                <a:solidFill>
                  <a:srgbClr val="FFFFFF"/>
                </a:solidFill>
              </a:rPr>
              <a:t>信息安全测评与风险评估</a:t>
            </a:r>
            <a:endParaRPr lang="en-US" sz="612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7.3.1 物联网架构认知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2734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物联网的发展历程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案例导入——“一台智能水表引发的数据泄露”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64048" y="3710752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什么是物联网？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064048" y="26941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c7a5cece86cd91001eb225ef98061b7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71600"/>
            <a:ext cx="6370320" cy="8382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394960" y="1478280"/>
            <a:ext cx="601370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智能音箱、水表等背后都有一张看不见的“网”，它是怎么工作的？</a:t>
            </a:r>
            <a:endParaRPr lang="en-US" sz="18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2438400"/>
            <a:ext cx="304800" cy="304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760720" y="237744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5334000" y="2834640"/>
            <a:ext cx="6135624" cy="1013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38000"/>
              </a:lnSpc>
              <a:buSzPct val="100000"/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数据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明文传输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，未加密</a:t>
            </a:r>
            <a:endParaRPr lang="en-US" sz="1920" dirty="0"/>
          </a:p>
          <a:p>
            <a:pPr marL="0" indent="0">
              <a:lnSpc>
                <a:spcPct val="138000"/>
              </a:lnSpc>
              <a:buSzPct val="100000"/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默认密码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，未修改</a:t>
            </a:r>
            <a:endParaRPr lang="en-US" sz="1920" dirty="0"/>
          </a:p>
          <a:p>
            <a:pPr marL="0" indent="0">
              <a:lnSpc>
                <a:spcPct val="138000"/>
              </a:lnSpc>
              <a:buSzPct val="100000"/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大量设备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暴露在公网</a:t>
            </a:r>
            <a:endParaRPr lang="en-US" sz="192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4008120"/>
            <a:ext cx="304800" cy="3048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760720" y="396240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2160" dirty="0"/>
          </a:p>
        </p:txBody>
      </p:sp>
      <p:sp>
        <p:nvSpPr>
          <p:cNvPr id="12" name="Text 4"/>
          <p:cNvSpPr/>
          <p:nvPr/>
        </p:nvSpPr>
        <p:spPr>
          <a:xfrm>
            <a:off x="5334000" y="4495800"/>
            <a:ext cx="20726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■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5608320" y="4434840"/>
            <a:ext cx="44135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智能水表系统涉及哪些设备？怎么通信？</a:t>
            </a:r>
            <a:endParaRPr lang="en-US" sz="1920" dirty="0"/>
          </a:p>
        </p:txBody>
      </p:sp>
      <p:sp>
        <p:nvSpPr>
          <p:cNvPr id="14" name="Text 6"/>
          <p:cNvSpPr/>
          <p:nvPr/>
        </p:nvSpPr>
        <p:spPr>
          <a:xfrm>
            <a:off x="5334000" y="4892040"/>
            <a:ext cx="20726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■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5608320" y="4831080"/>
            <a:ext cx="4901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泄露源头在哪？感知层、网络层还是应用层？</a:t>
            </a:r>
            <a:endParaRPr lang="en-US" sz="1920" dirty="0"/>
          </a:p>
        </p:txBody>
      </p:sp>
      <p:pic>
        <p:nvPicPr>
          <p:cNvPr id="16" name="Image 6" descr="https://test.web.static.jianzeppt.com/ppt-temp-img3/42a809218c17d43ee41f2dd6f430f22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5196840"/>
            <a:ext cx="6370320" cy="10668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410200" y="5379720"/>
            <a:ext cx="5983224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理解物联网的“三层架构”，是开展安全测评的第一步。</a:t>
            </a:r>
            <a:endParaRPr lang="en-US" sz="1920" dirty="0"/>
          </a:p>
        </p:txBody>
      </p:sp>
      <p:pic>
        <p:nvPicPr>
          <p:cNvPr id="18" name="Image 7" descr="https://test.web.static.jianzeppt.com/ppt-temp-img3/5d7e08fb036ca417025054e7ee5632c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71600"/>
            <a:ext cx="4251960" cy="4876800"/>
          </a:xfrm>
          <a:prstGeom prst="rect">
            <a:avLst/>
          </a:prstGeom>
        </p:spPr>
      </p:pic>
      <p:pic>
        <p:nvPicPr>
          <p:cNvPr id="19" name="Image 8" descr="https://test.web.static.jianzeppt.com/ppt-temp-img3/b3360c7b60862ff52e03fb5fbfe3e69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386840"/>
            <a:ext cx="4221480" cy="484632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案例导入——“一台智能水表引发的数据泄露”</a:t>
            </a:r>
            <a:endParaRPr lang="en-US" sz="2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555555"/>
                </a:solidFill>
              </a:rPr>
              <a:t>通过本课学习，你将能够：</a:t>
            </a:r>
            <a:endParaRPr lang="en-US" sz="2160" dirty="0"/>
          </a:p>
        </p:txBody>
      </p:sp>
      <p:pic>
        <p:nvPicPr>
          <p:cNvPr id="6" name="Image 3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2087880"/>
            <a:ext cx="5303520" cy="1600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640" y="2407920"/>
            <a:ext cx="609600" cy="609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" y="256032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2"/>
            </p:custDataLst>
          </p:nvPr>
        </p:nvSpPr>
        <p:spPr>
          <a:xfrm>
            <a:off x="1598295" y="2554605"/>
            <a:ext cx="4337304" cy="38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理解</a:t>
            </a:r>
            <a:r>
              <a:rPr lang="en-US" dirty="0">
                <a:solidFill>
                  <a:srgbClr val="333333"/>
                </a:solidFill>
              </a:rPr>
              <a:t>物联网的基本概念和核心特征</a:t>
            </a:r>
            <a:endParaRPr lang="en-US" dirty="0"/>
          </a:p>
        </p:txBody>
      </p:sp>
      <p:pic>
        <p:nvPicPr>
          <p:cNvPr id="10" name="Image 6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78880" y="2087880"/>
            <a:ext cx="5303520" cy="160020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8920" y="2407920"/>
            <a:ext cx="609600" cy="6096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1320" y="2560320"/>
            <a:ext cx="304800" cy="304800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6"/>
            </p:custDataLst>
          </p:nvPr>
        </p:nvSpPr>
        <p:spPr>
          <a:xfrm>
            <a:off x="7267575" y="2554605"/>
            <a:ext cx="4145280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掌握</a:t>
            </a:r>
            <a:r>
              <a:rPr lang="en-US" dirty="0">
                <a:solidFill>
                  <a:srgbClr val="333333"/>
                </a:solidFill>
              </a:rPr>
              <a:t>物联网三层架构（感知层、网络层、应用层）及各层的作用</a:t>
            </a:r>
            <a:endParaRPr lang="en-US" dirty="0"/>
          </a:p>
        </p:txBody>
      </p:sp>
      <p:pic>
        <p:nvPicPr>
          <p:cNvPr id="14" name="Image 9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4053840"/>
            <a:ext cx="5303520" cy="1600200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640" y="4373880"/>
            <a:ext cx="609600" cy="609600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040" y="4526280"/>
            <a:ext cx="304800" cy="304800"/>
          </a:xfrm>
          <a:prstGeom prst="rect">
            <a:avLst/>
          </a:prstGeom>
        </p:spPr>
      </p:pic>
      <p:sp>
        <p:nvSpPr>
          <p:cNvPr id="17" name="Text 3"/>
          <p:cNvSpPr/>
          <p:nvPr>
            <p:custDataLst>
              <p:tags r:id="rId20"/>
            </p:custDataLst>
          </p:nvPr>
        </p:nvSpPr>
        <p:spPr>
          <a:xfrm>
            <a:off x="1598295" y="4520565"/>
            <a:ext cx="4062984" cy="38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理解</a:t>
            </a:r>
            <a:r>
              <a:rPr lang="en-US" dirty="0">
                <a:solidFill>
                  <a:srgbClr val="333333"/>
                </a:solidFill>
              </a:rPr>
              <a:t>物联网各层面临的安全风险</a:t>
            </a:r>
            <a:endParaRPr lang="en-US" dirty="0"/>
          </a:p>
        </p:txBody>
      </p:sp>
      <p:pic>
        <p:nvPicPr>
          <p:cNvPr id="18" name="Image 12" descr="https://test.web.static.jianzeppt.com/ppt-temp-img3/6550b154750e4dd29a88bad6fe89dc9e.png?x-oss-process=image/resize,w_1440,h_800,m_lfit/format,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78880" y="4053840"/>
            <a:ext cx="5303520" cy="1600200"/>
          </a:xfrm>
          <a:prstGeom prst="rect">
            <a:avLst/>
          </a:prstGeom>
        </p:spPr>
      </p:pic>
      <p:pic>
        <p:nvPicPr>
          <p:cNvPr id="19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8920" y="4373880"/>
            <a:ext cx="609600" cy="609600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1320" y="4526280"/>
            <a:ext cx="304800" cy="304800"/>
          </a:xfrm>
          <a:prstGeom prst="rect">
            <a:avLst/>
          </a:prstGeom>
        </p:spPr>
      </p:pic>
      <p:sp>
        <p:nvSpPr>
          <p:cNvPr id="21" name="Text 4"/>
          <p:cNvSpPr/>
          <p:nvPr>
            <p:custDataLst>
              <p:tags r:id="rId24"/>
            </p:custDataLst>
          </p:nvPr>
        </p:nvSpPr>
        <p:spPr>
          <a:xfrm>
            <a:off x="7267575" y="4520565"/>
            <a:ext cx="4156710" cy="377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能够</a:t>
            </a:r>
            <a:r>
              <a:rPr lang="en-US" dirty="0">
                <a:solidFill>
                  <a:srgbClr val="333333"/>
                </a:solidFill>
              </a:rPr>
              <a:t>为后续物联网安全配置核查奠定基础</a:t>
            </a:r>
            <a:endParaRPr lang="en-US" dirty="0"/>
          </a:p>
        </p:txBody>
      </p:sp>
      <p:sp>
        <p:nvSpPr>
          <p:cNvPr id="22" name="Text 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98729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物联网的三个核心特征：</a:t>
            </a:r>
            <a:endParaRPr lang="en-US" sz="24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5539740"/>
            <a:ext cx="60960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746760" y="56464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1402080" y="56159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全面感知</a:t>
            </a:r>
            <a:endParaRPr lang="en-US" sz="24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5539740"/>
            <a:ext cx="60960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0" name="Text 3"/>
          <p:cNvSpPr/>
          <p:nvPr/>
        </p:nvSpPr>
        <p:spPr>
          <a:xfrm>
            <a:off x="4495800" y="56464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2160" dirty="0"/>
          </a:p>
        </p:txBody>
      </p:sp>
      <p:sp>
        <p:nvSpPr>
          <p:cNvPr id="11" name="Text 4"/>
          <p:cNvSpPr/>
          <p:nvPr/>
        </p:nvSpPr>
        <p:spPr>
          <a:xfrm>
            <a:off x="5135880" y="56159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可靠传送</a:t>
            </a:r>
            <a:endParaRPr lang="en-US" sz="2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5539740"/>
            <a:ext cx="60960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3" name="Text 5"/>
          <p:cNvSpPr/>
          <p:nvPr/>
        </p:nvSpPr>
        <p:spPr>
          <a:xfrm>
            <a:off x="8229600" y="56464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2160" dirty="0"/>
          </a:p>
        </p:txBody>
      </p:sp>
      <p:sp>
        <p:nvSpPr>
          <p:cNvPr id="14" name="Text 6"/>
          <p:cNvSpPr/>
          <p:nvPr/>
        </p:nvSpPr>
        <p:spPr>
          <a:xfrm>
            <a:off x="8884920" y="56159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智能处理</a:t>
            </a:r>
            <a:endParaRPr lang="en-US" sz="2400" dirty="0"/>
          </a:p>
        </p:txBody>
      </p:sp>
      <p:pic>
        <p:nvPicPr>
          <p:cNvPr id="15" name="Image 6" descr="https://test.web.static.jianzeppt.com/ppt-temp-img3/2fc2859d473c93ba83db33f9f8ef5b5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10972800" cy="377126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81710" y="1343025"/>
            <a:ext cx="97536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112" dirty="0">
                <a:solidFill>
                  <a:srgbClr val="00234E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官方定义</a:t>
            </a:r>
            <a:endParaRPr lang="en-US" b="1" kern="0" spc="112" dirty="0">
              <a:solidFill>
                <a:srgbClr val="00234E">
                  <a:alpha val="70000"/>
                </a:srgbClr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990600" y="1981200"/>
            <a:ext cx="10219944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物联网（Internet of Things，IoT）是通过射频识别（RFID）、红外感应器、全球定位系统、激光扫描器等信息传感设备，按约定的协议，把任何物品与互联网相连接，进行信息交换和通信，以实现智能化识别、定位、跟踪、监控和管理的一种网络。</a:t>
            </a:r>
            <a:endParaRPr lang="en-US" sz="2000" b="1" dirty="0">
              <a:solidFill>
                <a:srgbClr val="1F2937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8" name="Image 7" descr="https://test.web.static.jianzeppt.com/ppt-temp-img3/606acdfc96446a017918a7085f7db40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429000"/>
            <a:ext cx="10210800" cy="1524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90600" y="3516630"/>
            <a:ext cx="97536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kern="0" spc="112" dirty="0">
                <a:solidFill>
                  <a:srgbClr val="00234E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通俗理解</a:t>
            </a:r>
            <a:endParaRPr lang="en-US" b="1" kern="0" spc="112" dirty="0">
              <a:solidFill>
                <a:srgbClr val="00234E">
                  <a:alpha val="70000"/>
                </a:srgbClr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990600" y="4051935"/>
            <a:ext cx="102199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物联网就是“物物相连的互联网”——给所有的“物”装上传感器，让它们能“说话”、能“交流”、能被“控制”。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1" name="Image 8" descr="https://test.web.static.jianzeppt.com/ppt-temp-img3/808532236bfcafef372641fbf91d69bf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1234440"/>
            <a:ext cx="76200" cy="37363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什么是物联网？</a:t>
            </a:r>
            <a:endParaRPr lang="en-US" sz="2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3faf971b311a68ca6bb5a3a834b318c3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288280"/>
            <a:ext cx="10668000" cy="45720"/>
          </a:xfrm>
          <a:prstGeom prst="rect">
            <a:avLst/>
          </a:prstGeom>
        </p:spPr>
      </p:pic>
      <p:pic>
        <p:nvPicPr>
          <p:cNvPr id="6" name="Image 4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120" y="4754880"/>
            <a:ext cx="30480" cy="243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8" name="Text 0"/>
          <p:cNvSpPr/>
          <p:nvPr/>
        </p:nvSpPr>
        <p:spPr>
          <a:xfrm>
            <a:off x="92964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1999年</a:t>
            </a:r>
            <a:endParaRPr lang="en-US" sz="2640" dirty="0"/>
          </a:p>
        </p:txBody>
      </p:sp>
      <p:sp>
        <p:nvSpPr>
          <p:cNvPr id="9" name="Text 1"/>
          <p:cNvSpPr/>
          <p:nvPr/>
        </p:nvSpPr>
        <p:spPr>
          <a:xfrm>
            <a:off x="92964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MIT首次提出概念</a:t>
            </a:r>
            <a:endParaRPr lang="en-US" sz="168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640" y="4130040"/>
            <a:ext cx="929640" cy="27432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21080" y="4130040"/>
            <a:ext cx="75590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概念诞生</a:t>
            </a:r>
            <a:endParaRPr lang="en-US" sz="144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3068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3" name="Image 8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440" y="4754880"/>
            <a:ext cx="30480" cy="24384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132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5" name="Text 3"/>
          <p:cNvSpPr/>
          <p:nvPr/>
        </p:nvSpPr>
        <p:spPr>
          <a:xfrm>
            <a:off x="310896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2005年</a:t>
            </a:r>
            <a:endParaRPr lang="en-US" sz="2640" dirty="0"/>
          </a:p>
        </p:txBody>
      </p:sp>
      <p:sp>
        <p:nvSpPr>
          <p:cNvPr id="16" name="Text 4"/>
          <p:cNvSpPr/>
          <p:nvPr/>
        </p:nvSpPr>
        <p:spPr>
          <a:xfrm>
            <a:off x="310896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ITU发布相关报告</a:t>
            </a:r>
            <a:endParaRPr lang="en-US" sz="168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8960" y="4130040"/>
            <a:ext cx="92964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3200400" y="4130040"/>
            <a:ext cx="75590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全球关注</a:t>
            </a:r>
            <a:endParaRPr lang="en-US" sz="144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000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2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754880"/>
            <a:ext cx="30480" cy="243840"/>
          </a:xfrm>
          <a:prstGeom prst="rect">
            <a:avLst/>
          </a:prstGeom>
        </p:spPr>
      </p:pic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064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2" name="Text 6"/>
          <p:cNvSpPr/>
          <p:nvPr/>
        </p:nvSpPr>
        <p:spPr>
          <a:xfrm>
            <a:off x="528828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2008年</a:t>
            </a:r>
            <a:endParaRPr lang="en-US" sz="2640" dirty="0"/>
          </a:p>
        </p:txBody>
      </p:sp>
      <p:sp>
        <p:nvSpPr>
          <p:cNvPr id="23" name="Text 7"/>
          <p:cNvSpPr/>
          <p:nvPr/>
        </p:nvSpPr>
        <p:spPr>
          <a:xfrm>
            <a:off x="5288280" y="3276600"/>
            <a:ext cx="1624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设备数首超人口</a:t>
            </a:r>
            <a:endParaRPr lang="en-US" sz="168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88280" y="4130040"/>
            <a:ext cx="1295400" cy="27432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5379720" y="4130040"/>
            <a:ext cx="11216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标志性里程碑</a:t>
            </a:r>
            <a:endParaRPr lang="en-US" sz="144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932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7" name="Image 16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080" y="4754880"/>
            <a:ext cx="30480" cy="24384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9" name="Text 9"/>
          <p:cNvSpPr/>
          <p:nvPr/>
        </p:nvSpPr>
        <p:spPr>
          <a:xfrm>
            <a:off x="748284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2009年</a:t>
            </a:r>
            <a:endParaRPr lang="en-US" sz="2640" dirty="0"/>
          </a:p>
        </p:txBody>
      </p:sp>
      <p:sp>
        <p:nvSpPr>
          <p:cNvPr id="30" name="Text 10"/>
          <p:cNvSpPr/>
          <p:nvPr/>
        </p:nvSpPr>
        <p:spPr>
          <a:xfrm>
            <a:off x="748284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提出“感知中国”战略</a:t>
            </a:r>
            <a:endParaRPr lang="en-US" sz="168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2840" y="4130040"/>
            <a:ext cx="1295400" cy="274320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7574280" y="4130040"/>
            <a:ext cx="11216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中国发展起点</a:t>
            </a:r>
            <a:endParaRPr lang="en-US" sz="144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6864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4" name="Image 20" descr="https://test.web.static.jianzeppt.com/ppt-temp-img3/9cc593669770daf29b6d9dd1670a739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4754880"/>
            <a:ext cx="30480" cy="243840"/>
          </a:xfrm>
          <a:prstGeom prst="rect">
            <a:avLst/>
          </a:prstGeom>
        </p:spPr>
      </p:pic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4520" y="2590800"/>
            <a:ext cx="19507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6" name="Text 12"/>
          <p:cNvSpPr/>
          <p:nvPr/>
        </p:nvSpPr>
        <p:spPr>
          <a:xfrm>
            <a:off x="9662160" y="2758440"/>
            <a:ext cx="162458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2019年</a:t>
            </a:r>
            <a:endParaRPr lang="en-US" sz="2640" dirty="0"/>
          </a:p>
        </p:txBody>
      </p:sp>
      <p:sp>
        <p:nvSpPr>
          <p:cNvPr id="37" name="Text 13"/>
          <p:cNvSpPr/>
          <p:nvPr/>
        </p:nvSpPr>
        <p:spPr>
          <a:xfrm>
            <a:off x="9662160" y="3276600"/>
            <a:ext cx="162458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新增安全扩展要求</a:t>
            </a:r>
            <a:endParaRPr lang="en-US" sz="168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62160" y="4130040"/>
            <a:ext cx="1112520" cy="274320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9753600" y="4130040"/>
            <a:ext cx="93878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安全规范化</a:t>
            </a:r>
            <a:endParaRPr lang="en-US" sz="1440" dirty="0"/>
          </a:p>
        </p:txBody>
      </p:sp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47960" y="4968240"/>
            <a:ext cx="213360" cy="213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1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物联网的发展历程</a:t>
            </a:r>
            <a:endParaRPr lang="en-US" sz="2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86840"/>
            <a:ext cx="1098194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物联网体系架构分为三个层次：</a:t>
            </a:r>
            <a:r>
              <a:rPr lang="en-US" sz="2160" b="1" dirty="0">
                <a:solidFill>
                  <a:srgbClr val="44444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感知层、网络层、应用层</a:t>
            </a:r>
            <a:r>
              <a:rPr lang="en-US" sz="216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57400"/>
            <a:ext cx="10972800" cy="1219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990600" y="2194560"/>
            <a:ext cx="28285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应用层</a:t>
            </a:r>
            <a:endParaRPr lang="en-US" sz="2640" dirty="0"/>
          </a:p>
        </p:txBody>
      </p:sp>
      <p:sp>
        <p:nvSpPr>
          <p:cNvPr id="8" name="Text 2"/>
          <p:cNvSpPr/>
          <p:nvPr/>
        </p:nvSpPr>
        <p:spPr>
          <a:xfrm>
            <a:off x="990600" y="2758440"/>
            <a:ext cx="2828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 “大脑”</a:t>
            </a:r>
            <a:endParaRPr lang="en-US" sz="1920" dirty="0"/>
          </a:p>
        </p:txBody>
      </p:sp>
      <p:sp>
        <p:nvSpPr>
          <p:cNvPr id="9" name="Text 3"/>
          <p:cNvSpPr/>
          <p:nvPr/>
        </p:nvSpPr>
        <p:spPr>
          <a:xfrm>
            <a:off x="4053840" y="2270760"/>
            <a:ext cx="2859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思考和处理</a:t>
            </a:r>
            <a:endParaRPr lang="en-US" sz="2160" dirty="0"/>
          </a:p>
        </p:txBody>
      </p:sp>
      <p:sp>
        <p:nvSpPr>
          <p:cNvPr id="10" name="Text 4"/>
          <p:cNvSpPr/>
          <p:nvPr/>
        </p:nvSpPr>
        <p:spPr>
          <a:xfrm>
            <a:off x="4053840" y="2743200"/>
            <a:ext cx="2859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数据汇聚与处理</a:t>
            </a:r>
            <a:endParaRPr lang="en-US" sz="1680" dirty="0"/>
          </a:p>
        </p:txBody>
      </p:sp>
      <p:pic>
        <p:nvPicPr>
          <p:cNvPr id="11" name="Image 4" descr="https://test.web.static.jianzeppt.com/ppt-temp-img3/015419e3eba0e15dcd4b43947c16351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79" y="2270455"/>
            <a:ext cx="15240" cy="792480"/>
          </a:xfrm>
          <a:prstGeom prst="rect">
            <a:avLst/>
          </a:prstGeom>
        </p:spPr>
      </p:pic>
      <p:pic>
        <p:nvPicPr>
          <p:cNvPr id="12" name="Image 5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560" y="2087880"/>
            <a:ext cx="1386840" cy="5181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345680" y="21640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智能家居</a:t>
            </a:r>
            <a:endParaRPr lang="en-US" sz="1920" dirty="0"/>
          </a:p>
        </p:txBody>
      </p:sp>
      <p:pic>
        <p:nvPicPr>
          <p:cNvPr id="14" name="Image 6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2087880"/>
            <a:ext cx="1386840" cy="51816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839200" y="21640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智慧城市</a:t>
            </a:r>
            <a:endParaRPr lang="en-US" sz="1920" dirty="0"/>
          </a:p>
        </p:txBody>
      </p:sp>
      <p:pic>
        <p:nvPicPr>
          <p:cNvPr id="16" name="Image 7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560" y="2727960"/>
            <a:ext cx="1386840" cy="51816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345680" y="28041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智能工业</a:t>
            </a:r>
            <a:endParaRPr lang="en-US" sz="1920" dirty="0"/>
          </a:p>
        </p:txBody>
      </p:sp>
      <p:pic>
        <p:nvPicPr>
          <p:cNvPr id="18" name="Image 8" descr="https://test.web.static.jianzeppt.com/ppt-temp-img3/4667212f10699926410ab83911c3b0d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120" y="3337560"/>
            <a:ext cx="365760" cy="18288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581400"/>
            <a:ext cx="10972800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0" name="Text 8"/>
          <p:cNvSpPr/>
          <p:nvPr/>
        </p:nvSpPr>
        <p:spPr>
          <a:xfrm>
            <a:off x="990600" y="3642360"/>
            <a:ext cx="28285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网络层</a:t>
            </a:r>
            <a:endParaRPr lang="en-US" sz="2640" dirty="0"/>
          </a:p>
        </p:txBody>
      </p:sp>
      <p:sp>
        <p:nvSpPr>
          <p:cNvPr id="21" name="Text 9"/>
          <p:cNvSpPr/>
          <p:nvPr/>
        </p:nvSpPr>
        <p:spPr>
          <a:xfrm>
            <a:off x="990600" y="4206240"/>
            <a:ext cx="2828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 “神经网络”</a:t>
            </a:r>
            <a:endParaRPr lang="en-US" sz="1920" dirty="0"/>
          </a:p>
        </p:txBody>
      </p:sp>
      <p:sp>
        <p:nvSpPr>
          <p:cNvPr id="22" name="Text 10"/>
          <p:cNvSpPr/>
          <p:nvPr/>
        </p:nvSpPr>
        <p:spPr>
          <a:xfrm>
            <a:off x="4053840" y="3718560"/>
            <a:ext cx="2859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传递信息</a:t>
            </a:r>
            <a:endParaRPr lang="en-US" sz="2160" dirty="0"/>
          </a:p>
        </p:txBody>
      </p:sp>
      <p:sp>
        <p:nvSpPr>
          <p:cNvPr id="23" name="Text 11"/>
          <p:cNvSpPr/>
          <p:nvPr/>
        </p:nvSpPr>
        <p:spPr>
          <a:xfrm>
            <a:off x="4053840" y="4191000"/>
            <a:ext cx="2859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数据传输</a:t>
            </a:r>
            <a:endParaRPr lang="en-US" sz="1680" dirty="0"/>
          </a:p>
        </p:txBody>
      </p:sp>
      <p:pic>
        <p:nvPicPr>
          <p:cNvPr id="24" name="Image 10" descr="https://test.web.static.jianzeppt.com/ppt-temp-img3/015419e3eba0e15dcd4b43947c16351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79" y="3717646"/>
            <a:ext cx="15240" cy="792480"/>
          </a:xfrm>
          <a:prstGeom prst="rect">
            <a:avLst/>
          </a:prstGeom>
        </p:spPr>
      </p:pic>
      <p:pic>
        <p:nvPicPr>
          <p:cNvPr id="25" name="Image 11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560" y="3855720"/>
            <a:ext cx="1143000" cy="51816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345680" y="393192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互联网</a:t>
            </a:r>
            <a:endParaRPr lang="en-US" sz="1920" dirty="0"/>
          </a:p>
        </p:txBody>
      </p:sp>
      <p:pic>
        <p:nvPicPr>
          <p:cNvPr id="27" name="Image 12" descr="https://test.web.static.jianzeppt.com/ppt-temp-img3/586de778b048d56ac8579ce1e1f1b65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240" y="3855720"/>
            <a:ext cx="1386840" cy="51816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8595360" y="3931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移动通信</a:t>
            </a:r>
            <a:endParaRPr lang="en-US" sz="1920" dirty="0"/>
          </a:p>
        </p:txBody>
      </p:sp>
      <p:pic>
        <p:nvPicPr>
          <p:cNvPr id="29" name="Image 13" descr="https://test.web.static.jianzeppt.com/ppt-temp-img3/feff3f336a93b9067fe39eb20e608c11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0760" y="3855720"/>
            <a:ext cx="899160" cy="51816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0088880" y="393192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专网</a:t>
            </a:r>
            <a:endParaRPr lang="en-US" sz="1920" dirty="0"/>
          </a:p>
        </p:txBody>
      </p:sp>
      <p:pic>
        <p:nvPicPr>
          <p:cNvPr id="31" name="Image 14" descr="https://test.web.static.jianzeppt.com/ppt-temp-img3/4667212f10699926410ab83911c3b0d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120" y="4709160"/>
            <a:ext cx="365760" cy="182880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4953000"/>
            <a:ext cx="10972800" cy="1295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5"/>
          <p:cNvSpPr/>
          <p:nvPr/>
        </p:nvSpPr>
        <p:spPr>
          <a:xfrm>
            <a:off x="990600" y="4953000"/>
            <a:ext cx="28285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</a:t>
            </a:r>
            <a:endParaRPr lang="en-US" sz="2640" dirty="0"/>
          </a:p>
        </p:txBody>
      </p:sp>
      <p:sp>
        <p:nvSpPr>
          <p:cNvPr id="34" name="Text 16"/>
          <p:cNvSpPr/>
          <p:nvPr/>
        </p:nvSpPr>
        <p:spPr>
          <a:xfrm>
            <a:off x="990600" y="5516880"/>
            <a:ext cx="28285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 “眼睛、耳朵、手脚”</a:t>
            </a:r>
            <a:endParaRPr lang="en-US" sz="1920" dirty="0"/>
          </a:p>
        </p:txBody>
      </p:sp>
      <p:sp>
        <p:nvSpPr>
          <p:cNvPr id="35" name="Text 17"/>
          <p:cNvSpPr/>
          <p:nvPr/>
        </p:nvSpPr>
        <p:spPr>
          <a:xfrm>
            <a:off x="4053840" y="5212080"/>
            <a:ext cx="2859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感知和采集</a:t>
            </a:r>
            <a:endParaRPr lang="en-US" sz="2160" dirty="0"/>
          </a:p>
        </p:txBody>
      </p:sp>
      <p:sp>
        <p:nvSpPr>
          <p:cNvPr id="36" name="Text 18"/>
          <p:cNvSpPr/>
          <p:nvPr/>
        </p:nvSpPr>
        <p:spPr>
          <a:xfrm>
            <a:off x="4053840" y="5684520"/>
            <a:ext cx="2859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物理世界信息获取</a:t>
            </a:r>
            <a:endParaRPr lang="en-US" sz="1680" dirty="0"/>
          </a:p>
        </p:txBody>
      </p:sp>
      <p:pic>
        <p:nvPicPr>
          <p:cNvPr id="37" name="Image 16" descr="https://test.web.static.jianzeppt.com/ppt-temp-img3/015419e3eba0e15dcd4b43947c16351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79" y="5205679"/>
            <a:ext cx="15240" cy="792480"/>
          </a:xfrm>
          <a:prstGeom prst="rect">
            <a:avLst/>
          </a:prstGeom>
        </p:spPr>
      </p:pic>
      <p:pic>
        <p:nvPicPr>
          <p:cNvPr id="38" name="Image 17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560" y="5029200"/>
            <a:ext cx="1143000" cy="518160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7345680" y="510540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传感器</a:t>
            </a:r>
            <a:endParaRPr lang="en-US" sz="1920" dirty="0"/>
          </a:p>
        </p:txBody>
      </p:sp>
      <p:pic>
        <p:nvPicPr>
          <p:cNvPr id="40" name="Image 18" descr="https://test.web.static.jianzeppt.com/ppt-temp-img3/f73a8251e17c7dc32a53ee35d01cad48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7240" y="5029200"/>
            <a:ext cx="929640" cy="518160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8595360" y="5105400"/>
            <a:ext cx="542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RFID</a:t>
            </a:r>
            <a:endParaRPr lang="en-US" sz="1920" dirty="0"/>
          </a:p>
        </p:txBody>
      </p:sp>
      <p:pic>
        <p:nvPicPr>
          <p:cNvPr id="42" name="Image 19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3560" y="5029200"/>
            <a:ext cx="1143000" cy="51816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9631680" y="510540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摄像头</a:t>
            </a:r>
            <a:endParaRPr lang="en-US" sz="1920" dirty="0"/>
          </a:p>
        </p:txBody>
      </p:sp>
      <p:pic>
        <p:nvPicPr>
          <p:cNvPr id="44" name="Image 20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560" y="5669280"/>
            <a:ext cx="1143000" cy="518160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7345680" y="574548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二维码</a:t>
            </a:r>
            <a:endParaRPr lang="en-US" sz="1920" dirty="0"/>
          </a:p>
        </p:txBody>
      </p:sp>
      <p:pic>
        <p:nvPicPr>
          <p:cNvPr id="46" name="Image 21" descr="https://test.web.static.jianzeppt.com/ppt-temp-img3/0fa0eeecbbca5432ae29583600f03984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7240" y="5669280"/>
            <a:ext cx="868680" cy="518160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8595360" y="5745480"/>
            <a:ext cx="481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GPS</a:t>
            </a:r>
            <a:endParaRPr lang="en-US" sz="1920" dirty="0"/>
          </a:p>
        </p:txBody>
      </p:sp>
      <p:pic>
        <p:nvPicPr>
          <p:cNvPr id="48" name="Image 22" descr="https://test.web.static.jianzeppt.com/ppt-temp-img3/3f9e2fcc8ee252f99673f94d3082e79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0" y="5669280"/>
            <a:ext cx="1143000" cy="518160"/>
          </a:xfrm>
          <a:prstGeom prst="rect">
            <a:avLst/>
          </a:prstGeom>
        </p:spPr>
      </p:pic>
      <p:sp>
        <p:nvSpPr>
          <p:cNvPr id="49" name="Text 24"/>
          <p:cNvSpPr/>
          <p:nvPr/>
        </p:nvSpPr>
        <p:spPr>
          <a:xfrm>
            <a:off x="9570720" y="574548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执行器</a:t>
            </a:r>
            <a:endParaRPr lang="en-US" sz="1920" dirty="0"/>
          </a:p>
        </p:txBody>
      </p:sp>
      <p:sp>
        <p:nvSpPr>
          <p:cNvPr id="50" name="Text 2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物联网的三层架构——总览</a:t>
            </a:r>
            <a:endParaRPr lang="en-US" sz="2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感知层是物联网的基础，负责“全面感知”——从物理世界获取信息。</a:t>
            </a:r>
            <a:endParaRPr lang="en-US" sz="2160" dirty="0"/>
          </a:p>
        </p:txBody>
      </p:sp>
      <p:pic>
        <p:nvPicPr>
          <p:cNvPr id="6" name="Image 3" descr="https://test.web.static.jianzeppt.com/ppt-temp-img3/107cd5cdb87b664b4f498dc878f1b6f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65960"/>
            <a:ext cx="3505200" cy="14630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720" y="219456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29640" y="2209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1295400" y="21640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信息采集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807720" y="2636520"/>
            <a:ext cx="31181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通过传感器获取温度、湿度、位置、图像等物理量</a:t>
            </a:r>
            <a:endParaRPr lang="en-US" sz="1680" dirty="0"/>
          </a:p>
        </p:txBody>
      </p:sp>
      <p:pic>
        <p:nvPicPr>
          <p:cNvPr id="11" name="Image 5" descr="https://test.web.static.jianzeppt.com/ppt-temp-img3/107cd5cdb87b664b4f498dc878f1b6f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3505200" cy="146304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1520" y="2194560"/>
            <a:ext cx="365760" cy="36576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4663440" y="2209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5029200" y="21640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物体标识</a:t>
            </a:r>
            <a:endParaRPr lang="en-US" sz="2160" dirty="0"/>
          </a:p>
        </p:txBody>
      </p:sp>
      <p:sp>
        <p:nvSpPr>
          <p:cNvPr id="15" name="Text 6"/>
          <p:cNvSpPr/>
          <p:nvPr/>
        </p:nvSpPr>
        <p:spPr>
          <a:xfrm>
            <a:off x="4541520" y="2636520"/>
            <a:ext cx="31181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通过RFID、二维码等技术唯一标识物体</a:t>
            </a:r>
            <a:endParaRPr lang="en-US" sz="1680" dirty="0"/>
          </a:p>
        </p:txBody>
      </p:sp>
      <p:pic>
        <p:nvPicPr>
          <p:cNvPr id="16" name="Image 7" descr="https://test.web.static.jianzeppt.com/ppt-temp-img3/107cd5cdb87b664b4f498dc878f1b6f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965960"/>
            <a:ext cx="3505200" cy="146304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0560" y="2194560"/>
            <a:ext cx="365760" cy="36576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412480" y="2209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19" name="Text 8"/>
          <p:cNvSpPr/>
          <p:nvPr/>
        </p:nvSpPr>
        <p:spPr>
          <a:xfrm>
            <a:off x="8778240" y="21640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执行控制</a:t>
            </a:r>
            <a:endParaRPr lang="en-US" sz="2160" dirty="0"/>
          </a:p>
        </p:txBody>
      </p:sp>
      <p:sp>
        <p:nvSpPr>
          <p:cNvPr id="20" name="Text 9"/>
          <p:cNvSpPr/>
          <p:nvPr/>
        </p:nvSpPr>
        <p:spPr>
          <a:xfrm>
            <a:off x="8290560" y="2636520"/>
            <a:ext cx="31181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通过执行器（继电器、电机等）控制设备动作</a:t>
            </a:r>
            <a:endParaRPr lang="en-US" sz="168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672840"/>
            <a:ext cx="10972800" cy="232219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2" name="Image 10" descr="https://test.web.static.jianzeppt.com/ppt-temp-img3/7e5ffe35326130c549eaa73b2c751162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688080"/>
            <a:ext cx="10942320" cy="6096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807720" y="3810000"/>
            <a:ext cx="2386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设备类型</a:t>
            </a:r>
            <a:endParaRPr lang="en-US" sz="1920" dirty="0"/>
          </a:p>
        </p:txBody>
      </p:sp>
      <p:sp>
        <p:nvSpPr>
          <p:cNvPr id="24" name="Text 11"/>
          <p:cNvSpPr/>
          <p:nvPr/>
        </p:nvSpPr>
        <p:spPr>
          <a:xfrm>
            <a:off x="3550920" y="3810000"/>
            <a:ext cx="4032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常见示例</a:t>
            </a:r>
            <a:endParaRPr lang="en-US" sz="1920" dirty="0"/>
          </a:p>
        </p:txBody>
      </p:sp>
      <p:sp>
        <p:nvSpPr>
          <p:cNvPr id="25" name="Text 12"/>
          <p:cNvSpPr/>
          <p:nvPr/>
        </p:nvSpPr>
        <p:spPr>
          <a:xfrm>
            <a:off x="7924800" y="3810000"/>
            <a:ext cx="3483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核心功能</a:t>
            </a:r>
            <a:endParaRPr lang="en-US" sz="1920" dirty="0"/>
          </a:p>
        </p:txBody>
      </p:sp>
      <p:sp>
        <p:nvSpPr>
          <p:cNvPr id="26" name="Text 13"/>
          <p:cNvSpPr/>
          <p:nvPr/>
        </p:nvSpPr>
        <p:spPr>
          <a:xfrm>
            <a:off x="807720" y="438912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传感器</a:t>
            </a:r>
            <a:endParaRPr lang="en-US" sz="1680" dirty="0"/>
          </a:p>
        </p:txBody>
      </p:sp>
      <p:sp>
        <p:nvSpPr>
          <p:cNvPr id="27" name="Text 14"/>
          <p:cNvSpPr/>
          <p:nvPr/>
        </p:nvSpPr>
        <p:spPr>
          <a:xfrm>
            <a:off x="3550920" y="4389120"/>
            <a:ext cx="403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温湿度传感器、光线传感器、压力传感器</a:t>
            </a:r>
            <a:endParaRPr lang="en-US" sz="1680" dirty="0"/>
          </a:p>
        </p:txBody>
      </p:sp>
      <p:sp>
        <p:nvSpPr>
          <p:cNvPr id="28" name="Text 15"/>
          <p:cNvSpPr/>
          <p:nvPr/>
        </p:nvSpPr>
        <p:spPr>
          <a:xfrm>
            <a:off x="7924800" y="438912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将物理量转为电信号</a:t>
            </a:r>
            <a:endParaRPr lang="en-US" sz="168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800600"/>
            <a:ext cx="10942320" cy="15240"/>
          </a:xfrm>
          <a:prstGeom prst="rect">
            <a:avLst/>
          </a:prstGeom>
        </p:spPr>
      </p:pic>
      <p:pic>
        <p:nvPicPr>
          <p:cNvPr id="30" name="Image 12" descr="https://test.web.static.jianzeppt.com/ppt-temp-img3/69cb62eb59999a9ee789317180836867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" y="4800600"/>
            <a:ext cx="10942320" cy="51816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807720" y="489204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RFID</a:t>
            </a:r>
            <a:endParaRPr lang="en-US" sz="1680" dirty="0"/>
          </a:p>
        </p:txBody>
      </p:sp>
      <p:sp>
        <p:nvSpPr>
          <p:cNvPr id="32" name="Text 17"/>
          <p:cNvSpPr/>
          <p:nvPr/>
        </p:nvSpPr>
        <p:spPr>
          <a:xfrm>
            <a:off x="3550920" y="4892040"/>
            <a:ext cx="403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门禁卡、电子标签及读写器</a:t>
            </a:r>
            <a:endParaRPr lang="en-US" sz="1680" dirty="0"/>
          </a:p>
        </p:txBody>
      </p:sp>
      <p:sp>
        <p:nvSpPr>
          <p:cNvPr id="33" name="Text 18"/>
          <p:cNvSpPr/>
          <p:nvPr/>
        </p:nvSpPr>
        <p:spPr>
          <a:xfrm>
            <a:off x="7924800" y="489204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识别物体身份</a:t>
            </a:r>
            <a:endParaRPr lang="en-US" sz="168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318760"/>
            <a:ext cx="10942320" cy="1524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807720" y="541020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二维码/条形码</a:t>
            </a:r>
            <a:endParaRPr lang="en-US" sz="1680" dirty="0"/>
          </a:p>
        </p:txBody>
      </p:sp>
      <p:sp>
        <p:nvSpPr>
          <p:cNvPr id="36" name="Text 20"/>
          <p:cNvSpPr/>
          <p:nvPr/>
        </p:nvSpPr>
        <p:spPr>
          <a:xfrm>
            <a:off x="3550920" y="5410200"/>
            <a:ext cx="403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快递单号、商品条码</a:t>
            </a:r>
            <a:endParaRPr lang="en-US" sz="1680" dirty="0"/>
          </a:p>
        </p:txBody>
      </p:sp>
      <p:sp>
        <p:nvSpPr>
          <p:cNvPr id="37" name="Text 21"/>
          <p:cNvSpPr/>
          <p:nvPr/>
        </p:nvSpPr>
        <p:spPr>
          <a:xfrm>
            <a:off x="7924800" y="541020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低成本身份标识</a:t>
            </a:r>
            <a:endParaRPr lang="en-US" sz="1680" dirty="0"/>
          </a:p>
        </p:txBody>
      </p:sp>
      <p:sp>
        <p:nvSpPr>
          <p:cNvPr id="38" name="Text 2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感知层（一）——定义与功能</a:t>
            </a:r>
            <a:endParaRPr lang="en-US" sz="2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86840"/>
            <a:ext cx="10981944" cy="4469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感知层是物联网安全最脆弱的环节——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设备数量大、部署分散、物理可达性强。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57400"/>
            <a:ext cx="10972800" cy="375031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511b8f72cf32fb4a0cc0ebb741d4b8a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072640"/>
            <a:ext cx="10942320" cy="716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68680" y="2225040"/>
            <a:ext cx="2264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主要安全威胁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3611880" y="2225040"/>
            <a:ext cx="3910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威胁描述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7985760" y="2225040"/>
            <a:ext cx="336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等保要求</a:t>
            </a:r>
            <a:endParaRPr lang="en-US" sz="2160" dirty="0"/>
          </a:p>
        </p:txBody>
      </p:sp>
      <p:pic>
        <p:nvPicPr>
          <p:cNvPr id="11" name="Image 5" descr="https://test.web.static.jianzeppt.com/ppt-temp-img3/025131a97fd321e21868664266546c1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788920"/>
            <a:ext cx="10942320" cy="111252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68680" y="2910840"/>
            <a:ext cx="2264664" cy="868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物理破坏</a:t>
            </a:r>
            <a:endParaRPr lang="en-US" sz="1920" dirty="0"/>
          </a:p>
        </p:txBody>
      </p:sp>
      <p:sp>
        <p:nvSpPr>
          <p:cNvPr id="13" name="Text 5"/>
          <p:cNvSpPr/>
          <p:nvPr/>
        </p:nvSpPr>
        <p:spPr>
          <a:xfrm>
            <a:off x="3611880" y="2910840"/>
            <a:ext cx="3910584" cy="868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设备被破坏、被挪动、被干扰</a:t>
            </a:r>
            <a:endParaRPr lang="en-US" sz="1920" dirty="0"/>
          </a:p>
        </p:txBody>
      </p:sp>
      <p:pic>
        <p:nvPicPr>
          <p:cNvPr id="14" name="Image 6" descr="https://test.web.static.jianzeppt.com/ppt-temp-img3/6ae5ff685e6b43c05fd98a554bef524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5760" y="2910840"/>
            <a:ext cx="3352800" cy="85344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138160" y="2971800"/>
            <a:ext cx="28285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8.4.1.1 感知节点设备物理防护</a:t>
            </a:r>
            <a:endParaRPr lang="en-US" sz="1920" dirty="0"/>
          </a:p>
        </p:txBody>
      </p:sp>
      <p:pic>
        <p:nvPicPr>
          <p:cNvPr id="16" name="Image 7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897630"/>
            <a:ext cx="10942320" cy="1524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68680" y="402336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侧信道攻击</a:t>
            </a:r>
            <a:endParaRPr lang="en-US" sz="1920" dirty="0"/>
          </a:p>
        </p:txBody>
      </p:sp>
      <p:sp>
        <p:nvSpPr>
          <p:cNvPr id="18" name="Text 8"/>
          <p:cNvSpPr/>
          <p:nvPr/>
        </p:nvSpPr>
        <p:spPr>
          <a:xfrm>
            <a:off x="3611880" y="4023360"/>
            <a:ext cx="3910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通过功耗、电磁泄漏获取密钥</a:t>
            </a:r>
            <a:endParaRPr lang="en-US" sz="1920" dirty="0"/>
          </a:p>
        </p:txBody>
      </p:sp>
      <p:sp>
        <p:nvSpPr>
          <p:cNvPr id="19" name="Text 9"/>
          <p:cNvSpPr/>
          <p:nvPr/>
        </p:nvSpPr>
        <p:spPr>
          <a:xfrm>
            <a:off x="7985760" y="4023360"/>
            <a:ext cx="336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99999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</a:t>
            </a:r>
            <a:endParaRPr lang="en-US" sz="1920" dirty="0"/>
          </a:p>
        </p:txBody>
      </p:sp>
      <p:pic>
        <p:nvPicPr>
          <p:cNvPr id="20" name="Image 8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4522470"/>
            <a:ext cx="10942320" cy="15240"/>
          </a:xfrm>
          <a:prstGeom prst="rect">
            <a:avLst/>
          </a:prstGeom>
        </p:spPr>
      </p:pic>
      <p:pic>
        <p:nvPicPr>
          <p:cNvPr id="21" name="Image 9" descr="https://test.web.static.jianzeppt.com/ppt-temp-img3/7777b5445acef20038a77efa6c601ee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4526280"/>
            <a:ext cx="10942320" cy="62484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68680" y="464820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节点俘获</a:t>
            </a:r>
            <a:endParaRPr lang="en-US" sz="1920" dirty="0"/>
          </a:p>
        </p:txBody>
      </p:sp>
      <p:sp>
        <p:nvSpPr>
          <p:cNvPr id="23" name="Text 11"/>
          <p:cNvSpPr/>
          <p:nvPr/>
        </p:nvSpPr>
        <p:spPr>
          <a:xfrm>
            <a:off x="3611880" y="4648200"/>
            <a:ext cx="3910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攻击者获取设备控制权</a:t>
            </a:r>
            <a:endParaRPr lang="en-US" sz="1920" dirty="0"/>
          </a:p>
        </p:txBody>
      </p:sp>
      <p:sp>
        <p:nvSpPr>
          <p:cNvPr id="24" name="Text 12"/>
          <p:cNvSpPr/>
          <p:nvPr/>
        </p:nvSpPr>
        <p:spPr>
          <a:xfrm>
            <a:off x="7985760" y="4648200"/>
            <a:ext cx="336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99999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</a:t>
            </a:r>
            <a:endParaRPr lang="en-US" sz="1920" dirty="0"/>
          </a:p>
        </p:txBody>
      </p:sp>
      <p:pic>
        <p:nvPicPr>
          <p:cNvPr id="25" name="Image 10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5147310"/>
            <a:ext cx="10942320" cy="152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68680" y="5273040"/>
            <a:ext cx="226466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伪造节点</a:t>
            </a:r>
            <a:endParaRPr lang="en-US" sz="1920" dirty="0"/>
          </a:p>
        </p:txBody>
      </p:sp>
      <p:sp>
        <p:nvSpPr>
          <p:cNvPr id="27" name="Text 14"/>
          <p:cNvSpPr/>
          <p:nvPr/>
        </p:nvSpPr>
        <p:spPr>
          <a:xfrm>
            <a:off x="3611880" y="5273040"/>
            <a:ext cx="39105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假冒合法节点接入网络</a:t>
            </a:r>
            <a:endParaRPr lang="en-US" sz="1920" dirty="0"/>
          </a:p>
        </p:txBody>
      </p:sp>
      <p:pic>
        <p:nvPicPr>
          <p:cNvPr id="28" name="Image 11" descr="https://test.web.static.jianzeppt.com/ppt-temp-img3/721f2757822031cff79ff72bb68f373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5760" y="5273040"/>
            <a:ext cx="2148840" cy="4876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138160" y="5334000"/>
            <a:ext cx="1853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8.4.2.1 接入控制</a:t>
            </a:r>
            <a:endParaRPr lang="en-US" sz="1920" dirty="0"/>
          </a:p>
        </p:txBody>
      </p:sp>
      <p:sp>
        <p:nvSpPr>
          <p:cNvPr id="30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感知层（二）——安全风险</a:t>
            </a:r>
            <a:endParaRPr lang="en-US" sz="2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网络层负责“可靠传送”——将感知层采集的数据传输到应用层。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65960"/>
            <a:ext cx="3505200" cy="155448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2148840"/>
            <a:ext cx="30876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数据传输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853440" y="2667000"/>
            <a:ext cx="308762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将感知层数据通过各种网络协议传输</a:t>
            </a:r>
            <a:endParaRPr lang="en-US" sz="192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1965960"/>
            <a:ext cx="3505200" cy="155448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587240" y="2148840"/>
            <a:ext cx="30876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路由选择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4587240" y="2667000"/>
            <a:ext cx="30876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选择最优路径传递数据</a:t>
            </a:r>
            <a:endParaRPr lang="en-US" sz="192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1965960"/>
            <a:ext cx="3505200" cy="15544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336280" y="2148840"/>
            <a:ext cx="30876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网络接入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8336280" y="2667000"/>
            <a:ext cx="308762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提供多种接入方式（WiFi、蜂窝、蓝牙等）</a:t>
            </a:r>
            <a:endParaRPr lang="en-US" sz="1920" dirty="0"/>
          </a:p>
        </p:txBody>
      </p:sp>
      <p:pic>
        <p:nvPicPr>
          <p:cNvPr id="15" name="Image 6" descr="https://test.web.static.jianzeppt.com/ppt-temp-img3/79f87cb0cdbea2aa6360f29d6d889d6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764280"/>
            <a:ext cx="10972800" cy="18745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92480" y="3947160"/>
            <a:ext cx="106161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常见网络层技术</a:t>
            </a:r>
            <a:endParaRPr lang="en-US" sz="2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8" name="Text 8"/>
          <p:cNvSpPr/>
          <p:nvPr/>
        </p:nvSpPr>
        <p:spPr>
          <a:xfrm>
            <a:off x="96012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短距离无线</a:t>
            </a:r>
            <a:endParaRPr lang="en-US" sz="1920" dirty="0"/>
          </a:p>
        </p:txBody>
      </p:sp>
      <p:sp>
        <p:nvSpPr>
          <p:cNvPr id="19" name="Text 9"/>
          <p:cNvSpPr/>
          <p:nvPr/>
        </p:nvSpPr>
        <p:spPr>
          <a:xfrm>
            <a:off x="960120" y="5720715"/>
            <a:ext cx="223418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WiFi、蓝牙、ZigBee、NFC</a:t>
            </a:r>
            <a:endParaRPr lang="en-US" sz="1680" dirty="0"/>
          </a:p>
        </p:txBody>
      </p:sp>
      <p:pic>
        <p:nvPicPr>
          <p:cNvPr id="20" name="Image 8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4892040"/>
            <a:ext cx="2225040" cy="39624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432560" y="4953000"/>
            <a:ext cx="13045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覆盖小、低功耗</a:t>
            </a:r>
            <a:endParaRPr lang="en-US" sz="144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472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3" name="Text 11"/>
          <p:cNvSpPr/>
          <p:nvPr/>
        </p:nvSpPr>
        <p:spPr>
          <a:xfrm>
            <a:off x="364236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蜂窝通信</a:t>
            </a:r>
            <a:endParaRPr lang="en-US" sz="1920" dirty="0"/>
          </a:p>
        </p:txBody>
      </p:sp>
      <p:sp>
        <p:nvSpPr>
          <p:cNvPr id="24" name="Text 12"/>
          <p:cNvSpPr/>
          <p:nvPr/>
        </p:nvSpPr>
        <p:spPr>
          <a:xfrm>
            <a:off x="3642360" y="5720715"/>
            <a:ext cx="2234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2G/3G/4G/5G、NB-IoT</a:t>
            </a:r>
            <a:endParaRPr lang="en-US" sz="1680" dirty="0"/>
          </a:p>
        </p:txBody>
      </p:sp>
      <p:pic>
        <p:nvPicPr>
          <p:cNvPr id="25" name="Image 10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2360" y="4892040"/>
            <a:ext cx="2225040" cy="3962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4023360" y="4953000"/>
            <a:ext cx="14874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覆盖广、运营商级</a:t>
            </a:r>
            <a:endParaRPr lang="en-US" sz="144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696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14"/>
          <p:cNvSpPr/>
          <p:nvPr/>
        </p:nvSpPr>
        <p:spPr>
          <a:xfrm>
            <a:off x="632460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低功耗广域网</a:t>
            </a:r>
            <a:endParaRPr lang="en-US" sz="1920" dirty="0"/>
          </a:p>
        </p:txBody>
      </p:sp>
      <p:sp>
        <p:nvSpPr>
          <p:cNvPr id="29" name="Text 15"/>
          <p:cNvSpPr/>
          <p:nvPr/>
        </p:nvSpPr>
        <p:spPr>
          <a:xfrm>
            <a:off x="6324600" y="5720715"/>
            <a:ext cx="2234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LoRa、Sigfox</a:t>
            </a:r>
            <a:endParaRPr lang="en-US" sz="1680" dirty="0"/>
          </a:p>
        </p:txBody>
      </p:sp>
      <p:pic>
        <p:nvPicPr>
          <p:cNvPr id="30" name="Image 12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4892040"/>
            <a:ext cx="2225040" cy="39624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797040" y="4953000"/>
            <a:ext cx="13045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低功耗、长距离</a:t>
            </a:r>
            <a:endParaRPr lang="en-US" sz="144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39200" y="4526280"/>
            <a:ext cx="256032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7"/>
          <p:cNvSpPr/>
          <p:nvPr/>
        </p:nvSpPr>
        <p:spPr>
          <a:xfrm>
            <a:off x="9006840" y="4693920"/>
            <a:ext cx="2234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有线网络</a:t>
            </a:r>
            <a:endParaRPr lang="en-US" sz="1920" dirty="0"/>
          </a:p>
        </p:txBody>
      </p:sp>
      <p:sp>
        <p:nvSpPr>
          <p:cNvPr id="34" name="Text 18"/>
          <p:cNvSpPr/>
          <p:nvPr/>
        </p:nvSpPr>
        <p:spPr>
          <a:xfrm>
            <a:off x="9006840" y="5737860"/>
            <a:ext cx="2234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以太网、RS-485</a:t>
            </a:r>
            <a:endParaRPr lang="en-US" sz="1680" dirty="0"/>
          </a:p>
        </p:txBody>
      </p:sp>
      <p:pic>
        <p:nvPicPr>
          <p:cNvPr id="35" name="Image 14" descr="https://test.web.static.jianzeppt.com/ppt-temp-img3/5fd3aeff26df88c77ead2e109872c47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4892040"/>
            <a:ext cx="2225040" cy="39624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9662160" y="4953000"/>
            <a:ext cx="938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稳定、可靠</a:t>
            </a:r>
            <a:endParaRPr lang="en-US" sz="1440" dirty="0"/>
          </a:p>
        </p:txBody>
      </p:sp>
      <p:sp>
        <p:nvSpPr>
          <p:cNvPr id="37" name="Text 2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网络层——定义与功能</a:t>
            </a:r>
            <a:endParaRPr lang="en-US" sz="2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网络层是物联网攻击最集中的层面——通信协议多样、传输路径复杂。</a:t>
            </a:r>
            <a:endParaRPr lang="en-US" sz="216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09600" y="2026920"/>
          <a:ext cx="10972800" cy="3611880"/>
        </p:xfrm>
        <a:graphic>
          <a:graphicData uri="http://schemas.openxmlformats.org/drawingml/2006/table">
            <a:tbl>
              <a:tblPr/>
              <a:tblGrid>
                <a:gridCol w="2762276"/>
                <a:gridCol w="5005672"/>
                <a:gridCol w="3204851"/>
              </a:tblGrid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威胁类型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威胁说明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等保对应要求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中间人攻击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截获、篡改通信数据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8.4.2.2入侵防范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数据窃听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明文传输导致信息泄露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拒绝服务攻击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大量设备被控制发动DDoS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协议攻击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利用协议漏洞攻击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非授权访问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未授权设备接入网络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8.4.2.1接入控制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网络层——安全风险</a:t>
            </a:r>
            <a:endParaRPr lang="en-US" sz="2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53440" y="1280160"/>
            <a:ext cx="613562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应用层负责</a:t>
            </a: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“智能处理”</a:t>
            </a: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——对采集到的海量数据进行分析和应用。</a:t>
            </a:r>
            <a:endParaRPr lang="en-US" sz="1800" dirty="0"/>
          </a:p>
        </p:txBody>
      </p:sp>
      <p:pic>
        <p:nvPicPr>
          <p:cNvPr id="6" name="Image 3" descr="https://test.web.static.jianzeppt.com/ppt-temp-img3/9b131c59904eb23ed10e80010bf404ac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94560"/>
            <a:ext cx="6370320" cy="2286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68680" y="2453640"/>
            <a:ext cx="58613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核心功能</a:t>
            </a:r>
            <a:endParaRPr lang="en-US" sz="24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3154680"/>
            <a:ext cx="91440" cy="914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082040" y="3017520"/>
            <a:ext cx="319430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数据处理：</a:t>
            </a: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清洗、存储、分析</a:t>
            </a:r>
            <a:endParaRPr lang="en-US" sz="18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3581400"/>
            <a:ext cx="91440" cy="91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082040" y="3444240"/>
            <a:ext cx="2950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智能决策：</a:t>
            </a: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算法判断与决策</a:t>
            </a:r>
            <a:endParaRPr lang="en-US" sz="18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008120"/>
            <a:ext cx="91440" cy="914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082040" y="3870960"/>
            <a:ext cx="2950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业务展示：</a:t>
            </a: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UI界面展示结果</a:t>
            </a:r>
            <a:endParaRPr lang="en-US" sz="1800" dirty="0"/>
          </a:p>
        </p:txBody>
      </p:sp>
      <p:sp>
        <p:nvSpPr>
          <p:cNvPr id="14" name="Text 5"/>
          <p:cNvSpPr/>
          <p:nvPr/>
        </p:nvSpPr>
        <p:spPr>
          <a:xfrm>
            <a:off x="609600" y="4663440"/>
            <a:ext cx="63794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应用场景</a:t>
            </a:r>
            <a:endParaRPr lang="en-US" sz="144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5059680"/>
            <a:ext cx="3124200" cy="3200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07720" y="5008245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智能家居</a:t>
            </a:r>
            <a:endParaRPr lang="en-US" sz="168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5720" y="5059680"/>
            <a:ext cx="3124200" cy="3200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053840" y="49911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智慧城市</a:t>
            </a:r>
            <a:endParaRPr lang="en-US" sz="168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5486400"/>
            <a:ext cx="3124200" cy="32004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807720" y="5434965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工业物联网</a:t>
            </a:r>
            <a:endParaRPr lang="en-US" sz="168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5720" y="5486400"/>
            <a:ext cx="3124200" cy="32004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4053840" y="541782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农业物联网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5928360"/>
            <a:ext cx="6370320" cy="32004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261360" y="585978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医疗物联网</a:t>
            </a:r>
            <a:endParaRPr lang="en-US" sz="1680" dirty="0"/>
          </a:p>
        </p:txBody>
      </p:sp>
      <p:pic>
        <p:nvPicPr>
          <p:cNvPr id="25" name="Image 12" descr="https://test.web.static.jianzeppt.com/ppt-temp-img3/2ca2079a9085f7f27cdcc7f67fa5e3b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45680" y="1219200"/>
            <a:ext cx="4251960" cy="50292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应用层——定义与功能</a:t>
            </a:r>
            <a:endParaRPr lang="en-US" sz="2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203960"/>
            <a:ext cx="109819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应用层是物联网数据价值最高、最受攻击者“青睐”的层面。</a:t>
            </a: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应用层主要安全威胁：</a:t>
            </a:r>
            <a:endParaRPr lang="en-US" sz="2160" dirty="0"/>
          </a:p>
        </p:txBody>
      </p:sp>
      <p:pic>
        <p:nvPicPr>
          <p:cNvPr id="6" name="Image 3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64080"/>
            <a:ext cx="10972800" cy="7772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27076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239268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463040" y="23164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数据泄露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2865120" y="239268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用户隐私、业务数据泄露</a:t>
            </a:r>
            <a:endParaRPr lang="en-US" sz="1920" dirty="0"/>
          </a:p>
        </p:txBody>
      </p:sp>
      <p:pic>
        <p:nvPicPr>
          <p:cNvPr id="11" name="Image 6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87040"/>
            <a:ext cx="10972800" cy="77724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093720"/>
            <a:ext cx="548640" cy="5486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321564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463040" y="31394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身份伪造</a:t>
            </a:r>
            <a:endParaRPr lang="en-US" sz="2400" dirty="0"/>
          </a:p>
        </p:txBody>
      </p:sp>
      <p:sp>
        <p:nvSpPr>
          <p:cNvPr id="15" name="Text 4"/>
          <p:cNvSpPr/>
          <p:nvPr/>
        </p:nvSpPr>
        <p:spPr>
          <a:xfrm>
            <a:off x="2865120" y="321564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冒充合法用户/设备</a:t>
            </a:r>
            <a:endParaRPr lang="en-US" sz="1920" dirty="0"/>
          </a:p>
        </p:txBody>
      </p:sp>
      <p:pic>
        <p:nvPicPr>
          <p:cNvPr id="16" name="Image 9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25240"/>
            <a:ext cx="10972800" cy="77724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931920"/>
            <a:ext cx="548640" cy="548640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4053840"/>
            <a:ext cx="304800" cy="30480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1463040" y="39776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应用漏洞</a:t>
            </a:r>
            <a:endParaRPr lang="en-US" sz="2400" dirty="0"/>
          </a:p>
        </p:txBody>
      </p:sp>
      <p:sp>
        <p:nvSpPr>
          <p:cNvPr id="20" name="Text 6"/>
          <p:cNvSpPr/>
          <p:nvPr/>
        </p:nvSpPr>
        <p:spPr>
          <a:xfrm>
            <a:off x="2865120" y="405384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Web应用、APP安全漏洞</a:t>
            </a:r>
            <a:endParaRPr lang="en-US" sz="1920" dirty="0"/>
          </a:p>
        </p:txBody>
      </p:sp>
      <p:pic>
        <p:nvPicPr>
          <p:cNvPr id="21" name="Image 12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48200"/>
            <a:ext cx="10972800" cy="77724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4754880"/>
            <a:ext cx="548640" cy="548640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3440" y="4876800"/>
            <a:ext cx="304800" cy="304800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463040" y="48006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云端攻击</a:t>
            </a:r>
            <a:endParaRPr lang="en-US" sz="2400" dirty="0"/>
          </a:p>
        </p:txBody>
      </p:sp>
      <p:sp>
        <p:nvSpPr>
          <p:cNvPr id="25" name="Text 8"/>
          <p:cNvSpPr/>
          <p:nvPr/>
        </p:nvSpPr>
        <p:spPr>
          <a:xfrm>
            <a:off x="2865120" y="487680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物联网云平台被攻破</a:t>
            </a:r>
            <a:endParaRPr lang="en-US" sz="1920" dirty="0"/>
          </a:p>
        </p:txBody>
      </p:sp>
      <p:pic>
        <p:nvPicPr>
          <p:cNvPr id="26" name="Image 15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486400"/>
            <a:ext cx="10972800" cy="777240"/>
          </a:xfrm>
          <a:prstGeom prst="rect">
            <a:avLst/>
          </a:prstGeom>
        </p:spPr>
      </p:pic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5593080"/>
            <a:ext cx="548640" cy="54864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5715000"/>
            <a:ext cx="304800" cy="30480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1463040" y="56388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权限滥用</a:t>
            </a:r>
            <a:endParaRPr lang="en-US" sz="2400" dirty="0"/>
          </a:p>
        </p:txBody>
      </p:sp>
      <p:sp>
        <p:nvSpPr>
          <p:cNvPr id="30" name="Text 10"/>
          <p:cNvSpPr/>
          <p:nvPr/>
        </p:nvSpPr>
        <p:spPr>
          <a:xfrm>
            <a:off x="2865120" y="5715000"/>
            <a:ext cx="86045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越权访问数据或设备</a:t>
            </a:r>
            <a:endParaRPr lang="en-US" sz="1920" dirty="0"/>
          </a:p>
        </p:txBody>
      </p:sp>
      <p:sp>
        <p:nvSpPr>
          <p:cNvPr id="31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应用层——安全风险</a:t>
            </a:r>
            <a:endParaRPr lang="en-US" sz="2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等保测评中，为什么要把物联网单独列为一个扩展要求？因为物联网的安全问题非常特殊。</a:t>
            </a:r>
            <a:endParaRPr lang="en-US" sz="192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20240"/>
            <a:ext cx="10972800" cy="43281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f006c477f4ec05bfe2d9e15103fb117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35480"/>
            <a:ext cx="10942320" cy="6705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90600" y="2057400"/>
            <a:ext cx="3834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传统信息系统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5181600" y="2057400"/>
            <a:ext cx="1837944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对比维度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7376160" y="2057400"/>
            <a:ext cx="3834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物联网系统</a:t>
            </a:r>
            <a:endParaRPr lang="en-US" sz="2160" dirty="0"/>
          </a:p>
        </p:txBody>
      </p:sp>
      <p:pic>
        <p:nvPicPr>
          <p:cNvPr id="11" name="Image 5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606040"/>
            <a:ext cx="10942320" cy="152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90600" y="2804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可控（数十到数百台）</a:t>
            </a:r>
            <a:endParaRPr lang="en-US" sz="1920" dirty="0"/>
          </a:p>
        </p:txBody>
      </p:sp>
      <p:pic>
        <p:nvPicPr>
          <p:cNvPr id="13" name="Image 6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2758440"/>
            <a:ext cx="1219200" cy="4419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669280" y="28194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设备数量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7376160" y="2804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海量（数千到数百万台）</a:t>
            </a:r>
            <a:endParaRPr lang="en-US" sz="1920" dirty="0"/>
          </a:p>
        </p:txBody>
      </p:sp>
      <p:sp>
        <p:nvSpPr>
          <p:cNvPr id="16" name="Text 7"/>
          <p:cNvSpPr/>
          <p:nvPr/>
        </p:nvSpPr>
        <p:spPr>
          <a:xfrm>
            <a:off x="990600" y="327660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计算资源充足</a:t>
            </a:r>
            <a:endParaRPr lang="en-US" sz="1920" dirty="0"/>
          </a:p>
        </p:txBody>
      </p:sp>
      <p:pic>
        <p:nvPicPr>
          <p:cNvPr id="17" name="Image 7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246120"/>
            <a:ext cx="1219200" cy="44196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669280" y="33070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设备能力</a:t>
            </a:r>
            <a:endParaRPr lang="en-US" sz="1680" dirty="0"/>
          </a:p>
        </p:txBody>
      </p:sp>
      <p:sp>
        <p:nvSpPr>
          <p:cNvPr id="19" name="Text 9"/>
          <p:cNvSpPr/>
          <p:nvPr/>
        </p:nvSpPr>
        <p:spPr>
          <a:xfrm>
            <a:off x="7376160" y="327660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资源受限（低功耗、低存储）</a:t>
            </a:r>
            <a:endParaRPr lang="en-US" sz="1920" dirty="0"/>
          </a:p>
        </p:txBody>
      </p:sp>
      <p:sp>
        <p:nvSpPr>
          <p:cNvPr id="20" name="Text 10"/>
          <p:cNvSpPr/>
          <p:nvPr/>
        </p:nvSpPr>
        <p:spPr>
          <a:xfrm>
            <a:off x="990600" y="3764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可控机房</a:t>
            </a:r>
            <a:endParaRPr lang="en-US" sz="1920" dirty="0"/>
          </a:p>
        </p:txBody>
      </p:sp>
      <p:pic>
        <p:nvPicPr>
          <p:cNvPr id="21" name="Image 8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718560"/>
            <a:ext cx="1219200" cy="44196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669280" y="377952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部署环境</a:t>
            </a:r>
            <a:endParaRPr lang="en-US" sz="1680" dirty="0"/>
          </a:p>
        </p:txBody>
      </p:sp>
      <p:sp>
        <p:nvSpPr>
          <p:cNvPr id="23" name="Text 12"/>
          <p:cNvSpPr/>
          <p:nvPr/>
        </p:nvSpPr>
        <p:spPr>
          <a:xfrm>
            <a:off x="7376160" y="3764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野外、无人值守</a:t>
            </a:r>
            <a:endParaRPr lang="en-US" sz="1920" dirty="0"/>
          </a:p>
        </p:txBody>
      </p:sp>
      <p:sp>
        <p:nvSpPr>
          <p:cNvPr id="24" name="Text 13"/>
          <p:cNvSpPr/>
          <p:nvPr/>
        </p:nvSpPr>
        <p:spPr>
          <a:xfrm>
            <a:off x="990600" y="423672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3-5年升级</a:t>
            </a:r>
            <a:endParaRPr lang="en-US" sz="1920" dirty="0"/>
          </a:p>
        </p:txBody>
      </p:sp>
      <p:pic>
        <p:nvPicPr>
          <p:cNvPr id="25" name="Image 9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4206240"/>
            <a:ext cx="1219200" cy="44196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669280" y="42672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生命周期</a:t>
            </a:r>
            <a:endParaRPr lang="en-US" sz="1680" dirty="0"/>
          </a:p>
        </p:txBody>
      </p:sp>
      <p:sp>
        <p:nvSpPr>
          <p:cNvPr id="27" name="Text 15"/>
          <p:cNvSpPr/>
          <p:nvPr/>
        </p:nvSpPr>
        <p:spPr>
          <a:xfrm>
            <a:off x="7376160" y="423672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10年以上使用</a:t>
            </a:r>
            <a:endParaRPr lang="en-US" sz="1920" dirty="0"/>
          </a:p>
        </p:txBody>
      </p:sp>
      <p:sp>
        <p:nvSpPr>
          <p:cNvPr id="28" name="Text 16"/>
          <p:cNvSpPr/>
          <p:nvPr/>
        </p:nvSpPr>
        <p:spPr>
          <a:xfrm>
            <a:off x="990600" y="4709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可定期打补丁</a:t>
            </a:r>
            <a:endParaRPr lang="en-US" sz="1920" dirty="0"/>
          </a:p>
        </p:txBody>
      </p:sp>
      <p:pic>
        <p:nvPicPr>
          <p:cNvPr id="29" name="Image 10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4678680"/>
            <a:ext cx="1219200" cy="44196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669280" y="47396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安全更新</a:t>
            </a:r>
            <a:endParaRPr lang="en-US" sz="1680" dirty="0"/>
          </a:p>
        </p:txBody>
      </p:sp>
      <p:sp>
        <p:nvSpPr>
          <p:cNvPr id="31" name="Text 18"/>
          <p:cNvSpPr/>
          <p:nvPr/>
        </p:nvSpPr>
        <p:spPr>
          <a:xfrm>
            <a:off x="7376160" y="470916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更新困难</a:t>
            </a:r>
            <a:endParaRPr lang="en-US" sz="1920" dirty="0"/>
          </a:p>
        </p:txBody>
      </p:sp>
      <p:sp>
        <p:nvSpPr>
          <p:cNvPr id="32" name="Text 19"/>
          <p:cNvSpPr/>
          <p:nvPr/>
        </p:nvSpPr>
        <p:spPr>
          <a:xfrm>
            <a:off x="990600" y="519684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有线为主</a:t>
            </a:r>
            <a:endParaRPr lang="en-US" sz="1920" dirty="0"/>
          </a:p>
        </p:txBody>
      </p:sp>
      <p:pic>
        <p:nvPicPr>
          <p:cNvPr id="33" name="Image 11" descr="https://test.web.static.jianzeppt.com/ppt-temp-img3/cbcd002d7e16acac9505e2946f90ff2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5151120"/>
            <a:ext cx="1219200" cy="44196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669280" y="52120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通信方式</a:t>
            </a:r>
            <a:endParaRPr lang="en-US" sz="1680" dirty="0"/>
          </a:p>
        </p:txBody>
      </p:sp>
      <p:sp>
        <p:nvSpPr>
          <p:cNvPr id="35" name="Text 21"/>
          <p:cNvSpPr/>
          <p:nvPr/>
        </p:nvSpPr>
        <p:spPr>
          <a:xfrm>
            <a:off x="7376160" y="519684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无线为主</a:t>
            </a:r>
            <a:endParaRPr lang="en-US" sz="1920" dirty="0"/>
          </a:p>
        </p:txBody>
      </p:sp>
      <p:sp>
        <p:nvSpPr>
          <p:cNvPr id="36" name="Text 22"/>
          <p:cNvSpPr/>
          <p:nvPr/>
        </p:nvSpPr>
        <p:spPr>
          <a:xfrm>
            <a:off x="990600" y="5669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相对集中</a:t>
            </a:r>
            <a:endParaRPr lang="en-US" sz="1920" dirty="0"/>
          </a:p>
        </p:txBody>
      </p:sp>
      <p:pic>
        <p:nvPicPr>
          <p:cNvPr id="37" name="Image 12" descr="https://test.web.static.jianzeppt.com/ppt-temp-img3/75f3bb4fadbc083b399be31f9d08302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3080" y="5638800"/>
            <a:ext cx="1005840" cy="44196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775960" y="5699760"/>
            <a:ext cx="649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攻击面</a:t>
            </a:r>
            <a:endParaRPr lang="en-US" sz="1680" dirty="0"/>
          </a:p>
        </p:txBody>
      </p:sp>
      <p:sp>
        <p:nvSpPr>
          <p:cNvPr id="39" name="Text 24"/>
          <p:cNvSpPr/>
          <p:nvPr/>
        </p:nvSpPr>
        <p:spPr>
          <a:xfrm>
            <a:off x="7376160" y="5669280"/>
            <a:ext cx="3834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极其分散</a:t>
            </a:r>
            <a:endParaRPr lang="en-US" sz="1920" dirty="0"/>
          </a:p>
        </p:txBody>
      </p:sp>
      <p:sp>
        <p:nvSpPr>
          <p:cNvPr id="40" name="Text 2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物联网安全挑战——与传统系统的差异</a:t>
            </a:r>
            <a:endParaRPr lang="en-US" sz="2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219200"/>
            <a:ext cx="68671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>
                    <a:alpha val="8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 安全扩展要求 → 物联网安全扩展要求</a:t>
            </a:r>
            <a:endParaRPr lang="en-US" sz="1920" dirty="0"/>
          </a:p>
        </p:txBody>
      </p:sp>
      <p:sp>
        <p:nvSpPr>
          <p:cNvPr id="6" name="Text 1"/>
          <p:cNvSpPr/>
          <p:nvPr/>
        </p:nvSpPr>
        <p:spPr>
          <a:xfrm>
            <a:off x="609600" y="1676400"/>
            <a:ext cx="5602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物联网安全扩展要求的五个维度（第二级/第三级）：</a:t>
            </a:r>
            <a:endParaRPr lang="en-US" sz="1920" dirty="0"/>
          </a:p>
        </p:txBody>
      </p:sp>
      <p:pic>
        <p:nvPicPr>
          <p:cNvPr id="7" name="Image 3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33600"/>
            <a:ext cx="10972800" cy="701040"/>
          </a:xfrm>
          <a:prstGeom prst="rect">
            <a:avLst/>
          </a:prstGeom>
        </p:spPr>
      </p:pic>
      <p:pic>
        <p:nvPicPr>
          <p:cNvPr id="8" name="Image 4" descr="https://test.web.static.jianzeppt.com/ppt-temp-img3/c4a970f01d4768d1c1e3a93b930536f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33600"/>
            <a:ext cx="762000" cy="7010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99160" y="225552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1615440" y="227076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安全物理环境：</a:t>
            </a:r>
            <a:endParaRPr lang="en-US" sz="2160" dirty="0"/>
          </a:p>
        </p:txBody>
      </p:sp>
      <p:sp>
        <p:nvSpPr>
          <p:cNvPr id="11" name="Text 4"/>
          <p:cNvSpPr/>
          <p:nvPr/>
        </p:nvSpPr>
        <p:spPr>
          <a:xfrm>
            <a:off x="3718560" y="230124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感知节点设备物理防护</a:t>
            </a:r>
            <a:endParaRPr lang="en-US" sz="1920" dirty="0"/>
          </a:p>
        </p:txBody>
      </p:sp>
      <p:pic>
        <p:nvPicPr>
          <p:cNvPr id="12" name="Image 5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87040"/>
            <a:ext cx="10972800" cy="701040"/>
          </a:xfrm>
          <a:prstGeom prst="rect">
            <a:avLst/>
          </a:prstGeom>
        </p:spPr>
      </p:pic>
      <p:pic>
        <p:nvPicPr>
          <p:cNvPr id="13" name="Image 6" descr="https://test.web.static.jianzeppt.com/ppt-temp-img3/1e728710d83c8c6a9a9cfbecb85fd55e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987040"/>
            <a:ext cx="762000" cy="7010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99160" y="309372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6"/>
          <p:cNvSpPr/>
          <p:nvPr/>
        </p:nvSpPr>
        <p:spPr>
          <a:xfrm>
            <a:off x="1615440" y="312420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安全区域边界：</a:t>
            </a:r>
            <a:endParaRPr lang="en-US" sz="2160" dirty="0"/>
          </a:p>
        </p:txBody>
      </p:sp>
      <p:sp>
        <p:nvSpPr>
          <p:cNvPr id="16" name="Text 7"/>
          <p:cNvSpPr/>
          <p:nvPr/>
        </p:nvSpPr>
        <p:spPr>
          <a:xfrm>
            <a:off x="3718560" y="3139440"/>
            <a:ext cx="2218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接入控制、入侵防范</a:t>
            </a:r>
            <a:endParaRPr lang="en-US" sz="1920" dirty="0"/>
          </a:p>
        </p:txBody>
      </p:sp>
      <p:pic>
        <p:nvPicPr>
          <p:cNvPr id="17" name="Image 7" descr="https://test.web.static.jianzeppt.com/ppt-temp-img3/29e43a07013bff655ca85a53aefd7625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25240"/>
            <a:ext cx="10972800" cy="731520"/>
          </a:xfrm>
          <a:prstGeom prst="rect">
            <a:avLst/>
          </a:prstGeom>
        </p:spPr>
      </p:pic>
      <p:pic>
        <p:nvPicPr>
          <p:cNvPr id="18" name="Image 8" descr="https://test.web.static.jianzeppt.com/ppt-temp-img3/675259f57333e41b1fc18b5b4fd179a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825240"/>
            <a:ext cx="762000" cy="73152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99160" y="396240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9"/>
          <p:cNvSpPr/>
          <p:nvPr/>
        </p:nvSpPr>
        <p:spPr>
          <a:xfrm>
            <a:off x="1615440" y="399288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安全计算环境：</a:t>
            </a:r>
            <a:endParaRPr lang="en-US" sz="2160" dirty="0"/>
          </a:p>
        </p:txBody>
      </p:sp>
      <p:sp>
        <p:nvSpPr>
          <p:cNvPr id="21" name="Text 10"/>
          <p:cNvSpPr/>
          <p:nvPr/>
        </p:nvSpPr>
        <p:spPr>
          <a:xfrm>
            <a:off x="3718560" y="4038600"/>
            <a:ext cx="56327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感知节点设备安全、网关节点设备安全、抗数据重放</a:t>
            </a:r>
            <a:endParaRPr lang="en-US" sz="1920" dirty="0"/>
          </a:p>
        </p:txBody>
      </p:sp>
      <p:pic>
        <p:nvPicPr>
          <p:cNvPr id="22" name="Image 9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09160"/>
            <a:ext cx="10972800" cy="701040"/>
          </a:xfrm>
          <a:prstGeom prst="rect">
            <a:avLst/>
          </a:prstGeom>
        </p:spPr>
      </p:pic>
      <p:pic>
        <p:nvPicPr>
          <p:cNvPr id="23" name="Image 10" descr="https://test.web.static.jianzeppt.com/ppt-temp-img3/7371101a23051ffc987629f0139dbaf7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09160"/>
            <a:ext cx="762000" cy="70104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899160" y="483108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2"/>
          <p:cNvSpPr/>
          <p:nvPr/>
        </p:nvSpPr>
        <p:spPr>
          <a:xfrm>
            <a:off x="1615440" y="484632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安全建设管理：</a:t>
            </a:r>
            <a:endParaRPr lang="en-US" sz="2160" dirty="0"/>
          </a:p>
        </p:txBody>
      </p:sp>
      <p:sp>
        <p:nvSpPr>
          <p:cNvPr id="26" name="Text 13"/>
          <p:cNvSpPr/>
          <p:nvPr/>
        </p:nvSpPr>
        <p:spPr>
          <a:xfrm>
            <a:off x="3718560" y="487680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感知节点管理</a:t>
            </a:r>
            <a:endParaRPr lang="en-US" sz="1920" dirty="0"/>
          </a:p>
        </p:txBody>
      </p:sp>
      <p:pic>
        <p:nvPicPr>
          <p:cNvPr id="27" name="Image 11" descr="https://test.web.static.jianzeppt.com/ppt-temp-img3/a9a962b3cd8b238cc40c443db4d9e72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562600"/>
            <a:ext cx="10972800" cy="701040"/>
          </a:xfrm>
          <a:prstGeom prst="rect">
            <a:avLst/>
          </a:prstGeom>
        </p:spPr>
      </p:pic>
      <p:pic>
        <p:nvPicPr>
          <p:cNvPr id="28" name="Image 12" descr="https://test.web.static.jianzeppt.com/ppt-temp-img3/a3cfd3b0e36b00fbc2f6b3c386955df4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562600"/>
            <a:ext cx="762000" cy="70104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99160" y="5669280"/>
            <a:ext cx="192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15"/>
          <p:cNvSpPr/>
          <p:nvPr/>
        </p:nvSpPr>
        <p:spPr>
          <a:xfrm>
            <a:off x="1615440" y="569976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安全运维管理：</a:t>
            </a:r>
            <a:endParaRPr lang="en-US" sz="2160" dirty="0"/>
          </a:p>
        </p:txBody>
      </p:sp>
      <p:sp>
        <p:nvSpPr>
          <p:cNvPr id="31" name="Text 16"/>
          <p:cNvSpPr/>
          <p:nvPr/>
        </p:nvSpPr>
        <p:spPr>
          <a:xfrm>
            <a:off x="3718560" y="571500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感知节点管理</a:t>
            </a:r>
            <a:endParaRPr lang="en-US" sz="1920" dirty="0"/>
          </a:p>
        </p:txBody>
      </p:sp>
      <p:sp>
        <p:nvSpPr>
          <p:cNvPr id="32" name="Text 1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物联网安全扩展要求——在等保标准中的位置</a:t>
            </a:r>
            <a:endParaRPr lang="en-US" sz="2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物联网安全扩展要求的核心思路：</a:t>
            </a:r>
            <a:r>
              <a:rPr lang="en-US" sz="216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分层防护，逐层加固。（以第三级为例）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65960"/>
            <a:ext cx="10972800" cy="3672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24ba16fd53fb123966fc83e29cbff19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81200"/>
            <a:ext cx="10942320" cy="62484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07720" y="210312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防护层</a:t>
            </a:r>
            <a:endParaRPr lang="en-US" sz="192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2598420"/>
            <a:ext cx="1969465" cy="152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2773680" y="210312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编号</a:t>
            </a:r>
            <a:endParaRPr lang="en-US" sz="192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94305" y="2598420"/>
            <a:ext cx="1969465" cy="1524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739640" y="210312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控制点</a:t>
            </a:r>
            <a:endParaRPr lang="en-US" sz="192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63923" y="2598420"/>
            <a:ext cx="3063697" cy="152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7818120" y="21031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核心要求</a:t>
            </a:r>
            <a:endParaRPr lang="en-US" sz="192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7620" y="2598420"/>
            <a:ext cx="3939540" cy="15240"/>
          </a:xfrm>
          <a:prstGeom prst="rect">
            <a:avLst/>
          </a:prstGeom>
        </p:spPr>
      </p:pic>
      <p:pic>
        <p:nvPicPr>
          <p:cNvPr id="16" name="Image 9" descr="https://test.web.static.jianzeppt.com/ppt-temp-img3/0d4cc0fd2bd0df0a6acce5459694a356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" y="2606040"/>
            <a:ext cx="10942320" cy="3474720"/>
          </a:xfrm>
          <a:prstGeom prst="rect">
            <a:avLst/>
          </a:prstGeom>
        </p:spPr>
      </p:pic>
      <p:pic>
        <p:nvPicPr>
          <p:cNvPr id="17" name="Image 10" descr="https://test.web.static.jianzeppt.com/ppt-temp-img3/6dc0d0d3d2f52626ccd065363ec9027c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2606040"/>
            <a:ext cx="1981200" cy="5791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807720" y="2727960"/>
            <a:ext cx="649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</a:t>
            </a:r>
            <a:endParaRPr lang="en-US" sz="168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79065" y="2598420"/>
            <a:ext cx="15240" cy="57912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2773680" y="272796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8.4.1.1</a:t>
            </a:r>
            <a:endParaRPr lang="en-US" sz="1680" dirty="0"/>
          </a:p>
        </p:txBody>
      </p:sp>
      <p:sp>
        <p:nvSpPr>
          <p:cNvPr id="21" name="Text 7"/>
          <p:cNvSpPr/>
          <p:nvPr/>
        </p:nvSpPr>
        <p:spPr>
          <a:xfrm>
            <a:off x="4739640" y="272796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设备物理防护</a:t>
            </a:r>
            <a:endParaRPr lang="en-US" sz="1680" dirty="0"/>
          </a:p>
        </p:txBody>
      </p:sp>
      <p:sp>
        <p:nvSpPr>
          <p:cNvPr id="22" name="Text 8"/>
          <p:cNvSpPr/>
          <p:nvPr/>
        </p:nvSpPr>
        <p:spPr>
          <a:xfrm>
            <a:off x="7818120" y="272796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环境防破坏、反映状态、持久电力</a:t>
            </a:r>
            <a:endParaRPr lang="en-US" sz="1680" dirty="0"/>
          </a:p>
        </p:txBody>
      </p:sp>
      <p:pic>
        <p:nvPicPr>
          <p:cNvPr id="23" name="Image 12" descr="https://test.web.static.jianzeppt.com/ppt-temp-img3/7cab6f59f25d0394e5f84cf60ff6e379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" y="3185160"/>
            <a:ext cx="1981200" cy="1158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07720" y="35966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区域边界</a:t>
            </a:r>
            <a:endParaRPr lang="en-US" sz="168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79065" y="3177540"/>
            <a:ext cx="15240" cy="115824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2773680" y="330708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8.4.2.1</a:t>
            </a:r>
            <a:endParaRPr lang="en-US" sz="1680" dirty="0"/>
          </a:p>
        </p:txBody>
      </p:sp>
      <p:sp>
        <p:nvSpPr>
          <p:cNvPr id="27" name="Text 11"/>
          <p:cNvSpPr/>
          <p:nvPr/>
        </p:nvSpPr>
        <p:spPr>
          <a:xfrm>
            <a:off x="4739640" y="330708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接入控制</a:t>
            </a:r>
            <a:endParaRPr lang="en-US" sz="1680" dirty="0"/>
          </a:p>
        </p:txBody>
      </p:sp>
      <p:sp>
        <p:nvSpPr>
          <p:cNvPr id="28" name="Text 12"/>
          <p:cNvSpPr/>
          <p:nvPr/>
        </p:nvSpPr>
        <p:spPr>
          <a:xfrm>
            <a:off x="7818120" y="330708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限授权感知节点接入</a:t>
            </a:r>
            <a:endParaRPr lang="en-US" sz="168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840" y="3162300"/>
            <a:ext cx="10942320" cy="1524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2773680" y="388620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8.4.2.2</a:t>
            </a:r>
            <a:endParaRPr lang="en-US" sz="1680" dirty="0"/>
          </a:p>
        </p:txBody>
      </p:sp>
      <p:sp>
        <p:nvSpPr>
          <p:cNvPr id="31" name="Text 14"/>
          <p:cNvSpPr/>
          <p:nvPr/>
        </p:nvSpPr>
        <p:spPr>
          <a:xfrm>
            <a:off x="4739640" y="388620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</a:t>
            </a:r>
            <a:endParaRPr lang="en-US" sz="1680" dirty="0"/>
          </a:p>
        </p:txBody>
      </p:sp>
      <p:sp>
        <p:nvSpPr>
          <p:cNvPr id="32" name="Text 15"/>
          <p:cNvSpPr/>
          <p:nvPr/>
        </p:nvSpPr>
        <p:spPr>
          <a:xfrm>
            <a:off x="7818120" y="388620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限制通信目标地址</a:t>
            </a:r>
            <a:endParaRPr lang="en-US" sz="168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840" y="3741420"/>
            <a:ext cx="10942320" cy="15240"/>
          </a:xfrm>
          <a:prstGeom prst="rect">
            <a:avLst/>
          </a:prstGeom>
        </p:spPr>
      </p:pic>
      <p:pic>
        <p:nvPicPr>
          <p:cNvPr id="34" name="Image 16" descr="https://test.web.static.jianzeppt.com/ppt-temp-img3/716b75a3a0e758fc5fbad794d3cfbd49.png?x-oss-process=image/resize,w_1440,h_800,m_lfit/format,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" y="4343400"/>
            <a:ext cx="1981200" cy="115824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807720" y="47548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计算环境</a:t>
            </a:r>
            <a:endParaRPr lang="en-US" sz="1680" dirty="0"/>
          </a:p>
        </p:txBody>
      </p:sp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79065" y="4335780"/>
            <a:ext cx="15240" cy="115824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2773680" y="446532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8.4.3.1</a:t>
            </a:r>
            <a:endParaRPr lang="en-US" sz="1680" dirty="0"/>
          </a:p>
        </p:txBody>
      </p:sp>
      <p:sp>
        <p:nvSpPr>
          <p:cNvPr id="38" name="Text 18"/>
          <p:cNvSpPr/>
          <p:nvPr/>
        </p:nvSpPr>
        <p:spPr>
          <a:xfrm>
            <a:off x="4739640" y="446532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感知设备安全</a:t>
            </a:r>
            <a:endParaRPr lang="en-US" sz="1680" dirty="0"/>
          </a:p>
        </p:txBody>
      </p:sp>
      <p:sp>
        <p:nvSpPr>
          <p:cNvPr id="39" name="Text 19"/>
          <p:cNvSpPr/>
          <p:nvPr/>
        </p:nvSpPr>
        <p:spPr>
          <a:xfrm>
            <a:off x="7818120" y="446532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限授权配置，鉴别网关身份</a:t>
            </a:r>
            <a:endParaRPr lang="en-US" sz="1680" dirty="0"/>
          </a:p>
        </p:txBody>
      </p:sp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840" y="4320540"/>
            <a:ext cx="10942320" cy="15240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2773680" y="504444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8.4.3.2</a:t>
            </a:r>
            <a:endParaRPr lang="en-US" sz="1680" dirty="0"/>
          </a:p>
        </p:txBody>
      </p:sp>
      <p:sp>
        <p:nvSpPr>
          <p:cNvPr id="42" name="Text 21"/>
          <p:cNvSpPr/>
          <p:nvPr/>
        </p:nvSpPr>
        <p:spPr>
          <a:xfrm>
            <a:off x="4739640" y="504444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网关设备安全</a:t>
            </a:r>
            <a:endParaRPr lang="en-US" sz="1680" dirty="0"/>
          </a:p>
        </p:txBody>
      </p:sp>
      <p:sp>
        <p:nvSpPr>
          <p:cNvPr id="43" name="Text 22"/>
          <p:cNvSpPr/>
          <p:nvPr/>
        </p:nvSpPr>
        <p:spPr>
          <a:xfrm>
            <a:off x="7818120" y="504444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鉴别合法设备，密钥在线更新</a:t>
            </a:r>
            <a:endParaRPr lang="en-US" sz="168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840" y="4899660"/>
            <a:ext cx="10942320" cy="15240"/>
          </a:xfrm>
          <a:prstGeom prst="rect">
            <a:avLst/>
          </a:prstGeom>
        </p:spPr>
      </p:pic>
      <p:pic>
        <p:nvPicPr>
          <p:cNvPr id="45" name="Image 20" descr="https://test.web.static.jianzeppt.com/ppt-temp-img3/5d7814d0be78f47f2d4d764313772c0a.png?x-oss-process=image/resize,w_1440,h_800,m_lfit/format,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4840" y="5501640"/>
            <a:ext cx="1981200" cy="579120"/>
          </a:xfrm>
          <a:prstGeom prst="rect">
            <a:avLst/>
          </a:prstGeom>
        </p:spPr>
      </p:pic>
      <p:sp>
        <p:nvSpPr>
          <p:cNvPr id="46" name="Text 23"/>
          <p:cNvSpPr/>
          <p:nvPr/>
        </p:nvSpPr>
        <p:spPr>
          <a:xfrm>
            <a:off x="807720" y="562356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运维管理</a:t>
            </a:r>
            <a:endParaRPr lang="en-US" sz="1680" dirty="0"/>
          </a:p>
        </p:txBody>
      </p:sp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579065" y="5494020"/>
            <a:ext cx="15240" cy="571500"/>
          </a:xfrm>
          <a:prstGeom prst="rect">
            <a:avLst/>
          </a:prstGeom>
        </p:spPr>
      </p:pic>
      <p:sp>
        <p:nvSpPr>
          <p:cNvPr id="48" name="Text 24"/>
          <p:cNvSpPr/>
          <p:nvPr/>
        </p:nvSpPr>
        <p:spPr>
          <a:xfrm>
            <a:off x="2773680" y="562356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8.4.4.1</a:t>
            </a:r>
            <a:endParaRPr lang="en-US" sz="1680" dirty="0"/>
          </a:p>
        </p:txBody>
      </p:sp>
      <p:sp>
        <p:nvSpPr>
          <p:cNvPr id="49" name="Text 25"/>
          <p:cNvSpPr/>
          <p:nvPr/>
        </p:nvSpPr>
        <p:spPr>
          <a:xfrm>
            <a:off x="4739640" y="5623560"/>
            <a:ext cx="272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感知节点管理</a:t>
            </a:r>
            <a:endParaRPr lang="en-US" sz="1680" dirty="0"/>
          </a:p>
        </p:txBody>
      </p:sp>
      <p:sp>
        <p:nvSpPr>
          <p:cNvPr id="50" name="Text 26"/>
          <p:cNvSpPr/>
          <p:nvPr/>
        </p:nvSpPr>
        <p:spPr>
          <a:xfrm>
            <a:off x="7818120" y="5623560"/>
            <a:ext cx="3590544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定期巡视、保密管理</a:t>
            </a:r>
            <a:endParaRPr lang="en-US" sz="1680" dirty="0"/>
          </a:p>
        </p:txBody>
      </p:sp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840" y="5478780"/>
            <a:ext cx="10942320" cy="15240"/>
          </a:xfrm>
          <a:prstGeom prst="rect">
            <a:avLst/>
          </a:prstGeom>
        </p:spPr>
      </p:pic>
      <p:sp>
        <p:nvSpPr>
          <p:cNvPr id="52" name="Text 2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物联网与等保2.0——重点解读</a:t>
            </a:r>
            <a:endParaRPr lang="en-US" sz="2760" dirty="0"/>
          </a:p>
        </p:txBody>
      </p:sp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2749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32" imgW="971550" imgH="666750" progId="Word.Document.12">
                  <p:embed/>
                </p:oleObj>
              </mc:Choice>
              <mc:Fallback>
                <p:oleObj name="" showAsIcon="1" r:id="rId32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12749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3686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showAsIcon="1" r:id="rId34" imgW="971550" imgH="666750" progId="Word.Document.12">
                  <p:embed/>
                </p:oleObj>
              </mc:Choice>
              <mc:Fallback>
                <p:oleObj name="" showAsIcon="1" r:id="rId34" imgW="971550" imgH="666750" progId="Word.Document.12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43686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4800600" cy="15849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1615440"/>
            <a:ext cx="30480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341120" y="15392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演示场景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914400" y="2042160"/>
            <a:ext cx="426110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以“智能家居环境监测系统”为例，绘制物联网三层架构图。</a:t>
            </a:r>
            <a:endParaRPr lang="en-US" sz="18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139440"/>
            <a:ext cx="4800600" cy="28041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160" y="3398520"/>
            <a:ext cx="243840" cy="243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295400" y="32918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系统组成</a:t>
            </a:r>
            <a:endParaRPr lang="en-US" sz="24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3947160"/>
            <a:ext cx="91440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082040" y="3810000"/>
            <a:ext cx="4078224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感知层：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温湿度(DHT11)、烟雾、光照传感器、智能插座</a:t>
            </a:r>
            <a:endParaRPr lang="en-US" sz="192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4617720"/>
            <a:ext cx="91440" cy="914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082040" y="4480560"/>
            <a:ext cx="4078224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网络层：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ZigBee/WiFi网关、家庭路由器、互联网</a:t>
            </a:r>
            <a:endParaRPr lang="en-US" sz="192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5303520"/>
            <a:ext cx="91440" cy="9144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082040" y="5166360"/>
            <a:ext cx="4078224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应用层：</a:t>
            </a:r>
            <a:r>
              <a:rPr lang="en-US" sz="192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智能家居云平台、手机APP、Web管理界面</a:t>
            </a:r>
            <a:endParaRPr lang="en-US" sz="1920" dirty="0"/>
          </a:p>
        </p:txBody>
      </p:sp>
      <p:pic>
        <p:nvPicPr>
          <p:cNvPr id="18" name="Image 10" descr="https://test.web.static.jianzeppt.com/ppt-temp-img3/316c3dc23aba6d1049aa4ea82272ad39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0" y="1371600"/>
            <a:ext cx="5882640" cy="45720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74080" y="1630680"/>
            <a:ext cx="304800" cy="3048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400800" y="1554480"/>
            <a:ext cx="18379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教师演示步骤</a:t>
            </a:r>
            <a:endParaRPr lang="en-US" sz="24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74080" y="5105400"/>
            <a:ext cx="5364480" cy="57912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72200" y="5273040"/>
            <a:ext cx="243840" cy="24384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6537960" y="5242560"/>
            <a:ext cx="46421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E6394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重点标注：每层的安全风险点（红笔标注）</a:t>
            </a:r>
            <a:endParaRPr lang="en-US" sz="1920" dirty="0"/>
          </a:p>
        </p:txBody>
      </p:sp>
      <p:pic>
        <p:nvPicPr>
          <p:cNvPr id="24" name="Image 14" descr="https://test.web.static.jianzeppt.com/ppt-temp-img3/5fa298fbfbd43fdf1073ea10bbcc569b.png?x-oss-process=image/resize,w_1440,h_800,m_lfit/format,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41720" y="2392680"/>
            <a:ext cx="30480" cy="2316480"/>
          </a:xfrm>
          <a:prstGeom prst="rect">
            <a:avLst/>
          </a:prstGeom>
        </p:spPr>
      </p:pic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35040" y="2209800"/>
            <a:ext cx="365760" cy="365760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6141720" y="22402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83680" y="2179320"/>
            <a:ext cx="4754880" cy="944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9"/>
          <p:cNvSpPr/>
          <p:nvPr/>
        </p:nvSpPr>
        <p:spPr>
          <a:xfrm>
            <a:off x="6781800" y="2301240"/>
            <a:ext cx="41696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画出三层架构框（感知层、网络层、应用层）</a:t>
            </a:r>
            <a:endParaRPr lang="en-US" sz="1920" dirty="0"/>
          </a:p>
        </p:txBody>
      </p:sp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35040" y="3002280"/>
            <a:ext cx="365760" cy="365760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6141720" y="301752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83680" y="2971800"/>
            <a:ext cx="4754880" cy="609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2" name="Text 11"/>
          <p:cNvSpPr/>
          <p:nvPr/>
        </p:nvSpPr>
        <p:spPr>
          <a:xfrm>
            <a:off x="6781800" y="3093720"/>
            <a:ext cx="43830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感知层填传感器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标“数据采集”</a:t>
            </a:r>
            <a:endParaRPr lang="en-US" sz="192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35040" y="3566160"/>
            <a:ext cx="365760" cy="36576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6141720" y="35966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83680" y="3535680"/>
            <a:ext cx="4754880" cy="944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6" name="Text 13"/>
          <p:cNvSpPr/>
          <p:nvPr/>
        </p:nvSpPr>
        <p:spPr>
          <a:xfrm>
            <a:off x="6781800" y="3657600"/>
            <a:ext cx="438302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网络层填网关→路由器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标“数据传输”</a:t>
            </a:r>
            <a:endParaRPr lang="en-US" sz="1920" dirty="0"/>
          </a:p>
        </p:txBody>
      </p:sp>
      <p:pic>
        <p:nvPicPr>
          <p:cNvPr id="37" name="Image 21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35040" y="4358640"/>
            <a:ext cx="365760" cy="365760"/>
          </a:xfrm>
          <a:prstGeom prst="rect">
            <a:avLst/>
          </a:prstGeom>
        </p:spPr>
      </p:pic>
      <p:sp>
        <p:nvSpPr>
          <p:cNvPr id="38" name="Text 14"/>
          <p:cNvSpPr/>
          <p:nvPr/>
        </p:nvSpPr>
        <p:spPr>
          <a:xfrm>
            <a:off x="6141720" y="43738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83680" y="4328160"/>
            <a:ext cx="4754880" cy="40195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15"/>
          <p:cNvSpPr/>
          <p:nvPr/>
        </p:nvSpPr>
        <p:spPr>
          <a:xfrm>
            <a:off x="6781800" y="4227195"/>
            <a:ext cx="438302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应用层填云平台→APP</a:t>
            </a: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标“处理与展示”</a:t>
            </a:r>
            <a:endParaRPr lang="en-US" sz="1920" dirty="0"/>
          </a:p>
        </p:txBody>
      </p:sp>
      <p:sp>
        <p:nvSpPr>
          <p:cNvPr id="41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教师演示——物联网架构图绘制（15分钟）</a:t>
            </a:r>
            <a:endParaRPr lang="en-US" sz="2760" dirty="0"/>
          </a:p>
        </p:txBody>
      </p:sp>
      <p:graphicFrame>
        <p:nvGraphicFramePr>
          <p:cNvPr id="42" name="对象 4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0826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5" imgW="971550" imgH="666750" progId="Word.Document.12">
                  <p:embed/>
                </p:oleObj>
              </mc:Choice>
              <mc:Fallback>
                <p:oleObj name="" showAsIcon="1" r:id="rId35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20826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56d175cdc650c03138f454b5f736194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64480" cy="14020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1630680"/>
            <a:ext cx="426720" cy="4267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1737360"/>
            <a:ext cx="213360" cy="21336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463040" y="16154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400" dirty="0"/>
          </a:p>
        </p:txBody>
      </p:sp>
      <p:sp>
        <p:nvSpPr>
          <p:cNvPr id="9" name="Text 1"/>
          <p:cNvSpPr/>
          <p:nvPr/>
        </p:nvSpPr>
        <p:spPr>
          <a:xfrm>
            <a:off x="853440" y="2194560"/>
            <a:ext cx="48859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物联网架构分析与架构图绘制</a:t>
            </a:r>
            <a:endParaRPr lang="en-US" sz="1800" dirty="0"/>
          </a:p>
        </p:txBody>
      </p:sp>
      <p:pic>
        <p:nvPicPr>
          <p:cNvPr id="10" name="Image 6" descr="https://test.web.static.jianzeppt.com/ppt-temp-img3/56d175cdc650c03138f454b5f736194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64480" cy="140208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760" y="1630680"/>
            <a:ext cx="426720" cy="42672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68440" y="1737360"/>
            <a:ext cx="213360" cy="2133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7071360" y="16154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sz="2400" dirty="0"/>
          </a:p>
        </p:txBody>
      </p:sp>
      <p:sp>
        <p:nvSpPr>
          <p:cNvPr id="14" name="Text 3"/>
          <p:cNvSpPr/>
          <p:nvPr/>
        </p:nvSpPr>
        <p:spPr>
          <a:xfrm>
            <a:off x="6461760" y="2194560"/>
            <a:ext cx="48859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选择：①共享单车 ②农业大棚 ③智能水表</a:t>
            </a:r>
            <a:endParaRPr lang="en-US" sz="1800" dirty="0"/>
          </a:p>
        </p:txBody>
      </p:sp>
      <p:pic>
        <p:nvPicPr>
          <p:cNvPr id="15" name="Image 9" descr="https://test.web.static.jianzeppt.com/ppt-temp-img3/b2dfedbed9f1c0334243cbac1766c592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124200"/>
            <a:ext cx="10972800" cy="195072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3383280"/>
            <a:ext cx="426720" cy="42672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0120" y="3489960"/>
            <a:ext cx="213360" cy="213360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1463040" y="336804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400" dirty="0"/>
          </a:p>
        </p:txBody>
      </p:sp>
      <p:sp>
        <p:nvSpPr>
          <p:cNvPr id="19" name="Text 5"/>
          <p:cNvSpPr/>
          <p:nvPr>
            <p:custDataLst>
              <p:tags r:id="rId16"/>
            </p:custDataLst>
          </p:nvPr>
        </p:nvSpPr>
        <p:spPr>
          <a:xfrm>
            <a:off x="853440" y="396240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1920" dirty="0"/>
          </a:p>
        </p:txBody>
      </p:sp>
      <p:sp>
        <p:nvSpPr>
          <p:cNvPr id="20" name="Text 6"/>
          <p:cNvSpPr/>
          <p:nvPr>
            <p:custDataLst>
              <p:tags r:id="rId17"/>
            </p:custDataLst>
          </p:nvPr>
        </p:nvSpPr>
        <p:spPr>
          <a:xfrm>
            <a:off x="1219200" y="4067175"/>
            <a:ext cx="291998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识别感知层设备 (传感器等)</a:t>
            </a:r>
            <a:endParaRPr lang="en-US" sz="1800" dirty="0"/>
          </a:p>
        </p:txBody>
      </p:sp>
      <p:sp>
        <p:nvSpPr>
          <p:cNvPr id="21" name="Text 7"/>
          <p:cNvSpPr/>
          <p:nvPr>
            <p:custDataLst>
              <p:tags r:id="rId18"/>
            </p:custDataLst>
          </p:nvPr>
        </p:nvSpPr>
        <p:spPr>
          <a:xfrm>
            <a:off x="6217920" y="396240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1920" dirty="0"/>
          </a:p>
        </p:txBody>
      </p:sp>
      <p:sp>
        <p:nvSpPr>
          <p:cNvPr id="22" name="Text 8"/>
          <p:cNvSpPr/>
          <p:nvPr>
            <p:custDataLst>
              <p:tags r:id="rId19"/>
            </p:custDataLst>
          </p:nvPr>
        </p:nvSpPr>
        <p:spPr>
          <a:xfrm>
            <a:off x="6583680" y="4067175"/>
            <a:ext cx="26761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识别网络层技术 (WiFi等)</a:t>
            </a:r>
            <a:endParaRPr lang="en-US" sz="1800" dirty="0"/>
          </a:p>
        </p:txBody>
      </p:sp>
      <p:sp>
        <p:nvSpPr>
          <p:cNvPr id="23" name="Text 9"/>
          <p:cNvSpPr/>
          <p:nvPr>
            <p:custDataLst>
              <p:tags r:id="rId20"/>
            </p:custDataLst>
          </p:nvPr>
        </p:nvSpPr>
        <p:spPr>
          <a:xfrm>
            <a:off x="853440" y="446532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1920" dirty="0"/>
          </a:p>
        </p:txBody>
      </p:sp>
      <p:sp>
        <p:nvSpPr>
          <p:cNvPr id="24" name="Text 10"/>
          <p:cNvSpPr/>
          <p:nvPr>
            <p:custDataLst>
              <p:tags r:id="rId21"/>
            </p:custDataLst>
          </p:nvPr>
        </p:nvSpPr>
        <p:spPr>
          <a:xfrm>
            <a:off x="1219200" y="4570095"/>
            <a:ext cx="291998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识别应用层系统 (云平台等)</a:t>
            </a:r>
            <a:endParaRPr lang="en-US" sz="1800" dirty="0"/>
          </a:p>
        </p:txBody>
      </p:sp>
      <p:sp>
        <p:nvSpPr>
          <p:cNvPr id="25" name="Text 11"/>
          <p:cNvSpPr/>
          <p:nvPr>
            <p:custDataLst>
              <p:tags r:id="rId22"/>
            </p:custDataLst>
          </p:nvPr>
        </p:nvSpPr>
        <p:spPr>
          <a:xfrm>
            <a:off x="6217920" y="446532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④</a:t>
            </a:r>
            <a:endParaRPr lang="en-US" sz="192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6583680" y="4587240"/>
            <a:ext cx="2950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绘制三层架构图及安全标注</a:t>
            </a:r>
            <a:endParaRPr lang="en-US" sz="18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9600" y="5410200"/>
            <a:ext cx="10972800" cy="822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92480" y="5608320"/>
            <a:ext cx="426720" cy="42672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9160" y="5715000"/>
            <a:ext cx="213360" cy="21336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1341120" y="55930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成果形式</a:t>
            </a:r>
            <a:endParaRPr lang="en-US" sz="2400" dirty="0"/>
          </a:p>
        </p:txBody>
      </p:sp>
      <p:pic>
        <p:nvPicPr>
          <p:cNvPr id="31" name="Image 15" descr="https://test.web.static.jianzeppt.com/ppt-temp-img3/b0a06b4b83cc1cf80db894be167ac56f.png?x-oss-process=image/resize,w_1440,h_800,m_lfit/format,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04160" y="5598109"/>
            <a:ext cx="15240" cy="4572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3063240" y="5638800"/>
            <a:ext cx="4291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kern="0" spc="64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《物联网架构分析记录表》（见素材2）</a:t>
            </a:r>
            <a:endParaRPr lang="en-US" sz="1920" dirty="0"/>
          </a:p>
        </p:txBody>
      </p:sp>
      <p:sp>
        <p:nvSpPr>
          <p:cNvPr id="33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实践任务1——物联网架构辨识（20分钟）</a:t>
            </a:r>
            <a:endParaRPr lang="en-US" sz="2760" dirty="0"/>
          </a:p>
        </p:txBody>
      </p:sp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259570" y="55054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31" imgW="971550" imgH="666750" progId="Word.Document.12">
                  <p:embed/>
                </p:oleObj>
              </mc:Choice>
              <mc:Fallback>
                <p:oleObj name="" showAsIcon="1" r:id="rId31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259570" y="55054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75900" y="55054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showAsIcon="1" r:id="rId33" imgW="971550" imgH="666750" progId="Word.Document.12">
                  <p:embed/>
                </p:oleObj>
              </mc:Choice>
              <mc:Fallback>
                <p:oleObj name="" showAsIcon="1" r:id="rId33" imgW="971550" imgH="666750" progId="Word.Document.12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375900" y="55054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328160"/>
            <a:ext cx="10972800" cy="13106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4572000"/>
            <a:ext cx="10433304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物联网让万物互联，也让万物“可被攻击”——安全测评就是给物联网系统装上“防火墙”。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7" name="Image 4" descr="https://test.web.static.jianzeppt.com/ppt-temp-img3/1183d50e58d5ebe3b993ae9080e5fd1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3459480" cy="2651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68680" y="2087880"/>
            <a:ext cx="2950464" cy="14897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2009年温家宝在无锡提出“感知中国”战略；中国是全球物联网产业领先者，安全至关重要</a:t>
            </a:r>
            <a:endParaRPr lang="en-US" sz="18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1386840"/>
            <a:ext cx="3429000" cy="4876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417320" y="140208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“感知中国”</a:t>
            </a:r>
            <a:endParaRPr lang="en-US" sz="2400" dirty="0"/>
          </a:p>
        </p:txBody>
      </p:sp>
      <p:pic>
        <p:nvPicPr>
          <p:cNvPr id="11" name="Image 6" descr="https://test.web.static.jianzeppt.com/ppt-temp-img3/1183d50e58d5ebe3b993ae9080e5fd1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80" y="1371600"/>
            <a:ext cx="3459480" cy="26517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632960" y="2286000"/>
            <a:ext cx="2950464" cy="11172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电力、水利、交通等关键基础设施都在部署物联网；一旦遭受攻击，影响国计民生</a:t>
            </a:r>
            <a:endParaRPr lang="en-US" sz="18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9120" y="1386840"/>
            <a:ext cx="3429000" cy="4876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181600" y="140208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关键基础设施</a:t>
            </a:r>
            <a:endParaRPr lang="en-US" sz="2400" dirty="0"/>
          </a:p>
        </p:txBody>
      </p:sp>
      <p:pic>
        <p:nvPicPr>
          <p:cNvPr id="15" name="Image 8" descr="https://test.web.static.jianzeppt.com/ppt-temp-img3/1183d50e58d5ebe3b993ae9080e5fd11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920" y="1371600"/>
            <a:ext cx="3459480" cy="265176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8382000" y="2087880"/>
            <a:ext cx="2950464" cy="14897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海量感知数据包含地理、资源、人员等敏感信息；数据安全是国家安全的重要组成部分</a:t>
            </a:r>
            <a:endParaRPr lang="en-US" sz="180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8160" y="1386840"/>
            <a:ext cx="3429000" cy="48768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9250680" y="14020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数据主权</a:t>
            </a:r>
            <a:endParaRPr lang="en-US" sz="2400" dirty="0"/>
          </a:p>
        </p:txBody>
      </p:sp>
      <p:sp>
        <p:nvSpPr>
          <p:cNvPr id="19" name="Text 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思政融入——物联网安全关乎国家安全</a:t>
            </a:r>
            <a:endParaRPr lang="en-US" sz="2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08d96cf81de2d993fcc262244104300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426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6800" y="3048000"/>
            <a:ext cx="2438400" cy="9144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0"/>
          <p:cNvSpPr/>
          <p:nvPr/>
        </p:nvSpPr>
        <p:spPr>
          <a:xfrm>
            <a:off x="5029200" y="3322320"/>
            <a:ext cx="21427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物联网架构认知</a:t>
            </a:r>
            <a:endParaRPr lang="en-US" sz="24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1600200"/>
            <a:ext cx="3962400" cy="1463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6" descr="https://test.web.static.jianzeppt.com/ppt-temp-img3/b8a6c1006b915ce974756d9550d2ed8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615440"/>
            <a:ext cx="3931920" cy="67056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868680" y="17373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一、物联网基本概念</a:t>
            </a:r>
            <a:endParaRPr lang="en-US" sz="2160" dirty="0"/>
          </a:p>
        </p:txBody>
      </p:sp>
      <p:pic>
        <p:nvPicPr>
          <p:cNvPr id="11" name="Image 7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286000"/>
            <a:ext cx="3931920" cy="1524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868680" y="2468880"/>
            <a:ext cx="173126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定义、三个特征</a:t>
            </a:r>
            <a:endParaRPr lang="en-US" sz="192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038600"/>
            <a:ext cx="3962400" cy="1463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4" name="Image 9" descr="https://test.web.static.jianzeppt.com/ppt-temp-img3/031e5ce944d118c377b9e37c5435e1b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4053840"/>
            <a:ext cx="3931920" cy="67056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868680" y="41757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二、三层架构</a:t>
            </a:r>
            <a:endParaRPr lang="en-US" sz="2160" dirty="0"/>
          </a:p>
        </p:txBody>
      </p:sp>
      <p:pic>
        <p:nvPicPr>
          <p:cNvPr id="16" name="Image 10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4724400"/>
            <a:ext cx="3931920" cy="1524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868680" y="4907280"/>
            <a:ext cx="270662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感知层、网络层、应用层</a:t>
            </a:r>
            <a:endParaRPr lang="en-US" sz="192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0" y="1600200"/>
            <a:ext cx="3962400" cy="1463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9" name="Image 12" descr="https://test.web.static.jianzeppt.com/ppt-temp-img3/f9c263001ce581648bcff5bd64f646a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1615440"/>
            <a:ext cx="3931920" cy="67056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7879080" y="17373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三、各层安全风险</a:t>
            </a:r>
            <a:endParaRPr lang="en-US" sz="2160" dirty="0"/>
          </a:p>
        </p:txBody>
      </p:sp>
      <p:pic>
        <p:nvPicPr>
          <p:cNvPr id="21" name="Image 13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2286000"/>
            <a:ext cx="3931920" cy="15240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7879080" y="2468880"/>
            <a:ext cx="270662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感知层、网络层、应用层</a:t>
            </a:r>
            <a:endParaRPr lang="en-US" sz="1920" dirty="0"/>
          </a:p>
        </p:txBody>
      </p:sp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0" y="4038600"/>
            <a:ext cx="3962400" cy="1859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4" name="Image 15" descr="https://test.web.static.jianzeppt.com/ppt-temp-img3/3ccb82c30ff143cfda84955d06d3851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4053840"/>
            <a:ext cx="3931920" cy="67056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879080" y="417576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四、等保物联网扩展要求</a:t>
            </a:r>
            <a:endParaRPr lang="en-US" sz="2160" dirty="0"/>
          </a:p>
        </p:txBody>
      </p:sp>
      <p:pic>
        <p:nvPicPr>
          <p:cNvPr id="26" name="Image 16" descr="https://test.web.static.jianzeppt.com/ppt-temp-img3/78a660d83ba584cc13df8d5921e0d4a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4724400"/>
            <a:ext cx="3931920" cy="1524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7879080" y="4907280"/>
            <a:ext cx="3453384" cy="8001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物理防护、接入与入侵防范、节点安全</a:t>
            </a:r>
            <a:endParaRPr lang="en-US" sz="1920" dirty="0"/>
          </a:p>
        </p:txBody>
      </p:sp>
      <p:sp>
        <p:nvSpPr>
          <p:cNvPr id="28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17320"/>
            <a:ext cx="10972800" cy="868680"/>
          </a:xfrm>
          <a:prstGeom prst="rect">
            <a:avLst/>
          </a:prstGeom>
        </p:spPr>
      </p:pic>
      <p:pic>
        <p:nvPicPr>
          <p:cNvPr id="6" name="Image 4" descr="https://test.web.static.jianzeppt.com/ppt-temp-img3/63da8daa6c1f2e67e91d00160d212c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17320"/>
            <a:ext cx="152400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66800" y="161544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2377440" y="1661160"/>
            <a:ext cx="823874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完成《物联网架构分析记录表》（选择一个场景），提交至学习通平台</a:t>
            </a:r>
            <a:endParaRPr lang="en-US" sz="2160" dirty="0"/>
          </a:p>
        </p:txBody>
      </p:sp>
      <p:pic>
        <p:nvPicPr>
          <p:cNvPr id="9" name="Image 5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514600"/>
            <a:ext cx="10972800" cy="868680"/>
          </a:xfrm>
          <a:prstGeom prst="rect">
            <a:avLst/>
          </a:prstGeom>
        </p:spPr>
      </p:pic>
      <p:pic>
        <p:nvPicPr>
          <p:cNvPr id="10" name="Image 6" descr="https://test.web.static.jianzeppt.com/ppt-temp-img3/25a46ec7c73632c2e9bc4747486a7c4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514600"/>
            <a:ext cx="1524000" cy="86868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66800" y="272796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2377440" y="2758440"/>
            <a:ext cx="6288024" cy="3574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完成活动7.3.1在线测试（选择题+判断题，共15题）</a:t>
            </a:r>
            <a:endParaRPr lang="en-US" sz="2040" dirty="0"/>
          </a:p>
        </p:txBody>
      </p:sp>
      <p:pic>
        <p:nvPicPr>
          <p:cNvPr id="13" name="Image 7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27120"/>
            <a:ext cx="10972800" cy="868680"/>
          </a:xfrm>
          <a:prstGeom prst="rect">
            <a:avLst/>
          </a:prstGeom>
        </p:spPr>
      </p:pic>
      <p:pic>
        <p:nvPicPr>
          <p:cNvPr id="14" name="Image 8" descr="https://test.web.static.jianzeppt.com/ppt-temp-img3/2273df37f185a5fc3486a2e91da6857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627120"/>
            <a:ext cx="1524000" cy="86868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066800" y="382524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2400" dirty="0"/>
          </a:p>
        </p:txBody>
      </p:sp>
      <p:sp>
        <p:nvSpPr>
          <p:cNvPr id="16" name="Text 5"/>
          <p:cNvSpPr/>
          <p:nvPr/>
        </p:nvSpPr>
        <p:spPr>
          <a:xfrm>
            <a:off x="2377440" y="3870960"/>
            <a:ext cx="631850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搜索一个物联网安全事件案例，分析其发生在哪一层</a:t>
            </a:r>
            <a:endParaRPr lang="en-US" sz="2160" dirty="0"/>
          </a:p>
        </p:txBody>
      </p:sp>
      <p:pic>
        <p:nvPicPr>
          <p:cNvPr id="17" name="Image 9" descr="https://test.web.static.jianzeppt.com/ppt-temp-img3/85077defc2b84810682585b3cbe089e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39640"/>
            <a:ext cx="10972800" cy="868680"/>
          </a:xfrm>
          <a:prstGeom prst="rect">
            <a:avLst/>
          </a:prstGeom>
        </p:spPr>
      </p:pic>
      <p:pic>
        <p:nvPicPr>
          <p:cNvPr id="18" name="Image 10" descr="https://test.web.static.jianzeppt.com/ppt-temp-img3/252b4525d2c8317fb58d0297d77624fe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39640"/>
            <a:ext cx="1524000" cy="86868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1066800" y="493776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2400" dirty="0"/>
          </a:p>
        </p:txBody>
      </p:sp>
      <p:sp>
        <p:nvSpPr>
          <p:cNvPr id="20" name="Text 7"/>
          <p:cNvSpPr/>
          <p:nvPr/>
        </p:nvSpPr>
        <p:spPr>
          <a:xfrm>
            <a:off x="2377440" y="4983480"/>
            <a:ext cx="528218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预习7.3.2“物联网安全配置核查”相关内容</a:t>
            </a:r>
            <a:endParaRPr lang="en-US" sz="2160" dirty="0"/>
          </a:p>
        </p:txBody>
      </p:sp>
      <p:sp>
        <p:nvSpPr>
          <p:cNvPr id="21" name="Text 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2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3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4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5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6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7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8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9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0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1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2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3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4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5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6.xml><?xml version="1.0" encoding="utf-8"?>
<p:tagLst xmlns:p="http://schemas.openxmlformats.org/presentationml/2006/main">
  <p:tag name="KSO_WM_DIAGRAM_VIRTUALLY_FRAME" val="{&quot;height&quot;:280.8,&quot;left&quot;:48,&quot;top&quot;:164.4,&quot;width&quot;:892.1700000000001}"/>
</p:tagLst>
</file>

<file path=ppt/tags/tag17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18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19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0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1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2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3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ags/tag24.xml><?xml version="1.0" encoding="utf-8"?>
<p:tagLst xmlns:p="http://schemas.openxmlformats.org/presentationml/2006/main">
  <p:tag name="KSO_WM_DIAGRAM_VIRTUALLY_FRAME" val="{&quot;height&quot;:75.22503937007873,&quot;left&quot;:67.2,&quot;top&quot;:310.8,&quot;width&quot;:683.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3124</Words>
  <Application>WPS 演示</Application>
  <PresentationFormat>On-screen Show (16:9)</PresentationFormat>
  <Paragraphs>644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22</vt:i4>
      </vt:variant>
    </vt:vector>
  </HeadingPairs>
  <TitlesOfParts>
    <vt:vector size="44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KSOFD72470BC</vt:lpstr>
      <vt:lpstr>FFont-Family</vt:lpstr>
      <vt:lpstr>Office Theme</vt:lpstr>
      <vt:lpstr>Word.Document.12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杨传筠</cp:lastModifiedBy>
  <cp:revision>4</cp:revision>
  <dcterms:created xsi:type="dcterms:W3CDTF">2026-08-30T16:30:00Z</dcterms:created>
  <dcterms:modified xsi:type="dcterms:W3CDTF">2026-09-05T22:59:27Z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3B940DCF87B4468F8EEBB8BEC4A83819_12</vt:lpwstr>
  </property>
</Properties>
</file>