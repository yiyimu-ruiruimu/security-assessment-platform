
<file path=[Content_Types].xml><?xml version="1.0" encoding="utf-8"?>
<Types xmlns="http://schemas.openxmlformats.org/package/2006/content-types">
  <Default Extension="vml" ContentType="application/vnd.openxmlformats-officedocument.vmlDrawing"/>
  <Default Extension="docx" ContentType="application/vnd.openxmlformats-officedocument.wordprocessingml.documen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0.svg" ContentType="image/svg+xml"/>
  <Override PartName="/ppt/media/image103.svg" ContentType="image/svg+xml"/>
  <Override PartName="/ppt/media/image105.svg" ContentType="image/svg+xml"/>
  <Override PartName="/ppt/media/image106.svg" ContentType="image/svg+xml"/>
  <Override PartName="/ppt/media/image107.svg" ContentType="image/svg+xml"/>
  <Override PartName="/ppt/media/image108.svg" ContentType="image/svg+xml"/>
  <Override PartName="/ppt/media/image109.svg" ContentType="image/svg+xml"/>
  <Override PartName="/ppt/media/image110.svg" ContentType="image/svg+xml"/>
  <Override PartName="/ppt/media/image111.svg" ContentType="image/svg+xml"/>
  <Override PartName="/ppt/media/image114.svg" ContentType="image/svg+xml"/>
  <Override PartName="/ppt/media/image117.svg" ContentType="image/svg+xml"/>
  <Override PartName="/ppt/media/image120.svg" ContentType="image/svg+xml"/>
  <Override PartName="/ppt/media/image122.svg" ContentType="image/svg+xml"/>
  <Override PartName="/ppt/media/image124.svg" ContentType="image/svg+xml"/>
  <Override PartName="/ppt/media/image127.svg" ContentType="image/svg+xml"/>
  <Override PartName="/ppt/media/image130.svg" ContentType="image/svg+xml"/>
  <Override PartName="/ppt/media/image132.svg" ContentType="image/svg+xml"/>
  <Override PartName="/ppt/media/image134.svg" ContentType="image/svg+xml"/>
  <Override PartName="/ppt/media/image136.svg" ContentType="image/svg+xml"/>
  <Override PartName="/ppt/media/image138.svg" ContentType="image/svg+xml"/>
  <Override PartName="/ppt/media/image140.svg" ContentType="image/svg+xml"/>
  <Override PartName="/ppt/media/image142.svg" ContentType="image/svg+xml"/>
  <Override PartName="/ppt/media/image145.svg" ContentType="image/svg+xml"/>
  <Override PartName="/ppt/media/image147.svg" ContentType="image/svg+xml"/>
  <Override PartName="/ppt/media/image15.svg" ContentType="image/svg+xml"/>
  <Override PartName="/ppt/media/image150.svg" ContentType="image/svg+xml"/>
  <Override PartName="/ppt/media/image153.svg" ContentType="image/svg+xml"/>
  <Override PartName="/ppt/media/image17.svg" ContentType="image/svg+xml"/>
  <Override PartName="/ppt/media/image21.svg" ContentType="image/svg+xml"/>
  <Override PartName="/ppt/media/image24.svg" ContentType="image/svg+xml"/>
  <Override PartName="/ppt/media/image26.svg" ContentType="image/svg+xml"/>
  <Override PartName="/ppt/media/image30.svg" ContentType="image/svg+xml"/>
  <Override PartName="/ppt/media/image38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1.svg" ContentType="image/svg+xml"/>
  <Override PartName="/ppt/media/image60.svg" ContentType="image/svg+xml"/>
  <Override PartName="/ppt/media/image62.svg" ContentType="image/svg+xml"/>
  <Override PartName="/ppt/media/image67.svg" ContentType="image/svg+xml"/>
  <Override PartName="/ppt/media/image71.svg" ContentType="image/svg+xml"/>
  <Override PartName="/ppt/media/image79.svg" ContentType="image/svg+xml"/>
  <Override PartName="/ppt/media/image81.svg" ContentType="image/svg+xml"/>
  <Override PartName="/ppt/media/image84.svg" ContentType="image/svg+xml"/>
  <Override PartName="/ppt/media/image86.svg" ContentType="image/svg+xml"/>
  <Override PartName="/ppt/media/image89.svg" ContentType="image/svg+xml"/>
  <Override PartName="/ppt/media/image95.svg" ContentType="image/svg+xml"/>
  <Override PartName="/ppt/media/image97.svg" ContentType="image/svg+xml"/>
  <Override PartName="/ppt/media/image9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77" r:id="rId6"/>
    <p:sldId id="258" r:id="rId7"/>
    <p:sldId id="259" r:id="rId8"/>
    <p:sldId id="278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79" r:id="rId19"/>
    <p:sldId id="269" r:id="rId20"/>
    <p:sldId id="281" r:id="rId21"/>
    <p:sldId id="280" r:id="rId22"/>
    <p:sldId id="272" r:id="rId23"/>
    <p:sldId id="273" r:id="rId24"/>
    <p:sldId id="275" r:id="rId25"/>
    <p:sldId id="276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Q</a:t>
            </a:r>
            <a:r>
              <a:rPr lang="zh-CN" altLang="en-US"/>
              <a:t>：数据库被拖库了，但日志里什么都没有</a:t>
            </a:r>
            <a:r>
              <a:rPr lang="en-US" altLang="zh-CN"/>
              <a:t> —— </a:t>
            </a:r>
            <a:r>
              <a:rPr lang="zh-CN" altLang="en-US"/>
              <a:t>问题出在哪？</a:t>
            </a:r>
            <a:endParaRPr lang="zh-CN" altLang="en-US"/>
          </a:p>
          <a:p>
            <a:r>
              <a:rPr lang="en-US" altLang="zh-CN"/>
              <a:t>**</a:t>
            </a:r>
            <a:r>
              <a:rPr lang="zh-CN" altLang="en-US"/>
              <a:t>拖库</a:t>
            </a:r>
            <a:r>
              <a:rPr lang="en-US" altLang="zh-CN"/>
              <a:t>**</a:t>
            </a:r>
            <a:r>
              <a:rPr lang="zh-CN" altLang="en-US"/>
              <a:t>：黑客通过漏洞入侵数据库，把整张用户数据表（账号、手机号、密码）全部下载窃取。</a:t>
            </a:r>
            <a:endParaRPr lang="zh-CN" altLang="en-US"/>
          </a:p>
          <a:p>
            <a:r>
              <a:rPr lang="zh-CN" altLang="en-US"/>
              <a:t>现象：入侵事件发生后，审计日志是空的，查不到攻击者操作记录。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mysql</a:t>
            </a:r>
            <a:r>
              <a:rPr lang="zh-CN" altLang="en-US" dirty="0"/>
              <a:t>：</a:t>
            </a:r>
            <a:r>
              <a:rPr lang="en-US" altLang="zh-CN" dirty="0"/>
              <a:t>oracle</a:t>
            </a:r>
            <a:r>
              <a:rPr lang="zh-CN" altLang="en-US" dirty="0"/>
              <a:t>，端口</a:t>
            </a:r>
            <a:r>
              <a:rPr lang="en-US" altLang="zh-CN" dirty="0"/>
              <a:t>3306</a:t>
            </a:r>
            <a:r>
              <a:rPr lang="zh-CN" altLang="en-US" dirty="0"/>
              <a:t>；</a:t>
            </a:r>
            <a:r>
              <a:rPr lang="en-US" altLang="zh-CN" dirty="0"/>
              <a:t>SQL Server</a:t>
            </a:r>
            <a:r>
              <a:rPr lang="zh-CN" altLang="en-US" dirty="0"/>
              <a:t>：微软，有</a:t>
            </a:r>
            <a:r>
              <a:rPr lang="en-US" altLang="zh-CN" dirty="0"/>
              <a:t>sa</a:t>
            </a:r>
            <a:r>
              <a:rPr lang="zh-CN" altLang="en-US" dirty="0"/>
              <a:t>账户，端口</a:t>
            </a:r>
            <a:r>
              <a:rPr lang="en-US" altLang="zh-CN" dirty="0"/>
              <a:t>1433</a:t>
            </a:r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# TDE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**</a:t>
            </a:r>
            <a:r>
              <a:rPr lang="zh-CN" altLang="en-US"/>
              <a:t>全称：</a:t>
            </a:r>
            <a:r>
              <a:rPr lang="en-US" altLang="zh-CN"/>
              <a:t>Transparent Data Encryption</a:t>
            </a:r>
            <a:r>
              <a:rPr lang="zh-CN" altLang="en-US"/>
              <a:t>，透明数据加密</a:t>
            </a:r>
            <a:r>
              <a:rPr lang="en-US" altLang="zh-CN"/>
              <a:t>**</a:t>
            </a:r>
            <a:r>
              <a:rPr lang="zh-CN" altLang="en-US"/>
              <a:t>，数据库数据静态落盘加密</a:t>
            </a:r>
            <a:r>
              <a:rPr lang="zh-CN" altLang="en-US"/>
              <a:t>技术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0" Type="http://schemas.openxmlformats.org/officeDocument/2006/relationships/notesSlide" Target="../notesSlides/notesSlide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png"/><Relationship Id="rId8" Type="http://schemas.openxmlformats.org/officeDocument/2006/relationships/image" Target="../media/image17.svg"/><Relationship Id="rId7" Type="http://schemas.openxmlformats.org/officeDocument/2006/relationships/image" Target="../media/image16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4" Type="http://schemas.openxmlformats.org/officeDocument/2006/relationships/notesSlide" Target="../notesSlides/notesSlide3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21.svg"/><Relationship Id="rId11" Type="http://schemas.openxmlformats.org/officeDocument/2006/relationships/image" Target="../media/image20.png"/><Relationship Id="rId10" Type="http://schemas.openxmlformats.org/officeDocument/2006/relationships/image" Target="../media/image19.pn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.xml"/><Relationship Id="rId8" Type="http://schemas.openxmlformats.org/officeDocument/2006/relationships/image" Target="../media/image24.svg"/><Relationship Id="rId7" Type="http://schemas.openxmlformats.org/officeDocument/2006/relationships/image" Target="../media/image23.png"/><Relationship Id="rId6" Type="http://schemas.openxmlformats.org/officeDocument/2006/relationships/tags" Target="../tags/tag2.xml"/><Relationship Id="rId5" Type="http://schemas.openxmlformats.org/officeDocument/2006/relationships/image" Target="../media/image22.png"/><Relationship Id="rId4" Type="http://schemas.openxmlformats.org/officeDocument/2006/relationships/tags" Target="../tags/tag1.xml"/><Relationship Id="rId35" Type="http://schemas.openxmlformats.org/officeDocument/2006/relationships/notesSlide" Target="../notesSlides/notesSlide4.xml"/><Relationship Id="rId34" Type="http://schemas.openxmlformats.org/officeDocument/2006/relationships/slideLayout" Target="../slideLayouts/slideLayout1.xml"/><Relationship Id="rId33" Type="http://schemas.openxmlformats.org/officeDocument/2006/relationships/tags" Target="../tags/tag25.xml"/><Relationship Id="rId32" Type="http://schemas.openxmlformats.org/officeDocument/2006/relationships/tags" Target="../tags/tag24.xml"/><Relationship Id="rId31" Type="http://schemas.openxmlformats.org/officeDocument/2006/relationships/tags" Target="../tags/tag23.xml"/><Relationship Id="rId30" Type="http://schemas.openxmlformats.org/officeDocument/2006/relationships/tags" Target="../tags/tag22.xml"/><Relationship Id="rId3" Type="http://schemas.openxmlformats.org/officeDocument/2006/relationships/image" Target="../media/image12.png"/><Relationship Id="rId29" Type="http://schemas.openxmlformats.org/officeDocument/2006/relationships/tags" Target="../tags/tag21.xml"/><Relationship Id="rId28" Type="http://schemas.openxmlformats.org/officeDocument/2006/relationships/tags" Target="../tags/tag20.xml"/><Relationship Id="rId27" Type="http://schemas.openxmlformats.org/officeDocument/2006/relationships/tags" Target="../tags/tag19.xml"/><Relationship Id="rId26" Type="http://schemas.openxmlformats.org/officeDocument/2006/relationships/tags" Target="../tags/tag18.xml"/><Relationship Id="rId25" Type="http://schemas.openxmlformats.org/officeDocument/2006/relationships/tags" Target="../tags/tag17.xml"/><Relationship Id="rId24" Type="http://schemas.openxmlformats.org/officeDocument/2006/relationships/image" Target="../media/image26.svg"/><Relationship Id="rId23" Type="http://schemas.openxmlformats.org/officeDocument/2006/relationships/image" Target="../media/image25.png"/><Relationship Id="rId22" Type="http://schemas.openxmlformats.org/officeDocument/2006/relationships/tags" Target="../tags/tag16.xml"/><Relationship Id="rId21" Type="http://schemas.openxmlformats.org/officeDocument/2006/relationships/tags" Target="../tags/tag15.xml"/><Relationship Id="rId20" Type="http://schemas.openxmlformats.org/officeDocument/2006/relationships/tags" Target="../tags/tag14.xml"/><Relationship Id="rId2" Type="http://schemas.openxmlformats.org/officeDocument/2006/relationships/image" Target="../media/image11.png"/><Relationship Id="rId19" Type="http://schemas.openxmlformats.org/officeDocument/2006/relationships/tags" Target="../tags/tag13.xml"/><Relationship Id="rId18" Type="http://schemas.openxmlformats.org/officeDocument/2006/relationships/tags" Target="../tags/tag12.xml"/><Relationship Id="rId17" Type="http://schemas.openxmlformats.org/officeDocument/2006/relationships/tags" Target="../tags/tag11.xml"/><Relationship Id="rId16" Type="http://schemas.openxmlformats.org/officeDocument/2006/relationships/tags" Target="../tags/tag10.xml"/><Relationship Id="rId15" Type="http://schemas.openxmlformats.org/officeDocument/2006/relationships/tags" Target="../tags/tag9.xml"/><Relationship Id="rId14" Type="http://schemas.openxmlformats.org/officeDocument/2006/relationships/tags" Target="../tags/tag8.xml"/><Relationship Id="rId13" Type="http://schemas.openxmlformats.org/officeDocument/2006/relationships/tags" Target="../tags/tag7.xml"/><Relationship Id="rId12" Type="http://schemas.openxmlformats.org/officeDocument/2006/relationships/tags" Target="../tags/tag6.xml"/><Relationship Id="rId11" Type="http://schemas.openxmlformats.org/officeDocument/2006/relationships/tags" Target="../tags/tag5.xml"/><Relationship Id="rId10" Type="http://schemas.openxmlformats.org/officeDocument/2006/relationships/tags" Target="../tags/tag4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7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4.png"/><Relationship Id="rId8" Type="http://schemas.openxmlformats.org/officeDocument/2006/relationships/image" Target="../media/image33.png"/><Relationship Id="rId7" Type="http://schemas.openxmlformats.org/officeDocument/2006/relationships/image" Target="../media/image32.png"/><Relationship Id="rId6" Type="http://schemas.openxmlformats.org/officeDocument/2006/relationships/image" Target="../media/image31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3" Type="http://schemas.openxmlformats.org/officeDocument/2006/relationships/notesSlide" Target="../notesSlides/notesSlide6.xml"/><Relationship Id="rId22" Type="http://schemas.openxmlformats.org/officeDocument/2006/relationships/slideLayout" Target="../slideLayouts/slideLayout1.xml"/><Relationship Id="rId21" Type="http://schemas.openxmlformats.org/officeDocument/2006/relationships/image" Target="../media/image46.svg"/><Relationship Id="rId20" Type="http://schemas.openxmlformats.org/officeDocument/2006/relationships/image" Target="../media/image45.png"/><Relationship Id="rId2" Type="http://schemas.openxmlformats.org/officeDocument/2006/relationships/image" Target="../media/image12.png"/><Relationship Id="rId19" Type="http://schemas.openxmlformats.org/officeDocument/2006/relationships/image" Target="../media/image44.svg"/><Relationship Id="rId18" Type="http://schemas.openxmlformats.org/officeDocument/2006/relationships/image" Target="../media/image43.png"/><Relationship Id="rId17" Type="http://schemas.openxmlformats.org/officeDocument/2006/relationships/image" Target="../media/image42.svg"/><Relationship Id="rId16" Type="http://schemas.openxmlformats.org/officeDocument/2006/relationships/image" Target="../media/image41.png"/><Relationship Id="rId15" Type="http://schemas.openxmlformats.org/officeDocument/2006/relationships/image" Target="../media/image40.png"/><Relationship Id="rId14" Type="http://schemas.openxmlformats.org/officeDocument/2006/relationships/image" Target="../media/image39.png"/><Relationship Id="rId13" Type="http://schemas.openxmlformats.org/officeDocument/2006/relationships/image" Target="../media/image38.svg"/><Relationship Id="rId12" Type="http://schemas.openxmlformats.org/officeDocument/2006/relationships/image" Target="../media/image37.png"/><Relationship Id="rId11" Type="http://schemas.openxmlformats.org/officeDocument/2006/relationships/image" Target="../media/image36.png"/><Relationship Id="rId10" Type="http://schemas.openxmlformats.org/officeDocument/2006/relationships/image" Target="../media/image35.png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52.png"/><Relationship Id="rId8" Type="http://schemas.openxmlformats.org/officeDocument/2006/relationships/image" Target="../media/image51.svg"/><Relationship Id="rId7" Type="http://schemas.openxmlformats.org/officeDocument/2006/relationships/image" Target="../media/image50.png"/><Relationship Id="rId6" Type="http://schemas.openxmlformats.org/officeDocument/2006/relationships/image" Target="../media/image49.png"/><Relationship Id="rId5" Type="http://schemas.openxmlformats.org/officeDocument/2006/relationships/image" Target="../media/image48.svg"/><Relationship Id="rId4" Type="http://schemas.openxmlformats.org/officeDocument/2006/relationships/image" Target="../media/image47.png"/><Relationship Id="rId3" Type="http://schemas.openxmlformats.org/officeDocument/2006/relationships/image" Target="../media/image12.png"/><Relationship Id="rId23" Type="http://schemas.openxmlformats.org/officeDocument/2006/relationships/notesSlide" Target="../notesSlides/notesSlide8.xml"/><Relationship Id="rId22" Type="http://schemas.openxmlformats.org/officeDocument/2006/relationships/slideLayout" Target="../slideLayouts/slideLayout1.xml"/><Relationship Id="rId21" Type="http://schemas.openxmlformats.org/officeDocument/2006/relationships/image" Target="../media/image64.png"/><Relationship Id="rId20" Type="http://schemas.openxmlformats.org/officeDocument/2006/relationships/image" Target="../media/image63.png"/><Relationship Id="rId2" Type="http://schemas.openxmlformats.org/officeDocument/2006/relationships/image" Target="../media/image11.png"/><Relationship Id="rId19" Type="http://schemas.openxmlformats.org/officeDocument/2006/relationships/image" Target="../media/image62.svg"/><Relationship Id="rId18" Type="http://schemas.openxmlformats.org/officeDocument/2006/relationships/image" Target="../media/image61.png"/><Relationship Id="rId17" Type="http://schemas.openxmlformats.org/officeDocument/2006/relationships/image" Target="../media/image60.svg"/><Relationship Id="rId16" Type="http://schemas.openxmlformats.org/officeDocument/2006/relationships/image" Target="../media/image59.png"/><Relationship Id="rId15" Type="http://schemas.openxmlformats.org/officeDocument/2006/relationships/image" Target="../media/image58.png"/><Relationship Id="rId14" Type="http://schemas.openxmlformats.org/officeDocument/2006/relationships/image" Target="../media/image57.png"/><Relationship Id="rId13" Type="http://schemas.openxmlformats.org/officeDocument/2006/relationships/image" Target="../media/image56.png"/><Relationship Id="rId12" Type="http://schemas.openxmlformats.org/officeDocument/2006/relationships/image" Target="../media/image55.png"/><Relationship Id="rId11" Type="http://schemas.openxmlformats.org/officeDocument/2006/relationships/image" Target="../media/image54.png"/><Relationship Id="rId10" Type="http://schemas.openxmlformats.org/officeDocument/2006/relationships/image" Target="../media/image53.png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image" Target="../media/image69.png"/><Relationship Id="rId7" Type="http://schemas.openxmlformats.org/officeDocument/2006/relationships/image" Target="../media/image68.png"/><Relationship Id="rId6" Type="http://schemas.openxmlformats.org/officeDocument/2006/relationships/image" Target="../media/image67.svg"/><Relationship Id="rId5" Type="http://schemas.openxmlformats.org/officeDocument/2006/relationships/image" Target="../media/image66.png"/><Relationship Id="rId4" Type="http://schemas.openxmlformats.org/officeDocument/2006/relationships/image" Target="../media/image65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1" Type="http://schemas.openxmlformats.org/officeDocument/2006/relationships/notesSlide" Target="../notesSlides/notesSlide9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4.png"/><Relationship Id="rId8" Type="http://schemas.openxmlformats.org/officeDocument/2006/relationships/image" Target="../media/image74.png"/><Relationship Id="rId7" Type="http://schemas.openxmlformats.org/officeDocument/2006/relationships/image" Target="../media/image73.png"/><Relationship Id="rId6" Type="http://schemas.openxmlformats.org/officeDocument/2006/relationships/image" Target="../media/image72.png"/><Relationship Id="rId5" Type="http://schemas.openxmlformats.org/officeDocument/2006/relationships/image" Target="../media/image71.svg"/><Relationship Id="rId4" Type="http://schemas.openxmlformats.org/officeDocument/2006/relationships/image" Target="../media/image70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8" Type="http://schemas.openxmlformats.org/officeDocument/2006/relationships/notesSlide" Target="../notesSlides/notesSlide10.xml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81.svg"/><Relationship Id="rId15" Type="http://schemas.openxmlformats.org/officeDocument/2006/relationships/image" Target="../media/image80.png"/><Relationship Id="rId14" Type="http://schemas.openxmlformats.org/officeDocument/2006/relationships/image" Target="../media/image79.svg"/><Relationship Id="rId13" Type="http://schemas.openxmlformats.org/officeDocument/2006/relationships/image" Target="../media/image78.png"/><Relationship Id="rId12" Type="http://schemas.openxmlformats.org/officeDocument/2006/relationships/image" Target="../media/image77.png"/><Relationship Id="rId11" Type="http://schemas.openxmlformats.org/officeDocument/2006/relationships/image" Target="../media/image76.png"/><Relationship Id="rId10" Type="http://schemas.openxmlformats.org/officeDocument/2006/relationships/image" Target="../media/image75.png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87.png"/><Relationship Id="rId8" Type="http://schemas.openxmlformats.org/officeDocument/2006/relationships/image" Target="../media/image86.svg"/><Relationship Id="rId7" Type="http://schemas.openxmlformats.org/officeDocument/2006/relationships/image" Target="../media/image85.png"/><Relationship Id="rId6" Type="http://schemas.openxmlformats.org/officeDocument/2006/relationships/image" Target="../media/image84.svg"/><Relationship Id="rId5" Type="http://schemas.openxmlformats.org/officeDocument/2006/relationships/image" Target="../media/image83.png"/><Relationship Id="rId4" Type="http://schemas.openxmlformats.org/officeDocument/2006/relationships/image" Target="../media/image82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5" Type="http://schemas.openxmlformats.org/officeDocument/2006/relationships/notesSlide" Target="../notesSlides/notesSlide11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91.png"/><Relationship Id="rId12" Type="http://schemas.openxmlformats.org/officeDocument/2006/relationships/image" Target="../media/image90.png"/><Relationship Id="rId11" Type="http://schemas.openxmlformats.org/officeDocument/2006/relationships/image" Target="../media/image89.svg"/><Relationship Id="rId10" Type="http://schemas.openxmlformats.org/officeDocument/2006/relationships/image" Target="../media/image88.png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97.svg"/><Relationship Id="rId8" Type="http://schemas.openxmlformats.org/officeDocument/2006/relationships/image" Target="../media/image96.png"/><Relationship Id="rId7" Type="http://schemas.openxmlformats.org/officeDocument/2006/relationships/image" Target="../media/image95.svg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92.png"/><Relationship Id="rId3" Type="http://schemas.openxmlformats.org/officeDocument/2006/relationships/image" Target="../media/image12.png"/><Relationship Id="rId25" Type="http://schemas.openxmlformats.org/officeDocument/2006/relationships/notesSlide" Target="../notesSlides/notesSlide12.xml"/><Relationship Id="rId24" Type="http://schemas.openxmlformats.org/officeDocument/2006/relationships/slideLayout" Target="../slideLayouts/slideLayout1.xml"/><Relationship Id="rId23" Type="http://schemas.openxmlformats.org/officeDocument/2006/relationships/image" Target="../media/image111.svg"/><Relationship Id="rId22" Type="http://schemas.openxmlformats.org/officeDocument/2006/relationships/image" Target="../media/image110.svg"/><Relationship Id="rId21" Type="http://schemas.openxmlformats.org/officeDocument/2006/relationships/image" Target="../media/image109.svg"/><Relationship Id="rId20" Type="http://schemas.openxmlformats.org/officeDocument/2006/relationships/image" Target="../media/image108.svg"/><Relationship Id="rId2" Type="http://schemas.openxmlformats.org/officeDocument/2006/relationships/image" Target="../media/image11.png"/><Relationship Id="rId19" Type="http://schemas.openxmlformats.org/officeDocument/2006/relationships/image" Target="../media/image107.svg"/><Relationship Id="rId18" Type="http://schemas.openxmlformats.org/officeDocument/2006/relationships/image" Target="../media/image106.svg"/><Relationship Id="rId17" Type="http://schemas.openxmlformats.org/officeDocument/2006/relationships/image" Target="../media/image105.svg"/><Relationship Id="rId16" Type="http://schemas.openxmlformats.org/officeDocument/2006/relationships/image" Target="../media/image104.png"/><Relationship Id="rId15" Type="http://schemas.openxmlformats.org/officeDocument/2006/relationships/image" Target="../media/image103.svg"/><Relationship Id="rId14" Type="http://schemas.openxmlformats.org/officeDocument/2006/relationships/image" Target="../media/image102.png"/><Relationship Id="rId13" Type="http://schemas.openxmlformats.org/officeDocument/2006/relationships/image" Target="../media/image101.png"/><Relationship Id="rId12" Type="http://schemas.openxmlformats.org/officeDocument/2006/relationships/image" Target="../media/image100.svg"/><Relationship Id="rId11" Type="http://schemas.openxmlformats.org/officeDocument/2006/relationships/image" Target="../media/image99.svg"/><Relationship Id="rId10" Type="http://schemas.openxmlformats.org/officeDocument/2006/relationships/image" Target="../media/image98.png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image" Target="../media/image114.svg"/><Relationship Id="rId7" Type="http://schemas.openxmlformats.org/officeDocument/2006/relationships/image" Target="../media/image113.png"/><Relationship Id="rId6" Type="http://schemas.openxmlformats.org/officeDocument/2006/relationships/tags" Target="../tags/tag28.xml"/><Relationship Id="rId5" Type="http://schemas.openxmlformats.org/officeDocument/2006/relationships/image" Target="../media/image112.png"/><Relationship Id="rId40" Type="http://schemas.openxmlformats.org/officeDocument/2006/relationships/notesSlide" Target="../notesSlides/notesSlide13.xml"/><Relationship Id="rId4" Type="http://schemas.openxmlformats.org/officeDocument/2006/relationships/tags" Target="../tags/tag27.xml"/><Relationship Id="rId39" Type="http://schemas.openxmlformats.org/officeDocument/2006/relationships/slideLayout" Target="../slideLayouts/slideLayout1.xml"/><Relationship Id="rId38" Type="http://schemas.openxmlformats.org/officeDocument/2006/relationships/tags" Target="../tags/tag57.xml"/><Relationship Id="rId37" Type="http://schemas.openxmlformats.org/officeDocument/2006/relationships/tags" Target="../tags/tag56.xml"/><Relationship Id="rId36" Type="http://schemas.openxmlformats.org/officeDocument/2006/relationships/tags" Target="../tags/tag55.xml"/><Relationship Id="rId35" Type="http://schemas.openxmlformats.org/officeDocument/2006/relationships/tags" Target="../tags/tag54.xml"/><Relationship Id="rId34" Type="http://schemas.openxmlformats.org/officeDocument/2006/relationships/tags" Target="../tags/tag53.xml"/><Relationship Id="rId33" Type="http://schemas.openxmlformats.org/officeDocument/2006/relationships/tags" Target="../tags/tag52.xml"/><Relationship Id="rId32" Type="http://schemas.openxmlformats.org/officeDocument/2006/relationships/tags" Target="../tags/tag51.xml"/><Relationship Id="rId31" Type="http://schemas.openxmlformats.org/officeDocument/2006/relationships/tags" Target="../tags/tag50.xml"/><Relationship Id="rId30" Type="http://schemas.openxmlformats.org/officeDocument/2006/relationships/tags" Target="../tags/tag49.xml"/><Relationship Id="rId3" Type="http://schemas.openxmlformats.org/officeDocument/2006/relationships/image" Target="../media/image12.png"/><Relationship Id="rId29" Type="http://schemas.openxmlformats.org/officeDocument/2006/relationships/tags" Target="../tags/tag48.xml"/><Relationship Id="rId28" Type="http://schemas.openxmlformats.org/officeDocument/2006/relationships/tags" Target="../tags/tag47.xml"/><Relationship Id="rId27" Type="http://schemas.openxmlformats.org/officeDocument/2006/relationships/tags" Target="../tags/tag46.xml"/><Relationship Id="rId26" Type="http://schemas.openxmlformats.org/officeDocument/2006/relationships/tags" Target="../tags/tag45.xml"/><Relationship Id="rId25" Type="http://schemas.openxmlformats.org/officeDocument/2006/relationships/tags" Target="../tags/tag44.xml"/><Relationship Id="rId24" Type="http://schemas.openxmlformats.org/officeDocument/2006/relationships/tags" Target="../tags/tag43.xml"/><Relationship Id="rId23" Type="http://schemas.openxmlformats.org/officeDocument/2006/relationships/tags" Target="../tags/tag42.xml"/><Relationship Id="rId22" Type="http://schemas.openxmlformats.org/officeDocument/2006/relationships/tags" Target="../tags/tag41.xml"/><Relationship Id="rId21" Type="http://schemas.openxmlformats.org/officeDocument/2006/relationships/tags" Target="../tags/tag40.xml"/><Relationship Id="rId20" Type="http://schemas.openxmlformats.org/officeDocument/2006/relationships/tags" Target="../tags/tag39.xml"/><Relationship Id="rId2" Type="http://schemas.openxmlformats.org/officeDocument/2006/relationships/image" Target="../media/image11.png"/><Relationship Id="rId19" Type="http://schemas.openxmlformats.org/officeDocument/2006/relationships/tags" Target="../tags/tag38.xml"/><Relationship Id="rId18" Type="http://schemas.openxmlformats.org/officeDocument/2006/relationships/tags" Target="../tags/tag37.xml"/><Relationship Id="rId17" Type="http://schemas.openxmlformats.org/officeDocument/2006/relationships/tags" Target="../tags/tag36.xml"/><Relationship Id="rId16" Type="http://schemas.openxmlformats.org/officeDocument/2006/relationships/tags" Target="../tags/tag35.xml"/><Relationship Id="rId15" Type="http://schemas.openxmlformats.org/officeDocument/2006/relationships/tags" Target="../tags/tag34.xml"/><Relationship Id="rId14" Type="http://schemas.openxmlformats.org/officeDocument/2006/relationships/tags" Target="../tags/tag33.xml"/><Relationship Id="rId13" Type="http://schemas.openxmlformats.org/officeDocument/2006/relationships/image" Target="../media/image115.png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1.png"/><Relationship Id="rId8" Type="http://schemas.openxmlformats.org/officeDocument/2006/relationships/tags" Target="../tags/tag58.xml"/><Relationship Id="rId7" Type="http://schemas.openxmlformats.org/officeDocument/2006/relationships/image" Target="../media/image120.svg"/><Relationship Id="rId6" Type="http://schemas.openxmlformats.org/officeDocument/2006/relationships/image" Target="../media/image119.png"/><Relationship Id="rId5" Type="http://schemas.openxmlformats.org/officeDocument/2006/relationships/image" Target="../media/image118.png"/><Relationship Id="rId46" Type="http://schemas.openxmlformats.org/officeDocument/2006/relationships/notesSlide" Target="../notesSlides/notesSlide14.xml"/><Relationship Id="rId45" Type="http://schemas.openxmlformats.org/officeDocument/2006/relationships/vmlDrawing" Target="../drawings/vmlDrawing1.vml"/><Relationship Id="rId44" Type="http://schemas.openxmlformats.org/officeDocument/2006/relationships/slideLayout" Target="../slideLayouts/slideLayout1.xml"/><Relationship Id="rId43" Type="http://schemas.openxmlformats.org/officeDocument/2006/relationships/image" Target="../media/image125.wmf"/><Relationship Id="rId42" Type="http://schemas.openxmlformats.org/officeDocument/2006/relationships/package" Target="../embeddings/Document1.docx"/><Relationship Id="rId41" Type="http://schemas.openxmlformats.org/officeDocument/2006/relationships/tags" Target="../tags/tag87.xml"/><Relationship Id="rId40" Type="http://schemas.openxmlformats.org/officeDocument/2006/relationships/tags" Target="../tags/tag86.xml"/><Relationship Id="rId4" Type="http://schemas.openxmlformats.org/officeDocument/2006/relationships/image" Target="../media/image117.svg"/><Relationship Id="rId39" Type="http://schemas.openxmlformats.org/officeDocument/2006/relationships/tags" Target="../tags/tag85.xml"/><Relationship Id="rId38" Type="http://schemas.openxmlformats.org/officeDocument/2006/relationships/tags" Target="../tags/tag84.xml"/><Relationship Id="rId37" Type="http://schemas.openxmlformats.org/officeDocument/2006/relationships/tags" Target="../tags/tag83.xml"/><Relationship Id="rId36" Type="http://schemas.openxmlformats.org/officeDocument/2006/relationships/tags" Target="../tags/tag82.xml"/><Relationship Id="rId35" Type="http://schemas.openxmlformats.org/officeDocument/2006/relationships/tags" Target="../tags/tag81.xml"/><Relationship Id="rId34" Type="http://schemas.openxmlformats.org/officeDocument/2006/relationships/tags" Target="../tags/tag80.xml"/><Relationship Id="rId33" Type="http://schemas.openxmlformats.org/officeDocument/2006/relationships/tags" Target="../tags/tag79.xml"/><Relationship Id="rId32" Type="http://schemas.openxmlformats.org/officeDocument/2006/relationships/tags" Target="../tags/tag78.xml"/><Relationship Id="rId31" Type="http://schemas.openxmlformats.org/officeDocument/2006/relationships/tags" Target="../tags/tag77.xml"/><Relationship Id="rId30" Type="http://schemas.openxmlformats.org/officeDocument/2006/relationships/tags" Target="../tags/tag76.xml"/><Relationship Id="rId3" Type="http://schemas.openxmlformats.org/officeDocument/2006/relationships/image" Target="../media/image116.png"/><Relationship Id="rId29" Type="http://schemas.openxmlformats.org/officeDocument/2006/relationships/tags" Target="../tags/tag75.xml"/><Relationship Id="rId28" Type="http://schemas.openxmlformats.org/officeDocument/2006/relationships/tags" Target="../tags/tag74.xml"/><Relationship Id="rId27" Type="http://schemas.openxmlformats.org/officeDocument/2006/relationships/tags" Target="../tags/tag73.xml"/><Relationship Id="rId26" Type="http://schemas.openxmlformats.org/officeDocument/2006/relationships/tags" Target="../tags/tag72.xml"/><Relationship Id="rId25" Type="http://schemas.openxmlformats.org/officeDocument/2006/relationships/tags" Target="../tags/tag71.xml"/><Relationship Id="rId24" Type="http://schemas.openxmlformats.org/officeDocument/2006/relationships/tags" Target="../tags/tag70.xml"/><Relationship Id="rId23" Type="http://schemas.openxmlformats.org/officeDocument/2006/relationships/tags" Target="../tags/tag69.xml"/><Relationship Id="rId22" Type="http://schemas.openxmlformats.org/officeDocument/2006/relationships/tags" Target="../tags/tag68.xml"/><Relationship Id="rId21" Type="http://schemas.openxmlformats.org/officeDocument/2006/relationships/tags" Target="../tags/tag67.xml"/><Relationship Id="rId20" Type="http://schemas.openxmlformats.org/officeDocument/2006/relationships/tags" Target="../tags/tag66.xml"/><Relationship Id="rId2" Type="http://schemas.openxmlformats.org/officeDocument/2006/relationships/image" Target="../media/image12.png"/><Relationship Id="rId19" Type="http://schemas.openxmlformats.org/officeDocument/2006/relationships/tags" Target="../tags/tag65.xml"/><Relationship Id="rId18" Type="http://schemas.openxmlformats.org/officeDocument/2006/relationships/tags" Target="../tags/tag64.xml"/><Relationship Id="rId17" Type="http://schemas.openxmlformats.org/officeDocument/2006/relationships/tags" Target="../tags/tag63.xml"/><Relationship Id="rId16" Type="http://schemas.openxmlformats.org/officeDocument/2006/relationships/tags" Target="../tags/tag62.xml"/><Relationship Id="rId15" Type="http://schemas.openxmlformats.org/officeDocument/2006/relationships/tags" Target="../tags/tag61.xml"/><Relationship Id="rId14" Type="http://schemas.openxmlformats.org/officeDocument/2006/relationships/tags" Target="../tags/tag60.xml"/><Relationship Id="rId13" Type="http://schemas.openxmlformats.org/officeDocument/2006/relationships/image" Target="../media/image124.svg"/><Relationship Id="rId12" Type="http://schemas.openxmlformats.org/officeDocument/2006/relationships/image" Target="../media/image123.png"/><Relationship Id="rId11" Type="http://schemas.openxmlformats.org/officeDocument/2006/relationships/tags" Target="../tags/tag59.xml"/><Relationship Id="rId10" Type="http://schemas.openxmlformats.org/officeDocument/2006/relationships/image" Target="../media/image122.svg"/><Relationship Id="rId1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1.png"/><Relationship Id="rId8" Type="http://schemas.openxmlformats.org/officeDocument/2006/relationships/image" Target="../media/image130.svg"/><Relationship Id="rId7" Type="http://schemas.openxmlformats.org/officeDocument/2006/relationships/image" Target="../media/image129.png"/><Relationship Id="rId6" Type="http://schemas.openxmlformats.org/officeDocument/2006/relationships/image" Target="../media/image128.png"/><Relationship Id="rId5" Type="http://schemas.openxmlformats.org/officeDocument/2006/relationships/image" Target="../media/image127.svg"/><Relationship Id="rId4" Type="http://schemas.openxmlformats.org/officeDocument/2006/relationships/image" Target="../media/image126.png"/><Relationship Id="rId3" Type="http://schemas.openxmlformats.org/officeDocument/2006/relationships/image" Target="../media/image12.png"/><Relationship Id="rId20" Type="http://schemas.openxmlformats.org/officeDocument/2006/relationships/notesSlide" Target="../notesSlides/notesSlide15.xml"/><Relationship Id="rId2" Type="http://schemas.openxmlformats.org/officeDocument/2006/relationships/image" Target="../media/image11.png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140.svg"/><Relationship Id="rId17" Type="http://schemas.openxmlformats.org/officeDocument/2006/relationships/image" Target="../media/image139.png"/><Relationship Id="rId16" Type="http://schemas.openxmlformats.org/officeDocument/2006/relationships/image" Target="../media/image138.svg"/><Relationship Id="rId15" Type="http://schemas.openxmlformats.org/officeDocument/2006/relationships/image" Target="../media/image137.png"/><Relationship Id="rId14" Type="http://schemas.openxmlformats.org/officeDocument/2006/relationships/image" Target="../media/image136.svg"/><Relationship Id="rId13" Type="http://schemas.openxmlformats.org/officeDocument/2006/relationships/image" Target="../media/image135.png"/><Relationship Id="rId12" Type="http://schemas.openxmlformats.org/officeDocument/2006/relationships/image" Target="../media/image134.svg"/><Relationship Id="rId11" Type="http://schemas.openxmlformats.org/officeDocument/2006/relationships/image" Target="../media/image133.png"/><Relationship Id="rId10" Type="http://schemas.openxmlformats.org/officeDocument/2006/relationships/image" Target="../media/image132.svg"/><Relationship Id="rId1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45.svg"/><Relationship Id="rId7" Type="http://schemas.openxmlformats.org/officeDocument/2006/relationships/image" Target="../media/image144.png"/><Relationship Id="rId6" Type="http://schemas.openxmlformats.org/officeDocument/2006/relationships/image" Target="../media/image143.png"/><Relationship Id="rId5" Type="http://schemas.openxmlformats.org/officeDocument/2006/relationships/image" Target="../media/image142.svg"/><Relationship Id="rId4" Type="http://schemas.openxmlformats.org/officeDocument/2006/relationships/image" Target="../media/image141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0" Type="http://schemas.openxmlformats.org/officeDocument/2006/relationships/notesSlide" Target="../notesSlides/notesSlide16.xml"/><Relationship Id="rId1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1.png"/><Relationship Id="rId8" Type="http://schemas.openxmlformats.org/officeDocument/2006/relationships/image" Target="../media/image150.svg"/><Relationship Id="rId7" Type="http://schemas.openxmlformats.org/officeDocument/2006/relationships/image" Target="../media/image149.png"/><Relationship Id="rId6" Type="http://schemas.openxmlformats.org/officeDocument/2006/relationships/image" Target="../media/image148.png"/><Relationship Id="rId5" Type="http://schemas.openxmlformats.org/officeDocument/2006/relationships/image" Target="../media/image147.svg"/><Relationship Id="rId4" Type="http://schemas.openxmlformats.org/officeDocument/2006/relationships/image" Target="../media/image146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3" Type="http://schemas.openxmlformats.org/officeDocument/2006/relationships/notesSlide" Target="../notesSlides/notesSlide17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153.svg"/><Relationship Id="rId10" Type="http://schemas.openxmlformats.org/officeDocument/2006/relationships/image" Target="../media/image152.png"/><Relationship Id="rId1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5E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4bbf78d39a1ae7d50fa38e3b11fcab9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test.web.static.jianzeppt.com/ppt-temp-img3/53c8b2a610a31b616cbf03a52510cc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7596" y="-13894"/>
            <a:ext cx="8051010" cy="6858000"/>
          </a:xfrm>
          <a:prstGeom prst="rect">
            <a:avLst/>
          </a:prstGeom>
        </p:spPr>
      </p:pic>
      <p:pic>
        <p:nvPicPr>
          <p:cNvPr id="4" name="Image 2" descr="https://test.web.static.jianzeppt.com/ppt-temp-img3/eaa44f0a61b44187c8898f2fb3b10e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"/>
            <a:ext cx="1799718" cy="1829017"/>
          </a:xfrm>
          <a:prstGeom prst="rect">
            <a:avLst/>
          </a:prstGeom>
        </p:spPr>
      </p:pic>
      <p:pic>
        <p:nvPicPr>
          <p:cNvPr id="5" name="Image 3" descr="https://test.web.static.jianzeppt.com/ppt-temp-img3/d51ae2a74993343c0d3360504948edf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08901"/>
            <a:ext cx="961132" cy="1724746"/>
          </a:xfrm>
          <a:prstGeom prst="rect">
            <a:avLst/>
          </a:prstGeom>
        </p:spPr>
      </p:pic>
      <p:pic>
        <p:nvPicPr>
          <p:cNvPr id="6" name="Image 4" descr="https://test.web.static.jianzeppt.com/ppt-temp-img3/b3f94c3112269735e7d84215f42c973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069" y="4530971"/>
            <a:ext cx="3482974" cy="637829"/>
          </a:xfrm>
          <a:prstGeom prst="rect">
            <a:avLst/>
          </a:prstGeom>
        </p:spPr>
      </p:pic>
      <p:pic>
        <p:nvPicPr>
          <p:cNvPr id="7" name="Image 5" descr="https://test.web.static.jianzeppt.com/ppt-temp-img3/c7fcd71bde55d7089a0a7c912de83d8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1383" y="2273111"/>
            <a:ext cx="2105868" cy="4595809"/>
          </a:xfrm>
          <a:prstGeom prst="rect">
            <a:avLst/>
          </a:prstGeom>
        </p:spPr>
      </p:pic>
      <p:pic>
        <p:nvPicPr>
          <p:cNvPr id="8" name="Image 6" descr="https://test.web.static.jianzeppt.com/ppt-temp-img3/785b4c7764742237954fb25c8a197f9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2024" y="3802120"/>
            <a:ext cx="2104426" cy="3069770"/>
          </a:xfrm>
          <a:prstGeom prst="rect">
            <a:avLst/>
          </a:prstGeom>
        </p:spPr>
      </p:pic>
      <p:pic>
        <p:nvPicPr>
          <p:cNvPr id="9" name="Image 7" descr="https://test.web.static.jianzeppt.com/ppt-temp-img3/d6b73fd749a971aade8e0c5073b6680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13224" y="2284033"/>
            <a:ext cx="2578776" cy="4584889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577080" y="4577763"/>
            <a:ext cx="3321262" cy="5442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40" dirty="0">
                <a:solidFill>
                  <a:srgbClr val="000000"/>
                </a:solidFill>
              </a:rPr>
              <a:t>授课教师：</a:t>
            </a:r>
            <a:r>
              <a:rPr lang="zh-CN" altLang="en-US" sz="2040" dirty="0">
                <a:solidFill>
                  <a:srgbClr val="000000"/>
                </a:solidFill>
              </a:rPr>
              <a:t>张玉</a:t>
            </a:r>
            <a:endParaRPr lang="zh-CN" altLang="en-US" sz="2040" dirty="0">
              <a:solidFill>
                <a:srgbClr val="000000"/>
              </a:solidFill>
            </a:endParaRPr>
          </a:p>
        </p:txBody>
      </p:sp>
      <p:sp>
        <p:nvSpPr>
          <p:cNvPr id="11" name="Text 1"/>
          <p:cNvSpPr/>
          <p:nvPr/>
        </p:nvSpPr>
        <p:spPr>
          <a:xfrm>
            <a:off x="577068" y="1683313"/>
            <a:ext cx="5490553" cy="182880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000" dirty="0">
                <a:solidFill>
                  <a:srgbClr val="FFFFFF"/>
                </a:solidFill>
              </a:rPr>
              <a:t>信息安全测评与风险评估</a:t>
            </a:r>
            <a:endParaRPr lang="en-US" sz="6000" dirty="0"/>
          </a:p>
        </p:txBody>
      </p:sp>
      <p:sp>
        <p:nvSpPr>
          <p:cNvPr id="12" name="Text 2"/>
          <p:cNvSpPr/>
          <p:nvPr/>
        </p:nvSpPr>
        <p:spPr>
          <a:xfrm>
            <a:off x="577068" y="3867726"/>
            <a:ext cx="4339657" cy="2590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80" dirty="0">
                <a:solidFill>
                  <a:srgbClr val="FFFFFF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4.3 数据库安全配置核查</a:t>
            </a:r>
            <a:endParaRPr lang="en-US" sz="16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3d7a216c70ecba8f9c09a39add3fad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50" y="153303"/>
            <a:ext cx="11803310" cy="63672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69119" y="1653024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360" dirty="0">
                <a:solidFill>
                  <a:srgbClr val="000000"/>
                </a:solidFill>
              </a:rPr>
              <a:t>01</a:t>
            </a:r>
            <a:endParaRPr lang="en-US" sz="3360" dirty="0"/>
          </a:p>
        </p:txBody>
      </p:sp>
      <p:sp>
        <p:nvSpPr>
          <p:cNvPr id="5" name="Text 1"/>
          <p:cNvSpPr/>
          <p:nvPr/>
        </p:nvSpPr>
        <p:spPr>
          <a:xfrm>
            <a:off x="5769119" y="2669616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360" dirty="0">
                <a:solidFill>
                  <a:srgbClr val="000000"/>
                </a:solidFill>
              </a:rPr>
              <a:t>02</a:t>
            </a:r>
            <a:endParaRPr lang="en-US" sz="3360" dirty="0"/>
          </a:p>
        </p:txBody>
      </p:sp>
      <p:sp>
        <p:nvSpPr>
          <p:cNvPr id="6" name="Text 2"/>
          <p:cNvSpPr/>
          <p:nvPr/>
        </p:nvSpPr>
        <p:spPr>
          <a:xfrm>
            <a:off x="5769119" y="3686208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360" dirty="0">
                <a:solidFill>
                  <a:srgbClr val="000000"/>
                </a:solidFill>
              </a:rPr>
              <a:t>03</a:t>
            </a:r>
            <a:endParaRPr lang="en-US" sz="3360" dirty="0"/>
          </a:p>
        </p:txBody>
      </p:sp>
      <p:sp>
        <p:nvSpPr>
          <p:cNvPr id="7" name="Text 3"/>
          <p:cNvSpPr/>
          <p:nvPr/>
        </p:nvSpPr>
        <p:spPr>
          <a:xfrm>
            <a:off x="5769119" y="4702801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360" dirty="0">
                <a:solidFill>
                  <a:srgbClr val="000000"/>
                </a:solidFill>
              </a:rPr>
              <a:t>04</a:t>
            </a:r>
            <a:endParaRPr lang="en-US" sz="3360" dirty="0"/>
          </a:p>
        </p:txBody>
      </p:sp>
      <p:sp>
        <p:nvSpPr>
          <p:cNvPr id="8" name="Text 4"/>
          <p:cNvSpPr/>
          <p:nvPr/>
        </p:nvSpPr>
        <p:spPr>
          <a:xfrm>
            <a:off x="965498" y="2799393"/>
            <a:ext cx="1769654" cy="73152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800" dirty="0">
                <a:solidFill>
                  <a:srgbClr val="000000"/>
                </a:solidFill>
              </a:rPr>
              <a:t>目录</a:t>
            </a:r>
            <a:endParaRPr lang="en-US" sz="4800" dirty="0"/>
          </a:p>
        </p:txBody>
      </p:sp>
      <p:sp>
        <p:nvSpPr>
          <p:cNvPr id="9" name="Text 5"/>
          <p:cNvSpPr/>
          <p:nvPr/>
        </p:nvSpPr>
        <p:spPr>
          <a:xfrm>
            <a:off x="953110" y="3733353"/>
            <a:ext cx="315010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40" dirty="0">
                <a:solidFill>
                  <a:srgbClr val="000000"/>
                </a:solidFill>
              </a:rPr>
              <a:t>CONTENTS</a:t>
            </a:r>
            <a:endParaRPr lang="en-US" sz="2040" dirty="0"/>
          </a:p>
        </p:txBody>
      </p:sp>
      <p:sp>
        <p:nvSpPr>
          <p:cNvPr id="10" name="Text 6"/>
          <p:cNvSpPr/>
          <p:nvPr/>
        </p:nvSpPr>
        <p:spPr>
          <a:xfrm>
            <a:off x="7064048" y="4795925"/>
            <a:ext cx="4878288" cy="30734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</a:rPr>
              <a:t>课内小结与下节预告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1" name="Text 7"/>
          <p:cNvSpPr/>
          <p:nvPr/>
        </p:nvSpPr>
        <p:spPr>
          <a:xfrm>
            <a:off x="7070090" y="1539875"/>
            <a:ext cx="4665980" cy="738505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000000"/>
                </a:solidFill>
              </a:rPr>
              <a:t>案例导入：数据库被拖库，日志里却什么都没有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2" name="Text 8"/>
          <p:cNvSpPr/>
          <p:nvPr/>
        </p:nvSpPr>
        <p:spPr>
          <a:xfrm>
            <a:off x="7071033" y="3764092"/>
            <a:ext cx="4878288" cy="30734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</a:rPr>
              <a:t>动手实验：西普真机取证 + 判定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3" name="Text 9"/>
          <p:cNvSpPr/>
          <p:nvPr/>
        </p:nvSpPr>
        <p:spPr>
          <a:xfrm>
            <a:off x="7119928" y="2710035"/>
            <a:ext cx="4878288" cy="368935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000000"/>
                </a:solidFill>
              </a:rPr>
              <a:t>关键知识：7 个维度与核查命令</a:t>
            </a:r>
            <a:endParaRPr lang="en-US" sz="20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4bbf78d39a1ae7d50fa38e3b11fcab9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73282" y="897806"/>
            <a:ext cx="2863855" cy="493776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40" dirty="0">
                <a:solidFill>
                  <a:srgbClr val="FFFFFF"/>
                </a:solidFill>
              </a:rPr>
              <a:t>Part.01</a:t>
            </a:r>
            <a:endParaRPr lang="en-US" sz="3240" dirty="0"/>
          </a:p>
        </p:txBody>
      </p:sp>
      <p:sp>
        <p:nvSpPr>
          <p:cNvPr id="4" name="Text 1"/>
          <p:cNvSpPr/>
          <p:nvPr/>
        </p:nvSpPr>
        <p:spPr>
          <a:xfrm>
            <a:off x="740729" y="1484116"/>
            <a:ext cx="10728960" cy="1624330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280" dirty="0">
                <a:solidFill>
                  <a:srgbClr val="FFFFFF"/>
                </a:solidFill>
              </a:rPr>
              <a:t>案例导入——</a:t>
            </a:r>
            <a:endParaRPr lang="en-US" sz="5280" dirty="0">
              <a:solidFill>
                <a:srgbClr val="FFFFFF"/>
              </a:solidFill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5280" dirty="0">
                <a:solidFill>
                  <a:srgbClr val="FFFFFF"/>
                </a:solidFill>
              </a:rPr>
              <a:t>数据库被拖库，日志里却什么都没有</a:t>
            </a:r>
            <a:endParaRPr lang="en-US" sz="52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案例导入——“沉默的数据库”</a:t>
            </a:r>
            <a:endParaRPr lang="en-US" sz="2760" dirty="0"/>
          </a:p>
        </p:txBody>
      </p:sp>
      <p:pic>
        <p:nvPicPr>
          <p:cNvPr id="6" name="Image 3" descr="https://test.web.static.jianzeppt.com/ppt-temp-img3/07df5d3da6174cd85be171807a65ca41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143000"/>
            <a:ext cx="5730240" cy="103632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792480" y="1310640"/>
            <a:ext cx="5373624" cy="6305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Q:</a:t>
            </a:r>
            <a:r>
              <a:rPr lang="en-US" sz="18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数据库被拖库了，但日志里什么都没有——问题出在哪？</a:t>
            </a:r>
            <a:endParaRPr lang="en-US" sz="1800" dirty="0"/>
          </a:p>
        </p:txBody>
      </p:sp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600" y="2453640"/>
            <a:ext cx="45720" cy="24384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777240" y="2362200"/>
            <a:ext cx="3849624" cy="3962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某电商平台数据泄露事后调查：</a:t>
            </a:r>
            <a:endParaRPr lang="en-US" sz="2160" dirty="0"/>
          </a:p>
        </p:txBody>
      </p:sp>
      <p:sp>
        <p:nvSpPr>
          <p:cNvPr id="10" name="Text 3"/>
          <p:cNvSpPr/>
          <p:nvPr/>
        </p:nvSpPr>
        <p:spPr>
          <a:xfrm>
            <a:off x="853440" y="2834640"/>
            <a:ext cx="5495544" cy="16002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213360" indent="-213360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743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密码策略未配置，DBA弱口令</a:t>
            </a:r>
            <a:endParaRPr lang="en-US" sz="1680" dirty="0"/>
          </a:p>
          <a:p>
            <a:pPr marL="213360" indent="-213360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743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审计日志未启用，无法追溯</a:t>
            </a:r>
            <a:endParaRPr lang="en-US" sz="1680" dirty="0"/>
          </a:p>
          <a:p>
            <a:pPr marL="213360" indent="-213360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743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SA账户未禁用，允许远程登录</a:t>
            </a:r>
            <a:endParaRPr lang="en-US" sz="1680" dirty="0"/>
          </a:p>
          <a:p>
            <a:pPr marL="213360" indent="-213360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743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未做网络隔离 (0.0.0.0:3306)</a:t>
            </a:r>
            <a:endParaRPr lang="en-US" sz="1680" dirty="0"/>
          </a:p>
          <a:p>
            <a:pPr marL="213360" indent="-213360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743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数据明文存储，备份未加密</a:t>
            </a:r>
            <a:endParaRPr lang="en-US" sz="1680" dirty="0"/>
          </a:p>
        </p:txBody>
      </p:sp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600" y="4892040"/>
            <a:ext cx="45720" cy="243840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777240" y="4800600"/>
            <a:ext cx="1380744" cy="3962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先想一想（30 秒）</a:t>
            </a:r>
            <a:endParaRPr lang="en-US" sz="2160" dirty="0"/>
          </a:p>
        </p:txBody>
      </p:sp>
      <p:sp>
        <p:nvSpPr>
          <p:cNvPr id="13" name="Text 5"/>
          <p:cNvSpPr/>
          <p:nvPr/>
        </p:nvSpPr>
        <p:spPr>
          <a:xfrm>
            <a:off x="853440" y="5273040"/>
            <a:ext cx="5495544" cy="11614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213360" indent="-213360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743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1. 上面 5 个问题，分别对应等保里的哪个测评维度？</a:t>
            </a:r>
            <a:endParaRPr lang="en-US" sz="1680" dirty="0"/>
          </a:p>
          <a:p>
            <a:pPr marL="213360" indent="-213360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743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2. 为什么"日志里什么都没有"比数据泄露本身更严重？</a:t>
            </a:r>
            <a:endParaRPr lang="en-US" sz="1680" dirty="0"/>
          </a:p>
          <a:p>
            <a:pPr marL="213360" indent="-213360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743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3. 换你来查这个库，第一条命令你会敲什么？</a:t>
            </a:r>
            <a:endParaRPr lang="en-US" sz="1680" dirty="0"/>
          </a:p>
        </p:txBody>
      </p:sp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44640" y="1143000"/>
            <a:ext cx="4937760" cy="422148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15" name="Image 7" descr="https://test.web.static.jianzeppt.com/ppt-temp-img3/b831c66f52f1ec91b7635deac6d5f3fd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59880" y="1158240"/>
            <a:ext cx="4907280" cy="4191000"/>
          </a:xfrm>
          <a:prstGeom prst="rect">
            <a:avLst/>
          </a:prstGeom>
        </p:spPr>
      </p:pic>
      <p:pic>
        <p:nvPicPr>
          <p:cNvPr id="17" name="Image 9" descr="https://test.web.static.jianzeppt.com/ppt-temp-img3/a59a9aed1da10fcac90331f68bf3d79e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2480" y="5730240"/>
            <a:ext cx="487680" cy="487680"/>
          </a:xfrm>
          <a:prstGeom prst="rect">
            <a:avLst/>
          </a:prstGeom>
        </p:spPr>
      </p:pic>
      <p:grpSp>
        <p:nvGrpSpPr>
          <p:cNvPr id="20" name="组合 19"/>
          <p:cNvGrpSpPr/>
          <p:nvPr/>
        </p:nvGrpSpPr>
        <p:grpSpPr>
          <a:xfrm>
            <a:off x="6396990" y="5351780"/>
            <a:ext cx="5290820" cy="1059815"/>
            <a:chOff x="1126" y="8760"/>
            <a:chExt cx="17280" cy="1344"/>
          </a:xfrm>
        </p:grpSpPr>
        <p:pic>
          <p:nvPicPr>
            <p:cNvPr id="16" name="Image 8" descr="preencoded.png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26" y="8760"/>
              <a:ext cx="17280" cy="1344"/>
            </a:xfrm>
            <a:prstGeom prst="rect">
              <a:avLst/>
            </a:prstGeom>
            <a:effectLst>
              <a:outerShdw blurRad="1161288000" dist="774192000" dir="-1" algn="bl" rotWithShape="0">
                <a:srgbClr val="000000">
                  <a:alpha val="1000000000"/>
                </a:srgbClr>
              </a:outerShdw>
            </a:effectLst>
          </p:spPr>
        </p:pic>
        <p:sp>
          <p:nvSpPr>
            <p:cNvPr id="19" name="Text 6"/>
            <p:cNvSpPr/>
            <p:nvPr/>
          </p:nvSpPr>
          <p:spPr>
            <a:xfrm>
              <a:off x="2304" y="9120"/>
              <a:ext cx="15350" cy="70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b="1" dirty="0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数据库是信息系统的“心脏”，数据泄露往往从安全配置的“漏洞”开始。</a:t>
              </a:r>
              <a:endParaRPr lang="en-US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学习目标</a:t>
            </a:r>
            <a:endParaRPr lang="en-US" sz="2760" dirty="0"/>
          </a:p>
        </p:txBody>
      </p:sp>
      <p:sp>
        <p:nvSpPr>
          <p:cNvPr id="6" name="Text 1"/>
          <p:cNvSpPr/>
          <p:nvPr/>
        </p:nvSpPr>
        <p:spPr>
          <a:xfrm>
            <a:off x="609600" y="1371600"/>
            <a:ext cx="1098194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4B576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学完这一节，你应该能做到：</a:t>
            </a:r>
            <a:endParaRPr lang="en-US" sz="1680" dirty="0"/>
          </a:p>
        </p:txBody>
      </p:sp>
      <p:pic>
        <p:nvPicPr>
          <p:cNvPr id="7" name="Image 3" descr="https://test.web.static.jianzeppt.com/ppt-temp-img3/3c5dc3f671cf4aae85eb9fc3c8710c61.png?x-oss-process=image/resize,w_1440,h_800,m_lfit/format,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97280" y="2346960"/>
            <a:ext cx="487680" cy="60960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84960" y="1920240"/>
            <a:ext cx="9997440" cy="899160"/>
          </a:xfrm>
          <a:prstGeom prst="rect">
            <a:avLst/>
          </a:prstGeom>
        </p:spPr>
      </p:pic>
      <p:sp>
        <p:nvSpPr>
          <p:cNvPr id="9" name="Text 2"/>
          <p:cNvSpPr/>
          <p:nvPr>
            <p:custDataLst>
              <p:tags r:id="rId9"/>
            </p:custDataLst>
          </p:nvPr>
        </p:nvSpPr>
        <p:spPr>
          <a:xfrm>
            <a:off x="1889760" y="2164080"/>
            <a:ext cx="9457944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说清数据库在等保里的 7 个测评维度各自查什么</a:t>
            </a:r>
            <a:endParaRPr lang="en-US" sz="2160" dirty="0"/>
          </a:p>
        </p:txBody>
      </p:sp>
      <p:pic>
        <p:nvPicPr>
          <p:cNvPr id="10" name="Image 5" descr="https://test.web.static.jianzeppt.com/ppt-temp-img3/3c5dc3f671cf4aae85eb9fc3c8710c61.png?x-oss-process=image/resize,w_1440,h_800,m_lfit/format,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97280" y="3230880"/>
            <a:ext cx="487680" cy="60960"/>
          </a:xfrm>
          <a:prstGeom prst="rect">
            <a:avLst/>
          </a:prstGeom>
        </p:spPr>
      </p:pic>
      <p:pic>
        <p:nvPicPr>
          <p:cNvPr id="11" name="Image 6" descr="preencoded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84960" y="2819400"/>
            <a:ext cx="9997440" cy="899160"/>
          </a:xfrm>
          <a:prstGeom prst="rect">
            <a:avLst/>
          </a:prstGeom>
        </p:spPr>
      </p:pic>
      <p:sp>
        <p:nvSpPr>
          <p:cNvPr id="12" name="Text 3"/>
          <p:cNvSpPr/>
          <p:nvPr>
            <p:custDataLst>
              <p:tags r:id="rId12"/>
            </p:custDataLst>
          </p:nvPr>
        </p:nvSpPr>
        <p:spPr>
          <a:xfrm>
            <a:off x="1889760" y="3063240"/>
            <a:ext cx="9457944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在 MySQL 和 SQL Server 上用命令查出账号、口令、权限、审计的真实配置</a:t>
            </a:r>
            <a:endParaRPr lang="en-US" sz="2160" dirty="0"/>
          </a:p>
        </p:txBody>
      </p:sp>
      <p:pic>
        <p:nvPicPr>
          <p:cNvPr id="13" name="Image 7" descr="https://test.web.static.jianzeppt.com/ppt-temp-img3/3c5dc3f671cf4aae85eb9fc3c8710c61.png?x-oss-process=image/resize,w_1440,h_800,m_lfit/format,pn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97280" y="4114800"/>
            <a:ext cx="487680" cy="60960"/>
          </a:xfrm>
          <a:prstGeom prst="rect">
            <a:avLst/>
          </a:prstGeom>
        </p:spPr>
      </p:pic>
      <p:pic>
        <p:nvPicPr>
          <p:cNvPr id="14" name="Image 8" descr="preencoded.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84960" y="3703320"/>
            <a:ext cx="9997440" cy="899160"/>
          </a:xfrm>
          <a:prstGeom prst="rect">
            <a:avLst/>
          </a:prstGeom>
        </p:spPr>
      </p:pic>
      <p:sp>
        <p:nvSpPr>
          <p:cNvPr id="15" name="Text 4"/>
          <p:cNvSpPr/>
          <p:nvPr>
            <p:custDataLst>
              <p:tags r:id="rId15"/>
            </p:custDataLst>
          </p:nvPr>
        </p:nvSpPr>
        <p:spPr>
          <a:xfrm>
            <a:off x="1889760" y="3947160"/>
            <a:ext cx="9457944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认出弱口令、空口令、SA 未禁用、无审计、0.0.0.0 监听这些典型隐患</a:t>
            </a:r>
            <a:endParaRPr lang="en-US" sz="2160" dirty="0"/>
          </a:p>
        </p:txBody>
      </p:sp>
      <p:pic>
        <p:nvPicPr>
          <p:cNvPr id="16" name="Image 9" descr="https://test.web.static.jianzeppt.com/ppt-temp-img3/3c5dc3f671cf4aae85eb9fc3c8710c61.png?x-oss-process=image/resize,w_1440,h_800,m_lfit/format,png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97280" y="5013960"/>
            <a:ext cx="487680" cy="60960"/>
          </a:xfrm>
          <a:prstGeom prst="rect">
            <a:avLst/>
          </a:prstGeom>
        </p:spPr>
      </p:pic>
      <p:pic>
        <p:nvPicPr>
          <p:cNvPr id="17" name="Image 10" descr="preencoded.png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84960" y="4587240"/>
            <a:ext cx="9997440" cy="899160"/>
          </a:xfrm>
          <a:prstGeom prst="rect">
            <a:avLst/>
          </a:prstGeom>
        </p:spPr>
      </p:pic>
      <p:sp>
        <p:nvSpPr>
          <p:cNvPr id="18" name="Text 5"/>
          <p:cNvSpPr/>
          <p:nvPr>
            <p:custDataLst>
              <p:tags r:id="rId18"/>
            </p:custDataLst>
          </p:nvPr>
        </p:nvSpPr>
        <p:spPr>
          <a:xfrm>
            <a:off x="1889760" y="4831080"/>
            <a:ext cx="9457944" cy="4978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录入实测值、做四档判定，导出规范的测评记录表</a:t>
            </a:r>
            <a:endParaRPr lang="en-US" sz="2160" dirty="0"/>
          </a:p>
        </p:txBody>
      </p:sp>
      <p:pic>
        <p:nvPicPr>
          <p:cNvPr id="19" name="Image 11" descr="https://test.web.static.jianzeppt.com/ppt-temp-img3/3c5dc3f671cf4aae85eb9fc3c8710c61.png?x-oss-process=image/resize,w_1440,h_800,m_lfit/format,png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97280" y="5897880"/>
            <a:ext cx="487680" cy="60960"/>
          </a:xfrm>
          <a:prstGeom prst="rect">
            <a:avLst/>
          </a:prstGeom>
        </p:spPr>
      </p:pic>
      <p:pic>
        <p:nvPicPr>
          <p:cNvPr id="20" name="Image 12" descr="preencoded.png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84960" y="5471160"/>
            <a:ext cx="9997440" cy="899160"/>
          </a:xfrm>
          <a:prstGeom prst="rect">
            <a:avLst/>
          </a:prstGeom>
        </p:spPr>
      </p:pic>
      <p:sp>
        <p:nvSpPr>
          <p:cNvPr id="21" name="Text 6"/>
          <p:cNvSpPr/>
          <p:nvPr>
            <p:custDataLst>
              <p:tags r:id="rId21"/>
            </p:custDataLst>
          </p:nvPr>
        </p:nvSpPr>
        <p:spPr>
          <a:xfrm>
            <a:off x="1889760" y="5715000"/>
            <a:ext cx="9457944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针对不合规项，写出可直接执行的 SQL 或配置修改建议</a:t>
            </a:r>
            <a:endParaRPr lang="en-US" sz="2160" dirty="0"/>
          </a:p>
        </p:txBody>
      </p:sp>
      <p:pic>
        <p:nvPicPr>
          <p:cNvPr id="22" name="Image 13" descr="preencoded.png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09600" y="2072640"/>
            <a:ext cx="609600" cy="609600"/>
          </a:xfrm>
          <a:prstGeom prst="rect">
            <a:avLst/>
          </a:prstGeom>
        </p:spPr>
      </p:pic>
      <p:sp>
        <p:nvSpPr>
          <p:cNvPr id="23" name="Text 7"/>
          <p:cNvSpPr/>
          <p:nvPr>
            <p:custDataLst>
              <p:tags r:id="rId25"/>
            </p:custDataLst>
          </p:nvPr>
        </p:nvSpPr>
        <p:spPr>
          <a:xfrm>
            <a:off x="822960" y="2118360"/>
            <a:ext cx="207264" cy="4876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</a:t>
            </a:r>
            <a:endParaRPr lang="en-US" sz="2640" dirty="0"/>
          </a:p>
        </p:txBody>
      </p:sp>
      <p:pic>
        <p:nvPicPr>
          <p:cNvPr id="24" name="Image 14" descr="preencoded.png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09600" y="2956560"/>
            <a:ext cx="609600" cy="609600"/>
          </a:xfrm>
          <a:prstGeom prst="rect">
            <a:avLst/>
          </a:prstGeom>
        </p:spPr>
      </p:pic>
      <p:sp>
        <p:nvSpPr>
          <p:cNvPr id="25" name="Text 8"/>
          <p:cNvSpPr/>
          <p:nvPr>
            <p:custDataLst>
              <p:tags r:id="rId27"/>
            </p:custDataLst>
          </p:nvPr>
        </p:nvSpPr>
        <p:spPr>
          <a:xfrm>
            <a:off x="822960" y="3017520"/>
            <a:ext cx="207264" cy="4876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2</a:t>
            </a:r>
            <a:endParaRPr lang="en-US" sz="2640" dirty="0"/>
          </a:p>
        </p:txBody>
      </p:sp>
      <p:pic>
        <p:nvPicPr>
          <p:cNvPr id="26" name="Image 15" descr="preencoded.png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09600" y="3840480"/>
            <a:ext cx="609600" cy="609600"/>
          </a:xfrm>
          <a:prstGeom prst="rect">
            <a:avLst/>
          </a:prstGeom>
        </p:spPr>
      </p:pic>
      <p:sp>
        <p:nvSpPr>
          <p:cNvPr id="27" name="Text 9"/>
          <p:cNvSpPr/>
          <p:nvPr>
            <p:custDataLst>
              <p:tags r:id="rId29"/>
            </p:custDataLst>
          </p:nvPr>
        </p:nvSpPr>
        <p:spPr>
          <a:xfrm>
            <a:off x="822960" y="3901440"/>
            <a:ext cx="207264" cy="4876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3</a:t>
            </a:r>
            <a:endParaRPr lang="en-US" sz="2640" dirty="0"/>
          </a:p>
        </p:txBody>
      </p:sp>
      <p:pic>
        <p:nvPicPr>
          <p:cNvPr id="28" name="Image 16" descr="preencoded.png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09600" y="4739640"/>
            <a:ext cx="609600" cy="609600"/>
          </a:xfrm>
          <a:prstGeom prst="rect">
            <a:avLst/>
          </a:prstGeom>
        </p:spPr>
      </p:pic>
      <p:sp>
        <p:nvSpPr>
          <p:cNvPr id="29" name="Text 10"/>
          <p:cNvSpPr/>
          <p:nvPr>
            <p:custDataLst>
              <p:tags r:id="rId31"/>
            </p:custDataLst>
          </p:nvPr>
        </p:nvSpPr>
        <p:spPr>
          <a:xfrm>
            <a:off x="822960" y="4785360"/>
            <a:ext cx="207264" cy="4876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4</a:t>
            </a:r>
            <a:endParaRPr lang="en-US" sz="2640" dirty="0"/>
          </a:p>
        </p:txBody>
      </p:sp>
      <p:pic>
        <p:nvPicPr>
          <p:cNvPr id="30" name="Image 17" descr="preencoded.png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09600" y="5623560"/>
            <a:ext cx="609600" cy="609600"/>
          </a:xfrm>
          <a:prstGeom prst="rect">
            <a:avLst/>
          </a:prstGeom>
        </p:spPr>
      </p:pic>
      <p:sp>
        <p:nvSpPr>
          <p:cNvPr id="31" name="Text 11"/>
          <p:cNvSpPr/>
          <p:nvPr>
            <p:custDataLst>
              <p:tags r:id="rId33"/>
            </p:custDataLst>
          </p:nvPr>
        </p:nvSpPr>
        <p:spPr>
          <a:xfrm>
            <a:off x="822960" y="5669280"/>
            <a:ext cx="207264" cy="4876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5</a:t>
            </a:r>
            <a:endParaRPr lang="en-US" sz="26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4bbf78d39a1ae7d50fa38e3b11fcab9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73282" y="897806"/>
            <a:ext cx="2863855" cy="493776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40" dirty="0">
                <a:solidFill>
                  <a:srgbClr val="FFFFFF"/>
                </a:solidFill>
              </a:rPr>
              <a:t>Part.02</a:t>
            </a:r>
            <a:endParaRPr lang="en-US" sz="3240" dirty="0"/>
          </a:p>
        </p:txBody>
      </p:sp>
      <p:sp>
        <p:nvSpPr>
          <p:cNvPr id="4" name="Text 1"/>
          <p:cNvSpPr/>
          <p:nvPr/>
        </p:nvSpPr>
        <p:spPr>
          <a:xfrm>
            <a:off x="771842" y="1617339"/>
            <a:ext cx="10666735" cy="80467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280" dirty="0">
                <a:solidFill>
                  <a:srgbClr val="FFFFFF"/>
                </a:solidFill>
              </a:rPr>
              <a:t>关键知识——7 个维度怎么查</a:t>
            </a:r>
            <a:endParaRPr lang="en-US" sz="52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数据库安全测评——在等保标准中的位置</a:t>
            </a:r>
            <a:endParaRPr lang="en-US" sz="2760" dirty="0"/>
          </a:p>
        </p:txBody>
      </p:sp>
      <p:pic>
        <p:nvPicPr>
          <p:cNvPr id="6" name="Image 3" descr="https://test.web.static.jianzeppt.com/ppt-temp-img3/0133859ee5cb805e2333fb22b4f88ea1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371600"/>
            <a:ext cx="10972800" cy="65532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2331720" y="1493520"/>
            <a:ext cx="75529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GB/T 22239-2019 安全技术要求 → 安全计算环境 → 数据库层</a:t>
            </a:r>
            <a:endParaRPr lang="en-US" sz="2160" dirty="0"/>
          </a:p>
        </p:txBody>
      </p:sp>
      <p:sp>
        <p:nvSpPr>
          <p:cNvPr id="8" name="Text 2"/>
          <p:cNvSpPr/>
          <p:nvPr/>
        </p:nvSpPr>
        <p:spPr>
          <a:xfrm>
            <a:off x="609600" y="2270760"/>
            <a:ext cx="109819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374351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安全计算环境涉及数据库的测评指标（共7个维度）：</a:t>
            </a:r>
            <a:endParaRPr lang="en-US" sz="192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609600" y="2758440"/>
          <a:ext cx="10972800" cy="3657600"/>
        </p:xfrm>
        <a:graphic>
          <a:graphicData uri="http://schemas.openxmlformats.org/drawingml/2006/table">
            <a:tbl>
              <a:tblPr/>
              <a:tblGrid>
                <a:gridCol w="2362200"/>
                <a:gridCol w="5654040"/>
                <a:gridCol w="2956560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b="1" dirty="0">
                          <a:solidFill>
                            <a:srgbClr val="000000"/>
                          </a:solidFill>
                        </a:rPr>
                        <a:t>维度</a:t>
                      </a:r>
                      <a:endParaRPr lang="en-US" sz="1680" b="1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b="1" dirty="0">
                          <a:solidFill>
                            <a:srgbClr val="000000"/>
                          </a:solidFill>
                        </a:rPr>
                        <a:t>测评内容核心关注点</a:t>
                      </a:r>
                      <a:endParaRPr lang="en-US" sz="1680" b="1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b="1" dirty="0">
                          <a:solidFill>
                            <a:srgbClr val="000000"/>
                          </a:solidFill>
                        </a:rPr>
                        <a:t>测评方法（检查项）</a:t>
                      </a:r>
                      <a:endParaRPr lang="en-US" sz="1680" b="1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1.身份鉴别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密码策略、登录失败处理、远程管理安全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登录数据库查看配置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2.访问控制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账户权限、默认账户、最小权限原则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查看用户/权限配置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3.安全审计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审计功能是否启用、审计内容是否完整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查看审计配置与日志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4.入侵防范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最小安装、关闭高危端口/服务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查看服务/端口配置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5.数据完整性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传输/存储过程中的完整性保护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查看加密/校验配置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6.数据保密性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传输/存储过程中的加密保护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查看加密配置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7.数据备份恢复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备份策略、恢复机制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查看备份配置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31937"/>
            <a:ext cx="6158865" cy="424180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1.身份鉴别测评——数据库的第一道防线</a:t>
            </a:r>
            <a:endParaRPr lang="en-US" sz="2760" dirty="0"/>
          </a:p>
        </p:txBody>
      </p:sp>
      <p:grpSp>
        <p:nvGrpSpPr>
          <p:cNvPr id="56" name="组合 55"/>
          <p:cNvGrpSpPr/>
          <p:nvPr/>
        </p:nvGrpSpPr>
        <p:grpSpPr>
          <a:xfrm>
            <a:off x="7999095" y="325120"/>
            <a:ext cx="3491865" cy="746760"/>
            <a:chOff x="11448" y="960"/>
            <a:chExt cx="6816" cy="1176"/>
          </a:xfrm>
        </p:grpSpPr>
        <p:pic>
          <p:nvPicPr>
            <p:cNvPr id="6" name="Image 3" descr="https://test.web.static.jianzeppt.com/ppt-temp-img3/94eefa09c299938d181e1df0c4560fc4.png?x-oss-process=image/resize,w_1440,h_800,m_lfit/format,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448" y="960"/>
              <a:ext cx="6816" cy="1176"/>
            </a:xfrm>
            <a:prstGeom prst="rect">
              <a:avLst/>
            </a:prstGeom>
          </p:spPr>
        </p:pic>
        <p:sp>
          <p:nvSpPr>
            <p:cNvPr id="7" name="Text 1"/>
            <p:cNvSpPr/>
            <p:nvPr/>
          </p:nvSpPr>
          <p:spPr>
            <a:xfrm>
              <a:off x="11760" y="982"/>
              <a:ext cx="6110" cy="113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560" b="1" dirty="0">
                  <a:solidFill>
                    <a:srgbClr val="143866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GB/T 22239 第三级 安全计算环境 → 身份鉴别</a:t>
              </a:r>
              <a:endParaRPr lang="en-US" sz="1560" dirty="0"/>
            </a:p>
          </p:txBody>
        </p:sp>
      </p:grpSp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143000"/>
            <a:ext cx="10972800" cy="278892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9" name="Image 5" descr="https://test.web.static.jianzeppt.com/ppt-temp-img3/e1a3d0ad0d674daeda3dce3ec889cbb0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" y="1158240"/>
            <a:ext cx="10942320" cy="472440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4375150" y="1173480"/>
            <a:ext cx="276758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核心检查项（针对数据库）</a:t>
            </a:r>
            <a:endParaRPr lang="en-US" sz="1800" dirty="0"/>
          </a:p>
        </p:txBody>
      </p:sp>
      <p:pic>
        <p:nvPicPr>
          <p:cNvPr id="11" name="Image 6" descr="https://test.web.static.jianzeppt.com/ppt-temp-img3/9419b6a38b29d5f79a4fef61fad0f8db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" y="1630680"/>
            <a:ext cx="10942320" cy="381000"/>
          </a:xfrm>
          <a:prstGeom prst="rect">
            <a:avLst/>
          </a:prstGeom>
        </p:spPr>
      </p:pic>
      <p:sp>
        <p:nvSpPr>
          <p:cNvPr id="12" name="Text 3"/>
          <p:cNvSpPr/>
          <p:nvPr/>
        </p:nvSpPr>
        <p:spPr>
          <a:xfrm>
            <a:off x="853440" y="1661160"/>
            <a:ext cx="420624" cy="2514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序号</a:t>
            </a:r>
            <a:endParaRPr lang="en-US" sz="1560" dirty="0"/>
          </a:p>
        </p:txBody>
      </p:sp>
      <p:pic>
        <p:nvPicPr>
          <p:cNvPr id="13" name="Image 7" descr="https://test.web.static.jianzeppt.com/ppt-temp-img3/a9aebfc87fc3bfd208fed9df0af8b941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84986" y="1623060"/>
            <a:ext cx="15240" cy="377190"/>
          </a:xfrm>
          <a:prstGeom prst="rect">
            <a:avLst/>
          </a:prstGeom>
        </p:spPr>
      </p:pic>
      <p:sp>
        <p:nvSpPr>
          <p:cNvPr id="14" name="Text 4"/>
          <p:cNvSpPr/>
          <p:nvPr/>
        </p:nvSpPr>
        <p:spPr>
          <a:xfrm>
            <a:off x="1691640" y="1661160"/>
            <a:ext cx="1213104" cy="2514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检查项与要求</a:t>
            </a:r>
            <a:endParaRPr lang="en-US" sz="1560" dirty="0"/>
          </a:p>
        </p:txBody>
      </p:sp>
      <p:pic>
        <p:nvPicPr>
          <p:cNvPr id="15" name="Image 8" descr="https://test.web.static.jianzeppt.com/ppt-temp-img3/a9aebfc87fc3bfd208fed9df0af8b941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69072" y="1623060"/>
            <a:ext cx="15240" cy="377190"/>
          </a:xfrm>
          <a:prstGeom prst="rect">
            <a:avLst/>
          </a:prstGeom>
        </p:spPr>
      </p:pic>
      <p:sp>
        <p:nvSpPr>
          <p:cNvPr id="16" name="Text 5"/>
          <p:cNvSpPr/>
          <p:nvPr/>
        </p:nvSpPr>
        <p:spPr>
          <a:xfrm>
            <a:off x="8473440" y="1691640"/>
            <a:ext cx="2935224" cy="2590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常见不合规示例</a:t>
            </a:r>
            <a:endParaRPr lang="en-US" sz="1560" dirty="0"/>
          </a:p>
        </p:txBody>
      </p:sp>
      <p:pic>
        <p:nvPicPr>
          <p:cNvPr id="17" name="Image 9" descr="https://test.web.static.jianzeppt.com/ppt-temp-img3/a20ded39da130264ccf227c055dd83f8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40" y="2000250"/>
            <a:ext cx="10942320" cy="15240"/>
          </a:xfrm>
          <a:prstGeom prst="rect">
            <a:avLst/>
          </a:prstGeom>
        </p:spPr>
      </p:pic>
      <p:sp>
        <p:nvSpPr>
          <p:cNvPr id="18" name="Text 6"/>
          <p:cNvSpPr/>
          <p:nvPr/>
        </p:nvSpPr>
        <p:spPr>
          <a:xfrm>
            <a:off x="1005840" y="2042160"/>
            <a:ext cx="131064" cy="2514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60" b="1" dirty="0">
                <a:solidFill>
                  <a:srgbClr val="143866">
                    <a:alpha val="70000"/>
                  </a:srgbClr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</a:t>
            </a:r>
            <a:endParaRPr lang="en-US" sz="1560" dirty="0"/>
          </a:p>
        </p:txBody>
      </p:sp>
      <p:pic>
        <p:nvPicPr>
          <p:cNvPr id="19" name="Image 10" descr="https://test.web.static.jianzeppt.com/ppt-temp-img3/a9008a305364f09cfd8e4332fdc48928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84986" y="2000250"/>
            <a:ext cx="15240" cy="384810"/>
          </a:xfrm>
          <a:prstGeom prst="rect">
            <a:avLst/>
          </a:prstGeom>
        </p:spPr>
      </p:pic>
      <p:sp>
        <p:nvSpPr>
          <p:cNvPr id="20" name="Text 7"/>
          <p:cNvSpPr/>
          <p:nvPr/>
        </p:nvSpPr>
        <p:spPr>
          <a:xfrm>
            <a:off x="1691640" y="2057400"/>
            <a:ext cx="6425184" cy="2514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身份标识与鉴别：</a:t>
            </a:r>
            <a:r>
              <a:rPr lang="en-US" sz="156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用户登录需鉴别，标识应唯一</a:t>
            </a:r>
            <a:endParaRPr lang="en-US" sz="1560" dirty="0"/>
          </a:p>
        </p:txBody>
      </p:sp>
      <p:sp>
        <p:nvSpPr>
          <p:cNvPr id="21" name="Text 8"/>
          <p:cNvSpPr/>
          <p:nvPr/>
        </p:nvSpPr>
        <p:spPr>
          <a:xfrm>
            <a:off x="8473440" y="2057400"/>
            <a:ext cx="2935224" cy="2514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60" dirty="0">
                <a:solidFill>
                  <a:srgbClr val="E53E49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存在空口令账户</a:t>
            </a:r>
            <a:endParaRPr lang="en-US" sz="1560" dirty="0"/>
          </a:p>
        </p:txBody>
      </p:sp>
      <p:pic>
        <p:nvPicPr>
          <p:cNvPr id="22" name="Image 11" descr="https://test.web.static.jianzeppt.com/ppt-temp-img3/1c04ed19c1f33a09c1efb4f76ff8fe24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4840" y="2385060"/>
            <a:ext cx="10942320" cy="15240"/>
          </a:xfrm>
          <a:prstGeom prst="rect">
            <a:avLst/>
          </a:prstGeom>
        </p:spPr>
      </p:pic>
      <p:pic>
        <p:nvPicPr>
          <p:cNvPr id="23" name="Image 12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24840" y="2392680"/>
            <a:ext cx="10942320" cy="396240"/>
          </a:xfrm>
          <a:prstGeom prst="rect">
            <a:avLst/>
          </a:prstGeom>
        </p:spPr>
      </p:pic>
      <p:sp>
        <p:nvSpPr>
          <p:cNvPr id="24" name="Text 9"/>
          <p:cNvSpPr/>
          <p:nvPr/>
        </p:nvSpPr>
        <p:spPr>
          <a:xfrm>
            <a:off x="1005840" y="2423160"/>
            <a:ext cx="131064" cy="2514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60" b="1" dirty="0">
                <a:solidFill>
                  <a:srgbClr val="143866">
                    <a:alpha val="70000"/>
                  </a:srgbClr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2</a:t>
            </a:r>
            <a:endParaRPr lang="en-US" sz="1560" dirty="0"/>
          </a:p>
        </p:txBody>
      </p:sp>
      <p:pic>
        <p:nvPicPr>
          <p:cNvPr id="25" name="Image 13" descr="https://test.web.static.jianzeppt.com/ppt-temp-img3/a9008a305364f09cfd8e4332fdc48928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84986" y="2385060"/>
            <a:ext cx="15240" cy="384810"/>
          </a:xfrm>
          <a:prstGeom prst="rect">
            <a:avLst/>
          </a:prstGeom>
        </p:spPr>
      </p:pic>
      <p:sp>
        <p:nvSpPr>
          <p:cNvPr id="26" name="Text 10"/>
          <p:cNvSpPr/>
          <p:nvPr/>
        </p:nvSpPr>
        <p:spPr>
          <a:xfrm>
            <a:off x="1691640" y="2453640"/>
            <a:ext cx="6425184" cy="2514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密码复杂度：</a:t>
            </a:r>
            <a:r>
              <a:rPr lang="en-US" sz="156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配置策略(≥8位,含大小写+数字+特殊字符)</a:t>
            </a:r>
            <a:endParaRPr lang="en-US" sz="1560" dirty="0"/>
          </a:p>
        </p:txBody>
      </p:sp>
      <p:sp>
        <p:nvSpPr>
          <p:cNvPr id="27" name="Text 11"/>
          <p:cNvSpPr/>
          <p:nvPr/>
        </p:nvSpPr>
        <p:spPr>
          <a:xfrm>
            <a:off x="8473440" y="2453640"/>
            <a:ext cx="2935224" cy="2514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60" dirty="0">
                <a:solidFill>
                  <a:srgbClr val="E53E49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未装validate_password插件</a:t>
            </a:r>
            <a:endParaRPr lang="en-US" sz="1560" dirty="0"/>
          </a:p>
        </p:txBody>
      </p:sp>
      <p:pic>
        <p:nvPicPr>
          <p:cNvPr id="28" name="Image 14" descr="https://test.web.static.jianzeppt.com/ppt-temp-img3/1c04ed19c1f33a09c1efb4f76ff8fe24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4840" y="2769870"/>
            <a:ext cx="10942320" cy="15240"/>
          </a:xfrm>
          <a:prstGeom prst="rect">
            <a:avLst/>
          </a:prstGeom>
        </p:spPr>
      </p:pic>
      <p:sp>
        <p:nvSpPr>
          <p:cNvPr id="29" name="Text 12"/>
          <p:cNvSpPr/>
          <p:nvPr/>
        </p:nvSpPr>
        <p:spPr>
          <a:xfrm>
            <a:off x="1005840" y="2804160"/>
            <a:ext cx="131064" cy="2514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60" b="1" dirty="0">
                <a:solidFill>
                  <a:srgbClr val="143866">
                    <a:alpha val="70000"/>
                  </a:srgbClr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3</a:t>
            </a:r>
            <a:endParaRPr lang="en-US" sz="1560" dirty="0"/>
          </a:p>
        </p:txBody>
      </p:sp>
      <p:pic>
        <p:nvPicPr>
          <p:cNvPr id="30" name="Image 15" descr="https://test.web.static.jianzeppt.com/ppt-temp-img3/a9008a305364f09cfd8e4332fdc48928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84986" y="2769870"/>
            <a:ext cx="15240" cy="384810"/>
          </a:xfrm>
          <a:prstGeom prst="rect">
            <a:avLst/>
          </a:prstGeom>
        </p:spPr>
      </p:pic>
      <p:sp>
        <p:nvSpPr>
          <p:cNvPr id="31" name="Text 13"/>
          <p:cNvSpPr/>
          <p:nvPr/>
        </p:nvSpPr>
        <p:spPr>
          <a:xfrm>
            <a:off x="1691640" y="2834640"/>
            <a:ext cx="6425184" cy="2514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密码定期更换：</a:t>
            </a:r>
            <a:r>
              <a:rPr lang="en-US" sz="156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密码应定期更换（建议90天）</a:t>
            </a:r>
            <a:endParaRPr lang="en-US" sz="1560" dirty="0"/>
          </a:p>
        </p:txBody>
      </p:sp>
      <p:sp>
        <p:nvSpPr>
          <p:cNvPr id="32" name="Text 14"/>
          <p:cNvSpPr/>
          <p:nvPr/>
        </p:nvSpPr>
        <p:spPr>
          <a:xfrm>
            <a:off x="8473440" y="2834640"/>
            <a:ext cx="2935224" cy="2514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60" dirty="0">
                <a:solidFill>
                  <a:srgbClr val="E53E49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default_password_lifetime=0</a:t>
            </a:r>
            <a:endParaRPr lang="en-US" sz="1560" dirty="0"/>
          </a:p>
        </p:txBody>
      </p:sp>
      <p:pic>
        <p:nvPicPr>
          <p:cNvPr id="33" name="Image 16" descr="https://test.web.static.jianzeppt.com/ppt-temp-img3/1c04ed19c1f33a09c1efb4f76ff8fe24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4840" y="3154680"/>
            <a:ext cx="10942320" cy="15240"/>
          </a:xfrm>
          <a:prstGeom prst="rect">
            <a:avLst/>
          </a:prstGeom>
        </p:spPr>
      </p:pic>
      <p:pic>
        <p:nvPicPr>
          <p:cNvPr id="34" name="Image 17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24840" y="3154680"/>
            <a:ext cx="10942320" cy="396240"/>
          </a:xfrm>
          <a:prstGeom prst="rect">
            <a:avLst/>
          </a:prstGeom>
        </p:spPr>
      </p:pic>
      <p:sp>
        <p:nvSpPr>
          <p:cNvPr id="35" name="Text 15"/>
          <p:cNvSpPr/>
          <p:nvPr/>
        </p:nvSpPr>
        <p:spPr>
          <a:xfrm>
            <a:off x="1005840" y="3200400"/>
            <a:ext cx="131064" cy="2514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60" b="1" dirty="0">
                <a:solidFill>
                  <a:srgbClr val="143866">
                    <a:alpha val="70000"/>
                  </a:srgbClr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4</a:t>
            </a:r>
            <a:endParaRPr lang="en-US" sz="1560" dirty="0"/>
          </a:p>
        </p:txBody>
      </p:sp>
      <p:pic>
        <p:nvPicPr>
          <p:cNvPr id="36" name="Image 18" descr="https://test.web.static.jianzeppt.com/ppt-temp-img3/a9008a305364f09cfd8e4332fdc48928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84986" y="3154680"/>
            <a:ext cx="15240" cy="384810"/>
          </a:xfrm>
          <a:prstGeom prst="rect">
            <a:avLst/>
          </a:prstGeom>
        </p:spPr>
      </p:pic>
      <p:sp>
        <p:nvSpPr>
          <p:cNvPr id="37" name="Text 16"/>
          <p:cNvSpPr/>
          <p:nvPr/>
        </p:nvSpPr>
        <p:spPr>
          <a:xfrm>
            <a:off x="1691640" y="3215640"/>
            <a:ext cx="6425184" cy="2514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登录失败处理：</a:t>
            </a:r>
            <a:r>
              <a:rPr lang="en-US" sz="156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启用失败处理（限制非法登录次数）</a:t>
            </a:r>
            <a:endParaRPr lang="en-US" sz="1560" dirty="0"/>
          </a:p>
        </p:txBody>
      </p:sp>
      <p:sp>
        <p:nvSpPr>
          <p:cNvPr id="38" name="Text 17"/>
          <p:cNvSpPr/>
          <p:nvPr/>
        </p:nvSpPr>
        <p:spPr>
          <a:xfrm>
            <a:off x="8473440" y="3215640"/>
            <a:ext cx="2935224" cy="2514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60" dirty="0">
                <a:solidFill>
                  <a:srgbClr val="E53E49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无账户锁定策略</a:t>
            </a:r>
            <a:endParaRPr lang="en-US" sz="1560" dirty="0"/>
          </a:p>
        </p:txBody>
      </p:sp>
      <p:pic>
        <p:nvPicPr>
          <p:cNvPr id="39" name="Image 19" descr="https://test.web.static.jianzeppt.com/ppt-temp-img3/1c04ed19c1f33a09c1efb4f76ff8fe24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4840" y="3539490"/>
            <a:ext cx="10942320" cy="15240"/>
          </a:xfrm>
          <a:prstGeom prst="rect">
            <a:avLst/>
          </a:prstGeom>
        </p:spPr>
      </p:pic>
      <p:sp>
        <p:nvSpPr>
          <p:cNvPr id="40" name="Text 18"/>
          <p:cNvSpPr/>
          <p:nvPr/>
        </p:nvSpPr>
        <p:spPr>
          <a:xfrm>
            <a:off x="1005840" y="3581400"/>
            <a:ext cx="131064" cy="2514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60" b="1" dirty="0">
                <a:solidFill>
                  <a:srgbClr val="143866">
                    <a:alpha val="70000"/>
                  </a:srgbClr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5</a:t>
            </a:r>
            <a:endParaRPr lang="en-US" sz="1560" dirty="0"/>
          </a:p>
        </p:txBody>
      </p:sp>
      <p:pic>
        <p:nvPicPr>
          <p:cNvPr id="41" name="Image 20" descr="https://test.web.static.jianzeppt.com/ppt-temp-img3/a9aebfc87fc3bfd208fed9df0af8b941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84986" y="3539490"/>
            <a:ext cx="15240" cy="377190"/>
          </a:xfrm>
          <a:prstGeom prst="rect">
            <a:avLst/>
          </a:prstGeom>
        </p:spPr>
      </p:pic>
      <p:sp>
        <p:nvSpPr>
          <p:cNvPr id="42" name="Text 19"/>
          <p:cNvSpPr/>
          <p:nvPr/>
        </p:nvSpPr>
        <p:spPr>
          <a:xfrm>
            <a:off x="1691640" y="3596640"/>
            <a:ext cx="6425184" cy="2590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远程管理安全：</a:t>
            </a:r>
            <a:r>
              <a:rPr lang="en-US" sz="156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远程管理应采取加密措施（SSL/TLS）</a:t>
            </a:r>
            <a:endParaRPr lang="en-US" sz="1560" dirty="0"/>
          </a:p>
        </p:txBody>
      </p:sp>
      <p:sp>
        <p:nvSpPr>
          <p:cNvPr id="43" name="Text 20"/>
          <p:cNvSpPr/>
          <p:nvPr/>
        </p:nvSpPr>
        <p:spPr>
          <a:xfrm>
            <a:off x="8473440" y="3596640"/>
            <a:ext cx="2935224" cy="2590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60" dirty="0">
                <a:solidFill>
                  <a:srgbClr val="E53E49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未启用SSL加密</a:t>
            </a:r>
            <a:endParaRPr lang="en-US" sz="1560" dirty="0"/>
          </a:p>
        </p:txBody>
      </p:sp>
      <p:pic>
        <p:nvPicPr>
          <p:cNvPr id="44" name="Image 21" descr="https://test.web.static.jianzeppt.com/ppt-temp-img3/489721ed70d2b74bb5b4a679fdc6c8e4.png?x-oss-process=image/resize,w_1440,h_800,m_lfit/format,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9600" y="4114800"/>
            <a:ext cx="5364480" cy="2286000"/>
          </a:xfrm>
          <a:prstGeom prst="rect">
            <a:avLst/>
          </a:prstGeom>
        </p:spPr>
      </p:pic>
      <p:pic>
        <p:nvPicPr>
          <p:cNvPr id="45" name="Image 22" descr="https://test.web.static.jianzeppt.com/ppt-temp-img3/053228d937f6f64f10d3f6bae6081540.png?x-oss-process=image/resize,w_1440,h_800,m_lfit/format,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4840" y="4130040"/>
            <a:ext cx="5334000" cy="441960"/>
          </a:xfrm>
          <a:prstGeom prst="rect">
            <a:avLst/>
          </a:prstGeom>
        </p:spPr>
      </p:pic>
      <p:pic>
        <p:nvPicPr>
          <p:cNvPr id="46" name="Image 23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07720" y="4236720"/>
            <a:ext cx="213360" cy="213360"/>
          </a:xfrm>
          <a:prstGeom prst="rect">
            <a:avLst/>
          </a:prstGeom>
        </p:spPr>
      </p:pic>
      <p:sp>
        <p:nvSpPr>
          <p:cNvPr id="47" name="Text 21"/>
          <p:cNvSpPr/>
          <p:nvPr/>
        </p:nvSpPr>
        <p:spPr>
          <a:xfrm>
            <a:off x="1143000" y="4191000"/>
            <a:ext cx="1533144" cy="2895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6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MySQL 操作示例</a:t>
            </a:r>
            <a:endParaRPr lang="en-US" sz="1560" dirty="0"/>
          </a:p>
        </p:txBody>
      </p:sp>
      <p:pic>
        <p:nvPicPr>
          <p:cNvPr id="48" name="Image 24" descr="preencoded.pn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24840" y="4564380"/>
            <a:ext cx="5334000" cy="15240"/>
          </a:xfrm>
          <a:prstGeom prst="rect">
            <a:avLst/>
          </a:prstGeom>
        </p:spPr>
      </p:pic>
      <p:sp>
        <p:nvSpPr>
          <p:cNvPr id="49" name="Text 22"/>
          <p:cNvSpPr/>
          <p:nvPr/>
        </p:nvSpPr>
        <p:spPr>
          <a:xfrm>
            <a:off x="746760" y="4648200"/>
            <a:ext cx="5099304" cy="11988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ADE76"/>
                </a:solidFill>
              </a:rPr>
              <a:t>-- 检查/安装密码策略插件</a:t>
            </a:r>
            <a:r>
              <a:rPr lang="en-US" sz="1200" dirty="0">
                <a:solidFill>
                  <a:srgbClr val="93CCFD"/>
                </a:solidFill>
              </a:rPr>
              <a:t>SHOW PLUGINS LIKE</a:t>
            </a:r>
            <a:r>
              <a:rPr lang="en-US" sz="1200" dirty="0">
                <a:solidFill>
                  <a:srgbClr val="D1D6DB"/>
                </a:solidFill>
              </a:rPr>
              <a:t>'validate_password';</a:t>
            </a:r>
            <a:r>
              <a:rPr lang="en-US" sz="1200" dirty="0">
                <a:solidFill>
                  <a:srgbClr val="93CCFD"/>
                </a:solidFill>
              </a:rPr>
              <a:t>INSTALL COMPONENT </a:t>
            </a:r>
            <a:r>
              <a:rPr lang="en-US" sz="1200" dirty="0">
                <a:solidFill>
                  <a:srgbClr val="D1D6DB"/>
                </a:solidFill>
              </a:rPr>
              <a:t>'file://component_validate_password';</a:t>
            </a:r>
            <a:endParaRPr lang="en-US" sz="1200" dirty="0">
              <a:solidFill>
                <a:srgbClr val="D1D6DB"/>
              </a:solidFill>
            </a:endParaRPr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ADE76"/>
                </a:solidFill>
              </a:rPr>
              <a:t>-- 策略级别: MEDIUM, 最小长度: 12 </a:t>
            </a:r>
            <a:r>
              <a:rPr lang="en-US" sz="1200" dirty="0">
                <a:solidFill>
                  <a:srgbClr val="93CCFD"/>
                </a:solidFill>
              </a:rPr>
              <a:t>SET GLOBAL</a:t>
            </a:r>
            <a:r>
              <a:rPr lang="en-US" sz="1200" dirty="0">
                <a:solidFill>
                  <a:srgbClr val="D1D6DB"/>
                </a:solidFill>
              </a:rPr>
              <a:t>validate_password.policy = MEDIUM;</a:t>
            </a:r>
            <a:r>
              <a:rPr lang="en-US" sz="1200" dirty="0">
                <a:solidFill>
                  <a:srgbClr val="93CCFD"/>
                </a:solidFill>
              </a:rPr>
              <a:t>SET GLOBAL</a:t>
            </a:r>
            <a:r>
              <a:rPr lang="en-US" sz="1200" dirty="0">
                <a:solidFill>
                  <a:srgbClr val="D1D6DB"/>
                </a:solidFill>
              </a:rPr>
              <a:t>validate_password.length = 12;</a:t>
            </a:r>
            <a:endParaRPr lang="en-US" sz="1200" dirty="0">
              <a:solidFill>
                <a:srgbClr val="D1D6DB"/>
              </a:solidFill>
            </a:endParaRPr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ADE76"/>
                </a:solidFill>
              </a:rPr>
              <a:t>-- 设置密码90天过期</a:t>
            </a:r>
            <a:r>
              <a:rPr lang="en-US" sz="1200" dirty="0">
                <a:solidFill>
                  <a:srgbClr val="93CCFD"/>
                </a:solidFill>
              </a:rPr>
              <a:t>SET GLOBAL</a:t>
            </a:r>
            <a:r>
              <a:rPr lang="en-US" sz="1200" dirty="0">
                <a:solidFill>
                  <a:srgbClr val="D1D6DB"/>
                </a:solidFill>
              </a:rPr>
              <a:t>default_password_lifetime = 90;</a:t>
            </a:r>
            <a:endParaRPr lang="en-US" sz="1200" dirty="0">
              <a:solidFill>
                <a:srgbClr val="D1D6DB"/>
              </a:solidFill>
            </a:endParaRPr>
          </a:p>
        </p:txBody>
      </p:sp>
      <p:pic>
        <p:nvPicPr>
          <p:cNvPr id="50" name="Image 25" descr="https://test.web.static.jianzeppt.com/ppt-temp-img3/489721ed70d2b74bb5b4a679fdc6c8e4.png?x-oss-process=image/resize,w_1440,h_800,m_lfit/format,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17920" y="4114800"/>
            <a:ext cx="5364480" cy="2286000"/>
          </a:xfrm>
          <a:prstGeom prst="rect">
            <a:avLst/>
          </a:prstGeom>
        </p:spPr>
      </p:pic>
      <p:pic>
        <p:nvPicPr>
          <p:cNvPr id="51" name="Image 26" descr="https://test.web.static.jianzeppt.com/ppt-temp-img3/b5affa53a392acc9b105d2f692d01a32.png?x-oss-process=image/resize,w_1440,h_800,m_lfit/format,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33160" y="4130040"/>
            <a:ext cx="5334000" cy="441960"/>
          </a:xfrm>
          <a:prstGeom prst="rect">
            <a:avLst/>
          </a:prstGeom>
        </p:spPr>
      </p:pic>
      <p:pic>
        <p:nvPicPr>
          <p:cNvPr id="52" name="Image 27" descr="preencoded.png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416040" y="4236720"/>
            <a:ext cx="213360" cy="213360"/>
          </a:xfrm>
          <a:prstGeom prst="rect">
            <a:avLst/>
          </a:prstGeom>
        </p:spPr>
      </p:pic>
      <p:sp>
        <p:nvSpPr>
          <p:cNvPr id="53" name="Text 23"/>
          <p:cNvSpPr/>
          <p:nvPr/>
        </p:nvSpPr>
        <p:spPr>
          <a:xfrm>
            <a:off x="6751320" y="4191000"/>
            <a:ext cx="1929384" cy="2895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6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SQL Server 操作示例</a:t>
            </a:r>
            <a:endParaRPr lang="en-US" sz="1560" dirty="0"/>
          </a:p>
        </p:txBody>
      </p:sp>
      <p:pic>
        <p:nvPicPr>
          <p:cNvPr id="54" name="Image 28" descr="preencoded.pn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233160" y="4564380"/>
            <a:ext cx="5334000" cy="15240"/>
          </a:xfrm>
          <a:prstGeom prst="rect">
            <a:avLst/>
          </a:prstGeom>
        </p:spPr>
      </p:pic>
      <p:sp>
        <p:nvSpPr>
          <p:cNvPr id="55" name="Text 24"/>
          <p:cNvSpPr/>
          <p:nvPr/>
        </p:nvSpPr>
        <p:spPr>
          <a:xfrm>
            <a:off x="6355080" y="4724400"/>
            <a:ext cx="5099304" cy="11182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ADE76"/>
                </a:solidFill>
              </a:rPr>
              <a:t>-- 检查审核级别(应为'all')</a:t>
            </a:r>
            <a:r>
              <a:rPr lang="en-US" sz="1400" dirty="0">
                <a:solidFill>
                  <a:srgbClr val="93CCFD"/>
                </a:solidFill>
              </a:rPr>
              <a:t>EXEC</a:t>
            </a:r>
            <a:r>
              <a:rPr lang="en-US" sz="1400" dirty="0">
                <a:solidFill>
                  <a:srgbClr val="D1D6DB"/>
                </a:solidFill>
              </a:rPr>
              <a:t>xp_loginconfig 'audit level';</a:t>
            </a:r>
            <a:endParaRPr lang="en-US" sz="1400" dirty="0">
              <a:solidFill>
                <a:srgbClr val="D1D6DB"/>
              </a:solidFill>
            </a:endParaRPr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ADE76"/>
                </a:solidFill>
              </a:rPr>
              <a:t>-- 禁用SA账户</a:t>
            </a:r>
            <a:r>
              <a:rPr lang="en-US" sz="1400" dirty="0">
                <a:solidFill>
                  <a:srgbClr val="93CCFD"/>
                </a:solidFill>
              </a:rPr>
              <a:t>ALTER LOGIN</a:t>
            </a:r>
            <a:r>
              <a:rPr lang="en-US" sz="1400" dirty="0">
                <a:solidFill>
                  <a:srgbClr val="D1D6DB"/>
                </a:solidFill>
              </a:rPr>
              <a:t>sa</a:t>
            </a:r>
            <a:r>
              <a:rPr lang="en-US" sz="1400" dirty="0">
                <a:solidFill>
                  <a:srgbClr val="93CCFD"/>
                </a:solidFill>
              </a:rPr>
              <a:t>DISABLE</a:t>
            </a:r>
            <a:r>
              <a:rPr lang="en-US" sz="1400" dirty="0">
                <a:solidFill>
                  <a:srgbClr val="D1D6DB"/>
                </a:solidFill>
              </a:rPr>
              <a:t>;</a:t>
            </a:r>
            <a:endParaRPr lang="en-US" sz="1400" dirty="0">
              <a:solidFill>
                <a:srgbClr val="D1D6DB"/>
              </a:solidFill>
            </a:endParaRPr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ADE76"/>
                </a:solidFill>
              </a:rPr>
              <a:t>-- 检查空口令账户</a:t>
            </a:r>
            <a:r>
              <a:rPr lang="en-US" sz="1400" dirty="0">
                <a:solidFill>
                  <a:srgbClr val="93CCFD"/>
                </a:solidFill>
              </a:rPr>
              <a:t>SELECT</a:t>
            </a:r>
            <a:r>
              <a:rPr lang="en-US" sz="1400" dirty="0">
                <a:solidFill>
                  <a:srgbClr val="D1D6DB"/>
                </a:solidFill>
              </a:rPr>
              <a:t>name</a:t>
            </a:r>
            <a:r>
              <a:rPr lang="en-US" sz="1400" dirty="0">
                <a:solidFill>
                  <a:srgbClr val="93CCFD"/>
                </a:solidFill>
              </a:rPr>
              <a:t>FROM</a:t>
            </a:r>
            <a:r>
              <a:rPr lang="en-US" sz="1400" dirty="0">
                <a:solidFill>
                  <a:srgbClr val="D1D6DB"/>
                </a:solidFill>
              </a:rPr>
              <a:t>sys.sql_logins</a:t>
            </a:r>
            <a:r>
              <a:rPr lang="en-US" sz="1400" dirty="0">
                <a:solidFill>
                  <a:srgbClr val="93CCFD"/>
                </a:solidFill>
              </a:rPr>
              <a:t>WHERE</a:t>
            </a:r>
            <a:r>
              <a:rPr lang="en-US" sz="1400" dirty="0">
                <a:solidFill>
                  <a:srgbClr val="D1D6DB"/>
                </a:solidFill>
              </a:rPr>
              <a:t>password_hash</a:t>
            </a:r>
            <a:r>
              <a:rPr lang="en-US" sz="1400" dirty="0">
                <a:solidFill>
                  <a:srgbClr val="93CCFD"/>
                </a:solidFill>
              </a:rPr>
              <a:t>IS NULL</a:t>
            </a:r>
            <a:r>
              <a:rPr lang="en-US" sz="1400" dirty="0">
                <a:solidFill>
                  <a:srgbClr val="D1D6DB"/>
                </a:solidFill>
              </a:rPr>
              <a:t>;</a:t>
            </a:r>
            <a:endParaRPr lang="en-US" sz="1400" dirty="0">
              <a:solidFill>
                <a:srgbClr val="D1D6DB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31937"/>
            <a:ext cx="5457825" cy="424180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1.身份鉴别测评——常见问题与整改</a:t>
            </a:r>
            <a:endParaRPr lang="en-US" sz="276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609600" y="1371600"/>
          <a:ext cx="10972800" cy="4876802"/>
        </p:xfrm>
        <a:graphic>
          <a:graphicData uri="http://schemas.openxmlformats.org/drawingml/2006/table">
            <a:tbl>
              <a:tblPr/>
              <a:tblGrid>
                <a:gridCol w="2334963"/>
                <a:gridCol w="4028956"/>
                <a:gridCol w="4608881"/>
              </a:tblGrid>
              <a:tr h="6966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常见不合规问题</a:t>
                      </a:r>
                      <a:endParaRPr lang="en-US" sz="1600" b="1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风险描述</a:t>
                      </a:r>
                      <a:endParaRPr lang="en-US" sz="1600" b="1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整改建议</a:t>
                      </a:r>
                      <a:endParaRPr lang="en-US" sz="1600" b="1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66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未安装密码复杂度插件</a:t>
                      </a:r>
                      <a:endParaRPr lang="en-US" sz="16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用户可设置弱口令，易被暴力破解</a:t>
                      </a:r>
                      <a:endParaRPr lang="en-US" sz="16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安装validate_password插件，启用MEDIUM策略</a:t>
                      </a:r>
                      <a:endParaRPr lang="en-US" sz="16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66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密码永不过期</a:t>
                      </a:r>
                      <a:endParaRPr lang="en-US" sz="16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长期使用同一密码，泄露风险高</a:t>
                      </a:r>
                      <a:endParaRPr lang="en-US" sz="16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设置default_password_lifetime=90</a:t>
                      </a:r>
                      <a:endParaRPr lang="en-US" sz="16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66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SA账户未禁用</a:t>
                      </a:r>
                      <a:endParaRPr lang="en-US" sz="16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SA拥有最高权限，被攻击后系统完全沦陷</a:t>
                      </a:r>
                      <a:endParaRPr lang="en-US" sz="16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禁用SA账户，创建专用服务账户</a:t>
                      </a:r>
                      <a:endParaRPr lang="en-US" sz="16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66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存在空口令账户</a:t>
                      </a:r>
                      <a:endParaRPr lang="en-US" sz="16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任何人都可以无密码登录</a:t>
                      </a:r>
                      <a:endParaRPr lang="en-US" sz="16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检查并删除空口令账户</a:t>
                      </a:r>
                      <a:endParaRPr lang="en-US" sz="16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66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远程管理未加密</a:t>
                      </a:r>
                      <a:endParaRPr lang="en-US" sz="16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密码在网络中明文传输，可被嗅探</a:t>
                      </a:r>
                      <a:endParaRPr lang="en-US" sz="16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启用SSL/TLS加密连接</a:t>
                      </a:r>
                      <a:endParaRPr lang="en-US" sz="16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66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无登录失败限制</a:t>
                      </a:r>
                      <a:endParaRPr lang="en-US" sz="16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可无限次尝试密码，易被暴力破解</a:t>
                      </a:r>
                      <a:endParaRPr lang="en-US" sz="16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配置登录失败锁定策略</a:t>
                      </a:r>
                      <a:endParaRPr lang="en-US" sz="16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31937"/>
            <a:ext cx="5808345" cy="424180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2.访问控制测评——谁有权</a:t>
            </a:r>
            <a:r>
              <a:rPr lang="zh-CN" altLang="en-US" sz="2760" dirty="0">
                <a:solidFill>
                  <a:srgbClr val="1E1E1E"/>
                </a:solidFill>
              </a:rPr>
              <a:t>，</a:t>
            </a:r>
            <a:r>
              <a:rPr lang="en-US" sz="2760" dirty="0">
                <a:solidFill>
                  <a:srgbClr val="1E1E1E"/>
                </a:solidFill>
              </a:rPr>
              <a:t>访问什么</a:t>
            </a:r>
            <a:endParaRPr lang="en-US" sz="276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066800"/>
            <a:ext cx="121920" cy="36576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853440" y="1107440"/>
            <a:ext cx="500786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4B576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GB/T 22239 第三级 安全计算环境 → 访问控制</a:t>
            </a:r>
            <a:endParaRPr lang="en-US" sz="1800" dirty="0"/>
          </a:p>
        </p:txBody>
      </p:sp>
      <p:grpSp>
        <p:nvGrpSpPr>
          <p:cNvPr id="51" name="组合 50"/>
          <p:cNvGrpSpPr/>
          <p:nvPr/>
        </p:nvGrpSpPr>
        <p:grpSpPr>
          <a:xfrm>
            <a:off x="609600" y="1645920"/>
            <a:ext cx="10972800" cy="2114449"/>
            <a:chOff x="960" y="2640"/>
            <a:chExt cx="17280" cy="3954"/>
          </a:xfrm>
        </p:grpSpPr>
        <p:pic>
          <p:nvPicPr>
            <p:cNvPr id="8" name="Image 4" descr="https://test.web.static.jianzeppt.com/ppt-temp-img3/5454dad0c6d7e3719b1c6c4f79005d39.png?x-oss-process=image/resize,w_1440,h_800,m_lfit/format,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60" y="2640"/>
              <a:ext cx="17280" cy="3936"/>
            </a:xfrm>
            <a:prstGeom prst="rect">
              <a:avLst/>
            </a:prstGeom>
          </p:spPr>
        </p:pic>
        <p:sp>
          <p:nvSpPr>
            <p:cNvPr id="9" name="Text 2"/>
            <p:cNvSpPr/>
            <p:nvPr/>
          </p:nvSpPr>
          <p:spPr>
            <a:xfrm>
              <a:off x="1368" y="3048"/>
              <a:ext cx="5226" cy="57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2000" b="1" dirty="0">
                  <a:solidFill>
                    <a:srgbClr val="143866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核心检查项（针对数据库）：</a:t>
              </a:r>
              <a:endParaRPr lang="en-US" sz="20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endParaRPr>
            </a:p>
          </p:txBody>
        </p:sp>
        <p:pic>
          <p:nvPicPr>
            <p:cNvPr id="10" name="Image 5" descr="preencoded.png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392" y="3984"/>
              <a:ext cx="16440" cy="912"/>
            </a:xfrm>
            <a:prstGeom prst="rect">
              <a:avLst/>
            </a:prstGeom>
          </p:spPr>
        </p:pic>
        <p:pic>
          <p:nvPicPr>
            <p:cNvPr id="11" name="Image 6" descr="https://test.web.static.jianzeppt.com/ppt-temp-img3/a9b98ee719e5c7ee88188195b6fc74c9.png?x-oss-process=image/resize,w_1440,h_800,m_lfit/format,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392" y="3984"/>
              <a:ext cx="2304" cy="912"/>
            </a:xfrm>
            <a:prstGeom prst="rect">
              <a:avLst/>
            </a:prstGeom>
          </p:spPr>
        </p:pic>
        <p:sp>
          <p:nvSpPr>
            <p:cNvPr id="12" name="Text 3"/>
            <p:cNvSpPr/>
            <p:nvPr/>
          </p:nvSpPr>
          <p:spPr>
            <a:xfrm>
              <a:off x="1680" y="4224"/>
              <a:ext cx="966" cy="69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600" b="1" dirty="0">
                  <a:solidFill>
                    <a:srgbClr val="FFFFFF"/>
                  </a:solidFill>
                </a:rPr>
                <a:t>检查项</a:t>
              </a:r>
              <a:endParaRPr lang="en-US" sz="1600" b="1" dirty="0">
                <a:solidFill>
                  <a:srgbClr val="FFFFFF"/>
                </a:solidFill>
              </a:endParaRPr>
            </a:p>
          </p:txBody>
        </p:sp>
        <p:pic>
          <p:nvPicPr>
            <p:cNvPr id="13" name="Image 7" descr="https://test.web.static.jianzeppt.com/ppt-temp-img3/a633404b1b680c9a053e30ef7751d938.png?x-oss-process=image/resize,w_1440,h_800,m_lfit/format,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696" y="3984"/>
              <a:ext cx="8664" cy="912"/>
            </a:xfrm>
            <a:prstGeom prst="rect">
              <a:avLst/>
            </a:prstGeom>
          </p:spPr>
        </p:pic>
        <p:sp>
          <p:nvSpPr>
            <p:cNvPr id="14" name="Text 4"/>
            <p:cNvSpPr/>
            <p:nvPr/>
          </p:nvSpPr>
          <p:spPr>
            <a:xfrm>
              <a:off x="3984" y="4224"/>
              <a:ext cx="1288" cy="69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600" b="1" dirty="0">
                  <a:solidFill>
                    <a:srgbClr val="FFFFFF"/>
                  </a:solidFill>
                </a:rPr>
                <a:t>合规要求</a:t>
              </a:r>
              <a:endParaRPr lang="en-US" sz="1600" b="1" dirty="0">
                <a:solidFill>
                  <a:srgbClr val="FFFFFF"/>
                </a:solidFill>
              </a:endParaRPr>
            </a:p>
          </p:txBody>
        </p:sp>
        <p:pic>
          <p:nvPicPr>
            <p:cNvPr id="15" name="Image 8" descr="https://test.web.static.jianzeppt.com/ppt-temp-img3/695ab9c1a784ca6e4c7b78d527049096.png?x-oss-process=image/resize,w_1440,h_800,m_lfit/format,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2336" y="3984"/>
              <a:ext cx="5496" cy="912"/>
            </a:xfrm>
            <a:prstGeom prst="rect">
              <a:avLst/>
            </a:prstGeom>
          </p:spPr>
        </p:pic>
        <p:sp>
          <p:nvSpPr>
            <p:cNvPr id="16" name="Text 5"/>
            <p:cNvSpPr/>
            <p:nvPr/>
          </p:nvSpPr>
          <p:spPr>
            <a:xfrm>
              <a:off x="12648" y="4224"/>
              <a:ext cx="1610" cy="69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600" b="1" dirty="0">
                  <a:solidFill>
                    <a:srgbClr val="FFFFFF"/>
                  </a:solidFill>
                </a:rPr>
                <a:t>不合规示例</a:t>
              </a:r>
              <a:endParaRPr lang="en-US" sz="1600" b="1" dirty="0">
                <a:solidFill>
                  <a:srgbClr val="FFFFFF"/>
                </a:solidFill>
              </a:endParaRPr>
            </a:p>
          </p:txBody>
        </p:sp>
        <p:pic>
          <p:nvPicPr>
            <p:cNvPr id="18" name="Image 10" descr="https://test.web.static.jianzeppt.com/ppt-temp-img3/d1e2c479df8a1030c9cd4a95dae50cf9.png?x-oss-process=image/resize,w_1440,h_800,m_lfit/format,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392" y="4896"/>
              <a:ext cx="2304" cy="816"/>
            </a:xfrm>
            <a:prstGeom prst="rect">
              <a:avLst/>
            </a:prstGeom>
          </p:spPr>
        </p:pic>
        <p:sp>
          <p:nvSpPr>
            <p:cNvPr id="19" name="Text 6"/>
            <p:cNvSpPr/>
            <p:nvPr/>
          </p:nvSpPr>
          <p:spPr>
            <a:xfrm>
              <a:off x="1680" y="5088"/>
              <a:ext cx="1288" cy="69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600" b="1" dirty="0">
                  <a:solidFill>
                    <a:srgbClr val="374351"/>
                  </a:solidFill>
                </a:rPr>
                <a:t>账户分配</a:t>
              </a:r>
              <a:endParaRPr lang="en-US" sz="1600" b="1" dirty="0">
                <a:solidFill>
                  <a:srgbClr val="374351"/>
                </a:solidFill>
              </a:endParaRPr>
            </a:p>
          </p:txBody>
        </p:sp>
        <p:pic>
          <p:nvPicPr>
            <p:cNvPr id="20" name="Image 11" descr="https://test.web.static.jianzeppt.com/ppt-temp-img3/ce65b3e107ed9048a540ea5cb7964388.png?x-oss-process=image/resize,w_1440,h_800,m_lfit/format,pn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696" y="4896"/>
              <a:ext cx="8664" cy="816"/>
            </a:xfrm>
            <a:prstGeom prst="rect">
              <a:avLst/>
            </a:prstGeom>
          </p:spPr>
        </p:pic>
        <p:sp>
          <p:nvSpPr>
            <p:cNvPr id="21" name="Text 7"/>
            <p:cNvSpPr/>
            <p:nvPr/>
          </p:nvSpPr>
          <p:spPr>
            <a:xfrm>
              <a:off x="3984" y="5088"/>
              <a:ext cx="4480" cy="69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600" dirty="0">
                  <a:solidFill>
                    <a:srgbClr val="374351"/>
                  </a:solidFill>
                </a:rPr>
                <a:t>应对登录的用户分配账户和权限</a:t>
              </a:r>
              <a:endParaRPr lang="en-US" sz="1600" dirty="0">
                <a:solidFill>
                  <a:srgbClr val="374351"/>
                </a:solidFill>
              </a:endParaRPr>
            </a:p>
          </p:txBody>
        </p:sp>
        <p:pic>
          <p:nvPicPr>
            <p:cNvPr id="22" name="Image 12" descr="https://test.web.static.jianzeppt.com/ppt-temp-img3/00bd506aed29bdd44a5ff71a2aaf09a3.png?x-oss-process=image/resize,w_1440,h_800,m_lfit/format,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2336" y="4896"/>
              <a:ext cx="5496" cy="816"/>
            </a:xfrm>
            <a:prstGeom prst="rect">
              <a:avLst/>
            </a:prstGeom>
          </p:spPr>
        </p:pic>
        <p:sp>
          <p:nvSpPr>
            <p:cNvPr id="23" name="Text 8"/>
            <p:cNvSpPr/>
            <p:nvPr/>
          </p:nvSpPr>
          <p:spPr>
            <a:xfrm>
              <a:off x="12648" y="5088"/>
              <a:ext cx="3840" cy="69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600" dirty="0">
                  <a:solidFill>
                    <a:srgbClr val="DC2632"/>
                  </a:solidFill>
                </a:rPr>
                <a:t>多个运维人员共用一个账户</a:t>
              </a:r>
              <a:endParaRPr lang="en-US" sz="1600" dirty="0">
                <a:solidFill>
                  <a:srgbClr val="DC2632"/>
                </a:solidFill>
              </a:endParaRPr>
            </a:p>
          </p:txBody>
        </p:sp>
        <p:pic>
          <p:nvPicPr>
            <p:cNvPr id="24" name="Image 13" descr="https://test.web.static.jianzeppt.com/ppt-temp-img3/af40786772d420d083b0b1c13f25c5c4.png?x-oss-process=image/resize,w_1440,h_800,m_lfit/format,pn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392" y="5712"/>
              <a:ext cx="16440" cy="816"/>
            </a:xfrm>
            <a:prstGeom prst="rect">
              <a:avLst/>
            </a:prstGeom>
          </p:spPr>
        </p:pic>
        <p:pic>
          <p:nvPicPr>
            <p:cNvPr id="25" name="Image 14" descr="https://test.web.static.jianzeppt.com/ppt-temp-img3/d1e2c479df8a1030c9cd4a95dae50cf9.png?x-oss-process=image/resize,w_1440,h_800,m_lfit/format,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392" y="5712"/>
              <a:ext cx="2304" cy="816"/>
            </a:xfrm>
            <a:prstGeom prst="rect">
              <a:avLst/>
            </a:prstGeom>
          </p:spPr>
        </p:pic>
        <p:sp>
          <p:nvSpPr>
            <p:cNvPr id="26" name="Text 9"/>
            <p:cNvSpPr/>
            <p:nvPr/>
          </p:nvSpPr>
          <p:spPr>
            <a:xfrm>
              <a:off x="1680" y="5904"/>
              <a:ext cx="1288" cy="69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600" b="1" dirty="0">
                  <a:solidFill>
                    <a:srgbClr val="374351"/>
                  </a:solidFill>
                </a:rPr>
                <a:t>默认账户</a:t>
              </a:r>
              <a:endParaRPr lang="en-US" sz="1600" b="1" dirty="0">
                <a:solidFill>
                  <a:srgbClr val="374351"/>
                </a:solidFill>
              </a:endParaRPr>
            </a:p>
          </p:txBody>
        </p:sp>
        <p:pic>
          <p:nvPicPr>
            <p:cNvPr id="27" name="Image 15" descr="https://test.web.static.jianzeppt.com/ppt-temp-img3/ce65b3e107ed9048a540ea5cb7964388.png?x-oss-process=image/resize,w_1440,h_800,m_lfit/format,pn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696" y="5712"/>
              <a:ext cx="8664" cy="816"/>
            </a:xfrm>
            <a:prstGeom prst="rect">
              <a:avLst/>
            </a:prstGeom>
          </p:spPr>
        </p:pic>
        <p:sp>
          <p:nvSpPr>
            <p:cNvPr id="28" name="Text 10"/>
            <p:cNvSpPr/>
            <p:nvPr/>
          </p:nvSpPr>
          <p:spPr>
            <a:xfrm>
              <a:off x="3984" y="5904"/>
              <a:ext cx="5760" cy="69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600" dirty="0">
                  <a:solidFill>
                    <a:srgbClr val="374351"/>
                  </a:solidFill>
                </a:rPr>
                <a:t>应重命名或删除默认账户，修改默认口令</a:t>
              </a:r>
              <a:endParaRPr lang="en-US" sz="1600" dirty="0">
                <a:solidFill>
                  <a:srgbClr val="374351"/>
                </a:solidFill>
              </a:endParaRPr>
            </a:p>
          </p:txBody>
        </p:sp>
        <p:pic>
          <p:nvPicPr>
            <p:cNvPr id="29" name="Image 16" descr="https://test.web.static.jianzeppt.com/ppt-temp-img3/00bd506aed29bdd44a5ff71a2aaf09a3.png?x-oss-process=image/resize,w_1440,h_800,m_lfit/format,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2336" y="5712"/>
              <a:ext cx="5496" cy="816"/>
            </a:xfrm>
            <a:prstGeom prst="rect">
              <a:avLst/>
            </a:prstGeom>
          </p:spPr>
        </p:pic>
        <p:sp>
          <p:nvSpPr>
            <p:cNvPr id="30" name="Text 11"/>
            <p:cNvSpPr/>
            <p:nvPr/>
          </p:nvSpPr>
          <p:spPr>
            <a:xfrm>
              <a:off x="12648" y="5904"/>
              <a:ext cx="1929" cy="69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600" dirty="0">
                  <a:solidFill>
                    <a:srgbClr val="DC2632"/>
                  </a:solidFill>
                </a:rPr>
                <a:t>SA账户未禁用</a:t>
              </a:r>
              <a:endParaRPr lang="en-US" sz="1600" dirty="0">
                <a:solidFill>
                  <a:srgbClr val="DC2632"/>
                </a:solidFill>
              </a:endParaRPr>
            </a:p>
          </p:txBody>
        </p:sp>
      </p:grpSp>
      <p:pic>
        <p:nvPicPr>
          <p:cNvPr id="31" name="Image 17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80390" y="3966845"/>
            <a:ext cx="5393690" cy="2383155"/>
          </a:xfrm>
          <a:prstGeom prst="rect">
            <a:avLst/>
          </a:prstGeom>
        </p:spPr>
      </p:pic>
      <p:sp>
        <p:nvSpPr>
          <p:cNvPr id="32" name="Text 12"/>
          <p:cNvSpPr/>
          <p:nvPr/>
        </p:nvSpPr>
        <p:spPr>
          <a:xfrm>
            <a:off x="765175" y="4149725"/>
            <a:ext cx="5034915" cy="40703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MySQL操作示例</a:t>
            </a:r>
            <a:endParaRPr lang="en-US" sz="1920" dirty="0"/>
          </a:p>
        </p:txBody>
      </p:sp>
      <p:pic>
        <p:nvPicPr>
          <p:cNvPr id="33" name="Image 18" descr="preencoded.pn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65175" y="4637405"/>
            <a:ext cx="5026025" cy="1430020"/>
          </a:xfrm>
          <a:prstGeom prst="rect">
            <a:avLst/>
          </a:prstGeom>
        </p:spPr>
      </p:pic>
      <p:sp>
        <p:nvSpPr>
          <p:cNvPr id="34" name="Text 13"/>
          <p:cNvSpPr/>
          <p:nvPr/>
        </p:nvSpPr>
        <p:spPr>
          <a:xfrm>
            <a:off x="888365" y="4759325"/>
            <a:ext cx="4789805" cy="2247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A0D8FF"/>
                </a:solidFill>
              </a:rPr>
              <a:t>-- 检查root账户是否只允许本地登录</a:t>
            </a:r>
            <a:endParaRPr lang="en-US" sz="1400" dirty="0">
              <a:solidFill>
                <a:srgbClr val="A0D8FF"/>
              </a:solidFill>
            </a:endParaRPr>
          </a:p>
        </p:txBody>
      </p:sp>
      <p:sp>
        <p:nvSpPr>
          <p:cNvPr id="35" name="Text 14"/>
          <p:cNvSpPr/>
          <p:nvPr/>
        </p:nvSpPr>
        <p:spPr>
          <a:xfrm>
            <a:off x="888365" y="4972685"/>
            <a:ext cx="4789805" cy="2813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SELECT user, host FROM mysql.user WHERE user='root';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36" name="Text 15"/>
          <p:cNvSpPr/>
          <p:nvPr/>
        </p:nvSpPr>
        <p:spPr>
          <a:xfrm>
            <a:off x="888365" y="5374005"/>
            <a:ext cx="4789805" cy="2247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A0D8FF"/>
                </a:solidFill>
              </a:rPr>
              <a:t>-- 删除匿名用户</a:t>
            </a:r>
            <a:endParaRPr lang="en-US" sz="1400" dirty="0">
              <a:solidFill>
                <a:srgbClr val="A0D8FF"/>
              </a:solidFill>
            </a:endParaRPr>
          </a:p>
        </p:txBody>
      </p:sp>
      <p:sp>
        <p:nvSpPr>
          <p:cNvPr id="37" name="Text 16"/>
          <p:cNvSpPr/>
          <p:nvPr/>
        </p:nvSpPr>
        <p:spPr>
          <a:xfrm>
            <a:off x="888365" y="5577205"/>
            <a:ext cx="4789805" cy="2247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DELETE FROM mysql.user WHERE User='';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38" name="Text 17"/>
          <p:cNvSpPr/>
          <p:nvPr/>
        </p:nvSpPr>
        <p:spPr>
          <a:xfrm>
            <a:off x="888365" y="5810885"/>
            <a:ext cx="4789805" cy="16319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A0D8FF"/>
                </a:solidFill>
              </a:rPr>
              <a:t>-- 创建专用应用账户（最小权限）</a:t>
            </a:r>
            <a:endParaRPr lang="en-US" sz="1400" dirty="0">
              <a:solidFill>
                <a:srgbClr val="A0D8FF"/>
              </a:solidFill>
            </a:endParaRPr>
          </a:p>
        </p:txBody>
      </p:sp>
      <p:pic>
        <p:nvPicPr>
          <p:cNvPr id="39" name="Image 19" descr="https://test.web.static.jianzeppt.com/ppt-temp-img3/2c31f4b31db0e45232ae9a77dc363d62.png?x-oss-process=image/resize,w_1440,h_800,m_lfit/format,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054600" y="3966845"/>
            <a:ext cx="919480" cy="441960"/>
          </a:xfrm>
          <a:prstGeom prst="rect">
            <a:avLst/>
          </a:prstGeom>
        </p:spPr>
      </p:pic>
      <p:sp>
        <p:nvSpPr>
          <p:cNvPr id="40" name="Text 18"/>
          <p:cNvSpPr/>
          <p:nvPr/>
        </p:nvSpPr>
        <p:spPr>
          <a:xfrm>
            <a:off x="5239385" y="4058285"/>
            <a:ext cx="606425" cy="3689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dirty="0">
                <a:solidFill>
                  <a:srgbClr val="FFFFFF"/>
                </a:solidFill>
              </a:rPr>
              <a:t>MySQL</a:t>
            </a:r>
            <a:endParaRPr lang="en-US" sz="1440" dirty="0"/>
          </a:p>
        </p:txBody>
      </p:sp>
      <p:pic>
        <p:nvPicPr>
          <p:cNvPr id="41" name="Image 20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188710" y="3966845"/>
            <a:ext cx="5393690" cy="2383155"/>
          </a:xfrm>
          <a:prstGeom prst="rect">
            <a:avLst/>
          </a:prstGeom>
        </p:spPr>
      </p:pic>
      <p:sp>
        <p:nvSpPr>
          <p:cNvPr id="42" name="Text 19"/>
          <p:cNvSpPr/>
          <p:nvPr/>
        </p:nvSpPr>
        <p:spPr>
          <a:xfrm>
            <a:off x="6373495" y="4149725"/>
            <a:ext cx="5034915" cy="40703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SQL Server操作示例</a:t>
            </a:r>
            <a:endParaRPr lang="en-US" sz="1920" dirty="0"/>
          </a:p>
        </p:txBody>
      </p:sp>
      <p:pic>
        <p:nvPicPr>
          <p:cNvPr id="43" name="Image 21" descr="preencoded.pn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373495" y="4637405"/>
            <a:ext cx="5026025" cy="1430020"/>
          </a:xfrm>
          <a:prstGeom prst="rect">
            <a:avLst/>
          </a:prstGeom>
        </p:spPr>
      </p:pic>
      <p:sp>
        <p:nvSpPr>
          <p:cNvPr id="44" name="Text 20"/>
          <p:cNvSpPr/>
          <p:nvPr/>
        </p:nvSpPr>
        <p:spPr>
          <a:xfrm>
            <a:off x="6496685" y="4759325"/>
            <a:ext cx="4789805" cy="2247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A0D8FF"/>
                </a:solidFill>
              </a:rPr>
              <a:t>-- 检查SA账户状态</a:t>
            </a:r>
            <a:endParaRPr lang="en-US" sz="1400" dirty="0">
              <a:solidFill>
                <a:srgbClr val="A0D8FF"/>
              </a:solidFill>
            </a:endParaRPr>
          </a:p>
        </p:txBody>
      </p:sp>
      <p:sp>
        <p:nvSpPr>
          <p:cNvPr id="45" name="Text 21"/>
          <p:cNvSpPr/>
          <p:nvPr/>
        </p:nvSpPr>
        <p:spPr>
          <a:xfrm>
            <a:off x="6496685" y="4972685"/>
            <a:ext cx="4789805" cy="2813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SELECT name, is_disabled FROM sys.server_principals;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46" name="Text 22"/>
          <p:cNvSpPr/>
          <p:nvPr/>
        </p:nvSpPr>
        <p:spPr>
          <a:xfrm>
            <a:off x="6496685" y="5384165"/>
            <a:ext cx="4789805" cy="2247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A0D8FF"/>
                </a:solidFill>
              </a:rPr>
              <a:t>-- 禁用SA账户</a:t>
            </a:r>
            <a:endParaRPr lang="en-US" sz="1400" dirty="0">
              <a:solidFill>
                <a:srgbClr val="A0D8FF"/>
              </a:solidFill>
            </a:endParaRPr>
          </a:p>
        </p:txBody>
      </p:sp>
      <p:sp>
        <p:nvSpPr>
          <p:cNvPr id="47" name="Text 23"/>
          <p:cNvSpPr/>
          <p:nvPr/>
        </p:nvSpPr>
        <p:spPr>
          <a:xfrm>
            <a:off x="6496685" y="5597525"/>
            <a:ext cx="4789805" cy="2247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ALTER LOGIN sa DISABLE;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48" name="Text 24"/>
          <p:cNvSpPr/>
          <p:nvPr/>
        </p:nvSpPr>
        <p:spPr>
          <a:xfrm>
            <a:off x="6496685" y="5810885"/>
            <a:ext cx="4789805" cy="16319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A0D8FF"/>
                </a:solidFill>
              </a:rPr>
              <a:t>-- 创建角色并分配最小权限</a:t>
            </a:r>
            <a:endParaRPr lang="en-US" sz="1400" dirty="0">
              <a:solidFill>
                <a:srgbClr val="A0D8FF"/>
              </a:solidFill>
            </a:endParaRPr>
          </a:p>
        </p:txBody>
      </p:sp>
      <p:pic>
        <p:nvPicPr>
          <p:cNvPr id="49" name="Image 22" descr="https://test.web.static.jianzeppt.com/ppt-temp-img3/01d4366873630ad5a1fe9cd24c784def.png?x-oss-process=image/resize,w_1440,h_800,m_lfit/format,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111740" y="3966845"/>
            <a:ext cx="1470660" cy="441960"/>
          </a:xfrm>
          <a:prstGeom prst="rect">
            <a:avLst/>
          </a:prstGeom>
        </p:spPr>
      </p:pic>
      <p:sp>
        <p:nvSpPr>
          <p:cNvPr id="50" name="Text 25"/>
          <p:cNvSpPr/>
          <p:nvPr/>
        </p:nvSpPr>
        <p:spPr>
          <a:xfrm>
            <a:off x="10296525" y="4058285"/>
            <a:ext cx="1127125" cy="3689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dirty="0">
                <a:solidFill>
                  <a:srgbClr val="FFFFFF"/>
                </a:solidFill>
              </a:rPr>
              <a:t>SQL Server</a:t>
            </a:r>
            <a:endParaRPr lang="en-US" sz="14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3.安全审计测评——出了事有据可查</a:t>
            </a:r>
            <a:endParaRPr lang="en-US" sz="2760" dirty="0"/>
          </a:p>
        </p:txBody>
      </p:sp>
      <p:pic>
        <p:nvPicPr>
          <p:cNvPr id="6" name="Image 3" descr="https://test.web.static.jianzeppt.com/ppt-temp-img3/07b50f6f6e4308ab1c8aaef5d9cf5f25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524000"/>
            <a:ext cx="10972800" cy="225298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807720" y="1524000"/>
            <a:ext cx="1058570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143866"/>
                </a:solidFill>
              </a:rPr>
              <a:t>核心检查项（针对数据库）</a:t>
            </a:r>
            <a:endParaRPr lang="en-US" sz="2160" dirty="0"/>
          </a:p>
        </p:txBody>
      </p:sp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600" y="3901440"/>
            <a:ext cx="5364480" cy="2499360"/>
          </a:xfrm>
          <a:prstGeom prst="rect">
            <a:avLst/>
          </a:prstGeom>
        </p:spPr>
      </p:pic>
      <p:pic>
        <p:nvPicPr>
          <p:cNvPr id="9" name="Image 5" descr="https://test.web.static.jianzeppt.com/ppt-temp-img3/4cdc09b359e8e5d2545727f222e40624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" y="3916680"/>
            <a:ext cx="5334000" cy="365760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807720" y="3862070"/>
            <a:ext cx="19293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</a:rPr>
              <a:t>MySQL操作示例</a:t>
            </a:r>
            <a:endParaRPr lang="en-US" sz="1920" dirty="0"/>
          </a:p>
        </p:txBody>
      </p:sp>
      <p:sp>
        <p:nvSpPr>
          <p:cNvPr id="11" name="Text 3"/>
          <p:cNvSpPr/>
          <p:nvPr/>
        </p:nvSpPr>
        <p:spPr>
          <a:xfrm>
            <a:off x="807720" y="4450080"/>
            <a:ext cx="4977130" cy="18313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16A341"/>
                </a:solidFill>
              </a:rPr>
              <a:t>-- 检查审计插件是否安装（MySQL Enterprise版）</a:t>
            </a:r>
            <a:r>
              <a:rPr lang="en-US" sz="1000" dirty="0">
                <a:solidFill>
                  <a:srgbClr val="374351"/>
                </a:solidFill>
              </a:rPr>
              <a:t>SHOW PLUGINS LIKE 'audit_log';</a:t>
            </a:r>
            <a:endParaRPr lang="en-US" sz="1000" dirty="0">
              <a:solidFill>
                <a:srgbClr val="374351"/>
              </a:solidFill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16A341"/>
                </a:solidFill>
              </a:rPr>
              <a:t>-- 社区版可使用MariaDB audit_log插件</a:t>
            </a:r>
            <a:r>
              <a:rPr lang="en-US" sz="1000" dirty="0">
                <a:solidFill>
                  <a:srgbClr val="374351"/>
                </a:solidFill>
              </a:rPr>
              <a:t>INSTALL PLUGIN audit_log SONAME 'audit_log.so';</a:t>
            </a:r>
            <a:endParaRPr lang="en-US" sz="1000" dirty="0">
              <a:solidFill>
                <a:srgbClr val="374351"/>
              </a:solidFill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16A341"/>
                </a:solidFill>
              </a:rPr>
              <a:t>-- 启用全量审计</a:t>
            </a:r>
            <a:r>
              <a:rPr lang="en-US" sz="1000" dirty="0">
                <a:solidFill>
                  <a:srgbClr val="374351"/>
                </a:solidFill>
              </a:rPr>
              <a:t>SET GLOBAL audit_log_policy = 'ALL';</a:t>
            </a:r>
            <a:endParaRPr lang="en-US" sz="1000" dirty="0">
              <a:solidFill>
                <a:srgbClr val="374351"/>
              </a:solidFill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16A341"/>
                </a:solidFill>
              </a:rPr>
              <a:t>-- 性能敏感场景：仅审计关键操作</a:t>
            </a:r>
            <a:r>
              <a:rPr lang="en-US" sz="1000" dirty="0">
                <a:solidFill>
                  <a:srgbClr val="374351"/>
                </a:solidFill>
              </a:rPr>
              <a:t>SET GLOBAL audit_log_policy = 'LOGINS,QUERIES_DDL,QUERIES_DCL';</a:t>
            </a:r>
            <a:endParaRPr lang="en-US" sz="1000" dirty="0">
              <a:solidFill>
                <a:srgbClr val="374351"/>
              </a:solidFill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16A341"/>
                </a:solidFill>
              </a:rPr>
              <a:t>-- 检查通用日志状态（排障时临时开启）</a:t>
            </a:r>
            <a:r>
              <a:rPr lang="en-US" sz="1000" dirty="0">
                <a:solidFill>
                  <a:srgbClr val="374351"/>
                </a:solidFill>
              </a:rPr>
              <a:t>SHOW VARIABLES LIKE 'general_log%';</a:t>
            </a:r>
            <a:endParaRPr lang="en-US" sz="1000" dirty="0">
              <a:solidFill>
                <a:srgbClr val="374351"/>
              </a:solidFill>
            </a:endParaRPr>
          </a:p>
        </p:txBody>
      </p:sp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7920" y="3901440"/>
            <a:ext cx="5364480" cy="2499360"/>
          </a:xfrm>
          <a:prstGeom prst="rect">
            <a:avLst/>
          </a:prstGeom>
        </p:spPr>
      </p:pic>
      <p:pic>
        <p:nvPicPr>
          <p:cNvPr id="13" name="Image 7" descr="https://test.web.static.jianzeppt.com/ppt-temp-img3/b6880a88c9145d8c4549171fda803af6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3160" y="3916680"/>
            <a:ext cx="5334000" cy="304800"/>
          </a:xfrm>
          <a:prstGeom prst="rect">
            <a:avLst/>
          </a:prstGeom>
        </p:spPr>
      </p:pic>
      <p:sp>
        <p:nvSpPr>
          <p:cNvPr id="14" name="Text 4"/>
          <p:cNvSpPr/>
          <p:nvPr/>
        </p:nvSpPr>
        <p:spPr>
          <a:xfrm>
            <a:off x="6416040" y="3818255"/>
            <a:ext cx="25237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chemeClr val="bg1"/>
                </a:solidFill>
              </a:rPr>
              <a:t>SQL Server操作示例</a:t>
            </a:r>
            <a:endParaRPr lang="en-US" sz="1920" b="1" dirty="0">
              <a:solidFill>
                <a:schemeClr val="bg1"/>
              </a:solidFill>
            </a:endParaRPr>
          </a:p>
        </p:txBody>
      </p:sp>
      <p:sp>
        <p:nvSpPr>
          <p:cNvPr id="15" name="Text 5"/>
          <p:cNvSpPr/>
          <p:nvPr/>
        </p:nvSpPr>
        <p:spPr>
          <a:xfrm>
            <a:off x="6416040" y="4272915"/>
            <a:ext cx="4977130" cy="18954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6A341"/>
                </a:solidFill>
              </a:rPr>
              <a:t>-- 启用服务器审计</a:t>
            </a:r>
            <a:r>
              <a:rPr lang="en-US" sz="1200" dirty="0">
                <a:solidFill>
                  <a:srgbClr val="374351"/>
                </a:solidFill>
              </a:rPr>
              <a:t>USE master;CREATE SERVER AUDIT ServerAuditTO FILE (FILEPATH = 'C:\Audits\')WITH (QUEUE_DELAY = 1000, ON_FAILURE = CONTINUE);ALTER SERVER AUDIT ServerAudit WITH (STATE = ON);</a:t>
            </a:r>
            <a:endParaRPr lang="en-US" sz="1200" dirty="0">
              <a:solidFill>
                <a:srgbClr val="374351"/>
              </a:solidFill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6A341"/>
                </a:solidFill>
              </a:rPr>
              <a:t>-- 创建审计规范（记录登录事件）</a:t>
            </a:r>
            <a:r>
              <a:rPr lang="en-US" sz="1200" dirty="0">
                <a:solidFill>
                  <a:srgbClr val="374351"/>
                </a:solidFill>
              </a:rPr>
              <a:t>CREATE SERVER AUDIT SPECIFICATION LoginAuditSpecFOR SERVER AUDIT ServerAuditADD (FAILED_LOGIN_GROUP),ADD (LOGIN_CHANGE_PASSWORD_GROUP);ALTER SERVER AUDIT SPECIFICATION LoginAuditSpec WITH (STATE = ON);</a:t>
            </a:r>
            <a:endParaRPr lang="en-US" sz="1200" dirty="0">
              <a:solidFill>
                <a:srgbClr val="374351"/>
              </a:solidFill>
            </a:endParaRPr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custDataLst>
              <p:tags r:id="rId9"/>
            </p:custDataLst>
          </p:nvPr>
        </p:nvGraphicFramePr>
        <p:xfrm>
          <a:off x="1504950" y="2000885"/>
          <a:ext cx="9552305" cy="1732915"/>
        </p:xfrm>
        <a:graphic>
          <a:graphicData uri="http://schemas.openxmlformats.org/drawingml/2006/table">
            <a:tbl>
              <a:tblPr/>
              <a:tblGrid>
                <a:gridCol w="1461135"/>
                <a:gridCol w="5375910"/>
                <a:gridCol w="2715260"/>
              </a:tblGrid>
              <a:tr h="3460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检查项</a:t>
                      </a:r>
                      <a:endParaRPr lang="en-US" sz="1400" b="1" dirty="0">
                        <a:solidFill>
                          <a:srgbClr val="000000"/>
                        </a:solidFill>
                      </a:endParaRPr>
                    </a:p>
                  </a:txBody>
                  <a:tcPr marL="56085" marR="56085" marT="56085" marB="5608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要求说明</a:t>
                      </a:r>
                      <a:endParaRPr lang="en-US" sz="1400" b="1" dirty="0">
                        <a:solidFill>
                          <a:srgbClr val="000000"/>
                        </a:solidFill>
                      </a:endParaRPr>
                    </a:p>
                  </a:txBody>
                  <a:tcPr marL="56085" marR="56085" marT="56085" marB="5608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不合规示例</a:t>
                      </a:r>
                      <a:endParaRPr lang="en-US" sz="1400" b="1" dirty="0">
                        <a:solidFill>
                          <a:srgbClr val="000000"/>
                        </a:solidFill>
                      </a:endParaRPr>
                    </a:p>
                  </a:txBody>
                  <a:tcPr marL="56085" marR="56085" marT="56085" marB="5608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审计功能启用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56085" marR="56085" marT="56085" marB="5608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应启用安全审计功能，审计覆盖到每个用户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56085" marR="56085" marT="56085" marB="5608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审计功能未启用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56085" marR="56085" marT="56085" marB="5608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审计内容完整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56085" marR="56085" marT="56085" marB="5608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审计记录应包括日期、时间、用户、事件类型、结果等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56085" marR="56085" marT="56085" marB="5608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审计记录不完整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56085" marR="56085" marT="56085" marB="5608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9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审计记录保护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56085" marR="56085" marT="56085" marB="5608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应对审计记录进行保护，定期备份，防止删除/修改/覆盖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56085" marR="56085" marT="56085" marB="5608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审计日志可被普通用户删除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56085" marR="56085" marT="56085" marB="5608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审计进程保护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56085" marR="56085" marT="56085" marB="5608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应对审计进程进行保护，防止未经授权的中断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56085" marR="56085" marT="56085" marB="5608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审计进程可被随意停止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56085" marR="56085" marT="56085" marB="5608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6"/>
          <p:cNvSpPr/>
          <p:nvPr/>
        </p:nvSpPr>
        <p:spPr>
          <a:xfrm>
            <a:off x="609600" y="990600"/>
            <a:ext cx="109819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143866">
                    <a:alpha val="80000"/>
                  </a:srgbClr>
                </a:solidFill>
              </a:rPr>
              <a:t>GB/T 22239 第三级 安全计算环境 → 安全审计</a:t>
            </a:r>
            <a:endParaRPr lang="en-US" sz="21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4.入侵防范测评——减少攻击面</a:t>
            </a:r>
            <a:endParaRPr lang="en-US" sz="2760" dirty="0"/>
          </a:p>
        </p:txBody>
      </p:sp>
      <p:sp>
        <p:nvSpPr>
          <p:cNvPr id="6" name="Text 1"/>
          <p:cNvSpPr/>
          <p:nvPr/>
        </p:nvSpPr>
        <p:spPr>
          <a:xfrm>
            <a:off x="609600" y="990600"/>
            <a:ext cx="500786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6666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GB/T 22239 第三级 安全计算环境 → 入侵防范</a:t>
            </a:r>
            <a:endParaRPr lang="en-US" sz="1800" dirty="0"/>
          </a:p>
        </p:txBody>
      </p:sp>
      <p:sp>
        <p:nvSpPr>
          <p:cNvPr id="7" name="Text 2"/>
          <p:cNvSpPr/>
          <p:nvPr/>
        </p:nvSpPr>
        <p:spPr>
          <a:xfrm>
            <a:off x="609600" y="1371600"/>
            <a:ext cx="3063240" cy="3073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核心检查项（针对数据库）</a:t>
            </a:r>
            <a:endParaRPr lang="en-US" sz="2000" b="1" dirty="0">
              <a:solidFill>
                <a:srgbClr val="143866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950720"/>
            <a:ext cx="10972800" cy="188976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9" name="Image 4" descr="https://test.web.static.jianzeppt.com/ppt-temp-img3/bb6599db12f415d849f5f3249ad875af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" y="1965960"/>
            <a:ext cx="10942320" cy="563880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807720" y="2087880"/>
            <a:ext cx="6492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检查项</a:t>
            </a:r>
            <a:endParaRPr lang="en-US" sz="1680" dirty="0"/>
          </a:p>
        </p:txBody>
      </p:sp>
      <p:pic>
        <p:nvPicPr>
          <p:cNvPr id="11" name="Image 5" descr="https://test.web.static.jianzeppt.com/ppt-temp-img3/10720313edaab46a2d9d2e1ccd765776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97912" y="1965960"/>
            <a:ext cx="15240" cy="563880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3002280" y="2087880"/>
            <a:ext cx="862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要求说明</a:t>
            </a:r>
            <a:endParaRPr lang="en-US" sz="1680" dirty="0"/>
          </a:p>
        </p:txBody>
      </p:sp>
      <p:pic>
        <p:nvPicPr>
          <p:cNvPr id="13" name="Image 6" descr="https://test.web.static.jianzeppt.com/ppt-temp-img3/10720313edaab46a2d9d2e1ccd765776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1956" y="1965960"/>
            <a:ext cx="15240" cy="563880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7924800" y="2087880"/>
            <a:ext cx="348386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不合规示例</a:t>
            </a:r>
            <a:endParaRPr lang="en-US" sz="1680" dirty="0"/>
          </a:p>
        </p:txBody>
      </p:sp>
      <p:sp>
        <p:nvSpPr>
          <p:cNvPr id="15" name="Text 6"/>
          <p:cNvSpPr/>
          <p:nvPr/>
        </p:nvSpPr>
        <p:spPr>
          <a:xfrm>
            <a:off x="807720" y="2548255"/>
            <a:ext cx="1051560" cy="368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1. 最小安装</a:t>
            </a:r>
            <a:endParaRPr lang="en-US" sz="1600" b="1" dirty="0">
              <a:solidFill>
                <a:srgbClr val="143866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pic>
        <p:nvPicPr>
          <p:cNvPr id="16" name="Image 7" descr="https://test.web.static.jianzeppt.com/ppt-temp-img3/9a48d5273ca56770f362896b1756b218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97912" y="2529840"/>
            <a:ext cx="15240" cy="510540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3002280" y="2548255"/>
            <a:ext cx="2641600" cy="368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仅安装需要的组件和应用程序</a:t>
            </a:r>
            <a:endParaRPr lang="en-US" sz="1600" dirty="0">
              <a:solidFill>
                <a:srgbClr val="333333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pic>
        <p:nvPicPr>
          <p:cNvPr id="18" name="Image 8" descr="https://test.web.static.jianzeppt.com/ppt-temp-img3/9a48d5273ca56770f362896b1756b218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21956" y="2529840"/>
            <a:ext cx="15240" cy="510540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7924800" y="2548255"/>
            <a:ext cx="1828800" cy="368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E5353D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安装了不必要的组件</a:t>
            </a:r>
            <a:endParaRPr lang="en-US" sz="1600" dirty="0">
              <a:solidFill>
                <a:srgbClr val="E5353D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pic>
        <p:nvPicPr>
          <p:cNvPr id="20" name="Image 9" descr="https://test.web.static.jianzeppt.com/ppt-temp-img3/a20ded39da130264ccf227c055dd83f8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40" y="2967355"/>
            <a:ext cx="10942320" cy="15240"/>
          </a:xfrm>
          <a:prstGeom prst="rect">
            <a:avLst/>
          </a:prstGeom>
        </p:spPr>
      </p:pic>
      <p:pic>
        <p:nvPicPr>
          <p:cNvPr id="21" name="Image 10" descr="https://test.web.static.jianzeppt.com/ppt-temp-img3/8e6471231dadefaec9c178d3dde3da1a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840" y="2974975"/>
            <a:ext cx="10942320" cy="518160"/>
          </a:xfrm>
          <a:prstGeom prst="rect">
            <a:avLst/>
          </a:prstGeom>
        </p:spPr>
      </p:pic>
      <p:sp>
        <p:nvSpPr>
          <p:cNvPr id="22" name="Text 9"/>
          <p:cNvSpPr/>
          <p:nvPr/>
        </p:nvSpPr>
        <p:spPr>
          <a:xfrm>
            <a:off x="807720" y="3066415"/>
            <a:ext cx="1460500" cy="368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2. 关闭高危服务</a:t>
            </a:r>
            <a:endParaRPr lang="en-US" sz="1600" b="1" dirty="0">
              <a:solidFill>
                <a:srgbClr val="143866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pic>
        <p:nvPicPr>
          <p:cNvPr id="23" name="Image 11" descr="https://test.web.static.jianzeppt.com/ppt-temp-img3/f3d964fff083ccabc966568fb3de5340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97912" y="2967355"/>
            <a:ext cx="15240" cy="518160"/>
          </a:xfrm>
          <a:prstGeom prst="rect">
            <a:avLst/>
          </a:prstGeom>
        </p:spPr>
      </p:pic>
      <p:sp>
        <p:nvSpPr>
          <p:cNvPr id="24" name="Text 10"/>
          <p:cNvSpPr/>
          <p:nvPr/>
        </p:nvSpPr>
        <p:spPr>
          <a:xfrm>
            <a:off x="3002280" y="3066415"/>
            <a:ext cx="4267200" cy="368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应关闭不需要的系统服务、默认共享和高危端口</a:t>
            </a:r>
            <a:endParaRPr lang="en-US" sz="1600" dirty="0">
              <a:solidFill>
                <a:srgbClr val="333333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pic>
        <p:nvPicPr>
          <p:cNvPr id="25" name="Image 12" descr="https://test.web.static.jianzeppt.com/ppt-temp-img3/f3d964fff083ccabc966568fb3de5340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21956" y="2967355"/>
            <a:ext cx="15240" cy="518160"/>
          </a:xfrm>
          <a:prstGeom prst="rect">
            <a:avLst/>
          </a:prstGeom>
        </p:spPr>
      </p:pic>
      <p:sp>
        <p:nvSpPr>
          <p:cNvPr id="26" name="Text 11"/>
          <p:cNvSpPr/>
          <p:nvPr/>
        </p:nvSpPr>
        <p:spPr>
          <a:xfrm>
            <a:off x="7924800" y="3066415"/>
            <a:ext cx="2946400" cy="368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E5353D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数据库监听在默认端口1433/3306</a:t>
            </a:r>
            <a:endParaRPr lang="en-US" sz="1600" dirty="0">
              <a:solidFill>
                <a:srgbClr val="E5353D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pic>
        <p:nvPicPr>
          <p:cNvPr id="27" name="Image 13" descr="https://test.web.static.jianzeppt.com/ppt-temp-img3/a20ded39da130264ccf227c055dd83f8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40" y="3485515"/>
            <a:ext cx="10942320" cy="15240"/>
          </a:xfrm>
          <a:prstGeom prst="rect">
            <a:avLst/>
          </a:prstGeom>
        </p:spPr>
      </p:pic>
      <p:sp>
        <p:nvSpPr>
          <p:cNvPr id="28" name="Text 12"/>
          <p:cNvSpPr/>
          <p:nvPr/>
        </p:nvSpPr>
        <p:spPr>
          <a:xfrm>
            <a:off x="807720" y="3500755"/>
            <a:ext cx="1460500" cy="368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3. 管理终端限制</a:t>
            </a:r>
            <a:endParaRPr lang="en-US" sz="1600" b="1" dirty="0">
              <a:solidFill>
                <a:srgbClr val="143866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pic>
        <p:nvPicPr>
          <p:cNvPr id="29" name="Image 14" descr="https://test.web.static.jianzeppt.com/ppt-temp-img3/597ebf8bb15395a44e0aba6febca9203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97912" y="3485515"/>
            <a:ext cx="15240" cy="838200"/>
          </a:xfrm>
          <a:prstGeom prst="rect">
            <a:avLst/>
          </a:prstGeom>
        </p:spPr>
      </p:pic>
      <p:sp>
        <p:nvSpPr>
          <p:cNvPr id="30" name="Text 13"/>
          <p:cNvSpPr/>
          <p:nvPr/>
        </p:nvSpPr>
        <p:spPr>
          <a:xfrm>
            <a:off x="3002280" y="3435033"/>
            <a:ext cx="4489704" cy="36893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应通过设定终端接入方式或网络地址范围进行限制</a:t>
            </a:r>
            <a:endParaRPr lang="en-US" sz="1600" dirty="0">
              <a:solidFill>
                <a:srgbClr val="333333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pic>
        <p:nvPicPr>
          <p:cNvPr id="31" name="Image 15" descr="https://test.web.static.jianzeppt.com/ppt-temp-img3/597ebf8bb15395a44e0aba6febca9203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21956" y="3485515"/>
            <a:ext cx="15240" cy="838200"/>
          </a:xfrm>
          <a:prstGeom prst="rect">
            <a:avLst/>
          </a:prstGeom>
        </p:spPr>
      </p:pic>
      <p:sp>
        <p:nvSpPr>
          <p:cNvPr id="32" name="Text 14"/>
          <p:cNvSpPr/>
          <p:nvPr/>
        </p:nvSpPr>
        <p:spPr>
          <a:xfrm>
            <a:off x="7924800" y="3331210"/>
            <a:ext cx="3483864" cy="655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E5353D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允许任意IP访问数据库</a:t>
            </a:r>
            <a:endParaRPr lang="en-US" sz="1600" dirty="0">
              <a:solidFill>
                <a:srgbClr val="E5353D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pic>
        <p:nvPicPr>
          <p:cNvPr id="33" name="Image 16" descr="https://test.web.static.jianzeppt.com/ppt-temp-img3/8373e5945c76b4805febeff8430cd7d6.png?x-oss-process=image/resize,w_1440,h_800,m_lfit/format,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4084320"/>
            <a:ext cx="5364480" cy="2468880"/>
          </a:xfrm>
          <a:prstGeom prst="rect">
            <a:avLst/>
          </a:prstGeom>
        </p:spPr>
      </p:pic>
      <p:pic>
        <p:nvPicPr>
          <p:cNvPr id="34" name="Image 1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07720" y="4434840"/>
            <a:ext cx="121920" cy="121920"/>
          </a:xfrm>
          <a:prstGeom prst="rect">
            <a:avLst/>
          </a:prstGeom>
        </p:spPr>
      </p:pic>
      <p:sp>
        <p:nvSpPr>
          <p:cNvPr id="35" name="Text 15"/>
          <p:cNvSpPr/>
          <p:nvPr/>
        </p:nvSpPr>
        <p:spPr>
          <a:xfrm>
            <a:off x="1051560" y="4282440"/>
            <a:ext cx="2051304" cy="3962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MySQL操作示例</a:t>
            </a:r>
            <a:endParaRPr lang="en-US" sz="2160" dirty="0"/>
          </a:p>
        </p:txBody>
      </p:sp>
      <p:pic>
        <p:nvPicPr>
          <p:cNvPr id="36" name="Image 18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07720" y="4815840"/>
            <a:ext cx="4968240" cy="1539240"/>
          </a:xfrm>
          <a:prstGeom prst="rect">
            <a:avLst/>
          </a:prstGeom>
        </p:spPr>
      </p:pic>
      <p:sp>
        <p:nvSpPr>
          <p:cNvPr id="37" name="Text 16"/>
          <p:cNvSpPr/>
          <p:nvPr/>
        </p:nvSpPr>
        <p:spPr>
          <a:xfrm>
            <a:off x="990600" y="4998720"/>
            <a:ext cx="4021455" cy="23939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60" b="1" dirty="0">
                <a:solidFill>
                  <a:srgbClr val="6F9955"/>
                </a:solidFill>
              </a:rPr>
              <a:t>-- 检查bind-address配置（不应监听所有网卡）</a:t>
            </a:r>
            <a:endParaRPr lang="en-US" sz="1560" b="1" dirty="0"/>
          </a:p>
        </p:txBody>
      </p:sp>
      <p:sp>
        <p:nvSpPr>
          <p:cNvPr id="38" name="Text 17"/>
          <p:cNvSpPr/>
          <p:nvPr/>
        </p:nvSpPr>
        <p:spPr>
          <a:xfrm>
            <a:off x="990600" y="5218430"/>
            <a:ext cx="4611624" cy="3228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560" dirty="0">
                <a:solidFill>
                  <a:srgbClr val="56A5D6"/>
                </a:solidFill>
              </a:rPr>
              <a:t>SHOW</a:t>
            </a:r>
            <a:r>
              <a:rPr lang="en-US" sz="1560" dirty="0">
                <a:solidFill>
                  <a:srgbClr val="9CE3FE"/>
                </a:solidFill>
              </a:rPr>
              <a:t>VARIABLES</a:t>
            </a:r>
            <a:r>
              <a:rPr lang="en-US" sz="1560" dirty="0">
                <a:solidFill>
                  <a:srgbClr val="C586C4"/>
                </a:solidFill>
              </a:rPr>
              <a:t>LIKE</a:t>
            </a:r>
            <a:r>
              <a:rPr lang="en-US" sz="1560" dirty="0">
                <a:solidFill>
                  <a:srgbClr val="CE8B78"/>
                </a:solidFill>
              </a:rPr>
              <a:t>'bind_address'</a:t>
            </a:r>
            <a:r>
              <a:rPr lang="en-US" sz="1560" dirty="0">
                <a:solidFill>
                  <a:srgbClr val="D4D4D4"/>
                </a:solidFill>
              </a:rPr>
              <a:t>;</a:t>
            </a:r>
            <a:endParaRPr lang="en-US" sz="1560" dirty="0"/>
          </a:p>
        </p:txBody>
      </p:sp>
      <p:sp>
        <p:nvSpPr>
          <p:cNvPr id="39" name="Text 18"/>
          <p:cNvSpPr/>
          <p:nvPr/>
        </p:nvSpPr>
        <p:spPr>
          <a:xfrm>
            <a:off x="990600" y="5638800"/>
            <a:ext cx="4611624" cy="32289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60" dirty="0">
                <a:solidFill>
                  <a:srgbClr val="6F9955"/>
                </a:solidFill>
              </a:rPr>
              <a:t>-- 生产环境应设置为具体内网IP，而非0.0.0.0</a:t>
            </a:r>
            <a:endParaRPr lang="en-US" sz="1560" dirty="0"/>
          </a:p>
        </p:txBody>
      </p:sp>
      <p:sp>
        <p:nvSpPr>
          <p:cNvPr id="40" name="Text 19"/>
          <p:cNvSpPr/>
          <p:nvPr/>
        </p:nvSpPr>
        <p:spPr>
          <a:xfrm>
            <a:off x="990600" y="6080760"/>
            <a:ext cx="2405380" cy="2457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6F9955"/>
                </a:solidFill>
              </a:rPr>
              <a:t>-- 检查是否修改了默认端口</a:t>
            </a:r>
            <a:endParaRPr lang="en-US" sz="1600" dirty="0">
              <a:solidFill>
                <a:srgbClr val="6F9955"/>
              </a:solidFill>
            </a:endParaRPr>
          </a:p>
        </p:txBody>
      </p:sp>
      <p:pic>
        <p:nvPicPr>
          <p:cNvPr id="41" name="Image 19" descr="https://test.web.static.jianzeppt.com/ppt-temp-img3/8373e5945c76b4805febeff8430cd7d6.png?x-oss-process=image/resize,w_1440,h_800,m_lfit/format,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7920" y="4084320"/>
            <a:ext cx="5364480" cy="2468880"/>
          </a:xfrm>
          <a:prstGeom prst="rect">
            <a:avLst/>
          </a:prstGeom>
        </p:spPr>
      </p:pic>
      <p:pic>
        <p:nvPicPr>
          <p:cNvPr id="42" name="Image 20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16040" y="4434840"/>
            <a:ext cx="121920" cy="121920"/>
          </a:xfrm>
          <a:prstGeom prst="rect">
            <a:avLst/>
          </a:prstGeom>
        </p:spPr>
      </p:pic>
      <p:sp>
        <p:nvSpPr>
          <p:cNvPr id="43" name="Text 20"/>
          <p:cNvSpPr/>
          <p:nvPr/>
        </p:nvSpPr>
        <p:spPr>
          <a:xfrm>
            <a:off x="6659880" y="4282440"/>
            <a:ext cx="2599944" cy="3962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SQL Server操作示例</a:t>
            </a:r>
            <a:endParaRPr lang="en-US" sz="2160" dirty="0"/>
          </a:p>
        </p:txBody>
      </p:sp>
      <p:pic>
        <p:nvPicPr>
          <p:cNvPr id="44" name="Image 21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416040" y="4815840"/>
            <a:ext cx="4968240" cy="1539240"/>
          </a:xfrm>
          <a:prstGeom prst="rect">
            <a:avLst/>
          </a:prstGeom>
        </p:spPr>
      </p:pic>
      <p:sp>
        <p:nvSpPr>
          <p:cNvPr id="45" name="Text 21"/>
          <p:cNvSpPr/>
          <p:nvPr/>
        </p:nvSpPr>
        <p:spPr>
          <a:xfrm>
            <a:off x="6598920" y="4998720"/>
            <a:ext cx="4611624" cy="32289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60" dirty="0">
                <a:solidFill>
                  <a:srgbClr val="6F9955"/>
                </a:solidFill>
              </a:rPr>
              <a:t>-- 检查是否修改了默认端口（1433）</a:t>
            </a:r>
            <a:endParaRPr lang="en-US" sz="1560" dirty="0"/>
          </a:p>
        </p:txBody>
      </p:sp>
      <p:sp>
        <p:nvSpPr>
          <p:cNvPr id="46" name="Text 22"/>
          <p:cNvSpPr/>
          <p:nvPr/>
        </p:nvSpPr>
        <p:spPr>
          <a:xfrm>
            <a:off x="6598920" y="5318760"/>
            <a:ext cx="4611624" cy="32289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60" dirty="0">
                <a:solidFill>
                  <a:srgbClr val="6F9955"/>
                </a:solidFill>
              </a:rPr>
              <a:t>-- 需通过SQL Server配置管理器查看</a:t>
            </a:r>
            <a:endParaRPr lang="en-US" sz="1560" dirty="0"/>
          </a:p>
        </p:txBody>
      </p:sp>
      <p:sp>
        <p:nvSpPr>
          <p:cNvPr id="47" name="Text 23"/>
          <p:cNvSpPr/>
          <p:nvPr/>
        </p:nvSpPr>
        <p:spPr>
          <a:xfrm>
            <a:off x="6598920" y="5760720"/>
            <a:ext cx="4611624" cy="32289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60" dirty="0">
                <a:solidFill>
                  <a:srgbClr val="6F9955"/>
                </a:solidFill>
              </a:rPr>
              <a:t>-- 禁用高危扩展存储过程</a:t>
            </a:r>
            <a:endParaRPr lang="en-US" sz="1560" dirty="0"/>
          </a:p>
        </p:txBody>
      </p:sp>
      <p:sp>
        <p:nvSpPr>
          <p:cNvPr id="48" name="Text 24"/>
          <p:cNvSpPr/>
          <p:nvPr/>
        </p:nvSpPr>
        <p:spPr>
          <a:xfrm>
            <a:off x="6598920" y="5936615"/>
            <a:ext cx="4611624" cy="4006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600" dirty="0">
                <a:solidFill>
                  <a:srgbClr val="56A5D6"/>
                </a:solidFill>
              </a:rPr>
              <a:t>EXEC</a:t>
            </a:r>
            <a:r>
              <a:rPr lang="en-US" sz="1600" dirty="0">
                <a:solidFill>
                  <a:srgbClr val="DCD9AA"/>
                </a:solidFill>
              </a:rPr>
              <a:t>sp_configure</a:t>
            </a:r>
            <a:r>
              <a:rPr lang="en-US" sz="1600" dirty="0">
                <a:solidFill>
                  <a:srgbClr val="CE8B78"/>
                </a:solidFill>
              </a:rPr>
              <a:t>'show advanced options'</a:t>
            </a:r>
            <a:r>
              <a:rPr lang="en-US" sz="1600" dirty="0">
                <a:solidFill>
                  <a:srgbClr val="D4D4D4"/>
                </a:solidFill>
              </a:rPr>
              <a:t>,</a:t>
            </a:r>
            <a:r>
              <a:rPr lang="en-US" sz="1600" dirty="0">
                <a:solidFill>
                  <a:srgbClr val="B8CEA8"/>
                </a:solidFill>
              </a:rPr>
              <a:t>1</a:t>
            </a:r>
            <a:r>
              <a:rPr lang="en-US" sz="1600" dirty="0">
                <a:solidFill>
                  <a:srgbClr val="D4D4D4"/>
                </a:solidFill>
              </a:rPr>
              <a:t>;</a:t>
            </a:r>
            <a:endParaRPr lang="en-US" sz="1600" dirty="0">
              <a:solidFill>
                <a:srgbClr val="D4D4D4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5.数据完整性与保密性测评</a:t>
            </a:r>
            <a:endParaRPr lang="en-US" sz="2760" dirty="0"/>
          </a:p>
        </p:txBody>
      </p:sp>
      <p:pic>
        <p:nvPicPr>
          <p:cNvPr id="6" name="Image 3" descr="https://test.web.static.jianzeppt.com/ppt-temp-img3/a620ba124a87d808cbb8a1c759fbe0ae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371600"/>
            <a:ext cx="6187440" cy="50292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792480" y="1463040"/>
            <a:ext cx="58308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6B7380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GB/T 22239 第三级 安全计算环境 → 数据完整性、数据保密性</a:t>
            </a:r>
            <a:endParaRPr lang="en-US" sz="1680" dirty="0"/>
          </a:p>
        </p:txBody>
      </p:sp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600" y="2118360"/>
            <a:ext cx="10972800" cy="11430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3440" y="2362200"/>
            <a:ext cx="60960" cy="182880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1036320" y="2240280"/>
            <a:ext cx="1380744" cy="3962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核心检查项</a:t>
            </a:r>
            <a:endParaRPr lang="en-US" sz="2160" dirty="0"/>
          </a:p>
        </p:txBody>
      </p:sp>
      <p:pic>
        <p:nvPicPr>
          <p:cNvPr id="11" name="Image 6" descr="https://test.web.static.jianzeppt.com/ppt-temp-img3/97b0969c686d55bced1f7b5e60541b28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3440" y="2727960"/>
            <a:ext cx="10485120" cy="304800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7023100" y="1477010"/>
          <a:ext cx="4452620" cy="1568450"/>
        </p:xfrm>
        <a:graphic>
          <a:graphicData uri="http://schemas.openxmlformats.org/drawingml/2006/table">
            <a:tbl>
              <a:tblPr/>
              <a:tblGrid>
                <a:gridCol w="1371600"/>
                <a:gridCol w="669290"/>
                <a:gridCol w="2411730"/>
              </a:tblGrid>
              <a:tr h="3136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检查项</a:t>
                      </a:r>
                      <a:endParaRPr lang="en-US" sz="1200" dirty="0">
                        <a:solidFill>
                          <a:srgbClr val="000000"/>
                        </a:solidFill>
                      </a:endParaRPr>
                    </a:p>
                  </a:txBody>
                  <a:tcPr marL="12779" marR="12779" marT="12779" marB="1277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阶段</a:t>
                      </a:r>
                      <a:endParaRPr lang="en-US" sz="1200" dirty="0">
                        <a:solidFill>
                          <a:srgbClr val="000000"/>
                        </a:solidFill>
                      </a:endParaRPr>
                    </a:p>
                  </a:txBody>
                  <a:tcPr marL="12779" marR="12779" marT="12779" marB="1277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合规标准</a:t>
                      </a:r>
                      <a:endParaRPr lang="en-US" sz="1200" dirty="0">
                        <a:solidFill>
                          <a:srgbClr val="000000"/>
                        </a:solidFill>
                      </a:endParaRPr>
                    </a:p>
                  </a:txBody>
                  <a:tcPr marL="12779" marR="12779" marT="12779" marB="1277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6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数据完整性</a:t>
                      </a:r>
                      <a:endParaRPr lang="en-US" sz="1200" dirty="0">
                        <a:solidFill>
                          <a:srgbClr val="000000"/>
                        </a:solidFill>
                      </a:endParaRPr>
                    </a:p>
                  </a:txBody>
                  <a:tcPr marL="12779" marR="12779" marT="12779" marB="1277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传输</a:t>
                      </a:r>
                      <a:endParaRPr lang="en-US" sz="1200" dirty="0">
                        <a:solidFill>
                          <a:srgbClr val="000000"/>
                        </a:solidFill>
                      </a:endParaRPr>
                    </a:p>
                  </a:txBody>
                  <a:tcPr marL="12779" marR="12779" marT="12779" marB="1277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启用SSL/TLS加密传输</a:t>
                      </a:r>
                      <a:endParaRPr lang="en-US" sz="1200" dirty="0">
                        <a:solidFill>
                          <a:srgbClr val="000000"/>
                        </a:solidFill>
                      </a:endParaRPr>
                    </a:p>
                  </a:txBody>
                  <a:tcPr marL="12779" marR="12779" marT="12779" marB="1277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6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数据完整性</a:t>
                      </a:r>
                      <a:endParaRPr lang="en-US" sz="1200" dirty="0">
                        <a:solidFill>
                          <a:srgbClr val="000000"/>
                        </a:solidFill>
                      </a:endParaRPr>
                    </a:p>
                  </a:txBody>
                  <a:tcPr marL="12779" marR="12779" marT="12779" marB="1277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存储</a:t>
                      </a:r>
                      <a:endParaRPr lang="en-US" sz="1200" dirty="0">
                        <a:solidFill>
                          <a:srgbClr val="000000"/>
                        </a:solidFill>
                      </a:endParaRPr>
                    </a:p>
                  </a:txBody>
                  <a:tcPr marL="12779" marR="12779" marT="12779" marB="1277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启用TDE或数据校验</a:t>
                      </a:r>
                      <a:endParaRPr lang="en-US" sz="1200" dirty="0">
                        <a:solidFill>
                          <a:srgbClr val="000000"/>
                        </a:solidFill>
                      </a:endParaRPr>
                    </a:p>
                  </a:txBody>
                  <a:tcPr marL="12779" marR="12779" marT="12779" marB="1277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6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数据保密性</a:t>
                      </a:r>
                      <a:endParaRPr lang="en-US" sz="1200" dirty="0">
                        <a:solidFill>
                          <a:srgbClr val="000000"/>
                        </a:solidFill>
                      </a:endParaRPr>
                    </a:p>
                  </a:txBody>
                  <a:tcPr marL="12779" marR="12779" marT="12779" marB="1277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传输</a:t>
                      </a:r>
                      <a:endParaRPr lang="en-US" sz="1200" dirty="0">
                        <a:solidFill>
                          <a:srgbClr val="000000"/>
                        </a:solidFill>
                      </a:endParaRPr>
                    </a:p>
                  </a:txBody>
                  <a:tcPr marL="12779" marR="12779" marT="12779" marB="1277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启用SSL/TLS加密传输</a:t>
                      </a:r>
                      <a:endParaRPr lang="en-US" sz="1200" dirty="0">
                        <a:solidFill>
                          <a:srgbClr val="000000"/>
                        </a:solidFill>
                      </a:endParaRPr>
                    </a:p>
                  </a:txBody>
                  <a:tcPr marL="12779" marR="12779" marT="12779" marB="1277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6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数据保密性</a:t>
                      </a:r>
                      <a:endParaRPr lang="en-US" sz="1200" dirty="0">
                        <a:solidFill>
                          <a:srgbClr val="000000"/>
                        </a:solidFill>
                      </a:endParaRPr>
                    </a:p>
                  </a:txBody>
                  <a:tcPr marL="12779" marR="12779" marT="12779" marB="1277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存储</a:t>
                      </a:r>
                      <a:endParaRPr lang="en-US" sz="1200" dirty="0">
                        <a:solidFill>
                          <a:srgbClr val="000000"/>
                        </a:solidFill>
                      </a:endParaRPr>
                    </a:p>
                  </a:txBody>
                  <a:tcPr marL="12779" marR="12779" marT="12779" marB="1277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启用TDE或列级加密</a:t>
                      </a:r>
                      <a:endParaRPr lang="en-US" sz="1200" dirty="0">
                        <a:solidFill>
                          <a:srgbClr val="000000"/>
                        </a:solidFill>
                      </a:endParaRPr>
                    </a:p>
                  </a:txBody>
                  <a:tcPr marL="12779" marR="12779" marT="12779" marB="1277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09600" y="3505200"/>
            <a:ext cx="5334000" cy="2743200"/>
          </a:xfrm>
          <a:prstGeom prst="rect">
            <a:avLst/>
          </a:prstGeom>
        </p:spPr>
      </p:pic>
      <p:sp>
        <p:nvSpPr>
          <p:cNvPr id="14" name="Text 3"/>
          <p:cNvSpPr/>
          <p:nvPr/>
        </p:nvSpPr>
        <p:spPr>
          <a:xfrm>
            <a:off x="853440" y="3992880"/>
            <a:ext cx="4855464" cy="1769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440" dirty="0">
                <a:solidFill>
                  <a:srgbClr val="FFFF00"/>
                </a:solidFill>
              </a:rPr>
              <a:t>-- 检查SSL是否启用 </a:t>
            </a:r>
            <a:r>
              <a:rPr lang="en-US" sz="1440" dirty="0">
                <a:solidFill>
                  <a:srgbClr val="E5E7EB"/>
                </a:solidFill>
              </a:rPr>
              <a:t>SHOW VARIABLES LIKE 'have_ssl';</a:t>
            </a:r>
            <a:endParaRPr lang="en-US" sz="1440" dirty="0">
              <a:solidFill>
                <a:srgbClr val="E5E7EB"/>
              </a:solidFill>
            </a:endParaRPr>
          </a:p>
          <a:p>
            <a:pPr marL="0" indent="0" algn="l">
              <a:lnSpc>
                <a:spcPct val="160000"/>
              </a:lnSpc>
              <a:buNone/>
            </a:pPr>
            <a:r>
              <a:rPr lang="en-US" sz="1440" dirty="0">
                <a:solidFill>
                  <a:srgbClr val="FFFF00"/>
                </a:solidFill>
              </a:rPr>
              <a:t> -- 检查是否强制使用</a:t>
            </a:r>
            <a:r>
              <a:rPr lang="en-US" sz="1440" dirty="0">
                <a:solidFill>
                  <a:srgbClr val="E5E7EB"/>
                </a:solidFill>
              </a:rPr>
              <a:t>SSL SHOW VARIABLES LIKE 'require_secure_transport'; </a:t>
            </a:r>
            <a:endParaRPr lang="en-US" sz="1440" dirty="0">
              <a:solidFill>
                <a:srgbClr val="E5E7EB"/>
              </a:solidFill>
            </a:endParaRPr>
          </a:p>
          <a:p>
            <a:pPr marL="0" indent="0" algn="l">
              <a:lnSpc>
                <a:spcPct val="160000"/>
              </a:lnSpc>
              <a:buNone/>
            </a:pPr>
            <a:r>
              <a:rPr lang="en-US" sz="1440" dirty="0">
                <a:solidFill>
                  <a:srgbClr val="FFFF00"/>
                </a:solidFill>
              </a:rPr>
              <a:t>-- 检查未要求SSL的用户</a:t>
            </a:r>
            <a:r>
              <a:rPr lang="en-US" sz="1440" dirty="0">
                <a:solidFill>
                  <a:srgbClr val="E5E7EB"/>
                </a:solidFill>
              </a:rPr>
              <a:t> SELECT user, host, ssl_type FROM mysql.user WHERE ssl_type = '';</a:t>
            </a:r>
            <a:endParaRPr lang="en-US" sz="1440" dirty="0"/>
          </a:p>
        </p:txBody>
      </p:sp>
      <p:pic>
        <p:nvPicPr>
          <p:cNvPr id="15" name="Image 8" descr="https://test.web.static.jianzeppt.com/ppt-temp-img3/e02f4eadb46dc315ccc9c8e39af6f7bb.png?x-oss-process=image/resize,w_1440,h_800,m_lfit/format,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21480" y="3505200"/>
            <a:ext cx="1722120" cy="396240"/>
          </a:xfrm>
          <a:prstGeom prst="rect">
            <a:avLst/>
          </a:prstGeom>
        </p:spPr>
      </p:pic>
      <p:sp>
        <p:nvSpPr>
          <p:cNvPr id="16" name="Text 4"/>
          <p:cNvSpPr/>
          <p:nvPr/>
        </p:nvSpPr>
        <p:spPr>
          <a:xfrm>
            <a:off x="4404360" y="3566160"/>
            <a:ext cx="138074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dirty="0">
                <a:solidFill>
                  <a:srgbClr val="FFFFFF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MySQL 操作示例</a:t>
            </a:r>
            <a:endParaRPr lang="en-US" sz="1440" dirty="0"/>
          </a:p>
        </p:txBody>
      </p:sp>
      <p:pic>
        <p:nvPicPr>
          <p:cNvPr id="17" name="Image 9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48400" y="3505200"/>
            <a:ext cx="5334000" cy="2743200"/>
          </a:xfrm>
          <a:prstGeom prst="rect">
            <a:avLst/>
          </a:prstGeom>
        </p:spPr>
      </p:pic>
      <p:sp>
        <p:nvSpPr>
          <p:cNvPr id="18" name="Text 5"/>
          <p:cNvSpPr/>
          <p:nvPr/>
        </p:nvSpPr>
        <p:spPr>
          <a:xfrm>
            <a:off x="6492240" y="3992880"/>
            <a:ext cx="4855464" cy="14154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440" dirty="0">
                <a:solidFill>
                  <a:srgbClr val="FFFF00"/>
                </a:solidFill>
              </a:rPr>
              <a:t>-- 检查TDE是否启用</a:t>
            </a:r>
            <a:r>
              <a:rPr lang="en-US" sz="1440" dirty="0">
                <a:solidFill>
                  <a:srgbClr val="E5E7EB"/>
                </a:solidFill>
              </a:rPr>
              <a:t> SELECT name, is_encrypted FROM sys.databases; </a:t>
            </a:r>
            <a:endParaRPr lang="en-US" sz="1440" dirty="0">
              <a:solidFill>
                <a:srgbClr val="E5E7EB"/>
              </a:solidFill>
            </a:endParaRPr>
          </a:p>
          <a:p>
            <a:pPr marL="0" indent="0" algn="l">
              <a:lnSpc>
                <a:spcPct val="160000"/>
              </a:lnSpc>
              <a:buNone/>
            </a:pPr>
            <a:r>
              <a:rPr lang="en-US" sz="1440" dirty="0">
                <a:solidFill>
                  <a:srgbClr val="FFFF00"/>
                </a:solidFill>
              </a:rPr>
              <a:t>-- 检查连接加密状态</a:t>
            </a:r>
            <a:r>
              <a:rPr lang="en-US" sz="1440" dirty="0">
                <a:solidFill>
                  <a:srgbClr val="E5E7EB"/>
                </a:solidFill>
              </a:rPr>
              <a:t> SELECT session_id, encrypt_option FROM sys.dm_exec_connections;</a:t>
            </a:r>
            <a:endParaRPr lang="en-US" sz="1440" dirty="0"/>
          </a:p>
        </p:txBody>
      </p:sp>
      <p:pic>
        <p:nvPicPr>
          <p:cNvPr id="19" name="Image 10" descr="https://test.web.static.jianzeppt.com/ppt-temp-img3/c5b7dc07750123dcb298ced16da9683d.png?x-oss-process=image/resize,w_1440,h_800,m_lfit/format,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09760" y="3505200"/>
            <a:ext cx="2072640" cy="396240"/>
          </a:xfrm>
          <a:prstGeom prst="rect">
            <a:avLst/>
          </a:prstGeom>
        </p:spPr>
      </p:pic>
      <p:sp>
        <p:nvSpPr>
          <p:cNvPr id="20" name="Text 6"/>
          <p:cNvSpPr/>
          <p:nvPr/>
        </p:nvSpPr>
        <p:spPr>
          <a:xfrm>
            <a:off x="9692640" y="3566160"/>
            <a:ext cx="173126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dirty="0">
                <a:solidFill>
                  <a:srgbClr val="FFFFFF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SQL Server 操作示例</a:t>
            </a:r>
            <a:endParaRPr lang="en-US" sz="14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6.数据备份恢复测评</a:t>
            </a:r>
            <a:endParaRPr lang="en-US" sz="2760" dirty="0"/>
          </a:p>
        </p:txBody>
      </p:sp>
      <p:sp>
        <p:nvSpPr>
          <p:cNvPr id="6" name="Text 1"/>
          <p:cNvSpPr/>
          <p:nvPr/>
        </p:nvSpPr>
        <p:spPr>
          <a:xfrm>
            <a:off x="3904742" y="1371600"/>
            <a:ext cx="4391660" cy="2457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6B7380"/>
                </a:solidFill>
              </a:rPr>
              <a:t>GB/T 22239 第三级 安全计算环境 → 数据备份恢复</a:t>
            </a:r>
            <a:endParaRPr lang="en-US" sz="1600" dirty="0">
              <a:solidFill>
                <a:srgbClr val="6B7380"/>
              </a:solidFill>
            </a:endParaRPr>
          </a:p>
        </p:txBody>
      </p:sp>
      <p:sp>
        <p:nvSpPr>
          <p:cNvPr id="7" name="Text 2"/>
          <p:cNvSpPr/>
          <p:nvPr/>
        </p:nvSpPr>
        <p:spPr>
          <a:xfrm>
            <a:off x="609600" y="1656080"/>
            <a:ext cx="109819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143866"/>
                </a:solidFill>
              </a:rPr>
              <a:t>核心检查项</a:t>
            </a:r>
            <a:endParaRPr lang="en-US" sz="2160" dirty="0"/>
          </a:p>
        </p:txBody>
      </p:sp>
      <p:pic>
        <p:nvPicPr>
          <p:cNvPr id="8" name="Image 3" descr="https://test.web.static.jianzeppt.com/ppt-temp-img3/2249e0b87d08593d1806010a77296a3b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189480"/>
            <a:ext cx="10972800" cy="2499360"/>
          </a:xfrm>
          <a:prstGeom prst="rect">
            <a:avLst/>
          </a:prstGeom>
        </p:spPr>
      </p:pic>
      <p:pic>
        <p:nvPicPr>
          <p:cNvPr id="9" name="Image 4" descr="https://test.web.static.jianzeppt.com/ppt-temp-img3/d2e2f5f0283aa55b27e94d77438af335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" y="2204720"/>
            <a:ext cx="10942320" cy="609600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746760" y="2326640"/>
            <a:ext cx="19598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</a:rPr>
              <a:t>检查项</a:t>
            </a:r>
            <a:endParaRPr lang="en-US" sz="1920" dirty="0"/>
          </a:p>
        </p:txBody>
      </p:sp>
      <p:sp>
        <p:nvSpPr>
          <p:cNvPr id="11" name="Text 4"/>
          <p:cNvSpPr/>
          <p:nvPr/>
        </p:nvSpPr>
        <p:spPr>
          <a:xfrm>
            <a:off x="2941320" y="2326640"/>
            <a:ext cx="415442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</a:rPr>
              <a:t>要求</a:t>
            </a:r>
            <a:endParaRPr lang="en-US" sz="1920" dirty="0"/>
          </a:p>
        </p:txBody>
      </p:sp>
      <p:sp>
        <p:nvSpPr>
          <p:cNvPr id="12" name="Text 5"/>
          <p:cNvSpPr/>
          <p:nvPr/>
        </p:nvSpPr>
        <p:spPr>
          <a:xfrm>
            <a:off x="7315200" y="2326640"/>
            <a:ext cx="415442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</a:rPr>
              <a:t>不合规示例</a:t>
            </a:r>
            <a:endParaRPr lang="en-US" sz="192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4840" y="2814320"/>
            <a:ext cx="10942320" cy="62484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234440" y="2966720"/>
            <a:ext cx="9997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dirty="0">
                <a:solidFill>
                  <a:srgbClr val="143866"/>
                </a:solidFill>
              </a:rPr>
              <a:t>本地备份</a:t>
            </a:r>
            <a:endParaRPr lang="en-US" sz="192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4840" y="3425901"/>
            <a:ext cx="2188312" cy="1524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2941320" y="2981960"/>
            <a:ext cx="4062984" cy="2971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74351"/>
                </a:solidFill>
              </a:rPr>
              <a:t>应提供重要数据的本地数据备份与恢复功能</a:t>
            </a:r>
            <a:endParaRPr lang="en-US" sz="1680" dirty="0"/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813152" y="3425901"/>
            <a:ext cx="4376776" cy="15240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7315200" y="2981960"/>
            <a:ext cx="2721864" cy="2971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6B7380"/>
                </a:solidFill>
              </a:rPr>
              <a:t>不合规: 未配置任何备份策略</a:t>
            </a:r>
            <a:endParaRPr lang="en-US" sz="1680" dirty="0"/>
          </a:p>
        </p:txBody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189927" y="3425901"/>
            <a:ext cx="4377233" cy="15240"/>
          </a:xfrm>
          <a:prstGeom prst="rect">
            <a:avLst/>
          </a:prstGeom>
        </p:spPr>
      </p:pic>
      <p:pic>
        <p:nvPicPr>
          <p:cNvPr id="20" name="Image 9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4840" y="3423920"/>
            <a:ext cx="10942320" cy="624840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1234440" y="3591560"/>
            <a:ext cx="9997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dirty="0">
                <a:solidFill>
                  <a:srgbClr val="143866"/>
                </a:solidFill>
              </a:rPr>
              <a:t>异地备份</a:t>
            </a:r>
            <a:endParaRPr lang="en-US" sz="1920" dirty="0"/>
          </a:p>
        </p:txBody>
      </p:sp>
      <p:pic>
        <p:nvPicPr>
          <p:cNvPr id="22" name="Image 10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4840" y="4050741"/>
            <a:ext cx="2188312" cy="15240"/>
          </a:xfrm>
          <a:prstGeom prst="rect">
            <a:avLst/>
          </a:prstGeom>
        </p:spPr>
      </p:pic>
      <p:sp>
        <p:nvSpPr>
          <p:cNvPr id="23" name="Text 10"/>
          <p:cNvSpPr/>
          <p:nvPr/>
        </p:nvSpPr>
        <p:spPr>
          <a:xfrm>
            <a:off x="2941320" y="3606800"/>
            <a:ext cx="3422904" cy="2971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74351"/>
                </a:solidFill>
              </a:rPr>
              <a:t>应提供异地实时备份功能（第三级）</a:t>
            </a:r>
            <a:endParaRPr lang="en-US" sz="1680" dirty="0"/>
          </a:p>
        </p:txBody>
      </p:sp>
      <p:pic>
        <p:nvPicPr>
          <p:cNvPr id="24" name="Image 11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813152" y="4050741"/>
            <a:ext cx="4376776" cy="15240"/>
          </a:xfrm>
          <a:prstGeom prst="rect">
            <a:avLst/>
          </a:prstGeom>
        </p:spPr>
      </p:pic>
      <p:sp>
        <p:nvSpPr>
          <p:cNvPr id="25" name="Text 11"/>
          <p:cNvSpPr/>
          <p:nvPr/>
        </p:nvSpPr>
        <p:spPr>
          <a:xfrm>
            <a:off x="7315200" y="3606800"/>
            <a:ext cx="2508504" cy="2971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6B7380"/>
                </a:solidFill>
              </a:rPr>
              <a:t>不合规: 备份仅保存在本地</a:t>
            </a:r>
            <a:endParaRPr lang="en-US" sz="1680" dirty="0"/>
          </a:p>
        </p:txBody>
      </p:sp>
      <p:pic>
        <p:nvPicPr>
          <p:cNvPr id="26" name="Image 12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189927" y="4050741"/>
            <a:ext cx="4377233" cy="15240"/>
          </a:xfrm>
          <a:prstGeom prst="rect">
            <a:avLst/>
          </a:prstGeom>
        </p:spPr>
      </p:pic>
      <p:pic>
        <p:nvPicPr>
          <p:cNvPr id="27" name="Image 13" descr="https://test.web.static.jianzeppt.com/ppt-temp-img3/e4c0064c3b31fdc417961d9170b0e237.png?x-oss-process=image/resize,w_1440,h_800,m_lfit/format,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4840" y="4048760"/>
            <a:ext cx="10942320" cy="624840"/>
          </a:xfrm>
          <a:prstGeom prst="rect">
            <a:avLst/>
          </a:prstGeom>
        </p:spPr>
      </p:pic>
      <p:sp>
        <p:nvSpPr>
          <p:cNvPr id="28" name="Text 12"/>
          <p:cNvSpPr/>
          <p:nvPr/>
        </p:nvSpPr>
        <p:spPr>
          <a:xfrm>
            <a:off x="746760" y="4170680"/>
            <a:ext cx="19598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dirty="0">
                <a:solidFill>
                  <a:srgbClr val="143866"/>
                </a:solidFill>
              </a:rPr>
              <a:t>高可用</a:t>
            </a:r>
            <a:endParaRPr lang="en-US" sz="1920" dirty="0"/>
          </a:p>
        </p:txBody>
      </p:sp>
      <p:sp>
        <p:nvSpPr>
          <p:cNvPr id="29" name="Text 13"/>
          <p:cNvSpPr/>
          <p:nvPr/>
        </p:nvSpPr>
        <p:spPr>
          <a:xfrm>
            <a:off x="2941320" y="4170680"/>
            <a:ext cx="4154424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74351"/>
                </a:solidFill>
              </a:rPr>
              <a:t>应提供重要数据处理系统的热冗余</a:t>
            </a:r>
            <a:endParaRPr lang="en-US" sz="1680" dirty="0"/>
          </a:p>
        </p:txBody>
      </p:sp>
      <p:sp>
        <p:nvSpPr>
          <p:cNvPr id="30" name="Text 14"/>
          <p:cNvSpPr/>
          <p:nvPr/>
        </p:nvSpPr>
        <p:spPr>
          <a:xfrm>
            <a:off x="7315200" y="4170680"/>
            <a:ext cx="4154424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6B7380"/>
                </a:solidFill>
              </a:rPr>
              <a:t>不合规: 数据库单机运行，无高可用</a:t>
            </a:r>
            <a:endParaRPr lang="en-US" sz="1680" dirty="0"/>
          </a:p>
        </p:txBody>
      </p:sp>
      <p:grpSp>
        <p:nvGrpSpPr>
          <p:cNvPr id="48" name="组合 47"/>
          <p:cNvGrpSpPr/>
          <p:nvPr/>
        </p:nvGrpSpPr>
        <p:grpSpPr>
          <a:xfrm>
            <a:off x="624205" y="4680585"/>
            <a:ext cx="10972800" cy="1493520"/>
            <a:chOff x="960" y="7512"/>
            <a:chExt cx="17280" cy="2352"/>
          </a:xfrm>
        </p:grpSpPr>
        <p:pic>
          <p:nvPicPr>
            <p:cNvPr id="32" name="Image 14" descr="preencoded.png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60" y="7558"/>
              <a:ext cx="8448" cy="984"/>
            </a:xfrm>
            <a:prstGeom prst="rect">
              <a:avLst/>
            </a:prstGeom>
          </p:spPr>
        </p:pic>
        <p:pic>
          <p:nvPicPr>
            <p:cNvPr id="33" name="Image 15" descr="preencoded.png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272" y="7632"/>
              <a:ext cx="768" cy="768"/>
            </a:xfrm>
            <a:prstGeom prst="rect">
              <a:avLst/>
            </a:prstGeom>
          </p:spPr>
        </p:pic>
        <p:sp>
          <p:nvSpPr>
            <p:cNvPr id="34" name="Text 16"/>
            <p:cNvSpPr/>
            <p:nvPr/>
          </p:nvSpPr>
          <p:spPr>
            <a:xfrm>
              <a:off x="1536" y="7728"/>
              <a:ext cx="278" cy="576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accent2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marL="0" indent="0" algn="ctr">
                <a:lnSpc>
                  <a:spcPct val="150000"/>
                </a:lnSpc>
                <a:buNone/>
              </a:pPr>
              <a:r>
                <a:rPr lang="en-US" dirty="0">
                  <a:solidFill>
                    <a:srgbClr val="FFFFFF"/>
                  </a:solidFill>
                </a:rPr>
                <a:t>?</a:t>
              </a:r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35" name="Text 17"/>
            <p:cNvSpPr/>
            <p:nvPr/>
          </p:nvSpPr>
          <p:spPr>
            <a:xfrm>
              <a:off x="2166" y="7917"/>
              <a:ext cx="5290" cy="387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accent2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600" b="1" dirty="0">
                  <a:solidFill>
                    <a:schemeClr val="bg1"/>
                  </a:solidFill>
                </a:rPr>
                <a:t>是否有定期备份计划（每日/每周）？</a:t>
              </a:r>
              <a:endParaRPr lang="en-US" sz="1600" b="1" dirty="0">
                <a:solidFill>
                  <a:schemeClr val="bg1"/>
                </a:solidFill>
              </a:endParaRPr>
            </a:p>
          </p:txBody>
        </p:sp>
        <p:pic>
          <p:nvPicPr>
            <p:cNvPr id="36" name="Image 16" descr="preencoded.png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9792" y="7512"/>
              <a:ext cx="8448" cy="984"/>
            </a:xfrm>
            <a:prstGeom prst="rect">
              <a:avLst/>
            </a:prstGeom>
          </p:spPr>
        </p:pic>
        <p:pic>
          <p:nvPicPr>
            <p:cNvPr id="37" name="Image 17" descr="preencoded.png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0104" y="7632"/>
              <a:ext cx="768" cy="768"/>
            </a:xfrm>
            <a:prstGeom prst="rect">
              <a:avLst/>
            </a:prstGeom>
          </p:spPr>
        </p:pic>
        <p:sp>
          <p:nvSpPr>
            <p:cNvPr id="38" name="Text 18"/>
            <p:cNvSpPr/>
            <p:nvPr/>
          </p:nvSpPr>
          <p:spPr>
            <a:xfrm>
              <a:off x="10368" y="7728"/>
              <a:ext cx="278" cy="576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accent2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marL="0" indent="0" algn="ctr">
                <a:lnSpc>
                  <a:spcPct val="150000"/>
                </a:lnSpc>
                <a:buNone/>
              </a:pPr>
              <a:r>
                <a:rPr lang="en-US" dirty="0">
                  <a:solidFill>
                    <a:srgbClr val="FFFFFF"/>
                  </a:solidFill>
                </a:rPr>
                <a:t>?</a:t>
              </a:r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39" name="Text 19"/>
            <p:cNvSpPr/>
            <p:nvPr/>
          </p:nvSpPr>
          <p:spPr>
            <a:xfrm>
              <a:off x="11160" y="7917"/>
              <a:ext cx="3220" cy="387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accent2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600" b="1" dirty="0">
                  <a:solidFill>
                    <a:schemeClr val="bg1"/>
                  </a:solidFill>
                </a:rPr>
                <a:t>备份是否存储在异地？</a:t>
              </a:r>
              <a:endParaRPr lang="en-US" sz="1600" b="1" dirty="0">
                <a:solidFill>
                  <a:schemeClr val="bg1"/>
                </a:solidFill>
              </a:endParaRPr>
            </a:p>
          </p:txBody>
        </p:sp>
        <p:pic>
          <p:nvPicPr>
            <p:cNvPr id="40" name="Image 18" descr="preencoded.png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960" y="8880"/>
              <a:ext cx="8448" cy="984"/>
            </a:xfrm>
            <a:prstGeom prst="rect">
              <a:avLst/>
            </a:prstGeom>
          </p:spPr>
        </p:pic>
        <p:pic>
          <p:nvPicPr>
            <p:cNvPr id="41" name="Image 19" descr="preencoded.png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272" y="8976"/>
              <a:ext cx="768" cy="768"/>
            </a:xfrm>
            <a:prstGeom prst="rect">
              <a:avLst/>
            </a:prstGeom>
          </p:spPr>
        </p:pic>
        <p:sp>
          <p:nvSpPr>
            <p:cNvPr id="42" name="Text 20"/>
            <p:cNvSpPr/>
            <p:nvPr/>
          </p:nvSpPr>
          <p:spPr>
            <a:xfrm>
              <a:off x="1536" y="9072"/>
              <a:ext cx="278" cy="576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accent2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marL="0" indent="0" algn="ctr">
                <a:lnSpc>
                  <a:spcPct val="150000"/>
                </a:lnSpc>
                <a:buNone/>
              </a:pPr>
              <a:r>
                <a:rPr lang="en-US" dirty="0">
                  <a:solidFill>
                    <a:srgbClr val="FFFFFF"/>
                  </a:solidFill>
                </a:rPr>
                <a:t>?</a:t>
              </a:r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43" name="Text 21"/>
            <p:cNvSpPr/>
            <p:nvPr/>
          </p:nvSpPr>
          <p:spPr>
            <a:xfrm>
              <a:off x="2328" y="9216"/>
              <a:ext cx="3542" cy="387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accent2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600" b="1" dirty="0">
                  <a:solidFill>
                    <a:schemeClr val="bg1"/>
                  </a:solidFill>
                </a:rPr>
                <a:t>是否定期进行恢复演练？</a:t>
              </a:r>
              <a:endParaRPr lang="en-US" sz="1600" b="1" dirty="0">
                <a:solidFill>
                  <a:schemeClr val="bg1"/>
                </a:solidFill>
              </a:endParaRPr>
            </a:p>
          </p:txBody>
        </p:sp>
        <p:pic>
          <p:nvPicPr>
            <p:cNvPr id="44" name="Image 20" descr="preencoded.png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9792" y="8880"/>
              <a:ext cx="8448" cy="984"/>
            </a:xfrm>
            <a:prstGeom prst="rect">
              <a:avLst/>
            </a:prstGeom>
          </p:spPr>
        </p:pic>
        <p:pic>
          <p:nvPicPr>
            <p:cNvPr id="45" name="Image 21" descr="preencoded.png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0104" y="8976"/>
              <a:ext cx="768" cy="768"/>
            </a:xfrm>
            <a:prstGeom prst="rect">
              <a:avLst/>
            </a:prstGeom>
          </p:spPr>
        </p:pic>
        <p:sp>
          <p:nvSpPr>
            <p:cNvPr id="46" name="Text 22"/>
            <p:cNvSpPr/>
            <p:nvPr/>
          </p:nvSpPr>
          <p:spPr>
            <a:xfrm>
              <a:off x="10368" y="9072"/>
              <a:ext cx="278" cy="576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accent2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marL="0" indent="0" algn="ctr">
                <a:lnSpc>
                  <a:spcPct val="150000"/>
                </a:lnSpc>
                <a:buNone/>
              </a:pPr>
              <a:r>
                <a:rPr lang="en-US" dirty="0">
                  <a:solidFill>
                    <a:srgbClr val="FFFFFF"/>
                  </a:solidFill>
                </a:rPr>
                <a:t>?</a:t>
              </a:r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47" name="Text 23"/>
            <p:cNvSpPr/>
            <p:nvPr/>
          </p:nvSpPr>
          <p:spPr>
            <a:xfrm>
              <a:off x="11160" y="9216"/>
              <a:ext cx="4186" cy="387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accent2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600" b="1" dirty="0">
                  <a:solidFill>
                    <a:schemeClr val="bg1"/>
                  </a:solidFill>
                </a:rPr>
                <a:t>是否配置了主从复制或集群？</a:t>
              </a:r>
              <a:endParaRPr lang="en-US" sz="16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31" name="Text 15"/>
          <p:cNvSpPr/>
          <p:nvPr/>
        </p:nvSpPr>
        <p:spPr>
          <a:xfrm>
            <a:off x="5436235" y="4578985"/>
            <a:ext cx="1482090" cy="2387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0000"/>
                </a:solidFill>
                <a:highlight>
                  <a:srgbClr val="FFFF00"/>
                </a:highlight>
              </a:rPr>
              <a:t>检查要点</a:t>
            </a:r>
            <a:endParaRPr lang="en-US" sz="20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从知识到实验：查一份库按这个顺序走</a:t>
            </a:r>
            <a:endParaRPr lang="en-US" sz="2760" dirty="0"/>
          </a:p>
        </p:txBody>
      </p:sp>
      <p:pic>
        <p:nvPicPr>
          <p:cNvPr id="6" name="Image 3" descr="https://test.web.static.jianzeppt.com/ppt-temp-img3/34cff19fdf3950dafda2c184810dfeec.png?x-oss-process=image/resize,w_1440,h_800,m_lfit/format,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391920" y="2352040"/>
            <a:ext cx="9144000" cy="45720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87120" y="1986280"/>
            <a:ext cx="762000" cy="762000"/>
          </a:xfrm>
          <a:prstGeom prst="rect">
            <a:avLst/>
          </a:prstGeom>
          <a:effectLst>
            <a:outerShdw blurRad="-2147483648" dist="1935480000" dir="-1" algn="bl" rotWithShape="0">
              <a:srgbClr val="143366">
                <a:alpha val="2000000000"/>
              </a:srgbClr>
            </a:outerShdw>
          </a:effectLst>
        </p:spPr>
      </p:pic>
      <p:sp>
        <p:nvSpPr>
          <p:cNvPr id="8" name="Text 1"/>
          <p:cNvSpPr/>
          <p:nvPr>
            <p:custDataLst>
              <p:tags r:id="rId9"/>
            </p:custDataLst>
          </p:nvPr>
        </p:nvSpPr>
        <p:spPr>
          <a:xfrm>
            <a:off x="1361440" y="2092960"/>
            <a:ext cx="222504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</a:t>
            </a:r>
            <a:endParaRPr lang="en-US" sz="2800" dirty="0">
              <a:solidFill>
                <a:srgbClr val="FFFFFF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9" name="Text 2"/>
          <p:cNvSpPr/>
          <p:nvPr>
            <p:custDataLst>
              <p:tags r:id="rId10"/>
            </p:custDataLst>
          </p:nvPr>
        </p:nvSpPr>
        <p:spPr>
          <a:xfrm>
            <a:off x="858520" y="2992120"/>
            <a:ext cx="1016000" cy="4616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 看环境</a:t>
            </a:r>
            <a:endParaRPr lang="en-US" sz="2000" dirty="0">
              <a:solidFill>
                <a:srgbClr val="143866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10" name="Text 3"/>
          <p:cNvSpPr/>
          <p:nvPr>
            <p:custDataLst>
              <p:tags r:id="rId11"/>
            </p:custDataLst>
          </p:nvPr>
        </p:nvSpPr>
        <p:spPr>
          <a:xfrm>
            <a:off x="609600" y="3916680"/>
            <a:ext cx="1990344" cy="60198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680" dirty="0">
                <a:solidFill>
                  <a:srgbClr val="3743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数据库版本、实例名、监听端口，先看清楚再动手</a:t>
            </a:r>
            <a:endParaRPr lang="en-US" sz="1680" dirty="0"/>
          </a:p>
        </p:txBody>
      </p:sp>
      <p:pic>
        <p:nvPicPr>
          <p:cNvPr id="11" name="Image 5" descr="https://test.web.static.jianzeppt.com/ppt-temp-img3/7f41c13e658a1a704b14904e034448ed.png?x-oss-process=image/resize,w_1440,h_800,m_lfit/format,pn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609600" y="4892040"/>
            <a:ext cx="1981200" cy="396240"/>
          </a:xfrm>
          <a:prstGeom prst="rect">
            <a:avLst/>
          </a:prstGeom>
        </p:spPr>
      </p:pic>
      <p:sp>
        <p:nvSpPr>
          <p:cNvPr id="12" name="Text 4"/>
          <p:cNvSpPr/>
          <p:nvPr>
            <p:custDataLst>
              <p:tags r:id="rId14"/>
            </p:custDataLst>
          </p:nvPr>
        </p:nvSpPr>
        <p:spPr>
          <a:xfrm>
            <a:off x="1051560" y="4953000"/>
            <a:ext cx="112166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dirty="0">
                <a:solidFill>
                  <a:srgbClr val="143866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系统信息查询</a:t>
            </a:r>
            <a:endParaRPr lang="en-US" sz="1440" dirty="0"/>
          </a:p>
        </p:txBody>
      </p:sp>
      <p:pic>
        <p:nvPicPr>
          <p:cNvPr id="13" name="Image 6" descr="preencoded.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42640" y="1986280"/>
            <a:ext cx="762000" cy="762000"/>
          </a:xfrm>
          <a:prstGeom prst="rect">
            <a:avLst/>
          </a:prstGeom>
          <a:effectLst>
            <a:outerShdw blurRad="-2147483648" dist="1935480000" dir="-1" algn="bl" rotWithShape="0">
              <a:srgbClr val="143366">
                <a:alpha val="2000000000"/>
              </a:srgbClr>
            </a:outerShdw>
          </a:effectLst>
        </p:spPr>
      </p:pic>
      <p:sp>
        <p:nvSpPr>
          <p:cNvPr id="14" name="Text 5"/>
          <p:cNvSpPr/>
          <p:nvPr>
            <p:custDataLst>
              <p:tags r:id="rId16"/>
            </p:custDataLst>
          </p:nvPr>
        </p:nvSpPr>
        <p:spPr>
          <a:xfrm>
            <a:off x="3616960" y="2092960"/>
            <a:ext cx="222504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2</a:t>
            </a:r>
            <a:endParaRPr lang="en-US" sz="2800" dirty="0">
              <a:solidFill>
                <a:srgbClr val="FFFFFF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15" name="Text 6"/>
          <p:cNvSpPr/>
          <p:nvPr>
            <p:custDataLst>
              <p:tags r:id="rId17"/>
            </p:custDataLst>
          </p:nvPr>
        </p:nvSpPr>
        <p:spPr>
          <a:xfrm>
            <a:off x="3114040" y="2992120"/>
            <a:ext cx="1524000" cy="4616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2 查身份鉴别</a:t>
            </a:r>
            <a:endParaRPr lang="en-US" sz="2000" dirty="0">
              <a:solidFill>
                <a:srgbClr val="143866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16" name="Text 7"/>
          <p:cNvSpPr/>
          <p:nvPr>
            <p:custDataLst>
              <p:tags r:id="rId18"/>
            </p:custDataLst>
          </p:nvPr>
        </p:nvSpPr>
        <p:spPr>
          <a:xfrm>
            <a:off x="2865120" y="3916680"/>
            <a:ext cx="1990344" cy="60198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680" dirty="0">
                <a:solidFill>
                  <a:srgbClr val="3743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口令策略、空口令账户、SA/root 是否禁用</a:t>
            </a:r>
            <a:endParaRPr lang="en-US" sz="1680" dirty="0"/>
          </a:p>
        </p:txBody>
      </p:sp>
      <p:pic>
        <p:nvPicPr>
          <p:cNvPr id="17" name="Image 7" descr="https://test.web.static.jianzeppt.com/ppt-temp-img3/7f41c13e658a1a704b14904e034448ed.png?x-oss-process=image/resize,w_1440,h_800,m_lfit/format,png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2865120" y="4892040"/>
            <a:ext cx="1981200" cy="396240"/>
          </a:xfrm>
          <a:prstGeom prst="rect">
            <a:avLst/>
          </a:prstGeom>
        </p:spPr>
      </p:pic>
      <p:sp>
        <p:nvSpPr>
          <p:cNvPr id="18" name="Text 8"/>
          <p:cNvSpPr/>
          <p:nvPr>
            <p:custDataLst>
              <p:tags r:id="rId20"/>
            </p:custDataLst>
          </p:nvPr>
        </p:nvSpPr>
        <p:spPr>
          <a:xfrm>
            <a:off x="3291840" y="4953000"/>
            <a:ext cx="112166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dirty="0">
                <a:solidFill>
                  <a:srgbClr val="143866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数据库客户端</a:t>
            </a:r>
            <a:endParaRPr lang="en-US" sz="1440" dirty="0"/>
          </a:p>
        </p:txBody>
      </p:sp>
      <p:pic>
        <p:nvPicPr>
          <p:cNvPr id="19" name="Image 8" descr="preencoded.png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82920" y="1986280"/>
            <a:ext cx="762000" cy="762000"/>
          </a:xfrm>
          <a:prstGeom prst="rect">
            <a:avLst/>
          </a:prstGeom>
          <a:effectLst>
            <a:outerShdw blurRad="-2147483648" dist="1935480000" dir="-1" algn="bl" rotWithShape="0">
              <a:srgbClr val="143366">
                <a:alpha val="2000000000"/>
              </a:srgbClr>
            </a:outerShdw>
          </a:effectLst>
        </p:spPr>
      </p:pic>
      <p:sp>
        <p:nvSpPr>
          <p:cNvPr id="20" name="Text 9"/>
          <p:cNvSpPr/>
          <p:nvPr>
            <p:custDataLst>
              <p:tags r:id="rId22"/>
            </p:custDataLst>
          </p:nvPr>
        </p:nvSpPr>
        <p:spPr>
          <a:xfrm>
            <a:off x="5857240" y="2092960"/>
            <a:ext cx="222504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3</a:t>
            </a:r>
            <a:endParaRPr lang="en-US" sz="2800" dirty="0">
              <a:solidFill>
                <a:srgbClr val="FFFFFF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21" name="Text 10"/>
          <p:cNvSpPr/>
          <p:nvPr>
            <p:custDataLst>
              <p:tags r:id="rId23"/>
            </p:custDataLst>
          </p:nvPr>
        </p:nvSpPr>
        <p:spPr>
          <a:xfrm>
            <a:off x="5354320" y="2992120"/>
            <a:ext cx="1778000" cy="4616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3 查权限与网络</a:t>
            </a:r>
            <a:endParaRPr lang="en-US" sz="2000" dirty="0">
              <a:solidFill>
                <a:srgbClr val="143866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22" name="Text 11"/>
          <p:cNvSpPr/>
          <p:nvPr>
            <p:custDataLst>
              <p:tags r:id="rId24"/>
            </p:custDataLst>
          </p:nvPr>
        </p:nvSpPr>
        <p:spPr>
          <a:xfrm>
            <a:off x="5105400" y="3733800"/>
            <a:ext cx="1990344" cy="89916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680" dirty="0">
                <a:solidFill>
                  <a:srgbClr val="3743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账户权限、bind-address、SSL 是否加密</a:t>
            </a:r>
            <a:endParaRPr lang="en-US" sz="1680" dirty="0"/>
          </a:p>
        </p:txBody>
      </p:sp>
      <p:pic>
        <p:nvPicPr>
          <p:cNvPr id="23" name="Image 9" descr="https://test.web.static.jianzeppt.com/ppt-temp-img3/7f41c13e658a1a704b14904e034448ed.png?x-oss-process=image/resize,w_1440,h_800,m_lfit/format,png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5105400" y="4892040"/>
            <a:ext cx="1981200" cy="396240"/>
          </a:xfrm>
          <a:prstGeom prst="rect">
            <a:avLst/>
          </a:prstGeom>
        </p:spPr>
      </p:pic>
      <p:sp>
        <p:nvSpPr>
          <p:cNvPr id="24" name="Text 12"/>
          <p:cNvSpPr/>
          <p:nvPr>
            <p:custDataLst>
              <p:tags r:id="rId26"/>
            </p:custDataLst>
          </p:nvPr>
        </p:nvSpPr>
        <p:spPr>
          <a:xfrm>
            <a:off x="5562600" y="4953000"/>
            <a:ext cx="10911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dirty="0">
                <a:solidFill>
                  <a:srgbClr val="143866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SQL查询语句</a:t>
            </a:r>
            <a:endParaRPr lang="en-US" sz="1440" dirty="0"/>
          </a:p>
        </p:txBody>
      </p:sp>
      <p:pic>
        <p:nvPicPr>
          <p:cNvPr id="25" name="Image 10" descr="preencoded.png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38440" y="1986280"/>
            <a:ext cx="762000" cy="762000"/>
          </a:xfrm>
          <a:prstGeom prst="rect">
            <a:avLst/>
          </a:prstGeom>
          <a:effectLst>
            <a:outerShdw blurRad="-2147483648" dist="1935480000" dir="-1" algn="bl" rotWithShape="0">
              <a:srgbClr val="143366">
                <a:alpha val="2000000000"/>
              </a:srgbClr>
            </a:outerShdw>
          </a:effectLst>
        </p:spPr>
      </p:pic>
      <p:sp>
        <p:nvSpPr>
          <p:cNvPr id="26" name="Text 13"/>
          <p:cNvSpPr/>
          <p:nvPr>
            <p:custDataLst>
              <p:tags r:id="rId28"/>
            </p:custDataLst>
          </p:nvPr>
        </p:nvSpPr>
        <p:spPr>
          <a:xfrm>
            <a:off x="8112760" y="2092960"/>
            <a:ext cx="222504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4</a:t>
            </a:r>
            <a:endParaRPr lang="en-US" sz="2800" dirty="0">
              <a:solidFill>
                <a:srgbClr val="FFFFFF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27" name="Text 14"/>
          <p:cNvSpPr/>
          <p:nvPr>
            <p:custDataLst>
              <p:tags r:id="rId29"/>
            </p:custDataLst>
          </p:nvPr>
        </p:nvSpPr>
        <p:spPr>
          <a:xfrm>
            <a:off x="7609840" y="2992120"/>
            <a:ext cx="1778000" cy="4616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4 查审计与备份</a:t>
            </a:r>
            <a:endParaRPr lang="en-US" sz="2000" dirty="0">
              <a:solidFill>
                <a:srgbClr val="143866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28" name="Text 15"/>
          <p:cNvSpPr/>
          <p:nvPr>
            <p:custDataLst>
              <p:tags r:id="rId30"/>
            </p:custDataLst>
          </p:nvPr>
        </p:nvSpPr>
        <p:spPr>
          <a:xfrm>
            <a:off x="7360920" y="3561080"/>
            <a:ext cx="1990344" cy="89916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680" dirty="0">
                <a:solidFill>
                  <a:srgbClr val="3743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审计日志是否启用、备份与异地备份策略</a:t>
            </a:r>
            <a:endParaRPr lang="en-US" sz="1680" dirty="0"/>
          </a:p>
        </p:txBody>
      </p:sp>
      <p:pic>
        <p:nvPicPr>
          <p:cNvPr id="29" name="Image 11" descr="https://test.web.static.jianzeppt.com/ppt-temp-img3/7f41c13e658a1a704b14904e034448ed.png?x-oss-process=image/resize,w_1440,h_800,m_lfit/format,png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7360920" y="4892040"/>
            <a:ext cx="1981200" cy="396240"/>
          </a:xfrm>
          <a:prstGeom prst="rect">
            <a:avLst/>
          </a:prstGeom>
        </p:spPr>
      </p:pic>
      <p:sp>
        <p:nvSpPr>
          <p:cNvPr id="30" name="Text 16"/>
          <p:cNvSpPr/>
          <p:nvPr>
            <p:custDataLst>
              <p:tags r:id="rId32"/>
            </p:custDataLst>
          </p:nvPr>
        </p:nvSpPr>
        <p:spPr>
          <a:xfrm>
            <a:off x="7787640" y="4953000"/>
            <a:ext cx="112166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dirty="0">
                <a:solidFill>
                  <a:srgbClr val="143866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日志查看工具</a:t>
            </a:r>
            <a:endParaRPr lang="en-US" sz="1440" dirty="0"/>
          </a:p>
        </p:txBody>
      </p:sp>
      <p:pic>
        <p:nvPicPr>
          <p:cNvPr id="31" name="Image 12" descr="preencoded.png"/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78720" y="1986280"/>
            <a:ext cx="762000" cy="762000"/>
          </a:xfrm>
          <a:prstGeom prst="rect">
            <a:avLst/>
          </a:prstGeom>
          <a:effectLst>
            <a:outerShdw blurRad="-2147483648" dist="1935480000" dir="-1" algn="bl" rotWithShape="0">
              <a:srgbClr val="143366">
                <a:alpha val="2000000000"/>
              </a:srgbClr>
            </a:outerShdw>
          </a:effectLst>
        </p:spPr>
      </p:pic>
      <p:sp>
        <p:nvSpPr>
          <p:cNvPr id="32" name="Text 17"/>
          <p:cNvSpPr/>
          <p:nvPr>
            <p:custDataLst>
              <p:tags r:id="rId34"/>
            </p:custDataLst>
          </p:nvPr>
        </p:nvSpPr>
        <p:spPr>
          <a:xfrm>
            <a:off x="10353040" y="2092960"/>
            <a:ext cx="222504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5</a:t>
            </a:r>
            <a:endParaRPr lang="en-US" sz="2800" dirty="0">
              <a:solidFill>
                <a:srgbClr val="FFFFFF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33" name="Text 18"/>
          <p:cNvSpPr/>
          <p:nvPr>
            <p:custDataLst>
              <p:tags r:id="rId35"/>
            </p:custDataLst>
          </p:nvPr>
        </p:nvSpPr>
        <p:spPr>
          <a:xfrm>
            <a:off x="9850120" y="2992120"/>
            <a:ext cx="1524000" cy="4616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5 记录并判定</a:t>
            </a:r>
            <a:endParaRPr lang="en-US" sz="2000" dirty="0">
              <a:solidFill>
                <a:srgbClr val="143866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34" name="Text 19"/>
          <p:cNvSpPr/>
          <p:nvPr>
            <p:custDataLst>
              <p:tags r:id="rId36"/>
            </p:custDataLst>
          </p:nvPr>
        </p:nvSpPr>
        <p:spPr>
          <a:xfrm>
            <a:off x="9630410" y="3604260"/>
            <a:ext cx="1960880" cy="108458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680" dirty="0">
                <a:solidFill>
                  <a:srgbClr val="3743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逐条录入</a:t>
            </a:r>
            <a:r>
              <a:rPr lang="zh-CN" altLang="en-US" sz="1680" dirty="0">
                <a:solidFill>
                  <a:srgbClr val="3743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（可用</a:t>
            </a:r>
            <a:r>
              <a:rPr lang="en-US" sz="1675" dirty="0">
                <a:solidFill>
                  <a:srgbClr val="3743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  <a:sym typeface="+mn-ea"/>
              </a:rPr>
              <a:t>JSecProbe</a:t>
            </a:r>
            <a:r>
              <a:rPr lang="zh-CN" altLang="en-US" sz="1675" dirty="0">
                <a:solidFill>
                  <a:srgbClr val="3743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  <a:sym typeface="+mn-ea"/>
              </a:rPr>
              <a:t>）</a:t>
            </a:r>
            <a:r>
              <a:rPr lang="en-US" sz="1675" dirty="0">
                <a:solidFill>
                  <a:srgbClr val="3743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  <a:sym typeface="+mn-ea"/>
              </a:rPr>
              <a:t> </a:t>
            </a:r>
            <a:r>
              <a:rPr lang="en-US" sz="1680" dirty="0">
                <a:solidFill>
                  <a:srgbClr val="3743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 + 四档判定</a:t>
            </a:r>
            <a:endParaRPr lang="en-US" sz="1680" dirty="0"/>
          </a:p>
        </p:txBody>
      </p:sp>
      <p:pic>
        <p:nvPicPr>
          <p:cNvPr id="35" name="Image 13" descr="https://test.web.static.jianzeppt.com/ppt-temp-img3/7f41c13e658a1a704b14904e034448ed.png?x-oss-process=image/resize,w_1440,h_800,m_lfit/format,png"/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9601200" y="4892040"/>
            <a:ext cx="1981200" cy="396240"/>
          </a:xfrm>
          <a:prstGeom prst="rect">
            <a:avLst/>
          </a:prstGeom>
        </p:spPr>
      </p:pic>
      <p:sp>
        <p:nvSpPr>
          <p:cNvPr id="36" name="Text 20"/>
          <p:cNvSpPr/>
          <p:nvPr>
            <p:custDataLst>
              <p:tags r:id="rId38"/>
            </p:custDataLst>
          </p:nvPr>
        </p:nvSpPr>
        <p:spPr>
          <a:xfrm>
            <a:off x="10134600" y="4953000"/>
            <a:ext cx="9387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dirty="0">
                <a:solidFill>
                  <a:srgbClr val="143866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测评记录表</a:t>
            </a:r>
            <a:endParaRPr lang="en-US" sz="14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4bbf78d39a1ae7d50fa38e3b11fcab9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73282" y="897806"/>
            <a:ext cx="2863855" cy="493776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40" dirty="0">
                <a:solidFill>
                  <a:srgbClr val="FFFFFF"/>
                </a:solidFill>
              </a:rPr>
              <a:t>Part.03</a:t>
            </a:r>
            <a:endParaRPr lang="en-US" sz="3240" dirty="0"/>
          </a:p>
        </p:txBody>
      </p:sp>
      <p:sp>
        <p:nvSpPr>
          <p:cNvPr id="4" name="Text 1"/>
          <p:cNvSpPr/>
          <p:nvPr/>
        </p:nvSpPr>
        <p:spPr>
          <a:xfrm>
            <a:off x="3195639" y="2072126"/>
            <a:ext cx="6002020" cy="2437130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280" dirty="0">
                <a:solidFill>
                  <a:srgbClr val="FFFFFF"/>
                </a:solidFill>
              </a:rPr>
              <a:t>动手实验</a:t>
            </a:r>
            <a:endParaRPr lang="en-US" sz="5280" dirty="0">
              <a:solidFill>
                <a:srgbClr val="FFFFFF"/>
              </a:solidFill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5280" dirty="0">
                <a:solidFill>
                  <a:srgbClr val="FFFFFF"/>
                </a:solidFill>
              </a:rPr>
              <a:t>——</a:t>
            </a:r>
            <a:endParaRPr lang="en-US" sz="5280" dirty="0">
              <a:solidFill>
                <a:srgbClr val="FFFFFF"/>
              </a:solidFill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5280" dirty="0">
                <a:solidFill>
                  <a:srgbClr val="FFFFFF"/>
                </a:solidFill>
              </a:rPr>
              <a:t>西普真机取证 + 判定</a:t>
            </a:r>
            <a:endParaRPr lang="en-US" sz="52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31937"/>
            <a:ext cx="2103120" cy="424180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本讲实验总览</a:t>
            </a:r>
            <a:endParaRPr lang="en-US" sz="276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" y="1371600"/>
            <a:ext cx="10972800" cy="18288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7" name="Image 4" descr="https://test.web.static.jianzeppt.com/ppt-temp-img3/2eeca359144695fe90c1583b0bdfa082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" y="1386840"/>
            <a:ext cx="2991485" cy="1798320"/>
          </a:xfrm>
          <a:prstGeom prst="rect">
            <a:avLst/>
          </a:prstGeom>
        </p:spPr>
      </p:pic>
      <p:sp>
        <p:nvSpPr>
          <p:cNvPr id="10" name="Text 1"/>
          <p:cNvSpPr/>
          <p:nvPr/>
        </p:nvSpPr>
        <p:spPr>
          <a:xfrm>
            <a:off x="3732530" y="1386840"/>
            <a:ext cx="2680970" cy="3073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① 取证：西普实验平台</a:t>
            </a:r>
            <a:endParaRPr lang="en-US" sz="2000" b="1" dirty="0">
              <a:solidFill>
                <a:srgbClr val="143866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11" name="Text 2"/>
          <p:cNvSpPr/>
          <p:nvPr/>
        </p:nvSpPr>
        <p:spPr>
          <a:xfrm>
            <a:off x="3840480" y="1766570"/>
            <a:ext cx="7469505" cy="4508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800" b="1" dirty="0">
                <a:solidFill>
                  <a:srgbClr val="1F2B37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登录 10.11.0.70（账号=学号，密码=学号+1q2w），</a:t>
            </a:r>
            <a:r>
              <a:rPr lang="zh-CN" altLang="en-US" sz="1800" b="1" dirty="0">
                <a:solidFill>
                  <a:srgbClr val="1F2B37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按照</a:t>
            </a:r>
            <a:endParaRPr lang="zh-CN" altLang="en-US" sz="1800" b="1" dirty="0">
              <a:solidFill>
                <a:srgbClr val="1F2B37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1520" y="3444240"/>
            <a:ext cx="60960" cy="304800"/>
          </a:xfrm>
          <a:prstGeom prst="rect">
            <a:avLst/>
          </a:prstGeom>
        </p:spPr>
      </p:pic>
      <p:sp>
        <p:nvSpPr>
          <p:cNvPr id="13" name="Text 3"/>
          <p:cNvSpPr/>
          <p:nvPr/>
        </p:nvSpPr>
        <p:spPr>
          <a:xfrm>
            <a:off x="914400" y="3368040"/>
            <a:ext cx="18379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② 上机五步：选 → 查 → 录 → 判 → 交</a:t>
            </a:r>
            <a:endParaRPr lang="en-US" sz="2400" dirty="0"/>
          </a:p>
        </p:txBody>
      </p:sp>
      <p:pic>
        <p:nvPicPr>
          <p:cNvPr id="14" name="Image 8" descr="preencoded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0560" y="3947160"/>
            <a:ext cx="5424805" cy="67056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15" name="Image 9" descr="preencoded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07720" y="4114800"/>
            <a:ext cx="365760" cy="365760"/>
          </a:xfrm>
          <a:prstGeom prst="rect">
            <a:avLst/>
          </a:prstGeom>
        </p:spPr>
      </p:pic>
      <p:sp>
        <p:nvSpPr>
          <p:cNvPr id="16" name="Text 4"/>
          <p:cNvSpPr/>
          <p:nvPr>
            <p:custDataLst>
              <p:tags r:id="rId14"/>
            </p:custDataLst>
          </p:nvPr>
        </p:nvSpPr>
        <p:spPr>
          <a:xfrm>
            <a:off x="929640" y="4145280"/>
            <a:ext cx="14605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①</a:t>
            </a:r>
            <a:endParaRPr lang="en-US" sz="1400" b="1" dirty="0">
              <a:solidFill>
                <a:srgbClr val="FFFFFF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17" name="Text 5"/>
          <p:cNvSpPr/>
          <p:nvPr>
            <p:custDataLst>
              <p:tags r:id="rId15"/>
            </p:custDataLst>
          </p:nvPr>
        </p:nvSpPr>
        <p:spPr>
          <a:xfrm>
            <a:off x="1295400" y="4084320"/>
            <a:ext cx="1226820" cy="33909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选：MySQL 线与 SQL Server 线各选 1~2 个实验</a:t>
            </a:r>
            <a:endParaRPr lang="en-US" sz="1600" b="1" dirty="0">
              <a:solidFill>
                <a:srgbClr val="143866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18" name="Text 6"/>
          <p:cNvSpPr/>
          <p:nvPr>
            <p:custDataLst>
              <p:tags r:id="rId16"/>
            </p:custDataLst>
          </p:nvPr>
        </p:nvSpPr>
        <p:spPr>
          <a:xfrm>
            <a:off x="1295400" y="4419600"/>
            <a:ext cx="2222500" cy="2965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400" dirty="0">
                <a:solidFill>
                  <a:srgbClr val="4B576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先看清库的版本、实例名和端口，再动手</a:t>
            </a:r>
            <a:endParaRPr lang="en-US" sz="1400" dirty="0">
              <a:solidFill>
                <a:srgbClr val="4B5763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pic>
        <p:nvPicPr>
          <p:cNvPr id="19" name="Image 10" descr="preencoded.png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00800" y="3947160"/>
            <a:ext cx="4908550" cy="67056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20" name="Image 11" descr="preencoded.png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537960" y="4114800"/>
            <a:ext cx="365760" cy="365760"/>
          </a:xfrm>
          <a:prstGeom prst="rect">
            <a:avLst/>
          </a:prstGeom>
        </p:spPr>
      </p:pic>
      <p:sp>
        <p:nvSpPr>
          <p:cNvPr id="21" name="Text 7"/>
          <p:cNvSpPr/>
          <p:nvPr>
            <p:custDataLst>
              <p:tags r:id="rId19"/>
            </p:custDataLst>
          </p:nvPr>
        </p:nvSpPr>
        <p:spPr>
          <a:xfrm>
            <a:off x="6659880" y="4145280"/>
            <a:ext cx="14605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②</a:t>
            </a:r>
            <a:endParaRPr lang="en-US" sz="1400" b="1" dirty="0">
              <a:solidFill>
                <a:srgbClr val="FFFFFF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22" name="Text 8"/>
          <p:cNvSpPr/>
          <p:nvPr>
            <p:custDataLst>
              <p:tags r:id="rId20"/>
            </p:custDataLst>
          </p:nvPr>
        </p:nvSpPr>
        <p:spPr>
          <a:xfrm>
            <a:off x="7025640" y="4084320"/>
            <a:ext cx="1226820" cy="33909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查：在真实库上跑核查命令，逐条截图留证</a:t>
            </a:r>
            <a:endParaRPr lang="en-US" sz="1600" b="1" dirty="0">
              <a:solidFill>
                <a:srgbClr val="143866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23" name="Text 9"/>
          <p:cNvSpPr/>
          <p:nvPr>
            <p:custDataLst>
              <p:tags r:id="rId21"/>
            </p:custDataLst>
          </p:nvPr>
        </p:nvSpPr>
        <p:spPr>
          <a:xfrm>
            <a:off x="7025640" y="4419600"/>
            <a:ext cx="1244600" cy="2965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400" dirty="0">
                <a:solidFill>
                  <a:srgbClr val="4B576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回显里要能看到命令本身和真实返回值</a:t>
            </a:r>
            <a:endParaRPr lang="en-US" sz="1400" dirty="0">
              <a:solidFill>
                <a:srgbClr val="4B5763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pic>
        <p:nvPicPr>
          <p:cNvPr id="24" name="Image 12" descr="preencoded.png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0560" y="4724400"/>
            <a:ext cx="5471160" cy="67056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25" name="Image 13" descr="preencoded.png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07720" y="4892040"/>
            <a:ext cx="365760" cy="365760"/>
          </a:xfrm>
          <a:prstGeom prst="rect">
            <a:avLst/>
          </a:prstGeom>
        </p:spPr>
      </p:pic>
      <p:sp>
        <p:nvSpPr>
          <p:cNvPr id="26" name="Text 10"/>
          <p:cNvSpPr/>
          <p:nvPr>
            <p:custDataLst>
              <p:tags r:id="rId24"/>
            </p:custDataLst>
          </p:nvPr>
        </p:nvSpPr>
        <p:spPr>
          <a:xfrm>
            <a:off x="929640" y="4922520"/>
            <a:ext cx="14605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③</a:t>
            </a:r>
            <a:endParaRPr lang="en-US" sz="1400" b="1" dirty="0">
              <a:solidFill>
                <a:srgbClr val="FFFFFF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27" name="Text 11"/>
          <p:cNvSpPr/>
          <p:nvPr>
            <p:custDataLst>
              <p:tags r:id="rId25"/>
            </p:custDataLst>
          </p:nvPr>
        </p:nvSpPr>
        <p:spPr>
          <a:xfrm>
            <a:off x="1295400" y="4861560"/>
            <a:ext cx="4842510" cy="2965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4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录：把回显里的真实值抄进 JSecProbe「现场核查」</a:t>
            </a:r>
            <a:r>
              <a:rPr lang="zh-CN" altLang="en-US" sz="14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或</a:t>
            </a:r>
            <a:r>
              <a:rPr lang="en-US" altLang="zh-CN" sz="14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AI</a:t>
            </a:r>
            <a:r>
              <a:rPr lang="zh-CN" altLang="en-US" sz="14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工具</a:t>
            </a:r>
            <a:endParaRPr lang="zh-CN" altLang="en-US" sz="1400" b="1" dirty="0">
              <a:solidFill>
                <a:srgbClr val="143866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28" name="Text 12"/>
          <p:cNvSpPr/>
          <p:nvPr>
            <p:custDataLst>
              <p:tags r:id="rId26"/>
            </p:custDataLst>
          </p:nvPr>
        </p:nvSpPr>
        <p:spPr>
          <a:xfrm>
            <a:off x="1295400" y="5196840"/>
            <a:ext cx="1955800" cy="2965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400" dirty="0">
                <a:solidFill>
                  <a:srgbClr val="4B576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抄参数值，不抄结论，如 default_password_lifetime=0</a:t>
            </a:r>
            <a:endParaRPr lang="en-US" sz="1400" dirty="0">
              <a:solidFill>
                <a:srgbClr val="4B5763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pic>
        <p:nvPicPr>
          <p:cNvPr id="29" name="Image 14" descr="preencoded.png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00800" y="4724400"/>
            <a:ext cx="5387340" cy="67056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30" name="Image 15" descr="preencoded.png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537960" y="4892040"/>
            <a:ext cx="365760" cy="365760"/>
          </a:xfrm>
          <a:prstGeom prst="rect">
            <a:avLst/>
          </a:prstGeom>
        </p:spPr>
      </p:pic>
      <p:sp>
        <p:nvSpPr>
          <p:cNvPr id="31" name="Text 13"/>
          <p:cNvSpPr/>
          <p:nvPr>
            <p:custDataLst>
              <p:tags r:id="rId29"/>
            </p:custDataLst>
          </p:nvPr>
        </p:nvSpPr>
        <p:spPr>
          <a:xfrm>
            <a:off x="6659880" y="4922520"/>
            <a:ext cx="14605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④</a:t>
            </a:r>
            <a:endParaRPr lang="en-US" sz="1400" b="1" dirty="0">
              <a:solidFill>
                <a:srgbClr val="143866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32" name="Text 14"/>
          <p:cNvSpPr/>
          <p:nvPr>
            <p:custDataLst>
              <p:tags r:id="rId30"/>
            </p:custDataLst>
          </p:nvPr>
        </p:nvSpPr>
        <p:spPr>
          <a:xfrm>
            <a:off x="7025640" y="4861560"/>
            <a:ext cx="1431290" cy="33909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判：对照基线做四档判定，写清"做到哪、差在哪"</a:t>
            </a:r>
            <a:endParaRPr lang="en-US" sz="1600" b="1" dirty="0">
              <a:solidFill>
                <a:srgbClr val="143866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33" name="Text 15"/>
          <p:cNvSpPr/>
          <p:nvPr>
            <p:custDataLst>
              <p:tags r:id="rId31"/>
            </p:custDataLst>
          </p:nvPr>
        </p:nvSpPr>
        <p:spPr>
          <a:xfrm>
            <a:off x="7025640" y="5196840"/>
            <a:ext cx="1955800" cy="2965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400" dirty="0">
                <a:solidFill>
                  <a:srgbClr val="4B576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一条判定配一张回显截图，编号与记录表对应</a:t>
            </a:r>
            <a:endParaRPr lang="en-US" sz="1400" dirty="0">
              <a:solidFill>
                <a:srgbClr val="4B5763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pic>
        <p:nvPicPr>
          <p:cNvPr id="34" name="Image 16" descr="preencoded.png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0560" y="5516880"/>
            <a:ext cx="5424805" cy="84328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35" name="Image 17" descr="preencoded.png"/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07720" y="5684520"/>
            <a:ext cx="365760" cy="365760"/>
          </a:xfrm>
          <a:prstGeom prst="rect">
            <a:avLst/>
          </a:prstGeom>
        </p:spPr>
      </p:pic>
      <p:sp>
        <p:nvSpPr>
          <p:cNvPr id="36" name="Text 16"/>
          <p:cNvSpPr/>
          <p:nvPr>
            <p:custDataLst>
              <p:tags r:id="rId34"/>
            </p:custDataLst>
          </p:nvPr>
        </p:nvSpPr>
        <p:spPr>
          <a:xfrm>
            <a:off x="929640" y="5699760"/>
            <a:ext cx="14605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⑤</a:t>
            </a:r>
            <a:endParaRPr lang="en-US" sz="1400" b="1" dirty="0">
              <a:solidFill>
                <a:srgbClr val="FFFFFF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37" name="Text 17"/>
          <p:cNvSpPr/>
          <p:nvPr>
            <p:custDataLst>
              <p:tags r:id="rId35"/>
            </p:custDataLst>
          </p:nvPr>
        </p:nvSpPr>
        <p:spPr>
          <a:xfrm>
            <a:off x="1295400" y="5654040"/>
            <a:ext cx="1226820" cy="33909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交：导出《数据库安全测评记录表》，课内提交</a:t>
            </a:r>
            <a:endParaRPr lang="en-US" sz="1600" b="1" dirty="0">
              <a:solidFill>
                <a:srgbClr val="143866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38" name="Text 18"/>
          <p:cNvSpPr/>
          <p:nvPr>
            <p:custDataLst>
              <p:tags r:id="rId36"/>
            </p:custDataLst>
          </p:nvPr>
        </p:nvSpPr>
        <p:spPr>
          <a:xfrm>
            <a:off x="1295400" y="5989320"/>
            <a:ext cx="1778000" cy="2965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400" dirty="0">
                <a:solidFill>
                  <a:srgbClr val="4B576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交不了就先交已完成部分并注明，不要填假数据</a:t>
            </a:r>
            <a:endParaRPr lang="en-US" sz="1400" dirty="0">
              <a:solidFill>
                <a:srgbClr val="4B5763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pic>
        <p:nvPicPr>
          <p:cNvPr id="39" name="Image 18" descr="preencoded.png"/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00800" y="5516880"/>
            <a:ext cx="5387975" cy="85344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40" name="Image 19" descr="preencoded.png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537960" y="5684520"/>
            <a:ext cx="365760" cy="365760"/>
          </a:xfrm>
          <a:prstGeom prst="rect">
            <a:avLst/>
          </a:prstGeom>
        </p:spPr>
      </p:pic>
      <p:sp>
        <p:nvSpPr>
          <p:cNvPr id="41" name="Text 19"/>
          <p:cNvSpPr/>
          <p:nvPr>
            <p:custDataLst>
              <p:tags r:id="rId39"/>
            </p:custDataLst>
          </p:nvPr>
        </p:nvSpPr>
        <p:spPr>
          <a:xfrm>
            <a:off x="6659880" y="5699760"/>
            <a:ext cx="14605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!</a:t>
            </a:r>
            <a:endParaRPr lang="en-US" sz="1400" b="1" dirty="0">
              <a:solidFill>
                <a:srgbClr val="FFFFFF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42" name="Text 20"/>
          <p:cNvSpPr/>
          <p:nvPr>
            <p:custDataLst>
              <p:tags r:id="rId40"/>
            </p:custDataLst>
          </p:nvPr>
        </p:nvSpPr>
        <p:spPr>
          <a:xfrm>
            <a:off x="7025640" y="5654040"/>
            <a:ext cx="817880" cy="33909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两条纪律</a:t>
            </a:r>
            <a:endParaRPr lang="en-US" sz="1600" b="1" dirty="0">
              <a:solidFill>
                <a:srgbClr val="143866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43" name="Text 21"/>
          <p:cNvSpPr/>
          <p:nvPr>
            <p:custDataLst>
              <p:tags r:id="rId41"/>
            </p:custDataLst>
          </p:nvPr>
        </p:nvSpPr>
        <p:spPr>
          <a:xfrm>
            <a:off x="7025640" y="5989320"/>
            <a:ext cx="4445000" cy="5937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400" dirty="0">
                <a:solidFill>
                  <a:srgbClr val="4B576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只在平台实验库上操作，不做删库、改密等破坏性动作；</a:t>
            </a:r>
            <a:endParaRPr lang="en-US" sz="1400" dirty="0">
              <a:solidFill>
                <a:srgbClr val="4B5763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  <a:p>
            <a:pPr marL="0" indent="0" algn="l">
              <a:lnSpc>
                <a:spcPct val="138000"/>
              </a:lnSpc>
              <a:buNone/>
            </a:pPr>
            <a:r>
              <a:rPr lang="en-US" sz="1400" dirty="0">
                <a:solidFill>
                  <a:srgbClr val="4B576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截图只交作业不外传</a:t>
            </a:r>
            <a:endParaRPr lang="en-US" sz="1400" dirty="0">
              <a:solidFill>
                <a:srgbClr val="4B5763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graphicFrame>
        <p:nvGraphicFramePr>
          <p:cNvPr id="45" name="对象 4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950450" y="409575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" showAsIcon="1" r:id="rId42" imgW="971550" imgH="666750" progId="Word.Document.12">
                  <p:embed/>
                </p:oleObj>
              </mc:Choice>
              <mc:Fallback>
                <p:oleObj name="" showAsIcon="1" r:id="rId42" imgW="971550" imgH="666750" progId="Word.Document.12">
                  <p:embed/>
                  <p:pic>
                    <p:nvPicPr>
                      <p:cNvPr id="0" name="图片 4096"/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9950450" y="409575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步骤①：选什么——西普平台实验清单（MySQL 线 + SQL Server 线）</a:t>
            </a:r>
            <a:endParaRPr lang="en-US" sz="276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598170" y="1143000"/>
          <a:ext cx="10972800" cy="5573488"/>
        </p:xfrm>
        <a:graphic>
          <a:graphicData uri="http://schemas.openxmlformats.org/drawingml/2006/table">
            <a:tbl>
              <a:tblPr/>
              <a:tblGrid>
                <a:gridCol w="1298575"/>
                <a:gridCol w="6330315"/>
                <a:gridCol w="3343910"/>
              </a:tblGrid>
              <a:tr h="6966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编号</a:t>
                      </a:r>
                      <a:endParaRPr lang="en-US" sz="1600" b="1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西普平台实验 / 你要查什么</a:t>
                      </a:r>
                      <a:endParaRPr lang="en-US" sz="1600" b="1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覆盖维度</a:t>
                      </a:r>
                      <a:endParaRPr lang="en-US" sz="1600" b="1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66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M1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MySQL 安全配置核查 → 口令策略与账户：validate_password 插件、密码有效期、空口令与匿名账户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8.1.4.1 / 8.1.4.2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66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M2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MySQL 安全配置核查 → 权限与网络：root 是否允许远程、用户权限、bind-address、端口、SSL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8.1.4.2 / 8.1.4.4 / 8.1.4.7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66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M3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MySQL 安全配置核查 → 审计与日志：审计插件状态、general_log、日志留存与保护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8.1.4.3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66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S1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SQL Server 安全配置核查 → 登录与账户：审核级别、SA 账户状态、空口令账户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8.1.4.1 / 8.1.4.2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66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S2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SQL Server 安全配置核查 → 审计与权限：服务器审计是否启用、登录审计规范、危险存储过程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8.1.4.3 / 8.1.4.4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66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S3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SQL Server 安全配置核查 → 加密与备份：TDE 加密状态、连接加密、备份与异地备份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8.1.4.7 / 8.1.4.8 / 8.1.4.9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66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推荐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M1 + M3（或 S1 + S2）：口令与审计是数据库测评最高频的丢分点，两条线合起来覆盖 ≥4 个维度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课内完成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4bbf78d39a1ae7d50fa38e3b11fcab9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73282" y="897806"/>
            <a:ext cx="2863855" cy="493776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40" dirty="0">
                <a:solidFill>
                  <a:srgbClr val="FFFFFF"/>
                </a:solidFill>
              </a:rPr>
              <a:t>Part.04</a:t>
            </a:r>
            <a:endParaRPr lang="en-US" sz="3240" dirty="0"/>
          </a:p>
        </p:txBody>
      </p:sp>
      <p:sp>
        <p:nvSpPr>
          <p:cNvPr id="4" name="Text 1"/>
          <p:cNvSpPr/>
          <p:nvPr/>
        </p:nvSpPr>
        <p:spPr>
          <a:xfrm>
            <a:off x="3087689" y="2322316"/>
            <a:ext cx="6035040" cy="1624330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280" dirty="0">
                <a:solidFill>
                  <a:srgbClr val="FFFFFF"/>
                </a:solidFill>
              </a:rPr>
              <a:t>回顾与拓展</a:t>
            </a:r>
            <a:endParaRPr lang="en-US" sz="528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5280" dirty="0">
                <a:solidFill>
                  <a:srgbClr val="FFFFFF"/>
                </a:solidFill>
              </a:rPr>
              <a:t>课内小结与下节预告</a:t>
            </a:r>
            <a:endParaRPr lang="en-US" sz="528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职业提醒——你查的每一行配置，背后都是人的信息</a:t>
            </a:r>
            <a:endParaRPr lang="en-US" sz="276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4815840"/>
            <a:ext cx="10972800" cy="1432560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sp>
        <p:nvSpPr>
          <p:cNvPr id="7" name="Text 1"/>
          <p:cNvSpPr/>
          <p:nvPr/>
        </p:nvSpPr>
        <p:spPr>
          <a:xfrm>
            <a:off x="1112520" y="5288280"/>
            <a:ext cx="997610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6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一句话：你填的每一个"不符合"，都可能挡住一次真实的数据泄露。</a:t>
            </a:r>
            <a:endParaRPr lang="en-US" sz="2640" dirty="0"/>
          </a:p>
        </p:txBody>
      </p:sp>
      <p:pic>
        <p:nvPicPr>
          <p:cNvPr id="8" name="Image 4" descr="https://test.web.static.jianzeppt.com/ppt-temp-img3/fd5cc301fdabd9926705f7834b3d58f0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371600"/>
            <a:ext cx="3505200" cy="3200400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96440" y="1630680"/>
            <a:ext cx="731520" cy="685800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179320" y="1783080"/>
            <a:ext cx="365760" cy="365760"/>
          </a:xfrm>
          <a:prstGeom prst="rect">
            <a:avLst/>
          </a:prstGeom>
        </p:spPr>
      </p:pic>
      <p:sp>
        <p:nvSpPr>
          <p:cNvPr id="11" name="Text 2"/>
          <p:cNvSpPr/>
          <p:nvPr/>
        </p:nvSpPr>
        <p:spPr>
          <a:xfrm>
            <a:off x="2026920" y="2484120"/>
            <a:ext cx="6949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守护</a:t>
            </a:r>
            <a:endParaRPr lang="en-US" sz="2400" dirty="0"/>
          </a:p>
        </p:txBody>
      </p:sp>
      <p:sp>
        <p:nvSpPr>
          <p:cNvPr id="12" name="Text 3"/>
          <p:cNvSpPr/>
          <p:nvPr/>
        </p:nvSpPr>
        <p:spPr>
          <a:xfrm>
            <a:off x="868680" y="3078480"/>
            <a:ext cx="2996184" cy="88296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38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数据库存储的是客户信息、交易记录、医疗档案……一次配置失误，可能影响成千上万的人</a:t>
            </a:r>
            <a:endParaRPr lang="en-US" sz="1680" dirty="0"/>
          </a:p>
        </p:txBody>
      </p:sp>
      <p:pic>
        <p:nvPicPr>
          <p:cNvPr id="13" name="Image 7" descr="https://test.web.static.jianzeppt.com/ppt-temp-img3/fd5cc301fdabd9926705f7834b3d58f0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400" y="1371600"/>
            <a:ext cx="3505200" cy="3200400"/>
          </a:xfrm>
          <a:prstGeom prst="rect">
            <a:avLst/>
          </a:prstGeom>
        </p:spPr>
      </p:pic>
      <p:pic>
        <p:nvPicPr>
          <p:cNvPr id="14" name="Image 8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730240" y="1630680"/>
            <a:ext cx="731520" cy="609600"/>
          </a:xfrm>
          <a:prstGeom prst="rect">
            <a:avLst/>
          </a:prstGeom>
        </p:spPr>
      </p:pic>
      <p:pic>
        <p:nvPicPr>
          <p:cNvPr id="15" name="Image 9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913120" y="1752600"/>
            <a:ext cx="365760" cy="365760"/>
          </a:xfrm>
          <a:prstGeom prst="rect">
            <a:avLst/>
          </a:prstGeom>
        </p:spPr>
      </p:pic>
      <p:sp>
        <p:nvSpPr>
          <p:cNvPr id="16" name="Text 4"/>
          <p:cNvSpPr/>
          <p:nvPr/>
        </p:nvSpPr>
        <p:spPr>
          <a:xfrm>
            <a:off x="5760720" y="2407920"/>
            <a:ext cx="6949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合规</a:t>
            </a:r>
            <a:endParaRPr lang="en-US" sz="2160" dirty="0"/>
          </a:p>
        </p:txBody>
      </p:sp>
      <p:sp>
        <p:nvSpPr>
          <p:cNvPr id="17" name="Text 5"/>
          <p:cNvSpPr/>
          <p:nvPr/>
        </p:nvSpPr>
        <p:spPr>
          <a:xfrm>
            <a:off x="4602480" y="2941320"/>
            <a:ext cx="2996184" cy="1177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38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《网络安全法》《数据安全法》《个人信息保护法》对数据安全有明确要求，测评工程师的每一次核查，都是在推动法律落实</a:t>
            </a:r>
            <a:endParaRPr lang="en-US" sz="1680" dirty="0"/>
          </a:p>
        </p:txBody>
      </p:sp>
      <p:pic>
        <p:nvPicPr>
          <p:cNvPr id="18" name="Image 10" descr="https://test.web.static.jianzeppt.com/ppt-temp-img3/fd5cc301fdabd9926705f7834b3d58f0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2440" y="1371600"/>
            <a:ext cx="3505200" cy="3200400"/>
          </a:xfrm>
          <a:prstGeom prst="rect">
            <a:avLst/>
          </a:prstGeom>
        </p:spPr>
      </p:pic>
      <p:pic>
        <p:nvPicPr>
          <p:cNvPr id="19" name="Image 11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464040" y="1630680"/>
            <a:ext cx="731520" cy="731520"/>
          </a:xfrm>
          <a:prstGeom prst="rect">
            <a:avLst/>
          </a:prstGeom>
        </p:spPr>
      </p:pic>
      <p:pic>
        <p:nvPicPr>
          <p:cNvPr id="20" name="Image 12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646920" y="1813560"/>
            <a:ext cx="365760" cy="365760"/>
          </a:xfrm>
          <a:prstGeom prst="rect">
            <a:avLst/>
          </a:prstGeom>
        </p:spPr>
      </p:pic>
      <p:sp>
        <p:nvSpPr>
          <p:cNvPr id="21" name="Text 6"/>
          <p:cNvSpPr/>
          <p:nvPr/>
        </p:nvSpPr>
        <p:spPr>
          <a:xfrm>
            <a:off x="9494520" y="2545080"/>
            <a:ext cx="69494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4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担当</a:t>
            </a:r>
            <a:endParaRPr lang="en-US" sz="2640" dirty="0"/>
          </a:p>
        </p:txBody>
      </p:sp>
      <p:sp>
        <p:nvSpPr>
          <p:cNvPr id="22" name="Text 7"/>
          <p:cNvSpPr/>
          <p:nvPr/>
        </p:nvSpPr>
        <p:spPr>
          <a:xfrm>
            <a:off x="8351520" y="3169920"/>
            <a:ext cx="2996184" cy="94583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38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“数据库安全无小事”，发现一个配置漏洞，可能避免一次大规模数据泄露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知识点回顾</a:t>
            </a:r>
            <a:endParaRPr lang="en-US" sz="276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21480" y="1219200"/>
            <a:ext cx="3764280" cy="746760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sp>
        <p:nvSpPr>
          <p:cNvPr id="7" name="Text 1"/>
          <p:cNvSpPr/>
          <p:nvPr/>
        </p:nvSpPr>
        <p:spPr>
          <a:xfrm>
            <a:off x="4587240" y="1341120"/>
            <a:ext cx="304190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数据库安全配置核查</a:t>
            </a:r>
            <a:endParaRPr lang="en-US" sz="2640" dirty="0"/>
          </a:p>
        </p:txBody>
      </p:sp>
      <p:pic>
        <p:nvPicPr>
          <p:cNvPr id="8" name="Image 4" descr="https://test.web.static.jianzeppt.com/ppt-temp-img3/7280daf2dfac1c18eb5bfb70e5a20feb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2209800"/>
            <a:ext cx="5242560" cy="1021080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2480" y="2377440"/>
            <a:ext cx="304800" cy="335280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883920" y="2407920"/>
            <a:ext cx="13106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</a:t>
            </a:r>
            <a:endParaRPr lang="en-US" sz="1440" dirty="0"/>
          </a:p>
        </p:txBody>
      </p:sp>
      <p:sp>
        <p:nvSpPr>
          <p:cNvPr id="11" name="Text 3"/>
          <p:cNvSpPr/>
          <p:nvPr/>
        </p:nvSpPr>
        <p:spPr>
          <a:xfrm>
            <a:off x="1203960" y="2331720"/>
            <a:ext cx="1106424" cy="3962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身份鉴别</a:t>
            </a:r>
            <a:endParaRPr lang="en-US" sz="2160" dirty="0"/>
          </a:p>
        </p:txBody>
      </p:sp>
      <p:sp>
        <p:nvSpPr>
          <p:cNvPr id="12" name="Text 4"/>
          <p:cNvSpPr/>
          <p:nvPr/>
        </p:nvSpPr>
        <p:spPr>
          <a:xfrm>
            <a:off x="792480" y="2804160"/>
            <a:ext cx="494690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密码复杂度、定期更换、登录失败处理、远程加密</a:t>
            </a:r>
            <a:endParaRPr lang="en-US" sz="1680" dirty="0"/>
          </a:p>
        </p:txBody>
      </p:sp>
      <p:pic>
        <p:nvPicPr>
          <p:cNvPr id="13" name="Image 6" descr="https://test.web.static.jianzeppt.com/ppt-temp-img3/447237d5c8b7d57f6e6689a1130d542d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9840" y="2209800"/>
            <a:ext cx="5242560" cy="1021080"/>
          </a:xfrm>
          <a:prstGeom prst="rect">
            <a:avLst/>
          </a:prstGeom>
        </p:spPr>
      </p:pic>
      <p:pic>
        <p:nvPicPr>
          <p:cNvPr id="14" name="Image 7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22720" y="2377440"/>
            <a:ext cx="304800" cy="335280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>
            <a:off x="6614160" y="2407920"/>
            <a:ext cx="13106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2</a:t>
            </a:r>
            <a:endParaRPr lang="en-US" sz="1440" dirty="0"/>
          </a:p>
        </p:txBody>
      </p:sp>
      <p:sp>
        <p:nvSpPr>
          <p:cNvPr id="16" name="Text 6"/>
          <p:cNvSpPr/>
          <p:nvPr/>
        </p:nvSpPr>
        <p:spPr>
          <a:xfrm>
            <a:off x="6934200" y="2331720"/>
            <a:ext cx="1106424" cy="3962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访问控制</a:t>
            </a:r>
            <a:endParaRPr lang="en-US" sz="2160" dirty="0"/>
          </a:p>
        </p:txBody>
      </p:sp>
      <p:sp>
        <p:nvSpPr>
          <p:cNvPr id="17" name="Text 7"/>
          <p:cNvSpPr/>
          <p:nvPr/>
        </p:nvSpPr>
        <p:spPr>
          <a:xfrm>
            <a:off x="6522720" y="2804160"/>
            <a:ext cx="494690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最小权限、禁用SA/root远程、权限分离</a:t>
            </a:r>
            <a:endParaRPr lang="en-US" sz="1680" dirty="0"/>
          </a:p>
        </p:txBody>
      </p:sp>
      <p:pic>
        <p:nvPicPr>
          <p:cNvPr id="18" name="Image 8" descr="https://test.web.static.jianzeppt.com/ppt-temp-img3/5b226e8e2b1bc6c1facb505615cda8e2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3672840"/>
            <a:ext cx="5242560" cy="1021080"/>
          </a:xfrm>
          <a:prstGeom prst="rect">
            <a:avLst/>
          </a:prstGeom>
        </p:spPr>
      </p:pic>
      <p:pic>
        <p:nvPicPr>
          <p:cNvPr id="19" name="Image 9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2480" y="3825240"/>
            <a:ext cx="304800" cy="335280"/>
          </a:xfrm>
          <a:prstGeom prst="rect">
            <a:avLst/>
          </a:prstGeom>
        </p:spPr>
      </p:pic>
      <p:sp>
        <p:nvSpPr>
          <p:cNvPr id="20" name="Text 8"/>
          <p:cNvSpPr/>
          <p:nvPr/>
        </p:nvSpPr>
        <p:spPr>
          <a:xfrm>
            <a:off x="883920" y="3855720"/>
            <a:ext cx="13106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3</a:t>
            </a:r>
            <a:endParaRPr lang="en-US" sz="1440" dirty="0"/>
          </a:p>
        </p:txBody>
      </p:sp>
      <p:sp>
        <p:nvSpPr>
          <p:cNvPr id="21" name="Text 9"/>
          <p:cNvSpPr/>
          <p:nvPr/>
        </p:nvSpPr>
        <p:spPr>
          <a:xfrm>
            <a:off x="1203960" y="3794760"/>
            <a:ext cx="1106424" cy="3962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安全审计</a:t>
            </a:r>
            <a:endParaRPr lang="en-US" sz="2160" dirty="0"/>
          </a:p>
        </p:txBody>
      </p:sp>
      <p:sp>
        <p:nvSpPr>
          <p:cNvPr id="22" name="Text 10"/>
          <p:cNvSpPr/>
          <p:nvPr/>
        </p:nvSpPr>
        <p:spPr>
          <a:xfrm>
            <a:off x="792480" y="4267200"/>
            <a:ext cx="494690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功能启用、内容完整、记录保护</a:t>
            </a:r>
            <a:endParaRPr lang="en-US" sz="1680" dirty="0"/>
          </a:p>
        </p:txBody>
      </p:sp>
      <p:pic>
        <p:nvPicPr>
          <p:cNvPr id="23" name="Image 10" descr="https://test.web.static.jianzeppt.com/ppt-temp-img3/833f46497ac6d61580cb2c3e274397ec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9840" y="3672840"/>
            <a:ext cx="5242560" cy="1021080"/>
          </a:xfrm>
          <a:prstGeom prst="rect">
            <a:avLst/>
          </a:prstGeom>
        </p:spPr>
      </p:pic>
      <p:pic>
        <p:nvPicPr>
          <p:cNvPr id="24" name="Image 11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22720" y="3825240"/>
            <a:ext cx="304800" cy="335280"/>
          </a:xfrm>
          <a:prstGeom prst="rect">
            <a:avLst/>
          </a:prstGeom>
        </p:spPr>
      </p:pic>
      <p:sp>
        <p:nvSpPr>
          <p:cNvPr id="25" name="Text 11"/>
          <p:cNvSpPr/>
          <p:nvPr/>
        </p:nvSpPr>
        <p:spPr>
          <a:xfrm>
            <a:off x="6614160" y="3855720"/>
            <a:ext cx="13106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4</a:t>
            </a:r>
            <a:endParaRPr lang="en-US" sz="1440" dirty="0"/>
          </a:p>
        </p:txBody>
      </p:sp>
      <p:sp>
        <p:nvSpPr>
          <p:cNvPr id="26" name="Text 12"/>
          <p:cNvSpPr/>
          <p:nvPr/>
        </p:nvSpPr>
        <p:spPr>
          <a:xfrm>
            <a:off x="6934200" y="3794760"/>
            <a:ext cx="1106424" cy="3962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入侵防范</a:t>
            </a:r>
            <a:endParaRPr lang="en-US" sz="2160" dirty="0"/>
          </a:p>
        </p:txBody>
      </p:sp>
      <p:sp>
        <p:nvSpPr>
          <p:cNvPr id="27" name="Text 13"/>
          <p:cNvSpPr/>
          <p:nvPr/>
        </p:nvSpPr>
        <p:spPr>
          <a:xfrm>
            <a:off x="6522720" y="4267200"/>
            <a:ext cx="494690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最小安装、修改默认端口、禁用高危功能</a:t>
            </a:r>
            <a:endParaRPr lang="en-US" sz="1680" dirty="0"/>
          </a:p>
        </p:txBody>
      </p:sp>
      <p:pic>
        <p:nvPicPr>
          <p:cNvPr id="28" name="Image 12" descr="https://test.web.static.jianzeppt.com/ppt-temp-img3/6c61de79230afe74648c71f9022032d7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5120640"/>
            <a:ext cx="5242560" cy="1021080"/>
          </a:xfrm>
          <a:prstGeom prst="rect">
            <a:avLst/>
          </a:prstGeom>
        </p:spPr>
      </p:pic>
      <p:pic>
        <p:nvPicPr>
          <p:cNvPr id="29" name="Image 1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2480" y="5288280"/>
            <a:ext cx="304800" cy="335280"/>
          </a:xfrm>
          <a:prstGeom prst="rect">
            <a:avLst/>
          </a:prstGeom>
        </p:spPr>
      </p:pic>
      <p:sp>
        <p:nvSpPr>
          <p:cNvPr id="30" name="Text 14"/>
          <p:cNvSpPr/>
          <p:nvPr/>
        </p:nvSpPr>
        <p:spPr>
          <a:xfrm>
            <a:off x="883920" y="5318760"/>
            <a:ext cx="13106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5</a:t>
            </a:r>
            <a:endParaRPr lang="en-US" sz="1440" dirty="0"/>
          </a:p>
        </p:txBody>
      </p:sp>
      <p:sp>
        <p:nvSpPr>
          <p:cNvPr id="31" name="Text 15"/>
          <p:cNvSpPr/>
          <p:nvPr/>
        </p:nvSpPr>
        <p:spPr>
          <a:xfrm>
            <a:off x="1203960" y="5242560"/>
            <a:ext cx="1761744" cy="3962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完整性/保密性</a:t>
            </a:r>
            <a:endParaRPr lang="en-US" sz="2160" dirty="0"/>
          </a:p>
        </p:txBody>
      </p:sp>
      <p:sp>
        <p:nvSpPr>
          <p:cNvPr id="32" name="Text 16"/>
          <p:cNvSpPr/>
          <p:nvPr/>
        </p:nvSpPr>
        <p:spPr>
          <a:xfrm>
            <a:off x="792480" y="5715000"/>
            <a:ext cx="494690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传输加密（SSL/TLS）、存储加密（TDE）</a:t>
            </a:r>
            <a:endParaRPr lang="en-US" sz="1680" dirty="0"/>
          </a:p>
        </p:txBody>
      </p:sp>
      <p:pic>
        <p:nvPicPr>
          <p:cNvPr id="33" name="Image 14" descr="https://test.web.static.jianzeppt.com/ppt-temp-img3/d0f83973a71a8c6688fb8a8a6b1b0978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9840" y="5120640"/>
            <a:ext cx="5242560" cy="1021080"/>
          </a:xfrm>
          <a:prstGeom prst="rect">
            <a:avLst/>
          </a:prstGeom>
        </p:spPr>
      </p:pic>
      <p:pic>
        <p:nvPicPr>
          <p:cNvPr id="34" name="Image 1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22720" y="5288280"/>
            <a:ext cx="304800" cy="335280"/>
          </a:xfrm>
          <a:prstGeom prst="rect">
            <a:avLst/>
          </a:prstGeom>
        </p:spPr>
      </p:pic>
      <p:sp>
        <p:nvSpPr>
          <p:cNvPr id="35" name="Text 17"/>
          <p:cNvSpPr/>
          <p:nvPr/>
        </p:nvSpPr>
        <p:spPr>
          <a:xfrm>
            <a:off x="6614160" y="5318760"/>
            <a:ext cx="13106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6</a:t>
            </a:r>
            <a:endParaRPr lang="en-US" sz="1440" dirty="0"/>
          </a:p>
        </p:txBody>
      </p:sp>
      <p:sp>
        <p:nvSpPr>
          <p:cNvPr id="36" name="Text 18"/>
          <p:cNvSpPr/>
          <p:nvPr/>
        </p:nvSpPr>
        <p:spPr>
          <a:xfrm>
            <a:off x="6934200" y="5242560"/>
            <a:ext cx="1655064" cy="3962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数据备份恢复</a:t>
            </a:r>
            <a:endParaRPr lang="en-US" sz="2160" dirty="0"/>
          </a:p>
        </p:txBody>
      </p:sp>
      <p:sp>
        <p:nvSpPr>
          <p:cNvPr id="37" name="Text 19"/>
          <p:cNvSpPr/>
          <p:nvPr/>
        </p:nvSpPr>
        <p:spPr>
          <a:xfrm>
            <a:off x="6522720" y="5715000"/>
            <a:ext cx="494690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本地备份、异地备份（三级）</a:t>
            </a:r>
            <a:endParaRPr lang="en-US" sz="168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下节课预告</a:t>
            </a:r>
            <a:endParaRPr lang="en-US" sz="276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371600"/>
            <a:ext cx="10972800" cy="9906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7" name="Text 1"/>
          <p:cNvSpPr/>
          <p:nvPr/>
        </p:nvSpPr>
        <p:spPr>
          <a:xfrm>
            <a:off x="3596640" y="1615440"/>
            <a:ext cx="500786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b="1" kern="0" spc="88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任务4.4：应用系统安全功能验证</a:t>
            </a:r>
            <a:endParaRPr lang="en-US" sz="2640" dirty="0"/>
          </a:p>
        </p:txBody>
      </p:sp>
      <p:pic>
        <p:nvPicPr>
          <p:cNvPr id="8" name="Image 4" descr="https://test.web.static.jianzeppt.com/ppt-temp-img3/80aca478237490c28a55a1d969dae3f6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2667000"/>
            <a:ext cx="5303520" cy="3581400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0600" y="3139440"/>
            <a:ext cx="121920" cy="304800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1234440" y="3048000"/>
            <a:ext cx="136550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4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预告内容</a:t>
            </a:r>
            <a:endParaRPr lang="en-US" sz="2640" dirty="0"/>
          </a:p>
        </p:txBody>
      </p:sp>
      <p:pic>
        <p:nvPicPr>
          <p:cNvPr id="11" name="Image 6" descr="https://test.web.static.jianzeppt.com/ppt-temp-img3/a90e3d2fe432fcfe5722fa9c4ddb9d97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0600" y="3746602"/>
            <a:ext cx="4541520" cy="15240"/>
          </a:xfrm>
          <a:prstGeom prst="rect">
            <a:avLst/>
          </a:prstGeom>
        </p:spPr>
      </p:pic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90600" y="4145280"/>
            <a:ext cx="91440" cy="91440"/>
          </a:xfrm>
          <a:prstGeom prst="rect">
            <a:avLst/>
          </a:prstGeom>
        </p:spPr>
      </p:pic>
      <p:sp>
        <p:nvSpPr>
          <p:cNvPr id="13" name="Text 3"/>
          <p:cNvSpPr/>
          <p:nvPr/>
        </p:nvSpPr>
        <p:spPr>
          <a:xfrm>
            <a:off x="1264920" y="4053840"/>
            <a:ext cx="2203704" cy="4469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身份鉴别功能验证</a:t>
            </a:r>
            <a:endParaRPr lang="en-US" sz="2160" dirty="0"/>
          </a:p>
        </p:txBody>
      </p:sp>
      <p:pic>
        <p:nvPicPr>
          <p:cNvPr id="14" name="Image 8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90600" y="4831080"/>
            <a:ext cx="91440" cy="91440"/>
          </a:xfrm>
          <a:prstGeom prst="rect">
            <a:avLst/>
          </a:prstGeom>
        </p:spPr>
      </p:pic>
      <p:sp>
        <p:nvSpPr>
          <p:cNvPr id="15" name="Text 4"/>
          <p:cNvSpPr/>
          <p:nvPr/>
        </p:nvSpPr>
        <p:spPr>
          <a:xfrm>
            <a:off x="1264920" y="4739640"/>
            <a:ext cx="2203704" cy="4469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访问控制功能验证</a:t>
            </a:r>
            <a:endParaRPr lang="en-US" sz="2160" dirty="0"/>
          </a:p>
        </p:txBody>
      </p:sp>
      <p:pic>
        <p:nvPicPr>
          <p:cNvPr id="16" name="Image 9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90600" y="5516880"/>
            <a:ext cx="91440" cy="91440"/>
          </a:xfrm>
          <a:prstGeom prst="rect">
            <a:avLst/>
          </a:prstGeom>
        </p:spPr>
      </p:pic>
      <p:sp>
        <p:nvSpPr>
          <p:cNvPr id="17" name="Text 5"/>
          <p:cNvSpPr/>
          <p:nvPr/>
        </p:nvSpPr>
        <p:spPr>
          <a:xfrm>
            <a:off x="1264920" y="5425440"/>
            <a:ext cx="2203704" cy="4469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安全审计功能验证</a:t>
            </a:r>
            <a:endParaRPr lang="en-US" sz="2160" dirty="0"/>
          </a:p>
        </p:txBody>
      </p:sp>
      <p:pic>
        <p:nvPicPr>
          <p:cNvPr id="18" name="Image 10" descr="https://test.web.static.jianzeppt.com/ppt-temp-img3/80aca478237490c28a55a1d969dae3f6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8880" y="2667000"/>
            <a:ext cx="5303520" cy="3581400"/>
          </a:xfrm>
          <a:prstGeom prst="rect">
            <a:avLst/>
          </a:prstGeom>
        </p:spPr>
      </p:pic>
      <p:pic>
        <p:nvPicPr>
          <p:cNvPr id="19" name="Image 11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59880" y="3154680"/>
            <a:ext cx="121920" cy="304800"/>
          </a:xfrm>
          <a:prstGeom prst="rect">
            <a:avLst/>
          </a:prstGeom>
        </p:spPr>
      </p:pic>
      <p:sp>
        <p:nvSpPr>
          <p:cNvPr id="20" name="Text 6"/>
          <p:cNvSpPr/>
          <p:nvPr/>
        </p:nvSpPr>
        <p:spPr>
          <a:xfrm>
            <a:off x="6903720" y="3048000"/>
            <a:ext cx="136550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4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课前准备</a:t>
            </a:r>
            <a:endParaRPr lang="en-US" sz="2640" dirty="0"/>
          </a:p>
        </p:txBody>
      </p:sp>
      <p:pic>
        <p:nvPicPr>
          <p:cNvPr id="21" name="Image 12" descr="https://test.web.static.jianzeppt.com/ppt-temp-img3/a90e3d2fe432fcfe5722fa9c4ddb9d97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59880" y="3749040"/>
            <a:ext cx="4541520" cy="15240"/>
          </a:xfrm>
          <a:prstGeom prst="rect">
            <a:avLst/>
          </a:prstGeom>
        </p:spPr>
      </p:pic>
      <p:pic>
        <p:nvPicPr>
          <p:cNvPr id="22" name="Image 13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59880" y="4145280"/>
            <a:ext cx="91440" cy="91440"/>
          </a:xfrm>
          <a:prstGeom prst="rect">
            <a:avLst/>
          </a:prstGeom>
        </p:spPr>
      </p:pic>
      <p:sp>
        <p:nvSpPr>
          <p:cNvPr id="23" name="Text 7"/>
          <p:cNvSpPr/>
          <p:nvPr/>
        </p:nvSpPr>
        <p:spPr>
          <a:xfrm>
            <a:off x="6934200" y="3849370"/>
            <a:ext cx="4154424" cy="89392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复习GB/T 22239中“安全计算环境-应用系统”相关要求</a:t>
            </a:r>
            <a:endParaRPr lang="en-US" sz="2160" dirty="0"/>
          </a:p>
        </p:txBody>
      </p:sp>
      <p:pic>
        <p:nvPicPr>
          <p:cNvPr id="24" name="Image 1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59880" y="5288280"/>
            <a:ext cx="91440" cy="91440"/>
          </a:xfrm>
          <a:prstGeom prst="rect">
            <a:avLst/>
          </a:prstGeom>
        </p:spPr>
      </p:pic>
      <p:sp>
        <p:nvSpPr>
          <p:cNvPr id="25" name="Text 8"/>
          <p:cNvSpPr/>
          <p:nvPr/>
        </p:nvSpPr>
        <p:spPr>
          <a:xfrm>
            <a:off x="6934200" y="5196840"/>
            <a:ext cx="2767584" cy="42219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4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准备Web应用测试环境</a:t>
            </a:r>
            <a:endParaRPr lang="en-US" sz="204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36780" y="1925506"/>
            <a:ext cx="9136882" cy="97512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360" dirty="0">
                <a:solidFill>
                  <a:srgbClr val="FFFFFF"/>
                </a:solidFill>
              </a:rPr>
              <a:t>感谢观看</a:t>
            </a:r>
            <a:endParaRPr lang="en-US" sz="636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50.4,&quot;left&quot;:48,&quot;top&quot;:151.2,&quot;width&quot;:864}"/>
</p:tagLst>
</file>

<file path=ppt/tags/tag2.xml><?xml version="1.0" encoding="utf-8"?>
<p:tagLst xmlns:p="http://schemas.openxmlformats.org/presentationml/2006/main">
  <p:tag name="KSO_WM_DIAGRAM_VIRTUALLY_FRAME" val="{&quot;height&quot;:350.4,&quot;left&quot;:48,&quot;top&quot;:151.2,&quot;width&quot;:864}"/>
</p:tagLst>
</file>

<file path=ppt/tags/tag3.xml><?xml version="1.0" encoding="utf-8"?>
<p:tagLst xmlns:p="http://schemas.openxmlformats.org/presentationml/2006/main">
  <p:tag name="KSO_WM_DIAGRAM_VIRTUALLY_FRAME" val="{&quot;height&quot;:350.4,&quot;left&quot;:48,&quot;top&quot;:151.2,&quot;width&quot;:864}"/>
</p:tagLst>
</file>

<file path=ppt/tags/tag4.xml><?xml version="1.0" encoding="utf-8"?>
<p:tagLst xmlns:p="http://schemas.openxmlformats.org/presentationml/2006/main">
  <p:tag name="KSO_WM_DIAGRAM_VIRTUALLY_FRAME" val="{&quot;height&quot;:350.4,&quot;left&quot;:48,&quot;top&quot;:151.2,&quot;width&quot;:864}"/>
</p:tagLst>
</file>

<file path=ppt/tags/tag5.xml><?xml version="1.0" encoding="utf-8"?>
<p:tagLst xmlns:p="http://schemas.openxmlformats.org/presentationml/2006/main">
  <p:tag name="KSO_WM_DIAGRAM_VIRTUALLY_FRAME" val="{&quot;height&quot;:350.4,&quot;left&quot;:48,&quot;top&quot;:151.2,&quot;width&quot;:864}"/>
</p:tagLst>
</file>

<file path=ppt/tags/tag6.xml><?xml version="1.0" encoding="utf-8"?>
<p:tagLst xmlns:p="http://schemas.openxmlformats.org/presentationml/2006/main">
  <p:tag name="KSO_WM_DIAGRAM_VIRTUALLY_FRAME" val="{&quot;height&quot;:350.4,&quot;left&quot;:48,&quot;top&quot;:151.2,&quot;width&quot;:864}"/>
</p:tagLst>
</file>

<file path=ppt/tags/tag7.xml><?xml version="1.0" encoding="utf-8"?>
<p:tagLst xmlns:p="http://schemas.openxmlformats.org/presentationml/2006/main">
  <p:tag name="KSO_WM_DIAGRAM_VIRTUALLY_FRAME" val="{&quot;height&quot;:350.4,&quot;left&quot;:48,&quot;top&quot;:151.2,&quot;width&quot;:864}"/>
</p:tagLst>
</file>

<file path=ppt/tags/tag8.xml><?xml version="1.0" encoding="utf-8"?>
<p:tagLst xmlns:p="http://schemas.openxmlformats.org/presentationml/2006/main">
  <p:tag name="KSO_WM_DIAGRAM_VIRTUALLY_FRAME" val="{&quot;height&quot;:350.4,&quot;left&quot;:48,&quot;top&quot;:151.2,&quot;width&quot;:864}"/>
</p:tagLst>
</file>

<file path=ppt/tags/tag9.xml><?xml version="1.0" encoding="utf-8"?>
<p:tagLst xmlns:p="http://schemas.openxmlformats.org/presentationml/2006/main">
  <p:tag name="KSO_WM_DIAGRAM_VIRTUALLY_FRAME" val="{&quot;height&quot;:350.4,&quot;left&quot;:48,&quot;top&quot;:151.2,&quot;width&quot;:864}"/>
</p:tagLst>
</file>

<file path=ppt/tags/tag10.xml><?xml version="1.0" encoding="utf-8"?>
<p:tagLst xmlns:p="http://schemas.openxmlformats.org/presentationml/2006/main">
  <p:tag name="KSO_WM_DIAGRAM_VIRTUALLY_FRAME" val="{&quot;height&quot;:350.4,&quot;left&quot;:48,&quot;top&quot;:151.2,&quot;width&quot;:864}"/>
</p:tagLst>
</file>

<file path=ppt/tags/tag11.xml><?xml version="1.0" encoding="utf-8"?>
<p:tagLst xmlns:p="http://schemas.openxmlformats.org/presentationml/2006/main">
  <p:tag name="KSO_WM_DIAGRAM_VIRTUALLY_FRAME" val="{&quot;height&quot;:350.4,&quot;left&quot;:48,&quot;top&quot;:151.2,&quot;width&quot;:864}"/>
</p:tagLst>
</file>

<file path=ppt/tags/tag12.xml><?xml version="1.0" encoding="utf-8"?>
<p:tagLst xmlns:p="http://schemas.openxmlformats.org/presentationml/2006/main">
  <p:tag name="KSO_WM_DIAGRAM_VIRTUALLY_FRAME" val="{&quot;height&quot;:350.4,&quot;left&quot;:48,&quot;top&quot;:151.2,&quot;width&quot;:864}"/>
</p:tagLst>
</file>

<file path=ppt/tags/tag13.xml><?xml version="1.0" encoding="utf-8"?>
<p:tagLst xmlns:p="http://schemas.openxmlformats.org/presentationml/2006/main">
  <p:tag name="KSO_WM_DIAGRAM_VIRTUALLY_FRAME" val="{&quot;height&quot;:350.4,&quot;left&quot;:48,&quot;top&quot;:151.2,&quot;width&quot;:864}"/>
</p:tagLst>
</file>

<file path=ppt/tags/tag14.xml><?xml version="1.0" encoding="utf-8"?>
<p:tagLst xmlns:p="http://schemas.openxmlformats.org/presentationml/2006/main">
  <p:tag name="KSO_WM_DIAGRAM_VIRTUALLY_FRAME" val="{&quot;height&quot;:350.4,&quot;left&quot;:48,&quot;top&quot;:151.2,&quot;width&quot;:864}"/>
</p:tagLst>
</file>

<file path=ppt/tags/tag15.xml><?xml version="1.0" encoding="utf-8"?>
<p:tagLst xmlns:p="http://schemas.openxmlformats.org/presentationml/2006/main">
  <p:tag name="KSO_WM_DIAGRAM_VIRTUALLY_FRAME" val="{&quot;height&quot;:350.4,&quot;left&quot;:48,&quot;top&quot;:151.2,&quot;width&quot;:864}"/>
</p:tagLst>
</file>

<file path=ppt/tags/tag16.xml><?xml version="1.0" encoding="utf-8"?>
<p:tagLst xmlns:p="http://schemas.openxmlformats.org/presentationml/2006/main">
  <p:tag name="KSO_WM_DIAGRAM_VIRTUALLY_FRAME" val="{&quot;height&quot;:350.4,&quot;left&quot;:48,&quot;top&quot;:151.2,&quot;width&quot;:864}"/>
</p:tagLst>
</file>

<file path=ppt/tags/tag17.xml><?xml version="1.0" encoding="utf-8"?>
<p:tagLst xmlns:p="http://schemas.openxmlformats.org/presentationml/2006/main">
  <p:tag name="KSO_WM_DIAGRAM_VIRTUALLY_FRAME" val="{&quot;height&quot;:350.4,&quot;left&quot;:48,&quot;top&quot;:151.2,&quot;width&quot;:864}"/>
</p:tagLst>
</file>

<file path=ppt/tags/tag18.xml><?xml version="1.0" encoding="utf-8"?>
<p:tagLst xmlns:p="http://schemas.openxmlformats.org/presentationml/2006/main">
  <p:tag name="KSO_WM_DIAGRAM_VIRTUALLY_FRAME" val="{&quot;height&quot;:350.4,&quot;left&quot;:48,&quot;top&quot;:151.2,&quot;width&quot;:864}"/>
</p:tagLst>
</file>

<file path=ppt/tags/tag19.xml><?xml version="1.0" encoding="utf-8"?>
<p:tagLst xmlns:p="http://schemas.openxmlformats.org/presentationml/2006/main">
  <p:tag name="KSO_WM_DIAGRAM_VIRTUALLY_FRAME" val="{&quot;height&quot;:350.4,&quot;left&quot;:48,&quot;top&quot;:151.2,&quot;width&quot;:864}"/>
</p:tagLst>
</file>

<file path=ppt/tags/tag20.xml><?xml version="1.0" encoding="utf-8"?>
<p:tagLst xmlns:p="http://schemas.openxmlformats.org/presentationml/2006/main">
  <p:tag name="KSO_WM_DIAGRAM_VIRTUALLY_FRAME" val="{&quot;height&quot;:350.4,&quot;left&quot;:48,&quot;top&quot;:151.2,&quot;width&quot;:864}"/>
</p:tagLst>
</file>

<file path=ppt/tags/tag21.xml><?xml version="1.0" encoding="utf-8"?>
<p:tagLst xmlns:p="http://schemas.openxmlformats.org/presentationml/2006/main">
  <p:tag name="KSO_WM_DIAGRAM_VIRTUALLY_FRAME" val="{&quot;height&quot;:350.4,&quot;left&quot;:48,&quot;top&quot;:151.2,&quot;width&quot;:864}"/>
</p:tagLst>
</file>

<file path=ppt/tags/tag22.xml><?xml version="1.0" encoding="utf-8"?>
<p:tagLst xmlns:p="http://schemas.openxmlformats.org/presentationml/2006/main">
  <p:tag name="KSO_WM_DIAGRAM_VIRTUALLY_FRAME" val="{&quot;height&quot;:350.4,&quot;left&quot;:48,&quot;top&quot;:151.2,&quot;width&quot;:864}"/>
</p:tagLst>
</file>

<file path=ppt/tags/tag23.xml><?xml version="1.0" encoding="utf-8"?>
<p:tagLst xmlns:p="http://schemas.openxmlformats.org/presentationml/2006/main">
  <p:tag name="KSO_WM_DIAGRAM_VIRTUALLY_FRAME" val="{&quot;height&quot;:350.4,&quot;left&quot;:48,&quot;top&quot;:151.2,&quot;width&quot;:864}"/>
</p:tagLst>
</file>

<file path=ppt/tags/tag24.xml><?xml version="1.0" encoding="utf-8"?>
<p:tagLst xmlns:p="http://schemas.openxmlformats.org/presentationml/2006/main">
  <p:tag name="KSO_WM_DIAGRAM_VIRTUALLY_FRAME" val="{&quot;height&quot;:350.4,&quot;left&quot;:48,&quot;top&quot;:151.2,&quot;width&quot;:864}"/>
</p:tagLst>
</file>

<file path=ppt/tags/tag25.xml><?xml version="1.0" encoding="utf-8"?>
<p:tagLst xmlns:p="http://schemas.openxmlformats.org/presentationml/2006/main">
  <p:tag name="KSO_WM_DIAGRAM_VIRTUALLY_FRAME" val="{&quot;height&quot;:350.4,&quot;left&quot;:48,&quot;top&quot;:151.2,&quot;width&quot;:864}"/>
</p:tagLst>
</file>

<file path=ppt/tags/tag26.xml><?xml version="1.0" encoding="utf-8"?>
<p:tagLst xmlns:p="http://schemas.openxmlformats.org/presentationml/2006/main">
  <p:tag name="TABLE_ENDDRAG_ORIGIN_RECT" val="752*207"/>
  <p:tag name="TABLE_ENDDRAG_RECT" val="96*164*752*207"/>
</p:tagLst>
</file>

<file path=ppt/tags/tag27.xml><?xml version="1.0" encoding="utf-8"?>
<p:tagLst xmlns:p="http://schemas.openxmlformats.org/presentationml/2006/main">
  <p:tag name="KSO_WM_DIAGRAM_VIRTUALLY_FRAME" val="{&quot;height&quot;:260,&quot;left&quot;:48,&quot;top&quot;:156.4,&quot;width&quot;:864.72}"/>
</p:tagLst>
</file>

<file path=ppt/tags/tag28.xml><?xml version="1.0" encoding="utf-8"?>
<p:tagLst xmlns:p="http://schemas.openxmlformats.org/presentationml/2006/main">
  <p:tag name="KSO_WM_DIAGRAM_VIRTUALLY_FRAME" val="{&quot;height&quot;:260,&quot;left&quot;:48,&quot;top&quot;:156.4,&quot;width&quot;:864.72}"/>
</p:tagLst>
</file>

<file path=ppt/tags/tag29.xml><?xml version="1.0" encoding="utf-8"?>
<p:tagLst xmlns:p="http://schemas.openxmlformats.org/presentationml/2006/main">
  <p:tag name="KSO_WM_DIAGRAM_VIRTUALLY_FRAME" val="{&quot;height&quot;:260,&quot;left&quot;:48,&quot;top&quot;:156.4,&quot;width&quot;:864.72}"/>
</p:tagLst>
</file>

<file path=ppt/tags/tag30.xml><?xml version="1.0" encoding="utf-8"?>
<p:tagLst xmlns:p="http://schemas.openxmlformats.org/presentationml/2006/main">
  <p:tag name="KSO_WM_DIAGRAM_VIRTUALLY_FRAME" val="{&quot;height&quot;:260,&quot;left&quot;:48,&quot;top&quot;:156.4,&quot;width&quot;:864.72}"/>
</p:tagLst>
</file>

<file path=ppt/tags/tag31.xml><?xml version="1.0" encoding="utf-8"?>
<p:tagLst xmlns:p="http://schemas.openxmlformats.org/presentationml/2006/main">
  <p:tag name="KSO_WM_DIAGRAM_VIRTUALLY_FRAME" val="{&quot;height&quot;:260,&quot;left&quot;:48,&quot;top&quot;:156.4,&quot;width&quot;:864.72}"/>
</p:tagLst>
</file>

<file path=ppt/tags/tag32.xml><?xml version="1.0" encoding="utf-8"?>
<p:tagLst xmlns:p="http://schemas.openxmlformats.org/presentationml/2006/main">
  <p:tag name="KSO_WM_DIAGRAM_VIRTUALLY_FRAME" val="{&quot;height&quot;:260,&quot;left&quot;:48,&quot;top&quot;:156.4,&quot;width&quot;:864.72}"/>
</p:tagLst>
</file>

<file path=ppt/tags/tag33.xml><?xml version="1.0" encoding="utf-8"?>
<p:tagLst xmlns:p="http://schemas.openxmlformats.org/presentationml/2006/main">
  <p:tag name="KSO_WM_DIAGRAM_VIRTUALLY_FRAME" val="{&quot;height&quot;:260,&quot;left&quot;:48,&quot;top&quot;:156.4,&quot;width&quot;:864.72}"/>
</p:tagLst>
</file>

<file path=ppt/tags/tag34.xml><?xml version="1.0" encoding="utf-8"?>
<p:tagLst xmlns:p="http://schemas.openxmlformats.org/presentationml/2006/main">
  <p:tag name="KSO_WM_DIAGRAM_VIRTUALLY_FRAME" val="{&quot;height&quot;:260,&quot;left&quot;:48,&quot;top&quot;:156.4,&quot;width&quot;:864.72}"/>
</p:tagLst>
</file>

<file path=ppt/tags/tag35.xml><?xml version="1.0" encoding="utf-8"?>
<p:tagLst xmlns:p="http://schemas.openxmlformats.org/presentationml/2006/main">
  <p:tag name="KSO_WM_DIAGRAM_VIRTUALLY_FRAME" val="{&quot;height&quot;:260,&quot;left&quot;:48,&quot;top&quot;:156.4,&quot;width&quot;:864.72}"/>
</p:tagLst>
</file>

<file path=ppt/tags/tag36.xml><?xml version="1.0" encoding="utf-8"?>
<p:tagLst xmlns:p="http://schemas.openxmlformats.org/presentationml/2006/main">
  <p:tag name="KSO_WM_DIAGRAM_VIRTUALLY_FRAME" val="{&quot;height&quot;:260,&quot;left&quot;:48,&quot;top&quot;:156.4,&quot;width&quot;:864.72}"/>
</p:tagLst>
</file>

<file path=ppt/tags/tag37.xml><?xml version="1.0" encoding="utf-8"?>
<p:tagLst xmlns:p="http://schemas.openxmlformats.org/presentationml/2006/main">
  <p:tag name="KSO_WM_DIAGRAM_VIRTUALLY_FRAME" val="{&quot;height&quot;:260,&quot;left&quot;:48,&quot;top&quot;:156.4,&quot;width&quot;:864.72}"/>
</p:tagLst>
</file>

<file path=ppt/tags/tag38.xml><?xml version="1.0" encoding="utf-8"?>
<p:tagLst xmlns:p="http://schemas.openxmlformats.org/presentationml/2006/main">
  <p:tag name="KSO_WM_DIAGRAM_VIRTUALLY_FRAME" val="{&quot;height&quot;:260,&quot;left&quot;:48,&quot;top&quot;:156.4,&quot;width&quot;:864.72}"/>
</p:tagLst>
</file>

<file path=ppt/tags/tag39.xml><?xml version="1.0" encoding="utf-8"?>
<p:tagLst xmlns:p="http://schemas.openxmlformats.org/presentationml/2006/main">
  <p:tag name="KSO_WM_DIAGRAM_VIRTUALLY_FRAME" val="{&quot;height&quot;:260,&quot;left&quot;:48,&quot;top&quot;:156.4,&quot;width&quot;:864.72}"/>
</p:tagLst>
</file>

<file path=ppt/tags/tag40.xml><?xml version="1.0" encoding="utf-8"?>
<p:tagLst xmlns:p="http://schemas.openxmlformats.org/presentationml/2006/main">
  <p:tag name="KSO_WM_DIAGRAM_VIRTUALLY_FRAME" val="{&quot;height&quot;:260,&quot;left&quot;:48,&quot;top&quot;:156.4,&quot;width&quot;:864.72}"/>
</p:tagLst>
</file>

<file path=ppt/tags/tag41.xml><?xml version="1.0" encoding="utf-8"?>
<p:tagLst xmlns:p="http://schemas.openxmlformats.org/presentationml/2006/main">
  <p:tag name="KSO_WM_DIAGRAM_VIRTUALLY_FRAME" val="{&quot;height&quot;:260,&quot;left&quot;:48,&quot;top&quot;:156.4,&quot;width&quot;:864.72}"/>
</p:tagLst>
</file>

<file path=ppt/tags/tag42.xml><?xml version="1.0" encoding="utf-8"?>
<p:tagLst xmlns:p="http://schemas.openxmlformats.org/presentationml/2006/main">
  <p:tag name="KSO_WM_DIAGRAM_VIRTUALLY_FRAME" val="{&quot;height&quot;:260,&quot;left&quot;:48,&quot;top&quot;:156.4,&quot;width&quot;:864.72}"/>
</p:tagLst>
</file>

<file path=ppt/tags/tag43.xml><?xml version="1.0" encoding="utf-8"?>
<p:tagLst xmlns:p="http://schemas.openxmlformats.org/presentationml/2006/main">
  <p:tag name="KSO_WM_DIAGRAM_VIRTUALLY_FRAME" val="{&quot;height&quot;:260,&quot;left&quot;:48,&quot;top&quot;:156.4,&quot;width&quot;:864.72}"/>
</p:tagLst>
</file>

<file path=ppt/tags/tag44.xml><?xml version="1.0" encoding="utf-8"?>
<p:tagLst xmlns:p="http://schemas.openxmlformats.org/presentationml/2006/main">
  <p:tag name="KSO_WM_DIAGRAM_VIRTUALLY_FRAME" val="{&quot;height&quot;:260,&quot;left&quot;:48,&quot;top&quot;:156.4,&quot;width&quot;:864.72}"/>
</p:tagLst>
</file>

<file path=ppt/tags/tag45.xml><?xml version="1.0" encoding="utf-8"?>
<p:tagLst xmlns:p="http://schemas.openxmlformats.org/presentationml/2006/main">
  <p:tag name="KSO_WM_DIAGRAM_VIRTUALLY_FRAME" val="{&quot;height&quot;:260,&quot;left&quot;:48,&quot;top&quot;:156.4,&quot;width&quot;:864.72}"/>
</p:tagLst>
</file>

<file path=ppt/tags/tag46.xml><?xml version="1.0" encoding="utf-8"?>
<p:tagLst xmlns:p="http://schemas.openxmlformats.org/presentationml/2006/main">
  <p:tag name="KSO_WM_DIAGRAM_VIRTUALLY_FRAME" val="{&quot;height&quot;:260,&quot;left&quot;:48,&quot;top&quot;:156.4,&quot;width&quot;:864.72}"/>
</p:tagLst>
</file>

<file path=ppt/tags/tag47.xml><?xml version="1.0" encoding="utf-8"?>
<p:tagLst xmlns:p="http://schemas.openxmlformats.org/presentationml/2006/main">
  <p:tag name="KSO_WM_DIAGRAM_VIRTUALLY_FRAME" val="{&quot;height&quot;:260,&quot;left&quot;:48,&quot;top&quot;:156.4,&quot;width&quot;:864.72}"/>
</p:tagLst>
</file>

<file path=ppt/tags/tag48.xml><?xml version="1.0" encoding="utf-8"?>
<p:tagLst xmlns:p="http://schemas.openxmlformats.org/presentationml/2006/main">
  <p:tag name="KSO_WM_DIAGRAM_VIRTUALLY_FRAME" val="{&quot;height&quot;:260,&quot;left&quot;:48,&quot;top&quot;:156.4,&quot;width&quot;:864.72}"/>
</p:tagLst>
</file>

<file path=ppt/tags/tag49.xml><?xml version="1.0" encoding="utf-8"?>
<p:tagLst xmlns:p="http://schemas.openxmlformats.org/presentationml/2006/main">
  <p:tag name="KSO_WM_DIAGRAM_VIRTUALLY_FRAME" val="{&quot;height&quot;:260,&quot;left&quot;:48,&quot;top&quot;:156.4,&quot;width&quot;:864.72}"/>
</p:tagLst>
</file>

<file path=ppt/tags/tag50.xml><?xml version="1.0" encoding="utf-8"?>
<p:tagLst xmlns:p="http://schemas.openxmlformats.org/presentationml/2006/main">
  <p:tag name="KSO_WM_DIAGRAM_VIRTUALLY_FRAME" val="{&quot;height&quot;:260,&quot;left&quot;:48,&quot;top&quot;:156.4,&quot;width&quot;:864.72}"/>
</p:tagLst>
</file>

<file path=ppt/tags/tag51.xml><?xml version="1.0" encoding="utf-8"?>
<p:tagLst xmlns:p="http://schemas.openxmlformats.org/presentationml/2006/main">
  <p:tag name="KSO_WM_DIAGRAM_VIRTUALLY_FRAME" val="{&quot;height&quot;:260,&quot;left&quot;:48,&quot;top&quot;:156.4,&quot;width&quot;:864.72}"/>
</p:tagLst>
</file>

<file path=ppt/tags/tag52.xml><?xml version="1.0" encoding="utf-8"?>
<p:tagLst xmlns:p="http://schemas.openxmlformats.org/presentationml/2006/main">
  <p:tag name="KSO_WM_DIAGRAM_VIRTUALLY_FRAME" val="{&quot;height&quot;:260,&quot;left&quot;:48,&quot;top&quot;:156.4,&quot;width&quot;:864.72}"/>
</p:tagLst>
</file>

<file path=ppt/tags/tag53.xml><?xml version="1.0" encoding="utf-8"?>
<p:tagLst xmlns:p="http://schemas.openxmlformats.org/presentationml/2006/main">
  <p:tag name="KSO_WM_DIAGRAM_VIRTUALLY_FRAME" val="{&quot;height&quot;:260,&quot;left&quot;:48,&quot;top&quot;:156.4,&quot;width&quot;:864.72}"/>
</p:tagLst>
</file>

<file path=ppt/tags/tag54.xml><?xml version="1.0" encoding="utf-8"?>
<p:tagLst xmlns:p="http://schemas.openxmlformats.org/presentationml/2006/main">
  <p:tag name="KSO_WM_DIAGRAM_VIRTUALLY_FRAME" val="{&quot;height&quot;:260,&quot;left&quot;:48,&quot;top&quot;:156.4,&quot;width&quot;:864.72}"/>
</p:tagLst>
</file>

<file path=ppt/tags/tag55.xml><?xml version="1.0" encoding="utf-8"?>
<p:tagLst xmlns:p="http://schemas.openxmlformats.org/presentationml/2006/main">
  <p:tag name="KSO_WM_DIAGRAM_VIRTUALLY_FRAME" val="{&quot;height&quot;:260,&quot;left&quot;:48,&quot;top&quot;:156.4,&quot;width&quot;:864.72}"/>
</p:tagLst>
</file>

<file path=ppt/tags/tag56.xml><?xml version="1.0" encoding="utf-8"?>
<p:tagLst xmlns:p="http://schemas.openxmlformats.org/presentationml/2006/main">
  <p:tag name="KSO_WM_DIAGRAM_VIRTUALLY_FRAME" val="{&quot;height&quot;:260,&quot;left&quot;:48,&quot;top&quot;:156.4,&quot;width&quot;:864.72}"/>
</p:tagLst>
</file>

<file path=ppt/tags/tag57.xml><?xml version="1.0" encoding="utf-8"?>
<p:tagLst xmlns:p="http://schemas.openxmlformats.org/presentationml/2006/main">
  <p:tag name="KSO_WM_DIAGRAM_VIRTUALLY_FRAME" val="{&quot;height&quot;:260,&quot;left&quot;:48,&quot;top&quot;:156.4,&quot;width&quot;:864.72}"/>
</p:tagLst>
</file>

<file path=ppt/tags/tag58.xml><?xml version="1.0" encoding="utf-8"?>
<p:tagLst xmlns:p="http://schemas.openxmlformats.org/presentationml/2006/main">
  <p:tag name="KSO_WM_DIAGRAM_VIRTUALLY_FRAME" val="{&quot;height&quot;:207.55,&quot;left&quot;:52.8,&quot;top&quot;:310.8,&quot;width&quot;:875.45}"/>
</p:tagLst>
</file>

<file path=ppt/tags/tag59.xml><?xml version="1.0" encoding="utf-8"?>
<p:tagLst xmlns:p="http://schemas.openxmlformats.org/presentationml/2006/main">
  <p:tag name="KSO_WM_DIAGRAM_VIRTUALLY_FRAME" val="{&quot;height&quot;:207.55,&quot;left&quot;:52.8,&quot;top&quot;:310.8,&quot;width&quot;:875.45}"/>
</p:tagLst>
</file>

<file path=ppt/tags/tag60.xml><?xml version="1.0" encoding="utf-8"?>
<p:tagLst xmlns:p="http://schemas.openxmlformats.org/presentationml/2006/main">
  <p:tag name="KSO_WM_DIAGRAM_VIRTUALLY_FRAME" val="{&quot;height&quot;:207.55,&quot;left&quot;:52.8,&quot;top&quot;:310.8,&quot;width&quot;:875.45}"/>
</p:tagLst>
</file>

<file path=ppt/tags/tag61.xml><?xml version="1.0" encoding="utf-8"?>
<p:tagLst xmlns:p="http://schemas.openxmlformats.org/presentationml/2006/main">
  <p:tag name="KSO_WM_DIAGRAM_VIRTUALLY_FRAME" val="{&quot;height&quot;:207.55,&quot;left&quot;:52.8,&quot;top&quot;:310.8,&quot;width&quot;:875.45}"/>
</p:tagLst>
</file>

<file path=ppt/tags/tag62.xml><?xml version="1.0" encoding="utf-8"?>
<p:tagLst xmlns:p="http://schemas.openxmlformats.org/presentationml/2006/main">
  <p:tag name="KSO_WM_DIAGRAM_VIRTUALLY_FRAME" val="{&quot;height&quot;:207.55,&quot;left&quot;:52.8,&quot;top&quot;:310.8,&quot;width&quot;:875.45}"/>
</p:tagLst>
</file>

<file path=ppt/tags/tag63.xml><?xml version="1.0" encoding="utf-8"?>
<p:tagLst xmlns:p="http://schemas.openxmlformats.org/presentationml/2006/main">
  <p:tag name="KSO_WM_DIAGRAM_VIRTUALLY_FRAME" val="{&quot;height&quot;:207.55,&quot;left&quot;:52.8,&quot;top&quot;:310.8,&quot;width&quot;:875.45}"/>
</p:tagLst>
</file>

<file path=ppt/tags/tag64.xml><?xml version="1.0" encoding="utf-8"?>
<p:tagLst xmlns:p="http://schemas.openxmlformats.org/presentationml/2006/main">
  <p:tag name="KSO_WM_DIAGRAM_VIRTUALLY_FRAME" val="{&quot;height&quot;:207.55,&quot;left&quot;:52.8,&quot;top&quot;:310.8,&quot;width&quot;:875.45}"/>
</p:tagLst>
</file>

<file path=ppt/tags/tag65.xml><?xml version="1.0" encoding="utf-8"?>
<p:tagLst xmlns:p="http://schemas.openxmlformats.org/presentationml/2006/main">
  <p:tag name="KSO_WM_DIAGRAM_VIRTUALLY_FRAME" val="{&quot;height&quot;:207.55,&quot;left&quot;:52.8,&quot;top&quot;:310.8,&quot;width&quot;:875.45}"/>
</p:tagLst>
</file>

<file path=ppt/tags/tag66.xml><?xml version="1.0" encoding="utf-8"?>
<p:tagLst xmlns:p="http://schemas.openxmlformats.org/presentationml/2006/main">
  <p:tag name="KSO_WM_DIAGRAM_VIRTUALLY_FRAME" val="{&quot;height&quot;:207.55,&quot;left&quot;:52.8,&quot;top&quot;:310.8,&quot;width&quot;:875.45}"/>
</p:tagLst>
</file>

<file path=ppt/tags/tag67.xml><?xml version="1.0" encoding="utf-8"?>
<p:tagLst xmlns:p="http://schemas.openxmlformats.org/presentationml/2006/main">
  <p:tag name="KSO_WM_DIAGRAM_VIRTUALLY_FRAME" val="{&quot;height&quot;:207.55,&quot;left&quot;:52.8,&quot;top&quot;:310.8,&quot;width&quot;:875.45}"/>
</p:tagLst>
</file>

<file path=ppt/tags/tag68.xml><?xml version="1.0" encoding="utf-8"?>
<p:tagLst xmlns:p="http://schemas.openxmlformats.org/presentationml/2006/main">
  <p:tag name="KSO_WM_DIAGRAM_VIRTUALLY_FRAME" val="{&quot;height&quot;:207.55,&quot;left&quot;:52.8,&quot;top&quot;:310.8,&quot;width&quot;:875.45}"/>
</p:tagLst>
</file>

<file path=ppt/tags/tag69.xml><?xml version="1.0" encoding="utf-8"?>
<p:tagLst xmlns:p="http://schemas.openxmlformats.org/presentationml/2006/main">
  <p:tag name="KSO_WM_DIAGRAM_VIRTUALLY_FRAME" val="{&quot;height&quot;:207.55,&quot;left&quot;:52.8,&quot;top&quot;:310.8,&quot;width&quot;:875.45}"/>
</p:tagLst>
</file>

<file path=ppt/tags/tag70.xml><?xml version="1.0" encoding="utf-8"?>
<p:tagLst xmlns:p="http://schemas.openxmlformats.org/presentationml/2006/main">
  <p:tag name="KSO_WM_DIAGRAM_VIRTUALLY_FRAME" val="{&quot;height&quot;:207.55,&quot;left&quot;:52.8,&quot;top&quot;:310.8,&quot;width&quot;:875.45}"/>
</p:tagLst>
</file>

<file path=ppt/tags/tag71.xml><?xml version="1.0" encoding="utf-8"?>
<p:tagLst xmlns:p="http://schemas.openxmlformats.org/presentationml/2006/main">
  <p:tag name="KSO_WM_DIAGRAM_VIRTUALLY_FRAME" val="{&quot;height&quot;:207.55,&quot;left&quot;:52.8,&quot;top&quot;:310.8,&quot;width&quot;:875.45}"/>
</p:tagLst>
</file>

<file path=ppt/tags/tag72.xml><?xml version="1.0" encoding="utf-8"?>
<p:tagLst xmlns:p="http://schemas.openxmlformats.org/presentationml/2006/main">
  <p:tag name="KSO_WM_DIAGRAM_VIRTUALLY_FRAME" val="{&quot;height&quot;:207.55,&quot;left&quot;:52.8,&quot;top&quot;:310.8,&quot;width&quot;:875.45}"/>
</p:tagLst>
</file>

<file path=ppt/tags/tag73.xml><?xml version="1.0" encoding="utf-8"?>
<p:tagLst xmlns:p="http://schemas.openxmlformats.org/presentationml/2006/main">
  <p:tag name="KSO_WM_DIAGRAM_VIRTUALLY_FRAME" val="{&quot;height&quot;:207.55,&quot;left&quot;:52.8,&quot;top&quot;:310.8,&quot;width&quot;:875.45}"/>
</p:tagLst>
</file>

<file path=ppt/tags/tag74.xml><?xml version="1.0" encoding="utf-8"?>
<p:tagLst xmlns:p="http://schemas.openxmlformats.org/presentationml/2006/main">
  <p:tag name="KSO_WM_DIAGRAM_VIRTUALLY_FRAME" val="{&quot;height&quot;:207.55,&quot;left&quot;:52.8,&quot;top&quot;:310.8,&quot;width&quot;:875.45}"/>
</p:tagLst>
</file>

<file path=ppt/tags/tag75.xml><?xml version="1.0" encoding="utf-8"?>
<p:tagLst xmlns:p="http://schemas.openxmlformats.org/presentationml/2006/main">
  <p:tag name="KSO_WM_DIAGRAM_VIRTUALLY_FRAME" val="{&quot;height&quot;:207.55,&quot;left&quot;:52.8,&quot;top&quot;:310.8,&quot;width&quot;:875.45}"/>
</p:tagLst>
</file>

<file path=ppt/tags/tag76.xml><?xml version="1.0" encoding="utf-8"?>
<p:tagLst xmlns:p="http://schemas.openxmlformats.org/presentationml/2006/main">
  <p:tag name="KSO_WM_DIAGRAM_VIRTUALLY_FRAME" val="{&quot;height&quot;:207.55,&quot;left&quot;:52.8,&quot;top&quot;:310.8,&quot;width&quot;:875.45}"/>
</p:tagLst>
</file>

<file path=ppt/tags/tag77.xml><?xml version="1.0" encoding="utf-8"?>
<p:tagLst xmlns:p="http://schemas.openxmlformats.org/presentationml/2006/main">
  <p:tag name="KSO_WM_DIAGRAM_VIRTUALLY_FRAME" val="{&quot;height&quot;:207.55,&quot;left&quot;:52.8,&quot;top&quot;:310.8,&quot;width&quot;:875.45}"/>
</p:tagLst>
</file>

<file path=ppt/tags/tag78.xml><?xml version="1.0" encoding="utf-8"?>
<p:tagLst xmlns:p="http://schemas.openxmlformats.org/presentationml/2006/main">
  <p:tag name="KSO_WM_DIAGRAM_VIRTUALLY_FRAME" val="{&quot;height&quot;:207.55,&quot;left&quot;:52.8,&quot;top&quot;:310.8,&quot;width&quot;:875.45}"/>
</p:tagLst>
</file>

<file path=ppt/tags/tag79.xml><?xml version="1.0" encoding="utf-8"?>
<p:tagLst xmlns:p="http://schemas.openxmlformats.org/presentationml/2006/main">
  <p:tag name="KSO_WM_DIAGRAM_VIRTUALLY_FRAME" val="{&quot;height&quot;:207.55,&quot;left&quot;:52.8,&quot;top&quot;:310.8,&quot;width&quot;:875.45}"/>
</p:tagLst>
</file>

<file path=ppt/tags/tag80.xml><?xml version="1.0" encoding="utf-8"?>
<p:tagLst xmlns:p="http://schemas.openxmlformats.org/presentationml/2006/main">
  <p:tag name="KSO_WM_DIAGRAM_VIRTUALLY_FRAME" val="{&quot;height&quot;:207.55,&quot;left&quot;:52.8,&quot;top&quot;:310.8,&quot;width&quot;:875.45}"/>
</p:tagLst>
</file>

<file path=ppt/tags/tag81.xml><?xml version="1.0" encoding="utf-8"?>
<p:tagLst xmlns:p="http://schemas.openxmlformats.org/presentationml/2006/main">
  <p:tag name="KSO_WM_DIAGRAM_VIRTUALLY_FRAME" val="{&quot;height&quot;:207.55,&quot;left&quot;:52.8,&quot;top&quot;:310.8,&quot;width&quot;:875.45}"/>
</p:tagLst>
</file>

<file path=ppt/tags/tag82.xml><?xml version="1.0" encoding="utf-8"?>
<p:tagLst xmlns:p="http://schemas.openxmlformats.org/presentationml/2006/main">
  <p:tag name="KSO_WM_DIAGRAM_VIRTUALLY_FRAME" val="{&quot;height&quot;:207.55,&quot;left&quot;:52.8,&quot;top&quot;:310.8,&quot;width&quot;:875.45}"/>
</p:tagLst>
</file>

<file path=ppt/tags/tag83.xml><?xml version="1.0" encoding="utf-8"?>
<p:tagLst xmlns:p="http://schemas.openxmlformats.org/presentationml/2006/main">
  <p:tag name="KSO_WM_DIAGRAM_VIRTUALLY_FRAME" val="{&quot;height&quot;:207.55,&quot;left&quot;:52.8,&quot;top&quot;:310.8,&quot;width&quot;:875.45}"/>
</p:tagLst>
</file>

<file path=ppt/tags/tag84.xml><?xml version="1.0" encoding="utf-8"?>
<p:tagLst xmlns:p="http://schemas.openxmlformats.org/presentationml/2006/main">
  <p:tag name="KSO_WM_DIAGRAM_VIRTUALLY_FRAME" val="{&quot;height&quot;:207.55,&quot;left&quot;:52.8,&quot;top&quot;:310.8,&quot;width&quot;:875.45}"/>
</p:tagLst>
</file>

<file path=ppt/tags/tag85.xml><?xml version="1.0" encoding="utf-8"?>
<p:tagLst xmlns:p="http://schemas.openxmlformats.org/presentationml/2006/main">
  <p:tag name="KSO_WM_DIAGRAM_VIRTUALLY_FRAME" val="{&quot;height&quot;:207.55,&quot;left&quot;:52.8,&quot;top&quot;:310.8,&quot;width&quot;:875.45}"/>
</p:tagLst>
</file>

<file path=ppt/tags/tag86.xml><?xml version="1.0" encoding="utf-8"?>
<p:tagLst xmlns:p="http://schemas.openxmlformats.org/presentationml/2006/main">
  <p:tag name="KSO_WM_DIAGRAM_VIRTUALLY_FRAME" val="{&quot;height&quot;:207.55,&quot;left&quot;:52.8,&quot;top&quot;:310.8,&quot;width&quot;:875.45}"/>
</p:tagLst>
</file>

<file path=ppt/tags/tag87.xml><?xml version="1.0" encoding="utf-8"?>
<p:tagLst xmlns:p="http://schemas.openxmlformats.org/presentationml/2006/main">
  <p:tag name="KSO_WM_DIAGRAM_VIRTUALLY_FRAME" val="{&quot;height&quot;:207.55,&quot;left&quot;:52.8,&quot;top&quot;:310.8,&quot;width&quot;:875.4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5951</Words>
  <Application>WPS 演示</Application>
  <PresentationFormat>On-screen Show (16:9)</PresentationFormat>
  <Paragraphs>701</Paragraphs>
  <Slides>23</Slides>
  <Notes>21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8" baseType="lpstr">
      <vt:lpstr>Arial</vt:lpstr>
      <vt:lpstr>宋体</vt:lpstr>
      <vt:lpstr>Wingdings</vt:lpstr>
      <vt:lpstr>思源黑体 CN</vt:lpstr>
      <vt:lpstr>黑体</vt:lpstr>
      <vt:lpstr>思源黑体 CN</vt:lpstr>
      <vt:lpstr>思源黑体 CN Bold</vt:lpstr>
      <vt:lpstr>思源黑体 CN Bold</vt:lpstr>
      <vt:lpstr>思源黑体 CN Bold</vt:lpstr>
      <vt:lpstr>Calibri</vt:lpstr>
      <vt:lpstr>等线</vt:lpstr>
      <vt:lpstr>微软雅黑</vt:lpstr>
      <vt:lpstr>Arial Unicode MS</vt:lpstr>
      <vt:lpstr>Office Theme</vt:lpstr>
      <vt:lpstr>Word.Document.12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202603</cp:lastModifiedBy>
  <cp:revision>14</cp:revision>
  <dcterms:created xsi:type="dcterms:W3CDTF">2026-08-30T07:50:00Z</dcterms:created>
  <dcterms:modified xsi:type="dcterms:W3CDTF">2026-10-11T12:59:41Z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25430E5E729C44C59F052F4BB85923BC_12</vt:lpwstr>
  </property>
  <property fmtid="{D5CDD505-2E9C-101B-9397-08002B2CF9AE}" pid="3" name="KSOProductBuildVer">
    <vt:lpwstr>2052-12.1.0.19302</vt:lpwstr>
  </property>
</Properties>
</file>