
<file path=[Content_Types].xml><?xml version="1.0" encoding="utf-8"?>
<Types xmlns="http://schemas.openxmlformats.org/package/2006/content-types">
  <Default Extension="vml" ContentType="application/vnd.openxmlformats-officedocument.vmlDrawing"/>
  <Default Extension="docx" ContentType="application/vnd.openxmlformats-officedocument.wordprocessingml.documen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0.svg" ContentType="image/svg+xml"/>
  <Override PartName="/ppt/media/image104.svg" ContentType="image/svg+xml"/>
  <Override PartName="/ppt/media/image106.svg" ContentType="image/svg+xml"/>
  <Override PartName="/ppt/media/image108.svg" ContentType="image/svg+xml"/>
  <Override PartName="/ppt/media/image110.svg" ContentType="image/svg+xml"/>
  <Override PartName="/ppt/media/image112.svg" ContentType="image/svg+xml"/>
  <Override PartName="/ppt/media/image114.svg" ContentType="image/svg+xml"/>
  <Override PartName="/ppt/media/image14.svg" ContentType="image/svg+xml"/>
  <Override PartName="/ppt/media/image16.svg" ContentType="image/svg+xml"/>
  <Override PartName="/ppt/media/image22.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41.svg" ContentType="image/svg+xml"/>
  <Override PartName="/ppt/media/image44.svg" ContentType="image/svg+xml"/>
  <Override PartName="/ppt/media/image48.svg" ContentType="image/svg+xml"/>
  <Override PartName="/ppt/media/image53.svg" ContentType="image/svg+xml"/>
  <Override PartName="/ppt/media/image57.svg" ContentType="image/svg+xml"/>
  <Override PartName="/ppt/media/image60.svg" ContentType="image/svg+xml"/>
  <Override PartName="/ppt/media/image64.svg" ContentType="image/svg+xml"/>
  <Override PartName="/ppt/media/image68.svg" ContentType="image/svg+xml"/>
  <Override PartName="/ppt/media/image70.svg" ContentType="image/svg+xml"/>
  <Override PartName="/ppt/media/image74.svg" ContentType="image/svg+xml"/>
  <Override PartName="/ppt/media/image77.svg" ContentType="image/svg+xml"/>
  <Override PartName="/ppt/media/image81.svg" ContentType="image/svg+xml"/>
  <Override PartName="/ppt/media/image85.svg" ContentType="image/svg+xml"/>
  <Override PartName="/ppt/media/image94.svg" ContentType="image/svg+xml"/>
  <Override PartName="/ppt/media/image96.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3" r:id="rId9"/>
    <p:sldId id="261" r:id="rId10"/>
    <p:sldId id="262" r:id="rId11"/>
    <p:sldId id="264" r:id="rId12"/>
    <p:sldId id="265" r:id="rId13"/>
    <p:sldId id="266" r:id="rId14"/>
    <p:sldId id="267" r:id="rId15"/>
    <p:sldId id="268" r:id="rId16"/>
    <p:sldId id="295" r:id="rId17"/>
    <p:sldId id="281" r:id="rId18"/>
    <p:sldId id="282" r:id="rId19"/>
    <p:sldId id="271" r:id="rId20"/>
    <p:sldId id="275" r:id="rId21"/>
    <p:sldId id="276" r:id="rId22"/>
    <p:sldId id="277" r:id="rId23"/>
    <p:sldId id="278" r:id="rId24"/>
    <p:sldId id="280"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0" Type="http://schemas.openxmlformats.org/officeDocument/2006/relationships/notesSlide" Target="../notesSlides/notesSlide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9.png"/><Relationship Id="rId12" Type="http://schemas.openxmlformats.org/officeDocument/2006/relationships/notesSlide" Target="../notesSlides/notesSlide2.xml"/><Relationship Id="rId11" Type="http://schemas.openxmlformats.org/officeDocument/2006/relationships/slideLayout" Target="../slideLayouts/slideLayout1.xml"/><Relationship Id="rId10" Type="http://schemas.openxmlformats.org/officeDocument/2006/relationships/tags" Target="../tags/tag8.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image" Target="../media/image17.png"/><Relationship Id="rId7" Type="http://schemas.openxmlformats.org/officeDocument/2006/relationships/image" Target="../media/image16.svg"/><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4" Type="http://schemas.openxmlformats.org/officeDocument/2006/relationships/notesSlide" Target="../notesSlides/notesSlide4.xml"/><Relationship Id="rId13" Type="http://schemas.openxmlformats.org/officeDocument/2006/relationships/vmlDrawing" Target="../drawings/vmlDrawing1.vml"/><Relationship Id="rId12" Type="http://schemas.openxmlformats.org/officeDocument/2006/relationships/slideLayout" Target="../slideLayouts/slideLayout1.xml"/><Relationship Id="rId11" Type="http://schemas.openxmlformats.org/officeDocument/2006/relationships/image" Target="../media/image19.wmf"/><Relationship Id="rId10" Type="http://schemas.openxmlformats.org/officeDocument/2006/relationships/package" Target="../embeddings/Document1.docx"/><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7.svg"/><Relationship Id="rId7" Type="http://schemas.openxmlformats.org/officeDocument/2006/relationships/image" Target="../media/image26.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12.png"/><Relationship Id="rId2" Type="http://schemas.openxmlformats.org/officeDocument/2006/relationships/image" Target="../media/image11.png"/><Relationship Id="rId10" Type="http://schemas.openxmlformats.org/officeDocument/2006/relationships/notesSlide" Target="../notesSlides/notesSlide7.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1.xml"/><Relationship Id="rId5" Type="http://schemas.openxmlformats.org/officeDocument/2006/relationships/image" Target="../media/image29.svg"/><Relationship Id="rId4" Type="http://schemas.openxmlformats.org/officeDocument/2006/relationships/image" Target="../media/image28.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9" Type="http://schemas.openxmlformats.org/officeDocument/2006/relationships/package" Target="../embeddings/Document2.docx"/><Relationship Id="rId8" Type="http://schemas.openxmlformats.org/officeDocument/2006/relationships/image" Target="../media/image34.png"/><Relationship Id="rId7" Type="http://schemas.openxmlformats.org/officeDocument/2006/relationships/image" Target="../media/image33.svg"/><Relationship Id="rId6" Type="http://schemas.openxmlformats.org/officeDocument/2006/relationships/image" Target="../media/image32.png"/><Relationship Id="rId5" Type="http://schemas.openxmlformats.org/officeDocument/2006/relationships/image" Target="../media/image31.svg"/><Relationship Id="rId4" Type="http://schemas.openxmlformats.org/officeDocument/2006/relationships/image" Target="../media/image30.png"/><Relationship Id="rId3" Type="http://schemas.openxmlformats.org/officeDocument/2006/relationships/image" Target="../media/image12.png"/><Relationship Id="rId2" Type="http://schemas.openxmlformats.org/officeDocument/2006/relationships/image" Target="../media/image11.png"/><Relationship Id="rId15" Type="http://schemas.openxmlformats.org/officeDocument/2006/relationships/notesSlide" Target="../notesSlides/notesSlide9.xml"/><Relationship Id="rId14" Type="http://schemas.openxmlformats.org/officeDocument/2006/relationships/vmlDrawing" Target="../drawings/vmlDrawing2.vml"/><Relationship Id="rId13" Type="http://schemas.openxmlformats.org/officeDocument/2006/relationships/slideLayout" Target="../slideLayouts/slideLayout1.xml"/><Relationship Id="rId12" Type="http://schemas.openxmlformats.org/officeDocument/2006/relationships/image" Target="../media/image36.wmf"/><Relationship Id="rId11" Type="http://schemas.openxmlformats.org/officeDocument/2006/relationships/package" Target="../embeddings/Document3.docx"/><Relationship Id="rId10" Type="http://schemas.openxmlformats.org/officeDocument/2006/relationships/image" Target="../media/image35.wmf"/><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9" Type="http://schemas.openxmlformats.org/officeDocument/2006/relationships/image" Target="../media/image42.png"/><Relationship Id="rId8" Type="http://schemas.openxmlformats.org/officeDocument/2006/relationships/image" Target="../media/image41.svg"/><Relationship Id="rId7" Type="http://schemas.openxmlformats.org/officeDocument/2006/relationships/image" Target="../media/image40.png"/><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3" Type="http://schemas.openxmlformats.org/officeDocument/2006/relationships/image" Target="../media/image12.png"/><Relationship Id="rId2" Type="http://schemas.openxmlformats.org/officeDocument/2006/relationships/image" Target="../media/image11.png"/><Relationship Id="rId13" Type="http://schemas.openxmlformats.org/officeDocument/2006/relationships/notesSlide" Target="../notesSlides/notesSlide10.xml"/><Relationship Id="rId12" Type="http://schemas.openxmlformats.org/officeDocument/2006/relationships/slideLayout" Target="../slideLayouts/slideLayout1.xml"/><Relationship Id="rId11" Type="http://schemas.openxmlformats.org/officeDocument/2006/relationships/image" Target="../media/image44.svg"/><Relationship Id="rId10" Type="http://schemas.openxmlformats.org/officeDocument/2006/relationships/image" Target="../media/image43.png"/><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9" Type="http://schemas.openxmlformats.org/officeDocument/2006/relationships/image" Target="../media/image49.png"/><Relationship Id="rId8" Type="http://schemas.openxmlformats.org/officeDocument/2006/relationships/image" Target="../media/image48.svg"/><Relationship Id="rId7" Type="http://schemas.openxmlformats.org/officeDocument/2006/relationships/image" Target="../media/image47.png"/><Relationship Id="rId6" Type="http://schemas.openxmlformats.org/officeDocument/2006/relationships/image" Target="../media/image25.svg"/><Relationship Id="rId5" Type="http://schemas.openxmlformats.org/officeDocument/2006/relationships/image" Target="../media/image46.png"/><Relationship Id="rId4" Type="http://schemas.openxmlformats.org/officeDocument/2006/relationships/image" Target="../media/image45.png"/><Relationship Id="rId3" Type="http://schemas.openxmlformats.org/officeDocument/2006/relationships/image" Target="../media/image12.png"/><Relationship Id="rId28" Type="http://schemas.openxmlformats.org/officeDocument/2006/relationships/notesSlide" Target="../notesSlides/notesSlide11.xml"/><Relationship Id="rId27" Type="http://schemas.openxmlformats.org/officeDocument/2006/relationships/slideLayout" Target="../slideLayouts/slideLayout1.xml"/><Relationship Id="rId26" Type="http://schemas.openxmlformats.org/officeDocument/2006/relationships/image" Target="../media/image66.png"/><Relationship Id="rId25" Type="http://schemas.openxmlformats.org/officeDocument/2006/relationships/image" Target="../media/image65.png"/><Relationship Id="rId24" Type="http://schemas.openxmlformats.org/officeDocument/2006/relationships/image" Target="../media/image64.svg"/><Relationship Id="rId23" Type="http://schemas.openxmlformats.org/officeDocument/2006/relationships/image" Target="../media/image63.png"/><Relationship Id="rId22" Type="http://schemas.openxmlformats.org/officeDocument/2006/relationships/image" Target="../media/image62.png"/><Relationship Id="rId21" Type="http://schemas.openxmlformats.org/officeDocument/2006/relationships/image" Target="../media/image61.png"/><Relationship Id="rId20" Type="http://schemas.openxmlformats.org/officeDocument/2006/relationships/image" Target="../media/image60.svg"/><Relationship Id="rId2" Type="http://schemas.openxmlformats.org/officeDocument/2006/relationships/image" Target="../media/image11.png"/><Relationship Id="rId19" Type="http://schemas.openxmlformats.org/officeDocument/2006/relationships/image" Target="../media/image59.png"/><Relationship Id="rId18" Type="http://schemas.openxmlformats.org/officeDocument/2006/relationships/image" Target="../media/image58.png"/><Relationship Id="rId17" Type="http://schemas.openxmlformats.org/officeDocument/2006/relationships/image" Target="../media/image57.svg"/><Relationship Id="rId16" Type="http://schemas.openxmlformats.org/officeDocument/2006/relationships/image" Target="../media/image56.png"/><Relationship Id="rId15" Type="http://schemas.openxmlformats.org/officeDocument/2006/relationships/image" Target="../media/image55.png"/><Relationship Id="rId14" Type="http://schemas.openxmlformats.org/officeDocument/2006/relationships/image" Target="../media/image54.png"/><Relationship Id="rId13" Type="http://schemas.openxmlformats.org/officeDocument/2006/relationships/image" Target="../media/image53.svg"/><Relationship Id="rId12" Type="http://schemas.openxmlformats.org/officeDocument/2006/relationships/image" Target="../media/image52.png"/><Relationship Id="rId11" Type="http://schemas.openxmlformats.org/officeDocument/2006/relationships/image" Target="../media/image51.png"/><Relationship Id="rId10" Type="http://schemas.openxmlformats.org/officeDocument/2006/relationships/image" Target="../media/image50.pn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71.png"/><Relationship Id="rId7" Type="http://schemas.openxmlformats.org/officeDocument/2006/relationships/image" Target="../media/image70.svg"/><Relationship Id="rId6" Type="http://schemas.openxmlformats.org/officeDocument/2006/relationships/image" Target="../media/image69.png"/><Relationship Id="rId5" Type="http://schemas.openxmlformats.org/officeDocument/2006/relationships/image" Target="../media/image68.svg"/><Relationship Id="rId4" Type="http://schemas.openxmlformats.org/officeDocument/2006/relationships/image" Target="../media/image67.png"/><Relationship Id="rId3" Type="http://schemas.openxmlformats.org/officeDocument/2006/relationships/image" Target="../media/image12.png"/><Relationship Id="rId2" Type="http://schemas.openxmlformats.org/officeDocument/2006/relationships/image" Target="../media/image11.png"/><Relationship Id="rId10" Type="http://schemas.openxmlformats.org/officeDocument/2006/relationships/notesSlide" Target="../notesSlides/notesSlide12.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9" Type="http://schemas.openxmlformats.org/officeDocument/2006/relationships/image" Target="../media/image77.svg"/><Relationship Id="rId8" Type="http://schemas.openxmlformats.org/officeDocument/2006/relationships/image" Target="../media/image76.png"/><Relationship Id="rId7" Type="http://schemas.openxmlformats.org/officeDocument/2006/relationships/image" Target="../media/image75.png"/><Relationship Id="rId6" Type="http://schemas.openxmlformats.org/officeDocument/2006/relationships/image" Target="../media/image74.svg"/><Relationship Id="rId5" Type="http://schemas.openxmlformats.org/officeDocument/2006/relationships/image" Target="../media/image73.png"/><Relationship Id="rId4" Type="http://schemas.openxmlformats.org/officeDocument/2006/relationships/image" Target="../media/image72.png"/><Relationship Id="rId3" Type="http://schemas.openxmlformats.org/officeDocument/2006/relationships/image" Target="../media/image12.png"/><Relationship Id="rId2" Type="http://schemas.openxmlformats.org/officeDocument/2006/relationships/image" Target="../media/image11.png"/><Relationship Id="rId16" Type="http://schemas.openxmlformats.org/officeDocument/2006/relationships/notesSlide" Target="../notesSlides/notesSlide13.xml"/><Relationship Id="rId15" Type="http://schemas.openxmlformats.org/officeDocument/2006/relationships/slideLayout" Target="../slideLayouts/slideLayout1.xml"/><Relationship Id="rId14" Type="http://schemas.openxmlformats.org/officeDocument/2006/relationships/image" Target="../media/image82.png"/><Relationship Id="rId13" Type="http://schemas.openxmlformats.org/officeDocument/2006/relationships/image" Target="../media/image81.svg"/><Relationship Id="rId12" Type="http://schemas.openxmlformats.org/officeDocument/2006/relationships/image" Target="../media/image80.png"/><Relationship Id="rId11" Type="http://schemas.openxmlformats.org/officeDocument/2006/relationships/image" Target="../media/image79.png"/><Relationship Id="rId10" Type="http://schemas.openxmlformats.org/officeDocument/2006/relationships/image" Target="../media/image78.png"/><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1.xml"/><Relationship Id="rId5" Type="http://schemas.openxmlformats.org/officeDocument/2006/relationships/image" Target="../media/image27.svg"/><Relationship Id="rId4" Type="http://schemas.openxmlformats.org/officeDocument/2006/relationships/image" Target="../media/image8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9.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9" Type="http://schemas.openxmlformats.org/officeDocument/2006/relationships/image" Target="../media/image89.png"/><Relationship Id="rId8" Type="http://schemas.openxmlformats.org/officeDocument/2006/relationships/image" Target="../media/image88.png"/><Relationship Id="rId7" Type="http://schemas.openxmlformats.org/officeDocument/2006/relationships/image" Target="../media/image87.png"/><Relationship Id="rId6" Type="http://schemas.openxmlformats.org/officeDocument/2006/relationships/image" Target="../media/image86.png"/><Relationship Id="rId5" Type="http://schemas.openxmlformats.org/officeDocument/2006/relationships/image" Target="../media/image85.svg"/><Relationship Id="rId4" Type="http://schemas.openxmlformats.org/officeDocument/2006/relationships/image" Target="../media/image84.png"/><Relationship Id="rId3" Type="http://schemas.openxmlformats.org/officeDocument/2006/relationships/image" Target="../media/image12.png"/><Relationship Id="rId2" Type="http://schemas.openxmlformats.org/officeDocument/2006/relationships/image" Target="../media/image11.png"/><Relationship Id="rId13" Type="http://schemas.openxmlformats.org/officeDocument/2006/relationships/notesSlide" Target="../notesSlides/notesSlide15.xml"/><Relationship Id="rId12" Type="http://schemas.openxmlformats.org/officeDocument/2006/relationships/slideLayout" Target="../slideLayouts/slideLayout1.xml"/><Relationship Id="rId11" Type="http://schemas.openxmlformats.org/officeDocument/2006/relationships/image" Target="../media/image91.png"/><Relationship Id="rId10" Type="http://schemas.openxmlformats.org/officeDocument/2006/relationships/image" Target="../media/image90.png"/><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9" Type="http://schemas.openxmlformats.org/officeDocument/2006/relationships/image" Target="../media/image97.png"/><Relationship Id="rId8" Type="http://schemas.openxmlformats.org/officeDocument/2006/relationships/image" Target="../media/image96.svg"/><Relationship Id="rId7" Type="http://schemas.openxmlformats.org/officeDocument/2006/relationships/image" Target="../media/image95.png"/><Relationship Id="rId6" Type="http://schemas.openxmlformats.org/officeDocument/2006/relationships/image" Target="../media/image94.svg"/><Relationship Id="rId5" Type="http://schemas.openxmlformats.org/officeDocument/2006/relationships/image" Target="../media/image93.png"/><Relationship Id="rId4" Type="http://schemas.openxmlformats.org/officeDocument/2006/relationships/image" Target="../media/image92.png"/><Relationship Id="rId3" Type="http://schemas.openxmlformats.org/officeDocument/2006/relationships/image" Target="../media/image12.png"/><Relationship Id="rId2" Type="http://schemas.openxmlformats.org/officeDocument/2006/relationships/image" Target="../media/image11.png"/><Relationship Id="rId14" Type="http://schemas.openxmlformats.org/officeDocument/2006/relationships/notesSlide" Target="../notesSlides/notesSlide17.xml"/><Relationship Id="rId13" Type="http://schemas.openxmlformats.org/officeDocument/2006/relationships/slideLayout" Target="../slideLayouts/slideLayout1.xml"/><Relationship Id="rId12" Type="http://schemas.openxmlformats.org/officeDocument/2006/relationships/image" Target="../media/image100.svg"/><Relationship Id="rId11" Type="http://schemas.openxmlformats.org/officeDocument/2006/relationships/image" Target="../media/image99.png"/><Relationship Id="rId10" Type="http://schemas.openxmlformats.org/officeDocument/2006/relationships/image" Target="../media/image98.svg"/><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9" Type="http://schemas.openxmlformats.org/officeDocument/2006/relationships/image" Target="../media/image106.svg"/><Relationship Id="rId8" Type="http://schemas.openxmlformats.org/officeDocument/2006/relationships/image" Target="../media/image105.png"/><Relationship Id="rId7" Type="http://schemas.openxmlformats.org/officeDocument/2006/relationships/image" Target="../media/image104.svg"/><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 Id="rId3" Type="http://schemas.openxmlformats.org/officeDocument/2006/relationships/image" Target="../media/image12.png"/><Relationship Id="rId2" Type="http://schemas.openxmlformats.org/officeDocument/2006/relationships/image" Target="../media/image11.png"/><Relationship Id="rId17" Type="http://schemas.openxmlformats.org/officeDocument/2006/relationships/notesSlide" Target="../notesSlides/notesSlide18.xml"/><Relationship Id="rId16" Type="http://schemas.openxmlformats.org/officeDocument/2006/relationships/slideLayout" Target="../slideLayouts/slideLayout1.xml"/><Relationship Id="rId15" Type="http://schemas.openxmlformats.org/officeDocument/2006/relationships/image" Target="../media/image112.svg"/><Relationship Id="rId14" Type="http://schemas.openxmlformats.org/officeDocument/2006/relationships/image" Target="../media/image111.png"/><Relationship Id="rId13" Type="http://schemas.openxmlformats.org/officeDocument/2006/relationships/image" Target="../media/image110.svg"/><Relationship Id="rId12" Type="http://schemas.openxmlformats.org/officeDocument/2006/relationships/image" Target="../media/image109.png"/><Relationship Id="rId11" Type="http://schemas.openxmlformats.org/officeDocument/2006/relationships/image" Target="../media/image108.svg"/><Relationship Id="rId10" Type="http://schemas.openxmlformats.org/officeDocument/2006/relationships/image" Target="../media/image107.png"/><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image" Target="../media/image114.svg"/><Relationship Id="rId5" Type="http://schemas.openxmlformats.org/officeDocument/2006/relationships/image" Target="../media/image113.png"/><Relationship Id="rId4" Type="http://schemas.openxmlformats.org/officeDocument/2006/relationships/tags" Target="../tags/tag10.xml"/><Relationship Id="rId3" Type="http://schemas.openxmlformats.org/officeDocument/2006/relationships/image" Target="../media/image12.png"/><Relationship Id="rId2" Type="http://schemas.openxmlformats.org/officeDocument/2006/relationships/image" Target="../media/image11.png"/><Relationship Id="rId13" Type="http://schemas.openxmlformats.org/officeDocument/2006/relationships/notesSlide" Target="../notesSlides/notesSlide19.xml"/><Relationship Id="rId12" Type="http://schemas.openxmlformats.org/officeDocument/2006/relationships/slideLayout" Target="../slideLayouts/slideLayout1.xml"/><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5E9D"/>
        </a:solidFill>
        <a:effectLst/>
      </p:bgPr>
    </p:bg>
    <p:spTree>
      <p:nvGrpSpPr>
        <p:cNvPr id="1" name=""/>
        <p:cNvGrpSpPr/>
        <p:nvPr/>
      </p:nvGrpSpPr>
      <p:grpSpPr>
        <a:xfrm>
          <a:off x="0" y="0"/>
          <a:ext cx="0" cy="0"/>
          <a:chOff x="0" y="0"/>
          <a:chExt cx="0" cy="0"/>
        </a:xfrm>
      </p:grpSpPr>
      <p:pic>
        <p:nvPicPr>
          <p:cNvPr id="2" name="Image 0" descr="https://test.web.static.jianzeppt.com/ppt-temp-img3/4bbf78d39a1ae7d50fa38e3b11fcab97.png"/>
          <p:cNvPicPr>
            <a:picLocks noChangeAspect="1"/>
          </p:cNvPicPr>
          <p:nvPr/>
        </p:nvPicPr>
        <p:blipFill>
          <a:blip r:embed="rId1"/>
          <a:stretch>
            <a:fillRect/>
          </a:stretch>
        </p:blipFill>
        <p:spPr>
          <a:xfrm>
            <a:off x="0" y="0"/>
            <a:ext cx="12192000" cy="6858000"/>
          </a:xfrm>
          <a:prstGeom prst="rect">
            <a:avLst/>
          </a:prstGeom>
        </p:spPr>
      </p:pic>
      <p:pic>
        <p:nvPicPr>
          <p:cNvPr id="3" name="Image 1" descr="https://test.web.static.jianzeppt.com/ppt-temp-img3/53c8b2a610a31b616cbf03a52510cc95.png"/>
          <p:cNvPicPr>
            <a:picLocks noChangeAspect="1"/>
          </p:cNvPicPr>
          <p:nvPr/>
        </p:nvPicPr>
        <p:blipFill>
          <a:blip r:embed="rId2"/>
          <a:stretch>
            <a:fillRect/>
          </a:stretch>
        </p:blipFill>
        <p:spPr>
          <a:xfrm>
            <a:off x="4157596" y="-13894"/>
            <a:ext cx="8051010" cy="6858000"/>
          </a:xfrm>
          <a:prstGeom prst="rect">
            <a:avLst/>
          </a:prstGeom>
        </p:spPr>
      </p:pic>
      <p:pic>
        <p:nvPicPr>
          <p:cNvPr id="4" name="Image 2" descr="https://test.web.static.jianzeppt.com/ppt-temp-img3/eaa44f0a61b44187c8898f2fb3b10ead.png"/>
          <p:cNvPicPr>
            <a:picLocks noChangeAspect="1"/>
          </p:cNvPicPr>
          <p:nvPr/>
        </p:nvPicPr>
        <p:blipFill>
          <a:blip r:embed="rId3"/>
          <a:stretch>
            <a:fillRect/>
          </a:stretch>
        </p:blipFill>
        <p:spPr>
          <a:xfrm>
            <a:off x="0" y="-2"/>
            <a:ext cx="1799718" cy="1829017"/>
          </a:xfrm>
          <a:prstGeom prst="rect">
            <a:avLst/>
          </a:prstGeom>
        </p:spPr>
      </p:pic>
      <p:pic>
        <p:nvPicPr>
          <p:cNvPr id="5" name="Image 3" descr="https://test.web.static.jianzeppt.com/ppt-temp-img3/d51ae2a74993343c0d3360504948edf8.png"/>
          <p:cNvPicPr>
            <a:picLocks noChangeAspect="1"/>
          </p:cNvPicPr>
          <p:nvPr/>
        </p:nvPicPr>
        <p:blipFill>
          <a:blip r:embed="rId4"/>
          <a:stretch>
            <a:fillRect/>
          </a:stretch>
        </p:blipFill>
        <p:spPr>
          <a:xfrm>
            <a:off x="0" y="808901"/>
            <a:ext cx="961132" cy="1724746"/>
          </a:xfrm>
          <a:prstGeom prst="rect">
            <a:avLst/>
          </a:prstGeom>
        </p:spPr>
      </p:pic>
      <p:pic>
        <p:nvPicPr>
          <p:cNvPr id="6" name="Image 4" descr="https://test.web.static.jianzeppt.com/ppt-temp-img3/b3f94c3112269735e7d84215f42c9738.png"/>
          <p:cNvPicPr>
            <a:picLocks noChangeAspect="1"/>
          </p:cNvPicPr>
          <p:nvPr/>
        </p:nvPicPr>
        <p:blipFill>
          <a:blip r:embed="rId5"/>
          <a:stretch>
            <a:fillRect/>
          </a:stretch>
        </p:blipFill>
        <p:spPr>
          <a:xfrm>
            <a:off x="487069" y="4530971"/>
            <a:ext cx="3482974" cy="637829"/>
          </a:xfrm>
          <a:prstGeom prst="rect">
            <a:avLst/>
          </a:prstGeom>
        </p:spPr>
      </p:pic>
      <p:pic>
        <p:nvPicPr>
          <p:cNvPr id="7" name="Image 5" descr="https://test.web.static.jianzeppt.com/ppt-temp-img3/c7fcd71bde55d7089a0a7c912de83d8a.png"/>
          <p:cNvPicPr>
            <a:picLocks noChangeAspect="1"/>
          </p:cNvPicPr>
          <p:nvPr/>
        </p:nvPicPr>
        <p:blipFill>
          <a:blip r:embed="rId6"/>
          <a:stretch>
            <a:fillRect/>
          </a:stretch>
        </p:blipFill>
        <p:spPr>
          <a:xfrm>
            <a:off x="10101383" y="2273111"/>
            <a:ext cx="2105868" cy="4595809"/>
          </a:xfrm>
          <a:prstGeom prst="rect">
            <a:avLst/>
          </a:prstGeom>
        </p:spPr>
      </p:pic>
      <p:pic>
        <p:nvPicPr>
          <p:cNvPr id="8" name="Image 6" descr="https://test.web.static.jianzeppt.com/ppt-temp-img3/785b4c7764742237954fb25c8a197f91.png"/>
          <p:cNvPicPr>
            <a:picLocks noChangeAspect="1"/>
          </p:cNvPicPr>
          <p:nvPr/>
        </p:nvPicPr>
        <p:blipFill>
          <a:blip r:embed="rId7"/>
          <a:stretch>
            <a:fillRect/>
          </a:stretch>
        </p:blipFill>
        <p:spPr>
          <a:xfrm>
            <a:off x="3782024" y="3802120"/>
            <a:ext cx="2104426" cy="3069770"/>
          </a:xfrm>
          <a:prstGeom prst="rect">
            <a:avLst/>
          </a:prstGeom>
        </p:spPr>
      </p:pic>
      <p:pic>
        <p:nvPicPr>
          <p:cNvPr id="9" name="Image 7" descr="https://test.web.static.jianzeppt.com/ppt-temp-img3/d6b73fd749a971aade8e0c5073b66807.png"/>
          <p:cNvPicPr>
            <a:picLocks noChangeAspect="1"/>
          </p:cNvPicPr>
          <p:nvPr/>
        </p:nvPicPr>
        <p:blipFill>
          <a:blip r:embed="rId8"/>
          <a:stretch>
            <a:fillRect/>
          </a:stretch>
        </p:blipFill>
        <p:spPr>
          <a:xfrm>
            <a:off x="9613224" y="2284033"/>
            <a:ext cx="2578776" cy="4584889"/>
          </a:xfrm>
          <a:prstGeom prst="rect">
            <a:avLst/>
          </a:prstGeom>
        </p:spPr>
      </p:pic>
      <p:sp>
        <p:nvSpPr>
          <p:cNvPr id="10" name="Text 0"/>
          <p:cNvSpPr/>
          <p:nvPr/>
        </p:nvSpPr>
        <p:spPr>
          <a:xfrm>
            <a:off x="577080" y="4577763"/>
            <a:ext cx="3321262" cy="544228"/>
          </a:xfrm>
          <a:prstGeom prst="rect">
            <a:avLst/>
          </a:prstGeom>
          <a:noFill/>
        </p:spPr>
        <p:txBody>
          <a:bodyPr wrap="square" lIns="0" tIns="0" rIns="0" bIns="0" rtlCol="0" anchor="ctr"/>
          <a:lstStyle/>
          <a:p>
            <a:pPr marL="0" indent="0" algn="ctr">
              <a:lnSpc>
                <a:spcPct val="120000"/>
              </a:lnSpc>
              <a:buNone/>
            </a:pPr>
            <a:r>
              <a:rPr lang="en-US" sz="2040" dirty="0">
                <a:solidFill>
                  <a:srgbClr val="000000"/>
                </a:solidFill>
              </a:rPr>
              <a:t>授课教师：</a:t>
            </a:r>
            <a:r>
              <a:rPr lang="zh-CN" altLang="en-US" sz="2040" dirty="0">
                <a:solidFill>
                  <a:srgbClr val="000000"/>
                </a:solidFill>
              </a:rPr>
              <a:t>张玉</a:t>
            </a:r>
            <a:endParaRPr lang="zh-CN" altLang="en-US" sz="2040" dirty="0">
              <a:solidFill>
                <a:srgbClr val="000000"/>
              </a:solidFill>
            </a:endParaRPr>
          </a:p>
        </p:txBody>
      </p:sp>
      <p:sp>
        <p:nvSpPr>
          <p:cNvPr id="11" name="Text 1"/>
          <p:cNvSpPr/>
          <p:nvPr/>
        </p:nvSpPr>
        <p:spPr>
          <a:xfrm>
            <a:off x="577068" y="1683313"/>
            <a:ext cx="5490553" cy="1828800"/>
          </a:xfrm>
          <a:prstGeom prst="rect">
            <a:avLst/>
          </a:prstGeom>
          <a:noFill/>
        </p:spPr>
        <p:txBody>
          <a:bodyPr wrap="square" lIns="0" tIns="0" rIns="0" bIns="0" rtlCol="0" anchor="b">
            <a:spAutoFit/>
          </a:bodyPr>
          <a:lstStyle/>
          <a:p>
            <a:pPr marL="0" indent="0" algn="l">
              <a:lnSpc>
                <a:spcPct val="120000"/>
              </a:lnSpc>
              <a:buNone/>
            </a:pPr>
            <a:r>
              <a:rPr lang="en-US" sz="6000" dirty="0">
                <a:solidFill>
                  <a:srgbClr val="FFFFFF"/>
                </a:solidFill>
              </a:rPr>
              <a:t>信息安全测评与风险评估</a:t>
            </a:r>
            <a:endParaRPr lang="en-US" sz="6000" dirty="0"/>
          </a:p>
        </p:txBody>
      </p:sp>
      <p:sp>
        <p:nvSpPr>
          <p:cNvPr id="12" name="Text 2"/>
          <p:cNvSpPr/>
          <p:nvPr/>
        </p:nvSpPr>
        <p:spPr>
          <a:xfrm>
            <a:off x="577068" y="3867726"/>
            <a:ext cx="4339657" cy="388620"/>
          </a:xfrm>
          <a:prstGeom prst="rect">
            <a:avLst/>
          </a:prstGeom>
          <a:noFill/>
        </p:spPr>
        <p:txBody>
          <a:bodyPr wrap="square" lIns="0" tIns="0" rIns="0" bIns="0" rtlCol="0" anchor="t">
            <a:spAutoFit/>
          </a:bodyPr>
          <a:lstStyle/>
          <a:p>
            <a:pPr marL="0" indent="0" algn="l">
              <a:lnSpc>
                <a:spcPct val="120000"/>
              </a:lnSpc>
              <a:buNone/>
            </a:pPr>
            <a:r>
              <a:rPr lang="en-US" sz="2520" dirty="0">
                <a:solidFill>
                  <a:srgbClr val="FFFFFF"/>
                </a:solidFill>
                <a:latin typeface="思源黑体 CN" pitchFamily="34" charset="0"/>
                <a:ea typeface="思源黑体 CN" pitchFamily="34" charset="-122"/>
                <a:cs typeface="思源黑体 CN" pitchFamily="34" charset="-120"/>
              </a:rPr>
              <a:t>4.1 主机安全基线核查</a:t>
            </a:r>
            <a:endParaRPr lang="en-US" sz="25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web.static.jianzeppt.com/ppt-temp-img3/4bbf78d39a1ae7d50fa38e3b11fcab97.png"/>
          <p:cNvPicPr>
            <a:picLocks noChangeAspect="1"/>
          </p:cNvPicPr>
          <p:nvPr/>
        </p:nvPicPr>
        <p:blipFill>
          <a:blip r:embed="rId1"/>
          <a:stretch>
            <a:fillRect/>
          </a:stretch>
        </p:blipFill>
        <p:spPr>
          <a:xfrm>
            <a:off x="0" y="0"/>
            <a:ext cx="12192000" cy="6858000"/>
          </a:xfrm>
          <a:prstGeom prst="rect">
            <a:avLst/>
          </a:prstGeom>
        </p:spPr>
      </p:pic>
      <p:pic>
        <p:nvPicPr>
          <p:cNvPr id="3" name="Image 1" descr="https://test.web.static.jianzeppt.com/ppt-temp-img3/40bc18a4f70cd7b96e4920a20f3d946b.png"/>
          <p:cNvPicPr>
            <a:picLocks noChangeAspect="1"/>
          </p:cNvPicPr>
          <p:nvPr/>
        </p:nvPicPr>
        <p:blipFill>
          <a:blip r:embed="rId2"/>
          <a:stretch>
            <a:fillRect/>
          </a:stretch>
        </p:blipFill>
        <p:spPr>
          <a:xfrm>
            <a:off x="194345" y="245378"/>
            <a:ext cx="11803310" cy="6367244"/>
          </a:xfrm>
          <a:prstGeom prst="rect">
            <a:avLst/>
          </a:prstGeom>
        </p:spPr>
      </p:pic>
      <p:sp>
        <p:nvSpPr>
          <p:cNvPr id="4" name="Text 0"/>
          <p:cNvSpPr/>
          <p:nvPr>
            <p:custDataLst>
              <p:tags r:id="rId3"/>
            </p:custDataLst>
          </p:nvPr>
        </p:nvSpPr>
        <p:spPr>
          <a:xfrm>
            <a:off x="5769119" y="1653024"/>
            <a:ext cx="1267993" cy="512064"/>
          </a:xfrm>
          <a:prstGeom prst="rect">
            <a:avLst/>
          </a:prstGeom>
          <a:noFill/>
        </p:spPr>
        <p:txBody>
          <a:bodyPr wrap="square" lIns="0" tIns="0" rIns="0" bIns="0" rtlCol="0" anchor="b">
            <a:spAutoFit/>
          </a:bodyPr>
          <a:lstStyle/>
          <a:p>
            <a:pPr marL="0" indent="0" algn="ctr">
              <a:lnSpc>
                <a:spcPct val="120000"/>
              </a:lnSpc>
              <a:buNone/>
            </a:pPr>
            <a:r>
              <a:rPr lang="en-US" sz="3360" dirty="0">
                <a:solidFill>
                  <a:srgbClr val="000000"/>
                </a:solidFill>
              </a:rPr>
              <a:t>01</a:t>
            </a:r>
            <a:endParaRPr lang="en-US" sz="3360" dirty="0"/>
          </a:p>
        </p:txBody>
      </p:sp>
      <p:sp>
        <p:nvSpPr>
          <p:cNvPr id="5" name="Text 1"/>
          <p:cNvSpPr/>
          <p:nvPr>
            <p:custDataLst>
              <p:tags r:id="rId4"/>
            </p:custDataLst>
          </p:nvPr>
        </p:nvSpPr>
        <p:spPr>
          <a:xfrm>
            <a:off x="5769119" y="2669616"/>
            <a:ext cx="1267993" cy="512064"/>
          </a:xfrm>
          <a:prstGeom prst="rect">
            <a:avLst/>
          </a:prstGeom>
          <a:noFill/>
        </p:spPr>
        <p:txBody>
          <a:bodyPr wrap="square" lIns="0" tIns="0" rIns="0" bIns="0" rtlCol="0" anchor="b">
            <a:spAutoFit/>
          </a:bodyPr>
          <a:lstStyle/>
          <a:p>
            <a:pPr marL="0" indent="0" algn="ctr">
              <a:lnSpc>
                <a:spcPct val="120000"/>
              </a:lnSpc>
              <a:buNone/>
            </a:pPr>
            <a:r>
              <a:rPr lang="en-US" sz="3360" dirty="0">
                <a:solidFill>
                  <a:srgbClr val="000000"/>
                </a:solidFill>
              </a:rPr>
              <a:t>02</a:t>
            </a:r>
            <a:endParaRPr lang="en-US" sz="3360" dirty="0"/>
          </a:p>
        </p:txBody>
      </p:sp>
      <p:sp>
        <p:nvSpPr>
          <p:cNvPr id="6" name="Text 2"/>
          <p:cNvSpPr/>
          <p:nvPr>
            <p:custDataLst>
              <p:tags r:id="rId5"/>
            </p:custDataLst>
          </p:nvPr>
        </p:nvSpPr>
        <p:spPr>
          <a:xfrm>
            <a:off x="5769119" y="3686208"/>
            <a:ext cx="1267993" cy="512064"/>
          </a:xfrm>
          <a:prstGeom prst="rect">
            <a:avLst/>
          </a:prstGeom>
          <a:noFill/>
        </p:spPr>
        <p:txBody>
          <a:bodyPr wrap="square" lIns="0" tIns="0" rIns="0" bIns="0" rtlCol="0" anchor="b">
            <a:spAutoFit/>
          </a:bodyPr>
          <a:lstStyle/>
          <a:p>
            <a:pPr marL="0" indent="0" algn="ctr">
              <a:lnSpc>
                <a:spcPct val="120000"/>
              </a:lnSpc>
              <a:buNone/>
            </a:pPr>
            <a:r>
              <a:rPr lang="en-US" sz="3360" dirty="0">
                <a:solidFill>
                  <a:srgbClr val="000000"/>
                </a:solidFill>
              </a:rPr>
              <a:t>03</a:t>
            </a:r>
            <a:endParaRPr lang="en-US" sz="3360" dirty="0"/>
          </a:p>
        </p:txBody>
      </p:sp>
      <p:sp>
        <p:nvSpPr>
          <p:cNvPr id="7" name="Text 3"/>
          <p:cNvSpPr/>
          <p:nvPr>
            <p:custDataLst>
              <p:tags r:id="rId6"/>
            </p:custDataLst>
          </p:nvPr>
        </p:nvSpPr>
        <p:spPr>
          <a:xfrm>
            <a:off x="5769119" y="4702801"/>
            <a:ext cx="1267993" cy="512064"/>
          </a:xfrm>
          <a:prstGeom prst="rect">
            <a:avLst/>
          </a:prstGeom>
          <a:noFill/>
        </p:spPr>
        <p:txBody>
          <a:bodyPr wrap="square" lIns="0" tIns="0" rIns="0" bIns="0" rtlCol="0" anchor="b">
            <a:spAutoFit/>
          </a:bodyPr>
          <a:lstStyle/>
          <a:p>
            <a:pPr marL="0" indent="0" algn="ctr">
              <a:lnSpc>
                <a:spcPct val="120000"/>
              </a:lnSpc>
              <a:buNone/>
            </a:pPr>
            <a:r>
              <a:rPr lang="en-US" sz="3360" dirty="0">
                <a:solidFill>
                  <a:srgbClr val="000000"/>
                </a:solidFill>
              </a:rPr>
              <a:t>04</a:t>
            </a:r>
            <a:endParaRPr lang="en-US" sz="3360" dirty="0"/>
          </a:p>
        </p:txBody>
      </p:sp>
      <p:sp>
        <p:nvSpPr>
          <p:cNvPr id="8" name="Text 4"/>
          <p:cNvSpPr/>
          <p:nvPr/>
        </p:nvSpPr>
        <p:spPr>
          <a:xfrm>
            <a:off x="965498" y="2799393"/>
            <a:ext cx="1769654" cy="731520"/>
          </a:xfrm>
          <a:prstGeom prst="rect">
            <a:avLst/>
          </a:prstGeom>
          <a:noFill/>
        </p:spPr>
        <p:txBody>
          <a:bodyPr wrap="square" lIns="0" tIns="0" rIns="0" bIns="0" rtlCol="0" anchor="b">
            <a:spAutoFit/>
          </a:bodyPr>
          <a:lstStyle/>
          <a:p>
            <a:pPr marL="0" indent="0" algn="l">
              <a:lnSpc>
                <a:spcPct val="120000"/>
              </a:lnSpc>
              <a:buNone/>
            </a:pPr>
            <a:r>
              <a:rPr lang="en-US" sz="4800" dirty="0">
                <a:solidFill>
                  <a:srgbClr val="000000"/>
                </a:solidFill>
              </a:rPr>
              <a:t>目录</a:t>
            </a:r>
            <a:endParaRPr lang="en-US" sz="4800" dirty="0"/>
          </a:p>
        </p:txBody>
      </p:sp>
      <p:sp>
        <p:nvSpPr>
          <p:cNvPr id="9" name="Text 5"/>
          <p:cNvSpPr/>
          <p:nvPr/>
        </p:nvSpPr>
        <p:spPr>
          <a:xfrm>
            <a:off x="953110" y="3733353"/>
            <a:ext cx="3150109" cy="310896"/>
          </a:xfrm>
          <a:prstGeom prst="rect">
            <a:avLst/>
          </a:prstGeom>
          <a:noFill/>
        </p:spPr>
        <p:txBody>
          <a:bodyPr wrap="square" lIns="0" tIns="0" rIns="0" bIns="0" rtlCol="0" anchor="ctr">
            <a:spAutoFit/>
          </a:bodyPr>
          <a:lstStyle/>
          <a:p>
            <a:pPr marL="0" indent="0" algn="l">
              <a:lnSpc>
                <a:spcPct val="120000"/>
              </a:lnSpc>
              <a:buNone/>
            </a:pPr>
            <a:r>
              <a:rPr lang="en-US" sz="2040" dirty="0">
                <a:solidFill>
                  <a:srgbClr val="000000"/>
                </a:solidFill>
              </a:rPr>
              <a:t>CONTENTS</a:t>
            </a:r>
            <a:endParaRPr lang="en-US" sz="2040" dirty="0"/>
          </a:p>
        </p:txBody>
      </p:sp>
      <p:sp>
        <p:nvSpPr>
          <p:cNvPr id="10" name="Text 6"/>
          <p:cNvSpPr/>
          <p:nvPr>
            <p:custDataLst>
              <p:tags r:id="rId7"/>
            </p:custDataLst>
          </p:nvPr>
        </p:nvSpPr>
        <p:spPr>
          <a:xfrm>
            <a:off x="7037378" y="4702580"/>
            <a:ext cx="4878288" cy="368935"/>
          </a:xfrm>
          <a:prstGeom prst="rect">
            <a:avLst/>
          </a:prstGeom>
          <a:noFill/>
        </p:spPr>
        <p:txBody>
          <a:bodyPr wrap="square" lIns="0" tIns="0" rIns="0" bIns="0" rtlCol="0" anchor="b">
            <a:spAutoFit/>
          </a:bodyPr>
          <a:lstStyle/>
          <a:p>
            <a:pPr marL="0" indent="0" algn="l">
              <a:lnSpc>
                <a:spcPct val="120000"/>
              </a:lnSpc>
              <a:buNone/>
            </a:pPr>
            <a:r>
              <a:rPr lang="en-US" sz="2000" dirty="0">
                <a:solidFill>
                  <a:srgbClr val="000000"/>
                </a:solidFill>
              </a:rPr>
              <a:t>课内小结与下节预告</a:t>
            </a:r>
            <a:endParaRPr lang="en-US" sz="2000" dirty="0">
              <a:solidFill>
                <a:srgbClr val="000000"/>
              </a:solidFill>
            </a:endParaRPr>
          </a:p>
        </p:txBody>
      </p:sp>
      <p:sp>
        <p:nvSpPr>
          <p:cNvPr id="11" name="Text 7"/>
          <p:cNvSpPr/>
          <p:nvPr>
            <p:custDataLst>
              <p:tags r:id="rId8"/>
            </p:custDataLst>
          </p:nvPr>
        </p:nvSpPr>
        <p:spPr>
          <a:xfrm>
            <a:off x="7064048" y="1765833"/>
            <a:ext cx="4878288" cy="368935"/>
          </a:xfrm>
          <a:prstGeom prst="rect">
            <a:avLst/>
          </a:prstGeom>
          <a:noFill/>
        </p:spPr>
        <p:txBody>
          <a:bodyPr wrap="square" lIns="0" tIns="0" rIns="0" bIns="0" rtlCol="0" anchor="b">
            <a:spAutoFit/>
          </a:bodyPr>
          <a:lstStyle/>
          <a:p>
            <a:pPr marL="0" indent="0" algn="l">
              <a:lnSpc>
                <a:spcPct val="120000"/>
              </a:lnSpc>
              <a:buNone/>
            </a:pPr>
            <a:r>
              <a:rPr lang="en-US" sz="2000" dirty="0">
                <a:solidFill>
                  <a:srgbClr val="000000"/>
                </a:solidFill>
              </a:rPr>
              <a:t>案例导入：一台服务器是怎么沦陷的</a:t>
            </a:r>
            <a:endParaRPr lang="en-US" sz="2000" dirty="0">
              <a:solidFill>
                <a:srgbClr val="000000"/>
              </a:solidFill>
            </a:endParaRPr>
          </a:p>
        </p:txBody>
      </p:sp>
      <p:sp>
        <p:nvSpPr>
          <p:cNvPr id="12" name="Text 8"/>
          <p:cNvSpPr/>
          <p:nvPr>
            <p:custDataLst>
              <p:tags r:id="rId9"/>
            </p:custDataLst>
          </p:nvPr>
        </p:nvSpPr>
        <p:spPr>
          <a:xfrm>
            <a:off x="7037378" y="3685987"/>
            <a:ext cx="4878288" cy="368935"/>
          </a:xfrm>
          <a:prstGeom prst="rect">
            <a:avLst/>
          </a:prstGeom>
          <a:noFill/>
        </p:spPr>
        <p:txBody>
          <a:bodyPr wrap="square" lIns="0" tIns="0" rIns="0" bIns="0" rtlCol="0" anchor="b">
            <a:spAutoFit/>
          </a:bodyPr>
          <a:lstStyle/>
          <a:p>
            <a:pPr marL="0" indent="0" algn="l">
              <a:lnSpc>
                <a:spcPct val="120000"/>
              </a:lnSpc>
              <a:buNone/>
            </a:pPr>
            <a:r>
              <a:rPr lang="en-US" sz="2000" dirty="0">
                <a:solidFill>
                  <a:srgbClr val="000000"/>
                </a:solidFill>
              </a:rPr>
              <a:t>动手实验：取证 + 判定</a:t>
            </a:r>
            <a:endParaRPr lang="en-US" sz="2000" dirty="0">
              <a:solidFill>
                <a:srgbClr val="000000"/>
              </a:solidFill>
            </a:endParaRPr>
          </a:p>
        </p:txBody>
      </p:sp>
      <p:sp>
        <p:nvSpPr>
          <p:cNvPr id="13" name="Text 9"/>
          <p:cNvSpPr/>
          <p:nvPr>
            <p:custDataLst>
              <p:tags r:id="rId10"/>
            </p:custDataLst>
          </p:nvPr>
        </p:nvSpPr>
        <p:spPr>
          <a:xfrm>
            <a:off x="7064048" y="2782425"/>
            <a:ext cx="4878288" cy="368935"/>
          </a:xfrm>
          <a:prstGeom prst="rect">
            <a:avLst/>
          </a:prstGeom>
          <a:noFill/>
        </p:spPr>
        <p:txBody>
          <a:bodyPr wrap="square" lIns="0" tIns="0" rIns="0" bIns="0" rtlCol="0" anchor="b">
            <a:spAutoFit/>
          </a:bodyPr>
          <a:lstStyle/>
          <a:p>
            <a:pPr marL="0" indent="0" algn="l">
              <a:lnSpc>
                <a:spcPct val="120000"/>
              </a:lnSpc>
              <a:buNone/>
            </a:pPr>
            <a:r>
              <a:rPr lang="en-US" sz="2000" dirty="0">
                <a:solidFill>
                  <a:srgbClr val="000000"/>
                </a:solidFill>
              </a:rPr>
              <a:t>关键知识：主机基线的 7 个维度怎么查</a:t>
            </a:r>
            <a:endParaRPr lang="en-US" sz="2000" dirty="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web.static.jianzeppt.com/ppt-temp-img3/4bbf78d39a1ae7d50fa38e3b11fcab97.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4673282" y="897806"/>
            <a:ext cx="2863855" cy="493776"/>
          </a:xfrm>
          <a:prstGeom prst="rect">
            <a:avLst/>
          </a:prstGeom>
          <a:noFill/>
        </p:spPr>
        <p:txBody>
          <a:bodyPr wrap="square" lIns="0" tIns="0" rIns="0" bIns="0" rtlCol="0" anchor="b">
            <a:spAutoFit/>
          </a:bodyPr>
          <a:lstStyle/>
          <a:p>
            <a:pPr marL="0" indent="0" algn="ctr">
              <a:lnSpc>
                <a:spcPct val="120000"/>
              </a:lnSpc>
              <a:buNone/>
            </a:pPr>
            <a:r>
              <a:rPr lang="en-US" sz="3240" dirty="0">
                <a:solidFill>
                  <a:srgbClr val="FFFFFF"/>
                </a:solidFill>
              </a:rPr>
              <a:t>Part.01</a:t>
            </a:r>
            <a:endParaRPr lang="en-US" sz="3240" dirty="0"/>
          </a:p>
        </p:txBody>
      </p:sp>
      <p:sp>
        <p:nvSpPr>
          <p:cNvPr id="4" name="Text 1"/>
          <p:cNvSpPr/>
          <p:nvPr/>
        </p:nvSpPr>
        <p:spPr>
          <a:xfrm>
            <a:off x="771842" y="1617339"/>
            <a:ext cx="10666735" cy="804672"/>
          </a:xfrm>
          <a:prstGeom prst="rect">
            <a:avLst/>
          </a:prstGeom>
          <a:noFill/>
        </p:spPr>
        <p:txBody>
          <a:bodyPr wrap="none" lIns="0" tIns="0" rIns="0" bIns="0" rtlCol="0" anchor="b">
            <a:spAutoFit/>
          </a:bodyPr>
          <a:lstStyle/>
          <a:p>
            <a:pPr marL="0" indent="0" algn="ctr">
              <a:lnSpc>
                <a:spcPct val="100000"/>
              </a:lnSpc>
              <a:buNone/>
            </a:pPr>
            <a:r>
              <a:rPr lang="en-US" sz="5280" dirty="0">
                <a:solidFill>
                  <a:srgbClr val="FFFFFF"/>
                </a:solidFill>
              </a:rPr>
              <a:t>案例导入——一台服务器是怎么沦陷的</a:t>
            </a:r>
            <a:endParaRPr lang="en-US" sz="52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案例导入——一台服务器的“沦陷”</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3840480"/>
            <a:ext cx="91440" cy="243840"/>
          </a:xfrm>
          <a:prstGeom prst="rect">
            <a:avLst/>
          </a:prstGeom>
        </p:spPr>
      </p:pic>
      <p:sp>
        <p:nvSpPr>
          <p:cNvPr id="7" name="Text 1"/>
          <p:cNvSpPr/>
          <p:nvPr/>
        </p:nvSpPr>
        <p:spPr>
          <a:xfrm>
            <a:off x="822960" y="3749040"/>
            <a:ext cx="1106424" cy="411480"/>
          </a:xfrm>
          <a:prstGeom prst="rect">
            <a:avLst/>
          </a:prstGeom>
          <a:noFill/>
        </p:spPr>
        <p:txBody>
          <a:bodyPr wrap="none" lIns="0" tIns="0" rIns="0" bIns="0" rtlCol="0" anchor="t">
            <a:spAutoFit/>
          </a:bodyPr>
          <a:lstStyle/>
          <a:p>
            <a:pPr marL="0" indent="0" algn="l">
              <a:lnSpc>
                <a:spcPct val="100000"/>
              </a:lnSpc>
              <a:buNone/>
            </a:pPr>
            <a:r>
              <a:rPr lang="en-US" sz="2160" b="1" dirty="0">
                <a:solidFill>
                  <a:srgbClr val="143966"/>
                </a:solidFill>
                <a:latin typeface="思源黑体 CN Bold" pitchFamily="34" charset="0"/>
                <a:ea typeface="思源黑体 CN Bold" pitchFamily="34" charset="-122"/>
                <a:cs typeface="思源黑体 CN Bold" pitchFamily="34" charset="-120"/>
              </a:rPr>
              <a:t>案例素材</a:t>
            </a:r>
            <a:endParaRPr lang="en-US" sz="2160" dirty="0"/>
          </a:p>
        </p:txBody>
      </p:sp>
      <p:sp>
        <p:nvSpPr>
          <p:cNvPr id="8" name="Text 2"/>
          <p:cNvSpPr/>
          <p:nvPr/>
        </p:nvSpPr>
        <p:spPr>
          <a:xfrm>
            <a:off x="609600" y="4282440"/>
            <a:ext cx="3468624" cy="1093470"/>
          </a:xfrm>
          <a:prstGeom prst="rect">
            <a:avLst/>
          </a:prstGeom>
          <a:noFill/>
        </p:spPr>
        <p:txBody>
          <a:bodyPr wrap="square" lIns="0" tIns="0" rIns="0" bIns="0" rtlCol="0" anchor="t">
            <a:spAutoFit/>
          </a:bodyPr>
          <a:lstStyle/>
          <a:p>
            <a:pPr marL="0" indent="0" algn="l">
              <a:lnSpc>
                <a:spcPct val="138000"/>
              </a:lnSpc>
              <a:buNone/>
            </a:pPr>
            <a:r>
              <a:rPr lang="en-US" sz="1560" dirty="0">
                <a:solidFill>
                  <a:srgbClr val="374051"/>
                </a:solidFill>
                <a:latin typeface="思源黑体 CN" pitchFamily="34" charset="0"/>
                <a:ea typeface="思源黑体 CN" pitchFamily="34" charset="-122"/>
                <a:cs typeface="思源黑体 CN" pitchFamily="34" charset="-120"/>
              </a:rPr>
              <a:t>2024年，某制造企业的一台核心生产数据库服务器被勒索病毒加密，导致全厂停产72小时，直接经济损失超500万元。</a:t>
            </a:r>
            <a:endParaRPr lang="en-US" sz="1560" dirty="0"/>
          </a:p>
        </p:txBody>
      </p:sp>
      <p:pic>
        <p:nvPicPr>
          <p:cNvPr id="9" name="Image 4"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73880" y="3840480"/>
            <a:ext cx="91440" cy="243840"/>
          </a:xfrm>
          <a:prstGeom prst="rect">
            <a:avLst/>
          </a:prstGeom>
        </p:spPr>
      </p:pic>
      <p:sp>
        <p:nvSpPr>
          <p:cNvPr id="10" name="Text 3"/>
          <p:cNvSpPr/>
          <p:nvPr/>
        </p:nvSpPr>
        <p:spPr>
          <a:xfrm>
            <a:off x="4587240" y="3749040"/>
            <a:ext cx="1655064" cy="411480"/>
          </a:xfrm>
          <a:prstGeom prst="rect">
            <a:avLst/>
          </a:prstGeom>
          <a:noFill/>
        </p:spPr>
        <p:txBody>
          <a:bodyPr wrap="none" lIns="0" tIns="0" rIns="0" bIns="0" rtlCol="0" anchor="t">
            <a:spAutoFit/>
          </a:bodyPr>
          <a:lstStyle/>
          <a:p>
            <a:pPr marL="0" indent="0" algn="l">
              <a:lnSpc>
                <a:spcPct val="100000"/>
              </a:lnSpc>
              <a:buNone/>
            </a:pPr>
            <a:r>
              <a:rPr lang="en-US" sz="2160" b="1" dirty="0">
                <a:solidFill>
                  <a:srgbClr val="143966"/>
                </a:solidFill>
                <a:latin typeface="思源黑体 CN Bold" pitchFamily="34" charset="0"/>
                <a:ea typeface="思源黑体 CN Bold" pitchFamily="34" charset="-122"/>
                <a:cs typeface="思源黑体 CN Bold" pitchFamily="34" charset="-120"/>
              </a:rPr>
              <a:t>事后调查发现</a:t>
            </a:r>
            <a:endParaRPr lang="en-US" sz="2160" dirty="0"/>
          </a:p>
        </p:txBody>
      </p:sp>
      <p:pic>
        <p:nvPicPr>
          <p:cNvPr id="11" name="Image 5"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22920" y="3840480"/>
            <a:ext cx="91440" cy="243840"/>
          </a:xfrm>
          <a:prstGeom prst="rect">
            <a:avLst/>
          </a:prstGeom>
        </p:spPr>
      </p:pic>
      <p:sp>
        <p:nvSpPr>
          <p:cNvPr id="12" name="Text 4"/>
          <p:cNvSpPr/>
          <p:nvPr/>
        </p:nvSpPr>
        <p:spPr>
          <a:xfrm>
            <a:off x="8336280" y="3749040"/>
            <a:ext cx="1106424" cy="411480"/>
          </a:xfrm>
          <a:prstGeom prst="rect">
            <a:avLst/>
          </a:prstGeom>
          <a:noFill/>
        </p:spPr>
        <p:txBody>
          <a:bodyPr wrap="none" lIns="0" tIns="0" rIns="0" bIns="0" rtlCol="0" anchor="t">
            <a:spAutoFit/>
          </a:bodyPr>
          <a:lstStyle/>
          <a:p>
            <a:pPr marL="0" indent="0" algn="l">
              <a:lnSpc>
                <a:spcPct val="100000"/>
              </a:lnSpc>
              <a:buNone/>
            </a:pPr>
            <a:r>
              <a:rPr lang="en-US" sz="2160" b="1" dirty="0">
                <a:solidFill>
                  <a:srgbClr val="143966"/>
                </a:solidFill>
                <a:latin typeface="思源黑体 CN Bold" pitchFamily="34" charset="0"/>
                <a:ea typeface="思源黑体 CN Bold" pitchFamily="34" charset="-122"/>
                <a:cs typeface="思源黑体 CN Bold" pitchFamily="34" charset="-120"/>
              </a:rPr>
              <a:t>先想一想</a:t>
            </a:r>
            <a:endParaRPr lang="en-US" sz="2160" dirty="0"/>
          </a:p>
        </p:txBody>
      </p:sp>
      <p:sp>
        <p:nvSpPr>
          <p:cNvPr id="13" name="Text 5"/>
          <p:cNvSpPr/>
          <p:nvPr/>
        </p:nvSpPr>
        <p:spPr>
          <a:xfrm>
            <a:off x="8122920" y="4282440"/>
            <a:ext cx="3468624" cy="538480"/>
          </a:xfrm>
          <a:prstGeom prst="rect">
            <a:avLst/>
          </a:prstGeom>
          <a:noFill/>
        </p:spPr>
        <p:txBody>
          <a:bodyPr wrap="square" lIns="0" tIns="0" rIns="0" bIns="0" rtlCol="0" anchor="t">
            <a:spAutoFit/>
          </a:bodyPr>
          <a:lstStyle/>
          <a:p>
            <a:pPr marL="0" indent="0" algn="l">
              <a:lnSpc>
                <a:spcPct val="125000"/>
              </a:lnSpc>
              <a:buNone/>
            </a:pPr>
            <a:r>
              <a:rPr lang="en-US" sz="1400" dirty="0">
                <a:solidFill>
                  <a:srgbClr val="374051"/>
                </a:solidFill>
                <a:latin typeface="思源黑体 CN" pitchFamily="34" charset="0"/>
                <a:ea typeface="思源黑体 CN" pitchFamily="34" charset="-122"/>
                <a:cs typeface="思源黑体 CN" pitchFamily="34" charset="-120"/>
              </a:rPr>
              <a:t>1. 这 6 个问题，分别落在等保的哪个测评维度？</a:t>
            </a:r>
            <a:endParaRPr lang="en-US" sz="1400" dirty="0">
              <a:solidFill>
                <a:srgbClr val="374051"/>
              </a:solidFill>
              <a:latin typeface="思源黑体 CN" pitchFamily="34" charset="0"/>
              <a:ea typeface="思源黑体 CN" pitchFamily="34" charset="-122"/>
              <a:cs typeface="思源黑体 CN" pitchFamily="34" charset="-120"/>
            </a:endParaRPr>
          </a:p>
        </p:txBody>
      </p:sp>
      <p:sp>
        <p:nvSpPr>
          <p:cNvPr id="14" name="Text 6"/>
          <p:cNvSpPr/>
          <p:nvPr/>
        </p:nvSpPr>
        <p:spPr>
          <a:xfrm>
            <a:off x="8122920" y="4813300"/>
            <a:ext cx="3468624" cy="538480"/>
          </a:xfrm>
          <a:prstGeom prst="rect">
            <a:avLst/>
          </a:prstGeom>
          <a:noFill/>
        </p:spPr>
        <p:txBody>
          <a:bodyPr wrap="square" lIns="0" tIns="0" rIns="0" bIns="0" rtlCol="0" anchor="t">
            <a:spAutoFit/>
          </a:bodyPr>
          <a:lstStyle/>
          <a:p>
            <a:pPr marL="0" indent="0" algn="l">
              <a:lnSpc>
                <a:spcPct val="125000"/>
              </a:lnSpc>
              <a:buNone/>
            </a:pPr>
            <a:r>
              <a:rPr lang="en-US" sz="1400" dirty="0">
                <a:solidFill>
                  <a:srgbClr val="374051"/>
                </a:solidFill>
                <a:latin typeface="思源黑体 CN" pitchFamily="34" charset="0"/>
                <a:ea typeface="思源黑体 CN" pitchFamily="34" charset="-122"/>
                <a:cs typeface="思源黑体 CN" pitchFamily="34" charset="-120"/>
              </a:rPr>
              <a:t>2. 如果事前做过一次基线核查，哪些损失本可以避免？</a:t>
            </a:r>
            <a:endParaRPr lang="en-US" sz="1400" dirty="0">
              <a:solidFill>
                <a:srgbClr val="374051"/>
              </a:solidFill>
              <a:latin typeface="思源黑体 CN" pitchFamily="34" charset="0"/>
              <a:ea typeface="思源黑体 CN" pitchFamily="34" charset="-122"/>
              <a:cs typeface="思源黑体 CN" pitchFamily="34" charset="-120"/>
            </a:endParaRPr>
          </a:p>
        </p:txBody>
      </p:sp>
      <p:sp>
        <p:nvSpPr>
          <p:cNvPr id="15" name="Text 7"/>
          <p:cNvSpPr/>
          <p:nvPr/>
        </p:nvSpPr>
        <p:spPr>
          <a:xfrm>
            <a:off x="8122920" y="5410200"/>
            <a:ext cx="3468624" cy="269240"/>
          </a:xfrm>
          <a:prstGeom prst="rect">
            <a:avLst/>
          </a:prstGeom>
          <a:noFill/>
        </p:spPr>
        <p:txBody>
          <a:bodyPr wrap="square" lIns="0" tIns="0" rIns="0" bIns="0" rtlCol="0" anchor="t">
            <a:spAutoFit/>
          </a:bodyPr>
          <a:lstStyle/>
          <a:p>
            <a:pPr marL="0" indent="0" algn="l">
              <a:lnSpc>
                <a:spcPct val="125000"/>
              </a:lnSpc>
              <a:buNone/>
            </a:pPr>
            <a:r>
              <a:rPr lang="en-US" sz="1400" dirty="0">
                <a:solidFill>
                  <a:srgbClr val="374051"/>
                </a:solidFill>
                <a:latin typeface="思源黑体 CN" pitchFamily="34" charset="0"/>
                <a:ea typeface="思源黑体 CN" pitchFamily="34" charset="-122"/>
                <a:cs typeface="思源黑体 CN" pitchFamily="34" charset="-120"/>
              </a:rPr>
              <a:t>3. 换你来当测评师，最先查哪三项？为什么？</a:t>
            </a:r>
            <a:endParaRPr lang="en-US" sz="1400" dirty="0">
              <a:solidFill>
                <a:srgbClr val="374051"/>
              </a:solidFill>
              <a:latin typeface="思源黑体 CN" pitchFamily="34" charset="0"/>
              <a:ea typeface="思源黑体 CN" pitchFamily="34" charset="-122"/>
              <a:cs typeface="思源黑体 CN" pitchFamily="34" charset="-120"/>
            </a:endParaRPr>
          </a:p>
        </p:txBody>
      </p:sp>
      <p:pic>
        <p:nvPicPr>
          <p:cNvPr id="18" name="Image 7"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9600" y="1371600"/>
            <a:ext cx="10972800" cy="2133600"/>
          </a:xfrm>
          <a:prstGeom prst="rect">
            <a:avLst/>
          </a:prstGeom>
          <a:effectLst>
            <a:outerShdw blurRad="387096000" dist="193548000" dir="-1" algn="bl" rotWithShape="0">
              <a:srgbClr val="000000">
                <a:alpha val="500000000"/>
              </a:srgbClr>
            </a:outerShdw>
          </a:effectLst>
        </p:spPr>
      </p:pic>
      <p:pic>
        <p:nvPicPr>
          <p:cNvPr id="19" name="Image 8" descr="https://test.web.static.jianzeppt.com/ppt-temp-img3/2b7c00ffccee43c26ebc26fbc43c1bf7.png?x-oss-process=image/resize,w_1440,h_800,m_lfit/format,png"/>
          <p:cNvPicPr>
            <a:picLocks noChangeAspect="1"/>
          </p:cNvPicPr>
          <p:nvPr/>
        </p:nvPicPr>
        <p:blipFill>
          <a:blip r:embed="rId8"/>
          <a:stretch>
            <a:fillRect/>
          </a:stretch>
        </p:blipFill>
        <p:spPr>
          <a:xfrm>
            <a:off x="624840" y="1386840"/>
            <a:ext cx="10942320" cy="2103120"/>
          </a:xfrm>
          <a:prstGeom prst="rect">
            <a:avLst/>
          </a:prstGeom>
        </p:spPr>
      </p:pic>
      <p:pic>
        <p:nvPicPr>
          <p:cNvPr id="20" name="Image 9" descr="https://test.web.static.jianzeppt.com/ppt-temp-img3/717cc5b456d2de95ff9831fb6672b6bd.png?x-oss-process=image/resize,w_1440,h_800,m_lfit/format,png"/>
          <p:cNvPicPr>
            <a:picLocks noChangeAspect="1"/>
          </p:cNvPicPr>
          <p:nvPr/>
        </p:nvPicPr>
        <p:blipFill>
          <a:blip r:embed="rId9"/>
          <a:stretch>
            <a:fillRect/>
          </a:stretch>
        </p:blipFill>
        <p:spPr>
          <a:xfrm>
            <a:off x="4373880" y="4282440"/>
            <a:ext cx="3459480" cy="1965960"/>
          </a:xfrm>
          <a:prstGeom prst="rect">
            <a:avLst/>
          </a:prstGeom>
        </p:spPr>
      </p:pic>
      <p:graphicFrame>
        <p:nvGraphicFramePr>
          <p:cNvPr id="21" name="Table 0"/>
          <p:cNvGraphicFramePr>
            <a:graphicFrameLocks noGrp="1"/>
          </p:cNvGraphicFramePr>
          <p:nvPr/>
        </p:nvGraphicFramePr>
        <p:xfrm>
          <a:off x="5055870" y="4317365"/>
          <a:ext cx="1863725" cy="1897380"/>
        </p:xfrm>
        <a:graphic>
          <a:graphicData uri="http://schemas.openxmlformats.org/drawingml/2006/table">
            <a:tbl>
              <a:tblPr/>
              <a:tblGrid>
                <a:gridCol w="241300"/>
                <a:gridCol w="1073150"/>
                <a:gridCol w="549275"/>
              </a:tblGrid>
              <a:tr h="210820">
                <a:tc>
                  <a:txBody>
                    <a:bodyPr/>
                    <a:lstStyle/>
                    <a:p>
                      <a:pPr marL="0" indent="0" algn="ctr">
                        <a:buNone/>
                      </a:pPr>
                      <a:r>
                        <a:rPr lang="en-US" sz="320" dirty="0">
                          <a:solidFill>
                            <a:srgbClr val="000000"/>
                          </a:solidFill>
                        </a:rPr>
                        <a:t>序号</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问题</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影响</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51790">
                <a:tc>
                  <a:txBody>
                    <a:bodyPr/>
                    <a:lstStyle/>
                    <a:p>
                      <a:pPr marL="0" indent="0" algn="ctr">
                        <a:buNone/>
                      </a:pPr>
                      <a:r>
                        <a:rPr lang="en-US" sz="320" dirty="0">
                          <a:solidFill>
                            <a:srgbClr val="000000"/>
                          </a:solidFill>
                        </a:rPr>
                        <a:t>1</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操作系统未启用密码复杂度策略，管理员使用Admin@123</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攻击者通过暴力破解获取管理员权限</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50520">
                <a:tc>
                  <a:txBody>
                    <a:bodyPr/>
                    <a:lstStyle/>
                    <a:p>
                      <a:pPr marL="0" indent="0" algn="ctr">
                        <a:buNone/>
                      </a:pPr>
                      <a:r>
                        <a:rPr lang="en-US" sz="320" dirty="0">
                          <a:solidFill>
                            <a:srgbClr val="000000"/>
                          </a:solidFill>
                        </a:rPr>
                        <a:t>2</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未配置登录失败锁定策略</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暴力破解无限制，攻击者可无限尝试</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80670">
                <a:tc>
                  <a:txBody>
                    <a:bodyPr/>
                    <a:lstStyle/>
                    <a:p>
                      <a:pPr marL="0" indent="0" algn="ctr">
                        <a:buNone/>
                      </a:pPr>
                      <a:r>
                        <a:rPr lang="en-US" sz="320" dirty="0">
                          <a:solidFill>
                            <a:srgbClr val="000000"/>
                          </a:solidFill>
                        </a:rPr>
                        <a:t>3</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未关闭默认共享（C、Admin）</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攻击者利用共享传播病毒</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10820">
                <a:tc>
                  <a:txBody>
                    <a:bodyPr/>
                    <a:lstStyle/>
                    <a:p>
                      <a:pPr marL="0" indent="0" algn="ctr">
                        <a:buNone/>
                      </a:pPr>
                      <a:r>
                        <a:rPr lang="en-US" sz="320" dirty="0">
                          <a:solidFill>
                            <a:srgbClr val="000000"/>
                          </a:solidFill>
                        </a:rPr>
                        <a:t>4</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远程桌面（3389）直接对互联网开放</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攻击面暴露</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12090">
                <a:tc>
                  <a:txBody>
                    <a:bodyPr/>
                    <a:lstStyle/>
                    <a:p>
                      <a:pPr marL="0" indent="0" algn="ctr">
                        <a:buNone/>
                      </a:pPr>
                      <a:r>
                        <a:rPr lang="en-US" sz="320" dirty="0">
                          <a:solidFill>
                            <a:srgbClr val="000000"/>
                          </a:solidFill>
                        </a:rPr>
                        <a:t>5</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未安装防病毒软件</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勒索病毒未被拦截</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80670">
                <a:tc>
                  <a:txBody>
                    <a:bodyPr/>
                    <a:lstStyle/>
                    <a:p>
                      <a:pPr marL="0" indent="0" algn="ctr">
                        <a:buNone/>
                      </a:pPr>
                      <a:r>
                        <a:rPr lang="en-US" sz="320" dirty="0">
                          <a:solidFill>
                            <a:srgbClr val="000000"/>
                          </a:solidFill>
                        </a:rPr>
                        <a:t>6</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系统补丁超过6个月未更新</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存在已知高危漏洞（如永恒之蓝）</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graphicFrame>
        <p:nvGraphicFramePr>
          <p:cNvPr id="22" name="对象 21">
            <a:hlinkClick r:id="" action="ppaction://ole?verb="/>
          </p:cNvPr>
          <p:cNvGraphicFramePr>
            <a:graphicFrameLocks noChangeAspect="1"/>
          </p:cNvGraphicFramePr>
          <p:nvPr/>
        </p:nvGraphicFramePr>
        <p:xfrm>
          <a:off x="6919595" y="5087620"/>
          <a:ext cx="971550" cy="666750"/>
        </p:xfrm>
        <a:graphic>
          <a:graphicData uri="http://schemas.openxmlformats.org/presentationml/2006/ole">
            <mc:AlternateContent xmlns:mc="http://schemas.openxmlformats.org/markup-compatibility/2006">
              <mc:Choice xmlns:v="urn:schemas-microsoft-com:vml" Requires="v">
                <p:oleObj spid="_x0000_s1025" name="" showAsIcon="1" r:id="rId10" imgW="971550" imgH="666750" progId="Word.Document.12">
                  <p:embed/>
                </p:oleObj>
              </mc:Choice>
              <mc:Fallback>
                <p:oleObj name="" showAsIcon="1" r:id="rId10" imgW="971550" imgH="666750" progId="Word.Document.12">
                  <p:embed/>
                  <p:pic>
                    <p:nvPicPr>
                      <p:cNvPr id="0" name="图片 1024"/>
                      <p:cNvPicPr/>
                      <p:nvPr/>
                    </p:nvPicPr>
                    <p:blipFill>
                      <a:blip r:embed="rId11"/>
                      <a:stretch>
                        <a:fillRect/>
                      </a:stretch>
                    </p:blipFill>
                    <p:spPr>
                      <a:xfrm>
                        <a:off x="6919595" y="5087620"/>
                        <a:ext cx="971550" cy="666750"/>
                      </a:xfrm>
                      <a:prstGeom prst="rect">
                        <a:avLst/>
                      </a:prstGeom>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学习目标</a:t>
            </a:r>
            <a:endParaRPr lang="en-US" sz="2760" dirty="0"/>
          </a:p>
        </p:txBody>
      </p:sp>
      <p:pic>
        <p:nvPicPr>
          <p:cNvPr id="6" name="Image 3" descr="https://test.web.static.jianzeppt.com/ppt-temp-img3/326049fc01eedfc89a33a92ec0e2d3e7.png?x-oss-process=image/resize,w_1440,h_800,m_lfit/format,png"/>
          <p:cNvPicPr>
            <a:picLocks noChangeAspect="1"/>
          </p:cNvPicPr>
          <p:nvPr/>
        </p:nvPicPr>
        <p:blipFill>
          <a:blip r:embed="rId4"/>
          <a:stretch>
            <a:fillRect/>
          </a:stretch>
        </p:blipFill>
        <p:spPr>
          <a:xfrm>
            <a:off x="609600" y="1965960"/>
            <a:ext cx="5379720" cy="1280160"/>
          </a:xfrm>
          <a:prstGeom prst="rect">
            <a:avLst/>
          </a:prstGeom>
        </p:spPr>
      </p:pic>
      <p:pic>
        <p:nvPicPr>
          <p:cNvPr id="7"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3440" y="2209800"/>
            <a:ext cx="487680" cy="487680"/>
          </a:xfrm>
          <a:prstGeom prst="rect">
            <a:avLst/>
          </a:prstGeom>
        </p:spPr>
      </p:pic>
      <p:sp>
        <p:nvSpPr>
          <p:cNvPr id="8" name="Text 1"/>
          <p:cNvSpPr/>
          <p:nvPr/>
        </p:nvSpPr>
        <p:spPr>
          <a:xfrm>
            <a:off x="960120" y="2270760"/>
            <a:ext cx="283464" cy="365760"/>
          </a:xfrm>
          <a:prstGeom prst="rect">
            <a:avLst/>
          </a:prstGeom>
          <a:noFill/>
        </p:spPr>
        <p:txBody>
          <a:bodyPr wrap="none" lIns="0" tIns="0" rIns="0" bIns="0" rtlCol="0" anchor="ctr"/>
          <a:lstStyle/>
          <a:p>
            <a:pPr marL="0" indent="0" algn="ctr">
              <a:lnSpc>
                <a:spcPct val="150000"/>
              </a:lnSpc>
              <a:buNone/>
            </a:pPr>
            <a:r>
              <a:rPr lang="en-US" sz="1920" dirty="0">
                <a:solidFill>
                  <a:srgbClr val="FFFFFF"/>
                </a:solidFill>
                <a:latin typeface="思源黑体 CN Bold" pitchFamily="34" charset="0"/>
                <a:ea typeface="思源黑体 CN Bold" pitchFamily="34" charset="-122"/>
                <a:cs typeface="思源黑体 CN Bold" pitchFamily="34" charset="-120"/>
              </a:rPr>
              <a:t>01</a:t>
            </a:r>
            <a:endParaRPr lang="en-US" sz="1920" dirty="0"/>
          </a:p>
        </p:txBody>
      </p:sp>
      <p:sp>
        <p:nvSpPr>
          <p:cNvPr id="9" name="Text 2"/>
          <p:cNvSpPr/>
          <p:nvPr/>
        </p:nvSpPr>
        <p:spPr>
          <a:xfrm>
            <a:off x="1493520" y="2255520"/>
            <a:ext cx="618744" cy="381000"/>
          </a:xfrm>
          <a:prstGeom prst="rect">
            <a:avLst/>
          </a:prstGeom>
          <a:noFill/>
        </p:spPr>
        <p:txBody>
          <a:bodyPr wrap="none" lIns="0" tIns="0" rIns="0" bIns="0" rtlCol="0" anchor="t">
            <a:spAutoFit/>
          </a:bodyPr>
          <a:lstStyle/>
          <a:p>
            <a:pPr marL="0" indent="0" algn="l">
              <a:lnSpc>
                <a:spcPct val="100000"/>
              </a:lnSpc>
              <a:buNone/>
            </a:pPr>
            <a:r>
              <a:rPr lang="en-US" sz="2400" dirty="0">
                <a:solidFill>
                  <a:srgbClr val="143966"/>
                </a:solidFill>
                <a:latin typeface="思源黑体 CN Bold" pitchFamily="34" charset="0"/>
                <a:ea typeface="思源黑体 CN Bold" pitchFamily="34" charset="-122"/>
                <a:cs typeface="思源黑体 CN Bold" pitchFamily="34" charset="-120"/>
              </a:rPr>
              <a:t>理解</a:t>
            </a:r>
            <a:endParaRPr lang="en-US" sz="2400" dirty="0"/>
          </a:p>
        </p:txBody>
      </p:sp>
      <p:sp>
        <p:nvSpPr>
          <p:cNvPr id="10" name="Text 3"/>
          <p:cNvSpPr/>
          <p:nvPr/>
        </p:nvSpPr>
        <p:spPr>
          <a:xfrm>
            <a:off x="853440" y="2849880"/>
            <a:ext cx="4622800" cy="215265"/>
          </a:xfrm>
          <a:prstGeom prst="rect">
            <a:avLst/>
          </a:prstGeom>
          <a:noFill/>
        </p:spPr>
        <p:txBody>
          <a:bodyPr wrap="none" lIns="0" tIns="0" rIns="0" bIns="0" rtlCol="0" anchor="t">
            <a:spAutoFit/>
          </a:bodyPr>
          <a:lstStyle/>
          <a:p>
            <a:pPr marL="0" indent="0" algn="l">
              <a:lnSpc>
                <a:spcPct val="100000"/>
              </a:lnSpc>
              <a:buNone/>
            </a:pPr>
            <a:r>
              <a:rPr lang="en-US" sz="1400" dirty="0">
                <a:solidFill>
                  <a:srgbClr val="333333"/>
                </a:solidFill>
                <a:latin typeface="思源黑体 CN" pitchFamily="34" charset="0"/>
                <a:ea typeface="思源黑体 CN" pitchFamily="34" charset="-122"/>
                <a:cs typeface="思源黑体 CN" pitchFamily="34" charset="-120"/>
              </a:rPr>
              <a:t>说清主机安全基线是什么，在 GB/T 22239 里对应哪些条款</a:t>
            </a:r>
            <a:endParaRPr lang="en-US" sz="1400" dirty="0">
              <a:solidFill>
                <a:srgbClr val="333333"/>
              </a:solidFill>
              <a:latin typeface="思源黑体 CN" pitchFamily="34" charset="0"/>
              <a:ea typeface="思源黑体 CN" pitchFamily="34" charset="-122"/>
              <a:cs typeface="思源黑体 CN" pitchFamily="34" charset="-120"/>
            </a:endParaRPr>
          </a:p>
        </p:txBody>
      </p:sp>
      <p:pic>
        <p:nvPicPr>
          <p:cNvPr id="11" name="Image 5" descr="https://test.web.static.jianzeppt.com/ppt-temp-img3/326049fc01eedfc89a33a92ec0e2d3e7.png?x-oss-process=image/resize,w_1440,h_800,m_lfit/format,png"/>
          <p:cNvPicPr>
            <a:picLocks noChangeAspect="1"/>
          </p:cNvPicPr>
          <p:nvPr/>
        </p:nvPicPr>
        <p:blipFill>
          <a:blip r:embed="rId4"/>
          <a:stretch>
            <a:fillRect/>
          </a:stretch>
        </p:blipFill>
        <p:spPr>
          <a:xfrm>
            <a:off x="6217920" y="1965960"/>
            <a:ext cx="5379720" cy="1280160"/>
          </a:xfrm>
          <a:prstGeom prst="rect">
            <a:avLst/>
          </a:prstGeom>
        </p:spPr>
      </p:pic>
      <p:pic>
        <p:nvPicPr>
          <p:cNvPr id="12" name="Image 6"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61760" y="2209800"/>
            <a:ext cx="487680" cy="487680"/>
          </a:xfrm>
          <a:prstGeom prst="rect">
            <a:avLst/>
          </a:prstGeom>
        </p:spPr>
      </p:pic>
      <p:sp>
        <p:nvSpPr>
          <p:cNvPr id="13" name="Text 4"/>
          <p:cNvSpPr/>
          <p:nvPr/>
        </p:nvSpPr>
        <p:spPr>
          <a:xfrm>
            <a:off x="6568440" y="2270760"/>
            <a:ext cx="283464" cy="365760"/>
          </a:xfrm>
          <a:prstGeom prst="rect">
            <a:avLst/>
          </a:prstGeom>
          <a:noFill/>
        </p:spPr>
        <p:txBody>
          <a:bodyPr wrap="none" lIns="0" tIns="0" rIns="0" bIns="0" rtlCol="0" anchor="ctr"/>
          <a:lstStyle/>
          <a:p>
            <a:pPr marL="0" indent="0" algn="ctr">
              <a:lnSpc>
                <a:spcPct val="150000"/>
              </a:lnSpc>
              <a:buNone/>
            </a:pPr>
            <a:r>
              <a:rPr lang="en-US" sz="1920" dirty="0">
                <a:solidFill>
                  <a:srgbClr val="FFFFFF"/>
                </a:solidFill>
                <a:latin typeface="思源黑体 CN Bold" pitchFamily="34" charset="0"/>
                <a:ea typeface="思源黑体 CN Bold" pitchFamily="34" charset="-122"/>
                <a:cs typeface="思源黑体 CN Bold" pitchFamily="34" charset="-120"/>
              </a:rPr>
              <a:t>02</a:t>
            </a:r>
            <a:endParaRPr lang="en-US" sz="1920" dirty="0"/>
          </a:p>
        </p:txBody>
      </p:sp>
      <p:sp>
        <p:nvSpPr>
          <p:cNvPr id="14" name="Text 5"/>
          <p:cNvSpPr/>
          <p:nvPr/>
        </p:nvSpPr>
        <p:spPr>
          <a:xfrm>
            <a:off x="7101840" y="2255520"/>
            <a:ext cx="618744" cy="381000"/>
          </a:xfrm>
          <a:prstGeom prst="rect">
            <a:avLst/>
          </a:prstGeom>
          <a:noFill/>
        </p:spPr>
        <p:txBody>
          <a:bodyPr wrap="none" lIns="0" tIns="0" rIns="0" bIns="0" rtlCol="0" anchor="t">
            <a:spAutoFit/>
          </a:bodyPr>
          <a:lstStyle/>
          <a:p>
            <a:pPr marL="0" indent="0" algn="l">
              <a:lnSpc>
                <a:spcPct val="100000"/>
              </a:lnSpc>
              <a:buNone/>
            </a:pPr>
            <a:r>
              <a:rPr lang="en-US" sz="2400" dirty="0">
                <a:solidFill>
                  <a:srgbClr val="143966"/>
                </a:solidFill>
                <a:latin typeface="思源黑体 CN Bold" pitchFamily="34" charset="0"/>
                <a:ea typeface="思源黑体 CN Bold" pitchFamily="34" charset="-122"/>
                <a:cs typeface="思源黑体 CN Bold" pitchFamily="34" charset="-120"/>
              </a:rPr>
              <a:t>掌握</a:t>
            </a:r>
            <a:endParaRPr lang="en-US" sz="2400" dirty="0"/>
          </a:p>
        </p:txBody>
      </p:sp>
      <p:sp>
        <p:nvSpPr>
          <p:cNvPr id="15" name="Text 6"/>
          <p:cNvSpPr/>
          <p:nvPr/>
        </p:nvSpPr>
        <p:spPr>
          <a:xfrm>
            <a:off x="6461760" y="2849880"/>
            <a:ext cx="5130165" cy="254000"/>
          </a:xfrm>
          <a:prstGeom prst="rect">
            <a:avLst/>
          </a:prstGeom>
          <a:noFill/>
        </p:spPr>
        <p:txBody>
          <a:bodyPr wrap="square" lIns="0" tIns="0" rIns="0" bIns="0" rtlCol="0" anchor="t">
            <a:spAutoFit/>
          </a:bodyPr>
          <a:lstStyle/>
          <a:p>
            <a:pPr marL="0" indent="0" algn="l">
              <a:lnSpc>
                <a:spcPct val="138000"/>
              </a:lnSpc>
              <a:buNone/>
            </a:pPr>
            <a:r>
              <a:rPr lang="en-US" sz="1200" dirty="0">
                <a:solidFill>
                  <a:srgbClr val="333333"/>
                </a:solidFill>
                <a:latin typeface="思源黑体 CN" pitchFamily="34" charset="0"/>
                <a:ea typeface="思源黑体 CN" pitchFamily="34" charset="-122"/>
                <a:cs typeface="思源黑体 CN" pitchFamily="34" charset="-120"/>
              </a:rPr>
              <a:t>在 Windows/Linux上找到口令、账户、审计、端口等配置项并判断合不合规</a:t>
            </a:r>
            <a:endParaRPr lang="en-US" sz="1200" dirty="0">
              <a:solidFill>
                <a:srgbClr val="333333"/>
              </a:solidFill>
              <a:latin typeface="思源黑体 CN" pitchFamily="34" charset="0"/>
              <a:ea typeface="思源黑体 CN" pitchFamily="34" charset="-122"/>
              <a:cs typeface="思源黑体 CN" pitchFamily="34" charset="-120"/>
            </a:endParaRPr>
          </a:p>
        </p:txBody>
      </p:sp>
      <p:pic>
        <p:nvPicPr>
          <p:cNvPr id="16" name="Image 7" descr="https://test.web.static.jianzeppt.com/ppt-temp-img3/326049fc01eedfc89a33a92ec0e2d3e7.png?x-oss-process=image/resize,w_1440,h_800,m_lfit/format,png"/>
          <p:cNvPicPr>
            <a:picLocks noChangeAspect="1"/>
          </p:cNvPicPr>
          <p:nvPr/>
        </p:nvPicPr>
        <p:blipFill>
          <a:blip r:embed="rId4"/>
          <a:stretch>
            <a:fillRect/>
          </a:stretch>
        </p:blipFill>
        <p:spPr>
          <a:xfrm>
            <a:off x="609600" y="3474720"/>
            <a:ext cx="5379720" cy="1280160"/>
          </a:xfrm>
          <a:prstGeom prst="rect">
            <a:avLst/>
          </a:prstGeom>
        </p:spPr>
      </p:pic>
      <p:pic>
        <p:nvPicPr>
          <p:cNvPr id="17" name="Image 8"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3440" y="3718560"/>
            <a:ext cx="487680" cy="487680"/>
          </a:xfrm>
          <a:prstGeom prst="rect">
            <a:avLst/>
          </a:prstGeom>
        </p:spPr>
      </p:pic>
      <p:sp>
        <p:nvSpPr>
          <p:cNvPr id="18" name="Text 7"/>
          <p:cNvSpPr/>
          <p:nvPr/>
        </p:nvSpPr>
        <p:spPr>
          <a:xfrm>
            <a:off x="960120" y="3779520"/>
            <a:ext cx="283464" cy="365760"/>
          </a:xfrm>
          <a:prstGeom prst="rect">
            <a:avLst/>
          </a:prstGeom>
          <a:noFill/>
        </p:spPr>
        <p:txBody>
          <a:bodyPr wrap="none" lIns="0" tIns="0" rIns="0" bIns="0" rtlCol="0" anchor="ctr"/>
          <a:lstStyle/>
          <a:p>
            <a:pPr marL="0" indent="0" algn="ctr">
              <a:lnSpc>
                <a:spcPct val="150000"/>
              </a:lnSpc>
              <a:buNone/>
            </a:pPr>
            <a:r>
              <a:rPr lang="en-US" sz="1920" dirty="0">
                <a:solidFill>
                  <a:srgbClr val="FFFFFF"/>
                </a:solidFill>
                <a:latin typeface="思源黑体 CN Bold" pitchFamily="34" charset="0"/>
                <a:ea typeface="思源黑体 CN Bold" pitchFamily="34" charset="-122"/>
                <a:cs typeface="思源黑体 CN Bold" pitchFamily="34" charset="-120"/>
              </a:rPr>
              <a:t>03</a:t>
            </a:r>
            <a:endParaRPr lang="en-US" sz="1920" dirty="0"/>
          </a:p>
        </p:txBody>
      </p:sp>
      <p:sp>
        <p:nvSpPr>
          <p:cNvPr id="19" name="Text 8"/>
          <p:cNvSpPr/>
          <p:nvPr/>
        </p:nvSpPr>
        <p:spPr>
          <a:xfrm>
            <a:off x="1493520" y="3764280"/>
            <a:ext cx="618744" cy="381000"/>
          </a:xfrm>
          <a:prstGeom prst="rect">
            <a:avLst/>
          </a:prstGeom>
          <a:noFill/>
        </p:spPr>
        <p:txBody>
          <a:bodyPr wrap="none" lIns="0" tIns="0" rIns="0" bIns="0" rtlCol="0" anchor="t">
            <a:spAutoFit/>
          </a:bodyPr>
          <a:lstStyle/>
          <a:p>
            <a:pPr marL="0" indent="0" algn="l">
              <a:lnSpc>
                <a:spcPct val="100000"/>
              </a:lnSpc>
              <a:buNone/>
            </a:pPr>
            <a:r>
              <a:rPr lang="en-US" sz="2400" dirty="0">
                <a:solidFill>
                  <a:srgbClr val="143966"/>
                </a:solidFill>
                <a:latin typeface="思源黑体 CN Bold" pitchFamily="34" charset="0"/>
                <a:ea typeface="思源黑体 CN Bold" pitchFamily="34" charset="-122"/>
                <a:cs typeface="思源黑体 CN Bold" pitchFamily="34" charset="-120"/>
              </a:rPr>
              <a:t>能够</a:t>
            </a:r>
            <a:endParaRPr lang="en-US" sz="2400" dirty="0"/>
          </a:p>
        </p:txBody>
      </p:sp>
      <p:sp>
        <p:nvSpPr>
          <p:cNvPr id="20" name="Text 9"/>
          <p:cNvSpPr/>
          <p:nvPr/>
        </p:nvSpPr>
        <p:spPr>
          <a:xfrm>
            <a:off x="853440" y="4358640"/>
            <a:ext cx="4724400" cy="184150"/>
          </a:xfrm>
          <a:prstGeom prst="rect">
            <a:avLst/>
          </a:prstGeom>
          <a:noFill/>
        </p:spPr>
        <p:txBody>
          <a:bodyPr wrap="none" lIns="0" tIns="0" rIns="0" bIns="0" rtlCol="0" anchor="t">
            <a:spAutoFit/>
          </a:bodyPr>
          <a:lstStyle/>
          <a:p>
            <a:pPr marL="0" indent="0" algn="l">
              <a:lnSpc>
                <a:spcPct val="100000"/>
              </a:lnSpc>
              <a:buNone/>
            </a:pPr>
            <a:r>
              <a:rPr lang="en-US" sz="1200" dirty="0">
                <a:solidFill>
                  <a:srgbClr val="333333"/>
                </a:solidFill>
                <a:latin typeface="思源黑体 CN" pitchFamily="34" charset="0"/>
                <a:ea typeface="思源黑体 CN" pitchFamily="34" charset="-122"/>
                <a:cs typeface="思源黑体 CN" pitchFamily="34" charset="-120"/>
              </a:rPr>
              <a:t>在西普实验平台的真实主机上完成核查取证，留下可追溯的截图与回显</a:t>
            </a:r>
            <a:endParaRPr lang="en-US" sz="1200" dirty="0">
              <a:solidFill>
                <a:srgbClr val="333333"/>
              </a:solidFill>
              <a:latin typeface="思源黑体 CN" pitchFamily="34" charset="0"/>
              <a:ea typeface="思源黑体 CN" pitchFamily="34" charset="-122"/>
              <a:cs typeface="思源黑体 CN" pitchFamily="34" charset="-120"/>
            </a:endParaRPr>
          </a:p>
        </p:txBody>
      </p:sp>
      <p:pic>
        <p:nvPicPr>
          <p:cNvPr id="21" name="Image 9" descr="https://test.web.static.jianzeppt.com/ppt-temp-img3/326049fc01eedfc89a33a92ec0e2d3e7.png?x-oss-process=image/resize,w_1440,h_800,m_lfit/format,png"/>
          <p:cNvPicPr>
            <a:picLocks noChangeAspect="1"/>
          </p:cNvPicPr>
          <p:nvPr/>
        </p:nvPicPr>
        <p:blipFill>
          <a:blip r:embed="rId4"/>
          <a:stretch>
            <a:fillRect/>
          </a:stretch>
        </p:blipFill>
        <p:spPr>
          <a:xfrm>
            <a:off x="6217920" y="3474720"/>
            <a:ext cx="5379720" cy="1280160"/>
          </a:xfrm>
          <a:prstGeom prst="rect">
            <a:avLst/>
          </a:prstGeom>
        </p:spPr>
      </p:pic>
      <p:pic>
        <p:nvPicPr>
          <p:cNvPr id="22" name="Image 10"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61760" y="3718560"/>
            <a:ext cx="487680" cy="487680"/>
          </a:xfrm>
          <a:prstGeom prst="rect">
            <a:avLst/>
          </a:prstGeom>
        </p:spPr>
      </p:pic>
      <p:sp>
        <p:nvSpPr>
          <p:cNvPr id="23" name="Text 10"/>
          <p:cNvSpPr/>
          <p:nvPr/>
        </p:nvSpPr>
        <p:spPr>
          <a:xfrm>
            <a:off x="6568440" y="3779520"/>
            <a:ext cx="283464" cy="365760"/>
          </a:xfrm>
          <a:prstGeom prst="rect">
            <a:avLst/>
          </a:prstGeom>
          <a:noFill/>
        </p:spPr>
        <p:txBody>
          <a:bodyPr wrap="none" lIns="0" tIns="0" rIns="0" bIns="0" rtlCol="0" anchor="ctr"/>
          <a:lstStyle/>
          <a:p>
            <a:pPr marL="0" indent="0" algn="ctr">
              <a:lnSpc>
                <a:spcPct val="150000"/>
              </a:lnSpc>
              <a:buNone/>
            </a:pPr>
            <a:r>
              <a:rPr lang="en-US" sz="1920" dirty="0">
                <a:solidFill>
                  <a:srgbClr val="FFFFFF"/>
                </a:solidFill>
                <a:latin typeface="思源黑体 CN Bold" pitchFamily="34" charset="0"/>
                <a:ea typeface="思源黑体 CN Bold" pitchFamily="34" charset="-122"/>
                <a:cs typeface="思源黑体 CN Bold" pitchFamily="34" charset="-120"/>
              </a:rPr>
              <a:t>04</a:t>
            </a:r>
            <a:endParaRPr lang="en-US" sz="1920" dirty="0"/>
          </a:p>
        </p:txBody>
      </p:sp>
      <p:sp>
        <p:nvSpPr>
          <p:cNvPr id="24" name="Text 11"/>
          <p:cNvSpPr/>
          <p:nvPr/>
        </p:nvSpPr>
        <p:spPr>
          <a:xfrm>
            <a:off x="7101840" y="3764280"/>
            <a:ext cx="618744" cy="381000"/>
          </a:xfrm>
          <a:prstGeom prst="rect">
            <a:avLst/>
          </a:prstGeom>
          <a:noFill/>
        </p:spPr>
        <p:txBody>
          <a:bodyPr wrap="none" lIns="0" tIns="0" rIns="0" bIns="0" rtlCol="0" anchor="t">
            <a:spAutoFit/>
          </a:bodyPr>
          <a:lstStyle/>
          <a:p>
            <a:pPr marL="0" indent="0" algn="l">
              <a:lnSpc>
                <a:spcPct val="100000"/>
              </a:lnSpc>
              <a:buNone/>
            </a:pPr>
            <a:r>
              <a:rPr lang="en-US" sz="2400" dirty="0">
                <a:solidFill>
                  <a:srgbClr val="143966"/>
                </a:solidFill>
                <a:latin typeface="思源黑体 CN Bold" pitchFamily="34" charset="0"/>
                <a:ea typeface="思源黑体 CN Bold" pitchFamily="34" charset="-122"/>
                <a:cs typeface="思源黑体 CN Bold" pitchFamily="34" charset="-120"/>
              </a:rPr>
              <a:t>能够</a:t>
            </a:r>
            <a:endParaRPr lang="en-US" sz="2400" dirty="0"/>
          </a:p>
        </p:txBody>
      </p:sp>
      <p:sp>
        <p:nvSpPr>
          <p:cNvPr id="25" name="Text 12"/>
          <p:cNvSpPr/>
          <p:nvPr/>
        </p:nvSpPr>
        <p:spPr>
          <a:xfrm>
            <a:off x="6461760" y="4358640"/>
            <a:ext cx="3657600" cy="184150"/>
          </a:xfrm>
          <a:prstGeom prst="rect">
            <a:avLst/>
          </a:prstGeom>
          <a:noFill/>
        </p:spPr>
        <p:txBody>
          <a:bodyPr wrap="none" lIns="0" tIns="0" rIns="0" bIns="0" rtlCol="0" anchor="t">
            <a:spAutoFit/>
          </a:bodyPr>
          <a:lstStyle/>
          <a:p>
            <a:pPr marL="0" indent="0" algn="l">
              <a:lnSpc>
                <a:spcPct val="100000"/>
              </a:lnSpc>
              <a:buNone/>
            </a:pPr>
            <a:r>
              <a:rPr lang="en-US" sz="1200" dirty="0">
                <a:solidFill>
                  <a:srgbClr val="333333"/>
                </a:solidFill>
                <a:latin typeface="思源黑体 CN" pitchFamily="34" charset="0"/>
                <a:ea typeface="思源黑体 CN" pitchFamily="34" charset="-122"/>
                <a:cs typeface="思源黑体 CN" pitchFamily="34" charset="-120"/>
              </a:rPr>
              <a:t>录入核查结果、做出四档判定，导出规范的测评记录表</a:t>
            </a:r>
            <a:endParaRPr lang="en-US" sz="1200" dirty="0">
              <a:solidFill>
                <a:srgbClr val="333333"/>
              </a:solidFill>
              <a:latin typeface="思源黑体 CN" pitchFamily="34" charset="0"/>
              <a:ea typeface="思源黑体 CN" pitchFamily="34" charset="-122"/>
              <a:cs typeface="思源黑体 CN" pitchFamily="34" charset="-120"/>
            </a:endParaRPr>
          </a:p>
        </p:txBody>
      </p:sp>
      <p:pic>
        <p:nvPicPr>
          <p:cNvPr id="26" name="Image 11" descr="https://test.web.static.jianzeppt.com/ppt-temp-img3/326049fc01eedfc89a33a92ec0e2d3e7.png?x-oss-process=image/resize,w_1440,h_800,m_lfit/format,png"/>
          <p:cNvPicPr>
            <a:picLocks noChangeAspect="1"/>
          </p:cNvPicPr>
          <p:nvPr/>
        </p:nvPicPr>
        <p:blipFill>
          <a:blip r:embed="rId4"/>
          <a:stretch>
            <a:fillRect/>
          </a:stretch>
        </p:blipFill>
        <p:spPr>
          <a:xfrm>
            <a:off x="609600" y="4968240"/>
            <a:ext cx="5379720" cy="1280160"/>
          </a:xfrm>
          <a:prstGeom prst="rect">
            <a:avLst/>
          </a:prstGeom>
        </p:spPr>
      </p:pic>
      <p:pic>
        <p:nvPicPr>
          <p:cNvPr id="27" name="Image 1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3440" y="5212080"/>
            <a:ext cx="487680" cy="487680"/>
          </a:xfrm>
          <a:prstGeom prst="rect">
            <a:avLst/>
          </a:prstGeom>
        </p:spPr>
      </p:pic>
      <p:sp>
        <p:nvSpPr>
          <p:cNvPr id="28" name="Text 13"/>
          <p:cNvSpPr/>
          <p:nvPr/>
        </p:nvSpPr>
        <p:spPr>
          <a:xfrm>
            <a:off x="960120" y="5273040"/>
            <a:ext cx="283464" cy="365760"/>
          </a:xfrm>
          <a:prstGeom prst="rect">
            <a:avLst/>
          </a:prstGeom>
          <a:noFill/>
        </p:spPr>
        <p:txBody>
          <a:bodyPr wrap="none" lIns="0" tIns="0" rIns="0" bIns="0" rtlCol="0" anchor="ctr"/>
          <a:lstStyle/>
          <a:p>
            <a:pPr marL="0" indent="0" algn="ctr">
              <a:lnSpc>
                <a:spcPct val="150000"/>
              </a:lnSpc>
              <a:buNone/>
            </a:pPr>
            <a:r>
              <a:rPr lang="en-US" sz="1920" dirty="0">
                <a:solidFill>
                  <a:srgbClr val="FFFFFF"/>
                </a:solidFill>
                <a:latin typeface="思源黑体 CN Bold" pitchFamily="34" charset="0"/>
                <a:ea typeface="思源黑体 CN Bold" pitchFamily="34" charset="-122"/>
                <a:cs typeface="思源黑体 CN Bold" pitchFamily="34" charset="-120"/>
              </a:rPr>
              <a:t>05</a:t>
            </a:r>
            <a:endParaRPr lang="en-US" sz="1920" dirty="0"/>
          </a:p>
        </p:txBody>
      </p:sp>
      <p:sp>
        <p:nvSpPr>
          <p:cNvPr id="29" name="Text 14"/>
          <p:cNvSpPr/>
          <p:nvPr/>
        </p:nvSpPr>
        <p:spPr>
          <a:xfrm>
            <a:off x="1493520" y="5273040"/>
            <a:ext cx="618744" cy="381000"/>
          </a:xfrm>
          <a:prstGeom prst="rect">
            <a:avLst/>
          </a:prstGeom>
          <a:noFill/>
        </p:spPr>
        <p:txBody>
          <a:bodyPr wrap="none" lIns="0" tIns="0" rIns="0" bIns="0" rtlCol="0" anchor="t">
            <a:spAutoFit/>
          </a:bodyPr>
          <a:lstStyle/>
          <a:p>
            <a:pPr marL="0" indent="0" algn="l">
              <a:lnSpc>
                <a:spcPct val="100000"/>
              </a:lnSpc>
              <a:buNone/>
            </a:pPr>
            <a:r>
              <a:rPr lang="en-US" sz="2400" dirty="0">
                <a:solidFill>
                  <a:srgbClr val="143966"/>
                </a:solidFill>
                <a:latin typeface="思源黑体 CN Bold" pitchFamily="34" charset="0"/>
                <a:ea typeface="思源黑体 CN Bold" pitchFamily="34" charset="-122"/>
                <a:cs typeface="思源黑体 CN Bold" pitchFamily="34" charset="-120"/>
              </a:rPr>
              <a:t>具备</a:t>
            </a:r>
            <a:endParaRPr lang="en-US" sz="2400" dirty="0"/>
          </a:p>
        </p:txBody>
      </p:sp>
      <p:sp>
        <p:nvSpPr>
          <p:cNvPr id="30" name="Text 15"/>
          <p:cNvSpPr/>
          <p:nvPr/>
        </p:nvSpPr>
        <p:spPr>
          <a:xfrm>
            <a:off x="853440" y="5852160"/>
            <a:ext cx="3657600" cy="184150"/>
          </a:xfrm>
          <a:prstGeom prst="rect">
            <a:avLst/>
          </a:prstGeom>
          <a:noFill/>
        </p:spPr>
        <p:txBody>
          <a:bodyPr wrap="none" lIns="0" tIns="0" rIns="0" bIns="0" rtlCol="0" anchor="t">
            <a:spAutoFit/>
          </a:bodyPr>
          <a:lstStyle/>
          <a:p>
            <a:pPr marL="0" indent="0" algn="l">
              <a:lnSpc>
                <a:spcPct val="100000"/>
              </a:lnSpc>
              <a:buNone/>
            </a:pPr>
            <a:r>
              <a:rPr lang="en-US" sz="1200" dirty="0">
                <a:solidFill>
                  <a:srgbClr val="333333"/>
                </a:solidFill>
                <a:latin typeface="思源黑体 CN" pitchFamily="34" charset="0"/>
                <a:ea typeface="思源黑体 CN" pitchFamily="34" charset="-122"/>
                <a:cs typeface="思源黑体 CN" pitchFamily="34" charset="-120"/>
              </a:rPr>
              <a:t>针对不符合项，写出具体、能落地、带期限的整改建议</a:t>
            </a:r>
            <a:endParaRPr lang="en-US" sz="1200" dirty="0">
              <a:solidFill>
                <a:srgbClr val="333333"/>
              </a:solidFill>
              <a:latin typeface="思源黑体 CN" pitchFamily="34" charset="0"/>
              <a:ea typeface="思源黑体 CN" pitchFamily="34" charset="-122"/>
              <a:cs typeface="思源黑体 CN" pitchFamily="34" charset="-120"/>
            </a:endParaRPr>
          </a:p>
        </p:txBody>
      </p:sp>
      <p:sp>
        <p:nvSpPr>
          <p:cNvPr id="31" name="Text 16"/>
          <p:cNvSpPr/>
          <p:nvPr/>
        </p:nvSpPr>
        <p:spPr>
          <a:xfrm>
            <a:off x="609600" y="1371600"/>
            <a:ext cx="10981944" cy="365760"/>
          </a:xfrm>
          <a:prstGeom prst="rect">
            <a:avLst/>
          </a:prstGeom>
          <a:noFill/>
        </p:spPr>
        <p:txBody>
          <a:bodyPr wrap="none" lIns="0" tIns="0" rIns="0" bIns="0" rtlCol="0" anchor="t">
            <a:spAutoFit/>
          </a:bodyPr>
          <a:lstStyle/>
          <a:p>
            <a:pPr marL="0" indent="0" algn="l">
              <a:lnSpc>
                <a:spcPct val="100000"/>
              </a:lnSpc>
              <a:buNone/>
            </a:pPr>
            <a:r>
              <a:rPr lang="en-US" sz="1920" dirty="0">
                <a:solidFill>
                  <a:srgbClr val="666666"/>
                </a:solidFill>
                <a:latin typeface="思源黑体 CN" pitchFamily="34" charset="0"/>
                <a:ea typeface="思源黑体 CN" pitchFamily="34" charset="-122"/>
                <a:cs typeface="思源黑体 CN" pitchFamily="34" charset="-120"/>
              </a:rPr>
              <a:t>学完这一节，你应该能做到：</a:t>
            </a:r>
            <a:endParaRPr lang="en-US" sz="19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web.static.jianzeppt.com/ppt-temp-img3/4bbf78d39a1ae7d50fa38e3b11fcab97.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4673282" y="897806"/>
            <a:ext cx="2863855" cy="493776"/>
          </a:xfrm>
          <a:prstGeom prst="rect">
            <a:avLst/>
          </a:prstGeom>
          <a:noFill/>
        </p:spPr>
        <p:txBody>
          <a:bodyPr wrap="square" lIns="0" tIns="0" rIns="0" bIns="0" rtlCol="0" anchor="b">
            <a:spAutoFit/>
          </a:bodyPr>
          <a:lstStyle/>
          <a:p>
            <a:pPr marL="0" indent="0" algn="ctr">
              <a:lnSpc>
                <a:spcPct val="120000"/>
              </a:lnSpc>
              <a:buNone/>
            </a:pPr>
            <a:r>
              <a:rPr lang="en-US" sz="3240" dirty="0">
                <a:solidFill>
                  <a:srgbClr val="FFFFFF"/>
                </a:solidFill>
              </a:rPr>
              <a:t>Part.02</a:t>
            </a:r>
            <a:endParaRPr lang="en-US" sz="3240" dirty="0"/>
          </a:p>
        </p:txBody>
      </p:sp>
      <p:sp>
        <p:nvSpPr>
          <p:cNvPr id="4" name="Text 1"/>
          <p:cNvSpPr/>
          <p:nvPr/>
        </p:nvSpPr>
        <p:spPr>
          <a:xfrm>
            <a:off x="771842" y="1617339"/>
            <a:ext cx="10666735" cy="804672"/>
          </a:xfrm>
          <a:prstGeom prst="rect">
            <a:avLst/>
          </a:prstGeom>
          <a:noFill/>
        </p:spPr>
        <p:txBody>
          <a:bodyPr wrap="none" lIns="0" tIns="0" rIns="0" bIns="0" rtlCol="0" anchor="b">
            <a:spAutoFit/>
          </a:bodyPr>
          <a:lstStyle/>
          <a:p>
            <a:pPr marL="0" indent="0" algn="ctr">
              <a:lnSpc>
                <a:spcPct val="100000"/>
              </a:lnSpc>
              <a:buNone/>
            </a:pPr>
            <a:r>
              <a:rPr lang="en-US" sz="5280" dirty="0">
                <a:solidFill>
                  <a:srgbClr val="FFFFFF"/>
                </a:solidFill>
              </a:rPr>
              <a:t>关键知识——标准怎么说、怎么查</a:t>
            </a:r>
            <a:endParaRPr lang="en-US" sz="52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什么是主机安全基线？</a:t>
            </a:r>
            <a:endParaRPr lang="en-US" sz="2760" dirty="0"/>
          </a:p>
        </p:txBody>
      </p:sp>
      <p:sp>
        <p:nvSpPr>
          <p:cNvPr id="6" name="Text 1"/>
          <p:cNvSpPr/>
          <p:nvPr/>
        </p:nvSpPr>
        <p:spPr>
          <a:xfrm>
            <a:off x="707390" y="1524635"/>
            <a:ext cx="4276344" cy="1429703"/>
          </a:xfrm>
          <a:prstGeom prst="rect">
            <a:avLst/>
          </a:prstGeom>
          <a:noFill/>
        </p:spPr>
        <p:txBody>
          <a:bodyPr wrap="square" lIns="0" tIns="0" rIns="0" bIns="0" rtlCol="0" anchor="t">
            <a:spAutoFit/>
          </a:bodyPr>
          <a:lstStyle/>
          <a:p>
            <a:pPr marL="0" indent="0" algn="l">
              <a:lnSpc>
                <a:spcPct val="138000"/>
              </a:lnSpc>
              <a:buNone/>
            </a:pPr>
            <a:r>
              <a:rPr lang="en-US" sz="2040" b="1" dirty="0">
                <a:solidFill>
                  <a:srgbClr val="1F2837"/>
                </a:solidFill>
                <a:latin typeface="思源黑体 CN Bold" pitchFamily="34" charset="0"/>
                <a:ea typeface="思源黑体 CN Bold" pitchFamily="34" charset="-122"/>
                <a:cs typeface="思源黑体 CN Bold" pitchFamily="34" charset="-120"/>
              </a:rPr>
              <a:t>安全基线（Security Baseline）</a:t>
            </a:r>
            <a:r>
              <a:rPr lang="en-US" sz="2040" dirty="0">
                <a:solidFill>
                  <a:srgbClr val="1F2837"/>
                </a:solidFill>
                <a:latin typeface="思源黑体 CN" pitchFamily="34" charset="0"/>
                <a:ea typeface="思源黑体 CN" pitchFamily="34" charset="-122"/>
                <a:cs typeface="思源黑体 CN" pitchFamily="34" charset="-120"/>
              </a:rPr>
              <a:t>是指信息系统在特定安全等级下，为保障系统安全运行所必须满足的最低安全配置标准。</a:t>
            </a:r>
            <a:endParaRPr lang="en-US" sz="2040" dirty="0"/>
          </a:p>
        </p:txBody>
      </p:sp>
      <p:pic>
        <p:nvPicPr>
          <p:cNvPr id="7" name="Image 3" descr="https://test.web.static.jianzeppt.com/ppt-temp-img3/8bb88656cf1183d86938bd32bbb21b3c.png?x-oss-process=image/resize,w_1440,h_800,m_lfit/format,png"/>
          <p:cNvPicPr>
            <a:picLocks noChangeAspect="1"/>
          </p:cNvPicPr>
          <p:nvPr/>
        </p:nvPicPr>
        <p:blipFill>
          <a:blip r:embed="rId4"/>
          <a:stretch>
            <a:fillRect/>
          </a:stretch>
        </p:blipFill>
        <p:spPr>
          <a:xfrm>
            <a:off x="707390" y="3675380"/>
            <a:ext cx="4267200" cy="1767840"/>
          </a:xfrm>
          <a:prstGeom prst="rect">
            <a:avLst/>
          </a:prstGeom>
        </p:spPr>
      </p:pic>
      <p:pic>
        <p:nvPicPr>
          <p:cNvPr id="8"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8680" y="4236720"/>
            <a:ext cx="60960" cy="243840"/>
          </a:xfrm>
          <a:prstGeom prst="rect">
            <a:avLst/>
          </a:prstGeom>
        </p:spPr>
      </p:pic>
      <p:sp>
        <p:nvSpPr>
          <p:cNvPr id="9" name="Text 2"/>
          <p:cNvSpPr/>
          <p:nvPr/>
        </p:nvSpPr>
        <p:spPr>
          <a:xfrm>
            <a:off x="1051560" y="4130040"/>
            <a:ext cx="1228344" cy="457200"/>
          </a:xfrm>
          <a:prstGeom prst="rect">
            <a:avLst/>
          </a:prstGeom>
          <a:noFill/>
        </p:spPr>
        <p:txBody>
          <a:bodyPr wrap="none" lIns="0" tIns="0" rIns="0" bIns="0" rtlCol="0" anchor="t">
            <a:spAutoFit/>
          </a:bodyPr>
          <a:lstStyle/>
          <a:p>
            <a:pPr marL="0" indent="0" algn="l">
              <a:lnSpc>
                <a:spcPct val="150000"/>
              </a:lnSpc>
              <a:buNone/>
            </a:pPr>
            <a:r>
              <a:rPr lang="en-US" sz="2400" b="1" dirty="0">
                <a:solidFill>
                  <a:srgbClr val="143966"/>
                </a:solidFill>
                <a:latin typeface="思源黑体 CN Bold" pitchFamily="34" charset="0"/>
                <a:ea typeface="思源黑体 CN Bold" pitchFamily="34" charset="-122"/>
                <a:cs typeface="思源黑体 CN Bold" pitchFamily="34" charset="-120"/>
              </a:rPr>
              <a:t>本课重点</a:t>
            </a:r>
            <a:endParaRPr lang="en-US" sz="2400" dirty="0"/>
          </a:p>
        </p:txBody>
      </p:sp>
      <p:sp>
        <p:nvSpPr>
          <p:cNvPr id="10" name="Text 3"/>
          <p:cNvSpPr/>
          <p:nvPr/>
        </p:nvSpPr>
        <p:spPr>
          <a:xfrm>
            <a:off x="868680" y="4693920"/>
            <a:ext cx="3758184" cy="630555"/>
          </a:xfrm>
          <a:prstGeom prst="rect">
            <a:avLst/>
          </a:prstGeom>
          <a:noFill/>
        </p:spPr>
        <p:txBody>
          <a:bodyPr wrap="square" lIns="0" tIns="0" rIns="0" bIns="0" rtlCol="0" anchor="t">
            <a:spAutoFit/>
          </a:bodyPr>
          <a:lstStyle/>
          <a:p>
            <a:pPr marL="0" indent="0" algn="l">
              <a:lnSpc>
                <a:spcPct val="138000"/>
              </a:lnSpc>
              <a:buNone/>
            </a:pPr>
            <a:r>
              <a:rPr lang="en-US" sz="1800" b="1" dirty="0">
                <a:solidFill>
                  <a:srgbClr val="143966"/>
                </a:solidFill>
                <a:latin typeface="思源黑体 CN Bold" pitchFamily="34" charset="0"/>
                <a:ea typeface="思源黑体 CN Bold" pitchFamily="34" charset="-122"/>
                <a:cs typeface="思源黑体 CN Bold" pitchFamily="34" charset="-120"/>
              </a:rPr>
              <a:t>身份鉴别、访问控制（占比约60%）</a:t>
            </a:r>
            <a:r>
              <a:rPr lang="en-US" sz="1800" dirty="0">
                <a:solidFill>
                  <a:srgbClr val="1F2837"/>
                </a:solidFill>
                <a:latin typeface="思源黑体 CN" pitchFamily="34" charset="0"/>
                <a:ea typeface="思源黑体 CN" pitchFamily="34" charset="-122"/>
                <a:cs typeface="思源黑体 CN" pitchFamily="34" charset="-120"/>
              </a:rPr>
              <a:t>，其他维度为补充。</a:t>
            </a:r>
            <a:endParaRPr lang="en-US" sz="1800" dirty="0"/>
          </a:p>
        </p:txBody>
      </p:sp>
      <p:pic>
        <p:nvPicPr>
          <p:cNvPr id="11"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42560" y="1371600"/>
            <a:ext cx="6339840" cy="4876800"/>
          </a:xfrm>
          <a:prstGeom prst="rect">
            <a:avLst/>
          </a:prstGeom>
          <a:effectLst>
            <a:outerShdw blurRad="387096000" dist="193548000" dir="-1" algn="bl" rotWithShape="0">
              <a:srgbClr val="000000">
                <a:alpha val="500000000"/>
              </a:srgbClr>
            </a:outerShdw>
          </a:effectLst>
        </p:spPr>
      </p:pic>
      <p:graphicFrame>
        <p:nvGraphicFramePr>
          <p:cNvPr id="12" name="Table 0"/>
          <p:cNvGraphicFramePr>
            <a:graphicFrameLocks noGrp="1"/>
          </p:cNvGraphicFramePr>
          <p:nvPr/>
        </p:nvGraphicFramePr>
        <p:xfrm>
          <a:off x="5440680" y="1395095"/>
          <a:ext cx="5943600" cy="4480560"/>
        </p:xfrm>
        <a:graphic>
          <a:graphicData uri="http://schemas.openxmlformats.org/drawingml/2006/table">
            <a:tbl>
              <a:tblPr/>
              <a:tblGrid>
                <a:gridCol w="1634872"/>
                <a:gridCol w="3422536"/>
                <a:gridCol w="886192"/>
              </a:tblGrid>
              <a:tr h="497840">
                <a:tc>
                  <a:txBody>
                    <a:bodyPr/>
                    <a:lstStyle/>
                    <a:p>
                      <a:pPr marL="0" indent="0" algn="ctr">
                        <a:buNone/>
                      </a:pPr>
                      <a:r>
                        <a:rPr lang="en-US" sz="1400" dirty="0">
                          <a:solidFill>
                            <a:srgbClr val="000000"/>
                          </a:solidFill>
                        </a:rPr>
                        <a:t>维度</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检查内容</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标准依据</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97840">
                <a:tc>
                  <a:txBody>
                    <a:bodyPr/>
                    <a:lstStyle/>
                    <a:p>
                      <a:pPr marL="0" indent="0" algn="ctr">
                        <a:buNone/>
                      </a:pPr>
                      <a:r>
                        <a:rPr lang="en-US" sz="1400" dirty="0">
                          <a:solidFill>
                            <a:srgbClr val="FF0000"/>
                          </a:solidFill>
                        </a:rPr>
                        <a:t>身份鉴别</a:t>
                      </a:r>
                      <a:endParaRPr lang="en-US" sz="1400" dirty="0">
                        <a:solidFill>
                          <a:srgbClr val="FF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口令复杂度、登录失败处理、远程管理加密</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8.1.4.1</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97840">
                <a:tc>
                  <a:txBody>
                    <a:bodyPr/>
                    <a:lstStyle/>
                    <a:p>
                      <a:pPr marL="0" indent="0" algn="ctr">
                        <a:buNone/>
                      </a:pPr>
                      <a:r>
                        <a:rPr lang="en-US" sz="1400" dirty="0">
                          <a:solidFill>
                            <a:srgbClr val="FF0000"/>
                          </a:solidFill>
                        </a:rPr>
                        <a:t>访问控制</a:t>
                      </a:r>
                      <a:endParaRPr lang="en-US" sz="1400" dirty="0">
                        <a:solidFill>
                          <a:srgbClr val="FF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账户权限、默认账户、最小权限原则</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8.1.4.2</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97840">
                <a:tc>
                  <a:txBody>
                    <a:bodyPr/>
                    <a:lstStyle/>
                    <a:p>
                      <a:pPr marL="0" indent="0" algn="ctr">
                        <a:buNone/>
                      </a:pPr>
                      <a:r>
                        <a:rPr lang="en-US" sz="1400" dirty="0">
                          <a:solidFill>
                            <a:srgbClr val="000000"/>
                          </a:solidFill>
                        </a:rPr>
                        <a:t>安全审计</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审计策略、审计日志保护</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8.1.4.3</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97840">
                <a:tc>
                  <a:txBody>
                    <a:bodyPr/>
                    <a:lstStyle/>
                    <a:p>
                      <a:pPr marL="0" indent="0" algn="ctr">
                        <a:buNone/>
                      </a:pPr>
                      <a:r>
                        <a:rPr lang="en-US" sz="1400" dirty="0">
                          <a:solidFill>
                            <a:srgbClr val="000000"/>
                          </a:solidFill>
                        </a:rPr>
                        <a:t>入侵防范</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最小安装、关闭高危端口、漏洞管理</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8.1.4.4</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97840">
                <a:tc>
                  <a:txBody>
                    <a:bodyPr/>
                    <a:lstStyle/>
                    <a:p>
                      <a:pPr marL="0" indent="0" algn="ctr">
                        <a:buNone/>
                      </a:pPr>
                      <a:r>
                        <a:rPr lang="en-US" sz="1400" dirty="0">
                          <a:solidFill>
                            <a:srgbClr val="000000"/>
                          </a:solidFill>
                        </a:rPr>
                        <a:t>恶意代码防范</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防病毒软件安装、病毒库更新</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8.1.4.5</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97840">
                <a:tc>
                  <a:txBody>
                    <a:bodyPr/>
                    <a:lstStyle/>
                    <a:p>
                      <a:pPr marL="0" indent="0" algn="ctr">
                        <a:buNone/>
                      </a:pPr>
                      <a:r>
                        <a:rPr lang="en-US" sz="1400" dirty="0">
                          <a:solidFill>
                            <a:srgbClr val="000000"/>
                          </a:solidFill>
                        </a:rPr>
                        <a:t>数据完整性/保密性</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数据传输/存储加密</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8.1.4.7/8</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97840">
                <a:tc>
                  <a:txBody>
                    <a:bodyPr/>
                    <a:lstStyle/>
                    <a:p>
                      <a:pPr marL="0" indent="0" algn="ctr">
                        <a:buNone/>
                      </a:pPr>
                      <a:r>
                        <a:rPr lang="en-US" sz="1400" dirty="0">
                          <a:solidFill>
                            <a:srgbClr val="000000"/>
                          </a:solidFill>
                        </a:rPr>
                        <a:t>数据备份恢复</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备份策略</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8.1.4.9</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97840">
                <a:tc>
                  <a:txBody>
                    <a:bodyPr/>
                    <a:lstStyle/>
                    <a:p>
                      <a:pPr marL="0" indent="0" algn="ctr">
                        <a:buNone/>
                      </a:pPr>
                      <a:r>
                        <a:rPr lang="en-US" sz="1400" dirty="0">
                          <a:solidFill>
                            <a:srgbClr val="000000"/>
                          </a:solidFill>
                        </a:rPr>
                        <a:t>剩余信息保护</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存储空间清除</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8.1.4.10</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身份鉴别核查</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371600"/>
            <a:ext cx="10972800" cy="1874520"/>
          </a:xfrm>
          <a:prstGeom prst="rect">
            <a:avLst/>
          </a:prstGeom>
        </p:spPr>
      </p:pic>
      <p:sp>
        <p:nvSpPr>
          <p:cNvPr id="7" name="Text 1"/>
          <p:cNvSpPr/>
          <p:nvPr/>
        </p:nvSpPr>
        <p:spPr>
          <a:xfrm>
            <a:off x="914400" y="1615440"/>
            <a:ext cx="10433304" cy="438864"/>
          </a:xfrm>
          <a:prstGeom prst="rect">
            <a:avLst/>
          </a:prstGeom>
          <a:noFill/>
        </p:spPr>
        <p:txBody>
          <a:bodyPr wrap="none" lIns="0" tIns="0" rIns="0" bIns="0" rtlCol="0" anchor="t">
            <a:spAutoFit/>
          </a:bodyPr>
          <a:lstStyle/>
          <a:p>
            <a:pPr marL="0" indent="0" algn="l">
              <a:lnSpc>
                <a:spcPct val="10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GB/T 22239 8.1.4.1</a:t>
            </a:r>
            <a:endParaRPr lang="en-US" sz="2160" dirty="0"/>
          </a:p>
        </p:txBody>
      </p:sp>
      <p:sp>
        <p:nvSpPr>
          <p:cNvPr id="8" name="Text 2"/>
          <p:cNvSpPr/>
          <p:nvPr/>
        </p:nvSpPr>
        <p:spPr>
          <a:xfrm>
            <a:off x="914400" y="2087880"/>
            <a:ext cx="10433304" cy="984885"/>
          </a:xfrm>
          <a:prstGeom prst="rect">
            <a:avLst/>
          </a:prstGeom>
          <a:noFill/>
        </p:spPr>
        <p:txBody>
          <a:bodyPr wrap="square" lIns="0" tIns="0" rIns="0" bIns="0" rtlCol="0" anchor="t">
            <a:spAutoFit/>
          </a:bodyPr>
          <a:lstStyle/>
          <a:p>
            <a:pPr marL="0" indent="0" algn="l">
              <a:lnSpc>
                <a:spcPct val="160000"/>
              </a:lnSpc>
              <a:buNone/>
            </a:pPr>
            <a:r>
              <a:rPr lang="en-US" sz="2000" dirty="0">
                <a:solidFill>
                  <a:srgbClr val="333333"/>
                </a:solidFill>
                <a:latin typeface="思源黑体 CN" pitchFamily="34" charset="0"/>
                <a:ea typeface="思源黑体 CN" pitchFamily="34" charset="-122"/>
                <a:cs typeface="思源黑体 CN" pitchFamily="34" charset="-120"/>
              </a:rPr>
              <a:t>“应对登录的用户进行身份标识和鉴别，身份标识具有唯一性，身份鉴别信息具有复杂度要求并定期更换。”</a:t>
            </a:r>
            <a:endParaRPr lang="en-US" sz="2000" dirty="0">
              <a:solidFill>
                <a:srgbClr val="333333"/>
              </a:solidFill>
              <a:latin typeface="思源黑体 CN" pitchFamily="34" charset="0"/>
              <a:ea typeface="思源黑体 CN" pitchFamily="34" charset="-122"/>
              <a:cs typeface="思源黑体 CN" pitchFamily="34" charset="-120"/>
            </a:endParaRPr>
          </a:p>
        </p:txBody>
      </p:sp>
      <p:graphicFrame>
        <p:nvGraphicFramePr>
          <p:cNvPr id="9" name="Table 0"/>
          <p:cNvGraphicFramePr>
            <a:graphicFrameLocks noGrp="1"/>
          </p:cNvGraphicFramePr>
          <p:nvPr/>
        </p:nvGraphicFramePr>
        <p:xfrm>
          <a:off x="609600" y="3413760"/>
          <a:ext cx="10972800" cy="2773680"/>
        </p:xfrm>
        <a:graphic>
          <a:graphicData uri="http://schemas.openxmlformats.org/drawingml/2006/table">
            <a:tbl>
              <a:tblPr/>
              <a:tblGrid>
                <a:gridCol w="808843"/>
                <a:gridCol w="2411269"/>
                <a:gridCol w="3693209"/>
                <a:gridCol w="4059478"/>
              </a:tblGrid>
              <a:tr h="396240">
                <a:tc>
                  <a:txBody>
                    <a:bodyPr/>
                    <a:lstStyle/>
                    <a:p>
                      <a:pPr marL="0" indent="0" algn="ctr">
                        <a:buNone/>
                      </a:pPr>
                      <a:r>
                        <a:rPr lang="en-US" sz="1600" dirty="0">
                          <a:solidFill>
                            <a:srgbClr val="000000"/>
                          </a:solidFill>
                        </a:rPr>
                        <a:t>序号</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检查项</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Windows检查方法</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Linux检查方法</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96240">
                <a:tc>
                  <a:txBody>
                    <a:bodyPr/>
                    <a:lstStyle/>
                    <a:p>
                      <a:pPr marL="0" indent="0" algn="ctr">
                        <a:buNone/>
                      </a:pPr>
                      <a:r>
                        <a:rPr lang="en-US" sz="1600" dirty="0">
                          <a:solidFill>
                            <a:srgbClr val="000000"/>
                          </a:solidFill>
                        </a:rPr>
                        <a:t>1</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密码复杂度策略</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secpol.msc密码策略</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/etc/security/pwquality.conf</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96240">
                <a:tc>
                  <a:txBody>
                    <a:bodyPr/>
                    <a:lstStyle/>
                    <a:p>
                      <a:pPr marL="0" indent="0" algn="ctr">
                        <a:buNone/>
                      </a:pPr>
                      <a:r>
                        <a:rPr lang="en-US" sz="1600" dirty="0">
                          <a:solidFill>
                            <a:srgbClr val="000000"/>
                          </a:solidFill>
                        </a:rPr>
                        <a:t>2</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密码最小长度</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密码最小长度8位</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minlen=8+</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96240">
                <a:tc>
                  <a:txBody>
                    <a:bodyPr/>
                    <a:lstStyle/>
                    <a:p>
                      <a:pPr marL="0" indent="0" algn="ctr">
                        <a:buNone/>
                      </a:pPr>
                      <a:r>
                        <a:rPr lang="en-US" sz="1600" dirty="0">
                          <a:solidFill>
                            <a:srgbClr val="000000"/>
                          </a:solidFill>
                        </a:rPr>
                        <a:t>3</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密码最长使用期限</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密码最长使用期限90天</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/etc/login.defsPASS_MAX_DAYS</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96240">
                <a:tc>
                  <a:txBody>
                    <a:bodyPr/>
                    <a:lstStyle/>
                    <a:p>
                      <a:pPr marL="0" indent="0" algn="ctr">
                        <a:buNone/>
                      </a:pPr>
                      <a:r>
                        <a:rPr lang="en-US" sz="1600" dirty="0">
                          <a:solidFill>
                            <a:srgbClr val="000000"/>
                          </a:solidFill>
                        </a:rPr>
                        <a:t>4</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密码历史</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强制密码历史5个</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/etc/security/opasswd</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96240">
                <a:tc>
                  <a:txBody>
                    <a:bodyPr/>
                    <a:lstStyle/>
                    <a:p>
                      <a:pPr marL="0" indent="0" algn="ctr">
                        <a:buNone/>
                      </a:pPr>
                      <a:r>
                        <a:rPr lang="en-US" sz="1600" dirty="0">
                          <a:solidFill>
                            <a:srgbClr val="000000"/>
                          </a:solidFill>
                        </a:rPr>
                        <a:t>5</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登录失败锁定</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账户锁定策略5次失败锁定</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pam_tally2/faillock</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96240">
                <a:tc>
                  <a:txBody>
                    <a:bodyPr/>
                    <a:lstStyle/>
                    <a:p>
                      <a:pPr marL="0" indent="0" algn="ctr">
                        <a:buNone/>
                      </a:pPr>
                      <a:r>
                        <a:rPr lang="en-US" sz="1600" dirty="0">
                          <a:solidFill>
                            <a:srgbClr val="000000"/>
                          </a:solidFill>
                        </a:rPr>
                        <a:t>6</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远程管理加密</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使用RDP/SSH代替Telnet</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禁用Telnet，使用SSH</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7010" y="146050"/>
            <a:ext cx="11777980" cy="6624955"/>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386760"/>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身份鉴别怎么查——Windows 与 Linux 对照</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055370"/>
            <a:ext cx="10972800" cy="2632710"/>
          </a:xfrm>
          <a:prstGeom prst="rect">
            <a:avLst/>
          </a:prstGeom>
          <a:effectLst>
            <a:outerShdw blurRad="387096000" dist="193548000" dir="-1" algn="bl" rotWithShape="0">
              <a:srgbClr val="000000">
                <a:alpha val="500000000"/>
              </a:srgbClr>
            </a:outerShdw>
          </a:effectLst>
        </p:spPr>
      </p:pic>
      <p:pic>
        <p:nvPicPr>
          <p:cNvPr id="7" name="Image 4"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29640" y="1197610"/>
            <a:ext cx="60960" cy="304800"/>
          </a:xfrm>
          <a:prstGeom prst="rect">
            <a:avLst/>
          </a:prstGeom>
        </p:spPr>
      </p:pic>
      <p:sp>
        <p:nvSpPr>
          <p:cNvPr id="8" name="Text 1"/>
          <p:cNvSpPr/>
          <p:nvPr/>
        </p:nvSpPr>
        <p:spPr>
          <a:xfrm>
            <a:off x="1112520" y="1153795"/>
            <a:ext cx="6364224" cy="480060"/>
          </a:xfrm>
          <a:prstGeom prst="rect">
            <a:avLst/>
          </a:prstGeom>
          <a:noFill/>
        </p:spPr>
        <p:txBody>
          <a:bodyPr wrap="none" lIns="0" tIns="0" rIns="0" bIns="0" rtlCol="0" anchor="t">
            <a:spAutoFit/>
          </a:bodyPr>
          <a:lstStyle/>
          <a:p>
            <a:pPr marL="0" indent="0" algn="l">
              <a:lnSpc>
                <a:spcPct val="100000"/>
              </a:lnSpc>
              <a:buNone/>
            </a:pPr>
            <a:r>
              <a:rPr lang="en-US" sz="2520" dirty="0">
                <a:solidFill>
                  <a:srgbClr val="143966"/>
                </a:solidFill>
                <a:latin typeface="思源黑体 CN Bold" pitchFamily="34" charset="0"/>
                <a:ea typeface="思源黑体 CN Bold" pitchFamily="34" charset="-122"/>
                <a:cs typeface="思源黑体 CN Bold" pitchFamily="34" charset="-120"/>
              </a:rPr>
              <a:t>Windows Server 配置核查（secpol.msc）</a:t>
            </a:r>
            <a:endParaRPr lang="en-US" sz="2520" dirty="0"/>
          </a:p>
        </p:txBody>
      </p:sp>
      <p:pic>
        <p:nvPicPr>
          <p:cNvPr id="9" name="Image 5"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3865880"/>
            <a:ext cx="10972800" cy="2668905"/>
          </a:xfrm>
          <a:prstGeom prst="rect">
            <a:avLst/>
          </a:prstGeom>
          <a:effectLst>
            <a:outerShdw blurRad="387096000" dist="193548000" dir="-1" algn="bl" rotWithShape="0">
              <a:srgbClr val="000000">
                <a:alpha val="500000000"/>
              </a:srgbClr>
            </a:outerShdw>
          </a:effectLst>
        </p:spPr>
      </p:pic>
      <p:pic>
        <p:nvPicPr>
          <p:cNvPr id="10" name="Image 6"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68680" y="4138930"/>
            <a:ext cx="60960" cy="304800"/>
          </a:xfrm>
          <a:prstGeom prst="rect">
            <a:avLst/>
          </a:prstGeom>
        </p:spPr>
      </p:pic>
      <p:sp>
        <p:nvSpPr>
          <p:cNvPr id="11" name="Text 2"/>
          <p:cNvSpPr/>
          <p:nvPr/>
        </p:nvSpPr>
        <p:spPr>
          <a:xfrm>
            <a:off x="1082040" y="4064000"/>
            <a:ext cx="4352544" cy="502920"/>
          </a:xfrm>
          <a:prstGeom prst="rect">
            <a:avLst/>
          </a:prstGeom>
          <a:noFill/>
        </p:spPr>
        <p:txBody>
          <a:bodyPr wrap="none" lIns="0" tIns="0" rIns="0" bIns="0" rtlCol="0" anchor="t">
            <a:spAutoFit/>
          </a:bodyPr>
          <a:lstStyle/>
          <a:p>
            <a:pPr marL="0" indent="0" algn="l">
              <a:lnSpc>
                <a:spcPct val="100000"/>
              </a:lnSpc>
              <a:buNone/>
            </a:pPr>
            <a:r>
              <a:rPr lang="en-US" sz="2640" dirty="0">
                <a:solidFill>
                  <a:srgbClr val="143966"/>
                </a:solidFill>
                <a:latin typeface="思源黑体 CN Bold" pitchFamily="34" charset="0"/>
                <a:ea typeface="思源黑体 CN Bold" pitchFamily="34" charset="-122"/>
                <a:cs typeface="思源黑体 CN Bold" pitchFamily="34" charset="-120"/>
              </a:rPr>
              <a:t>Linux 配置核查（关键文件）</a:t>
            </a:r>
            <a:endParaRPr lang="en-US" sz="2640" dirty="0"/>
          </a:p>
        </p:txBody>
      </p:sp>
      <p:pic>
        <p:nvPicPr>
          <p:cNvPr id="12" name="Image 7" descr="https://test.web.static.jianzeppt.com/ppt-temp-img3/dab9514f2693716e3128e735cf36c55a.png?x-oss-process=image/resize,w_1440,h_800,m_lfit/format,png"/>
          <p:cNvPicPr>
            <a:picLocks noChangeAspect="1"/>
          </p:cNvPicPr>
          <p:nvPr/>
        </p:nvPicPr>
        <p:blipFill>
          <a:blip r:embed="rId8"/>
          <a:stretch>
            <a:fillRect/>
          </a:stretch>
        </p:blipFill>
        <p:spPr>
          <a:xfrm>
            <a:off x="868680" y="1681480"/>
            <a:ext cx="10454640" cy="1832610"/>
          </a:xfrm>
          <a:prstGeom prst="rect">
            <a:avLst/>
          </a:prstGeom>
        </p:spPr>
      </p:pic>
      <p:graphicFrame>
        <p:nvGraphicFramePr>
          <p:cNvPr id="13" name="Table 0"/>
          <p:cNvGraphicFramePr>
            <a:graphicFrameLocks noGrp="1"/>
          </p:cNvGraphicFramePr>
          <p:nvPr/>
        </p:nvGraphicFramePr>
        <p:xfrm>
          <a:off x="3364865" y="1704340"/>
          <a:ext cx="4397375" cy="1786890"/>
        </p:xfrm>
        <a:graphic>
          <a:graphicData uri="http://schemas.openxmlformats.org/drawingml/2006/table">
            <a:tbl>
              <a:tblPr/>
              <a:tblGrid>
                <a:gridCol w="1043305"/>
                <a:gridCol w="1802130"/>
                <a:gridCol w="811530"/>
                <a:gridCol w="740410"/>
              </a:tblGrid>
              <a:tr h="255270">
                <a:tc>
                  <a:txBody>
                    <a:bodyPr/>
                    <a:lstStyle/>
                    <a:p>
                      <a:pPr marL="0" indent="0" algn="ctr">
                        <a:buNone/>
                      </a:pPr>
                      <a:r>
                        <a:rPr lang="en-US" sz="1200" dirty="0">
                          <a:solidFill>
                            <a:srgbClr val="000000"/>
                          </a:solidFill>
                        </a:rPr>
                        <a:t>策略路径</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策略名称</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合规要求</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检查结果</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55270">
                <a:tc>
                  <a:txBody>
                    <a:bodyPr/>
                    <a:lstStyle/>
                    <a:p>
                      <a:pPr marL="0" indent="0" algn="ctr">
                        <a:buNone/>
                      </a:pPr>
                      <a:r>
                        <a:rPr lang="en-US" sz="1200" dirty="0">
                          <a:solidFill>
                            <a:srgbClr val="000000"/>
                          </a:solidFill>
                        </a:rPr>
                        <a:t>密码策略</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密码必须符合复杂性要求</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已启用</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endParaRPr lang="en-US" sz="1200" dirty="0"/>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55270">
                <a:tc>
                  <a:txBody>
                    <a:bodyPr/>
                    <a:lstStyle/>
                    <a:p>
                      <a:pPr marL="0" indent="0" algn="ctr">
                        <a:buNone/>
                      </a:pPr>
                      <a:r>
                        <a:rPr lang="en-US" sz="1200" dirty="0">
                          <a:solidFill>
                            <a:srgbClr val="000000"/>
                          </a:solidFill>
                        </a:rPr>
                        <a:t>密码策略</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密码长度最小值</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8个字符</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endParaRPr lang="en-US" sz="1200" dirty="0"/>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55270">
                <a:tc>
                  <a:txBody>
                    <a:bodyPr/>
                    <a:lstStyle/>
                    <a:p>
                      <a:pPr marL="0" indent="0" algn="ctr">
                        <a:buNone/>
                      </a:pPr>
                      <a:r>
                        <a:rPr lang="en-US" sz="1200" dirty="0">
                          <a:solidFill>
                            <a:srgbClr val="000000"/>
                          </a:solidFill>
                        </a:rPr>
                        <a:t>密码策略</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密码最长使用期限</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90天</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endParaRPr lang="en-US" sz="1200" dirty="0"/>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55270">
                <a:tc>
                  <a:txBody>
                    <a:bodyPr/>
                    <a:lstStyle/>
                    <a:p>
                      <a:pPr marL="0" indent="0" algn="ctr">
                        <a:buNone/>
                      </a:pPr>
                      <a:r>
                        <a:rPr lang="en-US" sz="1200" dirty="0">
                          <a:solidFill>
                            <a:srgbClr val="000000"/>
                          </a:solidFill>
                        </a:rPr>
                        <a:t>密码策略</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强制密码历史</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5个</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endParaRPr lang="en-US" sz="1200" dirty="0"/>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55270">
                <a:tc>
                  <a:txBody>
                    <a:bodyPr/>
                    <a:lstStyle/>
                    <a:p>
                      <a:pPr marL="0" indent="0" algn="ctr">
                        <a:buNone/>
                      </a:pPr>
                      <a:r>
                        <a:rPr lang="en-US" sz="1200" dirty="0">
                          <a:solidFill>
                            <a:srgbClr val="000000"/>
                          </a:solidFill>
                        </a:rPr>
                        <a:t>账户锁定策略</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账户锁定阈值</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5次</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endParaRPr lang="en-US" sz="1200" dirty="0"/>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55270">
                <a:tc>
                  <a:txBody>
                    <a:bodyPr/>
                    <a:lstStyle/>
                    <a:p>
                      <a:pPr marL="0" indent="0" algn="ctr">
                        <a:buNone/>
                      </a:pPr>
                      <a:r>
                        <a:rPr lang="en-US" sz="1200" dirty="0">
                          <a:solidFill>
                            <a:srgbClr val="000000"/>
                          </a:solidFill>
                        </a:rPr>
                        <a:t>账户锁定策略</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账户锁定时间</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15分钟</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endParaRPr lang="en-US" sz="1200" dirty="0"/>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pic>
        <p:nvPicPr>
          <p:cNvPr id="14" name="Image 8" descr="https://test.web.static.jianzeppt.com/ppt-temp-img3/dab9514f2693716e3128e735cf36c55a.png?x-oss-process=image/resize,w_1440,h_800,m_lfit/format,png"/>
          <p:cNvPicPr>
            <a:picLocks noChangeAspect="1"/>
          </p:cNvPicPr>
          <p:nvPr/>
        </p:nvPicPr>
        <p:blipFill>
          <a:blip r:embed="rId8"/>
          <a:stretch>
            <a:fillRect/>
          </a:stretch>
        </p:blipFill>
        <p:spPr>
          <a:xfrm>
            <a:off x="868680" y="4545330"/>
            <a:ext cx="10454640" cy="1905000"/>
          </a:xfrm>
          <a:prstGeom prst="rect">
            <a:avLst/>
          </a:prstGeom>
        </p:spPr>
      </p:pic>
      <p:graphicFrame>
        <p:nvGraphicFramePr>
          <p:cNvPr id="19" name="Table 1"/>
          <p:cNvGraphicFramePr>
            <a:graphicFrameLocks noGrp="1"/>
          </p:cNvGraphicFramePr>
          <p:nvPr/>
        </p:nvGraphicFramePr>
        <p:xfrm>
          <a:off x="3364230" y="4558030"/>
          <a:ext cx="4866005" cy="1862455"/>
        </p:xfrm>
        <a:graphic>
          <a:graphicData uri="http://schemas.openxmlformats.org/drawingml/2006/table">
            <a:tbl>
              <a:tblPr/>
              <a:tblGrid>
                <a:gridCol w="1588770"/>
                <a:gridCol w="1414145"/>
                <a:gridCol w="1863090"/>
              </a:tblGrid>
              <a:tr h="266065">
                <a:tc>
                  <a:txBody>
                    <a:bodyPr/>
                    <a:lstStyle/>
                    <a:p>
                      <a:pPr marL="0" indent="0" algn="ctr">
                        <a:buNone/>
                      </a:pPr>
                      <a:r>
                        <a:rPr lang="en-US" sz="1200" dirty="0">
                          <a:solidFill>
                            <a:srgbClr val="000000"/>
                          </a:solidFill>
                        </a:rPr>
                        <a:t>配置文件</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参数</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合规要求</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66065">
                <a:tc>
                  <a:txBody>
                    <a:bodyPr/>
                    <a:lstStyle/>
                    <a:p>
                      <a:pPr marL="0" indent="0" algn="ctr">
                        <a:buNone/>
                      </a:pPr>
                      <a:r>
                        <a:rPr lang="en-US" sz="1200" dirty="0">
                          <a:solidFill>
                            <a:srgbClr val="000000"/>
                          </a:solidFill>
                        </a:rPr>
                        <a:t>/etc/login.defs</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PASS_MAX_DAYS</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90</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66065">
                <a:tc>
                  <a:txBody>
                    <a:bodyPr/>
                    <a:lstStyle/>
                    <a:p>
                      <a:pPr marL="0" indent="0" algn="ctr">
                        <a:buNone/>
                      </a:pPr>
                      <a:r>
                        <a:rPr lang="en-US" sz="1200" dirty="0">
                          <a:solidFill>
                            <a:srgbClr val="000000"/>
                          </a:solidFill>
                        </a:rPr>
                        <a:t>/etc/login.defs</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PASS_MIN_DAYS</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1</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66065">
                <a:tc>
                  <a:txBody>
                    <a:bodyPr/>
                    <a:lstStyle/>
                    <a:p>
                      <a:pPr marL="0" indent="0" algn="ctr">
                        <a:buNone/>
                      </a:pPr>
                      <a:r>
                        <a:rPr lang="en-US" sz="1200" dirty="0">
                          <a:solidFill>
                            <a:srgbClr val="000000"/>
                          </a:solidFill>
                        </a:rPr>
                        <a:t>/etc/login.defs</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PASS_MIN_LEN</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8</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66065">
                <a:tc>
                  <a:txBody>
                    <a:bodyPr/>
                    <a:lstStyle/>
                    <a:p>
                      <a:pPr marL="0" indent="0" algn="ctr">
                        <a:buNone/>
                      </a:pPr>
                      <a:r>
                        <a:rPr lang="en-US" sz="1200" dirty="0">
                          <a:solidFill>
                            <a:srgbClr val="000000"/>
                          </a:solidFill>
                        </a:rPr>
                        <a:t>/etc/login.defs</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PASS_WARN_AGE</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7</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66065">
                <a:tc>
                  <a:txBody>
                    <a:bodyPr/>
                    <a:lstStyle/>
                    <a:p>
                      <a:pPr marL="0" indent="0" algn="ctr">
                        <a:buNone/>
                      </a:pPr>
                      <a:r>
                        <a:rPr lang="en-US" sz="1200" dirty="0">
                          <a:solidFill>
                            <a:srgbClr val="000000"/>
                          </a:solidFill>
                        </a:rPr>
                        <a:t>/etc/ssh/sshd_config</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PermitRootLogin</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no（禁止root直接登录）</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66065">
                <a:tc>
                  <a:txBody>
                    <a:bodyPr/>
                    <a:lstStyle/>
                    <a:p>
                      <a:pPr marL="0" indent="0" algn="ctr">
                        <a:buNone/>
                      </a:pPr>
                      <a:r>
                        <a:rPr lang="en-US" sz="1200" dirty="0">
                          <a:solidFill>
                            <a:srgbClr val="000000"/>
                          </a:solidFill>
                        </a:rPr>
                        <a:t>/etc/ssh/sshd_config</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Protocol</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2（仅使用SSHv2）</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graphicFrame>
        <p:nvGraphicFramePr>
          <p:cNvPr id="15" name="对象 14">
            <a:hlinkClick r:id="" action="ppaction://ole?verb="/>
          </p:cNvPr>
          <p:cNvGraphicFramePr>
            <a:graphicFrameLocks noChangeAspect="1"/>
          </p:cNvGraphicFramePr>
          <p:nvPr/>
        </p:nvGraphicFramePr>
        <p:xfrm>
          <a:off x="9388475" y="2264410"/>
          <a:ext cx="971550" cy="666750"/>
        </p:xfrm>
        <a:graphic>
          <a:graphicData uri="http://schemas.openxmlformats.org/presentationml/2006/ole">
            <mc:AlternateContent xmlns:mc="http://schemas.openxmlformats.org/markup-compatibility/2006">
              <mc:Choice xmlns:v="urn:schemas-microsoft-com:vml" Requires="v">
                <p:oleObj spid="_x0000_s2049" name="" showAsIcon="1" r:id="rId9" imgW="971550" imgH="666750" progId="Word.Document.12">
                  <p:embed/>
                </p:oleObj>
              </mc:Choice>
              <mc:Fallback>
                <p:oleObj name="" showAsIcon="1" r:id="rId9" imgW="971550" imgH="666750" progId="Word.Document.12">
                  <p:embed/>
                  <p:pic>
                    <p:nvPicPr>
                      <p:cNvPr id="0" name="图片 2048"/>
                      <p:cNvPicPr/>
                      <p:nvPr/>
                    </p:nvPicPr>
                    <p:blipFill>
                      <a:blip r:embed="rId10"/>
                      <a:stretch>
                        <a:fillRect/>
                      </a:stretch>
                    </p:blipFill>
                    <p:spPr>
                      <a:xfrm>
                        <a:off x="9388475" y="2264410"/>
                        <a:ext cx="971550" cy="666750"/>
                      </a:xfrm>
                      <a:prstGeom prst="rect">
                        <a:avLst/>
                      </a:prstGeom>
                    </p:spPr>
                  </p:pic>
                </p:oleObj>
              </mc:Fallback>
            </mc:AlternateContent>
          </a:graphicData>
        </a:graphic>
      </p:graphicFrame>
      <p:graphicFrame>
        <p:nvGraphicFramePr>
          <p:cNvPr id="17" name="对象 16">
            <a:hlinkClick r:id="" action="ppaction://ole?verb="/>
          </p:cNvPr>
          <p:cNvGraphicFramePr>
            <a:graphicFrameLocks noChangeAspect="1"/>
          </p:cNvGraphicFramePr>
          <p:nvPr/>
        </p:nvGraphicFramePr>
        <p:xfrm>
          <a:off x="9388475" y="5164455"/>
          <a:ext cx="971550" cy="666750"/>
        </p:xfrm>
        <a:graphic>
          <a:graphicData uri="http://schemas.openxmlformats.org/presentationml/2006/ole">
            <mc:AlternateContent xmlns:mc="http://schemas.openxmlformats.org/markup-compatibility/2006">
              <mc:Choice xmlns:v="urn:schemas-microsoft-com:vml" Requires="v">
                <p:oleObj spid="_x0000_s2051" name="" showAsIcon="1" r:id="rId11" imgW="971550" imgH="666750" progId="Word.Document.12">
                  <p:embed/>
                </p:oleObj>
              </mc:Choice>
              <mc:Fallback>
                <p:oleObj name="" showAsIcon="1" r:id="rId11" imgW="971550" imgH="666750" progId="Word.Document.12">
                  <p:embed/>
                  <p:pic>
                    <p:nvPicPr>
                      <p:cNvPr id="0" name="图片 2050"/>
                      <p:cNvPicPr/>
                      <p:nvPr/>
                    </p:nvPicPr>
                    <p:blipFill>
                      <a:blip r:embed="rId12"/>
                      <a:stretch>
                        <a:fillRect/>
                      </a:stretch>
                    </p:blipFill>
                    <p:spPr>
                      <a:xfrm>
                        <a:off x="9388475" y="5164455"/>
                        <a:ext cx="971550" cy="666750"/>
                      </a:xfrm>
                      <a:prstGeom prst="rect">
                        <a:avLst/>
                      </a:prstGeom>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访问控制核查</a:t>
            </a:r>
            <a:endParaRPr lang="en-US" sz="2760" dirty="0"/>
          </a:p>
        </p:txBody>
      </p:sp>
      <p:pic>
        <p:nvPicPr>
          <p:cNvPr id="6" name="Image 3" descr="https://test.web.static.jianzeppt.com/ppt-temp-img3/4076d2d1373c0e3e70687f8ef3e4e976.png?x-oss-process=image/resize,w_1440,h_800,m_lfit/format,png"/>
          <p:cNvPicPr>
            <a:picLocks noChangeAspect="1"/>
          </p:cNvPicPr>
          <p:nvPr/>
        </p:nvPicPr>
        <p:blipFill>
          <a:blip r:embed="rId4"/>
          <a:stretch>
            <a:fillRect/>
          </a:stretch>
        </p:blipFill>
        <p:spPr>
          <a:xfrm>
            <a:off x="609600" y="1371600"/>
            <a:ext cx="10972800" cy="1356360"/>
          </a:xfrm>
          <a:prstGeom prst="rect">
            <a:avLst/>
          </a:prstGeom>
        </p:spPr>
      </p:pic>
      <p:sp>
        <p:nvSpPr>
          <p:cNvPr id="7" name="Text 1"/>
          <p:cNvSpPr/>
          <p:nvPr/>
        </p:nvSpPr>
        <p:spPr>
          <a:xfrm>
            <a:off x="792480" y="1554480"/>
            <a:ext cx="106161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143966"/>
                </a:solidFill>
                <a:latin typeface="思源黑体 CN Bold" pitchFamily="34" charset="0"/>
                <a:ea typeface="思源黑体 CN Bold" pitchFamily="34" charset="-122"/>
                <a:cs typeface="思源黑体 CN Bold" pitchFamily="34" charset="-120"/>
              </a:rPr>
              <a:t>GB/T 22239 8.1.4.2</a:t>
            </a:r>
            <a:endParaRPr lang="en-US" sz="1680" dirty="0"/>
          </a:p>
        </p:txBody>
      </p:sp>
      <p:sp>
        <p:nvSpPr>
          <p:cNvPr id="8" name="Text 2"/>
          <p:cNvSpPr/>
          <p:nvPr/>
        </p:nvSpPr>
        <p:spPr>
          <a:xfrm>
            <a:off x="792480" y="1935480"/>
            <a:ext cx="10616184" cy="609600"/>
          </a:xfrm>
          <a:prstGeom prst="rect">
            <a:avLst/>
          </a:prstGeom>
          <a:noFill/>
        </p:spPr>
        <p:txBody>
          <a:bodyPr wrap="square" lIns="0" tIns="0" rIns="0" bIns="0" rtlCol="0" anchor="ctr">
            <a:spAutoFit/>
          </a:bodyPr>
          <a:lstStyle/>
          <a:p>
            <a:pPr marL="0" indent="0" algn="l">
              <a:lnSpc>
                <a:spcPct val="140000"/>
              </a:lnSpc>
              <a:buNone/>
            </a:pPr>
            <a:r>
              <a:rPr lang="en-US" sz="1680" dirty="0">
                <a:solidFill>
                  <a:srgbClr val="555555"/>
                </a:solidFill>
                <a:latin typeface="思源黑体 CN" pitchFamily="34" charset="0"/>
                <a:ea typeface="思源黑体 CN" pitchFamily="34" charset="-122"/>
                <a:cs typeface="思源黑体 CN" pitchFamily="34" charset="-120"/>
              </a:rPr>
              <a:t>“应对登录的用户分配账户和权限；应重命名或删除默认账户，修改默认账户的默认口令；应及时删除或停用多余的、过期的账户，避免共享账户的存在；应授予管理用户所需的最小权限，实现管理用户的权限分离。”</a:t>
            </a:r>
            <a:endParaRPr lang="en-US" sz="1680" dirty="0"/>
          </a:p>
        </p:txBody>
      </p:sp>
      <p:pic>
        <p:nvPicPr>
          <p:cNvPr id="9" name="Image 4" descr="https://test.web.static.jianzeppt.com/ppt-temp-img3/da69639442a34c09e61b2d871501e369.png?x-oss-process=image/resize,w_1440,h_800,m_lfit/format,png"/>
          <p:cNvPicPr>
            <a:picLocks noChangeAspect="1"/>
          </p:cNvPicPr>
          <p:nvPr/>
        </p:nvPicPr>
        <p:blipFill>
          <a:blip r:embed="rId5"/>
          <a:stretch>
            <a:fillRect/>
          </a:stretch>
        </p:blipFill>
        <p:spPr>
          <a:xfrm>
            <a:off x="609600" y="2895600"/>
            <a:ext cx="6431280" cy="3352800"/>
          </a:xfrm>
          <a:prstGeom prst="rect">
            <a:avLst/>
          </a:prstGeom>
        </p:spPr>
      </p:pic>
      <p:pic>
        <p:nvPicPr>
          <p:cNvPr id="10" name="Image 5" descr="https://test.web.static.jianzeppt.com/ppt-temp-img3/6219297937280a47b715e3c76f9a7f8c.png?x-oss-process=image/resize,w_1440,h_800,m_lfit/format,png"/>
          <p:cNvPicPr>
            <a:picLocks noChangeAspect="1"/>
          </p:cNvPicPr>
          <p:nvPr/>
        </p:nvPicPr>
        <p:blipFill>
          <a:blip r:embed="rId6"/>
          <a:stretch>
            <a:fillRect/>
          </a:stretch>
        </p:blipFill>
        <p:spPr>
          <a:xfrm>
            <a:off x="624840" y="2910840"/>
            <a:ext cx="6400800" cy="609600"/>
          </a:xfrm>
          <a:prstGeom prst="rect">
            <a:avLst/>
          </a:prstGeom>
        </p:spPr>
      </p:pic>
      <p:sp>
        <p:nvSpPr>
          <p:cNvPr id="11" name="Text 3"/>
          <p:cNvSpPr/>
          <p:nvPr/>
        </p:nvSpPr>
        <p:spPr>
          <a:xfrm>
            <a:off x="868680" y="3032760"/>
            <a:ext cx="124358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FFFFFF"/>
                </a:solidFill>
                <a:latin typeface="思源黑体 CN Bold" pitchFamily="34" charset="0"/>
                <a:ea typeface="思源黑体 CN Bold" pitchFamily="34" charset="-122"/>
                <a:cs typeface="思源黑体 CN Bold" pitchFamily="34" charset="-120"/>
              </a:rPr>
              <a:t>核心检查项</a:t>
            </a:r>
            <a:endParaRPr lang="en-US" sz="1920" dirty="0"/>
          </a:p>
        </p:txBody>
      </p:sp>
      <p:graphicFrame>
        <p:nvGraphicFramePr>
          <p:cNvPr id="12" name="Table 0"/>
          <p:cNvGraphicFramePr>
            <a:graphicFrameLocks noGrp="1"/>
          </p:cNvGraphicFramePr>
          <p:nvPr/>
        </p:nvGraphicFramePr>
        <p:xfrm>
          <a:off x="825500" y="3520440"/>
          <a:ext cx="5967730" cy="2706370"/>
        </p:xfrm>
        <a:graphic>
          <a:graphicData uri="http://schemas.openxmlformats.org/drawingml/2006/table">
            <a:tbl>
              <a:tblPr/>
              <a:tblGrid>
                <a:gridCol w="459740"/>
                <a:gridCol w="823595"/>
                <a:gridCol w="4684395"/>
              </a:tblGrid>
              <a:tr h="375285">
                <a:tc>
                  <a:txBody>
                    <a:bodyPr/>
                    <a:lstStyle/>
                    <a:p>
                      <a:pPr marL="0" indent="0" algn="ctr">
                        <a:buNone/>
                      </a:pPr>
                      <a:r>
                        <a:rPr lang="en-US" sz="1200" dirty="0">
                          <a:solidFill>
                            <a:srgbClr val="000000"/>
                          </a:solidFill>
                        </a:rPr>
                        <a:t>序号</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检查项</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合规要点</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75285">
                <a:tc>
                  <a:txBody>
                    <a:bodyPr/>
                    <a:lstStyle/>
                    <a:p>
                      <a:pPr marL="0" indent="0" algn="ctr">
                        <a:buNone/>
                      </a:pPr>
                      <a:r>
                        <a:rPr lang="en-US" sz="1200" dirty="0">
                          <a:solidFill>
                            <a:srgbClr val="000000"/>
                          </a:solidFill>
                        </a:rPr>
                        <a:t>1</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默认账户</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Windows：Administrator是否重命名？Guest是否禁用？</a:t>
                      </a:r>
                      <a:endParaRPr lang="en-US" sz="1200" dirty="0">
                        <a:solidFill>
                          <a:srgbClr val="000000"/>
                        </a:solidFill>
                      </a:endParaRPr>
                    </a:p>
                    <a:p>
                      <a:pPr marL="0" indent="0" algn="ctr">
                        <a:buNone/>
                      </a:pPr>
                      <a:r>
                        <a:rPr lang="en-US" sz="1200" dirty="0">
                          <a:solidFill>
                            <a:srgbClr val="000000"/>
                          </a:solidFill>
                        </a:rPr>
                        <a:t>Linux：root是否允许直接登录？</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75285">
                <a:tc>
                  <a:txBody>
                    <a:bodyPr/>
                    <a:lstStyle/>
                    <a:p>
                      <a:pPr marL="0" indent="0" algn="ctr">
                        <a:buNone/>
                      </a:pPr>
                      <a:r>
                        <a:rPr lang="en-US" sz="1200" dirty="0">
                          <a:solidFill>
                            <a:srgbClr val="000000"/>
                          </a:solidFill>
                        </a:rPr>
                        <a:t>2</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默认口令</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是否修改了默认密码？（如：admin/admin、root/root）</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75285">
                <a:tc>
                  <a:txBody>
                    <a:bodyPr/>
                    <a:lstStyle/>
                    <a:p>
                      <a:pPr marL="0" indent="0" algn="ctr">
                        <a:buNone/>
                      </a:pPr>
                      <a:r>
                        <a:rPr lang="en-US" sz="1200" dirty="0">
                          <a:solidFill>
                            <a:srgbClr val="000000"/>
                          </a:solidFill>
                        </a:rPr>
                        <a:t>3</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多余账户</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是否存在已离职人员账户？是否存在测试账户未清理？</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75285">
                <a:tc>
                  <a:txBody>
                    <a:bodyPr/>
                    <a:lstStyle/>
                    <a:p>
                      <a:pPr marL="0" indent="0" algn="ctr">
                        <a:buNone/>
                      </a:pPr>
                      <a:r>
                        <a:rPr lang="en-US" sz="1200" dirty="0">
                          <a:solidFill>
                            <a:srgbClr val="000000"/>
                          </a:solidFill>
                        </a:rPr>
                        <a:t>4</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共享账户</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是否存在多人共用同一账户的情况？</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75285">
                <a:tc>
                  <a:txBody>
                    <a:bodyPr/>
                    <a:lstStyle/>
                    <a:p>
                      <a:pPr marL="0" indent="0" algn="ctr">
                        <a:buNone/>
                      </a:pPr>
                      <a:r>
                        <a:rPr lang="en-US" sz="1200" dirty="0">
                          <a:solidFill>
                            <a:srgbClr val="000000"/>
                          </a:solidFill>
                        </a:rPr>
                        <a:t>5</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最小权限</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普通用户是否具有管理员权限？</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75285">
                <a:tc>
                  <a:txBody>
                    <a:bodyPr/>
                    <a:lstStyle/>
                    <a:p>
                      <a:pPr marL="0" indent="0" algn="ctr">
                        <a:buNone/>
                      </a:pPr>
                      <a:r>
                        <a:rPr lang="en-US" sz="1200" dirty="0">
                          <a:solidFill>
                            <a:srgbClr val="000000"/>
                          </a:solidFill>
                        </a:rPr>
                        <a:t>6</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权限分离</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系统管理员、安全管理员、审计管理员是否分属不同账户？</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pic>
        <p:nvPicPr>
          <p:cNvPr id="13" name="Image 6"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84720" y="2895600"/>
            <a:ext cx="4297680" cy="3352800"/>
          </a:xfrm>
          <a:prstGeom prst="rect">
            <a:avLst/>
          </a:prstGeom>
        </p:spPr>
      </p:pic>
      <p:pic>
        <p:nvPicPr>
          <p:cNvPr id="14" name="Image 7" descr="https://test.web.static.jianzeppt.com/ppt-temp-img3/8e274c184f0a8d3ba7a9a108c1127a6f.png?x-oss-process=image/resize,w_1440,h_800,m_lfit/format,png"/>
          <p:cNvPicPr>
            <a:picLocks noChangeAspect="1"/>
          </p:cNvPicPr>
          <p:nvPr/>
        </p:nvPicPr>
        <p:blipFill>
          <a:blip r:embed="rId9"/>
          <a:stretch>
            <a:fillRect/>
          </a:stretch>
        </p:blipFill>
        <p:spPr>
          <a:xfrm>
            <a:off x="7299960" y="2910840"/>
            <a:ext cx="4267200" cy="594360"/>
          </a:xfrm>
          <a:prstGeom prst="rect">
            <a:avLst/>
          </a:prstGeom>
        </p:spPr>
      </p:pic>
      <p:pic>
        <p:nvPicPr>
          <p:cNvPr id="15" name="Image 8"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543800" y="3093720"/>
            <a:ext cx="243840" cy="243840"/>
          </a:xfrm>
          <a:prstGeom prst="rect">
            <a:avLst/>
          </a:prstGeom>
        </p:spPr>
      </p:pic>
      <p:sp>
        <p:nvSpPr>
          <p:cNvPr id="16" name="Text 4"/>
          <p:cNvSpPr/>
          <p:nvPr/>
        </p:nvSpPr>
        <p:spPr>
          <a:xfrm>
            <a:off x="7909560" y="3032760"/>
            <a:ext cx="999744" cy="365760"/>
          </a:xfrm>
          <a:prstGeom prst="rect">
            <a:avLst/>
          </a:prstGeom>
          <a:noFill/>
        </p:spPr>
        <p:txBody>
          <a:bodyPr wrap="none" lIns="0" tIns="0" rIns="0" bIns="0" rtlCol="0" anchor="ctr"/>
          <a:lstStyle/>
          <a:p>
            <a:pPr marL="0" indent="0" algn="l">
              <a:lnSpc>
                <a:spcPct val="150000"/>
              </a:lnSpc>
              <a:buNone/>
            </a:pPr>
            <a:r>
              <a:rPr lang="en-US" sz="1920" dirty="0">
                <a:solidFill>
                  <a:srgbClr val="D80B00"/>
                </a:solidFill>
                <a:latin typeface="思源黑体 CN Bold" pitchFamily="34" charset="0"/>
                <a:ea typeface="思源黑体 CN Bold" pitchFamily="34" charset="-122"/>
                <a:cs typeface="思源黑体 CN Bold" pitchFamily="34" charset="-120"/>
              </a:rPr>
              <a:t>常见问题</a:t>
            </a:r>
            <a:endParaRPr lang="en-US" sz="1920" dirty="0"/>
          </a:p>
        </p:txBody>
      </p:sp>
      <p:sp>
        <p:nvSpPr>
          <p:cNvPr id="17" name="Text 5"/>
          <p:cNvSpPr/>
          <p:nvPr/>
        </p:nvSpPr>
        <p:spPr>
          <a:xfrm>
            <a:off x="7444740" y="3718560"/>
            <a:ext cx="34442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D80B00"/>
                </a:solidFill>
                <a:latin typeface="思源黑体 CN" pitchFamily="34" charset="0"/>
                <a:ea typeface="思源黑体 CN" pitchFamily="34" charset="-122"/>
                <a:cs typeface="思源黑体 CN" pitchFamily="34" charset="-120"/>
              </a:rPr>
              <a:t>❌</a:t>
            </a:r>
            <a:endParaRPr lang="en-US" sz="1920" dirty="0"/>
          </a:p>
        </p:txBody>
      </p:sp>
      <p:sp>
        <p:nvSpPr>
          <p:cNvPr id="18" name="Text 6"/>
          <p:cNvSpPr/>
          <p:nvPr/>
        </p:nvSpPr>
        <p:spPr>
          <a:xfrm>
            <a:off x="7848600" y="3688080"/>
            <a:ext cx="2660904" cy="304800"/>
          </a:xfrm>
          <a:prstGeom prst="rect">
            <a:avLst/>
          </a:prstGeom>
          <a:noFill/>
        </p:spPr>
        <p:txBody>
          <a:bodyPr wrap="none" lIns="0" tIns="0" rIns="0" bIns="0" rtlCol="0" anchor="t">
            <a:spAutoFit/>
          </a:bodyPr>
          <a:lstStyle/>
          <a:p>
            <a:pPr marL="0" indent="0" algn="l">
              <a:lnSpc>
                <a:spcPct val="140000"/>
              </a:lnSpc>
              <a:buNone/>
            </a:pPr>
            <a:r>
              <a:rPr lang="en-US" sz="1680" dirty="0">
                <a:solidFill>
                  <a:srgbClr val="333333"/>
                </a:solidFill>
                <a:latin typeface="思源黑体 CN" pitchFamily="34" charset="0"/>
                <a:ea typeface="思源黑体 CN" pitchFamily="34" charset="-122"/>
                <a:cs typeface="思源黑体 CN" pitchFamily="34" charset="-120"/>
              </a:rPr>
              <a:t>Administrator账户未重命名</a:t>
            </a:r>
            <a:endParaRPr lang="en-US" sz="1680" dirty="0"/>
          </a:p>
        </p:txBody>
      </p:sp>
      <p:sp>
        <p:nvSpPr>
          <p:cNvPr id="19" name="Text 7"/>
          <p:cNvSpPr/>
          <p:nvPr/>
        </p:nvSpPr>
        <p:spPr>
          <a:xfrm>
            <a:off x="7444740" y="4221480"/>
            <a:ext cx="34442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D80B00"/>
                </a:solidFill>
                <a:latin typeface="思源黑体 CN" pitchFamily="34" charset="0"/>
                <a:ea typeface="思源黑体 CN" pitchFamily="34" charset="-122"/>
                <a:cs typeface="思源黑体 CN" pitchFamily="34" charset="-120"/>
              </a:rPr>
              <a:t>❌</a:t>
            </a:r>
            <a:endParaRPr lang="en-US" sz="1920" dirty="0"/>
          </a:p>
        </p:txBody>
      </p:sp>
      <p:sp>
        <p:nvSpPr>
          <p:cNvPr id="20" name="Text 8"/>
          <p:cNvSpPr/>
          <p:nvPr/>
        </p:nvSpPr>
        <p:spPr>
          <a:xfrm>
            <a:off x="7848600" y="4191000"/>
            <a:ext cx="1655064" cy="304800"/>
          </a:xfrm>
          <a:prstGeom prst="rect">
            <a:avLst/>
          </a:prstGeom>
          <a:noFill/>
        </p:spPr>
        <p:txBody>
          <a:bodyPr wrap="none" lIns="0" tIns="0" rIns="0" bIns="0" rtlCol="0" anchor="t">
            <a:spAutoFit/>
          </a:bodyPr>
          <a:lstStyle/>
          <a:p>
            <a:pPr marL="0" indent="0" algn="l">
              <a:lnSpc>
                <a:spcPct val="140000"/>
              </a:lnSpc>
              <a:buNone/>
            </a:pPr>
            <a:r>
              <a:rPr lang="en-US" sz="1680" dirty="0">
                <a:solidFill>
                  <a:srgbClr val="333333"/>
                </a:solidFill>
                <a:latin typeface="思源黑体 CN" pitchFamily="34" charset="0"/>
                <a:ea typeface="思源黑体 CN" pitchFamily="34" charset="-122"/>
                <a:cs typeface="思源黑体 CN" pitchFamily="34" charset="-120"/>
              </a:rPr>
              <a:t>Guest账户未禁用</a:t>
            </a:r>
            <a:endParaRPr lang="en-US" sz="1680" dirty="0"/>
          </a:p>
        </p:txBody>
      </p:sp>
      <p:sp>
        <p:nvSpPr>
          <p:cNvPr id="21" name="Text 9"/>
          <p:cNvSpPr/>
          <p:nvPr/>
        </p:nvSpPr>
        <p:spPr>
          <a:xfrm>
            <a:off x="7444740" y="4709160"/>
            <a:ext cx="34442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D80B00"/>
                </a:solidFill>
                <a:latin typeface="思源黑体 CN" pitchFamily="34" charset="0"/>
                <a:ea typeface="思源黑体 CN" pitchFamily="34" charset="-122"/>
                <a:cs typeface="思源黑体 CN" pitchFamily="34" charset="-120"/>
              </a:rPr>
              <a:t>❌</a:t>
            </a:r>
            <a:endParaRPr lang="en-US" sz="1920" dirty="0"/>
          </a:p>
        </p:txBody>
      </p:sp>
      <p:sp>
        <p:nvSpPr>
          <p:cNvPr id="22" name="Text 10"/>
          <p:cNvSpPr/>
          <p:nvPr/>
        </p:nvSpPr>
        <p:spPr>
          <a:xfrm>
            <a:off x="7848600" y="4678680"/>
            <a:ext cx="2569464" cy="304800"/>
          </a:xfrm>
          <a:prstGeom prst="rect">
            <a:avLst/>
          </a:prstGeom>
          <a:noFill/>
        </p:spPr>
        <p:txBody>
          <a:bodyPr wrap="none" lIns="0" tIns="0" rIns="0" bIns="0" rtlCol="0" anchor="t">
            <a:spAutoFit/>
          </a:bodyPr>
          <a:lstStyle/>
          <a:p>
            <a:pPr marL="0" indent="0" algn="l">
              <a:lnSpc>
                <a:spcPct val="140000"/>
              </a:lnSpc>
              <a:buNone/>
            </a:pPr>
            <a:r>
              <a:rPr lang="en-US" sz="1680" dirty="0">
                <a:solidFill>
                  <a:srgbClr val="333333"/>
                </a:solidFill>
                <a:latin typeface="思源黑体 CN" pitchFamily="34" charset="0"/>
                <a:ea typeface="思源黑体 CN" pitchFamily="34" charset="-122"/>
                <a:cs typeface="思源黑体 CN" pitchFamily="34" charset="-120"/>
              </a:rPr>
              <a:t>存在已离职人员账户未删除</a:t>
            </a:r>
            <a:endParaRPr lang="en-US" sz="1680" dirty="0"/>
          </a:p>
        </p:txBody>
      </p:sp>
      <p:sp>
        <p:nvSpPr>
          <p:cNvPr id="23" name="Text 11"/>
          <p:cNvSpPr/>
          <p:nvPr/>
        </p:nvSpPr>
        <p:spPr>
          <a:xfrm>
            <a:off x="7444740" y="5212080"/>
            <a:ext cx="34442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D80B00"/>
                </a:solidFill>
                <a:latin typeface="思源黑体 CN" pitchFamily="34" charset="0"/>
                <a:ea typeface="思源黑体 CN" pitchFamily="34" charset="-122"/>
                <a:cs typeface="思源黑体 CN" pitchFamily="34" charset="-120"/>
              </a:rPr>
              <a:t>❌</a:t>
            </a:r>
            <a:endParaRPr lang="en-US" sz="1920" dirty="0"/>
          </a:p>
        </p:txBody>
      </p:sp>
      <p:sp>
        <p:nvSpPr>
          <p:cNvPr id="24" name="Text 12"/>
          <p:cNvSpPr/>
          <p:nvPr/>
        </p:nvSpPr>
        <p:spPr>
          <a:xfrm>
            <a:off x="7848600" y="5181600"/>
            <a:ext cx="3148584" cy="304800"/>
          </a:xfrm>
          <a:prstGeom prst="rect">
            <a:avLst/>
          </a:prstGeom>
          <a:noFill/>
        </p:spPr>
        <p:txBody>
          <a:bodyPr wrap="none" lIns="0" tIns="0" rIns="0" bIns="0" rtlCol="0" anchor="t">
            <a:spAutoFit/>
          </a:bodyPr>
          <a:lstStyle/>
          <a:p>
            <a:pPr marL="0" indent="0" algn="l">
              <a:lnSpc>
                <a:spcPct val="140000"/>
              </a:lnSpc>
              <a:buNone/>
            </a:pPr>
            <a:r>
              <a:rPr lang="en-US" sz="1680" dirty="0">
                <a:solidFill>
                  <a:srgbClr val="333333"/>
                </a:solidFill>
                <a:latin typeface="思源黑体 CN" pitchFamily="34" charset="0"/>
                <a:ea typeface="思源黑体 CN" pitchFamily="34" charset="-122"/>
                <a:cs typeface="思源黑体 CN" pitchFamily="34" charset="-120"/>
              </a:rPr>
              <a:t>多人共用root/Administrator账户</a:t>
            </a:r>
            <a:endParaRPr lang="en-US" sz="1680" dirty="0"/>
          </a:p>
        </p:txBody>
      </p:sp>
      <p:sp>
        <p:nvSpPr>
          <p:cNvPr id="25" name="Text 13"/>
          <p:cNvSpPr/>
          <p:nvPr/>
        </p:nvSpPr>
        <p:spPr>
          <a:xfrm>
            <a:off x="7444740" y="5699760"/>
            <a:ext cx="34442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D80B00"/>
                </a:solidFill>
                <a:latin typeface="思源黑体 CN" pitchFamily="34" charset="0"/>
                <a:ea typeface="思源黑体 CN" pitchFamily="34" charset="-122"/>
                <a:cs typeface="思源黑体 CN" pitchFamily="34" charset="-120"/>
              </a:rPr>
              <a:t>❌</a:t>
            </a:r>
            <a:endParaRPr lang="en-US" sz="1920" dirty="0"/>
          </a:p>
        </p:txBody>
      </p:sp>
      <p:sp>
        <p:nvSpPr>
          <p:cNvPr id="26" name="Text 14"/>
          <p:cNvSpPr/>
          <p:nvPr/>
        </p:nvSpPr>
        <p:spPr>
          <a:xfrm>
            <a:off x="7848600" y="5669280"/>
            <a:ext cx="2935224" cy="304800"/>
          </a:xfrm>
          <a:prstGeom prst="rect">
            <a:avLst/>
          </a:prstGeom>
          <a:noFill/>
        </p:spPr>
        <p:txBody>
          <a:bodyPr wrap="none" lIns="0" tIns="0" rIns="0" bIns="0" rtlCol="0" anchor="t">
            <a:spAutoFit/>
          </a:bodyPr>
          <a:lstStyle/>
          <a:p>
            <a:pPr marL="0" indent="0" algn="l">
              <a:lnSpc>
                <a:spcPct val="140000"/>
              </a:lnSpc>
              <a:buNone/>
            </a:pPr>
            <a:r>
              <a:rPr lang="en-US" sz="1680" dirty="0">
                <a:solidFill>
                  <a:srgbClr val="333333"/>
                </a:solidFill>
                <a:latin typeface="思源黑体 CN" pitchFamily="34" charset="0"/>
                <a:ea typeface="思源黑体 CN" pitchFamily="34" charset="-122"/>
                <a:cs typeface="思源黑体 CN" pitchFamily="34" charset="-120"/>
              </a:rPr>
              <a:t>普通用户具有sudo/管理员权限</a:t>
            </a:r>
            <a:endParaRPr lang="en-US" sz="16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1734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安全审计核查</a:t>
            </a:r>
            <a:endParaRPr lang="en-US" sz="2760" dirty="0"/>
          </a:p>
        </p:txBody>
      </p:sp>
      <p:pic>
        <p:nvPicPr>
          <p:cNvPr id="6" name="Image 3" descr="https://test.web.static.jianzeppt.com/ppt-temp-img3/986e7f83575964dde739989fb556d229.png?x-oss-process=image/resize,w_1440,h_800,m_lfit/format,png"/>
          <p:cNvPicPr>
            <a:picLocks noChangeAspect="1"/>
          </p:cNvPicPr>
          <p:nvPr/>
        </p:nvPicPr>
        <p:blipFill>
          <a:blip r:embed="rId4"/>
          <a:stretch>
            <a:fillRect/>
          </a:stretch>
        </p:blipFill>
        <p:spPr>
          <a:xfrm>
            <a:off x="609600" y="1371600"/>
            <a:ext cx="5791200" cy="4876800"/>
          </a:xfrm>
          <a:prstGeom prst="rect">
            <a:avLst/>
          </a:prstGeom>
        </p:spPr>
      </p:pic>
      <p:pic>
        <p:nvPicPr>
          <p:cNvPr id="7"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8680" y="1737360"/>
            <a:ext cx="60960" cy="243840"/>
          </a:xfrm>
          <a:prstGeom prst="rect">
            <a:avLst/>
          </a:prstGeom>
        </p:spPr>
      </p:pic>
      <p:sp>
        <p:nvSpPr>
          <p:cNvPr id="8" name="Text 1"/>
          <p:cNvSpPr/>
          <p:nvPr/>
        </p:nvSpPr>
        <p:spPr>
          <a:xfrm>
            <a:off x="1051560" y="1630680"/>
            <a:ext cx="1533144" cy="441960"/>
          </a:xfrm>
          <a:prstGeom prst="rect">
            <a:avLst/>
          </a:prstGeom>
          <a:noFill/>
        </p:spPr>
        <p:txBody>
          <a:bodyPr wrap="none" lIns="0" tIns="0" rIns="0" bIns="0" rtlCol="0" anchor="ctr"/>
          <a:lstStyle/>
          <a:p>
            <a:pPr marL="0" indent="0" algn="l">
              <a:lnSpc>
                <a:spcPct val="150000"/>
              </a:lnSpc>
              <a:buNone/>
            </a:pPr>
            <a:r>
              <a:rPr lang="en-US" sz="2400" dirty="0">
                <a:solidFill>
                  <a:srgbClr val="143966"/>
                </a:solidFill>
                <a:latin typeface="思源黑体 CN Bold" pitchFamily="34" charset="0"/>
                <a:ea typeface="思源黑体 CN Bold" pitchFamily="34" charset="-122"/>
                <a:cs typeface="思源黑体 CN Bold" pitchFamily="34" charset="-120"/>
              </a:rPr>
              <a:t>核心检查项</a:t>
            </a:r>
            <a:endParaRPr lang="en-US" sz="2400" dirty="0"/>
          </a:p>
        </p:txBody>
      </p:sp>
      <p:pic>
        <p:nvPicPr>
          <p:cNvPr id="9"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8680" y="2270760"/>
            <a:ext cx="5273040" cy="899160"/>
          </a:xfrm>
          <a:prstGeom prst="rect">
            <a:avLst/>
          </a:prstGeom>
        </p:spPr>
      </p:pic>
      <p:sp>
        <p:nvSpPr>
          <p:cNvPr id="10" name="Text 2"/>
          <p:cNvSpPr/>
          <p:nvPr/>
        </p:nvSpPr>
        <p:spPr>
          <a:xfrm>
            <a:off x="1051560" y="2392680"/>
            <a:ext cx="222504" cy="640080"/>
          </a:xfrm>
          <a:prstGeom prst="rect">
            <a:avLst/>
          </a:prstGeom>
          <a:noFill/>
        </p:spPr>
        <p:txBody>
          <a:bodyPr wrap="square" lIns="0" tIns="0" rIns="0" bIns="0" rtlCol="0" anchor="ctr">
            <a:spAutoFit/>
          </a:bodyPr>
          <a:lstStyle/>
          <a:p>
            <a:pPr marL="0" indent="0" algn="l">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序号</a:t>
            </a:r>
            <a:endParaRPr lang="en-US" sz="1680" dirty="0"/>
          </a:p>
        </p:txBody>
      </p:sp>
      <p:pic>
        <p:nvPicPr>
          <p:cNvPr id="11" name="Image 6" descr="https://test.web.static.jianzeppt.com/ppt-temp-img3/6e4a3dde2ba5f83b9f2d6c06cff246ba.png?x-oss-process=image/resize,w_1440,h_800,m_lfit/format,png"/>
          <p:cNvPicPr>
            <a:picLocks noChangeAspect="1"/>
          </p:cNvPicPr>
          <p:nvPr/>
        </p:nvPicPr>
        <p:blipFill>
          <a:blip r:embed="rId9"/>
          <a:stretch>
            <a:fillRect/>
          </a:stretch>
        </p:blipFill>
        <p:spPr>
          <a:xfrm>
            <a:off x="868680" y="3162300"/>
            <a:ext cx="651815" cy="15240"/>
          </a:xfrm>
          <a:prstGeom prst="rect">
            <a:avLst/>
          </a:prstGeom>
        </p:spPr>
      </p:pic>
      <p:sp>
        <p:nvSpPr>
          <p:cNvPr id="12" name="Text 3"/>
          <p:cNvSpPr/>
          <p:nvPr/>
        </p:nvSpPr>
        <p:spPr>
          <a:xfrm>
            <a:off x="1706880" y="2560320"/>
            <a:ext cx="160934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Windows检查项</a:t>
            </a:r>
            <a:endParaRPr lang="en-US" sz="1680" dirty="0"/>
          </a:p>
        </p:txBody>
      </p:sp>
      <p:pic>
        <p:nvPicPr>
          <p:cNvPr id="13" name="Image 7" descr="https://test.web.static.jianzeppt.com/ppt-temp-img3/64ddb70547cd110f1a90e17ab02dd1ea.png?x-oss-process=image/resize,w_1440,h_800,m_lfit/format,png"/>
          <p:cNvPicPr>
            <a:picLocks noChangeAspect="1"/>
          </p:cNvPicPr>
          <p:nvPr/>
        </p:nvPicPr>
        <p:blipFill>
          <a:blip r:embed="rId10"/>
          <a:stretch>
            <a:fillRect/>
          </a:stretch>
        </p:blipFill>
        <p:spPr>
          <a:xfrm>
            <a:off x="1520495" y="3162300"/>
            <a:ext cx="2449525" cy="15240"/>
          </a:xfrm>
          <a:prstGeom prst="rect">
            <a:avLst/>
          </a:prstGeom>
        </p:spPr>
      </p:pic>
      <p:sp>
        <p:nvSpPr>
          <p:cNvPr id="14" name="Text 4"/>
          <p:cNvSpPr/>
          <p:nvPr/>
        </p:nvSpPr>
        <p:spPr>
          <a:xfrm>
            <a:off x="4160520" y="2560320"/>
            <a:ext cx="124358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Linux检查项</a:t>
            </a:r>
            <a:endParaRPr lang="en-US" sz="1680" dirty="0"/>
          </a:p>
        </p:txBody>
      </p:sp>
      <p:pic>
        <p:nvPicPr>
          <p:cNvPr id="15" name="Image 8" descr="https://test.web.static.jianzeppt.com/ppt-temp-img3/fae6bad251f5e94fe5886873a488b23c.png?x-oss-process=image/resize,w_1440,h_800,m_lfit/format,png"/>
          <p:cNvPicPr>
            <a:picLocks noChangeAspect="1"/>
          </p:cNvPicPr>
          <p:nvPr/>
        </p:nvPicPr>
        <p:blipFill>
          <a:blip r:embed="rId11"/>
          <a:stretch>
            <a:fillRect/>
          </a:stretch>
        </p:blipFill>
        <p:spPr>
          <a:xfrm>
            <a:off x="3970020" y="3162300"/>
            <a:ext cx="2171700" cy="15240"/>
          </a:xfrm>
          <a:prstGeom prst="rect">
            <a:avLst/>
          </a:prstGeom>
        </p:spPr>
      </p:pic>
      <p:pic>
        <p:nvPicPr>
          <p:cNvPr id="16" name="Image 9"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68680" y="3169920"/>
            <a:ext cx="5273040" cy="899160"/>
          </a:xfrm>
          <a:prstGeom prst="rect">
            <a:avLst/>
          </a:prstGeom>
        </p:spPr>
      </p:pic>
      <p:sp>
        <p:nvSpPr>
          <p:cNvPr id="17" name="Text 5"/>
          <p:cNvSpPr/>
          <p:nvPr/>
        </p:nvSpPr>
        <p:spPr>
          <a:xfrm>
            <a:off x="1051560" y="3291840"/>
            <a:ext cx="298704" cy="655320"/>
          </a:xfrm>
          <a:prstGeom prst="rect">
            <a:avLst/>
          </a:prstGeom>
          <a:noFill/>
        </p:spPr>
        <p:txBody>
          <a:bodyPr wrap="none" lIns="0" tIns="0" rIns="0" bIns="0" rtlCol="0" anchor="ctr"/>
          <a:lstStyle/>
          <a:p>
            <a:pPr marL="0" indent="0" algn="l">
              <a:lnSpc>
                <a:spcPct val="150000"/>
              </a:lnSpc>
              <a:buNone/>
            </a:pPr>
            <a:r>
              <a:rPr lang="en-US" sz="1680" dirty="0">
                <a:solidFill>
                  <a:srgbClr val="143966"/>
                </a:solidFill>
                <a:latin typeface="思源黑体 CN Bold" pitchFamily="34" charset="0"/>
                <a:ea typeface="思源黑体 CN Bold" pitchFamily="34" charset="-122"/>
                <a:cs typeface="思源黑体 CN Bold" pitchFamily="34" charset="-120"/>
              </a:rPr>
              <a:t>1</a:t>
            </a:r>
            <a:endParaRPr lang="en-US" sz="1680" dirty="0"/>
          </a:p>
        </p:txBody>
      </p:sp>
      <p:sp>
        <p:nvSpPr>
          <p:cNvPr id="18" name="Text 6"/>
          <p:cNvSpPr/>
          <p:nvPr/>
        </p:nvSpPr>
        <p:spPr>
          <a:xfrm>
            <a:off x="1706880" y="3291840"/>
            <a:ext cx="2097024" cy="655320"/>
          </a:xfrm>
          <a:prstGeom prst="rect">
            <a:avLst/>
          </a:prstGeom>
          <a:noFill/>
        </p:spPr>
        <p:txBody>
          <a:bodyPr wrap="none" lIns="0" tIns="0" rIns="0" bIns="0" rtlCol="0" anchor="ct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审核策略是否启用？</a:t>
            </a:r>
            <a:endParaRPr lang="en-US" sz="1680" dirty="0"/>
          </a:p>
        </p:txBody>
      </p:sp>
      <p:sp>
        <p:nvSpPr>
          <p:cNvPr id="19" name="Text 7"/>
          <p:cNvSpPr/>
          <p:nvPr/>
        </p:nvSpPr>
        <p:spPr>
          <a:xfrm>
            <a:off x="4160520" y="3291840"/>
            <a:ext cx="1822704" cy="640080"/>
          </a:xfrm>
          <a:prstGeom prst="rect">
            <a:avLst/>
          </a:prstGeom>
          <a:noFill/>
        </p:spPr>
        <p:txBody>
          <a:bodyPr wrap="square" lIns="0" tIns="0" rIns="0" bIns="0" rtlCol="0" anchor="ctr">
            <a:spAutoFit/>
          </a:bodyP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rsyslog/auditd是否运行？</a:t>
            </a:r>
            <a:endParaRPr lang="en-US" sz="1680" dirty="0"/>
          </a:p>
        </p:txBody>
      </p:sp>
      <p:pic>
        <p:nvPicPr>
          <p:cNvPr id="20" name="Image 10" descr="https://test.web.static.jianzeppt.com/ppt-temp-img3/4dcbb28cf665aed4564d691ed13a7754.png?x-oss-process=image/resize,w_1440,h_800,m_lfit/format,png"/>
          <p:cNvPicPr>
            <a:picLocks noChangeAspect="1"/>
          </p:cNvPicPr>
          <p:nvPr/>
        </p:nvPicPr>
        <p:blipFill>
          <a:blip r:embed="rId14"/>
          <a:stretch>
            <a:fillRect/>
          </a:stretch>
        </p:blipFill>
        <p:spPr>
          <a:xfrm>
            <a:off x="868680" y="4061460"/>
            <a:ext cx="5273040" cy="15240"/>
          </a:xfrm>
          <a:prstGeom prst="rect">
            <a:avLst/>
          </a:prstGeom>
        </p:spPr>
      </p:pic>
      <p:pic>
        <p:nvPicPr>
          <p:cNvPr id="21" name="Image 11" descr="https://test.web.static.jianzeppt.com/ppt-temp-img3/1e392b1e57c772964c5924831eee0ae2.png?x-oss-process=image/resize,w_1440,h_800,m_lfit/format,png"/>
          <p:cNvPicPr>
            <a:picLocks noChangeAspect="1"/>
          </p:cNvPicPr>
          <p:nvPr/>
        </p:nvPicPr>
        <p:blipFill>
          <a:blip r:embed="rId15"/>
          <a:stretch>
            <a:fillRect/>
          </a:stretch>
        </p:blipFill>
        <p:spPr>
          <a:xfrm>
            <a:off x="868680" y="4069080"/>
            <a:ext cx="5273040" cy="899160"/>
          </a:xfrm>
          <a:prstGeom prst="rect">
            <a:avLst/>
          </a:prstGeom>
        </p:spPr>
      </p:pic>
      <p:sp>
        <p:nvSpPr>
          <p:cNvPr id="22" name="Text 8"/>
          <p:cNvSpPr/>
          <p:nvPr/>
        </p:nvSpPr>
        <p:spPr>
          <a:xfrm>
            <a:off x="1051560" y="4191000"/>
            <a:ext cx="298704" cy="655320"/>
          </a:xfrm>
          <a:prstGeom prst="rect">
            <a:avLst/>
          </a:prstGeom>
          <a:noFill/>
        </p:spPr>
        <p:txBody>
          <a:bodyPr wrap="none" lIns="0" tIns="0" rIns="0" bIns="0" rtlCol="0" anchor="ctr"/>
          <a:lstStyle/>
          <a:p>
            <a:pPr marL="0" indent="0" algn="l">
              <a:lnSpc>
                <a:spcPct val="150000"/>
              </a:lnSpc>
              <a:buNone/>
            </a:pPr>
            <a:r>
              <a:rPr lang="en-US" sz="1680" dirty="0">
                <a:solidFill>
                  <a:srgbClr val="143966"/>
                </a:solidFill>
                <a:latin typeface="思源黑体 CN Bold" pitchFamily="34" charset="0"/>
                <a:ea typeface="思源黑体 CN Bold" pitchFamily="34" charset="-122"/>
                <a:cs typeface="思源黑体 CN Bold" pitchFamily="34" charset="-120"/>
              </a:rPr>
              <a:t>2</a:t>
            </a:r>
            <a:endParaRPr lang="en-US" sz="1680" dirty="0"/>
          </a:p>
        </p:txBody>
      </p:sp>
      <p:sp>
        <p:nvSpPr>
          <p:cNvPr id="23" name="Text 9"/>
          <p:cNvSpPr/>
          <p:nvPr/>
        </p:nvSpPr>
        <p:spPr>
          <a:xfrm>
            <a:off x="1706880" y="4191000"/>
            <a:ext cx="2097024" cy="640080"/>
          </a:xfrm>
          <a:prstGeom prst="rect">
            <a:avLst/>
          </a:prstGeom>
          <a:noFill/>
        </p:spPr>
        <p:txBody>
          <a:bodyPr wrap="square" lIns="0" tIns="0" rIns="0" bIns="0" rtlCol="0" anchor="ctr">
            <a:spAutoFit/>
          </a:bodyP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是否覆盖“成功”和“失败”事件？</a:t>
            </a:r>
            <a:endParaRPr lang="en-US" sz="1680" dirty="0"/>
          </a:p>
        </p:txBody>
      </p:sp>
      <p:sp>
        <p:nvSpPr>
          <p:cNvPr id="24" name="Text 10"/>
          <p:cNvSpPr/>
          <p:nvPr/>
        </p:nvSpPr>
        <p:spPr>
          <a:xfrm>
            <a:off x="4160520" y="4191000"/>
            <a:ext cx="1822704" cy="640080"/>
          </a:xfrm>
          <a:prstGeom prst="rect">
            <a:avLst/>
          </a:prstGeom>
          <a:noFill/>
        </p:spPr>
        <p:txBody>
          <a:bodyPr wrap="square" lIns="0" tIns="0" rIns="0" bIns="0" rtlCol="0" anchor="ctr">
            <a:spAutoFit/>
          </a:bodyP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audit.rules是否配置？</a:t>
            </a:r>
            <a:endParaRPr lang="en-US" sz="1680" dirty="0"/>
          </a:p>
        </p:txBody>
      </p:sp>
      <p:pic>
        <p:nvPicPr>
          <p:cNvPr id="25" name="Image 12" descr="https://test.web.static.jianzeppt.com/ppt-temp-img3/4dcbb28cf665aed4564d691ed13a7754.png?x-oss-process=image/resize,w_1440,h_800,m_lfit/format,png"/>
          <p:cNvPicPr>
            <a:picLocks noChangeAspect="1"/>
          </p:cNvPicPr>
          <p:nvPr/>
        </p:nvPicPr>
        <p:blipFill>
          <a:blip r:embed="rId14"/>
          <a:stretch>
            <a:fillRect/>
          </a:stretch>
        </p:blipFill>
        <p:spPr>
          <a:xfrm>
            <a:off x="868680" y="4960620"/>
            <a:ext cx="5273040" cy="15240"/>
          </a:xfrm>
          <a:prstGeom prst="rect">
            <a:avLst/>
          </a:prstGeom>
        </p:spPr>
      </p:pic>
      <p:pic>
        <p:nvPicPr>
          <p:cNvPr id="26" name="Image 13"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68680" y="4968240"/>
            <a:ext cx="5273040" cy="1219200"/>
          </a:xfrm>
          <a:prstGeom prst="rect">
            <a:avLst/>
          </a:prstGeom>
        </p:spPr>
      </p:pic>
      <p:sp>
        <p:nvSpPr>
          <p:cNvPr id="27" name="Text 11"/>
          <p:cNvSpPr/>
          <p:nvPr/>
        </p:nvSpPr>
        <p:spPr>
          <a:xfrm>
            <a:off x="1051560" y="5090160"/>
            <a:ext cx="298704" cy="975360"/>
          </a:xfrm>
          <a:prstGeom prst="rect">
            <a:avLst/>
          </a:prstGeom>
          <a:noFill/>
        </p:spPr>
        <p:txBody>
          <a:bodyPr wrap="none" lIns="0" tIns="0" rIns="0" bIns="0" rtlCol="0" anchor="ctr"/>
          <a:lstStyle/>
          <a:p>
            <a:pPr marL="0" indent="0" algn="l">
              <a:lnSpc>
                <a:spcPct val="150000"/>
              </a:lnSpc>
              <a:buNone/>
            </a:pPr>
            <a:r>
              <a:rPr lang="en-US" sz="1680" dirty="0">
                <a:solidFill>
                  <a:srgbClr val="143966"/>
                </a:solidFill>
                <a:latin typeface="思源黑体 CN Bold" pitchFamily="34" charset="0"/>
                <a:ea typeface="思源黑体 CN Bold" pitchFamily="34" charset="-122"/>
                <a:cs typeface="思源黑体 CN Bold" pitchFamily="34" charset="-120"/>
              </a:rPr>
              <a:t>3</a:t>
            </a:r>
            <a:endParaRPr lang="en-US" sz="1680" dirty="0"/>
          </a:p>
        </p:txBody>
      </p:sp>
      <p:sp>
        <p:nvSpPr>
          <p:cNvPr id="28" name="Text 12"/>
          <p:cNvSpPr/>
          <p:nvPr/>
        </p:nvSpPr>
        <p:spPr>
          <a:xfrm>
            <a:off x="1706880" y="5090160"/>
            <a:ext cx="2097024" cy="960120"/>
          </a:xfrm>
          <a:prstGeom prst="rect">
            <a:avLst/>
          </a:prstGeom>
          <a:noFill/>
        </p:spPr>
        <p:txBody>
          <a:bodyPr wrap="square" lIns="0" tIns="0" rIns="0" bIns="0" rtlCol="0" anchor="ctr">
            <a:spAutoFit/>
          </a:bodyP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审计日志是否包含日期、时间、用户、事件？</a:t>
            </a:r>
            <a:endParaRPr lang="en-US" sz="1680" dirty="0"/>
          </a:p>
        </p:txBody>
      </p:sp>
      <p:sp>
        <p:nvSpPr>
          <p:cNvPr id="29" name="Text 13"/>
          <p:cNvSpPr/>
          <p:nvPr/>
        </p:nvSpPr>
        <p:spPr>
          <a:xfrm>
            <a:off x="4160520" y="5090160"/>
            <a:ext cx="1822704" cy="640080"/>
          </a:xfrm>
          <a:prstGeom prst="rect">
            <a:avLst/>
          </a:prstGeom>
          <a:noFill/>
        </p:spPr>
        <p:txBody>
          <a:bodyPr wrap="square" lIns="0" tIns="0" rIns="0" bIns="0" rtlCol="0" anchor="ctr">
            <a:spAutoFit/>
          </a:bodyP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日志是否包含必要信息？</a:t>
            </a:r>
            <a:endParaRPr lang="en-US" sz="1680" dirty="0"/>
          </a:p>
        </p:txBody>
      </p:sp>
      <p:pic>
        <p:nvPicPr>
          <p:cNvPr id="30" name="Image 14" descr="https://test.web.static.jianzeppt.com/ppt-temp-img3/6475eaa60dc890abfe35d512b9bc99a0.png?x-oss-process=image/resize,w_1440,h_800,m_lfit/format,png"/>
          <p:cNvPicPr>
            <a:picLocks noChangeAspect="1"/>
          </p:cNvPicPr>
          <p:nvPr/>
        </p:nvPicPr>
        <p:blipFill>
          <a:blip r:embed="rId18"/>
          <a:stretch>
            <a:fillRect/>
          </a:stretch>
        </p:blipFill>
        <p:spPr>
          <a:xfrm>
            <a:off x="6705600" y="1371600"/>
            <a:ext cx="4876800" cy="4876800"/>
          </a:xfrm>
          <a:prstGeom prst="rect">
            <a:avLst/>
          </a:prstGeom>
        </p:spPr>
      </p:pic>
      <p:pic>
        <p:nvPicPr>
          <p:cNvPr id="31" name="Image 15"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64680" y="1737360"/>
            <a:ext cx="60960" cy="243840"/>
          </a:xfrm>
          <a:prstGeom prst="rect">
            <a:avLst/>
          </a:prstGeom>
        </p:spPr>
      </p:pic>
      <p:sp>
        <p:nvSpPr>
          <p:cNvPr id="32" name="Text 14"/>
          <p:cNvSpPr/>
          <p:nvPr/>
        </p:nvSpPr>
        <p:spPr>
          <a:xfrm>
            <a:off x="7147560" y="1630680"/>
            <a:ext cx="3148584" cy="441960"/>
          </a:xfrm>
          <a:prstGeom prst="rect">
            <a:avLst/>
          </a:prstGeom>
          <a:noFill/>
        </p:spPr>
        <p:txBody>
          <a:bodyPr wrap="none" lIns="0" tIns="0" rIns="0" bIns="0" rtlCol="0" anchor="ctr"/>
          <a:lstStyle/>
          <a:p>
            <a:pPr marL="0" indent="0" algn="l">
              <a:lnSpc>
                <a:spcPct val="150000"/>
              </a:lnSpc>
              <a:buNone/>
            </a:pPr>
            <a:r>
              <a:rPr lang="en-US" sz="2400" dirty="0">
                <a:solidFill>
                  <a:srgbClr val="143966"/>
                </a:solidFill>
                <a:latin typeface="思源黑体 CN Bold" pitchFamily="34" charset="0"/>
                <a:ea typeface="思源黑体 CN Bold" pitchFamily="34" charset="-122"/>
                <a:cs typeface="思源黑体 CN Bold" pitchFamily="34" charset="-120"/>
              </a:rPr>
              <a:t>Windows审核策略推荐</a:t>
            </a:r>
            <a:endParaRPr lang="en-US" sz="2400" dirty="0"/>
          </a:p>
        </p:txBody>
      </p:sp>
      <p:sp>
        <p:nvSpPr>
          <p:cNvPr id="33" name="Text 15"/>
          <p:cNvSpPr/>
          <p:nvPr/>
        </p:nvSpPr>
        <p:spPr>
          <a:xfrm>
            <a:off x="6964680" y="2270760"/>
            <a:ext cx="4367784" cy="274320"/>
          </a:xfrm>
          <a:prstGeom prst="rect">
            <a:avLst/>
          </a:prstGeom>
          <a:noFill/>
        </p:spPr>
        <p:txBody>
          <a:bodyPr wrap="none" lIns="0" tIns="0" rIns="0" bIns="0" rtlCol="0" anchor="t">
            <a:spAutoFit/>
          </a:bodyPr>
          <a:lstStyle/>
          <a:p>
            <a:pPr marL="0" indent="0" algn="l">
              <a:lnSpc>
                <a:spcPct val="100000"/>
              </a:lnSpc>
              <a:buNone/>
            </a:pPr>
            <a:r>
              <a:rPr lang="en-US" sz="1440" dirty="0">
                <a:solidFill>
                  <a:srgbClr val="666666"/>
                </a:solidFill>
                <a:latin typeface="思源黑体 CN" pitchFamily="34" charset="0"/>
                <a:ea typeface="思源黑体 CN" pitchFamily="34" charset="-122"/>
                <a:cs typeface="思源黑体 CN" pitchFamily="34" charset="-120"/>
              </a:rPr>
              <a:t>(等保三级)</a:t>
            </a:r>
            <a:endParaRPr lang="en-US" sz="1440" dirty="0"/>
          </a:p>
        </p:txBody>
      </p:sp>
      <p:pic>
        <p:nvPicPr>
          <p:cNvPr id="34" name="Image 16" descr="preencoded.png"/>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964680" y="2667000"/>
            <a:ext cx="4358640" cy="518160"/>
          </a:xfrm>
          <a:prstGeom prst="rect">
            <a:avLst/>
          </a:prstGeom>
        </p:spPr>
      </p:pic>
      <p:sp>
        <p:nvSpPr>
          <p:cNvPr id="35" name="Text 16"/>
          <p:cNvSpPr/>
          <p:nvPr/>
        </p:nvSpPr>
        <p:spPr>
          <a:xfrm>
            <a:off x="7147560" y="2758440"/>
            <a:ext cx="86258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审核策略</a:t>
            </a:r>
            <a:endParaRPr lang="en-US" sz="1680" dirty="0"/>
          </a:p>
        </p:txBody>
      </p:sp>
      <p:pic>
        <p:nvPicPr>
          <p:cNvPr id="36" name="Image 17" descr="https://test.web.static.jianzeppt.com/ppt-temp-img3/0a5a3d031851aa80e28efa2f1c03f5f1.png?x-oss-process=image/resize,w_1440,h_800,m_lfit/format,png"/>
          <p:cNvPicPr>
            <a:picLocks noChangeAspect="1"/>
          </p:cNvPicPr>
          <p:nvPr/>
        </p:nvPicPr>
        <p:blipFill>
          <a:blip r:embed="rId21"/>
          <a:stretch>
            <a:fillRect/>
          </a:stretch>
        </p:blipFill>
        <p:spPr>
          <a:xfrm>
            <a:off x="6964680" y="3177540"/>
            <a:ext cx="2577236" cy="15240"/>
          </a:xfrm>
          <a:prstGeom prst="rect">
            <a:avLst/>
          </a:prstGeom>
        </p:spPr>
      </p:pic>
      <p:sp>
        <p:nvSpPr>
          <p:cNvPr id="37" name="Text 17"/>
          <p:cNvSpPr/>
          <p:nvPr/>
        </p:nvSpPr>
        <p:spPr>
          <a:xfrm>
            <a:off x="9723120" y="2758440"/>
            <a:ext cx="86258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推荐设置</a:t>
            </a:r>
            <a:endParaRPr lang="en-US" sz="1680" dirty="0"/>
          </a:p>
        </p:txBody>
      </p:sp>
      <p:pic>
        <p:nvPicPr>
          <p:cNvPr id="38" name="Image 18" descr="https://test.web.static.jianzeppt.com/ppt-temp-img3/67208a0a9974af18629f4cb154938229.png?x-oss-process=image/resize,w_1440,h_800,m_lfit/format,png"/>
          <p:cNvPicPr>
            <a:picLocks noChangeAspect="1"/>
          </p:cNvPicPr>
          <p:nvPr/>
        </p:nvPicPr>
        <p:blipFill>
          <a:blip r:embed="rId22"/>
          <a:stretch>
            <a:fillRect/>
          </a:stretch>
        </p:blipFill>
        <p:spPr>
          <a:xfrm>
            <a:off x="9541916" y="3177540"/>
            <a:ext cx="1781404" cy="15240"/>
          </a:xfrm>
          <a:prstGeom prst="rect">
            <a:avLst/>
          </a:prstGeom>
        </p:spPr>
      </p:pic>
      <p:pic>
        <p:nvPicPr>
          <p:cNvPr id="39" name="Image 19" descr="preencoded.png"/>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6964680" y="3185160"/>
            <a:ext cx="4358640" cy="518160"/>
          </a:xfrm>
          <a:prstGeom prst="rect">
            <a:avLst/>
          </a:prstGeom>
        </p:spPr>
      </p:pic>
      <p:sp>
        <p:nvSpPr>
          <p:cNvPr id="40" name="Text 18"/>
          <p:cNvSpPr/>
          <p:nvPr/>
        </p:nvSpPr>
        <p:spPr>
          <a:xfrm>
            <a:off x="7147560" y="3276600"/>
            <a:ext cx="22341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审核登录事件</a:t>
            </a:r>
            <a:endParaRPr lang="en-US" sz="1680" dirty="0"/>
          </a:p>
        </p:txBody>
      </p:sp>
      <p:sp>
        <p:nvSpPr>
          <p:cNvPr id="41" name="Text 19"/>
          <p:cNvSpPr/>
          <p:nvPr/>
        </p:nvSpPr>
        <p:spPr>
          <a:xfrm>
            <a:off x="9723120" y="3276600"/>
            <a:ext cx="142646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143966"/>
                </a:solidFill>
                <a:latin typeface="思源黑体 CN Bold" pitchFamily="34" charset="0"/>
                <a:ea typeface="思源黑体 CN Bold" pitchFamily="34" charset="-122"/>
                <a:cs typeface="思源黑体 CN Bold" pitchFamily="34" charset="-120"/>
              </a:rPr>
              <a:t>成功，失败</a:t>
            </a:r>
            <a:endParaRPr lang="en-US" sz="1680" dirty="0"/>
          </a:p>
        </p:txBody>
      </p:sp>
      <p:pic>
        <p:nvPicPr>
          <p:cNvPr id="42" name="Image 20" descr="https://test.web.static.jianzeppt.com/ppt-temp-img3/1a39479d3efda2740edfe1291127cdf1.png?x-oss-process=image/resize,w_1440,h_800,m_lfit/format,png"/>
          <p:cNvPicPr>
            <a:picLocks noChangeAspect="1"/>
          </p:cNvPicPr>
          <p:nvPr/>
        </p:nvPicPr>
        <p:blipFill>
          <a:blip r:embed="rId25"/>
          <a:stretch>
            <a:fillRect/>
          </a:stretch>
        </p:blipFill>
        <p:spPr>
          <a:xfrm>
            <a:off x="6964680" y="3695700"/>
            <a:ext cx="4358640" cy="15240"/>
          </a:xfrm>
          <a:prstGeom prst="rect">
            <a:avLst/>
          </a:prstGeom>
        </p:spPr>
      </p:pic>
      <p:pic>
        <p:nvPicPr>
          <p:cNvPr id="43" name="Image 21" descr="https://test.web.static.jianzeppt.com/ppt-temp-img3/b6c03f4db9060b51594ec67d13708a44.png?x-oss-process=image/resize,w_1440,h_800,m_lfit/format,png"/>
          <p:cNvPicPr>
            <a:picLocks noChangeAspect="1"/>
          </p:cNvPicPr>
          <p:nvPr/>
        </p:nvPicPr>
        <p:blipFill>
          <a:blip r:embed="rId26"/>
          <a:stretch>
            <a:fillRect/>
          </a:stretch>
        </p:blipFill>
        <p:spPr>
          <a:xfrm>
            <a:off x="6964680" y="3703320"/>
            <a:ext cx="4358640" cy="518160"/>
          </a:xfrm>
          <a:prstGeom prst="rect">
            <a:avLst/>
          </a:prstGeom>
        </p:spPr>
      </p:pic>
      <p:sp>
        <p:nvSpPr>
          <p:cNvPr id="44" name="Text 20"/>
          <p:cNvSpPr/>
          <p:nvPr/>
        </p:nvSpPr>
        <p:spPr>
          <a:xfrm>
            <a:off x="7147560" y="3794760"/>
            <a:ext cx="22341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审核账户登录事件</a:t>
            </a:r>
            <a:endParaRPr lang="en-US" sz="1680" dirty="0"/>
          </a:p>
        </p:txBody>
      </p:sp>
      <p:sp>
        <p:nvSpPr>
          <p:cNvPr id="45" name="Text 21"/>
          <p:cNvSpPr/>
          <p:nvPr/>
        </p:nvSpPr>
        <p:spPr>
          <a:xfrm>
            <a:off x="9723120" y="3794760"/>
            <a:ext cx="142646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143966"/>
                </a:solidFill>
                <a:latin typeface="思源黑体 CN Bold" pitchFamily="34" charset="0"/>
                <a:ea typeface="思源黑体 CN Bold" pitchFamily="34" charset="-122"/>
                <a:cs typeface="思源黑体 CN Bold" pitchFamily="34" charset="-120"/>
              </a:rPr>
              <a:t>成功，失败</a:t>
            </a:r>
            <a:endParaRPr lang="en-US" sz="1680" dirty="0"/>
          </a:p>
        </p:txBody>
      </p:sp>
      <p:pic>
        <p:nvPicPr>
          <p:cNvPr id="46" name="Image 22" descr="https://test.web.static.jianzeppt.com/ppt-temp-img3/1a39479d3efda2740edfe1291127cdf1.png?x-oss-process=image/resize,w_1440,h_800,m_lfit/format,png"/>
          <p:cNvPicPr>
            <a:picLocks noChangeAspect="1"/>
          </p:cNvPicPr>
          <p:nvPr/>
        </p:nvPicPr>
        <p:blipFill>
          <a:blip r:embed="rId25"/>
          <a:stretch>
            <a:fillRect/>
          </a:stretch>
        </p:blipFill>
        <p:spPr>
          <a:xfrm>
            <a:off x="6964680" y="4213860"/>
            <a:ext cx="4358640" cy="15240"/>
          </a:xfrm>
          <a:prstGeom prst="rect">
            <a:avLst/>
          </a:prstGeom>
        </p:spPr>
      </p:pic>
      <p:pic>
        <p:nvPicPr>
          <p:cNvPr id="47" name="Image 23" descr="preencoded.png"/>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6964680" y="4221480"/>
            <a:ext cx="4358640" cy="518160"/>
          </a:xfrm>
          <a:prstGeom prst="rect">
            <a:avLst/>
          </a:prstGeom>
        </p:spPr>
      </p:pic>
      <p:sp>
        <p:nvSpPr>
          <p:cNvPr id="48" name="Text 22"/>
          <p:cNvSpPr/>
          <p:nvPr/>
        </p:nvSpPr>
        <p:spPr>
          <a:xfrm>
            <a:off x="7147560" y="4312920"/>
            <a:ext cx="22341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审核账户管理</a:t>
            </a:r>
            <a:endParaRPr lang="en-US" sz="1680" dirty="0"/>
          </a:p>
        </p:txBody>
      </p:sp>
      <p:sp>
        <p:nvSpPr>
          <p:cNvPr id="49" name="Text 23"/>
          <p:cNvSpPr/>
          <p:nvPr/>
        </p:nvSpPr>
        <p:spPr>
          <a:xfrm>
            <a:off x="9723120" y="4312920"/>
            <a:ext cx="142646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143966"/>
                </a:solidFill>
                <a:latin typeface="思源黑体 CN Bold" pitchFamily="34" charset="0"/>
                <a:ea typeface="思源黑体 CN Bold" pitchFamily="34" charset="-122"/>
                <a:cs typeface="思源黑体 CN Bold" pitchFamily="34" charset="-120"/>
              </a:rPr>
              <a:t>成功，失败</a:t>
            </a:r>
            <a:endParaRPr lang="en-US" sz="1680" dirty="0"/>
          </a:p>
        </p:txBody>
      </p:sp>
      <p:pic>
        <p:nvPicPr>
          <p:cNvPr id="50" name="Image 24" descr="https://test.web.static.jianzeppt.com/ppt-temp-img3/1a39479d3efda2740edfe1291127cdf1.png?x-oss-process=image/resize,w_1440,h_800,m_lfit/format,png"/>
          <p:cNvPicPr>
            <a:picLocks noChangeAspect="1"/>
          </p:cNvPicPr>
          <p:nvPr/>
        </p:nvPicPr>
        <p:blipFill>
          <a:blip r:embed="rId25"/>
          <a:stretch>
            <a:fillRect/>
          </a:stretch>
        </p:blipFill>
        <p:spPr>
          <a:xfrm>
            <a:off x="6964680" y="4732020"/>
            <a:ext cx="4358640" cy="15240"/>
          </a:xfrm>
          <a:prstGeom prst="rect">
            <a:avLst/>
          </a:prstGeom>
        </p:spPr>
      </p:pic>
      <p:pic>
        <p:nvPicPr>
          <p:cNvPr id="51" name="Image 25" descr="https://test.web.static.jianzeppt.com/ppt-temp-img3/b6c03f4db9060b51594ec67d13708a44.png?x-oss-process=image/resize,w_1440,h_800,m_lfit/format,png"/>
          <p:cNvPicPr>
            <a:picLocks noChangeAspect="1"/>
          </p:cNvPicPr>
          <p:nvPr/>
        </p:nvPicPr>
        <p:blipFill>
          <a:blip r:embed="rId26"/>
          <a:stretch>
            <a:fillRect/>
          </a:stretch>
        </p:blipFill>
        <p:spPr>
          <a:xfrm>
            <a:off x="6964680" y="4739640"/>
            <a:ext cx="4358640" cy="518160"/>
          </a:xfrm>
          <a:prstGeom prst="rect">
            <a:avLst/>
          </a:prstGeom>
        </p:spPr>
      </p:pic>
      <p:sp>
        <p:nvSpPr>
          <p:cNvPr id="52" name="Text 24"/>
          <p:cNvSpPr/>
          <p:nvPr/>
        </p:nvSpPr>
        <p:spPr>
          <a:xfrm>
            <a:off x="7147560" y="4831080"/>
            <a:ext cx="22341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审核目录服务访问</a:t>
            </a:r>
            <a:endParaRPr lang="en-US" sz="1680" dirty="0"/>
          </a:p>
        </p:txBody>
      </p:sp>
      <p:sp>
        <p:nvSpPr>
          <p:cNvPr id="53" name="Text 25"/>
          <p:cNvSpPr/>
          <p:nvPr/>
        </p:nvSpPr>
        <p:spPr>
          <a:xfrm>
            <a:off x="9723120" y="4831080"/>
            <a:ext cx="142646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143966"/>
                </a:solidFill>
                <a:latin typeface="思源黑体 CN Bold" pitchFamily="34" charset="0"/>
                <a:ea typeface="思源黑体 CN Bold" pitchFamily="34" charset="-122"/>
                <a:cs typeface="思源黑体 CN Bold" pitchFamily="34" charset="-120"/>
              </a:rPr>
              <a:t>成功，失败</a:t>
            </a:r>
            <a:endParaRPr lang="en-US" sz="1680" dirty="0"/>
          </a:p>
        </p:txBody>
      </p:sp>
      <p:pic>
        <p:nvPicPr>
          <p:cNvPr id="54" name="Image 26" descr="https://test.web.static.jianzeppt.com/ppt-temp-img3/1a39479d3efda2740edfe1291127cdf1.png?x-oss-process=image/resize,w_1440,h_800,m_lfit/format,png"/>
          <p:cNvPicPr>
            <a:picLocks noChangeAspect="1"/>
          </p:cNvPicPr>
          <p:nvPr/>
        </p:nvPicPr>
        <p:blipFill>
          <a:blip r:embed="rId25"/>
          <a:stretch>
            <a:fillRect/>
          </a:stretch>
        </p:blipFill>
        <p:spPr>
          <a:xfrm>
            <a:off x="6964680" y="5250180"/>
            <a:ext cx="4358640" cy="15240"/>
          </a:xfrm>
          <a:prstGeom prst="rect">
            <a:avLst/>
          </a:prstGeom>
        </p:spPr>
      </p:pic>
      <p:pic>
        <p:nvPicPr>
          <p:cNvPr id="55" name="Image 27" descr="preencoded.png"/>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6964680" y="5257800"/>
            <a:ext cx="4358640" cy="518160"/>
          </a:xfrm>
          <a:prstGeom prst="rect">
            <a:avLst/>
          </a:prstGeom>
        </p:spPr>
      </p:pic>
      <p:sp>
        <p:nvSpPr>
          <p:cNvPr id="56" name="Text 26"/>
          <p:cNvSpPr/>
          <p:nvPr/>
        </p:nvSpPr>
        <p:spPr>
          <a:xfrm>
            <a:off x="7147560" y="5349240"/>
            <a:ext cx="22341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审核策略更改</a:t>
            </a:r>
            <a:endParaRPr lang="en-US" sz="1680" dirty="0"/>
          </a:p>
        </p:txBody>
      </p:sp>
      <p:sp>
        <p:nvSpPr>
          <p:cNvPr id="57" name="Text 27"/>
          <p:cNvSpPr/>
          <p:nvPr/>
        </p:nvSpPr>
        <p:spPr>
          <a:xfrm>
            <a:off x="9723120" y="5349240"/>
            <a:ext cx="142646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143966"/>
                </a:solidFill>
                <a:latin typeface="思源黑体 CN Bold" pitchFamily="34" charset="0"/>
                <a:ea typeface="思源黑体 CN Bold" pitchFamily="34" charset="-122"/>
                <a:cs typeface="思源黑体 CN Bold" pitchFamily="34" charset="-120"/>
              </a:rPr>
              <a:t>成功，失败</a:t>
            </a:r>
            <a:endParaRPr lang="en-US" sz="1680" dirty="0"/>
          </a:p>
        </p:txBody>
      </p:sp>
      <p:pic>
        <p:nvPicPr>
          <p:cNvPr id="58" name="Image 28" descr="https://test.web.static.jianzeppt.com/ppt-temp-img3/1a39479d3efda2740edfe1291127cdf1.png?x-oss-process=image/resize,w_1440,h_800,m_lfit/format,png"/>
          <p:cNvPicPr>
            <a:picLocks noChangeAspect="1"/>
          </p:cNvPicPr>
          <p:nvPr/>
        </p:nvPicPr>
        <p:blipFill>
          <a:blip r:embed="rId25"/>
          <a:stretch>
            <a:fillRect/>
          </a:stretch>
        </p:blipFill>
        <p:spPr>
          <a:xfrm>
            <a:off x="6964680" y="5768340"/>
            <a:ext cx="4358640" cy="15240"/>
          </a:xfrm>
          <a:prstGeom prst="rect">
            <a:avLst/>
          </a:prstGeom>
        </p:spPr>
      </p:pic>
      <p:pic>
        <p:nvPicPr>
          <p:cNvPr id="59" name="Image 29" descr="https://test.web.static.jianzeppt.com/ppt-temp-img3/b6c03f4db9060b51594ec67d13708a44.png?x-oss-process=image/resize,w_1440,h_800,m_lfit/format,png"/>
          <p:cNvPicPr>
            <a:picLocks noChangeAspect="1"/>
          </p:cNvPicPr>
          <p:nvPr/>
        </p:nvPicPr>
        <p:blipFill>
          <a:blip r:embed="rId26"/>
          <a:stretch>
            <a:fillRect/>
          </a:stretch>
        </p:blipFill>
        <p:spPr>
          <a:xfrm>
            <a:off x="6964680" y="5775960"/>
            <a:ext cx="4358640" cy="518160"/>
          </a:xfrm>
          <a:prstGeom prst="rect">
            <a:avLst/>
          </a:prstGeom>
        </p:spPr>
      </p:pic>
      <p:sp>
        <p:nvSpPr>
          <p:cNvPr id="60" name="Text 28"/>
          <p:cNvSpPr/>
          <p:nvPr/>
        </p:nvSpPr>
        <p:spPr>
          <a:xfrm>
            <a:off x="7147560" y="5867400"/>
            <a:ext cx="22341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审核系统事件</a:t>
            </a:r>
            <a:endParaRPr lang="en-US" sz="1680" dirty="0"/>
          </a:p>
        </p:txBody>
      </p:sp>
      <p:sp>
        <p:nvSpPr>
          <p:cNvPr id="61" name="Text 29"/>
          <p:cNvSpPr/>
          <p:nvPr/>
        </p:nvSpPr>
        <p:spPr>
          <a:xfrm>
            <a:off x="9723120" y="5867400"/>
            <a:ext cx="142646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143966"/>
                </a:solidFill>
                <a:latin typeface="思源黑体 CN Bold" pitchFamily="34" charset="0"/>
                <a:ea typeface="思源黑体 CN Bold" pitchFamily="34" charset="-122"/>
                <a:cs typeface="思源黑体 CN Bold" pitchFamily="34" charset="-120"/>
              </a:rPr>
              <a:t>成功，失败</a:t>
            </a:r>
            <a:endParaRPr lang="en-US" sz="16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1734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入侵防范核查</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371600"/>
            <a:ext cx="10972800" cy="1264920"/>
          </a:xfrm>
          <a:prstGeom prst="rect">
            <a:avLst/>
          </a:prstGeom>
        </p:spPr>
      </p:pic>
      <p:sp>
        <p:nvSpPr>
          <p:cNvPr id="7" name="Text 1"/>
          <p:cNvSpPr/>
          <p:nvPr/>
        </p:nvSpPr>
        <p:spPr>
          <a:xfrm>
            <a:off x="914400" y="1414145"/>
            <a:ext cx="10433304" cy="365760"/>
          </a:xfrm>
          <a:prstGeom prst="rect">
            <a:avLst/>
          </a:prstGeom>
          <a:noFill/>
        </p:spPr>
        <p:txBody>
          <a:bodyPr wrap="none" lIns="0" tIns="0" rIns="0" bIns="0" rtlCol="0" anchor="t">
            <a:spAutoFit/>
          </a:bodyPr>
          <a:lstStyle/>
          <a:p>
            <a:pPr marL="0" indent="0" algn="l">
              <a:lnSpc>
                <a:spcPct val="100000"/>
              </a:lnSpc>
              <a:buNone/>
            </a:pPr>
            <a:r>
              <a:rPr lang="en-US" sz="1920" b="1" dirty="0">
                <a:solidFill>
                  <a:srgbClr val="333333"/>
                </a:solidFill>
                <a:latin typeface="思源黑体 CN Bold" pitchFamily="34" charset="0"/>
                <a:ea typeface="思源黑体 CN Bold" pitchFamily="34" charset="-122"/>
                <a:cs typeface="思源黑体 CN Bold" pitchFamily="34" charset="-120"/>
              </a:rPr>
              <a:t>GB/T 22239 8.1.4.4 要求</a:t>
            </a:r>
            <a:endParaRPr lang="en-US" sz="1920" dirty="0"/>
          </a:p>
        </p:txBody>
      </p:sp>
      <p:sp>
        <p:nvSpPr>
          <p:cNvPr id="8" name="Text 2"/>
          <p:cNvSpPr/>
          <p:nvPr/>
        </p:nvSpPr>
        <p:spPr>
          <a:xfrm>
            <a:off x="914400" y="1889760"/>
            <a:ext cx="10433304" cy="553720"/>
          </a:xfrm>
          <a:prstGeom prst="rect">
            <a:avLst/>
          </a:prstGeom>
          <a:noFill/>
        </p:spPr>
        <p:txBody>
          <a:bodyPr wrap="square" lIns="0" tIns="0" rIns="0" bIns="0" rtlCol="0" anchor="t">
            <a:spAutoFit/>
          </a:bodyPr>
          <a:lstStyle/>
          <a:p>
            <a:pPr marL="0" indent="0" algn="l">
              <a:lnSpc>
                <a:spcPct val="100000"/>
              </a:lnSpc>
              <a:buNone/>
            </a:pPr>
            <a:r>
              <a:rPr lang="en-US" dirty="0">
                <a:solidFill>
                  <a:srgbClr val="666666"/>
                </a:solidFill>
                <a:latin typeface="思源黑体 CN" pitchFamily="34" charset="0"/>
                <a:ea typeface="思源黑体 CN" pitchFamily="34" charset="-122"/>
                <a:cs typeface="思源黑体 CN" pitchFamily="34" charset="-120"/>
              </a:rPr>
              <a:t>“应遵循最小安装的原则，仅安装需要的组件和应用程序；应关闭不需要的系统服务、默认共享和高危端口；应能发现可能存在的已知漏洞，并在经过充分测试评估后，及时修补漏洞。”</a:t>
            </a:r>
            <a:endParaRPr lang="en-US" dirty="0">
              <a:solidFill>
                <a:srgbClr val="666666"/>
              </a:solidFill>
              <a:latin typeface="思源黑体 CN" pitchFamily="34" charset="0"/>
              <a:ea typeface="思源黑体 CN" pitchFamily="34" charset="-122"/>
              <a:cs typeface="思源黑体 CN" pitchFamily="34" charset="-120"/>
            </a:endParaRPr>
          </a:p>
        </p:txBody>
      </p:sp>
      <p:pic>
        <p:nvPicPr>
          <p:cNvPr id="9" name="Image 4"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9600" y="2865120"/>
            <a:ext cx="5334000" cy="609600"/>
          </a:xfrm>
          <a:prstGeom prst="rect">
            <a:avLst/>
          </a:prstGeom>
        </p:spPr>
      </p:pic>
      <p:sp>
        <p:nvSpPr>
          <p:cNvPr id="10" name="Text 3"/>
          <p:cNvSpPr/>
          <p:nvPr/>
        </p:nvSpPr>
        <p:spPr>
          <a:xfrm>
            <a:off x="853440" y="2987040"/>
            <a:ext cx="124358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FFFFFF"/>
                </a:solidFill>
                <a:latin typeface="思源黑体 CN Bold" pitchFamily="34" charset="0"/>
                <a:ea typeface="思源黑体 CN Bold" pitchFamily="34" charset="-122"/>
                <a:cs typeface="思源黑体 CN Bold" pitchFamily="34" charset="-120"/>
              </a:rPr>
              <a:t>核心检查项</a:t>
            </a:r>
            <a:endParaRPr lang="en-US" sz="1920" dirty="0"/>
          </a:p>
        </p:txBody>
      </p:sp>
      <p:pic>
        <p:nvPicPr>
          <p:cNvPr id="11" name="Image 5" descr="https://test.web.static.jianzeppt.com/ppt-temp-img3/bd1ebcb48e94be750f1dab27017ec3d7.png?x-oss-process=image/resize,w_1440,h_800,m_lfit/format,png"/>
          <p:cNvPicPr>
            <a:picLocks noChangeAspect="1"/>
          </p:cNvPicPr>
          <p:nvPr/>
        </p:nvPicPr>
        <p:blipFill>
          <a:blip r:embed="rId8"/>
          <a:stretch>
            <a:fillRect/>
          </a:stretch>
        </p:blipFill>
        <p:spPr>
          <a:xfrm>
            <a:off x="609600" y="3474720"/>
            <a:ext cx="5334000" cy="2773680"/>
          </a:xfrm>
          <a:prstGeom prst="rect">
            <a:avLst/>
          </a:prstGeom>
        </p:spPr>
      </p:pic>
      <p:graphicFrame>
        <p:nvGraphicFramePr>
          <p:cNvPr id="13" name="Table 0"/>
          <p:cNvGraphicFramePr>
            <a:graphicFrameLocks noGrp="1"/>
          </p:cNvGraphicFramePr>
          <p:nvPr/>
        </p:nvGraphicFramePr>
        <p:xfrm>
          <a:off x="742950" y="3489960"/>
          <a:ext cx="5146040" cy="2882265"/>
        </p:xfrm>
        <a:graphic>
          <a:graphicData uri="http://schemas.openxmlformats.org/drawingml/2006/table">
            <a:tbl>
              <a:tblPr/>
              <a:tblGrid>
                <a:gridCol w="459105"/>
                <a:gridCol w="2996565"/>
                <a:gridCol w="1690370"/>
              </a:tblGrid>
              <a:tr h="473075">
                <a:tc>
                  <a:txBody>
                    <a:bodyPr/>
                    <a:lstStyle/>
                    <a:p>
                      <a:pPr marL="0" indent="0" algn="ctr">
                        <a:buNone/>
                      </a:pPr>
                      <a:r>
                        <a:rPr lang="en-US" sz="1200" dirty="0">
                          <a:solidFill>
                            <a:srgbClr val="000000"/>
                          </a:solidFill>
                        </a:rPr>
                        <a:t>序号</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Windows检查项</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Linux检查项</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42900">
                <a:tc>
                  <a:txBody>
                    <a:bodyPr/>
                    <a:lstStyle/>
                    <a:p>
                      <a:pPr marL="0" indent="0" algn="ctr">
                        <a:buNone/>
                      </a:pPr>
                      <a:r>
                        <a:rPr lang="en-US" sz="1200" dirty="0">
                          <a:solidFill>
                            <a:srgbClr val="000000"/>
                          </a:solidFill>
                        </a:rPr>
                        <a:t>1</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是否仅安装必要组件？</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是否最小化安装？</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43535">
                <a:tc>
                  <a:txBody>
                    <a:bodyPr/>
                    <a:lstStyle/>
                    <a:p>
                      <a:pPr marL="0" indent="0" algn="ctr">
                        <a:buNone/>
                      </a:pPr>
                      <a:r>
                        <a:rPr lang="en-US" sz="1200" dirty="0">
                          <a:solidFill>
                            <a:srgbClr val="000000"/>
                          </a:solidFill>
                        </a:rPr>
                        <a:t>2</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是否关闭不需要的服务？</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systemctllist-unit-files</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182880">
                <a:tc>
                  <a:txBody>
                    <a:bodyPr/>
                    <a:lstStyle/>
                    <a:p>
                      <a:pPr marL="0" algn="ctr">
                        <a:buClrTx/>
                        <a:buSzTx/>
                        <a:buFontTx/>
                        <a:buNone/>
                      </a:pPr>
                      <a:r>
                        <a:rPr lang="en-US" sz="1200" dirty="0">
                          <a:solidFill>
                            <a:srgbClr val="000000"/>
                          </a:solidFill>
                        </a:rPr>
                        <a:t>3</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默认共享（C$、Admin$、IPC$）是否关闭？</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buClrTx/>
                        <a:buSzTx/>
                        <a:buFontTx/>
                      </a:pP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42900">
                <a:tc>
                  <a:txBody>
                    <a:bodyPr/>
                    <a:lstStyle/>
                    <a:p>
                      <a:pPr marL="0" indent="0" algn="ctr">
                        <a:buNone/>
                      </a:pPr>
                      <a:r>
                        <a:rPr lang="en-US" sz="1200" dirty="0">
                          <a:solidFill>
                            <a:srgbClr val="000000"/>
                          </a:solidFill>
                        </a:rPr>
                        <a:t>4</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高危端口是否关闭？（如135、137-139、445）</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高危端口是否关闭？</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43535">
                <a:tc>
                  <a:txBody>
                    <a:bodyPr/>
                    <a:lstStyle/>
                    <a:p>
                      <a:pPr marL="0" indent="0" algn="ctr">
                        <a:buNone/>
                      </a:pPr>
                      <a:r>
                        <a:rPr lang="en-US" sz="1200" dirty="0">
                          <a:solidFill>
                            <a:srgbClr val="000000"/>
                          </a:solidFill>
                        </a:rPr>
                        <a:t>5</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是否定期进行漏洞扫描？</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是否定期进行漏洞扫描？</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42900">
                <a:tc>
                  <a:txBody>
                    <a:bodyPr/>
                    <a:lstStyle/>
                    <a:p>
                      <a:pPr marL="0" indent="0" algn="ctr">
                        <a:buNone/>
                      </a:pPr>
                      <a:r>
                        <a:rPr lang="en-US" sz="1200" dirty="0">
                          <a:solidFill>
                            <a:srgbClr val="000000"/>
                          </a:solidFill>
                        </a:rPr>
                        <a:t>6</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系统补丁是否及时更新？</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系统补丁是否及时更新？</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pic>
        <p:nvPicPr>
          <p:cNvPr id="12" name="Image 6"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48400" y="2910840"/>
            <a:ext cx="5334000" cy="609600"/>
          </a:xfrm>
          <a:prstGeom prst="rect">
            <a:avLst/>
          </a:prstGeom>
        </p:spPr>
      </p:pic>
      <p:sp>
        <p:nvSpPr>
          <p:cNvPr id="14" name="Text 4"/>
          <p:cNvSpPr/>
          <p:nvPr/>
        </p:nvSpPr>
        <p:spPr>
          <a:xfrm>
            <a:off x="6492240" y="2987040"/>
            <a:ext cx="197510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FFFFFF"/>
                </a:solidFill>
                <a:latin typeface="思源黑体 CN Bold" pitchFamily="34" charset="0"/>
                <a:ea typeface="思源黑体 CN Bold" pitchFamily="34" charset="-122"/>
                <a:cs typeface="思源黑体 CN Bold" pitchFamily="34" charset="-120"/>
              </a:rPr>
              <a:t>常见高危端口风险</a:t>
            </a:r>
            <a:endParaRPr lang="en-US" sz="1920" dirty="0"/>
          </a:p>
        </p:txBody>
      </p:sp>
      <p:pic>
        <p:nvPicPr>
          <p:cNvPr id="15" name="Image 7" descr="https://test.web.static.jianzeppt.com/ppt-temp-img3/bd1ebcb48e94be750f1dab27017ec3d7.png?x-oss-process=image/resize,w_1440,h_800,m_lfit/format,png"/>
          <p:cNvPicPr>
            <a:picLocks noChangeAspect="1"/>
          </p:cNvPicPr>
          <p:nvPr/>
        </p:nvPicPr>
        <p:blipFill>
          <a:blip r:embed="rId8"/>
          <a:stretch>
            <a:fillRect/>
          </a:stretch>
        </p:blipFill>
        <p:spPr>
          <a:xfrm>
            <a:off x="6248400" y="3474720"/>
            <a:ext cx="5334000" cy="2773680"/>
          </a:xfrm>
          <a:prstGeom prst="rect">
            <a:avLst/>
          </a:prstGeom>
        </p:spPr>
      </p:pic>
      <p:graphicFrame>
        <p:nvGraphicFramePr>
          <p:cNvPr id="25" name="Table 1"/>
          <p:cNvGraphicFramePr>
            <a:graphicFrameLocks noGrp="1"/>
          </p:cNvGraphicFramePr>
          <p:nvPr/>
        </p:nvGraphicFramePr>
        <p:xfrm>
          <a:off x="6358890" y="3489960"/>
          <a:ext cx="5102225" cy="2604770"/>
        </p:xfrm>
        <a:graphic>
          <a:graphicData uri="http://schemas.openxmlformats.org/drawingml/2006/table">
            <a:tbl>
              <a:tblPr/>
              <a:tblGrid>
                <a:gridCol w="1043940"/>
                <a:gridCol w="1073150"/>
                <a:gridCol w="2985135"/>
              </a:tblGrid>
              <a:tr h="372110">
                <a:tc>
                  <a:txBody>
                    <a:bodyPr/>
                    <a:lstStyle/>
                    <a:p>
                      <a:pPr marL="0" algn="ctr">
                        <a:buClrTx/>
                        <a:buSzTx/>
                        <a:buFontTx/>
                        <a:buNone/>
                      </a:pPr>
                      <a:r>
                        <a:rPr lang="en-US" sz="1200" dirty="0">
                          <a:solidFill>
                            <a:srgbClr val="000000"/>
                          </a:solidFill>
                        </a:rPr>
                        <a:t>端口</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服务</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风险</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72110">
                <a:tc>
                  <a:txBody>
                    <a:bodyPr/>
                    <a:lstStyle/>
                    <a:p>
                      <a:pPr marL="0" algn="ctr">
                        <a:buClrTx/>
                        <a:buSzTx/>
                        <a:buFontTx/>
                        <a:buNone/>
                      </a:pPr>
                      <a:r>
                        <a:rPr lang="en-US" sz="1200" dirty="0">
                          <a:solidFill>
                            <a:srgbClr val="000000"/>
                          </a:solidFill>
                        </a:rPr>
                        <a:t>135</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RPC</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远程执行漏洞</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72110">
                <a:tc>
                  <a:txBody>
                    <a:bodyPr/>
                    <a:lstStyle/>
                    <a:p>
                      <a:pPr marL="0" algn="ctr">
                        <a:buClrTx/>
                        <a:buSzTx/>
                        <a:buFontTx/>
                        <a:buNone/>
                      </a:pPr>
                      <a:r>
                        <a:rPr lang="en-US" sz="1200" dirty="0">
                          <a:solidFill>
                            <a:srgbClr val="000000"/>
                          </a:solidFill>
                        </a:rPr>
                        <a:t>137-139</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NetBIOS</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信息泄露</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72110">
                <a:tc>
                  <a:txBody>
                    <a:bodyPr/>
                    <a:lstStyle/>
                    <a:p>
                      <a:pPr marL="0" algn="ctr">
                        <a:buClrTx/>
                        <a:buSzTx/>
                        <a:buFontTx/>
                        <a:buNone/>
                      </a:pPr>
                      <a:r>
                        <a:rPr lang="en-US" sz="1200" dirty="0">
                          <a:solidFill>
                            <a:srgbClr val="000000"/>
                          </a:solidFill>
                        </a:rPr>
                        <a:t>445</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SMB</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勒索病毒传播（永恒之蓝）</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72110">
                <a:tc>
                  <a:txBody>
                    <a:bodyPr/>
                    <a:lstStyle/>
                    <a:p>
                      <a:pPr marL="0" algn="ctr">
                        <a:buClrTx/>
                        <a:buSzTx/>
                        <a:buFontTx/>
                        <a:buNone/>
                      </a:pPr>
                      <a:r>
                        <a:rPr lang="en-US" sz="1200" dirty="0">
                          <a:solidFill>
                            <a:srgbClr val="000000"/>
                          </a:solidFill>
                        </a:rPr>
                        <a:t>23</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Telnet</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明文传输</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72110">
                <a:tc>
                  <a:txBody>
                    <a:bodyPr/>
                    <a:lstStyle/>
                    <a:p>
                      <a:pPr marL="0" algn="ctr">
                        <a:buClrTx/>
                        <a:buSzTx/>
                        <a:buFontTx/>
                        <a:buNone/>
                      </a:pPr>
                      <a:r>
                        <a:rPr lang="en-US" sz="1200" dirty="0">
                          <a:solidFill>
                            <a:srgbClr val="000000"/>
                          </a:solidFill>
                        </a:rPr>
                        <a:t>21</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FTP</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明文传输</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72110">
                <a:tc>
                  <a:txBody>
                    <a:bodyPr/>
                    <a:lstStyle/>
                    <a:p>
                      <a:pPr marL="0" algn="ctr">
                        <a:buClrTx/>
                        <a:buSzTx/>
                        <a:buFontTx/>
                        <a:buNone/>
                      </a:pPr>
                      <a:r>
                        <a:rPr lang="en-US" sz="1200" dirty="0">
                          <a:solidFill>
                            <a:srgbClr val="000000"/>
                          </a:solidFill>
                        </a:rPr>
                        <a:t>3389</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RDP</a:t>
                      </a:r>
                      <a:r>
                        <a:rPr lang="zh-CN" altLang="en-US" sz="1200" dirty="0">
                          <a:solidFill>
                            <a:srgbClr val="000000"/>
                          </a:solidFill>
                        </a:rPr>
                        <a:t>（远程</a:t>
                      </a:r>
                      <a:r>
                        <a:rPr lang="zh-CN" altLang="en-US" sz="1200" dirty="0">
                          <a:solidFill>
                            <a:srgbClr val="000000"/>
                          </a:solidFill>
                        </a:rPr>
                        <a:t>桌面）</a:t>
                      </a:r>
                      <a:endParaRPr lang="zh-CN" alt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暴力破解攻击面</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恶意代码防范核查</a:t>
            </a:r>
            <a:endParaRPr lang="en-US" sz="2760" dirty="0"/>
          </a:p>
        </p:txBody>
      </p:sp>
      <p:pic>
        <p:nvPicPr>
          <p:cNvPr id="6" name="Image 3" descr="https://test.web.static.jianzeppt.com/ppt-temp-img3/87d19d0006ef48e6f4fe7572c2c3b174.png?x-oss-process=image/resize,w_1440,h_800,m_lfit/format,png"/>
          <p:cNvPicPr>
            <a:picLocks noChangeAspect="1"/>
          </p:cNvPicPr>
          <p:nvPr/>
        </p:nvPicPr>
        <p:blipFill>
          <a:blip r:embed="rId4"/>
          <a:stretch>
            <a:fillRect/>
          </a:stretch>
        </p:blipFill>
        <p:spPr>
          <a:xfrm>
            <a:off x="609600" y="1371600"/>
            <a:ext cx="10972800" cy="1082040"/>
          </a:xfrm>
          <a:prstGeom prst="rect">
            <a:avLst/>
          </a:prstGeom>
        </p:spPr>
      </p:pic>
      <p:sp>
        <p:nvSpPr>
          <p:cNvPr id="7" name="Text 1"/>
          <p:cNvSpPr/>
          <p:nvPr/>
        </p:nvSpPr>
        <p:spPr>
          <a:xfrm>
            <a:off x="807720" y="1554480"/>
            <a:ext cx="10585704" cy="682466"/>
          </a:xfrm>
          <a:prstGeom prst="rect">
            <a:avLst/>
          </a:prstGeom>
          <a:noFill/>
        </p:spPr>
        <p:txBody>
          <a:bodyPr wrap="square" lIns="0" tIns="0" rIns="0" bIns="0" rtlCol="0" anchor="t">
            <a:spAutoFit/>
          </a:bodyPr>
          <a:lstStyle/>
          <a:p>
            <a:pPr marL="0" indent="0" algn="l">
              <a:lnSpc>
                <a:spcPct val="140000"/>
              </a:lnSpc>
              <a:buNone/>
            </a:pPr>
            <a:r>
              <a:rPr lang="en-US" sz="1920" b="1" dirty="0">
                <a:solidFill>
                  <a:srgbClr val="143966"/>
                </a:solidFill>
                <a:latin typeface="思源黑体 CN Bold" pitchFamily="34" charset="0"/>
                <a:ea typeface="思源黑体 CN Bold" pitchFamily="34" charset="-122"/>
                <a:cs typeface="思源黑体 CN Bold" pitchFamily="34" charset="-120"/>
              </a:rPr>
              <a:t>GB/T 22239 8.1.4.5:</a:t>
            </a:r>
            <a:r>
              <a:rPr lang="en-US" sz="1920" dirty="0">
                <a:solidFill>
                  <a:srgbClr val="333333"/>
                </a:solidFill>
                <a:latin typeface="思源黑体 CN" pitchFamily="34" charset="0"/>
                <a:ea typeface="思源黑体 CN" pitchFamily="34" charset="-122"/>
                <a:cs typeface="思源黑体 CN" pitchFamily="34" charset="-120"/>
              </a:rPr>
              <a:t>“应采用免受恶意代码攻击的技术措施或主动免疫可信验证机制及时识别入侵和病毒行为，并将其有效阻断。”</a:t>
            </a:r>
            <a:endParaRPr lang="en-US" sz="1920" dirty="0"/>
          </a:p>
        </p:txBody>
      </p:sp>
      <p:pic>
        <p:nvPicPr>
          <p:cNvPr id="8"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9600" y="2697480"/>
            <a:ext cx="6431280" cy="3566160"/>
          </a:xfrm>
          <a:prstGeom prst="rect">
            <a:avLst/>
          </a:prstGeom>
          <a:effectLst>
            <a:outerShdw blurRad="387096000" dist="193548000" dir="-1" algn="bl" rotWithShape="0">
              <a:srgbClr val="000000">
                <a:alpha val="500000000"/>
              </a:srgbClr>
            </a:outerShdw>
          </a:effectLst>
        </p:spPr>
      </p:pic>
      <p:pic>
        <p:nvPicPr>
          <p:cNvPr id="9" name="Image 5" descr="https://test.web.static.jianzeppt.com/ppt-temp-img3/d197019e3b7c485982461420b0b6d3bf.png?x-oss-process=image/resize,w_1440,h_800,m_lfit/format,png"/>
          <p:cNvPicPr>
            <a:picLocks noChangeAspect="1"/>
          </p:cNvPicPr>
          <p:nvPr/>
        </p:nvPicPr>
        <p:blipFill>
          <a:blip r:embed="rId7"/>
          <a:stretch>
            <a:fillRect/>
          </a:stretch>
        </p:blipFill>
        <p:spPr>
          <a:xfrm>
            <a:off x="624840" y="2712720"/>
            <a:ext cx="6400800" cy="655320"/>
          </a:xfrm>
          <a:prstGeom prst="rect">
            <a:avLst/>
          </a:prstGeom>
        </p:spPr>
      </p:pic>
      <p:pic>
        <p:nvPicPr>
          <p:cNvPr id="10" name="Image 6"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7720" y="2880360"/>
            <a:ext cx="304800" cy="304800"/>
          </a:xfrm>
          <a:prstGeom prst="rect">
            <a:avLst/>
          </a:prstGeom>
        </p:spPr>
      </p:pic>
      <p:sp>
        <p:nvSpPr>
          <p:cNvPr id="11" name="Text 2"/>
          <p:cNvSpPr/>
          <p:nvPr/>
        </p:nvSpPr>
        <p:spPr>
          <a:xfrm>
            <a:off x="1234440" y="2834640"/>
            <a:ext cx="1380744" cy="396240"/>
          </a:xfrm>
          <a:prstGeom prst="rect">
            <a:avLst/>
          </a:prstGeom>
          <a:noFill/>
        </p:spPr>
        <p:txBody>
          <a:bodyPr wrap="none" lIns="0" tIns="0" rIns="0" bIns="0" rtlCol="0" anchor="ctr"/>
          <a:lstStyle/>
          <a:p>
            <a:pPr marL="0" indent="0" algn="l">
              <a:lnSpc>
                <a:spcPct val="150000"/>
              </a:lnSpc>
              <a:buNone/>
            </a:pPr>
            <a:r>
              <a:rPr lang="en-US" sz="2160" b="1" dirty="0">
                <a:solidFill>
                  <a:srgbClr val="FFFFFF"/>
                </a:solidFill>
                <a:latin typeface="思源黑体 CN Bold" pitchFamily="34" charset="0"/>
                <a:ea typeface="思源黑体 CN Bold" pitchFamily="34" charset="-122"/>
                <a:cs typeface="思源黑体 CN Bold" pitchFamily="34" charset="-120"/>
              </a:rPr>
              <a:t>核心检查项</a:t>
            </a:r>
            <a:endParaRPr lang="en-US" sz="2160" dirty="0"/>
          </a:p>
        </p:txBody>
      </p:sp>
      <p:graphicFrame>
        <p:nvGraphicFramePr>
          <p:cNvPr id="14" name="Table 0"/>
          <p:cNvGraphicFramePr>
            <a:graphicFrameLocks noGrp="1"/>
          </p:cNvGraphicFramePr>
          <p:nvPr/>
        </p:nvGraphicFramePr>
        <p:xfrm>
          <a:off x="746760" y="3489960"/>
          <a:ext cx="6156960" cy="2636520"/>
        </p:xfrm>
        <a:graphic>
          <a:graphicData uri="http://schemas.openxmlformats.org/drawingml/2006/table">
            <a:tbl>
              <a:tblPr/>
              <a:tblGrid>
                <a:gridCol w="762000"/>
                <a:gridCol w="1524000"/>
                <a:gridCol w="3870960"/>
              </a:tblGrid>
              <a:tr h="439420">
                <a:tc>
                  <a:txBody>
                    <a:bodyPr/>
                    <a:lstStyle/>
                    <a:p>
                      <a:pPr marL="0" indent="0" algn="ctr">
                        <a:buNone/>
                      </a:pPr>
                      <a:r>
                        <a:rPr lang="en-US" sz="1430" dirty="0">
                          <a:solidFill>
                            <a:srgbClr val="000000"/>
                          </a:solidFill>
                        </a:rPr>
                        <a:t>序号</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30" dirty="0">
                          <a:solidFill>
                            <a:srgbClr val="000000"/>
                          </a:solidFill>
                        </a:rPr>
                        <a:t>检查项</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30" dirty="0">
                          <a:solidFill>
                            <a:srgbClr val="000000"/>
                          </a:solidFill>
                        </a:rPr>
                        <a:t>合规要点</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39420">
                <a:tc>
                  <a:txBody>
                    <a:bodyPr/>
                    <a:lstStyle/>
                    <a:p>
                      <a:pPr marL="0" indent="0" algn="ctr">
                        <a:buNone/>
                      </a:pPr>
                      <a:r>
                        <a:rPr lang="en-US" sz="1430" dirty="0">
                          <a:solidFill>
                            <a:srgbClr val="000000"/>
                          </a:solidFill>
                        </a:rPr>
                        <a:t>1</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30" dirty="0">
                          <a:solidFill>
                            <a:srgbClr val="000000"/>
                          </a:solidFill>
                        </a:rPr>
                        <a:t>防病毒软件</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30" dirty="0">
                          <a:solidFill>
                            <a:srgbClr val="000000"/>
                          </a:solidFill>
                        </a:rPr>
                        <a:t>是否安装防病毒软件？</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39420">
                <a:tc>
                  <a:txBody>
                    <a:bodyPr/>
                    <a:lstStyle/>
                    <a:p>
                      <a:pPr marL="0" indent="0" algn="ctr">
                        <a:buNone/>
                      </a:pPr>
                      <a:r>
                        <a:rPr lang="en-US" sz="1430" dirty="0">
                          <a:solidFill>
                            <a:srgbClr val="000000"/>
                          </a:solidFill>
                        </a:rPr>
                        <a:t>2</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30" dirty="0">
                          <a:solidFill>
                            <a:srgbClr val="000000"/>
                          </a:solidFill>
                        </a:rPr>
                        <a:t>病毒库更新</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30" dirty="0">
                          <a:solidFill>
                            <a:srgbClr val="000000"/>
                          </a:solidFill>
                        </a:rPr>
                        <a:t>病毒库是否在有效期内？</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39420">
                <a:tc>
                  <a:txBody>
                    <a:bodyPr/>
                    <a:lstStyle/>
                    <a:p>
                      <a:pPr marL="0" indent="0" algn="ctr">
                        <a:buNone/>
                      </a:pPr>
                      <a:r>
                        <a:rPr lang="en-US" sz="1430" dirty="0">
                          <a:solidFill>
                            <a:srgbClr val="000000"/>
                          </a:solidFill>
                        </a:rPr>
                        <a:t>3</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30" dirty="0">
                          <a:solidFill>
                            <a:srgbClr val="000000"/>
                          </a:solidFill>
                        </a:rPr>
                        <a:t>定期查杀</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30" dirty="0">
                          <a:solidFill>
                            <a:srgbClr val="000000"/>
                          </a:solidFill>
                        </a:rPr>
                        <a:t>是否配置定期全盘扫描？</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39420">
                <a:tc>
                  <a:txBody>
                    <a:bodyPr/>
                    <a:lstStyle/>
                    <a:p>
                      <a:pPr marL="0" indent="0" algn="ctr">
                        <a:buNone/>
                      </a:pPr>
                      <a:r>
                        <a:rPr lang="en-US" sz="1430" dirty="0">
                          <a:solidFill>
                            <a:srgbClr val="000000"/>
                          </a:solidFill>
                        </a:rPr>
                        <a:t>4</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30" dirty="0">
                          <a:solidFill>
                            <a:srgbClr val="000000"/>
                          </a:solidFill>
                        </a:rPr>
                        <a:t>实时防护</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30" dirty="0">
                          <a:solidFill>
                            <a:srgbClr val="000000"/>
                          </a:solidFill>
                        </a:rPr>
                        <a:t>实时监控是否开启？</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39420">
                <a:tc>
                  <a:txBody>
                    <a:bodyPr/>
                    <a:lstStyle/>
                    <a:p>
                      <a:pPr marL="0" indent="0" algn="ctr">
                        <a:buNone/>
                      </a:pPr>
                      <a:r>
                        <a:rPr lang="en-US" sz="1430" dirty="0">
                          <a:solidFill>
                            <a:srgbClr val="000000"/>
                          </a:solidFill>
                        </a:rPr>
                        <a:t>5</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30" dirty="0">
                          <a:solidFill>
                            <a:srgbClr val="000000"/>
                          </a:solidFill>
                        </a:rPr>
                        <a:t>非Win系统</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30" dirty="0">
                          <a:solidFill>
                            <a:srgbClr val="000000"/>
                          </a:solidFill>
                        </a:rPr>
                        <a:t>Linux是否需要防恶意代码措施？</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pic>
        <p:nvPicPr>
          <p:cNvPr id="13" name="Image 7" descr="https://test.web.static.jianzeppt.com/ppt-temp-img3/468a740b79ff10d1e270ed6137fdd6dd.png?x-oss-process=image/resize,w_1440,h_800,m_lfit/format,png"/>
          <p:cNvPicPr>
            <a:picLocks noChangeAspect="1"/>
          </p:cNvPicPr>
          <p:nvPr/>
        </p:nvPicPr>
        <p:blipFill>
          <a:blip r:embed="rId10"/>
          <a:stretch>
            <a:fillRect/>
          </a:stretch>
        </p:blipFill>
        <p:spPr>
          <a:xfrm>
            <a:off x="7284720" y="2697480"/>
            <a:ext cx="4297680" cy="3566160"/>
          </a:xfrm>
          <a:prstGeom prst="rect">
            <a:avLst/>
          </a:prstGeom>
        </p:spPr>
      </p:pic>
      <p:pic>
        <p:nvPicPr>
          <p:cNvPr id="12" name="Image 8" descr="https://test.web.static.jianzeppt.com/ppt-temp-img3/cea207b3de03ea4fcb5021d52016fe43.png?x-oss-process=image/resize,w_1440,h_800,m_lfit/format,png"/>
          <p:cNvPicPr>
            <a:picLocks noChangeAspect="1"/>
          </p:cNvPicPr>
          <p:nvPr/>
        </p:nvPicPr>
        <p:blipFill>
          <a:blip r:embed="rId11"/>
          <a:stretch>
            <a:fillRect/>
          </a:stretch>
        </p:blipFill>
        <p:spPr>
          <a:xfrm>
            <a:off x="7299960" y="2712720"/>
            <a:ext cx="4267200" cy="670560"/>
          </a:xfrm>
          <a:prstGeom prst="rect">
            <a:avLst/>
          </a:prstGeom>
        </p:spPr>
      </p:pic>
      <p:pic>
        <p:nvPicPr>
          <p:cNvPr id="15" name="Image 9"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482840" y="2880360"/>
            <a:ext cx="304800" cy="304800"/>
          </a:xfrm>
          <a:prstGeom prst="rect">
            <a:avLst/>
          </a:prstGeom>
        </p:spPr>
      </p:pic>
      <p:sp>
        <p:nvSpPr>
          <p:cNvPr id="16" name="Text 3"/>
          <p:cNvSpPr/>
          <p:nvPr/>
        </p:nvSpPr>
        <p:spPr>
          <a:xfrm>
            <a:off x="7909560" y="2834640"/>
            <a:ext cx="1106424" cy="396240"/>
          </a:xfrm>
          <a:prstGeom prst="rect">
            <a:avLst/>
          </a:prstGeom>
          <a:noFill/>
        </p:spPr>
        <p:txBody>
          <a:bodyPr wrap="none" lIns="0" tIns="0" rIns="0" bIns="0" rtlCol="0" anchor="ctr"/>
          <a:lstStyle/>
          <a:p>
            <a:pPr marL="0" indent="0" algn="l">
              <a:lnSpc>
                <a:spcPct val="150000"/>
              </a:lnSpc>
              <a:buNone/>
            </a:pPr>
            <a:r>
              <a:rPr lang="en-US" sz="2160" b="1" dirty="0">
                <a:solidFill>
                  <a:srgbClr val="E11D3E"/>
                </a:solidFill>
                <a:latin typeface="思源黑体 CN Bold" pitchFamily="34" charset="0"/>
                <a:ea typeface="思源黑体 CN Bold" pitchFamily="34" charset="-122"/>
                <a:cs typeface="思源黑体 CN Bold" pitchFamily="34" charset="-120"/>
              </a:rPr>
              <a:t>常见问题</a:t>
            </a:r>
            <a:endParaRPr lang="en-US" sz="2160" dirty="0"/>
          </a:p>
        </p:txBody>
      </p:sp>
      <p:pic>
        <p:nvPicPr>
          <p:cNvPr id="17" name="Image 10" descr="https://test.web.static.jianzeppt.com/ppt-temp-img3/a34142321ca2619528135d51083e91a8.png?x-oss-process=image/resize,w_1440,h_800,m_lfit/format,png"/>
          <p:cNvPicPr>
            <a:picLocks noChangeAspect="1"/>
          </p:cNvPicPr>
          <p:nvPr/>
        </p:nvPicPr>
        <p:blipFill>
          <a:blip r:embed="rId14"/>
          <a:stretch>
            <a:fillRect/>
          </a:stretch>
        </p:blipFill>
        <p:spPr>
          <a:xfrm>
            <a:off x="7299960" y="3379927"/>
            <a:ext cx="4267200" cy="15240"/>
          </a:xfrm>
          <a:prstGeom prst="rect">
            <a:avLst/>
          </a:prstGeom>
        </p:spPr>
      </p:pic>
      <p:sp>
        <p:nvSpPr>
          <p:cNvPr id="18" name="Text 4"/>
          <p:cNvSpPr/>
          <p:nvPr/>
        </p:nvSpPr>
        <p:spPr>
          <a:xfrm>
            <a:off x="7444740" y="3901440"/>
            <a:ext cx="344424" cy="350520"/>
          </a:xfrm>
          <a:prstGeom prst="rect">
            <a:avLst/>
          </a:prstGeom>
          <a:noFill/>
        </p:spPr>
        <p:txBody>
          <a:bodyPr wrap="none" lIns="0" tIns="0" rIns="0" bIns="0" rtlCol="0" anchor="t">
            <a:spAutoFit/>
          </a:bodyPr>
          <a:lstStyle/>
          <a:p>
            <a:pPr marL="0" indent="0" algn="l">
              <a:lnSpc>
                <a:spcPct val="140000"/>
              </a:lnSpc>
              <a:buNone/>
            </a:pPr>
            <a:r>
              <a:rPr lang="en-US" sz="1920" dirty="0">
                <a:solidFill>
                  <a:srgbClr val="E11D3E"/>
                </a:solidFill>
                <a:latin typeface="思源黑体 CN" pitchFamily="34" charset="0"/>
                <a:ea typeface="思源黑体 CN" pitchFamily="34" charset="-122"/>
                <a:cs typeface="思源黑体 CN" pitchFamily="34" charset="-120"/>
              </a:rPr>
              <a:t>❌</a:t>
            </a:r>
            <a:endParaRPr lang="en-US" sz="1920" dirty="0"/>
          </a:p>
        </p:txBody>
      </p:sp>
      <p:sp>
        <p:nvSpPr>
          <p:cNvPr id="19" name="Text 5"/>
          <p:cNvSpPr/>
          <p:nvPr/>
        </p:nvSpPr>
        <p:spPr>
          <a:xfrm>
            <a:off x="7818120" y="3901440"/>
            <a:ext cx="1975104" cy="341233"/>
          </a:xfrm>
          <a:prstGeom prst="rect">
            <a:avLst/>
          </a:prstGeom>
          <a:noFill/>
        </p:spPr>
        <p:txBody>
          <a:bodyPr wrap="none" lIns="0" tIns="0" rIns="0" bIns="0" rtlCol="0" anchor="t">
            <a:spAutoFit/>
          </a:bodyPr>
          <a:lstStyle/>
          <a:p>
            <a:pPr marL="0" indent="0" algn="l">
              <a:lnSpc>
                <a:spcPct val="100000"/>
              </a:lnSpc>
              <a:buNone/>
            </a:pPr>
            <a:r>
              <a:rPr lang="en-US" sz="1920" dirty="0">
                <a:solidFill>
                  <a:srgbClr val="333333"/>
                </a:solidFill>
                <a:latin typeface="思源黑体 CN" pitchFamily="34" charset="0"/>
                <a:ea typeface="思源黑体 CN" pitchFamily="34" charset="-122"/>
                <a:cs typeface="思源黑体 CN" pitchFamily="34" charset="-120"/>
              </a:rPr>
              <a:t>未安装防病毒软件</a:t>
            </a:r>
            <a:endParaRPr lang="en-US" sz="1920" dirty="0"/>
          </a:p>
        </p:txBody>
      </p:sp>
      <p:sp>
        <p:nvSpPr>
          <p:cNvPr id="20" name="Text 6"/>
          <p:cNvSpPr/>
          <p:nvPr/>
        </p:nvSpPr>
        <p:spPr>
          <a:xfrm>
            <a:off x="7444740" y="4389120"/>
            <a:ext cx="344424" cy="350520"/>
          </a:xfrm>
          <a:prstGeom prst="rect">
            <a:avLst/>
          </a:prstGeom>
          <a:noFill/>
        </p:spPr>
        <p:txBody>
          <a:bodyPr wrap="none" lIns="0" tIns="0" rIns="0" bIns="0" rtlCol="0" anchor="t">
            <a:spAutoFit/>
          </a:bodyPr>
          <a:lstStyle/>
          <a:p>
            <a:pPr marL="0" indent="0" algn="l">
              <a:lnSpc>
                <a:spcPct val="140000"/>
              </a:lnSpc>
              <a:buNone/>
            </a:pPr>
            <a:r>
              <a:rPr lang="en-US" sz="1920" dirty="0">
                <a:solidFill>
                  <a:srgbClr val="E11D3E"/>
                </a:solidFill>
                <a:latin typeface="思源黑体 CN" pitchFamily="34" charset="0"/>
                <a:ea typeface="思源黑体 CN" pitchFamily="34" charset="-122"/>
                <a:cs typeface="思源黑体 CN" pitchFamily="34" charset="-120"/>
              </a:rPr>
              <a:t>❌</a:t>
            </a:r>
            <a:endParaRPr lang="en-US" sz="1920" dirty="0"/>
          </a:p>
        </p:txBody>
      </p:sp>
      <p:sp>
        <p:nvSpPr>
          <p:cNvPr id="21" name="Text 7"/>
          <p:cNvSpPr/>
          <p:nvPr/>
        </p:nvSpPr>
        <p:spPr>
          <a:xfrm>
            <a:off x="7818120" y="4389120"/>
            <a:ext cx="1487424" cy="341233"/>
          </a:xfrm>
          <a:prstGeom prst="rect">
            <a:avLst/>
          </a:prstGeom>
          <a:noFill/>
        </p:spPr>
        <p:txBody>
          <a:bodyPr wrap="none" lIns="0" tIns="0" rIns="0" bIns="0" rtlCol="0" anchor="t">
            <a:spAutoFit/>
          </a:bodyPr>
          <a:lstStyle/>
          <a:p>
            <a:pPr marL="0" indent="0" algn="l">
              <a:lnSpc>
                <a:spcPct val="100000"/>
              </a:lnSpc>
              <a:buNone/>
            </a:pPr>
            <a:r>
              <a:rPr lang="en-US" sz="1920" dirty="0">
                <a:solidFill>
                  <a:srgbClr val="333333"/>
                </a:solidFill>
                <a:latin typeface="思源黑体 CN" pitchFamily="34" charset="0"/>
                <a:ea typeface="思源黑体 CN" pitchFamily="34" charset="-122"/>
                <a:cs typeface="思源黑体 CN" pitchFamily="34" charset="-120"/>
              </a:rPr>
              <a:t>病毒库已过期</a:t>
            </a:r>
            <a:endParaRPr lang="en-US" sz="1920" dirty="0"/>
          </a:p>
        </p:txBody>
      </p:sp>
      <p:sp>
        <p:nvSpPr>
          <p:cNvPr id="22" name="Text 8"/>
          <p:cNvSpPr/>
          <p:nvPr/>
        </p:nvSpPr>
        <p:spPr>
          <a:xfrm>
            <a:off x="7444740" y="4876800"/>
            <a:ext cx="344424" cy="350520"/>
          </a:xfrm>
          <a:prstGeom prst="rect">
            <a:avLst/>
          </a:prstGeom>
          <a:noFill/>
        </p:spPr>
        <p:txBody>
          <a:bodyPr wrap="none" lIns="0" tIns="0" rIns="0" bIns="0" rtlCol="0" anchor="t">
            <a:spAutoFit/>
          </a:bodyPr>
          <a:lstStyle/>
          <a:p>
            <a:pPr marL="0" indent="0" algn="l">
              <a:lnSpc>
                <a:spcPct val="140000"/>
              </a:lnSpc>
              <a:buNone/>
            </a:pPr>
            <a:r>
              <a:rPr lang="en-US" sz="1920" dirty="0">
                <a:solidFill>
                  <a:srgbClr val="E11D3E"/>
                </a:solidFill>
                <a:latin typeface="思源黑体 CN" pitchFamily="34" charset="0"/>
                <a:ea typeface="思源黑体 CN" pitchFamily="34" charset="-122"/>
                <a:cs typeface="思源黑体 CN" pitchFamily="34" charset="-120"/>
              </a:rPr>
              <a:t>❌</a:t>
            </a:r>
            <a:endParaRPr lang="en-US" sz="1920" dirty="0"/>
          </a:p>
        </p:txBody>
      </p:sp>
      <p:sp>
        <p:nvSpPr>
          <p:cNvPr id="23" name="Text 9"/>
          <p:cNvSpPr/>
          <p:nvPr/>
        </p:nvSpPr>
        <p:spPr>
          <a:xfrm>
            <a:off x="7818120" y="4876800"/>
            <a:ext cx="1731264" cy="341233"/>
          </a:xfrm>
          <a:prstGeom prst="rect">
            <a:avLst/>
          </a:prstGeom>
          <a:noFill/>
        </p:spPr>
        <p:txBody>
          <a:bodyPr wrap="none" lIns="0" tIns="0" rIns="0" bIns="0" rtlCol="0" anchor="t">
            <a:spAutoFit/>
          </a:bodyPr>
          <a:lstStyle/>
          <a:p>
            <a:pPr marL="0" indent="0" algn="l">
              <a:lnSpc>
                <a:spcPct val="100000"/>
              </a:lnSpc>
              <a:buNone/>
            </a:pPr>
            <a:r>
              <a:rPr lang="en-US" sz="1920" dirty="0">
                <a:solidFill>
                  <a:srgbClr val="333333"/>
                </a:solidFill>
                <a:latin typeface="思源黑体 CN" pitchFamily="34" charset="0"/>
                <a:ea typeface="思源黑体 CN" pitchFamily="34" charset="-122"/>
                <a:cs typeface="思源黑体 CN" pitchFamily="34" charset="-120"/>
              </a:rPr>
              <a:t>实时监控未开启</a:t>
            </a:r>
            <a:endParaRPr lang="en-US" sz="1920" dirty="0"/>
          </a:p>
        </p:txBody>
      </p:sp>
      <p:sp>
        <p:nvSpPr>
          <p:cNvPr id="24" name="Text 10"/>
          <p:cNvSpPr/>
          <p:nvPr/>
        </p:nvSpPr>
        <p:spPr>
          <a:xfrm>
            <a:off x="7444740" y="5379720"/>
            <a:ext cx="344424" cy="350520"/>
          </a:xfrm>
          <a:prstGeom prst="rect">
            <a:avLst/>
          </a:prstGeom>
          <a:noFill/>
        </p:spPr>
        <p:txBody>
          <a:bodyPr wrap="none" lIns="0" tIns="0" rIns="0" bIns="0" rtlCol="0" anchor="t">
            <a:spAutoFit/>
          </a:bodyPr>
          <a:lstStyle/>
          <a:p>
            <a:pPr marL="0" indent="0" algn="l">
              <a:lnSpc>
                <a:spcPct val="140000"/>
              </a:lnSpc>
              <a:buNone/>
            </a:pPr>
            <a:r>
              <a:rPr lang="en-US" sz="1920" dirty="0">
                <a:solidFill>
                  <a:srgbClr val="E11D3E"/>
                </a:solidFill>
                <a:latin typeface="思源黑体 CN" pitchFamily="34" charset="0"/>
                <a:ea typeface="思源黑体 CN" pitchFamily="34" charset="-122"/>
                <a:cs typeface="思源黑体 CN" pitchFamily="34" charset="-120"/>
              </a:rPr>
              <a:t>❌</a:t>
            </a:r>
            <a:endParaRPr lang="en-US" sz="1920" dirty="0"/>
          </a:p>
        </p:txBody>
      </p:sp>
      <p:sp>
        <p:nvSpPr>
          <p:cNvPr id="25" name="Text 11"/>
          <p:cNvSpPr/>
          <p:nvPr/>
        </p:nvSpPr>
        <p:spPr>
          <a:xfrm>
            <a:off x="7818120" y="5379720"/>
            <a:ext cx="1731264" cy="341233"/>
          </a:xfrm>
          <a:prstGeom prst="rect">
            <a:avLst/>
          </a:prstGeom>
          <a:noFill/>
        </p:spPr>
        <p:txBody>
          <a:bodyPr wrap="none" lIns="0" tIns="0" rIns="0" bIns="0" rtlCol="0" anchor="t">
            <a:spAutoFit/>
          </a:bodyPr>
          <a:lstStyle/>
          <a:p>
            <a:pPr marL="0" indent="0" algn="l">
              <a:lnSpc>
                <a:spcPct val="100000"/>
              </a:lnSpc>
              <a:buNone/>
            </a:pPr>
            <a:r>
              <a:rPr lang="en-US" sz="1920" dirty="0">
                <a:solidFill>
                  <a:srgbClr val="333333"/>
                </a:solidFill>
                <a:latin typeface="思源黑体 CN" pitchFamily="34" charset="0"/>
                <a:ea typeface="思源黑体 CN" pitchFamily="34" charset="-122"/>
                <a:cs typeface="思源黑体 CN" pitchFamily="34" charset="-120"/>
              </a:rPr>
              <a:t>未定期全盘扫描</a:t>
            </a:r>
            <a:endParaRPr lang="en-US" sz="19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31937"/>
            <a:ext cx="2804160" cy="424180"/>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主机安全基</a:t>
            </a:r>
            <a:r>
              <a:rPr lang="zh-CN" altLang="en-US" sz="2760" dirty="0">
                <a:solidFill>
                  <a:srgbClr val="1E1E1E"/>
                </a:solidFill>
              </a:rPr>
              <a:t>线</a:t>
            </a:r>
            <a:r>
              <a:rPr lang="zh-CN" altLang="en-US" sz="2760" dirty="0">
                <a:solidFill>
                  <a:srgbClr val="1E1E1E"/>
                </a:solidFill>
              </a:rPr>
              <a:t>核查</a:t>
            </a:r>
            <a:endParaRPr lang="zh-CN" altLang="en-US" sz="2760" dirty="0">
              <a:solidFill>
                <a:srgbClr val="1E1E1E"/>
              </a:solidFill>
            </a:endParaRPr>
          </a:p>
        </p:txBody>
      </p:sp>
      <p:pic>
        <p:nvPicPr>
          <p:cNvPr id="11" name="Image 5"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35250" y="1149350"/>
            <a:ext cx="6339840" cy="4876800"/>
          </a:xfrm>
          <a:prstGeom prst="rect">
            <a:avLst/>
          </a:prstGeom>
          <a:effectLst>
            <a:outerShdw blurRad="387096000" dist="193548000" dir="-1" algn="bl" rotWithShape="0">
              <a:srgbClr val="000000">
                <a:alpha val="500000000"/>
              </a:srgbClr>
            </a:outerShdw>
          </a:effectLst>
        </p:spPr>
      </p:pic>
      <p:graphicFrame>
        <p:nvGraphicFramePr>
          <p:cNvPr id="12" name="Table 0"/>
          <p:cNvGraphicFramePr>
            <a:graphicFrameLocks noGrp="1"/>
          </p:cNvGraphicFramePr>
          <p:nvPr/>
        </p:nvGraphicFramePr>
        <p:xfrm>
          <a:off x="2833370" y="1172845"/>
          <a:ext cx="5943600" cy="4480560"/>
        </p:xfrm>
        <a:graphic>
          <a:graphicData uri="http://schemas.openxmlformats.org/drawingml/2006/table">
            <a:tbl>
              <a:tblPr/>
              <a:tblGrid>
                <a:gridCol w="1634872"/>
                <a:gridCol w="3422536"/>
                <a:gridCol w="886192"/>
              </a:tblGrid>
              <a:tr h="497840">
                <a:tc>
                  <a:txBody>
                    <a:bodyPr/>
                    <a:lstStyle/>
                    <a:p>
                      <a:pPr marL="0" indent="0" algn="ctr">
                        <a:buNone/>
                      </a:pPr>
                      <a:r>
                        <a:rPr lang="en-US" sz="1400" b="1" dirty="0">
                          <a:solidFill>
                            <a:srgbClr val="000000"/>
                          </a:solidFill>
                        </a:rPr>
                        <a:t>维度</a:t>
                      </a:r>
                      <a:endParaRPr lang="en-US" sz="140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chemeClr val="bg2"/>
                    </a:solidFill>
                  </a:tcPr>
                </a:tc>
                <a:tc>
                  <a:txBody>
                    <a:bodyPr/>
                    <a:lstStyle/>
                    <a:p>
                      <a:pPr marL="0" indent="0" algn="ctr">
                        <a:buNone/>
                      </a:pPr>
                      <a:r>
                        <a:rPr lang="en-US" sz="1400" b="1" dirty="0">
                          <a:solidFill>
                            <a:srgbClr val="000000"/>
                          </a:solidFill>
                        </a:rPr>
                        <a:t>检查内容</a:t>
                      </a:r>
                      <a:endParaRPr lang="en-US" sz="140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chemeClr val="bg2"/>
                    </a:solidFill>
                  </a:tcPr>
                </a:tc>
                <a:tc>
                  <a:txBody>
                    <a:bodyPr/>
                    <a:lstStyle/>
                    <a:p>
                      <a:pPr marL="0" indent="0" algn="ctr">
                        <a:buNone/>
                      </a:pPr>
                      <a:r>
                        <a:rPr lang="en-US" sz="1400" b="1" dirty="0">
                          <a:solidFill>
                            <a:srgbClr val="000000"/>
                          </a:solidFill>
                        </a:rPr>
                        <a:t>标准依据</a:t>
                      </a:r>
                      <a:endParaRPr lang="en-US" sz="140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chemeClr val="bg2"/>
                    </a:solidFill>
                  </a:tcPr>
                </a:tc>
              </a:tr>
              <a:tr h="497840">
                <a:tc>
                  <a:txBody>
                    <a:bodyPr/>
                    <a:lstStyle/>
                    <a:p>
                      <a:pPr marL="0" indent="0" algn="ctr">
                        <a:buNone/>
                      </a:pPr>
                      <a:r>
                        <a:rPr lang="en-US" sz="1400" dirty="0">
                          <a:solidFill>
                            <a:srgbClr val="FF0000"/>
                          </a:solidFill>
                        </a:rPr>
                        <a:t>身份鉴别</a:t>
                      </a:r>
                      <a:endParaRPr lang="en-US" sz="1400" dirty="0">
                        <a:solidFill>
                          <a:srgbClr val="FF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口令复杂度、登录失败处理、远程管理加密</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8.1.4.1</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97840">
                <a:tc>
                  <a:txBody>
                    <a:bodyPr/>
                    <a:lstStyle/>
                    <a:p>
                      <a:pPr marL="0" indent="0" algn="ctr">
                        <a:buNone/>
                      </a:pPr>
                      <a:r>
                        <a:rPr lang="en-US" sz="1400" dirty="0">
                          <a:solidFill>
                            <a:srgbClr val="FF0000"/>
                          </a:solidFill>
                        </a:rPr>
                        <a:t>访问控制</a:t>
                      </a:r>
                      <a:endParaRPr lang="en-US" sz="1400" dirty="0">
                        <a:solidFill>
                          <a:srgbClr val="FF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账户权限、默认账户、最小权限原则</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8.1.4.2</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97840">
                <a:tc>
                  <a:txBody>
                    <a:bodyPr/>
                    <a:lstStyle/>
                    <a:p>
                      <a:pPr marL="0" indent="0" algn="ctr">
                        <a:buNone/>
                      </a:pPr>
                      <a:r>
                        <a:rPr lang="en-US" sz="1400" dirty="0">
                          <a:solidFill>
                            <a:srgbClr val="000000"/>
                          </a:solidFill>
                        </a:rPr>
                        <a:t>安全审计</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审计策略、审计日志保护</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8.1.4.3</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97840">
                <a:tc>
                  <a:txBody>
                    <a:bodyPr/>
                    <a:lstStyle/>
                    <a:p>
                      <a:pPr marL="0" indent="0" algn="ctr">
                        <a:buNone/>
                      </a:pPr>
                      <a:r>
                        <a:rPr lang="en-US" sz="1400" dirty="0">
                          <a:solidFill>
                            <a:srgbClr val="000000"/>
                          </a:solidFill>
                        </a:rPr>
                        <a:t>入侵防范</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最小安装、关闭高危端口、漏洞管理</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8.1.4.4</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97840">
                <a:tc>
                  <a:txBody>
                    <a:bodyPr/>
                    <a:lstStyle/>
                    <a:p>
                      <a:pPr marL="0" indent="0" algn="ctr">
                        <a:buNone/>
                      </a:pPr>
                      <a:r>
                        <a:rPr lang="en-US" sz="1400" dirty="0">
                          <a:solidFill>
                            <a:srgbClr val="000000"/>
                          </a:solidFill>
                        </a:rPr>
                        <a:t>恶意代码防范</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防病毒软件安装、病毒库更新</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8.1.4.5</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97840">
                <a:tc>
                  <a:txBody>
                    <a:bodyPr/>
                    <a:lstStyle/>
                    <a:p>
                      <a:pPr marL="0" indent="0" algn="ctr">
                        <a:buNone/>
                      </a:pPr>
                      <a:r>
                        <a:rPr lang="en-US" sz="1400" dirty="0">
                          <a:solidFill>
                            <a:srgbClr val="000000"/>
                          </a:solidFill>
                        </a:rPr>
                        <a:t>数据完整性/保密性</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数据传输/存储加密</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8.1.4.7/8</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97840">
                <a:tc>
                  <a:txBody>
                    <a:bodyPr/>
                    <a:lstStyle/>
                    <a:p>
                      <a:pPr marL="0" indent="0" algn="ctr">
                        <a:buNone/>
                      </a:pPr>
                      <a:r>
                        <a:rPr lang="en-US" sz="1400" dirty="0">
                          <a:solidFill>
                            <a:srgbClr val="000000"/>
                          </a:solidFill>
                        </a:rPr>
                        <a:t>数据备份恢复</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备份策略</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8.1.4.9</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97840">
                <a:tc>
                  <a:txBody>
                    <a:bodyPr/>
                    <a:lstStyle/>
                    <a:p>
                      <a:pPr marL="0" indent="0" algn="ctr">
                        <a:buNone/>
                      </a:pPr>
                      <a:r>
                        <a:rPr lang="en-US" sz="1400" dirty="0">
                          <a:solidFill>
                            <a:srgbClr val="000000"/>
                          </a:solidFill>
                        </a:rPr>
                        <a:t>剩余信息保护</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存储空间清除</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8.1.4.10</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web.static.jianzeppt.com/ppt-temp-img3/4bbf78d39a1ae7d50fa38e3b11fcab97.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4673282" y="897806"/>
            <a:ext cx="2863855" cy="493776"/>
          </a:xfrm>
          <a:prstGeom prst="rect">
            <a:avLst/>
          </a:prstGeom>
          <a:noFill/>
        </p:spPr>
        <p:txBody>
          <a:bodyPr wrap="square" lIns="0" tIns="0" rIns="0" bIns="0" rtlCol="0" anchor="b">
            <a:spAutoFit/>
          </a:bodyPr>
          <a:lstStyle/>
          <a:p>
            <a:pPr marL="0" indent="0" algn="ctr">
              <a:lnSpc>
                <a:spcPct val="120000"/>
              </a:lnSpc>
              <a:buNone/>
            </a:pPr>
            <a:r>
              <a:rPr lang="en-US" sz="3240" dirty="0">
                <a:solidFill>
                  <a:srgbClr val="FFFFFF"/>
                </a:solidFill>
              </a:rPr>
              <a:t>Part.03</a:t>
            </a:r>
            <a:endParaRPr lang="en-US" sz="3240" dirty="0"/>
          </a:p>
        </p:txBody>
      </p:sp>
      <p:sp>
        <p:nvSpPr>
          <p:cNvPr id="4" name="Text 1"/>
          <p:cNvSpPr/>
          <p:nvPr/>
        </p:nvSpPr>
        <p:spPr>
          <a:xfrm>
            <a:off x="2605724" y="2011166"/>
            <a:ext cx="7216140" cy="1624330"/>
          </a:xfrm>
          <a:prstGeom prst="rect">
            <a:avLst/>
          </a:prstGeom>
          <a:noFill/>
        </p:spPr>
        <p:txBody>
          <a:bodyPr wrap="none" lIns="0" tIns="0" rIns="0" bIns="0" rtlCol="0" anchor="b">
            <a:spAutoFit/>
          </a:bodyPr>
          <a:lstStyle/>
          <a:p>
            <a:pPr marL="0" indent="0" algn="ctr">
              <a:lnSpc>
                <a:spcPct val="100000"/>
              </a:lnSpc>
              <a:buNone/>
            </a:pPr>
            <a:r>
              <a:rPr lang="en-US" sz="5280" dirty="0">
                <a:solidFill>
                  <a:srgbClr val="FFFFFF"/>
                </a:solidFill>
              </a:rPr>
              <a:t>动手实验</a:t>
            </a:r>
            <a:endParaRPr lang="en-US" sz="5280" dirty="0">
              <a:solidFill>
                <a:srgbClr val="FFFFFF"/>
              </a:solidFill>
            </a:endParaRPr>
          </a:p>
          <a:p>
            <a:pPr marL="0" indent="0" algn="ctr">
              <a:lnSpc>
                <a:spcPct val="100000"/>
              </a:lnSpc>
              <a:buNone/>
            </a:pPr>
            <a:r>
              <a:rPr lang="en-US" sz="5280" dirty="0">
                <a:solidFill>
                  <a:srgbClr val="FFFFFF"/>
                </a:solidFill>
              </a:rPr>
              <a:t>——西普真机取证 + 判定</a:t>
            </a:r>
            <a:endParaRPr lang="en-US" sz="52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31937"/>
            <a:ext cx="7289165" cy="424180"/>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西普平台实验清单（Windows 选 1 + Linux 选 1）</a:t>
            </a:r>
            <a:endParaRPr lang="en-US" sz="2760" dirty="0"/>
          </a:p>
        </p:txBody>
      </p:sp>
      <p:graphicFrame>
        <p:nvGraphicFramePr>
          <p:cNvPr id="20" name="Table 0"/>
          <p:cNvGraphicFramePr>
            <a:graphicFrameLocks noGrp="1"/>
          </p:cNvGraphicFramePr>
          <p:nvPr>
            <p:custDataLst>
              <p:tags r:id="rId4"/>
            </p:custDataLst>
          </p:nvPr>
        </p:nvGraphicFramePr>
        <p:xfrm>
          <a:off x="609600" y="1193165"/>
          <a:ext cx="10972800" cy="5452745"/>
        </p:xfrm>
        <a:graphic>
          <a:graphicData uri="http://schemas.openxmlformats.org/drawingml/2006/table">
            <a:tbl>
              <a:tblPr/>
              <a:tblGrid>
                <a:gridCol w="817245"/>
                <a:gridCol w="3697605"/>
                <a:gridCol w="6457950"/>
              </a:tblGrid>
              <a:tr h="436245">
                <a:tc>
                  <a:txBody>
                    <a:bodyPr/>
                    <a:lstStyle/>
                    <a:p>
                      <a:pPr marL="0" indent="0" algn="ctr">
                        <a:buNone/>
                      </a:pPr>
                      <a:r>
                        <a:rPr lang="en-US" sz="1400" b="1" dirty="0">
                          <a:solidFill>
                            <a:srgbClr val="000000"/>
                          </a:solidFill>
                        </a:rPr>
                        <a:t>编号</a:t>
                      </a:r>
                      <a:endParaRPr lang="en-US" sz="140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chemeClr val="bg2"/>
                    </a:solidFill>
                  </a:tcPr>
                </a:tc>
                <a:tc>
                  <a:txBody>
                    <a:bodyPr/>
                    <a:lstStyle/>
                    <a:p>
                      <a:pPr marL="0" indent="0" algn="ctr">
                        <a:buNone/>
                      </a:pPr>
                      <a:r>
                        <a:rPr lang="en-US" sz="1400" b="1" dirty="0">
                          <a:solidFill>
                            <a:srgbClr val="000000"/>
                          </a:solidFill>
                        </a:rPr>
                        <a:t>西普平台实验（真实目录）</a:t>
                      </a:r>
                      <a:endParaRPr lang="en-US" sz="140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chemeClr val="bg2"/>
                    </a:solidFill>
                  </a:tcPr>
                </a:tc>
                <a:tc>
                  <a:txBody>
                    <a:bodyPr/>
                    <a:lstStyle/>
                    <a:p>
                      <a:pPr marL="0" indent="0" algn="ctr">
                        <a:buNone/>
                      </a:pPr>
                      <a:r>
                        <a:rPr lang="en-US" sz="1400" b="1" dirty="0">
                          <a:solidFill>
                            <a:srgbClr val="000000"/>
                          </a:solidFill>
                        </a:rPr>
                        <a:t>你要查什么 · 覆盖条款</a:t>
                      </a:r>
                      <a:endParaRPr lang="en-US" sz="140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chemeClr val="bg2"/>
                    </a:solidFill>
                  </a:tcPr>
                </a:tc>
              </a:tr>
              <a:tr h="609600">
                <a:tc>
                  <a:txBody>
                    <a:bodyPr/>
                    <a:lstStyle/>
                    <a:p>
                      <a:pPr marL="0" indent="0" algn="ctr">
                        <a:buNone/>
                      </a:pPr>
                      <a:r>
                        <a:rPr lang="en-US" sz="1400" dirty="0">
                          <a:solidFill>
                            <a:srgbClr val="000000"/>
                          </a:solidFill>
                        </a:rPr>
                        <a:t>W1</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Windows 系统安全评测 →Windows身份鉴别</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口令复杂度、最小长度、有效期、历史、账户锁定阈值</a:t>
                      </a:r>
                      <a:endParaRPr lang="en-US" sz="1400" dirty="0">
                        <a:solidFill>
                          <a:srgbClr val="000000"/>
                        </a:solidFill>
                      </a:endParaRPr>
                    </a:p>
                    <a:p>
                      <a:pPr marL="0" indent="0" algn="ctr">
                        <a:buNone/>
                      </a:pPr>
                      <a:r>
                        <a:rPr lang="en-US" sz="1400" dirty="0">
                          <a:solidFill>
                            <a:srgbClr val="000000"/>
                          </a:solidFill>
                        </a:rPr>
                        <a:t>8.1.4.1 a) / b)</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609600">
                <a:tc>
                  <a:txBody>
                    <a:bodyPr/>
                    <a:lstStyle/>
                    <a:p>
                      <a:pPr marL="0" indent="0" algn="ctr">
                        <a:buNone/>
                      </a:pPr>
                      <a:r>
                        <a:rPr lang="en-US" sz="1400" dirty="0">
                          <a:solidFill>
                            <a:srgbClr val="000000"/>
                          </a:solidFill>
                        </a:rPr>
                        <a:t>W2</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Windows 系统安全评测 →Windows安全审计</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审核策略（登录/对象访问/策略变更，成功+失败）、安全日志留存</a:t>
                      </a:r>
                      <a:endParaRPr lang="en-US" sz="1400" dirty="0">
                        <a:solidFill>
                          <a:srgbClr val="000000"/>
                        </a:solidFill>
                      </a:endParaRPr>
                    </a:p>
                    <a:p>
                      <a:pPr marL="0" indent="0" algn="ctr">
                        <a:buNone/>
                      </a:pPr>
                      <a:r>
                        <a:rPr lang="en-US" sz="1400" dirty="0">
                          <a:solidFill>
                            <a:srgbClr val="000000"/>
                          </a:solidFill>
                        </a:rPr>
                        <a:t>8.1.4.3 a)~c)</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640080">
                <a:tc>
                  <a:txBody>
                    <a:bodyPr/>
                    <a:lstStyle/>
                    <a:p>
                      <a:pPr marL="0" indent="0" algn="ctr">
                        <a:buNone/>
                      </a:pPr>
                      <a:r>
                        <a:rPr lang="en-US" sz="1400" dirty="0">
                          <a:solidFill>
                            <a:srgbClr val="000000"/>
                          </a:solidFill>
                        </a:rPr>
                        <a:t>W3</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Windows 系统安全评测 →Windows入侵防范</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默认共享、Guest 与多余账户、非必要服务、445 等高危端口 8.1.4.4</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26415">
                <a:tc>
                  <a:txBody>
                    <a:bodyPr/>
                    <a:lstStyle/>
                    <a:p>
                      <a:pPr marL="0" indent="0" algn="ctr">
                        <a:buNone/>
                      </a:pPr>
                      <a:r>
                        <a:rPr lang="en-US" sz="1400" dirty="0">
                          <a:solidFill>
                            <a:srgbClr val="000000"/>
                          </a:solidFill>
                        </a:rPr>
                        <a:t>W4</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Windows 系统安全评测 →Windows访问控制</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用户权限分配、关键目录 NTFS 权限（是否 Everyone 可写）8.1.4.2</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26415">
                <a:tc>
                  <a:txBody>
                    <a:bodyPr/>
                    <a:lstStyle/>
                    <a:p>
                      <a:pPr marL="0" indent="0" algn="ctr">
                        <a:buNone/>
                      </a:pPr>
                      <a:r>
                        <a:rPr lang="en-US" sz="1400" dirty="0">
                          <a:solidFill>
                            <a:srgbClr val="000000"/>
                          </a:solidFill>
                        </a:rPr>
                        <a:t>L1</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Linux 系统安全评测 →认证人工检查</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login.defs、pwquality.conf、system-auth、空口令/弱口令账户 8.1.4.1 a) / b)</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25780">
                <a:tc>
                  <a:txBody>
                    <a:bodyPr/>
                    <a:lstStyle/>
                    <a:p>
                      <a:pPr marL="0" indent="0" algn="ctr">
                        <a:buNone/>
                      </a:pPr>
                      <a:r>
                        <a:rPr lang="en-US" sz="1400" dirty="0">
                          <a:solidFill>
                            <a:srgbClr val="000000"/>
                          </a:solidFill>
                        </a:rPr>
                        <a:t>L2</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Linux 系统安全评测 →安全审计漏洞人工检查</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rPr>
                        <a:t>rsyslog / auditd 状态、/var/log/secure、audit 规则、日志留存 8.1.4.3 a)~c)</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26415">
                <a:tc>
                  <a:txBody>
                    <a:bodyPr/>
                    <a:lstStyle/>
                    <a:p>
                      <a:pPr marL="0" indent="0" algn="ctr">
                        <a:buNone/>
                      </a:pPr>
                      <a:r>
                        <a:rPr lang="en-US" sz="1400" dirty="0">
                          <a:solidFill>
                            <a:srgbClr val="000000"/>
                          </a:solidFill>
                        </a:rPr>
                        <a:t>L3</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Linux 系统安全评测 →系统人工检查</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开放端口与非必要服务、系统补丁与已知漏洞  8.1.4.4</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26415">
                <a:tc>
                  <a:txBody>
                    <a:bodyPr/>
                    <a:lstStyle/>
                    <a:p>
                      <a:pPr marL="0" indent="0" algn="ctr">
                        <a:buNone/>
                      </a:pPr>
                      <a:r>
                        <a:rPr lang="en-US" sz="1400" dirty="0">
                          <a:solidFill>
                            <a:srgbClr val="000000"/>
                          </a:solidFill>
                        </a:rPr>
                        <a:t>L4</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Linux 系统安全评测 →账号人工检查</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rPr>
                        <a:t>账户最小化、sudo 权限、关键文件权限  8.1.4.2 / 8.1.4.1 b)</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31937"/>
            <a:ext cx="6243320" cy="424180"/>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本讲实验总览——</a:t>
            </a:r>
            <a:r>
              <a:rPr lang="zh-CN" altLang="en-US" sz="2760" dirty="0">
                <a:solidFill>
                  <a:srgbClr val="1E1E1E"/>
                </a:solidFill>
              </a:rPr>
              <a:t>流程主线</a:t>
            </a:r>
            <a:r>
              <a:rPr lang="en-US" sz="2760" dirty="0">
                <a:solidFill>
                  <a:srgbClr val="1E1E1E"/>
                </a:solidFill>
              </a:rPr>
              <a:t>（课内完成）</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371600"/>
            <a:ext cx="10972800" cy="4023360"/>
          </a:xfrm>
          <a:prstGeom prst="rect">
            <a:avLst/>
          </a:prstGeom>
          <a:effectLst>
            <a:outerShdw blurRad="387096000" dist="193548000" dir="-1" algn="bl" rotWithShape="0">
              <a:srgbClr val="000000">
                <a:alpha val="500000000"/>
              </a:srgbClr>
            </a:outerShdw>
          </a:effectLst>
        </p:spPr>
      </p:pic>
      <p:pic>
        <p:nvPicPr>
          <p:cNvPr id="7" name="Image 4" descr="https://test.web.static.jianzeppt.com/ppt-temp-img3/b54040247a8bf7eecc48b65fabd2d0a2.png?x-oss-process=image/resize,w_1440,h_800,m_lfit/format,png"/>
          <p:cNvPicPr>
            <a:picLocks noChangeAspect="1"/>
          </p:cNvPicPr>
          <p:nvPr/>
        </p:nvPicPr>
        <p:blipFill>
          <a:blip r:embed="rId6"/>
          <a:stretch>
            <a:fillRect/>
          </a:stretch>
        </p:blipFill>
        <p:spPr>
          <a:xfrm>
            <a:off x="624840" y="1386840"/>
            <a:ext cx="10942320" cy="563880"/>
          </a:xfrm>
          <a:prstGeom prst="rect">
            <a:avLst/>
          </a:prstGeom>
        </p:spPr>
      </p:pic>
      <p:sp>
        <p:nvSpPr>
          <p:cNvPr id="8" name="Text 1"/>
          <p:cNvSpPr/>
          <p:nvPr/>
        </p:nvSpPr>
        <p:spPr>
          <a:xfrm>
            <a:off x="807720" y="1478280"/>
            <a:ext cx="51206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FFFFFF"/>
                </a:solidFill>
                <a:latin typeface="思源黑体 CN Bold" pitchFamily="34" charset="0"/>
                <a:ea typeface="思源黑体 CN Bold" pitchFamily="34" charset="-122"/>
                <a:cs typeface="思源黑体 CN Bold" pitchFamily="34" charset="-120"/>
              </a:rPr>
              <a:t>要素</a:t>
            </a:r>
            <a:endParaRPr lang="en-US" sz="1920" dirty="0"/>
          </a:p>
        </p:txBody>
      </p:sp>
      <p:pic>
        <p:nvPicPr>
          <p:cNvPr id="9" name="Image 5" descr="https://test.web.static.jianzeppt.com/ppt-temp-img3/2c359c76743aabf648ceba022ec8dc96.png?x-oss-process=image/resize,w_1440,h_800,m_lfit/format,png"/>
          <p:cNvPicPr>
            <a:picLocks noChangeAspect="1"/>
          </p:cNvPicPr>
          <p:nvPr/>
        </p:nvPicPr>
        <p:blipFill>
          <a:blip r:embed="rId7"/>
          <a:stretch>
            <a:fillRect/>
          </a:stretch>
        </p:blipFill>
        <p:spPr>
          <a:xfrm>
            <a:off x="624840" y="1943100"/>
            <a:ext cx="2188312" cy="15240"/>
          </a:xfrm>
          <a:prstGeom prst="rect">
            <a:avLst/>
          </a:prstGeom>
        </p:spPr>
      </p:pic>
      <p:sp>
        <p:nvSpPr>
          <p:cNvPr id="10" name="Text 2"/>
          <p:cNvSpPr/>
          <p:nvPr/>
        </p:nvSpPr>
        <p:spPr>
          <a:xfrm>
            <a:off x="3002280" y="1478280"/>
            <a:ext cx="51206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FFFFFF"/>
                </a:solidFill>
                <a:latin typeface="思源黑体 CN Bold" pitchFamily="34" charset="0"/>
                <a:ea typeface="思源黑体 CN Bold" pitchFamily="34" charset="-122"/>
                <a:cs typeface="思源黑体 CN Bold" pitchFamily="34" charset="-120"/>
              </a:rPr>
              <a:t>内容</a:t>
            </a:r>
            <a:endParaRPr lang="en-US" sz="1920" dirty="0"/>
          </a:p>
        </p:txBody>
      </p:sp>
      <p:pic>
        <p:nvPicPr>
          <p:cNvPr id="11" name="Image 6" descr="https://test.web.static.jianzeppt.com/ppt-temp-img3/c4f68d3066b082dace6fd1ac92d24d2f.png?x-oss-process=image/resize,w_1440,h_800,m_lfit/format,png"/>
          <p:cNvPicPr>
            <a:picLocks noChangeAspect="1"/>
          </p:cNvPicPr>
          <p:nvPr/>
        </p:nvPicPr>
        <p:blipFill>
          <a:blip r:embed="rId8"/>
          <a:stretch>
            <a:fillRect/>
          </a:stretch>
        </p:blipFill>
        <p:spPr>
          <a:xfrm>
            <a:off x="2813152" y="1943100"/>
            <a:ext cx="8754008" cy="15240"/>
          </a:xfrm>
          <a:prstGeom prst="rect">
            <a:avLst/>
          </a:prstGeom>
        </p:spPr>
      </p:pic>
      <p:pic>
        <p:nvPicPr>
          <p:cNvPr id="12" name="Image 7" descr="https://test.web.static.jianzeppt.com/ppt-temp-img3/f24fa1283387ad1306817eda4e33a599.png?x-oss-process=image/resize,w_1440,h_800,m_lfit/format,png"/>
          <p:cNvPicPr>
            <a:picLocks noChangeAspect="1"/>
          </p:cNvPicPr>
          <p:nvPr/>
        </p:nvPicPr>
        <p:blipFill>
          <a:blip r:embed="rId9"/>
          <a:stretch>
            <a:fillRect/>
          </a:stretch>
        </p:blipFill>
        <p:spPr>
          <a:xfrm>
            <a:off x="624840" y="1950720"/>
            <a:ext cx="10942320" cy="472440"/>
          </a:xfrm>
          <a:prstGeom prst="rect">
            <a:avLst/>
          </a:prstGeom>
        </p:spPr>
      </p:pic>
      <p:sp>
        <p:nvSpPr>
          <p:cNvPr id="13" name="Text 3"/>
          <p:cNvSpPr/>
          <p:nvPr/>
        </p:nvSpPr>
        <p:spPr>
          <a:xfrm>
            <a:off x="807720" y="2042160"/>
            <a:ext cx="1837944" cy="266700"/>
          </a:xfrm>
          <a:prstGeom prst="rect">
            <a:avLst/>
          </a:prstGeom>
          <a:noFill/>
        </p:spPr>
        <p:txBody>
          <a:bodyPr wrap="none" lIns="0" tIns="0" rIns="0" bIns="0" rtlCol="0" anchor="t">
            <a:spAutoFit/>
          </a:bodyPr>
          <a:lstStyle/>
          <a:p>
            <a:pPr marL="0" indent="0" algn="l">
              <a:lnSpc>
                <a:spcPct val="125000"/>
              </a:lnSpc>
              <a:buNone/>
            </a:pPr>
            <a:r>
              <a:rPr lang="en-US" sz="1680" b="1" dirty="0">
                <a:solidFill>
                  <a:srgbClr val="143966"/>
                </a:solidFill>
                <a:latin typeface="思源黑体 CN Bold" pitchFamily="34" charset="0"/>
                <a:ea typeface="思源黑体 CN Bold" pitchFamily="34" charset="-122"/>
                <a:cs typeface="思源黑体 CN Bold" pitchFamily="34" charset="-120"/>
              </a:rPr>
              <a:t>实验名称</a:t>
            </a:r>
            <a:endParaRPr lang="en-US" sz="1680" dirty="0"/>
          </a:p>
        </p:txBody>
      </p:sp>
      <p:sp>
        <p:nvSpPr>
          <p:cNvPr id="14" name="Text 4"/>
          <p:cNvSpPr/>
          <p:nvPr/>
        </p:nvSpPr>
        <p:spPr>
          <a:xfrm>
            <a:off x="3002280" y="2042160"/>
            <a:ext cx="3733800" cy="322580"/>
          </a:xfrm>
          <a:prstGeom prst="rect">
            <a:avLst/>
          </a:prstGeom>
          <a:noFill/>
        </p:spPr>
        <p:txBody>
          <a:bodyPr wrap="none" lIns="0" tIns="0" rIns="0" bIns="0" rtlCol="0" anchor="t">
            <a:spAutoFit/>
          </a:bodyPr>
          <a:lstStyle/>
          <a:p>
            <a:pPr marL="0" indent="0" algn="l">
              <a:lnSpc>
                <a:spcPct val="125000"/>
              </a:lnSpc>
              <a:buNone/>
            </a:pPr>
            <a:r>
              <a:rPr lang="en-US" sz="1680" dirty="0">
                <a:solidFill>
                  <a:srgbClr val="333333"/>
                </a:solidFill>
                <a:latin typeface="思源黑体 CN" pitchFamily="34" charset="0"/>
                <a:ea typeface="思源黑体 CN" pitchFamily="34" charset="-122"/>
                <a:cs typeface="思源黑体 CN" pitchFamily="34" charset="-120"/>
              </a:rPr>
              <a:t>主机安全基线核查——西普取证 + 判定</a:t>
            </a:r>
            <a:endParaRPr lang="en-US" sz="1680" dirty="0"/>
          </a:p>
        </p:txBody>
      </p:sp>
      <p:pic>
        <p:nvPicPr>
          <p:cNvPr id="15" name="Image 8" descr="https://test.web.static.jianzeppt.com/ppt-temp-img3/6f53b9a472d9b557c3939f565e053bf5.png?x-oss-process=image/resize,w_1440,h_800,m_lfit/format,png"/>
          <p:cNvPicPr>
            <a:picLocks noChangeAspect="1"/>
          </p:cNvPicPr>
          <p:nvPr/>
        </p:nvPicPr>
        <p:blipFill>
          <a:blip r:embed="rId10"/>
          <a:stretch>
            <a:fillRect/>
          </a:stretch>
        </p:blipFill>
        <p:spPr>
          <a:xfrm>
            <a:off x="624840" y="2407920"/>
            <a:ext cx="10942320" cy="15240"/>
          </a:xfrm>
          <a:prstGeom prst="rect">
            <a:avLst/>
          </a:prstGeom>
        </p:spPr>
      </p:pic>
      <p:sp>
        <p:nvSpPr>
          <p:cNvPr id="16" name="Text 5"/>
          <p:cNvSpPr/>
          <p:nvPr/>
        </p:nvSpPr>
        <p:spPr>
          <a:xfrm>
            <a:off x="807720" y="2499360"/>
            <a:ext cx="1837944" cy="266700"/>
          </a:xfrm>
          <a:prstGeom prst="rect">
            <a:avLst/>
          </a:prstGeom>
          <a:noFill/>
        </p:spPr>
        <p:txBody>
          <a:bodyPr wrap="none" lIns="0" tIns="0" rIns="0" bIns="0" rtlCol="0" anchor="t">
            <a:spAutoFit/>
          </a:bodyPr>
          <a:lstStyle/>
          <a:p>
            <a:pPr marL="0" indent="0" algn="l">
              <a:lnSpc>
                <a:spcPct val="125000"/>
              </a:lnSpc>
              <a:buNone/>
            </a:pPr>
            <a:r>
              <a:rPr lang="en-US" sz="1680" b="1" dirty="0">
                <a:solidFill>
                  <a:srgbClr val="143966"/>
                </a:solidFill>
                <a:latin typeface="思源黑体 CN Bold" pitchFamily="34" charset="0"/>
                <a:ea typeface="思源黑体 CN Bold" pitchFamily="34" charset="-122"/>
                <a:cs typeface="思源黑体 CN Bold" pitchFamily="34" charset="-120"/>
              </a:rPr>
              <a:t>实验环境</a:t>
            </a:r>
            <a:endParaRPr lang="en-US" sz="1680" dirty="0"/>
          </a:p>
        </p:txBody>
      </p:sp>
      <p:sp>
        <p:nvSpPr>
          <p:cNvPr id="17" name="Text 6"/>
          <p:cNvSpPr/>
          <p:nvPr/>
        </p:nvSpPr>
        <p:spPr>
          <a:xfrm>
            <a:off x="3002280" y="2499360"/>
            <a:ext cx="7696200" cy="230505"/>
          </a:xfrm>
          <a:prstGeom prst="rect">
            <a:avLst/>
          </a:prstGeom>
          <a:noFill/>
        </p:spPr>
        <p:txBody>
          <a:bodyPr wrap="none" lIns="0" tIns="0" rIns="0" bIns="0" rtlCol="0" anchor="t">
            <a:spAutoFit/>
          </a:bodyPr>
          <a:lstStyle/>
          <a:p>
            <a:pPr marL="0" indent="0" algn="l">
              <a:lnSpc>
                <a:spcPct val="125000"/>
              </a:lnSpc>
              <a:buNone/>
            </a:pPr>
            <a:r>
              <a:rPr lang="en-US" sz="1200" dirty="0">
                <a:solidFill>
                  <a:srgbClr val="333333"/>
                </a:solidFill>
                <a:latin typeface="思源黑体 CN" pitchFamily="34" charset="0"/>
                <a:ea typeface="思源黑体 CN" pitchFamily="34" charset="-122"/>
                <a:cs typeface="思源黑体 CN" pitchFamily="34" charset="-120"/>
              </a:rPr>
              <a:t>西普实验平台 10.11.0.70（账号 = 11 位学号，初始密码 = 学号 + 1q2w）Win/Linux 虚拟机 + </a:t>
            </a:r>
            <a:r>
              <a:rPr lang="zh-CN" altLang="en-US" sz="1200" dirty="0">
                <a:solidFill>
                  <a:srgbClr val="333333"/>
                </a:solidFill>
                <a:latin typeface="思源黑体 CN" pitchFamily="34" charset="0"/>
                <a:ea typeface="思源黑体 CN" pitchFamily="34" charset="-122"/>
                <a:cs typeface="思源黑体 CN" pitchFamily="34" charset="-120"/>
              </a:rPr>
              <a:t>判定（可借助</a:t>
            </a:r>
            <a:r>
              <a:rPr lang="en-US" altLang="zh-CN" sz="1200" dirty="0">
                <a:solidFill>
                  <a:srgbClr val="333333"/>
                </a:solidFill>
                <a:latin typeface="思源黑体 CN" pitchFamily="34" charset="0"/>
                <a:ea typeface="思源黑体 CN" pitchFamily="34" charset="-122"/>
                <a:cs typeface="思源黑体 CN" pitchFamily="34" charset="-120"/>
              </a:rPr>
              <a:t>AI)</a:t>
            </a:r>
            <a:endParaRPr lang="en-US" altLang="zh-CN" sz="1200" dirty="0">
              <a:solidFill>
                <a:srgbClr val="333333"/>
              </a:solidFill>
              <a:latin typeface="思源黑体 CN" pitchFamily="34" charset="0"/>
              <a:ea typeface="思源黑体 CN" pitchFamily="34" charset="-122"/>
              <a:cs typeface="思源黑体 CN" pitchFamily="34" charset="-120"/>
            </a:endParaRPr>
          </a:p>
        </p:txBody>
      </p:sp>
      <p:pic>
        <p:nvPicPr>
          <p:cNvPr id="18" name="Image 9" descr="https://test.web.static.jianzeppt.com/ppt-temp-img3/6f53b9a472d9b557c3939f565e053bf5.png?x-oss-process=image/resize,w_1440,h_800,m_lfit/format,png"/>
          <p:cNvPicPr>
            <a:picLocks noChangeAspect="1"/>
          </p:cNvPicPr>
          <p:nvPr/>
        </p:nvPicPr>
        <p:blipFill>
          <a:blip r:embed="rId10"/>
          <a:stretch>
            <a:fillRect/>
          </a:stretch>
        </p:blipFill>
        <p:spPr>
          <a:xfrm>
            <a:off x="624840" y="2872740"/>
            <a:ext cx="10942320" cy="15240"/>
          </a:xfrm>
          <a:prstGeom prst="rect">
            <a:avLst/>
          </a:prstGeom>
        </p:spPr>
      </p:pic>
      <p:pic>
        <p:nvPicPr>
          <p:cNvPr id="19" name="Image 10" descr="https://test.web.static.jianzeppt.com/ppt-temp-img3/509e1eef55ee571b85000ff775c9634f.png?x-oss-process=image/resize,w_1440,h_800,m_lfit/format,png"/>
          <p:cNvPicPr>
            <a:picLocks noChangeAspect="1"/>
          </p:cNvPicPr>
          <p:nvPr/>
        </p:nvPicPr>
        <p:blipFill>
          <a:blip r:embed="rId11"/>
          <a:stretch>
            <a:fillRect/>
          </a:stretch>
        </p:blipFill>
        <p:spPr>
          <a:xfrm>
            <a:off x="624840" y="2842895"/>
            <a:ext cx="10942320" cy="1127760"/>
          </a:xfrm>
          <a:prstGeom prst="rect">
            <a:avLst/>
          </a:prstGeom>
        </p:spPr>
      </p:pic>
      <p:sp>
        <p:nvSpPr>
          <p:cNvPr id="20" name="Text 7"/>
          <p:cNvSpPr/>
          <p:nvPr/>
        </p:nvSpPr>
        <p:spPr>
          <a:xfrm>
            <a:off x="807720" y="2971800"/>
            <a:ext cx="1837944" cy="944880"/>
          </a:xfrm>
          <a:prstGeom prst="rect">
            <a:avLst/>
          </a:prstGeom>
          <a:noFill/>
        </p:spPr>
        <p:txBody>
          <a:bodyPr wrap="none" lIns="0" tIns="0" rIns="0" bIns="0" rtlCol="0" anchor="ctr"/>
          <a:lstStyle/>
          <a:p>
            <a:pPr marL="0" indent="0" algn="l">
              <a:lnSpc>
                <a:spcPct val="125000"/>
              </a:lnSpc>
              <a:buNone/>
            </a:pPr>
            <a:r>
              <a:rPr lang="zh-CN" altLang="en-US" sz="1680" b="1" dirty="0">
                <a:solidFill>
                  <a:srgbClr val="143966"/>
                </a:solidFill>
                <a:latin typeface="思源黑体 CN Bold" pitchFamily="34" charset="0"/>
                <a:ea typeface="思源黑体 CN Bold" pitchFamily="34" charset="-122"/>
                <a:cs typeface="思源黑体 CN Bold" pitchFamily="34" charset="-120"/>
              </a:rPr>
              <a:t>流程</a:t>
            </a:r>
            <a:r>
              <a:rPr lang="en-US" sz="1680" b="1" dirty="0">
                <a:solidFill>
                  <a:srgbClr val="143966"/>
                </a:solidFill>
                <a:latin typeface="思源黑体 CN Bold" pitchFamily="34" charset="0"/>
                <a:ea typeface="思源黑体 CN Bold" pitchFamily="34" charset="-122"/>
                <a:cs typeface="思源黑体 CN Bold" pitchFamily="34" charset="-120"/>
              </a:rPr>
              <a:t>主线</a:t>
            </a:r>
            <a:endParaRPr lang="en-US" sz="1680" dirty="0"/>
          </a:p>
        </p:txBody>
      </p:sp>
      <p:sp>
        <p:nvSpPr>
          <p:cNvPr id="22" name="Text 9"/>
          <p:cNvSpPr/>
          <p:nvPr/>
        </p:nvSpPr>
        <p:spPr>
          <a:xfrm>
            <a:off x="3002280" y="2976245"/>
            <a:ext cx="3962400" cy="230505"/>
          </a:xfrm>
          <a:prstGeom prst="rect">
            <a:avLst/>
          </a:prstGeom>
          <a:noFill/>
        </p:spPr>
        <p:txBody>
          <a:bodyPr wrap="none" lIns="0" tIns="0" rIns="0" bIns="0" rtlCol="0" anchor="t">
            <a:spAutoFit/>
          </a:bodyPr>
          <a:lstStyle/>
          <a:p>
            <a:pPr marL="0" indent="0" algn="l">
              <a:lnSpc>
                <a:spcPct val="125000"/>
              </a:lnSpc>
              <a:buNone/>
            </a:pPr>
            <a:r>
              <a:rPr lang="en-US" sz="1200" dirty="0">
                <a:solidFill>
                  <a:srgbClr val="333333"/>
                </a:solidFill>
                <a:latin typeface="Calibri" panose="020F0502020204030204" charset="0"/>
                <a:ea typeface="思源黑体 CN" pitchFamily="34" charset="-122"/>
                <a:cs typeface="思源黑体 CN" pitchFamily="34" charset="-120"/>
              </a:rPr>
              <a:t>①</a:t>
            </a:r>
            <a:r>
              <a:rPr lang="en-US" sz="1200" dirty="0">
                <a:solidFill>
                  <a:srgbClr val="333333"/>
                </a:solidFill>
                <a:latin typeface="思源黑体 CN" pitchFamily="34" charset="0"/>
                <a:ea typeface="思源黑体 CN" pitchFamily="34" charset="-122"/>
                <a:cs typeface="思源黑体 CN" pitchFamily="34" charset="-120"/>
              </a:rPr>
              <a:t> 查：在虚拟机里定位配置项、跑命令，每条留 1 张截图</a:t>
            </a:r>
            <a:endParaRPr lang="en-US" sz="1200" dirty="0">
              <a:solidFill>
                <a:srgbClr val="333333"/>
              </a:solidFill>
              <a:latin typeface="思源黑体 CN" pitchFamily="34" charset="0"/>
              <a:ea typeface="思源黑体 CN" pitchFamily="34" charset="-122"/>
              <a:cs typeface="思源黑体 CN" pitchFamily="34" charset="-120"/>
            </a:endParaRPr>
          </a:p>
        </p:txBody>
      </p:sp>
      <p:sp>
        <p:nvSpPr>
          <p:cNvPr id="24" name="Text 11"/>
          <p:cNvSpPr/>
          <p:nvPr/>
        </p:nvSpPr>
        <p:spPr>
          <a:xfrm>
            <a:off x="3002280" y="3305175"/>
            <a:ext cx="4640580" cy="230505"/>
          </a:xfrm>
          <a:prstGeom prst="rect">
            <a:avLst/>
          </a:prstGeom>
          <a:noFill/>
        </p:spPr>
        <p:txBody>
          <a:bodyPr wrap="none" lIns="0" tIns="0" rIns="0" bIns="0" rtlCol="0" anchor="t">
            <a:spAutoFit/>
          </a:bodyPr>
          <a:lstStyle/>
          <a:p>
            <a:pPr marL="0" indent="0" algn="l">
              <a:lnSpc>
                <a:spcPct val="125000"/>
              </a:lnSpc>
              <a:buNone/>
            </a:pPr>
            <a:r>
              <a:rPr lang="en-US" sz="1200" dirty="0">
                <a:solidFill>
                  <a:srgbClr val="333333"/>
                </a:solidFill>
                <a:latin typeface="Calibri" panose="020F0502020204030204" charset="0"/>
                <a:ea typeface="思源黑体 CN" pitchFamily="34" charset="-122"/>
                <a:cs typeface="思源黑体 CN" pitchFamily="34" charset="-120"/>
              </a:rPr>
              <a:t>②  </a:t>
            </a:r>
            <a:r>
              <a:rPr lang="en-US" sz="1200" dirty="0">
                <a:solidFill>
                  <a:srgbClr val="333333"/>
                </a:solidFill>
                <a:latin typeface="思源黑体 CN" pitchFamily="34" charset="0"/>
                <a:ea typeface="思源黑体 CN" pitchFamily="34" charset="-122"/>
                <a:cs typeface="思源黑体 CN" pitchFamily="34" charset="-120"/>
              </a:rPr>
              <a:t>判：对照基线做四档判定，写清"做到哪、差在哪"，再补整改建议</a:t>
            </a:r>
            <a:endParaRPr lang="en-US" sz="1200" dirty="0">
              <a:solidFill>
                <a:srgbClr val="333333"/>
              </a:solidFill>
              <a:latin typeface="思源黑体 CN" pitchFamily="34" charset="0"/>
              <a:ea typeface="思源黑体 CN" pitchFamily="34" charset="-122"/>
              <a:cs typeface="思源黑体 CN" pitchFamily="34" charset="-120"/>
            </a:endParaRPr>
          </a:p>
        </p:txBody>
      </p:sp>
      <p:sp>
        <p:nvSpPr>
          <p:cNvPr id="25" name="Text 12"/>
          <p:cNvSpPr/>
          <p:nvPr/>
        </p:nvSpPr>
        <p:spPr>
          <a:xfrm>
            <a:off x="3002280" y="3648710"/>
            <a:ext cx="4640580" cy="230505"/>
          </a:xfrm>
          <a:prstGeom prst="rect">
            <a:avLst/>
          </a:prstGeom>
          <a:noFill/>
        </p:spPr>
        <p:txBody>
          <a:bodyPr wrap="none" lIns="0" tIns="0" rIns="0" bIns="0" rtlCol="0" anchor="t">
            <a:spAutoFit/>
          </a:bodyPr>
          <a:lstStyle/>
          <a:p>
            <a:pPr marL="0" indent="0" algn="l">
              <a:lnSpc>
                <a:spcPct val="125000"/>
              </a:lnSpc>
              <a:buNone/>
            </a:pPr>
            <a:r>
              <a:rPr lang="en-US" sz="1200" dirty="0">
                <a:solidFill>
                  <a:srgbClr val="333333"/>
                </a:solidFill>
                <a:latin typeface="Calibri" panose="020F0502020204030204" charset="0"/>
                <a:ea typeface="思源黑体 CN" pitchFamily="34" charset="-122"/>
                <a:cs typeface="思源黑体 CN" pitchFamily="34" charset="-120"/>
              </a:rPr>
              <a:t>③  </a:t>
            </a:r>
            <a:r>
              <a:rPr lang="en-US" sz="1200" dirty="0">
                <a:solidFill>
                  <a:srgbClr val="333333"/>
                </a:solidFill>
                <a:latin typeface="思源黑体 CN" pitchFamily="34" charset="0"/>
                <a:ea typeface="思源黑体 CN" pitchFamily="34" charset="-122"/>
                <a:cs typeface="思源黑体 CN" pitchFamily="34" charset="-120"/>
              </a:rPr>
              <a:t>交：导出《主机安全测评记录表》，连同截图包课内提交至学习通</a:t>
            </a:r>
            <a:endParaRPr lang="en-US" sz="1200" dirty="0">
              <a:solidFill>
                <a:srgbClr val="333333"/>
              </a:solidFill>
              <a:latin typeface="思源黑体 CN" pitchFamily="34" charset="0"/>
              <a:ea typeface="思源黑体 CN" pitchFamily="34" charset="-122"/>
              <a:cs typeface="思源黑体 CN" pitchFamily="34" charset="-120"/>
            </a:endParaRPr>
          </a:p>
        </p:txBody>
      </p:sp>
      <p:sp>
        <p:nvSpPr>
          <p:cNvPr id="37" name="文本框 36"/>
          <p:cNvSpPr txBox="1"/>
          <p:nvPr/>
        </p:nvSpPr>
        <p:spPr>
          <a:xfrm>
            <a:off x="3002280" y="4083685"/>
            <a:ext cx="6096000" cy="1123950"/>
          </a:xfrm>
          <a:prstGeom prst="rect">
            <a:avLst/>
          </a:prstGeom>
          <a:noFill/>
        </p:spPr>
        <p:txBody>
          <a:bodyPr wrap="square" rtlCol="0" anchor="t">
            <a:spAutoFit/>
          </a:bodyPr>
          <a:p>
            <a:pPr marL="0" indent="0" algn="l">
              <a:lnSpc>
                <a:spcPct val="160000"/>
              </a:lnSpc>
              <a:buNone/>
            </a:pPr>
            <a:r>
              <a:rPr lang="zh-CN" altLang="en-US" sz="1400" dirty="0">
                <a:solidFill>
                  <a:srgbClr val="333333"/>
                </a:solidFill>
                <a:latin typeface="思源黑体 CN" pitchFamily="34" charset="0"/>
                <a:ea typeface="思源黑体 CN" pitchFamily="34" charset="-122"/>
                <a:cs typeface="思源黑体 CN" pitchFamily="34" charset="-120"/>
                <a:sym typeface="+mn-ea"/>
              </a:rPr>
              <a:t>按照素材</a:t>
            </a:r>
            <a:r>
              <a:rPr lang="en-US" altLang="zh-CN" sz="1400" dirty="0">
                <a:solidFill>
                  <a:srgbClr val="333333"/>
                </a:solidFill>
                <a:latin typeface="思源黑体 CN" pitchFamily="34" charset="0"/>
                <a:ea typeface="思源黑体 CN" pitchFamily="34" charset="-122"/>
                <a:cs typeface="思源黑体 CN" pitchFamily="34" charset="-120"/>
                <a:sym typeface="+mn-ea"/>
              </a:rPr>
              <a:t>6</a:t>
            </a:r>
            <a:r>
              <a:rPr lang="zh-CN" altLang="en-US" sz="1400" dirty="0">
                <a:solidFill>
                  <a:srgbClr val="333333"/>
                </a:solidFill>
                <a:latin typeface="思源黑体 CN" pitchFamily="34" charset="0"/>
                <a:ea typeface="思源黑体 CN" pitchFamily="34" charset="-122"/>
                <a:cs typeface="思源黑体 CN" pitchFamily="34" charset="-120"/>
                <a:sym typeface="+mn-ea"/>
              </a:rPr>
              <a:t>和素材</a:t>
            </a:r>
            <a:r>
              <a:rPr lang="en-US" altLang="zh-CN" sz="1400" dirty="0">
                <a:solidFill>
                  <a:srgbClr val="333333"/>
                </a:solidFill>
                <a:latin typeface="思源黑体 CN" pitchFamily="34" charset="0"/>
                <a:ea typeface="思源黑体 CN" pitchFamily="34" charset="-122"/>
                <a:cs typeface="思源黑体 CN" pitchFamily="34" charset="-120"/>
                <a:sym typeface="+mn-ea"/>
              </a:rPr>
              <a:t>7</a:t>
            </a:r>
            <a:r>
              <a:rPr lang="zh-CN" altLang="en-US" sz="1400" dirty="0">
                <a:solidFill>
                  <a:srgbClr val="333333"/>
                </a:solidFill>
                <a:latin typeface="思源黑体 CN" pitchFamily="34" charset="0"/>
                <a:ea typeface="思源黑体 CN" pitchFamily="34" charset="-122"/>
                <a:cs typeface="思源黑体 CN" pitchFamily="34" charset="-120"/>
                <a:sym typeface="+mn-ea"/>
              </a:rPr>
              <a:t>完成实验</a:t>
            </a:r>
            <a:endParaRPr lang="zh-CN" altLang="en-US" sz="1400" dirty="0">
              <a:solidFill>
                <a:srgbClr val="333333"/>
              </a:solidFill>
              <a:latin typeface="思源黑体 CN" pitchFamily="34" charset="0"/>
              <a:ea typeface="思源黑体 CN" pitchFamily="34" charset="-122"/>
              <a:cs typeface="思源黑体 CN" pitchFamily="34" charset="-120"/>
              <a:sym typeface="+mn-ea"/>
            </a:endParaRPr>
          </a:p>
          <a:p>
            <a:pPr marL="0" indent="0" algn="l">
              <a:lnSpc>
                <a:spcPct val="160000"/>
              </a:lnSpc>
              <a:buNone/>
            </a:pPr>
            <a:r>
              <a:rPr lang="zh-CN" altLang="en-US" sz="1400" dirty="0">
                <a:solidFill>
                  <a:srgbClr val="333333"/>
                </a:solidFill>
                <a:latin typeface="思源黑体 CN" pitchFamily="34" charset="0"/>
                <a:ea typeface="思源黑体 CN" pitchFamily="34" charset="-122"/>
                <a:cs typeface="思源黑体 CN" pitchFamily="34" charset="-120"/>
                <a:sym typeface="+mn-ea"/>
              </a:rPr>
              <a:t>注意：每条核查项至少</a:t>
            </a:r>
            <a:r>
              <a:rPr lang="en-US" altLang="zh-CN" sz="1400" dirty="0">
                <a:solidFill>
                  <a:srgbClr val="333333"/>
                </a:solidFill>
                <a:latin typeface="思源黑体 CN" pitchFamily="34" charset="0"/>
                <a:ea typeface="思源黑体 CN" pitchFamily="34" charset="-122"/>
                <a:cs typeface="思源黑体 CN" pitchFamily="34" charset="-120"/>
                <a:sym typeface="+mn-ea"/>
              </a:rPr>
              <a:t> 1 </a:t>
            </a:r>
            <a:r>
              <a:rPr lang="zh-CN" altLang="en-US" sz="1400" dirty="0">
                <a:solidFill>
                  <a:srgbClr val="333333"/>
                </a:solidFill>
                <a:latin typeface="思源黑体 CN" pitchFamily="34" charset="0"/>
                <a:ea typeface="思源黑体 CN" pitchFamily="34" charset="-122"/>
                <a:cs typeface="思源黑体 CN" pitchFamily="34" charset="-120"/>
                <a:sym typeface="+mn-ea"/>
              </a:rPr>
              <a:t>张证据截图，截图文件名与</a:t>
            </a:r>
            <a:r>
              <a:rPr lang="en-US" altLang="zh-CN" sz="1400" dirty="0">
                <a:solidFill>
                  <a:srgbClr val="333333"/>
                </a:solidFill>
                <a:latin typeface="思源黑体 CN" pitchFamily="34" charset="0"/>
                <a:ea typeface="思源黑体 CN" pitchFamily="34" charset="-122"/>
                <a:cs typeface="思源黑体 CN" pitchFamily="34" charset="-120"/>
                <a:sym typeface="+mn-ea"/>
              </a:rPr>
              <a:t>“</a:t>
            </a:r>
            <a:r>
              <a:rPr lang="zh-CN" altLang="en-US" sz="1400" dirty="0">
                <a:solidFill>
                  <a:srgbClr val="333333"/>
                </a:solidFill>
                <a:latin typeface="思源黑体 CN" pitchFamily="34" charset="0"/>
                <a:ea typeface="思源黑体 CN" pitchFamily="34" charset="-122"/>
                <a:cs typeface="思源黑体 CN" pitchFamily="34" charset="-120"/>
                <a:sym typeface="+mn-ea"/>
              </a:rPr>
              <a:t>截图编号</a:t>
            </a:r>
            <a:r>
              <a:rPr lang="en-US" altLang="zh-CN" sz="1400" dirty="0">
                <a:solidFill>
                  <a:srgbClr val="333333"/>
                </a:solidFill>
                <a:latin typeface="思源黑体 CN" pitchFamily="34" charset="0"/>
                <a:ea typeface="思源黑体 CN" pitchFamily="34" charset="-122"/>
                <a:cs typeface="思源黑体 CN" pitchFamily="34" charset="-120"/>
                <a:sym typeface="+mn-ea"/>
              </a:rPr>
              <a:t>”</a:t>
            </a:r>
            <a:r>
              <a:rPr lang="zh-CN" altLang="en-US" sz="1400" dirty="0">
                <a:solidFill>
                  <a:srgbClr val="333333"/>
                </a:solidFill>
                <a:latin typeface="思源黑体 CN" pitchFamily="34" charset="0"/>
                <a:ea typeface="思源黑体 CN" pitchFamily="34" charset="-122"/>
                <a:cs typeface="思源黑体 CN" pitchFamily="34" charset="-120"/>
                <a:sym typeface="+mn-ea"/>
              </a:rPr>
              <a:t>一致（如</a:t>
            </a:r>
            <a:r>
              <a:rPr lang="en-US" altLang="zh-CN" sz="1400" dirty="0">
                <a:solidFill>
                  <a:srgbClr val="333333"/>
                </a:solidFill>
                <a:latin typeface="思源黑体 CN" pitchFamily="34" charset="0"/>
                <a:ea typeface="思源黑体 CN" pitchFamily="34" charset="-122"/>
                <a:cs typeface="思源黑体 CN" pitchFamily="34" charset="-120"/>
                <a:sym typeface="+mn-ea"/>
              </a:rPr>
              <a:t> W1-01.png</a:t>
            </a:r>
            <a:r>
              <a:rPr lang="zh-CN" altLang="en-US" sz="1400" dirty="0">
                <a:solidFill>
                  <a:srgbClr val="333333"/>
                </a:solidFill>
                <a:latin typeface="思源黑体 CN" pitchFamily="34" charset="0"/>
                <a:ea typeface="思源黑体 CN" pitchFamily="34" charset="-122"/>
                <a:cs typeface="思源黑体 CN" pitchFamily="34" charset="-120"/>
                <a:sym typeface="+mn-ea"/>
              </a:rPr>
              <a:t>），与记录表一并提交，提交</a:t>
            </a:r>
            <a:r>
              <a:rPr lang="zh-CN" altLang="en-US" sz="1400" dirty="0">
                <a:solidFill>
                  <a:srgbClr val="333333"/>
                </a:solidFill>
                <a:latin typeface="思源黑体 CN" pitchFamily="34" charset="0"/>
                <a:ea typeface="思源黑体 CN" pitchFamily="34" charset="-122"/>
                <a:cs typeface="思源黑体 CN" pitchFamily="34" charset="-120"/>
                <a:sym typeface="+mn-ea"/>
              </a:rPr>
              <a:t>到学习通</a:t>
            </a:r>
            <a:r>
              <a:rPr lang="en-US" altLang="zh-CN" sz="1400" dirty="0">
                <a:solidFill>
                  <a:srgbClr val="333333"/>
                </a:solidFill>
                <a:latin typeface="思源黑体 CN" pitchFamily="34" charset="0"/>
                <a:ea typeface="思源黑体 CN" pitchFamily="34" charset="-122"/>
                <a:cs typeface="思源黑体 CN" pitchFamily="34" charset="-120"/>
                <a:sym typeface="+mn-ea"/>
              </a:rPr>
              <a:t>4.1</a:t>
            </a:r>
            <a:r>
              <a:rPr lang="zh-CN" altLang="en-US" sz="1400" dirty="0">
                <a:solidFill>
                  <a:srgbClr val="333333"/>
                </a:solidFill>
                <a:latin typeface="思源黑体 CN" pitchFamily="34" charset="0"/>
                <a:ea typeface="思源黑体 CN" pitchFamily="34" charset="-122"/>
                <a:cs typeface="思源黑体 CN" pitchFamily="34" charset="-120"/>
                <a:sym typeface="+mn-ea"/>
              </a:rPr>
              <a:t>实验</a:t>
            </a:r>
            <a:endParaRPr lang="zh-CN" altLang="en-US" sz="1400" dirty="0">
              <a:solidFill>
                <a:srgbClr val="333333"/>
              </a:solidFill>
              <a:latin typeface="思源黑体 CN" pitchFamily="34" charset="0"/>
              <a:ea typeface="思源黑体 CN" pitchFamily="34" charset="-122"/>
              <a:cs typeface="思源黑体 CN" pitchFamily="34" charset="-12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web.static.jianzeppt.com/ppt-temp-img3/4bbf78d39a1ae7d50fa38e3b11fcab97.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4673282" y="897806"/>
            <a:ext cx="2863855" cy="493776"/>
          </a:xfrm>
          <a:prstGeom prst="rect">
            <a:avLst/>
          </a:prstGeom>
          <a:noFill/>
        </p:spPr>
        <p:txBody>
          <a:bodyPr wrap="square" lIns="0" tIns="0" rIns="0" bIns="0" rtlCol="0" anchor="b">
            <a:spAutoFit/>
          </a:bodyPr>
          <a:lstStyle/>
          <a:p>
            <a:pPr marL="0" indent="0" algn="ctr">
              <a:lnSpc>
                <a:spcPct val="120000"/>
              </a:lnSpc>
              <a:buNone/>
            </a:pPr>
            <a:r>
              <a:rPr lang="en-US" sz="3240" dirty="0">
                <a:solidFill>
                  <a:srgbClr val="FFFFFF"/>
                </a:solidFill>
              </a:rPr>
              <a:t>Part.04</a:t>
            </a:r>
            <a:endParaRPr lang="en-US" sz="3240" dirty="0"/>
          </a:p>
        </p:txBody>
      </p:sp>
      <p:sp>
        <p:nvSpPr>
          <p:cNvPr id="4" name="Text 1"/>
          <p:cNvSpPr/>
          <p:nvPr/>
        </p:nvSpPr>
        <p:spPr>
          <a:xfrm>
            <a:off x="3083879" y="2103876"/>
            <a:ext cx="6035040" cy="812165"/>
          </a:xfrm>
          <a:prstGeom prst="rect">
            <a:avLst/>
          </a:prstGeom>
          <a:noFill/>
        </p:spPr>
        <p:txBody>
          <a:bodyPr wrap="none" lIns="0" tIns="0" rIns="0" bIns="0" rtlCol="0" anchor="b">
            <a:spAutoFit/>
          </a:bodyPr>
          <a:lstStyle/>
          <a:p>
            <a:pPr marL="0" indent="0" algn="ctr">
              <a:lnSpc>
                <a:spcPct val="100000"/>
              </a:lnSpc>
              <a:buNone/>
            </a:pPr>
            <a:r>
              <a:rPr lang="en-US" sz="5280" dirty="0">
                <a:solidFill>
                  <a:srgbClr val="FFFFFF"/>
                </a:solidFill>
              </a:rPr>
              <a:t>课内小结与下节预告</a:t>
            </a:r>
            <a:endParaRPr lang="en-US" sz="5280" dirty="0"/>
          </a:p>
        </p:txBody>
      </p:sp>
      <p:sp>
        <p:nvSpPr>
          <p:cNvPr id="5" name="Text 2"/>
          <p:cNvSpPr/>
          <p:nvPr/>
        </p:nvSpPr>
        <p:spPr>
          <a:xfrm>
            <a:off x="878809" y="3100384"/>
            <a:ext cx="10658540" cy="329089"/>
          </a:xfrm>
          <a:prstGeom prst="rect">
            <a:avLst/>
          </a:prstGeom>
          <a:noFill/>
        </p:spPr>
        <p:txBody>
          <a:bodyPr wrap="square" lIns="0" tIns="0" rIns="0" bIns="0" rtlCol="0" anchor="t">
            <a:spAutoFit/>
          </a:bodyPr>
          <a:lstStyle/>
          <a:p>
            <a:pPr marL="0" indent="0" algn="ctr">
              <a:lnSpc>
                <a:spcPct val="120000"/>
              </a:lnSpc>
              <a:buNone/>
            </a:pPr>
            <a:r>
              <a:rPr lang="en-US" sz="2160" dirty="0">
                <a:solidFill>
                  <a:srgbClr val="FFFFFF"/>
                </a:solidFill>
              </a:rPr>
              <a:t>把今天查出来的问题，写成别人能照着做的整改建议</a:t>
            </a:r>
            <a:endParaRPr lang="en-US" sz="216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职业提醒——你写下的每个字都要负责</a:t>
            </a:r>
            <a:endParaRPr lang="en-US" sz="2760" dirty="0"/>
          </a:p>
        </p:txBody>
      </p:sp>
      <p:pic>
        <p:nvPicPr>
          <p:cNvPr id="6" name="Image 3" descr="https://test.web.static.jianzeppt.com/ppt-temp-img3/e213a2527a8bcfe1b5274959e5fb7361.png?x-oss-process=image/resize,w_1440,h_800,m_lfit/format,png"/>
          <p:cNvPicPr>
            <a:picLocks noChangeAspect="1"/>
          </p:cNvPicPr>
          <p:nvPr/>
        </p:nvPicPr>
        <p:blipFill>
          <a:blip r:embed="rId4"/>
          <a:stretch>
            <a:fillRect/>
          </a:stretch>
        </p:blipFill>
        <p:spPr>
          <a:xfrm>
            <a:off x="609600" y="1371600"/>
            <a:ext cx="3413760" cy="4876800"/>
          </a:xfrm>
          <a:prstGeom prst="rect">
            <a:avLst/>
          </a:prstGeom>
        </p:spPr>
      </p:pic>
      <p:sp>
        <p:nvSpPr>
          <p:cNvPr id="7" name="Text 1"/>
          <p:cNvSpPr/>
          <p:nvPr/>
        </p:nvSpPr>
        <p:spPr>
          <a:xfrm>
            <a:off x="929640" y="2179320"/>
            <a:ext cx="2782824" cy="945833"/>
          </a:xfrm>
          <a:prstGeom prst="rect">
            <a:avLst/>
          </a:prstGeom>
          <a:noFill/>
        </p:spPr>
        <p:txBody>
          <a:bodyPr wrap="square" lIns="0" tIns="0" rIns="0" bIns="0" rtlCol="0" anchor="t">
            <a:spAutoFit/>
          </a:bodyPr>
          <a:lstStyle/>
          <a:p>
            <a:pPr marL="0" indent="0" algn="l">
              <a:lnSpc>
                <a:spcPct val="138000"/>
              </a:lnSpc>
              <a:buNone/>
            </a:pPr>
            <a:r>
              <a:rPr lang="en-US" sz="1800" dirty="0">
                <a:solidFill>
                  <a:srgbClr val="333333"/>
                </a:solidFill>
                <a:latin typeface="思源黑体 CN" pitchFamily="34" charset="0"/>
                <a:ea typeface="思源黑体 CN" pitchFamily="34" charset="-122"/>
                <a:cs typeface="思源黑体 CN" pitchFamily="34" charset="-120"/>
              </a:rPr>
              <a:t>每一台主机都是一个“节点”，连接起来就是“国家网络”</a:t>
            </a:r>
            <a:endParaRPr lang="en-US" sz="1800" dirty="0"/>
          </a:p>
        </p:txBody>
      </p:sp>
      <p:sp>
        <p:nvSpPr>
          <p:cNvPr id="8" name="Text 2"/>
          <p:cNvSpPr/>
          <p:nvPr/>
        </p:nvSpPr>
        <p:spPr>
          <a:xfrm>
            <a:off x="929640" y="3368040"/>
            <a:ext cx="2782824" cy="945833"/>
          </a:xfrm>
          <a:prstGeom prst="rect">
            <a:avLst/>
          </a:prstGeom>
          <a:noFill/>
        </p:spPr>
        <p:txBody>
          <a:bodyPr wrap="square" lIns="0" tIns="0" rIns="0" bIns="0" rtlCol="0" anchor="t">
            <a:spAutoFit/>
          </a:bodyPr>
          <a:lstStyle/>
          <a:p>
            <a:pPr marL="0" indent="0" algn="l">
              <a:lnSpc>
                <a:spcPct val="138000"/>
              </a:lnSpc>
              <a:buNone/>
            </a:pPr>
            <a:r>
              <a:rPr lang="en-US" sz="1800" dirty="0">
                <a:solidFill>
                  <a:srgbClr val="333333"/>
                </a:solidFill>
                <a:latin typeface="思源黑体 CN" pitchFamily="34" charset="0"/>
                <a:ea typeface="思源黑体 CN" pitchFamily="34" charset="-122"/>
                <a:cs typeface="思源黑体 CN" pitchFamily="34" charset="-120"/>
              </a:rPr>
              <a:t>等保标准中的每一个配置项，都是无数安全事故的“血泪教训”总结</a:t>
            </a:r>
            <a:endParaRPr lang="en-US" sz="1800" dirty="0"/>
          </a:p>
        </p:txBody>
      </p:sp>
      <p:sp>
        <p:nvSpPr>
          <p:cNvPr id="9" name="Text 3"/>
          <p:cNvSpPr/>
          <p:nvPr/>
        </p:nvSpPr>
        <p:spPr>
          <a:xfrm>
            <a:off x="929640" y="4556760"/>
            <a:ext cx="2782824" cy="945833"/>
          </a:xfrm>
          <a:prstGeom prst="rect">
            <a:avLst/>
          </a:prstGeom>
          <a:noFill/>
        </p:spPr>
        <p:txBody>
          <a:bodyPr wrap="square" lIns="0" tIns="0" rIns="0" bIns="0" rtlCol="0" anchor="t">
            <a:spAutoFit/>
          </a:bodyPr>
          <a:lstStyle/>
          <a:p>
            <a:pPr marL="0" indent="0" algn="l">
              <a:lnSpc>
                <a:spcPct val="138000"/>
              </a:lnSpc>
              <a:buNone/>
            </a:pPr>
            <a:r>
              <a:rPr lang="en-US" sz="1800" dirty="0">
                <a:solidFill>
                  <a:srgbClr val="333333"/>
                </a:solidFill>
                <a:latin typeface="思源黑体 CN" pitchFamily="34" charset="0"/>
                <a:ea typeface="思源黑体 CN" pitchFamily="34" charset="-122"/>
                <a:cs typeface="思源黑体 CN" pitchFamily="34" charset="-120"/>
              </a:rPr>
              <a:t>主机安全基线，是保障国家网络安全“最后一公里”的关键防线</a:t>
            </a:r>
            <a:endParaRPr lang="en-US" sz="1800" dirty="0"/>
          </a:p>
        </p:txBody>
      </p:sp>
      <p:pic>
        <p:nvPicPr>
          <p:cNvPr id="10"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2920" y="1082040"/>
            <a:ext cx="3627120" cy="701040"/>
          </a:xfrm>
          <a:prstGeom prst="rect">
            <a:avLst/>
          </a:prstGeom>
          <a:effectLst>
            <a:outerShdw blurRad="387096000" dist="193548000" dir="-1" algn="bl" rotWithShape="0">
              <a:srgbClr val="000000">
                <a:alpha val="500000000"/>
              </a:srgbClr>
            </a:outerShdw>
          </a:effectLst>
        </p:spPr>
      </p:pic>
      <p:pic>
        <p:nvPicPr>
          <p:cNvPr id="11"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7720" y="1249680"/>
            <a:ext cx="365760" cy="365760"/>
          </a:xfrm>
          <a:prstGeom prst="rect">
            <a:avLst/>
          </a:prstGeom>
        </p:spPr>
      </p:pic>
      <p:sp>
        <p:nvSpPr>
          <p:cNvPr id="12" name="Text 4"/>
          <p:cNvSpPr/>
          <p:nvPr/>
        </p:nvSpPr>
        <p:spPr>
          <a:xfrm>
            <a:off x="1295400" y="1203960"/>
            <a:ext cx="2538984" cy="388620"/>
          </a:xfrm>
          <a:prstGeom prst="rect">
            <a:avLst/>
          </a:prstGeom>
          <a:noFill/>
        </p:spPr>
        <p:txBody>
          <a:bodyPr wrap="none" lIns="0" tIns="0" rIns="0" bIns="0" rtlCol="0" anchor="t">
            <a:spAutoFit/>
          </a:bodyPr>
          <a:lstStyle/>
          <a:p>
            <a:pPr marL="0" indent="0" algn="ctr">
              <a:lnSpc>
                <a:spcPct val="100000"/>
              </a:lnSpc>
              <a:buNone/>
            </a:pPr>
            <a:r>
              <a:rPr lang="en-US" sz="2040" b="1" dirty="0">
                <a:solidFill>
                  <a:srgbClr val="FFFFFF"/>
                </a:solidFill>
                <a:latin typeface="思源黑体 CN Bold" pitchFamily="34" charset="0"/>
                <a:ea typeface="思源黑体 CN Bold" pitchFamily="34" charset="-122"/>
                <a:cs typeface="思源黑体 CN Bold" pitchFamily="34" charset="-120"/>
              </a:rPr>
              <a:t>技术合规 → 国家安全</a:t>
            </a:r>
            <a:endParaRPr lang="en-US" sz="2040" dirty="0"/>
          </a:p>
        </p:txBody>
      </p:sp>
      <p:pic>
        <p:nvPicPr>
          <p:cNvPr id="13" name="Image 6" descr="https://test.web.static.jianzeppt.com/ppt-temp-img3/e213a2527a8bcfe1b5274959e5fb7361.png?x-oss-process=image/resize,w_1440,h_800,m_lfit/format,png"/>
          <p:cNvPicPr>
            <a:picLocks noChangeAspect="1"/>
          </p:cNvPicPr>
          <p:nvPr/>
        </p:nvPicPr>
        <p:blipFill>
          <a:blip r:embed="rId4"/>
          <a:stretch>
            <a:fillRect/>
          </a:stretch>
        </p:blipFill>
        <p:spPr>
          <a:xfrm>
            <a:off x="4389120" y="1371600"/>
            <a:ext cx="3413760" cy="4876800"/>
          </a:xfrm>
          <a:prstGeom prst="rect">
            <a:avLst/>
          </a:prstGeom>
        </p:spPr>
      </p:pic>
      <p:sp>
        <p:nvSpPr>
          <p:cNvPr id="14" name="Text 5"/>
          <p:cNvSpPr/>
          <p:nvPr/>
        </p:nvSpPr>
        <p:spPr>
          <a:xfrm>
            <a:off x="4709160" y="2179320"/>
            <a:ext cx="2782824" cy="630555"/>
          </a:xfrm>
          <a:prstGeom prst="rect">
            <a:avLst/>
          </a:prstGeom>
          <a:noFill/>
        </p:spPr>
        <p:txBody>
          <a:bodyPr wrap="square" lIns="0" tIns="0" rIns="0" bIns="0" rtlCol="0" anchor="t">
            <a:spAutoFit/>
          </a:bodyPr>
          <a:lstStyle/>
          <a:p>
            <a:pPr marL="0" indent="0" algn="l">
              <a:lnSpc>
                <a:spcPct val="138000"/>
              </a:lnSpc>
              <a:buNone/>
            </a:pPr>
            <a:r>
              <a:rPr lang="en-US" sz="1800" dirty="0">
                <a:solidFill>
                  <a:srgbClr val="333333"/>
                </a:solidFill>
                <a:latin typeface="思源黑体 CN" pitchFamily="34" charset="0"/>
                <a:ea typeface="思源黑体 CN" pitchFamily="34" charset="-122"/>
                <a:cs typeface="思源黑体 CN" pitchFamily="34" charset="-120"/>
              </a:rPr>
              <a:t>测评不是“走过场”，更不是“做样子”</a:t>
            </a:r>
            <a:endParaRPr lang="en-US" sz="1800" dirty="0"/>
          </a:p>
        </p:txBody>
      </p:sp>
      <p:sp>
        <p:nvSpPr>
          <p:cNvPr id="15" name="Text 6"/>
          <p:cNvSpPr/>
          <p:nvPr/>
        </p:nvSpPr>
        <p:spPr>
          <a:xfrm>
            <a:off x="4709160" y="3002280"/>
            <a:ext cx="2782824" cy="630555"/>
          </a:xfrm>
          <a:prstGeom prst="rect">
            <a:avLst/>
          </a:prstGeom>
          <a:noFill/>
        </p:spPr>
        <p:txBody>
          <a:bodyPr wrap="square" lIns="0" tIns="0" rIns="0" bIns="0" rtlCol="0" anchor="t">
            <a:spAutoFit/>
          </a:bodyPr>
          <a:lstStyle/>
          <a:p>
            <a:pPr marL="0" indent="0" algn="l">
              <a:lnSpc>
                <a:spcPct val="138000"/>
              </a:lnSpc>
              <a:buNone/>
            </a:pPr>
            <a:r>
              <a:rPr lang="en-US" sz="1800" dirty="0">
                <a:solidFill>
                  <a:srgbClr val="333333"/>
                </a:solidFill>
                <a:latin typeface="思源黑体 CN" pitchFamily="34" charset="0"/>
                <a:ea typeface="思源黑体 CN" pitchFamily="34" charset="-122"/>
                <a:cs typeface="思源黑体 CN" pitchFamily="34" charset="-120"/>
              </a:rPr>
              <a:t>误判可能掩盖重大隐患，漏判可能导致重大事故</a:t>
            </a:r>
            <a:endParaRPr lang="en-US" sz="1800" dirty="0"/>
          </a:p>
        </p:txBody>
      </p:sp>
      <p:sp>
        <p:nvSpPr>
          <p:cNvPr id="16" name="Text 7"/>
          <p:cNvSpPr/>
          <p:nvPr/>
        </p:nvSpPr>
        <p:spPr>
          <a:xfrm>
            <a:off x="4709160" y="3825240"/>
            <a:ext cx="2782824" cy="945833"/>
          </a:xfrm>
          <a:prstGeom prst="rect">
            <a:avLst/>
          </a:prstGeom>
          <a:noFill/>
        </p:spPr>
        <p:txBody>
          <a:bodyPr wrap="square" lIns="0" tIns="0" rIns="0" bIns="0" rtlCol="0" anchor="t">
            <a:spAutoFit/>
          </a:bodyPr>
          <a:lstStyle/>
          <a:p>
            <a:pPr marL="0" indent="0" algn="l">
              <a:lnSpc>
                <a:spcPct val="138000"/>
              </a:lnSpc>
              <a:buNone/>
            </a:pPr>
            <a:r>
              <a:rPr lang="en-US" sz="1800" dirty="0">
                <a:solidFill>
                  <a:srgbClr val="333333"/>
                </a:solidFill>
                <a:latin typeface="思源黑体 CN" pitchFamily="34" charset="0"/>
                <a:ea typeface="思源黑体 CN" pitchFamily="34" charset="-122"/>
                <a:cs typeface="思源黑体 CN" pitchFamily="34" charset="-120"/>
              </a:rPr>
              <a:t>每一份测评记录表都是法律证据，必须真实、客观、可追溯</a:t>
            </a:r>
            <a:endParaRPr lang="en-US" sz="1800" dirty="0"/>
          </a:p>
        </p:txBody>
      </p:sp>
      <p:sp>
        <p:nvSpPr>
          <p:cNvPr id="17" name="Text 8"/>
          <p:cNvSpPr/>
          <p:nvPr/>
        </p:nvSpPr>
        <p:spPr>
          <a:xfrm>
            <a:off x="4709160" y="4968240"/>
            <a:ext cx="2782824" cy="945833"/>
          </a:xfrm>
          <a:prstGeom prst="rect">
            <a:avLst/>
          </a:prstGeom>
          <a:noFill/>
        </p:spPr>
        <p:txBody>
          <a:bodyPr wrap="square" lIns="0" tIns="0" rIns="0" bIns="0" rtlCol="0" anchor="t">
            <a:spAutoFit/>
          </a:bodyPr>
          <a:lstStyle/>
          <a:p>
            <a:pPr marL="0" indent="0" algn="l">
              <a:lnSpc>
                <a:spcPct val="138000"/>
              </a:lnSpc>
              <a:buNone/>
            </a:pPr>
            <a:r>
              <a:rPr lang="en-US" sz="1800" dirty="0">
                <a:solidFill>
                  <a:srgbClr val="333333"/>
                </a:solidFill>
                <a:latin typeface="思源黑体 CN" pitchFamily="34" charset="0"/>
                <a:ea typeface="思源黑体 CN" pitchFamily="34" charset="-122"/>
                <a:cs typeface="思源黑体 CN" pitchFamily="34" charset="-120"/>
              </a:rPr>
              <a:t>隐瞒问题和伪造数据，不仅要承担行政责任，还可能触犯刑法</a:t>
            </a:r>
            <a:endParaRPr lang="en-US" sz="1800" dirty="0"/>
          </a:p>
        </p:txBody>
      </p:sp>
      <p:pic>
        <p:nvPicPr>
          <p:cNvPr id="18" name="Image 7"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82440" y="1082040"/>
            <a:ext cx="3627120" cy="701040"/>
          </a:xfrm>
          <a:prstGeom prst="rect">
            <a:avLst/>
          </a:prstGeom>
          <a:effectLst>
            <a:outerShdw blurRad="387096000" dist="193548000" dir="-1" algn="bl" rotWithShape="0">
              <a:srgbClr val="000000">
                <a:alpha val="500000000"/>
              </a:srgbClr>
            </a:outerShdw>
          </a:effectLst>
        </p:spPr>
      </p:pic>
      <p:pic>
        <p:nvPicPr>
          <p:cNvPr id="19" name="Image 8"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87240" y="1249680"/>
            <a:ext cx="365760" cy="365760"/>
          </a:xfrm>
          <a:prstGeom prst="rect">
            <a:avLst/>
          </a:prstGeom>
        </p:spPr>
      </p:pic>
      <p:sp>
        <p:nvSpPr>
          <p:cNvPr id="20" name="Text 9"/>
          <p:cNvSpPr/>
          <p:nvPr/>
        </p:nvSpPr>
        <p:spPr>
          <a:xfrm>
            <a:off x="5074920" y="1203960"/>
            <a:ext cx="2538984" cy="388620"/>
          </a:xfrm>
          <a:prstGeom prst="rect">
            <a:avLst/>
          </a:prstGeom>
          <a:noFill/>
        </p:spPr>
        <p:txBody>
          <a:bodyPr wrap="none" lIns="0" tIns="0" rIns="0" bIns="0" rtlCol="0" anchor="t">
            <a:spAutoFit/>
          </a:bodyPr>
          <a:lstStyle/>
          <a:p>
            <a:pPr marL="0" indent="0" algn="ctr">
              <a:lnSpc>
                <a:spcPct val="100000"/>
              </a:lnSpc>
              <a:buNone/>
            </a:pPr>
            <a:r>
              <a:rPr lang="en-US" sz="2040" b="1" dirty="0">
                <a:solidFill>
                  <a:srgbClr val="FFFFFF"/>
                </a:solidFill>
                <a:latin typeface="思源黑体 CN Bold" pitchFamily="34" charset="0"/>
                <a:ea typeface="思源黑体 CN Bold" pitchFamily="34" charset="-122"/>
                <a:cs typeface="思源黑体 CN Bold" pitchFamily="34" charset="-120"/>
              </a:rPr>
              <a:t>客观准确 → 法治精神</a:t>
            </a:r>
            <a:endParaRPr lang="en-US" sz="2040" dirty="0"/>
          </a:p>
        </p:txBody>
      </p:sp>
      <p:pic>
        <p:nvPicPr>
          <p:cNvPr id="21" name="Image 9" descr="https://test.web.static.jianzeppt.com/ppt-temp-img3/e213a2527a8bcfe1b5274959e5fb7361.png?x-oss-process=image/resize,w_1440,h_800,m_lfit/format,png"/>
          <p:cNvPicPr>
            <a:picLocks noChangeAspect="1"/>
          </p:cNvPicPr>
          <p:nvPr/>
        </p:nvPicPr>
        <p:blipFill>
          <a:blip r:embed="rId4"/>
          <a:stretch>
            <a:fillRect/>
          </a:stretch>
        </p:blipFill>
        <p:spPr>
          <a:xfrm>
            <a:off x="8168640" y="1371600"/>
            <a:ext cx="3413760" cy="4876800"/>
          </a:xfrm>
          <a:prstGeom prst="rect">
            <a:avLst/>
          </a:prstGeom>
        </p:spPr>
      </p:pic>
      <p:sp>
        <p:nvSpPr>
          <p:cNvPr id="22" name="Text 10"/>
          <p:cNvSpPr/>
          <p:nvPr/>
        </p:nvSpPr>
        <p:spPr>
          <a:xfrm>
            <a:off x="8488680" y="2179320"/>
            <a:ext cx="2782824" cy="588645"/>
          </a:xfrm>
          <a:prstGeom prst="rect">
            <a:avLst/>
          </a:prstGeom>
          <a:noFill/>
        </p:spPr>
        <p:txBody>
          <a:bodyPr wrap="square" lIns="0" tIns="0" rIns="0" bIns="0" rtlCol="0" anchor="t">
            <a:spAutoFit/>
          </a:bodyPr>
          <a:lstStyle/>
          <a:p>
            <a:pPr marL="0" indent="0" algn="l">
              <a:lnSpc>
                <a:spcPct val="138000"/>
              </a:lnSpc>
              <a:buNone/>
            </a:pPr>
            <a:r>
              <a:rPr lang="en-US" sz="1680" dirty="0">
                <a:solidFill>
                  <a:srgbClr val="333333"/>
                </a:solidFill>
                <a:latin typeface="思源黑体 CN" pitchFamily="34" charset="0"/>
                <a:ea typeface="思源黑体 CN" pitchFamily="34" charset="-122"/>
                <a:cs typeface="思源黑体 CN" pitchFamily="34" charset="-120"/>
              </a:rPr>
              <a:t>你检查的不是“配置”，而是“社会责任”</a:t>
            </a:r>
            <a:endParaRPr lang="en-US" sz="1680" dirty="0"/>
          </a:p>
        </p:txBody>
      </p:sp>
      <p:sp>
        <p:nvSpPr>
          <p:cNvPr id="23" name="Text 11"/>
          <p:cNvSpPr/>
          <p:nvPr/>
        </p:nvSpPr>
        <p:spPr>
          <a:xfrm>
            <a:off x="8488680" y="2941320"/>
            <a:ext cx="2782824" cy="630555"/>
          </a:xfrm>
          <a:prstGeom prst="rect">
            <a:avLst/>
          </a:prstGeom>
          <a:noFill/>
        </p:spPr>
        <p:txBody>
          <a:bodyPr wrap="square" lIns="0" tIns="0" rIns="0" bIns="0" rtlCol="0" anchor="t">
            <a:spAutoFit/>
          </a:bodyPr>
          <a:lstStyle/>
          <a:p>
            <a:pPr marL="0" indent="0" algn="l">
              <a:lnSpc>
                <a:spcPct val="138000"/>
              </a:lnSpc>
              <a:buNone/>
            </a:pPr>
            <a:r>
              <a:rPr lang="en-US" sz="1800" dirty="0">
                <a:solidFill>
                  <a:srgbClr val="333333"/>
                </a:solidFill>
                <a:latin typeface="思源黑体 CN" pitchFamily="34" charset="0"/>
                <a:ea typeface="思源黑体 CN" pitchFamily="34" charset="-122"/>
                <a:cs typeface="思源黑体 CN" pitchFamily="34" charset="-120"/>
              </a:rPr>
              <a:t>一台服务器的配置漏洞，可能影响千万用户的信息安全</a:t>
            </a:r>
            <a:endParaRPr lang="en-US" sz="1800" dirty="0"/>
          </a:p>
        </p:txBody>
      </p:sp>
      <p:sp>
        <p:nvSpPr>
          <p:cNvPr id="24" name="Text 12"/>
          <p:cNvSpPr/>
          <p:nvPr/>
        </p:nvSpPr>
        <p:spPr>
          <a:xfrm>
            <a:off x="8488680" y="3992880"/>
            <a:ext cx="2782824" cy="588645"/>
          </a:xfrm>
          <a:prstGeom prst="rect">
            <a:avLst/>
          </a:prstGeom>
          <a:noFill/>
        </p:spPr>
        <p:txBody>
          <a:bodyPr wrap="square" lIns="0" tIns="0" rIns="0" bIns="0" rtlCol="0" anchor="t">
            <a:spAutoFit/>
          </a:bodyPr>
          <a:lstStyle/>
          <a:p>
            <a:pPr marL="0" indent="0" algn="l">
              <a:lnSpc>
                <a:spcPct val="138000"/>
              </a:lnSpc>
              <a:buNone/>
            </a:pPr>
            <a:r>
              <a:rPr lang="en-US" sz="1680" dirty="0">
                <a:solidFill>
                  <a:srgbClr val="333333"/>
                </a:solidFill>
                <a:latin typeface="思源黑体 CN" pitchFamily="34" charset="0"/>
                <a:ea typeface="思源黑体 CN" pitchFamily="34" charset="-122"/>
                <a:cs typeface="思源黑体 CN" pitchFamily="34" charset="-120"/>
              </a:rPr>
              <a:t>测评师的使命：用精准的检查，守护数字世界的安全底线</a:t>
            </a:r>
            <a:endParaRPr lang="en-US" sz="1680" dirty="0"/>
          </a:p>
        </p:txBody>
      </p:sp>
      <p:sp>
        <p:nvSpPr>
          <p:cNvPr id="25" name="Text 13"/>
          <p:cNvSpPr/>
          <p:nvPr/>
        </p:nvSpPr>
        <p:spPr>
          <a:xfrm>
            <a:off x="8488680" y="4978400"/>
            <a:ext cx="2782824" cy="763905"/>
          </a:xfrm>
          <a:prstGeom prst="rect">
            <a:avLst/>
          </a:prstGeom>
          <a:noFill/>
        </p:spPr>
        <p:txBody>
          <a:bodyPr wrap="square" lIns="0" tIns="0" rIns="0" bIns="0" rtlCol="0" anchor="t">
            <a:spAutoFit/>
          </a:bodyPr>
          <a:lstStyle/>
          <a:p>
            <a:pPr marL="0" indent="0" algn="l">
              <a:lnSpc>
                <a:spcPct val="138000"/>
              </a:lnSpc>
              <a:buNone/>
            </a:pPr>
            <a:r>
              <a:rPr lang="en-US" dirty="0">
                <a:solidFill>
                  <a:srgbClr val="333333"/>
                </a:solidFill>
                <a:latin typeface="思源黑体 CN" pitchFamily="34" charset="0"/>
                <a:ea typeface="思源黑体 CN" pitchFamily="34" charset="-122"/>
                <a:cs typeface="思源黑体 CN" pitchFamily="34" charset="-120"/>
              </a:rPr>
              <a:t>这就是信息安全从业者的“工匠精神”与“家国情怀”</a:t>
            </a:r>
            <a:endParaRPr lang="en-US" dirty="0">
              <a:solidFill>
                <a:srgbClr val="333333"/>
              </a:solidFill>
              <a:latin typeface="思源黑体 CN" pitchFamily="34" charset="0"/>
              <a:ea typeface="思源黑体 CN" pitchFamily="34" charset="-122"/>
              <a:cs typeface="思源黑体 CN" pitchFamily="34" charset="-120"/>
            </a:endParaRPr>
          </a:p>
        </p:txBody>
      </p:sp>
      <p:pic>
        <p:nvPicPr>
          <p:cNvPr id="26" name="Image 10"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61960" y="1082040"/>
            <a:ext cx="3627120" cy="701040"/>
          </a:xfrm>
          <a:prstGeom prst="rect">
            <a:avLst/>
          </a:prstGeom>
          <a:effectLst>
            <a:outerShdw blurRad="387096000" dist="193548000" dir="-1" algn="bl" rotWithShape="0">
              <a:srgbClr val="000000">
                <a:alpha val="500000000"/>
              </a:srgbClr>
            </a:outerShdw>
          </a:effectLst>
        </p:spPr>
      </p:pic>
      <p:pic>
        <p:nvPicPr>
          <p:cNvPr id="27" name="Image 11"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366760" y="1249680"/>
            <a:ext cx="365760" cy="365760"/>
          </a:xfrm>
          <a:prstGeom prst="rect">
            <a:avLst/>
          </a:prstGeom>
        </p:spPr>
      </p:pic>
      <p:sp>
        <p:nvSpPr>
          <p:cNvPr id="28" name="Text 14"/>
          <p:cNvSpPr/>
          <p:nvPr/>
        </p:nvSpPr>
        <p:spPr>
          <a:xfrm>
            <a:off x="8854440" y="1203960"/>
            <a:ext cx="2538984" cy="388620"/>
          </a:xfrm>
          <a:prstGeom prst="rect">
            <a:avLst/>
          </a:prstGeom>
          <a:noFill/>
        </p:spPr>
        <p:txBody>
          <a:bodyPr wrap="none" lIns="0" tIns="0" rIns="0" bIns="0" rtlCol="0" anchor="t">
            <a:spAutoFit/>
          </a:bodyPr>
          <a:lstStyle/>
          <a:p>
            <a:pPr marL="0" indent="0" algn="ctr">
              <a:lnSpc>
                <a:spcPct val="100000"/>
              </a:lnSpc>
              <a:buNone/>
            </a:pPr>
            <a:r>
              <a:rPr lang="en-US" sz="2040" b="1" dirty="0">
                <a:solidFill>
                  <a:srgbClr val="FFFFFF"/>
                </a:solidFill>
                <a:latin typeface="思源黑体 CN Bold" pitchFamily="34" charset="0"/>
                <a:ea typeface="思源黑体 CN Bold" pitchFamily="34" charset="-122"/>
                <a:cs typeface="思源黑体 CN Bold" pitchFamily="34" charset="-120"/>
              </a:rPr>
              <a:t>职业使命 → 社会担当</a:t>
            </a:r>
            <a:endParaRPr lang="en-US" sz="204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知识点回顾</a:t>
            </a:r>
            <a:endParaRPr lang="en-US" sz="2760" dirty="0"/>
          </a:p>
        </p:txBody>
      </p:sp>
      <p:pic>
        <p:nvPicPr>
          <p:cNvPr id="6" name="Image 3" descr="https://test.web.static.jianzeppt.com/ppt-temp-img3/e1785e3f5cdebe3bef7ed1669cf95f72.png?x-oss-process=image/resize,w_1440,h_800,m_lfit/format,png"/>
          <p:cNvPicPr>
            <a:picLocks noChangeAspect="1"/>
          </p:cNvPicPr>
          <p:nvPr/>
        </p:nvPicPr>
        <p:blipFill>
          <a:blip r:embed="rId4"/>
          <a:stretch>
            <a:fillRect/>
          </a:stretch>
        </p:blipFill>
        <p:spPr>
          <a:xfrm>
            <a:off x="6080760" y="1338580"/>
            <a:ext cx="30480" cy="304800"/>
          </a:xfrm>
          <a:prstGeom prst="rect">
            <a:avLst/>
          </a:prstGeom>
        </p:spPr>
      </p:pic>
      <p:pic>
        <p:nvPicPr>
          <p:cNvPr id="7" name="Image 4" descr="https://test.web.static.jianzeppt.com/ppt-temp-img3/a645b6139d8cd8cfe0a70f252e7b3897.png?x-oss-process=image/resize,w_1440,h_800,m_lfit/format,png"/>
          <p:cNvPicPr>
            <a:picLocks noChangeAspect="1"/>
          </p:cNvPicPr>
          <p:nvPr/>
        </p:nvPicPr>
        <p:blipFill>
          <a:blip r:embed="rId5"/>
          <a:stretch>
            <a:fillRect/>
          </a:stretch>
        </p:blipFill>
        <p:spPr>
          <a:xfrm>
            <a:off x="609600" y="1643380"/>
            <a:ext cx="10972800" cy="30480"/>
          </a:xfrm>
          <a:prstGeom prst="rect">
            <a:avLst/>
          </a:prstGeom>
        </p:spPr>
      </p:pic>
      <p:pic>
        <p:nvPicPr>
          <p:cNvPr id="8" name="Image 5"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206240" y="469900"/>
            <a:ext cx="3794760" cy="929640"/>
          </a:xfrm>
          <a:prstGeom prst="rect">
            <a:avLst/>
          </a:prstGeom>
          <a:effectLst>
            <a:outerShdw blurRad="1161288000" dist="774192000" dir="-1" algn="bl" rotWithShape="0">
              <a:srgbClr val="000000">
                <a:alpha val="1000000000"/>
              </a:srgbClr>
            </a:outerShdw>
          </a:effectLst>
        </p:spPr>
      </p:pic>
      <p:sp>
        <p:nvSpPr>
          <p:cNvPr id="9" name="Text 1"/>
          <p:cNvSpPr/>
          <p:nvPr/>
        </p:nvSpPr>
        <p:spPr>
          <a:xfrm>
            <a:off x="4754880" y="588010"/>
            <a:ext cx="2706624" cy="502920"/>
          </a:xfrm>
          <a:prstGeom prst="rect">
            <a:avLst/>
          </a:prstGeom>
          <a:noFill/>
        </p:spPr>
        <p:txBody>
          <a:bodyPr wrap="none" lIns="0" tIns="0" rIns="0" bIns="0" rtlCol="0" anchor="t">
            <a:spAutoFit/>
          </a:bodyPr>
          <a:lstStyle/>
          <a:p>
            <a:pPr marL="0" indent="0" algn="l">
              <a:lnSpc>
                <a:spcPct val="150000"/>
              </a:lnSpc>
              <a:buNone/>
            </a:pPr>
            <a:r>
              <a:rPr lang="en-US" sz="2640" b="1" dirty="0">
                <a:solidFill>
                  <a:srgbClr val="FFFFFF"/>
                </a:solidFill>
                <a:latin typeface="思源黑体 CN Bold" pitchFamily="34" charset="0"/>
                <a:ea typeface="思源黑体 CN Bold" pitchFamily="34" charset="-122"/>
                <a:cs typeface="思源黑体 CN Bold" pitchFamily="34" charset="-120"/>
              </a:rPr>
              <a:t>主机安全基线核查</a:t>
            </a:r>
            <a:endParaRPr lang="en-US" sz="2640" dirty="0"/>
          </a:p>
        </p:txBody>
      </p:sp>
      <p:pic>
        <p:nvPicPr>
          <p:cNvPr id="10" name="Image 6"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9600" y="2092325"/>
            <a:ext cx="5242560" cy="914400"/>
          </a:xfrm>
          <a:prstGeom prst="rect">
            <a:avLst/>
          </a:prstGeom>
          <a:effectLst>
            <a:outerShdw blurRad="387096000" dist="193548000" dir="-1" algn="bl" rotWithShape="0">
              <a:srgbClr val="000000">
                <a:alpha val="500000000"/>
              </a:srgbClr>
            </a:outerShdw>
          </a:effectLst>
        </p:spPr>
      </p:pic>
      <p:pic>
        <p:nvPicPr>
          <p:cNvPr id="11" name="Image 7"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07720" y="2259965"/>
            <a:ext cx="304800" cy="304800"/>
          </a:xfrm>
          <a:prstGeom prst="rect">
            <a:avLst/>
          </a:prstGeom>
        </p:spPr>
      </p:pic>
      <p:sp>
        <p:nvSpPr>
          <p:cNvPr id="12" name="Text 2"/>
          <p:cNvSpPr/>
          <p:nvPr/>
        </p:nvSpPr>
        <p:spPr>
          <a:xfrm>
            <a:off x="899160" y="2275205"/>
            <a:ext cx="131064" cy="259080"/>
          </a:xfrm>
          <a:prstGeom prst="rect">
            <a:avLst/>
          </a:prstGeom>
          <a:noFill/>
        </p:spPr>
        <p:txBody>
          <a:bodyPr wrap="none" lIns="0" tIns="0" rIns="0" bIns="0" rtlCol="0" anchor="ctr"/>
          <a:lstStyle/>
          <a:p>
            <a:pPr marL="0" indent="0" algn="ctr">
              <a:lnSpc>
                <a:spcPct val="150000"/>
              </a:lnSpc>
              <a:buNone/>
            </a:pPr>
            <a:r>
              <a:rPr lang="en-US" sz="1440" b="1" dirty="0">
                <a:solidFill>
                  <a:srgbClr val="FFFFFF"/>
                </a:solidFill>
                <a:latin typeface="思源黑体 CN Bold" pitchFamily="34" charset="0"/>
                <a:ea typeface="思源黑体 CN Bold" pitchFamily="34" charset="-122"/>
                <a:cs typeface="思源黑体 CN Bold" pitchFamily="34" charset="-120"/>
              </a:rPr>
              <a:t>1</a:t>
            </a:r>
            <a:endParaRPr lang="en-US" sz="1440" dirty="0"/>
          </a:p>
        </p:txBody>
      </p:sp>
      <p:sp>
        <p:nvSpPr>
          <p:cNvPr id="13" name="Text 3"/>
          <p:cNvSpPr/>
          <p:nvPr/>
        </p:nvSpPr>
        <p:spPr>
          <a:xfrm>
            <a:off x="1234440" y="2214245"/>
            <a:ext cx="2478024" cy="396240"/>
          </a:xfrm>
          <a:prstGeom prst="rect">
            <a:avLst/>
          </a:prstGeom>
          <a:noFill/>
        </p:spPr>
        <p:txBody>
          <a:bodyPr wrap="none" lIns="0" tIns="0" rIns="0" bIns="0" rtlCol="0" anchor="ctr"/>
          <a:lstStyle/>
          <a:p>
            <a:pPr marL="0" indent="0" algn="l">
              <a:lnSpc>
                <a:spcPct val="150000"/>
              </a:lnSpc>
              <a:buNone/>
            </a:pPr>
            <a:r>
              <a:rPr lang="en-US" sz="2160" b="1" dirty="0">
                <a:solidFill>
                  <a:srgbClr val="143966"/>
                </a:solidFill>
                <a:latin typeface="思源黑体 CN Bold" pitchFamily="34" charset="0"/>
                <a:ea typeface="思源黑体 CN Bold" pitchFamily="34" charset="-122"/>
                <a:cs typeface="思源黑体 CN Bold" pitchFamily="34" charset="-120"/>
              </a:rPr>
              <a:t>一、安全基线的定义</a:t>
            </a:r>
            <a:endParaRPr lang="en-US" sz="2160" dirty="0"/>
          </a:p>
        </p:txBody>
      </p:sp>
      <p:sp>
        <p:nvSpPr>
          <p:cNvPr id="14" name="Text 4"/>
          <p:cNvSpPr/>
          <p:nvPr/>
        </p:nvSpPr>
        <p:spPr>
          <a:xfrm>
            <a:off x="1234440" y="2610485"/>
            <a:ext cx="44287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374051"/>
                </a:solidFill>
                <a:latin typeface="思源黑体 CN" pitchFamily="34" charset="0"/>
                <a:ea typeface="思源黑体 CN" pitchFamily="34" charset="-122"/>
                <a:cs typeface="思源黑体 CN" pitchFamily="34" charset="-120"/>
              </a:rPr>
              <a:t>最低安全配置标准</a:t>
            </a:r>
            <a:endParaRPr lang="en-US" sz="1680" dirty="0"/>
          </a:p>
        </p:txBody>
      </p:sp>
      <p:pic>
        <p:nvPicPr>
          <p:cNvPr id="15" name="Image 8"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9600" y="3189605"/>
            <a:ext cx="5242560" cy="914400"/>
          </a:xfrm>
          <a:prstGeom prst="rect">
            <a:avLst/>
          </a:prstGeom>
          <a:effectLst>
            <a:outerShdw blurRad="387096000" dist="193548000" dir="-1" algn="bl" rotWithShape="0">
              <a:srgbClr val="000000">
                <a:alpha val="500000000"/>
              </a:srgbClr>
            </a:outerShdw>
          </a:effectLst>
        </p:spPr>
      </p:pic>
      <p:pic>
        <p:nvPicPr>
          <p:cNvPr id="16" name="Image 9"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07720" y="3326765"/>
            <a:ext cx="304800" cy="304800"/>
          </a:xfrm>
          <a:prstGeom prst="rect">
            <a:avLst/>
          </a:prstGeom>
        </p:spPr>
      </p:pic>
      <p:sp>
        <p:nvSpPr>
          <p:cNvPr id="17" name="Text 5"/>
          <p:cNvSpPr/>
          <p:nvPr/>
        </p:nvSpPr>
        <p:spPr>
          <a:xfrm>
            <a:off x="899160" y="3342005"/>
            <a:ext cx="131064" cy="259080"/>
          </a:xfrm>
          <a:prstGeom prst="rect">
            <a:avLst/>
          </a:prstGeom>
          <a:noFill/>
        </p:spPr>
        <p:txBody>
          <a:bodyPr wrap="none" lIns="0" tIns="0" rIns="0" bIns="0" rtlCol="0" anchor="ctr"/>
          <a:lstStyle/>
          <a:p>
            <a:pPr marL="0" indent="0" algn="ctr">
              <a:lnSpc>
                <a:spcPct val="150000"/>
              </a:lnSpc>
              <a:buNone/>
            </a:pPr>
            <a:r>
              <a:rPr lang="en-US" sz="1440" b="1" dirty="0">
                <a:solidFill>
                  <a:srgbClr val="FFFFFF"/>
                </a:solidFill>
                <a:latin typeface="思源黑体 CN Bold" pitchFamily="34" charset="0"/>
                <a:ea typeface="思源黑体 CN Bold" pitchFamily="34" charset="-122"/>
                <a:cs typeface="思源黑体 CN Bold" pitchFamily="34" charset="-120"/>
              </a:rPr>
              <a:t>2</a:t>
            </a:r>
            <a:endParaRPr lang="en-US" sz="1440" dirty="0"/>
          </a:p>
        </p:txBody>
      </p:sp>
      <p:sp>
        <p:nvSpPr>
          <p:cNvPr id="18" name="Text 6"/>
          <p:cNvSpPr/>
          <p:nvPr/>
        </p:nvSpPr>
        <p:spPr>
          <a:xfrm>
            <a:off x="1234440" y="3218180"/>
            <a:ext cx="2645664" cy="396240"/>
          </a:xfrm>
          <a:prstGeom prst="rect">
            <a:avLst/>
          </a:prstGeom>
          <a:noFill/>
        </p:spPr>
        <p:txBody>
          <a:bodyPr wrap="none" lIns="0" tIns="0" rIns="0" bIns="0" rtlCol="0" anchor="ctr"/>
          <a:lstStyle/>
          <a:p>
            <a:pPr marL="0" indent="0" algn="l">
              <a:lnSpc>
                <a:spcPct val="150000"/>
              </a:lnSpc>
              <a:buNone/>
            </a:pPr>
            <a:r>
              <a:rPr lang="en-US" sz="2160" b="1" dirty="0">
                <a:solidFill>
                  <a:srgbClr val="143966"/>
                </a:solidFill>
                <a:latin typeface="思源黑体 CN Bold" pitchFamily="34" charset="0"/>
                <a:ea typeface="思源黑体 CN Bold" pitchFamily="34" charset="-122"/>
                <a:cs typeface="思源黑体 CN Bold" pitchFamily="34" charset="-120"/>
              </a:rPr>
              <a:t>二、8.1.4.1 身份鉴别</a:t>
            </a:r>
            <a:endParaRPr lang="en-US" sz="2160" dirty="0"/>
          </a:p>
        </p:txBody>
      </p:sp>
      <p:pic>
        <p:nvPicPr>
          <p:cNvPr id="19" name="Image 10"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977640" y="3281045"/>
            <a:ext cx="609600" cy="381000"/>
          </a:xfrm>
          <a:prstGeom prst="rect">
            <a:avLst/>
          </a:prstGeom>
        </p:spPr>
      </p:pic>
      <p:sp>
        <p:nvSpPr>
          <p:cNvPr id="20" name="Text 7"/>
          <p:cNvSpPr/>
          <p:nvPr/>
        </p:nvSpPr>
        <p:spPr>
          <a:xfrm>
            <a:off x="4069080" y="3311525"/>
            <a:ext cx="43586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EF4D44"/>
                </a:solidFill>
                <a:latin typeface="思源黑体 CN Bold" pitchFamily="34" charset="0"/>
                <a:ea typeface="思源黑体 CN Bold" pitchFamily="34" charset="-122"/>
                <a:cs typeface="思源黑体 CN Bold" pitchFamily="34" charset="-120"/>
              </a:rPr>
              <a:t>重点</a:t>
            </a:r>
            <a:endParaRPr lang="en-US" sz="1680" dirty="0"/>
          </a:p>
        </p:txBody>
      </p:sp>
      <p:sp>
        <p:nvSpPr>
          <p:cNvPr id="21" name="Text 8"/>
          <p:cNvSpPr/>
          <p:nvPr/>
        </p:nvSpPr>
        <p:spPr>
          <a:xfrm>
            <a:off x="1234440" y="3615690"/>
            <a:ext cx="4428744" cy="492125"/>
          </a:xfrm>
          <a:prstGeom prst="rect">
            <a:avLst/>
          </a:prstGeom>
          <a:noFill/>
        </p:spPr>
        <p:txBody>
          <a:bodyPr wrap="square" lIns="0" tIns="0" rIns="0" bIns="0" rtlCol="0" anchor="t">
            <a:spAutoFit/>
          </a:bodyPr>
          <a:lstStyle/>
          <a:p>
            <a:pPr marL="0" indent="0" algn="l">
              <a:lnSpc>
                <a:spcPct val="100000"/>
              </a:lnSpc>
              <a:buNone/>
            </a:pPr>
            <a:r>
              <a:rPr lang="en-US" sz="1600" dirty="0">
                <a:solidFill>
                  <a:srgbClr val="374051"/>
                </a:solidFill>
                <a:latin typeface="思源黑体 CN" pitchFamily="34" charset="0"/>
                <a:ea typeface="思源黑体 CN" pitchFamily="34" charset="-122"/>
                <a:cs typeface="思源黑体 CN" pitchFamily="34" charset="-120"/>
              </a:rPr>
              <a:t>密码复杂度策略、密码长度与期限、登录失败锁定、远程管理加密</a:t>
            </a:r>
            <a:endParaRPr lang="en-US" sz="1600" dirty="0">
              <a:solidFill>
                <a:srgbClr val="374051"/>
              </a:solidFill>
              <a:latin typeface="思源黑体 CN" pitchFamily="34" charset="0"/>
              <a:ea typeface="思源黑体 CN" pitchFamily="34" charset="-122"/>
              <a:cs typeface="思源黑体 CN" pitchFamily="34" charset="-120"/>
            </a:endParaRPr>
          </a:p>
        </p:txBody>
      </p:sp>
      <p:pic>
        <p:nvPicPr>
          <p:cNvPr id="22" name="Image 11"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9600" y="4286885"/>
            <a:ext cx="5242560" cy="914400"/>
          </a:xfrm>
          <a:prstGeom prst="rect">
            <a:avLst/>
          </a:prstGeom>
          <a:effectLst>
            <a:outerShdw blurRad="387096000" dist="193548000" dir="-1" algn="bl" rotWithShape="0">
              <a:srgbClr val="000000">
                <a:alpha val="500000000"/>
              </a:srgbClr>
            </a:outerShdw>
          </a:effectLst>
        </p:spPr>
      </p:pic>
      <p:pic>
        <p:nvPicPr>
          <p:cNvPr id="23" name="Image 12"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07720" y="4424045"/>
            <a:ext cx="304800" cy="304800"/>
          </a:xfrm>
          <a:prstGeom prst="rect">
            <a:avLst/>
          </a:prstGeom>
        </p:spPr>
      </p:pic>
      <p:sp>
        <p:nvSpPr>
          <p:cNvPr id="24" name="Text 9"/>
          <p:cNvSpPr/>
          <p:nvPr/>
        </p:nvSpPr>
        <p:spPr>
          <a:xfrm>
            <a:off x="899160" y="4439285"/>
            <a:ext cx="131064" cy="259080"/>
          </a:xfrm>
          <a:prstGeom prst="rect">
            <a:avLst/>
          </a:prstGeom>
          <a:noFill/>
        </p:spPr>
        <p:txBody>
          <a:bodyPr wrap="none" lIns="0" tIns="0" rIns="0" bIns="0" rtlCol="0" anchor="ctr"/>
          <a:lstStyle/>
          <a:p>
            <a:pPr marL="0" indent="0" algn="ctr">
              <a:lnSpc>
                <a:spcPct val="150000"/>
              </a:lnSpc>
              <a:buNone/>
            </a:pPr>
            <a:r>
              <a:rPr lang="en-US" sz="1440" b="1" dirty="0">
                <a:solidFill>
                  <a:srgbClr val="FFFFFF"/>
                </a:solidFill>
                <a:latin typeface="思源黑体 CN Bold" pitchFamily="34" charset="0"/>
                <a:ea typeface="思源黑体 CN Bold" pitchFamily="34" charset="-122"/>
                <a:cs typeface="思源黑体 CN Bold" pitchFamily="34" charset="-120"/>
              </a:rPr>
              <a:t>3</a:t>
            </a:r>
            <a:endParaRPr lang="en-US" sz="1440" dirty="0"/>
          </a:p>
        </p:txBody>
      </p:sp>
      <p:sp>
        <p:nvSpPr>
          <p:cNvPr id="25" name="Text 10"/>
          <p:cNvSpPr/>
          <p:nvPr/>
        </p:nvSpPr>
        <p:spPr>
          <a:xfrm>
            <a:off x="1234440" y="4363085"/>
            <a:ext cx="2645664" cy="396240"/>
          </a:xfrm>
          <a:prstGeom prst="rect">
            <a:avLst/>
          </a:prstGeom>
          <a:noFill/>
        </p:spPr>
        <p:txBody>
          <a:bodyPr wrap="none" lIns="0" tIns="0" rIns="0" bIns="0" rtlCol="0" anchor="ctr"/>
          <a:lstStyle/>
          <a:p>
            <a:pPr marL="0" indent="0" algn="l">
              <a:lnSpc>
                <a:spcPct val="150000"/>
              </a:lnSpc>
              <a:buNone/>
            </a:pPr>
            <a:r>
              <a:rPr lang="en-US" sz="2160" b="1" dirty="0">
                <a:solidFill>
                  <a:srgbClr val="143966"/>
                </a:solidFill>
                <a:latin typeface="思源黑体 CN Bold" pitchFamily="34" charset="0"/>
                <a:ea typeface="思源黑体 CN Bold" pitchFamily="34" charset="-122"/>
                <a:cs typeface="思源黑体 CN Bold" pitchFamily="34" charset="-120"/>
              </a:rPr>
              <a:t>三、8.1.4.2 访问控制</a:t>
            </a:r>
            <a:endParaRPr lang="en-US" sz="2160" dirty="0"/>
          </a:p>
        </p:txBody>
      </p:sp>
      <p:pic>
        <p:nvPicPr>
          <p:cNvPr id="26" name="Image 13"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977640" y="4378325"/>
            <a:ext cx="609600" cy="381000"/>
          </a:xfrm>
          <a:prstGeom prst="rect">
            <a:avLst/>
          </a:prstGeom>
        </p:spPr>
      </p:pic>
      <p:sp>
        <p:nvSpPr>
          <p:cNvPr id="27" name="Text 11"/>
          <p:cNvSpPr/>
          <p:nvPr/>
        </p:nvSpPr>
        <p:spPr>
          <a:xfrm>
            <a:off x="4069080" y="4408805"/>
            <a:ext cx="43586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EF4D44"/>
                </a:solidFill>
                <a:latin typeface="思源黑体 CN Bold" pitchFamily="34" charset="0"/>
                <a:ea typeface="思源黑体 CN Bold" pitchFamily="34" charset="-122"/>
                <a:cs typeface="思源黑体 CN Bold" pitchFamily="34" charset="-120"/>
              </a:rPr>
              <a:t>重点</a:t>
            </a:r>
            <a:endParaRPr lang="en-US" sz="1680" dirty="0"/>
          </a:p>
        </p:txBody>
      </p:sp>
      <p:sp>
        <p:nvSpPr>
          <p:cNvPr id="28" name="Text 12"/>
          <p:cNvSpPr/>
          <p:nvPr/>
        </p:nvSpPr>
        <p:spPr>
          <a:xfrm>
            <a:off x="1234440" y="4728845"/>
            <a:ext cx="4428744" cy="492125"/>
          </a:xfrm>
          <a:prstGeom prst="rect">
            <a:avLst/>
          </a:prstGeom>
          <a:noFill/>
        </p:spPr>
        <p:txBody>
          <a:bodyPr wrap="square" lIns="0" tIns="0" rIns="0" bIns="0" rtlCol="0" anchor="t">
            <a:spAutoFit/>
          </a:bodyPr>
          <a:lstStyle/>
          <a:p>
            <a:pPr marL="0" indent="0" algn="l">
              <a:lnSpc>
                <a:spcPct val="100000"/>
              </a:lnSpc>
              <a:buNone/>
            </a:pPr>
            <a:r>
              <a:rPr lang="en-US" sz="1600" dirty="0">
                <a:solidFill>
                  <a:srgbClr val="374051"/>
                </a:solidFill>
                <a:latin typeface="思源黑体 CN" pitchFamily="34" charset="0"/>
                <a:ea typeface="思源黑体 CN" pitchFamily="34" charset="-122"/>
                <a:cs typeface="思源黑体 CN" pitchFamily="34" charset="-120"/>
              </a:rPr>
              <a:t>默认账户处理、多余账户清理、最小权限原则、权限分离</a:t>
            </a:r>
            <a:endParaRPr lang="en-US" sz="1600" dirty="0">
              <a:solidFill>
                <a:srgbClr val="374051"/>
              </a:solidFill>
              <a:latin typeface="思源黑体 CN" pitchFamily="34" charset="0"/>
              <a:ea typeface="思源黑体 CN" pitchFamily="34" charset="-122"/>
              <a:cs typeface="思源黑体 CN" pitchFamily="34" charset="-120"/>
            </a:endParaRPr>
          </a:p>
        </p:txBody>
      </p:sp>
      <p:pic>
        <p:nvPicPr>
          <p:cNvPr id="29" name="Image 14"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9600" y="5384165"/>
            <a:ext cx="5242560" cy="914400"/>
          </a:xfrm>
          <a:prstGeom prst="rect">
            <a:avLst/>
          </a:prstGeom>
          <a:effectLst>
            <a:outerShdw blurRad="387096000" dist="193548000" dir="-1" algn="bl" rotWithShape="0">
              <a:srgbClr val="000000">
                <a:alpha val="500000000"/>
              </a:srgbClr>
            </a:outerShdw>
          </a:effectLst>
        </p:spPr>
      </p:pic>
      <p:pic>
        <p:nvPicPr>
          <p:cNvPr id="30" name="Image 1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07720" y="5551805"/>
            <a:ext cx="304800" cy="304800"/>
          </a:xfrm>
          <a:prstGeom prst="rect">
            <a:avLst/>
          </a:prstGeom>
        </p:spPr>
      </p:pic>
      <p:sp>
        <p:nvSpPr>
          <p:cNvPr id="31" name="Text 13"/>
          <p:cNvSpPr/>
          <p:nvPr/>
        </p:nvSpPr>
        <p:spPr>
          <a:xfrm>
            <a:off x="899160" y="5567045"/>
            <a:ext cx="131064" cy="259080"/>
          </a:xfrm>
          <a:prstGeom prst="rect">
            <a:avLst/>
          </a:prstGeom>
          <a:noFill/>
        </p:spPr>
        <p:txBody>
          <a:bodyPr wrap="none" lIns="0" tIns="0" rIns="0" bIns="0" rtlCol="0" anchor="ctr"/>
          <a:lstStyle/>
          <a:p>
            <a:pPr marL="0" indent="0" algn="ctr">
              <a:lnSpc>
                <a:spcPct val="150000"/>
              </a:lnSpc>
              <a:buNone/>
            </a:pPr>
            <a:r>
              <a:rPr lang="en-US" sz="1440" b="1" dirty="0">
                <a:solidFill>
                  <a:srgbClr val="FFFFFF"/>
                </a:solidFill>
                <a:latin typeface="思源黑体 CN Bold" pitchFamily="34" charset="0"/>
                <a:ea typeface="思源黑体 CN Bold" pitchFamily="34" charset="-122"/>
                <a:cs typeface="思源黑体 CN Bold" pitchFamily="34" charset="-120"/>
              </a:rPr>
              <a:t>4</a:t>
            </a:r>
            <a:endParaRPr lang="en-US" sz="1440" dirty="0"/>
          </a:p>
        </p:txBody>
      </p:sp>
      <p:sp>
        <p:nvSpPr>
          <p:cNvPr id="32" name="Text 14"/>
          <p:cNvSpPr/>
          <p:nvPr/>
        </p:nvSpPr>
        <p:spPr>
          <a:xfrm>
            <a:off x="1234440" y="5506085"/>
            <a:ext cx="2645664" cy="396240"/>
          </a:xfrm>
          <a:prstGeom prst="rect">
            <a:avLst/>
          </a:prstGeom>
          <a:noFill/>
        </p:spPr>
        <p:txBody>
          <a:bodyPr wrap="none" lIns="0" tIns="0" rIns="0" bIns="0" rtlCol="0" anchor="ctr"/>
          <a:lstStyle/>
          <a:p>
            <a:pPr marL="0" indent="0" algn="l">
              <a:lnSpc>
                <a:spcPct val="150000"/>
              </a:lnSpc>
              <a:buNone/>
            </a:pPr>
            <a:r>
              <a:rPr lang="en-US" sz="2160" b="1" dirty="0">
                <a:solidFill>
                  <a:srgbClr val="143966"/>
                </a:solidFill>
                <a:latin typeface="思源黑体 CN Bold" pitchFamily="34" charset="0"/>
                <a:ea typeface="思源黑体 CN Bold" pitchFamily="34" charset="-122"/>
                <a:cs typeface="思源黑体 CN Bold" pitchFamily="34" charset="-120"/>
              </a:rPr>
              <a:t>四、8.1.4.3 安全审计</a:t>
            </a:r>
            <a:endParaRPr lang="en-US" sz="2160" dirty="0"/>
          </a:p>
        </p:txBody>
      </p:sp>
      <p:sp>
        <p:nvSpPr>
          <p:cNvPr id="33" name="Text 15"/>
          <p:cNvSpPr/>
          <p:nvPr/>
        </p:nvSpPr>
        <p:spPr>
          <a:xfrm>
            <a:off x="1234440" y="5902325"/>
            <a:ext cx="44287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FFFFFF"/>
                </a:solidFill>
                <a:latin typeface="思源黑体 CN" pitchFamily="34" charset="0"/>
                <a:ea typeface="思源黑体 CN" pitchFamily="34" charset="-122"/>
                <a:cs typeface="思源黑体 CN" pitchFamily="34" charset="-120"/>
              </a:rPr>
              <a:t>审计策略启用、审计日志保护、日志定期备份</a:t>
            </a:r>
            <a:endParaRPr lang="en-US" sz="1680" dirty="0"/>
          </a:p>
        </p:txBody>
      </p:sp>
      <p:pic>
        <p:nvPicPr>
          <p:cNvPr id="34" name="Image 16" descr="preencoded.png"/>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339840" y="2092325"/>
            <a:ext cx="5242560" cy="1097280"/>
          </a:xfrm>
          <a:prstGeom prst="rect">
            <a:avLst/>
          </a:prstGeom>
          <a:effectLst>
            <a:outerShdw blurRad="387096000" dist="193548000" dir="-1" algn="bl" rotWithShape="0">
              <a:srgbClr val="000000">
                <a:alpha val="500000000"/>
              </a:srgbClr>
            </a:outerShdw>
          </a:effectLst>
        </p:spPr>
      </p:pic>
      <p:pic>
        <p:nvPicPr>
          <p:cNvPr id="35" name="Image 17"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37960" y="2320925"/>
            <a:ext cx="304800" cy="304800"/>
          </a:xfrm>
          <a:prstGeom prst="rect">
            <a:avLst/>
          </a:prstGeom>
        </p:spPr>
      </p:pic>
      <p:sp>
        <p:nvSpPr>
          <p:cNvPr id="36" name="Text 16"/>
          <p:cNvSpPr/>
          <p:nvPr/>
        </p:nvSpPr>
        <p:spPr>
          <a:xfrm>
            <a:off x="6629400" y="2336165"/>
            <a:ext cx="131064" cy="259080"/>
          </a:xfrm>
          <a:prstGeom prst="rect">
            <a:avLst/>
          </a:prstGeom>
          <a:noFill/>
        </p:spPr>
        <p:txBody>
          <a:bodyPr wrap="none" lIns="0" tIns="0" rIns="0" bIns="0" rtlCol="0" anchor="ctr"/>
          <a:lstStyle/>
          <a:p>
            <a:pPr marL="0" indent="0" algn="ctr">
              <a:lnSpc>
                <a:spcPct val="150000"/>
              </a:lnSpc>
              <a:buNone/>
            </a:pPr>
            <a:r>
              <a:rPr lang="en-US" sz="1440" b="1" dirty="0">
                <a:solidFill>
                  <a:srgbClr val="FFFFFF"/>
                </a:solidFill>
                <a:latin typeface="思源黑体 CN Bold" pitchFamily="34" charset="0"/>
                <a:ea typeface="思源黑体 CN Bold" pitchFamily="34" charset="-122"/>
                <a:cs typeface="思源黑体 CN Bold" pitchFamily="34" charset="-120"/>
              </a:rPr>
              <a:t>5</a:t>
            </a:r>
            <a:endParaRPr lang="en-US" sz="1440" dirty="0"/>
          </a:p>
        </p:txBody>
      </p:sp>
      <p:sp>
        <p:nvSpPr>
          <p:cNvPr id="37" name="Text 17"/>
          <p:cNvSpPr/>
          <p:nvPr/>
        </p:nvSpPr>
        <p:spPr>
          <a:xfrm>
            <a:off x="6964680" y="2259965"/>
            <a:ext cx="2645664" cy="396240"/>
          </a:xfrm>
          <a:prstGeom prst="rect">
            <a:avLst/>
          </a:prstGeom>
          <a:noFill/>
        </p:spPr>
        <p:txBody>
          <a:bodyPr wrap="none" lIns="0" tIns="0" rIns="0" bIns="0" rtlCol="0" anchor="ctr"/>
          <a:lstStyle/>
          <a:p>
            <a:pPr marL="0" indent="0" algn="l">
              <a:lnSpc>
                <a:spcPct val="150000"/>
              </a:lnSpc>
              <a:buNone/>
            </a:pPr>
            <a:r>
              <a:rPr lang="en-US" sz="2160" b="1" dirty="0">
                <a:solidFill>
                  <a:srgbClr val="143966"/>
                </a:solidFill>
                <a:latin typeface="思源黑体 CN Bold" pitchFamily="34" charset="0"/>
                <a:ea typeface="思源黑体 CN Bold" pitchFamily="34" charset="-122"/>
                <a:cs typeface="思源黑体 CN Bold" pitchFamily="34" charset="-120"/>
              </a:rPr>
              <a:t>五、8.1.4.4 入侵防范</a:t>
            </a:r>
            <a:endParaRPr lang="en-US" sz="2160" dirty="0"/>
          </a:p>
        </p:txBody>
      </p:sp>
      <p:sp>
        <p:nvSpPr>
          <p:cNvPr id="38" name="Text 18"/>
          <p:cNvSpPr/>
          <p:nvPr/>
        </p:nvSpPr>
        <p:spPr>
          <a:xfrm>
            <a:off x="6964680" y="2717165"/>
            <a:ext cx="44287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374051"/>
                </a:solidFill>
                <a:latin typeface="思源黑体 CN" pitchFamily="34" charset="0"/>
                <a:ea typeface="思源黑体 CN" pitchFamily="34" charset="-122"/>
                <a:cs typeface="思源黑体 CN" pitchFamily="34" charset="-120"/>
              </a:rPr>
              <a:t>最小安装原则、关闭高危端口、补丁管理</a:t>
            </a:r>
            <a:endParaRPr lang="en-US" sz="1680" dirty="0"/>
          </a:p>
        </p:txBody>
      </p:sp>
      <p:pic>
        <p:nvPicPr>
          <p:cNvPr id="39" name="Image 18" descr="preencoded.png"/>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339840" y="3372485"/>
            <a:ext cx="5242560" cy="1097280"/>
          </a:xfrm>
          <a:prstGeom prst="rect">
            <a:avLst/>
          </a:prstGeom>
          <a:effectLst>
            <a:outerShdw blurRad="387096000" dist="193548000" dir="-1" algn="bl" rotWithShape="0">
              <a:srgbClr val="000000">
                <a:alpha val="500000000"/>
              </a:srgbClr>
            </a:outerShdw>
          </a:effectLst>
        </p:spPr>
      </p:pic>
      <p:pic>
        <p:nvPicPr>
          <p:cNvPr id="40" name="Image 19"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37960" y="3601085"/>
            <a:ext cx="304800" cy="304800"/>
          </a:xfrm>
          <a:prstGeom prst="rect">
            <a:avLst/>
          </a:prstGeom>
        </p:spPr>
      </p:pic>
      <p:sp>
        <p:nvSpPr>
          <p:cNvPr id="41" name="Text 19"/>
          <p:cNvSpPr/>
          <p:nvPr/>
        </p:nvSpPr>
        <p:spPr>
          <a:xfrm>
            <a:off x="6629400" y="3616325"/>
            <a:ext cx="131064" cy="259080"/>
          </a:xfrm>
          <a:prstGeom prst="rect">
            <a:avLst/>
          </a:prstGeom>
          <a:noFill/>
        </p:spPr>
        <p:txBody>
          <a:bodyPr wrap="none" lIns="0" tIns="0" rIns="0" bIns="0" rtlCol="0" anchor="ctr"/>
          <a:lstStyle/>
          <a:p>
            <a:pPr marL="0" indent="0" algn="ctr">
              <a:lnSpc>
                <a:spcPct val="150000"/>
              </a:lnSpc>
              <a:buNone/>
            </a:pPr>
            <a:r>
              <a:rPr lang="en-US" sz="1440" b="1" dirty="0">
                <a:solidFill>
                  <a:srgbClr val="FFFFFF"/>
                </a:solidFill>
                <a:latin typeface="思源黑体 CN Bold" pitchFamily="34" charset="0"/>
                <a:ea typeface="思源黑体 CN Bold" pitchFamily="34" charset="-122"/>
                <a:cs typeface="思源黑体 CN Bold" pitchFamily="34" charset="-120"/>
              </a:rPr>
              <a:t>6</a:t>
            </a:r>
            <a:endParaRPr lang="en-US" sz="1440" dirty="0"/>
          </a:p>
        </p:txBody>
      </p:sp>
      <p:sp>
        <p:nvSpPr>
          <p:cNvPr id="42" name="Text 20"/>
          <p:cNvSpPr/>
          <p:nvPr/>
        </p:nvSpPr>
        <p:spPr>
          <a:xfrm>
            <a:off x="6964680" y="3540125"/>
            <a:ext cx="3194304" cy="396240"/>
          </a:xfrm>
          <a:prstGeom prst="rect">
            <a:avLst/>
          </a:prstGeom>
          <a:noFill/>
        </p:spPr>
        <p:txBody>
          <a:bodyPr wrap="none" lIns="0" tIns="0" rIns="0" bIns="0" rtlCol="0" anchor="ctr"/>
          <a:lstStyle/>
          <a:p>
            <a:pPr marL="0" indent="0" algn="l">
              <a:lnSpc>
                <a:spcPct val="150000"/>
              </a:lnSpc>
              <a:buNone/>
            </a:pPr>
            <a:r>
              <a:rPr lang="en-US" sz="2160" b="1" dirty="0">
                <a:solidFill>
                  <a:srgbClr val="143966"/>
                </a:solidFill>
                <a:latin typeface="思源黑体 CN Bold" pitchFamily="34" charset="0"/>
                <a:ea typeface="思源黑体 CN Bold" pitchFamily="34" charset="-122"/>
                <a:cs typeface="思源黑体 CN Bold" pitchFamily="34" charset="-120"/>
              </a:rPr>
              <a:t>六、8.1.4.5 恶意代码防范</a:t>
            </a:r>
            <a:endParaRPr lang="en-US" sz="2160" dirty="0"/>
          </a:p>
        </p:txBody>
      </p:sp>
      <p:sp>
        <p:nvSpPr>
          <p:cNvPr id="43" name="Text 21"/>
          <p:cNvSpPr/>
          <p:nvPr/>
        </p:nvSpPr>
        <p:spPr>
          <a:xfrm>
            <a:off x="6964680" y="3997325"/>
            <a:ext cx="44287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374051"/>
                </a:solidFill>
                <a:latin typeface="思源黑体 CN" pitchFamily="34" charset="0"/>
                <a:ea typeface="思源黑体 CN" pitchFamily="34" charset="-122"/>
                <a:cs typeface="思源黑体 CN" pitchFamily="34" charset="-120"/>
              </a:rPr>
              <a:t>防病毒软件、病毒库更新</a:t>
            </a:r>
            <a:endParaRPr lang="en-US" sz="1680" dirty="0"/>
          </a:p>
        </p:txBody>
      </p:sp>
      <p:pic>
        <p:nvPicPr>
          <p:cNvPr id="44" name="Image 20" descr="preencoded.png"/>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339840" y="4652645"/>
            <a:ext cx="5242560" cy="1569720"/>
          </a:xfrm>
          <a:prstGeom prst="rect">
            <a:avLst/>
          </a:prstGeom>
          <a:effectLst>
            <a:outerShdw blurRad="387096000" dist="193548000" dir="-1" algn="bl" rotWithShape="0">
              <a:srgbClr val="000000">
                <a:alpha val="500000000"/>
              </a:srgbClr>
            </a:outerShdw>
          </a:effectLst>
        </p:spPr>
      </p:pic>
      <p:pic>
        <p:nvPicPr>
          <p:cNvPr id="45" name="Image 21"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37960" y="4881245"/>
            <a:ext cx="304800" cy="304800"/>
          </a:xfrm>
          <a:prstGeom prst="rect">
            <a:avLst/>
          </a:prstGeom>
        </p:spPr>
      </p:pic>
      <p:sp>
        <p:nvSpPr>
          <p:cNvPr id="46" name="Text 22"/>
          <p:cNvSpPr/>
          <p:nvPr/>
        </p:nvSpPr>
        <p:spPr>
          <a:xfrm>
            <a:off x="6629400" y="4896485"/>
            <a:ext cx="131064" cy="259080"/>
          </a:xfrm>
          <a:prstGeom prst="rect">
            <a:avLst/>
          </a:prstGeom>
          <a:noFill/>
        </p:spPr>
        <p:txBody>
          <a:bodyPr wrap="none" lIns="0" tIns="0" rIns="0" bIns="0" rtlCol="0" anchor="ctr"/>
          <a:lstStyle/>
          <a:p>
            <a:pPr marL="0" indent="0" algn="ctr">
              <a:lnSpc>
                <a:spcPct val="150000"/>
              </a:lnSpc>
              <a:buNone/>
            </a:pPr>
            <a:r>
              <a:rPr lang="en-US" sz="1440" b="1" dirty="0">
                <a:solidFill>
                  <a:srgbClr val="FFFFFF"/>
                </a:solidFill>
                <a:latin typeface="思源黑体 CN Bold" pitchFamily="34" charset="0"/>
                <a:ea typeface="思源黑体 CN Bold" pitchFamily="34" charset="-122"/>
                <a:cs typeface="思源黑体 CN Bold" pitchFamily="34" charset="-120"/>
              </a:rPr>
              <a:t>7</a:t>
            </a:r>
            <a:endParaRPr lang="en-US" sz="1440" dirty="0"/>
          </a:p>
        </p:txBody>
      </p:sp>
      <p:sp>
        <p:nvSpPr>
          <p:cNvPr id="47" name="Text 23"/>
          <p:cNvSpPr/>
          <p:nvPr/>
        </p:nvSpPr>
        <p:spPr>
          <a:xfrm>
            <a:off x="6964680" y="4820285"/>
            <a:ext cx="1655064" cy="396240"/>
          </a:xfrm>
          <a:prstGeom prst="rect">
            <a:avLst/>
          </a:prstGeom>
          <a:noFill/>
        </p:spPr>
        <p:txBody>
          <a:bodyPr wrap="none" lIns="0" tIns="0" rIns="0" bIns="0" rtlCol="0" anchor="ctr"/>
          <a:lstStyle/>
          <a:p>
            <a:pPr marL="0" indent="0" algn="l">
              <a:lnSpc>
                <a:spcPct val="150000"/>
              </a:lnSpc>
              <a:buNone/>
            </a:pPr>
            <a:r>
              <a:rPr lang="en-US" sz="2160" b="1" dirty="0">
                <a:solidFill>
                  <a:srgbClr val="143966"/>
                </a:solidFill>
                <a:latin typeface="思源黑体 CN Bold" pitchFamily="34" charset="0"/>
                <a:ea typeface="思源黑体 CN Bold" pitchFamily="34" charset="-122"/>
                <a:cs typeface="思源黑体 CN Bold" pitchFamily="34" charset="-120"/>
              </a:rPr>
              <a:t>七、实操</a:t>
            </a:r>
            <a:endParaRPr lang="en-US" sz="2160" dirty="0"/>
          </a:p>
        </p:txBody>
      </p:sp>
      <p:sp>
        <p:nvSpPr>
          <p:cNvPr id="48" name="Text 24"/>
          <p:cNvSpPr/>
          <p:nvPr/>
        </p:nvSpPr>
        <p:spPr>
          <a:xfrm>
            <a:off x="6964680" y="5277485"/>
            <a:ext cx="4428490" cy="386715"/>
          </a:xfrm>
          <a:prstGeom prst="rect">
            <a:avLst/>
          </a:prstGeom>
          <a:noFill/>
        </p:spPr>
        <p:txBody>
          <a:bodyPr wrap="square" lIns="0" tIns="0" rIns="0" bIns="0" rtlCol="0" anchor="t">
            <a:spAutoFit/>
          </a:bodyPr>
          <a:lstStyle/>
          <a:p>
            <a:pPr marL="0" indent="0" algn="l">
              <a:lnSpc>
                <a:spcPct val="150000"/>
              </a:lnSpc>
              <a:buNone/>
            </a:pPr>
            <a:r>
              <a:rPr lang="en-US" sz="1680" dirty="0">
                <a:solidFill>
                  <a:srgbClr val="374051"/>
                </a:solidFill>
                <a:latin typeface="思源黑体 CN" pitchFamily="34" charset="0"/>
                <a:ea typeface="思源黑体 CN" pitchFamily="34" charset="-122"/>
                <a:cs typeface="思源黑体 CN" pitchFamily="34" charset="-120"/>
              </a:rPr>
              <a:t>西普平台取证（界面/命令回显）+ 判定</a:t>
            </a:r>
            <a:endParaRPr lang="en-US" sz="16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课内任务已清——本节不留课后必做作业</a:t>
            </a:r>
            <a:endParaRPr lang="en-US" sz="2760" dirty="0"/>
          </a:p>
        </p:txBody>
      </p:sp>
      <p:pic>
        <p:nvPicPr>
          <p:cNvPr id="6" name="Image 3" descr="preencoded.png"/>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609600" y="1371600"/>
            <a:ext cx="1173480" cy="548640"/>
          </a:xfrm>
          <a:prstGeom prst="rect">
            <a:avLst/>
          </a:prstGeom>
        </p:spPr>
      </p:pic>
      <p:sp>
        <p:nvSpPr>
          <p:cNvPr id="7" name="Text 1"/>
          <p:cNvSpPr/>
          <p:nvPr>
            <p:custDataLst>
              <p:tags r:id="rId7"/>
            </p:custDataLst>
          </p:nvPr>
        </p:nvSpPr>
        <p:spPr>
          <a:xfrm>
            <a:off x="745490" y="1402080"/>
            <a:ext cx="920750" cy="368935"/>
          </a:xfrm>
          <a:prstGeom prst="rect">
            <a:avLst/>
          </a:prstGeom>
          <a:noFill/>
        </p:spPr>
        <p:txBody>
          <a:bodyPr wrap="none" lIns="0" tIns="0" rIns="0" bIns="0" rtlCol="0" anchor="t">
            <a:spAutoFit/>
          </a:bodyPr>
          <a:lstStyle/>
          <a:p>
            <a:pPr marL="0" indent="0" algn="l">
              <a:lnSpc>
                <a:spcPct val="150000"/>
              </a:lnSpc>
              <a:buNone/>
            </a:pPr>
            <a:r>
              <a:rPr lang="en-US" sz="1600" b="1" dirty="0">
                <a:solidFill>
                  <a:srgbClr val="FFFFFF"/>
                </a:solidFill>
                <a:latin typeface="思源黑体 CN Bold" pitchFamily="34" charset="0"/>
                <a:ea typeface="思源黑体 CN Bold" pitchFamily="34" charset="-122"/>
                <a:cs typeface="思源黑体 CN Bold" pitchFamily="34" charset="-120"/>
              </a:rPr>
              <a:t>课内 </a:t>
            </a:r>
            <a:r>
              <a:rPr lang="zh-CN" altLang="en-US" sz="1600" b="1" dirty="0">
                <a:solidFill>
                  <a:srgbClr val="FFFFFF"/>
                </a:solidFill>
                <a:latin typeface="思源黑体 CN Bold" pitchFamily="34" charset="0"/>
                <a:ea typeface="思源黑体 CN Bold" pitchFamily="34" charset="-122"/>
                <a:cs typeface="思源黑体 CN Bold" pitchFamily="34" charset="-120"/>
              </a:rPr>
              <a:t>作业</a:t>
            </a:r>
            <a:endParaRPr lang="zh-CN" altLang="en-US" sz="1600" b="1" dirty="0">
              <a:solidFill>
                <a:srgbClr val="FFFFFF"/>
              </a:solidFill>
              <a:latin typeface="思源黑体 CN Bold" pitchFamily="34" charset="0"/>
              <a:ea typeface="思源黑体 CN Bold" pitchFamily="34" charset="-122"/>
              <a:cs typeface="思源黑体 CN Bold" pitchFamily="34" charset="-120"/>
            </a:endParaRPr>
          </a:p>
        </p:txBody>
      </p:sp>
      <p:sp>
        <p:nvSpPr>
          <p:cNvPr id="8" name="Text 2"/>
          <p:cNvSpPr/>
          <p:nvPr>
            <p:custDataLst>
              <p:tags r:id="rId8"/>
            </p:custDataLst>
          </p:nvPr>
        </p:nvSpPr>
        <p:spPr>
          <a:xfrm>
            <a:off x="609600" y="2225040"/>
            <a:ext cx="5312664" cy="787400"/>
          </a:xfrm>
          <a:prstGeom prst="rect">
            <a:avLst/>
          </a:prstGeom>
          <a:noFill/>
        </p:spPr>
        <p:txBody>
          <a:bodyPr wrap="square" lIns="0" tIns="0" rIns="0" bIns="0" rtlCol="0" anchor="t">
            <a:spAutoFit/>
          </a:bodyPr>
          <a:lstStyle/>
          <a:p>
            <a:pPr marL="0" indent="0" algn="l">
              <a:lnSpc>
                <a:spcPct val="160000"/>
              </a:lnSpc>
              <a:buNone/>
            </a:pPr>
            <a:r>
              <a:rPr lang="zh-CN" altLang="en-US" sz="1600" dirty="0">
                <a:solidFill>
                  <a:srgbClr val="333333"/>
                </a:solidFill>
                <a:latin typeface="思源黑体 CN" pitchFamily="34" charset="0"/>
                <a:ea typeface="思源黑体 CN" pitchFamily="34" charset="-122"/>
                <a:cs typeface="思源黑体 CN" pitchFamily="34" charset="-120"/>
              </a:rPr>
              <a:t>实验报告（</a:t>
            </a:r>
            <a:r>
              <a:rPr lang="zh-CN" altLang="en-US" sz="1600" dirty="0">
                <a:solidFill>
                  <a:srgbClr val="333333"/>
                </a:solidFill>
                <a:latin typeface="思源黑体 CN" pitchFamily="34" charset="0"/>
                <a:ea typeface="思源黑体 CN" pitchFamily="34" charset="-122"/>
                <a:cs typeface="思源黑体 CN" pitchFamily="34" charset="-120"/>
              </a:rPr>
              <a:t>必须包含回显图片、记录表和实验</a:t>
            </a:r>
            <a:r>
              <a:rPr lang="zh-CN" altLang="en-US" sz="1600" dirty="0">
                <a:solidFill>
                  <a:srgbClr val="333333"/>
                </a:solidFill>
                <a:latin typeface="思源黑体 CN" pitchFamily="34" charset="0"/>
                <a:ea typeface="思源黑体 CN" pitchFamily="34" charset="-122"/>
                <a:cs typeface="思源黑体 CN" pitchFamily="34" charset="-120"/>
              </a:rPr>
              <a:t>收获）按照班级</a:t>
            </a:r>
            <a:r>
              <a:rPr lang="en-US" altLang="zh-CN" sz="1600" dirty="0">
                <a:solidFill>
                  <a:srgbClr val="333333"/>
                </a:solidFill>
                <a:latin typeface="思源黑体 CN" pitchFamily="34" charset="0"/>
                <a:ea typeface="思源黑体 CN" pitchFamily="34" charset="-122"/>
                <a:cs typeface="思源黑体 CN" pitchFamily="34" charset="-120"/>
              </a:rPr>
              <a:t>+</a:t>
            </a:r>
            <a:r>
              <a:rPr lang="zh-CN" altLang="en-US" sz="1600" dirty="0">
                <a:solidFill>
                  <a:srgbClr val="333333"/>
                </a:solidFill>
                <a:latin typeface="思源黑体 CN" pitchFamily="34" charset="0"/>
                <a:ea typeface="思源黑体 CN" pitchFamily="34" charset="-122"/>
                <a:cs typeface="思源黑体 CN" pitchFamily="34" charset="-120"/>
              </a:rPr>
              <a:t>学号</a:t>
            </a:r>
            <a:r>
              <a:rPr lang="en-US" altLang="zh-CN" sz="1600" dirty="0">
                <a:solidFill>
                  <a:srgbClr val="333333"/>
                </a:solidFill>
                <a:latin typeface="思源黑体 CN" pitchFamily="34" charset="0"/>
                <a:ea typeface="思源黑体 CN" pitchFamily="34" charset="-122"/>
                <a:cs typeface="思源黑体 CN" pitchFamily="34" charset="-120"/>
              </a:rPr>
              <a:t>+</a:t>
            </a:r>
            <a:r>
              <a:rPr lang="zh-CN" altLang="en-US" sz="1600" dirty="0">
                <a:solidFill>
                  <a:srgbClr val="333333"/>
                </a:solidFill>
                <a:latin typeface="思源黑体 CN" pitchFamily="34" charset="0"/>
                <a:ea typeface="思源黑体 CN" pitchFamily="34" charset="-122"/>
                <a:cs typeface="思源黑体 CN" pitchFamily="34" charset="-120"/>
              </a:rPr>
              <a:t>姓名</a:t>
            </a:r>
            <a:r>
              <a:rPr lang="en-US" altLang="zh-CN" sz="1600" dirty="0">
                <a:solidFill>
                  <a:srgbClr val="333333"/>
                </a:solidFill>
                <a:latin typeface="思源黑体 CN" pitchFamily="34" charset="0"/>
                <a:ea typeface="思源黑体 CN" pitchFamily="34" charset="-122"/>
                <a:cs typeface="思源黑体 CN" pitchFamily="34" charset="-120"/>
              </a:rPr>
              <a:t>+4.1</a:t>
            </a:r>
            <a:r>
              <a:rPr lang="zh-CN" altLang="en-US" sz="1600" dirty="0">
                <a:solidFill>
                  <a:srgbClr val="333333"/>
                </a:solidFill>
                <a:latin typeface="思源黑体 CN" pitchFamily="34" charset="0"/>
                <a:ea typeface="思源黑体 CN" pitchFamily="34" charset="-122"/>
                <a:cs typeface="思源黑体 CN" pitchFamily="34" charset="-120"/>
              </a:rPr>
              <a:t>实验命名后，提交学习通</a:t>
            </a:r>
            <a:endParaRPr lang="en-US" sz="1600" dirty="0">
              <a:solidFill>
                <a:srgbClr val="333333"/>
              </a:solidFill>
              <a:latin typeface="思源黑体 CN" pitchFamily="34" charset="0"/>
              <a:ea typeface="思源黑体 CN" pitchFamily="34" charset="-122"/>
              <a:cs typeface="思源黑体 CN" pitchFamily="34" charset="-120"/>
            </a:endParaRPr>
          </a:p>
        </p:txBody>
      </p:sp>
      <p:pic>
        <p:nvPicPr>
          <p:cNvPr id="15" name="Image 6" descr="preencoded.png"/>
          <p:cNvPicPr>
            <a:picLocks noChangeAspect="1"/>
          </p:cNvPicPr>
          <p:nvPr>
            <p:custDataLst>
              <p:tags r:id="rId9"/>
            </p:custDataLst>
          </p:nvPr>
        </p:nvPicPr>
        <p:blipFill>
          <a:blip r:embed="rId5">
            <a:extLst>
              <a:ext uri="{96DAC541-7B7A-43D3-8B79-37D633B846F1}">
                <asvg:svgBlip xmlns:asvg="http://schemas.microsoft.com/office/drawing/2016/SVG/main" r:embed="rId6"/>
              </a:ext>
            </a:extLst>
          </a:blip>
          <a:stretch>
            <a:fillRect/>
          </a:stretch>
        </p:blipFill>
        <p:spPr>
          <a:xfrm>
            <a:off x="609600" y="3554095"/>
            <a:ext cx="1173480" cy="548640"/>
          </a:xfrm>
          <a:prstGeom prst="rect">
            <a:avLst/>
          </a:prstGeom>
        </p:spPr>
      </p:pic>
      <p:sp>
        <p:nvSpPr>
          <p:cNvPr id="16" name="Text 7"/>
          <p:cNvSpPr/>
          <p:nvPr>
            <p:custDataLst>
              <p:tags r:id="rId10"/>
            </p:custDataLst>
          </p:nvPr>
        </p:nvSpPr>
        <p:spPr>
          <a:xfrm>
            <a:off x="734695" y="3584575"/>
            <a:ext cx="920750" cy="368935"/>
          </a:xfrm>
          <a:prstGeom prst="rect">
            <a:avLst/>
          </a:prstGeom>
          <a:noFill/>
        </p:spPr>
        <p:txBody>
          <a:bodyPr wrap="none" lIns="0" tIns="0" rIns="0" bIns="0" rtlCol="0" anchor="t">
            <a:spAutoFit/>
          </a:bodyPr>
          <a:lstStyle/>
          <a:p>
            <a:pPr marL="0" indent="0" algn="l">
              <a:lnSpc>
                <a:spcPct val="150000"/>
              </a:lnSpc>
              <a:buNone/>
            </a:pPr>
            <a:r>
              <a:rPr lang="en-US" sz="1600" b="1" dirty="0">
                <a:solidFill>
                  <a:srgbClr val="FFFFFF"/>
                </a:solidFill>
                <a:latin typeface="思源黑体 CN Bold" pitchFamily="34" charset="0"/>
                <a:ea typeface="思源黑体 CN Bold" pitchFamily="34" charset="-122"/>
                <a:cs typeface="思源黑体 CN Bold" pitchFamily="34" charset="-120"/>
              </a:rPr>
              <a:t>下节 预告</a:t>
            </a:r>
            <a:endParaRPr lang="en-US" sz="1600" b="1" dirty="0">
              <a:solidFill>
                <a:srgbClr val="FFFFFF"/>
              </a:solidFill>
              <a:latin typeface="思源黑体 CN Bold" pitchFamily="34" charset="0"/>
              <a:ea typeface="思源黑体 CN Bold" pitchFamily="34" charset="-122"/>
              <a:cs typeface="思源黑体 CN Bold" pitchFamily="34" charset="-120"/>
            </a:endParaRPr>
          </a:p>
        </p:txBody>
      </p:sp>
      <p:sp>
        <p:nvSpPr>
          <p:cNvPr id="17" name="Text 8"/>
          <p:cNvSpPr/>
          <p:nvPr>
            <p:custDataLst>
              <p:tags r:id="rId11"/>
            </p:custDataLst>
          </p:nvPr>
        </p:nvSpPr>
        <p:spPr>
          <a:xfrm>
            <a:off x="609600" y="4407535"/>
            <a:ext cx="6096000" cy="245745"/>
          </a:xfrm>
          <a:prstGeom prst="rect">
            <a:avLst/>
          </a:prstGeom>
          <a:noFill/>
        </p:spPr>
        <p:txBody>
          <a:bodyPr wrap="none" lIns="0" tIns="0" rIns="0" bIns="0" rtlCol="0" anchor="t">
            <a:spAutoFit/>
          </a:bodyPr>
          <a:lstStyle/>
          <a:p>
            <a:pPr marL="0" indent="0" algn="l">
              <a:lnSpc>
                <a:spcPct val="100000"/>
              </a:lnSpc>
              <a:buNone/>
            </a:pPr>
            <a:r>
              <a:rPr lang="en-US" sz="1600" dirty="0">
                <a:solidFill>
                  <a:srgbClr val="333333"/>
                </a:solidFill>
                <a:latin typeface="思源黑体 CN" pitchFamily="34" charset="0"/>
                <a:ea typeface="思源黑体 CN" pitchFamily="34" charset="-122"/>
                <a:cs typeface="思源黑体 CN" pitchFamily="34" charset="-120"/>
              </a:rPr>
              <a:t>4.2 网络设备配置核查：路由器、防火墙——上课前翻一眼案例即可</a:t>
            </a:r>
            <a:endParaRPr lang="en-US" sz="1600" dirty="0">
              <a:solidFill>
                <a:srgbClr val="333333"/>
              </a:solidFill>
              <a:latin typeface="思源黑体 CN" pitchFamily="34" charset="0"/>
              <a:ea typeface="思源黑体 CN" pitchFamily="34" charset="-122"/>
              <a:cs typeface="思源黑体 CN" pitchFamily="34" charset="-12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1536780" y="1925506"/>
            <a:ext cx="9136882" cy="975122"/>
          </a:xfrm>
          <a:prstGeom prst="rect">
            <a:avLst/>
          </a:prstGeom>
          <a:noFill/>
        </p:spPr>
        <p:txBody>
          <a:bodyPr wrap="square" lIns="0" tIns="0" rIns="0" bIns="0" rtlCol="0" anchor="b">
            <a:spAutoFit/>
          </a:bodyPr>
          <a:lstStyle/>
          <a:p>
            <a:pPr marL="0" indent="0" algn="ctr">
              <a:lnSpc>
                <a:spcPct val="120000"/>
              </a:lnSpc>
              <a:buNone/>
            </a:pPr>
            <a:r>
              <a:rPr lang="en-US" sz="6360" dirty="0">
                <a:solidFill>
                  <a:srgbClr val="FFFFFF"/>
                </a:solidFill>
              </a:rPr>
              <a:t>感谢观看</a:t>
            </a:r>
            <a:endParaRPr lang="en-US" sz="6360" dirty="0"/>
          </a:p>
        </p:txBody>
      </p:sp>
    </p:spTree>
  </p:cSld>
  <p:clrMapOvr>
    <a:masterClrMapping/>
  </p:clrMapOvr>
</p:sld>
</file>

<file path=ppt/tags/tag1.xml><?xml version="1.0" encoding="utf-8"?>
<p:tagLst xmlns:p="http://schemas.openxmlformats.org/presentationml/2006/main">
  <p:tag name="KSO_WM_DIAGRAM_VIRTUALLY_FRAME" val="{&quot;height&quot;:280.4599212598425,&quot;left&quot;:454.2613385826771,&quot;top&quot;:130.15937007874015,&quot;width&quot;:486.0800787401575}"/>
</p:tagLst>
</file>

<file path=ppt/tags/tag2.xml><?xml version="1.0" encoding="utf-8"?>
<p:tagLst xmlns:p="http://schemas.openxmlformats.org/presentationml/2006/main">
  <p:tag name="KSO_WM_DIAGRAM_VIRTUALLY_FRAME" val="{&quot;height&quot;:280.4599212598425,&quot;left&quot;:454.2613385826771,&quot;top&quot;:130.15937007874015,&quot;width&quot;:486.0800787401575}"/>
</p:tagLst>
</file>

<file path=ppt/tags/tag3.xml><?xml version="1.0" encoding="utf-8"?>
<p:tagLst xmlns:p="http://schemas.openxmlformats.org/presentationml/2006/main">
  <p:tag name="KSO_WM_DIAGRAM_VIRTUALLY_FRAME" val="{&quot;height&quot;:280.4599212598425,&quot;left&quot;:454.2613385826771,&quot;top&quot;:130.15937007874015,&quot;width&quot;:486.0800787401575}"/>
</p:tagLst>
</file>

<file path=ppt/tags/tag4.xml><?xml version="1.0" encoding="utf-8"?>
<p:tagLst xmlns:p="http://schemas.openxmlformats.org/presentationml/2006/main">
  <p:tag name="KSO_WM_DIAGRAM_VIRTUALLY_FRAME" val="{&quot;height&quot;:280.4599212598425,&quot;left&quot;:454.2613385826771,&quot;top&quot;:130.15937007874015,&quot;width&quot;:486.0800787401575}"/>
</p:tagLst>
</file>

<file path=ppt/tags/tag5.xml><?xml version="1.0" encoding="utf-8"?>
<p:tagLst xmlns:p="http://schemas.openxmlformats.org/presentationml/2006/main">
  <p:tag name="KSO_WM_DIAGRAM_VIRTUALLY_FRAME" val="{&quot;height&quot;:280.4599212598425,&quot;left&quot;:454.2613385826771,&quot;top&quot;:130.15937007874015,&quot;width&quot;:486.0800787401575}"/>
</p:tagLst>
</file>

<file path=ppt/tags/tag6.xml><?xml version="1.0" encoding="utf-8"?>
<p:tagLst xmlns:p="http://schemas.openxmlformats.org/presentationml/2006/main">
  <p:tag name="KSO_WM_DIAGRAM_VIRTUALLY_FRAME" val="{&quot;height&quot;:280.4599212598425,&quot;left&quot;:454.2613385826771,&quot;top&quot;:130.15937007874015,&quot;width&quot;:486.0800787401575}"/>
</p:tagLst>
</file>

<file path=ppt/tags/tag7.xml><?xml version="1.0" encoding="utf-8"?>
<p:tagLst xmlns:p="http://schemas.openxmlformats.org/presentationml/2006/main">
  <p:tag name="KSO_WM_DIAGRAM_VIRTUALLY_FRAME" val="{&quot;height&quot;:280.4599212598425,&quot;left&quot;:454.2613385826771,&quot;top&quot;:130.15937007874015,&quot;width&quot;:486.0800787401575}"/>
</p:tagLst>
</file>

<file path=ppt/tags/tag8.xml><?xml version="1.0" encoding="utf-8"?>
<p:tagLst xmlns:p="http://schemas.openxmlformats.org/presentationml/2006/main">
  <p:tag name="KSO_WM_DIAGRAM_VIRTUALLY_FRAME" val="{&quot;height&quot;:280.4599212598425,&quot;left&quot;:454.2613385826771,&quot;top&quot;:130.15937007874015,&quot;width&quot;:486.0800787401575}"/>
</p:tagLst>
</file>

<file path=ppt/tags/tag9.xml><?xml version="1.0" encoding="utf-8"?>
<p:tagLst xmlns:p="http://schemas.openxmlformats.org/presentationml/2006/main">
  <p:tag name="TABLE_ENDDRAG_ORIGIN_RECT" val="864*426"/>
  <p:tag name="TABLE_ENDDRAG_RECT" val="48*89*864*426"/>
</p:tagLst>
</file>

<file path=ppt/tags/tag10.xml><?xml version="1.0" encoding="utf-8"?>
<p:tagLst xmlns:p="http://schemas.openxmlformats.org/presentationml/2006/main">
  <p:tag name="KSO_WM_DIAGRAM_VIRTUALLY_FRAME" val="{&quot;height&quot;:342.7125196850394,&quot;left&quot;:48,&quot;top&quot;:108,&quot;width&quot;:864.72}"/>
</p:tagLst>
</file>

<file path=ppt/tags/tag11.xml><?xml version="1.0" encoding="utf-8"?>
<p:tagLst xmlns:p="http://schemas.openxmlformats.org/presentationml/2006/main">
  <p:tag name="KSO_WM_DIAGRAM_VIRTUALLY_FRAME" val="{&quot;height&quot;:342.7125196850394,&quot;left&quot;:48,&quot;top&quot;:108,&quot;width&quot;:864.72}"/>
</p:tagLst>
</file>

<file path=ppt/tags/tag12.xml><?xml version="1.0" encoding="utf-8"?>
<p:tagLst xmlns:p="http://schemas.openxmlformats.org/presentationml/2006/main">
  <p:tag name="KSO_WM_DIAGRAM_VIRTUALLY_FRAME" val="{&quot;height&quot;:342.7125196850394,&quot;left&quot;:48,&quot;top&quot;:108,&quot;width&quot;:864.72}"/>
</p:tagLst>
</file>

<file path=ppt/tags/tag13.xml><?xml version="1.0" encoding="utf-8"?>
<p:tagLst xmlns:p="http://schemas.openxmlformats.org/presentationml/2006/main">
  <p:tag name="KSO_WM_DIAGRAM_VIRTUALLY_FRAME" val="{&quot;height&quot;:342.7125196850394,&quot;left&quot;:48,&quot;top&quot;:108,&quot;width&quot;:864.72}"/>
</p:tagLst>
</file>

<file path=ppt/tags/tag14.xml><?xml version="1.0" encoding="utf-8"?>
<p:tagLst xmlns:p="http://schemas.openxmlformats.org/presentationml/2006/main">
  <p:tag name="KSO_WM_DIAGRAM_VIRTUALLY_FRAME" val="{&quot;height&quot;:342.7125196850394,&quot;left&quot;:48,&quot;top&quot;:108,&quot;width&quot;:864.72}"/>
</p:tagLst>
</file>

<file path=ppt/tags/tag15.xml><?xml version="1.0" encoding="utf-8"?>
<p:tagLst xmlns:p="http://schemas.openxmlformats.org/presentationml/2006/main">
  <p:tag name="KSO_WM_DIAGRAM_VIRTUALLY_FRAME" val="{&quot;height&quot;:342.7125196850394,&quot;left&quot;:48,&quot;top&quot;:108,&quot;width&quot;:864.7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4839</Words>
  <Application>WPS 演示</Application>
  <PresentationFormat>On-screen Show (16:9)</PresentationFormat>
  <Paragraphs>869</Paragraphs>
  <Slides>22</Slides>
  <Notes>25</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3</vt:i4>
      </vt:variant>
      <vt:variant>
        <vt:lpstr>幻灯片标题</vt:lpstr>
      </vt:variant>
      <vt:variant>
        <vt:i4>22</vt:i4>
      </vt:variant>
    </vt:vector>
  </HeadingPairs>
  <TitlesOfParts>
    <vt:vector size="40" baseType="lpstr">
      <vt:lpstr>Arial</vt:lpstr>
      <vt:lpstr>宋体</vt:lpstr>
      <vt:lpstr>Wingdings</vt:lpstr>
      <vt:lpstr>思源黑体 CN</vt:lpstr>
      <vt:lpstr>黑体</vt:lpstr>
      <vt:lpstr>思源黑体 CN</vt:lpstr>
      <vt:lpstr>思源黑体 CN</vt:lpstr>
      <vt:lpstr>思源黑体 CN Bold</vt:lpstr>
      <vt:lpstr>思源黑体 CN Bold</vt:lpstr>
      <vt:lpstr>思源黑体 CN Bold</vt:lpstr>
      <vt:lpstr>Calibri</vt:lpstr>
      <vt:lpstr>等线</vt:lpstr>
      <vt:lpstr>微软雅黑</vt:lpstr>
      <vt:lpstr>Arial Unicode MS</vt:lpstr>
      <vt:lpstr>Office Theme</vt:lpstr>
      <vt:lpstr>Word.Document.12</vt:lpstr>
      <vt:lpstr>Word.Document.12</vt:lpstr>
      <vt:lpstr>Word.Document.12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202603</cp:lastModifiedBy>
  <cp:revision>22</cp:revision>
  <dcterms:created xsi:type="dcterms:W3CDTF">2026-08-30T03:53:00Z</dcterms:created>
  <dcterms:modified xsi:type="dcterms:W3CDTF">2026-10-11T13:55:36Z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2052-12.1.0.19302</vt:lpwstr>
  </property>
  <property fmtid="{D5CDD505-2E9C-101B-9397-08002B2CF9AE}" pid="3" name="ICV">
    <vt:lpwstr>614C6DD1B82D4D4CBD0FD88DA75AF711_12</vt:lpwstr>
  </property>
</Properties>
</file>