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28625" y="5953124"/>
            <a:ext cx="1428750" cy="1428750"/>
          </a:xfrm>
          <a:prstGeom prst="ellipse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82350" y="361950"/>
            <a:ext cx="666750" cy="666750"/>
          </a:xfrm>
          <a:prstGeom prst="ellipse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914400"/>
            <a:ext cx="247649" cy="247649"/>
          </a:xfrm>
          <a:prstGeom prst="ellipse">
            <a:avLst/>
          </a:prstGeom>
          <a:solidFill>
            <a:srgbClr val="DE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4824" y="571500"/>
            <a:ext cx="7772400" cy="5257800"/>
          </a:xfrm>
          <a:prstGeom prst="roundRect">
            <a:avLst>
              <a:gd name="adj" fmla="val 4500"/>
            </a:avLst>
          </a:prstGeom>
          <a:solidFill>
            <a:srgbClr val="9C6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4849" y="771525"/>
            <a:ext cx="7372350" cy="485775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37524B"/>
              </a:gs>
              <a:gs pos="100000">
                <a:srgbClr val="293F3A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57500" y="5905500"/>
            <a:ext cx="495299" cy="104775"/>
          </a:xfrm>
          <a:prstGeom prst="roundRect">
            <a:avLst>
              <a:gd name="adj" fmla="val 50000"/>
            </a:avLst>
          </a:prstGeom>
          <a:solidFill>
            <a:srgbClr val="FB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14750" y="5915025"/>
            <a:ext cx="380999" cy="95249"/>
          </a:xfrm>
          <a:prstGeom prst="roundRect">
            <a:avLst>
              <a:gd name="adj" fmla="val 50000"/>
            </a:avLst>
          </a:prstGeom>
          <a:solidFill>
            <a:srgbClr val="FFE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62500" y="5838824"/>
            <a:ext cx="819149" cy="190499"/>
          </a:xfrm>
          <a:prstGeom prst="roundRect">
            <a:avLst>
              <a:gd name="adj" fmla="val 30000"/>
            </a:avLst>
          </a:prstGeom>
          <a:solidFill>
            <a:srgbClr val="5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4900" y="771525"/>
            <a:ext cx="6667499" cy="485775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25" b="1">
                <a:solidFill>
                  <a:srgbClr val="FFE9A8"/>
                </a:solidFill>
                <a:latin typeface="华文行楷"/>
                <a:ea typeface="华文行楷"/>
                <a:cs typeface="华文行楷"/>
              </a:rPr>
              <a:t>有依据</a:t>
            </a:r>
            <a:r>
              <a:rPr sz="2325" b="0">
                <a:solidFill>
                  <a:srgbClr val="C9CDBF"/>
                </a:solidFill>
                <a:latin typeface="华文行楷"/>
                <a:ea typeface="华文行楷"/>
                <a:cs typeface="华文行楷"/>
              </a:rPr>
              <a:t> —— </a:t>
            </a:r>
            <a:r>
              <a:rPr sz="2325" b="0">
                <a:solidFill>
                  <a:srgbClr val="F7F5EC"/>
                </a:solidFill>
                <a:latin typeface="华文行楷"/>
                <a:ea typeface="华文行楷"/>
                <a:cs typeface="华文行楷"/>
              </a:rPr>
              <a:t>每项决定写明材料出处与理由</a:t>
            </a:r>
          </a:p>
          <a:p>
            <a:pPr algn="l">
              <a:lnSpc>
                <a:spcPct val="120000"/>
              </a:lnSpc>
              <a:spcBef>
                <a:spcPts val="3300"/>
              </a:spcBef>
            </a:pPr>
            <a:r>
              <a:rPr sz="3225" b="1">
                <a:solidFill>
                  <a:srgbClr val="FFE9A8"/>
                </a:solidFill>
                <a:latin typeface="华文行楷"/>
                <a:ea typeface="华文行楷"/>
                <a:cs typeface="华文行楷"/>
              </a:rPr>
              <a:t>有分寸</a:t>
            </a:r>
            <a:r>
              <a:rPr sz="2325" b="0">
                <a:solidFill>
                  <a:srgbClr val="C9CDBF"/>
                </a:solidFill>
                <a:latin typeface="华文行楷"/>
                <a:ea typeface="华文行楷"/>
                <a:cs typeface="华文行楷"/>
              </a:rPr>
              <a:t> —— </a:t>
            </a:r>
            <a:r>
              <a:rPr sz="2325" b="0">
                <a:solidFill>
                  <a:srgbClr val="F7F5EC"/>
                </a:solidFill>
                <a:latin typeface="华文行楷"/>
                <a:ea typeface="华文行楷"/>
                <a:cs typeface="华文行楷"/>
              </a:rPr>
              <a:t>借 AI 提效，答案逐条核查</a:t>
            </a:r>
          </a:p>
          <a:p>
            <a:pPr algn="l">
              <a:lnSpc>
                <a:spcPct val="120000"/>
              </a:lnSpc>
              <a:spcBef>
                <a:spcPts val="3300"/>
              </a:spcBef>
            </a:pPr>
            <a:r>
              <a:rPr sz="3225" b="1">
                <a:solidFill>
                  <a:srgbClr val="FFE9A8"/>
                </a:solidFill>
                <a:latin typeface="华文行楷"/>
                <a:ea typeface="华文行楷"/>
                <a:cs typeface="华文行楷"/>
              </a:rPr>
              <a:t>有担当</a:t>
            </a:r>
            <a:r>
              <a:rPr sz="2325" b="0">
                <a:solidFill>
                  <a:srgbClr val="C9CDBF"/>
                </a:solidFill>
                <a:latin typeface="华文行楷"/>
                <a:ea typeface="华文行楷"/>
                <a:cs typeface="华文行楷"/>
              </a:rPr>
              <a:t> —— </a:t>
            </a:r>
            <a:r>
              <a:rPr sz="2325" b="0">
                <a:solidFill>
                  <a:srgbClr val="F7F5EC"/>
                </a:solidFill>
                <a:latin typeface="华文行楷"/>
                <a:ea typeface="华文行楷"/>
                <a:cs typeface="华文行楷"/>
              </a:rPr>
              <a:t>为团队负责、为客户负责</a:t>
            </a:r>
          </a:p>
        </p:txBody>
      </p:sp>
      <p:pic>
        <p:nvPicPr>
          <p:cNvPr id="12" name="Picture 11" descr="teacher_alpha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599" y="552450"/>
            <a:ext cx="2257425" cy="548640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